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1.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 id="2147483660" r:id="rId5"/>
    <p:sldMasterId id="2147483674" r:id="rId6"/>
  </p:sldMasterIdLst>
  <p:notesMasterIdLst>
    <p:notesMasterId r:id="rId55"/>
  </p:notesMasterIdLst>
  <p:sldIdLst>
    <p:sldId id="257" r:id="rId7"/>
    <p:sldId id="602" r:id="rId8"/>
    <p:sldId id="258" r:id="rId9"/>
    <p:sldId id="896" r:id="rId10"/>
    <p:sldId id="1391" r:id="rId11"/>
    <p:sldId id="842" r:id="rId12"/>
    <p:sldId id="260" r:id="rId13"/>
    <p:sldId id="1393" r:id="rId14"/>
    <p:sldId id="589" r:id="rId15"/>
    <p:sldId id="495" r:id="rId16"/>
    <p:sldId id="587" r:id="rId17"/>
    <p:sldId id="1394" r:id="rId18"/>
    <p:sldId id="499" r:id="rId19"/>
    <p:sldId id="599" r:id="rId20"/>
    <p:sldId id="592" r:id="rId21"/>
    <p:sldId id="1382" r:id="rId22"/>
    <p:sldId id="498" r:id="rId23"/>
    <p:sldId id="1372" r:id="rId24"/>
    <p:sldId id="606" r:id="rId25"/>
    <p:sldId id="501" r:id="rId26"/>
    <p:sldId id="1395" r:id="rId27"/>
    <p:sldId id="577" r:id="rId28"/>
    <p:sldId id="500" r:id="rId29"/>
    <p:sldId id="804" r:id="rId30"/>
    <p:sldId id="593" r:id="rId31"/>
    <p:sldId id="594" r:id="rId32"/>
    <p:sldId id="578" r:id="rId33"/>
    <p:sldId id="507" r:id="rId34"/>
    <p:sldId id="1397" r:id="rId35"/>
    <p:sldId id="1398" r:id="rId36"/>
    <p:sldId id="557" r:id="rId37"/>
    <p:sldId id="1354" r:id="rId38"/>
    <p:sldId id="603" r:id="rId39"/>
    <p:sldId id="604" r:id="rId40"/>
    <p:sldId id="1392" r:id="rId41"/>
    <p:sldId id="511" r:id="rId42"/>
    <p:sldId id="1390" r:id="rId43"/>
    <p:sldId id="1399" r:id="rId44"/>
    <p:sldId id="679" r:id="rId45"/>
    <p:sldId id="1229" r:id="rId46"/>
    <p:sldId id="1230" r:id="rId47"/>
    <p:sldId id="1346" r:id="rId48"/>
    <p:sldId id="1347" r:id="rId49"/>
    <p:sldId id="1349" r:id="rId50"/>
    <p:sldId id="1350" r:id="rId51"/>
    <p:sldId id="1351" r:id="rId52"/>
    <p:sldId id="1401" r:id="rId53"/>
    <p:sldId id="1402" r:id="rId54"/>
  </p:sldIdLst>
  <p:sldSz cx="18288000" cy="10287000"/>
  <p:notesSz cx="6858000" cy="9144000"/>
  <p:embeddedFontLst>
    <p:embeddedFont>
      <p:font typeface="DM Sans" pitchFamily="2" charset="77"/>
      <p:regular r:id="rId56"/>
      <p:bold r:id="rId57"/>
      <p:italic r:id="rId58"/>
      <p:boldItalic r:id="rId59"/>
    </p:embeddedFont>
    <p:embeddedFont>
      <p:font typeface="DM Sans Bold" pitchFamily="2" charset="77"/>
      <p:regular r:id="rId60"/>
      <p:bold r:id="rId61"/>
    </p:embeddedFont>
    <p:embeddedFont>
      <p:font typeface="Open Sans" panose="020B0606030504020204" pitchFamily="34" charset="0"/>
      <p:regular r:id="rId62"/>
      <p:bold r:id="rId63"/>
      <p:italic r:id="rId64"/>
      <p:boldItalic r:id="rId65"/>
    </p:embeddedFont>
    <p:embeddedFont>
      <p:font typeface="Tahoma" panose="020B0604030504040204" pitchFamily="34" charset="0"/>
      <p:regular r:id="rId66"/>
      <p:bold r:id="rId67"/>
    </p:embeddedFont>
    <p:embeddedFont>
      <p:font typeface="Verdana" panose="020B0604030504040204" pitchFamily="34" charset="0"/>
      <p:regular r:id="rId68"/>
      <p:bold r:id="rId69"/>
      <p:italic r:id="rId70"/>
      <p:boldItalic r:id="rId7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B700"/>
    <a:srgbClr val="46245A"/>
    <a:srgbClr val="0E173B"/>
    <a:srgbClr val="545454"/>
    <a:srgbClr val="DEA400"/>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45"/>
    <p:restoredTop sz="87044"/>
  </p:normalViewPr>
  <p:slideViewPr>
    <p:cSldViewPr snapToGrid="0">
      <p:cViewPr varScale="1">
        <p:scale>
          <a:sx n="86" d="100"/>
          <a:sy n="86" d="100"/>
        </p:scale>
        <p:origin x="1080" y="2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font" Target="fonts/font8.fntdata"/><Relationship Id="rId68" Type="http://schemas.openxmlformats.org/officeDocument/2006/relationships/font" Target="fonts/font13.fntdata"/><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font" Target="fonts/font3.fntdata"/><Relationship Id="rId66" Type="http://schemas.openxmlformats.org/officeDocument/2006/relationships/font" Target="fonts/font11.fntdata"/><Relationship Id="rId74" Type="http://schemas.openxmlformats.org/officeDocument/2006/relationships/theme" Target="theme/theme1.xml"/><Relationship Id="rId5" Type="http://schemas.openxmlformats.org/officeDocument/2006/relationships/slideMaster" Target="slideMasters/slideMaster2.xml"/><Relationship Id="rId61" Type="http://schemas.openxmlformats.org/officeDocument/2006/relationships/font" Target="fonts/font6.fntdata"/><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font" Target="fonts/font1.fntdata"/><Relationship Id="rId64" Type="http://schemas.openxmlformats.org/officeDocument/2006/relationships/font" Target="fonts/font9.fntdata"/><Relationship Id="rId69" Type="http://schemas.openxmlformats.org/officeDocument/2006/relationships/font" Target="fonts/font14.fntdata"/><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font" Target="fonts/font4.fntdata"/><Relationship Id="rId67" Type="http://schemas.openxmlformats.org/officeDocument/2006/relationships/font" Target="fonts/font12.fntdata"/><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font" Target="fonts/font7.fntdata"/><Relationship Id="rId70" Type="http://schemas.openxmlformats.org/officeDocument/2006/relationships/font" Target="fonts/font15.fntdata"/><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font" Target="fonts/font2.fntdata"/><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font" Target="fonts/font5.fntdata"/><Relationship Id="rId65" Type="http://schemas.openxmlformats.org/officeDocument/2006/relationships/font" Target="fonts/font10.fntdata"/><Relationship Id="rId7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notesMaster" Target="notesMasters/notesMaster1.xml"/><Relationship Id="rId7" Type="http://schemas.openxmlformats.org/officeDocument/2006/relationships/slide" Target="slides/slide1.xml"/><Relationship Id="rId71"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DM Sans" pitchFamily="2" charset="0"/>
              </a:defRPr>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DM Sans" pitchFamily="2" charset="0"/>
              </a:defRPr>
            </a:lvl1pPr>
          </a:lstStyle>
          <a:p>
            <a:fld id="{62D80C2D-EE18-43D6-B2C1-C03B0D42E456}" type="datetimeFigureOut">
              <a:rPr lang="en-GB" smtClean="0"/>
              <a:pPr/>
              <a:t>18/03/2026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DM Sans" pitchFamily="2" charset="0"/>
              </a:defRPr>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DM Sans" pitchFamily="2" charset="0"/>
              </a:defRPr>
            </a:lvl1pPr>
          </a:lstStyle>
          <a:p>
            <a:fld id="{C6B3559C-4BE5-4262-A2E7-0EADDD5F845B}" type="slidenum">
              <a:rPr lang="en-GB" smtClean="0"/>
              <a:pPr/>
              <a:t>‹#›</a:t>
            </a:fld>
            <a:endParaRPr lang="en-GB"/>
          </a:p>
        </p:txBody>
      </p:sp>
    </p:spTree>
    <p:extLst>
      <p:ext uri="{BB962C8B-B14F-4D97-AF65-F5344CB8AC3E}">
        <p14:creationId xmlns:p14="http://schemas.microsoft.com/office/powerpoint/2010/main" val="2063940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DM Sans" pitchFamily="2" charset="0"/>
        <a:ea typeface="+mn-ea"/>
        <a:cs typeface="+mn-cs"/>
      </a:defRPr>
    </a:lvl1pPr>
    <a:lvl2pPr marL="457200" algn="l" defTabSz="914400" rtl="0" eaLnBrk="1" latinLnBrk="0" hangingPunct="1">
      <a:defRPr sz="1200" kern="1200">
        <a:solidFill>
          <a:schemeClr val="tx1"/>
        </a:solidFill>
        <a:latin typeface="DM Sans" pitchFamily="2" charset="0"/>
        <a:ea typeface="+mn-ea"/>
        <a:cs typeface="+mn-cs"/>
      </a:defRPr>
    </a:lvl2pPr>
    <a:lvl3pPr marL="914400" algn="l" defTabSz="914400" rtl="0" eaLnBrk="1" latinLnBrk="0" hangingPunct="1">
      <a:defRPr sz="1200" kern="1200">
        <a:solidFill>
          <a:schemeClr val="tx1"/>
        </a:solidFill>
        <a:latin typeface="DM Sans" pitchFamily="2" charset="0"/>
        <a:ea typeface="+mn-ea"/>
        <a:cs typeface="+mn-cs"/>
      </a:defRPr>
    </a:lvl3pPr>
    <a:lvl4pPr marL="1371600" algn="l" defTabSz="914400" rtl="0" eaLnBrk="1" latinLnBrk="0" hangingPunct="1">
      <a:defRPr sz="1200" kern="1200">
        <a:solidFill>
          <a:schemeClr val="tx1"/>
        </a:solidFill>
        <a:latin typeface="DM Sans" pitchFamily="2" charset="0"/>
        <a:ea typeface="+mn-ea"/>
        <a:cs typeface="+mn-cs"/>
      </a:defRPr>
    </a:lvl4pPr>
    <a:lvl5pPr marL="1828800" algn="l" defTabSz="914400" rtl="0" eaLnBrk="1" latinLnBrk="0" hangingPunct="1">
      <a:defRPr sz="1200" kern="1200">
        <a:solidFill>
          <a:schemeClr val="tx1"/>
        </a:solidFill>
        <a:latin typeface="DM Sans"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latin typeface="DM Sans" pitchFamily="2" charset="0"/>
            </a:endParaRPr>
          </a:p>
        </p:txBody>
      </p:sp>
      <p:sp>
        <p:nvSpPr>
          <p:cNvPr id="4" name="Slide Number Placeholder 3"/>
          <p:cNvSpPr>
            <a:spLocks noGrp="1"/>
          </p:cNvSpPr>
          <p:nvPr>
            <p:ph type="sldNum" sz="quarter" idx="5"/>
          </p:nvPr>
        </p:nvSpPr>
        <p:spPr/>
        <p:txBody>
          <a:bodyPr/>
          <a:lstStyle/>
          <a:p>
            <a:fld id="{C6B3559C-4BE5-4262-A2E7-0EADDD5F845B}" type="slidenum">
              <a:rPr lang="en-GB" smtClean="0"/>
              <a:t>1</a:t>
            </a:fld>
            <a:endParaRPr lang="en-GB"/>
          </a:p>
        </p:txBody>
      </p:sp>
    </p:spTree>
    <p:extLst>
      <p:ext uri="{BB962C8B-B14F-4D97-AF65-F5344CB8AC3E}">
        <p14:creationId xmlns:p14="http://schemas.microsoft.com/office/powerpoint/2010/main" val="3533320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4231491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3D404-3BCA-CE3E-0689-0C862FECA0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B3138F-2684-23AB-8EFA-A93A60A5A4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A37533-A247-F074-1E47-64D6F810BBA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1AAA615-997D-37E3-ACF7-C657506D5F7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6972126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F6BD3B0F-0611-95B6-4662-18418EBCA14F}"/>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70BC343B-2E55-040C-F068-498DFB0283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21508" name="Slide Number Placeholder 3">
            <a:extLst>
              <a:ext uri="{FF2B5EF4-FFF2-40B4-BE49-F238E27FC236}">
                <a16:creationId xmlns:a16="http://schemas.microsoft.com/office/drawing/2014/main" id="{CBA2E49B-EF06-C991-EEDC-1905AC4CD5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A9B20F9-B0C9-4C43-AA44-6686FCE3390A}" type="slidenum">
              <a:rPr kumimoji="0" lang="en-GB"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B1B09-70DE-C898-3A81-1EAD69CD9FD4}"/>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A75A9ACB-228F-4265-C871-E8C03C6B01FA}"/>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C3DE42F8-9DD0-C72E-ABE3-E01D99CCD1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21508" name="Slide Number Placeholder 3">
            <a:extLst>
              <a:ext uri="{FF2B5EF4-FFF2-40B4-BE49-F238E27FC236}">
                <a16:creationId xmlns:a16="http://schemas.microsoft.com/office/drawing/2014/main" id="{917936C9-9CDD-9EF5-7EBD-A235E3EC2C8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A9B20F9-B0C9-4C43-AA44-6686FCE3390A}" type="slidenum">
              <a:rPr kumimoji="0" lang="en-GB"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120523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06F6F9A-5B16-4399-BCBD-DEDC41608DB2}"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72256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cs typeface="DM Sans"/>
            </a:endParaRPr>
          </a:p>
        </p:txBody>
      </p:sp>
      <p:sp>
        <p:nvSpPr>
          <p:cNvPr id="4" name="Slide Number Placeholder 3"/>
          <p:cNvSpPr>
            <a:spLocks noGrp="1"/>
          </p:cNvSpPr>
          <p:nvPr>
            <p:ph type="sldNum" sz="quarter" idx="5"/>
          </p:nvPr>
        </p:nvSpPr>
        <p:spPr/>
        <p:txBody>
          <a:bodyPr/>
          <a:lstStyle/>
          <a:p>
            <a:fld id="{C6B3559C-4BE5-4262-A2E7-0EADDD5F845B}" type="slidenum">
              <a:rPr lang="en-GB" smtClean="0"/>
              <a:t>7</a:t>
            </a:fld>
            <a:endParaRPr lang="en-GB"/>
          </a:p>
        </p:txBody>
      </p:sp>
    </p:spTree>
    <p:extLst>
      <p:ext uri="{BB962C8B-B14F-4D97-AF65-F5344CB8AC3E}">
        <p14:creationId xmlns:p14="http://schemas.microsoft.com/office/powerpoint/2010/main" val="23356219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FDFAA-FF9B-F517-F541-AAA789A5D2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C83F88-8C94-381E-B09E-235010FAC3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375822-0B9B-7DEC-7906-2635B46D4E0E}"/>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D9BAC74C-01BA-FB55-95C1-3063805E4829}"/>
              </a:ext>
            </a:extLst>
          </p:cNvPr>
          <p:cNvSpPr>
            <a:spLocks noGrp="1"/>
          </p:cNvSpPr>
          <p:nvPr>
            <p:ph type="sldNum" sz="quarter" idx="5"/>
          </p:nvPr>
        </p:nvSpPr>
        <p:spPr/>
        <p:txBody>
          <a:bodyPr/>
          <a:lstStyle/>
          <a:p>
            <a:fld id="{C6B3559C-4BE5-4262-A2E7-0EADDD5F845B}" type="slidenum">
              <a:rPr lang="en-GB" smtClean="0"/>
              <a:t>8</a:t>
            </a:fld>
            <a:endParaRPr lang="en-GB"/>
          </a:p>
        </p:txBody>
      </p:sp>
    </p:spTree>
    <p:extLst>
      <p:ext uri="{BB962C8B-B14F-4D97-AF65-F5344CB8AC3E}">
        <p14:creationId xmlns:p14="http://schemas.microsoft.com/office/powerpoint/2010/main" val="7264807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5E04C-EA28-A4F8-DF04-F57C7EE216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232163-2356-F8BF-CCCE-0CC0D99D80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845232-8C2E-1576-610C-E6C5E606914A}"/>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2FC4416A-284C-56DB-0908-020DFA178383}"/>
              </a:ext>
            </a:extLst>
          </p:cNvPr>
          <p:cNvSpPr>
            <a:spLocks noGrp="1"/>
          </p:cNvSpPr>
          <p:nvPr>
            <p:ph type="sldNum" sz="quarter" idx="5"/>
          </p:nvPr>
        </p:nvSpPr>
        <p:spPr/>
        <p:txBody>
          <a:bodyPr/>
          <a:lstStyle/>
          <a:p>
            <a:fld id="{C6B3559C-4BE5-4262-A2E7-0EADDD5F845B}" type="slidenum">
              <a:rPr lang="en-GB" smtClean="0"/>
              <a:t>9</a:t>
            </a:fld>
            <a:endParaRPr lang="en-GB"/>
          </a:p>
        </p:txBody>
      </p:sp>
    </p:spTree>
    <p:extLst>
      <p:ext uri="{BB962C8B-B14F-4D97-AF65-F5344CB8AC3E}">
        <p14:creationId xmlns:p14="http://schemas.microsoft.com/office/powerpoint/2010/main" val="28909247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93771-897F-12F6-5E1B-63578FEF7F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34CD5A-932E-D79A-595C-6A33E6F819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E84763-0A1B-3473-3B33-BE00734D663C}"/>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703A4647-BBCD-A42A-A1D3-1C72D748D07D}"/>
              </a:ext>
            </a:extLst>
          </p:cNvPr>
          <p:cNvSpPr>
            <a:spLocks noGrp="1"/>
          </p:cNvSpPr>
          <p:nvPr>
            <p:ph type="sldNum" sz="quarter" idx="5"/>
          </p:nvPr>
        </p:nvSpPr>
        <p:spPr/>
        <p:txBody>
          <a:bodyPr/>
          <a:lstStyle/>
          <a:p>
            <a:fld id="{C6B3559C-4BE5-4262-A2E7-0EADDD5F845B}" type="slidenum">
              <a:rPr lang="en-GB" smtClean="0"/>
              <a:t>10</a:t>
            </a:fld>
            <a:endParaRPr lang="en-GB"/>
          </a:p>
        </p:txBody>
      </p:sp>
    </p:spTree>
    <p:extLst>
      <p:ext uri="{BB962C8B-B14F-4D97-AF65-F5344CB8AC3E}">
        <p14:creationId xmlns:p14="http://schemas.microsoft.com/office/powerpoint/2010/main" val="39442207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93771-897F-12F6-5E1B-63578FEF7F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34CD5A-932E-D79A-595C-6A33E6F819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E84763-0A1B-3473-3B33-BE00734D663C}"/>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703A4647-BBCD-A42A-A1D3-1C72D748D07D}"/>
              </a:ext>
            </a:extLst>
          </p:cNvPr>
          <p:cNvSpPr>
            <a:spLocks noGrp="1"/>
          </p:cNvSpPr>
          <p:nvPr>
            <p:ph type="sldNum" sz="quarter" idx="5"/>
          </p:nvPr>
        </p:nvSpPr>
        <p:spPr/>
        <p:txBody>
          <a:bodyPr/>
          <a:lstStyle/>
          <a:p>
            <a:fld id="{C6B3559C-4BE5-4262-A2E7-0EADDD5F845B}" type="slidenum">
              <a:rPr lang="en-GB" smtClean="0"/>
              <a:t>11</a:t>
            </a:fld>
            <a:endParaRPr lang="en-GB"/>
          </a:p>
        </p:txBody>
      </p:sp>
    </p:spTree>
    <p:extLst>
      <p:ext uri="{BB962C8B-B14F-4D97-AF65-F5344CB8AC3E}">
        <p14:creationId xmlns:p14="http://schemas.microsoft.com/office/powerpoint/2010/main" val="9856172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48C02-2D8D-74E3-85CF-F65DB7300E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43EBE4-7D2B-7606-9ED4-BD45524723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FAA4B7-B5D5-8F35-33BF-21EF0D6B36FD}"/>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9239A658-0D8F-4C95-E043-B12530C08CF1}"/>
              </a:ext>
            </a:extLst>
          </p:cNvPr>
          <p:cNvSpPr>
            <a:spLocks noGrp="1"/>
          </p:cNvSpPr>
          <p:nvPr>
            <p:ph type="sldNum" sz="quarter" idx="5"/>
          </p:nvPr>
        </p:nvSpPr>
        <p:spPr/>
        <p:txBody>
          <a:bodyPr/>
          <a:lstStyle/>
          <a:p>
            <a:fld id="{C6B3559C-4BE5-4262-A2E7-0EADDD5F845B}" type="slidenum">
              <a:rPr lang="en-GB" smtClean="0"/>
              <a:t>12</a:t>
            </a:fld>
            <a:endParaRPr lang="en-GB"/>
          </a:p>
        </p:txBody>
      </p:sp>
    </p:spTree>
    <p:extLst>
      <p:ext uri="{BB962C8B-B14F-4D97-AF65-F5344CB8AC3E}">
        <p14:creationId xmlns:p14="http://schemas.microsoft.com/office/powerpoint/2010/main" val="25152214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F0978-5311-D152-3870-2985070401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D2DDC7-7072-FFEF-0F63-7315578A89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0FF834-CA01-06EE-60F4-C83F0B7489E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E6312292-BFAF-2262-C64E-FC96040FFF48}"/>
              </a:ext>
            </a:extLst>
          </p:cNvPr>
          <p:cNvSpPr>
            <a:spLocks noGrp="1"/>
          </p:cNvSpPr>
          <p:nvPr>
            <p:ph type="sldNum" sz="quarter" idx="5"/>
          </p:nvPr>
        </p:nvSpPr>
        <p:spPr/>
        <p:txBody>
          <a:bodyPr/>
          <a:lstStyle/>
          <a:p>
            <a:fld id="{C6B3559C-4BE5-4262-A2E7-0EADDD5F845B}" type="slidenum">
              <a:rPr lang="en-GB" smtClean="0"/>
              <a:t>13</a:t>
            </a:fld>
            <a:endParaRPr lang="en-GB"/>
          </a:p>
        </p:txBody>
      </p:sp>
    </p:spTree>
    <p:extLst>
      <p:ext uri="{BB962C8B-B14F-4D97-AF65-F5344CB8AC3E}">
        <p14:creationId xmlns:p14="http://schemas.microsoft.com/office/powerpoint/2010/main" val="1726040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fld id="{C6B3559C-4BE5-4262-A2E7-0EADDD5F845B}" type="slidenum">
              <a:rPr lang="en-GB" smtClean="0"/>
              <a:t>14</a:t>
            </a:fld>
            <a:endParaRPr lang="en-GB"/>
          </a:p>
        </p:txBody>
      </p:sp>
    </p:spTree>
    <p:extLst>
      <p:ext uri="{BB962C8B-B14F-4D97-AF65-F5344CB8AC3E}">
        <p14:creationId xmlns:p14="http://schemas.microsoft.com/office/powerpoint/2010/main" val="36732686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fld id="{C6B3559C-4BE5-4262-A2E7-0EADDD5F845B}" type="slidenum">
              <a:rPr lang="en-GB" smtClean="0"/>
              <a:t>15</a:t>
            </a:fld>
            <a:endParaRPr lang="en-GB"/>
          </a:p>
        </p:txBody>
      </p:sp>
    </p:spTree>
    <p:extLst>
      <p:ext uri="{BB962C8B-B14F-4D97-AF65-F5344CB8AC3E}">
        <p14:creationId xmlns:p14="http://schemas.microsoft.com/office/powerpoint/2010/main" val="10109090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8886F-DB72-51A5-345E-7335A9258F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5F61AE-1E4B-2E22-B070-869ECDD970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2316AA-EA01-4595-1101-D37C4F16AE5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785CF23-4833-3C52-6AA6-B3322A643DF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32871947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B481D-D47C-DE9F-8D28-87D700EB2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75AC9-1814-AC28-D512-8B199E0C9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EAF4-6650-6070-76EA-47865DD8AD13}"/>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E64911D1-08B2-AB0C-F885-01B06E3AECFA}"/>
              </a:ext>
            </a:extLst>
          </p:cNvPr>
          <p:cNvSpPr>
            <a:spLocks noGrp="1"/>
          </p:cNvSpPr>
          <p:nvPr>
            <p:ph type="sldNum" sz="quarter" idx="5"/>
          </p:nvPr>
        </p:nvSpPr>
        <p:spPr/>
        <p:txBody>
          <a:bodyPr/>
          <a:lstStyle/>
          <a:p>
            <a:fld id="{C6B3559C-4BE5-4262-A2E7-0EADDD5F845B}" type="slidenum">
              <a:rPr lang="en-GB" smtClean="0"/>
              <a:t>17</a:t>
            </a:fld>
            <a:endParaRPr lang="en-GB"/>
          </a:p>
        </p:txBody>
      </p:sp>
    </p:spTree>
    <p:extLst>
      <p:ext uri="{BB962C8B-B14F-4D97-AF65-F5344CB8AC3E}">
        <p14:creationId xmlns:p14="http://schemas.microsoft.com/office/powerpoint/2010/main" val="31010044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9FE05-DEC4-F43B-87D1-C3975A794E82}"/>
            </a:ext>
          </a:extLst>
        </p:cNvPr>
        <p:cNvGrpSpPr/>
        <p:nvPr/>
      </p:nvGrpSpPr>
      <p:grpSpPr>
        <a:xfrm>
          <a:off x="0" y="0"/>
          <a:ext cx="0" cy="0"/>
          <a:chOff x="0" y="0"/>
          <a:chExt cx="0" cy="0"/>
        </a:xfrm>
      </p:grpSpPr>
      <p:sp>
        <p:nvSpPr>
          <p:cNvPr id="60418" name="Rectangle 7">
            <a:extLst>
              <a:ext uri="{FF2B5EF4-FFF2-40B4-BE49-F238E27FC236}">
                <a16:creationId xmlns:a16="http://schemas.microsoft.com/office/drawing/2014/main" id="{FBB9EE4D-AC6B-7DD5-FC39-4C7D21191356}"/>
              </a:ext>
            </a:extLst>
          </p:cNvPr>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CB2604-47D4-4186-A38F-9BD40DD20DC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0419" name="Rectangle 2">
            <a:extLst>
              <a:ext uri="{FF2B5EF4-FFF2-40B4-BE49-F238E27FC236}">
                <a16:creationId xmlns:a16="http://schemas.microsoft.com/office/drawing/2014/main" id="{F6360253-E761-98E6-B65C-40CAA980DE66}"/>
              </a:ext>
            </a:extLst>
          </p:cNvPr>
          <p:cNvSpPr>
            <a:spLocks noGrp="1" noRot="1" noChangeAspect="1" noChangeArrowheads="1" noTextEdit="1"/>
          </p:cNvSpPr>
          <p:nvPr>
            <p:ph type="sldImg"/>
          </p:nvPr>
        </p:nvSpPr>
        <p:spPr>
          <a:xfrm>
            <a:off x="460375" y="720725"/>
            <a:ext cx="6397625" cy="3598863"/>
          </a:xfrm>
          <a:ln/>
        </p:spPr>
      </p:sp>
      <p:sp>
        <p:nvSpPr>
          <p:cNvPr id="60420" name="Rectangle 3">
            <a:extLst>
              <a:ext uri="{FF2B5EF4-FFF2-40B4-BE49-F238E27FC236}">
                <a16:creationId xmlns:a16="http://schemas.microsoft.com/office/drawing/2014/main" id="{49323A7C-1D0D-3CBB-4401-710F51F93024}"/>
              </a:ext>
            </a:extLst>
          </p:cNvPr>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0269294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B481D-D47C-DE9F-8D28-87D700EB2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75AC9-1814-AC28-D512-8B199E0C9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EAF4-6650-6070-76EA-47865DD8AD13}"/>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E64911D1-08B2-AB0C-F885-01B06E3AECFA}"/>
              </a:ext>
            </a:extLst>
          </p:cNvPr>
          <p:cNvSpPr>
            <a:spLocks noGrp="1"/>
          </p:cNvSpPr>
          <p:nvPr>
            <p:ph type="sldNum" sz="quarter" idx="5"/>
          </p:nvPr>
        </p:nvSpPr>
        <p:spPr/>
        <p:txBody>
          <a:bodyPr/>
          <a:lstStyle/>
          <a:p>
            <a:fld id="{C6B3559C-4BE5-4262-A2E7-0EADDD5F845B}" type="slidenum">
              <a:rPr lang="en-GB" smtClean="0"/>
              <a:t>19</a:t>
            </a:fld>
            <a:endParaRPr lang="en-GB"/>
          </a:p>
        </p:txBody>
      </p:sp>
    </p:spTree>
    <p:extLst>
      <p:ext uri="{BB962C8B-B14F-4D97-AF65-F5344CB8AC3E}">
        <p14:creationId xmlns:p14="http://schemas.microsoft.com/office/powerpoint/2010/main" val="13582964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BB35E-7DB0-D189-044F-BDC5F2F57E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D1D05E-BD77-E646-6F70-FE497D31F2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6B41F1-7B9E-1F6C-CE31-80B473FA251E}"/>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14DA177D-1FEA-D89D-49F4-1DF55912BE60}"/>
              </a:ext>
            </a:extLst>
          </p:cNvPr>
          <p:cNvSpPr>
            <a:spLocks noGrp="1"/>
          </p:cNvSpPr>
          <p:nvPr>
            <p:ph type="sldNum" sz="quarter" idx="5"/>
          </p:nvPr>
        </p:nvSpPr>
        <p:spPr/>
        <p:txBody>
          <a:bodyPr/>
          <a:lstStyle/>
          <a:p>
            <a:fld id="{C6B3559C-4BE5-4262-A2E7-0EADDD5F845B}" type="slidenum">
              <a:rPr lang="en-GB" smtClean="0"/>
              <a:t>20</a:t>
            </a:fld>
            <a:endParaRPr lang="en-GB"/>
          </a:p>
        </p:txBody>
      </p:sp>
    </p:spTree>
    <p:extLst>
      <p:ext uri="{BB962C8B-B14F-4D97-AF65-F5344CB8AC3E}">
        <p14:creationId xmlns:p14="http://schemas.microsoft.com/office/powerpoint/2010/main" val="4757046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158AD-A3F1-F4A8-E0FD-10577E522D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4DE5B4-207A-B012-DAFF-1369346809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9C6D9F-FDAA-637D-5248-0C1D3BBE5972}"/>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EE7767A7-A732-8515-3D80-791706FB735C}"/>
              </a:ext>
            </a:extLst>
          </p:cNvPr>
          <p:cNvSpPr>
            <a:spLocks noGrp="1"/>
          </p:cNvSpPr>
          <p:nvPr>
            <p:ph type="sldNum" sz="quarter" idx="5"/>
          </p:nvPr>
        </p:nvSpPr>
        <p:spPr/>
        <p:txBody>
          <a:bodyPr/>
          <a:lstStyle/>
          <a:p>
            <a:fld id="{C6B3559C-4BE5-4262-A2E7-0EADDD5F845B}" type="slidenum">
              <a:rPr lang="en-GB" smtClean="0"/>
              <a:t>21</a:t>
            </a:fld>
            <a:endParaRPr lang="en-GB"/>
          </a:p>
        </p:txBody>
      </p:sp>
    </p:spTree>
    <p:extLst>
      <p:ext uri="{BB962C8B-B14F-4D97-AF65-F5344CB8AC3E}">
        <p14:creationId xmlns:p14="http://schemas.microsoft.com/office/powerpoint/2010/main" val="28337594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BB35E-7DB0-D189-044F-BDC5F2F57E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D1D05E-BD77-E646-6F70-FE497D31F2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6B41F1-7B9E-1F6C-CE31-80B473FA251E}"/>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14DA177D-1FEA-D89D-49F4-1DF55912BE60}"/>
              </a:ext>
            </a:extLst>
          </p:cNvPr>
          <p:cNvSpPr>
            <a:spLocks noGrp="1"/>
          </p:cNvSpPr>
          <p:nvPr>
            <p:ph type="sldNum" sz="quarter" idx="5"/>
          </p:nvPr>
        </p:nvSpPr>
        <p:spPr/>
        <p:txBody>
          <a:bodyPr/>
          <a:lstStyle/>
          <a:p>
            <a:fld id="{C6B3559C-4BE5-4262-A2E7-0EADDD5F845B}" type="slidenum">
              <a:rPr lang="en-GB" smtClean="0"/>
              <a:t>22</a:t>
            </a:fld>
            <a:endParaRPr lang="en-GB"/>
          </a:p>
        </p:txBody>
      </p:sp>
    </p:spTree>
    <p:extLst>
      <p:ext uri="{BB962C8B-B14F-4D97-AF65-F5344CB8AC3E}">
        <p14:creationId xmlns:p14="http://schemas.microsoft.com/office/powerpoint/2010/main" val="37238032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DAB78-5C93-17C7-A1D7-8F7F34BAEE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E5F344-C79B-796C-B36C-7C8A3D0305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1DEAF9-391C-49CD-2202-BA56370A8123}"/>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E2AE00D5-E5C2-2840-461B-558C80D84ABA}"/>
              </a:ext>
            </a:extLst>
          </p:cNvPr>
          <p:cNvSpPr>
            <a:spLocks noGrp="1"/>
          </p:cNvSpPr>
          <p:nvPr>
            <p:ph type="sldNum" sz="quarter" idx="5"/>
          </p:nvPr>
        </p:nvSpPr>
        <p:spPr/>
        <p:txBody>
          <a:bodyPr/>
          <a:lstStyle/>
          <a:p>
            <a:fld id="{C6B3559C-4BE5-4262-A2E7-0EADDD5F845B}" type="slidenum">
              <a:rPr lang="en-GB" smtClean="0"/>
              <a:t>23</a:t>
            </a:fld>
            <a:endParaRPr lang="en-GB"/>
          </a:p>
        </p:txBody>
      </p:sp>
    </p:spTree>
    <p:extLst>
      <p:ext uri="{BB962C8B-B14F-4D97-AF65-F5344CB8AC3E}">
        <p14:creationId xmlns:p14="http://schemas.microsoft.com/office/powerpoint/2010/main" val="18281326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147237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A09E7-F231-C326-A92E-5BAE2F57EB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BA7C2B-9531-543E-C4D7-CA59455235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362D7A-A307-497A-7ACD-FD0F5F918EB2}"/>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9E108947-A9E5-3938-2466-9367D14FB9AC}"/>
              </a:ext>
            </a:extLst>
          </p:cNvPr>
          <p:cNvSpPr>
            <a:spLocks noGrp="1"/>
          </p:cNvSpPr>
          <p:nvPr>
            <p:ph type="sldNum" sz="quarter" idx="5"/>
          </p:nvPr>
        </p:nvSpPr>
        <p:spPr/>
        <p:txBody>
          <a:bodyPr/>
          <a:lstStyle/>
          <a:p>
            <a:fld id="{C6B3559C-4BE5-4262-A2E7-0EADDD5F845B}" type="slidenum">
              <a:rPr lang="en-GB" smtClean="0"/>
              <a:t>25</a:t>
            </a:fld>
            <a:endParaRPr lang="en-GB"/>
          </a:p>
        </p:txBody>
      </p:sp>
    </p:spTree>
    <p:extLst>
      <p:ext uri="{BB962C8B-B14F-4D97-AF65-F5344CB8AC3E}">
        <p14:creationId xmlns:p14="http://schemas.microsoft.com/office/powerpoint/2010/main" val="35624362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A09E7-F231-C326-A92E-5BAE2F57EB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BA7C2B-9531-543E-C4D7-CA59455235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362D7A-A307-497A-7ACD-FD0F5F918EB2}"/>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9E108947-A9E5-3938-2466-9367D14FB9AC}"/>
              </a:ext>
            </a:extLst>
          </p:cNvPr>
          <p:cNvSpPr>
            <a:spLocks noGrp="1"/>
          </p:cNvSpPr>
          <p:nvPr>
            <p:ph type="sldNum" sz="quarter" idx="5"/>
          </p:nvPr>
        </p:nvSpPr>
        <p:spPr/>
        <p:txBody>
          <a:bodyPr/>
          <a:lstStyle/>
          <a:p>
            <a:fld id="{C6B3559C-4BE5-4262-A2E7-0EADDD5F845B}" type="slidenum">
              <a:rPr lang="en-GB" smtClean="0"/>
              <a:t>26</a:t>
            </a:fld>
            <a:endParaRPr lang="en-GB"/>
          </a:p>
        </p:txBody>
      </p:sp>
    </p:spTree>
    <p:extLst>
      <p:ext uri="{BB962C8B-B14F-4D97-AF65-F5344CB8AC3E}">
        <p14:creationId xmlns:p14="http://schemas.microsoft.com/office/powerpoint/2010/main" val="22067794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BD721-268D-4A44-D423-1242C70F7C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7C02E1-6461-FFD0-904F-8D46196261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2B2D71-F3AE-F396-EECC-507303641925}"/>
              </a:ext>
            </a:extLst>
          </p:cNvPr>
          <p:cNvSpPr>
            <a:spLocks noGrp="1"/>
          </p:cNvSpPr>
          <p:nvPr>
            <p:ph type="body" idx="1"/>
          </p:nvPr>
        </p:nvSpPr>
        <p:spPr/>
        <p:txBody>
          <a:bodyPr/>
          <a:lstStyle/>
          <a:p>
            <a:pPr marL="228600" indent="-228600">
              <a:buAutoNum type="arabicPeriod"/>
            </a:pPr>
            <a:endParaRPr lang="en-GB" dirty="0">
              <a:cs typeface="DM Sans"/>
            </a:endParaRPr>
          </a:p>
        </p:txBody>
      </p:sp>
      <p:sp>
        <p:nvSpPr>
          <p:cNvPr id="4" name="Slide Number Placeholder 3">
            <a:extLst>
              <a:ext uri="{FF2B5EF4-FFF2-40B4-BE49-F238E27FC236}">
                <a16:creationId xmlns:a16="http://schemas.microsoft.com/office/drawing/2014/main" id="{4BB4A957-E061-9D0B-17AE-7CD9EDC7BCB2}"/>
              </a:ext>
            </a:extLst>
          </p:cNvPr>
          <p:cNvSpPr>
            <a:spLocks noGrp="1"/>
          </p:cNvSpPr>
          <p:nvPr>
            <p:ph type="sldNum" sz="quarter" idx="5"/>
          </p:nvPr>
        </p:nvSpPr>
        <p:spPr/>
        <p:txBody>
          <a:bodyPr/>
          <a:lstStyle/>
          <a:p>
            <a:fld id="{C6B3559C-4BE5-4262-A2E7-0EADDD5F845B}" type="slidenum">
              <a:rPr lang="en-GB" smtClean="0"/>
              <a:t>27</a:t>
            </a:fld>
            <a:endParaRPr lang="en-GB"/>
          </a:p>
        </p:txBody>
      </p:sp>
    </p:spTree>
    <p:extLst>
      <p:ext uri="{BB962C8B-B14F-4D97-AF65-F5344CB8AC3E}">
        <p14:creationId xmlns:p14="http://schemas.microsoft.com/office/powerpoint/2010/main" val="16542614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1DF59-A169-678F-8B0E-515761D807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5ED5F2-A6A7-EBD8-BBB8-AAFA668224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057F60-BF55-EF35-0E52-7CECC742C5C9}"/>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FDFD6E9B-0149-3582-BF70-3FA28394EC9D}"/>
              </a:ext>
            </a:extLst>
          </p:cNvPr>
          <p:cNvSpPr>
            <a:spLocks noGrp="1"/>
          </p:cNvSpPr>
          <p:nvPr>
            <p:ph type="sldNum" sz="quarter" idx="5"/>
          </p:nvPr>
        </p:nvSpPr>
        <p:spPr/>
        <p:txBody>
          <a:bodyPr/>
          <a:lstStyle/>
          <a:p>
            <a:fld id="{C6B3559C-4BE5-4262-A2E7-0EADDD5F845B}" type="slidenum">
              <a:rPr lang="en-GB" smtClean="0"/>
              <a:t>28</a:t>
            </a:fld>
            <a:endParaRPr lang="en-GB"/>
          </a:p>
        </p:txBody>
      </p:sp>
    </p:spTree>
    <p:extLst>
      <p:ext uri="{BB962C8B-B14F-4D97-AF65-F5344CB8AC3E}">
        <p14:creationId xmlns:p14="http://schemas.microsoft.com/office/powerpoint/2010/main" val="23988355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DB1E4-C6BC-DE73-2F43-94E583CDCE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0B5C02-5C5B-FE75-021A-B2E764435F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4A4437-9E99-F293-1EDF-C2510D01A6F5}"/>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45A1C2E3-6C5B-0D6B-CADC-19CA5711925E}"/>
              </a:ext>
            </a:extLst>
          </p:cNvPr>
          <p:cNvSpPr>
            <a:spLocks noGrp="1"/>
          </p:cNvSpPr>
          <p:nvPr>
            <p:ph type="sldNum" sz="quarter" idx="5"/>
          </p:nvPr>
        </p:nvSpPr>
        <p:spPr/>
        <p:txBody>
          <a:bodyPr/>
          <a:lstStyle/>
          <a:p>
            <a:fld id="{C6B3559C-4BE5-4262-A2E7-0EADDD5F845B}" type="slidenum">
              <a:rPr lang="en-GB" smtClean="0"/>
              <a:t>29</a:t>
            </a:fld>
            <a:endParaRPr lang="en-GB"/>
          </a:p>
        </p:txBody>
      </p:sp>
    </p:spTree>
    <p:extLst>
      <p:ext uri="{BB962C8B-B14F-4D97-AF65-F5344CB8AC3E}">
        <p14:creationId xmlns:p14="http://schemas.microsoft.com/office/powerpoint/2010/main" val="2452031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3F711-8084-AC5E-0A73-28EBA08168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463DCB-1244-F514-89DA-4D6E5EC5FD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DC6CE7-1CF6-8FF2-752D-7577D3F0FED0}"/>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774B4803-1A63-97FB-78DD-E18A8BC5475B}"/>
              </a:ext>
            </a:extLst>
          </p:cNvPr>
          <p:cNvSpPr>
            <a:spLocks noGrp="1"/>
          </p:cNvSpPr>
          <p:nvPr>
            <p:ph type="sldNum" sz="quarter" idx="5"/>
          </p:nvPr>
        </p:nvSpPr>
        <p:spPr/>
        <p:txBody>
          <a:bodyPr/>
          <a:lstStyle/>
          <a:p>
            <a:fld id="{C6B3559C-4BE5-4262-A2E7-0EADDD5F845B}" type="slidenum">
              <a:rPr lang="en-GB" smtClean="0"/>
              <a:t>30</a:t>
            </a:fld>
            <a:endParaRPr lang="en-GB"/>
          </a:p>
        </p:txBody>
      </p:sp>
    </p:spTree>
    <p:extLst>
      <p:ext uri="{BB962C8B-B14F-4D97-AF65-F5344CB8AC3E}">
        <p14:creationId xmlns:p14="http://schemas.microsoft.com/office/powerpoint/2010/main" val="34854057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94B39-BDF9-1585-2ADA-C028A01247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C6FE04-1EA4-47A8-247F-A047C5F985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D87BF-4710-F770-1708-C2540C27157F}"/>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26A38CE0-03E0-1A97-3857-575FA6EED5F4}"/>
              </a:ext>
            </a:extLst>
          </p:cNvPr>
          <p:cNvSpPr>
            <a:spLocks noGrp="1"/>
          </p:cNvSpPr>
          <p:nvPr>
            <p:ph type="sldNum" sz="quarter" idx="5"/>
          </p:nvPr>
        </p:nvSpPr>
        <p:spPr/>
        <p:txBody>
          <a:bodyPr/>
          <a:lstStyle/>
          <a:p>
            <a:fld id="{C6B3559C-4BE5-4262-A2E7-0EADDD5F845B}" type="slidenum">
              <a:rPr lang="en-GB" smtClean="0"/>
              <a:t>31</a:t>
            </a:fld>
            <a:endParaRPr lang="en-GB"/>
          </a:p>
        </p:txBody>
      </p:sp>
    </p:spTree>
    <p:extLst>
      <p:ext uri="{BB962C8B-B14F-4D97-AF65-F5344CB8AC3E}">
        <p14:creationId xmlns:p14="http://schemas.microsoft.com/office/powerpoint/2010/main" val="35780889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1C84C-6B2A-A90D-8458-7F944083D3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7B9844-89FE-29AE-8252-B4B8B773B6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AF5B7A-5DF1-8541-3622-268B2BF6946B}"/>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EAF1296D-4E68-35AB-5BD1-9011CB50A0D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3845026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A7C61-8A9C-FF4B-4ABF-11E850338C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E6D752-67C5-D061-B673-4A6077C6CD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4353FE-A23B-621E-7A08-D26484F71CE9}"/>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2527B417-EC84-0305-4E95-E306C7DBFF13}"/>
              </a:ext>
            </a:extLst>
          </p:cNvPr>
          <p:cNvSpPr>
            <a:spLocks noGrp="1"/>
          </p:cNvSpPr>
          <p:nvPr>
            <p:ph type="sldNum" sz="quarter" idx="5"/>
          </p:nvPr>
        </p:nvSpPr>
        <p:spPr/>
        <p:txBody>
          <a:bodyPr/>
          <a:lstStyle/>
          <a:p>
            <a:fld id="{C6B3559C-4BE5-4262-A2E7-0EADDD5F845B}" type="slidenum">
              <a:rPr lang="en-GB" smtClean="0"/>
              <a:t>33</a:t>
            </a:fld>
            <a:endParaRPr lang="en-GB"/>
          </a:p>
        </p:txBody>
      </p:sp>
    </p:spTree>
    <p:extLst>
      <p:ext uri="{BB962C8B-B14F-4D97-AF65-F5344CB8AC3E}">
        <p14:creationId xmlns:p14="http://schemas.microsoft.com/office/powerpoint/2010/main" val="32341937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2DD1B-5DAF-F729-4F93-510180956E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895A0A-C05D-9159-883D-5C714C4F97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8B3F6B-41CB-59C8-BC3F-555644B1AF18}"/>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58AE9D4F-D7F2-E547-7CCD-9A44ECFB6230}"/>
              </a:ext>
            </a:extLst>
          </p:cNvPr>
          <p:cNvSpPr>
            <a:spLocks noGrp="1"/>
          </p:cNvSpPr>
          <p:nvPr>
            <p:ph type="sldNum" sz="quarter" idx="5"/>
          </p:nvPr>
        </p:nvSpPr>
        <p:spPr/>
        <p:txBody>
          <a:bodyPr/>
          <a:lstStyle/>
          <a:p>
            <a:fld id="{C6B3559C-4BE5-4262-A2E7-0EADDD5F845B}" type="slidenum">
              <a:rPr lang="en-GB" smtClean="0"/>
              <a:t>34</a:t>
            </a:fld>
            <a:endParaRPr lang="en-GB"/>
          </a:p>
        </p:txBody>
      </p:sp>
    </p:spTree>
    <p:extLst>
      <p:ext uri="{BB962C8B-B14F-4D97-AF65-F5344CB8AC3E}">
        <p14:creationId xmlns:p14="http://schemas.microsoft.com/office/powerpoint/2010/main" val="40311281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6FB5A-E1A9-FC8A-2118-5C6A8C5E0047}"/>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F3AB7384-3B4A-A0CE-77FA-AB7D4BE8991C}"/>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9E752A68-FF6F-8FC5-D52D-C41CABC398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21508" name="Slide Number Placeholder 3">
            <a:extLst>
              <a:ext uri="{FF2B5EF4-FFF2-40B4-BE49-F238E27FC236}">
                <a16:creationId xmlns:a16="http://schemas.microsoft.com/office/drawing/2014/main" id="{8FDC3139-D055-4EE5-BA8D-9C72836D53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A9B20F9-B0C9-4C43-AA44-6686FCE3390A}" type="slidenum">
              <a:rPr kumimoji="0" lang="en-GB"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2895840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78529-677C-C7CB-7969-1BC2AAD7DE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D9DCE7-6FFB-B799-CD17-70226423B2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8F377F-7CF9-4B7C-3454-EEDCC5CCBDE0}"/>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77C2368A-2688-3081-DC3D-6F84D781C59A}"/>
              </a:ext>
            </a:extLst>
          </p:cNvPr>
          <p:cNvSpPr>
            <a:spLocks noGrp="1"/>
          </p:cNvSpPr>
          <p:nvPr>
            <p:ph type="sldNum" sz="quarter" idx="5"/>
          </p:nvPr>
        </p:nvSpPr>
        <p:spPr/>
        <p:txBody>
          <a:bodyPr/>
          <a:lstStyle/>
          <a:p>
            <a:fld id="{C6B3559C-4BE5-4262-A2E7-0EADDD5F845B}" type="slidenum">
              <a:rPr lang="en-GB" smtClean="0"/>
              <a:t>36</a:t>
            </a:fld>
            <a:endParaRPr lang="en-GB"/>
          </a:p>
        </p:txBody>
      </p:sp>
    </p:spTree>
    <p:extLst>
      <p:ext uri="{BB962C8B-B14F-4D97-AF65-F5344CB8AC3E}">
        <p14:creationId xmlns:p14="http://schemas.microsoft.com/office/powerpoint/2010/main" val="313952762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A3CE4-8C0B-3DFC-5FB8-B2EA7A6BEE08}"/>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B2E32859-4956-0E43-CA86-D7F1E7B1A123}"/>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04656766-9178-76BB-1992-D5ECA6AC2E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21508" name="Slide Number Placeholder 3">
            <a:extLst>
              <a:ext uri="{FF2B5EF4-FFF2-40B4-BE49-F238E27FC236}">
                <a16:creationId xmlns:a16="http://schemas.microsoft.com/office/drawing/2014/main" id="{F69C0F02-F4F1-D1E5-5751-6BEC404B9F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A9B20F9-B0C9-4C43-AA44-6686FCE3390A}"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GB" alt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501829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D7764-18B3-5F4A-DE05-8C731B9F24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EF09A5-0E01-4B49-2865-F522309227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E0A775-027A-57E3-DE0A-938F2E40141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7794878-4127-681A-227F-EB8BC8FA10D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2907743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latin typeface="DM Sans"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S PGothic"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Tree>
    <p:extLst>
      <p:ext uri="{BB962C8B-B14F-4D97-AF65-F5344CB8AC3E}">
        <p14:creationId xmlns:p14="http://schemas.microsoft.com/office/powerpoint/2010/main" val="35333203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7200707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5FE1A-E3E4-852B-8546-14F06FB444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C3E90D-FDAA-DE71-E0A4-5A152E5586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767E2B-A1DB-9F1B-879D-81AF3230DFF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D5E7C4F-2C28-79D8-79BD-AB9CE61D094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47335359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40DCE-7278-B282-DC98-46AEAA1946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998F8-D412-C996-A2A4-C926753E3E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CD0AC1-6725-C72B-4DB6-442DEAFF8E3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2A5F8F5-D111-9A95-F20D-C10441EB69D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7351460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D7559-AFC4-AD58-755D-F0D834571B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6EFD59-8A15-9AD4-52C4-CD1552CA76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A1A709-F38E-383E-4B1A-54CD1E3743A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9B4306F-C309-132A-E9C2-60B426B147B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1575431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12C0E-71BE-50B6-3F5B-A6557EBFE9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6A1B60-FFC9-0A8E-2F54-3EA2D8C3D3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7EECF8-F0E1-EE1D-8CB6-D7EA398DA8D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1BA1900-0D12-3C90-DE38-5BFD991ACAC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363423403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09925-CD66-1837-C38E-888928F6BC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5586B-4763-F42E-EB21-2146832721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AD5B6E-73E2-9CD1-31E9-B861006D64C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D2CF648-80EF-EA3A-E449-E33656785C5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27188656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AFA34-52E4-A133-8E32-9B5138DD65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094247-D1EF-F31B-B5BB-9E868C8398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D645DA-EE4C-EAAD-70DC-49D2B6139F1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8184C4D-C178-EDCF-6CB7-05438F373F8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66647479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12565-E4F3-8F94-DEAA-F2F0326A23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25C6A3-280C-1CAF-9B71-887898B8E3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B4CC57-07CE-38B4-C413-890CFB2A98B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9848DF5-EC0C-0BE1-3FE0-6419C62A165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02641868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6556E-AC72-FA2F-7D06-2865F3EB72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2C050A-5509-E131-9092-9A3405DC71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AAC07D-8E9B-E59E-41CD-3262513AD26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84EC720-1D67-D0B2-CFD6-27BDC5AC41D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319865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6"/>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17" indent="0" algn="ctr">
              <a:buNone/>
              <a:defRPr>
                <a:solidFill>
                  <a:schemeClr val="tx1">
                    <a:tint val="75000"/>
                  </a:schemeClr>
                </a:solidFill>
              </a:defRPr>
            </a:lvl2pPr>
            <a:lvl3pPr marL="685835" indent="0" algn="ctr">
              <a:buNone/>
              <a:defRPr>
                <a:solidFill>
                  <a:schemeClr val="tx1">
                    <a:tint val="75000"/>
                  </a:schemeClr>
                </a:solidFill>
              </a:defRPr>
            </a:lvl3pPr>
            <a:lvl4pPr marL="1028753" indent="0" algn="ctr">
              <a:buNone/>
              <a:defRPr>
                <a:solidFill>
                  <a:schemeClr val="tx1">
                    <a:tint val="75000"/>
                  </a:schemeClr>
                </a:solidFill>
              </a:defRPr>
            </a:lvl4pPr>
            <a:lvl5pPr marL="1371669" indent="0" algn="ctr">
              <a:buNone/>
              <a:defRPr>
                <a:solidFill>
                  <a:schemeClr val="tx1">
                    <a:tint val="75000"/>
                  </a:schemeClr>
                </a:solidFill>
              </a:defRPr>
            </a:lvl5pPr>
            <a:lvl6pPr marL="1714586" indent="0" algn="ctr">
              <a:buNone/>
              <a:defRPr>
                <a:solidFill>
                  <a:schemeClr val="tx1">
                    <a:tint val="75000"/>
                  </a:schemeClr>
                </a:solidFill>
              </a:defRPr>
            </a:lvl6pPr>
            <a:lvl7pPr marL="2057502" indent="0" algn="ctr">
              <a:buNone/>
              <a:defRPr>
                <a:solidFill>
                  <a:schemeClr val="tx1">
                    <a:tint val="75000"/>
                  </a:schemeClr>
                </a:solidFill>
              </a:defRPr>
            </a:lvl7pPr>
            <a:lvl8pPr marL="2400420" indent="0" algn="ctr">
              <a:buNone/>
              <a:defRPr>
                <a:solidFill>
                  <a:schemeClr val="tx1">
                    <a:tint val="75000"/>
                  </a:schemeClr>
                </a:solidFill>
              </a:defRPr>
            </a:lvl8pPr>
            <a:lvl9pPr marL="274333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299161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450533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5" y="4406901"/>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5" y="2906714"/>
            <a:ext cx="7772400" cy="1500188"/>
          </a:xfrm>
        </p:spPr>
        <p:txBody>
          <a:bodyPr anchor="b"/>
          <a:lstStyle>
            <a:lvl1pPr marL="0" indent="0">
              <a:buNone/>
              <a:defRPr sz="1500">
                <a:solidFill>
                  <a:schemeClr val="tx1">
                    <a:tint val="75000"/>
                  </a:schemeClr>
                </a:solidFill>
              </a:defRPr>
            </a:lvl1pPr>
            <a:lvl2pPr marL="342917" indent="0">
              <a:buNone/>
              <a:defRPr sz="1350">
                <a:solidFill>
                  <a:schemeClr val="tx1">
                    <a:tint val="75000"/>
                  </a:schemeClr>
                </a:solidFill>
              </a:defRPr>
            </a:lvl2pPr>
            <a:lvl3pPr marL="685835" indent="0">
              <a:buNone/>
              <a:defRPr sz="1200">
                <a:solidFill>
                  <a:schemeClr val="tx1">
                    <a:tint val="75000"/>
                  </a:schemeClr>
                </a:solidFill>
              </a:defRPr>
            </a:lvl3pPr>
            <a:lvl4pPr marL="1028753" indent="0">
              <a:buNone/>
              <a:defRPr sz="1050">
                <a:solidFill>
                  <a:schemeClr val="tx1">
                    <a:tint val="75000"/>
                  </a:schemeClr>
                </a:solidFill>
              </a:defRPr>
            </a:lvl4pPr>
            <a:lvl5pPr marL="1371669" indent="0">
              <a:buNone/>
              <a:defRPr sz="1050">
                <a:solidFill>
                  <a:schemeClr val="tx1">
                    <a:tint val="75000"/>
                  </a:schemeClr>
                </a:solidFill>
              </a:defRPr>
            </a:lvl5pPr>
            <a:lvl6pPr marL="1714586" indent="0">
              <a:buNone/>
              <a:defRPr sz="1050">
                <a:solidFill>
                  <a:schemeClr val="tx1">
                    <a:tint val="75000"/>
                  </a:schemeClr>
                </a:solidFill>
              </a:defRPr>
            </a:lvl6pPr>
            <a:lvl7pPr marL="2057502" indent="0">
              <a:buNone/>
              <a:defRPr sz="1050">
                <a:solidFill>
                  <a:schemeClr val="tx1">
                    <a:tint val="75000"/>
                  </a:schemeClr>
                </a:solidFill>
              </a:defRPr>
            </a:lvl7pPr>
            <a:lvl8pPr marL="2400420" indent="0">
              <a:buNone/>
              <a:defRPr sz="1050">
                <a:solidFill>
                  <a:schemeClr val="tx1">
                    <a:tint val="75000"/>
                  </a:schemeClr>
                </a:solidFill>
              </a:defRPr>
            </a:lvl8pPr>
            <a:lvl9pPr marL="2743338"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763121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3"/>
            <a:ext cx="4038600" cy="4525964"/>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3"/>
            <a:ext cx="4038600" cy="4525964"/>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971653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2" y="1535114"/>
            <a:ext cx="4040189" cy="639762"/>
          </a:xfrm>
        </p:spPr>
        <p:txBody>
          <a:bodyPr anchor="b"/>
          <a:lstStyle>
            <a:lvl1pPr marL="0" indent="0">
              <a:buNone/>
              <a:defRPr sz="1800" b="1"/>
            </a:lvl1pPr>
            <a:lvl2pPr marL="342917" indent="0">
              <a:buNone/>
              <a:defRPr sz="1500" b="1"/>
            </a:lvl2pPr>
            <a:lvl3pPr marL="685835" indent="0">
              <a:buNone/>
              <a:defRPr sz="1350" b="1"/>
            </a:lvl3pPr>
            <a:lvl4pPr marL="1028753" indent="0">
              <a:buNone/>
              <a:defRPr sz="1200" b="1"/>
            </a:lvl4pPr>
            <a:lvl5pPr marL="1371669" indent="0">
              <a:buNone/>
              <a:defRPr sz="1200" b="1"/>
            </a:lvl5pPr>
            <a:lvl6pPr marL="1714586" indent="0">
              <a:buNone/>
              <a:defRPr sz="1200" b="1"/>
            </a:lvl6pPr>
            <a:lvl7pPr marL="2057502" indent="0">
              <a:buNone/>
              <a:defRPr sz="1200" b="1"/>
            </a:lvl7pPr>
            <a:lvl8pPr marL="2400420" indent="0">
              <a:buNone/>
              <a:defRPr sz="1200" b="1"/>
            </a:lvl8pPr>
            <a:lvl9pPr marL="2743338"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2" y="2174876"/>
            <a:ext cx="4040189"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4"/>
            <a:ext cx="4041776" cy="639762"/>
          </a:xfrm>
        </p:spPr>
        <p:txBody>
          <a:bodyPr anchor="b"/>
          <a:lstStyle>
            <a:lvl1pPr marL="0" indent="0">
              <a:buNone/>
              <a:defRPr sz="1800" b="1"/>
            </a:lvl1pPr>
            <a:lvl2pPr marL="342917" indent="0">
              <a:buNone/>
              <a:defRPr sz="1500" b="1"/>
            </a:lvl2pPr>
            <a:lvl3pPr marL="685835" indent="0">
              <a:buNone/>
              <a:defRPr sz="1350" b="1"/>
            </a:lvl3pPr>
            <a:lvl4pPr marL="1028753" indent="0">
              <a:buNone/>
              <a:defRPr sz="1200" b="1"/>
            </a:lvl4pPr>
            <a:lvl5pPr marL="1371669" indent="0">
              <a:buNone/>
              <a:defRPr sz="1200" b="1"/>
            </a:lvl5pPr>
            <a:lvl6pPr marL="1714586" indent="0">
              <a:buNone/>
              <a:defRPr sz="1200" b="1"/>
            </a:lvl6pPr>
            <a:lvl7pPr marL="2057502" indent="0">
              <a:buNone/>
              <a:defRPr sz="1200" b="1"/>
            </a:lvl7pPr>
            <a:lvl8pPr marL="2400420" indent="0">
              <a:buNone/>
              <a:defRPr sz="1200" b="1"/>
            </a:lvl8pPr>
            <a:lvl9pPr marL="2743338"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7" y="2174876"/>
            <a:ext cx="4041776"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353863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434502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501501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5"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4" y="273055"/>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4"/>
            <a:ext cx="3008315" cy="4691063"/>
          </a:xfrm>
        </p:spPr>
        <p:txBody>
          <a:bodyPr/>
          <a:lstStyle>
            <a:lvl1pPr marL="0" indent="0">
              <a:buNone/>
              <a:defRPr sz="1050"/>
            </a:lvl1pPr>
            <a:lvl2pPr marL="342917" indent="0">
              <a:buNone/>
              <a:defRPr sz="900"/>
            </a:lvl2pPr>
            <a:lvl3pPr marL="685835" indent="0">
              <a:buNone/>
              <a:defRPr sz="750"/>
            </a:lvl3pPr>
            <a:lvl4pPr marL="1028753" indent="0">
              <a:buNone/>
              <a:defRPr sz="675"/>
            </a:lvl4pPr>
            <a:lvl5pPr marL="1371669" indent="0">
              <a:buNone/>
              <a:defRPr sz="675"/>
            </a:lvl5pPr>
            <a:lvl6pPr marL="1714586" indent="0">
              <a:buNone/>
              <a:defRPr sz="675"/>
            </a:lvl6pPr>
            <a:lvl7pPr marL="2057502" indent="0">
              <a:buNone/>
              <a:defRPr sz="675"/>
            </a:lvl7pPr>
            <a:lvl8pPr marL="2400420" indent="0">
              <a:buNone/>
              <a:defRPr sz="675"/>
            </a:lvl8pPr>
            <a:lvl9pPr marL="2743338"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346305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4"/>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6"/>
            <a:ext cx="5486400" cy="4114800"/>
          </a:xfrm>
        </p:spPr>
        <p:txBody>
          <a:bodyPr/>
          <a:lstStyle>
            <a:lvl1pPr marL="0" indent="0">
              <a:buNone/>
              <a:defRPr sz="2400"/>
            </a:lvl1pPr>
            <a:lvl2pPr marL="342917" indent="0">
              <a:buNone/>
              <a:defRPr sz="2100"/>
            </a:lvl2pPr>
            <a:lvl3pPr marL="685835" indent="0">
              <a:buNone/>
              <a:defRPr sz="1800"/>
            </a:lvl3pPr>
            <a:lvl4pPr marL="1028753" indent="0">
              <a:buNone/>
              <a:defRPr sz="1500"/>
            </a:lvl4pPr>
            <a:lvl5pPr marL="1371669" indent="0">
              <a:buNone/>
              <a:defRPr sz="1500"/>
            </a:lvl5pPr>
            <a:lvl6pPr marL="1714586" indent="0">
              <a:buNone/>
              <a:defRPr sz="1500"/>
            </a:lvl6pPr>
            <a:lvl7pPr marL="2057502" indent="0">
              <a:buNone/>
              <a:defRPr sz="1500"/>
            </a:lvl7pPr>
            <a:lvl8pPr marL="2400420" indent="0">
              <a:buNone/>
              <a:defRPr sz="1500"/>
            </a:lvl8pPr>
            <a:lvl9pPr marL="2743338" indent="0">
              <a:buNone/>
              <a:defRPr sz="1500"/>
            </a:lvl9pPr>
          </a:lstStyle>
          <a:p>
            <a:endParaRPr lang="en-US"/>
          </a:p>
        </p:txBody>
      </p:sp>
      <p:sp>
        <p:nvSpPr>
          <p:cNvPr id="4" name="Text Placeholder 3"/>
          <p:cNvSpPr>
            <a:spLocks noGrp="1"/>
          </p:cNvSpPr>
          <p:nvPr>
            <p:ph type="body" sz="half" idx="2"/>
          </p:nvPr>
        </p:nvSpPr>
        <p:spPr>
          <a:xfrm>
            <a:off x="1792288" y="5367341"/>
            <a:ext cx="5486400" cy="804863"/>
          </a:xfrm>
        </p:spPr>
        <p:txBody>
          <a:bodyPr/>
          <a:lstStyle>
            <a:lvl1pPr marL="0" indent="0">
              <a:buNone/>
              <a:defRPr sz="1050"/>
            </a:lvl1pPr>
            <a:lvl2pPr marL="342917" indent="0">
              <a:buNone/>
              <a:defRPr sz="900"/>
            </a:lvl2pPr>
            <a:lvl3pPr marL="685835" indent="0">
              <a:buNone/>
              <a:defRPr sz="750"/>
            </a:lvl3pPr>
            <a:lvl4pPr marL="1028753" indent="0">
              <a:buNone/>
              <a:defRPr sz="675"/>
            </a:lvl4pPr>
            <a:lvl5pPr marL="1371669" indent="0">
              <a:buNone/>
              <a:defRPr sz="675"/>
            </a:lvl5pPr>
            <a:lvl6pPr marL="1714586" indent="0">
              <a:buNone/>
              <a:defRPr sz="675"/>
            </a:lvl6pPr>
            <a:lvl7pPr marL="2057502" indent="0">
              <a:buNone/>
              <a:defRPr sz="675"/>
            </a:lvl7pPr>
            <a:lvl8pPr marL="2400420" indent="0">
              <a:buNone/>
              <a:defRPr sz="675"/>
            </a:lvl8pPr>
            <a:lvl9pPr marL="2743338"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336730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39451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773361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411957"/>
            <a:ext cx="16459200" cy="1714500"/>
          </a:xfrm>
        </p:spPr>
        <p:txBody>
          <a:bodyPr/>
          <a:lstStyle/>
          <a:p>
            <a:r>
              <a:rPr lang="en-GB"/>
              <a:t>Click to edit Master title style</a:t>
            </a:r>
            <a:endParaRPr lang="en-US"/>
          </a:p>
        </p:txBody>
      </p:sp>
      <p:sp>
        <p:nvSpPr>
          <p:cNvPr id="3" name="Text Placeholder 2"/>
          <p:cNvSpPr>
            <a:spLocks noGrp="1"/>
          </p:cNvSpPr>
          <p:nvPr>
            <p:ph type="body" sz="half" idx="1"/>
          </p:nvPr>
        </p:nvSpPr>
        <p:spPr>
          <a:xfrm>
            <a:off x="914400" y="2400305"/>
            <a:ext cx="8077200" cy="67889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9296400" y="2400305"/>
            <a:ext cx="8077200" cy="67889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Rectangle 4">
            <a:extLst>
              <a:ext uri="{FF2B5EF4-FFF2-40B4-BE49-F238E27FC236}">
                <a16:creationId xmlns:a16="http://schemas.microsoft.com/office/drawing/2014/main" id="{CA130A59-24D6-BF44-B4BD-970B6853FBF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82DA918-BA26-C842-8E1E-1ED32CE2744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2F81648-DEEE-D640-983E-74FC943C9CDF}"/>
              </a:ext>
            </a:extLst>
          </p:cNvPr>
          <p:cNvSpPr>
            <a:spLocks noGrp="1" noChangeArrowheads="1"/>
          </p:cNvSpPr>
          <p:nvPr>
            <p:ph type="sldNum" sz="quarter" idx="12"/>
          </p:nvPr>
        </p:nvSpPr>
        <p:spPr>
          <a:ln/>
        </p:spPr>
        <p:txBody>
          <a:bodyPr/>
          <a:lstStyle>
            <a:lvl1pPr>
              <a:defRPr/>
            </a:lvl1pPr>
          </a:lstStyle>
          <a:p>
            <a:fld id="{7F318B0F-B1AF-594B-AA89-D1C92B2445CC}" type="slidenum">
              <a:rPr lang="en-US" altLang="en-US"/>
              <a:pPr/>
              <a:t>‹#›</a:t>
            </a:fld>
            <a:endParaRPr lang="en-US" altLang="en-US"/>
          </a:p>
        </p:txBody>
      </p:sp>
    </p:spTree>
    <p:extLst>
      <p:ext uri="{BB962C8B-B14F-4D97-AF65-F5344CB8AC3E}">
        <p14:creationId xmlns:p14="http://schemas.microsoft.com/office/powerpoint/2010/main" val="25135319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914400" y="411959"/>
            <a:ext cx="16459200" cy="8777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Rectangle 4">
            <a:extLst>
              <a:ext uri="{FF2B5EF4-FFF2-40B4-BE49-F238E27FC236}">
                <a16:creationId xmlns:a16="http://schemas.microsoft.com/office/drawing/2014/main" id="{A78232EC-B2A8-C143-ACB0-89F0E5D889BB}"/>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E5602903-C5EA-6C4C-B5F2-B86D2D565E1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2BF1A0A5-AD10-2340-BC89-9D16FDAD00D9}"/>
              </a:ext>
            </a:extLst>
          </p:cNvPr>
          <p:cNvSpPr>
            <a:spLocks noGrp="1" noChangeArrowheads="1"/>
          </p:cNvSpPr>
          <p:nvPr>
            <p:ph type="sldNum" sz="quarter" idx="12"/>
          </p:nvPr>
        </p:nvSpPr>
        <p:spPr>
          <a:ln/>
        </p:spPr>
        <p:txBody>
          <a:bodyPr/>
          <a:lstStyle>
            <a:lvl1pPr>
              <a:defRPr/>
            </a:lvl1pPr>
          </a:lstStyle>
          <a:p>
            <a:fld id="{96A68D32-FF93-834A-B58C-1FA432242830}" type="slidenum">
              <a:rPr lang="en-US" altLang="en-US"/>
              <a:pPr/>
              <a:t>‹#›</a:t>
            </a:fld>
            <a:endParaRPr lang="en-US" altLang="en-US"/>
          </a:p>
        </p:txBody>
      </p:sp>
    </p:spTree>
    <p:extLst>
      <p:ext uri="{BB962C8B-B14F-4D97-AF65-F5344CB8AC3E}">
        <p14:creationId xmlns:p14="http://schemas.microsoft.com/office/powerpoint/2010/main" val="41172228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408897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9817620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729644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601816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14606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3629374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327900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9392883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248155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1086618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7544407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411957"/>
            <a:ext cx="16459200" cy="1714500"/>
          </a:xfrm>
        </p:spPr>
        <p:txBody>
          <a:bodyPr/>
          <a:lstStyle/>
          <a:p>
            <a:r>
              <a:rPr lang="en-GB"/>
              <a:t>Click to edit Master title style</a:t>
            </a:r>
            <a:endParaRPr lang="en-US"/>
          </a:p>
        </p:txBody>
      </p:sp>
      <p:sp>
        <p:nvSpPr>
          <p:cNvPr id="3" name="Text Placeholder 2"/>
          <p:cNvSpPr>
            <a:spLocks noGrp="1"/>
          </p:cNvSpPr>
          <p:nvPr>
            <p:ph type="body" sz="half" idx="1"/>
          </p:nvPr>
        </p:nvSpPr>
        <p:spPr>
          <a:xfrm>
            <a:off x="914400" y="2400301"/>
            <a:ext cx="8077200" cy="67889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9296400" y="2400301"/>
            <a:ext cx="8077200" cy="67889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Rectangle 4">
            <a:extLst>
              <a:ext uri="{FF2B5EF4-FFF2-40B4-BE49-F238E27FC236}">
                <a16:creationId xmlns:a16="http://schemas.microsoft.com/office/drawing/2014/main" id="{CA130A59-24D6-BF44-B4BD-970B6853FBF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82DA918-BA26-C842-8E1E-1ED32CE2744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2F81648-DEEE-D640-983E-74FC943C9CDF}"/>
              </a:ext>
            </a:extLst>
          </p:cNvPr>
          <p:cNvSpPr>
            <a:spLocks noGrp="1" noChangeArrowheads="1"/>
          </p:cNvSpPr>
          <p:nvPr>
            <p:ph type="sldNum" sz="quarter" idx="12"/>
          </p:nvPr>
        </p:nvSpPr>
        <p:spPr>
          <a:ln/>
        </p:spPr>
        <p:txBody>
          <a:bodyPr/>
          <a:lstStyle>
            <a:lvl1pPr>
              <a:defRPr/>
            </a:lvl1pPr>
          </a:lstStyle>
          <a:p>
            <a:fld id="{7F318B0F-B1AF-594B-AA89-D1C92B2445CC}" type="slidenum">
              <a:rPr lang="en-US" altLang="en-US"/>
              <a:pPr/>
              <a:t>‹#›</a:t>
            </a:fld>
            <a:endParaRPr lang="en-US" altLang="en-US"/>
          </a:p>
        </p:txBody>
      </p:sp>
    </p:spTree>
    <p:extLst>
      <p:ext uri="{BB962C8B-B14F-4D97-AF65-F5344CB8AC3E}">
        <p14:creationId xmlns:p14="http://schemas.microsoft.com/office/powerpoint/2010/main" val="195399661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Portfolio 2 Images">
    <p:spTree>
      <p:nvGrpSpPr>
        <p:cNvPr id="1" name=""/>
        <p:cNvGrpSpPr/>
        <p:nvPr/>
      </p:nvGrpSpPr>
      <p:grpSpPr>
        <a:xfrm>
          <a:off x="0" y="0"/>
          <a:ext cx="0" cy="0"/>
          <a:chOff x="0" y="0"/>
          <a:chExt cx="0" cy="0"/>
        </a:xfrm>
      </p:grpSpPr>
      <p:sp>
        <p:nvSpPr>
          <p:cNvPr id="6" name="Picture Placeholder 13"/>
          <p:cNvSpPr>
            <a:spLocks noGrp="1"/>
          </p:cNvSpPr>
          <p:nvPr>
            <p:ph type="pic" sz="quarter" idx="27"/>
          </p:nvPr>
        </p:nvSpPr>
        <p:spPr>
          <a:xfrm>
            <a:off x="0" y="0"/>
            <a:ext cx="18288000" cy="6540191"/>
          </a:xfrm>
          <a:solidFill>
            <a:schemeClr val="bg1">
              <a:lumMod val="95000"/>
            </a:schemeClr>
          </a:solidFill>
          <a:effectLst/>
        </p:spPr>
        <p:txBody>
          <a:bodyPr>
            <a:normAutofit/>
          </a:bodyPr>
          <a:lstStyle>
            <a:lvl1pPr marL="0" indent="0">
              <a:buNone/>
              <a:defRPr sz="1950" b="0" i="0">
                <a:ln>
                  <a:noFill/>
                </a:ln>
                <a:solidFill>
                  <a:schemeClr val="bg1">
                    <a:lumMod val="85000"/>
                  </a:schemeClr>
                </a:solidFill>
                <a:latin typeface="Open Sans" charset="0"/>
                <a:ea typeface="Open Sans" charset="0"/>
                <a:cs typeface="Open Sans" charset="0"/>
              </a:defRPr>
            </a:lvl1pPr>
          </a:lstStyle>
          <a:p>
            <a:endParaRPr lang="en-US" dirty="0"/>
          </a:p>
        </p:txBody>
      </p:sp>
    </p:spTree>
    <p:extLst>
      <p:ext uri="{BB962C8B-B14F-4D97-AF65-F5344CB8AC3E}">
        <p14:creationId xmlns:p14="http://schemas.microsoft.com/office/powerpoint/2010/main" val="76941732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1.jpe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DM Sans" pitchFamily="2" charset="0"/>
              </a:defRPr>
            </a:lvl1pPr>
          </a:lstStyle>
          <a:p>
            <a:fld id="{1D8BD707-D9CF-40AE-B4C6-C98DA3205C09}" type="datetimeFigureOut">
              <a:rPr lang="en-US" smtClean="0"/>
              <a:pPr/>
              <a:t>3/18/26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DM Sans" pitchFamily="2" charset="0"/>
          <a:ea typeface="+mj-ea"/>
          <a:cs typeface="+mj-cs"/>
        </a:defRPr>
      </a:lvl1pPr>
    </p:titleStyle>
    <p:body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3"/>
            <a:ext cx="8229600" cy="45259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4"/>
            <a:ext cx="2133600" cy="365126"/>
          </a:xfrm>
          <a:prstGeom prst="rect">
            <a:avLst/>
          </a:prstGeom>
        </p:spPr>
        <p:txBody>
          <a:bodyPr vert="horz" lIns="91440" tIns="45720" rIns="91440" bIns="45720" rtlCol="0" anchor="ctr"/>
          <a:lstStyle>
            <a:lvl1pPr algn="l">
              <a:defRPr sz="900">
                <a:solidFill>
                  <a:schemeClr val="tx1">
                    <a:tint val="75000"/>
                  </a:schemeClr>
                </a:solidFill>
                <a:latin typeface="DM Sans" pitchFamily="2" charset="0"/>
              </a:defRPr>
            </a:lvl1pPr>
          </a:lstStyle>
          <a:p>
            <a:fld id="{1D8BD707-D9CF-40AE-B4C6-C98DA3205C09}" type="datetimeFigureOut">
              <a:rPr lang="en-US" smtClean="0"/>
              <a:pPr/>
              <a:t>3/18/26</a:t>
            </a:fld>
            <a:endParaRPr lang="en-US"/>
          </a:p>
        </p:txBody>
      </p:sp>
      <p:sp>
        <p:nvSpPr>
          <p:cNvPr id="5" name="Footer Placeholder 4"/>
          <p:cNvSpPr>
            <a:spLocks noGrp="1"/>
          </p:cNvSpPr>
          <p:nvPr>
            <p:ph type="ftr" sz="quarter" idx="3"/>
          </p:nvPr>
        </p:nvSpPr>
        <p:spPr>
          <a:xfrm>
            <a:off x="3124200" y="6356354"/>
            <a:ext cx="2895600" cy="365126"/>
          </a:xfrm>
          <a:prstGeom prst="rect">
            <a:avLst/>
          </a:prstGeom>
        </p:spPr>
        <p:txBody>
          <a:bodyPr vert="horz" lIns="91440" tIns="45720" rIns="91440" bIns="45720" rtlCol="0" anchor="ctr"/>
          <a:lstStyle>
            <a:lvl1pPr algn="ctr">
              <a:defRPr sz="9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6553200" y="6356354"/>
            <a:ext cx="2133600" cy="365126"/>
          </a:xfrm>
          <a:prstGeom prst="rect">
            <a:avLst/>
          </a:prstGeom>
        </p:spPr>
        <p:txBody>
          <a:bodyPr vert="horz" lIns="91440" tIns="45720" rIns="91440" bIns="45720" rtlCol="0" anchor="ctr"/>
          <a:lstStyle>
            <a:lvl1pPr algn="r">
              <a:defRPr sz="9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90736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ctr" defTabSz="685835" rtl="0" eaLnBrk="1" latinLnBrk="0" hangingPunct="1">
        <a:spcBef>
          <a:spcPct val="0"/>
        </a:spcBef>
        <a:buNone/>
        <a:defRPr sz="3300" kern="1200">
          <a:solidFill>
            <a:schemeClr val="tx1"/>
          </a:solidFill>
          <a:latin typeface="DM Sans" pitchFamily="2" charset="0"/>
          <a:ea typeface="+mj-ea"/>
          <a:cs typeface="+mj-cs"/>
        </a:defRPr>
      </a:lvl1pPr>
    </p:titleStyle>
    <p:bodyStyle>
      <a:lvl1pPr marL="257187" indent="-257187" algn="l" defTabSz="685835"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1pPr>
      <a:lvl2pPr marL="557241" indent="-214325" algn="l" defTabSz="685835" rtl="0" eaLnBrk="1" latinLnBrk="0" hangingPunct="1">
        <a:spcBef>
          <a:spcPct val="20000"/>
        </a:spcBef>
        <a:buFont typeface="DM Sans" pitchFamily="34" charset="0"/>
        <a:buChar char="–"/>
        <a:defRPr sz="2100" kern="1200">
          <a:solidFill>
            <a:schemeClr val="tx1"/>
          </a:solidFill>
          <a:latin typeface="DM Sans" pitchFamily="2" charset="0"/>
          <a:ea typeface="+mn-ea"/>
          <a:cs typeface="+mn-cs"/>
        </a:defRPr>
      </a:lvl2pPr>
      <a:lvl3pPr marL="857294" indent="-171459" algn="l" defTabSz="685835" rtl="0" eaLnBrk="1" latinLnBrk="0" hangingPunct="1">
        <a:spcBef>
          <a:spcPct val="20000"/>
        </a:spcBef>
        <a:buFont typeface="DM Sans" pitchFamily="34" charset="0"/>
        <a:buChar char="•"/>
        <a:defRPr sz="1800" kern="1200">
          <a:solidFill>
            <a:schemeClr val="tx1"/>
          </a:solidFill>
          <a:latin typeface="DM Sans" pitchFamily="2" charset="0"/>
          <a:ea typeface="+mn-ea"/>
          <a:cs typeface="+mn-cs"/>
        </a:defRPr>
      </a:lvl3pPr>
      <a:lvl4pPr marL="1200210" indent="-171459" algn="l" defTabSz="685835" rtl="0" eaLnBrk="1" latinLnBrk="0" hangingPunct="1">
        <a:spcBef>
          <a:spcPct val="20000"/>
        </a:spcBef>
        <a:buFont typeface="DM Sans" pitchFamily="34" charset="0"/>
        <a:buChar char="–"/>
        <a:defRPr sz="1500" kern="1200">
          <a:solidFill>
            <a:schemeClr val="tx1"/>
          </a:solidFill>
          <a:latin typeface="DM Sans" pitchFamily="2" charset="0"/>
          <a:ea typeface="+mn-ea"/>
          <a:cs typeface="+mn-cs"/>
        </a:defRPr>
      </a:lvl4pPr>
      <a:lvl5pPr marL="1543128" indent="-171459" algn="l" defTabSz="685835" rtl="0" eaLnBrk="1" latinLnBrk="0" hangingPunct="1">
        <a:spcBef>
          <a:spcPct val="20000"/>
        </a:spcBef>
        <a:buFont typeface="DM Sans" pitchFamily="34" charset="0"/>
        <a:buChar char="»"/>
        <a:defRPr sz="1500" kern="1200">
          <a:solidFill>
            <a:schemeClr val="tx1"/>
          </a:solidFill>
          <a:latin typeface="DM Sans" pitchFamily="2" charset="0"/>
          <a:ea typeface="+mn-ea"/>
          <a:cs typeface="+mn-cs"/>
        </a:defRPr>
      </a:lvl5pPr>
      <a:lvl6pPr marL="1886045" indent="-171459" algn="l" defTabSz="685835" rtl="0" eaLnBrk="1" latinLnBrk="0" hangingPunct="1">
        <a:spcBef>
          <a:spcPct val="20000"/>
        </a:spcBef>
        <a:buFont typeface="DM Sans" pitchFamily="34" charset="0"/>
        <a:buChar char="•"/>
        <a:defRPr sz="1500" kern="1200">
          <a:solidFill>
            <a:schemeClr val="tx1"/>
          </a:solidFill>
          <a:latin typeface="+mn-lt"/>
          <a:ea typeface="+mn-ea"/>
          <a:cs typeface="+mn-cs"/>
        </a:defRPr>
      </a:lvl6pPr>
      <a:lvl7pPr marL="2228961" indent="-171459" algn="l" defTabSz="685835" rtl="0" eaLnBrk="1" latinLnBrk="0" hangingPunct="1">
        <a:spcBef>
          <a:spcPct val="20000"/>
        </a:spcBef>
        <a:buFont typeface="DM Sans" pitchFamily="34" charset="0"/>
        <a:buChar char="•"/>
        <a:defRPr sz="1500" kern="1200">
          <a:solidFill>
            <a:schemeClr val="tx1"/>
          </a:solidFill>
          <a:latin typeface="+mn-lt"/>
          <a:ea typeface="+mn-ea"/>
          <a:cs typeface="+mn-cs"/>
        </a:defRPr>
      </a:lvl7pPr>
      <a:lvl8pPr marL="2571879" indent="-171459" algn="l" defTabSz="685835" rtl="0" eaLnBrk="1" latinLnBrk="0" hangingPunct="1">
        <a:spcBef>
          <a:spcPct val="20000"/>
        </a:spcBef>
        <a:buFont typeface="DM Sans" pitchFamily="34" charset="0"/>
        <a:buChar char="•"/>
        <a:defRPr sz="1500" kern="1200">
          <a:solidFill>
            <a:schemeClr val="tx1"/>
          </a:solidFill>
          <a:latin typeface="+mn-lt"/>
          <a:ea typeface="+mn-ea"/>
          <a:cs typeface="+mn-cs"/>
        </a:defRPr>
      </a:lvl8pPr>
      <a:lvl9pPr marL="2914797" indent="-171459" algn="l" defTabSz="685835" rtl="0" eaLnBrk="1" latinLnBrk="0" hangingPunct="1">
        <a:spcBef>
          <a:spcPct val="20000"/>
        </a:spcBef>
        <a:buFont typeface="DM Sans" pitchFamily="34" charset="0"/>
        <a:buChar char="•"/>
        <a:defRPr sz="1500" kern="1200">
          <a:solidFill>
            <a:schemeClr val="tx1"/>
          </a:solidFill>
          <a:latin typeface="+mn-lt"/>
          <a:ea typeface="+mn-ea"/>
          <a:cs typeface="+mn-cs"/>
        </a:defRPr>
      </a:lvl9pPr>
    </p:bodyStyle>
    <p:otherStyle>
      <a:defPPr>
        <a:defRPr lang="en-US"/>
      </a:defPPr>
      <a:lvl1pPr marL="0" algn="l" defTabSz="685835" rtl="0" eaLnBrk="1" latinLnBrk="0" hangingPunct="1">
        <a:defRPr sz="1350" kern="1200">
          <a:solidFill>
            <a:schemeClr val="tx1"/>
          </a:solidFill>
          <a:latin typeface="+mn-lt"/>
          <a:ea typeface="+mn-ea"/>
          <a:cs typeface="+mn-cs"/>
        </a:defRPr>
      </a:lvl1pPr>
      <a:lvl2pPr marL="342917" algn="l" defTabSz="685835" rtl="0" eaLnBrk="1" latinLnBrk="0" hangingPunct="1">
        <a:defRPr sz="1350" kern="1200">
          <a:solidFill>
            <a:schemeClr val="tx1"/>
          </a:solidFill>
          <a:latin typeface="+mn-lt"/>
          <a:ea typeface="+mn-ea"/>
          <a:cs typeface="+mn-cs"/>
        </a:defRPr>
      </a:lvl2pPr>
      <a:lvl3pPr marL="685835" algn="l" defTabSz="685835" rtl="0" eaLnBrk="1" latinLnBrk="0" hangingPunct="1">
        <a:defRPr sz="1350" kern="1200">
          <a:solidFill>
            <a:schemeClr val="tx1"/>
          </a:solidFill>
          <a:latin typeface="+mn-lt"/>
          <a:ea typeface="+mn-ea"/>
          <a:cs typeface="+mn-cs"/>
        </a:defRPr>
      </a:lvl3pPr>
      <a:lvl4pPr marL="1028753" algn="l" defTabSz="685835" rtl="0" eaLnBrk="1" latinLnBrk="0" hangingPunct="1">
        <a:defRPr sz="1350" kern="1200">
          <a:solidFill>
            <a:schemeClr val="tx1"/>
          </a:solidFill>
          <a:latin typeface="+mn-lt"/>
          <a:ea typeface="+mn-ea"/>
          <a:cs typeface="+mn-cs"/>
        </a:defRPr>
      </a:lvl4pPr>
      <a:lvl5pPr marL="1371669" algn="l" defTabSz="685835" rtl="0" eaLnBrk="1" latinLnBrk="0" hangingPunct="1">
        <a:defRPr sz="1350" kern="1200">
          <a:solidFill>
            <a:schemeClr val="tx1"/>
          </a:solidFill>
          <a:latin typeface="+mn-lt"/>
          <a:ea typeface="+mn-ea"/>
          <a:cs typeface="+mn-cs"/>
        </a:defRPr>
      </a:lvl5pPr>
      <a:lvl6pPr marL="1714586" algn="l" defTabSz="685835" rtl="0" eaLnBrk="1" latinLnBrk="0" hangingPunct="1">
        <a:defRPr sz="1350" kern="1200">
          <a:solidFill>
            <a:schemeClr val="tx1"/>
          </a:solidFill>
          <a:latin typeface="+mn-lt"/>
          <a:ea typeface="+mn-ea"/>
          <a:cs typeface="+mn-cs"/>
        </a:defRPr>
      </a:lvl6pPr>
      <a:lvl7pPr marL="2057502" algn="l" defTabSz="685835" rtl="0" eaLnBrk="1" latinLnBrk="0" hangingPunct="1">
        <a:defRPr sz="1350" kern="1200">
          <a:solidFill>
            <a:schemeClr val="tx1"/>
          </a:solidFill>
          <a:latin typeface="+mn-lt"/>
          <a:ea typeface="+mn-ea"/>
          <a:cs typeface="+mn-cs"/>
        </a:defRPr>
      </a:lvl7pPr>
      <a:lvl8pPr marL="2400420" algn="l" defTabSz="685835" rtl="0" eaLnBrk="1" latinLnBrk="0" hangingPunct="1">
        <a:defRPr sz="1350" kern="1200">
          <a:solidFill>
            <a:schemeClr val="tx1"/>
          </a:solidFill>
          <a:latin typeface="+mn-lt"/>
          <a:ea typeface="+mn-ea"/>
          <a:cs typeface="+mn-cs"/>
        </a:defRPr>
      </a:lvl8pPr>
      <a:lvl9pPr marL="2743338" algn="l" defTabSz="685835"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DM Sans" pitchFamily="2" charset="0"/>
              </a:defRPr>
            </a:lvl1pPr>
          </a:lstStyle>
          <a:p>
            <a:fld id="{1D8BD707-D9CF-40AE-B4C6-C98DA3205C09}" type="datetimeFigureOut">
              <a:rPr lang="en-US" smtClean="0"/>
              <a:pPr/>
              <a:t>3/18/26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25208358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txStyles>
    <p:titleStyle>
      <a:lvl1pPr algn="ctr" defTabSz="914400" rtl="0" eaLnBrk="1" latinLnBrk="0" hangingPunct="1">
        <a:spcBef>
          <a:spcPct val="0"/>
        </a:spcBef>
        <a:buNone/>
        <a:defRPr sz="4400" kern="1200">
          <a:solidFill>
            <a:schemeClr val="tx1"/>
          </a:solidFill>
          <a:latin typeface="DM Sans" pitchFamily="2" charset="0"/>
          <a:ea typeface="+mj-ea"/>
          <a:cs typeface="+mj-cs"/>
        </a:defRPr>
      </a:lvl1pPr>
    </p:titleStyle>
    <p:body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6.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6.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9.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31.xml"/><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17.emf"/><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19.wmf"/><Relationship Id="rId5" Type="http://schemas.openxmlformats.org/officeDocument/2006/relationships/oleObject" Target="../embeddings/oleObject1.bin"/><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21.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image" Target="../media/image23.png"/><Relationship Id="rId5" Type="http://schemas.openxmlformats.org/officeDocument/2006/relationships/image" Target="../media/image3.png"/><Relationship Id="rId4" Type="http://schemas.openxmlformats.org/officeDocument/2006/relationships/image" Target="../media/image1.jpe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6.jpg"/></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6.jp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2.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image" Target="../media/image30.jpe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5.xml"/><Relationship Id="rId1" Type="http://schemas.openxmlformats.org/officeDocument/2006/relationships/slideLayout" Target="../slideLayouts/slideLayout26.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7.xml"/><Relationship Id="rId1" Type="http://schemas.openxmlformats.org/officeDocument/2006/relationships/slideLayout" Target="../slideLayouts/slideLayout26.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31.xml"/><Relationship Id="rId4" Type="http://schemas.openxmlformats.org/officeDocument/2006/relationships/image" Target="../media/image5.png"/></Relationships>
</file>

<file path=ppt/slides/_rels/slide3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8.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3" name="Freeform 13"/>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14">
            <a:extLst>
              <a:ext uri="{FF2B5EF4-FFF2-40B4-BE49-F238E27FC236}">
                <a16:creationId xmlns:a16="http://schemas.microsoft.com/office/drawing/2014/main" id="{F0DA2D17-C40D-DA25-624F-1D8A297B593A}"/>
              </a:ext>
            </a:extLst>
          </p:cNvPr>
          <p:cNvSpPr txBox="1"/>
          <p:nvPr/>
        </p:nvSpPr>
        <p:spPr>
          <a:xfrm>
            <a:off x="1371600" y="5143500"/>
            <a:ext cx="14764384" cy="1380378"/>
          </a:xfrm>
          <a:prstGeom prst="rect">
            <a:avLst/>
          </a:prstGeom>
        </p:spPr>
        <p:txBody>
          <a:bodyPr wrap="square" lIns="0" tIns="0" rIns="0" bIns="0" rtlCol="0" anchor="t">
            <a:spAutoFit/>
          </a:bodyPr>
          <a:lstStyle/>
          <a:p>
            <a:pPr>
              <a:lnSpc>
                <a:spcPts val="10999"/>
              </a:lnSpc>
            </a:pPr>
            <a:r>
              <a:rPr lang="en-GB" altLang="en-US" sz="8800" b="1" dirty="0">
                <a:solidFill>
                  <a:schemeClr val="bg1"/>
                </a:solidFill>
              </a:rPr>
              <a:t>Climate Modelling</a:t>
            </a:r>
            <a:endParaRPr lang="en-US" sz="8799" b="1" dirty="0">
              <a:solidFill>
                <a:schemeClr val="bg1"/>
              </a:solidFill>
              <a:latin typeface="DM Sans" pitchFamily="2" charset="0"/>
            </a:endParaRPr>
          </a:p>
        </p:txBody>
      </p:sp>
      <p:sp>
        <p:nvSpPr>
          <p:cNvPr id="3" name="TextBox 14">
            <a:extLst>
              <a:ext uri="{FF2B5EF4-FFF2-40B4-BE49-F238E27FC236}">
                <a16:creationId xmlns:a16="http://schemas.microsoft.com/office/drawing/2014/main" id="{4E4EAF08-B290-2C6A-BBCC-3221855F907B}"/>
              </a:ext>
            </a:extLst>
          </p:cNvPr>
          <p:cNvSpPr txBox="1"/>
          <p:nvPr/>
        </p:nvSpPr>
        <p:spPr>
          <a:xfrm>
            <a:off x="1371600" y="6256374"/>
            <a:ext cx="7772400" cy="2585901"/>
          </a:xfrm>
          <a:prstGeom prst="rect">
            <a:avLst/>
          </a:prstGeom>
        </p:spPr>
        <p:txBody>
          <a:bodyPr wrap="square" lIns="0" tIns="0" rIns="0" bIns="0" rtlCol="0" anchor="t">
            <a:spAutoFit/>
          </a:bodyPr>
          <a:lstStyle/>
          <a:p>
            <a:pPr>
              <a:lnSpc>
                <a:spcPts val="10999"/>
              </a:lnSpc>
            </a:pPr>
            <a:r>
              <a:rPr lang="en-US" sz="3200" b="1" dirty="0">
                <a:solidFill>
                  <a:srgbClr val="FAB700"/>
                </a:solidFill>
                <a:latin typeface="DM Sans" pitchFamily="2" charset="0"/>
              </a:rPr>
              <a:t>Global Climate Change – Week 7</a:t>
            </a:r>
          </a:p>
          <a:p>
            <a:pPr>
              <a:lnSpc>
                <a:spcPts val="10999"/>
              </a:lnSpc>
            </a:pPr>
            <a:r>
              <a:rPr lang="en-US" sz="3200" b="1" dirty="0">
                <a:solidFill>
                  <a:srgbClr val="FAB700"/>
                </a:solidFill>
                <a:latin typeface="DM Sans" pitchFamily="2" charset="0"/>
              </a:rPr>
              <a:t>Dr Thomas </a:t>
            </a:r>
            <a:r>
              <a:rPr lang="en-US" sz="3200" b="1" dirty="0" err="1">
                <a:solidFill>
                  <a:srgbClr val="FAB700"/>
                </a:solidFill>
                <a:latin typeface="DM Sans" pitchFamily="2" charset="0"/>
              </a:rPr>
              <a:t>Bannan</a:t>
            </a:r>
            <a:r>
              <a:rPr lang="en-US" sz="3200" b="1" dirty="0">
                <a:solidFill>
                  <a:srgbClr val="FAB700"/>
                </a:solidFill>
                <a:latin typeface="DM Sans" pitchFamily="2" charset="0"/>
              </a:rPr>
              <a:t> </a:t>
            </a:r>
          </a:p>
        </p:txBody>
      </p:sp>
      <p:sp>
        <p:nvSpPr>
          <p:cNvPr id="4" name="TextBox 3">
            <a:extLst>
              <a:ext uri="{FF2B5EF4-FFF2-40B4-BE49-F238E27FC236}">
                <a16:creationId xmlns:a16="http://schemas.microsoft.com/office/drawing/2014/main" id="{5889A0A8-15D6-C5A0-517B-A5C87EE4AF42}"/>
              </a:ext>
            </a:extLst>
          </p:cNvPr>
          <p:cNvSpPr txBox="1"/>
          <p:nvPr/>
        </p:nvSpPr>
        <p:spPr>
          <a:xfrm>
            <a:off x="1371600" y="9077406"/>
            <a:ext cx="9047747" cy="461665"/>
          </a:xfrm>
          <a:prstGeom prst="rect">
            <a:avLst/>
          </a:prstGeom>
          <a:noFill/>
        </p:spPr>
        <p:txBody>
          <a:bodyPr wrap="square" rtlCol="0">
            <a:spAutoFit/>
          </a:bodyPr>
          <a:lstStyle/>
          <a:p>
            <a:r>
              <a:rPr lang="en-US" sz="2400" dirty="0" err="1">
                <a:solidFill>
                  <a:schemeClr val="bg1"/>
                </a:solidFill>
              </a:rPr>
              <a:t>Thomas.Bannan@Manchester.ac.uk</a:t>
            </a:r>
            <a:endParaRPr lang="en-US" sz="24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9000"/>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FB782D3E-A7C2-D4CE-6000-D69ABF52E0AC}"/>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BEE16A5-7C45-015F-8A98-91B324DAAE94}"/>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ndParaRPr>
          </a:p>
        </p:txBody>
      </p:sp>
      <p:sp>
        <p:nvSpPr>
          <p:cNvPr id="5" name="TextBox 14">
            <a:extLst>
              <a:ext uri="{FF2B5EF4-FFF2-40B4-BE49-F238E27FC236}">
                <a16:creationId xmlns:a16="http://schemas.microsoft.com/office/drawing/2014/main" id="{CDF94BBB-12EF-E975-6BC5-CB4840BAD385}"/>
              </a:ext>
            </a:extLst>
          </p:cNvPr>
          <p:cNvSpPr txBox="1"/>
          <p:nvPr/>
        </p:nvSpPr>
        <p:spPr>
          <a:xfrm>
            <a:off x="584198" y="1026137"/>
            <a:ext cx="11004828" cy="884858"/>
          </a:xfrm>
          <a:prstGeom prst="rect">
            <a:avLst/>
          </a:prstGeom>
        </p:spPr>
        <p:txBody>
          <a:bodyPr wrap="square" lIns="0" tIns="0" rIns="0" bIns="0" rtlCol="0" anchor="t">
            <a:spAutoFit/>
          </a:bodyPr>
          <a:lstStyle/>
          <a:p>
            <a:pPr defTabSz="914445">
              <a:lnSpc>
                <a:spcPts val="6860"/>
              </a:lnSpc>
              <a:defRPr/>
            </a:pPr>
            <a:r>
              <a:rPr lang="en-US" sz="6000" i="1" spc="-413" dirty="0">
                <a:solidFill>
                  <a:srgbClr val="46245A"/>
                </a:solidFill>
                <a:latin typeface="DM Sans Bold"/>
              </a:rPr>
              <a:t>Global Climate Change - 2026</a:t>
            </a:r>
          </a:p>
        </p:txBody>
      </p:sp>
      <p:sp>
        <p:nvSpPr>
          <p:cNvPr id="2" name="TextBox 1">
            <a:extLst>
              <a:ext uri="{FF2B5EF4-FFF2-40B4-BE49-F238E27FC236}">
                <a16:creationId xmlns:a16="http://schemas.microsoft.com/office/drawing/2014/main" id="{80BD60C8-019A-F807-75A8-73ADCA403375}"/>
              </a:ext>
            </a:extLst>
          </p:cNvPr>
          <p:cNvSpPr txBox="1"/>
          <p:nvPr/>
        </p:nvSpPr>
        <p:spPr>
          <a:xfrm>
            <a:off x="509792" y="1910994"/>
            <a:ext cx="17081234" cy="7848302"/>
          </a:xfrm>
          <a:prstGeom prst="rect">
            <a:avLst/>
          </a:prstGeom>
          <a:noFill/>
        </p:spPr>
        <p:txBody>
          <a:bodyPr wrap="square">
            <a:spAutoFit/>
          </a:bodyPr>
          <a:lstStyle/>
          <a:p>
            <a:pPr defTabSz="609660">
              <a:defRPr/>
            </a:pPr>
            <a:r>
              <a:rPr lang="en-GB" sz="3600" kern="100" dirty="0">
                <a:solidFill>
                  <a:prstClr val="white">
                    <a:lumMod val="65000"/>
                  </a:prstClr>
                </a:solidFill>
                <a:latin typeface="Calibri" panose="020F0502020204030204" pitchFamily="34" charset="0"/>
                <a:ea typeface="Calibri" panose="020F0502020204030204" pitchFamily="34" charset="0"/>
                <a:cs typeface="Calibri" panose="020F0502020204030204" pitchFamily="34" charset="0"/>
              </a:rPr>
              <a:t>Week 1 – </a:t>
            </a:r>
            <a:r>
              <a:rPr lang="en-GB" sz="3600" dirty="0">
                <a:solidFill>
                  <a:prstClr val="white">
                    <a:lumMod val="65000"/>
                  </a:prstClr>
                </a:solidFill>
                <a:latin typeface="Calibri" panose="020F0502020204030204" pitchFamily="34" charset="0"/>
                <a:cs typeface="Calibri" panose="020F0502020204030204" pitchFamily="34" charset="0"/>
              </a:rPr>
              <a:t>Introduction to climate change and its impacts </a:t>
            </a:r>
            <a:r>
              <a:rPr lang="en-GB" sz="3600" kern="100" dirty="0">
                <a:solidFill>
                  <a:prstClr val="white">
                    <a:lumMod val="65000"/>
                  </a:prstClr>
                </a:solidFill>
                <a:latin typeface="Calibri" panose="020F0502020204030204" pitchFamily="34" charset="0"/>
                <a:ea typeface="Calibri" panose="020F0502020204030204" pitchFamily="34" charset="0"/>
                <a:cs typeface="Calibri" panose="020F0502020204030204" pitchFamily="34" charset="0"/>
              </a:rPr>
              <a:t>(5</a:t>
            </a:r>
            <a:r>
              <a:rPr lang="en-GB" sz="3600" kern="100" baseline="30000" dirty="0">
                <a:solidFill>
                  <a:prstClr val="white">
                    <a:lumMod val="65000"/>
                  </a:prstClr>
                </a:solidFill>
                <a:latin typeface="Calibri" panose="020F0502020204030204" pitchFamily="34" charset="0"/>
                <a:ea typeface="Calibri" panose="020F0502020204030204" pitchFamily="34" charset="0"/>
                <a:cs typeface="Calibri" panose="020F0502020204030204" pitchFamily="34" charset="0"/>
              </a:rPr>
              <a:t>th</a:t>
            </a:r>
            <a:r>
              <a:rPr lang="en-GB" sz="3600" kern="100" dirty="0">
                <a:solidFill>
                  <a:prstClr val="white">
                    <a:lumMod val="65000"/>
                  </a:prstClr>
                </a:solidFill>
                <a:latin typeface="Calibri" panose="020F0502020204030204" pitchFamily="34" charset="0"/>
                <a:ea typeface="Calibri" panose="020F0502020204030204" pitchFamily="34" charset="0"/>
                <a:cs typeface="Calibri" panose="020F0502020204030204" pitchFamily="34" charset="0"/>
              </a:rPr>
              <a:t> Feb)</a:t>
            </a:r>
          </a:p>
          <a:p>
            <a:pPr defTabSz="609660">
              <a:defRPr/>
            </a:pPr>
            <a:r>
              <a:rPr lang="en-GB" sz="3600" kern="100" dirty="0">
                <a:solidFill>
                  <a:prstClr val="white">
                    <a:lumMod val="65000"/>
                  </a:prstClr>
                </a:solidFill>
                <a:latin typeface="Calibri" panose="020F0502020204030204" pitchFamily="34" charset="0"/>
                <a:ea typeface="Calibri" panose="020F0502020204030204" pitchFamily="34" charset="0"/>
                <a:cs typeface="Calibri" panose="020F0502020204030204" pitchFamily="34" charset="0"/>
              </a:rPr>
              <a:t>Week 2 – </a:t>
            </a:r>
            <a:r>
              <a:rPr lang="en-GB" sz="3600" dirty="0">
                <a:solidFill>
                  <a:prstClr val="white">
                    <a:lumMod val="65000"/>
                  </a:prstClr>
                </a:solidFill>
                <a:latin typeface="Calibri" panose="020F0502020204030204" pitchFamily="34" charset="0"/>
                <a:cs typeface="Calibri" panose="020F0502020204030204" pitchFamily="34" charset="0"/>
              </a:rPr>
              <a:t>Natural climate variability</a:t>
            </a:r>
            <a:r>
              <a:rPr lang="en-GB" sz="3600" kern="100" dirty="0">
                <a:solidFill>
                  <a:prstClr val="white">
                    <a:lumMod val="65000"/>
                  </a:prstClr>
                </a:solidFill>
                <a:latin typeface="Calibri" panose="020F0502020204030204" pitchFamily="34" charset="0"/>
                <a:ea typeface="Calibri" panose="020F0502020204030204" pitchFamily="34" charset="0"/>
                <a:cs typeface="Calibri" panose="020F0502020204030204" pitchFamily="34" charset="0"/>
              </a:rPr>
              <a:t> (12</a:t>
            </a:r>
            <a:r>
              <a:rPr lang="en-GB" sz="3600" kern="100" baseline="30000" dirty="0">
                <a:solidFill>
                  <a:prstClr val="white">
                    <a:lumMod val="65000"/>
                  </a:prstClr>
                </a:solidFill>
                <a:latin typeface="Calibri" panose="020F0502020204030204" pitchFamily="34" charset="0"/>
                <a:ea typeface="Calibri" panose="020F0502020204030204" pitchFamily="34" charset="0"/>
                <a:cs typeface="Calibri" panose="020F0502020204030204" pitchFamily="34" charset="0"/>
              </a:rPr>
              <a:t>th</a:t>
            </a:r>
            <a:r>
              <a:rPr lang="en-GB" sz="3600" kern="100" dirty="0">
                <a:solidFill>
                  <a:prstClr val="white">
                    <a:lumMod val="65000"/>
                  </a:prstClr>
                </a:solidFill>
                <a:latin typeface="Calibri" panose="020F0502020204030204" pitchFamily="34" charset="0"/>
                <a:ea typeface="Calibri" panose="020F0502020204030204" pitchFamily="34" charset="0"/>
                <a:cs typeface="Calibri" panose="020F0502020204030204" pitchFamily="34" charset="0"/>
              </a:rPr>
              <a:t> Feb)</a:t>
            </a:r>
            <a:endParaRPr lang="en-GB" sz="3600" dirty="0">
              <a:solidFill>
                <a:prstClr val="white">
                  <a:lumMod val="65000"/>
                </a:prstClr>
              </a:solidFill>
              <a:latin typeface="Calibri" panose="020F0502020204030204" pitchFamily="34" charset="0"/>
              <a:cs typeface="Calibri" panose="020F0502020204030204" pitchFamily="34" charset="0"/>
            </a:endParaRPr>
          </a:p>
          <a:p>
            <a:pPr defTabSz="609660">
              <a:defRPr/>
            </a:pPr>
            <a:r>
              <a:rPr lang="en-GB" sz="3600" kern="100" dirty="0">
                <a:solidFill>
                  <a:prstClr val="white">
                    <a:lumMod val="65000"/>
                  </a:prstClr>
                </a:solidFill>
                <a:latin typeface="Calibri" panose="020F0502020204030204" pitchFamily="34" charset="0"/>
                <a:ea typeface="Calibri" panose="020F0502020204030204" pitchFamily="34" charset="0"/>
                <a:cs typeface="Calibri" panose="020F0502020204030204" pitchFamily="34" charset="0"/>
              </a:rPr>
              <a:t>Week 3 – </a:t>
            </a:r>
            <a:r>
              <a:rPr lang="en-GB" sz="3600" dirty="0">
                <a:solidFill>
                  <a:prstClr val="white">
                    <a:lumMod val="65000"/>
                  </a:prstClr>
                </a:solidFill>
                <a:latin typeface="Calibri" panose="020F0502020204030204" pitchFamily="34" charset="0"/>
                <a:cs typeface="Calibri" panose="020F0502020204030204" pitchFamily="34" charset="0"/>
              </a:rPr>
              <a:t>Radiation Law/Greenhouse Effect/Radiative forcing/feedbacks</a:t>
            </a:r>
            <a:r>
              <a:rPr lang="en-GB" sz="3600" kern="100" dirty="0">
                <a:solidFill>
                  <a:prstClr val="white">
                    <a:lumMod val="65000"/>
                  </a:prstClr>
                </a:solidFill>
                <a:latin typeface="Calibri" panose="020F0502020204030204" pitchFamily="34" charset="0"/>
                <a:ea typeface="Calibri" panose="020F0502020204030204" pitchFamily="34" charset="0"/>
                <a:cs typeface="Calibri" panose="020F0502020204030204" pitchFamily="34" charset="0"/>
              </a:rPr>
              <a:t> (19</a:t>
            </a:r>
            <a:r>
              <a:rPr lang="en-GB" sz="3600" kern="100" baseline="30000" dirty="0">
                <a:solidFill>
                  <a:prstClr val="white">
                    <a:lumMod val="65000"/>
                  </a:prstClr>
                </a:solidFill>
                <a:latin typeface="Calibri" panose="020F0502020204030204" pitchFamily="34" charset="0"/>
                <a:ea typeface="Calibri" panose="020F0502020204030204" pitchFamily="34" charset="0"/>
                <a:cs typeface="Calibri" panose="020F0502020204030204" pitchFamily="34" charset="0"/>
              </a:rPr>
              <a:t>th</a:t>
            </a:r>
            <a:r>
              <a:rPr lang="en-GB" sz="3600" kern="100" dirty="0">
                <a:solidFill>
                  <a:prstClr val="white">
                    <a:lumMod val="65000"/>
                  </a:prstClr>
                </a:solidFill>
                <a:latin typeface="Calibri" panose="020F0502020204030204" pitchFamily="34" charset="0"/>
                <a:ea typeface="Calibri" panose="020F0502020204030204" pitchFamily="34" charset="0"/>
                <a:cs typeface="Calibri" panose="020F0502020204030204" pitchFamily="34" charset="0"/>
              </a:rPr>
              <a:t> Feb)</a:t>
            </a:r>
            <a:endParaRPr lang="en-GB" sz="3600" dirty="0">
              <a:solidFill>
                <a:prstClr val="white">
                  <a:lumMod val="65000"/>
                </a:prstClr>
              </a:solidFill>
              <a:latin typeface="Calibri" panose="020F0502020204030204" pitchFamily="34" charset="0"/>
              <a:cs typeface="Calibri" panose="020F0502020204030204" pitchFamily="34" charset="0"/>
            </a:endParaRPr>
          </a:p>
          <a:p>
            <a:pPr defTabSz="609660">
              <a:defRPr/>
            </a:pPr>
            <a:r>
              <a:rPr lang="en-GB" sz="3600" kern="100" dirty="0">
                <a:solidFill>
                  <a:prstClr val="white">
                    <a:lumMod val="65000"/>
                  </a:prstClr>
                </a:solidFill>
                <a:latin typeface="Calibri" panose="020F0502020204030204" pitchFamily="34" charset="0"/>
                <a:ea typeface="Calibri" panose="020F0502020204030204" pitchFamily="34" charset="0"/>
                <a:cs typeface="Calibri" panose="020F0502020204030204" pitchFamily="34" charset="0"/>
              </a:rPr>
              <a:t>Week 4 – A</a:t>
            </a:r>
            <a:r>
              <a:rPr lang="en-GB" sz="3600" dirty="0">
                <a:solidFill>
                  <a:prstClr val="white">
                    <a:lumMod val="65000"/>
                  </a:prstClr>
                </a:solidFill>
                <a:latin typeface="Calibri" panose="020F0502020204030204" pitchFamily="34" charset="0"/>
                <a:cs typeface="Calibri" panose="020F0502020204030204" pitchFamily="34" charset="0"/>
              </a:rPr>
              <a:t>nthropogenic impacts </a:t>
            </a:r>
            <a:r>
              <a:rPr lang="en-GB" sz="3600" kern="100" dirty="0">
                <a:solidFill>
                  <a:prstClr val="white">
                    <a:lumMod val="65000"/>
                  </a:prstClr>
                </a:solidFill>
                <a:latin typeface="Calibri" panose="020F0502020204030204" pitchFamily="34" charset="0"/>
                <a:ea typeface="Calibri" panose="020F0502020204030204" pitchFamily="34" charset="0"/>
                <a:cs typeface="Calibri" panose="020F0502020204030204" pitchFamily="34" charset="0"/>
              </a:rPr>
              <a:t>(26</a:t>
            </a:r>
            <a:r>
              <a:rPr lang="en-GB" sz="3600" kern="100" baseline="30000" dirty="0">
                <a:solidFill>
                  <a:prstClr val="white">
                    <a:lumMod val="65000"/>
                  </a:prstClr>
                </a:solidFill>
                <a:latin typeface="Calibri" panose="020F0502020204030204" pitchFamily="34" charset="0"/>
                <a:ea typeface="Calibri" panose="020F0502020204030204" pitchFamily="34" charset="0"/>
                <a:cs typeface="Calibri" panose="020F0502020204030204" pitchFamily="34" charset="0"/>
              </a:rPr>
              <a:t>th</a:t>
            </a:r>
            <a:r>
              <a:rPr lang="en-GB" sz="3600" kern="100" dirty="0">
                <a:solidFill>
                  <a:prstClr val="white">
                    <a:lumMod val="65000"/>
                  </a:prstClr>
                </a:solidFill>
                <a:latin typeface="Calibri" panose="020F0502020204030204" pitchFamily="34" charset="0"/>
                <a:ea typeface="Calibri" panose="020F0502020204030204" pitchFamily="34" charset="0"/>
                <a:cs typeface="Calibri" panose="020F0502020204030204" pitchFamily="34" charset="0"/>
              </a:rPr>
              <a:t> Feb)</a:t>
            </a:r>
          </a:p>
          <a:p>
            <a:pPr defTabSz="609660">
              <a:defRPr/>
            </a:pPr>
            <a:r>
              <a:rPr lang="en-GB" sz="36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Week 5 – </a:t>
            </a:r>
            <a:r>
              <a:rPr lang="en-GB" sz="3600" dirty="0">
                <a:solidFill>
                  <a:schemeClr val="bg1">
                    <a:lumMod val="65000"/>
                  </a:schemeClr>
                </a:solidFill>
                <a:latin typeface="Calibri" panose="020F0502020204030204" pitchFamily="34" charset="0"/>
                <a:cs typeface="Calibri" panose="020F0502020204030204" pitchFamily="34" charset="0"/>
              </a:rPr>
              <a:t>The Evidence Base for Climate Change </a:t>
            </a:r>
            <a:r>
              <a:rPr lang="en-GB" sz="36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(5</a:t>
            </a:r>
            <a:r>
              <a:rPr lang="en-GB" sz="3600" kern="100" baseline="300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th</a:t>
            </a:r>
            <a:r>
              <a:rPr lang="en-GB" sz="36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March)</a:t>
            </a:r>
          </a:p>
          <a:p>
            <a:pPr defTabSz="609660">
              <a:defRPr/>
            </a:pPr>
            <a:r>
              <a:rPr lang="en-GB" sz="36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Week 6 – Mid Unit Test (10</a:t>
            </a:r>
            <a:r>
              <a:rPr lang="en-GB" sz="3600" kern="100" baseline="300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th</a:t>
            </a:r>
            <a:r>
              <a:rPr lang="en-GB" sz="3600" kern="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March) </a:t>
            </a:r>
          </a:p>
          <a:p>
            <a:pPr defTabSz="609660">
              <a:defRPr/>
            </a:pPr>
            <a:endParaRPr lang="en-GB" sz="3600" kern="1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defTabSz="914445">
              <a:defRPr/>
            </a:pPr>
            <a:r>
              <a:rPr lang="en-GB" sz="3600" b="1" kern="100" dirty="0">
                <a:solidFill>
                  <a:srgbClr val="FF0000"/>
                </a:solidFill>
                <a:latin typeface="Calibri" panose="020F0502020204030204" pitchFamily="34" charset="0"/>
                <a:ea typeface="Calibri" panose="020F0502020204030204" pitchFamily="34" charset="0"/>
                <a:cs typeface="Calibri" panose="020F0502020204030204" pitchFamily="34" charset="0"/>
              </a:rPr>
              <a:t>Week 7 – </a:t>
            </a:r>
            <a:r>
              <a:rPr lang="en-GB" sz="3600" b="1" dirty="0">
                <a:solidFill>
                  <a:srgbClr val="FF0000"/>
                </a:solidFill>
                <a:latin typeface="Calibri" panose="020F0502020204030204" pitchFamily="34" charset="0"/>
                <a:cs typeface="Calibri" panose="020F0502020204030204" pitchFamily="34" charset="0"/>
              </a:rPr>
              <a:t>Climate Models  </a:t>
            </a:r>
            <a:r>
              <a:rPr lang="en-GB" sz="3600" b="1" kern="100" dirty="0">
                <a:solidFill>
                  <a:srgbClr val="FF0000"/>
                </a:solidFill>
                <a:latin typeface="Calibri" panose="020F0502020204030204" pitchFamily="34" charset="0"/>
                <a:ea typeface="Calibri" panose="020F0502020204030204" pitchFamily="34" charset="0"/>
                <a:cs typeface="Calibri" panose="020F0502020204030204" pitchFamily="34" charset="0"/>
              </a:rPr>
              <a:t>(19</a:t>
            </a:r>
            <a:r>
              <a:rPr lang="en-GB" sz="3600" b="1" kern="100" baseline="30000" dirty="0">
                <a:solidFill>
                  <a:srgbClr val="FF0000"/>
                </a:solidFill>
                <a:latin typeface="Calibri" panose="020F0502020204030204" pitchFamily="34" charset="0"/>
                <a:ea typeface="Calibri" panose="020F0502020204030204" pitchFamily="34" charset="0"/>
                <a:cs typeface="Calibri" panose="020F0502020204030204" pitchFamily="34" charset="0"/>
              </a:rPr>
              <a:t>th</a:t>
            </a:r>
            <a:r>
              <a:rPr lang="en-GB" sz="3600" b="1" kern="100" dirty="0">
                <a:solidFill>
                  <a:srgbClr val="FF0000"/>
                </a:solidFill>
                <a:latin typeface="Calibri" panose="020F0502020204030204" pitchFamily="34" charset="0"/>
                <a:ea typeface="Calibri" panose="020F0502020204030204" pitchFamily="34" charset="0"/>
                <a:cs typeface="Calibri" panose="020F0502020204030204" pitchFamily="34" charset="0"/>
              </a:rPr>
              <a:t> March)</a:t>
            </a:r>
          </a:p>
          <a:p>
            <a:pPr defTabSz="914445">
              <a:defRPr/>
            </a:pPr>
            <a:endParaRPr lang="en-GB" sz="3600" kern="1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defTabSz="914445">
              <a:defRPr/>
            </a:pPr>
            <a:r>
              <a:rPr lang="en-GB" sz="36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8 – Climate </a:t>
            </a:r>
            <a:r>
              <a:rPr lang="en-GB" sz="3600" kern="100" dirty="0">
                <a:solidFill>
                  <a:srgbClr val="212121"/>
                </a:solidFill>
                <a:latin typeface="Calibri" panose="020F0502020204030204" pitchFamily="34" charset="0"/>
                <a:ea typeface="Calibri" panose="020F0502020204030204" pitchFamily="34" charset="0"/>
                <a:cs typeface="Calibri" panose="020F0502020204030204" pitchFamily="34" charset="0"/>
              </a:rPr>
              <a:t>C</a:t>
            </a:r>
            <a:r>
              <a:rPr lang="en-GB" sz="3600" dirty="0">
                <a:solidFill>
                  <a:srgbClr val="212121"/>
                </a:solidFill>
                <a:latin typeface="Calibri" panose="020F0502020204030204" pitchFamily="34" charset="0"/>
                <a:cs typeface="Calibri" panose="020F0502020204030204" pitchFamily="34" charset="0"/>
              </a:rPr>
              <a:t>hange Adaptation </a:t>
            </a:r>
            <a:r>
              <a:rPr lang="en-GB" sz="3600" kern="100" dirty="0">
                <a:solidFill>
                  <a:prstClr val="black"/>
                </a:solidFill>
                <a:latin typeface="Calibri" panose="020F0502020204030204" pitchFamily="34" charset="0"/>
                <a:ea typeface="Calibri" panose="020F0502020204030204" pitchFamily="34" charset="0"/>
                <a:cs typeface="Calibri" panose="020F0502020204030204" pitchFamily="34" charset="0"/>
              </a:rPr>
              <a:t>(26</a:t>
            </a:r>
            <a:r>
              <a:rPr lang="en-GB" sz="3600" kern="100" baseline="30000" dirty="0">
                <a:solidFill>
                  <a:prstClr val="black"/>
                </a:solidFill>
                <a:latin typeface="Calibri" panose="020F0502020204030204" pitchFamily="34" charset="0"/>
                <a:ea typeface="Calibri" panose="020F0502020204030204" pitchFamily="34" charset="0"/>
                <a:cs typeface="Calibri" panose="020F0502020204030204" pitchFamily="34" charset="0"/>
              </a:rPr>
              <a:t>th</a:t>
            </a:r>
            <a:r>
              <a:rPr lang="en-GB" sz="3600" kern="100" dirty="0">
                <a:solidFill>
                  <a:prstClr val="black"/>
                </a:solidFill>
                <a:latin typeface="Calibri" panose="020F0502020204030204" pitchFamily="34" charset="0"/>
                <a:ea typeface="Calibri" panose="020F0502020204030204" pitchFamily="34" charset="0"/>
                <a:cs typeface="Calibri" panose="020F0502020204030204" pitchFamily="34" charset="0"/>
              </a:rPr>
              <a:t> March)</a:t>
            </a:r>
          </a:p>
          <a:p>
            <a:pPr defTabSz="914445">
              <a:defRPr/>
            </a:pPr>
            <a:r>
              <a:rPr lang="en-GB" sz="36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9 – </a:t>
            </a:r>
            <a:r>
              <a:rPr lang="en-GB" sz="3600" dirty="0">
                <a:solidFill>
                  <a:srgbClr val="212121"/>
                </a:solidFill>
                <a:latin typeface="Calibri" panose="020F0502020204030204" pitchFamily="34" charset="0"/>
                <a:cs typeface="Calibri" panose="020F0502020204030204" pitchFamily="34" charset="0"/>
              </a:rPr>
              <a:t>Effects of Climate Change: </a:t>
            </a:r>
            <a:r>
              <a:rPr lang="en-GB" sz="3600" i="1" dirty="0">
                <a:solidFill>
                  <a:srgbClr val="212121"/>
                </a:solidFill>
                <a:latin typeface="Calibri" panose="020F0502020204030204" pitchFamily="34" charset="0"/>
                <a:cs typeface="Calibri" panose="020F0502020204030204" pitchFamily="34" charset="0"/>
              </a:rPr>
              <a:t>Case Studies </a:t>
            </a:r>
            <a:r>
              <a:rPr lang="en-GB" sz="3600" i="1" kern="100" dirty="0">
                <a:solidFill>
                  <a:prstClr val="black"/>
                </a:solidFill>
                <a:latin typeface="Calibri" panose="020F0502020204030204" pitchFamily="34" charset="0"/>
                <a:ea typeface="Calibri" panose="020F0502020204030204" pitchFamily="34" charset="0"/>
                <a:cs typeface="Calibri" panose="020F0502020204030204" pitchFamily="34" charset="0"/>
              </a:rPr>
              <a:t>(23</a:t>
            </a:r>
            <a:r>
              <a:rPr lang="en-GB" sz="3600" i="1" kern="100" baseline="30000" dirty="0">
                <a:solidFill>
                  <a:prstClr val="black"/>
                </a:solidFill>
                <a:latin typeface="Calibri" panose="020F0502020204030204" pitchFamily="34" charset="0"/>
                <a:ea typeface="Calibri" panose="020F0502020204030204" pitchFamily="34" charset="0"/>
                <a:cs typeface="Calibri" panose="020F0502020204030204" pitchFamily="34" charset="0"/>
              </a:rPr>
              <a:t>rd</a:t>
            </a:r>
            <a:r>
              <a:rPr lang="en-GB" sz="3600" i="1" kern="100" dirty="0">
                <a:solidFill>
                  <a:prstClr val="black"/>
                </a:solidFill>
                <a:latin typeface="Calibri" panose="020F0502020204030204" pitchFamily="34" charset="0"/>
                <a:ea typeface="Calibri" panose="020F0502020204030204" pitchFamily="34" charset="0"/>
                <a:cs typeface="Calibri" panose="020F0502020204030204" pitchFamily="34" charset="0"/>
              </a:rPr>
              <a:t> April)</a:t>
            </a:r>
          </a:p>
          <a:p>
            <a:pPr defTabSz="914445">
              <a:defRPr/>
            </a:pPr>
            <a:r>
              <a:rPr lang="en-GB" sz="36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10 – </a:t>
            </a:r>
            <a:r>
              <a:rPr lang="en-GB" sz="3600" dirty="0">
                <a:solidFill>
                  <a:srgbClr val="212121"/>
                </a:solidFill>
                <a:latin typeface="Calibri" panose="020F0502020204030204" pitchFamily="34" charset="0"/>
                <a:cs typeface="Calibri" panose="020F0502020204030204" pitchFamily="34" charset="0"/>
              </a:rPr>
              <a:t>Climate Change Mitigation </a:t>
            </a:r>
            <a:r>
              <a:rPr lang="en-GB" sz="3600" kern="100" dirty="0">
                <a:solidFill>
                  <a:prstClr val="black"/>
                </a:solidFill>
                <a:latin typeface="Calibri" panose="020F0502020204030204" pitchFamily="34" charset="0"/>
                <a:ea typeface="Calibri" panose="020F0502020204030204" pitchFamily="34" charset="0"/>
                <a:cs typeface="Calibri" panose="020F0502020204030204" pitchFamily="34" charset="0"/>
              </a:rPr>
              <a:t>(30</a:t>
            </a:r>
            <a:r>
              <a:rPr lang="en-GB" sz="3600" kern="100" baseline="30000" dirty="0">
                <a:solidFill>
                  <a:prstClr val="black"/>
                </a:solidFill>
                <a:latin typeface="Calibri" panose="020F0502020204030204" pitchFamily="34" charset="0"/>
                <a:ea typeface="Calibri" panose="020F0502020204030204" pitchFamily="34" charset="0"/>
                <a:cs typeface="Calibri" panose="020F0502020204030204" pitchFamily="34" charset="0"/>
              </a:rPr>
              <a:t>th</a:t>
            </a:r>
            <a:r>
              <a:rPr lang="en-GB" sz="3600" kern="100" dirty="0">
                <a:solidFill>
                  <a:prstClr val="black"/>
                </a:solidFill>
                <a:latin typeface="Calibri" panose="020F0502020204030204" pitchFamily="34" charset="0"/>
                <a:ea typeface="Calibri" panose="020F0502020204030204" pitchFamily="34" charset="0"/>
                <a:cs typeface="Calibri" panose="020F0502020204030204" pitchFamily="34" charset="0"/>
              </a:rPr>
              <a:t> April)</a:t>
            </a:r>
          </a:p>
          <a:p>
            <a:pPr defTabSz="914445">
              <a:defRPr/>
            </a:pPr>
            <a:endParaRPr lang="en-GB" sz="3600" kern="1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defTabSz="914445">
              <a:defRPr/>
            </a:pPr>
            <a:r>
              <a:rPr lang="en-GB" sz="3600" kern="100" dirty="0">
                <a:solidFill>
                  <a:schemeClr val="tx2">
                    <a:lumMod val="60000"/>
                    <a:lumOff val="40000"/>
                  </a:schemeClr>
                </a:solidFill>
                <a:latin typeface="Calibri" panose="020F0502020204030204" pitchFamily="34" charset="0"/>
                <a:ea typeface="Calibri" panose="020F0502020204030204" pitchFamily="34" charset="0"/>
                <a:cs typeface="Calibri" panose="020F0502020204030204" pitchFamily="34" charset="0"/>
              </a:rPr>
              <a:t>Week 11 – Revision Lecture (7</a:t>
            </a:r>
            <a:r>
              <a:rPr lang="en-GB" sz="3600" kern="100" baseline="30000" dirty="0">
                <a:solidFill>
                  <a:schemeClr val="tx2">
                    <a:lumMod val="60000"/>
                    <a:lumOff val="40000"/>
                  </a:schemeClr>
                </a:solidFill>
                <a:latin typeface="Calibri" panose="020F0502020204030204" pitchFamily="34" charset="0"/>
                <a:ea typeface="Calibri" panose="020F0502020204030204" pitchFamily="34" charset="0"/>
                <a:cs typeface="Calibri" panose="020F0502020204030204" pitchFamily="34" charset="0"/>
              </a:rPr>
              <a:t>th</a:t>
            </a:r>
            <a:r>
              <a:rPr lang="en-GB" sz="3600" kern="100" dirty="0">
                <a:solidFill>
                  <a:schemeClr val="tx2">
                    <a:lumMod val="60000"/>
                    <a:lumOff val="40000"/>
                  </a:schemeClr>
                </a:solidFill>
                <a:latin typeface="Calibri" panose="020F0502020204030204" pitchFamily="34" charset="0"/>
                <a:ea typeface="Calibri" panose="020F0502020204030204" pitchFamily="34" charset="0"/>
                <a:cs typeface="Calibri" panose="020F0502020204030204" pitchFamily="34" charset="0"/>
              </a:rPr>
              <a:t> May)</a:t>
            </a:r>
          </a:p>
        </p:txBody>
      </p:sp>
      <p:pic>
        <p:nvPicPr>
          <p:cNvPr id="6" name="Picture 5" descr="A qr code with a black and white background&#10;&#10;AI-generated content may be incorrect.">
            <a:extLst>
              <a:ext uri="{FF2B5EF4-FFF2-40B4-BE49-F238E27FC236}">
                <a16:creationId xmlns:a16="http://schemas.microsoft.com/office/drawing/2014/main" id="{112BB3D5-FC58-710F-489D-C975E1C5EDA4}"/>
              </a:ext>
            </a:extLst>
          </p:cNvPr>
          <p:cNvPicPr>
            <a:picLocks noChangeAspect="1"/>
          </p:cNvPicPr>
          <p:nvPr/>
        </p:nvPicPr>
        <p:blipFill>
          <a:blip r:embed="rId5"/>
          <a:stretch>
            <a:fillRect/>
          </a:stretch>
        </p:blipFill>
        <p:spPr>
          <a:xfrm>
            <a:off x="13576699" y="5143501"/>
            <a:ext cx="4201511" cy="4201511"/>
          </a:xfrm>
          <a:prstGeom prst="rect">
            <a:avLst/>
          </a:prstGeom>
        </p:spPr>
      </p:pic>
      <p:sp>
        <p:nvSpPr>
          <p:cNvPr id="7" name="TextBox 6">
            <a:extLst>
              <a:ext uri="{FF2B5EF4-FFF2-40B4-BE49-F238E27FC236}">
                <a16:creationId xmlns:a16="http://schemas.microsoft.com/office/drawing/2014/main" id="{F327CCA7-4299-796F-6F60-9D7FE40386D5}"/>
              </a:ext>
            </a:extLst>
          </p:cNvPr>
          <p:cNvSpPr txBox="1"/>
          <p:nvPr/>
        </p:nvSpPr>
        <p:spPr>
          <a:xfrm>
            <a:off x="13576700" y="9616965"/>
            <a:ext cx="4201509" cy="5078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defTabSz="1371600"/>
            <a:r>
              <a:rPr lang="en-US" sz="2700" dirty="0">
                <a:solidFill>
                  <a:prstClr val="black"/>
                </a:solidFill>
                <a:latin typeface="DM Sans"/>
              </a:rPr>
              <a:t>Comments/Questions</a:t>
            </a:r>
          </a:p>
        </p:txBody>
      </p:sp>
    </p:spTree>
    <p:extLst>
      <p:ext uri="{BB962C8B-B14F-4D97-AF65-F5344CB8AC3E}">
        <p14:creationId xmlns:p14="http://schemas.microsoft.com/office/powerpoint/2010/main" val="1796596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6C0085B9-3F26-83B0-54B2-8A1FA36FAA8B}"/>
            </a:ext>
          </a:extLst>
        </p:cNvPr>
        <p:cNvGrpSpPr/>
        <p:nvPr/>
      </p:nvGrpSpPr>
      <p:grpSpPr>
        <a:xfrm>
          <a:off x="0" y="0"/>
          <a:ext cx="0" cy="0"/>
          <a:chOff x="0" y="0"/>
          <a:chExt cx="0" cy="0"/>
        </a:xfrm>
      </p:grpSpPr>
      <p:sp>
        <p:nvSpPr>
          <p:cNvPr id="14" name="TextBox 14">
            <a:extLst>
              <a:ext uri="{FF2B5EF4-FFF2-40B4-BE49-F238E27FC236}">
                <a16:creationId xmlns:a16="http://schemas.microsoft.com/office/drawing/2014/main" id="{035A6FED-BD39-16CF-9626-06A66E3BFA5B}"/>
              </a:ext>
            </a:extLst>
          </p:cNvPr>
          <p:cNvSpPr txBox="1"/>
          <p:nvPr/>
        </p:nvSpPr>
        <p:spPr>
          <a:xfrm>
            <a:off x="990600" y="2171700"/>
            <a:ext cx="7994305" cy="919480"/>
          </a:xfrm>
          <a:prstGeom prst="rect">
            <a:avLst/>
          </a:prstGeom>
        </p:spPr>
        <p:txBody>
          <a:bodyPr lIns="0" tIns="0" rIns="0" bIns="0" rtlCol="0" anchor="t">
            <a:spAutoFit/>
          </a:bodyPr>
          <a:lstStyle/>
          <a:p>
            <a:pPr marL="0" marR="0" lvl="0" indent="0" algn="l" defTabSz="914400" rtl="0" eaLnBrk="1" fontAlgn="auto" latinLnBrk="0" hangingPunct="1">
              <a:lnSpc>
                <a:spcPts val="6859"/>
              </a:lnSpc>
              <a:spcBef>
                <a:spcPts val="0"/>
              </a:spcBef>
              <a:spcAft>
                <a:spcPts val="0"/>
              </a:spcAft>
              <a:buClrTx/>
              <a:buSzTx/>
              <a:buFontTx/>
              <a:buNone/>
              <a:tabLst/>
              <a:defRPr/>
            </a:pPr>
            <a:r>
              <a:rPr kumimoji="0" lang="en-US" sz="6000" b="0" i="0" u="none" strike="noStrike" kern="1200" cap="none" spc="-412" normalizeH="0" baseline="0" noProof="0" dirty="0">
                <a:ln>
                  <a:noFill/>
                </a:ln>
                <a:solidFill>
                  <a:srgbClr val="46245A"/>
                </a:solidFill>
                <a:effectLst/>
                <a:uLnTx/>
                <a:uFillTx/>
                <a:latin typeface="DM Sans Bold"/>
                <a:ea typeface="+mn-ea"/>
                <a:cs typeface="+mn-cs"/>
              </a:rPr>
              <a:t>Today’s session</a:t>
            </a:r>
          </a:p>
        </p:txBody>
      </p:sp>
      <p:sp>
        <p:nvSpPr>
          <p:cNvPr id="15" name="TextBox 15">
            <a:extLst>
              <a:ext uri="{FF2B5EF4-FFF2-40B4-BE49-F238E27FC236}">
                <a16:creationId xmlns:a16="http://schemas.microsoft.com/office/drawing/2014/main" id="{C046234F-B8DB-683E-908D-ED5FF49F19E6}"/>
              </a:ext>
            </a:extLst>
          </p:cNvPr>
          <p:cNvSpPr txBox="1"/>
          <p:nvPr/>
        </p:nvSpPr>
        <p:spPr>
          <a:xfrm>
            <a:off x="824023" y="4585291"/>
            <a:ext cx="9255642" cy="1851212"/>
          </a:xfrm>
          <a:prstGeom prst="rect">
            <a:avLst/>
          </a:prstGeom>
        </p:spPr>
        <p:txBody>
          <a:bodyPr wrap="square" lIns="0" tIns="0" rIns="0" bIns="0" rtlCol="0" anchor="t">
            <a:spAutoFit/>
          </a:bodyPr>
          <a:lstStyle/>
          <a:p>
            <a:pPr marL="269240" marR="0" lvl="1" indent="0" algn="l" defTabSz="914400" rtl="0" eaLnBrk="1" fontAlgn="auto" latinLnBrk="0" hangingPunct="1">
              <a:lnSpc>
                <a:spcPts val="4999"/>
              </a:lnSpc>
              <a:spcBef>
                <a:spcPts val="0"/>
              </a:spcBef>
              <a:spcAft>
                <a:spcPts val="0"/>
              </a:spcAft>
              <a:buClrTx/>
              <a:buSzTx/>
              <a:buFontTx/>
              <a:buNone/>
              <a:tabLst/>
              <a:defRPr/>
            </a:pPr>
            <a:r>
              <a:rPr kumimoji="0" lang="en-US" sz="2400" b="1" i="0" u="none" strike="noStrike" kern="1200" cap="none" spc="49" normalizeH="0" baseline="0" noProof="0" dirty="0">
                <a:ln>
                  <a:noFill/>
                </a:ln>
                <a:solidFill>
                  <a:srgbClr val="FAB700"/>
                </a:solidFill>
                <a:effectLst/>
                <a:uLnTx/>
                <a:uFillTx/>
                <a:latin typeface="DM Sans"/>
                <a:ea typeface="+mn-ea"/>
                <a:cs typeface="+mn-cs"/>
              </a:rPr>
              <a:t>Part 1: </a:t>
            </a:r>
            <a:r>
              <a:rPr kumimoji="0" lang="en-US" sz="2400" b="1" i="0" u="none" strike="noStrike" kern="1200" cap="none" spc="49" normalizeH="0" baseline="0" noProof="0" dirty="0">
                <a:ln>
                  <a:noFill/>
                </a:ln>
                <a:solidFill>
                  <a:srgbClr val="FFFFFF"/>
                </a:solidFill>
                <a:effectLst/>
                <a:uLnTx/>
                <a:uFillTx/>
                <a:latin typeface="DM Sans"/>
                <a:ea typeface="+mn-ea"/>
                <a:cs typeface="+mn-cs"/>
              </a:rPr>
              <a:t>Key points on climate change modelling (45 mins) </a:t>
            </a:r>
          </a:p>
          <a:p>
            <a:pPr marL="269240" marR="0" lvl="1" indent="0" algn="l" defTabSz="914400" rtl="0" eaLnBrk="1" fontAlgn="auto" latinLnBrk="0" hangingPunct="1">
              <a:lnSpc>
                <a:spcPts val="4999"/>
              </a:lnSpc>
              <a:spcBef>
                <a:spcPts val="0"/>
              </a:spcBef>
              <a:spcAft>
                <a:spcPts val="0"/>
              </a:spcAft>
              <a:buClrTx/>
              <a:buSzTx/>
              <a:buFontTx/>
              <a:buNone/>
              <a:tabLst/>
              <a:defRPr/>
            </a:pPr>
            <a:r>
              <a:rPr kumimoji="0" lang="en-US" sz="2400" b="1" i="0" u="none" strike="noStrike" kern="1200" cap="none" spc="49" normalizeH="0" baseline="0" noProof="0" dirty="0">
                <a:ln>
                  <a:noFill/>
                </a:ln>
                <a:solidFill>
                  <a:srgbClr val="FAB700"/>
                </a:solidFill>
                <a:effectLst/>
                <a:uLnTx/>
                <a:uFillTx/>
                <a:latin typeface="DM Sans"/>
                <a:ea typeface="+mn-ea"/>
                <a:cs typeface="+mn-cs"/>
              </a:rPr>
              <a:t>Part 2: </a:t>
            </a:r>
            <a:r>
              <a:rPr kumimoji="0" lang="en-US" sz="2400" b="1" i="0" u="none" strike="noStrike" kern="1200" cap="none" spc="49" normalizeH="0" baseline="0" noProof="0" dirty="0">
                <a:ln>
                  <a:noFill/>
                </a:ln>
                <a:solidFill>
                  <a:srgbClr val="FFFFFF"/>
                </a:solidFill>
                <a:effectLst/>
                <a:uLnTx/>
                <a:uFillTx/>
                <a:latin typeface="DM Sans"/>
                <a:ea typeface="+mn-ea"/>
                <a:cs typeface="+mn-cs"/>
              </a:rPr>
              <a:t>Q/A and Break (10 mins) </a:t>
            </a:r>
          </a:p>
          <a:p>
            <a:pPr marL="269240" marR="0" lvl="1" indent="0" algn="l" defTabSz="914400" rtl="0" eaLnBrk="1" fontAlgn="auto" latinLnBrk="0" hangingPunct="1">
              <a:lnSpc>
                <a:spcPts val="4999"/>
              </a:lnSpc>
              <a:spcBef>
                <a:spcPts val="0"/>
              </a:spcBef>
              <a:spcAft>
                <a:spcPts val="0"/>
              </a:spcAft>
              <a:buClrTx/>
              <a:buSzTx/>
              <a:buFontTx/>
              <a:buNone/>
              <a:tabLst/>
              <a:defRPr/>
            </a:pPr>
            <a:r>
              <a:rPr kumimoji="0" lang="en-US" sz="2400" b="1" i="0" u="none" strike="noStrike" kern="1200" cap="none" spc="49" normalizeH="0" baseline="0" noProof="0" dirty="0">
                <a:ln>
                  <a:noFill/>
                </a:ln>
                <a:solidFill>
                  <a:srgbClr val="FAB700"/>
                </a:solidFill>
                <a:effectLst/>
                <a:uLnTx/>
                <a:uFillTx/>
                <a:latin typeface="DM Sans"/>
                <a:ea typeface="+mn-ea"/>
                <a:cs typeface="+mn-cs"/>
              </a:rPr>
              <a:t>Part 3: </a:t>
            </a:r>
            <a:r>
              <a:rPr kumimoji="0" lang="en-US" sz="2400" b="1" i="0" u="none" strike="noStrike" kern="1200" cap="none" spc="49" normalizeH="0" baseline="0" noProof="0" dirty="0">
                <a:ln>
                  <a:noFill/>
                </a:ln>
                <a:solidFill>
                  <a:srgbClr val="FFFFFF"/>
                </a:solidFill>
                <a:effectLst/>
                <a:uLnTx/>
                <a:uFillTx/>
                <a:latin typeface="DM Sans"/>
                <a:ea typeface="+mn-ea"/>
                <a:cs typeface="+mn-cs"/>
              </a:rPr>
              <a:t>Workshop on climate modelling (50 mins)</a:t>
            </a:r>
          </a:p>
        </p:txBody>
      </p:sp>
      <p:sp>
        <p:nvSpPr>
          <p:cNvPr id="3" name="Freeform 13">
            <a:extLst>
              <a:ext uri="{FF2B5EF4-FFF2-40B4-BE49-F238E27FC236}">
                <a16:creationId xmlns:a16="http://schemas.microsoft.com/office/drawing/2014/main" id="{DEABD6E5-4528-D98E-A8FD-EF5D3E744CB2}"/>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232566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Places of Climate Change">
            <a:extLst>
              <a:ext uri="{FF2B5EF4-FFF2-40B4-BE49-F238E27FC236}">
                <a16:creationId xmlns:a16="http://schemas.microsoft.com/office/drawing/2014/main" id="{7581CA3A-6578-3D4E-90D5-FA5777EE452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 t="31098" r="-26" b="18919"/>
          <a:stretch>
            <a:fillRect/>
          </a:stretch>
        </p:blipFill>
        <p:spPr bwMode="auto">
          <a:xfrm>
            <a:off x="0" y="0"/>
            <a:ext cx="18288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14">
            <a:extLst>
              <a:ext uri="{FF2B5EF4-FFF2-40B4-BE49-F238E27FC236}">
                <a16:creationId xmlns:a16="http://schemas.microsoft.com/office/drawing/2014/main" id="{49BB5E81-1DCC-286E-DD74-F3B53623F288}"/>
              </a:ext>
            </a:extLst>
          </p:cNvPr>
          <p:cNvSpPr txBox="1"/>
          <p:nvPr/>
        </p:nvSpPr>
        <p:spPr>
          <a:xfrm>
            <a:off x="440805" y="4023689"/>
            <a:ext cx="11004828" cy="884858"/>
          </a:xfrm>
          <a:prstGeom prst="rect">
            <a:avLst/>
          </a:prstGeom>
        </p:spPr>
        <p:txBody>
          <a:bodyPr wrap="square" lIns="0" tIns="0" rIns="0" bIns="0" rtlCol="0" anchor="t">
            <a:spAutoFit/>
          </a:bodyPr>
          <a:lstStyle/>
          <a:p>
            <a:pPr defTabSz="914445">
              <a:lnSpc>
                <a:spcPts val="6860"/>
              </a:lnSpc>
              <a:defRPr/>
            </a:pPr>
            <a:r>
              <a:rPr lang="en-US" sz="6000" i="1" spc="-413" dirty="0">
                <a:solidFill>
                  <a:prstClr val="white"/>
                </a:solidFill>
                <a:latin typeface="DM Sans Bold"/>
              </a:rPr>
              <a:t>Intended Learning Outcomes</a:t>
            </a:r>
          </a:p>
        </p:txBody>
      </p:sp>
      <p:sp>
        <p:nvSpPr>
          <p:cNvPr id="8" name="Freeform 13">
            <a:extLst>
              <a:ext uri="{FF2B5EF4-FFF2-40B4-BE49-F238E27FC236}">
                <a16:creationId xmlns:a16="http://schemas.microsoft.com/office/drawing/2014/main" id="{C6335595-B71A-3F7E-3031-B5690D697278}"/>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ndParaRPr>
          </a:p>
        </p:txBody>
      </p:sp>
      <p:sp>
        <p:nvSpPr>
          <p:cNvPr id="3" name="TextBox 2">
            <a:extLst>
              <a:ext uri="{FF2B5EF4-FFF2-40B4-BE49-F238E27FC236}">
                <a16:creationId xmlns:a16="http://schemas.microsoft.com/office/drawing/2014/main" id="{DDB4D602-0E49-2A1B-B490-ADA317C8939B}"/>
              </a:ext>
            </a:extLst>
          </p:cNvPr>
          <p:cNvSpPr txBox="1"/>
          <p:nvPr/>
        </p:nvSpPr>
        <p:spPr>
          <a:xfrm>
            <a:off x="440807" y="5797035"/>
            <a:ext cx="15619674" cy="3785652"/>
          </a:xfrm>
          <a:prstGeom prst="rect">
            <a:avLst/>
          </a:prstGeom>
          <a:noFill/>
        </p:spPr>
        <p:txBody>
          <a:bodyPr wrap="square">
            <a:spAutoFit/>
          </a:bodyPr>
          <a:lstStyle/>
          <a:p>
            <a:pPr defTabSz="1371600"/>
            <a:r>
              <a:rPr lang="en-GB" sz="3000" dirty="0">
                <a:solidFill>
                  <a:prstClr val="black"/>
                </a:solidFill>
                <a:latin typeface="Calibri" panose="020F0502020204030204" pitchFamily="34" charset="0"/>
                <a:cs typeface="Calibri" panose="020F0502020204030204" pitchFamily="34" charset="0"/>
              </a:rPr>
              <a:t>By the end of the week you will be able to:</a:t>
            </a:r>
          </a:p>
          <a:p>
            <a:pPr marL="514350" indent="-514350" defTabSz="1371600">
              <a:buFont typeface="Arial" panose="020B0604020202020204" pitchFamily="34" charset="0"/>
              <a:buChar char="•"/>
            </a:pPr>
            <a:r>
              <a:rPr lang="en-GB" sz="3000" dirty="0">
                <a:solidFill>
                  <a:prstClr val="black"/>
                </a:solidFill>
                <a:latin typeface="Calibri" panose="020F0502020204030204" pitchFamily="34" charset="0"/>
                <a:cs typeface="Calibri" panose="020F0502020204030204" pitchFamily="34" charset="0"/>
              </a:rPr>
              <a:t>Understand the Role of Climate Models and explain why climate models are used to study and predict climate change.</a:t>
            </a:r>
          </a:p>
          <a:p>
            <a:pPr marL="514350" indent="-514350" defTabSz="1371600">
              <a:buFont typeface="Arial" panose="020B0604020202020204" pitchFamily="34" charset="0"/>
              <a:buChar char="•"/>
            </a:pPr>
            <a:r>
              <a:rPr lang="en-GB" sz="3000" dirty="0">
                <a:solidFill>
                  <a:prstClr val="black"/>
                </a:solidFill>
                <a:latin typeface="Calibri" panose="020F0502020204030204" pitchFamily="34" charset="0"/>
                <a:cs typeface="Calibri" panose="020F0502020204030204" pitchFamily="34" charset="0"/>
              </a:rPr>
              <a:t>Identify the main components of global climate models and how they interact.</a:t>
            </a:r>
          </a:p>
          <a:p>
            <a:pPr marL="514350" indent="-514350" defTabSz="1371600">
              <a:buFont typeface="Arial" panose="020B0604020202020204" pitchFamily="34" charset="0"/>
              <a:buChar char="•"/>
            </a:pPr>
            <a:r>
              <a:rPr lang="en-GB" sz="3000" dirty="0">
                <a:solidFill>
                  <a:prstClr val="black"/>
                </a:solidFill>
                <a:latin typeface="Calibri" panose="020F0502020204030204" pitchFamily="34" charset="0"/>
                <a:cs typeface="Calibri" panose="020F0502020204030204" pitchFamily="34" charset="0"/>
              </a:rPr>
              <a:t>Discuss uncertainties in climate models and how hindcasting is used to test their reliability.</a:t>
            </a:r>
          </a:p>
          <a:p>
            <a:pPr marL="514350" indent="-514350" defTabSz="1371600">
              <a:buFont typeface="Arial" panose="020B0604020202020204" pitchFamily="34" charset="0"/>
              <a:buChar char="•"/>
            </a:pPr>
            <a:r>
              <a:rPr lang="en-GB" sz="3000" dirty="0">
                <a:solidFill>
                  <a:prstClr val="black"/>
                </a:solidFill>
                <a:latin typeface="Calibri" panose="020F0502020204030204" pitchFamily="34" charset="0"/>
                <a:cs typeface="Calibri" panose="020F0502020204030204" pitchFamily="34" charset="0"/>
              </a:rPr>
              <a:t>Differentiate between natural climate variability and </a:t>
            </a:r>
            <a:r>
              <a:rPr lang="en-GB" sz="3000" dirty="0" err="1">
                <a:solidFill>
                  <a:prstClr val="black"/>
                </a:solidFill>
                <a:latin typeface="Calibri" panose="020F0502020204030204" pitchFamily="34" charset="0"/>
                <a:cs typeface="Calibri" panose="020F0502020204030204" pitchFamily="34" charset="0"/>
              </a:rPr>
              <a:t>antheropogenic</a:t>
            </a:r>
            <a:r>
              <a:rPr lang="en-GB" sz="3000" dirty="0">
                <a:solidFill>
                  <a:prstClr val="black"/>
                </a:solidFill>
                <a:latin typeface="Calibri" panose="020F0502020204030204" pitchFamily="34" charset="0"/>
                <a:cs typeface="Calibri" panose="020F0502020204030204" pitchFamily="34" charset="0"/>
              </a:rPr>
              <a:t> climate change.</a:t>
            </a:r>
          </a:p>
          <a:p>
            <a:pPr marL="514350" indent="-514350" defTabSz="1371600">
              <a:buFont typeface="Arial" panose="020B0604020202020204" pitchFamily="34" charset="0"/>
              <a:buChar char="•"/>
            </a:pPr>
            <a:r>
              <a:rPr lang="en-GB" sz="3000" dirty="0">
                <a:solidFill>
                  <a:prstClr val="black"/>
                </a:solidFill>
                <a:latin typeface="Calibri" panose="020F0502020204030204" pitchFamily="34" charset="0"/>
                <a:cs typeface="Calibri" panose="020F0502020204030204" pitchFamily="34" charset="0"/>
              </a:rPr>
              <a:t>Explain how Representative Concentration Pathways (RCPs) inform future climate projections</a:t>
            </a:r>
          </a:p>
          <a:p>
            <a:pPr marL="514350" indent="-514350" defTabSz="1371600">
              <a:buFont typeface="Arial" panose="020B0604020202020204" pitchFamily="34" charset="0"/>
              <a:buChar char="•"/>
            </a:pPr>
            <a:r>
              <a:rPr lang="en-GB" sz="3000" dirty="0">
                <a:solidFill>
                  <a:prstClr val="black"/>
                </a:solidFill>
                <a:latin typeface="Calibri" panose="020F0502020204030204" pitchFamily="34" charset="0"/>
                <a:cs typeface="Calibri" panose="020F0502020204030204" pitchFamily="34" charset="0"/>
              </a:rPr>
              <a:t>Understand how climate models will change into the future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58BF2-3398-FA10-F1CC-49D0981859DF}"/>
            </a:ext>
          </a:extLst>
        </p:cNvPr>
        <p:cNvGrpSpPr/>
        <p:nvPr/>
      </p:nvGrpSpPr>
      <p:grpSpPr>
        <a:xfrm>
          <a:off x="0" y="0"/>
          <a:ext cx="0" cy="0"/>
          <a:chOff x="0" y="0"/>
          <a:chExt cx="0" cy="0"/>
        </a:xfrm>
      </p:grpSpPr>
      <p:pic>
        <p:nvPicPr>
          <p:cNvPr id="5" name="Picture 2" descr="Places of Climate Change">
            <a:extLst>
              <a:ext uri="{FF2B5EF4-FFF2-40B4-BE49-F238E27FC236}">
                <a16:creationId xmlns:a16="http://schemas.microsoft.com/office/drawing/2014/main" id="{C74FDCB5-5A46-C900-3687-6F086768D9B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 t="31098" r="-26" b="18919"/>
          <a:stretch>
            <a:fillRect/>
          </a:stretch>
        </p:blipFill>
        <p:spPr bwMode="auto">
          <a:xfrm>
            <a:off x="0" y="0"/>
            <a:ext cx="18288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13">
            <a:extLst>
              <a:ext uri="{FF2B5EF4-FFF2-40B4-BE49-F238E27FC236}">
                <a16:creationId xmlns:a16="http://schemas.microsoft.com/office/drawing/2014/main" id="{37981C71-CE9A-A723-06E9-6069B5C665DD}"/>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ndParaRPr>
          </a:p>
        </p:txBody>
      </p:sp>
      <p:sp>
        <p:nvSpPr>
          <p:cNvPr id="3" name="TextBox 2">
            <a:extLst>
              <a:ext uri="{FF2B5EF4-FFF2-40B4-BE49-F238E27FC236}">
                <a16:creationId xmlns:a16="http://schemas.microsoft.com/office/drawing/2014/main" id="{6C6C3516-B50D-3AF6-7112-2A39F61D2175}"/>
              </a:ext>
            </a:extLst>
          </p:cNvPr>
          <p:cNvSpPr txBox="1"/>
          <p:nvPr/>
        </p:nvSpPr>
        <p:spPr>
          <a:xfrm>
            <a:off x="440807" y="5797035"/>
            <a:ext cx="15619674" cy="553998"/>
          </a:xfrm>
          <a:prstGeom prst="rect">
            <a:avLst/>
          </a:prstGeom>
          <a:noFill/>
        </p:spPr>
        <p:txBody>
          <a:bodyPr wrap="square">
            <a:spAutoFit/>
          </a:bodyPr>
          <a:lstStyle/>
          <a:p>
            <a:pPr defTabSz="1371600"/>
            <a:endParaRPr lang="en-GB" sz="3000" dirty="0">
              <a:solidFill>
                <a:prstClr val="black"/>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770A86D1-11C7-C41A-977E-85E8D8A08D1D}"/>
              </a:ext>
            </a:extLst>
          </p:cNvPr>
          <p:cNvSpPr txBox="1"/>
          <p:nvPr/>
        </p:nvSpPr>
        <p:spPr>
          <a:xfrm>
            <a:off x="440807" y="5369897"/>
            <a:ext cx="16946240" cy="4247317"/>
          </a:xfrm>
          <a:prstGeom prst="rect">
            <a:avLst/>
          </a:prstGeom>
          <a:noFill/>
        </p:spPr>
        <p:txBody>
          <a:bodyPr wrap="square">
            <a:spAutoFit/>
          </a:bodyPr>
          <a:lstStyle/>
          <a:p>
            <a:pPr defTabSz="1371600"/>
            <a:r>
              <a:rPr lang="en-GB" sz="5400" dirty="0">
                <a:solidFill>
                  <a:prstClr val="black"/>
                </a:solidFill>
                <a:latin typeface="Calibri" panose="020F0502020204030204" pitchFamily="34" charset="0"/>
                <a:cs typeface="Calibri" panose="020F0502020204030204" pitchFamily="34" charset="0"/>
              </a:rPr>
              <a:t>“How do we know climate change is real — and how do we know it’s us?”</a:t>
            </a:r>
          </a:p>
          <a:p>
            <a:pPr defTabSz="1371600"/>
            <a:endParaRPr lang="en-GB" altLang="en-US" sz="5400" dirty="0">
              <a:solidFill>
                <a:prstClr val="black"/>
              </a:solidFill>
              <a:latin typeface="Calibri" panose="020F0502020204030204" pitchFamily="34" charset="0"/>
              <a:cs typeface="Calibri" panose="020F0502020204030204" pitchFamily="34" charset="0"/>
            </a:endParaRPr>
          </a:p>
          <a:p>
            <a:pPr defTabSz="1371600"/>
            <a:r>
              <a:rPr lang="en-GB" sz="3600" b="1" dirty="0">
                <a:solidFill>
                  <a:prstClr val="black"/>
                </a:solidFill>
                <a:latin typeface="Calibri" panose="020F0502020204030204" pitchFamily="34" charset="0"/>
                <a:cs typeface="Calibri" panose="020F0502020204030204" pitchFamily="34" charset="0"/>
              </a:rPr>
              <a:t>Is it changing?</a:t>
            </a:r>
            <a:r>
              <a:rPr lang="en-GB" sz="3600" dirty="0">
                <a:solidFill>
                  <a:prstClr val="black"/>
                </a:solidFill>
                <a:latin typeface="Calibri" panose="020F0502020204030204" pitchFamily="34" charset="0"/>
                <a:cs typeface="Calibri" panose="020F0502020204030204" pitchFamily="34" charset="0"/>
              </a:rPr>
              <a:t> Observations</a:t>
            </a:r>
          </a:p>
          <a:p>
            <a:pPr defTabSz="1371600"/>
            <a:r>
              <a:rPr lang="en-GB" sz="3600" b="1" dirty="0">
                <a:solidFill>
                  <a:prstClr val="black"/>
                </a:solidFill>
                <a:latin typeface="Calibri" panose="020F0502020204030204" pitchFamily="34" charset="0"/>
                <a:cs typeface="Calibri" panose="020F0502020204030204" pitchFamily="34" charset="0"/>
              </a:rPr>
              <a:t>Is it unusual?</a:t>
            </a:r>
            <a:r>
              <a:rPr lang="en-GB" sz="3600" dirty="0">
                <a:solidFill>
                  <a:prstClr val="black"/>
                </a:solidFill>
                <a:latin typeface="Calibri" panose="020F0502020204030204" pitchFamily="34" charset="0"/>
                <a:cs typeface="Calibri" panose="020F0502020204030204" pitchFamily="34" charset="0"/>
              </a:rPr>
              <a:t> Context from paleoclimate </a:t>
            </a:r>
            <a:r>
              <a:rPr lang="en-GB" sz="3600" dirty="0">
                <a:solidFill>
                  <a:srgbClr val="FF0000"/>
                </a:solidFill>
                <a:latin typeface="Calibri" panose="020F0502020204030204" pitchFamily="34" charset="0"/>
                <a:cs typeface="Calibri" panose="020F0502020204030204" pitchFamily="34" charset="0"/>
              </a:rPr>
              <a:t>(week 1 and 2)</a:t>
            </a:r>
          </a:p>
          <a:p>
            <a:pPr defTabSz="1371600"/>
            <a:r>
              <a:rPr lang="en-GB" sz="3600" b="1" dirty="0">
                <a:solidFill>
                  <a:prstClr val="black"/>
                </a:solidFill>
                <a:latin typeface="Calibri" panose="020F0502020204030204" pitchFamily="34" charset="0"/>
                <a:cs typeface="Calibri" panose="020F0502020204030204" pitchFamily="34" charset="0"/>
              </a:rPr>
              <a:t>Is it us?</a:t>
            </a:r>
            <a:r>
              <a:rPr lang="en-GB" sz="3600" dirty="0">
                <a:solidFill>
                  <a:prstClr val="black"/>
                </a:solidFill>
                <a:latin typeface="Calibri" panose="020F0502020204030204" pitchFamily="34" charset="0"/>
                <a:cs typeface="Calibri" panose="020F0502020204030204" pitchFamily="34" charset="0"/>
              </a:rPr>
              <a:t> physics </a:t>
            </a:r>
            <a:r>
              <a:rPr lang="en-GB" sz="3600" dirty="0">
                <a:solidFill>
                  <a:srgbClr val="FF0000"/>
                </a:solidFill>
                <a:latin typeface="Calibri" panose="020F0502020204030204" pitchFamily="34" charset="0"/>
                <a:cs typeface="Calibri" panose="020F0502020204030204" pitchFamily="34" charset="0"/>
              </a:rPr>
              <a:t>(week 3) </a:t>
            </a:r>
            <a:r>
              <a:rPr lang="en-GB" sz="3600" dirty="0">
                <a:solidFill>
                  <a:prstClr val="black"/>
                </a:solidFill>
                <a:latin typeface="Calibri" panose="020F0502020204030204" pitchFamily="34" charset="0"/>
                <a:cs typeface="Calibri" panose="020F0502020204030204" pitchFamily="34" charset="0"/>
              </a:rPr>
              <a:t>+ </a:t>
            </a:r>
            <a:r>
              <a:rPr lang="en-GB" sz="3600" b="1" dirty="0">
                <a:solidFill>
                  <a:prstClr val="black"/>
                </a:solidFill>
                <a:latin typeface="Calibri" panose="020F0502020204030204" pitchFamily="34" charset="0"/>
                <a:cs typeface="Calibri" panose="020F0502020204030204" pitchFamily="34" charset="0"/>
              </a:rPr>
              <a:t>models </a:t>
            </a:r>
            <a:r>
              <a:rPr lang="en-GB" sz="3600" b="1" dirty="0">
                <a:solidFill>
                  <a:srgbClr val="FF0000"/>
                </a:solidFill>
                <a:latin typeface="Calibri" panose="020F0502020204030204" pitchFamily="34" charset="0"/>
                <a:cs typeface="Calibri" panose="020F0502020204030204" pitchFamily="34" charset="0"/>
              </a:rPr>
              <a:t>(week 7) </a:t>
            </a:r>
            <a:r>
              <a:rPr lang="en-GB" sz="3600" dirty="0">
                <a:solidFill>
                  <a:prstClr val="black"/>
                </a:solidFill>
                <a:latin typeface="Calibri" panose="020F0502020204030204" pitchFamily="34" charset="0"/>
                <a:cs typeface="Calibri" panose="020F0502020204030204" pitchFamily="34" charset="0"/>
              </a:rPr>
              <a:t>+ measurements </a:t>
            </a:r>
            <a:r>
              <a:rPr lang="en-GB" sz="3600" dirty="0">
                <a:solidFill>
                  <a:srgbClr val="FF0000"/>
                </a:solidFill>
                <a:latin typeface="Calibri" panose="020F0502020204030204" pitchFamily="34" charset="0"/>
                <a:cs typeface="Calibri" panose="020F0502020204030204" pitchFamily="34" charset="0"/>
              </a:rPr>
              <a:t>(week 5) </a:t>
            </a:r>
            <a:r>
              <a:rPr lang="en-GB" sz="3600" dirty="0">
                <a:solidFill>
                  <a:prstClr val="black"/>
                </a:solidFill>
                <a:latin typeface="Calibri" panose="020F0502020204030204" pitchFamily="34" charset="0"/>
                <a:cs typeface="Calibri" panose="020F0502020204030204" pitchFamily="34" charset="0"/>
              </a:rPr>
              <a:t>= attribution</a:t>
            </a:r>
          </a:p>
        </p:txBody>
      </p:sp>
    </p:spTree>
    <p:extLst>
      <p:ext uri="{BB962C8B-B14F-4D97-AF65-F5344CB8AC3E}">
        <p14:creationId xmlns:p14="http://schemas.microsoft.com/office/powerpoint/2010/main" val="3095571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4">
            <a:extLst>
              <a:ext uri="{FF2B5EF4-FFF2-40B4-BE49-F238E27FC236}">
                <a16:creationId xmlns:a16="http://schemas.microsoft.com/office/drawing/2014/main" id="{FBBE0FFF-6215-2586-023C-4D8443193CF4}"/>
              </a:ext>
            </a:extLst>
          </p:cNvPr>
          <p:cNvSpPr txBox="1"/>
          <p:nvPr/>
        </p:nvSpPr>
        <p:spPr>
          <a:xfrm>
            <a:off x="584198" y="1283556"/>
            <a:ext cx="13970003" cy="861518"/>
          </a:xfrm>
          <a:prstGeom prst="rect">
            <a:avLst/>
          </a:prstGeom>
        </p:spPr>
        <p:txBody>
          <a:bodyPr wrap="square" lIns="0" tIns="0" rIns="0" bIns="0" rtlCol="0" anchor="t">
            <a:spAutoFit/>
          </a:bodyPr>
          <a:lstStyle/>
          <a:p>
            <a:pPr defTabSz="914445">
              <a:lnSpc>
                <a:spcPts val="6860"/>
              </a:lnSpc>
              <a:defRPr/>
            </a:pPr>
            <a:r>
              <a:rPr lang="en-US" sz="5400" i="1" spc="-413" dirty="0">
                <a:solidFill>
                  <a:srgbClr val="46245A"/>
                </a:solidFill>
                <a:latin typeface="DM Sans Bold"/>
                <a:ea typeface="ＭＳ Ｐゴシック" panose="020B0600070205080204" pitchFamily="34" charset="-128"/>
              </a:rPr>
              <a:t>Measurements: last 6 million years</a:t>
            </a:r>
          </a:p>
        </p:txBody>
      </p:sp>
      <p:sp>
        <p:nvSpPr>
          <p:cNvPr id="3" name="Freeform 13">
            <a:extLst>
              <a:ext uri="{FF2B5EF4-FFF2-40B4-BE49-F238E27FC236}">
                <a16:creationId xmlns:a16="http://schemas.microsoft.com/office/drawing/2014/main" id="{CDBE8F16-C7B7-1F02-0692-E1A4077C50C3}"/>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ndParaRPr>
          </a:p>
        </p:txBody>
      </p:sp>
      <p:sp>
        <p:nvSpPr>
          <p:cNvPr id="7" name="Rectangle 6">
            <a:extLst>
              <a:ext uri="{FF2B5EF4-FFF2-40B4-BE49-F238E27FC236}">
                <a16:creationId xmlns:a16="http://schemas.microsoft.com/office/drawing/2014/main" id="{D241FE27-E3CE-A967-F0E5-1F83815741D1}"/>
              </a:ext>
            </a:extLst>
          </p:cNvPr>
          <p:cNvSpPr/>
          <p:nvPr/>
        </p:nvSpPr>
        <p:spPr>
          <a:xfrm>
            <a:off x="13047345" y="2486025"/>
            <a:ext cx="3247233" cy="7886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endParaRPr lang="en-US" sz="2700">
              <a:solidFill>
                <a:prstClr val="white"/>
              </a:solidFill>
              <a:latin typeface="DM Sans"/>
            </a:endParaRPr>
          </a:p>
        </p:txBody>
      </p:sp>
      <p:pic>
        <p:nvPicPr>
          <p:cNvPr id="9" name="Picture 8" descr="A diagram of the world's temperature&#10;&#10;AI-generated content may be incorrect.">
            <a:extLst>
              <a:ext uri="{FF2B5EF4-FFF2-40B4-BE49-F238E27FC236}">
                <a16:creationId xmlns:a16="http://schemas.microsoft.com/office/drawing/2014/main" id="{641C2E44-6A2C-30C5-E904-DEC38BD68A1F}"/>
              </a:ext>
            </a:extLst>
          </p:cNvPr>
          <p:cNvPicPr>
            <a:picLocks noChangeAspect="1"/>
          </p:cNvPicPr>
          <p:nvPr/>
        </p:nvPicPr>
        <p:blipFill>
          <a:blip r:embed="rId4"/>
          <a:stretch>
            <a:fillRect/>
          </a:stretch>
        </p:blipFill>
        <p:spPr>
          <a:xfrm>
            <a:off x="811632" y="2379151"/>
            <a:ext cx="15482946" cy="6774839"/>
          </a:xfrm>
          <a:prstGeom prst="rect">
            <a:avLst/>
          </a:prstGeom>
        </p:spPr>
      </p:pic>
      <p:sp>
        <p:nvSpPr>
          <p:cNvPr id="4" name="Rectangle 3">
            <a:extLst>
              <a:ext uri="{FF2B5EF4-FFF2-40B4-BE49-F238E27FC236}">
                <a16:creationId xmlns:a16="http://schemas.microsoft.com/office/drawing/2014/main" id="{6C3720E8-12E9-F372-C754-8041EBDAE1C5}"/>
              </a:ext>
            </a:extLst>
          </p:cNvPr>
          <p:cNvSpPr/>
          <p:nvPr/>
        </p:nvSpPr>
        <p:spPr>
          <a:xfrm>
            <a:off x="11236569" y="3024554"/>
            <a:ext cx="5591907" cy="6129436"/>
          </a:xfrm>
          <a:prstGeom prst="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AF8B78B9-2819-6B0E-2D8F-73DF85A2C805}"/>
              </a:ext>
            </a:extLst>
          </p:cNvPr>
          <p:cNvSpPr txBox="1"/>
          <p:nvPr/>
        </p:nvSpPr>
        <p:spPr>
          <a:xfrm>
            <a:off x="11781691" y="3216384"/>
            <a:ext cx="5046785" cy="584775"/>
          </a:xfrm>
          <a:prstGeom prst="rect">
            <a:avLst/>
          </a:prstGeom>
          <a:noFill/>
        </p:spPr>
        <p:txBody>
          <a:bodyPr wrap="square" rtlCol="0">
            <a:spAutoFit/>
          </a:bodyPr>
          <a:lstStyle/>
          <a:p>
            <a:r>
              <a:rPr lang="en-US" sz="3200" b="1" dirty="0"/>
              <a:t>Global Climate Models </a:t>
            </a:r>
          </a:p>
        </p:txBody>
      </p:sp>
    </p:spTree>
    <p:extLst>
      <p:ext uri="{BB962C8B-B14F-4D97-AF65-F5344CB8AC3E}">
        <p14:creationId xmlns:p14="http://schemas.microsoft.com/office/powerpoint/2010/main" val="1066108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 grpId="0" animBg="1"/>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 name="Freeform 13">
            <a:extLst>
              <a:ext uri="{FF2B5EF4-FFF2-40B4-BE49-F238E27FC236}">
                <a16:creationId xmlns:a16="http://schemas.microsoft.com/office/drawing/2014/main" id="{A69E7A04-F54E-5105-05F6-AE6E979CAB5D}"/>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pic>
        <p:nvPicPr>
          <p:cNvPr id="3" name="Picture 2" descr="A planet earth with smoke coming out of the top of a factory&#10;&#10;Description automatically generated">
            <a:extLst>
              <a:ext uri="{FF2B5EF4-FFF2-40B4-BE49-F238E27FC236}">
                <a16:creationId xmlns:a16="http://schemas.microsoft.com/office/drawing/2014/main" id="{BED21F8F-CED2-570E-33B0-3692B29C479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3000" y="3657600"/>
            <a:ext cx="7772400" cy="5699760"/>
          </a:xfrm>
          <a:prstGeom prst="rect">
            <a:avLst/>
          </a:prstGeom>
        </p:spPr>
      </p:pic>
      <p:pic>
        <p:nvPicPr>
          <p:cNvPr id="4" name="Content Placeholder 4" descr="A diagram of a global warming&#10;&#10;Description automatically generated">
            <a:extLst>
              <a:ext uri="{FF2B5EF4-FFF2-40B4-BE49-F238E27FC236}">
                <a16:creationId xmlns:a16="http://schemas.microsoft.com/office/drawing/2014/main" id="{F821A67C-F270-8FFF-A211-B174E879F73C}"/>
              </a:ext>
            </a:extLst>
          </p:cNvPr>
          <p:cNvPicPr>
            <a:picLocks noChangeAspect="1"/>
          </p:cNvPicPr>
          <p:nvPr/>
        </p:nvPicPr>
        <p:blipFill rotWithShape="1">
          <a:blip r:embed="rId6"/>
          <a:srcRect l="59191"/>
          <a:stretch/>
        </p:blipFill>
        <p:spPr>
          <a:xfrm>
            <a:off x="9646734" y="3195746"/>
            <a:ext cx="5387010" cy="6533273"/>
          </a:xfrm>
          <a:prstGeom prst="rect">
            <a:avLst/>
          </a:prstGeom>
        </p:spPr>
      </p:pic>
      <p:sp>
        <p:nvSpPr>
          <p:cNvPr id="2" name="TextBox 5">
            <a:extLst>
              <a:ext uri="{FF2B5EF4-FFF2-40B4-BE49-F238E27FC236}">
                <a16:creationId xmlns:a16="http://schemas.microsoft.com/office/drawing/2014/main" id="{4881D5AC-9818-BA1A-5370-C7A95F67677C}"/>
              </a:ext>
            </a:extLst>
          </p:cNvPr>
          <p:cNvSpPr txBox="1"/>
          <p:nvPr/>
        </p:nvSpPr>
        <p:spPr>
          <a:xfrm>
            <a:off x="1143000" y="1736548"/>
            <a:ext cx="13847674" cy="1718419"/>
          </a:xfrm>
          <a:prstGeom prst="rect">
            <a:avLst/>
          </a:prstGeom>
        </p:spPr>
        <p:txBody>
          <a:bodyPr wrap="square" lIns="0" tIns="0" rIns="0" bIns="0" rtlCol="0" anchor="t">
            <a:spAutoFit/>
          </a:bodyPr>
          <a:lstStyle/>
          <a:p>
            <a:pPr>
              <a:lnSpc>
                <a:spcPts val="6719"/>
              </a:lnSpc>
            </a:pPr>
            <a:r>
              <a:rPr lang="en-US" sz="5599" b="1" dirty="0">
                <a:solidFill>
                  <a:srgbClr val="46245A"/>
                </a:solidFill>
                <a:latin typeface="DM Sans" pitchFamily="2" charset="0"/>
              </a:rPr>
              <a:t>Our key question today: </a:t>
            </a:r>
            <a:r>
              <a:rPr lang="en-US" sz="5599" dirty="0">
                <a:solidFill>
                  <a:srgbClr val="46245A"/>
                </a:solidFill>
                <a:latin typeface="DM Sans" pitchFamily="2" charset="0"/>
              </a:rPr>
              <a:t>How do we predict future climate change?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5821C5F-18E6-EFF8-14DE-C8C554B0ABC6}"/>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02420457-4E6A-3E1D-20AF-5E7D55EE2545}"/>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pic>
        <p:nvPicPr>
          <p:cNvPr id="3" name="Picture 2" descr="A planet earth with smoke coming out of the top of a factory&#10;&#10;Description automatically generated">
            <a:extLst>
              <a:ext uri="{FF2B5EF4-FFF2-40B4-BE49-F238E27FC236}">
                <a16:creationId xmlns:a16="http://schemas.microsoft.com/office/drawing/2014/main" id="{2F307BC6-5729-5401-6F2C-24202AB332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3000" y="3657600"/>
            <a:ext cx="7772400" cy="5699760"/>
          </a:xfrm>
          <a:prstGeom prst="rect">
            <a:avLst/>
          </a:prstGeom>
        </p:spPr>
      </p:pic>
      <p:sp>
        <p:nvSpPr>
          <p:cNvPr id="2" name="TextBox 5">
            <a:extLst>
              <a:ext uri="{FF2B5EF4-FFF2-40B4-BE49-F238E27FC236}">
                <a16:creationId xmlns:a16="http://schemas.microsoft.com/office/drawing/2014/main" id="{AB9DA2B3-9C98-EB25-F7BA-6FB0225628E9}"/>
              </a:ext>
            </a:extLst>
          </p:cNvPr>
          <p:cNvSpPr txBox="1"/>
          <p:nvPr/>
        </p:nvSpPr>
        <p:spPr>
          <a:xfrm>
            <a:off x="1143000" y="1736548"/>
            <a:ext cx="13847674" cy="1718419"/>
          </a:xfrm>
          <a:prstGeom prst="rect">
            <a:avLst/>
          </a:prstGeom>
        </p:spPr>
        <p:txBody>
          <a:bodyPr wrap="square" lIns="0" tIns="0" rIns="0" bIns="0" rtlCol="0" anchor="t">
            <a:spAutoFit/>
          </a:bodyPr>
          <a:lstStyle/>
          <a:p>
            <a:pPr>
              <a:lnSpc>
                <a:spcPts val="6719"/>
              </a:lnSpc>
            </a:pPr>
            <a:r>
              <a:rPr lang="en-US" sz="5599" b="1" dirty="0">
                <a:solidFill>
                  <a:srgbClr val="46245A"/>
                </a:solidFill>
                <a:latin typeface="DM Sans" pitchFamily="2" charset="0"/>
              </a:rPr>
              <a:t>Our key question today: </a:t>
            </a:r>
            <a:r>
              <a:rPr lang="en-US" sz="5599" dirty="0">
                <a:solidFill>
                  <a:srgbClr val="46245A"/>
                </a:solidFill>
                <a:latin typeface="DM Sans" pitchFamily="2" charset="0"/>
              </a:rPr>
              <a:t>How do we predict the impact of climate change?</a:t>
            </a:r>
          </a:p>
        </p:txBody>
      </p:sp>
      <p:pic>
        <p:nvPicPr>
          <p:cNvPr id="5" name="Picture 4" descr="https://www.ipcc.ch/site/assets/uploads/2018/02/WGII_AR5_BoxSPM-1Fig1-1024x449.jpg">
            <a:extLst>
              <a:ext uri="{FF2B5EF4-FFF2-40B4-BE49-F238E27FC236}">
                <a16:creationId xmlns:a16="http://schemas.microsoft.com/office/drawing/2014/main" id="{2FAA0C49-11EC-C34C-C9C4-AC23B2C10AE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52496" r="-482"/>
          <a:stretch/>
        </p:blipFill>
        <p:spPr bwMode="auto">
          <a:xfrm>
            <a:off x="9742039" y="3560618"/>
            <a:ext cx="6895300" cy="63011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7859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1F65077-0F7C-3F81-365A-F1A93724E85E}"/>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6ECB4D21-C1A6-CB58-8BCA-4D08FE22FD8F}"/>
              </a:ext>
            </a:extLst>
          </p:cNvPr>
          <p:cNvSpPr txBox="1"/>
          <p:nvPr/>
        </p:nvSpPr>
        <p:spPr>
          <a:xfrm>
            <a:off x="1143000" y="1736548"/>
            <a:ext cx="13847674" cy="859210"/>
          </a:xfrm>
          <a:prstGeom prst="rect">
            <a:avLst/>
          </a:prstGeom>
        </p:spPr>
        <p:txBody>
          <a:bodyPr wrap="square" lIns="0" tIns="0" rIns="0" bIns="0" rtlCol="0" anchor="t">
            <a:spAutoFit/>
          </a:bodyPr>
          <a:lstStyle/>
          <a:p>
            <a:pPr>
              <a:lnSpc>
                <a:spcPts val="6719"/>
              </a:lnSpc>
            </a:pPr>
            <a:r>
              <a:rPr lang="en-US" sz="5599" b="1" dirty="0">
                <a:solidFill>
                  <a:srgbClr val="46245A"/>
                </a:solidFill>
                <a:latin typeface="DM Sans" pitchFamily="2" charset="0"/>
              </a:rPr>
              <a:t>Global Climate Models </a:t>
            </a:r>
            <a:endParaRPr lang="en-US" sz="5599" dirty="0">
              <a:solidFill>
                <a:srgbClr val="46245A"/>
              </a:solidFill>
              <a:latin typeface="DM Sans" pitchFamily="2" charset="0"/>
            </a:endParaRPr>
          </a:p>
        </p:txBody>
      </p:sp>
      <p:sp>
        <p:nvSpPr>
          <p:cNvPr id="10" name="Freeform 13">
            <a:extLst>
              <a:ext uri="{FF2B5EF4-FFF2-40B4-BE49-F238E27FC236}">
                <a16:creationId xmlns:a16="http://schemas.microsoft.com/office/drawing/2014/main" id="{0EE743C9-DA86-EB50-1B4B-B8DB72D64683}"/>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1">
            <a:extLst>
              <a:ext uri="{FF2B5EF4-FFF2-40B4-BE49-F238E27FC236}">
                <a16:creationId xmlns:a16="http://schemas.microsoft.com/office/drawing/2014/main" id="{18E21471-98D9-AB9C-26D4-9DACE89E29EB}"/>
              </a:ext>
            </a:extLst>
          </p:cNvPr>
          <p:cNvSpPr txBox="1"/>
          <p:nvPr/>
        </p:nvSpPr>
        <p:spPr>
          <a:xfrm>
            <a:off x="9372602" y="4546713"/>
            <a:ext cx="8699863" cy="4154984"/>
          </a:xfrm>
          <a:prstGeom prst="rect">
            <a:avLst/>
          </a:prstGeom>
          <a:noFill/>
        </p:spPr>
        <p:txBody>
          <a:bodyPr wrap="square" rtlCol="0">
            <a:spAutoFit/>
          </a:bodyPr>
          <a:lstStyle/>
          <a:p>
            <a:pPr eaLnBrk="1" hangingPunct="1">
              <a:spcBef>
                <a:spcPct val="0"/>
              </a:spcBef>
            </a:pPr>
            <a:r>
              <a:rPr lang="en-GB" altLang="en-US" sz="2400" dirty="0">
                <a:latin typeface="Calibri" panose="020F0502020204030204" pitchFamily="34" charset="0"/>
                <a:cs typeface="Calibri" panose="020F0502020204030204" pitchFamily="34" charset="0"/>
              </a:rPr>
              <a:t>The concept of radiative forcing is central to climate models. </a:t>
            </a:r>
          </a:p>
          <a:p>
            <a:pPr algn="l"/>
            <a:endParaRPr lang="en-GB" sz="2400" b="0" i="0" u="none" strike="noStrike" dirty="0">
              <a:solidFill>
                <a:srgbClr val="1B1B1B"/>
              </a:solidFill>
              <a:effectLst/>
              <a:latin typeface="Calibri" panose="020F0502020204030204" pitchFamily="34" charset="0"/>
              <a:cs typeface="Calibri" panose="020F0502020204030204" pitchFamily="34" charset="0"/>
            </a:endParaRPr>
          </a:p>
          <a:p>
            <a:pPr algn="l"/>
            <a:r>
              <a:rPr lang="en-GB" sz="2400" b="0" i="0" u="none" strike="noStrike" dirty="0">
                <a:solidFill>
                  <a:srgbClr val="1B1B1B"/>
                </a:solidFill>
                <a:effectLst/>
                <a:latin typeface="Calibri" panose="020F0502020204030204" pitchFamily="34" charset="0"/>
                <a:cs typeface="Calibri" panose="020F0502020204030204" pitchFamily="34" charset="0"/>
              </a:rPr>
              <a:t>Climate models project </a:t>
            </a:r>
            <a:r>
              <a:rPr lang="en-GB" sz="2400" b="0" i="1" u="none" strike="noStrike" dirty="0">
                <a:solidFill>
                  <a:srgbClr val="1B1B1B"/>
                </a:solidFill>
                <a:effectLst/>
                <a:latin typeface="Calibri" panose="020F0502020204030204" pitchFamily="34" charset="0"/>
                <a:cs typeface="Calibri" panose="020F0502020204030204" pitchFamily="34" charset="0"/>
              </a:rPr>
              <a:t>climate</a:t>
            </a:r>
            <a:r>
              <a:rPr lang="en-GB" sz="2400" b="0" i="0" u="none" strike="noStrike" dirty="0">
                <a:solidFill>
                  <a:srgbClr val="1B1B1B"/>
                </a:solidFill>
                <a:effectLst/>
                <a:latin typeface="Calibri" panose="020F0502020204030204" pitchFamily="34" charset="0"/>
                <a:cs typeface="Calibri" panose="020F0502020204030204" pitchFamily="34" charset="0"/>
              </a:rPr>
              <a:t> (the average weather over a long period of time, e.g., a 30-year period), not </a:t>
            </a:r>
            <a:r>
              <a:rPr lang="en-GB" sz="2400" b="0" i="1" u="none" strike="noStrike" dirty="0">
                <a:solidFill>
                  <a:srgbClr val="1B1B1B"/>
                </a:solidFill>
                <a:effectLst/>
                <a:latin typeface="Calibri" panose="020F0502020204030204" pitchFamily="34" charset="0"/>
                <a:cs typeface="Calibri" panose="020F0502020204030204" pitchFamily="34" charset="0"/>
              </a:rPr>
              <a:t>weather</a:t>
            </a:r>
            <a:r>
              <a:rPr lang="en-GB" sz="2400" b="0" i="0" u="none" strike="noStrike" dirty="0">
                <a:solidFill>
                  <a:srgbClr val="1B1B1B"/>
                </a:solidFill>
                <a:effectLst/>
                <a:latin typeface="Calibri" panose="020F0502020204030204" pitchFamily="34" charset="0"/>
                <a:cs typeface="Calibri" panose="020F0502020204030204" pitchFamily="34" charset="0"/>
              </a:rPr>
              <a:t> (what an area experiences on an hourly or daily basis).</a:t>
            </a:r>
          </a:p>
          <a:p>
            <a:pPr algn="l"/>
            <a:endParaRPr lang="en-GB" sz="2400" b="0" i="0" u="none" strike="noStrike" dirty="0">
              <a:solidFill>
                <a:srgbClr val="1B1B1B"/>
              </a:solidFill>
              <a:effectLst/>
              <a:latin typeface="Calibri" panose="020F0502020204030204" pitchFamily="34" charset="0"/>
              <a:cs typeface="Calibri" panose="020F0502020204030204" pitchFamily="34" charset="0"/>
            </a:endParaRPr>
          </a:p>
          <a:p>
            <a:pPr algn="l"/>
            <a:r>
              <a:rPr lang="en-GB" sz="2400" b="0" i="0" u="none" strike="noStrike" dirty="0">
                <a:solidFill>
                  <a:srgbClr val="1B1B1B"/>
                </a:solidFill>
                <a:effectLst/>
                <a:latin typeface="Calibri" panose="020F0502020204030204" pitchFamily="34" charset="0"/>
                <a:cs typeface="Calibri" panose="020F0502020204030204" pitchFamily="34" charset="0"/>
              </a:rPr>
              <a:t>Models help us understand how our actions can affect the future climate. </a:t>
            </a:r>
          </a:p>
          <a:p>
            <a:pPr algn="l"/>
            <a:endParaRPr lang="en-GB" sz="2400" dirty="0">
              <a:solidFill>
                <a:srgbClr val="1B1B1B"/>
              </a:solidFill>
              <a:latin typeface="Calibri" panose="020F0502020204030204" pitchFamily="34" charset="0"/>
              <a:cs typeface="Calibri" panose="020F0502020204030204" pitchFamily="34" charset="0"/>
            </a:endParaRPr>
          </a:p>
          <a:p>
            <a:pPr algn="l"/>
            <a:r>
              <a:rPr lang="en-GB" sz="2400" b="0" i="0" u="none" strike="noStrike" dirty="0">
                <a:solidFill>
                  <a:srgbClr val="1B1B1B"/>
                </a:solidFill>
                <a:effectLst/>
                <a:latin typeface="Calibri" panose="020F0502020204030204" pitchFamily="34" charset="0"/>
                <a:cs typeface="Calibri" panose="020F0502020204030204" pitchFamily="34" charset="0"/>
              </a:rPr>
              <a:t>They allow modelers to look at different scenarios of increased greenhouse gas emissions and see how increases may affect us</a:t>
            </a:r>
          </a:p>
        </p:txBody>
      </p:sp>
      <p:pic>
        <p:nvPicPr>
          <p:cNvPr id="3" name="Picture 2" descr="A planet earth with smoke coming out of the top of a factory&#10;&#10;Description automatically generated">
            <a:extLst>
              <a:ext uri="{FF2B5EF4-FFF2-40B4-BE49-F238E27FC236}">
                <a16:creationId xmlns:a16="http://schemas.microsoft.com/office/drawing/2014/main" id="{75E9CF73-3E5B-EB0A-AD94-8780FBBA42B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3000" y="3774325"/>
            <a:ext cx="7772400" cy="5699760"/>
          </a:xfrm>
          <a:prstGeom prst="rect">
            <a:avLst/>
          </a:prstGeom>
        </p:spPr>
      </p:pic>
      <p:sp>
        <p:nvSpPr>
          <p:cNvPr id="6" name="TextBox 5">
            <a:extLst>
              <a:ext uri="{FF2B5EF4-FFF2-40B4-BE49-F238E27FC236}">
                <a16:creationId xmlns:a16="http://schemas.microsoft.com/office/drawing/2014/main" id="{1919C108-9616-32C2-05F6-736F806C5832}"/>
              </a:ext>
            </a:extLst>
          </p:cNvPr>
          <p:cNvSpPr txBox="1"/>
          <p:nvPr/>
        </p:nvSpPr>
        <p:spPr>
          <a:xfrm>
            <a:off x="1054580" y="2674062"/>
            <a:ext cx="16178842" cy="830997"/>
          </a:xfrm>
          <a:prstGeom prst="rect">
            <a:avLst/>
          </a:prstGeom>
          <a:noFill/>
        </p:spPr>
        <p:txBody>
          <a:bodyPr wrap="square">
            <a:spAutoFit/>
          </a:bodyPr>
          <a:lstStyle/>
          <a:p>
            <a:pPr eaLnBrk="1" hangingPunct="1">
              <a:spcBef>
                <a:spcPct val="0"/>
              </a:spcBef>
            </a:pPr>
            <a:r>
              <a:rPr lang="en-GB" altLang="en-US" sz="2400" dirty="0">
                <a:latin typeface="Calibri" panose="020F0502020204030204" pitchFamily="34" charset="0"/>
                <a:cs typeface="Calibri" panose="020F0502020204030204" pitchFamily="34" charset="0"/>
              </a:rPr>
              <a:t>We have covered the </a:t>
            </a:r>
            <a:r>
              <a:rPr lang="en-US" altLang="en-US" sz="2400" dirty="0">
                <a:latin typeface="Calibri" panose="020F0502020204030204" pitchFamily="34" charset="0"/>
                <a:cs typeface="Calibri" panose="020F0502020204030204" pitchFamily="34" charset="0"/>
              </a:rPr>
              <a:t>main</a:t>
            </a:r>
            <a:r>
              <a:rPr lang="en-GB" altLang="en-US" sz="2400" dirty="0">
                <a:latin typeface="Calibri" panose="020F0502020204030204" pitchFamily="34" charset="0"/>
                <a:cs typeface="Calibri" panose="020F0502020204030204" pitchFamily="34" charset="0"/>
              </a:rPr>
              <a:t> concepts that feed into </a:t>
            </a:r>
            <a:r>
              <a:rPr lang="en-US" altLang="en-US" sz="2400" dirty="0">
                <a:latin typeface="Calibri" panose="020F0502020204030204" pitchFamily="34" charset="0"/>
                <a:cs typeface="Calibri" panose="020F0502020204030204" pitchFamily="34" charset="0"/>
              </a:rPr>
              <a:t>computer models</a:t>
            </a:r>
            <a:r>
              <a:rPr lang="en-GB" altLang="en-US" sz="2400" dirty="0">
                <a:latin typeface="Calibri" panose="020F0502020204030204" pitchFamily="34" charset="0"/>
                <a:cs typeface="Calibri" panose="020F0502020204030204" pitchFamily="34" charset="0"/>
              </a:rPr>
              <a:t> to simulate and predict climate change. We now look at how these models work and their results.</a:t>
            </a:r>
            <a:endParaRPr lang="en-US" alt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87719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5506B64-01A4-DED9-5BEE-9DFE9E85A0BF}"/>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7EDF7CB8-445E-9FD4-FC4D-73BA4E287B5F}"/>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1">
            <a:extLst>
              <a:ext uri="{FF2B5EF4-FFF2-40B4-BE49-F238E27FC236}">
                <a16:creationId xmlns:a16="http://schemas.microsoft.com/office/drawing/2014/main" id="{33542F3C-B9E5-805B-A00F-7083B3B9E88A}"/>
              </a:ext>
            </a:extLst>
          </p:cNvPr>
          <p:cNvSpPr txBox="1"/>
          <p:nvPr/>
        </p:nvSpPr>
        <p:spPr>
          <a:xfrm>
            <a:off x="9149274" y="2666053"/>
            <a:ext cx="8464238" cy="7725192"/>
          </a:xfrm>
          <a:prstGeom prst="rect">
            <a:avLst/>
          </a:prstGeom>
          <a:noFill/>
        </p:spPr>
        <p:txBody>
          <a:bodyPr wrap="square" rtlCol="0">
            <a:spAutoFit/>
          </a:bodyPr>
          <a:lstStyle/>
          <a:p>
            <a:pPr eaLnBrk="1" hangingPunct="1">
              <a:spcBef>
                <a:spcPct val="0"/>
              </a:spcBef>
            </a:pPr>
            <a:r>
              <a:rPr lang="en-US" sz="2800" dirty="0">
                <a:latin typeface="Calibri" panose="020F0502020204030204" pitchFamily="34" charset="0"/>
                <a:cs typeface="Calibri" panose="020F0502020204030204" pitchFamily="34" charset="0"/>
              </a:rPr>
              <a:t>Representation of a GCM with energy exchange, precipitation and other processes.</a:t>
            </a:r>
          </a:p>
          <a:p>
            <a:pPr eaLnBrk="1" hangingPunct="1">
              <a:spcBef>
                <a:spcPct val="0"/>
              </a:spcBef>
            </a:pPr>
            <a:endParaRPr lang="en-US" sz="2800" dirty="0">
              <a:latin typeface="Calibri" panose="020F0502020204030204" pitchFamily="34" charset="0"/>
              <a:cs typeface="Calibri" panose="020F0502020204030204" pitchFamily="34" charset="0"/>
            </a:endParaRPr>
          </a:p>
          <a:p>
            <a:pPr eaLnBrk="1" hangingPunct="1">
              <a:spcBef>
                <a:spcPct val="0"/>
              </a:spcBef>
            </a:pPr>
            <a:r>
              <a:rPr lang="en-US" sz="2800" dirty="0">
                <a:latin typeface="Calibri" panose="020F0502020204030204" pitchFamily="34" charset="0"/>
                <a:cs typeface="Calibri" panose="020F0502020204030204" pitchFamily="34" charset="0"/>
              </a:rPr>
              <a:t>Climate models calculate the physical interactions between four components: </a:t>
            </a:r>
          </a:p>
          <a:p>
            <a:pPr marL="342900" indent="-342900" eaLnBrk="1" hangingPunct="1">
              <a:spcBef>
                <a:spcPct val="0"/>
              </a:spcBef>
              <a:buFont typeface="Arial" panose="020B0604020202020204" pitchFamily="34" charset="0"/>
              <a:buChar char="•"/>
            </a:pPr>
            <a:r>
              <a:rPr lang="en-US" sz="2800" dirty="0">
                <a:latin typeface="Calibri" panose="020F0502020204030204" pitchFamily="34" charset="0"/>
                <a:cs typeface="Calibri" panose="020F0502020204030204" pitchFamily="34" charset="0"/>
              </a:rPr>
              <a:t>Atmosphere</a:t>
            </a:r>
          </a:p>
          <a:p>
            <a:pPr marL="342900" indent="-342900" eaLnBrk="1" hangingPunct="1">
              <a:spcBef>
                <a:spcPct val="0"/>
              </a:spcBef>
              <a:buFont typeface="Arial" panose="020B0604020202020204" pitchFamily="34" charset="0"/>
              <a:buChar char="•"/>
            </a:pPr>
            <a:r>
              <a:rPr lang="en-US" sz="2800" dirty="0">
                <a:latin typeface="Calibri" panose="020F0502020204030204" pitchFamily="34" charset="0"/>
                <a:cs typeface="Calibri" panose="020F0502020204030204" pitchFamily="34" charset="0"/>
              </a:rPr>
              <a:t>Land</a:t>
            </a:r>
          </a:p>
          <a:p>
            <a:pPr marL="342900" indent="-342900" eaLnBrk="1" hangingPunct="1">
              <a:spcBef>
                <a:spcPct val="0"/>
              </a:spcBef>
              <a:buFont typeface="Arial" panose="020B0604020202020204" pitchFamily="34" charset="0"/>
              <a:buChar char="•"/>
            </a:pPr>
            <a:r>
              <a:rPr lang="en-US" sz="2800" dirty="0">
                <a:latin typeface="Calibri" panose="020F0502020204030204" pitchFamily="34" charset="0"/>
                <a:cs typeface="Calibri" panose="020F0502020204030204" pitchFamily="34" charset="0"/>
              </a:rPr>
              <a:t>Ocean</a:t>
            </a:r>
          </a:p>
          <a:p>
            <a:pPr marL="342900" indent="-342900" eaLnBrk="1" hangingPunct="1">
              <a:spcBef>
                <a:spcPct val="0"/>
              </a:spcBef>
              <a:buFont typeface="Arial" panose="020B0604020202020204" pitchFamily="34" charset="0"/>
              <a:buChar char="•"/>
            </a:pPr>
            <a:r>
              <a:rPr lang="en-US" sz="2800" dirty="0">
                <a:latin typeface="Calibri" panose="020F0502020204030204" pitchFamily="34" charset="0"/>
                <a:cs typeface="Calibri" panose="020F0502020204030204" pitchFamily="34" charset="0"/>
              </a:rPr>
              <a:t>Sea ice</a:t>
            </a:r>
          </a:p>
          <a:p>
            <a:pPr eaLnBrk="1" hangingPunct="1">
              <a:spcBef>
                <a:spcPct val="0"/>
              </a:spcBef>
            </a:pPr>
            <a:endParaRPr lang="en-US" sz="2800" dirty="0">
              <a:latin typeface="Calibri" panose="020F0502020204030204" pitchFamily="34" charset="0"/>
              <a:cs typeface="Calibri" panose="020F0502020204030204" pitchFamily="34" charset="0"/>
            </a:endParaRPr>
          </a:p>
          <a:p>
            <a:pPr eaLnBrk="1" hangingPunct="1">
              <a:spcBef>
                <a:spcPct val="0"/>
              </a:spcBef>
            </a:pPr>
            <a:r>
              <a:rPr lang="en-US" sz="2800" dirty="0">
                <a:latin typeface="Calibri" panose="020F0502020204030204" pitchFamily="34" charset="0"/>
                <a:cs typeface="Calibri" panose="020F0502020204030204" pitchFamily="34" charset="0"/>
              </a:rPr>
              <a:t>The calculations are based on several inputs:</a:t>
            </a:r>
          </a:p>
          <a:p>
            <a:pPr marL="342900" indent="-342900" eaLnBrk="1" hangingPunct="1">
              <a:spcBef>
                <a:spcPct val="0"/>
              </a:spcBef>
              <a:buFont typeface="Arial" panose="020B0604020202020204" pitchFamily="34" charset="0"/>
              <a:buChar char="•"/>
            </a:pPr>
            <a:r>
              <a:rPr lang="en-US" sz="2800" dirty="0">
                <a:latin typeface="Calibri" panose="020F0502020204030204" pitchFamily="34" charset="0"/>
                <a:cs typeface="Calibri" panose="020F0502020204030204" pitchFamily="34" charset="0"/>
              </a:rPr>
              <a:t>Air temperature</a:t>
            </a:r>
          </a:p>
          <a:p>
            <a:pPr marL="342900" indent="-342900" eaLnBrk="1" hangingPunct="1">
              <a:spcBef>
                <a:spcPct val="0"/>
              </a:spcBef>
              <a:buFont typeface="Arial" panose="020B0604020202020204" pitchFamily="34" charset="0"/>
              <a:buChar char="•"/>
            </a:pPr>
            <a:r>
              <a:rPr lang="en-US" sz="2800" dirty="0">
                <a:latin typeface="Calibri" panose="020F0502020204030204" pitchFamily="34" charset="0"/>
                <a:cs typeface="Calibri" panose="020F0502020204030204" pitchFamily="34" charset="0"/>
              </a:rPr>
              <a:t>Pressure</a:t>
            </a:r>
          </a:p>
          <a:p>
            <a:pPr marL="342900" indent="-342900" eaLnBrk="1" hangingPunct="1">
              <a:spcBef>
                <a:spcPct val="0"/>
              </a:spcBef>
              <a:buFont typeface="Arial" panose="020B0604020202020204" pitchFamily="34" charset="0"/>
              <a:buChar char="•"/>
            </a:pPr>
            <a:r>
              <a:rPr lang="en-US" sz="2800" dirty="0">
                <a:latin typeface="Calibri" panose="020F0502020204030204" pitchFamily="34" charset="0"/>
                <a:cs typeface="Calibri" panose="020F0502020204030204" pitchFamily="34" charset="0"/>
              </a:rPr>
              <a:t>Density</a:t>
            </a:r>
          </a:p>
          <a:p>
            <a:pPr marL="342900" indent="-342900" eaLnBrk="1" hangingPunct="1">
              <a:spcBef>
                <a:spcPct val="0"/>
              </a:spcBef>
              <a:buFont typeface="Arial" panose="020B0604020202020204" pitchFamily="34" charset="0"/>
              <a:buChar char="•"/>
            </a:pPr>
            <a:r>
              <a:rPr lang="en-US" sz="2800" dirty="0">
                <a:latin typeface="Calibri" panose="020F0502020204030204" pitchFamily="34" charset="0"/>
                <a:cs typeface="Calibri" panose="020F0502020204030204" pitchFamily="34" charset="0"/>
              </a:rPr>
              <a:t>Water vapor content</a:t>
            </a:r>
          </a:p>
          <a:p>
            <a:pPr marL="342900" indent="-342900" eaLnBrk="1" hangingPunct="1">
              <a:spcBef>
                <a:spcPct val="0"/>
              </a:spcBef>
              <a:buFont typeface="Arial" panose="020B0604020202020204" pitchFamily="34" charset="0"/>
              <a:buChar char="•"/>
            </a:pPr>
            <a:r>
              <a:rPr lang="en-US" sz="2800" dirty="0">
                <a:latin typeface="Calibri" panose="020F0502020204030204" pitchFamily="34" charset="0"/>
                <a:cs typeface="Calibri" panose="020F0502020204030204" pitchFamily="34" charset="0"/>
              </a:rPr>
              <a:t>Wind magnitude and many more…..</a:t>
            </a:r>
          </a:p>
          <a:p>
            <a:pPr eaLnBrk="1" hangingPunct="1">
              <a:spcBef>
                <a:spcPct val="0"/>
              </a:spcBef>
            </a:pPr>
            <a:r>
              <a:rPr lang="en-US" sz="2400" dirty="0"/>
              <a:t> </a:t>
            </a:r>
          </a:p>
          <a:p>
            <a:pPr eaLnBrk="1" hangingPunct="1">
              <a:spcBef>
                <a:spcPct val="0"/>
              </a:spcBef>
            </a:pPr>
            <a:endParaRPr lang="en-US" sz="2400" dirty="0"/>
          </a:p>
        </p:txBody>
      </p:sp>
      <p:pic>
        <p:nvPicPr>
          <p:cNvPr id="6" name="Picture 5">
            <a:extLst>
              <a:ext uri="{FF2B5EF4-FFF2-40B4-BE49-F238E27FC236}">
                <a16:creationId xmlns:a16="http://schemas.microsoft.com/office/drawing/2014/main" id="{D907DE2C-AE9D-EC11-C55D-D80AD082BE5E}"/>
              </a:ext>
            </a:extLst>
          </p:cNvPr>
          <p:cNvPicPr>
            <a:picLocks noChangeAspect="1"/>
          </p:cNvPicPr>
          <p:nvPr/>
        </p:nvPicPr>
        <p:blipFill rotWithShape="1">
          <a:blip r:embed="rId5"/>
          <a:srcRect l="814" t="52853" r="52365" b="1006"/>
          <a:stretch/>
        </p:blipFill>
        <p:spPr>
          <a:xfrm>
            <a:off x="1143000" y="2865253"/>
            <a:ext cx="7128374" cy="6660834"/>
          </a:xfrm>
          <a:prstGeom prst="rect">
            <a:avLst/>
          </a:prstGeom>
        </p:spPr>
      </p:pic>
      <p:sp>
        <p:nvSpPr>
          <p:cNvPr id="3" name="TextBox 5">
            <a:extLst>
              <a:ext uri="{FF2B5EF4-FFF2-40B4-BE49-F238E27FC236}">
                <a16:creationId xmlns:a16="http://schemas.microsoft.com/office/drawing/2014/main" id="{84104372-CB0F-6B5B-29C8-5B129AB5C2DD}"/>
              </a:ext>
            </a:extLst>
          </p:cNvPr>
          <p:cNvSpPr txBox="1"/>
          <p:nvPr/>
        </p:nvSpPr>
        <p:spPr>
          <a:xfrm>
            <a:off x="1143000" y="1736548"/>
            <a:ext cx="13847674" cy="859210"/>
          </a:xfrm>
          <a:prstGeom prst="rect">
            <a:avLst/>
          </a:prstGeom>
        </p:spPr>
        <p:txBody>
          <a:bodyPr wrap="square" lIns="0" tIns="0" rIns="0" bIns="0" rtlCol="0" anchor="t">
            <a:spAutoFit/>
          </a:bodyPr>
          <a:lstStyle/>
          <a:p>
            <a:pPr>
              <a:lnSpc>
                <a:spcPts val="6719"/>
              </a:lnSpc>
            </a:pPr>
            <a:r>
              <a:rPr lang="en-US" sz="5599" b="1" i="1" dirty="0">
                <a:solidFill>
                  <a:srgbClr val="46245A"/>
                </a:solidFill>
                <a:latin typeface="DM Sans" pitchFamily="2" charset="0"/>
              </a:rPr>
              <a:t>Global Climate Models </a:t>
            </a:r>
            <a:endParaRPr lang="en-US" sz="5599" i="1" dirty="0">
              <a:solidFill>
                <a:srgbClr val="46245A"/>
              </a:solidFill>
              <a:latin typeface="DM Sans" pitchFamily="2" charset="0"/>
            </a:endParaRPr>
          </a:p>
        </p:txBody>
      </p:sp>
    </p:spTree>
    <p:extLst>
      <p:ext uri="{BB962C8B-B14F-4D97-AF65-F5344CB8AC3E}">
        <p14:creationId xmlns:p14="http://schemas.microsoft.com/office/powerpoint/2010/main" val="3208427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5506B64-01A4-DED9-5BEE-9DFE9E85A0BF}"/>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7EDF7CB8-445E-9FD4-FC4D-73BA4E287B5F}"/>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pic>
        <p:nvPicPr>
          <p:cNvPr id="4" name="Picture 3">
            <a:extLst>
              <a:ext uri="{FF2B5EF4-FFF2-40B4-BE49-F238E27FC236}">
                <a16:creationId xmlns:a16="http://schemas.microsoft.com/office/drawing/2014/main" id="{705B0F26-78EF-ADF2-D53B-485FA5D06253}"/>
              </a:ext>
            </a:extLst>
          </p:cNvPr>
          <p:cNvPicPr>
            <a:picLocks noChangeAspect="1"/>
          </p:cNvPicPr>
          <p:nvPr/>
        </p:nvPicPr>
        <p:blipFill>
          <a:blip r:embed="rId5"/>
          <a:stretch>
            <a:fillRect/>
          </a:stretch>
        </p:blipFill>
        <p:spPr>
          <a:xfrm>
            <a:off x="1143000" y="2595758"/>
            <a:ext cx="7313345" cy="6934135"/>
          </a:xfrm>
          <a:prstGeom prst="rect">
            <a:avLst/>
          </a:prstGeom>
        </p:spPr>
      </p:pic>
      <p:sp>
        <p:nvSpPr>
          <p:cNvPr id="8" name="TextBox 7">
            <a:extLst>
              <a:ext uri="{FF2B5EF4-FFF2-40B4-BE49-F238E27FC236}">
                <a16:creationId xmlns:a16="http://schemas.microsoft.com/office/drawing/2014/main" id="{3CF3AB2C-8109-DA38-4E23-CDBF8B41E19B}"/>
              </a:ext>
            </a:extLst>
          </p:cNvPr>
          <p:cNvSpPr txBox="1"/>
          <p:nvPr/>
        </p:nvSpPr>
        <p:spPr>
          <a:xfrm>
            <a:off x="8766896" y="3426661"/>
            <a:ext cx="9157167" cy="5632311"/>
          </a:xfrm>
          <a:prstGeom prst="rect">
            <a:avLst/>
          </a:prstGeom>
          <a:noFill/>
        </p:spPr>
        <p:txBody>
          <a:bodyPr wrap="square">
            <a:spAutoFit/>
          </a:bodyPr>
          <a:lstStyle/>
          <a:p>
            <a:r>
              <a:rPr lang="en-GB" sz="2400" b="0" i="0" u="none" strike="noStrike" dirty="0">
                <a:solidFill>
                  <a:srgbClr val="1B1B1B"/>
                </a:solidFill>
                <a:effectLst/>
                <a:latin typeface="Calibri" panose="020F0502020204030204" pitchFamily="34" charset="0"/>
                <a:cs typeface="Calibri" panose="020F0502020204030204" pitchFamily="34" charset="0"/>
              </a:rPr>
              <a:t>The size and complexity of the Earth makes this challenging </a:t>
            </a:r>
          </a:p>
          <a:p>
            <a:endParaRPr lang="en-GB" sz="2400" dirty="0">
              <a:solidFill>
                <a:srgbClr val="1B1B1B"/>
              </a:solidFill>
              <a:latin typeface="Calibri" panose="020F0502020204030204" pitchFamily="34" charset="0"/>
              <a:cs typeface="Calibri" panose="020F0502020204030204" pitchFamily="34" charset="0"/>
            </a:endParaRPr>
          </a:p>
          <a:p>
            <a:r>
              <a:rPr lang="en-GB" sz="2400" dirty="0">
                <a:solidFill>
                  <a:srgbClr val="1B1B1B"/>
                </a:solidFill>
                <a:latin typeface="Calibri" panose="020F0502020204030204" pitchFamily="34" charset="0"/>
                <a:cs typeface="Calibri" panose="020F0502020204030204" pitchFamily="34" charset="0"/>
              </a:rPr>
              <a:t>D</a:t>
            </a:r>
            <a:r>
              <a:rPr lang="en-GB" sz="2400" b="0" i="0" u="none" strike="noStrike" dirty="0">
                <a:solidFill>
                  <a:srgbClr val="1B1B1B"/>
                </a:solidFill>
                <a:effectLst/>
                <a:latin typeface="Calibri" panose="020F0502020204030204" pitchFamily="34" charset="0"/>
                <a:cs typeface="Calibri" panose="020F0502020204030204" pitchFamily="34" charset="0"/>
              </a:rPr>
              <a:t>ifferent places have different responses to energy (e.g., land warms up and cools down faster than oceans). </a:t>
            </a:r>
            <a:endParaRPr lang="en-GB" sz="2400" dirty="0">
              <a:solidFill>
                <a:srgbClr val="1B1B1B"/>
              </a:solidFill>
              <a:latin typeface="Calibri" panose="020F0502020204030204" pitchFamily="34" charset="0"/>
              <a:cs typeface="Calibri" panose="020F0502020204030204" pitchFamily="34" charset="0"/>
            </a:endParaRPr>
          </a:p>
          <a:p>
            <a:endParaRPr lang="en-GB" sz="2400" dirty="0">
              <a:solidFill>
                <a:srgbClr val="1B1B1B"/>
              </a:solidFill>
              <a:latin typeface="Calibri" panose="020F0502020204030204" pitchFamily="34" charset="0"/>
              <a:cs typeface="Calibri" panose="020F0502020204030204" pitchFamily="34" charset="0"/>
            </a:endParaRPr>
          </a:p>
          <a:p>
            <a:r>
              <a:rPr lang="en-GB" sz="2400" b="0" i="0" u="none" strike="noStrike" dirty="0">
                <a:solidFill>
                  <a:srgbClr val="1B1B1B"/>
                </a:solidFill>
                <a:effectLst/>
                <a:latin typeface="Calibri" panose="020F0502020204030204" pitchFamily="34" charset="0"/>
                <a:cs typeface="Calibri" panose="020F0502020204030204" pitchFamily="34" charset="0"/>
              </a:rPr>
              <a:t>We divide Earth into a 3D grid across the surface, up into the atmosphere, and down into the ocean. </a:t>
            </a:r>
          </a:p>
          <a:p>
            <a:endParaRPr lang="en-GB" sz="2400" dirty="0">
              <a:solidFill>
                <a:srgbClr val="1B1B1B"/>
              </a:solidFill>
              <a:latin typeface="Calibri" panose="020F0502020204030204" pitchFamily="34" charset="0"/>
              <a:cs typeface="Calibri" panose="020F0502020204030204" pitchFamily="34" charset="0"/>
            </a:endParaRPr>
          </a:p>
          <a:p>
            <a:r>
              <a:rPr lang="en-GB" sz="2400" b="0" i="0" u="none" strike="noStrike" dirty="0">
                <a:solidFill>
                  <a:srgbClr val="1B1B1B"/>
                </a:solidFill>
                <a:effectLst/>
                <a:latin typeface="Calibri" panose="020F0502020204030204" pitchFamily="34" charset="0"/>
                <a:cs typeface="Calibri" panose="020F0502020204030204" pitchFamily="34" charset="0"/>
              </a:rPr>
              <a:t>Each cube is analysed individually over time while receiving information (inputs) from and passing information (outputs) to neighbouring cubes. </a:t>
            </a:r>
          </a:p>
          <a:p>
            <a:endParaRPr lang="en-GB" sz="2400" dirty="0">
              <a:solidFill>
                <a:srgbClr val="1B1B1B"/>
              </a:solidFill>
              <a:latin typeface="Calibri" panose="020F0502020204030204" pitchFamily="34" charset="0"/>
              <a:cs typeface="Calibri" panose="020F0502020204030204" pitchFamily="34" charset="0"/>
            </a:endParaRPr>
          </a:p>
          <a:p>
            <a:r>
              <a:rPr lang="en-GB" sz="2400" b="0" i="0" u="none" strike="noStrike" dirty="0">
                <a:solidFill>
                  <a:srgbClr val="1B1B1B"/>
                </a:solidFill>
                <a:effectLst/>
                <a:latin typeface="Calibri" panose="020F0502020204030204" pitchFamily="34" charset="0"/>
                <a:cs typeface="Calibri" panose="020F0502020204030204" pitchFamily="34" charset="0"/>
              </a:rPr>
              <a:t>The size of the cubes varies among models</a:t>
            </a:r>
            <a:endParaRPr lang="en-GB" sz="2400" dirty="0">
              <a:solidFill>
                <a:srgbClr val="1B1B1B"/>
              </a:solidFill>
              <a:latin typeface="Calibri" panose="020F0502020204030204" pitchFamily="34" charset="0"/>
              <a:cs typeface="Calibri" panose="020F0502020204030204" pitchFamily="34" charset="0"/>
            </a:endParaRPr>
          </a:p>
          <a:p>
            <a:endParaRPr lang="en-GB" sz="2400" dirty="0">
              <a:solidFill>
                <a:srgbClr val="1B1B1B"/>
              </a:solidFill>
              <a:latin typeface="Calibri" panose="020F0502020204030204" pitchFamily="34" charset="0"/>
              <a:cs typeface="Calibri" panose="020F0502020204030204" pitchFamily="34" charset="0"/>
            </a:endParaRPr>
          </a:p>
          <a:p>
            <a:r>
              <a:rPr lang="en-GB" sz="2400" dirty="0">
                <a:solidFill>
                  <a:srgbClr val="1B1B1B"/>
                </a:solidFill>
                <a:latin typeface="Calibri" panose="020F0502020204030204" pitchFamily="34" charset="0"/>
                <a:cs typeface="Calibri" panose="020F0502020204030204" pitchFamily="34" charset="0"/>
              </a:rPr>
              <a:t>A</a:t>
            </a:r>
            <a:r>
              <a:rPr lang="en-GB" sz="2400" b="0" i="0" u="none" strike="noStrike" dirty="0">
                <a:solidFill>
                  <a:srgbClr val="1B1B1B"/>
                </a:solidFill>
                <a:effectLst/>
                <a:latin typeface="Calibri" panose="020F0502020204030204" pitchFamily="34" charset="0"/>
                <a:cs typeface="Calibri" panose="020F0502020204030204" pitchFamily="34" charset="0"/>
              </a:rPr>
              <a:t> higher resolution model has more, smaller cubes and provides a more accurate picture of how changes to the climate impact an area.</a:t>
            </a:r>
          </a:p>
        </p:txBody>
      </p:sp>
      <p:sp>
        <p:nvSpPr>
          <p:cNvPr id="2" name="TextBox 5">
            <a:extLst>
              <a:ext uri="{FF2B5EF4-FFF2-40B4-BE49-F238E27FC236}">
                <a16:creationId xmlns:a16="http://schemas.microsoft.com/office/drawing/2014/main" id="{1F43C764-AA0F-B7CE-6F9A-CE5DD2550323}"/>
              </a:ext>
            </a:extLst>
          </p:cNvPr>
          <p:cNvSpPr txBox="1"/>
          <p:nvPr/>
        </p:nvSpPr>
        <p:spPr>
          <a:xfrm>
            <a:off x="1143000" y="1736548"/>
            <a:ext cx="13847674" cy="859210"/>
          </a:xfrm>
          <a:prstGeom prst="rect">
            <a:avLst/>
          </a:prstGeom>
        </p:spPr>
        <p:txBody>
          <a:bodyPr wrap="square" lIns="0" tIns="0" rIns="0" bIns="0" rtlCol="0" anchor="t">
            <a:spAutoFit/>
          </a:bodyPr>
          <a:lstStyle/>
          <a:p>
            <a:pPr>
              <a:lnSpc>
                <a:spcPts val="6719"/>
              </a:lnSpc>
            </a:pPr>
            <a:r>
              <a:rPr lang="en-US" sz="5599" b="1" i="1" dirty="0">
                <a:solidFill>
                  <a:srgbClr val="46245A"/>
                </a:solidFill>
                <a:latin typeface="DM Sans" pitchFamily="2" charset="0"/>
              </a:rPr>
              <a:t>Global Climate Models </a:t>
            </a:r>
            <a:endParaRPr lang="en-US" sz="5599" i="1" dirty="0">
              <a:solidFill>
                <a:srgbClr val="46245A"/>
              </a:solidFill>
              <a:latin typeface="DM Sans" pitchFamily="2" charset="0"/>
            </a:endParaRPr>
          </a:p>
        </p:txBody>
      </p:sp>
    </p:spTree>
    <p:extLst>
      <p:ext uri="{BB962C8B-B14F-4D97-AF65-F5344CB8AC3E}">
        <p14:creationId xmlns:p14="http://schemas.microsoft.com/office/powerpoint/2010/main" val="3260029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CA64EE0-D864-B7AB-17CE-452D75D87A90}"/>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84351724-7829-A61F-0306-5607D200FB34}"/>
              </a:ext>
            </a:extLst>
          </p:cNvPr>
          <p:cNvSpPr txBox="1"/>
          <p:nvPr/>
        </p:nvSpPr>
        <p:spPr>
          <a:xfrm>
            <a:off x="933138" y="1314331"/>
            <a:ext cx="13847674" cy="859210"/>
          </a:xfrm>
          <a:prstGeom prst="rect">
            <a:avLst/>
          </a:prstGeom>
        </p:spPr>
        <p:txBody>
          <a:bodyPr wrap="square" lIns="0" tIns="0" rIns="0" bIns="0" rtlCol="0" anchor="t">
            <a:spAutoFit/>
          </a:bodyPr>
          <a:lstStyle/>
          <a:p>
            <a:pPr>
              <a:lnSpc>
                <a:spcPts val="6719"/>
              </a:lnSpc>
            </a:pPr>
            <a:r>
              <a:rPr lang="en-US" sz="5599" b="1" i="1" dirty="0">
                <a:solidFill>
                  <a:srgbClr val="46245A"/>
                </a:solidFill>
                <a:latin typeface="DM Sans" pitchFamily="2" charset="0"/>
              </a:rPr>
              <a:t>History of Climate Models – 90s – 00s </a:t>
            </a:r>
            <a:endParaRPr lang="en-US" sz="5599" i="1" dirty="0">
              <a:solidFill>
                <a:srgbClr val="46245A"/>
              </a:solidFill>
              <a:latin typeface="DM Sans" pitchFamily="2" charset="0"/>
            </a:endParaRPr>
          </a:p>
        </p:txBody>
      </p:sp>
      <p:sp>
        <p:nvSpPr>
          <p:cNvPr id="10" name="Freeform 13">
            <a:extLst>
              <a:ext uri="{FF2B5EF4-FFF2-40B4-BE49-F238E27FC236}">
                <a16:creationId xmlns:a16="http://schemas.microsoft.com/office/drawing/2014/main" id="{50283832-E1FB-052F-2D43-1768F9F9BBCA}"/>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4" name="Oval 4">
            <a:extLst>
              <a:ext uri="{FF2B5EF4-FFF2-40B4-BE49-F238E27FC236}">
                <a16:creationId xmlns:a16="http://schemas.microsoft.com/office/drawing/2014/main" id="{524F8064-4926-9DA8-A7A4-E500E08FDE48}"/>
              </a:ext>
            </a:extLst>
          </p:cNvPr>
          <p:cNvSpPr>
            <a:spLocks noChangeArrowheads="1"/>
          </p:cNvSpPr>
          <p:nvPr/>
        </p:nvSpPr>
        <p:spPr bwMode="auto">
          <a:xfrm>
            <a:off x="1487487" y="4180083"/>
            <a:ext cx="2592387" cy="1295400"/>
          </a:xfrm>
          <a:prstGeom prst="ellipse">
            <a:avLst/>
          </a:prstGeom>
          <a:solidFill>
            <a:srgbClr val="003366">
              <a:alpha val="43137"/>
            </a:srgbClr>
          </a:solidFill>
          <a:ln w="9525">
            <a:solidFill>
              <a:schemeClr val="tx1"/>
            </a:solidFill>
            <a:round/>
            <a:headEnd/>
            <a:tailEnd/>
          </a:ln>
        </p:spPr>
        <p:txBody>
          <a:bodyPr wrap="none" anchor="ct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0"/>
              </a:spcBef>
            </a:pPr>
            <a:r>
              <a:rPr lang="en-GB" altLang="en-US" sz="1800">
                <a:latin typeface="Tahoma" panose="020B0604030504040204" pitchFamily="34" charset="0"/>
              </a:rPr>
              <a:t>Ocean only Model</a:t>
            </a:r>
            <a:endParaRPr lang="en-US" altLang="en-US" sz="1800">
              <a:latin typeface="Tahoma" panose="020B0604030504040204" pitchFamily="34" charset="0"/>
            </a:endParaRPr>
          </a:p>
        </p:txBody>
      </p:sp>
      <p:sp>
        <p:nvSpPr>
          <p:cNvPr id="6" name="Oval 5">
            <a:extLst>
              <a:ext uri="{FF2B5EF4-FFF2-40B4-BE49-F238E27FC236}">
                <a16:creationId xmlns:a16="http://schemas.microsoft.com/office/drawing/2014/main" id="{E2927CF5-2708-F4A5-F1C7-92B6DEA2973C}"/>
              </a:ext>
            </a:extLst>
          </p:cNvPr>
          <p:cNvSpPr>
            <a:spLocks noChangeArrowheads="1"/>
          </p:cNvSpPr>
          <p:nvPr/>
        </p:nvSpPr>
        <p:spPr bwMode="auto">
          <a:xfrm>
            <a:off x="1487487" y="2668783"/>
            <a:ext cx="2592387" cy="1295400"/>
          </a:xfrm>
          <a:prstGeom prst="ellipse">
            <a:avLst/>
          </a:prstGeom>
          <a:solidFill>
            <a:schemeClr val="folHlink">
              <a:alpha val="32156"/>
            </a:schemeClr>
          </a:solidFill>
          <a:ln w="9525">
            <a:solidFill>
              <a:schemeClr val="tx1"/>
            </a:solidFill>
            <a:round/>
            <a:headEnd/>
            <a:tailEnd/>
          </a:ln>
        </p:spPr>
        <p:txBody>
          <a:bodyPr wrap="none" anchor="ct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0"/>
              </a:spcBef>
            </a:pPr>
            <a:r>
              <a:rPr lang="en-GB" altLang="en-US" sz="1800" dirty="0">
                <a:latin typeface="Tahoma" panose="020B0604030504040204" pitchFamily="34" charset="0"/>
              </a:rPr>
              <a:t>Atmosphere only Model</a:t>
            </a:r>
            <a:endParaRPr lang="en-US" altLang="en-US" sz="1800" dirty="0">
              <a:latin typeface="Tahoma" panose="020B0604030504040204" pitchFamily="34" charset="0"/>
            </a:endParaRPr>
          </a:p>
        </p:txBody>
      </p:sp>
      <p:sp>
        <p:nvSpPr>
          <p:cNvPr id="7" name="TextBox 6">
            <a:extLst>
              <a:ext uri="{FF2B5EF4-FFF2-40B4-BE49-F238E27FC236}">
                <a16:creationId xmlns:a16="http://schemas.microsoft.com/office/drawing/2014/main" id="{1AC40FBF-4006-150C-94A6-2269B1E84D6C}"/>
              </a:ext>
            </a:extLst>
          </p:cNvPr>
          <p:cNvSpPr txBox="1"/>
          <p:nvPr/>
        </p:nvSpPr>
        <p:spPr>
          <a:xfrm>
            <a:off x="5529380" y="2668783"/>
            <a:ext cx="12320947" cy="2677656"/>
          </a:xfrm>
          <a:prstGeom prst="rect">
            <a:avLst/>
          </a:prstGeom>
          <a:noFill/>
        </p:spPr>
        <p:txBody>
          <a:bodyPr wrap="square">
            <a:spAutoFit/>
          </a:bodyPr>
          <a:lstStyle/>
          <a:p>
            <a:r>
              <a:rPr lang="en-GB" sz="2400" b="0" i="0" u="none" strike="noStrike" dirty="0">
                <a:solidFill>
                  <a:srgbClr val="1B1B1B"/>
                </a:solidFill>
                <a:effectLst/>
                <a:latin typeface="Calibri" panose="020F0502020204030204" pitchFamily="34" charset="0"/>
                <a:cs typeface="Calibri" panose="020F0502020204030204" pitchFamily="34" charset="0"/>
              </a:rPr>
              <a:t>Earlier models calculated physical processes for the atmosphere, land, ocean, and sea ice components separately. </a:t>
            </a:r>
          </a:p>
          <a:p>
            <a:pPr marL="342900" indent="-342900">
              <a:buFont typeface="Arial" panose="020B0604020202020204" pitchFamily="34" charset="0"/>
              <a:buChar char="•"/>
            </a:pPr>
            <a:r>
              <a:rPr lang="en-GB" sz="2400" b="0" i="0" u="none" strike="noStrike" dirty="0">
                <a:solidFill>
                  <a:schemeClr val="tx1"/>
                </a:solidFill>
                <a:effectLst/>
                <a:latin typeface="Calibri" panose="020F0502020204030204" pitchFamily="34" charset="0"/>
                <a:cs typeface="Calibri" panose="020F0502020204030204" pitchFamily="34" charset="0"/>
              </a:rPr>
              <a:t>I</a:t>
            </a:r>
            <a:r>
              <a:rPr lang="en-GB" sz="2400" b="0" i="0" u="none" strike="noStrike" dirty="0">
                <a:solidFill>
                  <a:srgbClr val="0D0D0D"/>
                </a:solidFill>
                <a:effectLst/>
                <a:latin typeface="Calibri" panose="020F0502020204030204" pitchFamily="34" charset="0"/>
                <a:cs typeface="Calibri" panose="020F0502020204030204" pitchFamily="34" charset="0"/>
              </a:rPr>
              <a:t>nitially GCMs treated atmosphere and ocean models as separate entities.</a:t>
            </a:r>
          </a:p>
          <a:p>
            <a:pPr marL="285750" indent="-285750">
              <a:buFont typeface="Arial" panose="020B0604020202020204" pitchFamily="34" charset="0"/>
              <a:buChar char="•"/>
            </a:pPr>
            <a:r>
              <a:rPr lang="en-GB" sz="2400" b="0" i="0" u="none" strike="noStrike" dirty="0">
                <a:solidFill>
                  <a:srgbClr val="0D0D0D"/>
                </a:solidFill>
                <a:effectLst/>
                <a:latin typeface="Calibri" panose="020F0502020204030204" pitchFamily="34" charset="0"/>
                <a:cs typeface="Calibri" panose="020F0502020204030204" pitchFamily="34" charset="0"/>
              </a:rPr>
              <a:t>Atmosphere models focused on simulating atmospheric dynamics, while ocean models represented oceanic circulation and thermodynamics.</a:t>
            </a:r>
          </a:p>
          <a:p>
            <a:pPr marL="285750" indent="-285750">
              <a:buFont typeface="Arial" panose="020B0604020202020204" pitchFamily="34" charset="0"/>
              <a:buChar char="•"/>
            </a:pPr>
            <a:r>
              <a:rPr lang="en-GB" sz="2400" b="0" i="0" u="none" strike="noStrike" dirty="0">
                <a:solidFill>
                  <a:srgbClr val="0D0D0D"/>
                </a:solidFill>
                <a:effectLst/>
                <a:latin typeface="Calibri" panose="020F0502020204030204" pitchFamily="34" charset="0"/>
                <a:cs typeface="Calibri" panose="020F0502020204030204" pitchFamily="34" charset="0"/>
              </a:rPr>
              <a:t>These separate models were run independently and their outputs were not directly interconnected.</a:t>
            </a:r>
          </a:p>
        </p:txBody>
      </p:sp>
      <p:pic>
        <p:nvPicPr>
          <p:cNvPr id="2" name="Picture 1" descr="A diagram of a global warming&#10;&#10;Description automatically generated">
            <a:extLst>
              <a:ext uri="{FF2B5EF4-FFF2-40B4-BE49-F238E27FC236}">
                <a16:creationId xmlns:a16="http://schemas.microsoft.com/office/drawing/2014/main" id="{7C9DB060-E14E-DCB0-9E8A-A2ED74A74E1E}"/>
              </a:ext>
            </a:extLst>
          </p:cNvPr>
          <p:cNvPicPr>
            <a:picLocks noChangeAspect="1"/>
          </p:cNvPicPr>
          <p:nvPr/>
        </p:nvPicPr>
        <p:blipFill rotWithShape="1">
          <a:blip r:embed="rId5">
            <a:extLst>
              <a:ext uri="{28A0092B-C50C-407E-A947-70E740481C1C}">
                <a14:useLocalDpi xmlns:a14="http://schemas.microsoft.com/office/drawing/2010/main" val="0"/>
              </a:ext>
            </a:extLst>
          </a:blip>
          <a:srcRect l="7939" t="5401" r="8577" b="1272"/>
          <a:stretch/>
        </p:blipFill>
        <p:spPr>
          <a:xfrm>
            <a:off x="8570938" y="5475483"/>
            <a:ext cx="5676737" cy="4234574"/>
          </a:xfrm>
          <a:prstGeom prst="rect">
            <a:avLst/>
          </a:prstGeom>
        </p:spPr>
      </p:pic>
      <p:sp>
        <p:nvSpPr>
          <p:cNvPr id="3" name="TextBox 2">
            <a:extLst>
              <a:ext uri="{FF2B5EF4-FFF2-40B4-BE49-F238E27FC236}">
                <a16:creationId xmlns:a16="http://schemas.microsoft.com/office/drawing/2014/main" id="{F4179E08-A17F-722F-2485-00FB63F14965}"/>
              </a:ext>
            </a:extLst>
          </p:cNvPr>
          <p:cNvSpPr txBox="1"/>
          <p:nvPr/>
        </p:nvSpPr>
        <p:spPr>
          <a:xfrm>
            <a:off x="2441118" y="7118057"/>
            <a:ext cx="5934983" cy="707886"/>
          </a:xfrm>
          <a:prstGeom prst="rect">
            <a:avLst/>
          </a:prstGeom>
          <a:noFill/>
        </p:spPr>
        <p:txBody>
          <a:bodyPr wrap="square" rtlCol="0">
            <a:spAutoFit/>
          </a:bodyPr>
          <a:lstStyle/>
          <a:p>
            <a:r>
              <a:rPr lang="en-GB" sz="4000" b="1" dirty="0">
                <a:solidFill>
                  <a:srgbClr val="FF0000"/>
                </a:solidFill>
              </a:rPr>
              <a:t>Why is this a problem?</a:t>
            </a:r>
          </a:p>
        </p:txBody>
      </p:sp>
    </p:spTree>
    <p:extLst>
      <p:ext uri="{BB962C8B-B14F-4D97-AF65-F5344CB8AC3E}">
        <p14:creationId xmlns:p14="http://schemas.microsoft.com/office/powerpoint/2010/main" val="337086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6BAF5F4A-E5ED-63E1-6039-6DCD4DFD166A}"/>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B2FBE1A5-56D5-0AB1-39DF-B9BAD86FC88A}"/>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4" name="Oval 4">
            <a:extLst>
              <a:ext uri="{FF2B5EF4-FFF2-40B4-BE49-F238E27FC236}">
                <a16:creationId xmlns:a16="http://schemas.microsoft.com/office/drawing/2014/main" id="{9FD56374-FCFD-1727-C382-CD54D4D21AED}"/>
              </a:ext>
            </a:extLst>
          </p:cNvPr>
          <p:cNvSpPr>
            <a:spLocks noChangeArrowheads="1"/>
          </p:cNvSpPr>
          <p:nvPr/>
        </p:nvSpPr>
        <p:spPr bwMode="auto">
          <a:xfrm>
            <a:off x="1487487" y="4180083"/>
            <a:ext cx="2592387" cy="1295400"/>
          </a:xfrm>
          <a:prstGeom prst="ellipse">
            <a:avLst/>
          </a:prstGeom>
          <a:solidFill>
            <a:srgbClr val="003366">
              <a:alpha val="43137"/>
            </a:srgbClr>
          </a:solidFill>
          <a:ln w="9525">
            <a:solidFill>
              <a:schemeClr val="tx1"/>
            </a:solidFill>
            <a:round/>
            <a:headEnd/>
            <a:tailEnd/>
          </a:ln>
        </p:spPr>
        <p:txBody>
          <a:bodyPr wrap="none" anchor="ct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0"/>
              </a:spcBef>
            </a:pPr>
            <a:r>
              <a:rPr lang="en-GB" altLang="en-US" sz="1800">
                <a:latin typeface="Tahoma" panose="020B0604030504040204" pitchFamily="34" charset="0"/>
              </a:rPr>
              <a:t>Ocean only Model</a:t>
            </a:r>
            <a:endParaRPr lang="en-US" altLang="en-US" sz="1800">
              <a:latin typeface="Tahoma" panose="020B0604030504040204" pitchFamily="34" charset="0"/>
            </a:endParaRPr>
          </a:p>
        </p:txBody>
      </p:sp>
      <p:sp>
        <p:nvSpPr>
          <p:cNvPr id="6" name="Oval 5">
            <a:extLst>
              <a:ext uri="{FF2B5EF4-FFF2-40B4-BE49-F238E27FC236}">
                <a16:creationId xmlns:a16="http://schemas.microsoft.com/office/drawing/2014/main" id="{84E027B5-CAFA-6270-CD84-C54663BCF20D}"/>
              </a:ext>
            </a:extLst>
          </p:cNvPr>
          <p:cNvSpPr>
            <a:spLocks noChangeArrowheads="1"/>
          </p:cNvSpPr>
          <p:nvPr/>
        </p:nvSpPr>
        <p:spPr bwMode="auto">
          <a:xfrm>
            <a:off x="1487487" y="2668783"/>
            <a:ext cx="2592387" cy="1295400"/>
          </a:xfrm>
          <a:prstGeom prst="ellipse">
            <a:avLst/>
          </a:prstGeom>
          <a:solidFill>
            <a:schemeClr val="folHlink">
              <a:alpha val="32156"/>
            </a:schemeClr>
          </a:solidFill>
          <a:ln w="9525">
            <a:solidFill>
              <a:schemeClr val="tx1"/>
            </a:solidFill>
            <a:round/>
            <a:headEnd/>
            <a:tailEnd/>
          </a:ln>
        </p:spPr>
        <p:txBody>
          <a:bodyPr wrap="none" anchor="ct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0"/>
              </a:spcBef>
            </a:pPr>
            <a:r>
              <a:rPr lang="en-GB" altLang="en-US" sz="1800" dirty="0">
                <a:latin typeface="Tahoma" panose="020B0604030504040204" pitchFamily="34" charset="0"/>
              </a:rPr>
              <a:t>Atmosphere only Model</a:t>
            </a:r>
            <a:endParaRPr lang="en-US" altLang="en-US" sz="1800" dirty="0">
              <a:latin typeface="Tahoma" panose="020B0604030504040204" pitchFamily="34" charset="0"/>
            </a:endParaRPr>
          </a:p>
        </p:txBody>
      </p:sp>
      <p:sp>
        <p:nvSpPr>
          <p:cNvPr id="18" name="Oval 4">
            <a:extLst>
              <a:ext uri="{FF2B5EF4-FFF2-40B4-BE49-F238E27FC236}">
                <a16:creationId xmlns:a16="http://schemas.microsoft.com/office/drawing/2014/main" id="{CF069BDE-73AD-05BC-1B15-681F40DF99D1}"/>
              </a:ext>
            </a:extLst>
          </p:cNvPr>
          <p:cNvSpPr>
            <a:spLocks noChangeArrowheads="1"/>
          </p:cNvSpPr>
          <p:nvPr/>
        </p:nvSpPr>
        <p:spPr bwMode="auto">
          <a:xfrm>
            <a:off x="1487488" y="8187679"/>
            <a:ext cx="2376487" cy="1152525"/>
          </a:xfrm>
          <a:prstGeom prst="ellipse">
            <a:avLst/>
          </a:prstGeom>
          <a:solidFill>
            <a:srgbClr val="003366">
              <a:alpha val="43137"/>
            </a:srgbClr>
          </a:solidFill>
          <a:ln w="9525">
            <a:solidFill>
              <a:schemeClr val="tx1"/>
            </a:solidFill>
            <a:round/>
            <a:headEnd/>
            <a:tailEnd/>
          </a:ln>
        </p:spPr>
        <p:txBody>
          <a:bodyPr wrap="none" anchor="ct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0"/>
              </a:spcBef>
            </a:pPr>
            <a:r>
              <a:rPr lang="en-GB" altLang="en-US" sz="1800">
                <a:latin typeface="Tahoma" panose="020B0604030504040204" pitchFamily="34" charset="0"/>
              </a:rPr>
              <a:t>Ocean Model</a:t>
            </a:r>
            <a:endParaRPr lang="en-US" altLang="en-US" sz="1800">
              <a:latin typeface="Tahoma" panose="020B0604030504040204" pitchFamily="34" charset="0"/>
            </a:endParaRPr>
          </a:p>
        </p:txBody>
      </p:sp>
      <p:sp>
        <p:nvSpPr>
          <p:cNvPr id="19" name="Oval 5">
            <a:extLst>
              <a:ext uri="{FF2B5EF4-FFF2-40B4-BE49-F238E27FC236}">
                <a16:creationId xmlns:a16="http://schemas.microsoft.com/office/drawing/2014/main" id="{AE642D90-62F2-8D84-94E7-3971DA298D58}"/>
              </a:ext>
            </a:extLst>
          </p:cNvPr>
          <p:cNvSpPr>
            <a:spLocks noChangeArrowheads="1"/>
          </p:cNvSpPr>
          <p:nvPr/>
        </p:nvSpPr>
        <p:spPr bwMode="auto">
          <a:xfrm>
            <a:off x="1487488" y="6314429"/>
            <a:ext cx="2376487" cy="1152525"/>
          </a:xfrm>
          <a:prstGeom prst="ellipse">
            <a:avLst/>
          </a:prstGeom>
          <a:solidFill>
            <a:schemeClr val="folHlink">
              <a:alpha val="32156"/>
            </a:schemeClr>
          </a:solidFill>
          <a:ln w="9525">
            <a:solidFill>
              <a:schemeClr val="tx1"/>
            </a:solidFill>
            <a:round/>
            <a:headEnd/>
            <a:tailEnd/>
          </a:ln>
        </p:spPr>
        <p:txBody>
          <a:bodyPr wrap="none" anchor="ct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0"/>
              </a:spcBef>
            </a:pPr>
            <a:r>
              <a:rPr lang="en-GB" altLang="en-US" sz="1800">
                <a:latin typeface="Tahoma" panose="020B0604030504040204" pitchFamily="34" charset="0"/>
              </a:rPr>
              <a:t>Atmosphere Model</a:t>
            </a:r>
            <a:endParaRPr lang="en-US" altLang="en-US" sz="1800">
              <a:latin typeface="Tahoma" panose="020B0604030504040204" pitchFamily="34" charset="0"/>
            </a:endParaRPr>
          </a:p>
        </p:txBody>
      </p:sp>
      <p:cxnSp>
        <p:nvCxnSpPr>
          <p:cNvPr id="20" name="AutoShape 6">
            <a:extLst>
              <a:ext uri="{FF2B5EF4-FFF2-40B4-BE49-F238E27FC236}">
                <a16:creationId xmlns:a16="http://schemas.microsoft.com/office/drawing/2014/main" id="{1C358A8A-D04B-4C4D-16A1-210BAFA578FE}"/>
              </a:ext>
            </a:extLst>
          </p:cNvPr>
          <p:cNvCxnSpPr>
            <a:cxnSpLocks noChangeShapeType="1"/>
            <a:stCxn id="19" idx="2"/>
            <a:endCxn id="18" idx="2"/>
          </p:cNvCxnSpPr>
          <p:nvPr/>
        </p:nvCxnSpPr>
        <p:spPr bwMode="auto">
          <a:xfrm rot="10800000" flipH="1" flipV="1">
            <a:off x="1487488" y="6890691"/>
            <a:ext cx="1587" cy="1873250"/>
          </a:xfrm>
          <a:prstGeom prst="curvedConnector3">
            <a:avLst>
              <a:gd name="adj1" fmla="val -75900000"/>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1" name="AutoShape 7">
            <a:extLst>
              <a:ext uri="{FF2B5EF4-FFF2-40B4-BE49-F238E27FC236}">
                <a16:creationId xmlns:a16="http://schemas.microsoft.com/office/drawing/2014/main" id="{EF5C92C0-72AD-1ADC-F8FC-8437D494B255}"/>
              </a:ext>
            </a:extLst>
          </p:cNvPr>
          <p:cNvCxnSpPr>
            <a:cxnSpLocks noChangeShapeType="1"/>
            <a:stCxn id="18" idx="6"/>
            <a:endCxn id="19" idx="6"/>
          </p:cNvCxnSpPr>
          <p:nvPr/>
        </p:nvCxnSpPr>
        <p:spPr bwMode="auto">
          <a:xfrm flipV="1">
            <a:off x="3863975" y="6890691"/>
            <a:ext cx="1588" cy="1873250"/>
          </a:xfrm>
          <a:prstGeom prst="curvedConnector3">
            <a:avLst>
              <a:gd name="adj1" fmla="val 92000032"/>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 name="TextBox 6">
            <a:extLst>
              <a:ext uri="{FF2B5EF4-FFF2-40B4-BE49-F238E27FC236}">
                <a16:creationId xmlns:a16="http://schemas.microsoft.com/office/drawing/2014/main" id="{E7CFB719-707A-A1BC-1398-770A7A50A052}"/>
              </a:ext>
            </a:extLst>
          </p:cNvPr>
          <p:cNvSpPr txBox="1"/>
          <p:nvPr/>
        </p:nvSpPr>
        <p:spPr>
          <a:xfrm>
            <a:off x="5529380" y="2668783"/>
            <a:ext cx="12320947" cy="6647974"/>
          </a:xfrm>
          <a:prstGeom prst="rect">
            <a:avLst/>
          </a:prstGeom>
          <a:noFill/>
        </p:spPr>
        <p:txBody>
          <a:bodyPr wrap="square">
            <a:spAutoFit/>
          </a:bodyPr>
          <a:lstStyle/>
          <a:p>
            <a:r>
              <a:rPr lang="en-GB" sz="2400" b="0" i="0" u="none" strike="noStrike" dirty="0">
                <a:solidFill>
                  <a:srgbClr val="1B1B1B"/>
                </a:solidFill>
                <a:effectLst/>
                <a:latin typeface="Calibri" panose="020F0502020204030204" pitchFamily="34" charset="0"/>
                <a:cs typeface="Calibri" panose="020F0502020204030204" pitchFamily="34" charset="0"/>
              </a:rPr>
              <a:t>Earlier models calculated physical processes for the atmosphere, land, ocean, and sea ice components separately. </a:t>
            </a:r>
          </a:p>
          <a:p>
            <a:pPr marL="342900" indent="-342900">
              <a:buFont typeface="Arial" panose="020B0604020202020204" pitchFamily="34" charset="0"/>
              <a:buChar char="•"/>
            </a:pPr>
            <a:r>
              <a:rPr lang="en-GB" sz="2400" b="0" i="0" u="none" strike="noStrike" dirty="0">
                <a:solidFill>
                  <a:schemeClr val="tx1"/>
                </a:solidFill>
                <a:effectLst/>
                <a:latin typeface="Calibri" panose="020F0502020204030204" pitchFamily="34" charset="0"/>
                <a:cs typeface="Calibri" panose="020F0502020204030204" pitchFamily="34" charset="0"/>
              </a:rPr>
              <a:t>I</a:t>
            </a:r>
            <a:r>
              <a:rPr lang="en-GB" sz="2400" b="0" i="0" u="none" strike="noStrike" dirty="0">
                <a:solidFill>
                  <a:srgbClr val="0D0D0D"/>
                </a:solidFill>
                <a:effectLst/>
                <a:latin typeface="Calibri" panose="020F0502020204030204" pitchFamily="34" charset="0"/>
                <a:cs typeface="Calibri" panose="020F0502020204030204" pitchFamily="34" charset="0"/>
              </a:rPr>
              <a:t>nitially GCMs treated atmosphere and ocean models as separate entities.</a:t>
            </a:r>
          </a:p>
          <a:p>
            <a:pPr marL="285750" indent="-285750">
              <a:buFont typeface="Arial" panose="020B0604020202020204" pitchFamily="34" charset="0"/>
              <a:buChar char="•"/>
            </a:pPr>
            <a:r>
              <a:rPr lang="en-GB" sz="2400" b="0" i="0" u="none" strike="noStrike" dirty="0">
                <a:solidFill>
                  <a:srgbClr val="0D0D0D"/>
                </a:solidFill>
                <a:effectLst/>
                <a:latin typeface="Calibri" panose="020F0502020204030204" pitchFamily="34" charset="0"/>
                <a:cs typeface="Calibri" panose="020F0502020204030204" pitchFamily="34" charset="0"/>
              </a:rPr>
              <a:t>Atmosphere models focused on simulating atmospheric dynamics, while ocean models represented oceanic circulation and thermodynamics.</a:t>
            </a:r>
          </a:p>
          <a:p>
            <a:pPr marL="285750" indent="-285750">
              <a:buFont typeface="Arial" panose="020B0604020202020204" pitchFamily="34" charset="0"/>
              <a:buChar char="•"/>
            </a:pPr>
            <a:r>
              <a:rPr lang="en-GB" sz="2400" b="0" i="0" u="none" strike="noStrike" dirty="0">
                <a:solidFill>
                  <a:srgbClr val="0D0D0D"/>
                </a:solidFill>
                <a:effectLst/>
                <a:latin typeface="Calibri" panose="020F0502020204030204" pitchFamily="34" charset="0"/>
                <a:cs typeface="Calibri" panose="020F0502020204030204" pitchFamily="34" charset="0"/>
              </a:rPr>
              <a:t>These separate models were run independently and their outputs were not directly interconnected.</a:t>
            </a:r>
          </a:p>
          <a:p>
            <a:endParaRPr lang="en-GB" sz="2400" b="0" i="0" u="none" strike="noStrike" dirty="0">
              <a:solidFill>
                <a:srgbClr val="0D0D0D"/>
              </a:solidFill>
              <a:effectLst/>
              <a:latin typeface="Calibri" panose="020F0502020204030204" pitchFamily="34" charset="0"/>
              <a:cs typeface="Calibri" panose="020F0502020204030204" pitchFamily="34" charset="0"/>
            </a:endParaRPr>
          </a:p>
          <a:p>
            <a:endParaRPr lang="en-GB" sz="2400" dirty="0">
              <a:solidFill>
                <a:srgbClr val="0D0D0D"/>
              </a:solidFill>
              <a:latin typeface="Calibri" panose="020F0502020204030204" pitchFamily="34" charset="0"/>
              <a:cs typeface="Calibri" panose="020F0502020204030204" pitchFamily="34" charset="0"/>
            </a:endParaRPr>
          </a:p>
          <a:p>
            <a:endParaRPr lang="en-GB" sz="2400" b="0" i="0" u="none" strike="noStrike" dirty="0">
              <a:solidFill>
                <a:srgbClr val="0D0D0D"/>
              </a:solidFill>
              <a:effectLst/>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2400" b="0" i="0" u="none" strike="noStrike" dirty="0">
                <a:solidFill>
                  <a:srgbClr val="0D0D0D"/>
                </a:solidFill>
                <a:effectLst/>
                <a:latin typeface="Calibri" panose="020F0502020204030204" pitchFamily="34" charset="0"/>
                <a:cs typeface="Calibri" panose="020F0502020204030204" pitchFamily="34" charset="0"/>
              </a:rPr>
              <a:t>Coupling atmosphere and ocean models allowed for the interaction to be simulated.</a:t>
            </a:r>
          </a:p>
          <a:p>
            <a:pPr marL="285750" indent="-285750">
              <a:buFont typeface="Arial" panose="020B0604020202020204" pitchFamily="34" charset="0"/>
              <a:buChar char="•"/>
            </a:pPr>
            <a:r>
              <a:rPr lang="en-GB" sz="2400" b="0" i="0" u="none" strike="noStrike" dirty="0">
                <a:solidFill>
                  <a:srgbClr val="0D0D0D"/>
                </a:solidFill>
                <a:effectLst/>
                <a:latin typeface="Calibri" panose="020F0502020204030204" pitchFamily="34" charset="0"/>
                <a:cs typeface="Calibri" panose="020F0502020204030204" pitchFamily="34" charset="0"/>
              </a:rPr>
              <a:t>These now allow feedback loops between the atmosphere and ocean, such as the influence of ocean currents on atmospheric circulation patterns and vice versa.</a:t>
            </a:r>
          </a:p>
          <a:p>
            <a:pPr marL="285750" indent="-285750">
              <a:buFont typeface="Arial" panose="020B0604020202020204" pitchFamily="34" charset="0"/>
              <a:buChar char="•"/>
            </a:pPr>
            <a:r>
              <a:rPr lang="en-GB" sz="2400" b="0" i="0" u="none" strike="noStrike" dirty="0">
                <a:solidFill>
                  <a:srgbClr val="0D0D0D"/>
                </a:solidFill>
                <a:effectLst/>
                <a:latin typeface="Calibri" panose="020F0502020204030204" pitchFamily="34" charset="0"/>
                <a:cs typeface="Calibri" panose="020F0502020204030204" pitchFamily="34" charset="0"/>
              </a:rPr>
              <a:t>Thus capturing complex interactions and feedback mechanisms.</a:t>
            </a:r>
          </a:p>
          <a:p>
            <a:pPr marL="285750" indent="-285750">
              <a:buFont typeface="Arial" panose="020B0604020202020204" pitchFamily="34" charset="0"/>
              <a:buChar char="•"/>
            </a:pPr>
            <a:r>
              <a:rPr lang="en-GB" sz="2400" b="0" i="0" u="none" strike="noStrike" dirty="0">
                <a:solidFill>
                  <a:srgbClr val="0D0D0D"/>
                </a:solidFill>
                <a:effectLst/>
                <a:latin typeface="Calibri" panose="020F0502020204030204" pitchFamily="34" charset="0"/>
                <a:cs typeface="Calibri" panose="020F0502020204030204" pitchFamily="34" charset="0"/>
              </a:rPr>
              <a:t>Can </a:t>
            </a:r>
            <a:r>
              <a:rPr lang="en-GB" sz="2400" dirty="0">
                <a:solidFill>
                  <a:srgbClr val="0D0D0D"/>
                </a:solidFill>
                <a:latin typeface="Calibri" panose="020F0502020204030204" pitchFamily="34" charset="0"/>
                <a:cs typeface="Calibri" panose="020F0502020204030204" pitchFamily="34" charset="0"/>
              </a:rPr>
              <a:t>capture phenomena such as </a:t>
            </a:r>
            <a:r>
              <a:rPr lang="en-GB" sz="2400" b="0" i="0" u="none" strike="noStrike" dirty="0">
                <a:solidFill>
                  <a:srgbClr val="0D0D0D"/>
                </a:solidFill>
                <a:effectLst/>
                <a:latin typeface="Calibri" panose="020F0502020204030204" pitchFamily="34" charset="0"/>
                <a:cs typeface="Calibri" panose="020F0502020204030204" pitchFamily="34" charset="0"/>
              </a:rPr>
              <a:t>El Niño-Southern Oscillation (ENSO) which are crucial for understanding global climate variability.</a:t>
            </a:r>
          </a:p>
          <a:p>
            <a:pPr marL="285750" indent="-285750">
              <a:buFont typeface="Arial" panose="020B0604020202020204" pitchFamily="34" charset="0"/>
              <a:buChar char="•"/>
            </a:pPr>
            <a:r>
              <a:rPr lang="en-GB" sz="2400" b="0" i="0" u="none" strike="noStrike" dirty="0">
                <a:solidFill>
                  <a:srgbClr val="0D0D0D"/>
                </a:solidFill>
                <a:effectLst/>
                <a:latin typeface="Calibri" panose="020F0502020204030204" pitchFamily="34" charset="0"/>
                <a:cs typeface="Calibri" panose="020F0502020204030204" pitchFamily="34" charset="0"/>
              </a:rPr>
              <a:t>GCMs can now produce more realistic climate projections on both regional and global scales.</a:t>
            </a:r>
          </a:p>
          <a:p>
            <a:r>
              <a:rPr lang="en-GB" u="none" strike="noStrike" dirty="0">
                <a:solidFill>
                  <a:srgbClr val="1B1B1B"/>
                </a:solidFill>
                <a:effectLst/>
                <a:latin typeface="Calibri" panose="020F0502020204030204" pitchFamily="34" charset="0"/>
              </a:rPr>
              <a:t> </a:t>
            </a:r>
            <a:endParaRPr lang="en-GB" dirty="0"/>
          </a:p>
        </p:txBody>
      </p:sp>
      <p:sp>
        <p:nvSpPr>
          <p:cNvPr id="2" name="TextBox 5">
            <a:extLst>
              <a:ext uri="{FF2B5EF4-FFF2-40B4-BE49-F238E27FC236}">
                <a16:creationId xmlns:a16="http://schemas.microsoft.com/office/drawing/2014/main" id="{CA8E1794-854C-6D49-AE62-AF9A28224B9C}"/>
              </a:ext>
            </a:extLst>
          </p:cNvPr>
          <p:cNvSpPr txBox="1"/>
          <p:nvPr/>
        </p:nvSpPr>
        <p:spPr>
          <a:xfrm>
            <a:off x="933138" y="1430679"/>
            <a:ext cx="13847674" cy="859210"/>
          </a:xfrm>
          <a:prstGeom prst="rect">
            <a:avLst/>
          </a:prstGeom>
        </p:spPr>
        <p:txBody>
          <a:bodyPr wrap="square" lIns="0" tIns="0" rIns="0" bIns="0" rtlCol="0" anchor="t">
            <a:spAutoFit/>
          </a:bodyPr>
          <a:lstStyle/>
          <a:p>
            <a:pPr>
              <a:lnSpc>
                <a:spcPts val="6719"/>
              </a:lnSpc>
            </a:pPr>
            <a:r>
              <a:rPr lang="en-US" sz="5599" b="1" i="1" dirty="0">
                <a:solidFill>
                  <a:srgbClr val="46245A"/>
                </a:solidFill>
                <a:latin typeface="DM Sans" pitchFamily="2" charset="0"/>
              </a:rPr>
              <a:t>History of Climate Models – 90s – 00s </a:t>
            </a:r>
            <a:endParaRPr lang="en-US" sz="5599" i="1" dirty="0">
              <a:solidFill>
                <a:srgbClr val="46245A"/>
              </a:solidFill>
              <a:latin typeface="DM Sans" pitchFamily="2" charset="0"/>
            </a:endParaRPr>
          </a:p>
        </p:txBody>
      </p:sp>
    </p:spTree>
    <p:extLst>
      <p:ext uri="{BB962C8B-B14F-4D97-AF65-F5344CB8AC3E}">
        <p14:creationId xmlns:p14="http://schemas.microsoft.com/office/powerpoint/2010/main" val="3818583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Rectangle 3">
            <a:extLst>
              <a:ext uri="{FF2B5EF4-FFF2-40B4-BE49-F238E27FC236}">
                <a16:creationId xmlns:a16="http://schemas.microsoft.com/office/drawing/2014/main" id="{2B83318A-71F4-3ED6-17FB-FBD2D9C5532A}"/>
              </a:ext>
            </a:extLst>
          </p:cNvPr>
          <p:cNvSpPr txBox="1">
            <a:spLocks noChangeArrowheads="1"/>
          </p:cNvSpPr>
          <p:nvPr/>
        </p:nvSpPr>
        <p:spPr>
          <a:xfrm>
            <a:off x="340925" y="3892140"/>
            <a:ext cx="8229600" cy="4525963"/>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r>
              <a:rPr lang="en-GB" altLang="en-US" dirty="0"/>
              <a:t>Coupled GCMs with biogeochemical cycles</a:t>
            </a:r>
            <a:endParaRPr lang="en-US" altLang="en-US" dirty="0"/>
          </a:p>
        </p:txBody>
      </p:sp>
      <p:sp>
        <p:nvSpPr>
          <p:cNvPr id="7" name="Oval 4">
            <a:extLst>
              <a:ext uri="{FF2B5EF4-FFF2-40B4-BE49-F238E27FC236}">
                <a16:creationId xmlns:a16="http://schemas.microsoft.com/office/drawing/2014/main" id="{5BE4FF76-5B8B-B27B-E072-E190623AB0DA}"/>
              </a:ext>
            </a:extLst>
          </p:cNvPr>
          <p:cNvSpPr>
            <a:spLocks noChangeArrowheads="1"/>
          </p:cNvSpPr>
          <p:nvPr/>
        </p:nvSpPr>
        <p:spPr bwMode="auto">
          <a:xfrm>
            <a:off x="3004750" y="7032863"/>
            <a:ext cx="2376487" cy="1152525"/>
          </a:xfrm>
          <a:prstGeom prst="ellipse">
            <a:avLst/>
          </a:prstGeom>
          <a:solidFill>
            <a:srgbClr val="003366">
              <a:alpha val="43137"/>
            </a:srgbClr>
          </a:solidFill>
          <a:ln w="9525">
            <a:solidFill>
              <a:schemeClr val="tx1"/>
            </a:solidFill>
            <a:round/>
            <a:headEnd/>
            <a:tailEnd/>
          </a:ln>
        </p:spPr>
        <p:txBody>
          <a:bodyPr wrap="none" anchor="ct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0"/>
              </a:spcBef>
            </a:pPr>
            <a:r>
              <a:rPr lang="en-GB" altLang="en-US" sz="1800">
                <a:latin typeface="Tahoma" panose="020B0604030504040204" pitchFamily="34" charset="0"/>
              </a:rPr>
              <a:t>Ocean Model</a:t>
            </a:r>
            <a:endParaRPr lang="en-US" altLang="en-US" sz="1800">
              <a:latin typeface="Tahoma" panose="020B0604030504040204" pitchFamily="34" charset="0"/>
            </a:endParaRPr>
          </a:p>
        </p:txBody>
      </p:sp>
      <p:sp>
        <p:nvSpPr>
          <p:cNvPr id="9" name="Oval 5">
            <a:extLst>
              <a:ext uri="{FF2B5EF4-FFF2-40B4-BE49-F238E27FC236}">
                <a16:creationId xmlns:a16="http://schemas.microsoft.com/office/drawing/2014/main" id="{4DA92D89-6110-6950-1D59-3553A89879A3}"/>
              </a:ext>
            </a:extLst>
          </p:cNvPr>
          <p:cNvSpPr>
            <a:spLocks noChangeArrowheads="1"/>
          </p:cNvSpPr>
          <p:nvPr/>
        </p:nvSpPr>
        <p:spPr bwMode="auto">
          <a:xfrm>
            <a:off x="3004750" y="4584938"/>
            <a:ext cx="2376487" cy="1152525"/>
          </a:xfrm>
          <a:prstGeom prst="ellipse">
            <a:avLst/>
          </a:prstGeom>
          <a:solidFill>
            <a:schemeClr val="folHlink">
              <a:alpha val="32156"/>
            </a:schemeClr>
          </a:solidFill>
          <a:ln w="9525">
            <a:solidFill>
              <a:schemeClr val="tx1"/>
            </a:solidFill>
            <a:round/>
            <a:headEnd/>
            <a:tailEnd/>
          </a:ln>
        </p:spPr>
        <p:txBody>
          <a:bodyPr wrap="none" anchor="ct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0"/>
              </a:spcBef>
            </a:pPr>
            <a:r>
              <a:rPr lang="en-GB" altLang="en-US" sz="1800">
                <a:latin typeface="Tahoma" panose="020B0604030504040204" pitchFamily="34" charset="0"/>
              </a:rPr>
              <a:t>Atmospheric Model</a:t>
            </a:r>
            <a:endParaRPr lang="en-US" altLang="en-US" sz="1800">
              <a:latin typeface="Tahoma" panose="020B0604030504040204" pitchFamily="34" charset="0"/>
            </a:endParaRPr>
          </a:p>
        </p:txBody>
      </p:sp>
      <p:sp>
        <p:nvSpPr>
          <p:cNvPr id="11" name="AutoShape 6">
            <a:extLst>
              <a:ext uri="{FF2B5EF4-FFF2-40B4-BE49-F238E27FC236}">
                <a16:creationId xmlns:a16="http://schemas.microsoft.com/office/drawing/2014/main" id="{24B75A98-8666-07B8-4E8D-277728F697D4}"/>
              </a:ext>
            </a:extLst>
          </p:cNvPr>
          <p:cNvSpPr>
            <a:spLocks noChangeArrowheads="1"/>
          </p:cNvSpPr>
          <p:nvPr/>
        </p:nvSpPr>
        <p:spPr bwMode="auto">
          <a:xfrm>
            <a:off x="3220650" y="6024801"/>
            <a:ext cx="1944687" cy="720725"/>
          </a:xfrm>
          <a:prstGeom prst="roundRect">
            <a:avLst>
              <a:gd name="adj" fmla="val 16667"/>
            </a:avLst>
          </a:prstGeom>
          <a:solidFill>
            <a:schemeClr val="tx2">
              <a:alpha val="14902"/>
            </a:schemeClr>
          </a:solidFill>
          <a:ln w="9525">
            <a:solidFill>
              <a:schemeClr val="tx1"/>
            </a:solidFill>
            <a:round/>
            <a:headEnd/>
            <a:tailEnd/>
          </a:ln>
        </p:spPr>
        <p:txBody>
          <a:bodyPr wrap="none" anchor="ct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0"/>
              </a:spcBef>
            </a:pPr>
            <a:r>
              <a:rPr lang="en-GB" altLang="en-US" sz="1800" dirty="0">
                <a:latin typeface="Tahoma" panose="020B0604030504040204" pitchFamily="34" charset="0"/>
              </a:rPr>
              <a:t>Coupler</a:t>
            </a:r>
            <a:endParaRPr lang="en-US" altLang="en-US" sz="1800" dirty="0">
              <a:latin typeface="Tahoma" panose="020B0604030504040204" pitchFamily="34" charset="0"/>
            </a:endParaRPr>
          </a:p>
        </p:txBody>
      </p:sp>
      <p:sp>
        <p:nvSpPr>
          <p:cNvPr id="12" name="Oval 7">
            <a:extLst>
              <a:ext uri="{FF2B5EF4-FFF2-40B4-BE49-F238E27FC236}">
                <a16:creationId xmlns:a16="http://schemas.microsoft.com/office/drawing/2014/main" id="{6E78840E-529B-37A4-573C-3EFC1A262380}"/>
              </a:ext>
            </a:extLst>
          </p:cNvPr>
          <p:cNvSpPr>
            <a:spLocks noChangeArrowheads="1"/>
          </p:cNvSpPr>
          <p:nvPr/>
        </p:nvSpPr>
        <p:spPr bwMode="auto">
          <a:xfrm>
            <a:off x="340925" y="5808901"/>
            <a:ext cx="2376487" cy="1152525"/>
          </a:xfrm>
          <a:prstGeom prst="ellipse">
            <a:avLst/>
          </a:prstGeom>
          <a:solidFill>
            <a:schemeClr val="tx1">
              <a:alpha val="39999"/>
            </a:schemeClr>
          </a:solidFill>
          <a:ln w="9525">
            <a:solidFill>
              <a:schemeClr val="tx1"/>
            </a:solidFill>
            <a:round/>
            <a:headEnd/>
            <a:tailEnd/>
          </a:ln>
        </p:spPr>
        <p:txBody>
          <a:bodyPr wrap="none" anchor="ct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0"/>
              </a:spcBef>
            </a:pPr>
            <a:r>
              <a:rPr lang="en-GB" altLang="en-US" sz="1800">
                <a:latin typeface="Tahoma" panose="020B0604030504040204" pitchFamily="34" charset="0"/>
              </a:rPr>
              <a:t>Cryosphere Model</a:t>
            </a:r>
            <a:endParaRPr lang="en-US" altLang="en-US" sz="1800">
              <a:latin typeface="Tahoma" panose="020B0604030504040204" pitchFamily="34" charset="0"/>
            </a:endParaRPr>
          </a:p>
        </p:txBody>
      </p:sp>
      <p:sp>
        <p:nvSpPr>
          <p:cNvPr id="13" name="Oval 8">
            <a:extLst>
              <a:ext uri="{FF2B5EF4-FFF2-40B4-BE49-F238E27FC236}">
                <a16:creationId xmlns:a16="http://schemas.microsoft.com/office/drawing/2014/main" id="{2FE21522-0805-D842-1B58-342DD8277B34}"/>
              </a:ext>
            </a:extLst>
          </p:cNvPr>
          <p:cNvSpPr>
            <a:spLocks noChangeArrowheads="1"/>
          </p:cNvSpPr>
          <p:nvPr/>
        </p:nvSpPr>
        <p:spPr bwMode="auto">
          <a:xfrm>
            <a:off x="5886062" y="5016738"/>
            <a:ext cx="2376488" cy="1152525"/>
          </a:xfrm>
          <a:prstGeom prst="ellipse">
            <a:avLst/>
          </a:prstGeom>
          <a:solidFill>
            <a:srgbClr val="CC99FF">
              <a:alpha val="49019"/>
            </a:srgbClr>
          </a:solidFill>
          <a:ln w="9525">
            <a:solidFill>
              <a:schemeClr val="tx1"/>
            </a:solidFill>
            <a:round/>
            <a:headEnd/>
            <a:tailEnd/>
          </a:ln>
        </p:spPr>
        <p:txBody>
          <a:bodyPr wrap="none" anchor="ct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0"/>
              </a:spcBef>
            </a:pPr>
            <a:r>
              <a:rPr lang="en-GB" altLang="en-US" sz="1800" dirty="0">
                <a:latin typeface="Tahoma" panose="020B0604030504040204" pitchFamily="34" charset="0"/>
              </a:rPr>
              <a:t>Chemistry Model</a:t>
            </a:r>
            <a:endParaRPr lang="en-US" altLang="en-US" sz="1800" dirty="0">
              <a:latin typeface="Tahoma" panose="020B0604030504040204" pitchFamily="34" charset="0"/>
            </a:endParaRPr>
          </a:p>
        </p:txBody>
      </p:sp>
      <p:sp>
        <p:nvSpPr>
          <p:cNvPr id="14" name="Oval 9">
            <a:extLst>
              <a:ext uri="{FF2B5EF4-FFF2-40B4-BE49-F238E27FC236}">
                <a16:creationId xmlns:a16="http://schemas.microsoft.com/office/drawing/2014/main" id="{B30ABDB1-9A15-9AE5-21A2-492644143DBB}"/>
              </a:ext>
            </a:extLst>
          </p:cNvPr>
          <p:cNvSpPr>
            <a:spLocks noChangeArrowheads="1"/>
          </p:cNvSpPr>
          <p:nvPr/>
        </p:nvSpPr>
        <p:spPr bwMode="auto">
          <a:xfrm>
            <a:off x="5886062" y="6456601"/>
            <a:ext cx="2376488" cy="1152525"/>
          </a:xfrm>
          <a:prstGeom prst="ellipse">
            <a:avLst/>
          </a:prstGeom>
          <a:solidFill>
            <a:srgbClr val="339966">
              <a:alpha val="54117"/>
            </a:srgbClr>
          </a:solidFill>
          <a:ln w="9525">
            <a:solidFill>
              <a:schemeClr val="tx1"/>
            </a:solidFill>
            <a:round/>
            <a:headEnd/>
            <a:tailEnd/>
          </a:ln>
        </p:spPr>
        <p:txBody>
          <a:bodyPr wrap="none" anchor="ct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0"/>
              </a:spcBef>
            </a:pPr>
            <a:r>
              <a:rPr lang="en-GB" altLang="en-US" sz="1800">
                <a:latin typeface="Tahoma" panose="020B0604030504040204" pitchFamily="34" charset="0"/>
              </a:rPr>
              <a:t>Biosphere Model</a:t>
            </a:r>
            <a:endParaRPr lang="en-US" altLang="en-US" sz="1800">
              <a:latin typeface="Tahoma" panose="020B0604030504040204" pitchFamily="34" charset="0"/>
            </a:endParaRPr>
          </a:p>
        </p:txBody>
      </p:sp>
      <p:cxnSp>
        <p:nvCxnSpPr>
          <p:cNvPr id="15" name="AutoShape 10">
            <a:extLst>
              <a:ext uri="{FF2B5EF4-FFF2-40B4-BE49-F238E27FC236}">
                <a16:creationId xmlns:a16="http://schemas.microsoft.com/office/drawing/2014/main" id="{E612CC71-AADB-D20A-4016-65F49B87A90E}"/>
              </a:ext>
            </a:extLst>
          </p:cNvPr>
          <p:cNvCxnSpPr>
            <a:cxnSpLocks noChangeShapeType="1"/>
            <a:stCxn id="12" idx="6"/>
            <a:endCxn id="11" idx="1"/>
          </p:cNvCxnSpPr>
          <p:nvPr/>
        </p:nvCxnSpPr>
        <p:spPr bwMode="auto">
          <a:xfrm>
            <a:off x="2717412" y="6385163"/>
            <a:ext cx="503238" cy="0"/>
          </a:xfrm>
          <a:prstGeom prst="straightConnector1">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6" name="AutoShape 11">
            <a:extLst>
              <a:ext uri="{FF2B5EF4-FFF2-40B4-BE49-F238E27FC236}">
                <a16:creationId xmlns:a16="http://schemas.microsoft.com/office/drawing/2014/main" id="{4A58530F-30FF-A8AF-3C5A-1D6B2E2B0539}"/>
              </a:ext>
            </a:extLst>
          </p:cNvPr>
          <p:cNvCxnSpPr>
            <a:cxnSpLocks noChangeShapeType="1"/>
            <a:stCxn id="9" idx="4"/>
            <a:endCxn id="11" idx="0"/>
          </p:cNvCxnSpPr>
          <p:nvPr/>
        </p:nvCxnSpPr>
        <p:spPr bwMode="auto">
          <a:xfrm rot="5400000">
            <a:off x="4050118" y="5881132"/>
            <a:ext cx="287338" cy="0"/>
          </a:xfrm>
          <a:prstGeom prst="straightConnector1">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7" name="AutoShape 12">
            <a:extLst>
              <a:ext uri="{FF2B5EF4-FFF2-40B4-BE49-F238E27FC236}">
                <a16:creationId xmlns:a16="http://schemas.microsoft.com/office/drawing/2014/main" id="{00A6EB2C-7AAE-5BD4-EBE0-0F998E124809}"/>
              </a:ext>
            </a:extLst>
          </p:cNvPr>
          <p:cNvCxnSpPr>
            <a:cxnSpLocks noChangeShapeType="1"/>
            <a:stCxn id="7" idx="0"/>
            <a:endCxn id="11" idx="2"/>
          </p:cNvCxnSpPr>
          <p:nvPr/>
        </p:nvCxnSpPr>
        <p:spPr bwMode="auto">
          <a:xfrm rot="-5400000">
            <a:off x="4050118" y="6889195"/>
            <a:ext cx="287337" cy="0"/>
          </a:xfrm>
          <a:prstGeom prst="straightConnector1">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22" name="AutoShape 13">
            <a:extLst>
              <a:ext uri="{FF2B5EF4-FFF2-40B4-BE49-F238E27FC236}">
                <a16:creationId xmlns:a16="http://schemas.microsoft.com/office/drawing/2014/main" id="{A0246B32-59AC-7D87-2F9B-3A6F8041E648}"/>
              </a:ext>
            </a:extLst>
          </p:cNvPr>
          <p:cNvCxnSpPr>
            <a:cxnSpLocks noChangeShapeType="1"/>
            <a:stCxn id="11" idx="3"/>
            <a:endCxn id="14" idx="1"/>
          </p:cNvCxnSpPr>
          <p:nvPr/>
        </p:nvCxnSpPr>
        <p:spPr bwMode="auto">
          <a:xfrm>
            <a:off x="5165337" y="6385163"/>
            <a:ext cx="1068388" cy="239713"/>
          </a:xfrm>
          <a:prstGeom prst="curvedConnector2">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23" name="AutoShape 14">
            <a:extLst>
              <a:ext uri="{FF2B5EF4-FFF2-40B4-BE49-F238E27FC236}">
                <a16:creationId xmlns:a16="http://schemas.microsoft.com/office/drawing/2014/main" id="{620A9BE8-6188-CF5F-0BD4-36B6C90DDAFF}"/>
              </a:ext>
            </a:extLst>
          </p:cNvPr>
          <p:cNvCxnSpPr>
            <a:cxnSpLocks noChangeShapeType="1"/>
            <a:stCxn id="11" idx="3"/>
            <a:endCxn id="13" idx="3"/>
          </p:cNvCxnSpPr>
          <p:nvPr/>
        </p:nvCxnSpPr>
        <p:spPr bwMode="auto">
          <a:xfrm flipV="1">
            <a:off x="5165337" y="6000988"/>
            <a:ext cx="1068388" cy="384175"/>
          </a:xfrm>
          <a:prstGeom prst="curvedConnector2">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sp>
        <p:nvSpPr>
          <p:cNvPr id="4" name="TextBox 3">
            <a:extLst>
              <a:ext uri="{FF2B5EF4-FFF2-40B4-BE49-F238E27FC236}">
                <a16:creationId xmlns:a16="http://schemas.microsoft.com/office/drawing/2014/main" id="{F4ED6DC5-FB50-3E54-21D3-827E40B19CA4}"/>
              </a:ext>
            </a:extLst>
          </p:cNvPr>
          <p:cNvSpPr txBox="1"/>
          <p:nvPr/>
        </p:nvSpPr>
        <p:spPr>
          <a:xfrm>
            <a:off x="8262550" y="2638255"/>
            <a:ext cx="10025450" cy="7109639"/>
          </a:xfrm>
          <a:prstGeom prst="rect">
            <a:avLst/>
          </a:prstGeom>
          <a:noFill/>
        </p:spPr>
        <p:txBody>
          <a:bodyPr wrap="square">
            <a:spAutoFit/>
          </a:bodyPr>
          <a:lstStyle/>
          <a:p>
            <a:pPr algn="l">
              <a:buFont typeface="+mj-lt"/>
              <a:buAutoNum type="arabicPeriod"/>
            </a:pPr>
            <a:r>
              <a:rPr lang="en-GB" sz="2400" b="1" u="none" strike="noStrike" dirty="0">
                <a:solidFill>
                  <a:srgbClr val="0D0D0D"/>
                </a:solidFill>
                <a:effectLst/>
                <a:latin typeface="Calibri" panose="020F0502020204030204" pitchFamily="34" charset="0"/>
              </a:rPr>
              <a:t>Biosphere Model Integration:</a:t>
            </a:r>
          </a:p>
          <a:p>
            <a:pPr marL="800100" lvl="1" indent="-342900" algn="l">
              <a:buFont typeface="Arial" panose="020B0604020202020204" pitchFamily="34" charset="0"/>
              <a:buChar char="•"/>
            </a:pPr>
            <a:r>
              <a:rPr lang="en-GB" sz="2400" dirty="0">
                <a:solidFill>
                  <a:srgbClr val="0D0D0D"/>
                </a:solidFill>
                <a:latin typeface="Calibri" panose="020F0502020204030204" pitchFamily="34" charset="0"/>
              </a:rPr>
              <a:t>T</a:t>
            </a:r>
            <a:r>
              <a:rPr lang="en-GB" sz="2400" u="none" strike="noStrike" dirty="0">
                <a:solidFill>
                  <a:srgbClr val="0D0D0D"/>
                </a:solidFill>
                <a:effectLst/>
                <a:latin typeface="Calibri" panose="020F0502020204030204" pitchFamily="34" charset="0"/>
              </a:rPr>
              <a:t>errestrial vegetation, ecosystems, and biogeochemical cycles.</a:t>
            </a:r>
          </a:p>
          <a:p>
            <a:pPr marL="800100" lvl="1" indent="-342900" algn="l">
              <a:buFont typeface="Arial" panose="020B0604020202020204" pitchFamily="34" charset="0"/>
              <a:buChar char="•"/>
            </a:pPr>
            <a:r>
              <a:rPr lang="en-GB" sz="2400" u="none" strike="noStrike" dirty="0">
                <a:solidFill>
                  <a:srgbClr val="0D0D0D"/>
                </a:solidFill>
                <a:effectLst/>
                <a:latin typeface="Calibri" panose="020F0502020204030204" pitchFamily="34" charset="0"/>
              </a:rPr>
              <a:t>Simulates processes like photosynthesis, respiration, and carbon cycling, </a:t>
            </a:r>
          </a:p>
          <a:p>
            <a:pPr marL="800100" lvl="1" indent="-342900" algn="l">
              <a:buFont typeface="Arial" panose="020B0604020202020204" pitchFamily="34" charset="0"/>
              <a:buChar char="•"/>
            </a:pPr>
            <a:r>
              <a:rPr lang="en-GB" sz="2400" u="none" strike="noStrike" dirty="0">
                <a:solidFill>
                  <a:srgbClr val="0D0D0D"/>
                </a:solidFill>
                <a:effectLst/>
                <a:latin typeface="Calibri" panose="020F0502020204030204" pitchFamily="34" charset="0"/>
              </a:rPr>
              <a:t>Enables assessment of land use changes, deforestation, and vegetation</a:t>
            </a:r>
          </a:p>
          <a:p>
            <a:pPr marL="742950" lvl="1" indent="-285750" algn="l">
              <a:buFont typeface="+mj-lt"/>
              <a:buAutoNum type="arabicPeriod"/>
            </a:pPr>
            <a:endParaRPr lang="en-GB" sz="2400" dirty="0">
              <a:solidFill>
                <a:srgbClr val="0D0D0D"/>
              </a:solidFill>
              <a:latin typeface="Calibri" panose="020F0502020204030204" pitchFamily="34" charset="0"/>
            </a:endParaRPr>
          </a:p>
          <a:p>
            <a:pPr marL="285750" indent="-285750">
              <a:buFont typeface="+mj-lt"/>
              <a:buAutoNum type="arabicPeriod"/>
            </a:pPr>
            <a:r>
              <a:rPr lang="en-GB" sz="2400" b="1" u="none" strike="noStrike" dirty="0">
                <a:solidFill>
                  <a:srgbClr val="0D0D0D"/>
                </a:solidFill>
                <a:effectLst/>
                <a:latin typeface="Calibri" panose="020F0502020204030204" pitchFamily="34" charset="0"/>
              </a:rPr>
              <a:t>Chemistry Model:</a:t>
            </a:r>
          </a:p>
          <a:p>
            <a:pPr marL="800100" lvl="1" indent="-342900" algn="l">
              <a:buFont typeface="Arial" panose="020B0604020202020204" pitchFamily="34" charset="0"/>
              <a:buChar char="•"/>
            </a:pPr>
            <a:r>
              <a:rPr lang="en-GB" sz="2400" dirty="0">
                <a:solidFill>
                  <a:srgbClr val="0D0D0D"/>
                </a:solidFill>
                <a:latin typeface="Calibri" panose="020F0502020204030204" pitchFamily="34" charset="0"/>
              </a:rPr>
              <a:t>S</a:t>
            </a:r>
            <a:r>
              <a:rPr lang="en-GB" sz="2400" u="none" strike="noStrike" dirty="0">
                <a:solidFill>
                  <a:srgbClr val="0D0D0D"/>
                </a:solidFill>
                <a:effectLst/>
                <a:latin typeface="Calibri" panose="020F0502020204030204" pitchFamily="34" charset="0"/>
              </a:rPr>
              <a:t>imulate interactions of atmospheric gases and aerosols, including pollutants and greenhouse gases.</a:t>
            </a:r>
          </a:p>
          <a:p>
            <a:pPr marL="800100" lvl="1" indent="-342900" algn="l">
              <a:buFont typeface="Arial" panose="020B0604020202020204" pitchFamily="34" charset="0"/>
              <a:buChar char="•"/>
            </a:pPr>
            <a:r>
              <a:rPr lang="en-GB" sz="2400" u="none" strike="noStrike" dirty="0">
                <a:solidFill>
                  <a:srgbClr val="0D0D0D"/>
                </a:solidFill>
                <a:effectLst/>
                <a:latin typeface="Calibri" panose="020F0502020204030204" pitchFamily="34" charset="0"/>
              </a:rPr>
              <a:t>Predicts atmospheric composition changes like ozone depletion, aerosol formation, and air quality</a:t>
            </a:r>
          </a:p>
          <a:p>
            <a:pPr marL="800100" lvl="1" indent="-342900" algn="l">
              <a:buFont typeface="Arial" panose="020B0604020202020204" pitchFamily="34" charset="0"/>
              <a:buChar char="•"/>
            </a:pPr>
            <a:r>
              <a:rPr lang="en-GB" sz="2400" u="none" strike="noStrike" dirty="0">
                <a:solidFill>
                  <a:srgbClr val="0D0D0D"/>
                </a:solidFill>
                <a:effectLst/>
                <a:latin typeface="Calibri" panose="020F0502020204030204" pitchFamily="34" charset="0"/>
              </a:rPr>
              <a:t>Enhances understanding of atmospheric processes, their climate impacts, and the effectiveness of mitigation strategies targeting pollutant emissions.</a:t>
            </a:r>
          </a:p>
          <a:p>
            <a:pPr lvl="1" algn="l"/>
            <a:endParaRPr lang="en-GB" sz="2400" u="none" strike="noStrike" dirty="0">
              <a:solidFill>
                <a:srgbClr val="0D0D0D"/>
              </a:solidFill>
              <a:effectLst/>
              <a:latin typeface="Calibri" panose="020F0502020204030204" pitchFamily="34" charset="0"/>
            </a:endParaRPr>
          </a:p>
          <a:p>
            <a:pPr algn="l">
              <a:buFont typeface="+mj-lt"/>
              <a:buAutoNum type="arabicPeriod"/>
            </a:pPr>
            <a:r>
              <a:rPr lang="en-GB" sz="2400" b="1" u="none" strike="noStrike" dirty="0">
                <a:solidFill>
                  <a:srgbClr val="0D0D0D"/>
                </a:solidFill>
                <a:effectLst/>
                <a:latin typeface="Calibri" panose="020F0502020204030204" pitchFamily="34" charset="0"/>
              </a:rPr>
              <a:t>Cryosphere Model Incorporation:</a:t>
            </a:r>
          </a:p>
          <a:p>
            <a:pPr marL="800100" lvl="1" indent="-342900" algn="l">
              <a:buFont typeface="Arial" panose="020B0604020202020204" pitchFamily="34" charset="0"/>
              <a:buChar char="•"/>
            </a:pPr>
            <a:r>
              <a:rPr lang="en-GB" sz="2400" u="none" strike="noStrike" dirty="0">
                <a:solidFill>
                  <a:srgbClr val="0D0D0D"/>
                </a:solidFill>
                <a:effectLst/>
                <a:latin typeface="Calibri" panose="020F0502020204030204" pitchFamily="34" charset="0"/>
              </a:rPr>
              <a:t>Cryosphere models represent ice sheets, glaciers, snow cover, and permafrost dynamics within GCMs.</a:t>
            </a:r>
          </a:p>
          <a:p>
            <a:pPr marL="800100" lvl="1" indent="-342900" algn="l">
              <a:buFont typeface="Arial" panose="020B0604020202020204" pitchFamily="34" charset="0"/>
              <a:buChar char="•"/>
            </a:pPr>
            <a:r>
              <a:rPr lang="en-GB" sz="2400" u="none" strike="noStrike" dirty="0">
                <a:solidFill>
                  <a:srgbClr val="0D0D0D"/>
                </a:solidFill>
                <a:effectLst/>
                <a:latin typeface="Calibri" panose="020F0502020204030204" pitchFamily="34" charset="0"/>
              </a:rPr>
              <a:t>Captures feedback mechanisms like ice-albedo, sea level, and climate</a:t>
            </a:r>
          </a:p>
          <a:p>
            <a:pPr marL="800100" lvl="1" indent="-342900" algn="l">
              <a:buFont typeface="Arial" panose="020B0604020202020204" pitchFamily="34" charset="0"/>
              <a:buChar char="•"/>
            </a:pPr>
            <a:r>
              <a:rPr lang="en-GB" sz="2400" u="none" strike="noStrike" dirty="0">
                <a:solidFill>
                  <a:srgbClr val="0D0D0D"/>
                </a:solidFill>
                <a:effectLst/>
                <a:latin typeface="Calibri" panose="020F0502020204030204" pitchFamily="34" charset="0"/>
              </a:rPr>
              <a:t>Improves prediction of ice mass balance, sea ice extent</a:t>
            </a:r>
          </a:p>
        </p:txBody>
      </p:sp>
      <p:sp>
        <p:nvSpPr>
          <p:cNvPr id="3" name="TextBox 5">
            <a:extLst>
              <a:ext uri="{FF2B5EF4-FFF2-40B4-BE49-F238E27FC236}">
                <a16:creationId xmlns:a16="http://schemas.microsoft.com/office/drawing/2014/main" id="{DC530B1C-B24D-19CB-3FBB-537C6E9FC61A}"/>
              </a:ext>
            </a:extLst>
          </p:cNvPr>
          <p:cNvSpPr txBox="1"/>
          <p:nvPr/>
        </p:nvSpPr>
        <p:spPr>
          <a:xfrm>
            <a:off x="933138" y="1430679"/>
            <a:ext cx="13847674" cy="859210"/>
          </a:xfrm>
          <a:prstGeom prst="rect">
            <a:avLst/>
          </a:prstGeom>
        </p:spPr>
        <p:txBody>
          <a:bodyPr wrap="square" lIns="0" tIns="0" rIns="0" bIns="0" rtlCol="0" anchor="t">
            <a:spAutoFit/>
          </a:bodyPr>
          <a:lstStyle/>
          <a:p>
            <a:pPr>
              <a:lnSpc>
                <a:spcPts val="6719"/>
              </a:lnSpc>
            </a:pPr>
            <a:r>
              <a:rPr lang="en-US" sz="5599" b="1" i="1" dirty="0">
                <a:solidFill>
                  <a:srgbClr val="46245A"/>
                </a:solidFill>
                <a:latin typeface="DM Sans" pitchFamily="2" charset="0"/>
              </a:rPr>
              <a:t>History of Climate Models 2010s + </a:t>
            </a:r>
            <a:endParaRPr lang="en-US" sz="5599" i="1" dirty="0">
              <a:solidFill>
                <a:srgbClr val="46245A"/>
              </a:solidFill>
              <a:latin typeface="DM Sans" pitchFamily="2" charset="0"/>
            </a:endParaRPr>
          </a:p>
        </p:txBody>
      </p:sp>
    </p:spTree>
    <p:extLst>
      <p:ext uri="{BB962C8B-B14F-4D97-AF65-F5344CB8AC3E}">
        <p14:creationId xmlns:p14="http://schemas.microsoft.com/office/powerpoint/2010/main" val="1396601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Rectangle 3">
            <a:extLst>
              <a:ext uri="{FF2B5EF4-FFF2-40B4-BE49-F238E27FC236}">
                <a16:creationId xmlns:a16="http://schemas.microsoft.com/office/drawing/2014/main" id="{2B83318A-71F4-3ED6-17FB-FBD2D9C5532A}"/>
              </a:ext>
            </a:extLst>
          </p:cNvPr>
          <p:cNvSpPr txBox="1">
            <a:spLocks noChangeArrowheads="1"/>
          </p:cNvSpPr>
          <p:nvPr/>
        </p:nvSpPr>
        <p:spPr>
          <a:xfrm>
            <a:off x="962027" y="2736202"/>
            <a:ext cx="8229600" cy="4525963"/>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0" indent="0">
              <a:buNone/>
            </a:pPr>
            <a:endParaRPr lang="en-US" altLang="en-US" dirty="0"/>
          </a:p>
        </p:txBody>
      </p:sp>
      <p:sp>
        <p:nvSpPr>
          <p:cNvPr id="4" name="TextBox 3">
            <a:extLst>
              <a:ext uri="{FF2B5EF4-FFF2-40B4-BE49-F238E27FC236}">
                <a16:creationId xmlns:a16="http://schemas.microsoft.com/office/drawing/2014/main" id="{F4ED6DC5-FB50-3E54-21D3-827E40B19CA4}"/>
              </a:ext>
            </a:extLst>
          </p:cNvPr>
          <p:cNvSpPr txBox="1"/>
          <p:nvPr/>
        </p:nvSpPr>
        <p:spPr>
          <a:xfrm>
            <a:off x="9191627" y="4169962"/>
            <a:ext cx="8398780" cy="3970318"/>
          </a:xfrm>
          <a:prstGeom prst="rect">
            <a:avLst/>
          </a:prstGeom>
          <a:noFill/>
        </p:spPr>
        <p:txBody>
          <a:bodyPr wrap="square">
            <a:spAutoFit/>
          </a:bodyPr>
          <a:lstStyle/>
          <a:p>
            <a:pPr algn="l"/>
            <a:r>
              <a:rPr lang="en-GB" sz="2800" b="1" u="none" strike="noStrike" dirty="0">
                <a:solidFill>
                  <a:srgbClr val="0D0D0D"/>
                </a:solidFill>
                <a:effectLst/>
                <a:latin typeface="Calibri" panose="020F0502020204030204" pitchFamily="34" charset="0"/>
              </a:rPr>
              <a:t>Benefits of coupling:</a:t>
            </a:r>
          </a:p>
          <a:p>
            <a:pPr marL="285750" indent="-285750" algn="l">
              <a:buFont typeface="Arial" panose="020B0604020202020204" pitchFamily="34" charset="0"/>
              <a:buChar char="•"/>
            </a:pPr>
            <a:r>
              <a:rPr lang="en-GB" sz="2800" u="none" strike="noStrike" dirty="0">
                <a:solidFill>
                  <a:srgbClr val="0D0D0D"/>
                </a:solidFill>
                <a:effectLst/>
                <a:latin typeface="Calibri" panose="020F0502020204030204" pitchFamily="34" charset="0"/>
              </a:rPr>
              <a:t>Comprehensive representation of Earth's interconnected systems.</a:t>
            </a:r>
          </a:p>
          <a:p>
            <a:pPr marL="285750" indent="-285750" algn="l">
              <a:buFont typeface="Arial" panose="020B0604020202020204" pitchFamily="34" charset="0"/>
              <a:buChar char="•"/>
            </a:pPr>
            <a:r>
              <a:rPr lang="en-GB" sz="2800" u="none" strike="noStrike" dirty="0">
                <a:solidFill>
                  <a:srgbClr val="0D0D0D"/>
                </a:solidFill>
                <a:effectLst/>
                <a:latin typeface="Calibri" panose="020F0502020204030204" pitchFamily="34" charset="0"/>
              </a:rPr>
              <a:t>Facilitates a deeper understanding of climate change impacts.</a:t>
            </a:r>
          </a:p>
          <a:p>
            <a:pPr marL="285750" indent="-285750" algn="l">
              <a:buFont typeface="Arial" panose="020B0604020202020204" pitchFamily="34" charset="0"/>
              <a:buChar char="•"/>
            </a:pPr>
            <a:r>
              <a:rPr lang="en-GB" sz="2800" u="none" strike="noStrike" dirty="0">
                <a:solidFill>
                  <a:srgbClr val="0D0D0D"/>
                </a:solidFill>
                <a:effectLst/>
                <a:latin typeface="Calibri" panose="020F0502020204030204" pitchFamily="34" charset="0"/>
              </a:rPr>
              <a:t>Informs decision-making for adaptation and mitigation efforts.</a:t>
            </a:r>
          </a:p>
          <a:p>
            <a:pPr marL="285750" indent="-285750" algn="l">
              <a:buFont typeface="Arial" panose="020B0604020202020204" pitchFamily="34" charset="0"/>
              <a:buChar char="•"/>
            </a:pPr>
            <a:r>
              <a:rPr lang="en-GB" sz="2800" u="none" strike="noStrike" dirty="0">
                <a:solidFill>
                  <a:srgbClr val="0D0D0D"/>
                </a:solidFill>
                <a:effectLst/>
                <a:latin typeface="Calibri" panose="020F0502020204030204" pitchFamily="34" charset="0"/>
              </a:rPr>
              <a:t>Enables more accurate climate projections, aiding in policy formulation and resource allocation.</a:t>
            </a:r>
          </a:p>
        </p:txBody>
      </p:sp>
      <p:sp>
        <p:nvSpPr>
          <p:cNvPr id="3" name="Rectangle 3">
            <a:extLst>
              <a:ext uri="{FF2B5EF4-FFF2-40B4-BE49-F238E27FC236}">
                <a16:creationId xmlns:a16="http://schemas.microsoft.com/office/drawing/2014/main" id="{18D6937E-34DB-FA2E-D354-C05BC44DAA8C}"/>
              </a:ext>
            </a:extLst>
          </p:cNvPr>
          <p:cNvSpPr txBox="1">
            <a:spLocks noChangeArrowheads="1"/>
          </p:cNvSpPr>
          <p:nvPr/>
        </p:nvSpPr>
        <p:spPr>
          <a:xfrm>
            <a:off x="340925" y="3892140"/>
            <a:ext cx="8229600" cy="4525963"/>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r>
              <a:rPr lang="en-GB" altLang="en-US" dirty="0"/>
              <a:t>Coupled GCMs with biogeochemical cycles</a:t>
            </a:r>
            <a:endParaRPr lang="en-US" altLang="en-US" dirty="0"/>
          </a:p>
        </p:txBody>
      </p:sp>
      <p:sp>
        <p:nvSpPr>
          <p:cNvPr id="6" name="Oval 4">
            <a:extLst>
              <a:ext uri="{FF2B5EF4-FFF2-40B4-BE49-F238E27FC236}">
                <a16:creationId xmlns:a16="http://schemas.microsoft.com/office/drawing/2014/main" id="{75151308-7B48-25B9-23BE-DA1ADE7E7543}"/>
              </a:ext>
            </a:extLst>
          </p:cNvPr>
          <p:cNvSpPr>
            <a:spLocks noChangeArrowheads="1"/>
          </p:cNvSpPr>
          <p:nvPr/>
        </p:nvSpPr>
        <p:spPr bwMode="auto">
          <a:xfrm>
            <a:off x="3004750" y="7032863"/>
            <a:ext cx="2376487" cy="1152525"/>
          </a:xfrm>
          <a:prstGeom prst="ellipse">
            <a:avLst/>
          </a:prstGeom>
          <a:solidFill>
            <a:srgbClr val="003366">
              <a:alpha val="43137"/>
            </a:srgbClr>
          </a:solidFill>
          <a:ln w="9525">
            <a:solidFill>
              <a:schemeClr val="tx1"/>
            </a:solidFill>
            <a:round/>
            <a:headEnd/>
            <a:tailEnd/>
          </a:ln>
        </p:spPr>
        <p:txBody>
          <a:bodyPr wrap="none" anchor="ct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0"/>
              </a:spcBef>
            </a:pPr>
            <a:r>
              <a:rPr lang="en-GB" altLang="en-US" sz="1800">
                <a:latin typeface="Tahoma" panose="020B0604030504040204" pitchFamily="34" charset="0"/>
              </a:rPr>
              <a:t>Ocean Model</a:t>
            </a:r>
            <a:endParaRPr lang="en-US" altLang="en-US" sz="1800">
              <a:latin typeface="Tahoma" panose="020B0604030504040204" pitchFamily="34" charset="0"/>
            </a:endParaRPr>
          </a:p>
        </p:txBody>
      </p:sp>
      <p:sp>
        <p:nvSpPr>
          <p:cNvPr id="8" name="Oval 5">
            <a:extLst>
              <a:ext uri="{FF2B5EF4-FFF2-40B4-BE49-F238E27FC236}">
                <a16:creationId xmlns:a16="http://schemas.microsoft.com/office/drawing/2014/main" id="{D47DE89C-07CE-9490-A54D-22719A7B926C}"/>
              </a:ext>
            </a:extLst>
          </p:cNvPr>
          <p:cNvSpPr>
            <a:spLocks noChangeArrowheads="1"/>
          </p:cNvSpPr>
          <p:nvPr/>
        </p:nvSpPr>
        <p:spPr bwMode="auto">
          <a:xfrm>
            <a:off x="3004750" y="4584938"/>
            <a:ext cx="2376487" cy="1152525"/>
          </a:xfrm>
          <a:prstGeom prst="ellipse">
            <a:avLst/>
          </a:prstGeom>
          <a:solidFill>
            <a:schemeClr val="folHlink">
              <a:alpha val="32156"/>
            </a:schemeClr>
          </a:solidFill>
          <a:ln w="9525">
            <a:solidFill>
              <a:schemeClr val="tx1"/>
            </a:solidFill>
            <a:round/>
            <a:headEnd/>
            <a:tailEnd/>
          </a:ln>
        </p:spPr>
        <p:txBody>
          <a:bodyPr wrap="none" anchor="ct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0"/>
              </a:spcBef>
            </a:pPr>
            <a:r>
              <a:rPr lang="en-GB" altLang="en-US" sz="1800">
                <a:latin typeface="Tahoma" panose="020B0604030504040204" pitchFamily="34" charset="0"/>
              </a:rPr>
              <a:t>Atmospheric Model</a:t>
            </a:r>
            <a:endParaRPr lang="en-US" altLang="en-US" sz="1800">
              <a:latin typeface="Tahoma" panose="020B0604030504040204" pitchFamily="34" charset="0"/>
            </a:endParaRPr>
          </a:p>
        </p:txBody>
      </p:sp>
      <p:sp>
        <p:nvSpPr>
          <p:cNvPr id="18" name="AutoShape 6">
            <a:extLst>
              <a:ext uri="{FF2B5EF4-FFF2-40B4-BE49-F238E27FC236}">
                <a16:creationId xmlns:a16="http://schemas.microsoft.com/office/drawing/2014/main" id="{B5C81EF6-B897-E16A-AD44-03BF7C4DD691}"/>
              </a:ext>
            </a:extLst>
          </p:cNvPr>
          <p:cNvSpPr>
            <a:spLocks noChangeArrowheads="1"/>
          </p:cNvSpPr>
          <p:nvPr/>
        </p:nvSpPr>
        <p:spPr bwMode="auto">
          <a:xfrm>
            <a:off x="3220650" y="6024801"/>
            <a:ext cx="1944687" cy="720725"/>
          </a:xfrm>
          <a:prstGeom prst="roundRect">
            <a:avLst>
              <a:gd name="adj" fmla="val 16667"/>
            </a:avLst>
          </a:prstGeom>
          <a:solidFill>
            <a:schemeClr val="tx2">
              <a:alpha val="14902"/>
            </a:schemeClr>
          </a:solidFill>
          <a:ln w="9525">
            <a:solidFill>
              <a:schemeClr val="tx1"/>
            </a:solidFill>
            <a:round/>
            <a:headEnd/>
            <a:tailEnd/>
          </a:ln>
        </p:spPr>
        <p:txBody>
          <a:bodyPr wrap="none" anchor="ct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0"/>
              </a:spcBef>
            </a:pPr>
            <a:r>
              <a:rPr lang="en-GB" altLang="en-US" sz="1800" dirty="0">
                <a:latin typeface="Tahoma" panose="020B0604030504040204" pitchFamily="34" charset="0"/>
              </a:rPr>
              <a:t>Coupler</a:t>
            </a:r>
            <a:endParaRPr lang="en-US" altLang="en-US" sz="1800" dirty="0">
              <a:latin typeface="Tahoma" panose="020B0604030504040204" pitchFamily="34" charset="0"/>
            </a:endParaRPr>
          </a:p>
        </p:txBody>
      </p:sp>
      <p:sp>
        <p:nvSpPr>
          <p:cNvPr id="19" name="Oval 7">
            <a:extLst>
              <a:ext uri="{FF2B5EF4-FFF2-40B4-BE49-F238E27FC236}">
                <a16:creationId xmlns:a16="http://schemas.microsoft.com/office/drawing/2014/main" id="{65B62B17-F35B-51D5-DE74-64F6F672A12F}"/>
              </a:ext>
            </a:extLst>
          </p:cNvPr>
          <p:cNvSpPr>
            <a:spLocks noChangeArrowheads="1"/>
          </p:cNvSpPr>
          <p:nvPr/>
        </p:nvSpPr>
        <p:spPr bwMode="auto">
          <a:xfrm>
            <a:off x="340925" y="5808901"/>
            <a:ext cx="2376487" cy="1152525"/>
          </a:xfrm>
          <a:prstGeom prst="ellipse">
            <a:avLst/>
          </a:prstGeom>
          <a:solidFill>
            <a:schemeClr val="tx1">
              <a:alpha val="39999"/>
            </a:schemeClr>
          </a:solidFill>
          <a:ln w="9525">
            <a:solidFill>
              <a:schemeClr val="tx1"/>
            </a:solidFill>
            <a:round/>
            <a:headEnd/>
            <a:tailEnd/>
          </a:ln>
        </p:spPr>
        <p:txBody>
          <a:bodyPr wrap="none" anchor="ct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0"/>
              </a:spcBef>
            </a:pPr>
            <a:r>
              <a:rPr lang="en-GB" altLang="en-US" sz="1800">
                <a:latin typeface="Tahoma" panose="020B0604030504040204" pitchFamily="34" charset="0"/>
              </a:rPr>
              <a:t>Cryosphere Model</a:t>
            </a:r>
            <a:endParaRPr lang="en-US" altLang="en-US" sz="1800">
              <a:latin typeface="Tahoma" panose="020B0604030504040204" pitchFamily="34" charset="0"/>
            </a:endParaRPr>
          </a:p>
        </p:txBody>
      </p:sp>
      <p:sp>
        <p:nvSpPr>
          <p:cNvPr id="20" name="Oval 8">
            <a:extLst>
              <a:ext uri="{FF2B5EF4-FFF2-40B4-BE49-F238E27FC236}">
                <a16:creationId xmlns:a16="http://schemas.microsoft.com/office/drawing/2014/main" id="{6A97165F-645B-F044-B039-41DAD576A37C}"/>
              </a:ext>
            </a:extLst>
          </p:cNvPr>
          <p:cNvSpPr>
            <a:spLocks noChangeArrowheads="1"/>
          </p:cNvSpPr>
          <p:nvPr/>
        </p:nvSpPr>
        <p:spPr bwMode="auto">
          <a:xfrm>
            <a:off x="5886062" y="5016738"/>
            <a:ext cx="2376488" cy="1152525"/>
          </a:xfrm>
          <a:prstGeom prst="ellipse">
            <a:avLst/>
          </a:prstGeom>
          <a:solidFill>
            <a:srgbClr val="CC99FF">
              <a:alpha val="49019"/>
            </a:srgbClr>
          </a:solidFill>
          <a:ln w="9525">
            <a:solidFill>
              <a:schemeClr val="tx1"/>
            </a:solidFill>
            <a:round/>
            <a:headEnd/>
            <a:tailEnd/>
          </a:ln>
        </p:spPr>
        <p:txBody>
          <a:bodyPr wrap="none" anchor="ct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0"/>
              </a:spcBef>
            </a:pPr>
            <a:r>
              <a:rPr lang="en-GB" altLang="en-US" sz="1800" dirty="0">
                <a:latin typeface="Tahoma" panose="020B0604030504040204" pitchFamily="34" charset="0"/>
              </a:rPr>
              <a:t>Chemistry Model</a:t>
            </a:r>
            <a:endParaRPr lang="en-US" altLang="en-US" sz="1800" dirty="0">
              <a:latin typeface="Tahoma" panose="020B0604030504040204" pitchFamily="34" charset="0"/>
            </a:endParaRPr>
          </a:p>
        </p:txBody>
      </p:sp>
      <p:sp>
        <p:nvSpPr>
          <p:cNvPr id="21" name="Oval 9">
            <a:extLst>
              <a:ext uri="{FF2B5EF4-FFF2-40B4-BE49-F238E27FC236}">
                <a16:creationId xmlns:a16="http://schemas.microsoft.com/office/drawing/2014/main" id="{7A011DBA-2387-0BDA-1CEA-0DFC89E4AD45}"/>
              </a:ext>
            </a:extLst>
          </p:cNvPr>
          <p:cNvSpPr>
            <a:spLocks noChangeArrowheads="1"/>
          </p:cNvSpPr>
          <p:nvPr/>
        </p:nvSpPr>
        <p:spPr bwMode="auto">
          <a:xfrm>
            <a:off x="5886062" y="6456601"/>
            <a:ext cx="2376488" cy="1152525"/>
          </a:xfrm>
          <a:prstGeom prst="ellipse">
            <a:avLst/>
          </a:prstGeom>
          <a:solidFill>
            <a:srgbClr val="339966">
              <a:alpha val="54117"/>
            </a:srgbClr>
          </a:solidFill>
          <a:ln w="9525">
            <a:solidFill>
              <a:schemeClr val="tx1"/>
            </a:solidFill>
            <a:round/>
            <a:headEnd/>
            <a:tailEnd/>
          </a:ln>
        </p:spPr>
        <p:txBody>
          <a:bodyPr wrap="none" anchor="ct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0"/>
              </a:spcBef>
            </a:pPr>
            <a:r>
              <a:rPr lang="en-GB" altLang="en-US" sz="1800">
                <a:latin typeface="Tahoma" panose="020B0604030504040204" pitchFamily="34" charset="0"/>
              </a:rPr>
              <a:t>Biosphere Model</a:t>
            </a:r>
            <a:endParaRPr lang="en-US" altLang="en-US" sz="1800">
              <a:latin typeface="Tahoma" panose="020B0604030504040204" pitchFamily="34" charset="0"/>
            </a:endParaRPr>
          </a:p>
        </p:txBody>
      </p:sp>
      <p:cxnSp>
        <p:nvCxnSpPr>
          <p:cNvPr id="24" name="AutoShape 10">
            <a:extLst>
              <a:ext uri="{FF2B5EF4-FFF2-40B4-BE49-F238E27FC236}">
                <a16:creationId xmlns:a16="http://schemas.microsoft.com/office/drawing/2014/main" id="{522780B8-BB9B-C5A6-4752-66A5D0E7A954}"/>
              </a:ext>
            </a:extLst>
          </p:cNvPr>
          <p:cNvCxnSpPr>
            <a:cxnSpLocks noChangeShapeType="1"/>
            <a:stCxn id="19" idx="6"/>
            <a:endCxn id="18" idx="1"/>
          </p:cNvCxnSpPr>
          <p:nvPr/>
        </p:nvCxnSpPr>
        <p:spPr bwMode="auto">
          <a:xfrm>
            <a:off x="2717412" y="6385163"/>
            <a:ext cx="503238" cy="0"/>
          </a:xfrm>
          <a:prstGeom prst="straightConnector1">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25" name="AutoShape 11">
            <a:extLst>
              <a:ext uri="{FF2B5EF4-FFF2-40B4-BE49-F238E27FC236}">
                <a16:creationId xmlns:a16="http://schemas.microsoft.com/office/drawing/2014/main" id="{D579DB7E-63D2-C81C-32D4-B387535BF807}"/>
              </a:ext>
            </a:extLst>
          </p:cNvPr>
          <p:cNvCxnSpPr>
            <a:cxnSpLocks noChangeShapeType="1"/>
            <a:stCxn id="8" idx="4"/>
            <a:endCxn id="18" idx="0"/>
          </p:cNvCxnSpPr>
          <p:nvPr/>
        </p:nvCxnSpPr>
        <p:spPr bwMode="auto">
          <a:xfrm rot="5400000">
            <a:off x="4050118" y="5881132"/>
            <a:ext cx="287338" cy="0"/>
          </a:xfrm>
          <a:prstGeom prst="straightConnector1">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26" name="AutoShape 12">
            <a:extLst>
              <a:ext uri="{FF2B5EF4-FFF2-40B4-BE49-F238E27FC236}">
                <a16:creationId xmlns:a16="http://schemas.microsoft.com/office/drawing/2014/main" id="{FAD3D68A-8305-D5EA-FE02-6242749CCC29}"/>
              </a:ext>
            </a:extLst>
          </p:cNvPr>
          <p:cNvCxnSpPr>
            <a:cxnSpLocks noChangeShapeType="1"/>
            <a:stCxn id="6" idx="0"/>
            <a:endCxn id="18" idx="2"/>
          </p:cNvCxnSpPr>
          <p:nvPr/>
        </p:nvCxnSpPr>
        <p:spPr bwMode="auto">
          <a:xfrm rot="-5400000">
            <a:off x="4050118" y="6889195"/>
            <a:ext cx="287337" cy="0"/>
          </a:xfrm>
          <a:prstGeom prst="straightConnector1">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27" name="AutoShape 13">
            <a:extLst>
              <a:ext uri="{FF2B5EF4-FFF2-40B4-BE49-F238E27FC236}">
                <a16:creationId xmlns:a16="http://schemas.microsoft.com/office/drawing/2014/main" id="{6F41BDC3-2389-4B90-6FE0-D481297DC47D}"/>
              </a:ext>
            </a:extLst>
          </p:cNvPr>
          <p:cNvCxnSpPr>
            <a:cxnSpLocks noChangeShapeType="1"/>
            <a:stCxn id="18" idx="3"/>
            <a:endCxn id="21" idx="1"/>
          </p:cNvCxnSpPr>
          <p:nvPr/>
        </p:nvCxnSpPr>
        <p:spPr bwMode="auto">
          <a:xfrm>
            <a:off x="5165337" y="6385163"/>
            <a:ext cx="1068388" cy="239713"/>
          </a:xfrm>
          <a:prstGeom prst="curvedConnector2">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28" name="AutoShape 14">
            <a:extLst>
              <a:ext uri="{FF2B5EF4-FFF2-40B4-BE49-F238E27FC236}">
                <a16:creationId xmlns:a16="http://schemas.microsoft.com/office/drawing/2014/main" id="{A5C05075-570B-C120-1D98-D167D6F9770E}"/>
              </a:ext>
            </a:extLst>
          </p:cNvPr>
          <p:cNvCxnSpPr>
            <a:cxnSpLocks noChangeShapeType="1"/>
            <a:stCxn id="18" idx="3"/>
            <a:endCxn id="20" idx="3"/>
          </p:cNvCxnSpPr>
          <p:nvPr/>
        </p:nvCxnSpPr>
        <p:spPr bwMode="auto">
          <a:xfrm flipV="1">
            <a:off x="5165337" y="6000988"/>
            <a:ext cx="1068388" cy="384175"/>
          </a:xfrm>
          <a:prstGeom prst="curvedConnector2">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sp>
        <p:nvSpPr>
          <p:cNvPr id="7" name="TextBox 5">
            <a:extLst>
              <a:ext uri="{FF2B5EF4-FFF2-40B4-BE49-F238E27FC236}">
                <a16:creationId xmlns:a16="http://schemas.microsoft.com/office/drawing/2014/main" id="{75F1594B-E0E2-A75D-C89F-DDE700767048}"/>
              </a:ext>
            </a:extLst>
          </p:cNvPr>
          <p:cNvSpPr txBox="1"/>
          <p:nvPr/>
        </p:nvSpPr>
        <p:spPr>
          <a:xfrm>
            <a:off x="933138" y="1430679"/>
            <a:ext cx="13847674" cy="859210"/>
          </a:xfrm>
          <a:prstGeom prst="rect">
            <a:avLst/>
          </a:prstGeom>
        </p:spPr>
        <p:txBody>
          <a:bodyPr wrap="square" lIns="0" tIns="0" rIns="0" bIns="0" rtlCol="0" anchor="t">
            <a:spAutoFit/>
          </a:bodyPr>
          <a:lstStyle/>
          <a:p>
            <a:pPr>
              <a:lnSpc>
                <a:spcPts val="6719"/>
              </a:lnSpc>
            </a:pPr>
            <a:r>
              <a:rPr lang="en-US" sz="5599" b="1" i="1" dirty="0">
                <a:solidFill>
                  <a:srgbClr val="46245A"/>
                </a:solidFill>
                <a:latin typeface="DM Sans" pitchFamily="2" charset="0"/>
              </a:rPr>
              <a:t>History of Climate Models 2010s + </a:t>
            </a:r>
            <a:endParaRPr lang="en-US" sz="5599" i="1" dirty="0">
              <a:solidFill>
                <a:srgbClr val="46245A"/>
              </a:solidFill>
              <a:latin typeface="DM Sans" pitchFamily="2" charset="0"/>
            </a:endParaRPr>
          </a:p>
        </p:txBody>
      </p:sp>
    </p:spTree>
    <p:extLst>
      <p:ext uri="{BB962C8B-B14F-4D97-AF65-F5344CB8AC3E}">
        <p14:creationId xmlns:p14="http://schemas.microsoft.com/office/powerpoint/2010/main" val="29428828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3871B-E94F-F3B0-6693-DC3CBA57AE4C}"/>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4096B08E-C77B-490E-CB91-38F74A58C653}"/>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C33318AA-C8FE-C52E-9E0D-ED1ABE3A0478}"/>
              </a:ext>
            </a:extLst>
          </p:cNvPr>
          <p:cNvSpPr txBox="1"/>
          <p:nvPr/>
        </p:nvSpPr>
        <p:spPr>
          <a:xfrm>
            <a:off x="584198" y="1591155"/>
            <a:ext cx="11004828" cy="884858"/>
          </a:xfrm>
          <a:prstGeom prst="rect">
            <a:avLst/>
          </a:prstGeom>
        </p:spPr>
        <p:txBody>
          <a:bodyPr wrap="square" lIns="0" tIns="0" rIns="0" bIns="0" rtlCol="0" anchor="t">
            <a:spAutoFit/>
          </a:bodyPr>
          <a:lstStyle/>
          <a:p>
            <a:pPr defTabSz="914445">
              <a:lnSpc>
                <a:spcPts val="6860"/>
              </a:lnSpc>
              <a:defRPr/>
            </a:pPr>
            <a:r>
              <a:rPr lang="en-US" sz="6600" i="1" spc="-413" dirty="0">
                <a:solidFill>
                  <a:srgbClr val="46245A"/>
                </a:solidFill>
                <a:latin typeface="Calibri" panose="020F0502020204030204" pitchFamily="34" charset="0"/>
                <a:ea typeface="ＭＳ Ｐゴシック" panose="020B0600070205080204" pitchFamily="34" charset="-128"/>
                <a:cs typeface="Calibri" panose="020F0502020204030204" pitchFamily="34" charset="0"/>
              </a:rPr>
              <a:t>Discussion</a:t>
            </a:r>
          </a:p>
        </p:txBody>
      </p:sp>
      <p:sp>
        <p:nvSpPr>
          <p:cNvPr id="6" name="TextBox 5">
            <a:extLst>
              <a:ext uri="{FF2B5EF4-FFF2-40B4-BE49-F238E27FC236}">
                <a16:creationId xmlns:a16="http://schemas.microsoft.com/office/drawing/2014/main" id="{22DF507C-DF0B-2AC1-C048-9A0811901ACE}"/>
              </a:ext>
            </a:extLst>
          </p:cNvPr>
          <p:cNvSpPr txBox="1"/>
          <p:nvPr/>
        </p:nvSpPr>
        <p:spPr>
          <a:xfrm>
            <a:off x="584198" y="3041029"/>
            <a:ext cx="17325431" cy="1938992"/>
          </a:xfrm>
          <a:prstGeom prst="rect">
            <a:avLst/>
          </a:prstGeom>
          <a:noFill/>
        </p:spPr>
        <p:txBody>
          <a:bodyPr wrap="square">
            <a:spAutoFit/>
          </a:bodyPr>
          <a:lstStyle/>
          <a:p>
            <a:pPr defTabSz="1371600"/>
            <a:r>
              <a:rPr lang="en-GB" sz="3000" dirty="0">
                <a:solidFill>
                  <a:srgbClr val="000000"/>
                </a:solidFill>
                <a:latin typeface="Calibri" panose="020F0502020204030204" pitchFamily="34" charset="0"/>
                <a:cs typeface="Calibri" panose="020F0502020204030204" pitchFamily="34" charset="0"/>
              </a:rPr>
              <a:t>If you were building a climate model, what variables would you absolutely need to include?</a:t>
            </a:r>
            <a:endParaRPr lang="en-US" sz="3000" dirty="0">
              <a:latin typeface="Calibri" panose="020F0502020204030204" pitchFamily="34" charset="0"/>
              <a:cs typeface="Calibri" panose="020F0502020204030204" pitchFamily="34" charset="0"/>
            </a:endParaRPr>
          </a:p>
          <a:p>
            <a:pPr defTabSz="1371600"/>
            <a:endParaRPr lang="en-GB" sz="3000" dirty="0">
              <a:solidFill>
                <a:prstClr val="black"/>
              </a:solidFill>
              <a:latin typeface="Calibri" panose="020F0502020204030204" pitchFamily="34" charset="0"/>
              <a:cs typeface="Calibri" panose="020F0502020204030204" pitchFamily="34" charset="0"/>
            </a:endParaRPr>
          </a:p>
          <a:p>
            <a:pPr defTabSz="1371600"/>
            <a:endParaRPr lang="en-GB" sz="3000" dirty="0">
              <a:solidFill>
                <a:prstClr val="black"/>
              </a:solidFill>
              <a:latin typeface="Calibri" panose="020F0502020204030204" pitchFamily="34" charset="0"/>
              <a:cs typeface="Calibri" panose="020F0502020204030204" pitchFamily="34" charset="0"/>
            </a:endParaRPr>
          </a:p>
          <a:p>
            <a:pPr defTabSz="1371600"/>
            <a:r>
              <a:rPr lang="en-GB" sz="3000" dirty="0">
                <a:solidFill>
                  <a:prstClr val="black"/>
                </a:solidFill>
                <a:latin typeface="Calibri" panose="020F0502020204030204" pitchFamily="34" charset="0"/>
                <a:cs typeface="Calibri" panose="020F0502020204030204" pitchFamily="34" charset="0"/>
              </a:rPr>
              <a:t>I</a:t>
            </a:r>
            <a:r>
              <a:rPr lang="en-GB" sz="3000" dirty="0">
                <a:solidFill>
                  <a:srgbClr val="000000"/>
                </a:solidFill>
                <a:latin typeface="Calibri" panose="020F0502020204030204" pitchFamily="34" charset="0"/>
                <a:cs typeface="Calibri" panose="020F0502020204030204" pitchFamily="34" charset="0"/>
              </a:rPr>
              <a:t>f you wanted to test whether a climate model works, how would you do it?</a:t>
            </a:r>
            <a:endParaRPr lang="en-US" sz="3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621933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2A142F4-A547-E35D-C0F9-0D7AFB0C137D}"/>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15E1DF5F-1E5D-6F7C-86FA-7380F7CB9FEB}"/>
              </a:ext>
            </a:extLst>
          </p:cNvPr>
          <p:cNvSpPr txBox="1"/>
          <p:nvPr/>
        </p:nvSpPr>
        <p:spPr>
          <a:xfrm>
            <a:off x="833400" y="1481389"/>
            <a:ext cx="13847674" cy="859210"/>
          </a:xfrm>
          <a:prstGeom prst="rect">
            <a:avLst/>
          </a:prstGeom>
        </p:spPr>
        <p:txBody>
          <a:bodyPr wrap="square" lIns="0" tIns="0" rIns="0" bIns="0" rtlCol="0" anchor="t">
            <a:spAutoFit/>
          </a:bodyPr>
          <a:lstStyle/>
          <a:p>
            <a:pPr>
              <a:lnSpc>
                <a:spcPts val="6719"/>
              </a:lnSpc>
            </a:pPr>
            <a:r>
              <a:rPr lang="en-US" sz="5599" b="1" i="1" dirty="0">
                <a:solidFill>
                  <a:srgbClr val="46245A"/>
                </a:solidFill>
                <a:latin typeface="DM Sans" pitchFamily="2" charset="0"/>
              </a:rPr>
              <a:t>Resolution of Global Climate Models </a:t>
            </a:r>
            <a:endParaRPr lang="en-US" sz="5599" i="1" dirty="0">
              <a:solidFill>
                <a:srgbClr val="46245A"/>
              </a:solidFill>
              <a:latin typeface="DM Sans" pitchFamily="2" charset="0"/>
            </a:endParaRPr>
          </a:p>
        </p:txBody>
      </p:sp>
      <p:sp>
        <p:nvSpPr>
          <p:cNvPr id="10" name="Freeform 13">
            <a:extLst>
              <a:ext uri="{FF2B5EF4-FFF2-40B4-BE49-F238E27FC236}">
                <a16:creationId xmlns:a16="http://schemas.microsoft.com/office/drawing/2014/main" id="{93EC31F9-7BE8-5A73-ACE0-ABCC1A0D1B58}"/>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grpSp>
        <p:nvGrpSpPr>
          <p:cNvPr id="7" name="Group 3">
            <a:extLst>
              <a:ext uri="{FF2B5EF4-FFF2-40B4-BE49-F238E27FC236}">
                <a16:creationId xmlns:a16="http://schemas.microsoft.com/office/drawing/2014/main" id="{4DE465F2-4B6B-B958-2A25-961746F49B87}"/>
              </a:ext>
            </a:extLst>
          </p:cNvPr>
          <p:cNvGrpSpPr>
            <a:grpSpLocks/>
          </p:cNvGrpSpPr>
          <p:nvPr/>
        </p:nvGrpSpPr>
        <p:grpSpPr bwMode="auto">
          <a:xfrm>
            <a:off x="738598" y="3281956"/>
            <a:ext cx="8589963" cy="5024437"/>
            <a:chOff x="192" y="589"/>
            <a:chExt cx="5411" cy="3165"/>
          </a:xfrm>
        </p:grpSpPr>
        <p:pic>
          <p:nvPicPr>
            <p:cNvPr id="9" name="Picture 4">
              <a:extLst>
                <a:ext uri="{FF2B5EF4-FFF2-40B4-BE49-F238E27FC236}">
                  <a16:creationId xmlns:a16="http://schemas.microsoft.com/office/drawing/2014/main" id="{D514F17F-AB10-5235-22CB-F349B88A29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14847" t="20421" r="50000" b="24454"/>
            <a:stretch>
              <a:fillRect/>
            </a:stretch>
          </p:blipFill>
          <p:spPr bwMode="auto">
            <a:xfrm>
              <a:off x="2928" y="874"/>
              <a:ext cx="2599" cy="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1" name="Picture 5">
              <a:extLst>
                <a:ext uri="{FF2B5EF4-FFF2-40B4-BE49-F238E27FC236}">
                  <a16:creationId xmlns:a16="http://schemas.microsoft.com/office/drawing/2014/main" id="{FEE4779A-D798-AA23-B633-97F16ACC8E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6651" t="20421" r="8195" b="24454"/>
            <a:stretch>
              <a:fillRect/>
            </a:stretch>
          </p:blipFill>
          <p:spPr bwMode="auto">
            <a:xfrm>
              <a:off x="192" y="874"/>
              <a:ext cx="2599" cy="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2" name="Text Box 6">
              <a:extLst>
                <a:ext uri="{FF2B5EF4-FFF2-40B4-BE49-F238E27FC236}">
                  <a16:creationId xmlns:a16="http://schemas.microsoft.com/office/drawing/2014/main" id="{CAF8EFCD-A20E-0BD9-9005-0E11AFDFEA25}"/>
                </a:ext>
              </a:extLst>
            </p:cNvPr>
            <p:cNvSpPr txBox="1">
              <a:spLocks noChangeArrowheads="1"/>
            </p:cNvSpPr>
            <p:nvPr/>
          </p:nvSpPr>
          <p:spPr bwMode="auto">
            <a:xfrm>
              <a:off x="254" y="589"/>
              <a:ext cx="24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0"/>
                </a:spcBef>
              </a:pPr>
              <a:r>
                <a:rPr lang="en-GB" altLang="en-US" sz="2400" b="1" dirty="0">
                  <a:latin typeface="Verdana" panose="020B0604030504040204" pitchFamily="34" charset="0"/>
                </a:rPr>
                <a:t>1998: GLOBAL MODEL</a:t>
              </a:r>
            </a:p>
          </p:txBody>
        </p:sp>
        <p:sp>
          <p:nvSpPr>
            <p:cNvPr id="13" name="Text Box 7">
              <a:extLst>
                <a:ext uri="{FF2B5EF4-FFF2-40B4-BE49-F238E27FC236}">
                  <a16:creationId xmlns:a16="http://schemas.microsoft.com/office/drawing/2014/main" id="{C3FED1BD-A74F-4771-26A2-522D9EC48803}"/>
                </a:ext>
              </a:extLst>
            </p:cNvPr>
            <p:cNvSpPr txBox="1">
              <a:spLocks noChangeArrowheads="1"/>
            </p:cNvSpPr>
            <p:nvPr/>
          </p:nvSpPr>
          <p:spPr bwMode="auto">
            <a:xfrm>
              <a:off x="2834" y="589"/>
              <a:ext cx="27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ctr">
                <a:spcBef>
                  <a:spcPct val="0"/>
                </a:spcBef>
              </a:pPr>
              <a:r>
                <a:rPr lang="en-GB" altLang="en-US" sz="2400" b="1">
                  <a:latin typeface="Verdana" panose="020B0604030504040204" pitchFamily="34" charset="0"/>
                </a:rPr>
                <a:t>2002: REGIONAL MODEL</a:t>
              </a:r>
            </a:p>
          </p:txBody>
        </p:sp>
        <p:sp>
          <p:nvSpPr>
            <p:cNvPr id="14" name="Text Box 8">
              <a:extLst>
                <a:ext uri="{FF2B5EF4-FFF2-40B4-BE49-F238E27FC236}">
                  <a16:creationId xmlns:a16="http://schemas.microsoft.com/office/drawing/2014/main" id="{074E8792-C475-5D05-521C-18D66476496C}"/>
                </a:ext>
              </a:extLst>
            </p:cNvPr>
            <p:cNvSpPr txBox="1">
              <a:spLocks noChangeArrowheads="1"/>
            </p:cNvSpPr>
            <p:nvPr/>
          </p:nvSpPr>
          <p:spPr bwMode="auto">
            <a:xfrm>
              <a:off x="240" y="955"/>
              <a:ext cx="13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spcBef>
                  <a:spcPct val="0"/>
                </a:spcBef>
              </a:pPr>
              <a:r>
                <a:rPr lang="en-GB" altLang="en-US" sz="2400" b="1">
                  <a:solidFill>
                    <a:srgbClr val="FFFF00"/>
                  </a:solidFill>
                  <a:latin typeface="Verdana" panose="020B0604030504040204" pitchFamily="34" charset="0"/>
                </a:rPr>
                <a:t>300km grid</a:t>
              </a:r>
            </a:p>
          </p:txBody>
        </p:sp>
        <p:sp>
          <p:nvSpPr>
            <p:cNvPr id="15" name="Text Box 9">
              <a:extLst>
                <a:ext uri="{FF2B5EF4-FFF2-40B4-BE49-F238E27FC236}">
                  <a16:creationId xmlns:a16="http://schemas.microsoft.com/office/drawing/2014/main" id="{126C6777-DE0A-A2FD-595E-DFC5F125ACA9}"/>
                </a:ext>
              </a:extLst>
            </p:cNvPr>
            <p:cNvSpPr txBox="1">
              <a:spLocks noChangeArrowheads="1"/>
            </p:cNvSpPr>
            <p:nvPr/>
          </p:nvSpPr>
          <p:spPr bwMode="auto">
            <a:xfrm>
              <a:off x="2976" y="955"/>
              <a:ext cx="12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spcBef>
                  <a:spcPct val="0"/>
                </a:spcBef>
              </a:pPr>
              <a:r>
                <a:rPr lang="en-GB" altLang="en-US" sz="2400" b="1">
                  <a:solidFill>
                    <a:srgbClr val="FFFF00"/>
                  </a:solidFill>
                  <a:latin typeface="Verdana" panose="020B0604030504040204" pitchFamily="34" charset="0"/>
                </a:rPr>
                <a:t>50km grid</a:t>
              </a:r>
            </a:p>
          </p:txBody>
        </p:sp>
        <p:sp>
          <p:nvSpPr>
            <p:cNvPr id="16" name="Text Box 10">
              <a:extLst>
                <a:ext uri="{FF2B5EF4-FFF2-40B4-BE49-F238E27FC236}">
                  <a16:creationId xmlns:a16="http://schemas.microsoft.com/office/drawing/2014/main" id="{A3C5EB78-FDE1-8DAC-5F4E-2CFBD2B5EC4E}"/>
                </a:ext>
              </a:extLst>
            </p:cNvPr>
            <p:cNvSpPr txBox="1">
              <a:spLocks noChangeArrowheads="1"/>
            </p:cNvSpPr>
            <p:nvPr/>
          </p:nvSpPr>
          <p:spPr bwMode="auto">
            <a:xfrm>
              <a:off x="288" y="3454"/>
              <a:ext cx="113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spcBef>
                  <a:spcPct val="0"/>
                </a:spcBef>
              </a:pPr>
              <a:r>
                <a:rPr lang="en-GB" altLang="en-US" sz="1600" b="1">
                  <a:solidFill>
                    <a:srgbClr val="FFFF00"/>
                  </a:solidFill>
                  <a:latin typeface="Verdana" panose="020B0604030504040204" pitchFamily="34" charset="0"/>
                </a:rPr>
                <a:t>Hadley Centre</a:t>
              </a:r>
            </a:p>
          </p:txBody>
        </p:sp>
        <p:sp>
          <p:nvSpPr>
            <p:cNvPr id="17" name="Text Box 11">
              <a:extLst>
                <a:ext uri="{FF2B5EF4-FFF2-40B4-BE49-F238E27FC236}">
                  <a16:creationId xmlns:a16="http://schemas.microsoft.com/office/drawing/2014/main" id="{144F5BB2-43F2-D40D-BB5A-F5398C304E24}"/>
                </a:ext>
              </a:extLst>
            </p:cNvPr>
            <p:cNvSpPr txBox="1">
              <a:spLocks noChangeArrowheads="1"/>
            </p:cNvSpPr>
            <p:nvPr/>
          </p:nvSpPr>
          <p:spPr bwMode="auto">
            <a:xfrm>
              <a:off x="2976" y="3454"/>
              <a:ext cx="113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spcBef>
                  <a:spcPct val="0"/>
                </a:spcBef>
              </a:pPr>
              <a:r>
                <a:rPr lang="en-GB" altLang="en-US" sz="1600" b="1">
                  <a:solidFill>
                    <a:srgbClr val="FFFF00"/>
                  </a:solidFill>
                  <a:latin typeface="Verdana" panose="020B0604030504040204" pitchFamily="34" charset="0"/>
                </a:rPr>
                <a:t>Hadley Centre</a:t>
              </a:r>
            </a:p>
          </p:txBody>
        </p:sp>
      </p:grpSp>
      <p:sp>
        <p:nvSpPr>
          <p:cNvPr id="3" name="TextBox 2">
            <a:extLst>
              <a:ext uri="{FF2B5EF4-FFF2-40B4-BE49-F238E27FC236}">
                <a16:creationId xmlns:a16="http://schemas.microsoft.com/office/drawing/2014/main" id="{170CBFDA-9113-1BCB-1D3A-9B561647A554}"/>
              </a:ext>
            </a:extLst>
          </p:cNvPr>
          <p:cNvSpPr txBox="1"/>
          <p:nvPr/>
        </p:nvSpPr>
        <p:spPr>
          <a:xfrm>
            <a:off x="9481938" y="3081045"/>
            <a:ext cx="8616281" cy="6647974"/>
          </a:xfrm>
          <a:prstGeom prst="rect">
            <a:avLst/>
          </a:prstGeom>
          <a:noFill/>
        </p:spPr>
        <p:txBody>
          <a:bodyPr wrap="square">
            <a:spAutoFit/>
          </a:bodyPr>
          <a:lstStyle/>
          <a:p>
            <a:pPr marL="342900" indent="-342900" algn="l">
              <a:buFont typeface="Arial" panose="020B0604020202020204" pitchFamily="34" charset="0"/>
              <a:buChar char="•"/>
            </a:pPr>
            <a:r>
              <a:rPr lang="en-GB" sz="2400" b="0" i="0" u="none" strike="noStrike" dirty="0">
                <a:solidFill>
                  <a:srgbClr val="0D0D0D"/>
                </a:solidFill>
                <a:effectLst/>
                <a:latin typeface="Calibri" panose="020F0502020204030204" pitchFamily="34" charset="0"/>
                <a:cs typeface="Calibri" panose="020F0502020204030204" pitchFamily="34" charset="0"/>
              </a:rPr>
              <a:t>Initially, GCMs had resolutions of 250 to 600 km horizontally, with limited vertical layers.</a:t>
            </a:r>
          </a:p>
          <a:p>
            <a:pPr marL="342900" indent="-342900" algn="l">
              <a:buFont typeface="Arial" panose="020B0604020202020204" pitchFamily="34" charset="0"/>
              <a:buChar char="•"/>
            </a:pPr>
            <a:endParaRPr lang="en-GB" sz="2400" b="0" i="0" u="none" strike="noStrike" dirty="0">
              <a:solidFill>
                <a:srgbClr val="0D0D0D"/>
              </a:solidFill>
              <a:effectLst/>
              <a:latin typeface="Calibri" panose="020F0502020204030204" pitchFamily="34" charset="0"/>
              <a:cs typeface="Calibri" panose="020F0502020204030204" pitchFamily="34" charset="0"/>
            </a:endParaRPr>
          </a:p>
          <a:p>
            <a:pPr marL="342900" indent="-342900" algn="l">
              <a:buFont typeface="Arial" panose="020B0604020202020204" pitchFamily="34" charset="0"/>
              <a:buChar char="•"/>
            </a:pPr>
            <a:r>
              <a:rPr lang="en-GB" sz="2400" b="0" i="0" u="none" strike="noStrike" dirty="0">
                <a:solidFill>
                  <a:srgbClr val="0D0D0D"/>
                </a:solidFill>
                <a:effectLst/>
                <a:latin typeface="Calibri" panose="020F0502020204030204" pitchFamily="34" charset="0"/>
                <a:cs typeface="Calibri" panose="020F0502020204030204" pitchFamily="34" charset="0"/>
              </a:rPr>
              <a:t>Improved computing power allowed for higher resolutions, enabling better representation of small-scale processes.</a:t>
            </a:r>
          </a:p>
          <a:p>
            <a:pPr marL="342900" indent="-342900" algn="l">
              <a:buFont typeface="Arial" panose="020B0604020202020204" pitchFamily="34" charset="0"/>
              <a:buChar char="•"/>
            </a:pPr>
            <a:endParaRPr lang="en-GB" sz="2400" b="0" i="0" u="none" strike="noStrike" dirty="0">
              <a:solidFill>
                <a:srgbClr val="0D0D0D"/>
              </a:solidFill>
              <a:effectLst/>
              <a:latin typeface="Calibri" panose="020F0502020204030204" pitchFamily="34" charset="0"/>
              <a:cs typeface="Calibri" panose="020F0502020204030204" pitchFamily="34" charset="0"/>
            </a:endParaRPr>
          </a:p>
          <a:p>
            <a:pPr marL="342900" indent="-342900" algn="l">
              <a:buFont typeface="Arial" panose="020B0604020202020204" pitchFamily="34" charset="0"/>
              <a:buChar char="•"/>
            </a:pPr>
            <a:r>
              <a:rPr lang="en-GB" sz="2400" b="0" i="0" u="none" strike="noStrike" dirty="0">
                <a:solidFill>
                  <a:srgbClr val="0D0D0D"/>
                </a:solidFill>
                <a:effectLst/>
                <a:latin typeface="Calibri" panose="020F0502020204030204" pitchFamily="34" charset="0"/>
                <a:cs typeface="Calibri" panose="020F0502020204030204" pitchFamily="34" charset="0"/>
              </a:rPr>
              <a:t>Higher resolutions are crucial for capturing regional climate variations accurately.</a:t>
            </a:r>
          </a:p>
          <a:p>
            <a:pPr marL="342900" indent="-342900" algn="l">
              <a:buFont typeface="Arial" panose="020B0604020202020204" pitchFamily="34" charset="0"/>
              <a:buChar char="•"/>
            </a:pPr>
            <a:endParaRPr lang="en-GB" sz="2400" b="0" i="0" u="none" strike="noStrike" dirty="0">
              <a:solidFill>
                <a:srgbClr val="0D0D0D"/>
              </a:solidFill>
              <a:effectLst/>
              <a:latin typeface="Calibri" panose="020F0502020204030204" pitchFamily="34" charset="0"/>
              <a:cs typeface="Calibri" panose="020F0502020204030204" pitchFamily="34" charset="0"/>
            </a:endParaRPr>
          </a:p>
          <a:p>
            <a:pPr marL="342900" indent="-342900" algn="l">
              <a:buFont typeface="Arial" panose="020B0604020202020204" pitchFamily="34" charset="0"/>
              <a:buChar char="•"/>
            </a:pPr>
            <a:r>
              <a:rPr lang="en-GB" sz="2400" b="0" i="0" u="none" strike="noStrike" dirty="0">
                <a:solidFill>
                  <a:srgbClr val="0D0D0D"/>
                </a:solidFill>
                <a:effectLst/>
                <a:latin typeface="Calibri" panose="020F0502020204030204" pitchFamily="34" charset="0"/>
                <a:cs typeface="Calibri" panose="020F0502020204030204" pitchFamily="34" charset="0"/>
              </a:rPr>
              <a:t>Challenges remain, such as parameterizing small-scale processes like clouds, leading to uncertainties in future climate projections.</a:t>
            </a:r>
          </a:p>
          <a:p>
            <a:pPr marL="342900" indent="-342900" algn="l">
              <a:buFont typeface="Arial" panose="020B0604020202020204" pitchFamily="34" charset="0"/>
              <a:buChar char="•"/>
            </a:pPr>
            <a:endParaRPr lang="en-GB" sz="2400" b="0" i="0" u="none" strike="noStrike" dirty="0">
              <a:solidFill>
                <a:srgbClr val="0D0D0D"/>
              </a:solidFill>
              <a:effectLst/>
              <a:latin typeface="Calibri" panose="020F0502020204030204" pitchFamily="34" charset="0"/>
              <a:cs typeface="Calibri" panose="020F0502020204030204" pitchFamily="34" charset="0"/>
            </a:endParaRPr>
          </a:p>
          <a:p>
            <a:pPr marL="342900" indent="-342900" algn="l">
              <a:buFont typeface="Arial" panose="020B0604020202020204" pitchFamily="34" charset="0"/>
              <a:buChar char="•"/>
            </a:pPr>
            <a:r>
              <a:rPr lang="en-GB" sz="2400" b="0" i="0" u="none" strike="noStrike" dirty="0">
                <a:solidFill>
                  <a:srgbClr val="0D0D0D"/>
                </a:solidFill>
                <a:effectLst/>
                <a:latin typeface="Calibri" panose="020F0502020204030204" pitchFamily="34" charset="0"/>
                <a:cs typeface="Calibri" panose="020F0502020204030204" pitchFamily="34" charset="0"/>
              </a:rPr>
              <a:t>GCMs play a vital role in understanding and predicting the Earth's climate response to increasing greenhouse gas concentrations.</a:t>
            </a:r>
          </a:p>
          <a:p>
            <a:pPr marL="342900" indent="-342900" algn="l">
              <a:buFont typeface="Arial" panose="020B0604020202020204" pitchFamily="34" charset="0"/>
              <a:buChar char="•"/>
            </a:pPr>
            <a:endParaRPr lang="en-GB" sz="2400" b="0" i="0" u="none" strike="noStrike" dirty="0">
              <a:solidFill>
                <a:srgbClr val="0D0D0D"/>
              </a:solidFill>
              <a:effectLst/>
              <a:latin typeface="Calibri" panose="020F0502020204030204" pitchFamily="34" charset="0"/>
              <a:cs typeface="Calibri" panose="020F0502020204030204" pitchFamily="34" charset="0"/>
            </a:endParaRPr>
          </a:p>
          <a:p>
            <a:pPr marL="342900" indent="-342900" algn="l">
              <a:buFont typeface="Arial" panose="020B0604020202020204" pitchFamily="34" charset="0"/>
              <a:buChar char="•"/>
            </a:pPr>
            <a:r>
              <a:rPr lang="en-GB" sz="2400" dirty="0">
                <a:solidFill>
                  <a:srgbClr val="0D0D0D"/>
                </a:solidFill>
                <a:latin typeface="Calibri" panose="020F0502020204030204" pitchFamily="34" charset="0"/>
                <a:cs typeface="Calibri" panose="020F0502020204030204" pitchFamily="34" charset="0"/>
              </a:rPr>
              <a:t>This also requires a huge amount of computational power, not possible on personal computers </a:t>
            </a:r>
            <a:endParaRPr lang="en-GB" sz="2400" b="0" i="0" u="none" strike="noStrike" dirty="0">
              <a:solidFill>
                <a:srgbClr val="0D0D0D"/>
              </a:solidFill>
              <a:effectLst/>
              <a:latin typeface="Calibri" panose="020F0502020204030204" pitchFamily="34" charset="0"/>
              <a:cs typeface="Calibri" panose="020F0502020204030204" pitchFamily="34" charset="0"/>
            </a:endParaRPr>
          </a:p>
          <a:p>
            <a:endParaRPr lang="en-GB" dirty="0"/>
          </a:p>
        </p:txBody>
      </p:sp>
      <p:pic>
        <p:nvPicPr>
          <p:cNvPr id="2" name="Picture 1">
            <a:extLst>
              <a:ext uri="{FF2B5EF4-FFF2-40B4-BE49-F238E27FC236}">
                <a16:creationId xmlns:a16="http://schemas.microsoft.com/office/drawing/2014/main" id="{C4A20DC6-C893-764F-8A5D-36841928DE82}"/>
              </a:ext>
            </a:extLst>
          </p:cNvPr>
          <p:cNvPicPr>
            <a:picLocks noChangeAspect="1"/>
          </p:cNvPicPr>
          <p:nvPr/>
        </p:nvPicPr>
        <p:blipFill>
          <a:blip r:embed="rId6"/>
          <a:stretch>
            <a:fillRect/>
          </a:stretch>
        </p:blipFill>
        <p:spPr>
          <a:xfrm>
            <a:off x="-6963" y="7510353"/>
            <a:ext cx="2928495" cy="2776647"/>
          </a:xfrm>
          <a:prstGeom prst="rect">
            <a:avLst/>
          </a:prstGeom>
        </p:spPr>
      </p:pic>
    </p:spTree>
    <p:extLst>
      <p:ext uri="{BB962C8B-B14F-4D97-AF65-F5344CB8AC3E}">
        <p14:creationId xmlns:p14="http://schemas.microsoft.com/office/powerpoint/2010/main" val="1011421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33BF6-1378-6DF1-F01D-B0ABCAAD08EC}"/>
            </a:ext>
          </a:extLst>
        </p:cNvPr>
        <p:cNvGrpSpPr/>
        <p:nvPr/>
      </p:nvGrpSpPr>
      <p:grpSpPr>
        <a:xfrm>
          <a:off x="0" y="0"/>
          <a:ext cx="0" cy="0"/>
          <a:chOff x="0" y="0"/>
          <a:chExt cx="0" cy="0"/>
        </a:xfrm>
      </p:grpSpPr>
      <p:sp>
        <p:nvSpPr>
          <p:cNvPr id="2" name="Freeform 13">
            <a:extLst>
              <a:ext uri="{FF2B5EF4-FFF2-40B4-BE49-F238E27FC236}">
                <a16:creationId xmlns:a16="http://schemas.microsoft.com/office/drawing/2014/main" id="{A3D62280-B32A-8DC7-9F1C-3FFF351C1161}"/>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ndParaRPr>
          </a:p>
        </p:txBody>
      </p:sp>
      <p:sp>
        <p:nvSpPr>
          <p:cNvPr id="3" name="TextBox 14">
            <a:extLst>
              <a:ext uri="{FF2B5EF4-FFF2-40B4-BE49-F238E27FC236}">
                <a16:creationId xmlns:a16="http://schemas.microsoft.com/office/drawing/2014/main" id="{F55C2F21-82FF-31FC-3D3D-2E21CB3E6B94}"/>
              </a:ext>
            </a:extLst>
          </p:cNvPr>
          <p:cNvSpPr txBox="1"/>
          <p:nvPr/>
        </p:nvSpPr>
        <p:spPr>
          <a:xfrm>
            <a:off x="584197" y="1026137"/>
            <a:ext cx="12668888" cy="861518"/>
          </a:xfrm>
          <a:prstGeom prst="rect">
            <a:avLst/>
          </a:prstGeom>
        </p:spPr>
        <p:txBody>
          <a:bodyPr wrap="square" lIns="0" tIns="0" rIns="0" bIns="0" rtlCol="0" anchor="t">
            <a:spAutoFit/>
          </a:bodyPr>
          <a:lstStyle/>
          <a:p>
            <a:pPr defTabSz="914445">
              <a:lnSpc>
                <a:spcPts val="6860"/>
              </a:lnSpc>
              <a:defRPr/>
            </a:pPr>
            <a:r>
              <a:rPr lang="en-US" sz="5400" i="1" spc="-413" dirty="0">
                <a:solidFill>
                  <a:srgbClr val="46245A"/>
                </a:solidFill>
                <a:latin typeface="DM Sans Bold"/>
                <a:ea typeface="ＭＳ Ｐゴシック" panose="020B0600070205080204" pitchFamily="34" charset="-128"/>
              </a:rPr>
              <a:t>Temperature Measurements: Future</a:t>
            </a:r>
          </a:p>
        </p:txBody>
      </p:sp>
      <p:pic>
        <p:nvPicPr>
          <p:cNvPr id="9" name="Picture 8" descr="A comparison of the temperature of the earth&#10;&#10;AI-generated content may be incorrect.">
            <a:extLst>
              <a:ext uri="{FF2B5EF4-FFF2-40B4-BE49-F238E27FC236}">
                <a16:creationId xmlns:a16="http://schemas.microsoft.com/office/drawing/2014/main" id="{58B09725-C5B7-64CF-309C-2333CE07E9C9}"/>
              </a:ext>
            </a:extLst>
          </p:cNvPr>
          <p:cNvPicPr>
            <a:picLocks noChangeAspect="1"/>
          </p:cNvPicPr>
          <p:nvPr/>
        </p:nvPicPr>
        <p:blipFill>
          <a:blip r:embed="rId4"/>
          <a:srcRect l="4747" b="1626"/>
          <a:stretch>
            <a:fillRect/>
          </a:stretch>
        </p:blipFill>
        <p:spPr>
          <a:xfrm>
            <a:off x="584197" y="1887623"/>
            <a:ext cx="12013928" cy="7707350"/>
          </a:xfrm>
          <a:prstGeom prst="rect">
            <a:avLst/>
          </a:prstGeom>
        </p:spPr>
      </p:pic>
      <p:pic>
        <p:nvPicPr>
          <p:cNvPr id="5" name="Picture 4">
            <a:extLst>
              <a:ext uri="{FF2B5EF4-FFF2-40B4-BE49-F238E27FC236}">
                <a16:creationId xmlns:a16="http://schemas.microsoft.com/office/drawing/2014/main" id="{EBBA4C87-65B2-2C5F-84F7-2C00661437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171976" y="3365490"/>
            <a:ext cx="5543551" cy="4751615"/>
          </a:xfrm>
          <a:prstGeom prst="rect">
            <a:avLst/>
          </a:prstGeom>
        </p:spPr>
      </p:pic>
    </p:spTree>
    <p:extLst>
      <p:ext uri="{BB962C8B-B14F-4D97-AF65-F5344CB8AC3E}">
        <p14:creationId xmlns:p14="http://schemas.microsoft.com/office/powerpoint/2010/main" val="1943425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2A142F4-A547-E35D-C0F9-0D7AFB0C137D}"/>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15E1DF5F-1E5D-6F7C-86FA-7380F7CB9FEB}"/>
              </a:ext>
            </a:extLst>
          </p:cNvPr>
          <p:cNvSpPr txBox="1"/>
          <p:nvPr/>
        </p:nvSpPr>
        <p:spPr>
          <a:xfrm>
            <a:off x="968589" y="1459354"/>
            <a:ext cx="13847674" cy="859210"/>
          </a:xfrm>
          <a:prstGeom prst="rect">
            <a:avLst/>
          </a:prstGeom>
        </p:spPr>
        <p:txBody>
          <a:bodyPr wrap="square" lIns="0" tIns="0" rIns="0" bIns="0" rtlCol="0" anchor="t">
            <a:spAutoFit/>
          </a:bodyPr>
          <a:lstStyle/>
          <a:p>
            <a:pPr>
              <a:lnSpc>
                <a:spcPts val="6719"/>
              </a:lnSpc>
            </a:pPr>
            <a:r>
              <a:rPr lang="en-US" sz="5599" b="1" i="1" dirty="0">
                <a:solidFill>
                  <a:srgbClr val="46245A"/>
                </a:solidFill>
                <a:latin typeface="DM Sans" pitchFamily="2" charset="0"/>
              </a:rPr>
              <a:t>Resolution of Global Climate Models </a:t>
            </a:r>
            <a:endParaRPr lang="en-US" sz="5599" i="1" dirty="0">
              <a:solidFill>
                <a:srgbClr val="46245A"/>
              </a:solidFill>
              <a:latin typeface="DM Sans" pitchFamily="2" charset="0"/>
            </a:endParaRPr>
          </a:p>
        </p:txBody>
      </p:sp>
      <p:sp>
        <p:nvSpPr>
          <p:cNvPr id="10" name="Freeform 13">
            <a:extLst>
              <a:ext uri="{FF2B5EF4-FFF2-40B4-BE49-F238E27FC236}">
                <a16:creationId xmlns:a16="http://schemas.microsoft.com/office/drawing/2014/main" id="{93EC31F9-7BE8-5A73-ACE0-ABCC1A0D1B58}"/>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3" name="Title 1">
            <a:extLst>
              <a:ext uri="{FF2B5EF4-FFF2-40B4-BE49-F238E27FC236}">
                <a16:creationId xmlns:a16="http://schemas.microsoft.com/office/drawing/2014/main" id="{4B7C69B6-0ABF-C933-0192-0E484B51F0CC}"/>
              </a:ext>
            </a:extLst>
          </p:cNvPr>
          <p:cNvSpPr txBox="1">
            <a:spLocks/>
          </p:cNvSpPr>
          <p:nvPr/>
        </p:nvSpPr>
        <p:spPr>
          <a:xfrm>
            <a:off x="1749877" y="693575"/>
            <a:ext cx="14024104" cy="119538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DM Sans" pitchFamily="2" charset="0"/>
                <a:ea typeface="+mj-ea"/>
                <a:cs typeface="+mj-cs"/>
              </a:defRPr>
            </a:lvl1pPr>
          </a:lstStyle>
          <a:p>
            <a:endParaRPr lang="en-GB" sz="5100" dirty="0"/>
          </a:p>
        </p:txBody>
      </p:sp>
      <p:pic>
        <p:nvPicPr>
          <p:cNvPr id="6" name="Picture 5">
            <a:extLst>
              <a:ext uri="{FF2B5EF4-FFF2-40B4-BE49-F238E27FC236}">
                <a16:creationId xmlns:a16="http://schemas.microsoft.com/office/drawing/2014/main" id="{FCB658E7-1E36-57CF-D0B9-1910C88CE4B9}"/>
              </a:ext>
            </a:extLst>
          </p:cNvPr>
          <p:cNvPicPr>
            <a:picLocks noChangeAspect="1"/>
          </p:cNvPicPr>
          <p:nvPr/>
        </p:nvPicPr>
        <p:blipFill>
          <a:blip r:embed="rId5"/>
          <a:stretch>
            <a:fillRect/>
          </a:stretch>
        </p:blipFill>
        <p:spPr>
          <a:xfrm>
            <a:off x="4813362" y="2595758"/>
            <a:ext cx="10960619" cy="6867028"/>
          </a:xfrm>
          <a:prstGeom prst="rect">
            <a:avLst/>
          </a:prstGeom>
        </p:spPr>
      </p:pic>
      <p:sp>
        <p:nvSpPr>
          <p:cNvPr id="8" name="TextBox 7">
            <a:extLst>
              <a:ext uri="{FF2B5EF4-FFF2-40B4-BE49-F238E27FC236}">
                <a16:creationId xmlns:a16="http://schemas.microsoft.com/office/drawing/2014/main" id="{99E6364C-5449-DEAD-BC0B-5C3A203DB5BB}"/>
              </a:ext>
            </a:extLst>
          </p:cNvPr>
          <p:cNvSpPr txBox="1"/>
          <p:nvPr/>
        </p:nvSpPr>
        <p:spPr>
          <a:xfrm>
            <a:off x="968589" y="4644255"/>
            <a:ext cx="3844773" cy="3046988"/>
          </a:xfrm>
          <a:prstGeom prst="rect">
            <a:avLst/>
          </a:prstGeom>
          <a:noFill/>
        </p:spPr>
        <p:txBody>
          <a:bodyPr wrap="square" rtlCol="0">
            <a:spAutoFit/>
          </a:bodyPr>
          <a:lstStyle/>
          <a:p>
            <a:r>
              <a:rPr lang="en-GB" sz="2800" dirty="0">
                <a:latin typeface="Calibri" panose="020F0502020204030204" pitchFamily="34" charset="0"/>
                <a:cs typeface="Calibri" panose="020F0502020204030204" pitchFamily="34" charset="0"/>
              </a:rPr>
              <a:t>UK ‘local’ climate projections: summer rainfall</a:t>
            </a:r>
          </a:p>
          <a:p>
            <a:endParaRPr lang="en-GB" sz="2700" dirty="0">
              <a:latin typeface="Calibri" panose="020F0502020204030204" pitchFamily="34" charset="0"/>
              <a:cs typeface="Calibri" panose="020F0502020204030204" pitchFamily="34" charset="0"/>
            </a:endParaRPr>
          </a:p>
          <a:p>
            <a:r>
              <a:rPr lang="en-GB" sz="2700" dirty="0">
                <a:latin typeface="Calibri" panose="020F0502020204030204" pitchFamily="34" charset="0"/>
                <a:cs typeface="Calibri" panose="020F0502020204030204" pitchFamily="34" charset="0"/>
              </a:rPr>
              <a:t>Summer rainfall is less frequent but more intense</a:t>
            </a:r>
          </a:p>
        </p:txBody>
      </p:sp>
    </p:spTree>
    <p:extLst>
      <p:ext uri="{BB962C8B-B14F-4D97-AF65-F5344CB8AC3E}">
        <p14:creationId xmlns:p14="http://schemas.microsoft.com/office/powerpoint/2010/main" val="42103905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21D3133-F71C-9569-AC2A-74D6EE140C4F}"/>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E264B63A-6147-015E-3B75-96767BAC09BE}"/>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grpSp>
        <p:nvGrpSpPr>
          <p:cNvPr id="3" name="Group 2">
            <a:extLst>
              <a:ext uri="{FF2B5EF4-FFF2-40B4-BE49-F238E27FC236}">
                <a16:creationId xmlns:a16="http://schemas.microsoft.com/office/drawing/2014/main" id="{0E0E4780-F4F2-37DB-1C76-01DC5EEE4580}"/>
              </a:ext>
            </a:extLst>
          </p:cNvPr>
          <p:cNvGrpSpPr>
            <a:grpSpLocks/>
          </p:cNvGrpSpPr>
          <p:nvPr/>
        </p:nvGrpSpPr>
        <p:grpSpPr bwMode="auto">
          <a:xfrm>
            <a:off x="847995" y="2976458"/>
            <a:ext cx="8878887" cy="6634163"/>
            <a:chOff x="123" y="-3"/>
            <a:chExt cx="5593" cy="4179"/>
          </a:xfrm>
        </p:grpSpPr>
        <p:pic>
          <p:nvPicPr>
            <p:cNvPr id="4" name="Picture 3">
              <a:extLst>
                <a:ext uri="{FF2B5EF4-FFF2-40B4-BE49-F238E27FC236}">
                  <a16:creationId xmlns:a16="http://schemas.microsoft.com/office/drawing/2014/main" id="{39AD1FF9-ED7C-C0B5-3CC4-DEB2D67F5A4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 y="128"/>
              <a:ext cx="2998" cy="1468"/>
            </a:xfrm>
            <a:prstGeom prst="rect">
              <a:avLst/>
            </a:prstGeom>
            <a:solidFill>
              <a:srgbClr val="000000"/>
            </a:solidFill>
            <a:ln w="12700">
              <a:solidFill>
                <a:schemeClr val="tx1"/>
              </a:solidFill>
              <a:miter lim="800000"/>
              <a:headEnd/>
              <a:tailEnd/>
            </a:ln>
          </p:spPr>
        </p:pic>
        <p:sp>
          <p:nvSpPr>
            <p:cNvPr id="6" name="Rectangle 4">
              <a:extLst>
                <a:ext uri="{FF2B5EF4-FFF2-40B4-BE49-F238E27FC236}">
                  <a16:creationId xmlns:a16="http://schemas.microsoft.com/office/drawing/2014/main" id="{701F19D7-D43D-6D7F-8E96-3DF184BA63FC}"/>
                </a:ext>
              </a:extLst>
            </p:cNvPr>
            <p:cNvSpPr>
              <a:spLocks noChangeArrowheads="1"/>
            </p:cNvSpPr>
            <p:nvPr/>
          </p:nvSpPr>
          <p:spPr bwMode="auto">
            <a:xfrm>
              <a:off x="1527" y="357"/>
              <a:ext cx="126" cy="1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eaLnBrk="1" hangingPunct="1">
                <a:spcBef>
                  <a:spcPct val="0"/>
                </a:spcBef>
              </a:pPr>
              <a:endParaRPr lang="en-US" altLang="en-US" sz="2400">
                <a:latin typeface="Times New Roman" panose="02020603050405020304" pitchFamily="18" charset="0"/>
              </a:endParaRPr>
            </a:p>
          </p:txBody>
        </p:sp>
        <p:sp>
          <p:nvSpPr>
            <p:cNvPr id="8" name="Line 5">
              <a:extLst>
                <a:ext uri="{FF2B5EF4-FFF2-40B4-BE49-F238E27FC236}">
                  <a16:creationId xmlns:a16="http://schemas.microsoft.com/office/drawing/2014/main" id="{356B32BC-A4FB-C00B-E7EC-5FA85ABF2199}"/>
                </a:ext>
              </a:extLst>
            </p:cNvPr>
            <p:cNvSpPr>
              <a:spLocks noChangeShapeType="1"/>
            </p:cNvSpPr>
            <p:nvPr/>
          </p:nvSpPr>
          <p:spPr bwMode="auto">
            <a:xfrm>
              <a:off x="1646" y="357"/>
              <a:ext cx="3198" cy="173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6">
              <a:extLst>
                <a:ext uri="{FF2B5EF4-FFF2-40B4-BE49-F238E27FC236}">
                  <a16:creationId xmlns:a16="http://schemas.microsoft.com/office/drawing/2014/main" id="{9B89E074-52A5-6669-1341-C9E2A801F7B4}"/>
                </a:ext>
              </a:extLst>
            </p:cNvPr>
            <p:cNvSpPr>
              <a:spLocks noChangeShapeType="1"/>
            </p:cNvSpPr>
            <p:nvPr/>
          </p:nvSpPr>
          <p:spPr bwMode="auto">
            <a:xfrm>
              <a:off x="1527" y="357"/>
              <a:ext cx="1270" cy="171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Text Box 7">
              <a:extLst>
                <a:ext uri="{FF2B5EF4-FFF2-40B4-BE49-F238E27FC236}">
                  <a16:creationId xmlns:a16="http://schemas.microsoft.com/office/drawing/2014/main" id="{43629D86-5794-5245-6237-B8D954477CC9}"/>
                </a:ext>
              </a:extLst>
            </p:cNvPr>
            <p:cNvSpPr txBox="1">
              <a:spLocks noChangeArrowheads="1"/>
            </p:cNvSpPr>
            <p:nvPr/>
          </p:nvSpPr>
          <p:spPr bwMode="auto">
            <a:xfrm>
              <a:off x="3483" y="109"/>
              <a:ext cx="87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spcBef>
                  <a:spcPct val="0"/>
                </a:spcBef>
              </a:pPr>
              <a:r>
                <a:rPr lang="en-GB" altLang="en-GB" sz="1800"/>
                <a:t>19 levels in </a:t>
              </a:r>
            </a:p>
            <a:p>
              <a:pPr>
                <a:spcBef>
                  <a:spcPct val="0"/>
                </a:spcBef>
              </a:pPr>
              <a:r>
                <a:rPr lang="en-GB" altLang="en-GB" sz="1800"/>
                <a:t>atmosphere</a:t>
              </a:r>
            </a:p>
          </p:txBody>
        </p:sp>
        <p:sp>
          <p:nvSpPr>
            <p:cNvPr id="20" name="Text Box 8">
              <a:extLst>
                <a:ext uri="{FF2B5EF4-FFF2-40B4-BE49-F238E27FC236}">
                  <a16:creationId xmlns:a16="http://schemas.microsoft.com/office/drawing/2014/main" id="{9E63A426-0E88-A342-65F1-7EE577E96D02}"/>
                </a:ext>
              </a:extLst>
            </p:cNvPr>
            <p:cNvSpPr txBox="1">
              <a:spLocks noChangeArrowheads="1"/>
            </p:cNvSpPr>
            <p:nvPr/>
          </p:nvSpPr>
          <p:spPr bwMode="auto">
            <a:xfrm>
              <a:off x="2007" y="2912"/>
              <a:ext cx="748"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spcBef>
                  <a:spcPct val="0"/>
                </a:spcBef>
              </a:pPr>
              <a:r>
                <a:rPr lang="en-GB" altLang="en-GB" sz="2000"/>
                <a:t>20 levels</a:t>
              </a:r>
              <a:br>
                <a:rPr lang="en-GB" altLang="en-GB" sz="2000"/>
              </a:br>
              <a:r>
                <a:rPr lang="en-GB" altLang="en-GB" sz="2000"/>
                <a:t>in ocean</a:t>
              </a:r>
            </a:p>
          </p:txBody>
        </p:sp>
        <p:sp>
          <p:nvSpPr>
            <p:cNvPr id="21" name="Freeform 9">
              <a:extLst>
                <a:ext uri="{FF2B5EF4-FFF2-40B4-BE49-F238E27FC236}">
                  <a16:creationId xmlns:a16="http://schemas.microsoft.com/office/drawing/2014/main" id="{F877FFB2-2639-10CE-74C0-C1E8EEE698AA}"/>
                </a:ext>
              </a:extLst>
            </p:cNvPr>
            <p:cNvSpPr>
              <a:spLocks/>
            </p:cNvSpPr>
            <p:nvPr/>
          </p:nvSpPr>
          <p:spPr bwMode="auto">
            <a:xfrm>
              <a:off x="2792" y="2088"/>
              <a:ext cx="2866" cy="1570"/>
            </a:xfrm>
            <a:custGeom>
              <a:avLst/>
              <a:gdLst>
                <a:gd name="T0" fmla="*/ 2866 w 2866"/>
                <a:gd name="T1" fmla="*/ 1570 h 1570"/>
                <a:gd name="T2" fmla="*/ 763 w 2866"/>
                <a:gd name="T3" fmla="*/ 1570 h 1570"/>
                <a:gd name="T4" fmla="*/ 0 w 2866"/>
                <a:gd name="T5" fmla="*/ 0 h 1570"/>
                <a:gd name="T6" fmla="*/ 2096 w 2866"/>
                <a:gd name="T7" fmla="*/ 0 h 1570"/>
                <a:gd name="T8" fmla="*/ 2866 w 2866"/>
                <a:gd name="T9" fmla="*/ 1570 h 1570"/>
                <a:gd name="T10" fmla="*/ 0 60000 65536"/>
                <a:gd name="T11" fmla="*/ 0 60000 65536"/>
                <a:gd name="T12" fmla="*/ 0 60000 65536"/>
                <a:gd name="T13" fmla="*/ 0 60000 65536"/>
                <a:gd name="T14" fmla="*/ 0 60000 65536"/>
                <a:gd name="T15" fmla="*/ 0 w 2866"/>
                <a:gd name="T16" fmla="*/ 0 h 1570"/>
                <a:gd name="T17" fmla="*/ 2866 w 2866"/>
                <a:gd name="T18" fmla="*/ 1570 h 1570"/>
              </a:gdLst>
              <a:ahLst/>
              <a:cxnLst>
                <a:cxn ang="T10">
                  <a:pos x="T0" y="T1"/>
                </a:cxn>
                <a:cxn ang="T11">
                  <a:pos x="T2" y="T3"/>
                </a:cxn>
                <a:cxn ang="T12">
                  <a:pos x="T4" y="T5"/>
                </a:cxn>
                <a:cxn ang="T13">
                  <a:pos x="T6" y="T7"/>
                </a:cxn>
                <a:cxn ang="T14">
                  <a:pos x="T8" y="T9"/>
                </a:cxn>
              </a:cxnLst>
              <a:rect l="T15" t="T16" r="T17" b="T18"/>
              <a:pathLst>
                <a:path w="2866" h="1570">
                  <a:moveTo>
                    <a:pt x="2866" y="1570"/>
                  </a:moveTo>
                  <a:lnTo>
                    <a:pt x="763" y="1570"/>
                  </a:lnTo>
                  <a:lnTo>
                    <a:pt x="0" y="0"/>
                  </a:lnTo>
                  <a:lnTo>
                    <a:pt x="2096" y="0"/>
                  </a:lnTo>
                  <a:lnTo>
                    <a:pt x="2866" y="1570"/>
                  </a:lnTo>
                  <a:close/>
                </a:path>
              </a:pathLst>
            </a:custGeom>
            <a:solidFill>
              <a:srgbClr val="CCEC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 name="Freeform 10">
              <a:extLst>
                <a:ext uri="{FF2B5EF4-FFF2-40B4-BE49-F238E27FC236}">
                  <a16:creationId xmlns:a16="http://schemas.microsoft.com/office/drawing/2014/main" id="{125D7262-D378-B2AC-6E51-89D25CAE487A}"/>
                </a:ext>
              </a:extLst>
            </p:cNvPr>
            <p:cNvSpPr>
              <a:spLocks/>
            </p:cNvSpPr>
            <p:nvPr/>
          </p:nvSpPr>
          <p:spPr bwMode="auto">
            <a:xfrm>
              <a:off x="2792" y="2088"/>
              <a:ext cx="2866" cy="1570"/>
            </a:xfrm>
            <a:custGeom>
              <a:avLst/>
              <a:gdLst>
                <a:gd name="T0" fmla="*/ 2866 w 2866"/>
                <a:gd name="T1" fmla="*/ 1570 h 1570"/>
                <a:gd name="T2" fmla="*/ 763 w 2866"/>
                <a:gd name="T3" fmla="*/ 1570 h 1570"/>
                <a:gd name="T4" fmla="*/ 0 w 2866"/>
                <a:gd name="T5" fmla="*/ 0 h 1570"/>
                <a:gd name="T6" fmla="*/ 2096 w 2866"/>
                <a:gd name="T7" fmla="*/ 0 h 1570"/>
                <a:gd name="T8" fmla="*/ 2866 w 2866"/>
                <a:gd name="T9" fmla="*/ 1570 h 1570"/>
                <a:gd name="T10" fmla="*/ 0 60000 65536"/>
                <a:gd name="T11" fmla="*/ 0 60000 65536"/>
                <a:gd name="T12" fmla="*/ 0 60000 65536"/>
                <a:gd name="T13" fmla="*/ 0 60000 65536"/>
                <a:gd name="T14" fmla="*/ 0 60000 65536"/>
                <a:gd name="T15" fmla="*/ 0 w 2866"/>
                <a:gd name="T16" fmla="*/ 0 h 1570"/>
                <a:gd name="T17" fmla="*/ 2866 w 2866"/>
                <a:gd name="T18" fmla="*/ 1570 h 1570"/>
              </a:gdLst>
              <a:ahLst/>
              <a:cxnLst>
                <a:cxn ang="T10">
                  <a:pos x="T0" y="T1"/>
                </a:cxn>
                <a:cxn ang="T11">
                  <a:pos x="T2" y="T3"/>
                </a:cxn>
                <a:cxn ang="T12">
                  <a:pos x="T4" y="T5"/>
                </a:cxn>
                <a:cxn ang="T13">
                  <a:pos x="T6" y="T7"/>
                </a:cxn>
                <a:cxn ang="T14">
                  <a:pos x="T8" y="T9"/>
                </a:cxn>
              </a:cxnLst>
              <a:rect l="T15" t="T16" r="T17" b="T18"/>
              <a:pathLst>
                <a:path w="2866" h="1570">
                  <a:moveTo>
                    <a:pt x="2866" y="1570"/>
                  </a:moveTo>
                  <a:lnTo>
                    <a:pt x="763" y="1570"/>
                  </a:lnTo>
                  <a:lnTo>
                    <a:pt x="0" y="0"/>
                  </a:lnTo>
                  <a:lnTo>
                    <a:pt x="2096" y="0"/>
                  </a:lnTo>
                  <a:lnTo>
                    <a:pt x="2866" y="1570"/>
                  </a:lnTo>
                  <a:close/>
                </a:path>
              </a:pathLst>
            </a:custGeom>
            <a:noFill/>
            <a:ln w="238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11">
              <a:extLst>
                <a:ext uri="{FF2B5EF4-FFF2-40B4-BE49-F238E27FC236}">
                  <a16:creationId xmlns:a16="http://schemas.microsoft.com/office/drawing/2014/main" id="{EBAB6750-5CCA-0A39-B6D4-134D7F84931D}"/>
                </a:ext>
              </a:extLst>
            </p:cNvPr>
            <p:cNvSpPr>
              <a:spLocks/>
            </p:cNvSpPr>
            <p:nvPr/>
          </p:nvSpPr>
          <p:spPr bwMode="auto">
            <a:xfrm>
              <a:off x="3584" y="2829"/>
              <a:ext cx="533" cy="488"/>
            </a:xfrm>
            <a:custGeom>
              <a:avLst/>
              <a:gdLst>
                <a:gd name="T0" fmla="*/ 393 w 533"/>
                <a:gd name="T1" fmla="*/ 436 h 488"/>
                <a:gd name="T2" fmla="*/ 422 w 533"/>
                <a:gd name="T3" fmla="*/ 407 h 488"/>
                <a:gd name="T4" fmla="*/ 445 w 533"/>
                <a:gd name="T5" fmla="*/ 392 h 488"/>
                <a:gd name="T6" fmla="*/ 489 w 533"/>
                <a:gd name="T7" fmla="*/ 399 h 488"/>
                <a:gd name="T8" fmla="*/ 519 w 533"/>
                <a:gd name="T9" fmla="*/ 392 h 488"/>
                <a:gd name="T10" fmla="*/ 519 w 533"/>
                <a:gd name="T11" fmla="*/ 348 h 488"/>
                <a:gd name="T12" fmla="*/ 496 w 533"/>
                <a:gd name="T13" fmla="*/ 274 h 488"/>
                <a:gd name="T14" fmla="*/ 474 w 533"/>
                <a:gd name="T15" fmla="*/ 251 h 488"/>
                <a:gd name="T16" fmla="*/ 459 w 533"/>
                <a:gd name="T17" fmla="*/ 229 h 488"/>
                <a:gd name="T18" fmla="*/ 422 w 533"/>
                <a:gd name="T19" fmla="*/ 192 h 488"/>
                <a:gd name="T20" fmla="*/ 430 w 533"/>
                <a:gd name="T21" fmla="*/ 177 h 488"/>
                <a:gd name="T22" fmla="*/ 467 w 533"/>
                <a:gd name="T23" fmla="*/ 170 h 488"/>
                <a:gd name="T24" fmla="*/ 474 w 533"/>
                <a:gd name="T25" fmla="*/ 140 h 488"/>
                <a:gd name="T26" fmla="*/ 482 w 533"/>
                <a:gd name="T27" fmla="*/ 125 h 488"/>
                <a:gd name="T28" fmla="*/ 474 w 533"/>
                <a:gd name="T29" fmla="*/ 103 h 488"/>
                <a:gd name="T30" fmla="*/ 452 w 533"/>
                <a:gd name="T31" fmla="*/ 88 h 488"/>
                <a:gd name="T32" fmla="*/ 437 w 533"/>
                <a:gd name="T33" fmla="*/ 81 h 488"/>
                <a:gd name="T34" fmla="*/ 393 w 533"/>
                <a:gd name="T35" fmla="*/ 29 h 488"/>
                <a:gd name="T36" fmla="*/ 296 w 533"/>
                <a:gd name="T37" fmla="*/ 29 h 488"/>
                <a:gd name="T38" fmla="*/ 267 w 533"/>
                <a:gd name="T39" fmla="*/ 44 h 488"/>
                <a:gd name="T40" fmla="*/ 259 w 533"/>
                <a:gd name="T41" fmla="*/ 7 h 488"/>
                <a:gd name="T42" fmla="*/ 230 w 533"/>
                <a:gd name="T43" fmla="*/ 14 h 488"/>
                <a:gd name="T44" fmla="*/ 208 w 533"/>
                <a:gd name="T45" fmla="*/ 22 h 488"/>
                <a:gd name="T46" fmla="*/ 185 w 533"/>
                <a:gd name="T47" fmla="*/ 22 h 488"/>
                <a:gd name="T48" fmla="*/ 163 w 533"/>
                <a:gd name="T49" fmla="*/ 66 h 488"/>
                <a:gd name="T50" fmla="*/ 148 w 533"/>
                <a:gd name="T51" fmla="*/ 81 h 488"/>
                <a:gd name="T52" fmla="*/ 178 w 533"/>
                <a:gd name="T53" fmla="*/ 96 h 488"/>
                <a:gd name="T54" fmla="*/ 171 w 533"/>
                <a:gd name="T55" fmla="*/ 140 h 488"/>
                <a:gd name="T56" fmla="*/ 111 w 533"/>
                <a:gd name="T57" fmla="*/ 148 h 488"/>
                <a:gd name="T58" fmla="*/ 37 w 533"/>
                <a:gd name="T59" fmla="*/ 140 h 488"/>
                <a:gd name="T60" fmla="*/ 8 w 533"/>
                <a:gd name="T61" fmla="*/ 162 h 488"/>
                <a:gd name="T62" fmla="*/ 52 w 533"/>
                <a:gd name="T63" fmla="*/ 177 h 488"/>
                <a:gd name="T64" fmla="*/ 52 w 533"/>
                <a:gd name="T65" fmla="*/ 200 h 488"/>
                <a:gd name="T66" fmla="*/ 23 w 533"/>
                <a:gd name="T67" fmla="*/ 229 h 488"/>
                <a:gd name="T68" fmla="*/ 60 w 533"/>
                <a:gd name="T69" fmla="*/ 244 h 488"/>
                <a:gd name="T70" fmla="*/ 97 w 533"/>
                <a:gd name="T71" fmla="*/ 259 h 488"/>
                <a:gd name="T72" fmla="*/ 178 w 533"/>
                <a:gd name="T73" fmla="*/ 266 h 488"/>
                <a:gd name="T74" fmla="*/ 141 w 533"/>
                <a:gd name="T75" fmla="*/ 296 h 488"/>
                <a:gd name="T76" fmla="*/ 111 w 533"/>
                <a:gd name="T77" fmla="*/ 355 h 488"/>
                <a:gd name="T78" fmla="*/ 148 w 533"/>
                <a:gd name="T79" fmla="*/ 340 h 488"/>
                <a:gd name="T80" fmla="*/ 185 w 533"/>
                <a:gd name="T81" fmla="*/ 348 h 488"/>
                <a:gd name="T82" fmla="*/ 237 w 533"/>
                <a:gd name="T83" fmla="*/ 340 h 488"/>
                <a:gd name="T84" fmla="*/ 163 w 533"/>
                <a:gd name="T85" fmla="*/ 348 h 488"/>
                <a:gd name="T86" fmla="*/ 111 w 533"/>
                <a:gd name="T87" fmla="*/ 362 h 488"/>
                <a:gd name="T88" fmla="*/ 134 w 533"/>
                <a:gd name="T89" fmla="*/ 385 h 488"/>
                <a:gd name="T90" fmla="*/ 97 w 533"/>
                <a:gd name="T91" fmla="*/ 377 h 488"/>
                <a:gd name="T92" fmla="*/ 60 w 533"/>
                <a:gd name="T93" fmla="*/ 392 h 488"/>
                <a:gd name="T94" fmla="*/ 111 w 533"/>
                <a:gd name="T95" fmla="*/ 399 h 488"/>
                <a:gd name="T96" fmla="*/ 126 w 533"/>
                <a:gd name="T97" fmla="*/ 407 h 488"/>
                <a:gd name="T98" fmla="*/ 104 w 533"/>
                <a:gd name="T99" fmla="*/ 422 h 488"/>
                <a:gd name="T100" fmla="*/ 111 w 533"/>
                <a:gd name="T101" fmla="*/ 429 h 488"/>
                <a:gd name="T102" fmla="*/ 171 w 533"/>
                <a:gd name="T103" fmla="*/ 436 h 488"/>
                <a:gd name="T104" fmla="*/ 126 w 533"/>
                <a:gd name="T105" fmla="*/ 466 h 488"/>
                <a:gd name="T106" fmla="*/ 185 w 533"/>
                <a:gd name="T107" fmla="*/ 451 h 488"/>
                <a:gd name="T108" fmla="*/ 200 w 533"/>
                <a:gd name="T109" fmla="*/ 466 h 488"/>
                <a:gd name="T110" fmla="*/ 208 w 533"/>
                <a:gd name="T111" fmla="*/ 481 h 488"/>
                <a:gd name="T112" fmla="*/ 259 w 533"/>
                <a:gd name="T113" fmla="*/ 474 h 488"/>
                <a:gd name="T114" fmla="*/ 296 w 533"/>
                <a:gd name="T115" fmla="*/ 474 h 488"/>
                <a:gd name="T116" fmla="*/ 319 w 533"/>
                <a:gd name="T117" fmla="*/ 459 h 488"/>
                <a:gd name="T118" fmla="*/ 319 w 533"/>
                <a:gd name="T119" fmla="*/ 429 h 48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533"/>
                <a:gd name="T181" fmla="*/ 0 h 488"/>
                <a:gd name="T182" fmla="*/ 533 w 533"/>
                <a:gd name="T183" fmla="*/ 488 h 48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533" h="488">
                  <a:moveTo>
                    <a:pt x="371" y="436"/>
                  </a:moveTo>
                  <a:lnTo>
                    <a:pt x="378" y="436"/>
                  </a:lnTo>
                  <a:lnTo>
                    <a:pt x="371" y="436"/>
                  </a:lnTo>
                  <a:lnTo>
                    <a:pt x="363" y="429"/>
                  </a:lnTo>
                  <a:lnTo>
                    <a:pt x="371" y="429"/>
                  </a:lnTo>
                  <a:lnTo>
                    <a:pt x="371" y="422"/>
                  </a:lnTo>
                  <a:lnTo>
                    <a:pt x="378" y="422"/>
                  </a:lnTo>
                  <a:lnTo>
                    <a:pt x="378" y="429"/>
                  </a:lnTo>
                  <a:lnTo>
                    <a:pt x="385" y="429"/>
                  </a:lnTo>
                  <a:lnTo>
                    <a:pt x="393" y="436"/>
                  </a:lnTo>
                  <a:lnTo>
                    <a:pt x="400" y="429"/>
                  </a:lnTo>
                  <a:lnTo>
                    <a:pt x="408" y="422"/>
                  </a:lnTo>
                  <a:lnTo>
                    <a:pt x="400" y="422"/>
                  </a:lnTo>
                  <a:lnTo>
                    <a:pt x="393" y="414"/>
                  </a:lnTo>
                  <a:lnTo>
                    <a:pt x="393" y="407"/>
                  </a:lnTo>
                  <a:lnTo>
                    <a:pt x="400" y="414"/>
                  </a:lnTo>
                  <a:lnTo>
                    <a:pt x="408" y="414"/>
                  </a:lnTo>
                  <a:lnTo>
                    <a:pt x="415" y="414"/>
                  </a:lnTo>
                  <a:lnTo>
                    <a:pt x="422" y="414"/>
                  </a:lnTo>
                  <a:lnTo>
                    <a:pt x="422" y="407"/>
                  </a:lnTo>
                  <a:lnTo>
                    <a:pt x="430" y="407"/>
                  </a:lnTo>
                  <a:lnTo>
                    <a:pt x="437" y="414"/>
                  </a:lnTo>
                  <a:lnTo>
                    <a:pt x="437" y="407"/>
                  </a:lnTo>
                  <a:lnTo>
                    <a:pt x="445" y="407"/>
                  </a:lnTo>
                  <a:lnTo>
                    <a:pt x="459" y="414"/>
                  </a:lnTo>
                  <a:lnTo>
                    <a:pt x="467" y="407"/>
                  </a:lnTo>
                  <a:lnTo>
                    <a:pt x="459" y="399"/>
                  </a:lnTo>
                  <a:lnTo>
                    <a:pt x="452" y="399"/>
                  </a:lnTo>
                  <a:lnTo>
                    <a:pt x="445" y="392"/>
                  </a:lnTo>
                  <a:lnTo>
                    <a:pt x="445" y="385"/>
                  </a:lnTo>
                  <a:lnTo>
                    <a:pt x="452" y="385"/>
                  </a:lnTo>
                  <a:lnTo>
                    <a:pt x="452" y="392"/>
                  </a:lnTo>
                  <a:lnTo>
                    <a:pt x="459" y="392"/>
                  </a:lnTo>
                  <a:lnTo>
                    <a:pt x="467" y="399"/>
                  </a:lnTo>
                  <a:lnTo>
                    <a:pt x="474" y="407"/>
                  </a:lnTo>
                  <a:lnTo>
                    <a:pt x="474" y="399"/>
                  </a:lnTo>
                  <a:lnTo>
                    <a:pt x="482" y="392"/>
                  </a:lnTo>
                  <a:lnTo>
                    <a:pt x="482" y="399"/>
                  </a:lnTo>
                  <a:lnTo>
                    <a:pt x="489" y="399"/>
                  </a:lnTo>
                  <a:lnTo>
                    <a:pt x="496" y="399"/>
                  </a:lnTo>
                  <a:lnTo>
                    <a:pt x="511" y="407"/>
                  </a:lnTo>
                  <a:lnTo>
                    <a:pt x="511" y="399"/>
                  </a:lnTo>
                  <a:lnTo>
                    <a:pt x="519" y="399"/>
                  </a:lnTo>
                  <a:lnTo>
                    <a:pt x="526" y="407"/>
                  </a:lnTo>
                  <a:lnTo>
                    <a:pt x="533" y="399"/>
                  </a:lnTo>
                  <a:lnTo>
                    <a:pt x="526" y="392"/>
                  </a:lnTo>
                  <a:lnTo>
                    <a:pt x="519" y="392"/>
                  </a:lnTo>
                  <a:lnTo>
                    <a:pt x="511" y="392"/>
                  </a:lnTo>
                  <a:lnTo>
                    <a:pt x="504" y="385"/>
                  </a:lnTo>
                  <a:lnTo>
                    <a:pt x="511" y="377"/>
                  </a:lnTo>
                  <a:lnTo>
                    <a:pt x="519" y="385"/>
                  </a:lnTo>
                  <a:lnTo>
                    <a:pt x="519" y="377"/>
                  </a:lnTo>
                  <a:lnTo>
                    <a:pt x="526" y="362"/>
                  </a:lnTo>
                  <a:lnTo>
                    <a:pt x="519" y="355"/>
                  </a:lnTo>
                  <a:lnTo>
                    <a:pt x="519" y="348"/>
                  </a:lnTo>
                  <a:lnTo>
                    <a:pt x="519" y="340"/>
                  </a:lnTo>
                  <a:lnTo>
                    <a:pt x="519" y="333"/>
                  </a:lnTo>
                  <a:lnTo>
                    <a:pt x="519" y="311"/>
                  </a:lnTo>
                  <a:lnTo>
                    <a:pt x="519" y="303"/>
                  </a:lnTo>
                  <a:lnTo>
                    <a:pt x="511" y="303"/>
                  </a:lnTo>
                  <a:lnTo>
                    <a:pt x="511" y="296"/>
                  </a:lnTo>
                  <a:lnTo>
                    <a:pt x="504" y="288"/>
                  </a:lnTo>
                  <a:lnTo>
                    <a:pt x="504" y="281"/>
                  </a:lnTo>
                  <a:lnTo>
                    <a:pt x="496" y="274"/>
                  </a:lnTo>
                  <a:lnTo>
                    <a:pt x="489" y="266"/>
                  </a:lnTo>
                  <a:lnTo>
                    <a:pt x="482" y="266"/>
                  </a:lnTo>
                  <a:lnTo>
                    <a:pt x="474" y="266"/>
                  </a:lnTo>
                  <a:lnTo>
                    <a:pt x="467" y="259"/>
                  </a:lnTo>
                  <a:lnTo>
                    <a:pt x="474" y="259"/>
                  </a:lnTo>
                  <a:lnTo>
                    <a:pt x="482" y="266"/>
                  </a:lnTo>
                  <a:lnTo>
                    <a:pt x="489" y="266"/>
                  </a:lnTo>
                  <a:lnTo>
                    <a:pt x="496" y="259"/>
                  </a:lnTo>
                  <a:lnTo>
                    <a:pt x="482" y="259"/>
                  </a:lnTo>
                  <a:lnTo>
                    <a:pt x="474" y="251"/>
                  </a:lnTo>
                  <a:lnTo>
                    <a:pt x="467" y="251"/>
                  </a:lnTo>
                  <a:lnTo>
                    <a:pt x="474" y="251"/>
                  </a:lnTo>
                  <a:lnTo>
                    <a:pt x="482" y="251"/>
                  </a:lnTo>
                  <a:lnTo>
                    <a:pt x="474" y="244"/>
                  </a:lnTo>
                  <a:lnTo>
                    <a:pt x="467" y="244"/>
                  </a:lnTo>
                  <a:lnTo>
                    <a:pt x="474" y="237"/>
                  </a:lnTo>
                  <a:lnTo>
                    <a:pt x="482" y="237"/>
                  </a:lnTo>
                  <a:lnTo>
                    <a:pt x="474" y="237"/>
                  </a:lnTo>
                  <a:lnTo>
                    <a:pt x="467" y="229"/>
                  </a:lnTo>
                  <a:lnTo>
                    <a:pt x="459" y="229"/>
                  </a:lnTo>
                  <a:lnTo>
                    <a:pt x="459" y="222"/>
                  </a:lnTo>
                  <a:lnTo>
                    <a:pt x="452" y="222"/>
                  </a:lnTo>
                  <a:lnTo>
                    <a:pt x="445" y="214"/>
                  </a:lnTo>
                  <a:lnTo>
                    <a:pt x="452" y="214"/>
                  </a:lnTo>
                  <a:lnTo>
                    <a:pt x="452" y="207"/>
                  </a:lnTo>
                  <a:lnTo>
                    <a:pt x="445" y="207"/>
                  </a:lnTo>
                  <a:lnTo>
                    <a:pt x="445" y="200"/>
                  </a:lnTo>
                  <a:lnTo>
                    <a:pt x="430" y="200"/>
                  </a:lnTo>
                  <a:lnTo>
                    <a:pt x="422" y="192"/>
                  </a:lnTo>
                  <a:lnTo>
                    <a:pt x="422" y="185"/>
                  </a:lnTo>
                  <a:lnTo>
                    <a:pt x="430" y="185"/>
                  </a:lnTo>
                  <a:lnTo>
                    <a:pt x="437" y="185"/>
                  </a:lnTo>
                  <a:lnTo>
                    <a:pt x="445" y="185"/>
                  </a:lnTo>
                  <a:lnTo>
                    <a:pt x="452" y="185"/>
                  </a:lnTo>
                  <a:lnTo>
                    <a:pt x="445" y="177"/>
                  </a:lnTo>
                  <a:lnTo>
                    <a:pt x="437" y="177"/>
                  </a:lnTo>
                  <a:lnTo>
                    <a:pt x="430" y="177"/>
                  </a:lnTo>
                  <a:lnTo>
                    <a:pt x="430" y="170"/>
                  </a:lnTo>
                  <a:lnTo>
                    <a:pt x="422" y="170"/>
                  </a:lnTo>
                  <a:lnTo>
                    <a:pt x="430" y="170"/>
                  </a:lnTo>
                  <a:lnTo>
                    <a:pt x="445" y="170"/>
                  </a:lnTo>
                  <a:lnTo>
                    <a:pt x="452" y="177"/>
                  </a:lnTo>
                  <a:lnTo>
                    <a:pt x="459" y="177"/>
                  </a:lnTo>
                  <a:lnTo>
                    <a:pt x="467" y="170"/>
                  </a:lnTo>
                  <a:lnTo>
                    <a:pt x="474" y="170"/>
                  </a:lnTo>
                  <a:lnTo>
                    <a:pt x="467" y="155"/>
                  </a:lnTo>
                  <a:lnTo>
                    <a:pt x="474" y="155"/>
                  </a:lnTo>
                  <a:lnTo>
                    <a:pt x="489" y="155"/>
                  </a:lnTo>
                  <a:lnTo>
                    <a:pt x="489" y="148"/>
                  </a:lnTo>
                  <a:lnTo>
                    <a:pt x="496" y="148"/>
                  </a:lnTo>
                  <a:lnTo>
                    <a:pt x="489" y="140"/>
                  </a:lnTo>
                  <a:lnTo>
                    <a:pt x="482" y="140"/>
                  </a:lnTo>
                  <a:lnTo>
                    <a:pt x="474" y="140"/>
                  </a:lnTo>
                  <a:lnTo>
                    <a:pt x="467" y="140"/>
                  </a:lnTo>
                  <a:lnTo>
                    <a:pt x="474" y="133"/>
                  </a:lnTo>
                  <a:lnTo>
                    <a:pt x="474" y="125"/>
                  </a:lnTo>
                  <a:lnTo>
                    <a:pt x="467" y="125"/>
                  </a:lnTo>
                  <a:lnTo>
                    <a:pt x="459" y="118"/>
                  </a:lnTo>
                  <a:lnTo>
                    <a:pt x="459" y="111"/>
                  </a:lnTo>
                  <a:lnTo>
                    <a:pt x="467" y="111"/>
                  </a:lnTo>
                  <a:lnTo>
                    <a:pt x="474" y="111"/>
                  </a:lnTo>
                  <a:lnTo>
                    <a:pt x="474" y="118"/>
                  </a:lnTo>
                  <a:lnTo>
                    <a:pt x="482" y="125"/>
                  </a:lnTo>
                  <a:lnTo>
                    <a:pt x="482" y="133"/>
                  </a:lnTo>
                  <a:lnTo>
                    <a:pt x="489" y="133"/>
                  </a:lnTo>
                  <a:lnTo>
                    <a:pt x="489" y="140"/>
                  </a:lnTo>
                  <a:lnTo>
                    <a:pt x="496" y="140"/>
                  </a:lnTo>
                  <a:lnTo>
                    <a:pt x="496" y="133"/>
                  </a:lnTo>
                  <a:lnTo>
                    <a:pt x="496" y="125"/>
                  </a:lnTo>
                  <a:lnTo>
                    <a:pt x="489" y="118"/>
                  </a:lnTo>
                  <a:lnTo>
                    <a:pt x="489" y="111"/>
                  </a:lnTo>
                  <a:lnTo>
                    <a:pt x="482" y="111"/>
                  </a:lnTo>
                  <a:lnTo>
                    <a:pt x="474" y="103"/>
                  </a:lnTo>
                  <a:lnTo>
                    <a:pt x="474" y="96"/>
                  </a:lnTo>
                  <a:lnTo>
                    <a:pt x="467" y="96"/>
                  </a:lnTo>
                  <a:lnTo>
                    <a:pt x="452" y="96"/>
                  </a:lnTo>
                  <a:lnTo>
                    <a:pt x="445" y="96"/>
                  </a:lnTo>
                  <a:lnTo>
                    <a:pt x="445" y="103"/>
                  </a:lnTo>
                  <a:lnTo>
                    <a:pt x="437" y="103"/>
                  </a:lnTo>
                  <a:lnTo>
                    <a:pt x="437" y="96"/>
                  </a:lnTo>
                  <a:lnTo>
                    <a:pt x="437" y="88"/>
                  </a:lnTo>
                  <a:lnTo>
                    <a:pt x="445" y="88"/>
                  </a:lnTo>
                  <a:lnTo>
                    <a:pt x="452" y="88"/>
                  </a:lnTo>
                  <a:lnTo>
                    <a:pt x="452" y="81"/>
                  </a:lnTo>
                  <a:lnTo>
                    <a:pt x="445" y="74"/>
                  </a:lnTo>
                  <a:lnTo>
                    <a:pt x="437" y="74"/>
                  </a:lnTo>
                  <a:lnTo>
                    <a:pt x="445" y="74"/>
                  </a:lnTo>
                  <a:lnTo>
                    <a:pt x="445" y="81"/>
                  </a:lnTo>
                  <a:lnTo>
                    <a:pt x="437" y="81"/>
                  </a:lnTo>
                  <a:lnTo>
                    <a:pt x="437" y="74"/>
                  </a:lnTo>
                  <a:lnTo>
                    <a:pt x="430" y="74"/>
                  </a:lnTo>
                  <a:lnTo>
                    <a:pt x="422" y="66"/>
                  </a:lnTo>
                  <a:lnTo>
                    <a:pt x="415" y="66"/>
                  </a:lnTo>
                  <a:lnTo>
                    <a:pt x="408" y="59"/>
                  </a:lnTo>
                  <a:lnTo>
                    <a:pt x="400" y="51"/>
                  </a:lnTo>
                  <a:lnTo>
                    <a:pt x="393" y="44"/>
                  </a:lnTo>
                  <a:lnTo>
                    <a:pt x="393" y="37"/>
                  </a:lnTo>
                  <a:lnTo>
                    <a:pt x="393" y="29"/>
                  </a:lnTo>
                  <a:lnTo>
                    <a:pt x="385" y="29"/>
                  </a:lnTo>
                  <a:lnTo>
                    <a:pt x="378" y="22"/>
                  </a:lnTo>
                  <a:lnTo>
                    <a:pt x="371" y="22"/>
                  </a:lnTo>
                  <a:lnTo>
                    <a:pt x="356" y="22"/>
                  </a:lnTo>
                  <a:lnTo>
                    <a:pt x="341" y="22"/>
                  </a:lnTo>
                  <a:lnTo>
                    <a:pt x="334" y="22"/>
                  </a:lnTo>
                  <a:lnTo>
                    <a:pt x="334" y="29"/>
                  </a:lnTo>
                  <a:lnTo>
                    <a:pt x="319" y="29"/>
                  </a:lnTo>
                  <a:lnTo>
                    <a:pt x="311" y="29"/>
                  </a:lnTo>
                  <a:lnTo>
                    <a:pt x="304" y="29"/>
                  </a:lnTo>
                  <a:lnTo>
                    <a:pt x="296" y="29"/>
                  </a:lnTo>
                  <a:lnTo>
                    <a:pt x="289" y="37"/>
                  </a:lnTo>
                  <a:lnTo>
                    <a:pt x="289" y="44"/>
                  </a:lnTo>
                  <a:lnTo>
                    <a:pt x="282" y="44"/>
                  </a:lnTo>
                  <a:lnTo>
                    <a:pt x="289" y="44"/>
                  </a:lnTo>
                  <a:lnTo>
                    <a:pt x="282" y="44"/>
                  </a:lnTo>
                  <a:lnTo>
                    <a:pt x="274" y="44"/>
                  </a:lnTo>
                  <a:lnTo>
                    <a:pt x="267" y="44"/>
                  </a:lnTo>
                  <a:lnTo>
                    <a:pt x="267" y="37"/>
                  </a:lnTo>
                  <a:lnTo>
                    <a:pt x="274" y="37"/>
                  </a:lnTo>
                  <a:lnTo>
                    <a:pt x="282" y="29"/>
                  </a:lnTo>
                  <a:lnTo>
                    <a:pt x="289" y="22"/>
                  </a:lnTo>
                  <a:lnTo>
                    <a:pt x="282" y="22"/>
                  </a:lnTo>
                  <a:lnTo>
                    <a:pt x="274" y="14"/>
                  </a:lnTo>
                  <a:lnTo>
                    <a:pt x="259" y="7"/>
                  </a:lnTo>
                  <a:lnTo>
                    <a:pt x="252" y="7"/>
                  </a:lnTo>
                  <a:lnTo>
                    <a:pt x="245" y="0"/>
                  </a:lnTo>
                  <a:lnTo>
                    <a:pt x="237" y="0"/>
                  </a:lnTo>
                  <a:lnTo>
                    <a:pt x="245" y="7"/>
                  </a:lnTo>
                  <a:lnTo>
                    <a:pt x="252" y="14"/>
                  </a:lnTo>
                  <a:lnTo>
                    <a:pt x="245" y="14"/>
                  </a:lnTo>
                  <a:lnTo>
                    <a:pt x="237" y="14"/>
                  </a:lnTo>
                  <a:lnTo>
                    <a:pt x="230" y="14"/>
                  </a:lnTo>
                  <a:lnTo>
                    <a:pt x="230" y="22"/>
                  </a:lnTo>
                  <a:lnTo>
                    <a:pt x="237" y="29"/>
                  </a:lnTo>
                  <a:lnTo>
                    <a:pt x="237" y="44"/>
                  </a:lnTo>
                  <a:lnTo>
                    <a:pt x="237" y="51"/>
                  </a:lnTo>
                  <a:lnTo>
                    <a:pt x="230" y="59"/>
                  </a:lnTo>
                  <a:lnTo>
                    <a:pt x="230" y="44"/>
                  </a:lnTo>
                  <a:lnTo>
                    <a:pt x="230" y="37"/>
                  </a:lnTo>
                  <a:lnTo>
                    <a:pt x="230" y="22"/>
                  </a:lnTo>
                  <a:lnTo>
                    <a:pt x="215" y="14"/>
                  </a:lnTo>
                  <a:lnTo>
                    <a:pt x="208" y="14"/>
                  </a:lnTo>
                  <a:lnTo>
                    <a:pt x="208" y="22"/>
                  </a:lnTo>
                  <a:lnTo>
                    <a:pt x="215" y="29"/>
                  </a:lnTo>
                  <a:lnTo>
                    <a:pt x="222" y="37"/>
                  </a:lnTo>
                  <a:lnTo>
                    <a:pt x="215" y="37"/>
                  </a:lnTo>
                  <a:lnTo>
                    <a:pt x="208" y="22"/>
                  </a:lnTo>
                  <a:lnTo>
                    <a:pt x="193" y="22"/>
                  </a:lnTo>
                  <a:lnTo>
                    <a:pt x="200" y="29"/>
                  </a:lnTo>
                  <a:lnTo>
                    <a:pt x="200" y="37"/>
                  </a:lnTo>
                  <a:lnTo>
                    <a:pt x="193" y="29"/>
                  </a:lnTo>
                  <a:lnTo>
                    <a:pt x="185" y="22"/>
                  </a:lnTo>
                  <a:lnTo>
                    <a:pt x="178" y="22"/>
                  </a:lnTo>
                  <a:lnTo>
                    <a:pt x="171" y="29"/>
                  </a:lnTo>
                  <a:lnTo>
                    <a:pt x="156" y="29"/>
                  </a:lnTo>
                  <a:lnTo>
                    <a:pt x="148" y="29"/>
                  </a:lnTo>
                  <a:lnTo>
                    <a:pt x="148" y="37"/>
                  </a:lnTo>
                  <a:lnTo>
                    <a:pt x="141" y="51"/>
                  </a:lnTo>
                  <a:lnTo>
                    <a:pt x="148" y="51"/>
                  </a:lnTo>
                  <a:lnTo>
                    <a:pt x="148" y="59"/>
                  </a:lnTo>
                  <a:lnTo>
                    <a:pt x="141" y="59"/>
                  </a:lnTo>
                  <a:lnTo>
                    <a:pt x="156" y="59"/>
                  </a:lnTo>
                  <a:lnTo>
                    <a:pt x="163" y="66"/>
                  </a:lnTo>
                  <a:lnTo>
                    <a:pt x="163" y="74"/>
                  </a:lnTo>
                  <a:lnTo>
                    <a:pt x="156" y="74"/>
                  </a:lnTo>
                  <a:lnTo>
                    <a:pt x="148" y="66"/>
                  </a:lnTo>
                  <a:lnTo>
                    <a:pt x="141" y="66"/>
                  </a:lnTo>
                  <a:lnTo>
                    <a:pt x="141" y="74"/>
                  </a:lnTo>
                  <a:lnTo>
                    <a:pt x="148" y="74"/>
                  </a:lnTo>
                  <a:lnTo>
                    <a:pt x="156" y="74"/>
                  </a:lnTo>
                  <a:lnTo>
                    <a:pt x="156" y="81"/>
                  </a:lnTo>
                  <a:lnTo>
                    <a:pt x="148" y="81"/>
                  </a:lnTo>
                  <a:lnTo>
                    <a:pt x="141" y="81"/>
                  </a:lnTo>
                  <a:lnTo>
                    <a:pt x="134" y="74"/>
                  </a:lnTo>
                  <a:lnTo>
                    <a:pt x="126" y="81"/>
                  </a:lnTo>
                  <a:lnTo>
                    <a:pt x="119" y="88"/>
                  </a:lnTo>
                  <a:lnTo>
                    <a:pt x="126" y="96"/>
                  </a:lnTo>
                  <a:lnTo>
                    <a:pt x="141" y="103"/>
                  </a:lnTo>
                  <a:lnTo>
                    <a:pt x="163" y="96"/>
                  </a:lnTo>
                  <a:lnTo>
                    <a:pt x="171" y="96"/>
                  </a:lnTo>
                  <a:lnTo>
                    <a:pt x="163" y="103"/>
                  </a:lnTo>
                  <a:lnTo>
                    <a:pt x="163" y="111"/>
                  </a:lnTo>
                  <a:lnTo>
                    <a:pt x="178" y="103"/>
                  </a:lnTo>
                  <a:lnTo>
                    <a:pt x="178" y="96"/>
                  </a:lnTo>
                  <a:lnTo>
                    <a:pt x="185" y="103"/>
                  </a:lnTo>
                  <a:lnTo>
                    <a:pt x="200" y="96"/>
                  </a:lnTo>
                  <a:lnTo>
                    <a:pt x="200" y="103"/>
                  </a:lnTo>
                  <a:lnTo>
                    <a:pt x="185" y="118"/>
                  </a:lnTo>
                  <a:lnTo>
                    <a:pt x="171" y="118"/>
                  </a:lnTo>
                  <a:lnTo>
                    <a:pt x="156" y="125"/>
                  </a:lnTo>
                  <a:lnTo>
                    <a:pt x="156" y="133"/>
                  </a:lnTo>
                  <a:lnTo>
                    <a:pt x="163" y="133"/>
                  </a:lnTo>
                  <a:lnTo>
                    <a:pt x="178" y="140"/>
                  </a:lnTo>
                  <a:lnTo>
                    <a:pt x="171" y="140"/>
                  </a:lnTo>
                  <a:lnTo>
                    <a:pt x="178" y="148"/>
                  </a:lnTo>
                  <a:lnTo>
                    <a:pt x="185" y="148"/>
                  </a:lnTo>
                  <a:lnTo>
                    <a:pt x="178" y="155"/>
                  </a:lnTo>
                  <a:lnTo>
                    <a:pt x="171" y="140"/>
                  </a:lnTo>
                  <a:lnTo>
                    <a:pt x="171" y="148"/>
                  </a:lnTo>
                  <a:lnTo>
                    <a:pt x="171" y="155"/>
                  </a:lnTo>
                  <a:lnTo>
                    <a:pt x="156" y="148"/>
                  </a:lnTo>
                  <a:lnTo>
                    <a:pt x="141" y="140"/>
                  </a:lnTo>
                  <a:lnTo>
                    <a:pt x="119" y="140"/>
                  </a:lnTo>
                  <a:lnTo>
                    <a:pt x="111" y="148"/>
                  </a:lnTo>
                  <a:lnTo>
                    <a:pt x="111" y="155"/>
                  </a:lnTo>
                  <a:lnTo>
                    <a:pt x="104" y="155"/>
                  </a:lnTo>
                  <a:lnTo>
                    <a:pt x="104" y="148"/>
                  </a:lnTo>
                  <a:lnTo>
                    <a:pt x="97" y="140"/>
                  </a:lnTo>
                  <a:lnTo>
                    <a:pt x="82" y="133"/>
                  </a:lnTo>
                  <a:lnTo>
                    <a:pt x="60" y="133"/>
                  </a:lnTo>
                  <a:lnTo>
                    <a:pt x="37" y="133"/>
                  </a:lnTo>
                  <a:lnTo>
                    <a:pt x="30" y="125"/>
                  </a:lnTo>
                  <a:lnTo>
                    <a:pt x="23" y="133"/>
                  </a:lnTo>
                  <a:lnTo>
                    <a:pt x="30" y="133"/>
                  </a:lnTo>
                  <a:lnTo>
                    <a:pt x="37" y="133"/>
                  </a:lnTo>
                  <a:lnTo>
                    <a:pt x="37" y="140"/>
                  </a:lnTo>
                  <a:lnTo>
                    <a:pt x="30" y="140"/>
                  </a:lnTo>
                  <a:lnTo>
                    <a:pt x="23" y="140"/>
                  </a:lnTo>
                  <a:lnTo>
                    <a:pt x="30" y="140"/>
                  </a:lnTo>
                  <a:lnTo>
                    <a:pt x="23" y="148"/>
                  </a:lnTo>
                  <a:lnTo>
                    <a:pt x="23" y="140"/>
                  </a:lnTo>
                  <a:lnTo>
                    <a:pt x="15" y="133"/>
                  </a:lnTo>
                  <a:lnTo>
                    <a:pt x="8" y="133"/>
                  </a:lnTo>
                  <a:lnTo>
                    <a:pt x="0" y="140"/>
                  </a:lnTo>
                  <a:lnTo>
                    <a:pt x="0" y="148"/>
                  </a:lnTo>
                  <a:lnTo>
                    <a:pt x="0" y="155"/>
                  </a:lnTo>
                  <a:lnTo>
                    <a:pt x="8" y="162"/>
                  </a:lnTo>
                  <a:lnTo>
                    <a:pt x="15" y="162"/>
                  </a:lnTo>
                  <a:lnTo>
                    <a:pt x="15" y="155"/>
                  </a:lnTo>
                  <a:lnTo>
                    <a:pt x="15" y="148"/>
                  </a:lnTo>
                  <a:lnTo>
                    <a:pt x="23" y="148"/>
                  </a:lnTo>
                  <a:lnTo>
                    <a:pt x="23" y="162"/>
                  </a:lnTo>
                  <a:lnTo>
                    <a:pt x="30" y="162"/>
                  </a:lnTo>
                  <a:lnTo>
                    <a:pt x="30" y="155"/>
                  </a:lnTo>
                  <a:lnTo>
                    <a:pt x="37" y="162"/>
                  </a:lnTo>
                  <a:lnTo>
                    <a:pt x="37" y="170"/>
                  </a:lnTo>
                  <a:lnTo>
                    <a:pt x="52" y="177"/>
                  </a:lnTo>
                  <a:lnTo>
                    <a:pt x="45" y="177"/>
                  </a:lnTo>
                  <a:lnTo>
                    <a:pt x="67" y="185"/>
                  </a:lnTo>
                  <a:lnTo>
                    <a:pt x="82" y="185"/>
                  </a:lnTo>
                  <a:lnTo>
                    <a:pt x="82" y="192"/>
                  </a:lnTo>
                  <a:lnTo>
                    <a:pt x="89" y="192"/>
                  </a:lnTo>
                  <a:lnTo>
                    <a:pt x="89" y="200"/>
                  </a:lnTo>
                  <a:lnTo>
                    <a:pt x="74" y="200"/>
                  </a:lnTo>
                  <a:lnTo>
                    <a:pt x="60" y="200"/>
                  </a:lnTo>
                  <a:lnTo>
                    <a:pt x="52" y="200"/>
                  </a:lnTo>
                  <a:lnTo>
                    <a:pt x="45" y="207"/>
                  </a:lnTo>
                  <a:lnTo>
                    <a:pt x="52" y="214"/>
                  </a:lnTo>
                  <a:lnTo>
                    <a:pt x="67" y="222"/>
                  </a:lnTo>
                  <a:lnTo>
                    <a:pt x="82" y="222"/>
                  </a:lnTo>
                  <a:lnTo>
                    <a:pt x="67" y="222"/>
                  </a:lnTo>
                  <a:lnTo>
                    <a:pt x="52" y="222"/>
                  </a:lnTo>
                  <a:lnTo>
                    <a:pt x="37" y="222"/>
                  </a:lnTo>
                  <a:lnTo>
                    <a:pt x="52" y="222"/>
                  </a:lnTo>
                  <a:lnTo>
                    <a:pt x="52" y="229"/>
                  </a:lnTo>
                  <a:lnTo>
                    <a:pt x="37" y="222"/>
                  </a:lnTo>
                  <a:lnTo>
                    <a:pt x="30" y="222"/>
                  </a:lnTo>
                  <a:lnTo>
                    <a:pt x="23" y="229"/>
                  </a:lnTo>
                  <a:lnTo>
                    <a:pt x="30" y="229"/>
                  </a:lnTo>
                  <a:lnTo>
                    <a:pt x="37" y="229"/>
                  </a:lnTo>
                  <a:lnTo>
                    <a:pt x="45" y="237"/>
                  </a:lnTo>
                  <a:lnTo>
                    <a:pt x="37" y="237"/>
                  </a:lnTo>
                  <a:lnTo>
                    <a:pt x="30" y="244"/>
                  </a:lnTo>
                  <a:lnTo>
                    <a:pt x="37" y="244"/>
                  </a:lnTo>
                  <a:lnTo>
                    <a:pt x="45" y="244"/>
                  </a:lnTo>
                  <a:lnTo>
                    <a:pt x="60" y="251"/>
                  </a:lnTo>
                  <a:lnTo>
                    <a:pt x="60" y="244"/>
                  </a:lnTo>
                  <a:lnTo>
                    <a:pt x="67" y="244"/>
                  </a:lnTo>
                  <a:lnTo>
                    <a:pt x="82" y="251"/>
                  </a:lnTo>
                  <a:lnTo>
                    <a:pt x="74" y="251"/>
                  </a:lnTo>
                  <a:lnTo>
                    <a:pt x="67" y="251"/>
                  </a:lnTo>
                  <a:lnTo>
                    <a:pt x="74" y="259"/>
                  </a:lnTo>
                  <a:lnTo>
                    <a:pt x="82" y="259"/>
                  </a:lnTo>
                  <a:lnTo>
                    <a:pt x="89" y="251"/>
                  </a:lnTo>
                  <a:lnTo>
                    <a:pt x="89" y="244"/>
                  </a:lnTo>
                  <a:lnTo>
                    <a:pt x="97" y="251"/>
                  </a:lnTo>
                  <a:lnTo>
                    <a:pt x="97" y="259"/>
                  </a:lnTo>
                  <a:lnTo>
                    <a:pt x="104" y="251"/>
                  </a:lnTo>
                  <a:lnTo>
                    <a:pt x="111" y="251"/>
                  </a:lnTo>
                  <a:lnTo>
                    <a:pt x="111" y="259"/>
                  </a:lnTo>
                  <a:lnTo>
                    <a:pt x="111" y="266"/>
                  </a:lnTo>
                  <a:lnTo>
                    <a:pt x="119" y="266"/>
                  </a:lnTo>
                  <a:lnTo>
                    <a:pt x="119" y="274"/>
                  </a:lnTo>
                  <a:lnTo>
                    <a:pt x="126" y="274"/>
                  </a:lnTo>
                  <a:lnTo>
                    <a:pt x="178" y="266"/>
                  </a:lnTo>
                  <a:lnTo>
                    <a:pt x="178" y="274"/>
                  </a:lnTo>
                  <a:lnTo>
                    <a:pt x="193" y="274"/>
                  </a:lnTo>
                  <a:lnTo>
                    <a:pt x="185" y="281"/>
                  </a:lnTo>
                  <a:lnTo>
                    <a:pt x="178" y="274"/>
                  </a:lnTo>
                  <a:lnTo>
                    <a:pt x="171" y="281"/>
                  </a:lnTo>
                  <a:lnTo>
                    <a:pt x="163" y="281"/>
                  </a:lnTo>
                  <a:lnTo>
                    <a:pt x="156" y="281"/>
                  </a:lnTo>
                  <a:lnTo>
                    <a:pt x="148" y="281"/>
                  </a:lnTo>
                  <a:lnTo>
                    <a:pt x="141" y="288"/>
                  </a:lnTo>
                  <a:lnTo>
                    <a:pt x="141" y="296"/>
                  </a:lnTo>
                  <a:lnTo>
                    <a:pt x="141" y="303"/>
                  </a:lnTo>
                  <a:lnTo>
                    <a:pt x="148" y="303"/>
                  </a:lnTo>
                  <a:lnTo>
                    <a:pt x="156" y="303"/>
                  </a:lnTo>
                  <a:lnTo>
                    <a:pt x="148" y="311"/>
                  </a:lnTo>
                  <a:lnTo>
                    <a:pt x="141" y="325"/>
                  </a:lnTo>
                  <a:lnTo>
                    <a:pt x="119" y="333"/>
                  </a:lnTo>
                  <a:lnTo>
                    <a:pt x="111" y="340"/>
                  </a:lnTo>
                  <a:lnTo>
                    <a:pt x="104" y="348"/>
                  </a:lnTo>
                  <a:lnTo>
                    <a:pt x="104" y="355"/>
                  </a:lnTo>
                  <a:lnTo>
                    <a:pt x="111" y="355"/>
                  </a:lnTo>
                  <a:lnTo>
                    <a:pt x="111" y="348"/>
                  </a:lnTo>
                  <a:lnTo>
                    <a:pt x="119" y="348"/>
                  </a:lnTo>
                  <a:lnTo>
                    <a:pt x="126" y="348"/>
                  </a:lnTo>
                  <a:lnTo>
                    <a:pt x="134" y="348"/>
                  </a:lnTo>
                  <a:lnTo>
                    <a:pt x="126" y="340"/>
                  </a:lnTo>
                  <a:lnTo>
                    <a:pt x="134" y="340"/>
                  </a:lnTo>
                  <a:lnTo>
                    <a:pt x="141" y="340"/>
                  </a:lnTo>
                  <a:lnTo>
                    <a:pt x="141" y="333"/>
                  </a:lnTo>
                  <a:lnTo>
                    <a:pt x="148" y="333"/>
                  </a:lnTo>
                  <a:lnTo>
                    <a:pt x="148" y="340"/>
                  </a:lnTo>
                  <a:lnTo>
                    <a:pt x="156" y="340"/>
                  </a:lnTo>
                  <a:lnTo>
                    <a:pt x="156" y="348"/>
                  </a:lnTo>
                  <a:lnTo>
                    <a:pt x="163" y="348"/>
                  </a:lnTo>
                  <a:lnTo>
                    <a:pt x="171" y="348"/>
                  </a:lnTo>
                  <a:lnTo>
                    <a:pt x="171" y="340"/>
                  </a:lnTo>
                  <a:lnTo>
                    <a:pt x="178" y="340"/>
                  </a:lnTo>
                  <a:lnTo>
                    <a:pt x="171" y="348"/>
                  </a:lnTo>
                  <a:lnTo>
                    <a:pt x="178" y="348"/>
                  </a:lnTo>
                  <a:lnTo>
                    <a:pt x="185" y="348"/>
                  </a:lnTo>
                  <a:lnTo>
                    <a:pt x="193" y="340"/>
                  </a:lnTo>
                  <a:lnTo>
                    <a:pt x="200" y="340"/>
                  </a:lnTo>
                  <a:lnTo>
                    <a:pt x="200" y="325"/>
                  </a:lnTo>
                  <a:lnTo>
                    <a:pt x="208" y="325"/>
                  </a:lnTo>
                  <a:lnTo>
                    <a:pt x="215" y="325"/>
                  </a:lnTo>
                  <a:lnTo>
                    <a:pt x="208" y="325"/>
                  </a:lnTo>
                  <a:lnTo>
                    <a:pt x="208" y="333"/>
                  </a:lnTo>
                  <a:lnTo>
                    <a:pt x="215" y="333"/>
                  </a:lnTo>
                  <a:lnTo>
                    <a:pt x="222" y="340"/>
                  </a:lnTo>
                  <a:lnTo>
                    <a:pt x="230" y="340"/>
                  </a:lnTo>
                  <a:lnTo>
                    <a:pt x="237" y="340"/>
                  </a:lnTo>
                  <a:lnTo>
                    <a:pt x="230" y="340"/>
                  </a:lnTo>
                  <a:lnTo>
                    <a:pt x="215" y="340"/>
                  </a:lnTo>
                  <a:lnTo>
                    <a:pt x="208" y="340"/>
                  </a:lnTo>
                  <a:lnTo>
                    <a:pt x="208" y="348"/>
                  </a:lnTo>
                  <a:lnTo>
                    <a:pt x="200" y="348"/>
                  </a:lnTo>
                  <a:lnTo>
                    <a:pt x="193" y="348"/>
                  </a:lnTo>
                  <a:lnTo>
                    <a:pt x="178" y="348"/>
                  </a:lnTo>
                  <a:lnTo>
                    <a:pt x="178" y="355"/>
                  </a:lnTo>
                  <a:lnTo>
                    <a:pt x="171" y="355"/>
                  </a:lnTo>
                  <a:lnTo>
                    <a:pt x="163" y="348"/>
                  </a:lnTo>
                  <a:lnTo>
                    <a:pt x="156" y="355"/>
                  </a:lnTo>
                  <a:lnTo>
                    <a:pt x="141" y="348"/>
                  </a:lnTo>
                  <a:lnTo>
                    <a:pt x="134" y="348"/>
                  </a:lnTo>
                  <a:lnTo>
                    <a:pt x="134" y="355"/>
                  </a:lnTo>
                  <a:lnTo>
                    <a:pt x="126" y="362"/>
                  </a:lnTo>
                  <a:lnTo>
                    <a:pt x="119" y="362"/>
                  </a:lnTo>
                  <a:lnTo>
                    <a:pt x="111" y="362"/>
                  </a:lnTo>
                  <a:lnTo>
                    <a:pt x="104" y="362"/>
                  </a:lnTo>
                  <a:lnTo>
                    <a:pt x="111" y="362"/>
                  </a:lnTo>
                  <a:lnTo>
                    <a:pt x="119" y="370"/>
                  </a:lnTo>
                  <a:lnTo>
                    <a:pt x="126" y="370"/>
                  </a:lnTo>
                  <a:lnTo>
                    <a:pt x="119" y="370"/>
                  </a:lnTo>
                  <a:lnTo>
                    <a:pt x="119" y="377"/>
                  </a:lnTo>
                  <a:lnTo>
                    <a:pt x="126" y="385"/>
                  </a:lnTo>
                  <a:lnTo>
                    <a:pt x="141" y="385"/>
                  </a:lnTo>
                  <a:lnTo>
                    <a:pt x="134" y="385"/>
                  </a:lnTo>
                  <a:lnTo>
                    <a:pt x="119" y="385"/>
                  </a:lnTo>
                  <a:lnTo>
                    <a:pt x="111" y="385"/>
                  </a:lnTo>
                  <a:lnTo>
                    <a:pt x="104" y="377"/>
                  </a:lnTo>
                  <a:lnTo>
                    <a:pt x="104" y="370"/>
                  </a:lnTo>
                  <a:lnTo>
                    <a:pt x="97" y="377"/>
                  </a:lnTo>
                  <a:lnTo>
                    <a:pt x="97" y="385"/>
                  </a:lnTo>
                  <a:lnTo>
                    <a:pt x="89" y="385"/>
                  </a:lnTo>
                  <a:lnTo>
                    <a:pt x="89" y="377"/>
                  </a:lnTo>
                  <a:lnTo>
                    <a:pt x="97" y="377"/>
                  </a:lnTo>
                  <a:lnTo>
                    <a:pt x="89" y="377"/>
                  </a:lnTo>
                  <a:lnTo>
                    <a:pt x="82" y="377"/>
                  </a:lnTo>
                  <a:lnTo>
                    <a:pt x="74" y="385"/>
                  </a:lnTo>
                  <a:lnTo>
                    <a:pt x="67" y="385"/>
                  </a:lnTo>
                  <a:lnTo>
                    <a:pt x="74" y="392"/>
                  </a:lnTo>
                  <a:lnTo>
                    <a:pt x="67" y="385"/>
                  </a:lnTo>
                  <a:lnTo>
                    <a:pt x="60" y="385"/>
                  </a:lnTo>
                  <a:lnTo>
                    <a:pt x="60" y="392"/>
                  </a:lnTo>
                  <a:lnTo>
                    <a:pt x="60" y="399"/>
                  </a:lnTo>
                  <a:lnTo>
                    <a:pt x="67" y="399"/>
                  </a:lnTo>
                  <a:lnTo>
                    <a:pt x="82" y="399"/>
                  </a:lnTo>
                  <a:lnTo>
                    <a:pt x="89" y="399"/>
                  </a:lnTo>
                  <a:lnTo>
                    <a:pt x="89" y="392"/>
                  </a:lnTo>
                  <a:lnTo>
                    <a:pt x="97" y="399"/>
                  </a:lnTo>
                  <a:lnTo>
                    <a:pt x="111" y="399"/>
                  </a:lnTo>
                  <a:lnTo>
                    <a:pt x="119" y="399"/>
                  </a:lnTo>
                  <a:lnTo>
                    <a:pt x="126" y="399"/>
                  </a:lnTo>
                  <a:lnTo>
                    <a:pt x="134" y="399"/>
                  </a:lnTo>
                  <a:lnTo>
                    <a:pt x="141" y="392"/>
                  </a:lnTo>
                  <a:lnTo>
                    <a:pt x="148" y="399"/>
                  </a:lnTo>
                  <a:lnTo>
                    <a:pt x="141" y="407"/>
                  </a:lnTo>
                  <a:lnTo>
                    <a:pt x="134" y="407"/>
                  </a:lnTo>
                  <a:lnTo>
                    <a:pt x="134" y="399"/>
                  </a:lnTo>
                  <a:lnTo>
                    <a:pt x="134" y="407"/>
                  </a:lnTo>
                  <a:lnTo>
                    <a:pt x="126" y="407"/>
                  </a:lnTo>
                  <a:lnTo>
                    <a:pt x="119" y="407"/>
                  </a:lnTo>
                  <a:lnTo>
                    <a:pt x="119" y="414"/>
                  </a:lnTo>
                  <a:lnTo>
                    <a:pt x="119" y="407"/>
                  </a:lnTo>
                  <a:lnTo>
                    <a:pt x="111" y="407"/>
                  </a:lnTo>
                  <a:lnTo>
                    <a:pt x="104" y="407"/>
                  </a:lnTo>
                  <a:lnTo>
                    <a:pt x="97" y="414"/>
                  </a:lnTo>
                  <a:lnTo>
                    <a:pt x="89" y="414"/>
                  </a:lnTo>
                  <a:lnTo>
                    <a:pt x="97" y="422"/>
                  </a:lnTo>
                  <a:lnTo>
                    <a:pt x="104" y="414"/>
                  </a:lnTo>
                  <a:lnTo>
                    <a:pt x="104" y="422"/>
                  </a:lnTo>
                  <a:lnTo>
                    <a:pt x="97" y="422"/>
                  </a:lnTo>
                  <a:lnTo>
                    <a:pt x="89" y="422"/>
                  </a:lnTo>
                  <a:lnTo>
                    <a:pt x="82" y="422"/>
                  </a:lnTo>
                  <a:lnTo>
                    <a:pt x="74" y="422"/>
                  </a:lnTo>
                  <a:lnTo>
                    <a:pt x="82" y="429"/>
                  </a:lnTo>
                  <a:lnTo>
                    <a:pt x="89" y="436"/>
                  </a:lnTo>
                  <a:lnTo>
                    <a:pt x="97" y="436"/>
                  </a:lnTo>
                  <a:lnTo>
                    <a:pt x="89" y="436"/>
                  </a:lnTo>
                  <a:lnTo>
                    <a:pt x="97" y="436"/>
                  </a:lnTo>
                  <a:lnTo>
                    <a:pt x="104" y="429"/>
                  </a:lnTo>
                  <a:lnTo>
                    <a:pt x="111" y="429"/>
                  </a:lnTo>
                  <a:lnTo>
                    <a:pt x="111" y="436"/>
                  </a:lnTo>
                  <a:lnTo>
                    <a:pt x="111" y="444"/>
                  </a:lnTo>
                  <a:lnTo>
                    <a:pt x="119" y="444"/>
                  </a:lnTo>
                  <a:lnTo>
                    <a:pt x="126" y="444"/>
                  </a:lnTo>
                  <a:lnTo>
                    <a:pt x="134" y="444"/>
                  </a:lnTo>
                  <a:lnTo>
                    <a:pt x="141" y="444"/>
                  </a:lnTo>
                  <a:lnTo>
                    <a:pt x="148" y="444"/>
                  </a:lnTo>
                  <a:lnTo>
                    <a:pt x="156" y="436"/>
                  </a:lnTo>
                  <a:lnTo>
                    <a:pt x="163" y="429"/>
                  </a:lnTo>
                  <a:lnTo>
                    <a:pt x="171" y="436"/>
                  </a:lnTo>
                  <a:lnTo>
                    <a:pt x="163" y="436"/>
                  </a:lnTo>
                  <a:lnTo>
                    <a:pt x="156" y="444"/>
                  </a:lnTo>
                  <a:lnTo>
                    <a:pt x="141" y="451"/>
                  </a:lnTo>
                  <a:lnTo>
                    <a:pt x="134" y="451"/>
                  </a:lnTo>
                  <a:lnTo>
                    <a:pt x="126" y="459"/>
                  </a:lnTo>
                  <a:lnTo>
                    <a:pt x="126" y="466"/>
                  </a:lnTo>
                  <a:lnTo>
                    <a:pt x="134" y="466"/>
                  </a:lnTo>
                  <a:lnTo>
                    <a:pt x="141" y="466"/>
                  </a:lnTo>
                  <a:lnTo>
                    <a:pt x="148" y="459"/>
                  </a:lnTo>
                  <a:lnTo>
                    <a:pt x="156" y="459"/>
                  </a:lnTo>
                  <a:lnTo>
                    <a:pt x="163" y="459"/>
                  </a:lnTo>
                  <a:lnTo>
                    <a:pt x="171" y="459"/>
                  </a:lnTo>
                  <a:lnTo>
                    <a:pt x="171" y="451"/>
                  </a:lnTo>
                  <a:lnTo>
                    <a:pt x="178" y="459"/>
                  </a:lnTo>
                  <a:lnTo>
                    <a:pt x="185" y="459"/>
                  </a:lnTo>
                  <a:lnTo>
                    <a:pt x="185" y="451"/>
                  </a:lnTo>
                  <a:lnTo>
                    <a:pt x="185" y="444"/>
                  </a:lnTo>
                  <a:lnTo>
                    <a:pt x="200" y="451"/>
                  </a:lnTo>
                  <a:lnTo>
                    <a:pt x="200" y="459"/>
                  </a:lnTo>
                  <a:lnTo>
                    <a:pt x="193" y="459"/>
                  </a:lnTo>
                  <a:lnTo>
                    <a:pt x="185" y="459"/>
                  </a:lnTo>
                  <a:lnTo>
                    <a:pt x="171" y="466"/>
                  </a:lnTo>
                  <a:lnTo>
                    <a:pt x="171" y="474"/>
                  </a:lnTo>
                  <a:lnTo>
                    <a:pt x="185" y="466"/>
                  </a:lnTo>
                  <a:lnTo>
                    <a:pt x="200" y="466"/>
                  </a:lnTo>
                  <a:lnTo>
                    <a:pt x="200" y="474"/>
                  </a:lnTo>
                  <a:lnTo>
                    <a:pt x="193" y="474"/>
                  </a:lnTo>
                  <a:lnTo>
                    <a:pt x="185" y="474"/>
                  </a:lnTo>
                  <a:lnTo>
                    <a:pt x="171" y="481"/>
                  </a:lnTo>
                  <a:lnTo>
                    <a:pt x="171" y="488"/>
                  </a:lnTo>
                  <a:lnTo>
                    <a:pt x="178" y="488"/>
                  </a:lnTo>
                  <a:lnTo>
                    <a:pt x="185" y="488"/>
                  </a:lnTo>
                  <a:lnTo>
                    <a:pt x="193" y="481"/>
                  </a:lnTo>
                  <a:lnTo>
                    <a:pt x="200" y="481"/>
                  </a:lnTo>
                  <a:lnTo>
                    <a:pt x="208" y="481"/>
                  </a:lnTo>
                  <a:lnTo>
                    <a:pt x="208" y="474"/>
                  </a:lnTo>
                  <a:lnTo>
                    <a:pt x="222" y="481"/>
                  </a:lnTo>
                  <a:lnTo>
                    <a:pt x="230" y="481"/>
                  </a:lnTo>
                  <a:lnTo>
                    <a:pt x="237" y="481"/>
                  </a:lnTo>
                  <a:lnTo>
                    <a:pt x="245" y="474"/>
                  </a:lnTo>
                  <a:lnTo>
                    <a:pt x="252" y="474"/>
                  </a:lnTo>
                  <a:lnTo>
                    <a:pt x="259" y="481"/>
                  </a:lnTo>
                  <a:lnTo>
                    <a:pt x="259" y="474"/>
                  </a:lnTo>
                  <a:lnTo>
                    <a:pt x="252" y="474"/>
                  </a:lnTo>
                  <a:lnTo>
                    <a:pt x="259" y="474"/>
                  </a:lnTo>
                  <a:lnTo>
                    <a:pt x="274" y="481"/>
                  </a:lnTo>
                  <a:lnTo>
                    <a:pt x="274" y="474"/>
                  </a:lnTo>
                  <a:lnTo>
                    <a:pt x="267" y="474"/>
                  </a:lnTo>
                  <a:lnTo>
                    <a:pt x="267" y="466"/>
                  </a:lnTo>
                  <a:lnTo>
                    <a:pt x="274" y="466"/>
                  </a:lnTo>
                  <a:lnTo>
                    <a:pt x="282" y="474"/>
                  </a:lnTo>
                  <a:lnTo>
                    <a:pt x="289" y="474"/>
                  </a:lnTo>
                  <a:lnTo>
                    <a:pt x="296" y="474"/>
                  </a:lnTo>
                  <a:lnTo>
                    <a:pt x="289" y="466"/>
                  </a:lnTo>
                  <a:lnTo>
                    <a:pt x="304" y="466"/>
                  </a:lnTo>
                  <a:lnTo>
                    <a:pt x="311" y="474"/>
                  </a:lnTo>
                  <a:lnTo>
                    <a:pt x="311" y="466"/>
                  </a:lnTo>
                  <a:lnTo>
                    <a:pt x="319" y="466"/>
                  </a:lnTo>
                  <a:lnTo>
                    <a:pt x="311" y="459"/>
                  </a:lnTo>
                  <a:lnTo>
                    <a:pt x="304" y="459"/>
                  </a:lnTo>
                  <a:lnTo>
                    <a:pt x="311" y="459"/>
                  </a:lnTo>
                  <a:lnTo>
                    <a:pt x="319" y="459"/>
                  </a:lnTo>
                  <a:lnTo>
                    <a:pt x="326" y="459"/>
                  </a:lnTo>
                  <a:lnTo>
                    <a:pt x="334" y="459"/>
                  </a:lnTo>
                  <a:lnTo>
                    <a:pt x="334" y="451"/>
                  </a:lnTo>
                  <a:lnTo>
                    <a:pt x="326" y="444"/>
                  </a:lnTo>
                  <a:lnTo>
                    <a:pt x="319" y="436"/>
                  </a:lnTo>
                  <a:lnTo>
                    <a:pt x="319" y="429"/>
                  </a:lnTo>
                  <a:lnTo>
                    <a:pt x="334" y="436"/>
                  </a:lnTo>
                  <a:lnTo>
                    <a:pt x="341" y="436"/>
                  </a:lnTo>
                  <a:lnTo>
                    <a:pt x="334" y="444"/>
                  </a:lnTo>
                  <a:lnTo>
                    <a:pt x="341" y="451"/>
                  </a:lnTo>
                  <a:lnTo>
                    <a:pt x="356" y="444"/>
                  </a:lnTo>
                  <a:lnTo>
                    <a:pt x="371" y="436"/>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 name="Freeform 12">
              <a:extLst>
                <a:ext uri="{FF2B5EF4-FFF2-40B4-BE49-F238E27FC236}">
                  <a16:creationId xmlns:a16="http://schemas.microsoft.com/office/drawing/2014/main" id="{ADB0EECF-6B95-9336-4109-6BC34DC685CB}"/>
                </a:ext>
              </a:extLst>
            </p:cNvPr>
            <p:cNvSpPr>
              <a:spLocks/>
            </p:cNvSpPr>
            <p:nvPr/>
          </p:nvSpPr>
          <p:spPr bwMode="auto">
            <a:xfrm>
              <a:off x="4169" y="2962"/>
              <a:ext cx="45" cy="44"/>
            </a:xfrm>
            <a:custGeom>
              <a:avLst/>
              <a:gdLst>
                <a:gd name="T0" fmla="*/ 37 w 45"/>
                <a:gd name="T1" fmla="*/ 37 h 44"/>
                <a:gd name="T2" fmla="*/ 30 w 45"/>
                <a:gd name="T3" fmla="*/ 37 h 44"/>
                <a:gd name="T4" fmla="*/ 30 w 45"/>
                <a:gd name="T5" fmla="*/ 37 h 44"/>
                <a:gd name="T6" fmla="*/ 22 w 45"/>
                <a:gd name="T7" fmla="*/ 37 h 44"/>
                <a:gd name="T8" fmla="*/ 15 w 45"/>
                <a:gd name="T9" fmla="*/ 44 h 44"/>
                <a:gd name="T10" fmla="*/ 15 w 45"/>
                <a:gd name="T11" fmla="*/ 44 h 44"/>
                <a:gd name="T12" fmla="*/ 8 w 45"/>
                <a:gd name="T13" fmla="*/ 44 h 44"/>
                <a:gd name="T14" fmla="*/ 0 w 45"/>
                <a:gd name="T15" fmla="*/ 37 h 44"/>
                <a:gd name="T16" fmla="*/ 8 w 45"/>
                <a:gd name="T17" fmla="*/ 37 h 44"/>
                <a:gd name="T18" fmla="*/ 8 w 45"/>
                <a:gd name="T19" fmla="*/ 37 h 44"/>
                <a:gd name="T20" fmla="*/ 0 w 45"/>
                <a:gd name="T21" fmla="*/ 29 h 44"/>
                <a:gd name="T22" fmla="*/ 0 w 45"/>
                <a:gd name="T23" fmla="*/ 22 h 44"/>
                <a:gd name="T24" fmla="*/ 8 w 45"/>
                <a:gd name="T25" fmla="*/ 22 h 44"/>
                <a:gd name="T26" fmla="*/ 8 w 45"/>
                <a:gd name="T27" fmla="*/ 7 h 44"/>
                <a:gd name="T28" fmla="*/ 15 w 45"/>
                <a:gd name="T29" fmla="*/ 0 h 44"/>
                <a:gd name="T30" fmla="*/ 30 w 45"/>
                <a:gd name="T31" fmla="*/ 0 h 44"/>
                <a:gd name="T32" fmla="*/ 37 w 45"/>
                <a:gd name="T33" fmla="*/ 7 h 44"/>
                <a:gd name="T34" fmla="*/ 37 w 45"/>
                <a:gd name="T35" fmla="*/ 7 h 44"/>
                <a:gd name="T36" fmla="*/ 45 w 45"/>
                <a:gd name="T37" fmla="*/ 15 h 44"/>
                <a:gd name="T38" fmla="*/ 45 w 45"/>
                <a:gd name="T39" fmla="*/ 22 h 44"/>
                <a:gd name="T40" fmla="*/ 37 w 45"/>
                <a:gd name="T41" fmla="*/ 37 h 44"/>
                <a:gd name="T42" fmla="*/ 37 w 45"/>
                <a:gd name="T43" fmla="*/ 37 h 4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5"/>
                <a:gd name="T67" fmla="*/ 0 h 44"/>
                <a:gd name="T68" fmla="*/ 45 w 45"/>
                <a:gd name="T69" fmla="*/ 44 h 4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5" h="44">
                  <a:moveTo>
                    <a:pt x="37" y="37"/>
                  </a:moveTo>
                  <a:lnTo>
                    <a:pt x="30" y="37"/>
                  </a:lnTo>
                  <a:lnTo>
                    <a:pt x="22" y="37"/>
                  </a:lnTo>
                  <a:lnTo>
                    <a:pt x="15" y="44"/>
                  </a:lnTo>
                  <a:lnTo>
                    <a:pt x="8" y="44"/>
                  </a:lnTo>
                  <a:lnTo>
                    <a:pt x="0" y="37"/>
                  </a:lnTo>
                  <a:lnTo>
                    <a:pt x="8" y="37"/>
                  </a:lnTo>
                  <a:lnTo>
                    <a:pt x="0" y="29"/>
                  </a:lnTo>
                  <a:lnTo>
                    <a:pt x="0" y="22"/>
                  </a:lnTo>
                  <a:lnTo>
                    <a:pt x="8" y="22"/>
                  </a:lnTo>
                  <a:lnTo>
                    <a:pt x="8" y="7"/>
                  </a:lnTo>
                  <a:lnTo>
                    <a:pt x="15" y="0"/>
                  </a:lnTo>
                  <a:lnTo>
                    <a:pt x="30" y="0"/>
                  </a:lnTo>
                  <a:lnTo>
                    <a:pt x="37" y="7"/>
                  </a:lnTo>
                  <a:lnTo>
                    <a:pt x="45" y="15"/>
                  </a:lnTo>
                  <a:lnTo>
                    <a:pt x="45" y="22"/>
                  </a:lnTo>
                  <a:lnTo>
                    <a:pt x="37" y="37"/>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 name="Freeform 13">
              <a:extLst>
                <a:ext uri="{FF2B5EF4-FFF2-40B4-BE49-F238E27FC236}">
                  <a16:creationId xmlns:a16="http://schemas.microsoft.com/office/drawing/2014/main" id="{9D7F918E-3FDF-2DE8-8DC4-62201842C0C3}"/>
                </a:ext>
              </a:extLst>
            </p:cNvPr>
            <p:cNvSpPr>
              <a:spLocks/>
            </p:cNvSpPr>
            <p:nvPr/>
          </p:nvSpPr>
          <p:spPr bwMode="auto">
            <a:xfrm>
              <a:off x="3895" y="2769"/>
              <a:ext cx="60" cy="37"/>
            </a:xfrm>
            <a:custGeom>
              <a:avLst/>
              <a:gdLst>
                <a:gd name="T0" fmla="*/ 60 w 60"/>
                <a:gd name="T1" fmla="*/ 37 h 37"/>
                <a:gd name="T2" fmla="*/ 52 w 60"/>
                <a:gd name="T3" fmla="*/ 37 h 37"/>
                <a:gd name="T4" fmla="*/ 45 w 60"/>
                <a:gd name="T5" fmla="*/ 37 h 37"/>
                <a:gd name="T6" fmla="*/ 30 w 60"/>
                <a:gd name="T7" fmla="*/ 37 h 37"/>
                <a:gd name="T8" fmla="*/ 30 w 60"/>
                <a:gd name="T9" fmla="*/ 37 h 37"/>
                <a:gd name="T10" fmla="*/ 30 w 60"/>
                <a:gd name="T11" fmla="*/ 30 h 37"/>
                <a:gd name="T12" fmla="*/ 30 w 60"/>
                <a:gd name="T13" fmla="*/ 30 h 37"/>
                <a:gd name="T14" fmla="*/ 23 w 60"/>
                <a:gd name="T15" fmla="*/ 23 h 37"/>
                <a:gd name="T16" fmla="*/ 23 w 60"/>
                <a:gd name="T17" fmla="*/ 23 h 37"/>
                <a:gd name="T18" fmla="*/ 23 w 60"/>
                <a:gd name="T19" fmla="*/ 23 h 37"/>
                <a:gd name="T20" fmla="*/ 8 w 60"/>
                <a:gd name="T21" fmla="*/ 30 h 37"/>
                <a:gd name="T22" fmla="*/ 0 w 60"/>
                <a:gd name="T23" fmla="*/ 30 h 37"/>
                <a:gd name="T24" fmla="*/ 0 w 60"/>
                <a:gd name="T25" fmla="*/ 23 h 37"/>
                <a:gd name="T26" fmla="*/ 0 w 60"/>
                <a:gd name="T27" fmla="*/ 15 h 37"/>
                <a:gd name="T28" fmla="*/ 0 w 60"/>
                <a:gd name="T29" fmla="*/ 8 h 37"/>
                <a:gd name="T30" fmla="*/ 8 w 60"/>
                <a:gd name="T31" fmla="*/ 8 h 37"/>
                <a:gd name="T32" fmla="*/ 15 w 60"/>
                <a:gd name="T33" fmla="*/ 8 h 37"/>
                <a:gd name="T34" fmla="*/ 15 w 60"/>
                <a:gd name="T35" fmla="*/ 15 h 37"/>
                <a:gd name="T36" fmla="*/ 23 w 60"/>
                <a:gd name="T37" fmla="*/ 8 h 37"/>
                <a:gd name="T38" fmla="*/ 23 w 60"/>
                <a:gd name="T39" fmla="*/ 0 h 37"/>
                <a:gd name="T40" fmla="*/ 30 w 60"/>
                <a:gd name="T41" fmla="*/ 0 h 37"/>
                <a:gd name="T42" fmla="*/ 37 w 60"/>
                <a:gd name="T43" fmla="*/ 8 h 37"/>
                <a:gd name="T44" fmla="*/ 45 w 60"/>
                <a:gd name="T45" fmla="*/ 15 h 37"/>
                <a:gd name="T46" fmla="*/ 52 w 60"/>
                <a:gd name="T47" fmla="*/ 23 h 37"/>
                <a:gd name="T48" fmla="*/ 60 w 60"/>
                <a:gd name="T49" fmla="*/ 30 h 37"/>
                <a:gd name="T50" fmla="*/ 52 w 60"/>
                <a:gd name="T51" fmla="*/ 37 h 37"/>
                <a:gd name="T52" fmla="*/ 60 w 60"/>
                <a:gd name="T53" fmla="*/ 37 h 37"/>
                <a:gd name="T54" fmla="*/ 60 w 60"/>
                <a:gd name="T55" fmla="*/ 37 h 3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60"/>
                <a:gd name="T85" fmla="*/ 0 h 37"/>
                <a:gd name="T86" fmla="*/ 60 w 60"/>
                <a:gd name="T87" fmla="*/ 37 h 3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60" h="37">
                  <a:moveTo>
                    <a:pt x="60" y="37"/>
                  </a:moveTo>
                  <a:lnTo>
                    <a:pt x="52" y="37"/>
                  </a:lnTo>
                  <a:lnTo>
                    <a:pt x="45" y="37"/>
                  </a:lnTo>
                  <a:lnTo>
                    <a:pt x="30" y="37"/>
                  </a:lnTo>
                  <a:lnTo>
                    <a:pt x="30" y="30"/>
                  </a:lnTo>
                  <a:lnTo>
                    <a:pt x="23" y="23"/>
                  </a:lnTo>
                  <a:lnTo>
                    <a:pt x="8" y="30"/>
                  </a:lnTo>
                  <a:lnTo>
                    <a:pt x="0" y="30"/>
                  </a:lnTo>
                  <a:lnTo>
                    <a:pt x="0" y="23"/>
                  </a:lnTo>
                  <a:lnTo>
                    <a:pt x="0" y="15"/>
                  </a:lnTo>
                  <a:lnTo>
                    <a:pt x="0" y="8"/>
                  </a:lnTo>
                  <a:lnTo>
                    <a:pt x="8" y="8"/>
                  </a:lnTo>
                  <a:lnTo>
                    <a:pt x="15" y="8"/>
                  </a:lnTo>
                  <a:lnTo>
                    <a:pt x="15" y="15"/>
                  </a:lnTo>
                  <a:lnTo>
                    <a:pt x="23" y="8"/>
                  </a:lnTo>
                  <a:lnTo>
                    <a:pt x="23" y="0"/>
                  </a:lnTo>
                  <a:lnTo>
                    <a:pt x="30" y="0"/>
                  </a:lnTo>
                  <a:lnTo>
                    <a:pt x="37" y="8"/>
                  </a:lnTo>
                  <a:lnTo>
                    <a:pt x="45" y="15"/>
                  </a:lnTo>
                  <a:lnTo>
                    <a:pt x="52" y="23"/>
                  </a:lnTo>
                  <a:lnTo>
                    <a:pt x="60" y="30"/>
                  </a:lnTo>
                  <a:lnTo>
                    <a:pt x="52" y="37"/>
                  </a:lnTo>
                  <a:lnTo>
                    <a:pt x="60" y="37"/>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 name="Freeform 14">
              <a:extLst>
                <a:ext uri="{FF2B5EF4-FFF2-40B4-BE49-F238E27FC236}">
                  <a16:creationId xmlns:a16="http://schemas.microsoft.com/office/drawing/2014/main" id="{ECDC6CE8-3322-A3CA-EA2B-BD68BF6AFEF2}"/>
                </a:ext>
              </a:extLst>
            </p:cNvPr>
            <p:cNvSpPr>
              <a:spLocks/>
            </p:cNvSpPr>
            <p:nvPr/>
          </p:nvSpPr>
          <p:spPr bwMode="auto">
            <a:xfrm>
              <a:off x="4021" y="2792"/>
              <a:ext cx="45" cy="37"/>
            </a:xfrm>
            <a:custGeom>
              <a:avLst/>
              <a:gdLst>
                <a:gd name="T0" fmla="*/ 0 w 45"/>
                <a:gd name="T1" fmla="*/ 14 h 37"/>
                <a:gd name="T2" fmla="*/ 0 w 45"/>
                <a:gd name="T3" fmla="*/ 14 h 37"/>
                <a:gd name="T4" fmla="*/ 0 w 45"/>
                <a:gd name="T5" fmla="*/ 7 h 37"/>
                <a:gd name="T6" fmla="*/ 8 w 45"/>
                <a:gd name="T7" fmla="*/ 0 h 37"/>
                <a:gd name="T8" fmla="*/ 22 w 45"/>
                <a:gd name="T9" fmla="*/ 14 h 37"/>
                <a:gd name="T10" fmla="*/ 37 w 45"/>
                <a:gd name="T11" fmla="*/ 29 h 37"/>
                <a:gd name="T12" fmla="*/ 37 w 45"/>
                <a:gd name="T13" fmla="*/ 29 h 37"/>
                <a:gd name="T14" fmla="*/ 45 w 45"/>
                <a:gd name="T15" fmla="*/ 37 h 37"/>
                <a:gd name="T16" fmla="*/ 37 w 45"/>
                <a:gd name="T17" fmla="*/ 37 h 37"/>
                <a:gd name="T18" fmla="*/ 30 w 45"/>
                <a:gd name="T19" fmla="*/ 37 h 37"/>
                <a:gd name="T20" fmla="*/ 15 w 45"/>
                <a:gd name="T21" fmla="*/ 29 h 37"/>
                <a:gd name="T22" fmla="*/ 0 w 45"/>
                <a:gd name="T23" fmla="*/ 22 h 37"/>
                <a:gd name="T24" fmla="*/ 0 w 45"/>
                <a:gd name="T25" fmla="*/ 22 h 37"/>
                <a:gd name="T26" fmla="*/ 0 w 45"/>
                <a:gd name="T27" fmla="*/ 14 h 3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5"/>
                <a:gd name="T43" fmla="*/ 0 h 37"/>
                <a:gd name="T44" fmla="*/ 45 w 45"/>
                <a:gd name="T45" fmla="*/ 37 h 3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5" h="37">
                  <a:moveTo>
                    <a:pt x="0" y="14"/>
                  </a:moveTo>
                  <a:lnTo>
                    <a:pt x="0" y="14"/>
                  </a:lnTo>
                  <a:lnTo>
                    <a:pt x="0" y="7"/>
                  </a:lnTo>
                  <a:lnTo>
                    <a:pt x="8" y="0"/>
                  </a:lnTo>
                  <a:lnTo>
                    <a:pt x="22" y="14"/>
                  </a:lnTo>
                  <a:lnTo>
                    <a:pt x="37" y="29"/>
                  </a:lnTo>
                  <a:lnTo>
                    <a:pt x="45" y="37"/>
                  </a:lnTo>
                  <a:lnTo>
                    <a:pt x="37" y="37"/>
                  </a:lnTo>
                  <a:lnTo>
                    <a:pt x="30" y="37"/>
                  </a:lnTo>
                  <a:lnTo>
                    <a:pt x="15" y="29"/>
                  </a:lnTo>
                  <a:lnTo>
                    <a:pt x="0" y="22"/>
                  </a:lnTo>
                  <a:lnTo>
                    <a:pt x="0" y="14"/>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 name="Freeform 15">
              <a:extLst>
                <a:ext uri="{FF2B5EF4-FFF2-40B4-BE49-F238E27FC236}">
                  <a16:creationId xmlns:a16="http://schemas.microsoft.com/office/drawing/2014/main" id="{FD081ADA-1011-52B8-7DD8-F26ABFD23DD3}"/>
                </a:ext>
              </a:extLst>
            </p:cNvPr>
            <p:cNvSpPr>
              <a:spLocks/>
            </p:cNvSpPr>
            <p:nvPr/>
          </p:nvSpPr>
          <p:spPr bwMode="auto">
            <a:xfrm>
              <a:off x="3814" y="2688"/>
              <a:ext cx="22" cy="15"/>
            </a:xfrm>
            <a:custGeom>
              <a:avLst/>
              <a:gdLst>
                <a:gd name="T0" fmla="*/ 0 w 22"/>
                <a:gd name="T1" fmla="*/ 15 h 15"/>
                <a:gd name="T2" fmla="*/ 0 w 22"/>
                <a:gd name="T3" fmla="*/ 7 h 15"/>
                <a:gd name="T4" fmla="*/ 7 w 22"/>
                <a:gd name="T5" fmla="*/ 0 h 15"/>
                <a:gd name="T6" fmla="*/ 15 w 22"/>
                <a:gd name="T7" fmla="*/ 0 h 15"/>
                <a:gd name="T8" fmla="*/ 22 w 22"/>
                <a:gd name="T9" fmla="*/ 7 h 15"/>
                <a:gd name="T10" fmla="*/ 15 w 22"/>
                <a:gd name="T11" fmla="*/ 15 h 15"/>
                <a:gd name="T12" fmla="*/ 7 w 22"/>
                <a:gd name="T13" fmla="*/ 15 h 15"/>
                <a:gd name="T14" fmla="*/ 0 w 22"/>
                <a:gd name="T15" fmla="*/ 15 h 15"/>
                <a:gd name="T16" fmla="*/ 0 w 22"/>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15"/>
                <a:gd name="T29" fmla="*/ 22 w 22"/>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15">
                  <a:moveTo>
                    <a:pt x="0" y="15"/>
                  </a:moveTo>
                  <a:lnTo>
                    <a:pt x="0" y="7"/>
                  </a:lnTo>
                  <a:lnTo>
                    <a:pt x="7" y="0"/>
                  </a:lnTo>
                  <a:lnTo>
                    <a:pt x="15" y="0"/>
                  </a:lnTo>
                  <a:lnTo>
                    <a:pt x="22" y="7"/>
                  </a:lnTo>
                  <a:lnTo>
                    <a:pt x="15" y="15"/>
                  </a:lnTo>
                  <a:lnTo>
                    <a:pt x="7" y="15"/>
                  </a:lnTo>
                  <a:lnTo>
                    <a:pt x="0" y="15"/>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 name="Freeform 16">
              <a:extLst>
                <a:ext uri="{FF2B5EF4-FFF2-40B4-BE49-F238E27FC236}">
                  <a16:creationId xmlns:a16="http://schemas.microsoft.com/office/drawing/2014/main" id="{2C84E9FB-375E-C691-6488-F2BBE3F8AC1D}"/>
                </a:ext>
              </a:extLst>
            </p:cNvPr>
            <p:cNvSpPr>
              <a:spLocks/>
            </p:cNvSpPr>
            <p:nvPr/>
          </p:nvSpPr>
          <p:spPr bwMode="auto">
            <a:xfrm>
              <a:off x="3836" y="2673"/>
              <a:ext cx="15" cy="15"/>
            </a:xfrm>
            <a:custGeom>
              <a:avLst/>
              <a:gdLst>
                <a:gd name="T0" fmla="*/ 7 w 15"/>
                <a:gd name="T1" fmla="*/ 15 h 15"/>
                <a:gd name="T2" fmla="*/ 0 w 15"/>
                <a:gd name="T3" fmla="*/ 15 h 15"/>
                <a:gd name="T4" fmla="*/ 0 w 15"/>
                <a:gd name="T5" fmla="*/ 15 h 15"/>
                <a:gd name="T6" fmla="*/ 7 w 15"/>
                <a:gd name="T7" fmla="*/ 0 h 15"/>
                <a:gd name="T8" fmla="*/ 15 w 15"/>
                <a:gd name="T9" fmla="*/ 0 h 15"/>
                <a:gd name="T10" fmla="*/ 15 w 15"/>
                <a:gd name="T11" fmla="*/ 7 h 15"/>
                <a:gd name="T12" fmla="*/ 15 w 15"/>
                <a:gd name="T13" fmla="*/ 15 h 15"/>
                <a:gd name="T14" fmla="*/ 7 w 15"/>
                <a:gd name="T15" fmla="*/ 15 h 15"/>
                <a:gd name="T16" fmla="*/ 7 w 15"/>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7" y="15"/>
                  </a:moveTo>
                  <a:lnTo>
                    <a:pt x="0" y="15"/>
                  </a:lnTo>
                  <a:lnTo>
                    <a:pt x="7" y="0"/>
                  </a:lnTo>
                  <a:lnTo>
                    <a:pt x="15" y="0"/>
                  </a:lnTo>
                  <a:lnTo>
                    <a:pt x="15" y="7"/>
                  </a:lnTo>
                  <a:lnTo>
                    <a:pt x="15" y="15"/>
                  </a:lnTo>
                  <a:lnTo>
                    <a:pt x="7" y="15"/>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 name="Freeform 17">
              <a:extLst>
                <a:ext uri="{FF2B5EF4-FFF2-40B4-BE49-F238E27FC236}">
                  <a16:creationId xmlns:a16="http://schemas.microsoft.com/office/drawing/2014/main" id="{89E12CC5-34B4-65A9-CBA6-759EA9675C84}"/>
                </a:ext>
              </a:extLst>
            </p:cNvPr>
            <p:cNvSpPr>
              <a:spLocks/>
            </p:cNvSpPr>
            <p:nvPr/>
          </p:nvSpPr>
          <p:spPr bwMode="auto">
            <a:xfrm>
              <a:off x="3718" y="2621"/>
              <a:ext cx="14" cy="15"/>
            </a:xfrm>
            <a:custGeom>
              <a:avLst/>
              <a:gdLst>
                <a:gd name="T0" fmla="*/ 14 w 14"/>
                <a:gd name="T1" fmla="*/ 8 h 15"/>
                <a:gd name="T2" fmla="*/ 14 w 14"/>
                <a:gd name="T3" fmla="*/ 8 h 15"/>
                <a:gd name="T4" fmla="*/ 14 w 14"/>
                <a:gd name="T5" fmla="*/ 0 h 15"/>
                <a:gd name="T6" fmla="*/ 14 w 14"/>
                <a:gd name="T7" fmla="*/ 0 h 15"/>
                <a:gd name="T8" fmla="*/ 7 w 14"/>
                <a:gd name="T9" fmla="*/ 0 h 15"/>
                <a:gd name="T10" fmla="*/ 0 w 14"/>
                <a:gd name="T11" fmla="*/ 8 h 15"/>
                <a:gd name="T12" fmla="*/ 7 w 14"/>
                <a:gd name="T13" fmla="*/ 15 h 15"/>
                <a:gd name="T14" fmla="*/ 14 w 14"/>
                <a:gd name="T15" fmla="*/ 15 h 15"/>
                <a:gd name="T16" fmla="*/ 14 w 14"/>
                <a:gd name="T17" fmla="*/ 8 h 15"/>
                <a:gd name="T18" fmla="*/ 14 w 14"/>
                <a:gd name="T19" fmla="*/ 8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15"/>
                <a:gd name="T32" fmla="*/ 14 w 14"/>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15">
                  <a:moveTo>
                    <a:pt x="14" y="8"/>
                  </a:moveTo>
                  <a:lnTo>
                    <a:pt x="14" y="8"/>
                  </a:lnTo>
                  <a:lnTo>
                    <a:pt x="14" y="0"/>
                  </a:lnTo>
                  <a:lnTo>
                    <a:pt x="7" y="0"/>
                  </a:lnTo>
                  <a:lnTo>
                    <a:pt x="0" y="8"/>
                  </a:lnTo>
                  <a:lnTo>
                    <a:pt x="7" y="15"/>
                  </a:lnTo>
                  <a:lnTo>
                    <a:pt x="14" y="15"/>
                  </a:lnTo>
                  <a:lnTo>
                    <a:pt x="14" y="8"/>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 name="Freeform 18">
              <a:extLst>
                <a:ext uri="{FF2B5EF4-FFF2-40B4-BE49-F238E27FC236}">
                  <a16:creationId xmlns:a16="http://schemas.microsoft.com/office/drawing/2014/main" id="{B37229AD-804A-9575-E347-996898BAEB17}"/>
                </a:ext>
              </a:extLst>
            </p:cNvPr>
            <p:cNvSpPr>
              <a:spLocks/>
            </p:cNvSpPr>
            <p:nvPr/>
          </p:nvSpPr>
          <p:spPr bwMode="auto">
            <a:xfrm>
              <a:off x="3710" y="2584"/>
              <a:ext cx="37" cy="30"/>
            </a:xfrm>
            <a:custGeom>
              <a:avLst/>
              <a:gdLst>
                <a:gd name="T0" fmla="*/ 37 w 37"/>
                <a:gd name="T1" fmla="*/ 30 h 30"/>
                <a:gd name="T2" fmla="*/ 37 w 37"/>
                <a:gd name="T3" fmla="*/ 30 h 30"/>
                <a:gd name="T4" fmla="*/ 30 w 37"/>
                <a:gd name="T5" fmla="*/ 30 h 30"/>
                <a:gd name="T6" fmla="*/ 22 w 37"/>
                <a:gd name="T7" fmla="*/ 30 h 30"/>
                <a:gd name="T8" fmla="*/ 22 w 37"/>
                <a:gd name="T9" fmla="*/ 22 h 30"/>
                <a:gd name="T10" fmla="*/ 30 w 37"/>
                <a:gd name="T11" fmla="*/ 22 h 30"/>
                <a:gd name="T12" fmla="*/ 22 w 37"/>
                <a:gd name="T13" fmla="*/ 15 h 30"/>
                <a:gd name="T14" fmla="*/ 15 w 37"/>
                <a:gd name="T15" fmla="*/ 0 h 30"/>
                <a:gd name="T16" fmla="*/ 8 w 37"/>
                <a:gd name="T17" fmla="*/ 0 h 30"/>
                <a:gd name="T18" fmla="*/ 0 w 37"/>
                <a:gd name="T19" fmla="*/ 8 h 30"/>
                <a:gd name="T20" fmla="*/ 8 w 37"/>
                <a:gd name="T21" fmla="*/ 15 h 30"/>
                <a:gd name="T22" fmla="*/ 8 w 37"/>
                <a:gd name="T23" fmla="*/ 22 h 30"/>
                <a:gd name="T24" fmla="*/ 15 w 37"/>
                <a:gd name="T25" fmla="*/ 22 h 30"/>
                <a:gd name="T26" fmla="*/ 22 w 37"/>
                <a:gd name="T27" fmla="*/ 30 h 30"/>
                <a:gd name="T28" fmla="*/ 37 w 37"/>
                <a:gd name="T29" fmla="*/ 30 h 30"/>
                <a:gd name="T30" fmla="*/ 37 w 37"/>
                <a:gd name="T31" fmla="*/ 30 h 3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7"/>
                <a:gd name="T49" fmla="*/ 0 h 30"/>
                <a:gd name="T50" fmla="*/ 37 w 37"/>
                <a:gd name="T51" fmla="*/ 30 h 3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7" h="30">
                  <a:moveTo>
                    <a:pt x="37" y="30"/>
                  </a:moveTo>
                  <a:lnTo>
                    <a:pt x="37" y="30"/>
                  </a:lnTo>
                  <a:lnTo>
                    <a:pt x="30" y="30"/>
                  </a:lnTo>
                  <a:lnTo>
                    <a:pt x="22" y="30"/>
                  </a:lnTo>
                  <a:lnTo>
                    <a:pt x="22" y="22"/>
                  </a:lnTo>
                  <a:lnTo>
                    <a:pt x="30" y="22"/>
                  </a:lnTo>
                  <a:lnTo>
                    <a:pt x="22" y="15"/>
                  </a:lnTo>
                  <a:lnTo>
                    <a:pt x="15" y="0"/>
                  </a:lnTo>
                  <a:lnTo>
                    <a:pt x="8" y="0"/>
                  </a:lnTo>
                  <a:lnTo>
                    <a:pt x="0" y="8"/>
                  </a:lnTo>
                  <a:lnTo>
                    <a:pt x="8" y="15"/>
                  </a:lnTo>
                  <a:lnTo>
                    <a:pt x="8" y="22"/>
                  </a:lnTo>
                  <a:lnTo>
                    <a:pt x="15" y="22"/>
                  </a:lnTo>
                  <a:lnTo>
                    <a:pt x="22" y="30"/>
                  </a:lnTo>
                  <a:lnTo>
                    <a:pt x="37" y="30"/>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 name="Freeform 19">
              <a:extLst>
                <a:ext uri="{FF2B5EF4-FFF2-40B4-BE49-F238E27FC236}">
                  <a16:creationId xmlns:a16="http://schemas.microsoft.com/office/drawing/2014/main" id="{B584FD4B-A061-6306-B861-6135ADC8BFEB}"/>
                </a:ext>
              </a:extLst>
            </p:cNvPr>
            <p:cNvSpPr>
              <a:spLocks/>
            </p:cNvSpPr>
            <p:nvPr/>
          </p:nvSpPr>
          <p:spPr bwMode="auto">
            <a:xfrm>
              <a:off x="3710" y="2569"/>
              <a:ext cx="22" cy="15"/>
            </a:xfrm>
            <a:custGeom>
              <a:avLst/>
              <a:gdLst>
                <a:gd name="T0" fmla="*/ 22 w 22"/>
                <a:gd name="T1" fmla="*/ 15 h 15"/>
                <a:gd name="T2" fmla="*/ 15 w 22"/>
                <a:gd name="T3" fmla="*/ 8 h 15"/>
                <a:gd name="T4" fmla="*/ 15 w 22"/>
                <a:gd name="T5" fmla="*/ 8 h 15"/>
                <a:gd name="T6" fmla="*/ 8 w 22"/>
                <a:gd name="T7" fmla="*/ 0 h 15"/>
                <a:gd name="T8" fmla="*/ 0 w 22"/>
                <a:gd name="T9" fmla="*/ 0 h 15"/>
                <a:gd name="T10" fmla="*/ 0 w 22"/>
                <a:gd name="T11" fmla="*/ 8 h 15"/>
                <a:gd name="T12" fmla="*/ 8 w 22"/>
                <a:gd name="T13" fmla="*/ 15 h 15"/>
                <a:gd name="T14" fmla="*/ 22 w 22"/>
                <a:gd name="T15" fmla="*/ 15 h 15"/>
                <a:gd name="T16" fmla="*/ 22 w 22"/>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15"/>
                <a:gd name="T29" fmla="*/ 22 w 22"/>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15">
                  <a:moveTo>
                    <a:pt x="22" y="15"/>
                  </a:moveTo>
                  <a:lnTo>
                    <a:pt x="15" y="8"/>
                  </a:lnTo>
                  <a:lnTo>
                    <a:pt x="8" y="0"/>
                  </a:lnTo>
                  <a:lnTo>
                    <a:pt x="0" y="0"/>
                  </a:lnTo>
                  <a:lnTo>
                    <a:pt x="0" y="8"/>
                  </a:lnTo>
                  <a:lnTo>
                    <a:pt x="8" y="15"/>
                  </a:lnTo>
                  <a:lnTo>
                    <a:pt x="22" y="15"/>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 name="Freeform 20">
              <a:extLst>
                <a:ext uri="{FF2B5EF4-FFF2-40B4-BE49-F238E27FC236}">
                  <a16:creationId xmlns:a16="http://schemas.microsoft.com/office/drawing/2014/main" id="{AFDDA83E-F789-FDF7-7DD1-AD67C6A370CE}"/>
                </a:ext>
              </a:extLst>
            </p:cNvPr>
            <p:cNvSpPr>
              <a:spLocks/>
            </p:cNvSpPr>
            <p:nvPr/>
          </p:nvSpPr>
          <p:spPr bwMode="auto">
            <a:xfrm>
              <a:off x="3688" y="2547"/>
              <a:ext cx="52" cy="22"/>
            </a:xfrm>
            <a:custGeom>
              <a:avLst/>
              <a:gdLst>
                <a:gd name="T0" fmla="*/ 44 w 52"/>
                <a:gd name="T1" fmla="*/ 22 h 22"/>
                <a:gd name="T2" fmla="*/ 44 w 52"/>
                <a:gd name="T3" fmla="*/ 22 h 22"/>
                <a:gd name="T4" fmla="*/ 37 w 52"/>
                <a:gd name="T5" fmla="*/ 15 h 22"/>
                <a:gd name="T6" fmla="*/ 37 w 52"/>
                <a:gd name="T7" fmla="*/ 15 h 22"/>
                <a:gd name="T8" fmla="*/ 44 w 52"/>
                <a:gd name="T9" fmla="*/ 15 h 22"/>
                <a:gd name="T10" fmla="*/ 44 w 52"/>
                <a:gd name="T11" fmla="*/ 15 h 22"/>
                <a:gd name="T12" fmla="*/ 44 w 52"/>
                <a:gd name="T13" fmla="*/ 8 h 22"/>
                <a:gd name="T14" fmla="*/ 44 w 52"/>
                <a:gd name="T15" fmla="*/ 8 h 22"/>
                <a:gd name="T16" fmla="*/ 52 w 52"/>
                <a:gd name="T17" fmla="*/ 8 h 22"/>
                <a:gd name="T18" fmla="*/ 30 w 52"/>
                <a:gd name="T19" fmla="*/ 0 h 22"/>
                <a:gd name="T20" fmla="*/ 7 w 52"/>
                <a:gd name="T21" fmla="*/ 0 h 22"/>
                <a:gd name="T22" fmla="*/ 0 w 52"/>
                <a:gd name="T23" fmla="*/ 8 h 22"/>
                <a:gd name="T24" fmla="*/ 0 w 52"/>
                <a:gd name="T25" fmla="*/ 8 h 22"/>
                <a:gd name="T26" fmla="*/ 7 w 52"/>
                <a:gd name="T27" fmla="*/ 8 h 22"/>
                <a:gd name="T28" fmla="*/ 15 w 52"/>
                <a:gd name="T29" fmla="*/ 15 h 22"/>
                <a:gd name="T30" fmla="*/ 30 w 52"/>
                <a:gd name="T31" fmla="*/ 22 h 22"/>
                <a:gd name="T32" fmla="*/ 44 w 52"/>
                <a:gd name="T33" fmla="*/ 22 h 22"/>
                <a:gd name="T34" fmla="*/ 44 w 52"/>
                <a:gd name="T35" fmla="*/ 22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2"/>
                <a:gd name="T55" fmla="*/ 0 h 22"/>
                <a:gd name="T56" fmla="*/ 52 w 52"/>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2" h="22">
                  <a:moveTo>
                    <a:pt x="44" y="22"/>
                  </a:moveTo>
                  <a:lnTo>
                    <a:pt x="44" y="22"/>
                  </a:lnTo>
                  <a:lnTo>
                    <a:pt x="37" y="15"/>
                  </a:lnTo>
                  <a:lnTo>
                    <a:pt x="44" y="15"/>
                  </a:lnTo>
                  <a:lnTo>
                    <a:pt x="44" y="8"/>
                  </a:lnTo>
                  <a:lnTo>
                    <a:pt x="52" y="8"/>
                  </a:lnTo>
                  <a:lnTo>
                    <a:pt x="30" y="0"/>
                  </a:lnTo>
                  <a:lnTo>
                    <a:pt x="7" y="0"/>
                  </a:lnTo>
                  <a:lnTo>
                    <a:pt x="0" y="8"/>
                  </a:lnTo>
                  <a:lnTo>
                    <a:pt x="7" y="8"/>
                  </a:lnTo>
                  <a:lnTo>
                    <a:pt x="15" y="15"/>
                  </a:lnTo>
                  <a:lnTo>
                    <a:pt x="30" y="22"/>
                  </a:lnTo>
                  <a:lnTo>
                    <a:pt x="44" y="22"/>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 name="Freeform 21">
              <a:extLst>
                <a:ext uri="{FF2B5EF4-FFF2-40B4-BE49-F238E27FC236}">
                  <a16:creationId xmlns:a16="http://schemas.microsoft.com/office/drawing/2014/main" id="{B183996A-59B9-4BAB-F6C7-238A4AA04F60}"/>
                </a:ext>
              </a:extLst>
            </p:cNvPr>
            <p:cNvSpPr>
              <a:spLocks/>
            </p:cNvSpPr>
            <p:nvPr/>
          </p:nvSpPr>
          <p:spPr bwMode="auto">
            <a:xfrm>
              <a:off x="3703" y="2443"/>
              <a:ext cx="89" cy="97"/>
            </a:xfrm>
            <a:custGeom>
              <a:avLst/>
              <a:gdLst>
                <a:gd name="T0" fmla="*/ 29 w 89"/>
                <a:gd name="T1" fmla="*/ 97 h 97"/>
                <a:gd name="T2" fmla="*/ 15 w 89"/>
                <a:gd name="T3" fmla="*/ 89 h 97"/>
                <a:gd name="T4" fmla="*/ 29 w 89"/>
                <a:gd name="T5" fmla="*/ 82 h 97"/>
                <a:gd name="T6" fmla="*/ 37 w 89"/>
                <a:gd name="T7" fmla="*/ 75 h 97"/>
                <a:gd name="T8" fmla="*/ 29 w 89"/>
                <a:gd name="T9" fmla="*/ 75 h 97"/>
                <a:gd name="T10" fmla="*/ 15 w 89"/>
                <a:gd name="T11" fmla="*/ 67 h 97"/>
                <a:gd name="T12" fmla="*/ 15 w 89"/>
                <a:gd name="T13" fmla="*/ 67 h 97"/>
                <a:gd name="T14" fmla="*/ 7 w 89"/>
                <a:gd name="T15" fmla="*/ 67 h 97"/>
                <a:gd name="T16" fmla="*/ 15 w 89"/>
                <a:gd name="T17" fmla="*/ 60 h 97"/>
                <a:gd name="T18" fmla="*/ 15 w 89"/>
                <a:gd name="T19" fmla="*/ 60 h 97"/>
                <a:gd name="T20" fmla="*/ 15 w 89"/>
                <a:gd name="T21" fmla="*/ 52 h 97"/>
                <a:gd name="T22" fmla="*/ 0 w 89"/>
                <a:gd name="T23" fmla="*/ 52 h 97"/>
                <a:gd name="T24" fmla="*/ 0 w 89"/>
                <a:gd name="T25" fmla="*/ 45 h 97"/>
                <a:gd name="T26" fmla="*/ 0 w 89"/>
                <a:gd name="T27" fmla="*/ 37 h 97"/>
                <a:gd name="T28" fmla="*/ 15 w 89"/>
                <a:gd name="T29" fmla="*/ 37 h 97"/>
                <a:gd name="T30" fmla="*/ 22 w 89"/>
                <a:gd name="T31" fmla="*/ 45 h 97"/>
                <a:gd name="T32" fmla="*/ 29 w 89"/>
                <a:gd name="T33" fmla="*/ 37 h 97"/>
                <a:gd name="T34" fmla="*/ 29 w 89"/>
                <a:gd name="T35" fmla="*/ 37 h 97"/>
                <a:gd name="T36" fmla="*/ 22 w 89"/>
                <a:gd name="T37" fmla="*/ 30 h 97"/>
                <a:gd name="T38" fmla="*/ 44 w 89"/>
                <a:gd name="T39" fmla="*/ 15 h 97"/>
                <a:gd name="T40" fmla="*/ 59 w 89"/>
                <a:gd name="T41" fmla="*/ 0 h 97"/>
                <a:gd name="T42" fmla="*/ 74 w 89"/>
                <a:gd name="T43" fmla="*/ 15 h 97"/>
                <a:gd name="T44" fmla="*/ 74 w 89"/>
                <a:gd name="T45" fmla="*/ 23 h 97"/>
                <a:gd name="T46" fmla="*/ 66 w 89"/>
                <a:gd name="T47" fmla="*/ 37 h 97"/>
                <a:gd name="T48" fmla="*/ 81 w 89"/>
                <a:gd name="T49" fmla="*/ 37 h 97"/>
                <a:gd name="T50" fmla="*/ 89 w 89"/>
                <a:gd name="T51" fmla="*/ 30 h 97"/>
                <a:gd name="T52" fmla="*/ 89 w 89"/>
                <a:gd name="T53" fmla="*/ 30 h 97"/>
                <a:gd name="T54" fmla="*/ 89 w 89"/>
                <a:gd name="T55" fmla="*/ 37 h 97"/>
                <a:gd name="T56" fmla="*/ 89 w 89"/>
                <a:gd name="T57" fmla="*/ 45 h 97"/>
                <a:gd name="T58" fmla="*/ 81 w 89"/>
                <a:gd name="T59" fmla="*/ 45 h 97"/>
                <a:gd name="T60" fmla="*/ 74 w 89"/>
                <a:gd name="T61" fmla="*/ 45 h 97"/>
                <a:gd name="T62" fmla="*/ 66 w 89"/>
                <a:gd name="T63" fmla="*/ 45 h 97"/>
                <a:gd name="T64" fmla="*/ 59 w 89"/>
                <a:gd name="T65" fmla="*/ 52 h 97"/>
                <a:gd name="T66" fmla="*/ 66 w 89"/>
                <a:gd name="T67" fmla="*/ 52 h 97"/>
                <a:gd name="T68" fmla="*/ 74 w 89"/>
                <a:gd name="T69" fmla="*/ 52 h 97"/>
                <a:gd name="T70" fmla="*/ 74 w 89"/>
                <a:gd name="T71" fmla="*/ 60 h 97"/>
                <a:gd name="T72" fmla="*/ 81 w 89"/>
                <a:gd name="T73" fmla="*/ 60 h 97"/>
                <a:gd name="T74" fmla="*/ 74 w 89"/>
                <a:gd name="T75" fmla="*/ 60 h 97"/>
                <a:gd name="T76" fmla="*/ 66 w 89"/>
                <a:gd name="T77" fmla="*/ 67 h 97"/>
                <a:gd name="T78" fmla="*/ 74 w 89"/>
                <a:gd name="T79" fmla="*/ 67 h 97"/>
                <a:gd name="T80" fmla="*/ 74 w 89"/>
                <a:gd name="T81" fmla="*/ 75 h 97"/>
                <a:gd name="T82" fmla="*/ 52 w 89"/>
                <a:gd name="T83" fmla="*/ 67 h 97"/>
                <a:gd name="T84" fmla="*/ 52 w 89"/>
                <a:gd name="T85" fmla="*/ 67 h 97"/>
                <a:gd name="T86" fmla="*/ 59 w 89"/>
                <a:gd name="T87" fmla="*/ 60 h 97"/>
                <a:gd name="T88" fmla="*/ 52 w 89"/>
                <a:gd name="T89" fmla="*/ 60 h 97"/>
                <a:gd name="T90" fmla="*/ 44 w 89"/>
                <a:gd name="T91" fmla="*/ 67 h 97"/>
                <a:gd name="T92" fmla="*/ 52 w 89"/>
                <a:gd name="T93" fmla="*/ 75 h 97"/>
                <a:gd name="T94" fmla="*/ 52 w 89"/>
                <a:gd name="T95" fmla="*/ 82 h 97"/>
                <a:gd name="T96" fmla="*/ 52 w 89"/>
                <a:gd name="T97" fmla="*/ 89 h 97"/>
                <a:gd name="T98" fmla="*/ 52 w 89"/>
                <a:gd name="T99" fmla="*/ 89 h 97"/>
                <a:gd name="T100" fmla="*/ 44 w 89"/>
                <a:gd name="T101" fmla="*/ 89 h 97"/>
                <a:gd name="T102" fmla="*/ 44 w 89"/>
                <a:gd name="T103" fmla="*/ 97 h 97"/>
                <a:gd name="T104" fmla="*/ 37 w 89"/>
                <a:gd name="T105" fmla="*/ 97 h 97"/>
                <a:gd name="T106" fmla="*/ 29 w 89"/>
                <a:gd name="T107" fmla="*/ 97 h 97"/>
                <a:gd name="T108" fmla="*/ 29 w 89"/>
                <a:gd name="T109" fmla="*/ 97 h 9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89"/>
                <a:gd name="T166" fmla="*/ 0 h 97"/>
                <a:gd name="T167" fmla="*/ 89 w 89"/>
                <a:gd name="T168" fmla="*/ 97 h 97"/>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89" h="97">
                  <a:moveTo>
                    <a:pt x="29" y="97"/>
                  </a:moveTo>
                  <a:lnTo>
                    <a:pt x="15" y="89"/>
                  </a:lnTo>
                  <a:lnTo>
                    <a:pt x="29" y="82"/>
                  </a:lnTo>
                  <a:lnTo>
                    <a:pt x="37" y="75"/>
                  </a:lnTo>
                  <a:lnTo>
                    <a:pt x="29" y="75"/>
                  </a:lnTo>
                  <a:lnTo>
                    <a:pt x="15" y="67"/>
                  </a:lnTo>
                  <a:lnTo>
                    <a:pt x="7" y="67"/>
                  </a:lnTo>
                  <a:lnTo>
                    <a:pt x="15" y="60"/>
                  </a:lnTo>
                  <a:lnTo>
                    <a:pt x="15" y="52"/>
                  </a:lnTo>
                  <a:lnTo>
                    <a:pt x="0" y="52"/>
                  </a:lnTo>
                  <a:lnTo>
                    <a:pt x="0" y="45"/>
                  </a:lnTo>
                  <a:lnTo>
                    <a:pt x="0" y="37"/>
                  </a:lnTo>
                  <a:lnTo>
                    <a:pt x="15" y="37"/>
                  </a:lnTo>
                  <a:lnTo>
                    <a:pt x="22" y="45"/>
                  </a:lnTo>
                  <a:lnTo>
                    <a:pt x="29" y="37"/>
                  </a:lnTo>
                  <a:lnTo>
                    <a:pt x="22" y="30"/>
                  </a:lnTo>
                  <a:lnTo>
                    <a:pt x="44" y="15"/>
                  </a:lnTo>
                  <a:lnTo>
                    <a:pt x="59" y="0"/>
                  </a:lnTo>
                  <a:lnTo>
                    <a:pt x="74" y="15"/>
                  </a:lnTo>
                  <a:lnTo>
                    <a:pt x="74" y="23"/>
                  </a:lnTo>
                  <a:lnTo>
                    <a:pt x="66" y="37"/>
                  </a:lnTo>
                  <a:lnTo>
                    <a:pt x="81" y="37"/>
                  </a:lnTo>
                  <a:lnTo>
                    <a:pt x="89" y="30"/>
                  </a:lnTo>
                  <a:lnTo>
                    <a:pt x="89" y="37"/>
                  </a:lnTo>
                  <a:lnTo>
                    <a:pt x="89" y="45"/>
                  </a:lnTo>
                  <a:lnTo>
                    <a:pt x="81" y="45"/>
                  </a:lnTo>
                  <a:lnTo>
                    <a:pt x="74" y="45"/>
                  </a:lnTo>
                  <a:lnTo>
                    <a:pt x="66" y="45"/>
                  </a:lnTo>
                  <a:lnTo>
                    <a:pt x="59" y="52"/>
                  </a:lnTo>
                  <a:lnTo>
                    <a:pt x="66" y="52"/>
                  </a:lnTo>
                  <a:lnTo>
                    <a:pt x="74" y="52"/>
                  </a:lnTo>
                  <a:lnTo>
                    <a:pt x="74" y="60"/>
                  </a:lnTo>
                  <a:lnTo>
                    <a:pt x="81" y="60"/>
                  </a:lnTo>
                  <a:lnTo>
                    <a:pt x="74" y="60"/>
                  </a:lnTo>
                  <a:lnTo>
                    <a:pt x="66" y="67"/>
                  </a:lnTo>
                  <a:lnTo>
                    <a:pt x="74" y="67"/>
                  </a:lnTo>
                  <a:lnTo>
                    <a:pt x="74" y="75"/>
                  </a:lnTo>
                  <a:lnTo>
                    <a:pt x="52" y="67"/>
                  </a:lnTo>
                  <a:lnTo>
                    <a:pt x="59" y="60"/>
                  </a:lnTo>
                  <a:lnTo>
                    <a:pt x="52" y="60"/>
                  </a:lnTo>
                  <a:lnTo>
                    <a:pt x="44" y="67"/>
                  </a:lnTo>
                  <a:lnTo>
                    <a:pt x="52" y="75"/>
                  </a:lnTo>
                  <a:lnTo>
                    <a:pt x="52" y="82"/>
                  </a:lnTo>
                  <a:lnTo>
                    <a:pt x="52" y="89"/>
                  </a:lnTo>
                  <a:lnTo>
                    <a:pt x="44" y="89"/>
                  </a:lnTo>
                  <a:lnTo>
                    <a:pt x="44" y="97"/>
                  </a:lnTo>
                  <a:lnTo>
                    <a:pt x="37" y="97"/>
                  </a:lnTo>
                  <a:lnTo>
                    <a:pt x="29" y="97"/>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 name="Freeform 22">
              <a:extLst>
                <a:ext uri="{FF2B5EF4-FFF2-40B4-BE49-F238E27FC236}">
                  <a16:creationId xmlns:a16="http://schemas.microsoft.com/office/drawing/2014/main" id="{63966A2A-7C6F-F461-B504-1057BBB75F98}"/>
                </a:ext>
              </a:extLst>
            </p:cNvPr>
            <p:cNvSpPr>
              <a:spLocks/>
            </p:cNvSpPr>
            <p:nvPr/>
          </p:nvSpPr>
          <p:spPr bwMode="auto">
            <a:xfrm>
              <a:off x="3769" y="2547"/>
              <a:ext cx="126" cy="82"/>
            </a:xfrm>
            <a:custGeom>
              <a:avLst/>
              <a:gdLst>
                <a:gd name="T0" fmla="*/ 45 w 126"/>
                <a:gd name="T1" fmla="*/ 0 h 82"/>
                <a:gd name="T2" fmla="*/ 60 w 126"/>
                <a:gd name="T3" fmla="*/ 15 h 82"/>
                <a:gd name="T4" fmla="*/ 67 w 126"/>
                <a:gd name="T5" fmla="*/ 22 h 82"/>
                <a:gd name="T6" fmla="*/ 67 w 126"/>
                <a:gd name="T7" fmla="*/ 37 h 82"/>
                <a:gd name="T8" fmla="*/ 67 w 126"/>
                <a:gd name="T9" fmla="*/ 37 h 82"/>
                <a:gd name="T10" fmla="*/ 67 w 126"/>
                <a:gd name="T11" fmla="*/ 37 h 82"/>
                <a:gd name="T12" fmla="*/ 82 w 126"/>
                <a:gd name="T13" fmla="*/ 45 h 82"/>
                <a:gd name="T14" fmla="*/ 97 w 126"/>
                <a:gd name="T15" fmla="*/ 52 h 82"/>
                <a:gd name="T16" fmla="*/ 111 w 126"/>
                <a:gd name="T17" fmla="*/ 52 h 82"/>
                <a:gd name="T18" fmla="*/ 126 w 126"/>
                <a:gd name="T19" fmla="*/ 59 h 82"/>
                <a:gd name="T20" fmla="*/ 126 w 126"/>
                <a:gd name="T21" fmla="*/ 67 h 82"/>
                <a:gd name="T22" fmla="*/ 119 w 126"/>
                <a:gd name="T23" fmla="*/ 74 h 82"/>
                <a:gd name="T24" fmla="*/ 119 w 126"/>
                <a:gd name="T25" fmla="*/ 74 h 82"/>
                <a:gd name="T26" fmla="*/ 111 w 126"/>
                <a:gd name="T27" fmla="*/ 82 h 82"/>
                <a:gd name="T28" fmla="*/ 104 w 126"/>
                <a:gd name="T29" fmla="*/ 82 h 82"/>
                <a:gd name="T30" fmla="*/ 104 w 126"/>
                <a:gd name="T31" fmla="*/ 82 h 82"/>
                <a:gd name="T32" fmla="*/ 104 w 126"/>
                <a:gd name="T33" fmla="*/ 74 h 82"/>
                <a:gd name="T34" fmla="*/ 104 w 126"/>
                <a:gd name="T35" fmla="*/ 74 h 82"/>
                <a:gd name="T36" fmla="*/ 111 w 126"/>
                <a:gd name="T37" fmla="*/ 67 h 82"/>
                <a:gd name="T38" fmla="*/ 111 w 126"/>
                <a:gd name="T39" fmla="*/ 67 h 82"/>
                <a:gd name="T40" fmla="*/ 104 w 126"/>
                <a:gd name="T41" fmla="*/ 67 h 82"/>
                <a:gd name="T42" fmla="*/ 97 w 126"/>
                <a:gd name="T43" fmla="*/ 59 h 82"/>
                <a:gd name="T44" fmla="*/ 97 w 126"/>
                <a:gd name="T45" fmla="*/ 67 h 82"/>
                <a:gd name="T46" fmla="*/ 89 w 126"/>
                <a:gd name="T47" fmla="*/ 67 h 82"/>
                <a:gd name="T48" fmla="*/ 89 w 126"/>
                <a:gd name="T49" fmla="*/ 67 h 82"/>
                <a:gd name="T50" fmla="*/ 82 w 126"/>
                <a:gd name="T51" fmla="*/ 59 h 82"/>
                <a:gd name="T52" fmla="*/ 74 w 126"/>
                <a:gd name="T53" fmla="*/ 67 h 82"/>
                <a:gd name="T54" fmla="*/ 67 w 126"/>
                <a:gd name="T55" fmla="*/ 67 h 82"/>
                <a:gd name="T56" fmla="*/ 52 w 126"/>
                <a:gd name="T57" fmla="*/ 59 h 82"/>
                <a:gd name="T58" fmla="*/ 45 w 126"/>
                <a:gd name="T59" fmla="*/ 45 h 82"/>
                <a:gd name="T60" fmla="*/ 45 w 126"/>
                <a:gd name="T61" fmla="*/ 45 h 82"/>
                <a:gd name="T62" fmla="*/ 45 w 126"/>
                <a:gd name="T63" fmla="*/ 45 h 82"/>
                <a:gd name="T64" fmla="*/ 37 w 126"/>
                <a:gd name="T65" fmla="*/ 37 h 82"/>
                <a:gd name="T66" fmla="*/ 30 w 126"/>
                <a:gd name="T67" fmla="*/ 37 h 82"/>
                <a:gd name="T68" fmla="*/ 30 w 126"/>
                <a:gd name="T69" fmla="*/ 37 h 82"/>
                <a:gd name="T70" fmla="*/ 30 w 126"/>
                <a:gd name="T71" fmla="*/ 45 h 82"/>
                <a:gd name="T72" fmla="*/ 23 w 126"/>
                <a:gd name="T73" fmla="*/ 45 h 82"/>
                <a:gd name="T74" fmla="*/ 8 w 126"/>
                <a:gd name="T75" fmla="*/ 37 h 82"/>
                <a:gd name="T76" fmla="*/ 0 w 126"/>
                <a:gd name="T77" fmla="*/ 30 h 82"/>
                <a:gd name="T78" fmla="*/ 8 w 126"/>
                <a:gd name="T79" fmla="*/ 22 h 82"/>
                <a:gd name="T80" fmla="*/ 15 w 126"/>
                <a:gd name="T81" fmla="*/ 22 h 82"/>
                <a:gd name="T82" fmla="*/ 15 w 126"/>
                <a:gd name="T83" fmla="*/ 30 h 82"/>
                <a:gd name="T84" fmla="*/ 15 w 126"/>
                <a:gd name="T85" fmla="*/ 22 h 82"/>
                <a:gd name="T86" fmla="*/ 8 w 126"/>
                <a:gd name="T87" fmla="*/ 15 h 82"/>
                <a:gd name="T88" fmla="*/ 8 w 126"/>
                <a:gd name="T89" fmla="*/ 15 h 82"/>
                <a:gd name="T90" fmla="*/ 15 w 126"/>
                <a:gd name="T91" fmla="*/ 8 h 82"/>
                <a:gd name="T92" fmla="*/ 30 w 126"/>
                <a:gd name="T93" fmla="*/ 15 h 82"/>
                <a:gd name="T94" fmla="*/ 45 w 126"/>
                <a:gd name="T95" fmla="*/ 22 h 82"/>
                <a:gd name="T96" fmla="*/ 37 w 126"/>
                <a:gd name="T97" fmla="*/ 15 h 82"/>
                <a:gd name="T98" fmla="*/ 30 w 126"/>
                <a:gd name="T99" fmla="*/ 8 h 82"/>
                <a:gd name="T100" fmla="*/ 30 w 126"/>
                <a:gd name="T101" fmla="*/ 0 h 82"/>
                <a:gd name="T102" fmla="*/ 37 w 126"/>
                <a:gd name="T103" fmla="*/ 0 h 82"/>
                <a:gd name="T104" fmla="*/ 45 w 126"/>
                <a:gd name="T105" fmla="*/ 0 h 82"/>
                <a:gd name="T106" fmla="*/ 45 w 126"/>
                <a:gd name="T107" fmla="*/ 0 h 8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26"/>
                <a:gd name="T163" fmla="*/ 0 h 82"/>
                <a:gd name="T164" fmla="*/ 126 w 126"/>
                <a:gd name="T165" fmla="*/ 82 h 8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26" h="82">
                  <a:moveTo>
                    <a:pt x="45" y="0"/>
                  </a:moveTo>
                  <a:lnTo>
                    <a:pt x="60" y="15"/>
                  </a:lnTo>
                  <a:lnTo>
                    <a:pt x="67" y="22"/>
                  </a:lnTo>
                  <a:lnTo>
                    <a:pt x="67" y="37"/>
                  </a:lnTo>
                  <a:lnTo>
                    <a:pt x="82" y="45"/>
                  </a:lnTo>
                  <a:lnTo>
                    <a:pt x="97" y="52"/>
                  </a:lnTo>
                  <a:lnTo>
                    <a:pt x="111" y="52"/>
                  </a:lnTo>
                  <a:lnTo>
                    <a:pt x="126" y="59"/>
                  </a:lnTo>
                  <a:lnTo>
                    <a:pt x="126" y="67"/>
                  </a:lnTo>
                  <a:lnTo>
                    <a:pt x="119" y="74"/>
                  </a:lnTo>
                  <a:lnTo>
                    <a:pt x="111" y="82"/>
                  </a:lnTo>
                  <a:lnTo>
                    <a:pt x="104" y="82"/>
                  </a:lnTo>
                  <a:lnTo>
                    <a:pt x="104" y="74"/>
                  </a:lnTo>
                  <a:lnTo>
                    <a:pt x="111" y="67"/>
                  </a:lnTo>
                  <a:lnTo>
                    <a:pt x="104" y="67"/>
                  </a:lnTo>
                  <a:lnTo>
                    <a:pt x="97" y="59"/>
                  </a:lnTo>
                  <a:lnTo>
                    <a:pt x="97" y="67"/>
                  </a:lnTo>
                  <a:lnTo>
                    <a:pt x="89" y="67"/>
                  </a:lnTo>
                  <a:lnTo>
                    <a:pt x="82" y="59"/>
                  </a:lnTo>
                  <a:lnTo>
                    <a:pt x="74" y="67"/>
                  </a:lnTo>
                  <a:lnTo>
                    <a:pt x="67" y="67"/>
                  </a:lnTo>
                  <a:lnTo>
                    <a:pt x="52" y="59"/>
                  </a:lnTo>
                  <a:lnTo>
                    <a:pt x="45" y="45"/>
                  </a:lnTo>
                  <a:lnTo>
                    <a:pt x="37" y="37"/>
                  </a:lnTo>
                  <a:lnTo>
                    <a:pt x="30" y="37"/>
                  </a:lnTo>
                  <a:lnTo>
                    <a:pt x="30" y="45"/>
                  </a:lnTo>
                  <a:lnTo>
                    <a:pt x="23" y="45"/>
                  </a:lnTo>
                  <a:lnTo>
                    <a:pt x="8" y="37"/>
                  </a:lnTo>
                  <a:lnTo>
                    <a:pt x="0" y="30"/>
                  </a:lnTo>
                  <a:lnTo>
                    <a:pt x="8" y="22"/>
                  </a:lnTo>
                  <a:lnTo>
                    <a:pt x="15" y="22"/>
                  </a:lnTo>
                  <a:lnTo>
                    <a:pt x="15" y="30"/>
                  </a:lnTo>
                  <a:lnTo>
                    <a:pt x="15" y="22"/>
                  </a:lnTo>
                  <a:lnTo>
                    <a:pt x="8" y="15"/>
                  </a:lnTo>
                  <a:lnTo>
                    <a:pt x="15" y="8"/>
                  </a:lnTo>
                  <a:lnTo>
                    <a:pt x="30" y="15"/>
                  </a:lnTo>
                  <a:lnTo>
                    <a:pt x="45" y="22"/>
                  </a:lnTo>
                  <a:lnTo>
                    <a:pt x="37" y="15"/>
                  </a:lnTo>
                  <a:lnTo>
                    <a:pt x="30" y="8"/>
                  </a:lnTo>
                  <a:lnTo>
                    <a:pt x="30" y="0"/>
                  </a:lnTo>
                  <a:lnTo>
                    <a:pt x="37" y="0"/>
                  </a:lnTo>
                  <a:lnTo>
                    <a:pt x="45" y="0"/>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 name="Freeform 23">
              <a:extLst>
                <a:ext uri="{FF2B5EF4-FFF2-40B4-BE49-F238E27FC236}">
                  <a16:creationId xmlns:a16="http://schemas.microsoft.com/office/drawing/2014/main" id="{3D9779B6-1F90-C1E5-3759-BC418C8A18D4}"/>
                </a:ext>
              </a:extLst>
            </p:cNvPr>
            <p:cNvSpPr>
              <a:spLocks/>
            </p:cNvSpPr>
            <p:nvPr/>
          </p:nvSpPr>
          <p:spPr bwMode="auto">
            <a:xfrm>
              <a:off x="3718" y="2518"/>
              <a:ext cx="14" cy="7"/>
            </a:xfrm>
            <a:custGeom>
              <a:avLst/>
              <a:gdLst>
                <a:gd name="T0" fmla="*/ 0 w 14"/>
                <a:gd name="T1" fmla="*/ 7 h 7"/>
                <a:gd name="T2" fmla="*/ 7 w 14"/>
                <a:gd name="T3" fmla="*/ 0 h 7"/>
                <a:gd name="T4" fmla="*/ 14 w 14"/>
                <a:gd name="T5" fmla="*/ 0 h 7"/>
                <a:gd name="T6" fmla="*/ 7 w 14"/>
                <a:gd name="T7" fmla="*/ 7 h 7"/>
                <a:gd name="T8" fmla="*/ 0 w 14"/>
                <a:gd name="T9" fmla="*/ 7 h 7"/>
                <a:gd name="T10" fmla="*/ 0 w 14"/>
                <a:gd name="T11" fmla="*/ 7 h 7"/>
                <a:gd name="T12" fmla="*/ 0 60000 65536"/>
                <a:gd name="T13" fmla="*/ 0 60000 65536"/>
                <a:gd name="T14" fmla="*/ 0 60000 65536"/>
                <a:gd name="T15" fmla="*/ 0 60000 65536"/>
                <a:gd name="T16" fmla="*/ 0 60000 65536"/>
                <a:gd name="T17" fmla="*/ 0 60000 65536"/>
                <a:gd name="T18" fmla="*/ 0 w 14"/>
                <a:gd name="T19" fmla="*/ 0 h 7"/>
                <a:gd name="T20" fmla="*/ 14 w 14"/>
                <a:gd name="T21" fmla="*/ 7 h 7"/>
              </a:gdLst>
              <a:ahLst/>
              <a:cxnLst>
                <a:cxn ang="T12">
                  <a:pos x="T0" y="T1"/>
                </a:cxn>
                <a:cxn ang="T13">
                  <a:pos x="T2" y="T3"/>
                </a:cxn>
                <a:cxn ang="T14">
                  <a:pos x="T4" y="T5"/>
                </a:cxn>
                <a:cxn ang="T15">
                  <a:pos x="T6" y="T7"/>
                </a:cxn>
                <a:cxn ang="T16">
                  <a:pos x="T8" y="T9"/>
                </a:cxn>
                <a:cxn ang="T17">
                  <a:pos x="T10" y="T11"/>
                </a:cxn>
              </a:cxnLst>
              <a:rect l="T18" t="T19" r="T20" b="T21"/>
              <a:pathLst>
                <a:path w="14" h="7">
                  <a:moveTo>
                    <a:pt x="0" y="7"/>
                  </a:moveTo>
                  <a:lnTo>
                    <a:pt x="7" y="0"/>
                  </a:lnTo>
                  <a:lnTo>
                    <a:pt x="14" y="0"/>
                  </a:lnTo>
                  <a:lnTo>
                    <a:pt x="7" y="7"/>
                  </a:lnTo>
                  <a:lnTo>
                    <a:pt x="0" y="7"/>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 name="Freeform 24">
              <a:extLst>
                <a:ext uri="{FF2B5EF4-FFF2-40B4-BE49-F238E27FC236}">
                  <a16:creationId xmlns:a16="http://schemas.microsoft.com/office/drawing/2014/main" id="{081EF558-5609-D09C-0513-F7C552AEA799}"/>
                </a:ext>
              </a:extLst>
            </p:cNvPr>
            <p:cNvSpPr>
              <a:spLocks/>
            </p:cNvSpPr>
            <p:nvPr/>
          </p:nvSpPr>
          <p:spPr bwMode="auto">
            <a:xfrm>
              <a:off x="3843" y="2569"/>
              <a:ext cx="15" cy="23"/>
            </a:xfrm>
            <a:custGeom>
              <a:avLst/>
              <a:gdLst>
                <a:gd name="T0" fmla="*/ 8 w 15"/>
                <a:gd name="T1" fmla="*/ 23 h 23"/>
                <a:gd name="T2" fmla="*/ 0 w 15"/>
                <a:gd name="T3" fmla="*/ 8 h 23"/>
                <a:gd name="T4" fmla="*/ 8 w 15"/>
                <a:gd name="T5" fmla="*/ 0 h 23"/>
                <a:gd name="T6" fmla="*/ 8 w 15"/>
                <a:gd name="T7" fmla="*/ 8 h 23"/>
                <a:gd name="T8" fmla="*/ 15 w 15"/>
                <a:gd name="T9" fmla="*/ 15 h 23"/>
                <a:gd name="T10" fmla="*/ 15 w 15"/>
                <a:gd name="T11" fmla="*/ 23 h 23"/>
                <a:gd name="T12" fmla="*/ 8 w 15"/>
                <a:gd name="T13" fmla="*/ 23 h 23"/>
                <a:gd name="T14" fmla="*/ 8 w 15"/>
                <a:gd name="T15" fmla="*/ 23 h 23"/>
                <a:gd name="T16" fmla="*/ 0 60000 65536"/>
                <a:gd name="T17" fmla="*/ 0 60000 65536"/>
                <a:gd name="T18" fmla="*/ 0 60000 65536"/>
                <a:gd name="T19" fmla="*/ 0 60000 65536"/>
                <a:gd name="T20" fmla="*/ 0 60000 65536"/>
                <a:gd name="T21" fmla="*/ 0 60000 65536"/>
                <a:gd name="T22" fmla="*/ 0 60000 65536"/>
                <a:gd name="T23" fmla="*/ 0 60000 65536"/>
                <a:gd name="T24" fmla="*/ 0 w 15"/>
                <a:gd name="T25" fmla="*/ 0 h 23"/>
                <a:gd name="T26" fmla="*/ 15 w 15"/>
                <a:gd name="T27" fmla="*/ 23 h 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 h="23">
                  <a:moveTo>
                    <a:pt x="8" y="23"/>
                  </a:moveTo>
                  <a:lnTo>
                    <a:pt x="0" y="8"/>
                  </a:lnTo>
                  <a:lnTo>
                    <a:pt x="8" y="0"/>
                  </a:lnTo>
                  <a:lnTo>
                    <a:pt x="8" y="8"/>
                  </a:lnTo>
                  <a:lnTo>
                    <a:pt x="15" y="15"/>
                  </a:lnTo>
                  <a:lnTo>
                    <a:pt x="15" y="23"/>
                  </a:lnTo>
                  <a:lnTo>
                    <a:pt x="8" y="23"/>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 name="Freeform 25">
              <a:extLst>
                <a:ext uri="{FF2B5EF4-FFF2-40B4-BE49-F238E27FC236}">
                  <a16:creationId xmlns:a16="http://schemas.microsoft.com/office/drawing/2014/main" id="{DFF8A3CD-A3C7-C4B1-458B-7DE5FE64C71E}"/>
                </a:ext>
              </a:extLst>
            </p:cNvPr>
            <p:cNvSpPr>
              <a:spLocks/>
            </p:cNvSpPr>
            <p:nvPr/>
          </p:nvSpPr>
          <p:spPr bwMode="auto">
            <a:xfrm>
              <a:off x="3858" y="2592"/>
              <a:ext cx="15" cy="7"/>
            </a:xfrm>
            <a:custGeom>
              <a:avLst/>
              <a:gdLst>
                <a:gd name="T0" fmla="*/ 0 w 15"/>
                <a:gd name="T1" fmla="*/ 7 h 7"/>
                <a:gd name="T2" fmla="*/ 0 w 15"/>
                <a:gd name="T3" fmla="*/ 0 h 7"/>
                <a:gd name="T4" fmla="*/ 0 w 15"/>
                <a:gd name="T5" fmla="*/ 0 h 7"/>
                <a:gd name="T6" fmla="*/ 8 w 15"/>
                <a:gd name="T7" fmla="*/ 0 h 7"/>
                <a:gd name="T8" fmla="*/ 15 w 15"/>
                <a:gd name="T9" fmla="*/ 7 h 7"/>
                <a:gd name="T10" fmla="*/ 8 w 15"/>
                <a:gd name="T11" fmla="*/ 7 h 7"/>
                <a:gd name="T12" fmla="*/ 0 w 15"/>
                <a:gd name="T13" fmla="*/ 7 h 7"/>
                <a:gd name="T14" fmla="*/ 0 w 15"/>
                <a:gd name="T15" fmla="*/ 7 h 7"/>
                <a:gd name="T16" fmla="*/ 0 60000 65536"/>
                <a:gd name="T17" fmla="*/ 0 60000 65536"/>
                <a:gd name="T18" fmla="*/ 0 60000 65536"/>
                <a:gd name="T19" fmla="*/ 0 60000 65536"/>
                <a:gd name="T20" fmla="*/ 0 60000 65536"/>
                <a:gd name="T21" fmla="*/ 0 60000 65536"/>
                <a:gd name="T22" fmla="*/ 0 60000 65536"/>
                <a:gd name="T23" fmla="*/ 0 60000 65536"/>
                <a:gd name="T24" fmla="*/ 0 w 15"/>
                <a:gd name="T25" fmla="*/ 0 h 7"/>
                <a:gd name="T26" fmla="*/ 15 w 15"/>
                <a:gd name="T27" fmla="*/ 7 h 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 h="7">
                  <a:moveTo>
                    <a:pt x="0" y="7"/>
                  </a:moveTo>
                  <a:lnTo>
                    <a:pt x="0" y="0"/>
                  </a:lnTo>
                  <a:lnTo>
                    <a:pt x="8" y="0"/>
                  </a:lnTo>
                  <a:lnTo>
                    <a:pt x="15" y="7"/>
                  </a:lnTo>
                  <a:lnTo>
                    <a:pt x="8" y="7"/>
                  </a:lnTo>
                  <a:lnTo>
                    <a:pt x="0" y="7"/>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 name="Freeform 26">
              <a:extLst>
                <a:ext uri="{FF2B5EF4-FFF2-40B4-BE49-F238E27FC236}">
                  <a16:creationId xmlns:a16="http://schemas.microsoft.com/office/drawing/2014/main" id="{80313AB6-A35A-CAA4-2663-BC39AEF8F15D}"/>
                </a:ext>
              </a:extLst>
            </p:cNvPr>
            <p:cNvSpPr>
              <a:spLocks/>
            </p:cNvSpPr>
            <p:nvPr/>
          </p:nvSpPr>
          <p:spPr bwMode="auto">
            <a:xfrm>
              <a:off x="3814" y="2621"/>
              <a:ext cx="15" cy="8"/>
            </a:xfrm>
            <a:custGeom>
              <a:avLst/>
              <a:gdLst>
                <a:gd name="T0" fmla="*/ 7 w 15"/>
                <a:gd name="T1" fmla="*/ 8 h 8"/>
                <a:gd name="T2" fmla="*/ 7 w 15"/>
                <a:gd name="T3" fmla="*/ 8 h 8"/>
                <a:gd name="T4" fmla="*/ 0 w 15"/>
                <a:gd name="T5" fmla="*/ 8 h 8"/>
                <a:gd name="T6" fmla="*/ 0 w 15"/>
                <a:gd name="T7" fmla="*/ 0 h 8"/>
                <a:gd name="T8" fmla="*/ 7 w 15"/>
                <a:gd name="T9" fmla="*/ 0 h 8"/>
                <a:gd name="T10" fmla="*/ 15 w 15"/>
                <a:gd name="T11" fmla="*/ 8 h 8"/>
                <a:gd name="T12" fmla="*/ 7 w 15"/>
                <a:gd name="T13" fmla="*/ 8 h 8"/>
                <a:gd name="T14" fmla="*/ 7 w 15"/>
                <a:gd name="T15" fmla="*/ 8 h 8"/>
                <a:gd name="T16" fmla="*/ 0 60000 65536"/>
                <a:gd name="T17" fmla="*/ 0 60000 65536"/>
                <a:gd name="T18" fmla="*/ 0 60000 65536"/>
                <a:gd name="T19" fmla="*/ 0 60000 65536"/>
                <a:gd name="T20" fmla="*/ 0 60000 65536"/>
                <a:gd name="T21" fmla="*/ 0 60000 65536"/>
                <a:gd name="T22" fmla="*/ 0 60000 65536"/>
                <a:gd name="T23" fmla="*/ 0 60000 65536"/>
                <a:gd name="T24" fmla="*/ 0 w 15"/>
                <a:gd name="T25" fmla="*/ 0 h 8"/>
                <a:gd name="T26" fmla="*/ 15 w 15"/>
                <a:gd name="T27" fmla="*/ 8 h 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 h="8">
                  <a:moveTo>
                    <a:pt x="7" y="8"/>
                  </a:moveTo>
                  <a:lnTo>
                    <a:pt x="7" y="8"/>
                  </a:lnTo>
                  <a:lnTo>
                    <a:pt x="0" y="8"/>
                  </a:lnTo>
                  <a:lnTo>
                    <a:pt x="0" y="0"/>
                  </a:lnTo>
                  <a:lnTo>
                    <a:pt x="7" y="0"/>
                  </a:lnTo>
                  <a:lnTo>
                    <a:pt x="15" y="8"/>
                  </a:lnTo>
                  <a:lnTo>
                    <a:pt x="7" y="8"/>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 name="Freeform 27">
              <a:extLst>
                <a:ext uri="{FF2B5EF4-FFF2-40B4-BE49-F238E27FC236}">
                  <a16:creationId xmlns:a16="http://schemas.microsoft.com/office/drawing/2014/main" id="{D4FFC4D1-CA1D-D8AD-A074-42329B124CEA}"/>
                </a:ext>
              </a:extLst>
            </p:cNvPr>
            <p:cNvSpPr>
              <a:spLocks/>
            </p:cNvSpPr>
            <p:nvPr/>
          </p:nvSpPr>
          <p:spPr bwMode="auto">
            <a:xfrm>
              <a:off x="3836" y="2629"/>
              <a:ext cx="15" cy="14"/>
            </a:xfrm>
            <a:custGeom>
              <a:avLst/>
              <a:gdLst>
                <a:gd name="T0" fmla="*/ 7 w 15"/>
                <a:gd name="T1" fmla="*/ 0 h 14"/>
                <a:gd name="T2" fmla="*/ 15 w 15"/>
                <a:gd name="T3" fmla="*/ 0 h 14"/>
                <a:gd name="T4" fmla="*/ 15 w 15"/>
                <a:gd name="T5" fmla="*/ 7 h 14"/>
                <a:gd name="T6" fmla="*/ 15 w 15"/>
                <a:gd name="T7" fmla="*/ 14 h 14"/>
                <a:gd name="T8" fmla="*/ 7 w 15"/>
                <a:gd name="T9" fmla="*/ 14 h 14"/>
                <a:gd name="T10" fmla="*/ 0 w 15"/>
                <a:gd name="T11" fmla="*/ 7 h 14"/>
                <a:gd name="T12" fmla="*/ 0 w 15"/>
                <a:gd name="T13" fmla="*/ 0 h 14"/>
                <a:gd name="T14" fmla="*/ 7 w 15"/>
                <a:gd name="T15" fmla="*/ 0 h 14"/>
                <a:gd name="T16" fmla="*/ 7 w 15"/>
                <a:gd name="T17" fmla="*/ 0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4"/>
                <a:gd name="T29" fmla="*/ 15 w 15"/>
                <a:gd name="T30" fmla="*/ 14 h 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4">
                  <a:moveTo>
                    <a:pt x="7" y="0"/>
                  </a:moveTo>
                  <a:lnTo>
                    <a:pt x="15" y="0"/>
                  </a:lnTo>
                  <a:lnTo>
                    <a:pt x="15" y="7"/>
                  </a:lnTo>
                  <a:lnTo>
                    <a:pt x="15" y="14"/>
                  </a:lnTo>
                  <a:lnTo>
                    <a:pt x="7" y="14"/>
                  </a:lnTo>
                  <a:lnTo>
                    <a:pt x="0" y="7"/>
                  </a:lnTo>
                  <a:lnTo>
                    <a:pt x="0" y="0"/>
                  </a:lnTo>
                  <a:lnTo>
                    <a:pt x="7" y="0"/>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 name="Freeform 28">
              <a:extLst>
                <a:ext uri="{FF2B5EF4-FFF2-40B4-BE49-F238E27FC236}">
                  <a16:creationId xmlns:a16="http://schemas.microsoft.com/office/drawing/2014/main" id="{85D09573-CB45-4AA5-1DFE-EF9E528C67BE}"/>
                </a:ext>
              </a:extLst>
            </p:cNvPr>
            <p:cNvSpPr>
              <a:spLocks/>
            </p:cNvSpPr>
            <p:nvPr/>
          </p:nvSpPr>
          <p:spPr bwMode="auto">
            <a:xfrm>
              <a:off x="3866" y="2643"/>
              <a:ext cx="14" cy="8"/>
            </a:xfrm>
            <a:custGeom>
              <a:avLst/>
              <a:gdLst>
                <a:gd name="T0" fmla="*/ 7 w 14"/>
                <a:gd name="T1" fmla="*/ 0 h 8"/>
                <a:gd name="T2" fmla="*/ 7 w 14"/>
                <a:gd name="T3" fmla="*/ 0 h 8"/>
                <a:gd name="T4" fmla="*/ 14 w 14"/>
                <a:gd name="T5" fmla="*/ 0 h 8"/>
                <a:gd name="T6" fmla="*/ 7 w 14"/>
                <a:gd name="T7" fmla="*/ 8 h 8"/>
                <a:gd name="T8" fmla="*/ 0 w 14"/>
                <a:gd name="T9" fmla="*/ 0 h 8"/>
                <a:gd name="T10" fmla="*/ 0 w 14"/>
                <a:gd name="T11" fmla="*/ 0 h 8"/>
                <a:gd name="T12" fmla="*/ 7 w 14"/>
                <a:gd name="T13" fmla="*/ 0 h 8"/>
                <a:gd name="T14" fmla="*/ 7 w 14"/>
                <a:gd name="T15" fmla="*/ 0 h 8"/>
                <a:gd name="T16" fmla="*/ 0 60000 65536"/>
                <a:gd name="T17" fmla="*/ 0 60000 65536"/>
                <a:gd name="T18" fmla="*/ 0 60000 65536"/>
                <a:gd name="T19" fmla="*/ 0 60000 65536"/>
                <a:gd name="T20" fmla="*/ 0 60000 65536"/>
                <a:gd name="T21" fmla="*/ 0 60000 65536"/>
                <a:gd name="T22" fmla="*/ 0 60000 65536"/>
                <a:gd name="T23" fmla="*/ 0 60000 65536"/>
                <a:gd name="T24" fmla="*/ 0 w 14"/>
                <a:gd name="T25" fmla="*/ 0 h 8"/>
                <a:gd name="T26" fmla="*/ 14 w 14"/>
                <a:gd name="T27" fmla="*/ 8 h 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 h="8">
                  <a:moveTo>
                    <a:pt x="7" y="0"/>
                  </a:moveTo>
                  <a:lnTo>
                    <a:pt x="7" y="0"/>
                  </a:lnTo>
                  <a:lnTo>
                    <a:pt x="14" y="0"/>
                  </a:lnTo>
                  <a:lnTo>
                    <a:pt x="7" y="8"/>
                  </a:lnTo>
                  <a:lnTo>
                    <a:pt x="0" y="0"/>
                  </a:lnTo>
                  <a:lnTo>
                    <a:pt x="7" y="0"/>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 name="Freeform 29">
              <a:extLst>
                <a:ext uri="{FF2B5EF4-FFF2-40B4-BE49-F238E27FC236}">
                  <a16:creationId xmlns:a16="http://schemas.microsoft.com/office/drawing/2014/main" id="{E09266DB-9726-13C6-B2EE-6B5EBB885ED4}"/>
                </a:ext>
              </a:extLst>
            </p:cNvPr>
            <p:cNvSpPr>
              <a:spLocks/>
            </p:cNvSpPr>
            <p:nvPr/>
          </p:nvSpPr>
          <p:spPr bwMode="auto">
            <a:xfrm>
              <a:off x="3873" y="2680"/>
              <a:ext cx="74" cy="45"/>
            </a:xfrm>
            <a:custGeom>
              <a:avLst/>
              <a:gdLst>
                <a:gd name="T0" fmla="*/ 22 w 74"/>
                <a:gd name="T1" fmla="*/ 45 h 45"/>
                <a:gd name="T2" fmla="*/ 15 w 74"/>
                <a:gd name="T3" fmla="*/ 45 h 45"/>
                <a:gd name="T4" fmla="*/ 15 w 74"/>
                <a:gd name="T5" fmla="*/ 37 h 45"/>
                <a:gd name="T6" fmla="*/ 22 w 74"/>
                <a:gd name="T7" fmla="*/ 37 h 45"/>
                <a:gd name="T8" fmla="*/ 37 w 74"/>
                <a:gd name="T9" fmla="*/ 37 h 45"/>
                <a:gd name="T10" fmla="*/ 37 w 74"/>
                <a:gd name="T11" fmla="*/ 30 h 45"/>
                <a:gd name="T12" fmla="*/ 37 w 74"/>
                <a:gd name="T13" fmla="*/ 30 h 45"/>
                <a:gd name="T14" fmla="*/ 30 w 74"/>
                <a:gd name="T15" fmla="*/ 30 h 45"/>
                <a:gd name="T16" fmla="*/ 30 w 74"/>
                <a:gd name="T17" fmla="*/ 30 h 45"/>
                <a:gd name="T18" fmla="*/ 22 w 74"/>
                <a:gd name="T19" fmla="*/ 30 h 45"/>
                <a:gd name="T20" fmla="*/ 30 w 74"/>
                <a:gd name="T21" fmla="*/ 23 h 45"/>
                <a:gd name="T22" fmla="*/ 37 w 74"/>
                <a:gd name="T23" fmla="*/ 23 h 45"/>
                <a:gd name="T24" fmla="*/ 30 w 74"/>
                <a:gd name="T25" fmla="*/ 15 h 45"/>
                <a:gd name="T26" fmla="*/ 30 w 74"/>
                <a:gd name="T27" fmla="*/ 23 h 45"/>
                <a:gd name="T28" fmla="*/ 15 w 74"/>
                <a:gd name="T29" fmla="*/ 15 h 45"/>
                <a:gd name="T30" fmla="*/ 0 w 74"/>
                <a:gd name="T31" fmla="*/ 8 h 45"/>
                <a:gd name="T32" fmla="*/ 0 w 74"/>
                <a:gd name="T33" fmla="*/ 0 h 45"/>
                <a:gd name="T34" fmla="*/ 7 w 74"/>
                <a:gd name="T35" fmla="*/ 0 h 45"/>
                <a:gd name="T36" fmla="*/ 15 w 74"/>
                <a:gd name="T37" fmla="*/ 0 h 45"/>
                <a:gd name="T38" fmla="*/ 30 w 74"/>
                <a:gd name="T39" fmla="*/ 8 h 45"/>
                <a:gd name="T40" fmla="*/ 52 w 74"/>
                <a:gd name="T41" fmla="*/ 15 h 45"/>
                <a:gd name="T42" fmla="*/ 74 w 74"/>
                <a:gd name="T43" fmla="*/ 23 h 45"/>
                <a:gd name="T44" fmla="*/ 74 w 74"/>
                <a:gd name="T45" fmla="*/ 30 h 45"/>
                <a:gd name="T46" fmla="*/ 67 w 74"/>
                <a:gd name="T47" fmla="*/ 30 h 45"/>
                <a:gd name="T48" fmla="*/ 67 w 74"/>
                <a:gd name="T49" fmla="*/ 30 h 45"/>
                <a:gd name="T50" fmla="*/ 74 w 74"/>
                <a:gd name="T51" fmla="*/ 30 h 45"/>
                <a:gd name="T52" fmla="*/ 74 w 74"/>
                <a:gd name="T53" fmla="*/ 37 h 45"/>
                <a:gd name="T54" fmla="*/ 74 w 74"/>
                <a:gd name="T55" fmla="*/ 37 h 45"/>
                <a:gd name="T56" fmla="*/ 74 w 74"/>
                <a:gd name="T57" fmla="*/ 37 h 45"/>
                <a:gd name="T58" fmla="*/ 67 w 74"/>
                <a:gd name="T59" fmla="*/ 45 h 45"/>
                <a:gd name="T60" fmla="*/ 59 w 74"/>
                <a:gd name="T61" fmla="*/ 37 h 45"/>
                <a:gd name="T62" fmla="*/ 67 w 74"/>
                <a:gd name="T63" fmla="*/ 37 h 45"/>
                <a:gd name="T64" fmla="*/ 59 w 74"/>
                <a:gd name="T65" fmla="*/ 37 h 45"/>
                <a:gd name="T66" fmla="*/ 45 w 74"/>
                <a:gd name="T67" fmla="*/ 45 h 45"/>
                <a:gd name="T68" fmla="*/ 22 w 74"/>
                <a:gd name="T69" fmla="*/ 45 h 45"/>
                <a:gd name="T70" fmla="*/ 22 w 74"/>
                <a:gd name="T71" fmla="*/ 45 h 4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4"/>
                <a:gd name="T109" fmla="*/ 0 h 45"/>
                <a:gd name="T110" fmla="*/ 74 w 74"/>
                <a:gd name="T111" fmla="*/ 45 h 4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4" h="45">
                  <a:moveTo>
                    <a:pt x="22" y="45"/>
                  </a:moveTo>
                  <a:lnTo>
                    <a:pt x="15" y="45"/>
                  </a:lnTo>
                  <a:lnTo>
                    <a:pt x="15" y="37"/>
                  </a:lnTo>
                  <a:lnTo>
                    <a:pt x="22" y="37"/>
                  </a:lnTo>
                  <a:lnTo>
                    <a:pt x="37" y="37"/>
                  </a:lnTo>
                  <a:lnTo>
                    <a:pt x="37" y="30"/>
                  </a:lnTo>
                  <a:lnTo>
                    <a:pt x="30" y="30"/>
                  </a:lnTo>
                  <a:lnTo>
                    <a:pt x="22" y="30"/>
                  </a:lnTo>
                  <a:lnTo>
                    <a:pt x="30" y="23"/>
                  </a:lnTo>
                  <a:lnTo>
                    <a:pt x="37" y="23"/>
                  </a:lnTo>
                  <a:lnTo>
                    <a:pt x="30" y="15"/>
                  </a:lnTo>
                  <a:lnTo>
                    <a:pt x="30" y="23"/>
                  </a:lnTo>
                  <a:lnTo>
                    <a:pt x="15" y="15"/>
                  </a:lnTo>
                  <a:lnTo>
                    <a:pt x="0" y="8"/>
                  </a:lnTo>
                  <a:lnTo>
                    <a:pt x="0" y="0"/>
                  </a:lnTo>
                  <a:lnTo>
                    <a:pt x="7" y="0"/>
                  </a:lnTo>
                  <a:lnTo>
                    <a:pt x="15" y="0"/>
                  </a:lnTo>
                  <a:lnTo>
                    <a:pt x="30" y="8"/>
                  </a:lnTo>
                  <a:lnTo>
                    <a:pt x="52" y="15"/>
                  </a:lnTo>
                  <a:lnTo>
                    <a:pt x="74" y="23"/>
                  </a:lnTo>
                  <a:lnTo>
                    <a:pt x="74" y="30"/>
                  </a:lnTo>
                  <a:lnTo>
                    <a:pt x="67" y="30"/>
                  </a:lnTo>
                  <a:lnTo>
                    <a:pt x="74" y="30"/>
                  </a:lnTo>
                  <a:lnTo>
                    <a:pt x="74" y="37"/>
                  </a:lnTo>
                  <a:lnTo>
                    <a:pt x="67" y="45"/>
                  </a:lnTo>
                  <a:lnTo>
                    <a:pt x="59" y="37"/>
                  </a:lnTo>
                  <a:lnTo>
                    <a:pt x="67" y="37"/>
                  </a:lnTo>
                  <a:lnTo>
                    <a:pt x="59" y="37"/>
                  </a:lnTo>
                  <a:lnTo>
                    <a:pt x="45" y="45"/>
                  </a:lnTo>
                  <a:lnTo>
                    <a:pt x="22" y="45"/>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 name="Freeform 30">
              <a:extLst>
                <a:ext uri="{FF2B5EF4-FFF2-40B4-BE49-F238E27FC236}">
                  <a16:creationId xmlns:a16="http://schemas.microsoft.com/office/drawing/2014/main" id="{23ECA1AC-0D3A-C8A1-EB26-FD3639F91564}"/>
                </a:ext>
              </a:extLst>
            </p:cNvPr>
            <p:cNvSpPr>
              <a:spLocks/>
            </p:cNvSpPr>
            <p:nvPr/>
          </p:nvSpPr>
          <p:spPr bwMode="auto">
            <a:xfrm>
              <a:off x="3910" y="2740"/>
              <a:ext cx="15" cy="14"/>
            </a:xfrm>
            <a:custGeom>
              <a:avLst/>
              <a:gdLst>
                <a:gd name="T0" fmla="*/ 8 w 15"/>
                <a:gd name="T1" fmla="*/ 7 h 14"/>
                <a:gd name="T2" fmla="*/ 15 w 15"/>
                <a:gd name="T3" fmla="*/ 14 h 14"/>
                <a:gd name="T4" fmla="*/ 15 w 15"/>
                <a:gd name="T5" fmla="*/ 14 h 14"/>
                <a:gd name="T6" fmla="*/ 8 w 15"/>
                <a:gd name="T7" fmla="*/ 14 h 14"/>
                <a:gd name="T8" fmla="*/ 0 w 15"/>
                <a:gd name="T9" fmla="*/ 14 h 14"/>
                <a:gd name="T10" fmla="*/ 0 w 15"/>
                <a:gd name="T11" fmla="*/ 7 h 14"/>
                <a:gd name="T12" fmla="*/ 0 w 15"/>
                <a:gd name="T13" fmla="*/ 7 h 14"/>
                <a:gd name="T14" fmla="*/ 0 w 15"/>
                <a:gd name="T15" fmla="*/ 0 h 14"/>
                <a:gd name="T16" fmla="*/ 8 w 15"/>
                <a:gd name="T17" fmla="*/ 7 h 14"/>
                <a:gd name="T18" fmla="*/ 8 w 15"/>
                <a:gd name="T19" fmla="*/ 7 h 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14"/>
                <a:gd name="T32" fmla="*/ 15 w 15"/>
                <a:gd name="T33" fmla="*/ 14 h 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14">
                  <a:moveTo>
                    <a:pt x="8" y="7"/>
                  </a:moveTo>
                  <a:lnTo>
                    <a:pt x="15" y="14"/>
                  </a:lnTo>
                  <a:lnTo>
                    <a:pt x="8" y="14"/>
                  </a:lnTo>
                  <a:lnTo>
                    <a:pt x="0" y="14"/>
                  </a:lnTo>
                  <a:lnTo>
                    <a:pt x="0" y="7"/>
                  </a:lnTo>
                  <a:lnTo>
                    <a:pt x="0" y="0"/>
                  </a:lnTo>
                  <a:lnTo>
                    <a:pt x="8" y="7"/>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 name="Freeform 31">
              <a:extLst>
                <a:ext uri="{FF2B5EF4-FFF2-40B4-BE49-F238E27FC236}">
                  <a16:creationId xmlns:a16="http://schemas.microsoft.com/office/drawing/2014/main" id="{CCE95C0C-6F9A-DE00-EBE7-2603AFC77FFE}"/>
                </a:ext>
              </a:extLst>
            </p:cNvPr>
            <p:cNvSpPr>
              <a:spLocks/>
            </p:cNvSpPr>
            <p:nvPr/>
          </p:nvSpPr>
          <p:spPr bwMode="auto">
            <a:xfrm>
              <a:off x="3955" y="2688"/>
              <a:ext cx="7" cy="15"/>
            </a:xfrm>
            <a:custGeom>
              <a:avLst/>
              <a:gdLst>
                <a:gd name="T0" fmla="*/ 0 w 7"/>
                <a:gd name="T1" fmla="*/ 15 h 15"/>
                <a:gd name="T2" fmla="*/ 0 w 7"/>
                <a:gd name="T3" fmla="*/ 7 h 15"/>
                <a:gd name="T4" fmla="*/ 7 w 7"/>
                <a:gd name="T5" fmla="*/ 0 h 15"/>
                <a:gd name="T6" fmla="*/ 7 w 7"/>
                <a:gd name="T7" fmla="*/ 0 h 15"/>
                <a:gd name="T8" fmla="*/ 7 w 7"/>
                <a:gd name="T9" fmla="*/ 7 h 15"/>
                <a:gd name="T10" fmla="*/ 7 w 7"/>
                <a:gd name="T11" fmla="*/ 15 h 15"/>
                <a:gd name="T12" fmla="*/ 0 w 7"/>
                <a:gd name="T13" fmla="*/ 15 h 15"/>
                <a:gd name="T14" fmla="*/ 0 w 7"/>
                <a:gd name="T15" fmla="*/ 15 h 15"/>
                <a:gd name="T16" fmla="*/ 0 w 7"/>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
                <a:gd name="T28" fmla="*/ 0 h 15"/>
                <a:gd name="T29" fmla="*/ 7 w 7"/>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 h="15">
                  <a:moveTo>
                    <a:pt x="0" y="15"/>
                  </a:moveTo>
                  <a:lnTo>
                    <a:pt x="0" y="7"/>
                  </a:lnTo>
                  <a:lnTo>
                    <a:pt x="7" y="0"/>
                  </a:lnTo>
                  <a:lnTo>
                    <a:pt x="7" y="7"/>
                  </a:lnTo>
                  <a:lnTo>
                    <a:pt x="7" y="15"/>
                  </a:lnTo>
                  <a:lnTo>
                    <a:pt x="0" y="15"/>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 name="Freeform 32">
              <a:extLst>
                <a:ext uri="{FF2B5EF4-FFF2-40B4-BE49-F238E27FC236}">
                  <a16:creationId xmlns:a16="http://schemas.microsoft.com/office/drawing/2014/main" id="{15CCEBC2-34A8-2204-50C0-4FABA7B3F1E0}"/>
                </a:ext>
              </a:extLst>
            </p:cNvPr>
            <p:cNvSpPr>
              <a:spLocks/>
            </p:cNvSpPr>
            <p:nvPr/>
          </p:nvSpPr>
          <p:spPr bwMode="auto">
            <a:xfrm>
              <a:off x="3940" y="2740"/>
              <a:ext cx="29" cy="44"/>
            </a:xfrm>
            <a:custGeom>
              <a:avLst/>
              <a:gdLst>
                <a:gd name="T0" fmla="*/ 22 w 29"/>
                <a:gd name="T1" fmla="*/ 7 h 44"/>
                <a:gd name="T2" fmla="*/ 22 w 29"/>
                <a:gd name="T3" fmla="*/ 14 h 44"/>
                <a:gd name="T4" fmla="*/ 22 w 29"/>
                <a:gd name="T5" fmla="*/ 22 h 44"/>
                <a:gd name="T6" fmla="*/ 22 w 29"/>
                <a:gd name="T7" fmla="*/ 29 h 44"/>
                <a:gd name="T8" fmla="*/ 22 w 29"/>
                <a:gd name="T9" fmla="*/ 37 h 44"/>
                <a:gd name="T10" fmla="*/ 22 w 29"/>
                <a:gd name="T11" fmla="*/ 44 h 44"/>
                <a:gd name="T12" fmla="*/ 15 w 29"/>
                <a:gd name="T13" fmla="*/ 44 h 44"/>
                <a:gd name="T14" fmla="*/ 7 w 29"/>
                <a:gd name="T15" fmla="*/ 44 h 44"/>
                <a:gd name="T16" fmla="*/ 0 w 29"/>
                <a:gd name="T17" fmla="*/ 37 h 44"/>
                <a:gd name="T18" fmla="*/ 0 w 29"/>
                <a:gd name="T19" fmla="*/ 29 h 44"/>
                <a:gd name="T20" fmla="*/ 0 w 29"/>
                <a:gd name="T21" fmla="*/ 29 h 44"/>
                <a:gd name="T22" fmla="*/ 7 w 29"/>
                <a:gd name="T23" fmla="*/ 29 h 44"/>
                <a:gd name="T24" fmla="*/ 15 w 29"/>
                <a:gd name="T25" fmla="*/ 22 h 44"/>
                <a:gd name="T26" fmla="*/ 0 w 29"/>
                <a:gd name="T27" fmla="*/ 22 h 44"/>
                <a:gd name="T28" fmla="*/ 0 w 29"/>
                <a:gd name="T29" fmla="*/ 22 h 44"/>
                <a:gd name="T30" fmla="*/ 7 w 29"/>
                <a:gd name="T31" fmla="*/ 7 h 44"/>
                <a:gd name="T32" fmla="*/ 22 w 29"/>
                <a:gd name="T33" fmla="*/ 0 h 44"/>
                <a:gd name="T34" fmla="*/ 29 w 29"/>
                <a:gd name="T35" fmla="*/ 7 h 44"/>
                <a:gd name="T36" fmla="*/ 22 w 29"/>
                <a:gd name="T37" fmla="*/ 7 h 44"/>
                <a:gd name="T38" fmla="*/ 22 w 29"/>
                <a:gd name="T39" fmla="*/ 7 h 4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9"/>
                <a:gd name="T61" fmla="*/ 0 h 44"/>
                <a:gd name="T62" fmla="*/ 29 w 29"/>
                <a:gd name="T63" fmla="*/ 44 h 4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9" h="44">
                  <a:moveTo>
                    <a:pt x="22" y="7"/>
                  </a:moveTo>
                  <a:lnTo>
                    <a:pt x="22" y="14"/>
                  </a:lnTo>
                  <a:lnTo>
                    <a:pt x="22" y="22"/>
                  </a:lnTo>
                  <a:lnTo>
                    <a:pt x="22" y="29"/>
                  </a:lnTo>
                  <a:lnTo>
                    <a:pt x="22" y="37"/>
                  </a:lnTo>
                  <a:lnTo>
                    <a:pt x="22" y="44"/>
                  </a:lnTo>
                  <a:lnTo>
                    <a:pt x="15" y="44"/>
                  </a:lnTo>
                  <a:lnTo>
                    <a:pt x="7" y="44"/>
                  </a:lnTo>
                  <a:lnTo>
                    <a:pt x="0" y="37"/>
                  </a:lnTo>
                  <a:lnTo>
                    <a:pt x="0" y="29"/>
                  </a:lnTo>
                  <a:lnTo>
                    <a:pt x="7" y="29"/>
                  </a:lnTo>
                  <a:lnTo>
                    <a:pt x="15" y="22"/>
                  </a:lnTo>
                  <a:lnTo>
                    <a:pt x="0" y="22"/>
                  </a:lnTo>
                  <a:lnTo>
                    <a:pt x="7" y="7"/>
                  </a:lnTo>
                  <a:lnTo>
                    <a:pt x="22" y="0"/>
                  </a:lnTo>
                  <a:lnTo>
                    <a:pt x="29" y="7"/>
                  </a:lnTo>
                  <a:lnTo>
                    <a:pt x="22" y="7"/>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 name="Freeform 33">
              <a:extLst>
                <a:ext uri="{FF2B5EF4-FFF2-40B4-BE49-F238E27FC236}">
                  <a16:creationId xmlns:a16="http://schemas.microsoft.com/office/drawing/2014/main" id="{B5E1858A-5B4D-DF66-439B-A4BE5EE052C7}"/>
                </a:ext>
              </a:extLst>
            </p:cNvPr>
            <p:cNvSpPr>
              <a:spLocks/>
            </p:cNvSpPr>
            <p:nvPr/>
          </p:nvSpPr>
          <p:spPr bwMode="auto">
            <a:xfrm>
              <a:off x="3940" y="2843"/>
              <a:ext cx="15" cy="8"/>
            </a:xfrm>
            <a:custGeom>
              <a:avLst/>
              <a:gdLst>
                <a:gd name="T0" fmla="*/ 0 w 15"/>
                <a:gd name="T1" fmla="*/ 0 h 8"/>
                <a:gd name="T2" fmla="*/ 0 w 15"/>
                <a:gd name="T3" fmla="*/ 0 h 8"/>
                <a:gd name="T4" fmla="*/ 7 w 15"/>
                <a:gd name="T5" fmla="*/ 0 h 8"/>
                <a:gd name="T6" fmla="*/ 15 w 15"/>
                <a:gd name="T7" fmla="*/ 0 h 8"/>
                <a:gd name="T8" fmla="*/ 7 w 15"/>
                <a:gd name="T9" fmla="*/ 8 h 8"/>
                <a:gd name="T10" fmla="*/ 0 w 15"/>
                <a:gd name="T11" fmla="*/ 0 h 8"/>
                <a:gd name="T12" fmla="*/ 0 w 15"/>
                <a:gd name="T13" fmla="*/ 0 h 8"/>
                <a:gd name="T14" fmla="*/ 0 60000 65536"/>
                <a:gd name="T15" fmla="*/ 0 60000 65536"/>
                <a:gd name="T16" fmla="*/ 0 60000 65536"/>
                <a:gd name="T17" fmla="*/ 0 60000 65536"/>
                <a:gd name="T18" fmla="*/ 0 60000 65536"/>
                <a:gd name="T19" fmla="*/ 0 60000 65536"/>
                <a:gd name="T20" fmla="*/ 0 60000 65536"/>
                <a:gd name="T21" fmla="*/ 0 w 15"/>
                <a:gd name="T22" fmla="*/ 0 h 8"/>
                <a:gd name="T23" fmla="*/ 15 w 15"/>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8">
                  <a:moveTo>
                    <a:pt x="0" y="0"/>
                  </a:moveTo>
                  <a:lnTo>
                    <a:pt x="0" y="0"/>
                  </a:lnTo>
                  <a:lnTo>
                    <a:pt x="7" y="0"/>
                  </a:lnTo>
                  <a:lnTo>
                    <a:pt x="15" y="0"/>
                  </a:lnTo>
                  <a:lnTo>
                    <a:pt x="7" y="8"/>
                  </a:lnTo>
                  <a:lnTo>
                    <a:pt x="0" y="0"/>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 name="Freeform 34">
              <a:extLst>
                <a:ext uri="{FF2B5EF4-FFF2-40B4-BE49-F238E27FC236}">
                  <a16:creationId xmlns:a16="http://schemas.microsoft.com/office/drawing/2014/main" id="{3B29F440-AFCB-73D4-23F8-146E1FEC0DDE}"/>
                </a:ext>
              </a:extLst>
            </p:cNvPr>
            <p:cNvSpPr>
              <a:spLocks/>
            </p:cNvSpPr>
            <p:nvPr/>
          </p:nvSpPr>
          <p:spPr bwMode="auto">
            <a:xfrm>
              <a:off x="4029" y="2769"/>
              <a:ext cx="22" cy="23"/>
            </a:xfrm>
            <a:custGeom>
              <a:avLst/>
              <a:gdLst>
                <a:gd name="T0" fmla="*/ 22 w 22"/>
                <a:gd name="T1" fmla="*/ 23 h 23"/>
                <a:gd name="T2" fmla="*/ 7 w 22"/>
                <a:gd name="T3" fmla="*/ 15 h 23"/>
                <a:gd name="T4" fmla="*/ 0 w 22"/>
                <a:gd name="T5" fmla="*/ 0 h 23"/>
                <a:gd name="T6" fmla="*/ 0 w 22"/>
                <a:gd name="T7" fmla="*/ 0 h 23"/>
                <a:gd name="T8" fmla="*/ 14 w 22"/>
                <a:gd name="T9" fmla="*/ 8 h 23"/>
                <a:gd name="T10" fmla="*/ 22 w 22"/>
                <a:gd name="T11" fmla="*/ 15 h 23"/>
                <a:gd name="T12" fmla="*/ 22 w 22"/>
                <a:gd name="T13" fmla="*/ 23 h 23"/>
                <a:gd name="T14" fmla="*/ 22 w 22"/>
                <a:gd name="T15" fmla="*/ 23 h 23"/>
                <a:gd name="T16" fmla="*/ 22 w 22"/>
                <a:gd name="T17" fmla="*/ 23 h 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3"/>
                <a:gd name="T29" fmla="*/ 22 w 22"/>
                <a:gd name="T30" fmla="*/ 23 h 2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3">
                  <a:moveTo>
                    <a:pt x="22" y="23"/>
                  </a:moveTo>
                  <a:lnTo>
                    <a:pt x="7" y="15"/>
                  </a:lnTo>
                  <a:lnTo>
                    <a:pt x="0" y="0"/>
                  </a:lnTo>
                  <a:lnTo>
                    <a:pt x="14" y="8"/>
                  </a:lnTo>
                  <a:lnTo>
                    <a:pt x="22" y="15"/>
                  </a:lnTo>
                  <a:lnTo>
                    <a:pt x="22" y="23"/>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 name="Freeform 35">
              <a:extLst>
                <a:ext uri="{FF2B5EF4-FFF2-40B4-BE49-F238E27FC236}">
                  <a16:creationId xmlns:a16="http://schemas.microsoft.com/office/drawing/2014/main" id="{807E3E63-0AA3-4604-9BDB-50EB0B9D94DC}"/>
                </a:ext>
              </a:extLst>
            </p:cNvPr>
            <p:cNvSpPr>
              <a:spLocks/>
            </p:cNvSpPr>
            <p:nvPr/>
          </p:nvSpPr>
          <p:spPr bwMode="auto">
            <a:xfrm>
              <a:off x="4014" y="2392"/>
              <a:ext cx="22" cy="22"/>
            </a:xfrm>
            <a:custGeom>
              <a:avLst/>
              <a:gdLst>
                <a:gd name="T0" fmla="*/ 15 w 22"/>
                <a:gd name="T1" fmla="*/ 22 h 22"/>
                <a:gd name="T2" fmla="*/ 15 w 22"/>
                <a:gd name="T3" fmla="*/ 22 h 22"/>
                <a:gd name="T4" fmla="*/ 7 w 22"/>
                <a:gd name="T5" fmla="*/ 14 h 22"/>
                <a:gd name="T6" fmla="*/ 7 w 22"/>
                <a:gd name="T7" fmla="*/ 7 h 22"/>
                <a:gd name="T8" fmla="*/ 0 w 22"/>
                <a:gd name="T9" fmla="*/ 7 h 22"/>
                <a:gd name="T10" fmla="*/ 0 w 22"/>
                <a:gd name="T11" fmla="*/ 7 h 22"/>
                <a:gd name="T12" fmla="*/ 0 w 22"/>
                <a:gd name="T13" fmla="*/ 0 h 22"/>
                <a:gd name="T14" fmla="*/ 7 w 22"/>
                <a:gd name="T15" fmla="*/ 0 h 22"/>
                <a:gd name="T16" fmla="*/ 22 w 22"/>
                <a:gd name="T17" fmla="*/ 7 h 22"/>
                <a:gd name="T18" fmla="*/ 22 w 22"/>
                <a:gd name="T19" fmla="*/ 14 h 22"/>
                <a:gd name="T20" fmla="*/ 22 w 22"/>
                <a:gd name="T21" fmla="*/ 22 h 22"/>
                <a:gd name="T22" fmla="*/ 15 w 22"/>
                <a:gd name="T23" fmla="*/ 22 h 22"/>
                <a:gd name="T24" fmla="*/ 15 w 22"/>
                <a:gd name="T25" fmla="*/ 22 h 2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22"/>
                <a:gd name="T41" fmla="*/ 22 w 22"/>
                <a:gd name="T42" fmla="*/ 22 h 2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22">
                  <a:moveTo>
                    <a:pt x="15" y="22"/>
                  </a:moveTo>
                  <a:lnTo>
                    <a:pt x="15" y="22"/>
                  </a:lnTo>
                  <a:lnTo>
                    <a:pt x="7" y="14"/>
                  </a:lnTo>
                  <a:lnTo>
                    <a:pt x="7" y="7"/>
                  </a:lnTo>
                  <a:lnTo>
                    <a:pt x="0" y="7"/>
                  </a:lnTo>
                  <a:lnTo>
                    <a:pt x="0" y="0"/>
                  </a:lnTo>
                  <a:lnTo>
                    <a:pt x="7" y="0"/>
                  </a:lnTo>
                  <a:lnTo>
                    <a:pt x="22" y="7"/>
                  </a:lnTo>
                  <a:lnTo>
                    <a:pt x="22" y="14"/>
                  </a:lnTo>
                  <a:lnTo>
                    <a:pt x="22" y="22"/>
                  </a:lnTo>
                  <a:lnTo>
                    <a:pt x="15" y="22"/>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 name="Freeform 36">
              <a:extLst>
                <a:ext uri="{FF2B5EF4-FFF2-40B4-BE49-F238E27FC236}">
                  <a16:creationId xmlns:a16="http://schemas.microsoft.com/office/drawing/2014/main" id="{31226D48-DF01-2BAC-FA87-A655414EB404}"/>
                </a:ext>
              </a:extLst>
            </p:cNvPr>
            <p:cNvSpPr>
              <a:spLocks/>
            </p:cNvSpPr>
            <p:nvPr/>
          </p:nvSpPr>
          <p:spPr bwMode="auto">
            <a:xfrm>
              <a:off x="4006" y="2362"/>
              <a:ext cx="74" cy="37"/>
            </a:xfrm>
            <a:custGeom>
              <a:avLst/>
              <a:gdLst>
                <a:gd name="T0" fmla="*/ 8 w 74"/>
                <a:gd name="T1" fmla="*/ 22 h 37"/>
                <a:gd name="T2" fmla="*/ 0 w 74"/>
                <a:gd name="T3" fmla="*/ 15 h 37"/>
                <a:gd name="T4" fmla="*/ 0 w 74"/>
                <a:gd name="T5" fmla="*/ 7 h 37"/>
                <a:gd name="T6" fmla="*/ 0 w 74"/>
                <a:gd name="T7" fmla="*/ 0 h 37"/>
                <a:gd name="T8" fmla="*/ 15 w 74"/>
                <a:gd name="T9" fmla="*/ 0 h 37"/>
                <a:gd name="T10" fmla="*/ 30 w 74"/>
                <a:gd name="T11" fmla="*/ 7 h 37"/>
                <a:gd name="T12" fmla="*/ 37 w 74"/>
                <a:gd name="T13" fmla="*/ 15 h 37"/>
                <a:gd name="T14" fmla="*/ 37 w 74"/>
                <a:gd name="T15" fmla="*/ 15 h 37"/>
                <a:gd name="T16" fmla="*/ 52 w 74"/>
                <a:gd name="T17" fmla="*/ 22 h 37"/>
                <a:gd name="T18" fmla="*/ 60 w 74"/>
                <a:gd name="T19" fmla="*/ 22 h 37"/>
                <a:gd name="T20" fmla="*/ 74 w 74"/>
                <a:gd name="T21" fmla="*/ 22 h 37"/>
                <a:gd name="T22" fmla="*/ 74 w 74"/>
                <a:gd name="T23" fmla="*/ 30 h 37"/>
                <a:gd name="T24" fmla="*/ 67 w 74"/>
                <a:gd name="T25" fmla="*/ 37 h 37"/>
                <a:gd name="T26" fmla="*/ 60 w 74"/>
                <a:gd name="T27" fmla="*/ 37 h 37"/>
                <a:gd name="T28" fmla="*/ 45 w 74"/>
                <a:gd name="T29" fmla="*/ 30 h 37"/>
                <a:gd name="T30" fmla="*/ 30 w 74"/>
                <a:gd name="T31" fmla="*/ 30 h 37"/>
                <a:gd name="T32" fmla="*/ 15 w 74"/>
                <a:gd name="T33" fmla="*/ 22 h 37"/>
                <a:gd name="T34" fmla="*/ 8 w 74"/>
                <a:gd name="T35" fmla="*/ 22 h 37"/>
                <a:gd name="T36" fmla="*/ 8 w 74"/>
                <a:gd name="T37" fmla="*/ 22 h 3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4"/>
                <a:gd name="T58" fmla="*/ 0 h 37"/>
                <a:gd name="T59" fmla="*/ 74 w 74"/>
                <a:gd name="T60" fmla="*/ 37 h 3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4" h="37">
                  <a:moveTo>
                    <a:pt x="8" y="22"/>
                  </a:moveTo>
                  <a:lnTo>
                    <a:pt x="0" y="15"/>
                  </a:lnTo>
                  <a:lnTo>
                    <a:pt x="0" y="7"/>
                  </a:lnTo>
                  <a:lnTo>
                    <a:pt x="0" y="0"/>
                  </a:lnTo>
                  <a:lnTo>
                    <a:pt x="15" y="0"/>
                  </a:lnTo>
                  <a:lnTo>
                    <a:pt x="30" y="7"/>
                  </a:lnTo>
                  <a:lnTo>
                    <a:pt x="37" y="15"/>
                  </a:lnTo>
                  <a:lnTo>
                    <a:pt x="52" y="22"/>
                  </a:lnTo>
                  <a:lnTo>
                    <a:pt x="60" y="22"/>
                  </a:lnTo>
                  <a:lnTo>
                    <a:pt x="74" y="22"/>
                  </a:lnTo>
                  <a:lnTo>
                    <a:pt x="74" y="30"/>
                  </a:lnTo>
                  <a:lnTo>
                    <a:pt x="67" y="37"/>
                  </a:lnTo>
                  <a:lnTo>
                    <a:pt x="60" y="37"/>
                  </a:lnTo>
                  <a:lnTo>
                    <a:pt x="45" y="30"/>
                  </a:lnTo>
                  <a:lnTo>
                    <a:pt x="30" y="30"/>
                  </a:lnTo>
                  <a:lnTo>
                    <a:pt x="15" y="22"/>
                  </a:lnTo>
                  <a:lnTo>
                    <a:pt x="8" y="22"/>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 name="Freeform 37">
              <a:extLst>
                <a:ext uri="{FF2B5EF4-FFF2-40B4-BE49-F238E27FC236}">
                  <a16:creationId xmlns:a16="http://schemas.microsoft.com/office/drawing/2014/main" id="{9677AA99-8CB3-242B-D806-09F5B7FA4CF0}"/>
                </a:ext>
              </a:extLst>
            </p:cNvPr>
            <p:cNvSpPr>
              <a:spLocks/>
            </p:cNvSpPr>
            <p:nvPr/>
          </p:nvSpPr>
          <p:spPr bwMode="auto">
            <a:xfrm>
              <a:off x="4021" y="2355"/>
              <a:ext cx="22" cy="14"/>
            </a:xfrm>
            <a:custGeom>
              <a:avLst/>
              <a:gdLst>
                <a:gd name="T0" fmla="*/ 15 w 22"/>
                <a:gd name="T1" fmla="*/ 14 h 14"/>
                <a:gd name="T2" fmla="*/ 22 w 22"/>
                <a:gd name="T3" fmla="*/ 7 h 14"/>
                <a:gd name="T4" fmla="*/ 22 w 22"/>
                <a:gd name="T5" fmla="*/ 7 h 14"/>
                <a:gd name="T6" fmla="*/ 22 w 22"/>
                <a:gd name="T7" fmla="*/ 7 h 14"/>
                <a:gd name="T8" fmla="*/ 15 w 22"/>
                <a:gd name="T9" fmla="*/ 0 h 14"/>
                <a:gd name="T10" fmla="*/ 8 w 22"/>
                <a:gd name="T11" fmla="*/ 0 h 14"/>
                <a:gd name="T12" fmla="*/ 0 w 22"/>
                <a:gd name="T13" fmla="*/ 7 h 14"/>
                <a:gd name="T14" fmla="*/ 0 w 22"/>
                <a:gd name="T15" fmla="*/ 7 h 14"/>
                <a:gd name="T16" fmla="*/ 8 w 22"/>
                <a:gd name="T17" fmla="*/ 7 h 14"/>
                <a:gd name="T18" fmla="*/ 15 w 22"/>
                <a:gd name="T19" fmla="*/ 14 h 14"/>
                <a:gd name="T20" fmla="*/ 15 w 22"/>
                <a:gd name="T21" fmla="*/ 14 h 1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
                <a:gd name="T34" fmla="*/ 0 h 14"/>
                <a:gd name="T35" fmla="*/ 22 w 22"/>
                <a:gd name="T36" fmla="*/ 14 h 1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 h="14">
                  <a:moveTo>
                    <a:pt x="15" y="14"/>
                  </a:moveTo>
                  <a:lnTo>
                    <a:pt x="22" y="7"/>
                  </a:lnTo>
                  <a:lnTo>
                    <a:pt x="15" y="0"/>
                  </a:lnTo>
                  <a:lnTo>
                    <a:pt x="8" y="0"/>
                  </a:lnTo>
                  <a:lnTo>
                    <a:pt x="0" y="7"/>
                  </a:lnTo>
                  <a:lnTo>
                    <a:pt x="8" y="7"/>
                  </a:lnTo>
                  <a:lnTo>
                    <a:pt x="15" y="14"/>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 name="Freeform 38">
              <a:extLst>
                <a:ext uri="{FF2B5EF4-FFF2-40B4-BE49-F238E27FC236}">
                  <a16:creationId xmlns:a16="http://schemas.microsoft.com/office/drawing/2014/main" id="{E9BACBA4-F34E-49C4-C3B8-40E3D24EAA97}"/>
                </a:ext>
              </a:extLst>
            </p:cNvPr>
            <p:cNvSpPr>
              <a:spLocks/>
            </p:cNvSpPr>
            <p:nvPr/>
          </p:nvSpPr>
          <p:spPr bwMode="auto">
            <a:xfrm>
              <a:off x="4021" y="2332"/>
              <a:ext cx="22" cy="23"/>
            </a:xfrm>
            <a:custGeom>
              <a:avLst/>
              <a:gdLst>
                <a:gd name="T0" fmla="*/ 8 w 22"/>
                <a:gd name="T1" fmla="*/ 15 h 23"/>
                <a:gd name="T2" fmla="*/ 0 w 22"/>
                <a:gd name="T3" fmla="*/ 8 h 23"/>
                <a:gd name="T4" fmla="*/ 0 w 22"/>
                <a:gd name="T5" fmla="*/ 8 h 23"/>
                <a:gd name="T6" fmla="*/ 0 w 22"/>
                <a:gd name="T7" fmla="*/ 8 h 23"/>
                <a:gd name="T8" fmla="*/ 15 w 22"/>
                <a:gd name="T9" fmla="*/ 8 h 23"/>
                <a:gd name="T10" fmla="*/ 15 w 22"/>
                <a:gd name="T11" fmla="*/ 0 h 23"/>
                <a:gd name="T12" fmla="*/ 15 w 22"/>
                <a:gd name="T13" fmla="*/ 0 h 23"/>
                <a:gd name="T14" fmla="*/ 15 w 22"/>
                <a:gd name="T15" fmla="*/ 8 h 23"/>
                <a:gd name="T16" fmla="*/ 15 w 22"/>
                <a:gd name="T17" fmla="*/ 15 h 23"/>
                <a:gd name="T18" fmla="*/ 22 w 22"/>
                <a:gd name="T19" fmla="*/ 15 h 23"/>
                <a:gd name="T20" fmla="*/ 22 w 22"/>
                <a:gd name="T21" fmla="*/ 15 h 23"/>
                <a:gd name="T22" fmla="*/ 15 w 22"/>
                <a:gd name="T23" fmla="*/ 23 h 23"/>
                <a:gd name="T24" fmla="*/ 8 w 22"/>
                <a:gd name="T25" fmla="*/ 15 h 23"/>
                <a:gd name="T26" fmla="*/ 8 w 22"/>
                <a:gd name="T27" fmla="*/ 15 h 2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
                <a:gd name="T43" fmla="*/ 0 h 23"/>
                <a:gd name="T44" fmla="*/ 22 w 22"/>
                <a:gd name="T45" fmla="*/ 23 h 2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 h="23">
                  <a:moveTo>
                    <a:pt x="8" y="15"/>
                  </a:moveTo>
                  <a:lnTo>
                    <a:pt x="0" y="8"/>
                  </a:lnTo>
                  <a:lnTo>
                    <a:pt x="15" y="8"/>
                  </a:lnTo>
                  <a:lnTo>
                    <a:pt x="15" y="0"/>
                  </a:lnTo>
                  <a:lnTo>
                    <a:pt x="15" y="8"/>
                  </a:lnTo>
                  <a:lnTo>
                    <a:pt x="15" y="15"/>
                  </a:lnTo>
                  <a:lnTo>
                    <a:pt x="22" y="15"/>
                  </a:lnTo>
                  <a:lnTo>
                    <a:pt x="15" y="23"/>
                  </a:lnTo>
                  <a:lnTo>
                    <a:pt x="8" y="15"/>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 name="Freeform 39">
              <a:extLst>
                <a:ext uri="{FF2B5EF4-FFF2-40B4-BE49-F238E27FC236}">
                  <a16:creationId xmlns:a16="http://schemas.microsoft.com/office/drawing/2014/main" id="{D1F38C33-E212-FF6F-D431-8AD308F1FF23}"/>
                </a:ext>
              </a:extLst>
            </p:cNvPr>
            <p:cNvSpPr>
              <a:spLocks/>
            </p:cNvSpPr>
            <p:nvPr/>
          </p:nvSpPr>
          <p:spPr bwMode="auto">
            <a:xfrm>
              <a:off x="4051" y="2347"/>
              <a:ext cx="7" cy="15"/>
            </a:xfrm>
            <a:custGeom>
              <a:avLst/>
              <a:gdLst>
                <a:gd name="T0" fmla="*/ 7 w 7"/>
                <a:gd name="T1" fmla="*/ 15 h 15"/>
                <a:gd name="T2" fmla="*/ 0 w 7"/>
                <a:gd name="T3" fmla="*/ 8 h 15"/>
                <a:gd name="T4" fmla="*/ 0 w 7"/>
                <a:gd name="T5" fmla="*/ 0 h 15"/>
                <a:gd name="T6" fmla="*/ 7 w 7"/>
                <a:gd name="T7" fmla="*/ 8 h 15"/>
                <a:gd name="T8" fmla="*/ 7 w 7"/>
                <a:gd name="T9" fmla="*/ 15 h 15"/>
                <a:gd name="T10" fmla="*/ 7 w 7"/>
                <a:gd name="T11" fmla="*/ 15 h 15"/>
                <a:gd name="T12" fmla="*/ 7 w 7"/>
                <a:gd name="T13" fmla="*/ 15 h 15"/>
                <a:gd name="T14" fmla="*/ 0 60000 65536"/>
                <a:gd name="T15" fmla="*/ 0 60000 65536"/>
                <a:gd name="T16" fmla="*/ 0 60000 65536"/>
                <a:gd name="T17" fmla="*/ 0 60000 65536"/>
                <a:gd name="T18" fmla="*/ 0 60000 65536"/>
                <a:gd name="T19" fmla="*/ 0 60000 65536"/>
                <a:gd name="T20" fmla="*/ 0 60000 65536"/>
                <a:gd name="T21" fmla="*/ 0 w 7"/>
                <a:gd name="T22" fmla="*/ 0 h 15"/>
                <a:gd name="T23" fmla="*/ 7 w 7"/>
                <a:gd name="T24" fmla="*/ 15 h 1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 h="15">
                  <a:moveTo>
                    <a:pt x="7" y="15"/>
                  </a:moveTo>
                  <a:lnTo>
                    <a:pt x="0" y="8"/>
                  </a:lnTo>
                  <a:lnTo>
                    <a:pt x="0" y="0"/>
                  </a:lnTo>
                  <a:lnTo>
                    <a:pt x="7" y="8"/>
                  </a:lnTo>
                  <a:lnTo>
                    <a:pt x="7" y="15"/>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 name="Freeform 40">
              <a:extLst>
                <a:ext uri="{FF2B5EF4-FFF2-40B4-BE49-F238E27FC236}">
                  <a16:creationId xmlns:a16="http://schemas.microsoft.com/office/drawing/2014/main" id="{E3029856-3177-97D0-5AF0-98E8405F0C3B}"/>
                </a:ext>
              </a:extLst>
            </p:cNvPr>
            <p:cNvSpPr>
              <a:spLocks/>
            </p:cNvSpPr>
            <p:nvPr/>
          </p:nvSpPr>
          <p:spPr bwMode="auto">
            <a:xfrm>
              <a:off x="4066" y="2340"/>
              <a:ext cx="22" cy="15"/>
            </a:xfrm>
            <a:custGeom>
              <a:avLst/>
              <a:gdLst>
                <a:gd name="T0" fmla="*/ 0 w 22"/>
                <a:gd name="T1" fmla="*/ 15 h 15"/>
                <a:gd name="T2" fmla="*/ 0 w 22"/>
                <a:gd name="T3" fmla="*/ 7 h 15"/>
                <a:gd name="T4" fmla="*/ 0 w 22"/>
                <a:gd name="T5" fmla="*/ 7 h 15"/>
                <a:gd name="T6" fmla="*/ 0 w 22"/>
                <a:gd name="T7" fmla="*/ 0 h 15"/>
                <a:gd name="T8" fmla="*/ 7 w 22"/>
                <a:gd name="T9" fmla="*/ 0 h 15"/>
                <a:gd name="T10" fmla="*/ 14 w 22"/>
                <a:gd name="T11" fmla="*/ 0 h 15"/>
                <a:gd name="T12" fmla="*/ 22 w 22"/>
                <a:gd name="T13" fmla="*/ 7 h 15"/>
                <a:gd name="T14" fmla="*/ 14 w 22"/>
                <a:gd name="T15" fmla="*/ 7 h 15"/>
                <a:gd name="T16" fmla="*/ 14 w 22"/>
                <a:gd name="T17" fmla="*/ 15 h 15"/>
                <a:gd name="T18" fmla="*/ 0 w 22"/>
                <a:gd name="T19" fmla="*/ 15 h 15"/>
                <a:gd name="T20" fmla="*/ 0 w 22"/>
                <a:gd name="T21" fmla="*/ 15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
                <a:gd name="T34" fmla="*/ 0 h 15"/>
                <a:gd name="T35" fmla="*/ 22 w 22"/>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 h="15">
                  <a:moveTo>
                    <a:pt x="0" y="15"/>
                  </a:moveTo>
                  <a:lnTo>
                    <a:pt x="0" y="7"/>
                  </a:lnTo>
                  <a:lnTo>
                    <a:pt x="0" y="0"/>
                  </a:lnTo>
                  <a:lnTo>
                    <a:pt x="7" y="0"/>
                  </a:lnTo>
                  <a:lnTo>
                    <a:pt x="14" y="0"/>
                  </a:lnTo>
                  <a:lnTo>
                    <a:pt x="22" y="7"/>
                  </a:lnTo>
                  <a:lnTo>
                    <a:pt x="14" y="7"/>
                  </a:lnTo>
                  <a:lnTo>
                    <a:pt x="14" y="15"/>
                  </a:lnTo>
                  <a:lnTo>
                    <a:pt x="0" y="15"/>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 name="Freeform 41">
              <a:extLst>
                <a:ext uri="{FF2B5EF4-FFF2-40B4-BE49-F238E27FC236}">
                  <a16:creationId xmlns:a16="http://schemas.microsoft.com/office/drawing/2014/main" id="{70ECB941-9868-F44D-C884-F79C3C58D722}"/>
                </a:ext>
              </a:extLst>
            </p:cNvPr>
            <p:cNvSpPr>
              <a:spLocks/>
            </p:cNvSpPr>
            <p:nvPr/>
          </p:nvSpPr>
          <p:spPr bwMode="auto">
            <a:xfrm>
              <a:off x="4066" y="2362"/>
              <a:ext cx="22" cy="7"/>
            </a:xfrm>
            <a:custGeom>
              <a:avLst/>
              <a:gdLst>
                <a:gd name="T0" fmla="*/ 0 w 22"/>
                <a:gd name="T1" fmla="*/ 0 h 7"/>
                <a:gd name="T2" fmla="*/ 0 w 22"/>
                <a:gd name="T3" fmla="*/ 7 h 7"/>
                <a:gd name="T4" fmla="*/ 7 w 22"/>
                <a:gd name="T5" fmla="*/ 7 h 7"/>
                <a:gd name="T6" fmla="*/ 22 w 22"/>
                <a:gd name="T7" fmla="*/ 7 h 7"/>
                <a:gd name="T8" fmla="*/ 22 w 22"/>
                <a:gd name="T9" fmla="*/ 7 h 7"/>
                <a:gd name="T10" fmla="*/ 14 w 22"/>
                <a:gd name="T11" fmla="*/ 0 h 7"/>
                <a:gd name="T12" fmla="*/ 14 w 22"/>
                <a:gd name="T13" fmla="*/ 0 h 7"/>
                <a:gd name="T14" fmla="*/ 7 w 22"/>
                <a:gd name="T15" fmla="*/ 0 h 7"/>
                <a:gd name="T16" fmla="*/ 0 w 22"/>
                <a:gd name="T17" fmla="*/ 0 h 7"/>
                <a:gd name="T18" fmla="*/ 0 w 22"/>
                <a:gd name="T19" fmla="*/ 0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
                <a:gd name="T31" fmla="*/ 0 h 7"/>
                <a:gd name="T32" fmla="*/ 22 w 22"/>
                <a:gd name="T33" fmla="*/ 7 h 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 h="7">
                  <a:moveTo>
                    <a:pt x="0" y="0"/>
                  </a:moveTo>
                  <a:lnTo>
                    <a:pt x="0" y="7"/>
                  </a:lnTo>
                  <a:lnTo>
                    <a:pt x="7" y="7"/>
                  </a:lnTo>
                  <a:lnTo>
                    <a:pt x="22" y="7"/>
                  </a:lnTo>
                  <a:lnTo>
                    <a:pt x="14" y="0"/>
                  </a:lnTo>
                  <a:lnTo>
                    <a:pt x="7" y="0"/>
                  </a:lnTo>
                  <a:lnTo>
                    <a:pt x="0" y="0"/>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 name="Freeform 42">
              <a:extLst>
                <a:ext uri="{FF2B5EF4-FFF2-40B4-BE49-F238E27FC236}">
                  <a16:creationId xmlns:a16="http://schemas.microsoft.com/office/drawing/2014/main" id="{9DC7D787-6A8B-8102-5884-11A5604810CF}"/>
                </a:ext>
              </a:extLst>
            </p:cNvPr>
            <p:cNvSpPr>
              <a:spLocks/>
            </p:cNvSpPr>
            <p:nvPr/>
          </p:nvSpPr>
          <p:spPr bwMode="auto">
            <a:xfrm>
              <a:off x="4043" y="2369"/>
              <a:ext cx="23" cy="8"/>
            </a:xfrm>
            <a:custGeom>
              <a:avLst/>
              <a:gdLst>
                <a:gd name="T0" fmla="*/ 23 w 23"/>
                <a:gd name="T1" fmla="*/ 8 h 8"/>
                <a:gd name="T2" fmla="*/ 8 w 23"/>
                <a:gd name="T3" fmla="*/ 8 h 8"/>
                <a:gd name="T4" fmla="*/ 0 w 23"/>
                <a:gd name="T5" fmla="*/ 0 h 8"/>
                <a:gd name="T6" fmla="*/ 8 w 23"/>
                <a:gd name="T7" fmla="*/ 0 h 8"/>
                <a:gd name="T8" fmla="*/ 15 w 23"/>
                <a:gd name="T9" fmla="*/ 0 h 8"/>
                <a:gd name="T10" fmla="*/ 23 w 23"/>
                <a:gd name="T11" fmla="*/ 8 h 8"/>
                <a:gd name="T12" fmla="*/ 23 w 23"/>
                <a:gd name="T13" fmla="*/ 8 h 8"/>
                <a:gd name="T14" fmla="*/ 23 w 23"/>
                <a:gd name="T15" fmla="*/ 8 h 8"/>
                <a:gd name="T16" fmla="*/ 0 60000 65536"/>
                <a:gd name="T17" fmla="*/ 0 60000 65536"/>
                <a:gd name="T18" fmla="*/ 0 60000 65536"/>
                <a:gd name="T19" fmla="*/ 0 60000 65536"/>
                <a:gd name="T20" fmla="*/ 0 60000 65536"/>
                <a:gd name="T21" fmla="*/ 0 60000 65536"/>
                <a:gd name="T22" fmla="*/ 0 60000 65536"/>
                <a:gd name="T23" fmla="*/ 0 60000 65536"/>
                <a:gd name="T24" fmla="*/ 0 w 23"/>
                <a:gd name="T25" fmla="*/ 0 h 8"/>
                <a:gd name="T26" fmla="*/ 23 w 23"/>
                <a:gd name="T27" fmla="*/ 8 h 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 h="8">
                  <a:moveTo>
                    <a:pt x="23" y="8"/>
                  </a:moveTo>
                  <a:lnTo>
                    <a:pt x="8" y="8"/>
                  </a:lnTo>
                  <a:lnTo>
                    <a:pt x="0" y="0"/>
                  </a:lnTo>
                  <a:lnTo>
                    <a:pt x="8" y="0"/>
                  </a:lnTo>
                  <a:lnTo>
                    <a:pt x="15" y="0"/>
                  </a:lnTo>
                  <a:lnTo>
                    <a:pt x="23" y="8"/>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 name="Freeform 43">
              <a:extLst>
                <a:ext uri="{FF2B5EF4-FFF2-40B4-BE49-F238E27FC236}">
                  <a16:creationId xmlns:a16="http://schemas.microsoft.com/office/drawing/2014/main" id="{42D69DE9-AAF5-5CA1-D91D-E1A0F575D74D}"/>
                </a:ext>
              </a:extLst>
            </p:cNvPr>
            <p:cNvSpPr>
              <a:spLocks/>
            </p:cNvSpPr>
            <p:nvPr/>
          </p:nvSpPr>
          <p:spPr bwMode="auto">
            <a:xfrm>
              <a:off x="4058" y="2406"/>
              <a:ext cx="22" cy="15"/>
            </a:xfrm>
            <a:custGeom>
              <a:avLst/>
              <a:gdLst>
                <a:gd name="T0" fmla="*/ 22 w 22"/>
                <a:gd name="T1" fmla="*/ 8 h 15"/>
                <a:gd name="T2" fmla="*/ 15 w 22"/>
                <a:gd name="T3" fmla="*/ 15 h 15"/>
                <a:gd name="T4" fmla="*/ 15 w 22"/>
                <a:gd name="T5" fmla="*/ 15 h 15"/>
                <a:gd name="T6" fmla="*/ 8 w 22"/>
                <a:gd name="T7" fmla="*/ 8 h 15"/>
                <a:gd name="T8" fmla="*/ 0 w 22"/>
                <a:gd name="T9" fmla="*/ 0 h 15"/>
                <a:gd name="T10" fmla="*/ 0 w 22"/>
                <a:gd name="T11" fmla="*/ 0 h 15"/>
                <a:gd name="T12" fmla="*/ 15 w 22"/>
                <a:gd name="T13" fmla="*/ 0 h 15"/>
                <a:gd name="T14" fmla="*/ 22 w 22"/>
                <a:gd name="T15" fmla="*/ 8 h 15"/>
                <a:gd name="T16" fmla="*/ 22 w 22"/>
                <a:gd name="T17" fmla="*/ 8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15"/>
                <a:gd name="T29" fmla="*/ 22 w 22"/>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15">
                  <a:moveTo>
                    <a:pt x="22" y="8"/>
                  </a:moveTo>
                  <a:lnTo>
                    <a:pt x="15" y="15"/>
                  </a:lnTo>
                  <a:lnTo>
                    <a:pt x="8" y="8"/>
                  </a:lnTo>
                  <a:lnTo>
                    <a:pt x="0" y="0"/>
                  </a:lnTo>
                  <a:lnTo>
                    <a:pt x="15" y="0"/>
                  </a:lnTo>
                  <a:lnTo>
                    <a:pt x="22" y="8"/>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 name="Freeform 44">
              <a:extLst>
                <a:ext uri="{FF2B5EF4-FFF2-40B4-BE49-F238E27FC236}">
                  <a16:creationId xmlns:a16="http://schemas.microsoft.com/office/drawing/2014/main" id="{2A3BCC9A-86F6-C3B2-F1C8-0162C6266B56}"/>
                </a:ext>
              </a:extLst>
            </p:cNvPr>
            <p:cNvSpPr>
              <a:spLocks/>
            </p:cNvSpPr>
            <p:nvPr/>
          </p:nvSpPr>
          <p:spPr bwMode="auto">
            <a:xfrm>
              <a:off x="4073" y="2332"/>
              <a:ext cx="7" cy="8"/>
            </a:xfrm>
            <a:custGeom>
              <a:avLst/>
              <a:gdLst>
                <a:gd name="T0" fmla="*/ 7 w 7"/>
                <a:gd name="T1" fmla="*/ 8 h 8"/>
                <a:gd name="T2" fmla="*/ 0 w 7"/>
                <a:gd name="T3" fmla="*/ 0 h 8"/>
                <a:gd name="T4" fmla="*/ 7 w 7"/>
                <a:gd name="T5" fmla="*/ 0 h 8"/>
                <a:gd name="T6" fmla="*/ 7 w 7"/>
                <a:gd name="T7" fmla="*/ 0 h 8"/>
                <a:gd name="T8" fmla="*/ 7 w 7"/>
                <a:gd name="T9" fmla="*/ 0 h 8"/>
                <a:gd name="T10" fmla="*/ 7 w 7"/>
                <a:gd name="T11" fmla="*/ 8 h 8"/>
                <a:gd name="T12" fmla="*/ 7 w 7"/>
                <a:gd name="T13" fmla="*/ 8 h 8"/>
                <a:gd name="T14" fmla="*/ 7 w 7"/>
                <a:gd name="T15" fmla="*/ 8 h 8"/>
                <a:gd name="T16" fmla="*/ 0 60000 65536"/>
                <a:gd name="T17" fmla="*/ 0 60000 65536"/>
                <a:gd name="T18" fmla="*/ 0 60000 65536"/>
                <a:gd name="T19" fmla="*/ 0 60000 65536"/>
                <a:gd name="T20" fmla="*/ 0 60000 65536"/>
                <a:gd name="T21" fmla="*/ 0 60000 65536"/>
                <a:gd name="T22" fmla="*/ 0 60000 65536"/>
                <a:gd name="T23" fmla="*/ 0 60000 65536"/>
                <a:gd name="T24" fmla="*/ 0 w 7"/>
                <a:gd name="T25" fmla="*/ 0 h 8"/>
                <a:gd name="T26" fmla="*/ 7 w 7"/>
                <a:gd name="T27" fmla="*/ 8 h 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 h="8">
                  <a:moveTo>
                    <a:pt x="7" y="8"/>
                  </a:moveTo>
                  <a:lnTo>
                    <a:pt x="0" y="0"/>
                  </a:lnTo>
                  <a:lnTo>
                    <a:pt x="7" y="0"/>
                  </a:lnTo>
                  <a:lnTo>
                    <a:pt x="7" y="8"/>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 name="Freeform 45">
              <a:extLst>
                <a:ext uri="{FF2B5EF4-FFF2-40B4-BE49-F238E27FC236}">
                  <a16:creationId xmlns:a16="http://schemas.microsoft.com/office/drawing/2014/main" id="{91206D0C-D77B-7BDC-31D7-1C9D9E6C7291}"/>
                </a:ext>
              </a:extLst>
            </p:cNvPr>
            <p:cNvSpPr>
              <a:spLocks/>
            </p:cNvSpPr>
            <p:nvPr/>
          </p:nvSpPr>
          <p:spPr bwMode="auto">
            <a:xfrm>
              <a:off x="4969" y="3295"/>
              <a:ext cx="7" cy="1"/>
            </a:xfrm>
            <a:custGeom>
              <a:avLst/>
              <a:gdLst>
                <a:gd name="T0" fmla="*/ 0 w 7"/>
                <a:gd name="T1" fmla="*/ 0 h 1"/>
                <a:gd name="T2" fmla="*/ 0 w 7"/>
                <a:gd name="T3" fmla="*/ 0 h 1"/>
                <a:gd name="T4" fmla="*/ 7 w 7"/>
                <a:gd name="T5" fmla="*/ 0 h 1"/>
                <a:gd name="T6" fmla="*/ 7 w 7"/>
                <a:gd name="T7" fmla="*/ 0 h 1"/>
                <a:gd name="T8" fmla="*/ 7 w 7"/>
                <a:gd name="T9" fmla="*/ 0 h 1"/>
                <a:gd name="T10" fmla="*/ 0 w 7"/>
                <a:gd name="T11" fmla="*/ 0 h 1"/>
                <a:gd name="T12" fmla="*/ 0 w 7"/>
                <a:gd name="T13" fmla="*/ 0 h 1"/>
                <a:gd name="T14" fmla="*/ 0 60000 65536"/>
                <a:gd name="T15" fmla="*/ 0 60000 65536"/>
                <a:gd name="T16" fmla="*/ 0 60000 65536"/>
                <a:gd name="T17" fmla="*/ 0 60000 65536"/>
                <a:gd name="T18" fmla="*/ 0 60000 65536"/>
                <a:gd name="T19" fmla="*/ 0 60000 65536"/>
                <a:gd name="T20" fmla="*/ 0 60000 65536"/>
                <a:gd name="T21" fmla="*/ 0 w 7"/>
                <a:gd name="T22" fmla="*/ 0 h 1"/>
                <a:gd name="T23" fmla="*/ 7 w 7"/>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 h="1">
                  <a:moveTo>
                    <a:pt x="0" y="0"/>
                  </a:moveTo>
                  <a:lnTo>
                    <a:pt x="0" y="0"/>
                  </a:lnTo>
                  <a:lnTo>
                    <a:pt x="7" y="0"/>
                  </a:lnTo>
                  <a:lnTo>
                    <a:pt x="0" y="0"/>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 name="Freeform 46">
              <a:extLst>
                <a:ext uri="{FF2B5EF4-FFF2-40B4-BE49-F238E27FC236}">
                  <a16:creationId xmlns:a16="http://schemas.microsoft.com/office/drawing/2014/main" id="{805F82A4-B7C4-B090-2807-77E4D1E7BF16}"/>
                </a:ext>
              </a:extLst>
            </p:cNvPr>
            <p:cNvSpPr>
              <a:spLocks/>
            </p:cNvSpPr>
            <p:nvPr/>
          </p:nvSpPr>
          <p:spPr bwMode="auto">
            <a:xfrm>
              <a:off x="4962" y="3317"/>
              <a:ext cx="22" cy="8"/>
            </a:xfrm>
            <a:custGeom>
              <a:avLst/>
              <a:gdLst>
                <a:gd name="T0" fmla="*/ 7 w 22"/>
                <a:gd name="T1" fmla="*/ 0 h 8"/>
                <a:gd name="T2" fmla="*/ 14 w 22"/>
                <a:gd name="T3" fmla="*/ 0 h 8"/>
                <a:gd name="T4" fmla="*/ 22 w 22"/>
                <a:gd name="T5" fmla="*/ 8 h 8"/>
                <a:gd name="T6" fmla="*/ 14 w 22"/>
                <a:gd name="T7" fmla="*/ 8 h 8"/>
                <a:gd name="T8" fmla="*/ 0 w 22"/>
                <a:gd name="T9" fmla="*/ 8 h 8"/>
                <a:gd name="T10" fmla="*/ 0 w 22"/>
                <a:gd name="T11" fmla="*/ 0 h 8"/>
                <a:gd name="T12" fmla="*/ 0 w 22"/>
                <a:gd name="T13" fmla="*/ 0 h 8"/>
                <a:gd name="T14" fmla="*/ 7 w 22"/>
                <a:gd name="T15" fmla="*/ 0 h 8"/>
                <a:gd name="T16" fmla="*/ 7 w 22"/>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8"/>
                <a:gd name="T29" fmla="*/ 22 w 22"/>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8">
                  <a:moveTo>
                    <a:pt x="7" y="0"/>
                  </a:moveTo>
                  <a:lnTo>
                    <a:pt x="14" y="0"/>
                  </a:lnTo>
                  <a:lnTo>
                    <a:pt x="22" y="8"/>
                  </a:lnTo>
                  <a:lnTo>
                    <a:pt x="14" y="8"/>
                  </a:lnTo>
                  <a:lnTo>
                    <a:pt x="0" y="8"/>
                  </a:lnTo>
                  <a:lnTo>
                    <a:pt x="0" y="0"/>
                  </a:lnTo>
                  <a:lnTo>
                    <a:pt x="7" y="0"/>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 name="Freeform 47">
              <a:extLst>
                <a:ext uri="{FF2B5EF4-FFF2-40B4-BE49-F238E27FC236}">
                  <a16:creationId xmlns:a16="http://schemas.microsoft.com/office/drawing/2014/main" id="{542A304F-627A-79F8-E603-C20CC90ADCE8}"/>
                </a:ext>
              </a:extLst>
            </p:cNvPr>
            <p:cNvSpPr>
              <a:spLocks/>
            </p:cNvSpPr>
            <p:nvPr/>
          </p:nvSpPr>
          <p:spPr bwMode="auto">
            <a:xfrm>
              <a:off x="4754" y="3406"/>
              <a:ext cx="59" cy="22"/>
            </a:xfrm>
            <a:custGeom>
              <a:avLst/>
              <a:gdLst>
                <a:gd name="T0" fmla="*/ 22 w 59"/>
                <a:gd name="T1" fmla="*/ 0 h 22"/>
                <a:gd name="T2" fmla="*/ 22 w 59"/>
                <a:gd name="T3" fmla="*/ 0 h 22"/>
                <a:gd name="T4" fmla="*/ 30 w 59"/>
                <a:gd name="T5" fmla="*/ 8 h 22"/>
                <a:gd name="T6" fmla="*/ 30 w 59"/>
                <a:gd name="T7" fmla="*/ 0 h 22"/>
                <a:gd name="T8" fmla="*/ 30 w 59"/>
                <a:gd name="T9" fmla="*/ 0 h 22"/>
                <a:gd name="T10" fmla="*/ 37 w 59"/>
                <a:gd name="T11" fmla="*/ 0 h 22"/>
                <a:gd name="T12" fmla="*/ 45 w 59"/>
                <a:gd name="T13" fmla="*/ 8 h 22"/>
                <a:gd name="T14" fmla="*/ 52 w 59"/>
                <a:gd name="T15" fmla="*/ 8 h 22"/>
                <a:gd name="T16" fmla="*/ 59 w 59"/>
                <a:gd name="T17" fmla="*/ 8 h 22"/>
                <a:gd name="T18" fmla="*/ 52 w 59"/>
                <a:gd name="T19" fmla="*/ 15 h 22"/>
                <a:gd name="T20" fmla="*/ 52 w 59"/>
                <a:gd name="T21" fmla="*/ 15 h 22"/>
                <a:gd name="T22" fmla="*/ 52 w 59"/>
                <a:gd name="T23" fmla="*/ 15 h 22"/>
                <a:gd name="T24" fmla="*/ 52 w 59"/>
                <a:gd name="T25" fmla="*/ 22 h 22"/>
                <a:gd name="T26" fmla="*/ 45 w 59"/>
                <a:gd name="T27" fmla="*/ 22 h 22"/>
                <a:gd name="T28" fmla="*/ 45 w 59"/>
                <a:gd name="T29" fmla="*/ 22 h 22"/>
                <a:gd name="T30" fmla="*/ 45 w 59"/>
                <a:gd name="T31" fmla="*/ 22 h 22"/>
                <a:gd name="T32" fmla="*/ 37 w 59"/>
                <a:gd name="T33" fmla="*/ 22 h 22"/>
                <a:gd name="T34" fmla="*/ 30 w 59"/>
                <a:gd name="T35" fmla="*/ 15 h 22"/>
                <a:gd name="T36" fmla="*/ 22 w 59"/>
                <a:gd name="T37" fmla="*/ 15 h 22"/>
                <a:gd name="T38" fmla="*/ 15 w 59"/>
                <a:gd name="T39" fmla="*/ 15 h 22"/>
                <a:gd name="T40" fmla="*/ 8 w 59"/>
                <a:gd name="T41" fmla="*/ 15 h 22"/>
                <a:gd name="T42" fmla="*/ 0 w 59"/>
                <a:gd name="T43" fmla="*/ 15 h 22"/>
                <a:gd name="T44" fmla="*/ 0 w 59"/>
                <a:gd name="T45" fmla="*/ 8 h 22"/>
                <a:gd name="T46" fmla="*/ 8 w 59"/>
                <a:gd name="T47" fmla="*/ 8 h 22"/>
                <a:gd name="T48" fmla="*/ 15 w 59"/>
                <a:gd name="T49" fmla="*/ 8 h 22"/>
                <a:gd name="T50" fmla="*/ 15 w 59"/>
                <a:gd name="T51" fmla="*/ 8 h 22"/>
                <a:gd name="T52" fmla="*/ 22 w 59"/>
                <a:gd name="T53" fmla="*/ 0 h 22"/>
                <a:gd name="T54" fmla="*/ 22 w 59"/>
                <a:gd name="T55" fmla="*/ 0 h 22"/>
                <a:gd name="T56" fmla="*/ 22 w 59"/>
                <a:gd name="T57" fmla="*/ 0 h 2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9"/>
                <a:gd name="T88" fmla="*/ 0 h 22"/>
                <a:gd name="T89" fmla="*/ 59 w 59"/>
                <a:gd name="T90" fmla="*/ 22 h 2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9" h="22">
                  <a:moveTo>
                    <a:pt x="22" y="0"/>
                  </a:moveTo>
                  <a:lnTo>
                    <a:pt x="22" y="0"/>
                  </a:lnTo>
                  <a:lnTo>
                    <a:pt x="30" y="8"/>
                  </a:lnTo>
                  <a:lnTo>
                    <a:pt x="30" y="0"/>
                  </a:lnTo>
                  <a:lnTo>
                    <a:pt x="37" y="0"/>
                  </a:lnTo>
                  <a:lnTo>
                    <a:pt x="45" y="8"/>
                  </a:lnTo>
                  <a:lnTo>
                    <a:pt x="52" y="8"/>
                  </a:lnTo>
                  <a:lnTo>
                    <a:pt x="59" y="8"/>
                  </a:lnTo>
                  <a:lnTo>
                    <a:pt x="52" y="15"/>
                  </a:lnTo>
                  <a:lnTo>
                    <a:pt x="52" y="22"/>
                  </a:lnTo>
                  <a:lnTo>
                    <a:pt x="45" y="22"/>
                  </a:lnTo>
                  <a:lnTo>
                    <a:pt x="37" y="22"/>
                  </a:lnTo>
                  <a:lnTo>
                    <a:pt x="30" y="15"/>
                  </a:lnTo>
                  <a:lnTo>
                    <a:pt x="22" y="15"/>
                  </a:lnTo>
                  <a:lnTo>
                    <a:pt x="15" y="15"/>
                  </a:lnTo>
                  <a:lnTo>
                    <a:pt x="8" y="15"/>
                  </a:lnTo>
                  <a:lnTo>
                    <a:pt x="0" y="15"/>
                  </a:lnTo>
                  <a:lnTo>
                    <a:pt x="0" y="8"/>
                  </a:lnTo>
                  <a:lnTo>
                    <a:pt x="8" y="8"/>
                  </a:lnTo>
                  <a:lnTo>
                    <a:pt x="15" y="8"/>
                  </a:lnTo>
                  <a:lnTo>
                    <a:pt x="22" y="0"/>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 name="Freeform 48">
              <a:extLst>
                <a:ext uri="{FF2B5EF4-FFF2-40B4-BE49-F238E27FC236}">
                  <a16:creationId xmlns:a16="http://schemas.microsoft.com/office/drawing/2014/main" id="{63F06EFE-A8AF-2548-A0C9-2D20396CC399}"/>
                </a:ext>
              </a:extLst>
            </p:cNvPr>
            <p:cNvSpPr>
              <a:spLocks/>
            </p:cNvSpPr>
            <p:nvPr/>
          </p:nvSpPr>
          <p:spPr bwMode="auto">
            <a:xfrm>
              <a:off x="4969" y="3273"/>
              <a:ext cx="7" cy="1"/>
            </a:xfrm>
            <a:custGeom>
              <a:avLst/>
              <a:gdLst>
                <a:gd name="T0" fmla="*/ 0 w 7"/>
                <a:gd name="T1" fmla="*/ 0 h 1"/>
                <a:gd name="T2" fmla="*/ 0 w 7"/>
                <a:gd name="T3" fmla="*/ 0 h 1"/>
                <a:gd name="T4" fmla="*/ 7 w 7"/>
                <a:gd name="T5" fmla="*/ 0 h 1"/>
                <a:gd name="T6" fmla="*/ 0 w 7"/>
                <a:gd name="T7" fmla="*/ 0 h 1"/>
                <a:gd name="T8" fmla="*/ 0 w 7"/>
                <a:gd name="T9" fmla="*/ 0 h 1"/>
                <a:gd name="T10" fmla="*/ 0 60000 65536"/>
                <a:gd name="T11" fmla="*/ 0 60000 65536"/>
                <a:gd name="T12" fmla="*/ 0 60000 65536"/>
                <a:gd name="T13" fmla="*/ 0 60000 65536"/>
                <a:gd name="T14" fmla="*/ 0 60000 65536"/>
                <a:gd name="T15" fmla="*/ 0 w 7"/>
                <a:gd name="T16" fmla="*/ 0 h 1"/>
                <a:gd name="T17" fmla="*/ 7 w 7"/>
                <a:gd name="T18" fmla="*/ 1 h 1"/>
              </a:gdLst>
              <a:ahLst/>
              <a:cxnLst>
                <a:cxn ang="T10">
                  <a:pos x="T0" y="T1"/>
                </a:cxn>
                <a:cxn ang="T11">
                  <a:pos x="T2" y="T3"/>
                </a:cxn>
                <a:cxn ang="T12">
                  <a:pos x="T4" y="T5"/>
                </a:cxn>
                <a:cxn ang="T13">
                  <a:pos x="T6" y="T7"/>
                </a:cxn>
                <a:cxn ang="T14">
                  <a:pos x="T8" y="T9"/>
                </a:cxn>
              </a:cxnLst>
              <a:rect l="T15" t="T16" r="T17" b="T18"/>
              <a:pathLst>
                <a:path w="7" h="1">
                  <a:moveTo>
                    <a:pt x="0" y="0"/>
                  </a:moveTo>
                  <a:lnTo>
                    <a:pt x="0" y="0"/>
                  </a:lnTo>
                  <a:lnTo>
                    <a:pt x="7" y="0"/>
                  </a:lnTo>
                  <a:lnTo>
                    <a:pt x="0" y="0"/>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 name="Freeform 49">
              <a:extLst>
                <a:ext uri="{FF2B5EF4-FFF2-40B4-BE49-F238E27FC236}">
                  <a16:creationId xmlns:a16="http://schemas.microsoft.com/office/drawing/2014/main" id="{08AF5DE1-BA77-A88F-0BBD-3C4F19C29820}"/>
                </a:ext>
              </a:extLst>
            </p:cNvPr>
            <p:cNvSpPr>
              <a:spLocks/>
            </p:cNvSpPr>
            <p:nvPr/>
          </p:nvSpPr>
          <p:spPr bwMode="auto">
            <a:xfrm>
              <a:off x="4969" y="3273"/>
              <a:ext cx="7" cy="1"/>
            </a:xfrm>
            <a:custGeom>
              <a:avLst/>
              <a:gdLst>
                <a:gd name="T0" fmla="*/ 0 w 7"/>
                <a:gd name="T1" fmla="*/ 0 h 1"/>
                <a:gd name="T2" fmla="*/ 0 w 7"/>
                <a:gd name="T3" fmla="*/ 0 h 1"/>
                <a:gd name="T4" fmla="*/ 7 w 7"/>
                <a:gd name="T5" fmla="*/ 0 h 1"/>
                <a:gd name="T6" fmla="*/ 0 w 7"/>
                <a:gd name="T7" fmla="*/ 0 h 1"/>
                <a:gd name="T8" fmla="*/ 0 w 7"/>
                <a:gd name="T9" fmla="*/ 0 h 1"/>
                <a:gd name="T10" fmla="*/ 0 60000 65536"/>
                <a:gd name="T11" fmla="*/ 0 60000 65536"/>
                <a:gd name="T12" fmla="*/ 0 60000 65536"/>
                <a:gd name="T13" fmla="*/ 0 60000 65536"/>
                <a:gd name="T14" fmla="*/ 0 60000 65536"/>
                <a:gd name="T15" fmla="*/ 0 w 7"/>
                <a:gd name="T16" fmla="*/ 0 h 1"/>
                <a:gd name="T17" fmla="*/ 7 w 7"/>
                <a:gd name="T18" fmla="*/ 1 h 1"/>
              </a:gdLst>
              <a:ahLst/>
              <a:cxnLst>
                <a:cxn ang="T10">
                  <a:pos x="T0" y="T1"/>
                </a:cxn>
                <a:cxn ang="T11">
                  <a:pos x="T2" y="T3"/>
                </a:cxn>
                <a:cxn ang="T12">
                  <a:pos x="T4" y="T5"/>
                </a:cxn>
                <a:cxn ang="T13">
                  <a:pos x="T6" y="T7"/>
                </a:cxn>
                <a:cxn ang="T14">
                  <a:pos x="T8" y="T9"/>
                </a:cxn>
              </a:cxnLst>
              <a:rect l="T15" t="T16" r="T17" b="T18"/>
              <a:pathLst>
                <a:path w="7" h="1">
                  <a:moveTo>
                    <a:pt x="0" y="0"/>
                  </a:moveTo>
                  <a:lnTo>
                    <a:pt x="0" y="0"/>
                  </a:lnTo>
                  <a:lnTo>
                    <a:pt x="7" y="0"/>
                  </a:lnTo>
                  <a:lnTo>
                    <a:pt x="0" y="0"/>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 name="Freeform 50">
              <a:extLst>
                <a:ext uri="{FF2B5EF4-FFF2-40B4-BE49-F238E27FC236}">
                  <a16:creationId xmlns:a16="http://schemas.microsoft.com/office/drawing/2014/main" id="{89278087-B17B-706B-4DAA-E3B64AB14016}"/>
                </a:ext>
              </a:extLst>
            </p:cNvPr>
            <p:cNvSpPr>
              <a:spLocks/>
            </p:cNvSpPr>
            <p:nvPr/>
          </p:nvSpPr>
          <p:spPr bwMode="auto">
            <a:xfrm>
              <a:off x="4243" y="3080"/>
              <a:ext cx="67" cy="37"/>
            </a:xfrm>
            <a:custGeom>
              <a:avLst/>
              <a:gdLst>
                <a:gd name="T0" fmla="*/ 0 w 67"/>
                <a:gd name="T1" fmla="*/ 15 h 37"/>
                <a:gd name="T2" fmla="*/ 0 w 67"/>
                <a:gd name="T3" fmla="*/ 15 h 37"/>
                <a:gd name="T4" fmla="*/ 8 w 67"/>
                <a:gd name="T5" fmla="*/ 15 h 37"/>
                <a:gd name="T6" fmla="*/ 8 w 67"/>
                <a:gd name="T7" fmla="*/ 23 h 37"/>
                <a:gd name="T8" fmla="*/ 8 w 67"/>
                <a:gd name="T9" fmla="*/ 23 h 37"/>
                <a:gd name="T10" fmla="*/ 15 w 67"/>
                <a:gd name="T11" fmla="*/ 30 h 37"/>
                <a:gd name="T12" fmla="*/ 15 w 67"/>
                <a:gd name="T13" fmla="*/ 30 h 37"/>
                <a:gd name="T14" fmla="*/ 23 w 67"/>
                <a:gd name="T15" fmla="*/ 30 h 37"/>
                <a:gd name="T16" fmla="*/ 23 w 67"/>
                <a:gd name="T17" fmla="*/ 30 h 37"/>
                <a:gd name="T18" fmla="*/ 30 w 67"/>
                <a:gd name="T19" fmla="*/ 37 h 37"/>
                <a:gd name="T20" fmla="*/ 37 w 67"/>
                <a:gd name="T21" fmla="*/ 37 h 37"/>
                <a:gd name="T22" fmla="*/ 45 w 67"/>
                <a:gd name="T23" fmla="*/ 37 h 37"/>
                <a:gd name="T24" fmla="*/ 52 w 67"/>
                <a:gd name="T25" fmla="*/ 30 h 37"/>
                <a:gd name="T26" fmla="*/ 52 w 67"/>
                <a:gd name="T27" fmla="*/ 23 h 37"/>
                <a:gd name="T28" fmla="*/ 60 w 67"/>
                <a:gd name="T29" fmla="*/ 23 h 37"/>
                <a:gd name="T30" fmla="*/ 67 w 67"/>
                <a:gd name="T31" fmla="*/ 15 h 37"/>
                <a:gd name="T32" fmla="*/ 67 w 67"/>
                <a:gd name="T33" fmla="*/ 15 h 37"/>
                <a:gd name="T34" fmla="*/ 60 w 67"/>
                <a:gd name="T35" fmla="*/ 15 h 37"/>
                <a:gd name="T36" fmla="*/ 60 w 67"/>
                <a:gd name="T37" fmla="*/ 15 h 37"/>
                <a:gd name="T38" fmla="*/ 52 w 67"/>
                <a:gd name="T39" fmla="*/ 15 h 37"/>
                <a:gd name="T40" fmla="*/ 52 w 67"/>
                <a:gd name="T41" fmla="*/ 15 h 37"/>
                <a:gd name="T42" fmla="*/ 52 w 67"/>
                <a:gd name="T43" fmla="*/ 15 h 37"/>
                <a:gd name="T44" fmla="*/ 45 w 67"/>
                <a:gd name="T45" fmla="*/ 15 h 37"/>
                <a:gd name="T46" fmla="*/ 45 w 67"/>
                <a:gd name="T47" fmla="*/ 15 h 37"/>
                <a:gd name="T48" fmla="*/ 37 w 67"/>
                <a:gd name="T49" fmla="*/ 15 h 37"/>
                <a:gd name="T50" fmla="*/ 37 w 67"/>
                <a:gd name="T51" fmla="*/ 8 h 37"/>
                <a:gd name="T52" fmla="*/ 37 w 67"/>
                <a:gd name="T53" fmla="*/ 8 h 37"/>
                <a:gd name="T54" fmla="*/ 30 w 67"/>
                <a:gd name="T55" fmla="*/ 8 h 37"/>
                <a:gd name="T56" fmla="*/ 23 w 67"/>
                <a:gd name="T57" fmla="*/ 0 h 37"/>
                <a:gd name="T58" fmla="*/ 23 w 67"/>
                <a:gd name="T59" fmla="*/ 0 h 37"/>
                <a:gd name="T60" fmla="*/ 23 w 67"/>
                <a:gd name="T61" fmla="*/ 0 h 37"/>
                <a:gd name="T62" fmla="*/ 8 w 67"/>
                <a:gd name="T63" fmla="*/ 0 h 37"/>
                <a:gd name="T64" fmla="*/ 8 w 67"/>
                <a:gd name="T65" fmla="*/ 0 h 37"/>
                <a:gd name="T66" fmla="*/ 0 w 67"/>
                <a:gd name="T67" fmla="*/ 0 h 37"/>
                <a:gd name="T68" fmla="*/ 0 w 67"/>
                <a:gd name="T69" fmla="*/ 0 h 37"/>
                <a:gd name="T70" fmla="*/ 0 w 67"/>
                <a:gd name="T71" fmla="*/ 8 h 37"/>
                <a:gd name="T72" fmla="*/ 0 w 67"/>
                <a:gd name="T73" fmla="*/ 8 h 37"/>
                <a:gd name="T74" fmla="*/ 0 w 67"/>
                <a:gd name="T75" fmla="*/ 15 h 37"/>
                <a:gd name="T76" fmla="*/ 0 w 67"/>
                <a:gd name="T77" fmla="*/ 15 h 37"/>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67"/>
                <a:gd name="T118" fmla="*/ 0 h 37"/>
                <a:gd name="T119" fmla="*/ 67 w 67"/>
                <a:gd name="T120" fmla="*/ 37 h 37"/>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67" h="37">
                  <a:moveTo>
                    <a:pt x="0" y="15"/>
                  </a:moveTo>
                  <a:lnTo>
                    <a:pt x="0" y="15"/>
                  </a:lnTo>
                  <a:lnTo>
                    <a:pt x="8" y="15"/>
                  </a:lnTo>
                  <a:lnTo>
                    <a:pt x="8" y="23"/>
                  </a:lnTo>
                  <a:lnTo>
                    <a:pt x="15" y="30"/>
                  </a:lnTo>
                  <a:lnTo>
                    <a:pt x="23" y="30"/>
                  </a:lnTo>
                  <a:lnTo>
                    <a:pt x="30" y="37"/>
                  </a:lnTo>
                  <a:lnTo>
                    <a:pt x="37" y="37"/>
                  </a:lnTo>
                  <a:lnTo>
                    <a:pt x="45" y="37"/>
                  </a:lnTo>
                  <a:lnTo>
                    <a:pt x="52" y="30"/>
                  </a:lnTo>
                  <a:lnTo>
                    <a:pt x="52" y="23"/>
                  </a:lnTo>
                  <a:lnTo>
                    <a:pt x="60" y="23"/>
                  </a:lnTo>
                  <a:lnTo>
                    <a:pt x="67" y="15"/>
                  </a:lnTo>
                  <a:lnTo>
                    <a:pt x="60" y="15"/>
                  </a:lnTo>
                  <a:lnTo>
                    <a:pt x="52" y="15"/>
                  </a:lnTo>
                  <a:lnTo>
                    <a:pt x="45" y="15"/>
                  </a:lnTo>
                  <a:lnTo>
                    <a:pt x="37" y="15"/>
                  </a:lnTo>
                  <a:lnTo>
                    <a:pt x="37" y="8"/>
                  </a:lnTo>
                  <a:lnTo>
                    <a:pt x="30" y="8"/>
                  </a:lnTo>
                  <a:lnTo>
                    <a:pt x="23" y="0"/>
                  </a:lnTo>
                  <a:lnTo>
                    <a:pt x="8" y="0"/>
                  </a:lnTo>
                  <a:lnTo>
                    <a:pt x="0" y="0"/>
                  </a:lnTo>
                  <a:lnTo>
                    <a:pt x="0" y="8"/>
                  </a:lnTo>
                  <a:lnTo>
                    <a:pt x="0" y="15"/>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 name="Freeform 51">
              <a:extLst>
                <a:ext uri="{FF2B5EF4-FFF2-40B4-BE49-F238E27FC236}">
                  <a16:creationId xmlns:a16="http://schemas.microsoft.com/office/drawing/2014/main" id="{EAD048A6-1B82-F979-3584-221BA4B32634}"/>
                </a:ext>
              </a:extLst>
            </p:cNvPr>
            <p:cNvSpPr>
              <a:spLocks/>
            </p:cNvSpPr>
            <p:nvPr/>
          </p:nvSpPr>
          <p:spPr bwMode="auto">
            <a:xfrm>
              <a:off x="4228" y="3095"/>
              <a:ext cx="15" cy="8"/>
            </a:xfrm>
            <a:custGeom>
              <a:avLst/>
              <a:gdLst>
                <a:gd name="T0" fmla="*/ 15 w 15"/>
                <a:gd name="T1" fmla="*/ 8 h 8"/>
                <a:gd name="T2" fmla="*/ 15 w 15"/>
                <a:gd name="T3" fmla="*/ 8 h 8"/>
                <a:gd name="T4" fmla="*/ 8 w 15"/>
                <a:gd name="T5" fmla="*/ 8 h 8"/>
                <a:gd name="T6" fmla="*/ 8 w 15"/>
                <a:gd name="T7" fmla="*/ 0 h 8"/>
                <a:gd name="T8" fmla="*/ 0 w 15"/>
                <a:gd name="T9" fmla="*/ 0 h 8"/>
                <a:gd name="T10" fmla="*/ 8 w 15"/>
                <a:gd name="T11" fmla="*/ 0 h 8"/>
                <a:gd name="T12" fmla="*/ 8 w 15"/>
                <a:gd name="T13" fmla="*/ 0 h 8"/>
                <a:gd name="T14" fmla="*/ 15 w 15"/>
                <a:gd name="T15" fmla="*/ 0 h 8"/>
                <a:gd name="T16" fmla="*/ 15 w 15"/>
                <a:gd name="T17" fmla="*/ 0 h 8"/>
                <a:gd name="T18" fmla="*/ 15 w 15"/>
                <a:gd name="T19" fmla="*/ 8 h 8"/>
                <a:gd name="T20" fmla="*/ 15 w 15"/>
                <a:gd name="T21" fmla="*/ 8 h 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
                <a:gd name="T34" fmla="*/ 0 h 8"/>
                <a:gd name="T35" fmla="*/ 15 w 15"/>
                <a:gd name="T36" fmla="*/ 8 h 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 h="8">
                  <a:moveTo>
                    <a:pt x="15" y="8"/>
                  </a:moveTo>
                  <a:lnTo>
                    <a:pt x="15" y="8"/>
                  </a:lnTo>
                  <a:lnTo>
                    <a:pt x="8" y="8"/>
                  </a:lnTo>
                  <a:lnTo>
                    <a:pt x="8" y="0"/>
                  </a:lnTo>
                  <a:lnTo>
                    <a:pt x="0" y="0"/>
                  </a:lnTo>
                  <a:lnTo>
                    <a:pt x="8" y="0"/>
                  </a:lnTo>
                  <a:lnTo>
                    <a:pt x="15" y="0"/>
                  </a:lnTo>
                  <a:lnTo>
                    <a:pt x="15" y="8"/>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 name="Freeform 52">
              <a:extLst>
                <a:ext uri="{FF2B5EF4-FFF2-40B4-BE49-F238E27FC236}">
                  <a16:creationId xmlns:a16="http://schemas.microsoft.com/office/drawing/2014/main" id="{ADE7FA2A-125B-746E-B43A-C0207B9B3FE0}"/>
                </a:ext>
              </a:extLst>
            </p:cNvPr>
            <p:cNvSpPr>
              <a:spLocks/>
            </p:cNvSpPr>
            <p:nvPr/>
          </p:nvSpPr>
          <p:spPr bwMode="auto">
            <a:xfrm>
              <a:off x="4325" y="2991"/>
              <a:ext cx="15" cy="15"/>
            </a:xfrm>
            <a:custGeom>
              <a:avLst/>
              <a:gdLst>
                <a:gd name="T0" fmla="*/ 15 w 15"/>
                <a:gd name="T1" fmla="*/ 15 h 15"/>
                <a:gd name="T2" fmla="*/ 7 w 15"/>
                <a:gd name="T3" fmla="*/ 8 h 15"/>
                <a:gd name="T4" fmla="*/ 0 w 15"/>
                <a:gd name="T5" fmla="*/ 0 h 15"/>
                <a:gd name="T6" fmla="*/ 7 w 15"/>
                <a:gd name="T7" fmla="*/ 0 h 15"/>
                <a:gd name="T8" fmla="*/ 15 w 15"/>
                <a:gd name="T9" fmla="*/ 15 h 15"/>
                <a:gd name="T10" fmla="*/ 15 w 15"/>
                <a:gd name="T11" fmla="*/ 15 h 15"/>
                <a:gd name="T12" fmla="*/ 15 w 15"/>
                <a:gd name="T13" fmla="*/ 15 h 15"/>
                <a:gd name="T14" fmla="*/ 15 w 15"/>
                <a:gd name="T15" fmla="*/ 15 h 15"/>
                <a:gd name="T16" fmla="*/ 0 60000 65536"/>
                <a:gd name="T17" fmla="*/ 0 60000 65536"/>
                <a:gd name="T18" fmla="*/ 0 60000 65536"/>
                <a:gd name="T19" fmla="*/ 0 60000 65536"/>
                <a:gd name="T20" fmla="*/ 0 60000 65536"/>
                <a:gd name="T21" fmla="*/ 0 60000 65536"/>
                <a:gd name="T22" fmla="*/ 0 60000 65536"/>
                <a:gd name="T23" fmla="*/ 0 60000 65536"/>
                <a:gd name="T24" fmla="*/ 0 w 15"/>
                <a:gd name="T25" fmla="*/ 0 h 15"/>
                <a:gd name="T26" fmla="*/ 15 w 15"/>
                <a:gd name="T27" fmla="*/ 15 h 1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 h="15">
                  <a:moveTo>
                    <a:pt x="15" y="15"/>
                  </a:moveTo>
                  <a:lnTo>
                    <a:pt x="7" y="8"/>
                  </a:lnTo>
                  <a:lnTo>
                    <a:pt x="0" y="0"/>
                  </a:lnTo>
                  <a:lnTo>
                    <a:pt x="7" y="0"/>
                  </a:lnTo>
                  <a:lnTo>
                    <a:pt x="15" y="15"/>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 name="Freeform 53">
              <a:extLst>
                <a:ext uri="{FF2B5EF4-FFF2-40B4-BE49-F238E27FC236}">
                  <a16:creationId xmlns:a16="http://schemas.microsoft.com/office/drawing/2014/main" id="{811FB5A5-DFA0-DB8B-1B7B-567D88CEB701}"/>
                </a:ext>
              </a:extLst>
            </p:cNvPr>
            <p:cNvSpPr>
              <a:spLocks/>
            </p:cNvSpPr>
            <p:nvPr/>
          </p:nvSpPr>
          <p:spPr bwMode="auto">
            <a:xfrm>
              <a:off x="3843" y="2421"/>
              <a:ext cx="1207" cy="1096"/>
            </a:xfrm>
            <a:custGeom>
              <a:avLst/>
              <a:gdLst>
                <a:gd name="T0" fmla="*/ 474 w 1207"/>
                <a:gd name="T1" fmla="*/ 563 h 1096"/>
                <a:gd name="T2" fmla="*/ 534 w 1207"/>
                <a:gd name="T3" fmla="*/ 578 h 1096"/>
                <a:gd name="T4" fmla="*/ 541 w 1207"/>
                <a:gd name="T5" fmla="*/ 645 h 1096"/>
                <a:gd name="T6" fmla="*/ 563 w 1207"/>
                <a:gd name="T7" fmla="*/ 682 h 1096"/>
                <a:gd name="T8" fmla="*/ 423 w 1207"/>
                <a:gd name="T9" fmla="*/ 726 h 1096"/>
                <a:gd name="T10" fmla="*/ 482 w 1207"/>
                <a:gd name="T11" fmla="*/ 733 h 1096"/>
                <a:gd name="T12" fmla="*/ 504 w 1207"/>
                <a:gd name="T13" fmla="*/ 785 h 1096"/>
                <a:gd name="T14" fmla="*/ 408 w 1207"/>
                <a:gd name="T15" fmla="*/ 844 h 1096"/>
                <a:gd name="T16" fmla="*/ 437 w 1207"/>
                <a:gd name="T17" fmla="*/ 874 h 1096"/>
                <a:gd name="T18" fmla="*/ 489 w 1207"/>
                <a:gd name="T19" fmla="*/ 889 h 1096"/>
                <a:gd name="T20" fmla="*/ 541 w 1207"/>
                <a:gd name="T21" fmla="*/ 874 h 1096"/>
                <a:gd name="T22" fmla="*/ 593 w 1207"/>
                <a:gd name="T23" fmla="*/ 882 h 1096"/>
                <a:gd name="T24" fmla="*/ 726 w 1207"/>
                <a:gd name="T25" fmla="*/ 874 h 1096"/>
                <a:gd name="T26" fmla="*/ 689 w 1207"/>
                <a:gd name="T27" fmla="*/ 933 h 1096"/>
                <a:gd name="T28" fmla="*/ 585 w 1207"/>
                <a:gd name="T29" fmla="*/ 956 h 1096"/>
                <a:gd name="T30" fmla="*/ 526 w 1207"/>
                <a:gd name="T31" fmla="*/ 1030 h 1096"/>
                <a:gd name="T32" fmla="*/ 519 w 1207"/>
                <a:gd name="T33" fmla="*/ 1074 h 1096"/>
                <a:gd name="T34" fmla="*/ 585 w 1207"/>
                <a:gd name="T35" fmla="*/ 1044 h 1096"/>
                <a:gd name="T36" fmla="*/ 689 w 1207"/>
                <a:gd name="T37" fmla="*/ 1052 h 1096"/>
                <a:gd name="T38" fmla="*/ 704 w 1207"/>
                <a:gd name="T39" fmla="*/ 1007 h 1096"/>
                <a:gd name="T40" fmla="*/ 837 w 1207"/>
                <a:gd name="T41" fmla="*/ 1007 h 1096"/>
                <a:gd name="T42" fmla="*/ 926 w 1207"/>
                <a:gd name="T43" fmla="*/ 985 h 1096"/>
                <a:gd name="T44" fmla="*/ 970 w 1207"/>
                <a:gd name="T45" fmla="*/ 978 h 1096"/>
                <a:gd name="T46" fmla="*/ 1119 w 1207"/>
                <a:gd name="T47" fmla="*/ 978 h 1096"/>
                <a:gd name="T48" fmla="*/ 1200 w 1207"/>
                <a:gd name="T49" fmla="*/ 911 h 1096"/>
                <a:gd name="T50" fmla="*/ 1074 w 1207"/>
                <a:gd name="T51" fmla="*/ 896 h 1096"/>
                <a:gd name="T52" fmla="*/ 1104 w 1207"/>
                <a:gd name="T53" fmla="*/ 867 h 1096"/>
                <a:gd name="T54" fmla="*/ 1148 w 1207"/>
                <a:gd name="T55" fmla="*/ 844 h 1096"/>
                <a:gd name="T56" fmla="*/ 1148 w 1207"/>
                <a:gd name="T57" fmla="*/ 785 h 1096"/>
                <a:gd name="T58" fmla="*/ 926 w 1207"/>
                <a:gd name="T59" fmla="*/ 719 h 1096"/>
                <a:gd name="T60" fmla="*/ 852 w 1207"/>
                <a:gd name="T61" fmla="*/ 622 h 1096"/>
                <a:gd name="T62" fmla="*/ 771 w 1207"/>
                <a:gd name="T63" fmla="*/ 533 h 1096"/>
                <a:gd name="T64" fmla="*/ 585 w 1207"/>
                <a:gd name="T65" fmla="*/ 408 h 1096"/>
                <a:gd name="T66" fmla="*/ 415 w 1207"/>
                <a:gd name="T67" fmla="*/ 333 h 1096"/>
                <a:gd name="T68" fmla="*/ 423 w 1207"/>
                <a:gd name="T69" fmla="*/ 304 h 1096"/>
                <a:gd name="T70" fmla="*/ 415 w 1207"/>
                <a:gd name="T71" fmla="*/ 252 h 1096"/>
                <a:gd name="T72" fmla="*/ 393 w 1207"/>
                <a:gd name="T73" fmla="*/ 126 h 1096"/>
                <a:gd name="T74" fmla="*/ 215 w 1207"/>
                <a:gd name="T75" fmla="*/ 134 h 1096"/>
                <a:gd name="T76" fmla="*/ 178 w 1207"/>
                <a:gd name="T77" fmla="*/ 126 h 1096"/>
                <a:gd name="T78" fmla="*/ 156 w 1207"/>
                <a:gd name="T79" fmla="*/ 104 h 1096"/>
                <a:gd name="T80" fmla="*/ 193 w 1207"/>
                <a:gd name="T81" fmla="*/ 8 h 1096"/>
                <a:gd name="T82" fmla="*/ 89 w 1207"/>
                <a:gd name="T83" fmla="*/ 15 h 1096"/>
                <a:gd name="T84" fmla="*/ 45 w 1207"/>
                <a:gd name="T85" fmla="*/ 37 h 1096"/>
                <a:gd name="T86" fmla="*/ 15 w 1207"/>
                <a:gd name="T87" fmla="*/ 52 h 1096"/>
                <a:gd name="T88" fmla="*/ 45 w 1207"/>
                <a:gd name="T89" fmla="*/ 97 h 1096"/>
                <a:gd name="T90" fmla="*/ 8 w 1207"/>
                <a:gd name="T91" fmla="*/ 104 h 1096"/>
                <a:gd name="T92" fmla="*/ 23 w 1207"/>
                <a:gd name="T93" fmla="*/ 141 h 1096"/>
                <a:gd name="T94" fmla="*/ 67 w 1207"/>
                <a:gd name="T95" fmla="*/ 178 h 1096"/>
                <a:gd name="T96" fmla="*/ 67 w 1207"/>
                <a:gd name="T97" fmla="*/ 215 h 1096"/>
                <a:gd name="T98" fmla="*/ 37 w 1207"/>
                <a:gd name="T99" fmla="*/ 245 h 1096"/>
                <a:gd name="T100" fmla="*/ 112 w 1207"/>
                <a:gd name="T101" fmla="*/ 259 h 1096"/>
                <a:gd name="T102" fmla="*/ 134 w 1207"/>
                <a:gd name="T103" fmla="*/ 274 h 1096"/>
                <a:gd name="T104" fmla="*/ 119 w 1207"/>
                <a:gd name="T105" fmla="*/ 304 h 1096"/>
                <a:gd name="T106" fmla="*/ 134 w 1207"/>
                <a:gd name="T107" fmla="*/ 356 h 1096"/>
                <a:gd name="T108" fmla="*/ 149 w 1207"/>
                <a:gd name="T109" fmla="*/ 400 h 1096"/>
                <a:gd name="T110" fmla="*/ 178 w 1207"/>
                <a:gd name="T111" fmla="*/ 371 h 1096"/>
                <a:gd name="T112" fmla="*/ 171 w 1207"/>
                <a:gd name="T113" fmla="*/ 326 h 1096"/>
                <a:gd name="T114" fmla="*/ 208 w 1207"/>
                <a:gd name="T115" fmla="*/ 356 h 1096"/>
                <a:gd name="T116" fmla="*/ 252 w 1207"/>
                <a:gd name="T117" fmla="*/ 348 h 1096"/>
                <a:gd name="T118" fmla="*/ 245 w 1207"/>
                <a:gd name="T119" fmla="*/ 452 h 1096"/>
                <a:gd name="T120" fmla="*/ 289 w 1207"/>
                <a:gd name="T121" fmla="*/ 511 h 1096"/>
                <a:gd name="T122" fmla="*/ 356 w 1207"/>
                <a:gd name="T123" fmla="*/ 489 h 1096"/>
                <a:gd name="T124" fmla="*/ 460 w 1207"/>
                <a:gd name="T125" fmla="*/ 467 h 109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207"/>
                <a:gd name="T190" fmla="*/ 0 h 1096"/>
                <a:gd name="T191" fmla="*/ 1207 w 1207"/>
                <a:gd name="T192" fmla="*/ 1096 h 109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207" h="1096">
                  <a:moveTo>
                    <a:pt x="467" y="459"/>
                  </a:moveTo>
                  <a:lnTo>
                    <a:pt x="460" y="467"/>
                  </a:lnTo>
                  <a:lnTo>
                    <a:pt x="460" y="474"/>
                  </a:lnTo>
                  <a:lnTo>
                    <a:pt x="452" y="474"/>
                  </a:lnTo>
                  <a:lnTo>
                    <a:pt x="445" y="467"/>
                  </a:lnTo>
                  <a:lnTo>
                    <a:pt x="437" y="474"/>
                  </a:lnTo>
                  <a:lnTo>
                    <a:pt x="445" y="482"/>
                  </a:lnTo>
                  <a:lnTo>
                    <a:pt x="452" y="482"/>
                  </a:lnTo>
                  <a:lnTo>
                    <a:pt x="445" y="482"/>
                  </a:lnTo>
                  <a:lnTo>
                    <a:pt x="437" y="482"/>
                  </a:lnTo>
                  <a:lnTo>
                    <a:pt x="430" y="482"/>
                  </a:lnTo>
                  <a:lnTo>
                    <a:pt x="423" y="489"/>
                  </a:lnTo>
                  <a:lnTo>
                    <a:pt x="430" y="496"/>
                  </a:lnTo>
                  <a:lnTo>
                    <a:pt x="423" y="519"/>
                  </a:lnTo>
                  <a:lnTo>
                    <a:pt x="430" y="526"/>
                  </a:lnTo>
                  <a:lnTo>
                    <a:pt x="437" y="533"/>
                  </a:lnTo>
                  <a:lnTo>
                    <a:pt x="445" y="541"/>
                  </a:lnTo>
                  <a:lnTo>
                    <a:pt x="452" y="548"/>
                  </a:lnTo>
                  <a:lnTo>
                    <a:pt x="460" y="548"/>
                  </a:lnTo>
                  <a:lnTo>
                    <a:pt x="460" y="556"/>
                  </a:lnTo>
                  <a:lnTo>
                    <a:pt x="467" y="556"/>
                  </a:lnTo>
                  <a:lnTo>
                    <a:pt x="474" y="563"/>
                  </a:lnTo>
                  <a:lnTo>
                    <a:pt x="482" y="563"/>
                  </a:lnTo>
                  <a:lnTo>
                    <a:pt x="482" y="556"/>
                  </a:lnTo>
                  <a:lnTo>
                    <a:pt x="489" y="556"/>
                  </a:lnTo>
                  <a:lnTo>
                    <a:pt x="489" y="563"/>
                  </a:lnTo>
                  <a:lnTo>
                    <a:pt x="489" y="570"/>
                  </a:lnTo>
                  <a:lnTo>
                    <a:pt x="497" y="570"/>
                  </a:lnTo>
                  <a:lnTo>
                    <a:pt x="504" y="578"/>
                  </a:lnTo>
                  <a:lnTo>
                    <a:pt x="511" y="578"/>
                  </a:lnTo>
                  <a:lnTo>
                    <a:pt x="511" y="570"/>
                  </a:lnTo>
                  <a:lnTo>
                    <a:pt x="504" y="563"/>
                  </a:lnTo>
                  <a:lnTo>
                    <a:pt x="511" y="563"/>
                  </a:lnTo>
                  <a:lnTo>
                    <a:pt x="519" y="570"/>
                  </a:lnTo>
                  <a:lnTo>
                    <a:pt x="526" y="563"/>
                  </a:lnTo>
                  <a:lnTo>
                    <a:pt x="534" y="556"/>
                  </a:lnTo>
                  <a:lnTo>
                    <a:pt x="534" y="563"/>
                  </a:lnTo>
                  <a:lnTo>
                    <a:pt x="534" y="570"/>
                  </a:lnTo>
                  <a:lnTo>
                    <a:pt x="541" y="570"/>
                  </a:lnTo>
                  <a:lnTo>
                    <a:pt x="534" y="578"/>
                  </a:lnTo>
                  <a:lnTo>
                    <a:pt x="534" y="585"/>
                  </a:lnTo>
                  <a:lnTo>
                    <a:pt x="541" y="585"/>
                  </a:lnTo>
                  <a:lnTo>
                    <a:pt x="548" y="585"/>
                  </a:lnTo>
                  <a:lnTo>
                    <a:pt x="548" y="593"/>
                  </a:lnTo>
                  <a:lnTo>
                    <a:pt x="541" y="593"/>
                  </a:lnTo>
                  <a:lnTo>
                    <a:pt x="541" y="600"/>
                  </a:lnTo>
                  <a:lnTo>
                    <a:pt x="534" y="600"/>
                  </a:lnTo>
                  <a:lnTo>
                    <a:pt x="534" y="608"/>
                  </a:lnTo>
                  <a:lnTo>
                    <a:pt x="534" y="600"/>
                  </a:lnTo>
                  <a:lnTo>
                    <a:pt x="526" y="600"/>
                  </a:lnTo>
                  <a:lnTo>
                    <a:pt x="534" y="608"/>
                  </a:lnTo>
                  <a:lnTo>
                    <a:pt x="534" y="622"/>
                  </a:lnTo>
                  <a:lnTo>
                    <a:pt x="541" y="622"/>
                  </a:lnTo>
                  <a:lnTo>
                    <a:pt x="548" y="622"/>
                  </a:lnTo>
                  <a:lnTo>
                    <a:pt x="556" y="622"/>
                  </a:lnTo>
                  <a:lnTo>
                    <a:pt x="563" y="622"/>
                  </a:lnTo>
                  <a:lnTo>
                    <a:pt x="571" y="622"/>
                  </a:lnTo>
                  <a:lnTo>
                    <a:pt x="563" y="622"/>
                  </a:lnTo>
                  <a:lnTo>
                    <a:pt x="556" y="630"/>
                  </a:lnTo>
                  <a:lnTo>
                    <a:pt x="548" y="630"/>
                  </a:lnTo>
                  <a:lnTo>
                    <a:pt x="541" y="645"/>
                  </a:lnTo>
                  <a:lnTo>
                    <a:pt x="548" y="652"/>
                  </a:lnTo>
                  <a:lnTo>
                    <a:pt x="556" y="652"/>
                  </a:lnTo>
                  <a:lnTo>
                    <a:pt x="563" y="659"/>
                  </a:lnTo>
                  <a:lnTo>
                    <a:pt x="571" y="667"/>
                  </a:lnTo>
                  <a:lnTo>
                    <a:pt x="578" y="667"/>
                  </a:lnTo>
                  <a:lnTo>
                    <a:pt x="585" y="667"/>
                  </a:lnTo>
                  <a:lnTo>
                    <a:pt x="600" y="667"/>
                  </a:lnTo>
                  <a:lnTo>
                    <a:pt x="593" y="667"/>
                  </a:lnTo>
                  <a:lnTo>
                    <a:pt x="578" y="674"/>
                  </a:lnTo>
                  <a:lnTo>
                    <a:pt x="571" y="674"/>
                  </a:lnTo>
                  <a:lnTo>
                    <a:pt x="563" y="667"/>
                  </a:lnTo>
                  <a:lnTo>
                    <a:pt x="563" y="659"/>
                  </a:lnTo>
                  <a:lnTo>
                    <a:pt x="556" y="659"/>
                  </a:lnTo>
                  <a:lnTo>
                    <a:pt x="548" y="667"/>
                  </a:lnTo>
                  <a:lnTo>
                    <a:pt x="548" y="674"/>
                  </a:lnTo>
                  <a:lnTo>
                    <a:pt x="556" y="674"/>
                  </a:lnTo>
                  <a:lnTo>
                    <a:pt x="563" y="674"/>
                  </a:lnTo>
                  <a:lnTo>
                    <a:pt x="571" y="674"/>
                  </a:lnTo>
                  <a:lnTo>
                    <a:pt x="578" y="682"/>
                  </a:lnTo>
                  <a:lnTo>
                    <a:pt x="585" y="689"/>
                  </a:lnTo>
                  <a:lnTo>
                    <a:pt x="578" y="689"/>
                  </a:lnTo>
                  <a:lnTo>
                    <a:pt x="571" y="682"/>
                  </a:lnTo>
                  <a:lnTo>
                    <a:pt x="563" y="682"/>
                  </a:lnTo>
                  <a:lnTo>
                    <a:pt x="541" y="674"/>
                  </a:lnTo>
                  <a:lnTo>
                    <a:pt x="526" y="667"/>
                  </a:lnTo>
                  <a:lnTo>
                    <a:pt x="519" y="674"/>
                  </a:lnTo>
                  <a:lnTo>
                    <a:pt x="504" y="674"/>
                  </a:lnTo>
                  <a:lnTo>
                    <a:pt x="497" y="674"/>
                  </a:lnTo>
                  <a:lnTo>
                    <a:pt x="482" y="674"/>
                  </a:lnTo>
                  <a:lnTo>
                    <a:pt x="482" y="667"/>
                  </a:lnTo>
                  <a:lnTo>
                    <a:pt x="474" y="674"/>
                  </a:lnTo>
                  <a:lnTo>
                    <a:pt x="482" y="674"/>
                  </a:lnTo>
                  <a:lnTo>
                    <a:pt x="482" y="682"/>
                  </a:lnTo>
                  <a:lnTo>
                    <a:pt x="467" y="682"/>
                  </a:lnTo>
                  <a:lnTo>
                    <a:pt x="460" y="682"/>
                  </a:lnTo>
                  <a:lnTo>
                    <a:pt x="452" y="689"/>
                  </a:lnTo>
                  <a:lnTo>
                    <a:pt x="445" y="696"/>
                  </a:lnTo>
                  <a:lnTo>
                    <a:pt x="437" y="704"/>
                  </a:lnTo>
                  <a:lnTo>
                    <a:pt x="445" y="711"/>
                  </a:lnTo>
                  <a:lnTo>
                    <a:pt x="437" y="711"/>
                  </a:lnTo>
                  <a:lnTo>
                    <a:pt x="437" y="719"/>
                  </a:lnTo>
                  <a:lnTo>
                    <a:pt x="423" y="719"/>
                  </a:lnTo>
                  <a:lnTo>
                    <a:pt x="423" y="726"/>
                  </a:lnTo>
                  <a:lnTo>
                    <a:pt x="415" y="726"/>
                  </a:lnTo>
                  <a:lnTo>
                    <a:pt x="415" y="733"/>
                  </a:lnTo>
                  <a:lnTo>
                    <a:pt x="408" y="733"/>
                  </a:lnTo>
                  <a:lnTo>
                    <a:pt x="408" y="741"/>
                  </a:lnTo>
                  <a:lnTo>
                    <a:pt x="415" y="741"/>
                  </a:lnTo>
                  <a:lnTo>
                    <a:pt x="423" y="741"/>
                  </a:lnTo>
                  <a:lnTo>
                    <a:pt x="423" y="733"/>
                  </a:lnTo>
                  <a:lnTo>
                    <a:pt x="430" y="733"/>
                  </a:lnTo>
                  <a:lnTo>
                    <a:pt x="437" y="741"/>
                  </a:lnTo>
                  <a:lnTo>
                    <a:pt x="445" y="741"/>
                  </a:lnTo>
                  <a:lnTo>
                    <a:pt x="445" y="733"/>
                  </a:lnTo>
                  <a:lnTo>
                    <a:pt x="452" y="726"/>
                  </a:lnTo>
                  <a:lnTo>
                    <a:pt x="467" y="726"/>
                  </a:lnTo>
                  <a:lnTo>
                    <a:pt x="474" y="726"/>
                  </a:lnTo>
                  <a:lnTo>
                    <a:pt x="482" y="726"/>
                  </a:lnTo>
                  <a:lnTo>
                    <a:pt x="482" y="733"/>
                  </a:lnTo>
                  <a:lnTo>
                    <a:pt x="474" y="733"/>
                  </a:lnTo>
                  <a:lnTo>
                    <a:pt x="474" y="741"/>
                  </a:lnTo>
                  <a:lnTo>
                    <a:pt x="482" y="741"/>
                  </a:lnTo>
                  <a:lnTo>
                    <a:pt x="489" y="741"/>
                  </a:lnTo>
                  <a:lnTo>
                    <a:pt x="497" y="741"/>
                  </a:lnTo>
                  <a:lnTo>
                    <a:pt x="504" y="741"/>
                  </a:lnTo>
                  <a:lnTo>
                    <a:pt x="504" y="748"/>
                  </a:lnTo>
                  <a:lnTo>
                    <a:pt x="497" y="748"/>
                  </a:lnTo>
                  <a:lnTo>
                    <a:pt x="489" y="748"/>
                  </a:lnTo>
                  <a:lnTo>
                    <a:pt x="489" y="756"/>
                  </a:lnTo>
                  <a:lnTo>
                    <a:pt x="489" y="763"/>
                  </a:lnTo>
                  <a:lnTo>
                    <a:pt x="497" y="763"/>
                  </a:lnTo>
                  <a:lnTo>
                    <a:pt x="497" y="770"/>
                  </a:lnTo>
                  <a:lnTo>
                    <a:pt x="504" y="770"/>
                  </a:lnTo>
                  <a:lnTo>
                    <a:pt x="511" y="770"/>
                  </a:lnTo>
                  <a:lnTo>
                    <a:pt x="519" y="763"/>
                  </a:lnTo>
                  <a:lnTo>
                    <a:pt x="526" y="763"/>
                  </a:lnTo>
                  <a:lnTo>
                    <a:pt x="519" y="770"/>
                  </a:lnTo>
                  <a:lnTo>
                    <a:pt x="511" y="770"/>
                  </a:lnTo>
                  <a:lnTo>
                    <a:pt x="504" y="770"/>
                  </a:lnTo>
                  <a:lnTo>
                    <a:pt x="504" y="778"/>
                  </a:lnTo>
                  <a:lnTo>
                    <a:pt x="504" y="785"/>
                  </a:lnTo>
                  <a:lnTo>
                    <a:pt x="504" y="793"/>
                  </a:lnTo>
                  <a:lnTo>
                    <a:pt x="504" y="800"/>
                  </a:lnTo>
                  <a:lnTo>
                    <a:pt x="497" y="807"/>
                  </a:lnTo>
                  <a:lnTo>
                    <a:pt x="489" y="807"/>
                  </a:lnTo>
                  <a:lnTo>
                    <a:pt x="489" y="815"/>
                  </a:lnTo>
                  <a:lnTo>
                    <a:pt x="482" y="815"/>
                  </a:lnTo>
                  <a:lnTo>
                    <a:pt x="474" y="822"/>
                  </a:lnTo>
                  <a:lnTo>
                    <a:pt x="474" y="815"/>
                  </a:lnTo>
                  <a:lnTo>
                    <a:pt x="467" y="822"/>
                  </a:lnTo>
                  <a:lnTo>
                    <a:pt x="460" y="822"/>
                  </a:lnTo>
                  <a:lnTo>
                    <a:pt x="452" y="822"/>
                  </a:lnTo>
                  <a:lnTo>
                    <a:pt x="452" y="830"/>
                  </a:lnTo>
                  <a:lnTo>
                    <a:pt x="445" y="830"/>
                  </a:lnTo>
                  <a:lnTo>
                    <a:pt x="437" y="837"/>
                  </a:lnTo>
                  <a:lnTo>
                    <a:pt x="430" y="837"/>
                  </a:lnTo>
                  <a:lnTo>
                    <a:pt x="423" y="837"/>
                  </a:lnTo>
                  <a:lnTo>
                    <a:pt x="423" y="844"/>
                  </a:lnTo>
                  <a:lnTo>
                    <a:pt x="415" y="844"/>
                  </a:lnTo>
                  <a:lnTo>
                    <a:pt x="408" y="844"/>
                  </a:lnTo>
                  <a:lnTo>
                    <a:pt x="408" y="852"/>
                  </a:lnTo>
                  <a:lnTo>
                    <a:pt x="400" y="852"/>
                  </a:lnTo>
                  <a:lnTo>
                    <a:pt x="400" y="859"/>
                  </a:lnTo>
                  <a:lnTo>
                    <a:pt x="408" y="859"/>
                  </a:lnTo>
                  <a:lnTo>
                    <a:pt x="415" y="852"/>
                  </a:lnTo>
                  <a:lnTo>
                    <a:pt x="423" y="852"/>
                  </a:lnTo>
                  <a:lnTo>
                    <a:pt x="423" y="859"/>
                  </a:lnTo>
                  <a:lnTo>
                    <a:pt x="430" y="859"/>
                  </a:lnTo>
                  <a:lnTo>
                    <a:pt x="430" y="867"/>
                  </a:lnTo>
                  <a:lnTo>
                    <a:pt x="423" y="867"/>
                  </a:lnTo>
                  <a:lnTo>
                    <a:pt x="415" y="867"/>
                  </a:lnTo>
                  <a:lnTo>
                    <a:pt x="408" y="874"/>
                  </a:lnTo>
                  <a:lnTo>
                    <a:pt x="415" y="874"/>
                  </a:lnTo>
                  <a:lnTo>
                    <a:pt x="423" y="874"/>
                  </a:lnTo>
                  <a:lnTo>
                    <a:pt x="430" y="874"/>
                  </a:lnTo>
                  <a:lnTo>
                    <a:pt x="437" y="882"/>
                  </a:lnTo>
                  <a:lnTo>
                    <a:pt x="445" y="882"/>
                  </a:lnTo>
                  <a:lnTo>
                    <a:pt x="437" y="874"/>
                  </a:lnTo>
                  <a:lnTo>
                    <a:pt x="437" y="867"/>
                  </a:lnTo>
                  <a:lnTo>
                    <a:pt x="452" y="874"/>
                  </a:lnTo>
                  <a:lnTo>
                    <a:pt x="460" y="874"/>
                  </a:lnTo>
                  <a:lnTo>
                    <a:pt x="460" y="867"/>
                  </a:lnTo>
                  <a:lnTo>
                    <a:pt x="467" y="867"/>
                  </a:lnTo>
                  <a:lnTo>
                    <a:pt x="474" y="874"/>
                  </a:lnTo>
                  <a:lnTo>
                    <a:pt x="467" y="874"/>
                  </a:lnTo>
                  <a:lnTo>
                    <a:pt x="460" y="882"/>
                  </a:lnTo>
                  <a:lnTo>
                    <a:pt x="452" y="882"/>
                  </a:lnTo>
                  <a:lnTo>
                    <a:pt x="452" y="889"/>
                  </a:lnTo>
                  <a:lnTo>
                    <a:pt x="460" y="889"/>
                  </a:lnTo>
                  <a:lnTo>
                    <a:pt x="467" y="889"/>
                  </a:lnTo>
                  <a:lnTo>
                    <a:pt x="474" y="889"/>
                  </a:lnTo>
                  <a:lnTo>
                    <a:pt x="482" y="889"/>
                  </a:lnTo>
                  <a:lnTo>
                    <a:pt x="489" y="889"/>
                  </a:lnTo>
                  <a:lnTo>
                    <a:pt x="489" y="882"/>
                  </a:lnTo>
                  <a:lnTo>
                    <a:pt x="489" y="874"/>
                  </a:lnTo>
                  <a:lnTo>
                    <a:pt x="497" y="874"/>
                  </a:lnTo>
                  <a:lnTo>
                    <a:pt x="504" y="874"/>
                  </a:lnTo>
                  <a:lnTo>
                    <a:pt x="511" y="874"/>
                  </a:lnTo>
                  <a:lnTo>
                    <a:pt x="519" y="874"/>
                  </a:lnTo>
                  <a:lnTo>
                    <a:pt x="519" y="867"/>
                  </a:lnTo>
                  <a:lnTo>
                    <a:pt x="511" y="867"/>
                  </a:lnTo>
                  <a:lnTo>
                    <a:pt x="519" y="867"/>
                  </a:lnTo>
                  <a:lnTo>
                    <a:pt x="526" y="867"/>
                  </a:lnTo>
                  <a:lnTo>
                    <a:pt x="534" y="867"/>
                  </a:lnTo>
                  <a:lnTo>
                    <a:pt x="534" y="874"/>
                  </a:lnTo>
                  <a:lnTo>
                    <a:pt x="526" y="874"/>
                  </a:lnTo>
                  <a:lnTo>
                    <a:pt x="519" y="874"/>
                  </a:lnTo>
                  <a:lnTo>
                    <a:pt x="526" y="874"/>
                  </a:lnTo>
                  <a:lnTo>
                    <a:pt x="534" y="874"/>
                  </a:lnTo>
                  <a:lnTo>
                    <a:pt x="541" y="874"/>
                  </a:lnTo>
                  <a:lnTo>
                    <a:pt x="548" y="874"/>
                  </a:lnTo>
                  <a:lnTo>
                    <a:pt x="556" y="882"/>
                  </a:lnTo>
                  <a:lnTo>
                    <a:pt x="563" y="882"/>
                  </a:lnTo>
                  <a:lnTo>
                    <a:pt x="556" y="882"/>
                  </a:lnTo>
                  <a:lnTo>
                    <a:pt x="548" y="882"/>
                  </a:lnTo>
                  <a:lnTo>
                    <a:pt x="541" y="882"/>
                  </a:lnTo>
                  <a:lnTo>
                    <a:pt x="541" y="889"/>
                  </a:lnTo>
                  <a:lnTo>
                    <a:pt x="548" y="896"/>
                  </a:lnTo>
                  <a:lnTo>
                    <a:pt x="556" y="896"/>
                  </a:lnTo>
                  <a:lnTo>
                    <a:pt x="563" y="896"/>
                  </a:lnTo>
                  <a:lnTo>
                    <a:pt x="563" y="889"/>
                  </a:lnTo>
                  <a:lnTo>
                    <a:pt x="571" y="889"/>
                  </a:lnTo>
                  <a:lnTo>
                    <a:pt x="578" y="889"/>
                  </a:lnTo>
                  <a:lnTo>
                    <a:pt x="585" y="882"/>
                  </a:lnTo>
                  <a:lnTo>
                    <a:pt x="593" y="882"/>
                  </a:lnTo>
                  <a:lnTo>
                    <a:pt x="600" y="889"/>
                  </a:lnTo>
                  <a:lnTo>
                    <a:pt x="600" y="896"/>
                  </a:lnTo>
                  <a:lnTo>
                    <a:pt x="608" y="896"/>
                  </a:lnTo>
                  <a:lnTo>
                    <a:pt x="608" y="904"/>
                  </a:lnTo>
                  <a:lnTo>
                    <a:pt x="615" y="904"/>
                  </a:lnTo>
                  <a:lnTo>
                    <a:pt x="622" y="904"/>
                  </a:lnTo>
                  <a:lnTo>
                    <a:pt x="630" y="911"/>
                  </a:lnTo>
                  <a:lnTo>
                    <a:pt x="645" y="911"/>
                  </a:lnTo>
                  <a:lnTo>
                    <a:pt x="652" y="911"/>
                  </a:lnTo>
                  <a:lnTo>
                    <a:pt x="667" y="911"/>
                  </a:lnTo>
                  <a:lnTo>
                    <a:pt x="674" y="911"/>
                  </a:lnTo>
                  <a:lnTo>
                    <a:pt x="682" y="911"/>
                  </a:lnTo>
                  <a:lnTo>
                    <a:pt x="682" y="904"/>
                  </a:lnTo>
                  <a:lnTo>
                    <a:pt x="689" y="896"/>
                  </a:lnTo>
                  <a:lnTo>
                    <a:pt x="696" y="896"/>
                  </a:lnTo>
                  <a:lnTo>
                    <a:pt x="711" y="889"/>
                  </a:lnTo>
                  <a:lnTo>
                    <a:pt x="719" y="889"/>
                  </a:lnTo>
                  <a:lnTo>
                    <a:pt x="719" y="882"/>
                  </a:lnTo>
                  <a:lnTo>
                    <a:pt x="726" y="882"/>
                  </a:lnTo>
                  <a:lnTo>
                    <a:pt x="726" y="874"/>
                  </a:lnTo>
                  <a:lnTo>
                    <a:pt x="734" y="867"/>
                  </a:lnTo>
                  <a:lnTo>
                    <a:pt x="741" y="859"/>
                  </a:lnTo>
                  <a:lnTo>
                    <a:pt x="741" y="867"/>
                  </a:lnTo>
                  <a:lnTo>
                    <a:pt x="741" y="874"/>
                  </a:lnTo>
                  <a:lnTo>
                    <a:pt x="734" y="874"/>
                  </a:lnTo>
                  <a:lnTo>
                    <a:pt x="726" y="889"/>
                  </a:lnTo>
                  <a:lnTo>
                    <a:pt x="726" y="896"/>
                  </a:lnTo>
                  <a:lnTo>
                    <a:pt x="734" y="896"/>
                  </a:lnTo>
                  <a:lnTo>
                    <a:pt x="734" y="904"/>
                  </a:lnTo>
                  <a:lnTo>
                    <a:pt x="711" y="904"/>
                  </a:lnTo>
                  <a:lnTo>
                    <a:pt x="704" y="911"/>
                  </a:lnTo>
                  <a:lnTo>
                    <a:pt x="696" y="911"/>
                  </a:lnTo>
                  <a:lnTo>
                    <a:pt x="704" y="911"/>
                  </a:lnTo>
                  <a:lnTo>
                    <a:pt x="704" y="919"/>
                  </a:lnTo>
                  <a:lnTo>
                    <a:pt x="704" y="926"/>
                  </a:lnTo>
                  <a:lnTo>
                    <a:pt x="704" y="933"/>
                  </a:lnTo>
                  <a:lnTo>
                    <a:pt x="711" y="933"/>
                  </a:lnTo>
                  <a:lnTo>
                    <a:pt x="704" y="933"/>
                  </a:lnTo>
                  <a:lnTo>
                    <a:pt x="696" y="933"/>
                  </a:lnTo>
                  <a:lnTo>
                    <a:pt x="689" y="933"/>
                  </a:lnTo>
                  <a:lnTo>
                    <a:pt x="682" y="933"/>
                  </a:lnTo>
                  <a:lnTo>
                    <a:pt x="674" y="933"/>
                  </a:lnTo>
                  <a:lnTo>
                    <a:pt x="667" y="941"/>
                  </a:lnTo>
                  <a:lnTo>
                    <a:pt x="652" y="933"/>
                  </a:lnTo>
                  <a:lnTo>
                    <a:pt x="645" y="933"/>
                  </a:lnTo>
                  <a:lnTo>
                    <a:pt x="637" y="933"/>
                  </a:lnTo>
                  <a:lnTo>
                    <a:pt x="630" y="933"/>
                  </a:lnTo>
                  <a:lnTo>
                    <a:pt x="622" y="926"/>
                  </a:lnTo>
                  <a:lnTo>
                    <a:pt x="615" y="926"/>
                  </a:lnTo>
                  <a:lnTo>
                    <a:pt x="615" y="933"/>
                  </a:lnTo>
                  <a:lnTo>
                    <a:pt x="608" y="933"/>
                  </a:lnTo>
                  <a:lnTo>
                    <a:pt x="600" y="933"/>
                  </a:lnTo>
                  <a:lnTo>
                    <a:pt x="585" y="933"/>
                  </a:lnTo>
                  <a:lnTo>
                    <a:pt x="578" y="933"/>
                  </a:lnTo>
                  <a:lnTo>
                    <a:pt x="571" y="941"/>
                  </a:lnTo>
                  <a:lnTo>
                    <a:pt x="578" y="948"/>
                  </a:lnTo>
                  <a:lnTo>
                    <a:pt x="585" y="948"/>
                  </a:lnTo>
                  <a:lnTo>
                    <a:pt x="593" y="956"/>
                  </a:lnTo>
                  <a:lnTo>
                    <a:pt x="585" y="956"/>
                  </a:lnTo>
                  <a:lnTo>
                    <a:pt x="578" y="956"/>
                  </a:lnTo>
                  <a:lnTo>
                    <a:pt x="571" y="956"/>
                  </a:lnTo>
                  <a:lnTo>
                    <a:pt x="571" y="963"/>
                  </a:lnTo>
                  <a:lnTo>
                    <a:pt x="563" y="956"/>
                  </a:lnTo>
                  <a:lnTo>
                    <a:pt x="556" y="956"/>
                  </a:lnTo>
                  <a:lnTo>
                    <a:pt x="548" y="956"/>
                  </a:lnTo>
                  <a:lnTo>
                    <a:pt x="556" y="963"/>
                  </a:lnTo>
                  <a:lnTo>
                    <a:pt x="556" y="970"/>
                  </a:lnTo>
                  <a:lnTo>
                    <a:pt x="556" y="985"/>
                  </a:lnTo>
                  <a:lnTo>
                    <a:pt x="556" y="993"/>
                  </a:lnTo>
                  <a:lnTo>
                    <a:pt x="548" y="1000"/>
                  </a:lnTo>
                  <a:lnTo>
                    <a:pt x="541" y="1007"/>
                  </a:lnTo>
                  <a:lnTo>
                    <a:pt x="534" y="1015"/>
                  </a:lnTo>
                  <a:lnTo>
                    <a:pt x="526" y="1015"/>
                  </a:lnTo>
                  <a:lnTo>
                    <a:pt x="526" y="1022"/>
                  </a:lnTo>
                  <a:lnTo>
                    <a:pt x="526" y="1015"/>
                  </a:lnTo>
                  <a:lnTo>
                    <a:pt x="519" y="1022"/>
                  </a:lnTo>
                  <a:lnTo>
                    <a:pt x="526" y="1030"/>
                  </a:lnTo>
                  <a:lnTo>
                    <a:pt x="519" y="1037"/>
                  </a:lnTo>
                  <a:lnTo>
                    <a:pt x="504" y="1052"/>
                  </a:lnTo>
                  <a:lnTo>
                    <a:pt x="497" y="1059"/>
                  </a:lnTo>
                  <a:lnTo>
                    <a:pt x="489" y="1059"/>
                  </a:lnTo>
                  <a:lnTo>
                    <a:pt x="482" y="1059"/>
                  </a:lnTo>
                  <a:lnTo>
                    <a:pt x="474" y="1059"/>
                  </a:lnTo>
                  <a:lnTo>
                    <a:pt x="474" y="1067"/>
                  </a:lnTo>
                  <a:lnTo>
                    <a:pt x="467" y="1067"/>
                  </a:lnTo>
                  <a:lnTo>
                    <a:pt x="467" y="1074"/>
                  </a:lnTo>
                  <a:lnTo>
                    <a:pt x="474" y="1074"/>
                  </a:lnTo>
                  <a:lnTo>
                    <a:pt x="467" y="1074"/>
                  </a:lnTo>
                  <a:lnTo>
                    <a:pt x="467" y="1081"/>
                  </a:lnTo>
                  <a:lnTo>
                    <a:pt x="474" y="1081"/>
                  </a:lnTo>
                  <a:lnTo>
                    <a:pt x="482" y="1081"/>
                  </a:lnTo>
                  <a:lnTo>
                    <a:pt x="489" y="1081"/>
                  </a:lnTo>
                  <a:lnTo>
                    <a:pt x="489" y="1074"/>
                  </a:lnTo>
                  <a:lnTo>
                    <a:pt x="497" y="1074"/>
                  </a:lnTo>
                  <a:lnTo>
                    <a:pt x="504" y="1074"/>
                  </a:lnTo>
                  <a:lnTo>
                    <a:pt x="511" y="1074"/>
                  </a:lnTo>
                  <a:lnTo>
                    <a:pt x="519" y="1074"/>
                  </a:lnTo>
                  <a:lnTo>
                    <a:pt x="526" y="1081"/>
                  </a:lnTo>
                  <a:lnTo>
                    <a:pt x="526" y="1089"/>
                  </a:lnTo>
                  <a:lnTo>
                    <a:pt x="534" y="1089"/>
                  </a:lnTo>
                  <a:lnTo>
                    <a:pt x="541" y="1096"/>
                  </a:lnTo>
                  <a:lnTo>
                    <a:pt x="548" y="1089"/>
                  </a:lnTo>
                  <a:lnTo>
                    <a:pt x="548" y="1081"/>
                  </a:lnTo>
                  <a:lnTo>
                    <a:pt x="548" y="1074"/>
                  </a:lnTo>
                  <a:lnTo>
                    <a:pt x="541" y="1074"/>
                  </a:lnTo>
                  <a:lnTo>
                    <a:pt x="541" y="1067"/>
                  </a:lnTo>
                  <a:lnTo>
                    <a:pt x="541" y="1059"/>
                  </a:lnTo>
                  <a:lnTo>
                    <a:pt x="534" y="1059"/>
                  </a:lnTo>
                  <a:lnTo>
                    <a:pt x="548" y="1059"/>
                  </a:lnTo>
                  <a:lnTo>
                    <a:pt x="541" y="1059"/>
                  </a:lnTo>
                  <a:lnTo>
                    <a:pt x="541" y="1067"/>
                  </a:lnTo>
                  <a:lnTo>
                    <a:pt x="548" y="1067"/>
                  </a:lnTo>
                  <a:lnTo>
                    <a:pt x="556" y="1067"/>
                  </a:lnTo>
                  <a:lnTo>
                    <a:pt x="563" y="1059"/>
                  </a:lnTo>
                  <a:lnTo>
                    <a:pt x="571" y="1059"/>
                  </a:lnTo>
                  <a:lnTo>
                    <a:pt x="578" y="1052"/>
                  </a:lnTo>
                  <a:lnTo>
                    <a:pt x="571" y="1052"/>
                  </a:lnTo>
                  <a:lnTo>
                    <a:pt x="571" y="1044"/>
                  </a:lnTo>
                  <a:lnTo>
                    <a:pt x="585" y="1044"/>
                  </a:lnTo>
                  <a:lnTo>
                    <a:pt x="593" y="1044"/>
                  </a:lnTo>
                  <a:lnTo>
                    <a:pt x="600" y="1044"/>
                  </a:lnTo>
                  <a:lnTo>
                    <a:pt x="608" y="1044"/>
                  </a:lnTo>
                  <a:lnTo>
                    <a:pt x="615" y="1044"/>
                  </a:lnTo>
                  <a:lnTo>
                    <a:pt x="622" y="1044"/>
                  </a:lnTo>
                  <a:lnTo>
                    <a:pt x="630" y="1044"/>
                  </a:lnTo>
                  <a:lnTo>
                    <a:pt x="622" y="1037"/>
                  </a:lnTo>
                  <a:lnTo>
                    <a:pt x="622" y="1030"/>
                  </a:lnTo>
                  <a:lnTo>
                    <a:pt x="630" y="1030"/>
                  </a:lnTo>
                  <a:lnTo>
                    <a:pt x="630" y="1037"/>
                  </a:lnTo>
                  <a:lnTo>
                    <a:pt x="637" y="1037"/>
                  </a:lnTo>
                  <a:lnTo>
                    <a:pt x="645" y="1044"/>
                  </a:lnTo>
                  <a:lnTo>
                    <a:pt x="659" y="1044"/>
                  </a:lnTo>
                  <a:lnTo>
                    <a:pt x="667" y="1044"/>
                  </a:lnTo>
                  <a:lnTo>
                    <a:pt x="667" y="1052"/>
                  </a:lnTo>
                  <a:lnTo>
                    <a:pt x="674" y="1052"/>
                  </a:lnTo>
                  <a:lnTo>
                    <a:pt x="674" y="1059"/>
                  </a:lnTo>
                  <a:lnTo>
                    <a:pt x="682" y="1059"/>
                  </a:lnTo>
                  <a:lnTo>
                    <a:pt x="689" y="1052"/>
                  </a:lnTo>
                  <a:lnTo>
                    <a:pt x="682" y="1052"/>
                  </a:lnTo>
                  <a:lnTo>
                    <a:pt x="682" y="1044"/>
                  </a:lnTo>
                  <a:lnTo>
                    <a:pt x="689" y="1052"/>
                  </a:lnTo>
                  <a:lnTo>
                    <a:pt x="689" y="1059"/>
                  </a:lnTo>
                  <a:lnTo>
                    <a:pt x="696" y="1059"/>
                  </a:lnTo>
                  <a:lnTo>
                    <a:pt x="704" y="1059"/>
                  </a:lnTo>
                  <a:lnTo>
                    <a:pt x="704" y="1052"/>
                  </a:lnTo>
                  <a:lnTo>
                    <a:pt x="704" y="1044"/>
                  </a:lnTo>
                  <a:lnTo>
                    <a:pt x="704" y="1037"/>
                  </a:lnTo>
                  <a:lnTo>
                    <a:pt x="696" y="1037"/>
                  </a:lnTo>
                  <a:lnTo>
                    <a:pt x="704" y="1037"/>
                  </a:lnTo>
                  <a:lnTo>
                    <a:pt x="711" y="1037"/>
                  </a:lnTo>
                  <a:lnTo>
                    <a:pt x="704" y="1030"/>
                  </a:lnTo>
                  <a:lnTo>
                    <a:pt x="704" y="1022"/>
                  </a:lnTo>
                  <a:lnTo>
                    <a:pt x="704" y="1015"/>
                  </a:lnTo>
                  <a:lnTo>
                    <a:pt x="704" y="1007"/>
                  </a:lnTo>
                  <a:lnTo>
                    <a:pt x="696" y="1007"/>
                  </a:lnTo>
                  <a:lnTo>
                    <a:pt x="696" y="1000"/>
                  </a:lnTo>
                  <a:lnTo>
                    <a:pt x="704" y="1007"/>
                  </a:lnTo>
                  <a:lnTo>
                    <a:pt x="711" y="1007"/>
                  </a:lnTo>
                  <a:lnTo>
                    <a:pt x="719" y="1007"/>
                  </a:lnTo>
                  <a:lnTo>
                    <a:pt x="726" y="1000"/>
                  </a:lnTo>
                  <a:lnTo>
                    <a:pt x="741" y="1000"/>
                  </a:lnTo>
                  <a:lnTo>
                    <a:pt x="763" y="993"/>
                  </a:lnTo>
                  <a:lnTo>
                    <a:pt x="785" y="1000"/>
                  </a:lnTo>
                  <a:lnTo>
                    <a:pt x="793" y="1007"/>
                  </a:lnTo>
                  <a:lnTo>
                    <a:pt x="808" y="1007"/>
                  </a:lnTo>
                  <a:lnTo>
                    <a:pt x="815" y="1015"/>
                  </a:lnTo>
                  <a:lnTo>
                    <a:pt x="822" y="1015"/>
                  </a:lnTo>
                  <a:lnTo>
                    <a:pt x="830" y="1022"/>
                  </a:lnTo>
                  <a:lnTo>
                    <a:pt x="822" y="1015"/>
                  </a:lnTo>
                  <a:lnTo>
                    <a:pt x="815" y="1015"/>
                  </a:lnTo>
                  <a:lnTo>
                    <a:pt x="815" y="1007"/>
                  </a:lnTo>
                  <a:lnTo>
                    <a:pt x="822" y="1000"/>
                  </a:lnTo>
                  <a:lnTo>
                    <a:pt x="830" y="1007"/>
                  </a:lnTo>
                  <a:lnTo>
                    <a:pt x="837" y="1007"/>
                  </a:lnTo>
                  <a:lnTo>
                    <a:pt x="845" y="1007"/>
                  </a:lnTo>
                  <a:lnTo>
                    <a:pt x="852" y="1007"/>
                  </a:lnTo>
                  <a:lnTo>
                    <a:pt x="859" y="1007"/>
                  </a:lnTo>
                  <a:lnTo>
                    <a:pt x="867" y="1007"/>
                  </a:lnTo>
                  <a:lnTo>
                    <a:pt x="874" y="1007"/>
                  </a:lnTo>
                  <a:lnTo>
                    <a:pt x="867" y="1000"/>
                  </a:lnTo>
                  <a:lnTo>
                    <a:pt x="852" y="1000"/>
                  </a:lnTo>
                  <a:lnTo>
                    <a:pt x="852" y="993"/>
                  </a:lnTo>
                  <a:lnTo>
                    <a:pt x="859" y="993"/>
                  </a:lnTo>
                  <a:lnTo>
                    <a:pt x="867" y="993"/>
                  </a:lnTo>
                  <a:lnTo>
                    <a:pt x="867" y="1000"/>
                  </a:lnTo>
                  <a:lnTo>
                    <a:pt x="867" y="993"/>
                  </a:lnTo>
                  <a:lnTo>
                    <a:pt x="874" y="993"/>
                  </a:lnTo>
                  <a:lnTo>
                    <a:pt x="882" y="993"/>
                  </a:lnTo>
                  <a:lnTo>
                    <a:pt x="889" y="993"/>
                  </a:lnTo>
                  <a:lnTo>
                    <a:pt x="896" y="993"/>
                  </a:lnTo>
                  <a:lnTo>
                    <a:pt x="911" y="993"/>
                  </a:lnTo>
                  <a:lnTo>
                    <a:pt x="919" y="993"/>
                  </a:lnTo>
                  <a:lnTo>
                    <a:pt x="911" y="993"/>
                  </a:lnTo>
                  <a:lnTo>
                    <a:pt x="911" y="985"/>
                  </a:lnTo>
                  <a:lnTo>
                    <a:pt x="919" y="985"/>
                  </a:lnTo>
                  <a:lnTo>
                    <a:pt x="926" y="985"/>
                  </a:lnTo>
                  <a:lnTo>
                    <a:pt x="926" y="978"/>
                  </a:lnTo>
                  <a:lnTo>
                    <a:pt x="919" y="970"/>
                  </a:lnTo>
                  <a:lnTo>
                    <a:pt x="911" y="970"/>
                  </a:lnTo>
                  <a:lnTo>
                    <a:pt x="926" y="970"/>
                  </a:lnTo>
                  <a:lnTo>
                    <a:pt x="926" y="978"/>
                  </a:lnTo>
                  <a:lnTo>
                    <a:pt x="933" y="978"/>
                  </a:lnTo>
                  <a:lnTo>
                    <a:pt x="941" y="978"/>
                  </a:lnTo>
                  <a:lnTo>
                    <a:pt x="941" y="985"/>
                  </a:lnTo>
                  <a:lnTo>
                    <a:pt x="948" y="985"/>
                  </a:lnTo>
                  <a:lnTo>
                    <a:pt x="948" y="978"/>
                  </a:lnTo>
                  <a:lnTo>
                    <a:pt x="941" y="978"/>
                  </a:lnTo>
                  <a:lnTo>
                    <a:pt x="948" y="978"/>
                  </a:lnTo>
                  <a:lnTo>
                    <a:pt x="956" y="985"/>
                  </a:lnTo>
                  <a:lnTo>
                    <a:pt x="956" y="978"/>
                  </a:lnTo>
                  <a:lnTo>
                    <a:pt x="963" y="978"/>
                  </a:lnTo>
                  <a:lnTo>
                    <a:pt x="963" y="985"/>
                  </a:lnTo>
                  <a:lnTo>
                    <a:pt x="970" y="985"/>
                  </a:lnTo>
                  <a:lnTo>
                    <a:pt x="970" y="978"/>
                  </a:lnTo>
                  <a:lnTo>
                    <a:pt x="978" y="978"/>
                  </a:lnTo>
                  <a:lnTo>
                    <a:pt x="985" y="978"/>
                  </a:lnTo>
                  <a:lnTo>
                    <a:pt x="993" y="978"/>
                  </a:lnTo>
                  <a:lnTo>
                    <a:pt x="985" y="978"/>
                  </a:lnTo>
                  <a:lnTo>
                    <a:pt x="978" y="985"/>
                  </a:lnTo>
                  <a:lnTo>
                    <a:pt x="985" y="985"/>
                  </a:lnTo>
                  <a:lnTo>
                    <a:pt x="993" y="993"/>
                  </a:lnTo>
                  <a:lnTo>
                    <a:pt x="1000" y="993"/>
                  </a:lnTo>
                  <a:lnTo>
                    <a:pt x="1000" y="985"/>
                  </a:lnTo>
                  <a:lnTo>
                    <a:pt x="993" y="985"/>
                  </a:lnTo>
                  <a:lnTo>
                    <a:pt x="1000" y="985"/>
                  </a:lnTo>
                  <a:lnTo>
                    <a:pt x="1007" y="985"/>
                  </a:lnTo>
                  <a:lnTo>
                    <a:pt x="1015" y="978"/>
                  </a:lnTo>
                  <a:lnTo>
                    <a:pt x="1022" y="978"/>
                  </a:lnTo>
                  <a:lnTo>
                    <a:pt x="1037" y="978"/>
                  </a:lnTo>
                  <a:lnTo>
                    <a:pt x="1052" y="978"/>
                  </a:lnTo>
                  <a:lnTo>
                    <a:pt x="1067" y="978"/>
                  </a:lnTo>
                  <a:lnTo>
                    <a:pt x="1082" y="978"/>
                  </a:lnTo>
                  <a:lnTo>
                    <a:pt x="1096" y="978"/>
                  </a:lnTo>
                  <a:lnTo>
                    <a:pt x="1111" y="985"/>
                  </a:lnTo>
                  <a:lnTo>
                    <a:pt x="1119" y="985"/>
                  </a:lnTo>
                  <a:lnTo>
                    <a:pt x="1119" y="978"/>
                  </a:lnTo>
                  <a:lnTo>
                    <a:pt x="1126" y="970"/>
                  </a:lnTo>
                  <a:lnTo>
                    <a:pt x="1133" y="970"/>
                  </a:lnTo>
                  <a:lnTo>
                    <a:pt x="1141" y="970"/>
                  </a:lnTo>
                  <a:lnTo>
                    <a:pt x="1148" y="963"/>
                  </a:lnTo>
                  <a:lnTo>
                    <a:pt x="1156" y="963"/>
                  </a:lnTo>
                  <a:lnTo>
                    <a:pt x="1156" y="956"/>
                  </a:lnTo>
                  <a:lnTo>
                    <a:pt x="1163" y="956"/>
                  </a:lnTo>
                  <a:lnTo>
                    <a:pt x="1170" y="956"/>
                  </a:lnTo>
                  <a:lnTo>
                    <a:pt x="1178" y="956"/>
                  </a:lnTo>
                  <a:lnTo>
                    <a:pt x="1178" y="948"/>
                  </a:lnTo>
                  <a:lnTo>
                    <a:pt x="1178" y="941"/>
                  </a:lnTo>
                  <a:lnTo>
                    <a:pt x="1185" y="941"/>
                  </a:lnTo>
                  <a:lnTo>
                    <a:pt x="1193" y="941"/>
                  </a:lnTo>
                  <a:lnTo>
                    <a:pt x="1200" y="933"/>
                  </a:lnTo>
                  <a:lnTo>
                    <a:pt x="1207" y="926"/>
                  </a:lnTo>
                  <a:lnTo>
                    <a:pt x="1207" y="919"/>
                  </a:lnTo>
                  <a:lnTo>
                    <a:pt x="1200" y="919"/>
                  </a:lnTo>
                  <a:lnTo>
                    <a:pt x="1200" y="911"/>
                  </a:lnTo>
                  <a:lnTo>
                    <a:pt x="1193" y="911"/>
                  </a:lnTo>
                  <a:lnTo>
                    <a:pt x="1200" y="904"/>
                  </a:lnTo>
                  <a:lnTo>
                    <a:pt x="1200" y="911"/>
                  </a:lnTo>
                  <a:lnTo>
                    <a:pt x="1207" y="904"/>
                  </a:lnTo>
                  <a:lnTo>
                    <a:pt x="1200" y="896"/>
                  </a:lnTo>
                  <a:lnTo>
                    <a:pt x="1193" y="896"/>
                  </a:lnTo>
                  <a:lnTo>
                    <a:pt x="1185" y="896"/>
                  </a:lnTo>
                  <a:lnTo>
                    <a:pt x="1170" y="896"/>
                  </a:lnTo>
                  <a:lnTo>
                    <a:pt x="1163" y="896"/>
                  </a:lnTo>
                  <a:lnTo>
                    <a:pt x="1156" y="896"/>
                  </a:lnTo>
                  <a:lnTo>
                    <a:pt x="1148" y="904"/>
                  </a:lnTo>
                  <a:lnTo>
                    <a:pt x="1133" y="904"/>
                  </a:lnTo>
                  <a:lnTo>
                    <a:pt x="1119" y="904"/>
                  </a:lnTo>
                  <a:lnTo>
                    <a:pt x="1111" y="904"/>
                  </a:lnTo>
                  <a:lnTo>
                    <a:pt x="1104" y="904"/>
                  </a:lnTo>
                  <a:lnTo>
                    <a:pt x="1104" y="896"/>
                  </a:lnTo>
                  <a:lnTo>
                    <a:pt x="1111" y="896"/>
                  </a:lnTo>
                  <a:lnTo>
                    <a:pt x="1111" y="889"/>
                  </a:lnTo>
                  <a:lnTo>
                    <a:pt x="1104" y="889"/>
                  </a:lnTo>
                  <a:lnTo>
                    <a:pt x="1096" y="889"/>
                  </a:lnTo>
                  <a:lnTo>
                    <a:pt x="1082" y="896"/>
                  </a:lnTo>
                  <a:lnTo>
                    <a:pt x="1074" y="896"/>
                  </a:lnTo>
                  <a:lnTo>
                    <a:pt x="1067" y="896"/>
                  </a:lnTo>
                  <a:lnTo>
                    <a:pt x="1059" y="896"/>
                  </a:lnTo>
                  <a:lnTo>
                    <a:pt x="1052" y="896"/>
                  </a:lnTo>
                  <a:lnTo>
                    <a:pt x="1045" y="889"/>
                  </a:lnTo>
                  <a:lnTo>
                    <a:pt x="1037" y="896"/>
                  </a:lnTo>
                  <a:lnTo>
                    <a:pt x="1030" y="896"/>
                  </a:lnTo>
                  <a:lnTo>
                    <a:pt x="1022" y="896"/>
                  </a:lnTo>
                  <a:lnTo>
                    <a:pt x="1015" y="889"/>
                  </a:lnTo>
                  <a:lnTo>
                    <a:pt x="1022" y="889"/>
                  </a:lnTo>
                  <a:lnTo>
                    <a:pt x="1030" y="889"/>
                  </a:lnTo>
                  <a:lnTo>
                    <a:pt x="1037" y="889"/>
                  </a:lnTo>
                  <a:lnTo>
                    <a:pt x="1045" y="889"/>
                  </a:lnTo>
                  <a:lnTo>
                    <a:pt x="1052" y="889"/>
                  </a:lnTo>
                  <a:lnTo>
                    <a:pt x="1059" y="889"/>
                  </a:lnTo>
                  <a:lnTo>
                    <a:pt x="1067" y="896"/>
                  </a:lnTo>
                  <a:lnTo>
                    <a:pt x="1074" y="896"/>
                  </a:lnTo>
                  <a:lnTo>
                    <a:pt x="1074" y="889"/>
                  </a:lnTo>
                  <a:lnTo>
                    <a:pt x="1082" y="889"/>
                  </a:lnTo>
                  <a:lnTo>
                    <a:pt x="1089" y="889"/>
                  </a:lnTo>
                  <a:lnTo>
                    <a:pt x="1096" y="889"/>
                  </a:lnTo>
                  <a:lnTo>
                    <a:pt x="1104" y="882"/>
                  </a:lnTo>
                  <a:lnTo>
                    <a:pt x="1111" y="882"/>
                  </a:lnTo>
                  <a:lnTo>
                    <a:pt x="1119" y="882"/>
                  </a:lnTo>
                  <a:lnTo>
                    <a:pt x="1111" y="874"/>
                  </a:lnTo>
                  <a:lnTo>
                    <a:pt x="1104" y="874"/>
                  </a:lnTo>
                  <a:lnTo>
                    <a:pt x="1104" y="867"/>
                  </a:lnTo>
                  <a:lnTo>
                    <a:pt x="1111" y="867"/>
                  </a:lnTo>
                  <a:lnTo>
                    <a:pt x="1126" y="867"/>
                  </a:lnTo>
                  <a:lnTo>
                    <a:pt x="1119" y="859"/>
                  </a:lnTo>
                  <a:lnTo>
                    <a:pt x="1111" y="859"/>
                  </a:lnTo>
                  <a:lnTo>
                    <a:pt x="1104" y="859"/>
                  </a:lnTo>
                  <a:lnTo>
                    <a:pt x="1104" y="867"/>
                  </a:lnTo>
                  <a:lnTo>
                    <a:pt x="1096" y="859"/>
                  </a:lnTo>
                  <a:lnTo>
                    <a:pt x="1089" y="859"/>
                  </a:lnTo>
                  <a:lnTo>
                    <a:pt x="1096" y="859"/>
                  </a:lnTo>
                  <a:lnTo>
                    <a:pt x="1104" y="852"/>
                  </a:lnTo>
                  <a:lnTo>
                    <a:pt x="1096" y="852"/>
                  </a:lnTo>
                  <a:lnTo>
                    <a:pt x="1104" y="852"/>
                  </a:lnTo>
                  <a:lnTo>
                    <a:pt x="1111" y="852"/>
                  </a:lnTo>
                  <a:lnTo>
                    <a:pt x="1119" y="852"/>
                  </a:lnTo>
                  <a:lnTo>
                    <a:pt x="1111" y="844"/>
                  </a:lnTo>
                  <a:lnTo>
                    <a:pt x="1119" y="844"/>
                  </a:lnTo>
                  <a:lnTo>
                    <a:pt x="1126" y="852"/>
                  </a:lnTo>
                  <a:lnTo>
                    <a:pt x="1133" y="852"/>
                  </a:lnTo>
                  <a:lnTo>
                    <a:pt x="1141" y="844"/>
                  </a:lnTo>
                  <a:lnTo>
                    <a:pt x="1148" y="844"/>
                  </a:lnTo>
                  <a:lnTo>
                    <a:pt x="1148" y="837"/>
                  </a:lnTo>
                  <a:lnTo>
                    <a:pt x="1141" y="837"/>
                  </a:lnTo>
                  <a:lnTo>
                    <a:pt x="1133" y="837"/>
                  </a:lnTo>
                  <a:lnTo>
                    <a:pt x="1133" y="830"/>
                  </a:lnTo>
                  <a:lnTo>
                    <a:pt x="1126" y="830"/>
                  </a:lnTo>
                  <a:lnTo>
                    <a:pt x="1119" y="830"/>
                  </a:lnTo>
                  <a:lnTo>
                    <a:pt x="1126" y="830"/>
                  </a:lnTo>
                  <a:lnTo>
                    <a:pt x="1133" y="830"/>
                  </a:lnTo>
                  <a:lnTo>
                    <a:pt x="1141" y="822"/>
                  </a:lnTo>
                  <a:lnTo>
                    <a:pt x="1141" y="830"/>
                  </a:lnTo>
                  <a:lnTo>
                    <a:pt x="1148" y="822"/>
                  </a:lnTo>
                  <a:lnTo>
                    <a:pt x="1148" y="815"/>
                  </a:lnTo>
                  <a:lnTo>
                    <a:pt x="1156" y="807"/>
                  </a:lnTo>
                  <a:lnTo>
                    <a:pt x="1163" y="815"/>
                  </a:lnTo>
                  <a:lnTo>
                    <a:pt x="1156" y="800"/>
                  </a:lnTo>
                  <a:lnTo>
                    <a:pt x="1156" y="793"/>
                  </a:lnTo>
                  <a:lnTo>
                    <a:pt x="1148" y="793"/>
                  </a:lnTo>
                  <a:lnTo>
                    <a:pt x="1148" y="785"/>
                  </a:lnTo>
                  <a:lnTo>
                    <a:pt x="1148" y="778"/>
                  </a:lnTo>
                  <a:lnTo>
                    <a:pt x="1148" y="770"/>
                  </a:lnTo>
                  <a:lnTo>
                    <a:pt x="1148" y="763"/>
                  </a:lnTo>
                  <a:lnTo>
                    <a:pt x="1133" y="741"/>
                  </a:lnTo>
                  <a:lnTo>
                    <a:pt x="1126" y="733"/>
                  </a:lnTo>
                  <a:lnTo>
                    <a:pt x="1119" y="726"/>
                  </a:lnTo>
                  <a:lnTo>
                    <a:pt x="1104" y="726"/>
                  </a:lnTo>
                  <a:lnTo>
                    <a:pt x="1089" y="719"/>
                  </a:lnTo>
                  <a:lnTo>
                    <a:pt x="1074" y="711"/>
                  </a:lnTo>
                  <a:lnTo>
                    <a:pt x="1059" y="704"/>
                  </a:lnTo>
                  <a:lnTo>
                    <a:pt x="1045" y="704"/>
                  </a:lnTo>
                  <a:lnTo>
                    <a:pt x="1037" y="704"/>
                  </a:lnTo>
                  <a:lnTo>
                    <a:pt x="1015" y="704"/>
                  </a:lnTo>
                  <a:lnTo>
                    <a:pt x="1000" y="704"/>
                  </a:lnTo>
                  <a:lnTo>
                    <a:pt x="985" y="704"/>
                  </a:lnTo>
                  <a:lnTo>
                    <a:pt x="978" y="711"/>
                  </a:lnTo>
                  <a:lnTo>
                    <a:pt x="970" y="719"/>
                  </a:lnTo>
                  <a:lnTo>
                    <a:pt x="963" y="726"/>
                  </a:lnTo>
                  <a:lnTo>
                    <a:pt x="956" y="719"/>
                  </a:lnTo>
                  <a:lnTo>
                    <a:pt x="941" y="719"/>
                  </a:lnTo>
                  <a:lnTo>
                    <a:pt x="933" y="719"/>
                  </a:lnTo>
                  <a:lnTo>
                    <a:pt x="926" y="719"/>
                  </a:lnTo>
                  <a:lnTo>
                    <a:pt x="933" y="711"/>
                  </a:lnTo>
                  <a:lnTo>
                    <a:pt x="941" y="704"/>
                  </a:lnTo>
                  <a:lnTo>
                    <a:pt x="941" y="696"/>
                  </a:lnTo>
                  <a:lnTo>
                    <a:pt x="956" y="689"/>
                  </a:lnTo>
                  <a:lnTo>
                    <a:pt x="948" y="674"/>
                  </a:lnTo>
                  <a:lnTo>
                    <a:pt x="933" y="667"/>
                  </a:lnTo>
                  <a:lnTo>
                    <a:pt x="919" y="652"/>
                  </a:lnTo>
                  <a:lnTo>
                    <a:pt x="911" y="652"/>
                  </a:lnTo>
                  <a:lnTo>
                    <a:pt x="896" y="645"/>
                  </a:lnTo>
                  <a:lnTo>
                    <a:pt x="889" y="637"/>
                  </a:lnTo>
                  <a:lnTo>
                    <a:pt x="874" y="637"/>
                  </a:lnTo>
                  <a:lnTo>
                    <a:pt x="867" y="630"/>
                  </a:lnTo>
                  <a:lnTo>
                    <a:pt x="852" y="630"/>
                  </a:lnTo>
                  <a:lnTo>
                    <a:pt x="837" y="622"/>
                  </a:lnTo>
                  <a:lnTo>
                    <a:pt x="830" y="622"/>
                  </a:lnTo>
                  <a:lnTo>
                    <a:pt x="822" y="622"/>
                  </a:lnTo>
                  <a:lnTo>
                    <a:pt x="808" y="622"/>
                  </a:lnTo>
                  <a:lnTo>
                    <a:pt x="793" y="622"/>
                  </a:lnTo>
                  <a:lnTo>
                    <a:pt x="800" y="615"/>
                  </a:lnTo>
                  <a:lnTo>
                    <a:pt x="808" y="615"/>
                  </a:lnTo>
                  <a:lnTo>
                    <a:pt x="815" y="615"/>
                  </a:lnTo>
                  <a:lnTo>
                    <a:pt x="830" y="615"/>
                  </a:lnTo>
                  <a:lnTo>
                    <a:pt x="845" y="615"/>
                  </a:lnTo>
                  <a:lnTo>
                    <a:pt x="845" y="622"/>
                  </a:lnTo>
                  <a:lnTo>
                    <a:pt x="852" y="622"/>
                  </a:lnTo>
                  <a:lnTo>
                    <a:pt x="859" y="622"/>
                  </a:lnTo>
                  <a:lnTo>
                    <a:pt x="867" y="630"/>
                  </a:lnTo>
                  <a:lnTo>
                    <a:pt x="874" y="630"/>
                  </a:lnTo>
                  <a:lnTo>
                    <a:pt x="882" y="630"/>
                  </a:lnTo>
                  <a:lnTo>
                    <a:pt x="889" y="630"/>
                  </a:lnTo>
                  <a:lnTo>
                    <a:pt x="896" y="637"/>
                  </a:lnTo>
                  <a:lnTo>
                    <a:pt x="896" y="630"/>
                  </a:lnTo>
                  <a:lnTo>
                    <a:pt x="889" y="622"/>
                  </a:lnTo>
                  <a:lnTo>
                    <a:pt x="882" y="615"/>
                  </a:lnTo>
                  <a:lnTo>
                    <a:pt x="874" y="615"/>
                  </a:lnTo>
                  <a:lnTo>
                    <a:pt x="867" y="608"/>
                  </a:lnTo>
                  <a:lnTo>
                    <a:pt x="852" y="600"/>
                  </a:lnTo>
                  <a:lnTo>
                    <a:pt x="845" y="593"/>
                  </a:lnTo>
                  <a:lnTo>
                    <a:pt x="830" y="585"/>
                  </a:lnTo>
                  <a:lnTo>
                    <a:pt x="830" y="578"/>
                  </a:lnTo>
                  <a:lnTo>
                    <a:pt x="830" y="570"/>
                  </a:lnTo>
                  <a:lnTo>
                    <a:pt x="822" y="563"/>
                  </a:lnTo>
                  <a:lnTo>
                    <a:pt x="815" y="563"/>
                  </a:lnTo>
                  <a:lnTo>
                    <a:pt x="808" y="556"/>
                  </a:lnTo>
                  <a:lnTo>
                    <a:pt x="800" y="556"/>
                  </a:lnTo>
                  <a:lnTo>
                    <a:pt x="793" y="548"/>
                  </a:lnTo>
                  <a:lnTo>
                    <a:pt x="778" y="541"/>
                  </a:lnTo>
                  <a:lnTo>
                    <a:pt x="771" y="533"/>
                  </a:lnTo>
                  <a:lnTo>
                    <a:pt x="763" y="526"/>
                  </a:lnTo>
                  <a:lnTo>
                    <a:pt x="756" y="526"/>
                  </a:lnTo>
                  <a:lnTo>
                    <a:pt x="748" y="519"/>
                  </a:lnTo>
                  <a:lnTo>
                    <a:pt x="734" y="519"/>
                  </a:lnTo>
                  <a:lnTo>
                    <a:pt x="726" y="519"/>
                  </a:lnTo>
                  <a:lnTo>
                    <a:pt x="711" y="511"/>
                  </a:lnTo>
                  <a:lnTo>
                    <a:pt x="704" y="511"/>
                  </a:lnTo>
                  <a:lnTo>
                    <a:pt x="696" y="511"/>
                  </a:lnTo>
                  <a:lnTo>
                    <a:pt x="689" y="504"/>
                  </a:lnTo>
                  <a:lnTo>
                    <a:pt x="689" y="511"/>
                  </a:lnTo>
                  <a:lnTo>
                    <a:pt x="689" y="519"/>
                  </a:lnTo>
                  <a:lnTo>
                    <a:pt x="682" y="511"/>
                  </a:lnTo>
                  <a:lnTo>
                    <a:pt x="674" y="496"/>
                  </a:lnTo>
                  <a:lnTo>
                    <a:pt x="667" y="489"/>
                  </a:lnTo>
                  <a:lnTo>
                    <a:pt x="659" y="489"/>
                  </a:lnTo>
                  <a:lnTo>
                    <a:pt x="652" y="482"/>
                  </a:lnTo>
                  <a:lnTo>
                    <a:pt x="645" y="467"/>
                  </a:lnTo>
                  <a:lnTo>
                    <a:pt x="630" y="459"/>
                  </a:lnTo>
                  <a:lnTo>
                    <a:pt x="615" y="445"/>
                  </a:lnTo>
                  <a:lnTo>
                    <a:pt x="600" y="430"/>
                  </a:lnTo>
                  <a:lnTo>
                    <a:pt x="600" y="422"/>
                  </a:lnTo>
                  <a:lnTo>
                    <a:pt x="593" y="415"/>
                  </a:lnTo>
                  <a:lnTo>
                    <a:pt x="585" y="408"/>
                  </a:lnTo>
                  <a:lnTo>
                    <a:pt x="585" y="400"/>
                  </a:lnTo>
                  <a:lnTo>
                    <a:pt x="578" y="393"/>
                  </a:lnTo>
                  <a:lnTo>
                    <a:pt x="578" y="385"/>
                  </a:lnTo>
                  <a:lnTo>
                    <a:pt x="571" y="385"/>
                  </a:lnTo>
                  <a:lnTo>
                    <a:pt x="563" y="385"/>
                  </a:lnTo>
                  <a:lnTo>
                    <a:pt x="548" y="378"/>
                  </a:lnTo>
                  <a:lnTo>
                    <a:pt x="541" y="378"/>
                  </a:lnTo>
                  <a:lnTo>
                    <a:pt x="534" y="371"/>
                  </a:lnTo>
                  <a:lnTo>
                    <a:pt x="526" y="363"/>
                  </a:lnTo>
                  <a:lnTo>
                    <a:pt x="519" y="363"/>
                  </a:lnTo>
                  <a:lnTo>
                    <a:pt x="519" y="356"/>
                  </a:lnTo>
                  <a:lnTo>
                    <a:pt x="511" y="356"/>
                  </a:lnTo>
                  <a:lnTo>
                    <a:pt x="504" y="348"/>
                  </a:lnTo>
                  <a:lnTo>
                    <a:pt x="497" y="348"/>
                  </a:lnTo>
                  <a:lnTo>
                    <a:pt x="489" y="341"/>
                  </a:lnTo>
                  <a:lnTo>
                    <a:pt x="482" y="341"/>
                  </a:lnTo>
                  <a:lnTo>
                    <a:pt x="474" y="341"/>
                  </a:lnTo>
                  <a:lnTo>
                    <a:pt x="467" y="341"/>
                  </a:lnTo>
                  <a:lnTo>
                    <a:pt x="460" y="333"/>
                  </a:lnTo>
                  <a:lnTo>
                    <a:pt x="452" y="333"/>
                  </a:lnTo>
                  <a:lnTo>
                    <a:pt x="445" y="333"/>
                  </a:lnTo>
                  <a:lnTo>
                    <a:pt x="437" y="326"/>
                  </a:lnTo>
                  <a:lnTo>
                    <a:pt x="430" y="326"/>
                  </a:lnTo>
                  <a:lnTo>
                    <a:pt x="423" y="326"/>
                  </a:lnTo>
                  <a:lnTo>
                    <a:pt x="415" y="333"/>
                  </a:lnTo>
                  <a:lnTo>
                    <a:pt x="408" y="341"/>
                  </a:lnTo>
                  <a:lnTo>
                    <a:pt x="400" y="341"/>
                  </a:lnTo>
                  <a:lnTo>
                    <a:pt x="385" y="341"/>
                  </a:lnTo>
                  <a:lnTo>
                    <a:pt x="363" y="341"/>
                  </a:lnTo>
                  <a:lnTo>
                    <a:pt x="348" y="333"/>
                  </a:lnTo>
                  <a:lnTo>
                    <a:pt x="341" y="333"/>
                  </a:lnTo>
                  <a:lnTo>
                    <a:pt x="326" y="333"/>
                  </a:lnTo>
                  <a:lnTo>
                    <a:pt x="319" y="326"/>
                  </a:lnTo>
                  <a:lnTo>
                    <a:pt x="326" y="326"/>
                  </a:lnTo>
                  <a:lnTo>
                    <a:pt x="334" y="333"/>
                  </a:lnTo>
                  <a:lnTo>
                    <a:pt x="341" y="333"/>
                  </a:lnTo>
                  <a:lnTo>
                    <a:pt x="348" y="333"/>
                  </a:lnTo>
                  <a:lnTo>
                    <a:pt x="371" y="333"/>
                  </a:lnTo>
                  <a:lnTo>
                    <a:pt x="378" y="333"/>
                  </a:lnTo>
                  <a:lnTo>
                    <a:pt x="385" y="326"/>
                  </a:lnTo>
                  <a:lnTo>
                    <a:pt x="385" y="319"/>
                  </a:lnTo>
                  <a:lnTo>
                    <a:pt x="393" y="319"/>
                  </a:lnTo>
                  <a:lnTo>
                    <a:pt x="393" y="311"/>
                  </a:lnTo>
                  <a:lnTo>
                    <a:pt x="400" y="311"/>
                  </a:lnTo>
                  <a:lnTo>
                    <a:pt x="408" y="311"/>
                  </a:lnTo>
                  <a:lnTo>
                    <a:pt x="415" y="311"/>
                  </a:lnTo>
                  <a:lnTo>
                    <a:pt x="423" y="311"/>
                  </a:lnTo>
                  <a:lnTo>
                    <a:pt x="423" y="304"/>
                  </a:lnTo>
                  <a:lnTo>
                    <a:pt x="430" y="304"/>
                  </a:lnTo>
                  <a:lnTo>
                    <a:pt x="430" y="296"/>
                  </a:lnTo>
                  <a:lnTo>
                    <a:pt x="415" y="296"/>
                  </a:lnTo>
                  <a:lnTo>
                    <a:pt x="408" y="289"/>
                  </a:lnTo>
                  <a:lnTo>
                    <a:pt x="393" y="289"/>
                  </a:lnTo>
                  <a:lnTo>
                    <a:pt x="400" y="289"/>
                  </a:lnTo>
                  <a:lnTo>
                    <a:pt x="400" y="282"/>
                  </a:lnTo>
                  <a:lnTo>
                    <a:pt x="393" y="282"/>
                  </a:lnTo>
                  <a:lnTo>
                    <a:pt x="385" y="282"/>
                  </a:lnTo>
                  <a:lnTo>
                    <a:pt x="378" y="282"/>
                  </a:lnTo>
                  <a:lnTo>
                    <a:pt x="348" y="289"/>
                  </a:lnTo>
                  <a:lnTo>
                    <a:pt x="363" y="282"/>
                  </a:lnTo>
                  <a:lnTo>
                    <a:pt x="371" y="282"/>
                  </a:lnTo>
                  <a:lnTo>
                    <a:pt x="378" y="274"/>
                  </a:lnTo>
                  <a:lnTo>
                    <a:pt x="393" y="274"/>
                  </a:lnTo>
                  <a:lnTo>
                    <a:pt x="400" y="282"/>
                  </a:lnTo>
                  <a:lnTo>
                    <a:pt x="400" y="274"/>
                  </a:lnTo>
                  <a:lnTo>
                    <a:pt x="408" y="274"/>
                  </a:lnTo>
                  <a:lnTo>
                    <a:pt x="408" y="267"/>
                  </a:lnTo>
                  <a:lnTo>
                    <a:pt x="415" y="267"/>
                  </a:lnTo>
                  <a:lnTo>
                    <a:pt x="415" y="259"/>
                  </a:lnTo>
                  <a:lnTo>
                    <a:pt x="415" y="252"/>
                  </a:lnTo>
                  <a:lnTo>
                    <a:pt x="408" y="245"/>
                  </a:lnTo>
                  <a:lnTo>
                    <a:pt x="415" y="245"/>
                  </a:lnTo>
                  <a:lnTo>
                    <a:pt x="415" y="237"/>
                  </a:lnTo>
                  <a:lnTo>
                    <a:pt x="423" y="237"/>
                  </a:lnTo>
                  <a:lnTo>
                    <a:pt x="430" y="230"/>
                  </a:lnTo>
                  <a:lnTo>
                    <a:pt x="423" y="222"/>
                  </a:lnTo>
                  <a:lnTo>
                    <a:pt x="423" y="215"/>
                  </a:lnTo>
                  <a:lnTo>
                    <a:pt x="423" y="208"/>
                  </a:lnTo>
                  <a:lnTo>
                    <a:pt x="423" y="200"/>
                  </a:lnTo>
                  <a:lnTo>
                    <a:pt x="430" y="193"/>
                  </a:lnTo>
                  <a:lnTo>
                    <a:pt x="423" y="185"/>
                  </a:lnTo>
                  <a:lnTo>
                    <a:pt x="415" y="178"/>
                  </a:lnTo>
                  <a:lnTo>
                    <a:pt x="415" y="171"/>
                  </a:lnTo>
                  <a:lnTo>
                    <a:pt x="423" y="171"/>
                  </a:lnTo>
                  <a:lnTo>
                    <a:pt x="430" y="156"/>
                  </a:lnTo>
                  <a:lnTo>
                    <a:pt x="415" y="134"/>
                  </a:lnTo>
                  <a:lnTo>
                    <a:pt x="408" y="126"/>
                  </a:lnTo>
                  <a:lnTo>
                    <a:pt x="400" y="126"/>
                  </a:lnTo>
                  <a:lnTo>
                    <a:pt x="393" y="126"/>
                  </a:lnTo>
                  <a:lnTo>
                    <a:pt x="385" y="119"/>
                  </a:lnTo>
                  <a:lnTo>
                    <a:pt x="378" y="126"/>
                  </a:lnTo>
                  <a:lnTo>
                    <a:pt x="371" y="126"/>
                  </a:lnTo>
                  <a:lnTo>
                    <a:pt x="363" y="126"/>
                  </a:lnTo>
                  <a:lnTo>
                    <a:pt x="356" y="126"/>
                  </a:lnTo>
                  <a:lnTo>
                    <a:pt x="348" y="126"/>
                  </a:lnTo>
                  <a:lnTo>
                    <a:pt x="326" y="126"/>
                  </a:lnTo>
                  <a:lnTo>
                    <a:pt x="304" y="126"/>
                  </a:lnTo>
                  <a:lnTo>
                    <a:pt x="297" y="126"/>
                  </a:lnTo>
                  <a:lnTo>
                    <a:pt x="282" y="126"/>
                  </a:lnTo>
                  <a:lnTo>
                    <a:pt x="267" y="119"/>
                  </a:lnTo>
                  <a:lnTo>
                    <a:pt x="260" y="119"/>
                  </a:lnTo>
                  <a:lnTo>
                    <a:pt x="252" y="119"/>
                  </a:lnTo>
                  <a:lnTo>
                    <a:pt x="245" y="126"/>
                  </a:lnTo>
                  <a:lnTo>
                    <a:pt x="237" y="126"/>
                  </a:lnTo>
                  <a:lnTo>
                    <a:pt x="237" y="134"/>
                  </a:lnTo>
                  <a:lnTo>
                    <a:pt x="230" y="126"/>
                  </a:lnTo>
                  <a:lnTo>
                    <a:pt x="230" y="134"/>
                  </a:lnTo>
                  <a:lnTo>
                    <a:pt x="223" y="134"/>
                  </a:lnTo>
                  <a:lnTo>
                    <a:pt x="215" y="134"/>
                  </a:lnTo>
                  <a:lnTo>
                    <a:pt x="208" y="141"/>
                  </a:lnTo>
                  <a:lnTo>
                    <a:pt x="200" y="141"/>
                  </a:lnTo>
                  <a:lnTo>
                    <a:pt x="193" y="148"/>
                  </a:lnTo>
                  <a:lnTo>
                    <a:pt x="186" y="148"/>
                  </a:lnTo>
                  <a:lnTo>
                    <a:pt x="186" y="156"/>
                  </a:lnTo>
                  <a:lnTo>
                    <a:pt x="193" y="156"/>
                  </a:lnTo>
                  <a:lnTo>
                    <a:pt x="186" y="163"/>
                  </a:lnTo>
                  <a:lnTo>
                    <a:pt x="178" y="156"/>
                  </a:lnTo>
                  <a:lnTo>
                    <a:pt x="163" y="156"/>
                  </a:lnTo>
                  <a:lnTo>
                    <a:pt x="171" y="148"/>
                  </a:lnTo>
                  <a:lnTo>
                    <a:pt x="178" y="148"/>
                  </a:lnTo>
                  <a:lnTo>
                    <a:pt x="200" y="134"/>
                  </a:lnTo>
                  <a:lnTo>
                    <a:pt x="193" y="126"/>
                  </a:lnTo>
                  <a:lnTo>
                    <a:pt x="171" y="126"/>
                  </a:lnTo>
                  <a:lnTo>
                    <a:pt x="171" y="134"/>
                  </a:lnTo>
                  <a:lnTo>
                    <a:pt x="171" y="141"/>
                  </a:lnTo>
                  <a:lnTo>
                    <a:pt x="163" y="141"/>
                  </a:lnTo>
                  <a:lnTo>
                    <a:pt x="156" y="141"/>
                  </a:lnTo>
                  <a:lnTo>
                    <a:pt x="156" y="134"/>
                  </a:lnTo>
                  <a:lnTo>
                    <a:pt x="163" y="134"/>
                  </a:lnTo>
                  <a:lnTo>
                    <a:pt x="156" y="134"/>
                  </a:lnTo>
                  <a:lnTo>
                    <a:pt x="171" y="119"/>
                  </a:lnTo>
                  <a:lnTo>
                    <a:pt x="178" y="126"/>
                  </a:lnTo>
                  <a:lnTo>
                    <a:pt x="186" y="126"/>
                  </a:lnTo>
                  <a:lnTo>
                    <a:pt x="186" y="119"/>
                  </a:lnTo>
                  <a:lnTo>
                    <a:pt x="193" y="119"/>
                  </a:lnTo>
                  <a:lnTo>
                    <a:pt x="193" y="126"/>
                  </a:lnTo>
                  <a:lnTo>
                    <a:pt x="200" y="126"/>
                  </a:lnTo>
                  <a:lnTo>
                    <a:pt x="200" y="119"/>
                  </a:lnTo>
                  <a:lnTo>
                    <a:pt x="208" y="119"/>
                  </a:lnTo>
                  <a:lnTo>
                    <a:pt x="208" y="111"/>
                  </a:lnTo>
                  <a:lnTo>
                    <a:pt x="215" y="104"/>
                  </a:lnTo>
                  <a:lnTo>
                    <a:pt x="208" y="104"/>
                  </a:lnTo>
                  <a:lnTo>
                    <a:pt x="200" y="104"/>
                  </a:lnTo>
                  <a:lnTo>
                    <a:pt x="200" y="111"/>
                  </a:lnTo>
                  <a:lnTo>
                    <a:pt x="193" y="111"/>
                  </a:lnTo>
                  <a:lnTo>
                    <a:pt x="193" y="104"/>
                  </a:lnTo>
                  <a:lnTo>
                    <a:pt x="186" y="104"/>
                  </a:lnTo>
                  <a:lnTo>
                    <a:pt x="178" y="111"/>
                  </a:lnTo>
                  <a:lnTo>
                    <a:pt x="156" y="104"/>
                  </a:lnTo>
                  <a:lnTo>
                    <a:pt x="141" y="104"/>
                  </a:lnTo>
                  <a:lnTo>
                    <a:pt x="149" y="104"/>
                  </a:lnTo>
                  <a:lnTo>
                    <a:pt x="156" y="104"/>
                  </a:lnTo>
                  <a:lnTo>
                    <a:pt x="163" y="104"/>
                  </a:lnTo>
                  <a:lnTo>
                    <a:pt x="178" y="104"/>
                  </a:lnTo>
                  <a:lnTo>
                    <a:pt x="178" y="97"/>
                  </a:lnTo>
                  <a:lnTo>
                    <a:pt x="200" y="74"/>
                  </a:lnTo>
                  <a:lnTo>
                    <a:pt x="223" y="52"/>
                  </a:lnTo>
                  <a:lnTo>
                    <a:pt x="230" y="52"/>
                  </a:lnTo>
                  <a:lnTo>
                    <a:pt x="230" y="45"/>
                  </a:lnTo>
                  <a:lnTo>
                    <a:pt x="237" y="37"/>
                  </a:lnTo>
                  <a:lnTo>
                    <a:pt x="230" y="30"/>
                  </a:lnTo>
                  <a:lnTo>
                    <a:pt x="237" y="30"/>
                  </a:lnTo>
                  <a:lnTo>
                    <a:pt x="230" y="22"/>
                  </a:lnTo>
                  <a:lnTo>
                    <a:pt x="223" y="22"/>
                  </a:lnTo>
                  <a:lnTo>
                    <a:pt x="223" y="15"/>
                  </a:lnTo>
                  <a:lnTo>
                    <a:pt x="223" y="8"/>
                  </a:lnTo>
                  <a:lnTo>
                    <a:pt x="208" y="8"/>
                  </a:lnTo>
                  <a:lnTo>
                    <a:pt x="200" y="8"/>
                  </a:lnTo>
                  <a:lnTo>
                    <a:pt x="193" y="0"/>
                  </a:lnTo>
                  <a:lnTo>
                    <a:pt x="186" y="8"/>
                  </a:lnTo>
                  <a:lnTo>
                    <a:pt x="178" y="8"/>
                  </a:lnTo>
                  <a:lnTo>
                    <a:pt x="186" y="8"/>
                  </a:lnTo>
                  <a:lnTo>
                    <a:pt x="193" y="8"/>
                  </a:lnTo>
                  <a:lnTo>
                    <a:pt x="186" y="8"/>
                  </a:lnTo>
                  <a:lnTo>
                    <a:pt x="186" y="15"/>
                  </a:lnTo>
                  <a:lnTo>
                    <a:pt x="171" y="15"/>
                  </a:lnTo>
                  <a:lnTo>
                    <a:pt x="171" y="8"/>
                  </a:lnTo>
                  <a:lnTo>
                    <a:pt x="163" y="8"/>
                  </a:lnTo>
                  <a:lnTo>
                    <a:pt x="156" y="15"/>
                  </a:lnTo>
                  <a:lnTo>
                    <a:pt x="149" y="15"/>
                  </a:lnTo>
                  <a:lnTo>
                    <a:pt x="134" y="15"/>
                  </a:lnTo>
                  <a:lnTo>
                    <a:pt x="126" y="15"/>
                  </a:lnTo>
                  <a:lnTo>
                    <a:pt x="119" y="15"/>
                  </a:lnTo>
                  <a:lnTo>
                    <a:pt x="112" y="15"/>
                  </a:lnTo>
                  <a:lnTo>
                    <a:pt x="112" y="22"/>
                  </a:lnTo>
                  <a:lnTo>
                    <a:pt x="104" y="15"/>
                  </a:lnTo>
                  <a:lnTo>
                    <a:pt x="104" y="22"/>
                  </a:lnTo>
                  <a:lnTo>
                    <a:pt x="97" y="30"/>
                  </a:lnTo>
                  <a:lnTo>
                    <a:pt x="97" y="22"/>
                  </a:lnTo>
                  <a:lnTo>
                    <a:pt x="89" y="15"/>
                  </a:lnTo>
                  <a:lnTo>
                    <a:pt x="82" y="15"/>
                  </a:lnTo>
                  <a:lnTo>
                    <a:pt x="82" y="22"/>
                  </a:lnTo>
                  <a:lnTo>
                    <a:pt x="75" y="30"/>
                  </a:lnTo>
                  <a:lnTo>
                    <a:pt x="67" y="30"/>
                  </a:lnTo>
                  <a:lnTo>
                    <a:pt x="67" y="22"/>
                  </a:lnTo>
                  <a:lnTo>
                    <a:pt x="75" y="22"/>
                  </a:lnTo>
                  <a:lnTo>
                    <a:pt x="67" y="15"/>
                  </a:lnTo>
                  <a:lnTo>
                    <a:pt x="60" y="15"/>
                  </a:lnTo>
                  <a:lnTo>
                    <a:pt x="52" y="15"/>
                  </a:lnTo>
                  <a:lnTo>
                    <a:pt x="45" y="8"/>
                  </a:lnTo>
                  <a:lnTo>
                    <a:pt x="37" y="15"/>
                  </a:lnTo>
                  <a:lnTo>
                    <a:pt x="30" y="15"/>
                  </a:lnTo>
                  <a:lnTo>
                    <a:pt x="30" y="22"/>
                  </a:lnTo>
                  <a:lnTo>
                    <a:pt x="23" y="22"/>
                  </a:lnTo>
                  <a:lnTo>
                    <a:pt x="30" y="30"/>
                  </a:lnTo>
                  <a:lnTo>
                    <a:pt x="37" y="30"/>
                  </a:lnTo>
                  <a:lnTo>
                    <a:pt x="37" y="37"/>
                  </a:lnTo>
                  <a:lnTo>
                    <a:pt x="45" y="37"/>
                  </a:lnTo>
                  <a:lnTo>
                    <a:pt x="45" y="45"/>
                  </a:lnTo>
                  <a:lnTo>
                    <a:pt x="37" y="37"/>
                  </a:lnTo>
                  <a:lnTo>
                    <a:pt x="37" y="45"/>
                  </a:lnTo>
                  <a:lnTo>
                    <a:pt x="30" y="45"/>
                  </a:lnTo>
                  <a:lnTo>
                    <a:pt x="37" y="45"/>
                  </a:lnTo>
                  <a:lnTo>
                    <a:pt x="37" y="52"/>
                  </a:lnTo>
                  <a:lnTo>
                    <a:pt x="45" y="52"/>
                  </a:lnTo>
                  <a:lnTo>
                    <a:pt x="52" y="52"/>
                  </a:lnTo>
                  <a:lnTo>
                    <a:pt x="60" y="52"/>
                  </a:lnTo>
                  <a:lnTo>
                    <a:pt x="67" y="59"/>
                  </a:lnTo>
                  <a:lnTo>
                    <a:pt x="60" y="59"/>
                  </a:lnTo>
                  <a:lnTo>
                    <a:pt x="52" y="59"/>
                  </a:lnTo>
                  <a:lnTo>
                    <a:pt x="45" y="52"/>
                  </a:lnTo>
                  <a:lnTo>
                    <a:pt x="37" y="52"/>
                  </a:lnTo>
                  <a:lnTo>
                    <a:pt x="30" y="52"/>
                  </a:lnTo>
                  <a:lnTo>
                    <a:pt x="30" y="59"/>
                  </a:lnTo>
                  <a:lnTo>
                    <a:pt x="23" y="52"/>
                  </a:lnTo>
                  <a:lnTo>
                    <a:pt x="15" y="52"/>
                  </a:lnTo>
                  <a:lnTo>
                    <a:pt x="15" y="59"/>
                  </a:lnTo>
                  <a:lnTo>
                    <a:pt x="23" y="59"/>
                  </a:lnTo>
                  <a:lnTo>
                    <a:pt x="30" y="67"/>
                  </a:lnTo>
                  <a:lnTo>
                    <a:pt x="37" y="67"/>
                  </a:lnTo>
                  <a:lnTo>
                    <a:pt x="37" y="74"/>
                  </a:lnTo>
                  <a:lnTo>
                    <a:pt x="30" y="74"/>
                  </a:lnTo>
                  <a:lnTo>
                    <a:pt x="23" y="74"/>
                  </a:lnTo>
                  <a:lnTo>
                    <a:pt x="23" y="82"/>
                  </a:lnTo>
                  <a:lnTo>
                    <a:pt x="30" y="82"/>
                  </a:lnTo>
                  <a:lnTo>
                    <a:pt x="37" y="89"/>
                  </a:lnTo>
                  <a:lnTo>
                    <a:pt x="45" y="89"/>
                  </a:lnTo>
                  <a:lnTo>
                    <a:pt x="52" y="89"/>
                  </a:lnTo>
                  <a:lnTo>
                    <a:pt x="52" y="97"/>
                  </a:lnTo>
                  <a:lnTo>
                    <a:pt x="67" y="104"/>
                  </a:lnTo>
                  <a:lnTo>
                    <a:pt x="60" y="104"/>
                  </a:lnTo>
                  <a:lnTo>
                    <a:pt x="52" y="97"/>
                  </a:lnTo>
                  <a:lnTo>
                    <a:pt x="45" y="97"/>
                  </a:lnTo>
                  <a:lnTo>
                    <a:pt x="37" y="97"/>
                  </a:lnTo>
                  <a:lnTo>
                    <a:pt x="30" y="97"/>
                  </a:lnTo>
                  <a:lnTo>
                    <a:pt x="37" y="97"/>
                  </a:lnTo>
                  <a:lnTo>
                    <a:pt x="45" y="97"/>
                  </a:lnTo>
                  <a:lnTo>
                    <a:pt x="45" y="104"/>
                  </a:lnTo>
                  <a:lnTo>
                    <a:pt x="52" y="104"/>
                  </a:lnTo>
                  <a:lnTo>
                    <a:pt x="45" y="104"/>
                  </a:lnTo>
                  <a:lnTo>
                    <a:pt x="37" y="104"/>
                  </a:lnTo>
                  <a:lnTo>
                    <a:pt x="30" y="104"/>
                  </a:lnTo>
                  <a:lnTo>
                    <a:pt x="23" y="97"/>
                  </a:lnTo>
                  <a:lnTo>
                    <a:pt x="15" y="97"/>
                  </a:lnTo>
                  <a:lnTo>
                    <a:pt x="15" y="104"/>
                  </a:lnTo>
                  <a:lnTo>
                    <a:pt x="23" y="104"/>
                  </a:lnTo>
                  <a:lnTo>
                    <a:pt x="30" y="111"/>
                  </a:lnTo>
                  <a:lnTo>
                    <a:pt x="30" y="119"/>
                  </a:lnTo>
                  <a:lnTo>
                    <a:pt x="23" y="119"/>
                  </a:lnTo>
                  <a:lnTo>
                    <a:pt x="23" y="111"/>
                  </a:lnTo>
                  <a:lnTo>
                    <a:pt x="15" y="104"/>
                  </a:lnTo>
                  <a:lnTo>
                    <a:pt x="8" y="104"/>
                  </a:lnTo>
                  <a:lnTo>
                    <a:pt x="0" y="104"/>
                  </a:lnTo>
                  <a:lnTo>
                    <a:pt x="0" y="111"/>
                  </a:lnTo>
                  <a:lnTo>
                    <a:pt x="8" y="119"/>
                  </a:lnTo>
                  <a:lnTo>
                    <a:pt x="15" y="119"/>
                  </a:lnTo>
                  <a:lnTo>
                    <a:pt x="23" y="126"/>
                  </a:lnTo>
                  <a:lnTo>
                    <a:pt x="15" y="126"/>
                  </a:lnTo>
                  <a:lnTo>
                    <a:pt x="15" y="134"/>
                  </a:lnTo>
                  <a:lnTo>
                    <a:pt x="23" y="134"/>
                  </a:lnTo>
                  <a:lnTo>
                    <a:pt x="30" y="141"/>
                  </a:lnTo>
                  <a:lnTo>
                    <a:pt x="37" y="141"/>
                  </a:lnTo>
                  <a:lnTo>
                    <a:pt x="45" y="141"/>
                  </a:lnTo>
                  <a:lnTo>
                    <a:pt x="52" y="141"/>
                  </a:lnTo>
                  <a:lnTo>
                    <a:pt x="52" y="148"/>
                  </a:lnTo>
                  <a:lnTo>
                    <a:pt x="45" y="148"/>
                  </a:lnTo>
                  <a:lnTo>
                    <a:pt x="37" y="148"/>
                  </a:lnTo>
                  <a:lnTo>
                    <a:pt x="30" y="148"/>
                  </a:lnTo>
                  <a:lnTo>
                    <a:pt x="30" y="141"/>
                  </a:lnTo>
                  <a:lnTo>
                    <a:pt x="23" y="141"/>
                  </a:lnTo>
                  <a:lnTo>
                    <a:pt x="15" y="141"/>
                  </a:lnTo>
                  <a:lnTo>
                    <a:pt x="23" y="148"/>
                  </a:lnTo>
                  <a:lnTo>
                    <a:pt x="15" y="148"/>
                  </a:lnTo>
                  <a:lnTo>
                    <a:pt x="23" y="148"/>
                  </a:lnTo>
                  <a:lnTo>
                    <a:pt x="23" y="156"/>
                  </a:lnTo>
                  <a:lnTo>
                    <a:pt x="30" y="156"/>
                  </a:lnTo>
                  <a:lnTo>
                    <a:pt x="30" y="163"/>
                  </a:lnTo>
                  <a:lnTo>
                    <a:pt x="37" y="171"/>
                  </a:lnTo>
                  <a:lnTo>
                    <a:pt x="45" y="163"/>
                  </a:lnTo>
                  <a:lnTo>
                    <a:pt x="52" y="163"/>
                  </a:lnTo>
                  <a:lnTo>
                    <a:pt x="60" y="163"/>
                  </a:lnTo>
                  <a:lnTo>
                    <a:pt x="67" y="163"/>
                  </a:lnTo>
                  <a:lnTo>
                    <a:pt x="60" y="171"/>
                  </a:lnTo>
                  <a:lnTo>
                    <a:pt x="52" y="171"/>
                  </a:lnTo>
                  <a:lnTo>
                    <a:pt x="45" y="171"/>
                  </a:lnTo>
                  <a:lnTo>
                    <a:pt x="52" y="178"/>
                  </a:lnTo>
                  <a:lnTo>
                    <a:pt x="60" y="178"/>
                  </a:lnTo>
                  <a:lnTo>
                    <a:pt x="67" y="178"/>
                  </a:lnTo>
                  <a:lnTo>
                    <a:pt x="75" y="178"/>
                  </a:lnTo>
                  <a:lnTo>
                    <a:pt x="75" y="185"/>
                  </a:lnTo>
                  <a:lnTo>
                    <a:pt x="67" y="185"/>
                  </a:lnTo>
                  <a:lnTo>
                    <a:pt x="60" y="185"/>
                  </a:lnTo>
                  <a:lnTo>
                    <a:pt x="60" y="193"/>
                  </a:lnTo>
                  <a:lnTo>
                    <a:pt x="67" y="193"/>
                  </a:lnTo>
                  <a:lnTo>
                    <a:pt x="67" y="200"/>
                  </a:lnTo>
                  <a:lnTo>
                    <a:pt x="75" y="200"/>
                  </a:lnTo>
                  <a:lnTo>
                    <a:pt x="82" y="200"/>
                  </a:lnTo>
                  <a:lnTo>
                    <a:pt x="75" y="200"/>
                  </a:lnTo>
                  <a:lnTo>
                    <a:pt x="67" y="200"/>
                  </a:lnTo>
                  <a:lnTo>
                    <a:pt x="60" y="200"/>
                  </a:lnTo>
                  <a:lnTo>
                    <a:pt x="52" y="208"/>
                  </a:lnTo>
                  <a:lnTo>
                    <a:pt x="60" y="208"/>
                  </a:lnTo>
                  <a:lnTo>
                    <a:pt x="67" y="208"/>
                  </a:lnTo>
                  <a:lnTo>
                    <a:pt x="75" y="208"/>
                  </a:lnTo>
                  <a:lnTo>
                    <a:pt x="82" y="215"/>
                  </a:lnTo>
                  <a:lnTo>
                    <a:pt x="75" y="215"/>
                  </a:lnTo>
                  <a:lnTo>
                    <a:pt x="67" y="215"/>
                  </a:lnTo>
                  <a:lnTo>
                    <a:pt x="60" y="215"/>
                  </a:lnTo>
                  <a:lnTo>
                    <a:pt x="52" y="215"/>
                  </a:lnTo>
                  <a:lnTo>
                    <a:pt x="52" y="222"/>
                  </a:lnTo>
                  <a:lnTo>
                    <a:pt x="60" y="230"/>
                  </a:lnTo>
                  <a:lnTo>
                    <a:pt x="67" y="230"/>
                  </a:lnTo>
                  <a:lnTo>
                    <a:pt x="75" y="230"/>
                  </a:lnTo>
                  <a:lnTo>
                    <a:pt x="75" y="237"/>
                  </a:lnTo>
                  <a:lnTo>
                    <a:pt x="67" y="237"/>
                  </a:lnTo>
                  <a:lnTo>
                    <a:pt x="60" y="237"/>
                  </a:lnTo>
                  <a:lnTo>
                    <a:pt x="67" y="237"/>
                  </a:lnTo>
                  <a:lnTo>
                    <a:pt x="75" y="237"/>
                  </a:lnTo>
                  <a:lnTo>
                    <a:pt x="67" y="237"/>
                  </a:lnTo>
                  <a:lnTo>
                    <a:pt x="67" y="245"/>
                  </a:lnTo>
                  <a:lnTo>
                    <a:pt x="60" y="245"/>
                  </a:lnTo>
                  <a:lnTo>
                    <a:pt x="52" y="237"/>
                  </a:lnTo>
                  <a:lnTo>
                    <a:pt x="45" y="245"/>
                  </a:lnTo>
                  <a:lnTo>
                    <a:pt x="37" y="245"/>
                  </a:lnTo>
                  <a:lnTo>
                    <a:pt x="30" y="245"/>
                  </a:lnTo>
                  <a:lnTo>
                    <a:pt x="37" y="252"/>
                  </a:lnTo>
                  <a:lnTo>
                    <a:pt x="45" y="252"/>
                  </a:lnTo>
                  <a:lnTo>
                    <a:pt x="52" y="252"/>
                  </a:lnTo>
                  <a:lnTo>
                    <a:pt x="60" y="252"/>
                  </a:lnTo>
                  <a:lnTo>
                    <a:pt x="67" y="252"/>
                  </a:lnTo>
                  <a:lnTo>
                    <a:pt x="75" y="252"/>
                  </a:lnTo>
                  <a:lnTo>
                    <a:pt x="82" y="252"/>
                  </a:lnTo>
                  <a:lnTo>
                    <a:pt x="89" y="252"/>
                  </a:lnTo>
                  <a:lnTo>
                    <a:pt x="82" y="252"/>
                  </a:lnTo>
                  <a:lnTo>
                    <a:pt x="75" y="259"/>
                  </a:lnTo>
                  <a:lnTo>
                    <a:pt x="60" y="259"/>
                  </a:lnTo>
                  <a:lnTo>
                    <a:pt x="67" y="267"/>
                  </a:lnTo>
                  <a:lnTo>
                    <a:pt x="82" y="267"/>
                  </a:lnTo>
                  <a:lnTo>
                    <a:pt x="89" y="267"/>
                  </a:lnTo>
                  <a:lnTo>
                    <a:pt x="97" y="274"/>
                  </a:lnTo>
                  <a:lnTo>
                    <a:pt x="104" y="274"/>
                  </a:lnTo>
                  <a:lnTo>
                    <a:pt x="104" y="267"/>
                  </a:lnTo>
                  <a:lnTo>
                    <a:pt x="112" y="267"/>
                  </a:lnTo>
                  <a:lnTo>
                    <a:pt x="112" y="259"/>
                  </a:lnTo>
                  <a:lnTo>
                    <a:pt x="119" y="252"/>
                  </a:lnTo>
                  <a:lnTo>
                    <a:pt x="126" y="252"/>
                  </a:lnTo>
                  <a:lnTo>
                    <a:pt x="126" y="245"/>
                  </a:lnTo>
                  <a:lnTo>
                    <a:pt x="134" y="237"/>
                  </a:lnTo>
                  <a:lnTo>
                    <a:pt x="141" y="237"/>
                  </a:lnTo>
                  <a:lnTo>
                    <a:pt x="134" y="245"/>
                  </a:lnTo>
                  <a:lnTo>
                    <a:pt x="141" y="252"/>
                  </a:lnTo>
                  <a:lnTo>
                    <a:pt x="134" y="252"/>
                  </a:lnTo>
                  <a:lnTo>
                    <a:pt x="126" y="252"/>
                  </a:lnTo>
                  <a:lnTo>
                    <a:pt x="126" y="259"/>
                  </a:lnTo>
                  <a:lnTo>
                    <a:pt x="126" y="267"/>
                  </a:lnTo>
                  <a:lnTo>
                    <a:pt x="134" y="267"/>
                  </a:lnTo>
                  <a:lnTo>
                    <a:pt x="134" y="274"/>
                  </a:lnTo>
                  <a:lnTo>
                    <a:pt x="126" y="274"/>
                  </a:lnTo>
                  <a:lnTo>
                    <a:pt x="134" y="274"/>
                  </a:lnTo>
                  <a:lnTo>
                    <a:pt x="141" y="282"/>
                  </a:lnTo>
                  <a:lnTo>
                    <a:pt x="149" y="282"/>
                  </a:lnTo>
                  <a:lnTo>
                    <a:pt x="149" y="274"/>
                  </a:lnTo>
                  <a:lnTo>
                    <a:pt x="156" y="282"/>
                  </a:lnTo>
                  <a:lnTo>
                    <a:pt x="141" y="282"/>
                  </a:lnTo>
                  <a:lnTo>
                    <a:pt x="134" y="282"/>
                  </a:lnTo>
                  <a:lnTo>
                    <a:pt x="126" y="282"/>
                  </a:lnTo>
                  <a:lnTo>
                    <a:pt x="126" y="289"/>
                  </a:lnTo>
                  <a:lnTo>
                    <a:pt x="126" y="296"/>
                  </a:lnTo>
                  <a:lnTo>
                    <a:pt x="119" y="296"/>
                  </a:lnTo>
                  <a:lnTo>
                    <a:pt x="119" y="304"/>
                  </a:lnTo>
                  <a:lnTo>
                    <a:pt x="126" y="304"/>
                  </a:lnTo>
                  <a:lnTo>
                    <a:pt x="134" y="304"/>
                  </a:lnTo>
                  <a:lnTo>
                    <a:pt x="126" y="304"/>
                  </a:lnTo>
                  <a:lnTo>
                    <a:pt x="126" y="311"/>
                  </a:lnTo>
                  <a:lnTo>
                    <a:pt x="134" y="319"/>
                  </a:lnTo>
                  <a:lnTo>
                    <a:pt x="134" y="311"/>
                  </a:lnTo>
                  <a:lnTo>
                    <a:pt x="141" y="319"/>
                  </a:lnTo>
                  <a:lnTo>
                    <a:pt x="134" y="319"/>
                  </a:lnTo>
                  <a:lnTo>
                    <a:pt x="134" y="326"/>
                  </a:lnTo>
                  <a:lnTo>
                    <a:pt x="126" y="333"/>
                  </a:lnTo>
                  <a:lnTo>
                    <a:pt x="126" y="341"/>
                  </a:lnTo>
                  <a:lnTo>
                    <a:pt x="126" y="348"/>
                  </a:lnTo>
                  <a:lnTo>
                    <a:pt x="126" y="341"/>
                  </a:lnTo>
                  <a:lnTo>
                    <a:pt x="134" y="341"/>
                  </a:lnTo>
                  <a:lnTo>
                    <a:pt x="134" y="333"/>
                  </a:lnTo>
                  <a:lnTo>
                    <a:pt x="141" y="341"/>
                  </a:lnTo>
                  <a:lnTo>
                    <a:pt x="134" y="341"/>
                  </a:lnTo>
                  <a:lnTo>
                    <a:pt x="134" y="348"/>
                  </a:lnTo>
                  <a:lnTo>
                    <a:pt x="126" y="348"/>
                  </a:lnTo>
                  <a:lnTo>
                    <a:pt x="134" y="356"/>
                  </a:lnTo>
                  <a:lnTo>
                    <a:pt x="141" y="348"/>
                  </a:lnTo>
                  <a:lnTo>
                    <a:pt x="141" y="356"/>
                  </a:lnTo>
                  <a:lnTo>
                    <a:pt x="134" y="356"/>
                  </a:lnTo>
                  <a:lnTo>
                    <a:pt x="134" y="363"/>
                  </a:lnTo>
                  <a:lnTo>
                    <a:pt x="141" y="363"/>
                  </a:lnTo>
                  <a:lnTo>
                    <a:pt x="149" y="371"/>
                  </a:lnTo>
                  <a:lnTo>
                    <a:pt x="149" y="363"/>
                  </a:lnTo>
                  <a:lnTo>
                    <a:pt x="149" y="356"/>
                  </a:lnTo>
                  <a:lnTo>
                    <a:pt x="156" y="363"/>
                  </a:lnTo>
                  <a:lnTo>
                    <a:pt x="156" y="371"/>
                  </a:lnTo>
                  <a:lnTo>
                    <a:pt x="149" y="371"/>
                  </a:lnTo>
                  <a:lnTo>
                    <a:pt x="141" y="371"/>
                  </a:lnTo>
                  <a:lnTo>
                    <a:pt x="149" y="378"/>
                  </a:lnTo>
                  <a:lnTo>
                    <a:pt x="149" y="385"/>
                  </a:lnTo>
                  <a:lnTo>
                    <a:pt x="141" y="385"/>
                  </a:lnTo>
                  <a:lnTo>
                    <a:pt x="149" y="393"/>
                  </a:lnTo>
                  <a:lnTo>
                    <a:pt x="149" y="400"/>
                  </a:lnTo>
                  <a:lnTo>
                    <a:pt x="149" y="408"/>
                  </a:lnTo>
                  <a:lnTo>
                    <a:pt x="149" y="415"/>
                  </a:lnTo>
                  <a:lnTo>
                    <a:pt x="149" y="422"/>
                  </a:lnTo>
                  <a:lnTo>
                    <a:pt x="156" y="422"/>
                  </a:lnTo>
                  <a:lnTo>
                    <a:pt x="163" y="422"/>
                  </a:lnTo>
                  <a:lnTo>
                    <a:pt x="171" y="422"/>
                  </a:lnTo>
                  <a:lnTo>
                    <a:pt x="178" y="422"/>
                  </a:lnTo>
                  <a:lnTo>
                    <a:pt x="178" y="415"/>
                  </a:lnTo>
                  <a:lnTo>
                    <a:pt x="171" y="408"/>
                  </a:lnTo>
                  <a:lnTo>
                    <a:pt x="171" y="400"/>
                  </a:lnTo>
                  <a:lnTo>
                    <a:pt x="171" y="393"/>
                  </a:lnTo>
                  <a:lnTo>
                    <a:pt x="171" y="385"/>
                  </a:lnTo>
                  <a:lnTo>
                    <a:pt x="171" y="378"/>
                  </a:lnTo>
                  <a:lnTo>
                    <a:pt x="171" y="371"/>
                  </a:lnTo>
                  <a:lnTo>
                    <a:pt x="178" y="371"/>
                  </a:lnTo>
                  <a:lnTo>
                    <a:pt x="171" y="371"/>
                  </a:lnTo>
                  <a:lnTo>
                    <a:pt x="171" y="363"/>
                  </a:lnTo>
                  <a:lnTo>
                    <a:pt x="163" y="356"/>
                  </a:lnTo>
                  <a:lnTo>
                    <a:pt x="163" y="348"/>
                  </a:lnTo>
                  <a:lnTo>
                    <a:pt x="156" y="348"/>
                  </a:lnTo>
                  <a:lnTo>
                    <a:pt x="156" y="341"/>
                  </a:lnTo>
                  <a:lnTo>
                    <a:pt x="156" y="333"/>
                  </a:lnTo>
                  <a:lnTo>
                    <a:pt x="163" y="326"/>
                  </a:lnTo>
                  <a:lnTo>
                    <a:pt x="163" y="319"/>
                  </a:lnTo>
                  <a:lnTo>
                    <a:pt x="171" y="319"/>
                  </a:lnTo>
                  <a:lnTo>
                    <a:pt x="178" y="311"/>
                  </a:lnTo>
                  <a:lnTo>
                    <a:pt x="186" y="304"/>
                  </a:lnTo>
                  <a:lnTo>
                    <a:pt x="193" y="304"/>
                  </a:lnTo>
                  <a:lnTo>
                    <a:pt x="193" y="311"/>
                  </a:lnTo>
                  <a:lnTo>
                    <a:pt x="178" y="319"/>
                  </a:lnTo>
                  <a:lnTo>
                    <a:pt x="171" y="326"/>
                  </a:lnTo>
                  <a:lnTo>
                    <a:pt x="163" y="333"/>
                  </a:lnTo>
                  <a:lnTo>
                    <a:pt x="163" y="341"/>
                  </a:lnTo>
                  <a:lnTo>
                    <a:pt x="163" y="348"/>
                  </a:lnTo>
                  <a:lnTo>
                    <a:pt x="171" y="356"/>
                  </a:lnTo>
                  <a:lnTo>
                    <a:pt x="178" y="356"/>
                  </a:lnTo>
                  <a:lnTo>
                    <a:pt x="178" y="348"/>
                  </a:lnTo>
                  <a:lnTo>
                    <a:pt x="171" y="341"/>
                  </a:lnTo>
                  <a:lnTo>
                    <a:pt x="178" y="341"/>
                  </a:lnTo>
                  <a:lnTo>
                    <a:pt x="186" y="348"/>
                  </a:lnTo>
                  <a:lnTo>
                    <a:pt x="186" y="341"/>
                  </a:lnTo>
                  <a:lnTo>
                    <a:pt x="193" y="341"/>
                  </a:lnTo>
                  <a:lnTo>
                    <a:pt x="193" y="348"/>
                  </a:lnTo>
                  <a:lnTo>
                    <a:pt x="200" y="348"/>
                  </a:lnTo>
                  <a:lnTo>
                    <a:pt x="200" y="356"/>
                  </a:lnTo>
                  <a:lnTo>
                    <a:pt x="208" y="356"/>
                  </a:lnTo>
                  <a:lnTo>
                    <a:pt x="208" y="348"/>
                  </a:lnTo>
                  <a:lnTo>
                    <a:pt x="208" y="341"/>
                  </a:lnTo>
                  <a:lnTo>
                    <a:pt x="208" y="333"/>
                  </a:lnTo>
                  <a:lnTo>
                    <a:pt x="208" y="326"/>
                  </a:lnTo>
                  <a:lnTo>
                    <a:pt x="200" y="326"/>
                  </a:lnTo>
                  <a:lnTo>
                    <a:pt x="200" y="319"/>
                  </a:lnTo>
                  <a:lnTo>
                    <a:pt x="208" y="319"/>
                  </a:lnTo>
                  <a:lnTo>
                    <a:pt x="208" y="326"/>
                  </a:lnTo>
                  <a:lnTo>
                    <a:pt x="215" y="333"/>
                  </a:lnTo>
                  <a:lnTo>
                    <a:pt x="215" y="341"/>
                  </a:lnTo>
                  <a:lnTo>
                    <a:pt x="223" y="341"/>
                  </a:lnTo>
                  <a:lnTo>
                    <a:pt x="223" y="333"/>
                  </a:lnTo>
                  <a:lnTo>
                    <a:pt x="230" y="341"/>
                  </a:lnTo>
                  <a:lnTo>
                    <a:pt x="237" y="341"/>
                  </a:lnTo>
                  <a:lnTo>
                    <a:pt x="245" y="341"/>
                  </a:lnTo>
                  <a:lnTo>
                    <a:pt x="252" y="348"/>
                  </a:lnTo>
                  <a:lnTo>
                    <a:pt x="260" y="348"/>
                  </a:lnTo>
                  <a:lnTo>
                    <a:pt x="252" y="348"/>
                  </a:lnTo>
                  <a:lnTo>
                    <a:pt x="245" y="348"/>
                  </a:lnTo>
                  <a:lnTo>
                    <a:pt x="237" y="348"/>
                  </a:lnTo>
                  <a:lnTo>
                    <a:pt x="230" y="341"/>
                  </a:lnTo>
                  <a:lnTo>
                    <a:pt x="223" y="341"/>
                  </a:lnTo>
                  <a:lnTo>
                    <a:pt x="215" y="341"/>
                  </a:lnTo>
                  <a:lnTo>
                    <a:pt x="215" y="348"/>
                  </a:lnTo>
                  <a:lnTo>
                    <a:pt x="215" y="356"/>
                  </a:lnTo>
                  <a:lnTo>
                    <a:pt x="223" y="363"/>
                  </a:lnTo>
                  <a:lnTo>
                    <a:pt x="230" y="371"/>
                  </a:lnTo>
                  <a:lnTo>
                    <a:pt x="230" y="378"/>
                  </a:lnTo>
                  <a:lnTo>
                    <a:pt x="245" y="385"/>
                  </a:lnTo>
                  <a:lnTo>
                    <a:pt x="252" y="385"/>
                  </a:lnTo>
                  <a:lnTo>
                    <a:pt x="252" y="393"/>
                  </a:lnTo>
                  <a:lnTo>
                    <a:pt x="260" y="400"/>
                  </a:lnTo>
                  <a:lnTo>
                    <a:pt x="260" y="408"/>
                  </a:lnTo>
                  <a:lnTo>
                    <a:pt x="252" y="415"/>
                  </a:lnTo>
                  <a:lnTo>
                    <a:pt x="245" y="422"/>
                  </a:lnTo>
                  <a:lnTo>
                    <a:pt x="252" y="430"/>
                  </a:lnTo>
                  <a:lnTo>
                    <a:pt x="245" y="437"/>
                  </a:lnTo>
                  <a:lnTo>
                    <a:pt x="245" y="445"/>
                  </a:lnTo>
                  <a:lnTo>
                    <a:pt x="245" y="452"/>
                  </a:lnTo>
                  <a:lnTo>
                    <a:pt x="245" y="459"/>
                  </a:lnTo>
                  <a:lnTo>
                    <a:pt x="252" y="459"/>
                  </a:lnTo>
                  <a:lnTo>
                    <a:pt x="252" y="467"/>
                  </a:lnTo>
                  <a:lnTo>
                    <a:pt x="260" y="474"/>
                  </a:lnTo>
                  <a:lnTo>
                    <a:pt x="260" y="482"/>
                  </a:lnTo>
                  <a:lnTo>
                    <a:pt x="252" y="474"/>
                  </a:lnTo>
                  <a:lnTo>
                    <a:pt x="245" y="467"/>
                  </a:lnTo>
                  <a:lnTo>
                    <a:pt x="245" y="459"/>
                  </a:lnTo>
                  <a:lnTo>
                    <a:pt x="237" y="467"/>
                  </a:lnTo>
                  <a:lnTo>
                    <a:pt x="237" y="474"/>
                  </a:lnTo>
                  <a:lnTo>
                    <a:pt x="245" y="482"/>
                  </a:lnTo>
                  <a:lnTo>
                    <a:pt x="245" y="489"/>
                  </a:lnTo>
                  <a:lnTo>
                    <a:pt x="252" y="489"/>
                  </a:lnTo>
                  <a:lnTo>
                    <a:pt x="267" y="496"/>
                  </a:lnTo>
                  <a:lnTo>
                    <a:pt x="274" y="504"/>
                  </a:lnTo>
                  <a:lnTo>
                    <a:pt x="282" y="511"/>
                  </a:lnTo>
                  <a:lnTo>
                    <a:pt x="289" y="511"/>
                  </a:lnTo>
                  <a:lnTo>
                    <a:pt x="297" y="511"/>
                  </a:lnTo>
                  <a:lnTo>
                    <a:pt x="289" y="511"/>
                  </a:lnTo>
                  <a:lnTo>
                    <a:pt x="289" y="504"/>
                  </a:lnTo>
                  <a:lnTo>
                    <a:pt x="282" y="496"/>
                  </a:lnTo>
                  <a:lnTo>
                    <a:pt x="274" y="489"/>
                  </a:lnTo>
                  <a:lnTo>
                    <a:pt x="282" y="489"/>
                  </a:lnTo>
                  <a:lnTo>
                    <a:pt x="289" y="489"/>
                  </a:lnTo>
                  <a:lnTo>
                    <a:pt x="297" y="489"/>
                  </a:lnTo>
                  <a:lnTo>
                    <a:pt x="304" y="496"/>
                  </a:lnTo>
                  <a:lnTo>
                    <a:pt x="319" y="504"/>
                  </a:lnTo>
                  <a:lnTo>
                    <a:pt x="334" y="504"/>
                  </a:lnTo>
                  <a:lnTo>
                    <a:pt x="334" y="511"/>
                  </a:lnTo>
                  <a:lnTo>
                    <a:pt x="341" y="504"/>
                  </a:lnTo>
                  <a:lnTo>
                    <a:pt x="334" y="496"/>
                  </a:lnTo>
                  <a:lnTo>
                    <a:pt x="334" y="489"/>
                  </a:lnTo>
                  <a:lnTo>
                    <a:pt x="326" y="489"/>
                  </a:lnTo>
                  <a:lnTo>
                    <a:pt x="319" y="482"/>
                  </a:lnTo>
                  <a:lnTo>
                    <a:pt x="319" y="474"/>
                  </a:lnTo>
                  <a:lnTo>
                    <a:pt x="326" y="482"/>
                  </a:lnTo>
                  <a:lnTo>
                    <a:pt x="334" y="489"/>
                  </a:lnTo>
                  <a:lnTo>
                    <a:pt x="341" y="489"/>
                  </a:lnTo>
                  <a:lnTo>
                    <a:pt x="348" y="489"/>
                  </a:lnTo>
                  <a:lnTo>
                    <a:pt x="348" y="496"/>
                  </a:lnTo>
                  <a:lnTo>
                    <a:pt x="356" y="489"/>
                  </a:lnTo>
                  <a:lnTo>
                    <a:pt x="363" y="489"/>
                  </a:lnTo>
                  <a:lnTo>
                    <a:pt x="371" y="496"/>
                  </a:lnTo>
                  <a:lnTo>
                    <a:pt x="378" y="496"/>
                  </a:lnTo>
                  <a:lnTo>
                    <a:pt x="378" y="489"/>
                  </a:lnTo>
                  <a:lnTo>
                    <a:pt x="385" y="489"/>
                  </a:lnTo>
                  <a:lnTo>
                    <a:pt x="385" y="482"/>
                  </a:lnTo>
                  <a:lnTo>
                    <a:pt x="408" y="482"/>
                  </a:lnTo>
                  <a:lnTo>
                    <a:pt x="408" y="474"/>
                  </a:lnTo>
                  <a:lnTo>
                    <a:pt x="400" y="467"/>
                  </a:lnTo>
                  <a:lnTo>
                    <a:pt x="400" y="459"/>
                  </a:lnTo>
                  <a:lnTo>
                    <a:pt x="408" y="467"/>
                  </a:lnTo>
                  <a:lnTo>
                    <a:pt x="415" y="467"/>
                  </a:lnTo>
                  <a:lnTo>
                    <a:pt x="423" y="467"/>
                  </a:lnTo>
                  <a:lnTo>
                    <a:pt x="460" y="467"/>
                  </a:lnTo>
                  <a:lnTo>
                    <a:pt x="467" y="459"/>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 name="Freeform 54">
              <a:extLst>
                <a:ext uri="{FF2B5EF4-FFF2-40B4-BE49-F238E27FC236}">
                  <a16:creationId xmlns:a16="http://schemas.microsoft.com/office/drawing/2014/main" id="{2C3FDB10-E314-01C0-0211-53A7DC20D3FD}"/>
                </a:ext>
              </a:extLst>
            </p:cNvPr>
            <p:cNvSpPr>
              <a:spLocks/>
            </p:cNvSpPr>
            <p:nvPr/>
          </p:nvSpPr>
          <p:spPr bwMode="auto">
            <a:xfrm>
              <a:off x="3577" y="2991"/>
              <a:ext cx="44" cy="23"/>
            </a:xfrm>
            <a:custGeom>
              <a:avLst/>
              <a:gdLst>
                <a:gd name="T0" fmla="*/ 37 w 44"/>
                <a:gd name="T1" fmla="*/ 8 h 23"/>
                <a:gd name="T2" fmla="*/ 37 w 44"/>
                <a:gd name="T3" fmla="*/ 8 h 23"/>
                <a:gd name="T4" fmla="*/ 44 w 44"/>
                <a:gd name="T5" fmla="*/ 15 h 23"/>
                <a:gd name="T6" fmla="*/ 44 w 44"/>
                <a:gd name="T7" fmla="*/ 23 h 23"/>
                <a:gd name="T8" fmla="*/ 30 w 44"/>
                <a:gd name="T9" fmla="*/ 23 h 23"/>
                <a:gd name="T10" fmla="*/ 30 w 44"/>
                <a:gd name="T11" fmla="*/ 15 h 23"/>
                <a:gd name="T12" fmla="*/ 22 w 44"/>
                <a:gd name="T13" fmla="*/ 15 h 23"/>
                <a:gd name="T14" fmla="*/ 15 w 44"/>
                <a:gd name="T15" fmla="*/ 8 h 23"/>
                <a:gd name="T16" fmla="*/ 15 w 44"/>
                <a:gd name="T17" fmla="*/ 15 h 23"/>
                <a:gd name="T18" fmla="*/ 7 w 44"/>
                <a:gd name="T19" fmla="*/ 15 h 23"/>
                <a:gd name="T20" fmla="*/ 0 w 44"/>
                <a:gd name="T21" fmla="*/ 8 h 23"/>
                <a:gd name="T22" fmla="*/ 0 w 44"/>
                <a:gd name="T23" fmla="*/ 8 h 23"/>
                <a:gd name="T24" fmla="*/ 7 w 44"/>
                <a:gd name="T25" fmla="*/ 0 h 23"/>
                <a:gd name="T26" fmla="*/ 15 w 44"/>
                <a:gd name="T27" fmla="*/ 0 h 23"/>
                <a:gd name="T28" fmla="*/ 15 w 44"/>
                <a:gd name="T29" fmla="*/ 0 h 23"/>
                <a:gd name="T30" fmla="*/ 22 w 44"/>
                <a:gd name="T31" fmla="*/ 0 h 23"/>
                <a:gd name="T32" fmla="*/ 30 w 44"/>
                <a:gd name="T33" fmla="*/ 0 h 23"/>
                <a:gd name="T34" fmla="*/ 37 w 44"/>
                <a:gd name="T35" fmla="*/ 8 h 23"/>
                <a:gd name="T36" fmla="*/ 37 w 44"/>
                <a:gd name="T37" fmla="*/ 8 h 2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4"/>
                <a:gd name="T58" fmla="*/ 0 h 23"/>
                <a:gd name="T59" fmla="*/ 44 w 44"/>
                <a:gd name="T60" fmla="*/ 23 h 2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4" h="23">
                  <a:moveTo>
                    <a:pt x="37" y="8"/>
                  </a:moveTo>
                  <a:lnTo>
                    <a:pt x="37" y="8"/>
                  </a:lnTo>
                  <a:lnTo>
                    <a:pt x="44" y="15"/>
                  </a:lnTo>
                  <a:lnTo>
                    <a:pt x="44" y="23"/>
                  </a:lnTo>
                  <a:lnTo>
                    <a:pt x="30" y="23"/>
                  </a:lnTo>
                  <a:lnTo>
                    <a:pt x="30" y="15"/>
                  </a:lnTo>
                  <a:lnTo>
                    <a:pt x="22" y="15"/>
                  </a:lnTo>
                  <a:lnTo>
                    <a:pt x="15" y="8"/>
                  </a:lnTo>
                  <a:lnTo>
                    <a:pt x="15" y="15"/>
                  </a:lnTo>
                  <a:lnTo>
                    <a:pt x="7" y="15"/>
                  </a:lnTo>
                  <a:lnTo>
                    <a:pt x="0" y="8"/>
                  </a:lnTo>
                  <a:lnTo>
                    <a:pt x="7" y="0"/>
                  </a:lnTo>
                  <a:lnTo>
                    <a:pt x="15" y="0"/>
                  </a:lnTo>
                  <a:lnTo>
                    <a:pt x="22" y="0"/>
                  </a:lnTo>
                  <a:lnTo>
                    <a:pt x="30" y="0"/>
                  </a:lnTo>
                  <a:lnTo>
                    <a:pt x="37" y="8"/>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 name="Freeform 55">
              <a:extLst>
                <a:ext uri="{FF2B5EF4-FFF2-40B4-BE49-F238E27FC236}">
                  <a16:creationId xmlns:a16="http://schemas.microsoft.com/office/drawing/2014/main" id="{C21E8E13-9FA9-B95A-91F7-1C15AB888992}"/>
                </a:ext>
              </a:extLst>
            </p:cNvPr>
            <p:cNvSpPr>
              <a:spLocks/>
            </p:cNvSpPr>
            <p:nvPr/>
          </p:nvSpPr>
          <p:spPr bwMode="auto">
            <a:xfrm>
              <a:off x="3607" y="3021"/>
              <a:ext cx="14" cy="8"/>
            </a:xfrm>
            <a:custGeom>
              <a:avLst/>
              <a:gdLst>
                <a:gd name="T0" fmla="*/ 14 w 14"/>
                <a:gd name="T1" fmla="*/ 8 h 8"/>
                <a:gd name="T2" fmla="*/ 7 w 14"/>
                <a:gd name="T3" fmla="*/ 8 h 8"/>
                <a:gd name="T4" fmla="*/ 0 w 14"/>
                <a:gd name="T5" fmla="*/ 0 h 8"/>
                <a:gd name="T6" fmla="*/ 7 w 14"/>
                <a:gd name="T7" fmla="*/ 0 h 8"/>
                <a:gd name="T8" fmla="*/ 14 w 14"/>
                <a:gd name="T9" fmla="*/ 0 h 8"/>
                <a:gd name="T10" fmla="*/ 14 w 14"/>
                <a:gd name="T11" fmla="*/ 8 h 8"/>
                <a:gd name="T12" fmla="*/ 14 w 14"/>
                <a:gd name="T13" fmla="*/ 8 h 8"/>
                <a:gd name="T14" fmla="*/ 0 60000 65536"/>
                <a:gd name="T15" fmla="*/ 0 60000 65536"/>
                <a:gd name="T16" fmla="*/ 0 60000 65536"/>
                <a:gd name="T17" fmla="*/ 0 60000 65536"/>
                <a:gd name="T18" fmla="*/ 0 60000 65536"/>
                <a:gd name="T19" fmla="*/ 0 60000 65536"/>
                <a:gd name="T20" fmla="*/ 0 60000 65536"/>
                <a:gd name="T21" fmla="*/ 0 w 14"/>
                <a:gd name="T22" fmla="*/ 0 h 8"/>
                <a:gd name="T23" fmla="*/ 14 w 14"/>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8">
                  <a:moveTo>
                    <a:pt x="14" y="8"/>
                  </a:moveTo>
                  <a:lnTo>
                    <a:pt x="7" y="8"/>
                  </a:lnTo>
                  <a:lnTo>
                    <a:pt x="0" y="0"/>
                  </a:lnTo>
                  <a:lnTo>
                    <a:pt x="7" y="0"/>
                  </a:lnTo>
                  <a:lnTo>
                    <a:pt x="14" y="0"/>
                  </a:lnTo>
                  <a:lnTo>
                    <a:pt x="14" y="8"/>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 name="Freeform 56">
              <a:extLst>
                <a:ext uri="{FF2B5EF4-FFF2-40B4-BE49-F238E27FC236}">
                  <a16:creationId xmlns:a16="http://schemas.microsoft.com/office/drawing/2014/main" id="{168B2162-4880-F6D1-9355-34C985A2BEB0}"/>
                </a:ext>
              </a:extLst>
            </p:cNvPr>
            <p:cNvSpPr>
              <a:spLocks/>
            </p:cNvSpPr>
            <p:nvPr/>
          </p:nvSpPr>
          <p:spPr bwMode="auto">
            <a:xfrm>
              <a:off x="3607" y="3036"/>
              <a:ext cx="7" cy="1"/>
            </a:xfrm>
            <a:custGeom>
              <a:avLst/>
              <a:gdLst>
                <a:gd name="T0" fmla="*/ 7 w 7"/>
                <a:gd name="T1" fmla="*/ 0 h 1"/>
                <a:gd name="T2" fmla="*/ 0 w 7"/>
                <a:gd name="T3" fmla="*/ 0 h 1"/>
                <a:gd name="T4" fmla="*/ 7 w 7"/>
                <a:gd name="T5" fmla="*/ 0 h 1"/>
                <a:gd name="T6" fmla="*/ 7 w 7"/>
                <a:gd name="T7" fmla="*/ 0 h 1"/>
                <a:gd name="T8" fmla="*/ 7 w 7"/>
                <a:gd name="T9" fmla="*/ 0 h 1"/>
                <a:gd name="T10" fmla="*/ 7 w 7"/>
                <a:gd name="T11" fmla="*/ 0 h 1"/>
                <a:gd name="T12" fmla="*/ 0 60000 65536"/>
                <a:gd name="T13" fmla="*/ 0 60000 65536"/>
                <a:gd name="T14" fmla="*/ 0 60000 65536"/>
                <a:gd name="T15" fmla="*/ 0 60000 65536"/>
                <a:gd name="T16" fmla="*/ 0 60000 65536"/>
                <a:gd name="T17" fmla="*/ 0 60000 65536"/>
                <a:gd name="T18" fmla="*/ 0 w 7"/>
                <a:gd name="T19" fmla="*/ 0 h 1"/>
                <a:gd name="T20" fmla="*/ 7 w 7"/>
                <a:gd name="T21" fmla="*/ 1 h 1"/>
              </a:gdLst>
              <a:ahLst/>
              <a:cxnLst>
                <a:cxn ang="T12">
                  <a:pos x="T0" y="T1"/>
                </a:cxn>
                <a:cxn ang="T13">
                  <a:pos x="T2" y="T3"/>
                </a:cxn>
                <a:cxn ang="T14">
                  <a:pos x="T4" y="T5"/>
                </a:cxn>
                <a:cxn ang="T15">
                  <a:pos x="T6" y="T7"/>
                </a:cxn>
                <a:cxn ang="T16">
                  <a:pos x="T8" y="T9"/>
                </a:cxn>
                <a:cxn ang="T17">
                  <a:pos x="T10" y="T11"/>
                </a:cxn>
              </a:cxnLst>
              <a:rect l="T18" t="T19" r="T20" b="T21"/>
              <a:pathLst>
                <a:path w="7" h="1">
                  <a:moveTo>
                    <a:pt x="7" y="0"/>
                  </a:moveTo>
                  <a:lnTo>
                    <a:pt x="0" y="0"/>
                  </a:lnTo>
                  <a:lnTo>
                    <a:pt x="7" y="0"/>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 name="Freeform 57">
              <a:extLst>
                <a:ext uri="{FF2B5EF4-FFF2-40B4-BE49-F238E27FC236}">
                  <a16:creationId xmlns:a16="http://schemas.microsoft.com/office/drawing/2014/main" id="{FA324943-817B-332E-D58B-E6C8AC9A2212}"/>
                </a:ext>
              </a:extLst>
            </p:cNvPr>
            <p:cNvSpPr>
              <a:spLocks/>
            </p:cNvSpPr>
            <p:nvPr/>
          </p:nvSpPr>
          <p:spPr bwMode="auto">
            <a:xfrm>
              <a:off x="3592" y="3043"/>
              <a:ext cx="15" cy="8"/>
            </a:xfrm>
            <a:custGeom>
              <a:avLst/>
              <a:gdLst>
                <a:gd name="T0" fmla="*/ 15 w 15"/>
                <a:gd name="T1" fmla="*/ 0 h 8"/>
                <a:gd name="T2" fmla="*/ 7 w 15"/>
                <a:gd name="T3" fmla="*/ 8 h 8"/>
                <a:gd name="T4" fmla="*/ 0 w 15"/>
                <a:gd name="T5" fmla="*/ 0 h 8"/>
                <a:gd name="T6" fmla="*/ 7 w 15"/>
                <a:gd name="T7" fmla="*/ 0 h 8"/>
                <a:gd name="T8" fmla="*/ 15 w 15"/>
                <a:gd name="T9" fmla="*/ 0 h 8"/>
                <a:gd name="T10" fmla="*/ 15 w 15"/>
                <a:gd name="T11" fmla="*/ 0 h 8"/>
                <a:gd name="T12" fmla="*/ 15 w 15"/>
                <a:gd name="T13" fmla="*/ 0 h 8"/>
                <a:gd name="T14" fmla="*/ 0 60000 65536"/>
                <a:gd name="T15" fmla="*/ 0 60000 65536"/>
                <a:gd name="T16" fmla="*/ 0 60000 65536"/>
                <a:gd name="T17" fmla="*/ 0 60000 65536"/>
                <a:gd name="T18" fmla="*/ 0 60000 65536"/>
                <a:gd name="T19" fmla="*/ 0 60000 65536"/>
                <a:gd name="T20" fmla="*/ 0 60000 65536"/>
                <a:gd name="T21" fmla="*/ 0 w 15"/>
                <a:gd name="T22" fmla="*/ 0 h 8"/>
                <a:gd name="T23" fmla="*/ 15 w 15"/>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8">
                  <a:moveTo>
                    <a:pt x="15" y="0"/>
                  </a:moveTo>
                  <a:lnTo>
                    <a:pt x="7" y="8"/>
                  </a:lnTo>
                  <a:lnTo>
                    <a:pt x="0" y="0"/>
                  </a:lnTo>
                  <a:lnTo>
                    <a:pt x="7" y="0"/>
                  </a:lnTo>
                  <a:lnTo>
                    <a:pt x="15" y="0"/>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 name="Freeform 58">
              <a:extLst>
                <a:ext uri="{FF2B5EF4-FFF2-40B4-BE49-F238E27FC236}">
                  <a16:creationId xmlns:a16="http://schemas.microsoft.com/office/drawing/2014/main" id="{A5C2898B-C53E-CA1B-D126-ADBD3E64F84A}"/>
                </a:ext>
              </a:extLst>
            </p:cNvPr>
            <p:cNvSpPr>
              <a:spLocks/>
            </p:cNvSpPr>
            <p:nvPr/>
          </p:nvSpPr>
          <p:spPr bwMode="auto">
            <a:xfrm>
              <a:off x="3673" y="3095"/>
              <a:ext cx="15" cy="8"/>
            </a:xfrm>
            <a:custGeom>
              <a:avLst/>
              <a:gdLst>
                <a:gd name="T0" fmla="*/ 15 w 15"/>
                <a:gd name="T1" fmla="*/ 8 h 8"/>
                <a:gd name="T2" fmla="*/ 0 w 15"/>
                <a:gd name="T3" fmla="*/ 0 h 8"/>
                <a:gd name="T4" fmla="*/ 0 w 15"/>
                <a:gd name="T5" fmla="*/ 0 h 8"/>
                <a:gd name="T6" fmla="*/ 8 w 15"/>
                <a:gd name="T7" fmla="*/ 0 h 8"/>
                <a:gd name="T8" fmla="*/ 15 w 15"/>
                <a:gd name="T9" fmla="*/ 0 h 8"/>
                <a:gd name="T10" fmla="*/ 15 w 15"/>
                <a:gd name="T11" fmla="*/ 8 h 8"/>
                <a:gd name="T12" fmla="*/ 15 w 15"/>
                <a:gd name="T13" fmla="*/ 8 h 8"/>
                <a:gd name="T14" fmla="*/ 0 60000 65536"/>
                <a:gd name="T15" fmla="*/ 0 60000 65536"/>
                <a:gd name="T16" fmla="*/ 0 60000 65536"/>
                <a:gd name="T17" fmla="*/ 0 60000 65536"/>
                <a:gd name="T18" fmla="*/ 0 60000 65536"/>
                <a:gd name="T19" fmla="*/ 0 60000 65536"/>
                <a:gd name="T20" fmla="*/ 0 60000 65536"/>
                <a:gd name="T21" fmla="*/ 0 w 15"/>
                <a:gd name="T22" fmla="*/ 0 h 8"/>
                <a:gd name="T23" fmla="*/ 15 w 15"/>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8">
                  <a:moveTo>
                    <a:pt x="15" y="8"/>
                  </a:moveTo>
                  <a:lnTo>
                    <a:pt x="0" y="0"/>
                  </a:lnTo>
                  <a:lnTo>
                    <a:pt x="8" y="0"/>
                  </a:lnTo>
                  <a:lnTo>
                    <a:pt x="15" y="0"/>
                  </a:lnTo>
                  <a:lnTo>
                    <a:pt x="15" y="8"/>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3" name="Freeform 59">
              <a:extLst>
                <a:ext uri="{FF2B5EF4-FFF2-40B4-BE49-F238E27FC236}">
                  <a16:creationId xmlns:a16="http://schemas.microsoft.com/office/drawing/2014/main" id="{96C4685D-4859-5FA1-AAFC-59FAFAADF332}"/>
                </a:ext>
              </a:extLst>
            </p:cNvPr>
            <p:cNvSpPr>
              <a:spLocks/>
            </p:cNvSpPr>
            <p:nvPr/>
          </p:nvSpPr>
          <p:spPr bwMode="auto">
            <a:xfrm>
              <a:off x="3673" y="3103"/>
              <a:ext cx="22" cy="7"/>
            </a:xfrm>
            <a:custGeom>
              <a:avLst/>
              <a:gdLst>
                <a:gd name="T0" fmla="*/ 15 w 22"/>
                <a:gd name="T1" fmla="*/ 7 h 7"/>
                <a:gd name="T2" fmla="*/ 8 w 22"/>
                <a:gd name="T3" fmla="*/ 7 h 7"/>
                <a:gd name="T4" fmla="*/ 0 w 22"/>
                <a:gd name="T5" fmla="*/ 7 h 7"/>
                <a:gd name="T6" fmla="*/ 0 w 22"/>
                <a:gd name="T7" fmla="*/ 0 h 7"/>
                <a:gd name="T8" fmla="*/ 15 w 22"/>
                <a:gd name="T9" fmla="*/ 0 h 7"/>
                <a:gd name="T10" fmla="*/ 22 w 22"/>
                <a:gd name="T11" fmla="*/ 7 h 7"/>
                <a:gd name="T12" fmla="*/ 22 w 22"/>
                <a:gd name="T13" fmla="*/ 7 h 7"/>
                <a:gd name="T14" fmla="*/ 15 w 22"/>
                <a:gd name="T15" fmla="*/ 7 h 7"/>
                <a:gd name="T16" fmla="*/ 15 w 22"/>
                <a:gd name="T17" fmla="*/ 7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7"/>
                <a:gd name="T29" fmla="*/ 22 w 22"/>
                <a:gd name="T30" fmla="*/ 7 h 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7">
                  <a:moveTo>
                    <a:pt x="15" y="7"/>
                  </a:moveTo>
                  <a:lnTo>
                    <a:pt x="8" y="7"/>
                  </a:lnTo>
                  <a:lnTo>
                    <a:pt x="0" y="7"/>
                  </a:lnTo>
                  <a:lnTo>
                    <a:pt x="0" y="0"/>
                  </a:lnTo>
                  <a:lnTo>
                    <a:pt x="15" y="0"/>
                  </a:lnTo>
                  <a:lnTo>
                    <a:pt x="22" y="7"/>
                  </a:lnTo>
                  <a:lnTo>
                    <a:pt x="15" y="7"/>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 name="Freeform 60">
              <a:extLst>
                <a:ext uri="{FF2B5EF4-FFF2-40B4-BE49-F238E27FC236}">
                  <a16:creationId xmlns:a16="http://schemas.microsoft.com/office/drawing/2014/main" id="{A3BFA3F4-9909-45FD-2AE1-E7BD1FA0C404}"/>
                </a:ext>
              </a:extLst>
            </p:cNvPr>
            <p:cNvSpPr>
              <a:spLocks/>
            </p:cNvSpPr>
            <p:nvPr/>
          </p:nvSpPr>
          <p:spPr bwMode="auto">
            <a:xfrm>
              <a:off x="3710" y="3110"/>
              <a:ext cx="8" cy="7"/>
            </a:xfrm>
            <a:custGeom>
              <a:avLst/>
              <a:gdLst>
                <a:gd name="T0" fmla="*/ 8 w 8"/>
                <a:gd name="T1" fmla="*/ 7 h 7"/>
                <a:gd name="T2" fmla="*/ 0 w 8"/>
                <a:gd name="T3" fmla="*/ 7 h 7"/>
                <a:gd name="T4" fmla="*/ 8 w 8"/>
                <a:gd name="T5" fmla="*/ 0 h 7"/>
                <a:gd name="T6" fmla="*/ 8 w 8"/>
                <a:gd name="T7" fmla="*/ 7 h 7"/>
                <a:gd name="T8" fmla="*/ 8 w 8"/>
                <a:gd name="T9" fmla="*/ 7 h 7"/>
                <a:gd name="T10" fmla="*/ 8 w 8"/>
                <a:gd name="T11" fmla="*/ 7 h 7"/>
                <a:gd name="T12" fmla="*/ 0 60000 65536"/>
                <a:gd name="T13" fmla="*/ 0 60000 65536"/>
                <a:gd name="T14" fmla="*/ 0 60000 65536"/>
                <a:gd name="T15" fmla="*/ 0 60000 65536"/>
                <a:gd name="T16" fmla="*/ 0 60000 65536"/>
                <a:gd name="T17" fmla="*/ 0 60000 65536"/>
                <a:gd name="T18" fmla="*/ 0 w 8"/>
                <a:gd name="T19" fmla="*/ 0 h 7"/>
                <a:gd name="T20" fmla="*/ 8 w 8"/>
                <a:gd name="T21" fmla="*/ 7 h 7"/>
              </a:gdLst>
              <a:ahLst/>
              <a:cxnLst>
                <a:cxn ang="T12">
                  <a:pos x="T0" y="T1"/>
                </a:cxn>
                <a:cxn ang="T13">
                  <a:pos x="T2" y="T3"/>
                </a:cxn>
                <a:cxn ang="T14">
                  <a:pos x="T4" y="T5"/>
                </a:cxn>
                <a:cxn ang="T15">
                  <a:pos x="T6" y="T7"/>
                </a:cxn>
                <a:cxn ang="T16">
                  <a:pos x="T8" y="T9"/>
                </a:cxn>
                <a:cxn ang="T17">
                  <a:pos x="T10" y="T11"/>
                </a:cxn>
              </a:cxnLst>
              <a:rect l="T18" t="T19" r="T20" b="T21"/>
              <a:pathLst>
                <a:path w="8" h="7">
                  <a:moveTo>
                    <a:pt x="8" y="7"/>
                  </a:moveTo>
                  <a:lnTo>
                    <a:pt x="0" y="7"/>
                  </a:lnTo>
                  <a:lnTo>
                    <a:pt x="8" y="0"/>
                  </a:lnTo>
                  <a:lnTo>
                    <a:pt x="8" y="7"/>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 name="Freeform 61">
              <a:extLst>
                <a:ext uri="{FF2B5EF4-FFF2-40B4-BE49-F238E27FC236}">
                  <a16:creationId xmlns:a16="http://schemas.microsoft.com/office/drawing/2014/main" id="{FFD48382-96AD-F45D-0D01-0C807466140D}"/>
                </a:ext>
              </a:extLst>
            </p:cNvPr>
            <p:cNvSpPr>
              <a:spLocks/>
            </p:cNvSpPr>
            <p:nvPr/>
          </p:nvSpPr>
          <p:spPr bwMode="auto">
            <a:xfrm>
              <a:off x="3792" y="3317"/>
              <a:ext cx="7" cy="8"/>
            </a:xfrm>
            <a:custGeom>
              <a:avLst/>
              <a:gdLst>
                <a:gd name="T0" fmla="*/ 0 w 7"/>
                <a:gd name="T1" fmla="*/ 8 h 8"/>
                <a:gd name="T2" fmla="*/ 0 w 7"/>
                <a:gd name="T3" fmla="*/ 0 h 8"/>
                <a:gd name="T4" fmla="*/ 7 w 7"/>
                <a:gd name="T5" fmla="*/ 0 h 8"/>
                <a:gd name="T6" fmla="*/ 7 w 7"/>
                <a:gd name="T7" fmla="*/ 8 h 8"/>
                <a:gd name="T8" fmla="*/ 0 w 7"/>
                <a:gd name="T9" fmla="*/ 8 h 8"/>
                <a:gd name="T10" fmla="*/ 0 w 7"/>
                <a:gd name="T11" fmla="*/ 8 h 8"/>
                <a:gd name="T12" fmla="*/ 0 60000 65536"/>
                <a:gd name="T13" fmla="*/ 0 60000 65536"/>
                <a:gd name="T14" fmla="*/ 0 60000 65536"/>
                <a:gd name="T15" fmla="*/ 0 60000 65536"/>
                <a:gd name="T16" fmla="*/ 0 60000 65536"/>
                <a:gd name="T17" fmla="*/ 0 60000 65536"/>
                <a:gd name="T18" fmla="*/ 0 w 7"/>
                <a:gd name="T19" fmla="*/ 0 h 8"/>
                <a:gd name="T20" fmla="*/ 7 w 7"/>
                <a:gd name="T21" fmla="*/ 8 h 8"/>
              </a:gdLst>
              <a:ahLst/>
              <a:cxnLst>
                <a:cxn ang="T12">
                  <a:pos x="T0" y="T1"/>
                </a:cxn>
                <a:cxn ang="T13">
                  <a:pos x="T2" y="T3"/>
                </a:cxn>
                <a:cxn ang="T14">
                  <a:pos x="T4" y="T5"/>
                </a:cxn>
                <a:cxn ang="T15">
                  <a:pos x="T6" y="T7"/>
                </a:cxn>
                <a:cxn ang="T16">
                  <a:pos x="T8" y="T9"/>
                </a:cxn>
                <a:cxn ang="T17">
                  <a:pos x="T10" y="T11"/>
                </a:cxn>
              </a:cxnLst>
              <a:rect l="T18" t="T19" r="T20" b="T21"/>
              <a:pathLst>
                <a:path w="7" h="8">
                  <a:moveTo>
                    <a:pt x="0" y="8"/>
                  </a:moveTo>
                  <a:lnTo>
                    <a:pt x="0" y="0"/>
                  </a:lnTo>
                  <a:lnTo>
                    <a:pt x="7" y="0"/>
                  </a:lnTo>
                  <a:lnTo>
                    <a:pt x="7" y="8"/>
                  </a:lnTo>
                  <a:lnTo>
                    <a:pt x="0" y="8"/>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6" name="Freeform 62">
              <a:extLst>
                <a:ext uri="{FF2B5EF4-FFF2-40B4-BE49-F238E27FC236}">
                  <a16:creationId xmlns:a16="http://schemas.microsoft.com/office/drawing/2014/main" id="{3615831B-7B7E-2E2D-4FA5-B86A0EACFD6E}"/>
                </a:ext>
              </a:extLst>
            </p:cNvPr>
            <p:cNvSpPr>
              <a:spLocks/>
            </p:cNvSpPr>
            <p:nvPr/>
          </p:nvSpPr>
          <p:spPr bwMode="auto">
            <a:xfrm>
              <a:off x="3799" y="3310"/>
              <a:ext cx="7" cy="7"/>
            </a:xfrm>
            <a:custGeom>
              <a:avLst/>
              <a:gdLst>
                <a:gd name="T0" fmla="*/ 0 w 7"/>
                <a:gd name="T1" fmla="*/ 7 h 7"/>
                <a:gd name="T2" fmla="*/ 0 w 7"/>
                <a:gd name="T3" fmla="*/ 7 h 7"/>
                <a:gd name="T4" fmla="*/ 0 w 7"/>
                <a:gd name="T5" fmla="*/ 0 h 7"/>
                <a:gd name="T6" fmla="*/ 0 w 7"/>
                <a:gd name="T7" fmla="*/ 0 h 7"/>
                <a:gd name="T8" fmla="*/ 0 w 7"/>
                <a:gd name="T9" fmla="*/ 0 h 7"/>
                <a:gd name="T10" fmla="*/ 7 w 7"/>
                <a:gd name="T11" fmla="*/ 0 h 7"/>
                <a:gd name="T12" fmla="*/ 7 w 7"/>
                <a:gd name="T13" fmla="*/ 7 h 7"/>
                <a:gd name="T14" fmla="*/ 0 w 7"/>
                <a:gd name="T15" fmla="*/ 7 h 7"/>
                <a:gd name="T16" fmla="*/ 0 w 7"/>
                <a:gd name="T17" fmla="*/ 7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
                <a:gd name="T28" fmla="*/ 0 h 7"/>
                <a:gd name="T29" fmla="*/ 7 w 7"/>
                <a:gd name="T30" fmla="*/ 7 h 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 h="7">
                  <a:moveTo>
                    <a:pt x="0" y="7"/>
                  </a:moveTo>
                  <a:lnTo>
                    <a:pt x="0" y="7"/>
                  </a:lnTo>
                  <a:lnTo>
                    <a:pt x="0" y="0"/>
                  </a:lnTo>
                  <a:lnTo>
                    <a:pt x="7" y="0"/>
                  </a:lnTo>
                  <a:lnTo>
                    <a:pt x="7" y="7"/>
                  </a:lnTo>
                  <a:lnTo>
                    <a:pt x="0" y="7"/>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 name="Freeform 63">
              <a:extLst>
                <a:ext uri="{FF2B5EF4-FFF2-40B4-BE49-F238E27FC236}">
                  <a16:creationId xmlns:a16="http://schemas.microsoft.com/office/drawing/2014/main" id="{118BD123-82C2-A4D1-D8DF-F4760A3CE9D2}"/>
                </a:ext>
              </a:extLst>
            </p:cNvPr>
            <p:cNvSpPr>
              <a:spLocks/>
            </p:cNvSpPr>
            <p:nvPr/>
          </p:nvSpPr>
          <p:spPr bwMode="auto">
            <a:xfrm>
              <a:off x="3732" y="2843"/>
              <a:ext cx="15" cy="1"/>
            </a:xfrm>
            <a:custGeom>
              <a:avLst/>
              <a:gdLst>
                <a:gd name="T0" fmla="*/ 8 w 15"/>
                <a:gd name="T1" fmla="*/ 0 h 1"/>
                <a:gd name="T2" fmla="*/ 0 w 15"/>
                <a:gd name="T3" fmla="*/ 0 h 1"/>
                <a:gd name="T4" fmla="*/ 0 w 15"/>
                <a:gd name="T5" fmla="*/ 0 h 1"/>
                <a:gd name="T6" fmla="*/ 8 w 15"/>
                <a:gd name="T7" fmla="*/ 0 h 1"/>
                <a:gd name="T8" fmla="*/ 15 w 15"/>
                <a:gd name="T9" fmla="*/ 0 h 1"/>
                <a:gd name="T10" fmla="*/ 15 w 15"/>
                <a:gd name="T11" fmla="*/ 0 h 1"/>
                <a:gd name="T12" fmla="*/ 8 w 15"/>
                <a:gd name="T13" fmla="*/ 0 h 1"/>
                <a:gd name="T14" fmla="*/ 8 w 15"/>
                <a:gd name="T15" fmla="*/ 0 h 1"/>
                <a:gd name="T16" fmla="*/ 0 60000 65536"/>
                <a:gd name="T17" fmla="*/ 0 60000 65536"/>
                <a:gd name="T18" fmla="*/ 0 60000 65536"/>
                <a:gd name="T19" fmla="*/ 0 60000 65536"/>
                <a:gd name="T20" fmla="*/ 0 60000 65536"/>
                <a:gd name="T21" fmla="*/ 0 60000 65536"/>
                <a:gd name="T22" fmla="*/ 0 60000 65536"/>
                <a:gd name="T23" fmla="*/ 0 60000 65536"/>
                <a:gd name="T24" fmla="*/ 0 w 15"/>
                <a:gd name="T25" fmla="*/ 0 h 1"/>
                <a:gd name="T26" fmla="*/ 15 w 15"/>
                <a:gd name="T27" fmla="*/ 1 h 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 h="1">
                  <a:moveTo>
                    <a:pt x="8" y="0"/>
                  </a:moveTo>
                  <a:lnTo>
                    <a:pt x="0" y="0"/>
                  </a:lnTo>
                  <a:lnTo>
                    <a:pt x="8" y="0"/>
                  </a:lnTo>
                  <a:lnTo>
                    <a:pt x="15" y="0"/>
                  </a:lnTo>
                  <a:lnTo>
                    <a:pt x="8" y="0"/>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8" name="Freeform 64">
              <a:extLst>
                <a:ext uri="{FF2B5EF4-FFF2-40B4-BE49-F238E27FC236}">
                  <a16:creationId xmlns:a16="http://schemas.microsoft.com/office/drawing/2014/main" id="{20E3AB62-DADD-CF08-9CFD-3CC6F4FEF437}"/>
                </a:ext>
              </a:extLst>
            </p:cNvPr>
            <p:cNvSpPr>
              <a:spLocks/>
            </p:cNvSpPr>
            <p:nvPr/>
          </p:nvSpPr>
          <p:spPr bwMode="auto">
            <a:xfrm>
              <a:off x="3947" y="2917"/>
              <a:ext cx="37" cy="30"/>
            </a:xfrm>
            <a:custGeom>
              <a:avLst/>
              <a:gdLst>
                <a:gd name="T0" fmla="*/ 8 w 37"/>
                <a:gd name="T1" fmla="*/ 30 h 30"/>
                <a:gd name="T2" fmla="*/ 0 w 37"/>
                <a:gd name="T3" fmla="*/ 23 h 30"/>
                <a:gd name="T4" fmla="*/ 8 w 37"/>
                <a:gd name="T5" fmla="*/ 15 h 30"/>
                <a:gd name="T6" fmla="*/ 0 w 37"/>
                <a:gd name="T7" fmla="*/ 0 h 30"/>
                <a:gd name="T8" fmla="*/ 0 w 37"/>
                <a:gd name="T9" fmla="*/ 0 h 30"/>
                <a:gd name="T10" fmla="*/ 8 w 37"/>
                <a:gd name="T11" fmla="*/ 0 h 30"/>
                <a:gd name="T12" fmla="*/ 15 w 37"/>
                <a:gd name="T13" fmla="*/ 0 h 30"/>
                <a:gd name="T14" fmla="*/ 22 w 37"/>
                <a:gd name="T15" fmla="*/ 0 h 30"/>
                <a:gd name="T16" fmla="*/ 37 w 37"/>
                <a:gd name="T17" fmla="*/ 0 h 30"/>
                <a:gd name="T18" fmla="*/ 37 w 37"/>
                <a:gd name="T19" fmla="*/ 8 h 30"/>
                <a:gd name="T20" fmla="*/ 37 w 37"/>
                <a:gd name="T21" fmla="*/ 8 h 30"/>
                <a:gd name="T22" fmla="*/ 37 w 37"/>
                <a:gd name="T23" fmla="*/ 23 h 30"/>
                <a:gd name="T24" fmla="*/ 30 w 37"/>
                <a:gd name="T25" fmla="*/ 30 h 30"/>
                <a:gd name="T26" fmla="*/ 22 w 37"/>
                <a:gd name="T27" fmla="*/ 30 h 30"/>
                <a:gd name="T28" fmla="*/ 8 w 37"/>
                <a:gd name="T29" fmla="*/ 30 h 30"/>
                <a:gd name="T30" fmla="*/ 8 w 37"/>
                <a:gd name="T31" fmla="*/ 30 h 3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7"/>
                <a:gd name="T49" fmla="*/ 0 h 30"/>
                <a:gd name="T50" fmla="*/ 37 w 37"/>
                <a:gd name="T51" fmla="*/ 30 h 3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7" h="30">
                  <a:moveTo>
                    <a:pt x="8" y="30"/>
                  </a:moveTo>
                  <a:lnTo>
                    <a:pt x="0" y="23"/>
                  </a:lnTo>
                  <a:lnTo>
                    <a:pt x="8" y="15"/>
                  </a:lnTo>
                  <a:lnTo>
                    <a:pt x="0" y="0"/>
                  </a:lnTo>
                  <a:lnTo>
                    <a:pt x="8" y="0"/>
                  </a:lnTo>
                  <a:lnTo>
                    <a:pt x="15" y="0"/>
                  </a:lnTo>
                  <a:lnTo>
                    <a:pt x="22" y="0"/>
                  </a:lnTo>
                  <a:lnTo>
                    <a:pt x="37" y="0"/>
                  </a:lnTo>
                  <a:lnTo>
                    <a:pt x="37" y="8"/>
                  </a:lnTo>
                  <a:lnTo>
                    <a:pt x="37" y="23"/>
                  </a:lnTo>
                  <a:lnTo>
                    <a:pt x="30" y="30"/>
                  </a:lnTo>
                  <a:lnTo>
                    <a:pt x="22" y="30"/>
                  </a:lnTo>
                  <a:lnTo>
                    <a:pt x="8" y="30"/>
                  </a:lnTo>
                  <a:close/>
                </a:path>
              </a:pathLst>
            </a:custGeom>
            <a:solidFill>
              <a:srgbClr val="B3E3E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9" name="Freeform 65">
              <a:extLst>
                <a:ext uri="{FF2B5EF4-FFF2-40B4-BE49-F238E27FC236}">
                  <a16:creationId xmlns:a16="http://schemas.microsoft.com/office/drawing/2014/main" id="{AC1B4B63-6B4B-786C-0E31-B49662D0F38A}"/>
                </a:ext>
              </a:extLst>
            </p:cNvPr>
            <p:cNvSpPr>
              <a:spLocks/>
            </p:cNvSpPr>
            <p:nvPr/>
          </p:nvSpPr>
          <p:spPr bwMode="auto">
            <a:xfrm>
              <a:off x="2503" y="2562"/>
              <a:ext cx="733" cy="1614"/>
            </a:xfrm>
            <a:custGeom>
              <a:avLst/>
              <a:gdLst>
                <a:gd name="T0" fmla="*/ 526 w 733"/>
                <a:gd name="T1" fmla="*/ 0 h 1614"/>
                <a:gd name="T2" fmla="*/ 733 w 733"/>
                <a:gd name="T3" fmla="*/ 0 h 1614"/>
                <a:gd name="T4" fmla="*/ 30 w 733"/>
                <a:gd name="T5" fmla="*/ 1614 h 1614"/>
                <a:gd name="T6" fmla="*/ 0 w 733"/>
                <a:gd name="T7" fmla="*/ 1614 h 1614"/>
                <a:gd name="T8" fmla="*/ 526 w 733"/>
                <a:gd name="T9" fmla="*/ 0 h 1614"/>
                <a:gd name="T10" fmla="*/ 0 60000 65536"/>
                <a:gd name="T11" fmla="*/ 0 60000 65536"/>
                <a:gd name="T12" fmla="*/ 0 60000 65536"/>
                <a:gd name="T13" fmla="*/ 0 60000 65536"/>
                <a:gd name="T14" fmla="*/ 0 60000 65536"/>
                <a:gd name="T15" fmla="*/ 0 w 733"/>
                <a:gd name="T16" fmla="*/ 0 h 1614"/>
                <a:gd name="T17" fmla="*/ 733 w 733"/>
                <a:gd name="T18" fmla="*/ 1614 h 1614"/>
              </a:gdLst>
              <a:ahLst/>
              <a:cxnLst>
                <a:cxn ang="T10">
                  <a:pos x="T0" y="T1"/>
                </a:cxn>
                <a:cxn ang="T11">
                  <a:pos x="T2" y="T3"/>
                </a:cxn>
                <a:cxn ang="T12">
                  <a:pos x="T4" y="T5"/>
                </a:cxn>
                <a:cxn ang="T13">
                  <a:pos x="T6" y="T7"/>
                </a:cxn>
                <a:cxn ang="T14">
                  <a:pos x="T8" y="T9"/>
                </a:cxn>
              </a:cxnLst>
              <a:rect l="T15" t="T16" r="T17" b="T18"/>
              <a:pathLst>
                <a:path w="733" h="1614">
                  <a:moveTo>
                    <a:pt x="526" y="0"/>
                  </a:moveTo>
                  <a:lnTo>
                    <a:pt x="733" y="0"/>
                  </a:lnTo>
                  <a:lnTo>
                    <a:pt x="30" y="1614"/>
                  </a:lnTo>
                  <a:lnTo>
                    <a:pt x="0" y="1614"/>
                  </a:lnTo>
                  <a:lnTo>
                    <a:pt x="526" y="0"/>
                  </a:lnTo>
                  <a:close/>
                </a:path>
              </a:pathLst>
            </a:custGeom>
            <a:solidFill>
              <a:srgbClr val="FB6747"/>
            </a:solidFill>
            <a:ln w="11113">
              <a:solidFill>
                <a:srgbClr val="000000"/>
              </a:solidFill>
              <a:prstDash val="solid"/>
              <a:round/>
              <a:headEnd/>
              <a:tailEnd/>
            </a:ln>
          </p:spPr>
          <p:txBody>
            <a:bodyPr/>
            <a:lstStyle/>
            <a:p>
              <a:endParaRPr lang="en-US"/>
            </a:p>
          </p:txBody>
        </p:sp>
        <p:sp>
          <p:nvSpPr>
            <p:cNvPr id="80" name="Freeform 66">
              <a:extLst>
                <a:ext uri="{FF2B5EF4-FFF2-40B4-BE49-F238E27FC236}">
                  <a16:creationId xmlns:a16="http://schemas.microsoft.com/office/drawing/2014/main" id="{C1141279-CEE4-2173-576D-7C8082A7416B}"/>
                </a:ext>
              </a:extLst>
            </p:cNvPr>
            <p:cNvSpPr>
              <a:spLocks/>
            </p:cNvSpPr>
            <p:nvPr/>
          </p:nvSpPr>
          <p:spPr bwMode="auto">
            <a:xfrm>
              <a:off x="2488" y="2399"/>
              <a:ext cx="534" cy="1770"/>
            </a:xfrm>
            <a:custGeom>
              <a:avLst/>
              <a:gdLst>
                <a:gd name="T0" fmla="*/ 0 w 534"/>
                <a:gd name="T1" fmla="*/ 1748 h 1770"/>
                <a:gd name="T2" fmla="*/ 459 w 534"/>
                <a:gd name="T3" fmla="*/ 0 h 1770"/>
                <a:gd name="T4" fmla="*/ 534 w 534"/>
                <a:gd name="T5" fmla="*/ 156 h 1770"/>
                <a:gd name="T6" fmla="*/ 8 w 534"/>
                <a:gd name="T7" fmla="*/ 1770 h 1770"/>
                <a:gd name="T8" fmla="*/ 0 w 534"/>
                <a:gd name="T9" fmla="*/ 1748 h 1770"/>
                <a:gd name="T10" fmla="*/ 0 60000 65536"/>
                <a:gd name="T11" fmla="*/ 0 60000 65536"/>
                <a:gd name="T12" fmla="*/ 0 60000 65536"/>
                <a:gd name="T13" fmla="*/ 0 60000 65536"/>
                <a:gd name="T14" fmla="*/ 0 60000 65536"/>
                <a:gd name="T15" fmla="*/ 0 w 534"/>
                <a:gd name="T16" fmla="*/ 0 h 1770"/>
                <a:gd name="T17" fmla="*/ 534 w 534"/>
                <a:gd name="T18" fmla="*/ 1770 h 1770"/>
              </a:gdLst>
              <a:ahLst/>
              <a:cxnLst>
                <a:cxn ang="T10">
                  <a:pos x="T0" y="T1"/>
                </a:cxn>
                <a:cxn ang="T11">
                  <a:pos x="T2" y="T3"/>
                </a:cxn>
                <a:cxn ang="T12">
                  <a:pos x="T4" y="T5"/>
                </a:cxn>
                <a:cxn ang="T13">
                  <a:pos x="T6" y="T7"/>
                </a:cxn>
                <a:cxn ang="T14">
                  <a:pos x="T8" y="T9"/>
                </a:cxn>
              </a:cxnLst>
              <a:rect l="T15" t="T16" r="T17" b="T18"/>
              <a:pathLst>
                <a:path w="534" h="1770">
                  <a:moveTo>
                    <a:pt x="0" y="1748"/>
                  </a:moveTo>
                  <a:lnTo>
                    <a:pt x="459" y="0"/>
                  </a:lnTo>
                  <a:lnTo>
                    <a:pt x="534" y="156"/>
                  </a:lnTo>
                  <a:lnTo>
                    <a:pt x="8" y="1770"/>
                  </a:lnTo>
                  <a:lnTo>
                    <a:pt x="0" y="1748"/>
                  </a:lnTo>
                  <a:close/>
                </a:path>
              </a:pathLst>
            </a:custGeom>
            <a:solidFill>
              <a:srgbClr val="FB805F"/>
            </a:solidFill>
            <a:ln w="11113">
              <a:solidFill>
                <a:srgbClr val="000000"/>
              </a:solidFill>
              <a:prstDash val="solid"/>
              <a:round/>
              <a:headEnd/>
              <a:tailEnd/>
            </a:ln>
          </p:spPr>
          <p:txBody>
            <a:bodyPr/>
            <a:lstStyle/>
            <a:p>
              <a:endParaRPr lang="en-US"/>
            </a:p>
          </p:txBody>
        </p:sp>
        <p:sp>
          <p:nvSpPr>
            <p:cNvPr id="81" name="Freeform 67">
              <a:extLst>
                <a:ext uri="{FF2B5EF4-FFF2-40B4-BE49-F238E27FC236}">
                  <a16:creationId xmlns:a16="http://schemas.microsoft.com/office/drawing/2014/main" id="{945217AA-910C-03D5-D533-1C885C6343AA}"/>
                </a:ext>
              </a:extLst>
            </p:cNvPr>
            <p:cNvSpPr>
              <a:spLocks/>
            </p:cNvSpPr>
            <p:nvPr/>
          </p:nvSpPr>
          <p:spPr bwMode="auto">
            <a:xfrm>
              <a:off x="2940" y="2436"/>
              <a:ext cx="281" cy="148"/>
            </a:xfrm>
            <a:custGeom>
              <a:avLst/>
              <a:gdLst>
                <a:gd name="T0" fmla="*/ 281 w 281"/>
                <a:gd name="T1" fmla="*/ 148 h 148"/>
                <a:gd name="T2" fmla="*/ 74 w 281"/>
                <a:gd name="T3" fmla="*/ 148 h 148"/>
                <a:gd name="T4" fmla="*/ 0 w 281"/>
                <a:gd name="T5" fmla="*/ 0 h 148"/>
                <a:gd name="T6" fmla="*/ 0 60000 65536"/>
                <a:gd name="T7" fmla="*/ 0 60000 65536"/>
                <a:gd name="T8" fmla="*/ 0 60000 65536"/>
                <a:gd name="T9" fmla="*/ 0 w 281"/>
                <a:gd name="T10" fmla="*/ 0 h 148"/>
                <a:gd name="T11" fmla="*/ 281 w 281"/>
                <a:gd name="T12" fmla="*/ 148 h 148"/>
              </a:gdLst>
              <a:ahLst/>
              <a:cxnLst>
                <a:cxn ang="T6">
                  <a:pos x="T0" y="T1"/>
                </a:cxn>
                <a:cxn ang="T7">
                  <a:pos x="T2" y="T3"/>
                </a:cxn>
                <a:cxn ang="T8">
                  <a:pos x="T4" y="T5"/>
                </a:cxn>
              </a:cxnLst>
              <a:rect l="T9" t="T10" r="T11" b="T12"/>
              <a:pathLst>
                <a:path w="281" h="148">
                  <a:moveTo>
                    <a:pt x="281" y="148"/>
                  </a:moveTo>
                  <a:lnTo>
                    <a:pt x="74" y="148"/>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68">
              <a:extLst>
                <a:ext uri="{FF2B5EF4-FFF2-40B4-BE49-F238E27FC236}">
                  <a16:creationId xmlns:a16="http://schemas.microsoft.com/office/drawing/2014/main" id="{5130FB6F-F5B7-F7F5-66A7-54D5C3508C47}"/>
                </a:ext>
              </a:extLst>
            </p:cNvPr>
            <p:cNvSpPr>
              <a:spLocks/>
            </p:cNvSpPr>
            <p:nvPr/>
          </p:nvSpPr>
          <p:spPr bwMode="auto">
            <a:xfrm>
              <a:off x="2947" y="2414"/>
              <a:ext cx="282" cy="148"/>
            </a:xfrm>
            <a:custGeom>
              <a:avLst/>
              <a:gdLst>
                <a:gd name="T0" fmla="*/ 282 w 282"/>
                <a:gd name="T1" fmla="*/ 148 h 148"/>
                <a:gd name="T2" fmla="*/ 75 w 282"/>
                <a:gd name="T3" fmla="*/ 148 h 148"/>
                <a:gd name="T4" fmla="*/ 0 w 282"/>
                <a:gd name="T5" fmla="*/ 0 h 148"/>
                <a:gd name="T6" fmla="*/ 0 60000 65536"/>
                <a:gd name="T7" fmla="*/ 0 60000 65536"/>
                <a:gd name="T8" fmla="*/ 0 60000 65536"/>
                <a:gd name="T9" fmla="*/ 0 w 282"/>
                <a:gd name="T10" fmla="*/ 0 h 148"/>
                <a:gd name="T11" fmla="*/ 282 w 282"/>
                <a:gd name="T12" fmla="*/ 148 h 148"/>
              </a:gdLst>
              <a:ahLst/>
              <a:cxnLst>
                <a:cxn ang="T6">
                  <a:pos x="T0" y="T1"/>
                </a:cxn>
                <a:cxn ang="T7">
                  <a:pos x="T2" y="T3"/>
                </a:cxn>
                <a:cxn ang="T8">
                  <a:pos x="T4" y="T5"/>
                </a:cxn>
              </a:cxnLst>
              <a:rect l="T9" t="T10" r="T11" b="T12"/>
              <a:pathLst>
                <a:path w="282" h="148">
                  <a:moveTo>
                    <a:pt x="282" y="148"/>
                  </a:moveTo>
                  <a:lnTo>
                    <a:pt x="75" y="148"/>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69">
              <a:extLst>
                <a:ext uri="{FF2B5EF4-FFF2-40B4-BE49-F238E27FC236}">
                  <a16:creationId xmlns:a16="http://schemas.microsoft.com/office/drawing/2014/main" id="{C1472380-A9A6-A22B-06DA-20249A83FDFA}"/>
                </a:ext>
              </a:extLst>
            </p:cNvPr>
            <p:cNvSpPr>
              <a:spLocks/>
            </p:cNvSpPr>
            <p:nvPr/>
          </p:nvSpPr>
          <p:spPr bwMode="auto">
            <a:xfrm>
              <a:off x="2933" y="2458"/>
              <a:ext cx="274" cy="148"/>
            </a:xfrm>
            <a:custGeom>
              <a:avLst/>
              <a:gdLst>
                <a:gd name="T0" fmla="*/ 274 w 274"/>
                <a:gd name="T1" fmla="*/ 148 h 148"/>
                <a:gd name="T2" fmla="*/ 74 w 274"/>
                <a:gd name="T3" fmla="*/ 148 h 148"/>
                <a:gd name="T4" fmla="*/ 0 w 274"/>
                <a:gd name="T5" fmla="*/ 0 h 148"/>
                <a:gd name="T6" fmla="*/ 0 60000 65536"/>
                <a:gd name="T7" fmla="*/ 0 60000 65536"/>
                <a:gd name="T8" fmla="*/ 0 60000 65536"/>
                <a:gd name="T9" fmla="*/ 0 w 274"/>
                <a:gd name="T10" fmla="*/ 0 h 148"/>
                <a:gd name="T11" fmla="*/ 274 w 274"/>
                <a:gd name="T12" fmla="*/ 148 h 148"/>
              </a:gdLst>
              <a:ahLst/>
              <a:cxnLst>
                <a:cxn ang="T6">
                  <a:pos x="T0" y="T1"/>
                </a:cxn>
                <a:cxn ang="T7">
                  <a:pos x="T2" y="T3"/>
                </a:cxn>
                <a:cxn ang="T8">
                  <a:pos x="T4" y="T5"/>
                </a:cxn>
              </a:cxnLst>
              <a:rect l="T9" t="T10" r="T11" b="T12"/>
              <a:pathLst>
                <a:path w="274" h="148">
                  <a:moveTo>
                    <a:pt x="274" y="148"/>
                  </a:moveTo>
                  <a:lnTo>
                    <a:pt x="74" y="148"/>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70">
              <a:extLst>
                <a:ext uri="{FF2B5EF4-FFF2-40B4-BE49-F238E27FC236}">
                  <a16:creationId xmlns:a16="http://schemas.microsoft.com/office/drawing/2014/main" id="{158D0F76-306E-3E96-F68F-C52EE12385B1}"/>
                </a:ext>
              </a:extLst>
            </p:cNvPr>
            <p:cNvSpPr>
              <a:spLocks/>
            </p:cNvSpPr>
            <p:nvPr/>
          </p:nvSpPr>
          <p:spPr bwMode="auto">
            <a:xfrm>
              <a:off x="2925" y="2488"/>
              <a:ext cx="267" cy="148"/>
            </a:xfrm>
            <a:custGeom>
              <a:avLst/>
              <a:gdLst>
                <a:gd name="T0" fmla="*/ 267 w 267"/>
                <a:gd name="T1" fmla="*/ 148 h 148"/>
                <a:gd name="T2" fmla="*/ 74 w 267"/>
                <a:gd name="T3" fmla="*/ 148 h 148"/>
                <a:gd name="T4" fmla="*/ 0 w 267"/>
                <a:gd name="T5" fmla="*/ 0 h 148"/>
                <a:gd name="T6" fmla="*/ 0 60000 65536"/>
                <a:gd name="T7" fmla="*/ 0 60000 65536"/>
                <a:gd name="T8" fmla="*/ 0 60000 65536"/>
                <a:gd name="T9" fmla="*/ 0 w 267"/>
                <a:gd name="T10" fmla="*/ 0 h 148"/>
                <a:gd name="T11" fmla="*/ 267 w 267"/>
                <a:gd name="T12" fmla="*/ 148 h 148"/>
              </a:gdLst>
              <a:ahLst/>
              <a:cxnLst>
                <a:cxn ang="T6">
                  <a:pos x="T0" y="T1"/>
                </a:cxn>
                <a:cxn ang="T7">
                  <a:pos x="T2" y="T3"/>
                </a:cxn>
                <a:cxn ang="T8">
                  <a:pos x="T4" y="T5"/>
                </a:cxn>
              </a:cxnLst>
              <a:rect l="T9" t="T10" r="T11" b="T12"/>
              <a:pathLst>
                <a:path w="267" h="148">
                  <a:moveTo>
                    <a:pt x="267" y="148"/>
                  </a:moveTo>
                  <a:lnTo>
                    <a:pt x="74" y="148"/>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71">
              <a:extLst>
                <a:ext uri="{FF2B5EF4-FFF2-40B4-BE49-F238E27FC236}">
                  <a16:creationId xmlns:a16="http://schemas.microsoft.com/office/drawing/2014/main" id="{CA0AE8E6-4646-4F56-9D5E-BE15BA6DC393}"/>
                </a:ext>
              </a:extLst>
            </p:cNvPr>
            <p:cNvSpPr>
              <a:spLocks/>
            </p:cNvSpPr>
            <p:nvPr/>
          </p:nvSpPr>
          <p:spPr bwMode="auto">
            <a:xfrm>
              <a:off x="2910" y="2532"/>
              <a:ext cx="267" cy="134"/>
            </a:xfrm>
            <a:custGeom>
              <a:avLst/>
              <a:gdLst>
                <a:gd name="T0" fmla="*/ 267 w 267"/>
                <a:gd name="T1" fmla="*/ 134 h 134"/>
                <a:gd name="T2" fmla="*/ 75 w 267"/>
                <a:gd name="T3" fmla="*/ 134 h 134"/>
                <a:gd name="T4" fmla="*/ 0 w 267"/>
                <a:gd name="T5" fmla="*/ 0 h 134"/>
                <a:gd name="T6" fmla="*/ 0 60000 65536"/>
                <a:gd name="T7" fmla="*/ 0 60000 65536"/>
                <a:gd name="T8" fmla="*/ 0 60000 65536"/>
                <a:gd name="T9" fmla="*/ 0 w 267"/>
                <a:gd name="T10" fmla="*/ 0 h 134"/>
                <a:gd name="T11" fmla="*/ 267 w 267"/>
                <a:gd name="T12" fmla="*/ 134 h 134"/>
              </a:gdLst>
              <a:ahLst/>
              <a:cxnLst>
                <a:cxn ang="T6">
                  <a:pos x="T0" y="T1"/>
                </a:cxn>
                <a:cxn ang="T7">
                  <a:pos x="T2" y="T3"/>
                </a:cxn>
                <a:cxn ang="T8">
                  <a:pos x="T4" y="T5"/>
                </a:cxn>
              </a:cxnLst>
              <a:rect l="T9" t="T10" r="T11" b="T12"/>
              <a:pathLst>
                <a:path w="267" h="134">
                  <a:moveTo>
                    <a:pt x="267" y="134"/>
                  </a:moveTo>
                  <a:lnTo>
                    <a:pt x="75" y="134"/>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72">
              <a:extLst>
                <a:ext uri="{FF2B5EF4-FFF2-40B4-BE49-F238E27FC236}">
                  <a16:creationId xmlns:a16="http://schemas.microsoft.com/office/drawing/2014/main" id="{B582043E-D1C7-A2CE-1937-B28253288B3C}"/>
                </a:ext>
              </a:extLst>
            </p:cNvPr>
            <p:cNvSpPr>
              <a:spLocks/>
            </p:cNvSpPr>
            <p:nvPr/>
          </p:nvSpPr>
          <p:spPr bwMode="auto">
            <a:xfrm>
              <a:off x="2881" y="2651"/>
              <a:ext cx="244" cy="133"/>
            </a:xfrm>
            <a:custGeom>
              <a:avLst/>
              <a:gdLst>
                <a:gd name="T0" fmla="*/ 244 w 244"/>
                <a:gd name="T1" fmla="*/ 133 h 133"/>
                <a:gd name="T2" fmla="*/ 66 w 244"/>
                <a:gd name="T3" fmla="*/ 133 h 133"/>
                <a:gd name="T4" fmla="*/ 0 w 244"/>
                <a:gd name="T5" fmla="*/ 0 h 133"/>
                <a:gd name="T6" fmla="*/ 0 60000 65536"/>
                <a:gd name="T7" fmla="*/ 0 60000 65536"/>
                <a:gd name="T8" fmla="*/ 0 60000 65536"/>
                <a:gd name="T9" fmla="*/ 0 w 244"/>
                <a:gd name="T10" fmla="*/ 0 h 133"/>
                <a:gd name="T11" fmla="*/ 244 w 244"/>
                <a:gd name="T12" fmla="*/ 133 h 133"/>
              </a:gdLst>
              <a:ahLst/>
              <a:cxnLst>
                <a:cxn ang="T6">
                  <a:pos x="T0" y="T1"/>
                </a:cxn>
                <a:cxn ang="T7">
                  <a:pos x="T2" y="T3"/>
                </a:cxn>
                <a:cxn ang="T8">
                  <a:pos x="T4" y="T5"/>
                </a:cxn>
              </a:cxnLst>
              <a:rect l="T9" t="T10" r="T11" b="T12"/>
              <a:pathLst>
                <a:path w="244" h="133">
                  <a:moveTo>
                    <a:pt x="244" y="133"/>
                  </a:moveTo>
                  <a:lnTo>
                    <a:pt x="66" y="133"/>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73">
              <a:extLst>
                <a:ext uri="{FF2B5EF4-FFF2-40B4-BE49-F238E27FC236}">
                  <a16:creationId xmlns:a16="http://schemas.microsoft.com/office/drawing/2014/main" id="{31FA5450-65A0-4426-1E14-2BFA053F39EF}"/>
                </a:ext>
              </a:extLst>
            </p:cNvPr>
            <p:cNvSpPr>
              <a:spLocks/>
            </p:cNvSpPr>
            <p:nvPr/>
          </p:nvSpPr>
          <p:spPr bwMode="auto">
            <a:xfrm>
              <a:off x="2851" y="2762"/>
              <a:ext cx="237" cy="118"/>
            </a:xfrm>
            <a:custGeom>
              <a:avLst/>
              <a:gdLst>
                <a:gd name="T0" fmla="*/ 237 w 237"/>
                <a:gd name="T1" fmla="*/ 118 h 118"/>
                <a:gd name="T2" fmla="*/ 59 w 237"/>
                <a:gd name="T3" fmla="*/ 118 h 118"/>
                <a:gd name="T4" fmla="*/ 0 w 237"/>
                <a:gd name="T5" fmla="*/ 0 h 118"/>
                <a:gd name="T6" fmla="*/ 0 60000 65536"/>
                <a:gd name="T7" fmla="*/ 0 60000 65536"/>
                <a:gd name="T8" fmla="*/ 0 60000 65536"/>
                <a:gd name="T9" fmla="*/ 0 w 237"/>
                <a:gd name="T10" fmla="*/ 0 h 118"/>
                <a:gd name="T11" fmla="*/ 237 w 237"/>
                <a:gd name="T12" fmla="*/ 118 h 118"/>
              </a:gdLst>
              <a:ahLst/>
              <a:cxnLst>
                <a:cxn ang="T6">
                  <a:pos x="T0" y="T1"/>
                </a:cxn>
                <a:cxn ang="T7">
                  <a:pos x="T2" y="T3"/>
                </a:cxn>
                <a:cxn ang="T8">
                  <a:pos x="T4" y="T5"/>
                </a:cxn>
              </a:cxnLst>
              <a:rect l="T9" t="T10" r="T11" b="T12"/>
              <a:pathLst>
                <a:path w="237" h="118">
                  <a:moveTo>
                    <a:pt x="237" y="118"/>
                  </a:moveTo>
                  <a:lnTo>
                    <a:pt x="59" y="118"/>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74">
              <a:extLst>
                <a:ext uri="{FF2B5EF4-FFF2-40B4-BE49-F238E27FC236}">
                  <a16:creationId xmlns:a16="http://schemas.microsoft.com/office/drawing/2014/main" id="{82BA85A5-9570-E268-5BD2-22863B74349F}"/>
                </a:ext>
              </a:extLst>
            </p:cNvPr>
            <p:cNvSpPr>
              <a:spLocks/>
            </p:cNvSpPr>
            <p:nvPr/>
          </p:nvSpPr>
          <p:spPr bwMode="auto">
            <a:xfrm>
              <a:off x="2762" y="3088"/>
              <a:ext cx="193" cy="103"/>
            </a:xfrm>
            <a:custGeom>
              <a:avLst/>
              <a:gdLst>
                <a:gd name="T0" fmla="*/ 193 w 193"/>
                <a:gd name="T1" fmla="*/ 103 h 103"/>
                <a:gd name="T2" fmla="*/ 52 w 193"/>
                <a:gd name="T3" fmla="*/ 103 h 103"/>
                <a:gd name="T4" fmla="*/ 0 w 193"/>
                <a:gd name="T5" fmla="*/ 0 h 103"/>
                <a:gd name="T6" fmla="*/ 0 60000 65536"/>
                <a:gd name="T7" fmla="*/ 0 60000 65536"/>
                <a:gd name="T8" fmla="*/ 0 60000 65536"/>
                <a:gd name="T9" fmla="*/ 0 w 193"/>
                <a:gd name="T10" fmla="*/ 0 h 103"/>
                <a:gd name="T11" fmla="*/ 193 w 193"/>
                <a:gd name="T12" fmla="*/ 103 h 103"/>
              </a:gdLst>
              <a:ahLst/>
              <a:cxnLst>
                <a:cxn ang="T6">
                  <a:pos x="T0" y="T1"/>
                </a:cxn>
                <a:cxn ang="T7">
                  <a:pos x="T2" y="T3"/>
                </a:cxn>
                <a:cxn ang="T8">
                  <a:pos x="T4" y="T5"/>
                </a:cxn>
              </a:cxnLst>
              <a:rect l="T9" t="T10" r="T11" b="T12"/>
              <a:pathLst>
                <a:path w="193" h="103">
                  <a:moveTo>
                    <a:pt x="193" y="103"/>
                  </a:moveTo>
                  <a:lnTo>
                    <a:pt x="52" y="103"/>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75">
              <a:extLst>
                <a:ext uri="{FF2B5EF4-FFF2-40B4-BE49-F238E27FC236}">
                  <a16:creationId xmlns:a16="http://schemas.microsoft.com/office/drawing/2014/main" id="{E26BC37A-E9F0-2BFF-8455-B2B5CA46A8DF}"/>
                </a:ext>
              </a:extLst>
            </p:cNvPr>
            <p:cNvSpPr>
              <a:spLocks/>
            </p:cNvSpPr>
            <p:nvPr/>
          </p:nvSpPr>
          <p:spPr bwMode="auto">
            <a:xfrm>
              <a:off x="2718" y="3280"/>
              <a:ext cx="155" cy="97"/>
            </a:xfrm>
            <a:custGeom>
              <a:avLst/>
              <a:gdLst>
                <a:gd name="T0" fmla="*/ 155 w 155"/>
                <a:gd name="T1" fmla="*/ 97 h 97"/>
                <a:gd name="T2" fmla="*/ 37 w 155"/>
                <a:gd name="T3" fmla="*/ 97 h 97"/>
                <a:gd name="T4" fmla="*/ 0 w 155"/>
                <a:gd name="T5" fmla="*/ 0 h 97"/>
                <a:gd name="T6" fmla="*/ 0 60000 65536"/>
                <a:gd name="T7" fmla="*/ 0 60000 65536"/>
                <a:gd name="T8" fmla="*/ 0 60000 65536"/>
                <a:gd name="T9" fmla="*/ 0 w 155"/>
                <a:gd name="T10" fmla="*/ 0 h 97"/>
                <a:gd name="T11" fmla="*/ 155 w 155"/>
                <a:gd name="T12" fmla="*/ 97 h 97"/>
              </a:gdLst>
              <a:ahLst/>
              <a:cxnLst>
                <a:cxn ang="T6">
                  <a:pos x="T0" y="T1"/>
                </a:cxn>
                <a:cxn ang="T7">
                  <a:pos x="T2" y="T3"/>
                </a:cxn>
                <a:cxn ang="T8">
                  <a:pos x="T4" y="T5"/>
                </a:cxn>
              </a:cxnLst>
              <a:rect l="T9" t="T10" r="T11" b="T12"/>
              <a:pathLst>
                <a:path w="155" h="97">
                  <a:moveTo>
                    <a:pt x="155" y="97"/>
                  </a:moveTo>
                  <a:lnTo>
                    <a:pt x="37" y="97"/>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76">
              <a:extLst>
                <a:ext uri="{FF2B5EF4-FFF2-40B4-BE49-F238E27FC236}">
                  <a16:creationId xmlns:a16="http://schemas.microsoft.com/office/drawing/2014/main" id="{075D18B2-EA40-2FC7-B89B-9B377532C66E}"/>
                </a:ext>
              </a:extLst>
            </p:cNvPr>
            <p:cNvSpPr>
              <a:spLocks/>
            </p:cNvSpPr>
            <p:nvPr/>
          </p:nvSpPr>
          <p:spPr bwMode="auto">
            <a:xfrm>
              <a:off x="2807" y="2925"/>
              <a:ext cx="215" cy="111"/>
            </a:xfrm>
            <a:custGeom>
              <a:avLst/>
              <a:gdLst>
                <a:gd name="T0" fmla="*/ 215 w 215"/>
                <a:gd name="T1" fmla="*/ 111 h 111"/>
                <a:gd name="T2" fmla="*/ 59 w 215"/>
                <a:gd name="T3" fmla="*/ 111 h 111"/>
                <a:gd name="T4" fmla="*/ 0 w 215"/>
                <a:gd name="T5" fmla="*/ 0 h 111"/>
                <a:gd name="T6" fmla="*/ 0 60000 65536"/>
                <a:gd name="T7" fmla="*/ 0 60000 65536"/>
                <a:gd name="T8" fmla="*/ 0 60000 65536"/>
                <a:gd name="T9" fmla="*/ 0 w 215"/>
                <a:gd name="T10" fmla="*/ 0 h 111"/>
                <a:gd name="T11" fmla="*/ 215 w 215"/>
                <a:gd name="T12" fmla="*/ 111 h 111"/>
              </a:gdLst>
              <a:ahLst/>
              <a:cxnLst>
                <a:cxn ang="T6">
                  <a:pos x="T0" y="T1"/>
                </a:cxn>
                <a:cxn ang="T7">
                  <a:pos x="T2" y="T3"/>
                </a:cxn>
                <a:cxn ang="T8">
                  <a:pos x="T4" y="T5"/>
                </a:cxn>
              </a:cxnLst>
              <a:rect l="T9" t="T10" r="T11" b="T12"/>
              <a:pathLst>
                <a:path w="215" h="111">
                  <a:moveTo>
                    <a:pt x="215" y="111"/>
                  </a:moveTo>
                  <a:lnTo>
                    <a:pt x="59" y="111"/>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77">
              <a:extLst>
                <a:ext uri="{FF2B5EF4-FFF2-40B4-BE49-F238E27FC236}">
                  <a16:creationId xmlns:a16="http://schemas.microsoft.com/office/drawing/2014/main" id="{5525527B-E5C7-BCCE-F34C-7F4FBC3706C2}"/>
                </a:ext>
              </a:extLst>
            </p:cNvPr>
            <p:cNvSpPr>
              <a:spLocks/>
            </p:cNvSpPr>
            <p:nvPr/>
          </p:nvSpPr>
          <p:spPr bwMode="auto">
            <a:xfrm>
              <a:off x="2674" y="3436"/>
              <a:ext cx="133" cy="81"/>
            </a:xfrm>
            <a:custGeom>
              <a:avLst/>
              <a:gdLst>
                <a:gd name="T0" fmla="*/ 133 w 133"/>
                <a:gd name="T1" fmla="*/ 81 h 81"/>
                <a:gd name="T2" fmla="*/ 37 w 133"/>
                <a:gd name="T3" fmla="*/ 81 h 81"/>
                <a:gd name="T4" fmla="*/ 0 w 133"/>
                <a:gd name="T5" fmla="*/ 0 h 81"/>
                <a:gd name="T6" fmla="*/ 0 60000 65536"/>
                <a:gd name="T7" fmla="*/ 0 60000 65536"/>
                <a:gd name="T8" fmla="*/ 0 60000 65536"/>
                <a:gd name="T9" fmla="*/ 0 w 133"/>
                <a:gd name="T10" fmla="*/ 0 h 81"/>
                <a:gd name="T11" fmla="*/ 133 w 133"/>
                <a:gd name="T12" fmla="*/ 81 h 81"/>
              </a:gdLst>
              <a:ahLst/>
              <a:cxnLst>
                <a:cxn ang="T6">
                  <a:pos x="T0" y="T1"/>
                </a:cxn>
                <a:cxn ang="T7">
                  <a:pos x="T2" y="T3"/>
                </a:cxn>
                <a:cxn ang="T8">
                  <a:pos x="T4" y="T5"/>
                </a:cxn>
              </a:cxnLst>
              <a:rect l="T9" t="T10" r="T11" b="T12"/>
              <a:pathLst>
                <a:path w="133" h="81">
                  <a:moveTo>
                    <a:pt x="133" y="81"/>
                  </a:moveTo>
                  <a:lnTo>
                    <a:pt x="37" y="81"/>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78">
              <a:extLst>
                <a:ext uri="{FF2B5EF4-FFF2-40B4-BE49-F238E27FC236}">
                  <a16:creationId xmlns:a16="http://schemas.microsoft.com/office/drawing/2014/main" id="{2E70AECA-6E16-3661-D168-A8B7F125DAC0}"/>
                </a:ext>
              </a:extLst>
            </p:cNvPr>
            <p:cNvSpPr>
              <a:spLocks/>
            </p:cNvSpPr>
            <p:nvPr/>
          </p:nvSpPr>
          <p:spPr bwMode="auto">
            <a:xfrm>
              <a:off x="2636" y="3569"/>
              <a:ext cx="119" cy="74"/>
            </a:xfrm>
            <a:custGeom>
              <a:avLst/>
              <a:gdLst>
                <a:gd name="T0" fmla="*/ 119 w 119"/>
                <a:gd name="T1" fmla="*/ 74 h 74"/>
                <a:gd name="T2" fmla="*/ 30 w 119"/>
                <a:gd name="T3" fmla="*/ 74 h 74"/>
                <a:gd name="T4" fmla="*/ 0 w 119"/>
                <a:gd name="T5" fmla="*/ 0 h 74"/>
                <a:gd name="T6" fmla="*/ 0 60000 65536"/>
                <a:gd name="T7" fmla="*/ 0 60000 65536"/>
                <a:gd name="T8" fmla="*/ 0 60000 65536"/>
                <a:gd name="T9" fmla="*/ 0 w 119"/>
                <a:gd name="T10" fmla="*/ 0 h 74"/>
                <a:gd name="T11" fmla="*/ 119 w 119"/>
                <a:gd name="T12" fmla="*/ 74 h 74"/>
              </a:gdLst>
              <a:ahLst/>
              <a:cxnLst>
                <a:cxn ang="T6">
                  <a:pos x="T0" y="T1"/>
                </a:cxn>
                <a:cxn ang="T7">
                  <a:pos x="T2" y="T3"/>
                </a:cxn>
                <a:cxn ang="T8">
                  <a:pos x="T4" y="T5"/>
                </a:cxn>
              </a:cxnLst>
              <a:rect l="T9" t="T10" r="T11" b="T12"/>
              <a:pathLst>
                <a:path w="119" h="74">
                  <a:moveTo>
                    <a:pt x="119" y="74"/>
                  </a:moveTo>
                  <a:lnTo>
                    <a:pt x="30" y="74"/>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79">
              <a:extLst>
                <a:ext uri="{FF2B5EF4-FFF2-40B4-BE49-F238E27FC236}">
                  <a16:creationId xmlns:a16="http://schemas.microsoft.com/office/drawing/2014/main" id="{0FD65B6F-25EA-4EC7-7C38-DAA282F2D29E}"/>
                </a:ext>
              </a:extLst>
            </p:cNvPr>
            <p:cNvSpPr>
              <a:spLocks/>
            </p:cNvSpPr>
            <p:nvPr/>
          </p:nvSpPr>
          <p:spPr bwMode="auto">
            <a:xfrm>
              <a:off x="2607" y="3702"/>
              <a:ext cx="89" cy="67"/>
            </a:xfrm>
            <a:custGeom>
              <a:avLst/>
              <a:gdLst>
                <a:gd name="T0" fmla="*/ 89 w 89"/>
                <a:gd name="T1" fmla="*/ 67 h 67"/>
                <a:gd name="T2" fmla="*/ 22 w 89"/>
                <a:gd name="T3" fmla="*/ 67 h 67"/>
                <a:gd name="T4" fmla="*/ 0 w 89"/>
                <a:gd name="T5" fmla="*/ 0 h 67"/>
                <a:gd name="T6" fmla="*/ 0 60000 65536"/>
                <a:gd name="T7" fmla="*/ 0 60000 65536"/>
                <a:gd name="T8" fmla="*/ 0 60000 65536"/>
                <a:gd name="T9" fmla="*/ 0 w 89"/>
                <a:gd name="T10" fmla="*/ 0 h 67"/>
                <a:gd name="T11" fmla="*/ 89 w 89"/>
                <a:gd name="T12" fmla="*/ 67 h 67"/>
              </a:gdLst>
              <a:ahLst/>
              <a:cxnLst>
                <a:cxn ang="T6">
                  <a:pos x="T0" y="T1"/>
                </a:cxn>
                <a:cxn ang="T7">
                  <a:pos x="T2" y="T3"/>
                </a:cxn>
                <a:cxn ang="T8">
                  <a:pos x="T4" y="T5"/>
                </a:cxn>
              </a:cxnLst>
              <a:rect l="T9" t="T10" r="T11" b="T12"/>
              <a:pathLst>
                <a:path w="89" h="67">
                  <a:moveTo>
                    <a:pt x="89" y="67"/>
                  </a:moveTo>
                  <a:lnTo>
                    <a:pt x="22" y="67"/>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80">
              <a:extLst>
                <a:ext uri="{FF2B5EF4-FFF2-40B4-BE49-F238E27FC236}">
                  <a16:creationId xmlns:a16="http://schemas.microsoft.com/office/drawing/2014/main" id="{C8A8985C-45E4-8751-6001-1F3ECDF4E841}"/>
                </a:ext>
              </a:extLst>
            </p:cNvPr>
            <p:cNvSpPr>
              <a:spLocks/>
            </p:cNvSpPr>
            <p:nvPr/>
          </p:nvSpPr>
          <p:spPr bwMode="auto">
            <a:xfrm>
              <a:off x="2896" y="2584"/>
              <a:ext cx="266" cy="133"/>
            </a:xfrm>
            <a:custGeom>
              <a:avLst/>
              <a:gdLst>
                <a:gd name="T0" fmla="*/ 266 w 266"/>
                <a:gd name="T1" fmla="*/ 133 h 133"/>
                <a:gd name="T2" fmla="*/ 74 w 266"/>
                <a:gd name="T3" fmla="*/ 133 h 133"/>
                <a:gd name="T4" fmla="*/ 0 w 266"/>
                <a:gd name="T5" fmla="*/ 0 h 133"/>
                <a:gd name="T6" fmla="*/ 0 60000 65536"/>
                <a:gd name="T7" fmla="*/ 0 60000 65536"/>
                <a:gd name="T8" fmla="*/ 0 60000 65536"/>
                <a:gd name="T9" fmla="*/ 0 w 266"/>
                <a:gd name="T10" fmla="*/ 0 h 133"/>
                <a:gd name="T11" fmla="*/ 266 w 266"/>
                <a:gd name="T12" fmla="*/ 133 h 133"/>
              </a:gdLst>
              <a:ahLst/>
              <a:cxnLst>
                <a:cxn ang="T6">
                  <a:pos x="T0" y="T1"/>
                </a:cxn>
                <a:cxn ang="T7">
                  <a:pos x="T2" y="T3"/>
                </a:cxn>
                <a:cxn ang="T8">
                  <a:pos x="T4" y="T5"/>
                </a:cxn>
              </a:cxnLst>
              <a:rect l="T9" t="T10" r="T11" b="T12"/>
              <a:pathLst>
                <a:path w="266" h="133">
                  <a:moveTo>
                    <a:pt x="266" y="133"/>
                  </a:moveTo>
                  <a:lnTo>
                    <a:pt x="74" y="133"/>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81">
              <a:extLst>
                <a:ext uri="{FF2B5EF4-FFF2-40B4-BE49-F238E27FC236}">
                  <a16:creationId xmlns:a16="http://schemas.microsoft.com/office/drawing/2014/main" id="{E2181F28-1EBC-18DB-D3B6-1B7A9A9EB8CA}"/>
                </a:ext>
              </a:extLst>
            </p:cNvPr>
            <p:cNvSpPr>
              <a:spLocks/>
            </p:cNvSpPr>
            <p:nvPr/>
          </p:nvSpPr>
          <p:spPr bwMode="auto">
            <a:xfrm>
              <a:off x="2570" y="3828"/>
              <a:ext cx="81" cy="52"/>
            </a:xfrm>
            <a:custGeom>
              <a:avLst/>
              <a:gdLst>
                <a:gd name="T0" fmla="*/ 81 w 81"/>
                <a:gd name="T1" fmla="*/ 52 h 52"/>
                <a:gd name="T2" fmla="*/ 22 w 81"/>
                <a:gd name="T3" fmla="*/ 52 h 52"/>
                <a:gd name="T4" fmla="*/ 0 w 81"/>
                <a:gd name="T5" fmla="*/ 0 h 52"/>
                <a:gd name="T6" fmla="*/ 0 60000 65536"/>
                <a:gd name="T7" fmla="*/ 0 60000 65536"/>
                <a:gd name="T8" fmla="*/ 0 60000 65536"/>
                <a:gd name="T9" fmla="*/ 0 w 81"/>
                <a:gd name="T10" fmla="*/ 0 h 52"/>
                <a:gd name="T11" fmla="*/ 81 w 81"/>
                <a:gd name="T12" fmla="*/ 52 h 52"/>
              </a:gdLst>
              <a:ahLst/>
              <a:cxnLst>
                <a:cxn ang="T6">
                  <a:pos x="T0" y="T1"/>
                </a:cxn>
                <a:cxn ang="T7">
                  <a:pos x="T2" y="T3"/>
                </a:cxn>
                <a:cxn ang="T8">
                  <a:pos x="T4" y="T5"/>
                </a:cxn>
              </a:cxnLst>
              <a:rect l="T9" t="T10" r="T11" b="T12"/>
              <a:pathLst>
                <a:path w="81" h="52">
                  <a:moveTo>
                    <a:pt x="81" y="52"/>
                  </a:moveTo>
                  <a:lnTo>
                    <a:pt x="22" y="52"/>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82">
              <a:extLst>
                <a:ext uri="{FF2B5EF4-FFF2-40B4-BE49-F238E27FC236}">
                  <a16:creationId xmlns:a16="http://schemas.microsoft.com/office/drawing/2014/main" id="{6046C232-1C26-614C-40D9-281F5975D784}"/>
                </a:ext>
              </a:extLst>
            </p:cNvPr>
            <p:cNvSpPr>
              <a:spLocks/>
            </p:cNvSpPr>
            <p:nvPr/>
          </p:nvSpPr>
          <p:spPr bwMode="auto">
            <a:xfrm>
              <a:off x="2540" y="3947"/>
              <a:ext cx="67" cy="37"/>
            </a:xfrm>
            <a:custGeom>
              <a:avLst/>
              <a:gdLst>
                <a:gd name="T0" fmla="*/ 67 w 67"/>
                <a:gd name="T1" fmla="*/ 37 h 37"/>
                <a:gd name="T2" fmla="*/ 15 w 67"/>
                <a:gd name="T3" fmla="*/ 37 h 37"/>
                <a:gd name="T4" fmla="*/ 0 w 67"/>
                <a:gd name="T5" fmla="*/ 0 h 37"/>
                <a:gd name="T6" fmla="*/ 0 60000 65536"/>
                <a:gd name="T7" fmla="*/ 0 60000 65536"/>
                <a:gd name="T8" fmla="*/ 0 60000 65536"/>
                <a:gd name="T9" fmla="*/ 0 w 67"/>
                <a:gd name="T10" fmla="*/ 0 h 37"/>
                <a:gd name="T11" fmla="*/ 67 w 67"/>
                <a:gd name="T12" fmla="*/ 37 h 37"/>
              </a:gdLst>
              <a:ahLst/>
              <a:cxnLst>
                <a:cxn ang="T6">
                  <a:pos x="T0" y="T1"/>
                </a:cxn>
                <a:cxn ang="T7">
                  <a:pos x="T2" y="T3"/>
                </a:cxn>
                <a:cxn ang="T8">
                  <a:pos x="T4" y="T5"/>
                </a:cxn>
              </a:cxnLst>
              <a:rect l="T9" t="T10" r="T11" b="T12"/>
              <a:pathLst>
                <a:path w="67" h="37">
                  <a:moveTo>
                    <a:pt x="67" y="37"/>
                  </a:moveTo>
                  <a:lnTo>
                    <a:pt x="15" y="37"/>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83">
              <a:extLst>
                <a:ext uri="{FF2B5EF4-FFF2-40B4-BE49-F238E27FC236}">
                  <a16:creationId xmlns:a16="http://schemas.microsoft.com/office/drawing/2014/main" id="{CA991376-F530-48D2-0CEA-092D27F9662C}"/>
                </a:ext>
              </a:extLst>
            </p:cNvPr>
            <p:cNvSpPr>
              <a:spLocks/>
            </p:cNvSpPr>
            <p:nvPr/>
          </p:nvSpPr>
          <p:spPr bwMode="auto">
            <a:xfrm>
              <a:off x="2511" y="4058"/>
              <a:ext cx="51" cy="30"/>
            </a:xfrm>
            <a:custGeom>
              <a:avLst/>
              <a:gdLst>
                <a:gd name="T0" fmla="*/ 51 w 51"/>
                <a:gd name="T1" fmla="*/ 30 h 30"/>
                <a:gd name="T2" fmla="*/ 7 w 51"/>
                <a:gd name="T3" fmla="*/ 30 h 30"/>
                <a:gd name="T4" fmla="*/ 0 w 51"/>
                <a:gd name="T5" fmla="*/ 0 h 30"/>
                <a:gd name="T6" fmla="*/ 0 60000 65536"/>
                <a:gd name="T7" fmla="*/ 0 60000 65536"/>
                <a:gd name="T8" fmla="*/ 0 60000 65536"/>
                <a:gd name="T9" fmla="*/ 0 w 51"/>
                <a:gd name="T10" fmla="*/ 0 h 30"/>
                <a:gd name="T11" fmla="*/ 51 w 51"/>
                <a:gd name="T12" fmla="*/ 30 h 30"/>
              </a:gdLst>
              <a:ahLst/>
              <a:cxnLst>
                <a:cxn ang="T6">
                  <a:pos x="T0" y="T1"/>
                </a:cxn>
                <a:cxn ang="T7">
                  <a:pos x="T2" y="T3"/>
                </a:cxn>
                <a:cxn ang="T8">
                  <a:pos x="T4" y="T5"/>
                </a:cxn>
              </a:cxnLst>
              <a:rect l="T9" t="T10" r="T11" b="T12"/>
              <a:pathLst>
                <a:path w="51" h="30">
                  <a:moveTo>
                    <a:pt x="51" y="30"/>
                  </a:moveTo>
                  <a:lnTo>
                    <a:pt x="7" y="30"/>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84">
              <a:extLst>
                <a:ext uri="{FF2B5EF4-FFF2-40B4-BE49-F238E27FC236}">
                  <a16:creationId xmlns:a16="http://schemas.microsoft.com/office/drawing/2014/main" id="{5D5E98DF-22FC-7F4B-4DD3-209DE3C5FAAC}"/>
                </a:ext>
              </a:extLst>
            </p:cNvPr>
            <p:cNvSpPr>
              <a:spLocks/>
            </p:cNvSpPr>
            <p:nvPr/>
          </p:nvSpPr>
          <p:spPr bwMode="auto">
            <a:xfrm>
              <a:off x="2947" y="2399"/>
              <a:ext cx="282" cy="156"/>
            </a:xfrm>
            <a:custGeom>
              <a:avLst/>
              <a:gdLst>
                <a:gd name="T0" fmla="*/ 0 w 282"/>
                <a:gd name="T1" fmla="*/ 0 h 156"/>
                <a:gd name="T2" fmla="*/ 208 w 282"/>
                <a:gd name="T3" fmla="*/ 0 h 156"/>
                <a:gd name="T4" fmla="*/ 282 w 282"/>
                <a:gd name="T5" fmla="*/ 156 h 156"/>
                <a:gd name="T6" fmla="*/ 75 w 282"/>
                <a:gd name="T7" fmla="*/ 156 h 156"/>
                <a:gd name="T8" fmla="*/ 0 w 282"/>
                <a:gd name="T9" fmla="*/ 0 h 156"/>
                <a:gd name="T10" fmla="*/ 0 60000 65536"/>
                <a:gd name="T11" fmla="*/ 0 60000 65536"/>
                <a:gd name="T12" fmla="*/ 0 60000 65536"/>
                <a:gd name="T13" fmla="*/ 0 60000 65536"/>
                <a:gd name="T14" fmla="*/ 0 60000 65536"/>
                <a:gd name="T15" fmla="*/ 0 w 282"/>
                <a:gd name="T16" fmla="*/ 0 h 156"/>
                <a:gd name="T17" fmla="*/ 282 w 282"/>
                <a:gd name="T18" fmla="*/ 156 h 156"/>
              </a:gdLst>
              <a:ahLst/>
              <a:cxnLst>
                <a:cxn ang="T10">
                  <a:pos x="T0" y="T1"/>
                </a:cxn>
                <a:cxn ang="T11">
                  <a:pos x="T2" y="T3"/>
                </a:cxn>
                <a:cxn ang="T12">
                  <a:pos x="T4" y="T5"/>
                </a:cxn>
                <a:cxn ang="T13">
                  <a:pos x="T6" y="T7"/>
                </a:cxn>
                <a:cxn ang="T14">
                  <a:pos x="T8" y="T9"/>
                </a:cxn>
              </a:cxnLst>
              <a:rect l="T15" t="T16" r="T17" b="T18"/>
              <a:pathLst>
                <a:path w="282" h="156">
                  <a:moveTo>
                    <a:pt x="0" y="0"/>
                  </a:moveTo>
                  <a:lnTo>
                    <a:pt x="208" y="0"/>
                  </a:lnTo>
                  <a:lnTo>
                    <a:pt x="282" y="156"/>
                  </a:lnTo>
                  <a:lnTo>
                    <a:pt x="75" y="156"/>
                  </a:lnTo>
                  <a:lnTo>
                    <a:pt x="0" y="0"/>
                  </a:lnTo>
                  <a:close/>
                </a:path>
              </a:pathLst>
            </a:custGeom>
            <a:solidFill>
              <a:srgbClr val="FB674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9" name="Freeform 85">
              <a:extLst>
                <a:ext uri="{FF2B5EF4-FFF2-40B4-BE49-F238E27FC236}">
                  <a16:creationId xmlns:a16="http://schemas.microsoft.com/office/drawing/2014/main" id="{6F40C2F0-06BA-BFE8-20CC-5EF8319CBD58}"/>
                </a:ext>
              </a:extLst>
            </p:cNvPr>
            <p:cNvSpPr>
              <a:spLocks/>
            </p:cNvSpPr>
            <p:nvPr/>
          </p:nvSpPr>
          <p:spPr bwMode="auto">
            <a:xfrm>
              <a:off x="2947" y="2399"/>
              <a:ext cx="282" cy="156"/>
            </a:xfrm>
            <a:custGeom>
              <a:avLst/>
              <a:gdLst>
                <a:gd name="T0" fmla="*/ 0 w 282"/>
                <a:gd name="T1" fmla="*/ 0 h 156"/>
                <a:gd name="T2" fmla="*/ 208 w 282"/>
                <a:gd name="T3" fmla="*/ 0 h 156"/>
                <a:gd name="T4" fmla="*/ 282 w 282"/>
                <a:gd name="T5" fmla="*/ 156 h 156"/>
                <a:gd name="T6" fmla="*/ 75 w 282"/>
                <a:gd name="T7" fmla="*/ 156 h 156"/>
                <a:gd name="T8" fmla="*/ 0 60000 65536"/>
                <a:gd name="T9" fmla="*/ 0 60000 65536"/>
                <a:gd name="T10" fmla="*/ 0 60000 65536"/>
                <a:gd name="T11" fmla="*/ 0 60000 65536"/>
                <a:gd name="T12" fmla="*/ 0 w 282"/>
                <a:gd name="T13" fmla="*/ 0 h 156"/>
                <a:gd name="T14" fmla="*/ 282 w 282"/>
                <a:gd name="T15" fmla="*/ 156 h 156"/>
              </a:gdLst>
              <a:ahLst/>
              <a:cxnLst>
                <a:cxn ang="T8">
                  <a:pos x="T0" y="T1"/>
                </a:cxn>
                <a:cxn ang="T9">
                  <a:pos x="T2" y="T3"/>
                </a:cxn>
                <a:cxn ang="T10">
                  <a:pos x="T4" y="T5"/>
                </a:cxn>
                <a:cxn ang="T11">
                  <a:pos x="T6" y="T7"/>
                </a:cxn>
              </a:cxnLst>
              <a:rect l="T12" t="T13" r="T14" b="T15"/>
              <a:pathLst>
                <a:path w="282" h="156">
                  <a:moveTo>
                    <a:pt x="0" y="0"/>
                  </a:moveTo>
                  <a:lnTo>
                    <a:pt x="208" y="0"/>
                  </a:lnTo>
                  <a:lnTo>
                    <a:pt x="282" y="156"/>
                  </a:lnTo>
                  <a:lnTo>
                    <a:pt x="75" y="156"/>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Line 86">
              <a:extLst>
                <a:ext uri="{FF2B5EF4-FFF2-40B4-BE49-F238E27FC236}">
                  <a16:creationId xmlns:a16="http://schemas.microsoft.com/office/drawing/2014/main" id="{4B63FCFC-770E-15D2-4BF8-9F7112254327}"/>
                </a:ext>
              </a:extLst>
            </p:cNvPr>
            <p:cNvSpPr>
              <a:spLocks noChangeShapeType="1"/>
            </p:cNvSpPr>
            <p:nvPr/>
          </p:nvSpPr>
          <p:spPr bwMode="auto">
            <a:xfrm>
              <a:off x="2947" y="2399"/>
              <a:ext cx="2096" cy="1"/>
            </a:xfrm>
            <a:prstGeom prst="line">
              <a:avLst/>
            </a:prstGeom>
            <a:noFill/>
            <a:ln w="34925">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 name="Line 87">
              <a:extLst>
                <a:ext uri="{FF2B5EF4-FFF2-40B4-BE49-F238E27FC236}">
                  <a16:creationId xmlns:a16="http://schemas.microsoft.com/office/drawing/2014/main" id="{144A6CC0-B27E-2E29-22EE-4484707EC506}"/>
                </a:ext>
              </a:extLst>
            </p:cNvPr>
            <p:cNvSpPr>
              <a:spLocks noChangeShapeType="1"/>
            </p:cNvSpPr>
            <p:nvPr/>
          </p:nvSpPr>
          <p:spPr bwMode="auto">
            <a:xfrm>
              <a:off x="3096" y="2717"/>
              <a:ext cx="2103" cy="1"/>
            </a:xfrm>
            <a:prstGeom prst="line">
              <a:avLst/>
            </a:prstGeom>
            <a:noFill/>
            <a:ln w="34925">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 name="Line 88">
              <a:extLst>
                <a:ext uri="{FF2B5EF4-FFF2-40B4-BE49-F238E27FC236}">
                  <a16:creationId xmlns:a16="http://schemas.microsoft.com/office/drawing/2014/main" id="{A1A409C4-1E43-ADB9-AC0B-7FF4FB20AB8F}"/>
                </a:ext>
              </a:extLst>
            </p:cNvPr>
            <p:cNvSpPr>
              <a:spLocks noChangeShapeType="1"/>
            </p:cNvSpPr>
            <p:nvPr/>
          </p:nvSpPr>
          <p:spPr bwMode="auto">
            <a:xfrm>
              <a:off x="3251" y="3029"/>
              <a:ext cx="2096" cy="1"/>
            </a:xfrm>
            <a:prstGeom prst="line">
              <a:avLst/>
            </a:prstGeom>
            <a:noFill/>
            <a:ln w="34925">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 name="Line 89">
              <a:extLst>
                <a:ext uri="{FF2B5EF4-FFF2-40B4-BE49-F238E27FC236}">
                  <a16:creationId xmlns:a16="http://schemas.microsoft.com/office/drawing/2014/main" id="{4B866F4F-B766-C83F-0E97-39FE8E1CDB49}"/>
                </a:ext>
              </a:extLst>
            </p:cNvPr>
            <p:cNvSpPr>
              <a:spLocks noChangeShapeType="1"/>
            </p:cNvSpPr>
            <p:nvPr/>
          </p:nvSpPr>
          <p:spPr bwMode="auto">
            <a:xfrm>
              <a:off x="3407" y="3347"/>
              <a:ext cx="2095" cy="1"/>
            </a:xfrm>
            <a:prstGeom prst="line">
              <a:avLst/>
            </a:prstGeom>
            <a:noFill/>
            <a:ln w="34925">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 name="Line 90">
              <a:extLst>
                <a:ext uri="{FF2B5EF4-FFF2-40B4-BE49-F238E27FC236}">
                  <a16:creationId xmlns:a16="http://schemas.microsoft.com/office/drawing/2014/main" id="{68236CA5-75D0-CEAE-A7AE-C494925253F6}"/>
                </a:ext>
              </a:extLst>
            </p:cNvPr>
            <p:cNvSpPr>
              <a:spLocks noChangeShapeType="1"/>
            </p:cNvSpPr>
            <p:nvPr/>
          </p:nvSpPr>
          <p:spPr bwMode="auto">
            <a:xfrm>
              <a:off x="3214" y="2088"/>
              <a:ext cx="763" cy="1570"/>
            </a:xfrm>
            <a:prstGeom prst="line">
              <a:avLst/>
            </a:prstGeom>
            <a:noFill/>
            <a:ln w="34925">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 name="Line 91">
              <a:extLst>
                <a:ext uri="{FF2B5EF4-FFF2-40B4-BE49-F238E27FC236}">
                  <a16:creationId xmlns:a16="http://schemas.microsoft.com/office/drawing/2014/main" id="{867A6BBF-9AF2-DBF1-1C6A-6D56C40E2DD3}"/>
                </a:ext>
              </a:extLst>
            </p:cNvPr>
            <p:cNvSpPr>
              <a:spLocks noChangeShapeType="1"/>
            </p:cNvSpPr>
            <p:nvPr/>
          </p:nvSpPr>
          <p:spPr bwMode="auto">
            <a:xfrm>
              <a:off x="3629" y="2088"/>
              <a:ext cx="762" cy="1570"/>
            </a:xfrm>
            <a:prstGeom prst="line">
              <a:avLst/>
            </a:prstGeom>
            <a:noFill/>
            <a:ln w="34925">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 name="Line 92">
              <a:extLst>
                <a:ext uri="{FF2B5EF4-FFF2-40B4-BE49-F238E27FC236}">
                  <a16:creationId xmlns:a16="http://schemas.microsoft.com/office/drawing/2014/main" id="{19E74886-7E15-1B20-885E-80794D8D4271}"/>
                </a:ext>
              </a:extLst>
            </p:cNvPr>
            <p:cNvSpPr>
              <a:spLocks noChangeShapeType="1"/>
            </p:cNvSpPr>
            <p:nvPr/>
          </p:nvSpPr>
          <p:spPr bwMode="auto">
            <a:xfrm>
              <a:off x="4051" y="2088"/>
              <a:ext cx="762" cy="1570"/>
            </a:xfrm>
            <a:prstGeom prst="line">
              <a:avLst/>
            </a:prstGeom>
            <a:noFill/>
            <a:ln w="34925">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 name="Line 93">
              <a:extLst>
                <a:ext uri="{FF2B5EF4-FFF2-40B4-BE49-F238E27FC236}">
                  <a16:creationId xmlns:a16="http://schemas.microsoft.com/office/drawing/2014/main" id="{5B4F6476-2A2D-EA24-A621-FBFEDEB62697}"/>
                </a:ext>
              </a:extLst>
            </p:cNvPr>
            <p:cNvSpPr>
              <a:spLocks noChangeShapeType="1"/>
            </p:cNvSpPr>
            <p:nvPr/>
          </p:nvSpPr>
          <p:spPr bwMode="auto">
            <a:xfrm>
              <a:off x="4473" y="2088"/>
              <a:ext cx="763" cy="1570"/>
            </a:xfrm>
            <a:prstGeom prst="line">
              <a:avLst/>
            </a:prstGeom>
            <a:noFill/>
            <a:ln w="34925">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 name="Freeform 94">
              <a:extLst>
                <a:ext uri="{FF2B5EF4-FFF2-40B4-BE49-F238E27FC236}">
                  <a16:creationId xmlns:a16="http://schemas.microsoft.com/office/drawing/2014/main" id="{B6464EAF-5FD6-91A8-2ABF-D9CE28606124}"/>
                </a:ext>
              </a:extLst>
            </p:cNvPr>
            <p:cNvSpPr>
              <a:spLocks/>
            </p:cNvSpPr>
            <p:nvPr/>
          </p:nvSpPr>
          <p:spPr bwMode="auto">
            <a:xfrm>
              <a:off x="2792" y="2088"/>
              <a:ext cx="2866" cy="1570"/>
            </a:xfrm>
            <a:custGeom>
              <a:avLst/>
              <a:gdLst>
                <a:gd name="T0" fmla="*/ 2866 w 2866"/>
                <a:gd name="T1" fmla="*/ 1570 h 1570"/>
                <a:gd name="T2" fmla="*/ 763 w 2866"/>
                <a:gd name="T3" fmla="*/ 1570 h 1570"/>
                <a:gd name="T4" fmla="*/ 0 w 2866"/>
                <a:gd name="T5" fmla="*/ 0 h 1570"/>
                <a:gd name="T6" fmla="*/ 2096 w 2866"/>
                <a:gd name="T7" fmla="*/ 0 h 1570"/>
                <a:gd name="T8" fmla="*/ 2866 w 2866"/>
                <a:gd name="T9" fmla="*/ 1570 h 1570"/>
                <a:gd name="T10" fmla="*/ 0 60000 65536"/>
                <a:gd name="T11" fmla="*/ 0 60000 65536"/>
                <a:gd name="T12" fmla="*/ 0 60000 65536"/>
                <a:gd name="T13" fmla="*/ 0 60000 65536"/>
                <a:gd name="T14" fmla="*/ 0 60000 65536"/>
                <a:gd name="T15" fmla="*/ 0 w 2866"/>
                <a:gd name="T16" fmla="*/ 0 h 1570"/>
                <a:gd name="T17" fmla="*/ 2866 w 2866"/>
                <a:gd name="T18" fmla="*/ 1570 h 1570"/>
              </a:gdLst>
              <a:ahLst/>
              <a:cxnLst>
                <a:cxn ang="T10">
                  <a:pos x="T0" y="T1"/>
                </a:cxn>
                <a:cxn ang="T11">
                  <a:pos x="T2" y="T3"/>
                </a:cxn>
                <a:cxn ang="T12">
                  <a:pos x="T4" y="T5"/>
                </a:cxn>
                <a:cxn ang="T13">
                  <a:pos x="T6" y="T7"/>
                </a:cxn>
                <a:cxn ang="T14">
                  <a:pos x="T8" y="T9"/>
                </a:cxn>
              </a:cxnLst>
              <a:rect l="T15" t="T16" r="T17" b="T18"/>
              <a:pathLst>
                <a:path w="2866" h="1570">
                  <a:moveTo>
                    <a:pt x="2866" y="1570"/>
                  </a:moveTo>
                  <a:lnTo>
                    <a:pt x="763" y="1570"/>
                  </a:lnTo>
                  <a:lnTo>
                    <a:pt x="0" y="0"/>
                  </a:lnTo>
                  <a:lnTo>
                    <a:pt x="2096" y="0"/>
                  </a:lnTo>
                  <a:lnTo>
                    <a:pt x="2866" y="1570"/>
                  </a:lnTo>
                  <a:close/>
                </a:path>
              </a:pathLst>
            </a:custGeom>
            <a:noFill/>
            <a:ln w="238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9" name="Freeform 95">
              <a:extLst>
                <a:ext uri="{FF2B5EF4-FFF2-40B4-BE49-F238E27FC236}">
                  <a16:creationId xmlns:a16="http://schemas.microsoft.com/office/drawing/2014/main" id="{680CBD03-33F9-4BF7-5775-7CE517305D79}"/>
                </a:ext>
              </a:extLst>
            </p:cNvPr>
            <p:cNvSpPr>
              <a:spLocks/>
            </p:cNvSpPr>
            <p:nvPr/>
          </p:nvSpPr>
          <p:spPr bwMode="auto">
            <a:xfrm>
              <a:off x="4103" y="659"/>
              <a:ext cx="1532" cy="2377"/>
            </a:xfrm>
            <a:custGeom>
              <a:avLst/>
              <a:gdLst>
                <a:gd name="T0" fmla="*/ 1532 w 1532"/>
                <a:gd name="T1" fmla="*/ 0 h 2377"/>
                <a:gd name="T2" fmla="*/ 740 w 1532"/>
                <a:gd name="T3" fmla="*/ 0 h 2377"/>
                <a:gd name="T4" fmla="*/ 0 w 1532"/>
                <a:gd name="T5" fmla="*/ 2377 h 2377"/>
                <a:gd name="T6" fmla="*/ 414 w 1532"/>
                <a:gd name="T7" fmla="*/ 2377 h 2377"/>
                <a:gd name="T8" fmla="*/ 1532 w 1532"/>
                <a:gd name="T9" fmla="*/ 0 h 2377"/>
                <a:gd name="T10" fmla="*/ 0 60000 65536"/>
                <a:gd name="T11" fmla="*/ 0 60000 65536"/>
                <a:gd name="T12" fmla="*/ 0 60000 65536"/>
                <a:gd name="T13" fmla="*/ 0 60000 65536"/>
                <a:gd name="T14" fmla="*/ 0 60000 65536"/>
                <a:gd name="T15" fmla="*/ 0 w 1532"/>
                <a:gd name="T16" fmla="*/ 0 h 2377"/>
                <a:gd name="T17" fmla="*/ 1532 w 1532"/>
                <a:gd name="T18" fmla="*/ 2377 h 2377"/>
              </a:gdLst>
              <a:ahLst/>
              <a:cxnLst>
                <a:cxn ang="T10">
                  <a:pos x="T0" y="T1"/>
                </a:cxn>
                <a:cxn ang="T11">
                  <a:pos x="T2" y="T3"/>
                </a:cxn>
                <a:cxn ang="T12">
                  <a:pos x="T4" y="T5"/>
                </a:cxn>
                <a:cxn ang="T13">
                  <a:pos x="T6" y="T7"/>
                </a:cxn>
                <a:cxn ang="T14">
                  <a:pos x="T8" y="T9"/>
                </a:cxn>
              </a:cxnLst>
              <a:rect l="T15" t="T16" r="T17" b="T18"/>
              <a:pathLst>
                <a:path w="1532" h="2377">
                  <a:moveTo>
                    <a:pt x="1532" y="0"/>
                  </a:moveTo>
                  <a:lnTo>
                    <a:pt x="740" y="0"/>
                  </a:lnTo>
                  <a:lnTo>
                    <a:pt x="0" y="2377"/>
                  </a:lnTo>
                  <a:lnTo>
                    <a:pt x="414" y="2377"/>
                  </a:lnTo>
                  <a:lnTo>
                    <a:pt x="1532" y="0"/>
                  </a:lnTo>
                  <a:close/>
                </a:path>
              </a:pathLst>
            </a:custGeom>
            <a:solidFill>
              <a:srgbClr val="FB6747"/>
            </a:solidFill>
            <a:ln w="11113">
              <a:solidFill>
                <a:srgbClr val="000000"/>
              </a:solidFill>
              <a:prstDash val="solid"/>
              <a:round/>
              <a:headEnd/>
              <a:tailEnd/>
            </a:ln>
          </p:spPr>
          <p:txBody>
            <a:bodyPr/>
            <a:lstStyle/>
            <a:p>
              <a:endParaRPr lang="en-US"/>
            </a:p>
          </p:txBody>
        </p:sp>
        <p:sp>
          <p:nvSpPr>
            <p:cNvPr id="110" name="Freeform 96">
              <a:extLst>
                <a:ext uri="{FF2B5EF4-FFF2-40B4-BE49-F238E27FC236}">
                  <a16:creationId xmlns:a16="http://schemas.microsoft.com/office/drawing/2014/main" id="{3F9DD828-362C-AB2A-FC88-1840DAC10758}"/>
                </a:ext>
              </a:extLst>
            </p:cNvPr>
            <p:cNvSpPr>
              <a:spLocks/>
            </p:cNvSpPr>
            <p:nvPr/>
          </p:nvSpPr>
          <p:spPr bwMode="auto">
            <a:xfrm>
              <a:off x="3940" y="96"/>
              <a:ext cx="903" cy="2933"/>
            </a:xfrm>
            <a:custGeom>
              <a:avLst/>
              <a:gdLst>
                <a:gd name="T0" fmla="*/ 0 w 903"/>
                <a:gd name="T1" fmla="*/ 2621 h 2933"/>
                <a:gd name="T2" fmla="*/ 518 w 903"/>
                <a:gd name="T3" fmla="*/ 0 h 2933"/>
                <a:gd name="T4" fmla="*/ 903 w 903"/>
                <a:gd name="T5" fmla="*/ 540 h 2933"/>
                <a:gd name="T6" fmla="*/ 155 w 903"/>
                <a:gd name="T7" fmla="*/ 2933 h 2933"/>
                <a:gd name="T8" fmla="*/ 0 w 903"/>
                <a:gd name="T9" fmla="*/ 2621 h 2933"/>
                <a:gd name="T10" fmla="*/ 0 60000 65536"/>
                <a:gd name="T11" fmla="*/ 0 60000 65536"/>
                <a:gd name="T12" fmla="*/ 0 60000 65536"/>
                <a:gd name="T13" fmla="*/ 0 60000 65536"/>
                <a:gd name="T14" fmla="*/ 0 60000 65536"/>
                <a:gd name="T15" fmla="*/ 0 w 903"/>
                <a:gd name="T16" fmla="*/ 0 h 2933"/>
                <a:gd name="T17" fmla="*/ 903 w 903"/>
                <a:gd name="T18" fmla="*/ 2933 h 2933"/>
              </a:gdLst>
              <a:ahLst/>
              <a:cxnLst>
                <a:cxn ang="T10">
                  <a:pos x="T0" y="T1"/>
                </a:cxn>
                <a:cxn ang="T11">
                  <a:pos x="T2" y="T3"/>
                </a:cxn>
                <a:cxn ang="T12">
                  <a:pos x="T4" y="T5"/>
                </a:cxn>
                <a:cxn ang="T13">
                  <a:pos x="T6" y="T7"/>
                </a:cxn>
                <a:cxn ang="T14">
                  <a:pos x="T8" y="T9"/>
                </a:cxn>
              </a:cxnLst>
              <a:rect l="T15" t="T16" r="T17" b="T18"/>
              <a:pathLst>
                <a:path w="903" h="2933">
                  <a:moveTo>
                    <a:pt x="0" y="2621"/>
                  </a:moveTo>
                  <a:lnTo>
                    <a:pt x="518" y="0"/>
                  </a:lnTo>
                  <a:lnTo>
                    <a:pt x="903" y="540"/>
                  </a:lnTo>
                  <a:lnTo>
                    <a:pt x="155" y="2933"/>
                  </a:lnTo>
                  <a:lnTo>
                    <a:pt x="0" y="2621"/>
                  </a:lnTo>
                  <a:close/>
                </a:path>
              </a:pathLst>
            </a:custGeom>
            <a:solidFill>
              <a:srgbClr val="FB805F"/>
            </a:solidFill>
            <a:ln w="11113">
              <a:solidFill>
                <a:srgbClr val="000000"/>
              </a:solidFill>
              <a:prstDash val="solid"/>
              <a:round/>
              <a:headEnd/>
              <a:tailEnd/>
            </a:ln>
          </p:spPr>
          <p:txBody>
            <a:bodyPr/>
            <a:lstStyle/>
            <a:p>
              <a:endParaRPr lang="en-US"/>
            </a:p>
          </p:txBody>
        </p:sp>
        <p:sp>
          <p:nvSpPr>
            <p:cNvPr id="111" name="Freeform 97">
              <a:extLst>
                <a:ext uri="{FF2B5EF4-FFF2-40B4-BE49-F238E27FC236}">
                  <a16:creationId xmlns:a16="http://schemas.microsoft.com/office/drawing/2014/main" id="{C5547059-8D25-1592-D845-28797EACF644}"/>
                </a:ext>
              </a:extLst>
            </p:cNvPr>
            <p:cNvSpPr>
              <a:spLocks/>
            </p:cNvSpPr>
            <p:nvPr/>
          </p:nvSpPr>
          <p:spPr bwMode="auto">
            <a:xfrm>
              <a:off x="4458" y="96"/>
              <a:ext cx="1170" cy="555"/>
            </a:xfrm>
            <a:custGeom>
              <a:avLst/>
              <a:gdLst>
                <a:gd name="T0" fmla="*/ 0 w 1170"/>
                <a:gd name="T1" fmla="*/ 0 h 555"/>
                <a:gd name="T2" fmla="*/ 778 w 1170"/>
                <a:gd name="T3" fmla="*/ 0 h 555"/>
                <a:gd name="T4" fmla="*/ 1170 w 1170"/>
                <a:gd name="T5" fmla="*/ 555 h 555"/>
                <a:gd name="T6" fmla="*/ 385 w 1170"/>
                <a:gd name="T7" fmla="*/ 555 h 555"/>
                <a:gd name="T8" fmla="*/ 0 w 1170"/>
                <a:gd name="T9" fmla="*/ 0 h 555"/>
                <a:gd name="T10" fmla="*/ 0 60000 65536"/>
                <a:gd name="T11" fmla="*/ 0 60000 65536"/>
                <a:gd name="T12" fmla="*/ 0 60000 65536"/>
                <a:gd name="T13" fmla="*/ 0 60000 65536"/>
                <a:gd name="T14" fmla="*/ 0 60000 65536"/>
                <a:gd name="T15" fmla="*/ 0 w 1170"/>
                <a:gd name="T16" fmla="*/ 0 h 555"/>
                <a:gd name="T17" fmla="*/ 1170 w 1170"/>
                <a:gd name="T18" fmla="*/ 555 h 555"/>
              </a:gdLst>
              <a:ahLst/>
              <a:cxnLst>
                <a:cxn ang="T10">
                  <a:pos x="T0" y="T1"/>
                </a:cxn>
                <a:cxn ang="T11">
                  <a:pos x="T2" y="T3"/>
                </a:cxn>
                <a:cxn ang="T12">
                  <a:pos x="T4" y="T5"/>
                </a:cxn>
                <a:cxn ang="T13">
                  <a:pos x="T6" y="T7"/>
                </a:cxn>
                <a:cxn ang="T14">
                  <a:pos x="T8" y="T9"/>
                </a:cxn>
              </a:cxnLst>
              <a:rect l="T15" t="T16" r="T17" b="T18"/>
              <a:pathLst>
                <a:path w="1170" h="555">
                  <a:moveTo>
                    <a:pt x="0" y="0"/>
                  </a:moveTo>
                  <a:lnTo>
                    <a:pt x="778" y="0"/>
                  </a:lnTo>
                  <a:lnTo>
                    <a:pt x="1170" y="555"/>
                  </a:lnTo>
                  <a:lnTo>
                    <a:pt x="385" y="555"/>
                  </a:lnTo>
                  <a:lnTo>
                    <a:pt x="0" y="0"/>
                  </a:lnTo>
                  <a:close/>
                </a:path>
              </a:pathLst>
            </a:custGeom>
            <a:solidFill>
              <a:srgbClr val="FC4D31"/>
            </a:solidFill>
            <a:ln w="11113">
              <a:solidFill>
                <a:srgbClr val="000000"/>
              </a:solidFill>
              <a:prstDash val="solid"/>
              <a:round/>
              <a:headEnd/>
              <a:tailEnd/>
            </a:ln>
          </p:spPr>
          <p:txBody>
            <a:bodyPr/>
            <a:lstStyle/>
            <a:p>
              <a:endParaRPr lang="en-US"/>
            </a:p>
          </p:txBody>
        </p:sp>
        <p:sp>
          <p:nvSpPr>
            <p:cNvPr id="112" name="Freeform 98">
              <a:extLst>
                <a:ext uri="{FF2B5EF4-FFF2-40B4-BE49-F238E27FC236}">
                  <a16:creationId xmlns:a16="http://schemas.microsoft.com/office/drawing/2014/main" id="{D4BA8CF9-0794-46E0-2BA5-A2182F6891FC}"/>
                </a:ext>
              </a:extLst>
            </p:cNvPr>
            <p:cNvSpPr>
              <a:spLocks/>
            </p:cNvSpPr>
            <p:nvPr/>
          </p:nvSpPr>
          <p:spPr bwMode="auto">
            <a:xfrm>
              <a:off x="3940" y="2703"/>
              <a:ext cx="577" cy="318"/>
            </a:xfrm>
            <a:custGeom>
              <a:avLst/>
              <a:gdLst>
                <a:gd name="T0" fmla="*/ 577 w 577"/>
                <a:gd name="T1" fmla="*/ 318 h 318"/>
                <a:gd name="T2" fmla="*/ 155 w 577"/>
                <a:gd name="T3" fmla="*/ 318 h 318"/>
                <a:gd name="T4" fmla="*/ 0 w 577"/>
                <a:gd name="T5" fmla="*/ 0 h 318"/>
                <a:gd name="T6" fmla="*/ 0 60000 65536"/>
                <a:gd name="T7" fmla="*/ 0 60000 65536"/>
                <a:gd name="T8" fmla="*/ 0 60000 65536"/>
                <a:gd name="T9" fmla="*/ 0 w 577"/>
                <a:gd name="T10" fmla="*/ 0 h 318"/>
                <a:gd name="T11" fmla="*/ 577 w 577"/>
                <a:gd name="T12" fmla="*/ 318 h 318"/>
              </a:gdLst>
              <a:ahLst/>
              <a:cxnLst>
                <a:cxn ang="T6">
                  <a:pos x="T0" y="T1"/>
                </a:cxn>
                <a:cxn ang="T7">
                  <a:pos x="T2" y="T3"/>
                </a:cxn>
                <a:cxn ang="T8">
                  <a:pos x="T4" y="T5"/>
                </a:cxn>
              </a:cxnLst>
              <a:rect l="T9" t="T10" r="T11" b="T12"/>
              <a:pathLst>
                <a:path w="577" h="318">
                  <a:moveTo>
                    <a:pt x="577" y="318"/>
                  </a:moveTo>
                  <a:lnTo>
                    <a:pt x="155" y="318"/>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3" name="Freeform 99">
              <a:extLst>
                <a:ext uri="{FF2B5EF4-FFF2-40B4-BE49-F238E27FC236}">
                  <a16:creationId xmlns:a16="http://schemas.microsoft.com/office/drawing/2014/main" id="{6CEAED52-77EE-1CC6-4A22-45FCA198DAB8}"/>
                </a:ext>
              </a:extLst>
            </p:cNvPr>
            <p:cNvSpPr>
              <a:spLocks/>
            </p:cNvSpPr>
            <p:nvPr/>
          </p:nvSpPr>
          <p:spPr bwMode="auto">
            <a:xfrm>
              <a:off x="3947" y="2688"/>
              <a:ext cx="578" cy="318"/>
            </a:xfrm>
            <a:custGeom>
              <a:avLst/>
              <a:gdLst>
                <a:gd name="T0" fmla="*/ 578 w 578"/>
                <a:gd name="T1" fmla="*/ 318 h 318"/>
                <a:gd name="T2" fmla="*/ 156 w 578"/>
                <a:gd name="T3" fmla="*/ 318 h 318"/>
                <a:gd name="T4" fmla="*/ 0 w 578"/>
                <a:gd name="T5" fmla="*/ 0 h 318"/>
                <a:gd name="T6" fmla="*/ 0 60000 65536"/>
                <a:gd name="T7" fmla="*/ 0 60000 65536"/>
                <a:gd name="T8" fmla="*/ 0 60000 65536"/>
                <a:gd name="T9" fmla="*/ 0 w 578"/>
                <a:gd name="T10" fmla="*/ 0 h 318"/>
                <a:gd name="T11" fmla="*/ 578 w 578"/>
                <a:gd name="T12" fmla="*/ 318 h 318"/>
              </a:gdLst>
              <a:ahLst/>
              <a:cxnLst>
                <a:cxn ang="T6">
                  <a:pos x="T0" y="T1"/>
                </a:cxn>
                <a:cxn ang="T7">
                  <a:pos x="T2" y="T3"/>
                </a:cxn>
                <a:cxn ang="T8">
                  <a:pos x="T4" y="T5"/>
                </a:cxn>
              </a:cxnLst>
              <a:rect l="T9" t="T10" r="T11" b="T12"/>
              <a:pathLst>
                <a:path w="578" h="318">
                  <a:moveTo>
                    <a:pt x="578" y="318"/>
                  </a:moveTo>
                  <a:lnTo>
                    <a:pt x="156" y="318"/>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4" name="Freeform 100">
              <a:extLst>
                <a:ext uri="{FF2B5EF4-FFF2-40B4-BE49-F238E27FC236}">
                  <a16:creationId xmlns:a16="http://schemas.microsoft.com/office/drawing/2014/main" id="{EC3FB8C9-C3AF-4CF7-3517-3998C5AFECDC}"/>
                </a:ext>
              </a:extLst>
            </p:cNvPr>
            <p:cNvSpPr>
              <a:spLocks/>
            </p:cNvSpPr>
            <p:nvPr/>
          </p:nvSpPr>
          <p:spPr bwMode="auto">
            <a:xfrm>
              <a:off x="3947" y="2651"/>
              <a:ext cx="592" cy="326"/>
            </a:xfrm>
            <a:custGeom>
              <a:avLst/>
              <a:gdLst>
                <a:gd name="T0" fmla="*/ 592 w 592"/>
                <a:gd name="T1" fmla="*/ 326 h 326"/>
                <a:gd name="T2" fmla="*/ 163 w 592"/>
                <a:gd name="T3" fmla="*/ 318 h 326"/>
                <a:gd name="T4" fmla="*/ 0 w 592"/>
                <a:gd name="T5" fmla="*/ 0 h 326"/>
                <a:gd name="T6" fmla="*/ 0 60000 65536"/>
                <a:gd name="T7" fmla="*/ 0 60000 65536"/>
                <a:gd name="T8" fmla="*/ 0 60000 65536"/>
                <a:gd name="T9" fmla="*/ 0 w 592"/>
                <a:gd name="T10" fmla="*/ 0 h 326"/>
                <a:gd name="T11" fmla="*/ 592 w 592"/>
                <a:gd name="T12" fmla="*/ 326 h 326"/>
              </a:gdLst>
              <a:ahLst/>
              <a:cxnLst>
                <a:cxn ang="T6">
                  <a:pos x="T0" y="T1"/>
                </a:cxn>
                <a:cxn ang="T7">
                  <a:pos x="T2" y="T3"/>
                </a:cxn>
                <a:cxn ang="T8">
                  <a:pos x="T4" y="T5"/>
                </a:cxn>
              </a:cxnLst>
              <a:rect l="T9" t="T10" r="T11" b="T12"/>
              <a:pathLst>
                <a:path w="592" h="326">
                  <a:moveTo>
                    <a:pt x="592" y="326"/>
                  </a:moveTo>
                  <a:lnTo>
                    <a:pt x="163" y="318"/>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5" name="Freeform 101">
              <a:extLst>
                <a:ext uri="{FF2B5EF4-FFF2-40B4-BE49-F238E27FC236}">
                  <a16:creationId xmlns:a16="http://schemas.microsoft.com/office/drawing/2014/main" id="{C6321F83-523F-44A9-8829-6AFF2992DE1C}"/>
                </a:ext>
              </a:extLst>
            </p:cNvPr>
            <p:cNvSpPr>
              <a:spLocks/>
            </p:cNvSpPr>
            <p:nvPr/>
          </p:nvSpPr>
          <p:spPr bwMode="auto">
            <a:xfrm>
              <a:off x="3969" y="2592"/>
              <a:ext cx="593" cy="333"/>
            </a:xfrm>
            <a:custGeom>
              <a:avLst/>
              <a:gdLst>
                <a:gd name="T0" fmla="*/ 593 w 593"/>
                <a:gd name="T1" fmla="*/ 333 h 333"/>
                <a:gd name="T2" fmla="*/ 163 w 593"/>
                <a:gd name="T3" fmla="*/ 333 h 333"/>
                <a:gd name="T4" fmla="*/ 0 w 593"/>
                <a:gd name="T5" fmla="*/ 0 h 333"/>
                <a:gd name="T6" fmla="*/ 0 60000 65536"/>
                <a:gd name="T7" fmla="*/ 0 60000 65536"/>
                <a:gd name="T8" fmla="*/ 0 60000 65536"/>
                <a:gd name="T9" fmla="*/ 0 w 593"/>
                <a:gd name="T10" fmla="*/ 0 h 333"/>
                <a:gd name="T11" fmla="*/ 593 w 593"/>
                <a:gd name="T12" fmla="*/ 333 h 333"/>
              </a:gdLst>
              <a:ahLst/>
              <a:cxnLst>
                <a:cxn ang="T6">
                  <a:pos x="T0" y="T1"/>
                </a:cxn>
                <a:cxn ang="T7">
                  <a:pos x="T2" y="T3"/>
                </a:cxn>
                <a:cxn ang="T8">
                  <a:pos x="T4" y="T5"/>
                </a:cxn>
              </a:cxnLst>
              <a:rect l="T9" t="T10" r="T11" b="T12"/>
              <a:pathLst>
                <a:path w="593" h="333">
                  <a:moveTo>
                    <a:pt x="593" y="333"/>
                  </a:moveTo>
                  <a:lnTo>
                    <a:pt x="163" y="333"/>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6" name="Freeform 102">
              <a:extLst>
                <a:ext uri="{FF2B5EF4-FFF2-40B4-BE49-F238E27FC236}">
                  <a16:creationId xmlns:a16="http://schemas.microsoft.com/office/drawing/2014/main" id="{0CB80E9F-968F-6EF6-995B-63D8954F3C20}"/>
                </a:ext>
              </a:extLst>
            </p:cNvPr>
            <p:cNvSpPr>
              <a:spLocks/>
            </p:cNvSpPr>
            <p:nvPr/>
          </p:nvSpPr>
          <p:spPr bwMode="auto">
            <a:xfrm>
              <a:off x="3977" y="2525"/>
              <a:ext cx="614" cy="333"/>
            </a:xfrm>
            <a:custGeom>
              <a:avLst/>
              <a:gdLst>
                <a:gd name="T0" fmla="*/ 614 w 614"/>
                <a:gd name="T1" fmla="*/ 333 h 333"/>
                <a:gd name="T2" fmla="*/ 170 w 614"/>
                <a:gd name="T3" fmla="*/ 333 h 333"/>
                <a:gd name="T4" fmla="*/ 0 w 614"/>
                <a:gd name="T5" fmla="*/ 0 h 333"/>
                <a:gd name="T6" fmla="*/ 0 60000 65536"/>
                <a:gd name="T7" fmla="*/ 0 60000 65536"/>
                <a:gd name="T8" fmla="*/ 0 60000 65536"/>
                <a:gd name="T9" fmla="*/ 0 w 614"/>
                <a:gd name="T10" fmla="*/ 0 h 333"/>
                <a:gd name="T11" fmla="*/ 614 w 614"/>
                <a:gd name="T12" fmla="*/ 333 h 333"/>
              </a:gdLst>
              <a:ahLst/>
              <a:cxnLst>
                <a:cxn ang="T6">
                  <a:pos x="T0" y="T1"/>
                </a:cxn>
                <a:cxn ang="T7">
                  <a:pos x="T2" y="T3"/>
                </a:cxn>
                <a:cxn ang="T8">
                  <a:pos x="T4" y="T5"/>
                </a:cxn>
              </a:cxnLst>
              <a:rect l="T9" t="T10" r="T11" b="T12"/>
              <a:pathLst>
                <a:path w="614" h="333">
                  <a:moveTo>
                    <a:pt x="614" y="333"/>
                  </a:moveTo>
                  <a:lnTo>
                    <a:pt x="170" y="333"/>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7" name="Freeform 103">
              <a:extLst>
                <a:ext uri="{FF2B5EF4-FFF2-40B4-BE49-F238E27FC236}">
                  <a16:creationId xmlns:a16="http://schemas.microsoft.com/office/drawing/2014/main" id="{AF6D0DB8-7129-2C10-AB58-B3ADA56E4E15}"/>
                </a:ext>
              </a:extLst>
            </p:cNvPr>
            <p:cNvSpPr>
              <a:spLocks/>
            </p:cNvSpPr>
            <p:nvPr/>
          </p:nvSpPr>
          <p:spPr bwMode="auto">
            <a:xfrm>
              <a:off x="3992" y="2451"/>
              <a:ext cx="636" cy="326"/>
            </a:xfrm>
            <a:custGeom>
              <a:avLst/>
              <a:gdLst>
                <a:gd name="T0" fmla="*/ 636 w 636"/>
                <a:gd name="T1" fmla="*/ 326 h 326"/>
                <a:gd name="T2" fmla="*/ 177 w 636"/>
                <a:gd name="T3" fmla="*/ 326 h 326"/>
                <a:gd name="T4" fmla="*/ 0 w 636"/>
                <a:gd name="T5" fmla="*/ 0 h 326"/>
                <a:gd name="T6" fmla="*/ 0 60000 65536"/>
                <a:gd name="T7" fmla="*/ 0 60000 65536"/>
                <a:gd name="T8" fmla="*/ 0 60000 65536"/>
                <a:gd name="T9" fmla="*/ 0 w 636"/>
                <a:gd name="T10" fmla="*/ 0 h 326"/>
                <a:gd name="T11" fmla="*/ 636 w 636"/>
                <a:gd name="T12" fmla="*/ 326 h 326"/>
              </a:gdLst>
              <a:ahLst/>
              <a:cxnLst>
                <a:cxn ang="T6">
                  <a:pos x="T0" y="T1"/>
                </a:cxn>
                <a:cxn ang="T7">
                  <a:pos x="T2" y="T3"/>
                </a:cxn>
                <a:cxn ang="T8">
                  <a:pos x="T4" y="T5"/>
                </a:cxn>
              </a:cxnLst>
              <a:rect l="T9" t="T10" r="T11" b="T12"/>
              <a:pathLst>
                <a:path w="636" h="326">
                  <a:moveTo>
                    <a:pt x="636" y="326"/>
                  </a:moveTo>
                  <a:lnTo>
                    <a:pt x="177" y="326"/>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8" name="Freeform 104">
              <a:extLst>
                <a:ext uri="{FF2B5EF4-FFF2-40B4-BE49-F238E27FC236}">
                  <a16:creationId xmlns:a16="http://schemas.microsoft.com/office/drawing/2014/main" id="{3CB55187-3B65-5B23-D13A-F5971D40F789}"/>
                </a:ext>
              </a:extLst>
            </p:cNvPr>
            <p:cNvSpPr>
              <a:spLocks/>
            </p:cNvSpPr>
            <p:nvPr/>
          </p:nvSpPr>
          <p:spPr bwMode="auto">
            <a:xfrm>
              <a:off x="4014" y="2362"/>
              <a:ext cx="659" cy="326"/>
            </a:xfrm>
            <a:custGeom>
              <a:avLst/>
              <a:gdLst>
                <a:gd name="T0" fmla="*/ 659 w 659"/>
                <a:gd name="T1" fmla="*/ 326 h 326"/>
                <a:gd name="T2" fmla="*/ 185 w 659"/>
                <a:gd name="T3" fmla="*/ 326 h 326"/>
                <a:gd name="T4" fmla="*/ 0 w 659"/>
                <a:gd name="T5" fmla="*/ 0 h 326"/>
                <a:gd name="T6" fmla="*/ 0 60000 65536"/>
                <a:gd name="T7" fmla="*/ 0 60000 65536"/>
                <a:gd name="T8" fmla="*/ 0 60000 65536"/>
                <a:gd name="T9" fmla="*/ 0 w 659"/>
                <a:gd name="T10" fmla="*/ 0 h 326"/>
                <a:gd name="T11" fmla="*/ 659 w 659"/>
                <a:gd name="T12" fmla="*/ 326 h 326"/>
              </a:gdLst>
              <a:ahLst/>
              <a:cxnLst>
                <a:cxn ang="T6">
                  <a:pos x="T0" y="T1"/>
                </a:cxn>
                <a:cxn ang="T7">
                  <a:pos x="T2" y="T3"/>
                </a:cxn>
                <a:cxn ang="T8">
                  <a:pos x="T4" y="T5"/>
                </a:cxn>
              </a:cxnLst>
              <a:rect l="T9" t="T10" r="T11" b="T12"/>
              <a:pathLst>
                <a:path w="659" h="326">
                  <a:moveTo>
                    <a:pt x="659" y="326"/>
                  </a:moveTo>
                  <a:lnTo>
                    <a:pt x="185" y="326"/>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9" name="Freeform 105">
              <a:extLst>
                <a:ext uri="{FF2B5EF4-FFF2-40B4-BE49-F238E27FC236}">
                  <a16:creationId xmlns:a16="http://schemas.microsoft.com/office/drawing/2014/main" id="{F7FDD41A-158C-488D-4451-730251060CE8}"/>
                </a:ext>
              </a:extLst>
            </p:cNvPr>
            <p:cNvSpPr>
              <a:spLocks/>
            </p:cNvSpPr>
            <p:nvPr/>
          </p:nvSpPr>
          <p:spPr bwMode="auto">
            <a:xfrm>
              <a:off x="4036" y="2236"/>
              <a:ext cx="689" cy="341"/>
            </a:xfrm>
            <a:custGeom>
              <a:avLst/>
              <a:gdLst>
                <a:gd name="T0" fmla="*/ 689 w 689"/>
                <a:gd name="T1" fmla="*/ 341 h 341"/>
                <a:gd name="T2" fmla="*/ 200 w 689"/>
                <a:gd name="T3" fmla="*/ 341 h 341"/>
                <a:gd name="T4" fmla="*/ 0 w 689"/>
                <a:gd name="T5" fmla="*/ 0 h 341"/>
                <a:gd name="T6" fmla="*/ 0 60000 65536"/>
                <a:gd name="T7" fmla="*/ 0 60000 65536"/>
                <a:gd name="T8" fmla="*/ 0 60000 65536"/>
                <a:gd name="T9" fmla="*/ 0 w 689"/>
                <a:gd name="T10" fmla="*/ 0 h 341"/>
                <a:gd name="T11" fmla="*/ 689 w 689"/>
                <a:gd name="T12" fmla="*/ 341 h 341"/>
              </a:gdLst>
              <a:ahLst/>
              <a:cxnLst>
                <a:cxn ang="T6">
                  <a:pos x="T0" y="T1"/>
                </a:cxn>
                <a:cxn ang="T7">
                  <a:pos x="T2" y="T3"/>
                </a:cxn>
                <a:cxn ang="T8">
                  <a:pos x="T4" y="T5"/>
                </a:cxn>
              </a:cxnLst>
              <a:rect l="T9" t="T10" r="T11" b="T12"/>
              <a:pathLst>
                <a:path w="689" h="341">
                  <a:moveTo>
                    <a:pt x="689" y="341"/>
                  </a:moveTo>
                  <a:lnTo>
                    <a:pt x="200" y="341"/>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0" name="Freeform 106">
              <a:extLst>
                <a:ext uri="{FF2B5EF4-FFF2-40B4-BE49-F238E27FC236}">
                  <a16:creationId xmlns:a16="http://schemas.microsoft.com/office/drawing/2014/main" id="{A4A79F76-8CAE-A245-5EF7-F5BBBE48C6E0}"/>
                </a:ext>
              </a:extLst>
            </p:cNvPr>
            <p:cNvSpPr>
              <a:spLocks/>
            </p:cNvSpPr>
            <p:nvPr/>
          </p:nvSpPr>
          <p:spPr bwMode="auto">
            <a:xfrm>
              <a:off x="4066" y="2095"/>
              <a:ext cx="718" cy="371"/>
            </a:xfrm>
            <a:custGeom>
              <a:avLst/>
              <a:gdLst>
                <a:gd name="T0" fmla="*/ 718 w 718"/>
                <a:gd name="T1" fmla="*/ 371 h 371"/>
                <a:gd name="T2" fmla="*/ 207 w 718"/>
                <a:gd name="T3" fmla="*/ 371 h 371"/>
                <a:gd name="T4" fmla="*/ 0 w 718"/>
                <a:gd name="T5" fmla="*/ 0 h 371"/>
                <a:gd name="T6" fmla="*/ 0 60000 65536"/>
                <a:gd name="T7" fmla="*/ 0 60000 65536"/>
                <a:gd name="T8" fmla="*/ 0 60000 65536"/>
                <a:gd name="T9" fmla="*/ 0 w 718"/>
                <a:gd name="T10" fmla="*/ 0 h 371"/>
                <a:gd name="T11" fmla="*/ 718 w 718"/>
                <a:gd name="T12" fmla="*/ 371 h 371"/>
              </a:gdLst>
              <a:ahLst/>
              <a:cxnLst>
                <a:cxn ang="T6">
                  <a:pos x="T0" y="T1"/>
                </a:cxn>
                <a:cxn ang="T7">
                  <a:pos x="T2" y="T3"/>
                </a:cxn>
                <a:cxn ang="T8">
                  <a:pos x="T4" y="T5"/>
                </a:cxn>
              </a:cxnLst>
              <a:rect l="T9" t="T10" r="T11" b="T12"/>
              <a:pathLst>
                <a:path w="718" h="371">
                  <a:moveTo>
                    <a:pt x="718" y="371"/>
                  </a:moveTo>
                  <a:lnTo>
                    <a:pt x="207" y="371"/>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1" name="Freeform 107">
              <a:extLst>
                <a:ext uri="{FF2B5EF4-FFF2-40B4-BE49-F238E27FC236}">
                  <a16:creationId xmlns:a16="http://schemas.microsoft.com/office/drawing/2014/main" id="{29E42A4E-59CF-C179-024C-9E86E15B483E}"/>
                </a:ext>
              </a:extLst>
            </p:cNvPr>
            <p:cNvSpPr>
              <a:spLocks/>
            </p:cNvSpPr>
            <p:nvPr/>
          </p:nvSpPr>
          <p:spPr bwMode="auto">
            <a:xfrm>
              <a:off x="4088" y="1947"/>
              <a:ext cx="755" cy="393"/>
            </a:xfrm>
            <a:custGeom>
              <a:avLst/>
              <a:gdLst>
                <a:gd name="T0" fmla="*/ 755 w 755"/>
                <a:gd name="T1" fmla="*/ 393 h 393"/>
                <a:gd name="T2" fmla="*/ 222 w 755"/>
                <a:gd name="T3" fmla="*/ 393 h 393"/>
                <a:gd name="T4" fmla="*/ 0 w 755"/>
                <a:gd name="T5" fmla="*/ 0 h 393"/>
                <a:gd name="T6" fmla="*/ 0 60000 65536"/>
                <a:gd name="T7" fmla="*/ 0 60000 65536"/>
                <a:gd name="T8" fmla="*/ 0 60000 65536"/>
                <a:gd name="T9" fmla="*/ 0 w 755"/>
                <a:gd name="T10" fmla="*/ 0 h 393"/>
                <a:gd name="T11" fmla="*/ 755 w 755"/>
                <a:gd name="T12" fmla="*/ 393 h 393"/>
              </a:gdLst>
              <a:ahLst/>
              <a:cxnLst>
                <a:cxn ang="T6">
                  <a:pos x="T0" y="T1"/>
                </a:cxn>
                <a:cxn ang="T7">
                  <a:pos x="T2" y="T3"/>
                </a:cxn>
                <a:cxn ang="T8">
                  <a:pos x="T4" y="T5"/>
                </a:cxn>
              </a:cxnLst>
              <a:rect l="T9" t="T10" r="T11" b="T12"/>
              <a:pathLst>
                <a:path w="755" h="393">
                  <a:moveTo>
                    <a:pt x="755" y="393"/>
                  </a:moveTo>
                  <a:lnTo>
                    <a:pt x="222" y="393"/>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2" name="Freeform 108">
              <a:extLst>
                <a:ext uri="{FF2B5EF4-FFF2-40B4-BE49-F238E27FC236}">
                  <a16:creationId xmlns:a16="http://schemas.microsoft.com/office/drawing/2014/main" id="{094577D4-59AE-54E3-D45E-913B9F189428}"/>
                </a:ext>
              </a:extLst>
            </p:cNvPr>
            <p:cNvSpPr>
              <a:spLocks/>
            </p:cNvSpPr>
            <p:nvPr/>
          </p:nvSpPr>
          <p:spPr bwMode="auto">
            <a:xfrm>
              <a:off x="4125" y="1770"/>
              <a:ext cx="785" cy="414"/>
            </a:xfrm>
            <a:custGeom>
              <a:avLst/>
              <a:gdLst>
                <a:gd name="T0" fmla="*/ 785 w 785"/>
                <a:gd name="T1" fmla="*/ 414 h 414"/>
                <a:gd name="T2" fmla="*/ 237 w 785"/>
                <a:gd name="T3" fmla="*/ 414 h 414"/>
                <a:gd name="T4" fmla="*/ 0 w 785"/>
                <a:gd name="T5" fmla="*/ 0 h 414"/>
                <a:gd name="T6" fmla="*/ 0 60000 65536"/>
                <a:gd name="T7" fmla="*/ 0 60000 65536"/>
                <a:gd name="T8" fmla="*/ 0 60000 65536"/>
                <a:gd name="T9" fmla="*/ 0 w 785"/>
                <a:gd name="T10" fmla="*/ 0 h 414"/>
                <a:gd name="T11" fmla="*/ 785 w 785"/>
                <a:gd name="T12" fmla="*/ 414 h 414"/>
              </a:gdLst>
              <a:ahLst/>
              <a:cxnLst>
                <a:cxn ang="T6">
                  <a:pos x="T0" y="T1"/>
                </a:cxn>
                <a:cxn ang="T7">
                  <a:pos x="T2" y="T3"/>
                </a:cxn>
                <a:cxn ang="T8">
                  <a:pos x="T4" y="T5"/>
                </a:cxn>
              </a:cxnLst>
              <a:rect l="T9" t="T10" r="T11" b="T12"/>
              <a:pathLst>
                <a:path w="785" h="414">
                  <a:moveTo>
                    <a:pt x="785" y="414"/>
                  </a:moveTo>
                  <a:lnTo>
                    <a:pt x="237" y="414"/>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 name="Freeform 109">
              <a:extLst>
                <a:ext uri="{FF2B5EF4-FFF2-40B4-BE49-F238E27FC236}">
                  <a16:creationId xmlns:a16="http://schemas.microsoft.com/office/drawing/2014/main" id="{4582CCD3-E748-ACAF-1E77-E81B46DF01BF}"/>
                </a:ext>
              </a:extLst>
            </p:cNvPr>
            <p:cNvSpPr>
              <a:spLocks/>
            </p:cNvSpPr>
            <p:nvPr/>
          </p:nvSpPr>
          <p:spPr bwMode="auto">
            <a:xfrm>
              <a:off x="4184" y="1466"/>
              <a:ext cx="844" cy="466"/>
            </a:xfrm>
            <a:custGeom>
              <a:avLst/>
              <a:gdLst>
                <a:gd name="T0" fmla="*/ 844 w 844"/>
                <a:gd name="T1" fmla="*/ 466 h 466"/>
                <a:gd name="T2" fmla="*/ 252 w 844"/>
                <a:gd name="T3" fmla="*/ 466 h 466"/>
                <a:gd name="T4" fmla="*/ 0 w 844"/>
                <a:gd name="T5" fmla="*/ 0 h 466"/>
                <a:gd name="T6" fmla="*/ 0 60000 65536"/>
                <a:gd name="T7" fmla="*/ 0 60000 65536"/>
                <a:gd name="T8" fmla="*/ 0 60000 65536"/>
                <a:gd name="T9" fmla="*/ 0 w 844"/>
                <a:gd name="T10" fmla="*/ 0 h 466"/>
                <a:gd name="T11" fmla="*/ 844 w 844"/>
                <a:gd name="T12" fmla="*/ 466 h 466"/>
              </a:gdLst>
              <a:ahLst/>
              <a:cxnLst>
                <a:cxn ang="T6">
                  <a:pos x="T0" y="T1"/>
                </a:cxn>
                <a:cxn ang="T7">
                  <a:pos x="T2" y="T3"/>
                </a:cxn>
                <a:cxn ang="T8">
                  <a:pos x="T4" y="T5"/>
                </a:cxn>
              </a:cxnLst>
              <a:rect l="T9" t="T10" r="T11" b="T12"/>
              <a:pathLst>
                <a:path w="844" h="466">
                  <a:moveTo>
                    <a:pt x="844" y="466"/>
                  </a:moveTo>
                  <a:lnTo>
                    <a:pt x="252" y="466"/>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 name="Freeform 110">
              <a:extLst>
                <a:ext uri="{FF2B5EF4-FFF2-40B4-BE49-F238E27FC236}">
                  <a16:creationId xmlns:a16="http://schemas.microsoft.com/office/drawing/2014/main" id="{AB0C07AE-9BD2-5332-5FE4-A7926B45A86F}"/>
                </a:ext>
              </a:extLst>
            </p:cNvPr>
            <p:cNvSpPr>
              <a:spLocks/>
            </p:cNvSpPr>
            <p:nvPr/>
          </p:nvSpPr>
          <p:spPr bwMode="auto">
            <a:xfrm>
              <a:off x="4243" y="1147"/>
              <a:ext cx="911" cy="489"/>
            </a:xfrm>
            <a:custGeom>
              <a:avLst/>
              <a:gdLst>
                <a:gd name="T0" fmla="*/ 911 w 911"/>
                <a:gd name="T1" fmla="*/ 489 h 489"/>
                <a:gd name="T2" fmla="*/ 289 w 911"/>
                <a:gd name="T3" fmla="*/ 489 h 489"/>
                <a:gd name="T4" fmla="*/ 0 w 911"/>
                <a:gd name="T5" fmla="*/ 0 h 489"/>
                <a:gd name="T6" fmla="*/ 0 60000 65536"/>
                <a:gd name="T7" fmla="*/ 0 60000 65536"/>
                <a:gd name="T8" fmla="*/ 0 60000 65536"/>
                <a:gd name="T9" fmla="*/ 0 w 911"/>
                <a:gd name="T10" fmla="*/ 0 h 489"/>
                <a:gd name="T11" fmla="*/ 911 w 911"/>
                <a:gd name="T12" fmla="*/ 489 h 489"/>
              </a:gdLst>
              <a:ahLst/>
              <a:cxnLst>
                <a:cxn ang="T6">
                  <a:pos x="T0" y="T1"/>
                </a:cxn>
                <a:cxn ang="T7">
                  <a:pos x="T2" y="T3"/>
                </a:cxn>
                <a:cxn ang="T8">
                  <a:pos x="T4" y="T5"/>
                </a:cxn>
              </a:cxnLst>
              <a:rect l="T9" t="T10" r="T11" b="T12"/>
              <a:pathLst>
                <a:path w="911" h="489">
                  <a:moveTo>
                    <a:pt x="911" y="489"/>
                  </a:moveTo>
                  <a:lnTo>
                    <a:pt x="289" y="489"/>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5" name="Freeform 111">
              <a:extLst>
                <a:ext uri="{FF2B5EF4-FFF2-40B4-BE49-F238E27FC236}">
                  <a16:creationId xmlns:a16="http://schemas.microsoft.com/office/drawing/2014/main" id="{801ECC61-C248-E4BF-EAAB-EA49F50CE285}"/>
                </a:ext>
              </a:extLst>
            </p:cNvPr>
            <p:cNvSpPr>
              <a:spLocks/>
            </p:cNvSpPr>
            <p:nvPr/>
          </p:nvSpPr>
          <p:spPr bwMode="auto">
            <a:xfrm>
              <a:off x="4317" y="785"/>
              <a:ext cx="1000" cy="525"/>
            </a:xfrm>
            <a:custGeom>
              <a:avLst/>
              <a:gdLst>
                <a:gd name="T0" fmla="*/ 1000 w 1000"/>
                <a:gd name="T1" fmla="*/ 525 h 525"/>
                <a:gd name="T2" fmla="*/ 319 w 1000"/>
                <a:gd name="T3" fmla="*/ 525 h 525"/>
                <a:gd name="T4" fmla="*/ 0 w 1000"/>
                <a:gd name="T5" fmla="*/ 0 h 525"/>
                <a:gd name="T6" fmla="*/ 0 60000 65536"/>
                <a:gd name="T7" fmla="*/ 0 60000 65536"/>
                <a:gd name="T8" fmla="*/ 0 60000 65536"/>
                <a:gd name="T9" fmla="*/ 0 w 1000"/>
                <a:gd name="T10" fmla="*/ 0 h 525"/>
                <a:gd name="T11" fmla="*/ 1000 w 1000"/>
                <a:gd name="T12" fmla="*/ 525 h 525"/>
              </a:gdLst>
              <a:ahLst/>
              <a:cxnLst>
                <a:cxn ang="T6">
                  <a:pos x="T0" y="T1"/>
                </a:cxn>
                <a:cxn ang="T7">
                  <a:pos x="T2" y="T3"/>
                </a:cxn>
                <a:cxn ang="T8">
                  <a:pos x="T4" y="T5"/>
                </a:cxn>
              </a:cxnLst>
              <a:rect l="T9" t="T10" r="T11" b="T12"/>
              <a:pathLst>
                <a:path w="1000" h="525">
                  <a:moveTo>
                    <a:pt x="1000" y="525"/>
                  </a:moveTo>
                  <a:lnTo>
                    <a:pt x="319" y="525"/>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6" name="Text Box 112">
              <a:extLst>
                <a:ext uri="{FF2B5EF4-FFF2-40B4-BE49-F238E27FC236}">
                  <a16:creationId xmlns:a16="http://schemas.microsoft.com/office/drawing/2014/main" id="{31AEA646-856E-47A0-7835-FB8FFBEFF9D5}"/>
                </a:ext>
              </a:extLst>
            </p:cNvPr>
            <p:cNvSpPr txBox="1">
              <a:spLocks noChangeArrowheads="1"/>
            </p:cNvSpPr>
            <p:nvPr/>
          </p:nvSpPr>
          <p:spPr bwMode="auto">
            <a:xfrm>
              <a:off x="4421" y="385"/>
              <a:ext cx="31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gn="r">
                <a:spcBef>
                  <a:spcPct val="0"/>
                </a:spcBef>
              </a:pPr>
              <a:r>
                <a:rPr lang="en-GB" altLang="en-US" sz="1800" b="1">
                  <a:solidFill>
                    <a:srgbClr val="CCFF33"/>
                  </a:solidFill>
                </a:rPr>
                <a:t>2.5</a:t>
              </a:r>
            </a:p>
            <a:p>
              <a:pPr algn="r">
                <a:spcBef>
                  <a:spcPct val="0"/>
                </a:spcBef>
              </a:pPr>
              <a:r>
                <a:rPr lang="en-GB" altLang="en-US" sz="1800" b="1">
                  <a:solidFill>
                    <a:srgbClr val="CCFF33"/>
                  </a:solidFill>
                </a:rPr>
                <a:t>lat</a:t>
              </a:r>
            </a:p>
          </p:txBody>
        </p:sp>
        <p:sp>
          <p:nvSpPr>
            <p:cNvPr id="127" name="Text Box 113">
              <a:extLst>
                <a:ext uri="{FF2B5EF4-FFF2-40B4-BE49-F238E27FC236}">
                  <a16:creationId xmlns:a16="http://schemas.microsoft.com/office/drawing/2014/main" id="{80AAA95D-CE48-83EE-1DE2-8363012730CE}"/>
                </a:ext>
              </a:extLst>
            </p:cNvPr>
            <p:cNvSpPr txBox="1">
              <a:spLocks noChangeArrowheads="1"/>
            </p:cNvSpPr>
            <p:nvPr/>
          </p:nvSpPr>
          <p:spPr bwMode="auto">
            <a:xfrm>
              <a:off x="4985" y="658"/>
              <a:ext cx="436"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lnSpc>
                  <a:spcPct val="80000"/>
                </a:lnSpc>
                <a:spcBef>
                  <a:spcPct val="0"/>
                </a:spcBef>
              </a:pPr>
              <a:r>
                <a:rPr lang="en-GB" altLang="en-US" sz="1800" b="1" dirty="0">
                  <a:solidFill>
                    <a:srgbClr val="CCFF33"/>
                  </a:solidFill>
                </a:rPr>
                <a:t>3.75 </a:t>
              </a:r>
            </a:p>
            <a:p>
              <a:pPr>
                <a:lnSpc>
                  <a:spcPct val="80000"/>
                </a:lnSpc>
                <a:spcBef>
                  <a:spcPct val="0"/>
                </a:spcBef>
              </a:pPr>
              <a:r>
                <a:rPr lang="en-GB" altLang="en-US" sz="1800" b="1" dirty="0">
                  <a:solidFill>
                    <a:srgbClr val="CCFF33"/>
                  </a:solidFill>
                </a:rPr>
                <a:t>long</a:t>
              </a:r>
            </a:p>
          </p:txBody>
        </p:sp>
        <p:sp>
          <p:nvSpPr>
            <p:cNvPr id="128" name="Text Box 114">
              <a:extLst>
                <a:ext uri="{FF2B5EF4-FFF2-40B4-BE49-F238E27FC236}">
                  <a16:creationId xmlns:a16="http://schemas.microsoft.com/office/drawing/2014/main" id="{A92CE2ED-EF46-4872-AF0B-4DA0F4F014D6}"/>
                </a:ext>
              </a:extLst>
            </p:cNvPr>
            <p:cNvSpPr txBox="1">
              <a:spLocks noChangeArrowheads="1"/>
            </p:cNvSpPr>
            <p:nvPr/>
          </p:nvSpPr>
          <p:spPr bwMode="auto">
            <a:xfrm>
              <a:off x="2866" y="2238"/>
              <a:ext cx="33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spcBef>
                  <a:spcPct val="0"/>
                </a:spcBef>
              </a:pPr>
              <a:r>
                <a:rPr lang="en-GB" altLang="en-US" sz="1400" b="1">
                  <a:solidFill>
                    <a:srgbClr val="000066"/>
                  </a:solidFill>
                </a:rPr>
                <a:t>1.25</a:t>
              </a:r>
            </a:p>
          </p:txBody>
        </p:sp>
        <p:sp>
          <p:nvSpPr>
            <p:cNvPr id="129" name="Text Box 115">
              <a:extLst>
                <a:ext uri="{FF2B5EF4-FFF2-40B4-BE49-F238E27FC236}">
                  <a16:creationId xmlns:a16="http://schemas.microsoft.com/office/drawing/2014/main" id="{2A32DDC1-1244-66E2-C749-D79DB1305F1D}"/>
                </a:ext>
              </a:extLst>
            </p:cNvPr>
            <p:cNvSpPr txBox="1">
              <a:spLocks noChangeArrowheads="1"/>
            </p:cNvSpPr>
            <p:nvPr/>
          </p:nvSpPr>
          <p:spPr bwMode="auto">
            <a:xfrm>
              <a:off x="3149" y="2378"/>
              <a:ext cx="33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spcBef>
                  <a:spcPct val="0"/>
                </a:spcBef>
              </a:pPr>
              <a:r>
                <a:rPr lang="en-GB" altLang="en-US" sz="1400" b="1">
                  <a:solidFill>
                    <a:srgbClr val="000066"/>
                  </a:solidFill>
                </a:rPr>
                <a:t>1.25</a:t>
              </a:r>
            </a:p>
          </p:txBody>
        </p:sp>
        <p:sp>
          <p:nvSpPr>
            <p:cNvPr id="131" name="Text Box 117">
              <a:extLst>
                <a:ext uri="{FF2B5EF4-FFF2-40B4-BE49-F238E27FC236}">
                  <a16:creationId xmlns:a16="http://schemas.microsoft.com/office/drawing/2014/main" id="{125DCAB3-56B1-0CDB-65EC-8AE3DB2082CE}"/>
                </a:ext>
              </a:extLst>
            </p:cNvPr>
            <p:cNvSpPr txBox="1">
              <a:spLocks noChangeArrowheads="1"/>
            </p:cNvSpPr>
            <p:nvPr/>
          </p:nvSpPr>
          <p:spPr bwMode="auto">
            <a:xfrm>
              <a:off x="5232" y="-3"/>
              <a:ext cx="4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spcBef>
                  <a:spcPct val="0"/>
                </a:spcBef>
              </a:pPr>
              <a:r>
                <a:rPr lang="en-GB" altLang="en-US" sz="1800" b="1">
                  <a:solidFill>
                    <a:srgbClr val="CCFF33"/>
                  </a:solidFill>
                </a:rPr>
                <a:t>30km</a:t>
              </a:r>
            </a:p>
          </p:txBody>
        </p:sp>
        <p:sp>
          <p:nvSpPr>
            <p:cNvPr id="132" name="Text Box 118">
              <a:extLst>
                <a:ext uri="{FF2B5EF4-FFF2-40B4-BE49-F238E27FC236}">
                  <a16:creationId xmlns:a16="http://schemas.microsoft.com/office/drawing/2014/main" id="{7A477575-2AC7-A592-2FCC-B70E8ED6AD0A}"/>
                </a:ext>
              </a:extLst>
            </p:cNvPr>
            <p:cNvSpPr txBox="1">
              <a:spLocks noChangeArrowheads="1"/>
            </p:cNvSpPr>
            <p:nvPr/>
          </p:nvSpPr>
          <p:spPr bwMode="auto">
            <a:xfrm>
              <a:off x="2048" y="3885"/>
              <a:ext cx="4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spcBef>
                  <a:spcPct val="0"/>
                </a:spcBef>
              </a:pPr>
              <a:r>
                <a:rPr lang="en-GB" altLang="en-US" sz="1800" b="1">
                  <a:solidFill>
                    <a:srgbClr val="CCFF33"/>
                  </a:solidFill>
                </a:rPr>
                <a:t>-5km</a:t>
              </a:r>
            </a:p>
          </p:txBody>
        </p:sp>
        <p:sp>
          <p:nvSpPr>
            <p:cNvPr id="133" name="Text Box 119">
              <a:extLst>
                <a:ext uri="{FF2B5EF4-FFF2-40B4-BE49-F238E27FC236}">
                  <a16:creationId xmlns:a16="http://schemas.microsoft.com/office/drawing/2014/main" id="{69AEDB33-56AB-990A-C7F6-7BCA9C018894}"/>
                </a:ext>
              </a:extLst>
            </p:cNvPr>
            <p:cNvSpPr txBox="1">
              <a:spLocks noChangeArrowheads="1"/>
            </p:cNvSpPr>
            <p:nvPr/>
          </p:nvSpPr>
          <p:spPr bwMode="auto">
            <a:xfrm>
              <a:off x="4640" y="3456"/>
              <a:ext cx="97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spcBef>
                  <a:spcPct val="0"/>
                </a:spcBef>
              </a:pPr>
              <a:r>
                <a:rPr lang="en-GB" altLang="en-US" sz="1600" b="1">
                  <a:solidFill>
                    <a:srgbClr val="000000"/>
                  </a:solidFill>
                </a:rPr>
                <a:t>Hadley Centre</a:t>
              </a:r>
            </a:p>
          </p:txBody>
        </p:sp>
      </p:grpSp>
      <p:sp>
        <p:nvSpPr>
          <p:cNvPr id="7" name="TextBox 6">
            <a:extLst>
              <a:ext uri="{FF2B5EF4-FFF2-40B4-BE49-F238E27FC236}">
                <a16:creationId xmlns:a16="http://schemas.microsoft.com/office/drawing/2014/main" id="{F142E3DD-1524-C577-25C2-8E1EFD1DFB0F}"/>
              </a:ext>
            </a:extLst>
          </p:cNvPr>
          <p:cNvSpPr txBox="1"/>
          <p:nvPr/>
        </p:nvSpPr>
        <p:spPr>
          <a:xfrm>
            <a:off x="10317193" y="3223708"/>
            <a:ext cx="7591244" cy="6370975"/>
          </a:xfrm>
          <a:prstGeom prst="rect">
            <a:avLst/>
          </a:prstGeom>
          <a:noFill/>
        </p:spPr>
        <p:txBody>
          <a:bodyPr wrap="square">
            <a:spAutoFit/>
          </a:bodyPr>
          <a:lstStyle/>
          <a:p>
            <a:pPr marL="285750" indent="-285750" algn="l">
              <a:buFont typeface="Arial" panose="020B0604020202020204" pitchFamily="34" charset="0"/>
              <a:buChar char="•"/>
            </a:pPr>
            <a:r>
              <a:rPr lang="en-GB" sz="2400" b="0" i="0" u="none" strike="noStrike" dirty="0">
                <a:solidFill>
                  <a:srgbClr val="0D0D0D"/>
                </a:solidFill>
                <a:effectLst/>
                <a:latin typeface="Calibri" panose="020F0502020204030204" pitchFamily="34" charset="0"/>
                <a:cs typeface="Calibri" panose="020F0502020204030204" pitchFamily="34" charset="0"/>
              </a:rPr>
              <a:t>The Hadley Centre Third Coupled Model (HadCM3) was developed by the UK Met Office's Hadley Centre for Climate Prediction and Research.</a:t>
            </a:r>
          </a:p>
          <a:p>
            <a:pPr marL="285750" indent="-285750" algn="l">
              <a:buFont typeface="Arial" panose="020B0604020202020204" pitchFamily="34" charset="0"/>
              <a:buChar char="•"/>
            </a:pPr>
            <a:endParaRPr lang="en-GB" sz="2400" b="0" i="0" u="none" strike="noStrike" dirty="0">
              <a:solidFill>
                <a:srgbClr val="0D0D0D"/>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400" b="0" i="0" u="none" strike="noStrike" dirty="0">
                <a:solidFill>
                  <a:srgbClr val="0D0D0D"/>
                </a:solidFill>
                <a:effectLst/>
                <a:latin typeface="Calibri" panose="020F0502020204030204" pitchFamily="34" charset="0"/>
                <a:cs typeface="Calibri" panose="020F0502020204030204" pitchFamily="34" charset="0"/>
              </a:rPr>
              <a:t>HadCM3 was a pioneering global climate model that integrated atmosphere, ocean, sea ice, and land surface components.</a:t>
            </a:r>
          </a:p>
          <a:p>
            <a:pPr marL="285750" indent="-285750" algn="l">
              <a:buFont typeface="Arial" panose="020B0604020202020204" pitchFamily="34" charset="0"/>
              <a:buChar char="•"/>
            </a:pPr>
            <a:endParaRPr lang="en-GB" sz="2400" b="0" i="0" u="none" strike="noStrike" dirty="0">
              <a:solidFill>
                <a:srgbClr val="0D0D0D"/>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400" b="0" i="0" u="none" strike="noStrike" dirty="0">
                <a:solidFill>
                  <a:srgbClr val="0D0D0D"/>
                </a:solidFill>
                <a:effectLst/>
                <a:latin typeface="Calibri" panose="020F0502020204030204" pitchFamily="34" charset="0"/>
                <a:cs typeface="Calibri" panose="020F0502020204030204" pitchFamily="34" charset="0"/>
              </a:rPr>
              <a:t>It played a significant role in climate research and was widely used in studies assessing the impacts of greenhouse gas emissions and anthropogenic activities on global climate.</a:t>
            </a:r>
          </a:p>
          <a:p>
            <a:pPr marL="285750" indent="-285750" algn="l">
              <a:buFont typeface="Arial" panose="020B0604020202020204" pitchFamily="34" charset="0"/>
              <a:buChar char="•"/>
            </a:pPr>
            <a:endParaRPr lang="en-GB" sz="2400" b="0" i="0" u="none" strike="noStrike" dirty="0">
              <a:solidFill>
                <a:srgbClr val="0D0D0D"/>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400" b="0" i="0" u="none" strike="noStrike" dirty="0">
                <a:solidFill>
                  <a:srgbClr val="0D0D0D"/>
                </a:solidFill>
                <a:effectLst/>
                <a:latin typeface="Calibri" panose="020F0502020204030204" pitchFamily="34" charset="0"/>
                <a:cs typeface="Calibri" panose="020F0502020204030204" pitchFamily="34" charset="0"/>
              </a:rPr>
              <a:t>HadCM3 contributed to the Intergovernmental Panel on Climate Change (IPCC) assessments, providing valuable insights into future climate scenarios and informing international climate policy discussions.</a:t>
            </a:r>
          </a:p>
        </p:txBody>
      </p:sp>
      <p:sp>
        <p:nvSpPr>
          <p:cNvPr id="9" name="TextBox 5">
            <a:extLst>
              <a:ext uri="{FF2B5EF4-FFF2-40B4-BE49-F238E27FC236}">
                <a16:creationId xmlns:a16="http://schemas.microsoft.com/office/drawing/2014/main" id="{1EAF2DB1-3531-5261-63AA-2D27D660C9E1}"/>
              </a:ext>
            </a:extLst>
          </p:cNvPr>
          <p:cNvSpPr txBox="1"/>
          <p:nvPr/>
        </p:nvSpPr>
        <p:spPr>
          <a:xfrm>
            <a:off x="706526" y="1508191"/>
            <a:ext cx="13847674" cy="820289"/>
          </a:xfrm>
          <a:prstGeom prst="rect">
            <a:avLst/>
          </a:prstGeom>
        </p:spPr>
        <p:txBody>
          <a:bodyPr wrap="square" lIns="0" tIns="0" rIns="0" bIns="0" rtlCol="0" anchor="t">
            <a:spAutoFit/>
          </a:bodyPr>
          <a:lstStyle/>
          <a:p>
            <a:pPr>
              <a:lnSpc>
                <a:spcPts val="6719"/>
              </a:lnSpc>
            </a:pPr>
            <a:r>
              <a:rPr lang="en-US" sz="4800" b="1" i="1" dirty="0">
                <a:solidFill>
                  <a:srgbClr val="46245A"/>
                </a:solidFill>
                <a:latin typeface="DM Sans" pitchFamily="2" charset="0"/>
              </a:rPr>
              <a:t>The Hadley Centre – Third Coupled Model</a:t>
            </a:r>
            <a:endParaRPr lang="en-US" sz="4800" i="1" dirty="0">
              <a:solidFill>
                <a:srgbClr val="46245A"/>
              </a:solidFill>
              <a:latin typeface="DM Sans" pitchFamily="2" charset="0"/>
            </a:endParaRPr>
          </a:p>
        </p:txBody>
      </p:sp>
    </p:spTree>
    <p:extLst>
      <p:ext uri="{BB962C8B-B14F-4D97-AF65-F5344CB8AC3E}">
        <p14:creationId xmlns:p14="http://schemas.microsoft.com/office/powerpoint/2010/main" val="37051182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27E0455A-B3F7-BFF9-40E4-4CDF131FB963}"/>
            </a:ext>
          </a:extLst>
        </p:cNvPr>
        <p:cNvGrpSpPr/>
        <p:nvPr/>
      </p:nvGrpSpPr>
      <p:grpSpPr>
        <a:xfrm>
          <a:off x="0" y="0"/>
          <a:ext cx="0" cy="0"/>
          <a:chOff x="0" y="0"/>
          <a:chExt cx="0" cy="0"/>
        </a:xfrm>
      </p:grpSpPr>
      <p:sp>
        <p:nvSpPr>
          <p:cNvPr id="2" name="Freeform 13">
            <a:extLst>
              <a:ext uri="{FF2B5EF4-FFF2-40B4-BE49-F238E27FC236}">
                <a16:creationId xmlns:a16="http://schemas.microsoft.com/office/drawing/2014/main" id="{063BCB2B-C1B4-8758-51FD-F89F2DFD4945}"/>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a typeface="MS PGothic" panose="020B0600070205080204" pitchFamily="34" charset="-128"/>
            </a:endParaRPr>
          </a:p>
        </p:txBody>
      </p:sp>
      <p:sp>
        <p:nvSpPr>
          <p:cNvPr id="4" name="TextBox 14">
            <a:extLst>
              <a:ext uri="{FF2B5EF4-FFF2-40B4-BE49-F238E27FC236}">
                <a16:creationId xmlns:a16="http://schemas.microsoft.com/office/drawing/2014/main" id="{4E05D0C9-E545-8E9B-264F-382AC83D7CEB}"/>
              </a:ext>
            </a:extLst>
          </p:cNvPr>
          <p:cNvSpPr txBox="1"/>
          <p:nvPr/>
        </p:nvSpPr>
        <p:spPr>
          <a:xfrm>
            <a:off x="584197" y="1026137"/>
            <a:ext cx="12637127" cy="861518"/>
          </a:xfrm>
          <a:prstGeom prst="rect">
            <a:avLst/>
          </a:prstGeom>
        </p:spPr>
        <p:txBody>
          <a:bodyPr wrap="square" lIns="0" tIns="0" rIns="0" bIns="0" rtlCol="0" anchor="t">
            <a:spAutoFit/>
          </a:bodyPr>
          <a:lstStyle/>
          <a:p>
            <a:pPr defTabSz="914445">
              <a:lnSpc>
                <a:spcPts val="6860"/>
              </a:lnSpc>
              <a:defRPr/>
            </a:pPr>
            <a:r>
              <a:rPr lang="en-US" sz="5400" i="1" spc="-413" dirty="0">
                <a:solidFill>
                  <a:srgbClr val="46245A"/>
                </a:solidFill>
                <a:latin typeface="DM Sans Bold"/>
                <a:ea typeface="ＭＳ Ｐゴシック" panose="020B0600070205080204" pitchFamily="34" charset="-128"/>
              </a:rPr>
              <a:t>GCM: Atmospheric Composition</a:t>
            </a:r>
          </a:p>
        </p:txBody>
      </p:sp>
      <p:sp>
        <p:nvSpPr>
          <p:cNvPr id="6" name="Text Box 22">
            <a:extLst>
              <a:ext uri="{FF2B5EF4-FFF2-40B4-BE49-F238E27FC236}">
                <a16:creationId xmlns:a16="http://schemas.microsoft.com/office/drawing/2014/main" id="{4CF33EFA-BDDA-07B6-6EFE-10CB27245594}"/>
              </a:ext>
            </a:extLst>
          </p:cNvPr>
          <p:cNvSpPr txBox="1">
            <a:spLocks noChangeArrowheads="1"/>
          </p:cNvSpPr>
          <p:nvPr/>
        </p:nvSpPr>
        <p:spPr bwMode="auto">
          <a:xfrm>
            <a:off x="11889586" y="2968339"/>
            <a:ext cx="4686300" cy="3000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accent2"/>
                </a:solidFill>
                <a:latin typeface="Helvetica" panose="020B0604020202020204" pitchFamily="34" charset="0"/>
              </a:defRPr>
            </a:lvl1pPr>
            <a:lvl2pPr marL="742950" indent="-285750">
              <a:spcBef>
                <a:spcPct val="20000"/>
              </a:spcBef>
              <a:buChar char="–"/>
              <a:defRPr sz="2800" b="1">
                <a:solidFill>
                  <a:schemeClr val="accent2"/>
                </a:solidFill>
                <a:latin typeface="Helvetica" panose="020B0604020202020204" pitchFamily="34" charset="0"/>
              </a:defRPr>
            </a:lvl2pPr>
            <a:lvl3pPr marL="1143000" indent="-228600">
              <a:spcBef>
                <a:spcPct val="20000"/>
              </a:spcBef>
              <a:buChar char="•"/>
              <a:defRPr sz="2400" b="1">
                <a:solidFill>
                  <a:schemeClr val="accent2"/>
                </a:solidFill>
                <a:latin typeface="Helvetica" panose="020B0604020202020204" pitchFamily="34" charset="0"/>
              </a:defRPr>
            </a:lvl3pPr>
            <a:lvl4pPr marL="1600200" indent="-228600">
              <a:spcBef>
                <a:spcPct val="20000"/>
              </a:spcBef>
              <a:buChar char="–"/>
              <a:defRPr sz="2000" b="1">
                <a:solidFill>
                  <a:schemeClr val="accent2"/>
                </a:solidFill>
                <a:latin typeface="Helvetica" panose="020B0604020202020204" pitchFamily="34" charset="0"/>
              </a:defRPr>
            </a:lvl4pPr>
            <a:lvl5pPr marL="2057400" indent="-228600">
              <a:spcBef>
                <a:spcPct val="20000"/>
              </a:spcBef>
              <a:buChar char="»"/>
              <a:defRPr sz="2000" b="1">
                <a:solidFill>
                  <a:schemeClr val="accent2"/>
                </a:solidFill>
                <a:latin typeface="Helvetica" panose="020B0604020202020204" pitchFamily="34" charset="0"/>
              </a:defRPr>
            </a:lvl5pPr>
            <a:lvl6pPr marL="2514600" indent="-228600" eaLnBrk="0" fontAlgn="base" hangingPunct="0">
              <a:spcBef>
                <a:spcPct val="20000"/>
              </a:spcBef>
              <a:spcAft>
                <a:spcPct val="0"/>
              </a:spcAft>
              <a:buChar char="»"/>
              <a:defRPr sz="2000" b="1">
                <a:solidFill>
                  <a:schemeClr val="accent2"/>
                </a:solidFill>
                <a:latin typeface="Helvetica" panose="020B0604020202020204" pitchFamily="34" charset="0"/>
              </a:defRPr>
            </a:lvl6pPr>
            <a:lvl7pPr marL="2971800" indent="-228600" eaLnBrk="0" fontAlgn="base" hangingPunct="0">
              <a:spcBef>
                <a:spcPct val="20000"/>
              </a:spcBef>
              <a:spcAft>
                <a:spcPct val="0"/>
              </a:spcAft>
              <a:buChar char="»"/>
              <a:defRPr sz="2000" b="1">
                <a:solidFill>
                  <a:schemeClr val="accent2"/>
                </a:solidFill>
                <a:latin typeface="Helvetica" panose="020B0604020202020204" pitchFamily="34" charset="0"/>
              </a:defRPr>
            </a:lvl7pPr>
            <a:lvl8pPr marL="3429000" indent="-228600" eaLnBrk="0" fontAlgn="base" hangingPunct="0">
              <a:spcBef>
                <a:spcPct val="20000"/>
              </a:spcBef>
              <a:spcAft>
                <a:spcPct val="0"/>
              </a:spcAft>
              <a:buChar char="»"/>
              <a:defRPr sz="2000" b="1">
                <a:solidFill>
                  <a:schemeClr val="accent2"/>
                </a:solidFill>
                <a:latin typeface="Helvetica" panose="020B0604020202020204" pitchFamily="34" charset="0"/>
              </a:defRPr>
            </a:lvl8pPr>
            <a:lvl9pPr marL="3886200" indent="-228600" eaLnBrk="0" fontAlgn="base" hangingPunct="0">
              <a:spcBef>
                <a:spcPct val="20000"/>
              </a:spcBef>
              <a:spcAft>
                <a:spcPct val="0"/>
              </a:spcAft>
              <a:buChar char="»"/>
              <a:defRPr sz="2000" b="1">
                <a:solidFill>
                  <a:schemeClr val="accent2"/>
                </a:solidFill>
                <a:latin typeface="Helvetica" panose="020B0604020202020204" pitchFamily="34" charset="0"/>
              </a:defRPr>
            </a:lvl9pPr>
          </a:lstStyle>
          <a:p>
            <a:pPr eaLnBrk="1" hangingPunct="1">
              <a:spcBef>
                <a:spcPct val="0"/>
              </a:spcBef>
              <a:buNone/>
              <a:defRPr/>
            </a:pPr>
            <a:r>
              <a:rPr lang="en-US" altLang="en-US" sz="2700" b="0" dirty="0">
                <a:solidFill>
                  <a:srgbClr val="000000"/>
                </a:solidFill>
                <a:latin typeface="Calibri" panose="020F0502020204030204" pitchFamily="34" charset="0"/>
                <a:cs typeface="Calibri" panose="020F0502020204030204" pitchFamily="34" charset="0"/>
              </a:rPr>
              <a:t>Atmospheric “box”;</a:t>
            </a:r>
          </a:p>
          <a:p>
            <a:pPr eaLnBrk="1" hangingPunct="1">
              <a:spcBef>
                <a:spcPct val="0"/>
              </a:spcBef>
              <a:buNone/>
              <a:defRPr/>
            </a:pPr>
            <a:r>
              <a:rPr lang="en-US" altLang="en-US" sz="2700" b="0" dirty="0">
                <a:solidFill>
                  <a:srgbClr val="000000"/>
                </a:solidFill>
                <a:latin typeface="Calibri" panose="020F0502020204030204" pitchFamily="34" charset="0"/>
                <a:cs typeface="Calibri" panose="020F0502020204030204" pitchFamily="34" charset="0"/>
              </a:rPr>
              <a:t>spatial distribution of X within box is not resolved</a:t>
            </a:r>
          </a:p>
          <a:p>
            <a:pPr eaLnBrk="1" hangingPunct="1">
              <a:spcBef>
                <a:spcPct val="0"/>
              </a:spcBef>
              <a:buNone/>
              <a:defRPr/>
            </a:pPr>
            <a:endParaRPr lang="en-US" altLang="en-US" sz="2700" b="0" dirty="0">
              <a:solidFill>
                <a:srgbClr val="000000"/>
              </a:solidFill>
              <a:latin typeface="Calibri" panose="020F0502020204030204" pitchFamily="34" charset="0"/>
              <a:cs typeface="Calibri" panose="020F0502020204030204" pitchFamily="34" charset="0"/>
            </a:endParaRPr>
          </a:p>
          <a:p>
            <a:pPr eaLnBrk="1" hangingPunct="1">
              <a:spcBef>
                <a:spcPct val="0"/>
              </a:spcBef>
              <a:buNone/>
              <a:defRPr/>
            </a:pPr>
            <a:r>
              <a:rPr lang="en-US" altLang="en-US" sz="2700" b="0" dirty="0">
                <a:solidFill>
                  <a:srgbClr val="000000"/>
                </a:solidFill>
                <a:latin typeface="Calibri" panose="020F0502020204030204" pitchFamily="34" charset="0"/>
                <a:cs typeface="Calibri" panose="020F0502020204030204" pitchFamily="34" charset="0"/>
              </a:rPr>
              <a:t>box can be global atmosphere or some subdomain</a:t>
            </a:r>
          </a:p>
          <a:p>
            <a:pPr eaLnBrk="1" hangingPunct="1">
              <a:spcBef>
                <a:spcPct val="0"/>
              </a:spcBef>
              <a:buNone/>
              <a:defRPr/>
            </a:pPr>
            <a:endParaRPr lang="en-US" altLang="en-US" sz="2700" b="0" dirty="0">
              <a:solidFill>
                <a:srgbClr val="000000"/>
              </a:solidFill>
              <a:latin typeface="Calibri" panose="020F0502020204030204" pitchFamily="34" charset="0"/>
              <a:cs typeface="Calibri" panose="020F0502020204030204" pitchFamily="34" charset="0"/>
            </a:endParaRPr>
          </a:p>
        </p:txBody>
      </p:sp>
      <p:graphicFrame>
        <p:nvGraphicFramePr>
          <p:cNvPr id="8" name="Object 29">
            <a:extLst>
              <a:ext uri="{FF2B5EF4-FFF2-40B4-BE49-F238E27FC236}">
                <a16:creationId xmlns:a16="http://schemas.microsoft.com/office/drawing/2014/main" id="{158FF69B-4FA6-AB7E-27B7-208AFD536051}"/>
              </a:ext>
            </a:extLst>
          </p:cNvPr>
          <p:cNvGraphicFramePr>
            <a:graphicFrameLocks noChangeAspect="1"/>
          </p:cNvGraphicFramePr>
          <p:nvPr>
            <p:extLst>
              <p:ext uri="{D42A27DB-BD31-4B8C-83A1-F6EECF244321}">
                <p14:modId xmlns:p14="http://schemas.microsoft.com/office/powerpoint/2010/main" val="2359289326"/>
              </p:ext>
            </p:extLst>
          </p:nvPr>
        </p:nvGraphicFramePr>
        <p:xfrm>
          <a:off x="701115" y="7876863"/>
          <a:ext cx="13227843" cy="1023938"/>
        </p:xfrm>
        <a:graphic>
          <a:graphicData uri="http://schemas.openxmlformats.org/presentationml/2006/ole">
            <mc:AlternateContent xmlns:mc="http://schemas.openxmlformats.org/markup-compatibility/2006">
              <mc:Choice xmlns:v="urn:schemas-microsoft-com:vml" Requires="v">
                <p:oleObj name="Equation" r:id="rId5" imgW="5079960" imgH="393480" progId="Equation.DSMT4">
                  <p:embed/>
                </p:oleObj>
              </mc:Choice>
              <mc:Fallback>
                <p:oleObj name="Equation" r:id="rId5" imgW="5079960" imgH="393480" progId="Equation.DSMT4">
                  <p:embed/>
                  <p:pic>
                    <p:nvPicPr>
                      <p:cNvPr id="5" name="Object 29">
                        <a:extLst>
                          <a:ext uri="{FF2B5EF4-FFF2-40B4-BE49-F238E27FC236}">
                            <a16:creationId xmlns:a16="http://schemas.microsoft.com/office/drawing/2014/main" id="{F80C4797-288D-9C5F-992C-E6D429271E37}"/>
                          </a:ext>
                        </a:extLst>
                      </p:cNvPr>
                      <p:cNvPicPr>
                        <a:picLocks noChangeAspect="1" noChangeArrowheads="1"/>
                      </p:cNvPicPr>
                      <p:nvPr/>
                    </p:nvPicPr>
                    <p:blipFill>
                      <a:blip r:embed="rId6"/>
                      <a:srcRect/>
                      <a:stretch>
                        <a:fillRect/>
                      </a:stretch>
                    </p:blipFill>
                    <p:spPr bwMode="auto">
                      <a:xfrm>
                        <a:off x="701115" y="7876863"/>
                        <a:ext cx="13227843" cy="1023938"/>
                      </a:xfrm>
                      <a:prstGeom prst="rect">
                        <a:avLst/>
                      </a:prstGeom>
                      <a:noFill/>
                      <a:ln>
                        <a:noFill/>
                      </a:ln>
                      <a:effectLst/>
                    </p:spPr>
                  </p:pic>
                </p:oleObj>
              </mc:Fallback>
            </mc:AlternateContent>
          </a:graphicData>
        </a:graphic>
      </p:graphicFrame>
      <p:sp>
        <p:nvSpPr>
          <p:cNvPr id="18" name="Rectangle 3">
            <a:extLst>
              <a:ext uri="{FF2B5EF4-FFF2-40B4-BE49-F238E27FC236}">
                <a16:creationId xmlns:a16="http://schemas.microsoft.com/office/drawing/2014/main" id="{DF118210-5318-1F92-C26D-75FE23B236EB}"/>
              </a:ext>
            </a:extLst>
          </p:cNvPr>
          <p:cNvSpPr>
            <a:spLocks noChangeArrowheads="1"/>
          </p:cNvSpPr>
          <p:nvPr/>
        </p:nvSpPr>
        <p:spPr bwMode="auto">
          <a:xfrm>
            <a:off x="3976903" y="2750419"/>
            <a:ext cx="5571390" cy="346545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chemeClr val="accent2"/>
                </a:solidFill>
                <a:latin typeface="Helvetica" panose="020B0604020202020204" pitchFamily="34" charset="0"/>
              </a:defRPr>
            </a:lvl1pPr>
            <a:lvl2pPr marL="742950" indent="-285750">
              <a:spcBef>
                <a:spcPct val="20000"/>
              </a:spcBef>
              <a:buChar char="–"/>
              <a:defRPr sz="2800" b="1">
                <a:solidFill>
                  <a:schemeClr val="accent2"/>
                </a:solidFill>
                <a:latin typeface="Helvetica" panose="020B0604020202020204" pitchFamily="34" charset="0"/>
              </a:defRPr>
            </a:lvl2pPr>
            <a:lvl3pPr marL="1143000" indent="-228600">
              <a:spcBef>
                <a:spcPct val="20000"/>
              </a:spcBef>
              <a:buChar char="•"/>
              <a:defRPr sz="2400" b="1">
                <a:solidFill>
                  <a:schemeClr val="accent2"/>
                </a:solidFill>
                <a:latin typeface="Helvetica" panose="020B0604020202020204" pitchFamily="34" charset="0"/>
              </a:defRPr>
            </a:lvl3pPr>
            <a:lvl4pPr marL="1600200" indent="-228600">
              <a:spcBef>
                <a:spcPct val="20000"/>
              </a:spcBef>
              <a:buChar char="–"/>
              <a:defRPr sz="2000" b="1">
                <a:solidFill>
                  <a:schemeClr val="accent2"/>
                </a:solidFill>
                <a:latin typeface="Helvetica" panose="020B0604020202020204" pitchFamily="34" charset="0"/>
              </a:defRPr>
            </a:lvl4pPr>
            <a:lvl5pPr marL="2057400" indent="-228600">
              <a:spcBef>
                <a:spcPct val="20000"/>
              </a:spcBef>
              <a:buChar char="»"/>
              <a:defRPr sz="2000" b="1">
                <a:solidFill>
                  <a:schemeClr val="accent2"/>
                </a:solidFill>
                <a:latin typeface="Helvetica" panose="020B0604020202020204" pitchFamily="34" charset="0"/>
              </a:defRPr>
            </a:lvl5pPr>
            <a:lvl6pPr marL="2514600" indent="-228600" eaLnBrk="0" fontAlgn="base" hangingPunct="0">
              <a:spcBef>
                <a:spcPct val="20000"/>
              </a:spcBef>
              <a:spcAft>
                <a:spcPct val="0"/>
              </a:spcAft>
              <a:buChar char="»"/>
              <a:defRPr sz="2000" b="1">
                <a:solidFill>
                  <a:schemeClr val="accent2"/>
                </a:solidFill>
                <a:latin typeface="Helvetica" panose="020B0604020202020204" pitchFamily="34" charset="0"/>
              </a:defRPr>
            </a:lvl6pPr>
            <a:lvl7pPr marL="2971800" indent="-228600" eaLnBrk="0" fontAlgn="base" hangingPunct="0">
              <a:spcBef>
                <a:spcPct val="20000"/>
              </a:spcBef>
              <a:spcAft>
                <a:spcPct val="0"/>
              </a:spcAft>
              <a:buChar char="»"/>
              <a:defRPr sz="2000" b="1">
                <a:solidFill>
                  <a:schemeClr val="accent2"/>
                </a:solidFill>
                <a:latin typeface="Helvetica" panose="020B0604020202020204" pitchFamily="34" charset="0"/>
              </a:defRPr>
            </a:lvl7pPr>
            <a:lvl8pPr marL="3429000" indent="-228600" eaLnBrk="0" fontAlgn="base" hangingPunct="0">
              <a:spcBef>
                <a:spcPct val="20000"/>
              </a:spcBef>
              <a:spcAft>
                <a:spcPct val="0"/>
              </a:spcAft>
              <a:buChar char="»"/>
              <a:defRPr sz="2000" b="1">
                <a:solidFill>
                  <a:schemeClr val="accent2"/>
                </a:solidFill>
                <a:latin typeface="Helvetica" panose="020B0604020202020204" pitchFamily="34" charset="0"/>
              </a:defRPr>
            </a:lvl8pPr>
            <a:lvl9pPr marL="3886200" indent="-228600" eaLnBrk="0" fontAlgn="base" hangingPunct="0">
              <a:spcBef>
                <a:spcPct val="20000"/>
              </a:spcBef>
              <a:spcAft>
                <a:spcPct val="0"/>
              </a:spcAft>
              <a:buChar char="»"/>
              <a:defRPr sz="2000" b="1">
                <a:solidFill>
                  <a:schemeClr val="accent2"/>
                </a:solidFill>
                <a:latin typeface="Helvetica" panose="020B0604020202020204" pitchFamily="34" charset="0"/>
              </a:defRPr>
            </a:lvl9pPr>
          </a:lstStyle>
          <a:p>
            <a:pPr eaLnBrk="1" hangingPunct="1">
              <a:spcBef>
                <a:spcPct val="0"/>
              </a:spcBef>
              <a:buNone/>
              <a:defRPr/>
            </a:pPr>
            <a:endParaRPr lang="en-US" altLang="en-US" sz="2700" b="0">
              <a:solidFill>
                <a:srgbClr val="000000"/>
              </a:solidFill>
              <a:latin typeface="Calibri" panose="020F0502020204030204" pitchFamily="34" charset="0"/>
              <a:cs typeface="Calibri" panose="020F0502020204030204" pitchFamily="34" charset="0"/>
            </a:endParaRPr>
          </a:p>
        </p:txBody>
      </p:sp>
      <p:sp>
        <p:nvSpPr>
          <p:cNvPr id="19" name="Line 4">
            <a:extLst>
              <a:ext uri="{FF2B5EF4-FFF2-40B4-BE49-F238E27FC236}">
                <a16:creationId xmlns:a16="http://schemas.microsoft.com/office/drawing/2014/main" id="{E7EB71B5-40D2-9DBA-92D4-9245A0F307B8}"/>
              </a:ext>
            </a:extLst>
          </p:cNvPr>
          <p:cNvSpPr>
            <a:spLocks noChangeShapeType="1"/>
          </p:cNvSpPr>
          <p:nvPr/>
        </p:nvSpPr>
        <p:spPr bwMode="auto">
          <a:xfrm>
            <a:off x="3976903" y="6215869"/>
            <a:ext cx="557139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en-US" sz="2700" b="1">
              <a:solidFill>
                <a:srgbClr val="000000"/>
              </a:solidFill>
              <a:latin typeface="Calibri" panose="020F0502020204030204" pitchFamily="34" charset="0"/>
              <a:cs typeface="Calibri" panose="020F0502020204030204" pitchFamily="34" charset="0"/>
            </a:endParaRPr>
          </a:p>
        </p:txBody>
      </p:sp>
      <p:sp>
        <p:nvSpPr>
          <p:cNvPr id="20" name="Line 5">
            <a:extLst>
              <a:ext uri="{FF2B5EF4-FFF2-40B4-BE49-F238E27FC236}">
                <a16:creationId xmlns:a16="http://schemas.microsoft.com/office/drawing/2014/main" id="{5C3A2A75-1B3C-FAB5-90B4-6673133E135C}"/>
              </a:ext>
            </a:extLst>
          </p:cNvPr>
          <p:cNvSpPr>
            <a:spLocks noChangeShapeType="1"/>
          </p:cNvSpPr>
          <p:nvPr/>
        </p:nvSpPr>
        <p:spPr bwMode="auto">
          <a:xfrm>
            <a:off x="2605417" y="4518022"/>
            <a:ext cx="1371486" cy="0"/>
          </a:xfrm>
          <a:prstGeom prst="line">
            <a:avLst/>
          </a:prstGeom>
          <a:noFill/>
          <a:ln w="38100">
            <a:solidFill>
              <a:srgbClr val="008000"/>
            </a:solidFill>
            <a:round/>
            <a:headEnd/>
            <a:tailEnd type="triangle" w="lg" len="lg"/>
          </a:ln>
          <a:extLst>
            <a:ext uri="{909E8E84-426E-40DD-AFC4-6F175D3DCCD1}">
              <a14:hiddenFill xmlns:a14="http://schemas.microsoft.com/office/drawing/2010/main">
                <a:noFill/>
              </a14:hiddenFill>
            </a:ext>
          </a:extLst>
        </p:spPr>
        <p:txBody>
          <a:bodyPr/>
          <a:lstStyle/>
          <a:p>
            <a:pPr>
              <a:defRPr/>
            </a:pPr>
            <a:endParaRPr lang="en-US" sz="2700" b="1">
              <a:solidFill>
                <a:srgbClr val="000000"/>
              </a:solidFill>
              <a:latin typeface="Calibri" panose="020F0502020204030204" pitchFamily="34" charset="0"/>
              <a:cs typeface="Calibri" panose="020F0502020204030204" pitchFamily="34" charset="0"/>
            </a:endParaRPr>
          </a:p>
        </p:txBody>
      </p:sp>
      <p:sp>
        <p:nvSpPr>
          <p:cNvPr id="21" name="Line 6">
            <a:extLst>
              <a:ext uri="{FF2B5EF4-FFF2-40B4-BE49-F238E27FC236}">
                <a16:creationId xmlns:a16="http://schemas.microsoft.com/office/drawing/2014/main" id="{EA4DFC23-5333-B640-A701-BE5D62DDC763}"/>
              </a:ext>
            </a:extLst>
          </p:cNvPr>
          <p:cNvSpPr>
            <a:spLocks noChangeShapeType="1"/>
          </p:cNvSpPr>
          <p:nvPr/>
        </p:nvSpPr>
        <p:spPr bwMode="auto">
          <a:xfrm>
            <a:off x="9548293" y="4518022"/>
            <a:ext cx="1371486" cy="0"/>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pPr>
              <a:defRPr/>
            </a:pPr>
            <a:endParaRPr lang="en-US" sz="2700" b="1">
              <a:solidFill>
                <a:srgbClr val="000000"/>
              </a:solidFill>
              <a:latin typeface="Calibri" panose="020F0502020204030204" pitchFamily="34" charset="0"/>
              <a:cs typeface="Calibri" panose="020F0502020204030204" pitchFamily="34" charset="0"/>
            </a:endParaRPr>
          </a:p>
        </p:txBody>
      </p:sp>
      <p:sp>
        <p:nvSpPr>
          <p:cNvPr id="22" name="Text Box 7">
            <a:extLst>
              <a:ext uri="{FF2B5EF4-FFF2-40B4-BE49-F238E27FC236}">
                <a16:creationId xmlns:a16="http://schemas.microsoft.com/office/drawing/2014/main" id="{9B68A40A-7D7A-BA54-8CFD-073D5C28E321}"/>
              </a:ext>
            </a:extLst>
          </p:cNvPr>
          <p:cNvSpPr txBox="1">
            <a:spLocks noChangeArrowheads="1"/>
          </p:cNvSpPr>
          <p:nvPr/>
        </p:nvSpPr>
        <p:spPr bwMode="auto">
          <a:xfrm>
            <a:off x="2682099" y="3913378"/>
            <a:ext cx="106452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accent2"/>
                </a:solidFill>
                <a:latin typeface="Helvetica" panose="020B0604020202020204" pitchFamily="34" charset="0"/>
              </a:defRPr>
            </a:lvl1pPr>
            <a:lvl2pPr marL="742950" indent="-285750">
              <a:spcBef>
                <a:spcPct val="20000"/>
              </a:spcBef>
              <a:buChar char="–"/>
              <a:defRPr sz="2800" b="1">
                <a:solidFill>
                  <a:schemeClr val="accent2"/>
                </a:solidFill>
                <a:latin typeface="Helvetica" panose="020B0604020202020204" pitchFamily="34" charset="0"/>
              </a:defRPr>
            </a:lvl2pPr>
            <a:lvl3pPr marL="1143000" indent="-228600">
              <a:spcBef>
                <a:spcPct val="20000"/>
              </a:spcBef>
              <a:buChar char="•"/>
              <a:defRPr sz="2400" b="1">
                <a:solidFill>
                  <a:schemeClr val="accent2"/>
                </a:solidFill>
                <a:latin typeface="Helvetica" panose="020B0604020202020204" pitchFamily="34" charset="0"/>
              </a:defRPr>
            </a:lvl3pPr>
            <a:lvl4pPr marL="1600200" indent="-228600">
              <a:spcBef>
                <a:spcPct val="20000"/>
              </a:spcBef>
              <a:buChar char="–"/>
              <a:defRPr sz="2000" b="1">
                <a:solidFill>
                  <a:schemeClr val="accent2"/>
                </a:solidFill>
                <a:latin typeface="Helvetica" panose="020B0604020202020204" pitchFamily="34" charset="0"/>
              </a:defRPr>
            </a:lvl4pPr>
            <a:lvl5pPr marL="2057400" indent="-228600">
              <a:spcBef>
                <a:spcPct val="20000"/>
              </a:spcBef>
              <a:buChar char="»"/>
              <a:defRPr sz="2000" b="1">
                <a:solidFill>
                  <a:schemeClr val="accent2"/>
                </a:solidFill>
                <a:latin typeface="Helvetica" panose="020B0604020202020204" pitchFamily="34" charset="0"/>
              </a:defRPr>
            </a:lvl5pPr>
            <a:lvl6pPr marL="2514600" indent="-228600" eaLnBrk="0" fontAlgn="base" hangingPunct="0">
              <a:spcBef>
                <a:spcPct val="20000"/>
              </a:spcBef>
              <a:spcAft>
                <a:spcPct val="0"/>
              </a:spcAft>
              <a:buChar char="»"/>
              <a:defRPr sz="2000" b="1">
                <a:solidFill>
                  <a:schemeClr val="accent2"/>
                </a:solidFill>
                <a:latin typeface="Helvetica" panose="020B0604020202020204" pitchFamily="34" charset="0"/>
              </a:defRPr>
            </a:lvl6pPr>
            <a:lvl7pPr marL="2971800" indent="-228600" eaLnBrk="0" fontAlgn="base" hangingPunct="0">
              <a:spcBef>
                <a:spcPct val="20000"/>
              </a:spcBef>
              <a:spcAft>
                <a:spcPct val="0"/>
              </a:spcAft>
              <a:buChar char="»"/>
              <a:defRPr sz="2000" b="1">
                <a:solidFill>
                  <a:schemeClr val="accent2"/>
                </a:solidFill>
                <a:latin typeface="Helvetica" panose="020B0604020202020204" pitchFamily="34" charset="0"/>
              </a:defRPr>
            </a:lvl7pPr>
            <a:lvl8pPr marL="3429000" indent="-228600" eaLnBrk="0" fontAlgn="base" hangingPunct="0">
              <a:spcBef>
                <a:spcPct val="20000"/>
              </a:spcBef>
              <a:spcAft>
                <a:spcPct val="0"/>
              </a:spcAft>
              <a:buChar char="»"/>
              <a:defRPr sz="2000" b="1">
                <a:solidFill>
                  <a:schemeClr val="accent2"/>
                </a:solidFill>
                <a:latin typeface="Helvetica" panose="020B0604020202020204" pitchFamily="34" charset="0"/>
              </a:defRPr>
            </a:lvl8pPr>
            <a:lvl9pPr marL="3886200" indent="-228600" eaLnBrk="0" fontAlgn="base" hangingPunct="0">
              <a:spcBef>
                <a:spcPct val="20000"/>
              </a:spcBef>
              <a:spcAft>
                <a:spcPct val="0"/>
              </a:spcAft>
              <a:buChar char="»"/>
              <a:defRPr sz="2000" b="1">
                <a:solidFill>
                  <a:schemeClr val="accent2"/>
                </a:solidFill>
                <a:latin typeface="Helvetica" panose="020B0604020202020204" pitchFamily="34" charset="0"/>
              </a:defRPr>
            </a:lvl9pPr>
          </a:lstStyle>
          <a:p>
            <a:pPr eaLnBrk="1" hangingPunct="1">
              <a:spcBef>
                <a:spcPct val="0"/>
              </a:spcBef>
              <a:buNone/>
              <a:defRPr/>
            </a:pPr>
            <a:r>
              <a:rPr lang="en-US" altLang="en-US" sz="2700" b="0" dirty="0">
                <a:solidFill>
                  <a:srgbClr val="008000"/>
                </a:solidFill>
                <a:latin typeface="Calibri" panose="020F0502020204030204" pitchFamily="34" charset="0"/>
                <a:cs typeface="Calibri" panose="020F0502020204030204" pitchFamily="34" charset="0"/>
              </a:rPr>
              <a:t>Inflow</a:t>
            </a:r>
            <a:endParaRPr lang="en-US" altLang="en-US" sz="3600" b="0" dirty="0">
              <a:solidFill>
                <a:srgbClr val="008000"/>
              </a:solidFill>
              <a:latin typeface="Calibri" panose="020F0502020204030204" pitchFamily="34" charset="0"/>
              <a:cs typeface="Calibri" panose="020F0502020204030204" pitchFamily="34" charset="0"/>
            </a:endParaRPr>
          </a:p>
        </p:txBody>
      </p:sp>
      <p:sp>
        <p:nvSpPr>
          <p:cNvPr id="23" name="Text Box 8">
            <a:extLst>
              <a:ext uri="{FF2B5EF4-FFF2-40B4-BE49-F238E27FC236}">
                <a16:creationId xmlns:a16="http://schemas.microsoft.com/office/drawing/2014/main" id="{F808540A-A195-0149-2C21-B1584E05C272}"/>
              </a:ext>
            </a:extLst>
          </p:cNvPr>
          <p:cNvSpPr txBox="1">
            <a:spLocks noChangeArrowheads="1"/>
          </p:cNvSpPr>
          <p:nvPr/>
        </p:nvSpPr>
        <p:spPr bwMode="auto">
          <a:xfrm>
            <a:off x="9596676" y="3848028"/>
            <a:ext cx="1324658"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accent2"/>
                </a:solidFill>
                <a:latin typeface="Helvetica" panose="020B0604020202020204" pitchFamily="34" charset="0"/>
              </a:defRPr>
            </a:lvl1pPr>
            <a:lvl2pPr marL="742950" indent="-285750">
              <a:spcBef>
                <a:spcPct val="20000"/>
              </a:spcBef>
              <a:buChar char="–"/>
              <a:defRPr sz="2800" b="1">
                <a:solidFill>
                  <a:schemeClr val="accent2"/>
                </a:solidFill>
                <a:latin typeface="Helvetica" panose="020B0604020202020204" pitchFamily="34" charset="0"/>
              </a:defRPr>
            </a:lvl2pPr>
            <a:lvl3pPr marL="1143000" indent="-228600">
              <a:spcBef>
                <a:spcPct val="20000"/>
              </a:spcBef>
              <a:buChar char="•"/>
              <a:defRPr sz="2400" b="1">
                <a:solidFill>
                  <a:schemeClr val="accent2"/>
                </a:solidFill>
                <a:latin typeface="Helvetica" panose="020B0604020202020204" pitchFamily="34" charset="0"/>
              </a:defRPr>
            </a:lvl3pPr>
            <a:lvl4pPr marL="1600200" indent="-228600">
              <a:spcBef>
                <a:spcPct val="20000"/>
              </a:spcBef>
              <a:buChar char="–"/>
              <a:defRPr sz="2000" b="1">
                <a:solidFill>
                  <a:schemeClr val="accent2"/>
                </a:solidFill>
                <a:latin typeface="Helvetica" panose="020B0604020202020204" pitchFamily="34" charset="0"/>
              </a:defRPr>
            </a:lvl4pPr>
            <a:lvl5pPr marL="2057400" indent="-228600">
              <a:spcBef>
                <a:spcPct val="20000"/>
              </a:spcBef>
              <a:buChar char="»"/>
              <a:defRPr sz="2000" b="1">
                <a:solidFill>
                  <a:schemeClr val="accent2"/>
                </a:solidFill>
                <a:latin typeface="Helvetica" panose="020B0604020202020204" pitchFamily="34" charset="0"/>
              </a:defRPr>
            </a:lvl5pPr>
            <a:lvl6pPr marL="2514600" indent="-228600" eaLnBrk="0" fontAlgn="base" hangingPunct="0">
              <a:spcBef>
                <a:spcPct val="20000"/>
              </a:spcBef>
              <a:spcAft>
                <a:spcPct val="0"/>
              </a:spcAft>
              <a:buChar char="»"/>
              <a:defRPr sz="2000" b="1">
                <a:solidFill>
                  <a:schemeClr val="accent2"/>
                </a:solidFill>
                <a:latin typeface="Helvetica" panose="020B0604020202020204" pitchFamily="34" charset="0"/>
              </a:defRPr>
            </a:lvl6pPr>
            <a:lvl7pPr marL="2971800" indent="-228600" eaLnBrk="0" fontAlgn="base" hangingPunct="0">
              <a:spcBef>
                <a:spcPct val="20000"/>
              </a:spcBef>
              <a:spcAft>
                <a:spcPct val="0"/>
              </a:spcAft>
              <a:buChar char="»"/>
              <a:defRPr sz="2000" b="1">
                <a:solidFill>
                  <a:schemeClr val="accent2"/>
                </a:solidFill>
                <a:latin typeface="Helvetica" panose="020B0604020202020204" pitchFamily="34" charset="0"/>
              </a:defRPr>
            </a:lvl7pPr>
            <a:lvl8pPr marL="3429000" indent="-228600" eaLnBrk="0" fontAlgn="base" hangingPunct="0">
              <a:spcBef>
                <a:spcPct val="20000"/>
              </a:spcBef>
              <a:spcAft>
                <a:spcPct val="0"/>
              </a:spcAft>
              <a:buChar char="»"/>
              <a:defRPr sz="2000" b="1">
                <a:solidFill>
                  <a:schemeClr val="accent2"/>
                </a:solidFill>
                <a:latin typeface="Helvetica" panose="020B0604020202020204" pitchFamily="34" charset="0"/>
              </a:defRPr>
            </a:lvl8pPr>
            <a:lvl9pPr marL="3886200" indent="-228600" eaLnBrk="0" fontAlgn="base" hangingPunct="0">
              <a:spcBef>
                <a:spcPct val="20000"/>
              </a:spcBef>
              <a:spcAft>
                <a:spcPct val="0"/>
              </a:spcAft>
              <a:buChar char="»"/>
              <a:defRPr sz="2000" b="1">
                <a:solidFill>
                  <a:schemeClr val="accent2"/>
                </a:solidFill>
                <a:latin typeface="Helvetica" panose="020B0604020202020204" pitchFamily="34" charset="0"/>
              </a:defRPr>
            </a:lvl9pPr>
          </a:lstStyle>
          <a:p>
            <a:pPr eaLnBrk="1" hangingPunct="1">
              <a:spcBef>
                <a:spcPct val="0"/>
              </a:spcBef>
              <a:buNone/>
              <a:defRPr/>
            </a:pPr>
            <a:r>
              <a:rPr lang="en-US" altLang="en-US" sz="2700" b="0" dirty="0">
                <a:solidFill>
                  <a:srgbClr val="FF0000"/>
                </a:solidFill>
                <a:latin typeface="Calibri" panose="020F0502020204030204" pitchFamily="34" charset="0"/>
                <a:cs typeface="Calibri" panose="020F0502020204030204" pitchFamily="34" charset="0"/>
              </a:rPr>
              <a:t>Outflow</a:t>
            </a:r>
            <a:endParaRPr lang="en-US" altLang="en-US" sz="3600" b="0" dirty="0">
              <a:solidFill>
                <a:srgbClr val="FF0000"/>
              </a:solidFill>
              <a:latin typeface="Calibri" panose="020F0502020204030204" pitchFamily="34" charset="0"/>
              <a:cs typeface="Calibri" panose="020F0502020204030204" pitchFamily="34" charset="0"/>
            </a:endParaRPr>
          </a:p>
        </p:txBody>
      </p:sp>
      <p:sp>
        <p:nvSpPr>
          <p:cNvPr id="24" name="Rectangle 9">
            <a:extLst>
              <a:ext uri="{FF2B5EF4-FFF2-40B4-BE49-F238E27FC236}">
                <a16:creationId xmlns:a16="http://schemas.microsoft.com/office/drawing/2014/main" id="{A679E077-1731-4F7A-19FA-A9C0AABC9991}"/>
              </a:ext>
            </a:extLst>
          </p:cNvPr>
          <p:cNvSpPr>
            <a:spLocks noChangeArrowheads="1"/>
          </p:cNvSpPr>
          <p:nvPr/>
        </p:nvSpPr>
        <p:spPr bwMode="auto">
          <a:xfrm>
            <a:off x="6462453" y="4328954"/>
            <a:ext cx="54373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accent2"/>
                </a:solidFill>
                <a:latin typeface="Helvetica" panose="020B0604020202020204" pitchFamily="34" charset="0"/>
              </a:defRPr>
            </a:lvl1pPr>
            <a:lvl2pPr marL="742950" indent="-285750">
              <a:spcBef>
                <a:spcPct val="20000"/>
              </a:spcBef>
              <a:buChar char="–"/>
              <a:defRPr sz="2800" b="1">
                <a:solidFill>
                  <a:schemeClr val="accent2"/>
                </a:solidFill>
                <a:latin typeface="Helvetica" panose="020B0604020202020204" pitchFamily="34" charset="0"/>
              </a:defRPr>
            </a:lvl2pPr>
            <a:lvl3pPr marL="1143000" indent="-228600">
              <a:spcBef>
                <a:spcPct val="20000"/>
              </a:spcBef>
              <a:buChar char="•"/>
              <a:defRPr sz="2400" b="1">
                <a:solidFill>
                  <a:schemeClr val="accent2"/>
                </a:solidFill>
                <a:latin typeface="Helvetica" panose="020B0604020202020204" pitchFamily="34" charset="0"/>
              </a:defRPr>
            </a:lvl3pPr>
            <a:lvl4pPr marL="1600200" indent="-228600">
              <a:spcBef>
                <a:spcPct val="20000"/>
              </a:spcBef>
              <a:buChar char="–"/>
              <a:defRPr sz="2000" b="1">
                <a:solidFill>
                  <a:schemeClr val="accent2"/>
                </a:solidFill>
                <a:latin typeface="Helvetica" panose="020B0604020202020204" pitchFamily="34" charset="0"/>
              </a:defRPr>
            </a:lvl4pPr>
            <a:lvl5pPr marL="2057400" indent="-228600">
              <a:spcBef>
                <a:spcPct val="20000"/>
              </a:spcBef>
              <a:buChar char="»"/>
              <a:defRPr sz="2000" b="1">
                <a:solidFill>
                  <a:schemeClr val="accent2"/>
                </a:solidFill>
                <a:latin typeface="Helvetica" panose="020B0604020202020204" pitchFamily="34" charset="0"/>
              </a:defRPr>
            </a:lvl5pPr>
            <a:lvl6pPr marL="2514600" indent="-228600" eaLnBrk="0" fontAlgn="base" hangingPunct="0">
              <a:spcBef>
                <a:spcPct val="20000"/>
              </a:spcBef>
              <a:spcAft>
                <a:spcPct val="0"/>
              </a:spcAft>
              <a:buChar char="»"/>
              <a:defRPr sz="2000" b="1">
                <a:solidFill>
                  <a:schemeClr val="accent2"/>
                </a:solidFill>
                <a:latin typeface="Helvetica" panose="020B0604020202020204" pitchFamily="34" charset="0"/>
              </a:defRPr>
            </a:lvl6pPr>
            <a:lvl7pPr marL="2971800" indent="-228600" eaLnBrk="0" fontAlgn="base" hangingPunct="0">
              <a:spcBef>
                <a:spcPct val="20000"/>
              </a:spcBef>
              <a:spcAft>
                <a:spcPct val="0"/>
              </a:spcAft>
              <a:buChar char="»"/>
              <a:defRPr sz="2000" b="1">
                <a:solidFill>
                  <a:schemeClr val="accent2"/>
                </a:solidFill>
                <a:latin typeface="Helvetica" panose="020B0604020202020204" pitchFamily="34" charset="0"/>
              </a:defRPr>
            </a:lvl7pPr>
            <a:lvl8pPr marL="3429000" indent="-228600" eaLnBrk="0" fontAlgn="base" hangingPunct="0">
              <a:spcBef>
                <a:spcPct val="20000"/>
              </a:spcBef>
              <a:spcAft>
                <a:spcPct val="0"/>
              </a:spcAft>
              <a:buChar char="»"/>
              <a:defRPr sz="2000" b="1">
                <a:solidFill>
                  <a:schemeClr val="accent2"/>
                </a:solidFill>
                <a:latin typeface="Helvetica" panose="020B0604020202020204" pitchFamily="34" charset="0"/>
              </a:defRPr>
            </a:lvl8pPr>
            <a:lvl9pPr marL="3886200" indent="-228600" eaLnBrk="0" fontAlgn="base" hangingPunct="0">
              <a:spcBef>
                <a:spcPct val="20000"/>
              </a:spcBef>
              <a:spcAft>
                <a:spcPct val="0"/>
              </a:spcAft>
              <a:buChar char="»"/>
              <a:defRPr sz="2000" b="1">
                <a:solidFill>
                  <a:schemeClr val="accent2"/>
                </a:solidFill>
                <a:latin typeface="Helvetica" panose="020B0604020202020204" pitchFamily="34" charset="0"/>
              </a:defRPr>
            </a:lvl9pPr>
          </a:lstStyle>
          <a:p>
            <a:pPr eaLnBrk="1" hangingPunct="1">
              <a:spcBef>
                <a:spcPct val="0"/>
              </a:spcBef>
              <a:buNone/>
              <a:defRPr/>
            </a:pPr>
            <a:r>
              <a:rPr lang="en-US" altLang="en-US" sz="5400" b="0" dirty="0">
                <a:solidFill>
                  <a:srgbClr val="0000CC"/>
                </a:solidFill>
                <a:latin typeface="Calibri" panose="020F0502020204030204" pitchFamily="34" charset="0"/>
                <a:cs typeface="Calibri" panose="020F0502020204030204" pitchFamily="34" charset="0"/>
              </a:rPr>
              <a:t>X</a:t>
            </a:r>
          </a:p>
        </p:txBody>
      </p:sp>
      <p:sp>
        <p:nvSpPr>
          <p:cNvPr id="25" name="Text Box 10">
            <a:extLst>
              <a:ext uri="{FF2B5EF4-FFF2-40B4-BE49-F238E27FC236}">
                <a16:creationId xmlns:a16="http://schemas.microsoft.com/office/drawing/2014/main" id="{D13E654C-D2A4-A50E-D392-20A81B84FAF9}"/>
              </a:ext>
            </a:extLst>
          </p:cNvPr>
          <p:cNvSpPr txBox="1">
            <a:spLocks noChangeArrowheads="1"/>
          </p:cNvSpPr>
          <p:nvPr/>
        </p:nvSpPr>
        <p:spPr bwMode="auto">
          <a:xfrm>
            <a:off x="6014053" y="5322829"/>
            <a:ext cx="41069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accent2"/>
                </a:solidFill>
                <a:latin typeface="Helvetica" panose="020B0604020202020204" pitchFamily="34" charset="0"/>
              </a:defRPr>
            </a:lvl1pPr>
            <a:lvl2pPr marL="742950" indent="-285750">
              <a:spcBef>
                <a:spcPct val="20000"/>
              </a:spcBef>
              <a:buChar char="–"/>
              <a:defRPr sz="2800" b="1">
                <a:solidFill>
                  <a:schemeClr val="accent2"/>
                </a:solidFill>
                <a:latin typeface="Helvetica" panose="020B0604020202020204" pitchFamily="34" charset="0"/>
              </a:defRPr>
            </a:lvl2pPr>
            <a:lvl3pPr marL="1143000" indent="-228600">
              <a:spcBef>
                <a:spcPct val="20000"/>
              </a:spcBef>
              <a:buChar char="•"/>
              <a:defRPr sz="2400" b="1">
                <a:solidFill>
                  <a:schemeClr val="accent2"/>
                </a:solidFill>
                <a:latin typeface="Helvetica" panose="020B0604020202020204" pitchFamily="34" charset="0"/>
              </a:defRPr>
            </a:lvl3pPr>
            <a:lvl4pPr marL="1600200" indent="-228600">
              <a:spcBef>
                <a:spcPct val="20000"/>
              </a:spcBef>
              <a:buChar char="–"/>
              <a:defRPr sz="2000" b="1">
                <a:solidFill>
                  <a:schemeClr val="accent2"/>
                </a:solidFill>
                <a:latin typeface="Helvetica" panose="020B0604020202020204" pitchFamily="34" charset="0"/>
              </a:defRPr>
            </a:lvl4pPr>
            <a:lvl5pPr marL="2057400" indent="-228600">
              <a:spcBef>
                <a:spcPct val="20000"/>
              </a:spcBef>
              <a:buChar char="»"/>
              <a:defRPr sz="2000" b="1">
                <a:solidFill>
                  <a:schemeClr val="accent2"/>
                </a:solidFill>
                <a:latin typeface="Helvetica" panose="020B0604020202020204" pitchFamily="34" charset="0"/>
              </a:defRPr>
            </a:lvl5pPr>
            <a:lvl6pPr marL="2514600" indent="-228600" eaLnBrk="0" fontAlgn="base" hangingPunct="0">
              <a:spcBef>
                <a:spcPct val="20000"/>
              </a:spcBef>
              <a:spcAft>
                <a:spcPct val="0"/>
              </a:spcAft>
              <a:buChar char="»"/>
              <a:defRPr sz="2000" b="1">
                <a:solidFill>
                  <a:schemeClr val="accent2"/>
                </a:solidFill>
                <a:latin typeface="Helvetica" panose="020B0604020202020204" pitchFamily="34" charset="0"/>
              </a:defRPr>
            </a:lvl6pPr>
            <a:lvl7pPr marL="2971800" indent="-228600" eaLnBrk="0" fontAlgn="base" hangingPunct="0">
              <a:spcBef>
                <a:spcPct val="20000"/>
              </a:spcBef>
              <a:spcAft>
                <a:spcPct val="0"/>
              </a:spcAft>
              <a:buChar char="»"/>
              <a:defRPr sz="2000" b="1">
                <a:solidFill>
                  <a:schemeClr val="accent2"/>
                </a:solidFill>
                <a:latin typeface="Helvetica" panose="020B0604020202020204" pitchFamily="34" charset="0"/>
              </a:defRPr>
            </a:lvl7pPr>
            <a:lvl8pPr marL="3429000" indent="-228600" eaLnBrk="0" fontAlgn="base" hangingPunct="0">
              <a:spcBef>
                <a:spcPct val="20000"/>
              </a:spcBef>
              <a:spcAft>
                <a:spcPct val="0"/>
              </a:spcAft>
              <a:buChar char="»"/>
              <a:defRPr sz="2000" b="1">
                <a:solidFill>
                  <a:schemeClr val="accent2"/>
                </a:solidFill>
                <a:latin typeface="Helvetica" panose="020B0604020202020204" pitchFamily="34" charset="0"/>
              </a:defRPr>
            </a:lvl8pPr>
            <a:lvl9pPr marL="3886200" indent="-228600" eaLnBrk="0" fontAlgn="base" hangingPunct="0">
              <a:spcBef>
                <a:spcPct val="20000"/>
              </a:spcBef>
              <a:spcAft>
                <a:spcPct val="0"/>
              </a:spcAft>
              <a:buChar char="»"/>
              <a:defRPr sz="2000" b="1">
                <a:solidFill>
                  <a:schemeClr val="accent2"/>
                </a:solidFill>
                <a:latin typeface="Helvetica" panose="020B0604020202020204" pitchFamily="34" charset="0"/>
              </a:defRPr>
            </a:lvl9pPr>
          </a:lstStyle>
          <a:p>
            <a:pPr eaLnBrk="1" hangingPunct="1">
              <a:spcBef>
                <a:spcPct val="0"/>
              </a:spcBef>
              <a:buNone/>
              <a:defRPr/>
            </a:pPr>
            <a:r>
              <a:rPr lang="en-US" altLang="en-US" sz="3600" b="0" i="1">
                <a:solidFill>
                  <a:srgbClr val="008000"/>
                </a:solidFill>
                <a:latin typeface="Calibri" panose="020F0502020204030204" pitchFamily="34" charset="0"/>
                <a:cs typeface="Calibri" panose="020F0502020204030204" pitchFamily="34" charset="0"/>
              </a:rPr>
              <a:t>E</a:t>
            </a:r>
          </a:p>
        </p:txBody>
      </p:sp>
      <p:sp>
        <p:nvSpPr>
          <p:cNvPr id="26" name="Line 12">
            <a:extLst>
              <a:ext uri="{FF2B5EF4-FFF2-40B4-BE49-F238E27FC236}">
                <a16:creationId xmlns:a16="http://schemas.microsoft.com/office/drawing/2014/main" id="{05D20052-C1DF-2B92-7766-2DDB875ABD5D}"/>
              </a:ext>
            </a:extLst>
          </p:cNvPr>
          <p:cNvSpPr>
            <a:spLocks noChangeShapeType="1"/>
          </p:cNvSpPr>
          <p:nvPr/>
        </p:nvSpPr>
        <p:spPr bwMode="auto">
          <a:xfrm flipH="1" flipV="1">
            <a:off x="6656085" y="5102757"/>
            <a:ext cx="8417" cy="1107470"/>
          </a:xfrm>
          <a:prstGeom prst="line">
            <a:avLst/>
          </a:prstGeom>
          <a:noFill/>
          <a:ln w="38100">
            <a:solidFill>
              <a:srgbClr val="008000"/>
            </a:solidFill>
            <a:round/>
            <a:headEnd/>
            <a:tailEnd type="triangle" w="lg" len="lg"/>
          </a:ln>
          <a:extLst>
            <a:ext uri="{909E8E84-426E-40DD-AFC4-6F175D3DCCD1}">
              <a14:hiddenFill xmlns:a14="http://schemas.microsoft.com/office/drawing/2010/main">
                <a:noFill/>
              </a14:hiddenFill>
            </a:ext>
          </a:extLst>
        </p:spPr>
        <p:txBody>
          <a:bodyPr/>
          <a:lstStyle/>
          <a:p>
            <a:pPr>
              <a:defRPr/>
            </a:pPr>
            <a:endParaRPr lang="en-US" sz="2700" b="1">
              <a:solidFill>
                <a:srgbClr val="000000"/>
              </a:solidFill>
              <a:latin typeface="Calibri" panose="020F0502020204030204" pitchFamily="34" charset="0"/>
              <a:cs typeface="Calibri" panose="020F0502020204030204" pitchFamily="34" charset="0"/>
            </a:endParaRPr>
          </a:p>
        </p:txBody>
      </p:sp>
      <p:sp>
        <p:nvSpPr>
          <p:cNvPr id="27" name="Text Box 14">
            <a:extLst>
              <a:ext uri="{FF2B5EF4-FFF2-40B4-BE49-F238E27FC236}">
                <a16:creationId xmlns:a16="http://schemas.microsoft.com/office/drawing/2014/main" id="{2F12AACB-328C-FC05-6C55-3679ADFF22A9}"/>
              </a:ext>
            </a:extLst>
          </p:cNvPr>
          <p:cNvSpPr txBox="1">
            <a:spLocks noChangeArrowheads="1"/>
          </p:cNvSpPr>
          <p:nvPr/>
        </p:nvSpPr>
        <p:spPr bwMode="auto">
          <a:xfrm>
            <a:off x="6884760" y="6173205"/>
            <a:ext cx="1707519"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accent2"/>
                </a:solidFill>
                <a:latin typeface="Helvetica" panose="020B0604020202020204" pitchFamily="34" charset="0"/>
              </a:defRPr>
            </a:lvl1pPr>
            <a:lvl2pPr marL="742950" indent="-285750">
              <a:spcBef>
                <a:spcPct val="20000"/>
              </a:spcBef>
              <a:buChar char="–"/>
              <a:defRPr sz="2800" b="1">
                <a:solidFill>
                  <a:schemeClr val="accent2"/>
                </a:solidFill>
                <a:latin typeface="Helvetica" panose="020B0604020202020204" pitchFamily="34" charset="0"/>
              </a:defRPr>
            </a:lvl2pPr>
            <a:lvl3pPr marL="1143000" indent="-228600">
              <a:spcBef>
                <a:spcPct val="20000"/>
              </a:spcBef>
              <a:buChar char="•"/>
              <a:defRPr sz="2400" b="1">
                <a:solidFill>
                  <a:schemeClr val="accent2"/>
                </a:solidFill>
                <a:latin typeface="Helvetica" panose="020B0604020202020204" pitchFamily="34" charset="0"/>
              </a:defRPr>
            </a:lvl3pPr>
            <a:lvl4pPr marL="1600200" indent="-228600">
              <a:spcBef>
                <a:spcPct val="20000"/>
              </a:spcBef>
              <a:buChar char="–"/>
              <a:defRPr sz="2000" b="1">
                <a:solidFill>
                  <a:schemeClr val="accent2"/>
                </a:solidFill>
                <a:latin typeface="Helvetica" panose="020B0604020202020204" pitchFamily="34" charset="0"/>
              </a:defRPr>
            </a:lvl4pPr>
            <a:lvl5pPr marL="2057400" indent="-228600">
              <a:spcBef>
                <a:spcPct val="20000"/>
              </a:spcBef>
              <a:buChar char="»"/>
              <a:defRPr sz="2000" b="1">
                <a:solidFill>
                  <a:schemeClr val="accent2"/>
                </a:solidFill>
                <a:latin typeface="Helvetica" panose="020B0604020202020204" pitchFamily="34" charset="0"/>
              </a:defRPr>
            </a:lvl5pPr>
            <a:lvl6pPr marL="2514600" indent="-228600" eaLnBrk="0" fontAlgn="base" hangingPunct="0">
              <a:spcBef>
                <a:spcPct val="20000"/>
              </a:spcBef>
              <a:spcAft>
                <a:spcPct val="0"/>
              </a:spcAft>
              <a:buChar char="»"/>
              <a:defRPr sz="2000" b="1">
                <a:solidFill>
                  <a:schemeClr val="accent2"/>
                </a:solidFill>
                <a:latin typeface="Helvetica" panose="020B0604020202020204" pitchFamily="34" charset="0"/>
              </a:defRPr>
            </a:lvl6pPr>
            <a:lvl7pPr marL="2971800" indent="-228600" eaLnBrk="0" fontAlgn="base" hangingPunct="0">
              <a:spcBef>
                <a:spcPct val="20000"/>
              </a:spcBef>
              <a:spcAft>
                <a:spcPct val="0"/>
              </a:spcAft>
              <a:buChar char="»"/>
              <a:defRPr sz="2000" b="1">
                <a:solidFill>
                  <a:schemeClr val="accent2"/>
                </a:solidFill>
                <a:latin typeface="Helvetica" panose="020B0604020202020204" pitchFamily="34" charset="0"/>
              </a:defRPr>
            </a:lvl7pPr>
            <a:lvl8pPr marL="3429000" indent="-228600" eaLnBrk="0" fontAlgn="base" hangingPunct="0">
              <a:spcBef>
                <a:spcPct val="20000"/>
              </a:spcBef>
              <a:spcAft>
                <a:spcPct val="0"/>
              </a:spcAft>
              <a:buChar char="»"/>
              <a:defRPr sz="2000" b="1">
                <a:solidFill>
                  <a:schemeClr val="accent2"/>
                </a:solidFill>
                <a:latin typeface="Helvetica" panose="020B0604020202020204" pitchFamily="34" charset="0"/>
              </a:defRPr>
            </a:lvl8pPr>
            <a:lvl9pPr marL="3886200" indent="-228600" eaLnBrk="0" fontAlgn="base" hangingPunct="0">
              <a:spcBef>
                <a:spcPct val="20000"/>
              </a:spcBef>
              <a:spcAft>
                <a:spcPct val="0"/>
              </a:spcAft>
              <a:buChar char="»"/>
              <a:defRPr sz="2000" b="1">
                <a:solidFill>
                  <a:schemeClr val="accent2"/>
                </a:solidFill>
                <a:latin typeface="Helvetica" panose="020B0604020202020204" pitchFamily="34" charset="0"/>
              </a:defRPr>
            </a:lvl9pPr>
          </a:lstStyle>
          <a:p>
            <a:pPr eaLnBrk="1" hangingPunct="1">
              <a:spcBef>
                <a:spcPct val="0"/>
              </a:spcBef>
              <a:buNone/>
              <a:defRPr/>
            </a:pPr>
            <a:r>
              <a:rPr lang="en-US" altLang="en-US" sz="2700" b="0" dirty="0">
                <a:solidFill>
                  <a:srgbClr val="FF0000"/>
                </a:solidFill>
                <a:latin typeface="Calibri" panose="020F0502020204030204" pitchFamily="34" charset="0"/>
                <a:cs typeface="Calibri" panose="020F0502020204030204" pitchFamily="34" charset="0"/>
              </a:rPr>
              <a:t>Deposition</a:t>
            </a:r>
          </a:p>
        </p:txBody>
      </p:sp>
      <p:sp>
        <p:nvSpPr>
          <p:cNvPr id="28" name="Text Box 16">
            <a:extLst>
              <a:ext uri="{FF2B5EF4-FFF2-40B4-BE49-F238E27FC236}">
                <a16:creationId xmlns:a16="http://schemas.microsoft.com/office/drawing/2014/main" id="{F0491F8F-ABF7-0757-97FC-550694E693BE}"/>
              </a:ext>
            </a:extLst>
          </p:cNvPr>
          <p:cNvSpPr txBox="1">
            <a:spLocks noChangeArrowheads="1"/>
          </p:cNvSpPr>
          <p:nvPr/>
        </p:nvSpPr>
        <p:spPr bwMode="auto">
          <a:xfrm>
            <a:off x="7034673" y="5310786"/>
            <a:ext cx="46839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accent2"/>
                </a:solidFill>
                <a:latin typeface="Helvetica" panose="020B0604020202020204" pitchFamily="34" charset="0"/>
              </a:defRPr>
            </a:lvl1pPr>
            <a:lvl2pPr marL="742950" indent="-285750">
              <a:spcBef>
                <a:spcPct val="20000"/>
              </a:spcBef>
              <a:buChar char="–"/>
              <a:defRPr sz="2800" b="1">
                <a:solidFill>
                  <a:schemeClr val="accent2"/>
                </a:solidFill>
                <a:latin typeface="Helvetica" panose="020B0604020202020204" pitchFamily="34" charset="0"/>
              </a:defRPr>
            </a:lvl2pPr>
            <a:lvl3pPr marL="1143000" indent="-228600">
              <a:spcBef>
                <a:spcPct val="20000"/>
              </a:spcBef>
              <a:buChar char="•"/>
              <a:defRPr sz="2400" b="1">
                <a:solidFill>
                  <a:schemeClr val="accent2"/>
                </a:solidFill>
                <a:latin typeface="Helvetica" panose="020B0604020202020204" pitchFamily="34" charset="0"/>
              </a:defRPr>
            </a:lvl3pPr>
            <a:lvl4pPr marL="1600200" indent="-228600">
              <a:spcBef>
                <a:spcPct val="20000"/>
              </a:spcBef>
              <a:buChar char="–"/>
              <a:defRPr sz="2000" b="1">
                <a:solidFill>
                  <a:schemeClr val="accent2"/>
                </a:solidFill>
                <a:latin typeface="Helvetica" panose="020B0604020202020204" pitchFamily="34" charset="0"/>
              </a:defRPr>
            </a:lvl4pPr>
            <a:lvl5pPr marL="2057400" indent="-228600">
              <a:spcBef>
                <a:spcPct val="20000"/>
              </a:spcBef>
              <a:buChar char="»"/>
              <a:defRPr sz="2000" b="1">
                <a:solidFill>
                  <a:schemeClr val="accent2"/>
                </a:solidFill>
                <a:latin typeface="Helvetica" panose="020B0604020202020204" pitchFamily="34" charset="0"/>
              </a:defRPr>
            </a:lvl5pPr>
            <a:lvl6pPr marL="2514600" indent="-228600" eaLnBrk="0" fontAlgn="base" hangingPunct="0">
              <a:spcBef>
                <a:spcPct val="20000"/>
              </a:spcBef>
              <a:spcAft>
                <a:spcPct val="0"/>
              </a:spcAft>
              <a:buChar char="»"/>
              <a:defRPr sz="2000" b="1">
                <a:solidFill>
                  <a:schemeClr val="accent2"/>
                </a:solidFill>
                <a:latin typeface="Helvetica" panose="020B0604020202020204" pitchFamily="34" charset="0"/>
              </a:defRPr>
            </a:lvl6pPr>
            <a:lvl7pPr marL="2971800" indent="-228600" eaLnBrk="0" fontAlgn="base" hangingPunct="0">
              <a:spcBef>
                <a:spcPct val="20000"/>
              </a:spcBef>
              <a:spcAft>
                <a:spcPct val="0"/>
              </a:spcAft>
              <a:buChar char="»"/>
              <a:defRPr sz="2000" b="1">
                <a:solidFill>
                  <a:schemeClr val="accent2"/>
                </a:solidFill>
                <a:latin typeface="Helvetica" panose="020B0604020202020204" pitchFamily="34" charset="0"/>
              </a:defRPr>
            </a:lvl7pPr>
            <a:lvl8pPr marL="3429000" indent="-228600" eaLnBrk="0" fontAlgn="base" hangingPunct="0">
              <a:spcBef>
                <a:spcPct val="20000"/>
              </a:spcBef>
              <a:spcAft>
                <a:spcPct val="0"/>
              </a:spcAft>
              <a:buChar char="»"/>
              <a:defRPr sz="2000" b="1">
                <a:solidFill>
                  <a:schemeClr val="accent2"/>
                </a:solidFill>
                <a:latin typeface="Helvetica" panose="020B0604020202020204" pitchFamily="34" charset="0"/>
              </a:defRPr>
            </a:lvl8pPr>
            <a:lvl9pPr marL="3886200" indent="-228600" eaLnBrk="0" fontAlgn="base" hangingPunct="0">
              <a:spcBef>
                <a:spcPct val="20000"/>
              </a:spcBef>
              <a:spcAft>
                <a:spcPct val="0"/>
              </a:spcAft>
              <a:buChar char="»"/>
              <a:defRPr sz="2000" b="1">
                <a:solidFill>
                  <a:schemeClr val="accent2"/>
                </a:solidFill>
                <a:latin typeface="Helvetica" panose="020B0604020202020204" pitchFamily="34" charset="0"/>
              </a:defRPr>
            </a:lvl9pPr>
          </a:lstStyle>
          <a:p>
            <a:pPr eaLnBrk="1" hangingPunct="1">
              <a:spcBef>
                <a:spcPct val="0"/>
              </a:spcBef>
              <a:buNone/>
              <a:defRPr/>
            </a:pPr>
            <a:r>
              <a:rPr lang="en-US" altLang="en-US" sz="3600" b="0" i="1">
                <a:solidFill>
                  <a:srgbClr val="FF0000"/>
                </a:solidFill>
                <a:latin typeface="Calibri" panose="020F0502020204030204" pitchFamily="34" charset="0"/>
                <a:cs typeface="Calibri" panose="020F0502020204030204" pitchFamily="34" charset="0"/>
              </a:rPr>
              <a:t>D</a:t>
            </a:r>
          </a:p>
        </p:txBody>
      </p:sp>
      <p:sp>
        <p:nvSpPr>
          <p:cNvPr id="29" name="Text Box 17">
            <a:extLst>
              <a:ext uri="{FF2B5EF4-FFF2-40B4-BE49-F238E27FC236}">
                <a16:creationId xmlns:a16="http://schemas.microsoft.com/office/drawing/2014/main" id="{62F65D18-F432-5438-47E9-CF53E18E3962}"/>
              </a:ext>
            </a:extLst>
          </p:cNvPr>
          <p:cNvSpPr txBox="1">
            <a:spLocks noChangeArrowheads="1"/>
          </p:cNvSpPr>
          <p:nvPr/>
        </p:nvSpPr>
        <p:spPr bwMode="auto">
          <a:xfrm>
            <a:off x="4025285" y="2805011"/>
            <a:ext cx="173079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accent2"/>
                </a:solidFill>
                <a:latin typeface="Helvetica" panose="020B0604020202020204" pitchFamily="34" charset="0"/>
              </a:defRPr>
            </a:lvl1pPr>
            <a:lvl2pPr marL="742950" indent="-285750">
              <a:spcBef>
                <a:spcPct val="20000"/>
              </a:spcBef>
              <a:buChar char="–"/>
              <a:defRPr sz="2800" b="1">
                <a:solidFill>
                  <a:schemeClr val="accent2"/>
                </a:solidFill>
                <a:latin typeface="Helvetica" panose="020B0604020202020204" pitchFamily="34" charset="0"/>
              </a:defRPr>
            </a:lvl2pPr>
            <a:lvl3pPr marL="1143000" indent="-228600">
              <a:spcBef>
                <a:spcPct val="20000"/>
              </a:spcBef>
              <a:buChar char="•"/>
              <a:defRPr sz="2400" b="1">
                <a:solidFill>
                  <a:schemeClr val="accent2"/>
                </a:solidFill>
                <a:latin typeface="Helvetica" panose="020B0604020202020204" pitchFamily="34" charset="0"/>
              </a:defRPr>
            </a:lvl3pPr>
            <a:lvl4pPr marL="1600200" indent="-228600">
              <a:spcBef>
                <a:spcPct val="20000"/>
              </a:spcBef>
              <a:buChar char="–"/>
              <a:defRPr sz="2000" b="1">
                <a:solidFill>
                  <a:schemeClr val="accent2"/>
                </a:solidFill>
                <a:latin typeface="Helvetica" panose="020B0604020202020204" pitchFamily="34" charset="0"/>
              </a:defRPr>
            </a:lvl4pPr>
            <a:lvl5pPr marL="2057400" indent="-228600">
              <a:spcBef>
                <a:spcPct val="20000"/>
              </a:spcBef>
              <a:buChar char="»"/>
              <a:defRPr sz="2000" b="1">
                <a:solidFill>
                  <a:schemeClr val="accent2"/>
                </a:solidFill>
                <a:latin typeface="Helvetica" panose="020B0604020202020204" pitchFamily="34" charset="0"/>
              </a:defRPr>
            </a:lvl5pPr>
            <a:lvl6pPr marL="2514600" indent="-228600" eaLnBrk="0" fontAlgn="base" hangingPunct="0">
              <a:spcBef>
                <a:spcPct val="20000"/>
              </a:spcBef>
              <a:spcAft>
                <a:spcPct val="0"/>
              </a:spcAft>
              <a:buChar char="»"/>
              <a:defRPr sz="2000" b="1">
                <a:solidFill>
                  <a:schemeClr val="accent2"/>
                </a:solidFill>
                <a:latin typeface="Helvetica" panose="020B0604020202020204" pitchFamily="34" charset="0"/>
              </a:defRPr>
            </a:lvl6pPr>
            <a:lvl7pPr marL="2971800" indent="-228600" eaLnBrk="0" fontAlgn="base" hangingPunct="0">
              <a:spcBef>
                <a:spcPct val="20000"/>
              </a:spcBef>
              <a:spcAft>
                <a:spcPct val="0"/>
              </a:spcAft>
              <a:buChar char="»"/>
              <a:defRPr sz="2000" b="1">
                <a:solidFill>
                  <a:schemeClr val="accent2"/>
                </a:solidFill>
                <a:latin typeface="Helvetica" panose="020B0604020202020204" pitchFamily="34" charset="0"/>
              </a:defRPr>
            </a:lvl7pPr>
            <a:lvl8pPr marL="3429000" indent="-228600" eaLnBrk="0" fontAlgn="base" hangingPunct="0">
              <a:spcBef>
                <a:spcPct val="20000"/>
              </a:spcBef>
              <a:spcAft>
                <a:spcPct val="0"/>
              </a:spcAft>
              <a:buChar char="»"/>
              <a:defRPr sz="2000" b="1">
                <a:solidFill>
                  <a:schemeClr val="accent2"/>
                </a:solidFill>
                <a:latin typeface="Helvetica" panose="020B0604020202020204" pitchFamily="34" charset="0"/>
              </a:defRPr>
            </a:lvl8pPr>
            <a:lvl9pPr marL="3886200" indent="-228600" eaLnBrk="0" fontAlgn="base" hangingPunct="0">
              <a:spcBef>
                <a:spcPct val="20000"/>
              </a:spcBef>
              <a:spcAft>
                <a:spcPct val="0"/>
              </a:spcAft>
              <a:buChar char="»"/>
              <a:defRPr sz="2000" b="1">
                <a:solidFill>
                  <a:schemeClr val="accent2"/>
                </a:solidFill>
                <a:latin typeface="Helvetica" panose="020B0604020202020204" pitchFamily="34" charset="0"/>
              </a:defRPr>
            </a:lvl9pPr>
          </a:lstStyle>
          <a:p>
            <a:pPr eaLnBrk="1" hangingPunct="1">
              <a:spcBef>
                <a:spcPct val="0"/>
              </a:spcBef>
              <a:buNone/>
              <a:defRPr/>
            </a:pPr>
            <a:r>
              <a:rPr lang="en-US" altLang="en-US" sz="2700" b="0">
                <a:solidFill>
                  <a:srgbClr val="008000"/>
                </a:solidFill>
                <a:latin typeface="Calibri" panose="020F0502020204030204" pitchFamily="34" charset="0"/>
                <a:cs typeface="Calibri" panose="020F0502020204030204" pitchFamily="34" charset="0"/>
              </a:rPr>
              <a:t>Chemical</a:t>
            </a:r>
          </a:p>
          <a:p>
            <a:pPr eaLnBrk="1" hangingPunct="1">
              <a:spcBef>
                <a:spcPct val="0"/>
              </a:spcBef>
              <a:buNone/>
              <a:defRPr/>
            </a:pPr>
            <a:r>
              <a:rPr lang="en-US" altLang="en-US" sz="2700" b="0">
                <a:solidFill>
                  <a:srgbClr val="008000"/>
                </a:solidFill>
                <a:latin typeface="Calibri" panose="020F0502020204030204" pitchFamily="34" charset="0"/>
                <a:cs typeface="Calibri" panose="020F0502020204030204" pitchFamily="34" charset="0"/>
              </a:rPr>
              <a:t>production</a:t>
            </a:r>
          </a:p>
        </p:txBody>
      </p:sp>
      <p:sp>
        <p:nvSpPr>
          <p:cNvPr id="30" name="Text Box 18">
            <a:extLst>
              <a:ext uri="{FF2B5EF4-FFF2-40B4-BE49-F238E27FC236}">
                <a16:creationId xmlns:a16="http://schemas.microsoft.com/office/drawing/2014/main" id="{AEAD1B28-7F92-E9F4-F08B-28E0E781EFB3}"/>
              </a:ext>
            </a:extLst>
          </p:cNvPr>
          <p:cNvSpPr txBox="1">
            <a:spLocks noChangeArrowheads="1"/>
          </p:cNvSpPr>
          <p:nvPr/>
        </p:nvSpPr>
        <p:spPr bwMode="auto">
          <a:xfrm>
            <a:off x="5981977" y="3539673"/>
            <a:ext cx="42351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accent2"/>
                </a:solidFill>
                <a:latin typeface="Helvetica" panose="020B0604020202020204" pitchFamily="34" charset="0"/>
              </a:defRPr>
            </a:lvl1pPr>
            <a:lvl2pPr marL="742950" indent="-285750">
              <a:spcBef>
                <a:spcPct val="20000"/>
              </a:spcBef>
              <a:buChar char="–"/>
              <a:defRPr sz="2800" b="1">
                <a:solidFill>
                  <a:schemeClr val="accent2"/>
                </a:solidFill>
                <a:latin typeface="Helvetica" panose="020B0604020202020204" pitchFamily="34" charset="0"/>
              </a:defRPr>
            </a:lvl2pPr>
            <a:lvl3pPr marL="1143000" indent="-228600">
              <a:spcBef>
                <a:spcPct val="20000"/>
              </a:spcBef>
              <a:buChar char="•"/>
              <a:defRPr sz="2400" b="1">
                <a:solidFill>
                  <a:schemeClr val="accent2"/>
                </a:solidFill>
                <a:latin typeface="Helvetica" panose="020B0604020202020204" pitchFamily="34" charset="0"/>
              </a:defRPr>
            </a:lvl3pPr>
            <a:lvl4pPr marL="1600200" indent="-228600">
              <a:spcBef>
                <a:spcPct val="20000"/>
              </a:spcBef>
              <a:buChar char="–"/>
              <a:defRPr sz="2000" b="1">
                <a:solidFill>
                  <a:schemeClr val="accent2"/>
                </a:solidFill>
                <a:latin typeface="Helvetica" panose="020B0604020202020204" pitchFamily="34" charset="0"/>
              </a:defRPr>
            </a:lvl4pPr>
            <a:lvl5pPr marL="2057400" indent="-228600">
              <a:spcBef>
                <a:spcPct val="20000"/>
              </a:spcBef>
              <a:buChar char="»"/>
              <a:defRPr sz="2000" b="1">
                <a:solidFill>
                  <a:schemeClr val="accent2"/>
                </a:solidFill>
                <a:latin typeface="Helvetica" panose="020B0604020202020204" pitchFamily="34" charset="0"/>
              </a:defRPr>
            </a:lvl5pPr>
            <a:lvl6pPr marL="2514600" indent="-228600" eaLnBrk="0" fontAlgn="base" hangingPunct="0">
              <a:spcBef>
                <a:spcPct val="20000"/>
              </a:spcBef>
              <a:spcAft>
                <a:spcPct val="0"/>
              </a:spcAft>
              <a:buChar char="»"/>
              <a:defRPr sz="2000" b="1">
                <a:solidFill>
                  <a:schemeClr val="accent2"/>
                </a:solidFill>
                <a:latin typeface="Helvetica" panose="020B0604020202020204" pitchFamily="34" charset="0"/>
              </a:defRPr>
            </a:lvl6pPr>
            <a:lvl7pPr marL="2971800" indent="-228600" eaLnBrk="0" fontAlgn="base" hangingPunct="0">
              <a:spcBef>
                <a:spcPct val="20000"/>
              </a:spcBef>
              <a:spcAft>
                <a:spcPct val="0"/>
              </a:spcAft>
              <a:buChar char="»"/>
              <a:defRPr sz="2000" b="1">
                <a:solidFill>
                  <a:schemeClr val="accent2"/>
                </a:solidFill>
                <a:latin typeface="Helvetica" panose="020B0604020202020204" pitchFamily="34" charset="0"/>
              </a:defRPr>
            </a:lvl7pPr>
            <a:lvl8pPr marL="3429000" indent="-228600" eaLnBrk="0" fontAlgn="base" hangingPunct="0">
              <a:spcBef>
                <a:spcPct val="20000"/>
              </a:spcBef>
              <a:spcAft>
                <a:spcPct val="0"/>
              </a:spcAft>
              <a:buChar char="»"/>
              <a:defRPr sz="2000" b="1">
                <a:solidFill>
                  <a:schemeClr val="accent2"/>
                </a:solidFill>
                <a:latin typeface="Helvetica" panose="020B0604020202020204" pitchFamily="34" charset="0"/>
              </a:defRPr>
            </a:lvl8pPr>
            <a:lvl9pPr marL="3886200" indent="-228600" eaLnBrk="0" fontAlgn="base" hangingPunct="0">
              <a:spcBef>
                <a:spcPct val="20000"/>
              </a:spcBef>
              <a:spcAft>
                <a:spcPct val="0"/>
              </a:spcAft>
              <a:buChar char="»"/>
              <a:defRPr sz="2000" b="1">
                <a:solidFill>
                  <a:schemeClr val="accent2"/>
                </a:solidFill>
                <a:latin typeface="Helvetica" panose="020B0604020202020204" pitchFamily="34" charset="0"/>
              </a:defRPr>
            </a:lvl9pPr>
          </a:lstStyle>
          <a:p>
            <a:pPr eaLnBrk="1" hangingPunct="1">
              <a:spcBef>
                <a:spcPct val="0"/>
              </a:spcBef>
              <a:buNone/>
              <a:defRPr/>
            </a:pPr>
            <a:r>
              <a:rPr lang="en-US" altLang="en-US" sz="3600" b="0" i="1" dirty="0">
                <a:solidFill>
                  <a:srgbClr val="008000"/>
                </a:solidFill>
                <a:latin typeface="Calibri" panose="020F0502020204030204" pitchFamily="34" charset="0"/>
                <a:cs typeface="Calibri" panose="020F0502020204030204" pitchFamily="34" charset="0"/>
              </a:rPr>
              <a:t>P</a:t>
            </a:r>
          </a:p>
        </p:txBody>
      </p:sp>
      <p:sp>
        <p:nvSpPr>
          <p:cNvPr id="31" name="Text Box 20">
            <a:extLst>
              <a:ext uri="{FF2B5EF4-FFF2-40B4-BE49-F238E27FC236}">
                <a16:creationId xmlns:a16="http://schemas.microsoft.com/office/drawing/2014/main" id="{965F1E02-6B98-CC2C-3524-CF9065448F75}"/>
              </a:ext>
            </a:extLst>
          </p:cNvPr>
          <p:cNvSpPr txBox="1">
            <a:spLocks noChangeArrowheads="1"/>
          </p:cNvSpPr>
          <p:nvPr/>
        </p:nvSpPr>
        <p:spPr bwMode="auto">
          <a:xfrm>
            <a:off x="7079416" y="3532278"/>
            <a:ext cx="37863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accent2"/>
                </a:solidFill>
                <a:latin typeface="Helvetica" panose="020B0604020202020204" pitchFamily="34" charset="0"/>
              </a:defRPr>
            </a:lvl1pPr>
            <a:lvl2pPr marL="742950" indent="-285750">
              <a:spcBef>
                <a:spcPct val="20000"/>
              </a:spcBef>
              <a:buChar char="–"/>
              <a:defRPr sz="2800" b="1">
                <a:solidFill>
                  <a:schemeClr val="accent2"/>
                </a:solidFill>
                <a:latin typeface="Helvetica" panose="020B0604020202020204" pitchFamily="34" charset="0"/>
              </a:defRPr>
            </a:lvl2pPr>
            <a:lvl3pPr marL="1143000" indent="-228600">
              <a:spcBef>
                <a:spcPct val="20000"/>
              </a:spcBef>
              <a:buChar char="•"/>
              <a:defRPr sz="2400" b="1">
                <a:solidFill>
                  <a:schemeClr val="accent2"/>
                </a:solidFill>
                <a:latin typeface="Helvetica" panose="020B0604020202020204" pitchFamily="34" charset="0"/>
              </a:defRPr>
            </a:lvl3pPr>
            <a:lvl4pPr marL="1600200" indent="-228600">
              <a:spcBef>
                <a:spcPct val="20000"/>
              </a:spcBef>
              <a:buChar char="–"/>
              <a:defRPr sz="2000" b="1">
                <a:solidFill>
                  <a:schemeClr val="accent2"/>
                </a:solidFill>
                <a:latin typeface="Helvetica" panose="020B0604020202020204" pitchFamily="34" charset="0"/>
              </a:defRPr>
            </a:lvl4pPr>
            <a:lvl5pPr marL="2057400" indent="-228600">
              <a:spcBef>
                <a:spcPct val="20000"/>
              </a:spcBef>
              <a:buChar char="»"/>
              <a:defRPr sz="2000" b="1">
                <a:solidFill>
                  <a:schemeClr val="accent2"/>
                </a:solidFill>
                <a:latin typeface="Helvetica" panose="020B0604020202020204" pitchFamily="34" charset="0"/>
              </a:defRPr>
            </a:lvl5pPr>
            <a:lvl6pPr marL="2514600" indent="-228600" eaLnBrk="0" fontAlgn="base" hangingPunct="0">
              <a:spcBef>
                <a:spcPct val="20000"/>
              </a:spcBef>
              <a:spcAft>
                <a:spcPct val="0"/>
              </a:spcAft>
              <a:buChar char="»"/>
              <a:defRPr sz="2000" b="1">
                <a:solidFill>
                  <a:schemeClr val="accent2"/>
                </a:solidFill>
                <a:latin typeface="Helvetica" panose="020B0604020202020204" pitchFamily="34" charset="0"/>
              </a:defRPr>
            </a:lvl6pPr>
            <a:lvl7pPr marL="2971800" indent="-228600" eaLnBrk="0" fontAlgn="base" hangingPunct="0">
              <a:spcBef>
                <a:spcPct val="20000"/>
              </a:spcBef>
              <a:spcAft>
                <a:spcPct val="0"/>
              </a:spcAft>
              <a:buChar char="»"/>
              <a:defRPr sz="2000" b="1">
                <a:solidFill>
                  <a:schemeClr val="accent2"/>
                </a:solidFill>
                <a:latin typeface="Helvetica" panose="020B0604020202020204" pitchFamily="34" charset="0"/>
              </a:defRPr>
            </a:lvl7pPr>
            <a:lvl8pPr marL="3429000" indent="-228600" eaLnBrk="0" fontAlgn="base" hangingPunct="0">
              <a:spcBef>
                <a:spcPct val="20000"/>
              </a:spcBef>
              <a:spcAft>
                <a:spcPct val="0"/>
              </a:spcAft>
              <a:buChar char="»"/>
              <a:defRPr sz="2000" b="1">
                <a:solidFill>
                  <a:schemeClr val="accent2"/>
                </a:solidFill>
                <a:latin typeface="Helvetica" panose="020B0604020202020204" pitchFamily="34" charset="0"/>
              </a:defRPr>
            </a:lvl8pPr>
            <a:lvl9pPr marL="3886200" indent="-228600" eaLnBrk="0" fontAlgn="base" hangingPunct="0">
              <a:spcBef>
                <a:spcPct val="20000"/>
              </a:spcBef>
              <a:spcAft>
                <a:spcPct val="0"/>
              </a:spcAft>
              <a:buChar char="»"/>
              <a:defRPr sz="2000" b="1">
                <a:solidFill>
                  <a:schemeClr val="accent2"/>
                </a:solidFill>
                <a:latin typeface="Helvetica" panose="020B0604020202020204" pitchFamily="34" charset="0"/>
              </a:defRPr>
            </a:lvl9pPr>
          </a:lstStyle>
          <a:p>
            <a:pPr eaLnBrk="1" hangingPunct="1">
              <a:spcBef>
                <a:spcPct val="0"/>
              </a:spcBef>
              <a:buNone/>
              <a:defRPr/>
            </a:pPr>
            <a:r>
              <a:rPr lang="en-US" altLang="en-US" sz="3600" b="0" i="1">
                <a:solidFill>
                  <a:srgbClr val="FF0000"/>
                </a:solidFill>
                <a:latin typeface="Calibri" panose="020F0502020204030204" pitchFamily="34" charset="0"/>
                <a:cs typeface="Calibri" panose="020F0502020204030204" pitchFamily="34" charset="0"/>
              </a:rPr>
              <a:t>L</a:t>
            </a:r>
          </a:p>
        </p:txBody>
      </p:sp>
      <p:sp>
        <p:nvSpPr>
          <p:cNvPr id="32" name="Text Box 21">
            <a:extLst>
              <a:ext uri="{FF2B5EF4-FFF2-40B4-BE49-F238E27FC236}">
                <a16:creationId xmlns:a16="http://schemas.microsoft.com/office/drawing/2014/main" id="{37266566-982E-980B-D873-0CAF3C3D9C3A}"/>
              </a:ext>
            </a:extLst>
          </p:cNvPr>
          <p:cNvSpPr txBox="1">
            <a:spLocks noChangeArrowheads="1"/>
          </p:cNvSpPr>
          <p:nvPr/>
        </p:nvSpPr>
        <p:spPr bwMode="auto">
          <a:xfrm>
            <a:off x="7826795" y="2805011"/>
            <a:ext cx="146738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accent2"/>
                </a:solidFill>
                <a:latin typeface="Helvetica" panose="020B0604020202020204" pitchFamily="34" charset="0"/>
              </a:defRPr>
            </a:lvl1pPr>
            <a:lvl2pPr marL="742950" indent="-285750">
              <a:spcBef>
                <a:spcPct val="20000"/>
              </a:spcBef>
              <a:buChar char="–"/>
              <a:defRPr sz="2800" b="1">
                <a:solidFill>
                  <a:schemeClr val="accent2"/>
                </a:solidFill>
                <a:latin typeface="Helvetica" panose="020B0604020202020204" pitchFamily="34" charset="0"/>
              </a:defRPr>
            </a:lvl2pPr>
            <a:lvl3pPr marL="1143000" indent="-228600">
              <a:spcBef>
                <a:spcPct val="20000"/>
              </a:spcBef>
              <a:buChar char="•"/>
              <a:defRPr sz="2400" b="1">
                <a:solidFill>
                  <a:schemeClr val="accent2"/>
                </a:solidFill>
                <a:latin typeface="Helvetica" panose="020B0604020202020204" pitchFamily="34" charset="0"/>
              </a:defRPr>
            </a:lvl3pPr>
            <a:lvl4pPr marL="1600200" indent="-228600">
              <a:spcBef>
                <a:spcPct val="20000"/>
              </a:spcBef>
              <a:buChar char="–"/>
              <a:defRPr sz="2000" b="1">
                <a:solidFill>
                  <a:schemeClr val="accent2"/>
                </a:solidFill>
                <a:latin typeface="Helvetica" panose="020B0604020202020204" pitchFamily="34" charset="0"/>
              </a:defRPr>
            </a:lvl4pPr>
            <a:lvl5pPr marL="2057400" indent="-228600">
              <a:spcBef>
                <a:spcPct val="20000"/>
              </a:spcBef>
              <a:buChar char="»"/>
              <a:defRPr sz="2000" b="1">
                <a:solidFill>
                  <a:schemeClr val="accent2"/>
                </a:solidFill>
                <a:latin typeface="Helvetica" panose="020B0604020202020204" pitchFamily="34" charset="0"/>
              </a:defRPr>
            </a:lvl5pPr>
            <a:lvl6pPr marL="2514600" indent="-228600" eaLnBrk="0" fontAlgn="base" hangingPunct="0">
              <a:spcBef>
                <a:spcPct val="20000"/>
              </a:spcBef>
              <a:spcAft>
                <a:spcPct val="0"/>
              </a:spcAft>
              <a:buChar char="»"/>
              <a:defRPr sz="2000" b="1">
                <a:solidFill>
                  <a:schemeClr val="accent2"/>
                </a:solidFill>
                <a:latin typeface="Helvetica" panose="020B0604020202020204" pitchFamily="34" charset="0"/>
              </a:defRPr>
            </a:lvl6pPr>
            <a:lvl7pPr marL="2971800" indent="-228600" eaLnBrk="0" fontAlgn="base" hangingPunct="0">
              <a:spcBef>
                <a:spcPct val="20000"/>
              </a:spcBef>
              <a:spcAft>
                <a:spcPct val="0"/>
              </a:spcAft>
              <a:buChar char="»"/>
              <a:defRPr sz="2000" b="1">
                <a:solidFill>
                  <a:schemeClr val="accent2"/>
                </a:solidFill>
                <a:latin typeface="Helvetica" panose="020B0604020202020204" pitchFamily="34" charset="0"/>
              </a:defRPr>
            </a:lvl7pPr>
            <a:lvl8pPr marL="3429000" indent="-228600" eaLnBrk="0" fontAlgn="base" hangingPunct="0">
              <a:spcBef>
                <a:spcPct val="20000"/>
              </a:spcBef>
              <a:spcAft>
                <a:spcPct val="0"/>
              </a:spcAft>
              <a:buChar char="»"/>
              <a:defRPr sz="2000" b="1">
                <a:solidFill>
                  <a:schemeClr val="accent2"/>
                </a:solidFill>
                <a:latin typeface="Helvetica" panose="020B0604020202020204" pitchFamily="34" charset="0"/>
              </a:defRPr>
            </a:lvl8pPr>
            <a:lvl9pPr marL="3886200" indent="-228600" eaLnBrk="0" fontAlgn="base" hangingPunct="0">
              <a:spcBef>
                <a:spcPct val="20000"/>
              </a:spcBef>
              <a:spcAft>
                <a:spcPct val="0"/>
              </a:spcAft>
              <a:buChar char="»"/>
              <a:defRPr sz="2000" b="1">
                <a:solidFill>
                  <a:schemeClr val="accent2"/>
                </a:solidFill>
                <a:latin typeface="Helvetica" panose="020B0604020202020204" pitchFamily="34" charset="0"/>
              </a:defRPr>
            </a:lvl9pPr>
          </a:lstStyle>
          <a:p>
            <a:pPr eaLnBrk="1" hangingPunct="1">
              <a:spcBef>
                <a:spcPct val="0"/>
              </a:spcBef>
              <a:buNone/>
              <a:defRPr/>
            </a:pPr>
            <a:r>
              <a:rPr lang="en-US" altLang="en-US" sz="2700" b="0" dirty="0">
                <a:solidFill>
                  <a:srgbClr val="FF0000"/>
                </a:solidFill>
                <a:latin typeface="Calibri" panose="020F0502020204030204" pitchFamily="34" charset="0"/>
                <a:cs typeface="Calibri" panose="020F0502020204030204" pitchFamily="34" charset="0"/>
              </a:rPr>
              <a:t>Chemical</a:t>
            </a:r>
          </a:p>
          <a:p>
            <a:pPr eaLnBrk="1" hangingPunct="1">
              <a:spcBef>
                <a:spcPct val="0"/>
              </a:spcBef>
              <a:buNone/>
              <a:defRPr/>
            </a:pPr>
            <a:r>
              <a:rPr lang="en-US" altLang="en-US" sz="2700" b="0" dirty="0">
                <a:solidFill>
                  <a:srgbClr val="FF0000"/>
                </a:solidFill>
                <a:latin typeface="Calibri" panose="020F0502020204030204" pitchFamily="34" charset="0"/>
                <a:cs typeface="Calibri" panose="020F0502020204030204" pitchFamily="34" charset="0"/>
              </a:rPr>
              <a:t>loss</a:t>
            </a:r>
          </a:p>
        </p:txBody>
      </p:sp>
      <p:sp>
        <p:nvSpPr>
          <p:cNvPr id="33" name="TextBox 45">
            <a:extLst>
              <a:ext uri="{FF2B5EF4-FFF2-40B4-BE49-F238E27FC236}">
                <a16:creationId xmlns:a16="http://schemas.microsoft.com/office/drawing/2014/main" id="{CF985630-B625-14F9-8C56-D8E4C1E64BCA}"/>
              </a:ext>
            </a:extLst>
          </p:cNvPr>
          <p:cNvSpPr txBox="1">
            <a:spLocks noChangeArrowheads="1"/>
          </p:cNvSpPr>
          <p:nvPr/>
        </p:nvSpPr>
        <p:spPr bwMode="auto">
          <a:xfrm>
            <a:off x="5146275" y="6196119"/>
            <a:ext cx="1423788"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accent2"/>
                </a:solidFill>
                <a:latin typeface="Helvetica" panose="020B0604020202020204" pitchFamily="34" charset="0"/>
              </a:defRPr>
            </a:lvl1pPr>
            <a:lvl2pPr marL="742950" indent="-285750">
              <a:spcBef>
                <a:spcPct val="20000"/>
              </a:spcBef>
              <a:buChar char="–"/>
              <a:defRPr sz="2800" b="1">
                <a:solidFill>
                  <a:schemeClr val="accent2"/>
                </a:solidFill>
                <a:latin typeface="Helvetica" panose="020B0604020202020204" pitchFamily="34" charset="0"/>
              </a:defRPr>
            </a:lvl2pPr>
            <a:lvl3pPr marL="1143000" indent="-228600">
              <a:spcBef>
                <a:spcPct val="20000"/>
              </a:spcBef>
              <a:buChar char="•"/>
              <a:defRPr sz="2400" b="1">
                <a:solidFill>
                  <a:schemeClr val="accent2"/>
                </a:solidFill>
                <a:latin typeface="Helvetica" panose="020B0604020202020204" pitchFamily="34" charset="0"/>
              </a:defRPr>
            </a:lvl3pPr>
            <a:lvl4pPr marL="1600200" indent="-228600">
              <a:spcBef>
                <a:spcPct val="20000"/>
              </a:spcBef>
              <a:buChar char="–"/>
              <a:defRPr sz="2000" b="1">
                <a:solidFill>
                  <a:schemeClr val="accent2"/>
                </a:solidFill>
                <a:latin typeface="Helvetica" panose="020B0604020202020204" pitchFamily="34" charset="0"/>
              </a:defRPr>
            </a:lvl4pPr>
            <a:lvl5pPr marL="2057400" indent="-228600">
              <a:spcBef>
                <a:spcPct val="20000"/>
              </a:spcBef>
              <a:buChar char="»"/>
              <a:defRPr sz="2000" b="1">
                <a:solidFill>
                  <a:schemeClr val="accent2"/>
                </a:solidFill>
                <a:latin typeface="Helvetica" panose="020B0604020202020204" pitchFamily="34" charset="0"/>
              </a:defRPr>
            </a:lvl5pPr>
            <a:lvl6pPr marL="2514600" indent="-228600" eaLnBrk="0" fontAlgn="base" hangingPunct="0">
              <a:spcBef>
                <a:spcPct val="20000"/>
              </a:spcBef>
              <a:spcAft>
                <a:spcPct val="0"/>
              </a:spcAft>
              <a:buChar char="»"/>
              <a:defRPr sz="2000" b="1">
                <a:solidFill>
                  <a:schemeClr val="accent2"/>
                </a:solidFill>
                <a:latin typeface="Helvetica" panose="020B0604020202020204" pitchFamily="34" charset="0"/>
              </a:defRPr>
            </a:lvl6pPr>
            <a:lvl7pPr marL="2971800" indent="-228600" eaLnBrk="0" fontAlgn="base" hangingPunct="0">
              <a:spcBef>
                <a:spcPct val="20000"/>
              </a:spcBef>
              <a:spcAft>
                <a:spcPct val="0"/>
              </a:spcAft>
              <a:buChar char="»"/>
              <a:defRPr sz="2000" b="1">
                <a:solidFill>
                  <a:schemeClr val="accent2"/>
                </a:solidFill>
                <a:latin typeface="Helvetica" panose="020B0604020202020204" pitchFamily="34" charset="0"/>
              </a:defRPr>
            </a:lvl7pPr>
            <a:lvl8pPr marL="3429000" indent="-228600" eaLnBrk="0" fontAlgn="base" hangingPunct="0">
              <a:spcBef>
                <a:spcPct val="20000"/>
              </a:spcBef>
              <a:spcAft>
                <a:spcPct val="0"/>
              </a:spcAft>
              <a:buChar char="»"/>
              <a:defRPr sz="2000" b="1">
                <a:solidFill>
                  <a:schemeClr val="accent2"/>
                </a:solidFill>
                <a:latin typeface="Helvetica" panose="020B0604020202020204" pitchFamily="34" charset="0"/>
              </a:defRPr>
            </a:lvl8pPr>
            <a:lvl9pPr marL="3886200" indent="-228600" eaLnBrk="0" fontAlgn="base" hangingPunct="0">
              <a:spcBef>
                <a:spcPct val="20000"/>
              </a:spcBef>
              <a:spcAft>
                <a:spcPct val="0"/>
              </a:spcAft>
              <a:buChar char="»"/>
              <a:defRPr sz="2000" b="1">
                <a:solidFill>
                  <a:schemeClr val="accent2"/>
                </a:solidFill>
                <a:latin typeface="Helvetica" panose="020B0604020202020204" pitchFamily="34" charset="0"/>
              </a:defRPr>
            </a:lvl9pPr>
          </a:lstStyle>
          <a:p>
            <a:pPr>
              <a:spcBef>
                <a:spcPct val="0"/>
              </a:spcBef>
              <a:buNone/>
              <a:defRPr/>
            </a:pPr>
            <a:r>
              <a:rPr lang="en-US" altLang="en-US" sz="2700" b="0" dirty="0">
                <a:solidFill>
                  <a:srgbClr val="008000"/>
                </a:solidFill>
                <a:latin typeface="Calibri" panose="020F0502020204030204" pitchFamily="34" charset="0"/>
                <a:cs typeface="Calibri" panose="020F0502020204030204" pitchFamily="34" charset="0"/>
              </a:rPr>
              <a:t>Emission</a:t>
            </a:r>
          </a:p>
        </p:txBody>
      </p:sp>
      <p:sp>
        <p:nvSpPr>
          <p:cNvPr id="34" name="Line 12">
            <a:extLst>
              <a:ext uri="{FF2B5EF4-FFF2-40B4-BE49-F238E27FC236}">
                <a16:creationId xmlns:a16="http://schemas.microsoft.com/office/drawing/2014/main" id="{6DCAFE1C-F4F3-AF02-73FA-AB36B62B83C5}"/>
              </a:ext>
            </a:extLst>
          </p:cNvPr>
          <p:cNvSpPr>
            <a:spLocks noChangeShapeType="1"/>
          </p:cNvSpPr>
          <p:nvPr/>
        </p:nvSpPr>
        <p:spPr bwMode="auto">
          <a:xfrm flipV="1">
            <a:off x="7195813" y="3694026"/>
            <a:ext cx="835680" cy="789119"/>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pPr>
              <a:defRPr/>
            </a:pPr>
            <a:endParaRPr lang="en-US" sz="2700" b="1">
              <a:solidFill>
                <a:srgbClr val="000000"/>
              </a:solidFill>
              <a:latin typeface="Calibri" panose="020F0502020204030204" pitchFamily="34" charset="0"/>
              <a:cs typeface="Calibri" panose="020F0502020204030204" pitchFamily="34" charset="0"/>
            </a:endParaRPr>
          </a:p>
        </p:txBody>
      </p:sp>
      <p:sp>
        <p:nvSpPr>
          <p:cNvPr id="35" name="Line 12">
            <a:extLst>
              <a:ext uri="{FF2B5EF4-FFF2-40B4-BE49-F238E27FC236}">
                <a16:creationId xmlns:a16="http://schemas.microsoft.com/office/drawing/2014/main" id="{C2A5B4F4-5CCE-639B-CD48-0998AF7BE331}"/>
              </a:ext>
            </a:extLst>
          </p:cNvPr>
          <p:cNvSpPr>
            <a:spLocks noChangeShapeType="1"/>
          </p:cNvSpPr>
          <p:nvPr/>
        </p:nvSpPr>
        <p:spPr bwMode="auto">
          <a:xfrm flipH="1" flipV="1">
            <a:off x="5531448" y="3693797"/>
            <a:ext cx="927267" cy="841686"/>
          </a:xfrm>
          <a:prstGeom prst="line">
            <a:avLst/>
          </a:prstGeom>
          <a:noFill/>
          <a:ln w="38100">
            <a:solidFill>
              <a:srgbClr val="008000"/>
            </a:solidFill>
            <a:round/>
            <a:headEnd type="triangle" w="lg" len="lg"/>
            <a:tailEnd/>
          </a:ln>
          <a:extLst>
            <a:ext uri="{909E8E84-426E-40DD-AFC4-6F175D3DCCD1}">
              <a14:hiddenFill xmlns:a14="http://schemas.microsoft.com/office/drawing/2010/main">
                <a:noFill/>
              </a14:hiddenFill>
            </a:ext>
          </a:extLst>
        </p:spPr>
        <p:txBody>
          <a:bodyPr/>
          <a:lstStyle/>
          <a:p>
            <a:pPr>
              <a:defRPr/>
            </a:pPr>
            <a:endParaRPr lang="en-US" sz="2700" b="1">
              <a:solidFill>
                <a:srgbClr val="000000"/>
              </a:solidFill>
              <a:latin typeface="Calibri" panose="020F0502020204030204" pitchFamily="34" charset="0"/>
              <a:cs typeface="Calibri" panose="020F0502020204030204" pitchFamily="34" charset="0"/>
            </a:endParaRPr>
          </a:p>
        </p:txBody>
      </p:sp>
      <p:sp>
        <p:nvSpPr>
          <p:cNvPr id="36" name="Line 12">
            <a:extLst>
              <a:ext uri="{FF2B5EF4-FFF2-40B4-BE49-F238E27FC236}">
                <a16:creationId xmlns:a16="http://schemas.microsoft.com/office/drawing/2014/main" id="{433445FC-6DE3-4084-0440-EAFF1617FB7F}"/>
              </a:ext>
            </a:extLst>
          </p:cNvPr>
          <p:cNvSpPr>
            <a:spLocks noChangeShapeType="1"/>
          </p:cNvSpPr>
          <p:nvPr/>
        </p:nvSpPr>
        <p:spPr bwMode="auto">
          <a:xfrm flipH="1">
            <a:off x="7007384" y="5122377"/>
            <a:ext cx="8417" cy="1107470"/>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pPr>
              <a:defRPr/>
            </a:pPr>
            <a:endParaRPr lang="en-US" sz="2700" b="1">
              <a:solidFill>
                <a:srgbClr val="000000"/>
              </a:solidFill>
              <a:latin typeface="Calibri" panose="020F0502020204030204" pitchFamily="34" charset="0"/>
              <a:cs typeface="Calibri" panose="020F0502020204030204" pitchFamily="34" charset="0"/>
            </a:endParaRPr>
          </a:p>
        </p:txBody>
      </p:sp>
      <p:sp>
        <p:nvSpPr>
          <p:cNvPr id="37" name="Rectangle 49">
            <a:extLst>
              <a:ext uri="{FF2B5EF4-FFF2-40B4-BE49-F238E27FC236}">
                <a16:creationId xmlns:a16="http://schemas.microsoft.com/office/drawing/2014/main" id="{C0B168D1-4D60-03DD-DCC3-5E08FDB6F57B}"/>
              </a:ext>
            </a:extLst>
          </p:cNvPr>
          <p:cNvSpPr>
            <a:spLocks noChangeArrowheads="1"/>
          </p:cNvSpPr>
          <p:nvPr/>
        </p:nvSpPr>
        <p:spPr bwMode="auto">
          <a:xfrm>
            <a:off x="9609995" y="4483144"/>
            <a:ext cx="130978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chemeClr val="accent2"/>
                </a:solidFill>
                <a:latin typeface="Helvetica" panose="020B0604020202020204" pitchFamily="34" charset="0"/>
              </a:defRPr>
            </a:lvl1pPr>
            <a:lvl2pPr marL="742950" indent="-285750">
              <a:spcBef>
                <a:spcPct val="20000"/>
              </a:spcBef>
              <a:buChar char="–"/>
              <a:defRPr sz="2800" b="1">
                <a:solidFill>
                  <a:schemeClr val="accent2"/>
                </a:solidFill>
                <a:latin typeface="Helvetica" panose="020B0604020202020204" pitchFamily="34" charset="0"/>
              </a:defRPr>
            </a:lvl2pPr>
            <a:lvl3pPr marL="1143000" indent="-228600">
              <a:spcBef>
                <a:spcPct val="20000"/>
              </a:spcBef>
              <a:buChar char="•"/>
              <a:defRPr sz="2400" b="1">
                <a:solidFill>
                  <a:schemeClr val="accent2"/>
                </a:solidFill>
                <a:latin typeface="Helvetica" panose="020B0604020202020204" pitchFamily="34" charset="0"/>
              </a:defRPr>
            </a:lvl3pPr>
            <a:lvl4pPr marL="1600200" indent="-228600">
              <a:spcBef>
                <a:spcPct val="20000"/>
              </a:spcBef>
              <a:buChar char="–"/>
              <a:defRPr sz="2000" b="1">
                <a:solidFill>
                  <a:schemeClr val="accent2"/>
                </a:solidFill>
                <a:latin typeface="Helvetica" panose="020B0604020202020204" pitchFamily="34" charset="0"/>
              </a:defRPr>
            </a:lvl4pPr>
            <a:lvl5pPr marL="2057400" indent="-228600">
              <a:spcBef>
                <a:spcPct val="20000"/>
              </a:spcBef>
              <a:buChar char="»"/>
              <a:defRPr sz="2000" b="1">
                <a:solidFill>
                  <a:schemeClr val="accent2"/>
                </a:solidFill>
                <a:latin typeface="Helvetica" panose="020B0604020202020204" pitchFamily="34" charset="0"/>
              </a:defRPr>
            </a:lvl5pPr>
            <a:lvl6pPr marL="2514600" indent="-228600" eaLnBrk="0" fontAlgn="base" hangingPunct="0">
              <a:spcBef>
                <a:spcPct val="20000"/>
              </a:spcBef>
              <a:spcAft>
                <a:spcPct val="0"/>
              </a:spcAft>
              <a:buChar char="»"/>
              <a:defRPr sz="2000" b="1">
                <a:solidFill>
                  <a:schemeClr val="accent2"/>
                </a:solidFill>
                <a:latin typeface="Helvetica" panose="020B0604020202020204" pitchFamily="34" charset="0"/>
              </a:defRPr>
            </a:lvl6pPr>
            <a:lvl7pPr marL="2971800" indent="-228600" eaLnBrk="0" fontAlgn="base" hangingPunct="0">
              <a:spcBef>
                <a:spcPct val="20000"/>
              </a:spcBef>
              <a:spcAft>
                <a:spcPct val="0"/>
              </a:spcAft>
              <a:buChar char="»"/>
              <a:defRPr sz="2000" b="1">
                <a:solidFill>
                  <a:schemeClr val="accent2"/>
                </a:solidFill>
                <a:latin typeface="Helvetica" panose="020B0604020202020204" pitchFamily="34" charset="0"/>
              </a:defRPr>
            </a:lvl7pPr>
            <a:lvl8pPr marL="3429000" indent="-228600" eaLnBrk="0" fontAlgn="base" hangingPunct="0">
              <a:spcBef>
                <a:spcPct val="20000"/>
              </a:spcBef>
              <a:spcAft>
                <a:spcPct val="0"/>
              </a:spcAft>
              <a:buChar char="»"/>
              <a:defRPr sz="2000" b="1">
                <a:solidFill>
                  <a:schemeClr val="accent2"/>
                </a:solidFill>
                <a:latin typeface="Helvetica" panose="020B0604020202020204" pitchFamily="34" charset="0"/>
              </a:defRPr>
            </a:lvl8pPr>
            <a:lvl9pPr marL="3886200" indent="-228600" eaLnBrk="0" fontAlgn="base" hangingPunct="0">
              <a:spcBef>
                <a:spcPct val="20000"/>
              </a:spcBef>
              <a:spcAft>
                <a:spcPct val="0"/>
              </a:spcAft>
              <a:buChar char="»"/>
              <a:defRPr sz="2000" b="1">
                <a:solidFill>
                  <a:schemeClr val="accent2"/>
                </a:solidFill>
                <a:latin typeface="Helvetica" panose="020B0604020202020204" pitchFamily="34" charset="0"/>
              </a:defRPr>
            </a:lvl9pPr>
          </a:lstStyle>
          <a:p>
            <a:pPr>
              <a:spcBef>
                <a:spcPct val="0"/>
              </a:spcBef>
              <a:buNone/>
              <a:defRPr/>
            </a:pPr>
            <a:r>
              <a:rPr lang="en-US" altLang="en-US" sz="3600" b="0" i="1">
                <a:solidFill>
                  <a:srgbClr val="FF0000"/>
                </a:solidFill>
                <a:latin typeface="Calibri" panose="020F0502020204030204" pitchFamily="34" charset="0"/>
                <a:cs typeface="Calibri" panose="020F0502020204030204" pitchFamily="34" charset="0"/>
              </a:rPr>
              <a:t>F</a:t>
            </a:r>
            <a:r>
              <a:rPr lang="en-US" altLang="en-US" sz="3600" b="0" i="1" baseline="-25000">
                <a:solidFill>
                  <a:srgbClr val="FF0000"/>
                </a:solidFill>
                <a:latin typeface="Calibri" panose="020F0502020204030204" pitchFamily="34" charset="0"/>
                <a:cs typeface="Calibri" panose="020F0502020204030204" pitchFamily="34" charset="0"/>
              </a:rPr>
              <a:t>out</a:t>
            </a:r>
            <a:endParaRPr lang="en-US" altLang="en-US" sz="3600" b="0">
              <a:solidFill>
                <a:srgbClr val="FF0000"/>
              </a:solidFill>
              <a:latin typeface="Calibri" panose="020F0502020204030204" pitchFamily="34" charset="0"/>
              <a:cs typeface="Calibri" panose="020F0502020204030204" pitchFamily="34" charset="0"/>
            </a:endParaRPr>
          </a:p>
        </p:txBody>
      </p:sp>
      <p:sp>
        <p:nvSpPr>
          <p:cNvPr id="38" name="Rectangle 50">
            <a:extLst>
              <a:ext uri="{FF2B5EF4-FFF2-40B4-BE49-F238E27FC236}">
                <a16:creationId xmlns:a16="http://schemas.microsoft.com/office/drawing/2014/main" id="{76FB541C-75B6-2D86-78AE-67D1C8E937C2}"/>
              </a:ext>
            </a:extLst>
          </p:cNvPr>
          <p:cNvSpPr>
            <a:spLocks noChangeArrowheads="1"/>
          </p:cNvSpPr>
          <p:nvPr/>
        </p:nvSpPr>
        <p:spPr bwMode="auto">
          <a:xfrm>
            <a:off x="2839579" y="4518024"/>
            <a:ext cx="62549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accent2"/>
                </a:solidFill>
                <a:latin typeface="Helvetica" panose="020B0604020202020204" pitchFamily="34" charset="0"/>
              </a:defRPr>
            </a:lvl1pPr>
            <a:lvl2pPr marL="742950" indent="-285750">
              <a:spcBef>
                <a:spcPct val="20000"/>
              </a:spcBef>
              <a:buChar char="–"/>
              <a:defRPr sz="2800" b="1">
                <a:solidFill>
                  <a:schemeClr val="accent2"/>
                </a:solidFill>
                <a:latin typeface="Helvetica" panose="020B0604020202020204" pitchFamily="34" charset="0"/>
              </a:defRPr>
            </a:lvl2pPr>
            <a:lvl3pPr marL="1143000" indent="-228600">
              <a:spcBef>
                <a:spcPct val="20000"/>
              </a:spcBef>
              <a:buChar char="•"/>
              <a:defRPr sz="2400" b="1">
                <a:solidFill>
                  <a:schemeClr val="accent2"/>
                </a:solidFill>
                <a:latin typeface="Helvetica" panose="020B0604020202020204" pitchFamily="34" charset="0"/>
              </a:defRPr>
            </a:lvl3pPr>
            <a:lvl4pPr marL="1600200" indent="-228600">
              <a:spcBef>
                <a:spcPct val="20000"/>
              </a:spcBef>
              <a:buChar char="–"/>
              <a:defRPr sz="2000" b="1">
                <a:solidFill>
                  <a:schemeClr val="accent2"/>
                </a:solidFill>
                <a:latin typeface="Helvetica" panose="020B0604020202020204" pitchFamily="34" charset="0"/>
              </a:defRPr>
            </a:lvl4pPr>
            <a:lvl5pPr marL="2057400" indent="-228600">
              <a:spcBef>
                <a:spcPct val="20000"/>
              </a:spcBef>
              <a:buChar char="»"/>
              <a:defRPr sz="2000" b="1">
                <a:solidFill>
                  <a:schemeClr val="accent2"/>
                </a:solidFill>
                <a:latin typeface="Helvetica" panose="020B0604020202020204" pitchFamily="34" charset="0"/>
              </a:defRPr>
            </a:lvl5pPr>
            <a:lvl6pPr marL="2514600" indent="-228600" eaLnBrk="0" fontAlgn="base" hangingPunct="0">
              <a:spcBef>
                <a:spcPct val="20000"/>
              </a:spcBef>
              <a:spcAft>
                <a:spcPct val="0"/>
              </a:spcAft>
              <a:buChar char="»"/>
              <a:defRPr sz="2000" b="1">
                <a:solidFill>
                  <a:schemeClr val="accent2"/>
                </a:solidFill>
                <a:latin typeface="Helvetica" panose="020B0604020202020204" pitchFamily="34" charset="0"/>
              </a:defRPr>
            </a:lvl6pPr>
            <a:lvl7pPr marL="2971800" indent="-228600" eaLnBrk="0" fontAlgn="base" hangingPunct="0">
              <a:spcBef>
                <a:spcPct val="20000"/>
              </a:spcBef>
              <a:spcAft>
                <a:spcPct val="0"/>
              </a:spcAft>
              <a:buChar char="»"/>
              <a:defRPr sz="2000" b="1">
                <a:solidFill>
                  <a:schemeClr val="accent2"/>
                </a:solidFill>
                <a:latin typeface="Helvetica" panose="020B0604020202020204" pitchFamily="34" charset="0"/>
              </a:defRPr>
            </a:lvl7pPr>
            <a:lvl8pPr marL="3429000" indent="-228600" eaLnBrk="0" fontAlgn="base" hangingPunct="0">
              <a:spcBef>
                <a:spcPct val="20000"/>
              </a:spcBef>
              <a:spcAft>
                <a:spcPct val="0"/>
              </a:spcAft>
              <a:buChar char="»"/>
              <a:defRPr sz="2000" b="1">
                <a:solidFill>
                  <a:schemeClr val="accent2"/>
                </a:solidFill>
                <a:latin typeface="Helvetica" panose="020B0604020202020204" pitchFamily="34" charset="0"/>
              </a:defRPr>
            </a:lvl8pPr>
            <a:lvl9pPr marL="3886200" indent="-228600" eaLnBrk="0" fontAlgn="base" hangingPunct="0">
              <a:spcBef>
                <a:spcPct val="20000"/>
              </a:spcBef>
              <a:spcAft>
                <a:spcPct val="0"/>
              </a:spcAft>
              <a:buChar char="»"/>
              <a:defRPr sz="2000" b="1">
                <a:solidFill>
                  <a:schemeClr val="accent2"/>
                </a:solidFill>
                <a:latin typeface="Helvetica" panose="020B0604020202020204" pitchFamily="34" charset="0"/>
              </a:defRPr>
            </a:lvl9pPr>
          </a:lstStyle>
          <a:p>
            <a:pPr>
              <a:spcBef>
                <a:spcPct val="0"/>
              </a:spcBef>
              <a:buNone/>
              <a:defRPr/>
            </a:pPr>
            <a:r>
              <a:rPr lang="en-US" altLang="en-US" sz="3600" b="0" i="1">
                <a:solidFill>
                  <a:srgbClr val="008000"/>
                </a:solidFill>
                <a:latin typeface="Calibri" panose="020F0502020204030204" pitchFamily="34" charset="0"/>
                <a:cs typeface="Calibri" panose="020F0502020204030204" pitchFamily="34" charset="0"/>
              </a:rPr>
              <a:t>F</a:t>
            </a:r>
            <a:r>
              <a:rPr lang="en-US" altLang="en-US" sz="3600" b="0" i="1" baseline="-25000">
                <a:solidFill>
                  <a:srgbClr val="008000"/>
                </a:solidFill>
                <a:latin typeface="Calibri" panose="020F0502020204030204" pitchFamily="34" charset="0"/>
                <a:cs typeface="Calibri" panose="020F0502020204030204" pitchFamily="34" charset="0"/>
              </a:rPr>
              <a:t>in</a:t>
            </a:r>
            <a:endParaRPr lang="en-US" altLang="en-US" sz="3600" b="0">
              <a:solidFill>
                <a:srgbClr val="008000"/>
              </a:solidFill>
              <a:latin typeface="Calibri" panose="020F0502020204030204" pitchFamily="34" charset="0"/>
              <a:cs typeface="Calibri" panose="020F0502020204030204" pitchFamily="34" charset="0"/>
            </a:endParaRPr>
          </a:p>
        </p:txBody>
      </p:sp>
      <p:sp>
        <p:nvSpPr>
          <p:cNvPr id="39" name="TextBox 38">
            <a:extLst>
              <a:ext uri="{FF2B5EF4-FFF2-40B4-BE49-F238E27FC236}">
                <a16:creationId xmlns:a16="http://schemas.microsoft.com/office/drawing/2014/main" id="{C0623011-34BF-C074-998D-696955CA2AB0}"/>
              </a:ext>
            </a:extLst>
          </p:cNvPr>
          <p:cNvSpPr txBox="1"/>
          <p:nvPr/>
        </p:nvSpPr>
        <p:spPr>
          <a:xfrm>
            <a:off x="576612" y="7208597"/>
            <a:ext cx="13476851" cy="507831"/>
          </a:xfrm>
          <a:prstGeom prst="rect">
            <a:avLst/>
          </a:prstGeom>
          <a:noFill/>
        </p:spPr>
        <p:txBody>
          <a:bodyPr wrap="square" rtlCol="0">
            <a:spAutoFit/>
          </a:bodyPr>
          <a:lstStyle/>
          <a:p>
            <a:pPr>
              <a:defRPr/>
            </a:pPr>
            <a:r>
              <a:rPr lang="en-US" sz="2700" dirty="0">
                <a:solidFill>
                  <a:srgbClr val="000000"/>
                </a:solidFill>
                <a:latin typeface="Calibri" panose="020F0502020204030204" pitchFamily="34" charset="0"/>
                <a:cs typeface="Calibri" panose="020F0502020204030204" pitchFamily="34" charset="0"/>
              </a:rPr>
              <a:t>Let </a:t>
            </a:r>
            <a:r>
              <a:rPr lang="en-US" sz="2700" i="1" dirty="0">
                <a:solidFill>
                  <a:srgbClr val="000000"/>
                </a:solidFill>
                <a:latin typeface="Calibri" panose="020F0502020204030204" pitchFamily="34" charset="0"/>
                <a:cs typeface="Calibri" panose="020F0502020204030204" pitchFamily="34" charset="0"/>
              </a:rPr>
              <a:t>m</a:t>
            </a:r>
            <a:r>
              <a:rPr lang="en-US" sz="2700" dirty="0">
                <a:solidFill>
                  <a:srgbClr val="000000"/>
                </a:solidFill>
                <a:latin typeface="Calibri" panose="020F0502020204030204" pitchFamily="34" charset="0"/>
                <a:cs typeface="Calibri" panose="020F0502020204030204" pitchFamily="34" charset="0"/>
              </a:rPr>
              <a:t> [kg] be the mass of X in the box</a:t>
            </a:r>
          </a:p>
        </p:txBody>
      </p:sp>
      <p:sp>
        <p:nvSpPr>
          <p:cNvPr id="40" name="TextBox 39">
            <a:extLst>
              <a:ext uri="{FF2B5EF4-FFF2-40B4-BE49-F238E27FC236}">
                <a16:creationId xmlns:a16="http://schemas.microsoft.com/office/drawing/2014/main" id="{EFEFC3F8-A5FC-EB0A-9971-A0FE667F3BA2}"/>
              </a:ext>
            </a:extLst>
          </p:cNvPr>
          <p:cNvSpPr txBox="1"/>
          <p:nvPr/>
        </p:nvSpPr>
        <p:spPr>
          <a:xfrm>
            <a:off x="1212579" y="2750417"/>
            <a:ext cx="2027226" cy="1015663"/>
          </a:xfrm>
          <a:prstGeom prst="rect">
            <a:avLst/>
          </a:prstGeom>
          <a:noFill/>
        </p:spPr>
        <p:txBody>
          <a:bodyPr wrap="square" rtlCol="0">
            <a:spAutoFit/>
          </a:bodyPr>
          <a:lstStyle/>
          <a:p>
            <a:pPr>
              <a:defRPr/>
            </a:pPr>
            <a:r>
              <a:rPr lang="en-US" sz="3000" dirty="0">
                <a:solidFill>
                  <a:srgbClr val="00B050"/>
                </a:solidFill>
                <a:latin typeface="Calibri" panose="020F0502020204030204" pitchFamily="34" charset="0"/>
                <a:cs typeface="Calibri" panose="020F0502020204030204" pitchFamily="34" charset="0"/>
              </a:rPr>
              <a:t>Sources</a:t>
            </a:r>
          </a:p>
          <a:p>
            <a:pPr>
              <a:defRPr/>
            </a:pPr>
            <a:r>
              <a:rPr lang="en-US" sz="3000" dirty="0">
                <a:solidFill>
                  <a:srgbClr val="FF0000"/>
                </a:solidFill>
                <a:latin typeface="Calibri" panose="020F0502020204030204" pitchFamily="34" charset="0"/>
                <a:cs typeface="Calibri" panose="020F0502020204030204" pitchFamily="34" charset="0"/>
              </a:rPr>
              <a:t>Sinks</a:t>
            </a:r>
          </a:p>
        </p:txBody>
      </p:sp>
    </p:spTree>
    <p:extLst>
      <p:ext uri="{BB962C8B-B14F-4D97-AF65-F5344CB8AC3E}">
        <p14:creationId xmlns:p14="http://schemas.microsoft.com/office/powerpoint/2010/main" val="2249706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p:bldP spid="23" grpId="0"/>
      <p:bldP spid="25" grpId="0"/>
      <p:bldP spid="26" grpId="0" animBg="1"/>
      <p:bldP spid="26" grpId="1" animBg="1"/>
      <p:bldP spid="27" grpId="0"/>
      <p:bldP spid="28" grpId="0"/>
      <p:bldP spid="29" grpId="0"/>
      <p:bldP spid="30" grpId="0"/>
      <p:bldP spid="31" grpId="0"/>
      <p:bldP spid="32" grpId="0"/>
      <p:bldP spid="33" grpId="0"/>
      <p:bldP spid="34" grpId="0" animBg="1"/>
      <p:bldP spid="35" grpId="0" animBg="1"/>
      <p:bldP spid="36" grpId="0" animBg="1"/>
      <p:bldP spid="37" grpId="0"/>
      <p:bldP spid="38"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21D3133-F71C-9569-AC2A-74D6EE140C4F}"/>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E264B63A-6147-015E-3B75-96767BAC09BE}"/>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pic>
        <p:nvPicPr>
          <p:cNvPr id="2" name="Picture 3" descr="Fig1">
            <a:extLst>
              <a:ext uri="{FF2B5EF4-FFF2-40B4-BE49-F238E27FC236}">
                <a16:creationId xmlns:a16="http://schemas.microsoft.com/office/drawing/2014/main" id="{3065A5E0-0DC5-8F2C-A20D-A468DB40F9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0062" y="2888347"/>
            <a:ext cx="2505604" cy="5909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5">
            <a:extLst>
              <a:ext uri="{FF2B5EF4-FFF2-40B4-BE49-F238E27FC236}">
                <a16:creationId xmlns:a16="http://schemas.microsoft.com/office/drawing/2014/main" id="{96E0A463-A48A-9729-EA22-0BD1C63AE552}"/>
              </a:ext>
            </a:extLst>
          </p:cNvPr>
          <p:cNvSpPr txBox="1"/>
          <p:nvPr/>
        </p:nvSpPr>
        <p:spPr>
          <a:xfrm>
            <a:off x="1128010" y="1527388"/>
            <a:ext cx="13847674" cy="805605"/>
          </a:xfrm>
          <a:prstGeom prst="rect">
            <a:avLst/>
          </a:prstGeom>
        </p:spPr>
        <p:txBody>
          <a:bodyPr wrap="square" lIns="0" tIns="0" rIns="0" bIns="0" rtlCol="0" anchor="t">
            <a:spAutoFit/>
          </a:bodyPr>
          <a:lstStyle/>
          <a:p>
            <a:pPr>
              <a:lnSpc>
                <a:spcPts val="6719"/>
              </a:lnSpc>
            </a:pPr>
            <a:r>
              <a:rPr lang="en-US" sz="4400" b="1" i="1" dirty="0">
                <a:solidFill>
                  <a:srgbClr val="46245A"/>
                </a:solidFill>
                <a:latin typeface="DM Sans" pitchFamily="2" charset="0"/>
              </a:rPr>
              <a:t>Intergovernmental Panel on Climate Change</a:t>
            </a:r>
            <a:endParaRPr lang="en-US" sz="4400" i="1" dirty="0">
              <a:solidFill>
                <a:srgbClr val="46245A"/>
              </a:solidFill>
              <a:latin typeface="DM Sans" pitchFamily="2" charset="0"/>
            </a:endParaRPr>
          </a:p>
        </p:txBody>
      </p:sp>
      <p:sp>
        <p:nvSpPr>
          <p:cNvPr id="11" name="TextBox 10">
            <a:extLst>
              <a:ext uri="{FF2B5EF4-FFF2-40B4-BE49-F238E27FC236}">
                <a16:creationId xmlns:a16="http://schemas.microsoft.com/office/drawing/2014/main" id="{58486638-C9F6-CF29-E673-FC334B41D312}"/>
              </a:ext>
            </a:extLst>
          </p:cNvPr>
          <p:cNvSpPr txBox="1"/>
          <p:nvPr/>
        </p:nvSpPr>
        <p:spPr>
          <a:xfrm>
            <a:off x="4188458" y="2981754"/>
            <a:ext cx="13128858" cy="1015663"/>
          </a:xfrm>
          <a:prstGeom prst="rect">
            <a:avLst/>
          </a:prstGeom>
          <a:noFill/>
        </p:spPr>
        <p:txBody>
          <a:bodyPr wrap="square">
            <a:spAutoFit/>
          </a:bodyPr>
          <a:lstStyle/>
          <a:p>
            <a:pPr algn="l"/>
            <a:r>
              <a:rPr lang="en-GB" sz="2000" u="none" strike="noStrike" dirty="0">
                <a:solidFill>
                  <a:srgbClr val="0D0D0D"/>
                </a:solidFill>
                <a:effectLst/>
                <a:latin typeface="Calibri" panose="020F0502020204030204" pitchFamily="34" charset="0"/>
              </a:rPr>
              <a:t>The First Assessment Report (FAR) was published by the IPCC in 1990. </a:t>
            </a:r>
          </a:p>
          <a:p>
            <a:pPr algn="l"/>
            <a:r>
              <a:rPr lang="en-GB" sz="2000" u="none" strike="noStrike" dirty="0">
                <a:solidFill>
                  <a:srgbClr val="0D0D0D"/>
                </a:solidFill>
                <a:effectLst/>
                <a:latin typeface="Calibri" panose="020F0502020204030204" pitchFamily="34" charset="0"/>
              </a:rPr>
              <a:t>It represented the first comprehensive assessment of climate change science, impacts, and potential mitigation strategies. </a:t>
            </a:r>
          </a:p>
          <a:p>
            <a:pPr algn="l"/>
            <a:r>
              <a:rPr lang="en-GB" sz="2000" u="none" strike="noStrike" dirty="0">
                <a:solidFill>
                  <a:srgbClr val="0D0D0D"/>
                </a:solidFill>
                <a:effectLst/>
                <a:latin typeface="Calibri" panose="020F0502020204030204" pitchFamily="34" charset="0"/>
              </a:rPr>
              <a:t>FAR played a crucial role in raising global awareness about the issue of climate change.</a:t>
            </a:r>
          </a:p>
        </p:txBody>
      </p:sp>
      <p:sp>
        <p:nvSpPr>
          <p:cNvPr id="12" name="TextBox 11">
            <a:extLst>
              <a:ext uri="{FF2B5EF4-FFF2-40B4-BE49-F238E27FC236}">
                <a16:creationId xmlns:a16="http://schemas.microsoft.com/office/drawing/2014/main" id="{61DCBBF7-DC2D-B2CA-E7C8-BEA3579023FE}"/>
              </a:ext>
            </a:extLst>
          </p:cNvPr>
          <p:cNvSpPr txBox="1"/>
          <p:nvPr/>
        </p:nvSpPr>
        <p:spPr>
          <a:xfrm>
            <a:off x="4188458" y="4373119"/>
            <a:ext cx="12422276" cy="1323439"/>
          </a:xfrm>
          <a:prstGeom prst="rect">
            <a:avLst/>
          </a:prstGeom>
          <a:noFill/>
        </p:spPr>
        <p:txBody>
          <a:bodyPr wrap="square">
            <a:spAutoFit/>
          </a:bodyPr>
          <a:lstStyle/>
          <a:p>
            <a:pPr algn="l"/>
            <a:r>
              <a:rPr lang="en-GB" sz="2000" u="none" strike="noStrike" dirty="0">
                <a:solidFill>
                  <a:srgbClr val="0D0D0D"/>
                </a:solidFill>
                <a:effectLst/>
                <a:latin typeface="Calibri" panose="020F0502020204030204" pitchFamily="34" charset="0"/>
              </a:rPr>
              <a:t>The Second Assessment Report (SAR) was released in 1995. </a:t>
            </a:r>
          </a:p>
          <a:p>
            <a:pPr algn="l"/>
            <a:r>
              <a:rPr lang="en-GB" sz="2000" u="none" strike="noStrike" dirty="0">
                <a:solidFill>
                  <a:srgbClr val="0D0D0D"/>
                </a:solidFill>
                <a:effectLst/>
                <a:latin typeface="Calibri" panose="020F0502020204030204" pitchFamily="34" charset="0"/>
              </a:rPr>
              <a:t>It provided an updated and more detailed understanding of climate change science</a:t>
            </a:r>
          </a:p>
          <a:p>
            <a:pPr algn="l"/>
            <a:r>
              <a:rPr lang="en-GB" sz="2000" u="none" strike="noStrike" dirty="0">
                <a:solidFill>
                  <a:srgbClr val="0D0D0D"/>
                </a:solidFill>
                <a:effectLst/>
                <a:latin typeface="Calibri" panose="020F0502020204030204" pitchFamily="34" charset="0"/>
              </a:rPr>
              <a:t>The SAR also highlighted emerging issues such as the potential impacts of climate change on vulnerable regions.</a:t>
            </a:r>
          </a:p>
          <a:p>
            <a:r>
              <a:rPr lang="en-GB" sz="2000" u="none" strike="noStrike" dirty="0">
                <a:solidFill>
                  <a:srgbClr val="0D0D0D"/>
                </a:solidFill>
                <a:effectLst/>
                <a:latin typeface="Calibri" panose="020F0502020204030204" pitchFamily="34" charset="0"/>
              </a:rPr>
              <a:t>important material for governments to draw from in the run-up to adoption of the Kyoto Protocol in 1997</a:t>
            </a:r>
          </a:p>
        </p:txBody>
      </p:sp>
      <p:sp>
        <p:nvSpPr>
          <p:cNvPr id="13" name="TextBox 12">
            <a:extLst>
              <a:ext uri="{FF2B5EF4-FFF2-40B4-BE49-F238E27FC236}">
                <a16:creationId xmlns:a16="http://schemas.microsoft.com/office/drawing/2014/main" id="{B5F16096-A485-DA40-26C4-D76480FD0860}"/>
              </a:ext>
            </a:extLst>
          </p:cNvPr>
          <p:cNvSpPr txBox="1"/>
          <p:nvPr/>
        </p:nvSpPr>
        <p:spPr>
          <a:xfrm>
            <a:off x="4188458" y="5843002"/>
            <a:ext cx="12649286" cy="1323439"/>
          </a:xfrm>
          <a:prstGeom prst="rect">
            <a:avLst/>
          </a:prstGeom>
          <a:noFill/>
        </p:spPr>
        <p:txBody>
          <a:bodyPr wrap="square">
            <a:spAutoFit/>
          </a:bodyPr>
          <a:lstStyle/>
          <a:p>
            <a:pPr algn="l"/>
            <a:r>
              <a:rPr lang="en-GB" sz="2000" u="none" strike="noStrike" dirty="0">
                <a:solidFill>
                  <a:srgbClr val="0D0D0D"/>
                </a:solidFill>
                <a:effectLst/>
                <a:latin typeface="Calibri" panose="020F0502020204030204" pitchFamily="34" charset="0"/>
              </a:rPr>
              <a:t>The Third Assessment Report (TAR) was published in 2001</a:t>
            </a:r>
          </a:p>
          <a:p>
            <a:pPr algn="l"/>
            <a:r>
              <a:rPr lang="en-GB" sz="2000" u="none" strike="noStrike" dirty="0">
                <a:solidFill>
                  <a:srgbClr val="0D0D0D"/>
                </a:solidFill>
                <a:effectLst/>
                <a:latin typeface="Calibri" panose="020F0502020204030204" pitchFamily="34" charset="0"/>
              </a:rPr>
              <a:t>assessments of observed changes in climate, projections of future climate scenarios, and the potential impacts of climate change on various sectors such as agriculture, water resources, and human health. </a:t>
            </a:r>
          </a:p>
          <a:p>
            <a:pPr algn="l"/>
            <a:r>
              <a:rPr lang="en-GB" sz="2000" u="none" strike="noStrike" dirty="0">
                <a:solidFill>
                  <a:srgbClr val="0D0D0D"/>
                </a:solidFill>
                <a:effectLst/>
                <a:latin typeface="Calibri" panose="020F0502020204030204" pitchFamily="34" charset="0"/>
              </a:rPr>
              <a:t>The TAR contributed significantly to international climate negotiations and policy discussions</a:t>
            </a:r>
            <a:r>
              <a:rPr lang="en-GB" sz="2000" dirty="0">
                <a:solidFill>
                  <a:srgbClr val="0D0D0D"/>
                </a:solidFill>
                <a:latin typeface="Calibri" panose="020F0502020204030204" pitchFamily="34" charset="0"/>
              </a:rPr>
              <a:t>.</a:t>
            </a:r>
            <a:endParaRPr lang="en-GB" sz="2000" u="none" strike="noStrike" dirty="0">
              <a:solidFill>
                <a:srgbClr val="0D0D0D"/>
              </a:solidFill>
              <a:effectLst/>
              <a:latin typeface="Calibri" panose="020F0502020204030204" pitchFamily="34" charset="0"/>
            </a:endParaRPr>
          </a:p>
        </p:txBody>
      </p:sp>
      <p:sp>
        <p:nvSpPr>
          <p:cNvPr id="14" name="TextBox 13">
            <a:extLst>
              <a:ext uri="{FF2B5EF4-FFF2-40B4-BE49-F238E27FC236}">
                <a16:creationId xmlns:a16="http://schemas.microsoft.com/office/drawing/2014/main" id="{EA24C048-5D0D-9316-779D-399ED6317BB1}"/>
              </a:ext>
            </a:extLst>
          </p:cNvPr>
          <p:cNvSpPr txBox="1"/>
          <p:nvPr/>
        </p:nvSpPr>
        <p:spPr>
          <a:xfrm>
            <a:off x="4265524" y="7515402"/>
            <a:ext cx="12974726" cy="1631216"/>
          </a:xfrm>
          <a:prstGeom prst="rect">
            <a:avLst/>
          </a:prstGeom>
          <a:noFill/>
        </p:spPr>
        <p:txBody>
          <a:bodyPr wrap="square">
            <a:spAutoFit/>
          </a:bodyPr>
          <a:lstStyle/>
          <a:p>
            <a:pPr algn="l"/>
            <a:r>
              <a:rPr lang="en-GB" sz="2000" b="0" i="0" u="none" strike="noStrike" dirty="0">
                <a:solidFill>
                  <a:srgbClr val="0D0D0D"/>
                </a:solidFill>
                <a:effectLst/>
                <a:latin typeface="Calibri" panose="020F0502020204030204" pitchFamily="34" charset="0"/>
                <a:cs typeface="Calibri" panose="020F0502020204030204" pitchFamily="34" charset="0"/>
              </a:rPr>
              <a:t>The Fourth Assessment Report (AR4) was released in 2007.</a:t>
            </a:r>
          </a:p>
          <a:p>
            <a:pPr algn="l"/>
            <a:r>
              <a:rPr lang="en-GB" sz="2000" dirty="0">
                <a:solidFill>
                  <a:srgbClr val="0D0D0D"/>
                </a:solidFill>
                <a:latin typeface="Calibri" panose="020F0502020204030204" pitchFamily="34" charset="0"/>
                <a:cs typeface="Calibri" panose="020F0502020204030204" pitchFamily="34" charset="0"/>
              </a:rPr>
              <a:t>P</a:t>
            </a:r>
            <a:r>
              <a:rPr lang="en-GB" sz="2000" b="0" i="0" u="none" strike="noStrike" dirty="0">
                <a:solidFill>
                  <a:srgbClr val="0D0D0D"/>
                </a:solidFill>
                <a:effectLst/>
                <a:latin typeface="Calibri" panose="020F0502020204030204" pitchFamily="34" charset="0"/>
                <a:cs typeface="Calibri" panose="020F0502020204030204" pitchFamily="34" charset="0"/>
              </a:rPr>
              <a:t>rovided an updated assessment of climate change science, impacts, adaptation, and mitigation strategies. </a:t>
            </a:r>
          </a:p>
          <a:p>
            <a:pPr algn="l"/>
            <a:r>
              <a:rPr lang="en-GB" sz="2000" b="0" i="0" u="none" strike="noStrike" dirty="0">
                <a:solidFill>
                  <a:srgbClr val="0D0D0D"/>
                </a:solidFill>
                <a:effectLst/>
                <a:latin typeface="Calibri" panose="020F0502020204030204" pitchFamily="34" charset="0"/>
                <a:cs typeface="Calibri" panose="020F0502020204030204" pitchFamily="34" charset="0"/>
              </a:rPr>
              <a:t>The AR4 incorporated advancements in climate </a:t>
            </a:r>
            <a:r>
              <a:rPr lang="en-GB" sz="2000" b="0" i="0" u="none" strike="noStrike" dirty="0" err="1">
                <a:solidFill>
                  <a:srgbClr val="0D0D0D"/>
                </a:solidFill>
                <a:effectLst/>
                <a:latin typeface="Calibri" panose="020F0502020204030204" pitchFamily="34" charset="0"/>
                <a:cs typeface="Calibri" panose="020F0502020204030204" pitchFamily="34" charset="0"/>
              </a:rPr>
              <a:t>modeling</a:t>
            </a:r>
            <a:r>
              <a:rPr lang="en-GB" sz="2000" b="0" i="0" u="none" strike="noStrike" dirty="0">
                <a:solidFill>
                  <a:srgbClr val="0D0D0D"/>
                </a:solidFill>
                <a:effectLst/>
                <a:latin typeface="Calibri" panose="020F0502020204030204" pitchFamily="34" charset="0"/>
                <a:cs typeface="Calibri" panose="020F0502020204030204" pitchFamily="34" charset="0"/>
              </a:rPr>
              <a:t>, observational data, and understanding of climate feedback mechanisms. </a:t>
            </a:r>
          </a:p>
          <a:p>
            <a:pPr algn="l"/>
            <a:r>
              <a:rPr lang="en-GB" sz="2000" b="0" i="0" u="none" strike="noStrike" dirty="0">
                <a:effectLst/>
                <a:latin typeface="Calibri" panose="020F0502020204030204" pitchFamily="34" charset="0"/>
                <a:cs typeface="Calibri" panose="020F0502020204030204" pitchFamily="34" charset="0"/>
              </a:rPr>
              <a:t>laid the ground-work for a post-Kyoto agreement, focusing on limiting warming to 2°C</a:t>
            </a:r>
          </a:p>
        </p:txBody>
      </p:sp>
    </p:spTree>
    <p:extLst>
      <p:ext uri="{BB962C8B-B14F-4D97-AF65-F5344CB8AC3E}">
        <p14:creationId xmlns:p14="http://schemas.microsoft.com/office/powerpoint/2010/main" val="20164875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5B07164-62F9-C770-F5D3-3CB16D2A88A7}"/>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A06E2DE1-BB7C-66AD-5194-C34B42D2E28B}"/>
              </a:ext>
            </a:extLst>
          </p:cNvPr>
          <p:cNvSpPr txBox="1"/>
          <p:nvPr/>
        </p:nvSpPr>
        <p:spPr>
          <a:xfrm>
            <a:off x="858187" y="1425545"/>
            <a:ext cx="13847674" cy="859210"/>
          </a:xfrm>
          <a:prstGeom prst="rect">
            <a:avLst/>
          </a:prstGeom>
        </p:spPr>
        <p:txBody>
          <a:bodyPr wrap="square" lIns="0" tIns="0" rIns="0" bIns="0" rtlCol="0" anchor="t">
            <a:spAutoFit/>
          </a:bodyPr>
          <a:lstStyle/>
          <a:p>
            <a:pPr>
              <a:lnSpc>
                <a:spcPts val="6719"/>
              </a:lnSpc>
            </a:pPr>
            <a:r>
              <a:rPr lang="en-US" sz="5599" b="1" i="1" dirty="0">
                <a:solidFill>
                  <a:srgbClr val="46245A"/>
                </a:solidFill>
                <a:latin typeface="DM Sans" pitchFamily="2" charset="0"/>
              </a:rPr>
              <a:t>Performance of Global Climate Models</a:t>
            </a:r>
            <a:endParaRPr lang="en-US" sz="5599" i="1" dirty="0">
              <a:solidFill>
                <a:srgbClr val="46245A"/>
              </a:solidFill>
              <a:latin typeface="DM Sans" pitchFamily="2" charset="0"/>
            </a:endParaRPr>
          </a:p>
        </p:txBody>
      </p:sp>
      <p:sp>
        <p:nvSpPr>
          <p:cNvPr id="10" name="Freeform 13">
            <a:extLst>
              <a:ext uri="{FF2B5EF4-FFF2-40B4-BE49-F238E27FC236}">
                <a16:creationId xmlns:a16="http://schemas.microsoft.com/office/drawing/2014/main" id="{0A199592-93B1-683D-7BA8-9A86B8E20828}"/>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4" name="Rectangle 3">
            <a:extLst>
              <a:ext uri="{FF2B5EF4-FFF2-40B4-BE49-F238E27FC236}">
                <a16:creationId xmlns:a16="http://schemas.microsoft.com/office/drawing/2014/main" id="{C026A4FE-418D-FA18-1FB4-DF59A26C46DD}"/>
              </a:ext>
            </a:extLst>
          </p:cNvPr>
          <p:cNvSpPr txBox="1">
            <a:spLocks noChangeArrowheads="1"/>
          </p:cNvSpPr>
          <p:nvPr/>
        </p:nvSpPr>
        <p:spPr>
          <a:xfrm>
            <a:off x="781103" y="3257688"/>
            <a:ext cx="8336667" cy="4163735"/>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0" indent="0">
              <a:buNone/>
            </a:pPr>
            <a:r>
              <a:rPr lang="en-GB" altLang="en-US" dirty="0">
                <a:latin typeface="Calibri" panose="020F0502020204030204" pitchFamily="34" charset="0"/>
                <a:cs typeface="Calibri" panose="020F0502020204030204" pitchFamily="34" charset="0"/>
              </a:rPr>
              <a:t>Modern Coupled GCMs</a:t>
            </a:r>
          </a:p>
          <a:p>
            <a:pPr lvl="1">
              <a:buFontTx/>
              <a:buNone/>
            </a:pPr>
            <a:r>
              <a:rPr lang="en-GB" altLang="en-US" dirty="0">
                <a:solidFill>
                  <a:schemeClr val="hlink"/>
                </a:solidFill>
                <a:latin typeface="Calibri" panose="020F0502020204030204" pitchFamily="34" charset="0"/>
                <a:cs typeface="Calibri" panose="020F0502020204030204" pitchFamily="34" charset="0"/>
                <a:sym typeface="Wingdings 2" pitchFamily="2" charset="2"/>
              </a:rPr>
              <a:t> </a:t>
            </a:r>
            <a:r>
              <a:rPr lang="en-GB" altLang="en-US" dirty="0">
                <a:latin typeface="Calibri" panose="020F0502020204030204" pitchFamily="34" charset="0"/>
                <a:cs typeface="Calibri" panose="020F0502020204030204" pitchFamily="34" charset="0"/>
              </a:rPr>
              <a:t>Perform well at continental scales</a:t>
            </a:r>
          </a:p>
          <a:p>
            <a:pPr lvl="1">
              <a:buFontTx/>
              <a:buNone/>
            </a:pPr>
            <a:r>
              <a:rPr lang="en-GB" altLang="en-US" dirty="0">
                <a:solidFill>
                  <a:schemeClr val="hlink"/>
                </a:solidFill>
                <a:latin typeface="Calibri" panose="020F0502020204030204" pitchFamily="34" charset="0"/>
                <a:cs typeface="Calibri" panose="020F0502020204030204" pitchFamily="34" charset="0"/>
                <a:sym typeface="Wingdings 2" pitchFamily="2" charset="2"/>
              </a:rPr>
              <a:t></a:t>
            </a:r>
            <a:r>
              <a:rPr lang="en-GB" altLang="en-US" dirty="0">
                <a:latin typeface="Calibri" panose="020F0502020204030204" pitchFamily="34" charset="0"/>
                <a:cs typeface="Calibri" panose="020F0502020204030204" pitchFamily="34" charset="0"/>
              </a:rPr>
              <a:t> Perform well at multiannual -&gt; climatological scales (30 year)</a:t>
            </a:r>
          </a:p>
          <a:p>
            <a:pPr lvl="1">
              <a:buFontTx/>
              <a:buNone/>
            </a:pPr>
            <a:r>
              <a:rPr lang="en-GB" altLang="en-US" dirty="0">
                <a:solidFill>
                  <a:srgbClr val="FF0000"/>
                </a:solidFill>
                <a:latin typeface="Calibri" panose="020F0502020204030204" pitchFamily="34" charset="0"/>
                <a:cs typeface="Calibri" panose="020F0502020204030204" pitchFamily="34" charset="0"/>
                <a:sym typeface="Wingdings 2" pitchFamily="2" charset="2"/>
              </a:rPr>
              <a:t></a:t>
            </a:r>
            <a:r>
              <a:rPr lang="en-GB" altLang="en-US" dirty="0">
                <a:latin typeface="Calibri" panose="020F0502020204030204" pitchFamily="34" charset="0"/>
                <a:cs typeface="Calibri" panose="020F0502020204030204" pitchFamily="34" charset="0"/>
                <a:sym typeface="Wingdings 2" pitchFamily="2" charset="2"/>
              </a:rPr>
              <a:t> </a:t>
            </a:r>
            <a:r>
              <a:rPr lang="en-GB" altLang="en-US" dirty="0">
                <a:latin typeface="Calibri" panose="020F0502020204030204" pitchFamily="34" charset="0"/>
                <a:cs typeface="Calibri" panose="020F0502020204030204" pitchFamily="34" charset="0"/>
              </a:rPr>
              <a:t>Perform less well at short time scales</a:t>
            </a:r>
          </a:p>
          <a:p>
            <a:pPr lvl="1">
              <a:buFontTx/>
              <a:buNone/>
            </a:pPr>
            <a:r>
              <a:rPr lang="en-GB" altLang="en-US" dirty="0">
                <a:solidFill>
                  <a:srgbClr val="FF0000"/>
                </a:solidFill>
                <a:latin typeface="Calibri" panose="020F0502020204030204" pitchFamily="34" charset="0"/>
                <a:cs typeface="Calibri" panose="020F0502020204030204" pitchFamily="34" charset="0"/>
                <a:sym typeface="Wingdings 2" pitchFamily="2" charset="2"/>
              </a:rPr>
              <a:t></a:t>
            </a:r>
            <a:r>
              <a:rPr lang="en-GB" altLang="en-US" dirty="0">
                <a:latin typeface="Calibri" panose="020F0502020204030204" pitchFamily="34" charset="0"/>
                <a:cs typeface="Calibri" panose="020F0502020204030204" pitchFamily="34" charset="0"/>
              </a:rPr>
              <a:t> Perform less well at regional scales</a:t>
            </a:r>
          </a:p>
          <a:p>
            <a:pPr lvl="1"/>
            <a:endParaRPr lang="en-US" altLang="en-US" dirty="0">
              <a:latin typeface="Calibri" panose="020F0502020204030204" pitchFamily="34" charset="0"/>
              <a:cs typeface="Calibri" panose="020F0502020204030204" pitchFamily="34" charset="0"/>
            </a:endParaRPr>
          </a:p>
        </p:txBody>
      </p:sp>
      <p:pic>
        <p:nvPicPr>
          <p:cNvPr id="25" name="Picture 3" descr="Fig1">
            <a:extLst>
              <a:ext uri="{FF2B5EF4-FFF2-40B4-BE49-F238E27FC236}">
                <a16:creationId xmlns:a16="http://schemas.microsoft.com/office/drawing/2014/main" id="{46DFA519-3D60-DE54-A441-14847FD6666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5577"/>
          <a:stretch/>
        </p:blipFill>
        <p:spPr bwMode="auto">
          <a:xfrm>
            <a:off x="11619624" y="2628952"/>
            <a:ext cx="5930466" cy="6830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Box 26">
            <a:extLst>
              <a:ext uri="{FF2B5EF4-FFF2-40B4-BE49-F238E27FC236}">
                <a16:creationId xmlns:a16="http://schemas.microsoft.com/office/drawing/2014/main" id="{CDD6C21C-6A3E-6405-247F-E4479021B480}"/>
              </a:ext>
            </a:extLst>
          </p:cNvPr>
          <p:cNvSpPr txBox="1"/>
          <p:nvPr/>
        </p:nvSpPr>
        <p:spPr>
          <a:xfrm>
            <a:off x="781103" y="6895385"/>
            <a:ext cx="7296150" cy="1569660"/>
          </a:xfrm>
          <a:prstGeom prst="rect">
            <a:avLst/>
          </a:prstGeom>
          <a:noFill/>
        </p:spPr>
        <p:txBody>
          <a:bodyPr wrap="square">
            <a:spAutoFit/>
          </a:bodyPr>
          <a:lstStyle/>
          <a:p>
            <a:pPr eaLnBrk="1" hangingPunct="1"/>
            <a:r>
              <a:rPr lang="en-US" altLang="en-US" sz="2400" dirty="0">
                <a:latin typeface="Calibri" panose="020F0502020204030204" pitchFamily="34" charset="0"/>
                <a:cs typeface="Calibri" panose="020F0502020204030204" pitchFamily="34" charset="0"/>
              </a:rPr>
              <a:t>The complexity of climate models has increased over the last few decades. The additional physics incorporated in the models are shown pictorially by the different features of the modelled world. </a:t>
            </a:r>
          </a:p>
        </p:txBody>
      </p:sp>
      <p:pic>
        <p:nvPicPr>
          <p:cNvPr id="2" name="Picture 3" descr="Fig1">
            <a:extLst>
              <a:ext uri="{FF2B5EF4-FFF2-40B4-BE49-F238E27FC236}">
                <a16:creationId xmlns:a16="http://schemas.microsoft.com/office/drawing/2014/main" id="{42161B58-A271-6DB6-DF10-9574C5B2B36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58838" y="3018032"/>
            <a:ext cx="2505604" cy="5909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818272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F43F599E-A8B7-682D-B49B-DF69B4B73187}"/>
              </a:ext>
            </a:extLst>
          </p:cNvPr>
          <p:cNvSpPr txBox="1"/>
          <p:nvPr/>
        </p:nvSpPr>
        <p:spPr>
          <a:xfrm>
            <a:off x="962027" y="1520852"/>
            <a:ext cx="16742044" cy="820289"/>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400" b="1" i="1" u="none" strike="noStrike" kern="1200" cap="none" spc="0" normalizeH="0" baseline="0" noProof="0" dirty="0">
                <a:ln>
                  <a:noFill/>
                </a:ln>
                <a:solidFill>
                  <a:srgbClr val="46245A"/>
                </a:solidFill>
                <a:effectLst/>
                <a:uLnTx/>
                <a:uFillTx/>
                <a:latin typeface="DM Sans" pitchFamily="2" charset="0"/>
                <a:ea typeface="+mn-ea"/>
                <a:cs typeface="+mn-cs"/>
              </a:rPr>
              <a:t>Representative Concentration Pathways (RCPs)</a:t>
            </a:r>
            <a:endParaRPr kumimoji="0" lang="en-US" sz="4400" b="0" i="1"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Rectangle 3">
            <a:extLst>
              <a:ext uri="{FF2B5EF4-FFF2-40B4-BE49-F238E27FC236}">
                <a16:creationId xmlns:a16="http://schemas.microsoft.com/office/drawing/2014/main" id="{2B83318A-71F4-3ED6-17FB-FBD2D9C5532A}"/>
              </a:ext>
            </a:extLst>
          </p:cNvPr>
          <p:cNvSpPr txBox="1">
            <a:spLocks noChangeArrowheads="1"/>
          </p:cNvSpPr>
          <p:nvPr/>
        </p:nvSpPr>
        <p:spPr>
          <a:xfrm>
            <a:off x="647237" y="2646261"/>
            <a:ext cx="8229600" cy="4525963"/>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endParaRPr kumimoji="0" lang="en-US" altLang="en-US" sz="3200" b="0" i="0" u="none" strike="noStrike" kern="1200" cap="none" spc="0" normalizeH="0" baseline="0" noProof="0" dirty="0">
              <a:ln>
                <a:noFill/>
              </a:ln>
              <a:solidFill>
                <a:prstClr val="black"/>
              </a:solidFill>
              <a:effectLst/>
              <a:uLnTx/>
              <a:uFillTx/>
              <a:latin typeface="DM Sans" pitchFamily="2" charset="0"/>
              <a:ea typeface="+mn-ea"/>
              <a:cs typeface="+mn-cs"/>
            </a:endParaRPr>
          </a:p>
        </p:txBody>
      </p:sp>
      <p:pic>
        <p:nvPicPr>
          <p:cNvPr id="18" name="Picture 17" descr="A graph showing the number of emissions&#10;&#10;Description automatically generated">
            <a:extLst>
              <a:ext uri="{FF2B5EF4-FFF2-40B4-BE49-F238E27FC236}">
                <a16:creationId xmlns:a16="http://schemas.microsoft.com/office/drawing/2014/main" id="{0EB74FD6-EDFF-1476-E8FC-512E76D0AD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0514" y="2870172"/>
            <a:ext cx="8183304" cy="5674475"/>
          </a:xfrm>
          <a:prstGeom prst="rect">
            <a:avLst/>
          </a:prstGeom>
        </p:spPr>
      </p:pic>
      <p:sp>
        <p:nvSpPr>
          <p:cNvPr id="21" name="TextBox 20">
            <a:extLst>
              <a:ext uri="{FF2B5EF4-FFF2-40B4-BE49-F238E27FC236}">
                <a16:creationId xmlns:a16="http://schemas.microsoft.com/office/drawing/2014/main" id="{E6E7BE3F-7CA2-B012-7924-B7FF5AF18333}"/>
              </a:ext>
            </a:extLst>
          </p:cNvPr>
          <p:cNvSpPr txBox="1"/>
          <p:nvPr/>
        </p:nvSpPr>
        <p:spPr>
          <a:xfrm>
            <a:off x="8968819" y="2999620"/>
            <a:ext cx="7565747" cy="59400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Anthropogenic GHG emissions are mainly driven by population size, economic activity, lifestyle, energy use, land use patterns, technology and climate policy.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00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The Representative Concentration Pathways (RCPs), which are used for making projections based on these factors, describe four different 21st century pathways of GHG emissions and atmospheric concentrations, air pollutant emissions and land use.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00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The RCPs include a stringent mitigation scenario (RCP2.6), two intermediate scenarios (RCP4.5 and RCP6.0) and one scenario with very high GHG emissions (RCP8.5). Scenarios without additional efforts to constrain emissions (’baseline scenarios’) lead to pathways ranging between RCP6.0 and RCP8.5.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00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RCP2.6 is representative of a scenario that aims to keep global warming likely below 2°C above pre-industrial temperatures. The RCPs are consistent with the wide range of scenarios in the literature as assessed by WGIII5.</a:t>
            </a:r>
            <a:endParaRPr kumimoji="0" lang="en-US" sz="2000" b="0" i="0" u="none" strike="noStrike" kern="1200" cap="none" spc="0" normalizeH="0" baseline="0" noProof="0" dirty="0">
              <a:ln>
                <a:noFill/>
              </a:ln>
              <a:solidFill>
                <a:prstClr val="black"/>
              </a:solidFill>
              <a:effectLst/>
              <a:uLnTx/>
              <a:uFillTx/>
              <a:latin typeface="DM Sans"/>
              <a:ea typeface="+mn-ea"/>
              <a:cs typeface="+mn-cs"/>
            </a:endParaRPr>
          </a:p>
        </p:txBody>
      </p:sp>
    </p:spTree>
    <p:extLst>
      <p:ext uri="{BB962C8B-B14F-4D97-AF65-F5344CB8AC3E}">
        <p14:creationId xmlns:p14="http://schemas.microsoft.com/office/powerpoint/2010/main" val="2021961064"/>
      </p:ext>
    </p:extLst>
  </p:cSld>
  <p:clrMapOvr>
    <a:masterClrMapping/>
  </p:clrMapOvr>
  <mc:AlternateContent xmlns:mc="http://schemas.openxmlformats.org/markup-compatibility/2006" xmlns:p14="http://schemas.microsoft.com/office/powerpoint/2010/main">
    <mc:Choice Requires="p14">
      <p:transition spd="slow" p14:dur="2000" advTm="117752"/>
    </mc:Choice>
    <mc:Fallback xmlns="">
      <p:transition spd="slow" advTm="117752"/>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EE36C5E8-7833-4D29-9BDB-01B442FB5D13}"/>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E9B31423-0C4D-A948-A108-39DB992ED483}"/>
              </a:ext>
            </a:extLst>
          </p:cNvPr>
          <p:cNvSpPr txBox="1"/>
          <p:nvPr/>
        </p:nvSpPr>
        <p:spPr>
          <a:xfrm>
            <a:off x="873177" y="1234487"/>
            <a:ext cx="13847674" cy="859210"/>
          </a:xfrm>
          <a:prstGeom prst="rect">
            <a:avLst/>
          </a:prstGeom>
        </p:spPr>
        <p:txBody>
          <a:bodyPr wrap="square" lIns="0" tIns="0" rIns="0" bIns="0" rtlCol="0" anchor="t">
            <a:spAutoFit/>
          </a:bodyPr>
          <a:lstStyle/>
          <a:p>
            <a:pPr>
              <a:lnSpc>
                <a:spcPts val="6719"/>
              </a:lnSpc>
            </a:pPr>
            <a:r>
              <a:rPr lang="en-US" sz="5599" b="1" i="1" dirty="0">
                <a:solidFill>
                  <a:srgbClr val="46245A"/>
                </a:solidFill>
                <a:latin typeface="DM Sans" pitchFamily="2" charset="0"/>
              </a:rPr>
              <a:t>Where do some of the errors arise</a:t>
            </a:r>
            <a:endParaRPr lang="en-US" sz="5599" i="1" dirty="0">
              <a:solidFill>
                <a:srgbClr val="46245A"/>
              </a:solidFill>
              <a:latin typeface="DM Sans" pitchFamily="2" charset="0"/>
            </a:endParaRPr>
          </a:p>
        </p:txBody>
      </p:sp>
      <p:sp>
        <p:nvSpPr>
          <p:cNvPr id="10" name="Freeform 13">
            <a:extLst>
              <a:ext uri="{FF2B5EF4-FFF2-40B4-BE49-F238E27FC236}">
                <a16:creationId xmlns:a16="http://schemas.microsoft.com/office/drawing/2014/main" id="{CE574C0C-2B76-5B6A-90BA-574BAB52244E}"/>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 Box 2">
            <a:extLst>
              <a:ext uri="{FF2B5EF4-FFF2-40B4-BE49-F238E27FC236}">
                <a16:creationId xmlns:a16="http://schemas.microsoft.com/office/drawing/2014/main" id="{E1CB9317-9D48-E9FA-BDA8-B43059EC16F8}"/>
              </a:ext>
            </a:extLst>
          </p:cNvPr>
          <p:cNvSpPr txBox="1">
            <a:spLocks noChangeArrowheads="1"/>
          </p:cNvSpPr>
          <p:nvPr/>
        </p:nvSpPr>
        <p:spPr bwMode="auto">
          <a:xfrm>
            <a:off x="858190" y="2558094"/>
            <a:ext cx="9056077" cy="7811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marL="457200" indent="-457200">
              <a:spcBef>
                <a:spcPct val="30000"/>
              </a:spcBef>
              <a:buClr>
                <a:srgbClr val="F39FD1"/>
              </a:buClr>
              <a:buFont typeface="Arial" panose="020B0604020202020204" pitchFamily="34" charset="0"/>
              <a:buChar char="•"/>
            </a:pPr>
            <a:r>
              <a:rPr lang="en-GB" altLang="en-US" sz="2800" dirty="0">
                <a:latin typeface="Calibri" panose="020F0502020204030204" pitchFamily="34" charset="0"/>
                <a:cs typeface="Calibri" panose="020F0502020204030204" pitchFamily="34" charset="0"/>
              </a:rPr>
              <a:t>Grid size</a:t>
            </a:r>
          </a:p>
          <a:p>
            <a:pPr marL="457200" indent="-457200">
              <a:spcBef>
                <a:spcPct val="30000"/>
              </a:spcBef>
              <a:buClr>
                <a:srgbClr val="F39FD1"/>
              </a:buClr>
              <a:buFont typeface="Arial" panose="020B0604020202020204" pitchFamily="34" charset="0"/>
              <a:buChar char="•"/>
            </a:pPr>
            <a:r>
              <a:rPr lang="en-GB" altLang="en-US" sz="2800" dirty="0">
                <a:latin typeface="Calibri" panose="020F0502020204030204" pitchFamily="34" charset="0"/>
                <a:cs typeface="Calibri" panose="020F0502020204030204" pitchFamily="34" charset="0"/>
              </a:rPr>
              <a:t>Atmospheric levels</a:t>
            </a:r>
          </a:p>
          <a:p>
            <a:pPr marL="457200" indent="-457200">
              <a:spcBef>
                <a:spcPct val="30000"/>
              </a:spcBef>
              <a:buClr>
                <a:srgbClr val="F39FD1"/>
              </a:buClr>
              <a:buFont typeface="Arial" panose="020B0604020202020204" pitchFamily="34" charset="0"/>
              <a:buChar char="•"/>
            </a:pPr>
            <a:r>
              <a:rPr lang="en-GB" altLang="en-US" sz="2800" dirty="0">
                <a:latin typeface="Calibri" panose="020F0502020204030204" pitchFamily="34" charset="0"/>
                <a:cs typeface="Calibri" panose="020F0502020204030204" pitchFamily="34" charset="0"/>
              </a:rPr>
              <a:t>Regional response</a:t>
            </a:r>
          </a:p>
          <a:p>
            <a:pPr marL="457200" indent="-457200">
              <a:spcBef>
                <a:spcPct val="30000"/>
              </a:spcBef>
              <a:buClr>
                <a:srgbClr val="F39FD1"/>
              </a:buClr>
              <a:buFont typeface="Arial" panose="020B0604020202020204" pitchFamily="34" charset="0"/>
              <a:buChar char="•"/>
            </a:pPr>
            <a:r>
              <a:rPr lang="en-GB" altLang="en-US" sz="2800" dirty="0">
                <a:latin typeface="Calibri" panose="020F0502020204030204" pitchFamily="34" charset="0"/>
                <a:cs typeface="Calibri" panose="020F0502020204030204" pitchFamily="34" charset="0"/>
              </a:rPr>
              <a:t>Natural variability</a:t>
            </a:r>
          </a:p>
          <a:p>
            <a:pPr marL="457200" indent="-457200">
              <a:spcBef>
                <a:spcPct val="30000"/>
              </a:spcBef>
              <a:buClr>
                <a:srgbClr val="F39FD1"/>
              </a:buClr>
              <a:buFont typeface="Arial" panose="020B0604020202020204" pitchFamily="34" charset="0"/>
              <a:buChar char="•"/>
            </a:pPr>
            <a:r>
              <a:rPr lang="en-GB" altLang="en-US" sz="2800" dirty="0">
                <a:latin typeface="Calibri" panose="020F0502020204030204" pitchFamily="34" charset="0"/>
                <a:cs typeface="Calibri" panose="020F0502020204030204" pitchFamily="34" charset="0"/>
              </a:rPr>
              <a:t>Cloud representation</a:t>
            </a:r>
          </a:p>
          <a:p>
            <a:pPr marL="457200" indent="-457200">
              <a:spcBef>
                <a:spcPct val="30000"/>
              </a:spcBef>
              <a:buClr>
                <a:srgbClr val="F39FD1"/>
              </a:buClr>
              <a:buFont typeface="Arial" panose="020B0604020202020204" pitchFamily="34" charset="0"/>
              <a:buChar char="•"/>
            </a:pPr>
            <a:r>
              <a:rPr lang="en-GB" altLang="en-US" sz="2800" dirty="0">
                <a:latin typeface="Calibri" panose="020F0502020204030204" pitchFamily="34" charset="0"/>
                <a:cs typeface="Calibri" panose="020F0502020204030204" pitchFamily="34" charset="0"/>
              </a:rPr>
              <a:t>Rainfall parameterisation</a:t>
            </a:r>
          </a:p>
          <a:p>
            <a:pPr marL="457200" indent="-457200">
              <a:spcBef>
                <a:spcPct val="30000"/>
              </a:spcBef>
              <a:buClr>
                <a:srgbClr val="F39FD1"/>
              </a:buClr>
              <a:buFont typeface="Arial" panose="020B0604020202020204" pitchFamily="34" charset="0"/>
              <a:buChar char="•"/>
            </a:pPr>
            <a:endParaRPr lang="en-GB" altLang="en-US" sz="2800" dirty="0">
              <a:latin typeface="Calibri" panose="020F0502020204030204" pitchFamily="34" charset="0"/>
              <a:cs typeface="Calibri" panose="020F0502020204030204" pitchFamily="34" charset="0"/>
            </a:endParaRPr>
          </a:p>
          <a:p>
            <a:pPr>
              <a:spcBef>
                <a:spcPct val="30000"/>
              </a:spcBef>
              <a:buClr>
                <a:srgbClr val="F39FD1"/>
              </a:buClr>
            </a:pPr>
            <a:r>
              <a:rPr lang="en-GB" sz="2800" dirty="0">
                <a:solidFill>
                  <a:srgbClr val="1B1B1B"/>
                </a:solidFill>
                <a:latin typeface="Calibri" panose="020F0502020204030204" pitchFamily="34" charset="0"/>
                <a:cs typeface="Calibri" panose="020F0502020204030204" pitchFamily="34" charset="0"/>
              </a:rPr>
              <a:t>Climate models are evaluated for accuracy by “hindcasting,” or replicating the climate of the past 100 years. </a:t>
            </a:r>
          </a:p>
          <a:p>
            <a:pPr>
              <a:spcBef>
                <a:spcPct val="30000"/>
              </a:spcBef>
              <a:buClr>
                <a:srgbClr val="F39FD1"/>
              </a:buClr>
            </a:pPr>
            <a:endParaRPr lang="en-GB" sz="2800" dirty="0">
              <a:solidFill>
                <a:srgbClr val="1B1B1B"/>
              </a:solidFill>
              <a:latin typeface="Calibri" panose="020F0502020204030204" pitchFamily="34" charset="0"/>
              <a:cs typeface="Calibri" panose="020F0502020204030204" pitchFamily="34" charset="0"/>
            </a:endParaRPr>
          </a:p>
          <a:p>
            <a:pPr>
              <a:spcBef>
                <a:spcPct val="30000"/>
              </a:spcBef>
              <a:buClr>
                <a:srgbClr val="F39FD1"/>
              </a:buClr>
            </a:pPr>
            <a:r>
              <a:rPr lang="en-GB" sz="2800" dirty="0">
                <a:solidFill>
                  <a:srgbClr val="1B1B1B"/>
                </a:solidFill>
                <a:latin typeface="Calibri" panose="020F0502020204030204" pitchFamily="34" charset="0"/>
                <a:cs typeface="Calibri" panose="020F0502020204030204" pitchFamily="34" charset="0"/>
              </a:rPr>
              <a:t>Because models have been run since the 1990s, scientists can now see how accurate earlier models were at projecting future changes. </a:t>
            </a:r>
          </a:p>
          <a:p>
            <a:pPr>
              <a:lnSpc>
                <a:spcPct val="160000"/>
              </a:lnSpc>
              <a:spcBef>
                <a:spcPct val="30000"/>
              </a:spcBef>
              <a:buClr>
                <a:srgbClr val="F39FD1"/>
              </a:buClr>
            </a:pPr>
            <a:endParaRPr lang="en-GB" altLang="en-US" sz="2000" dirty="0">
              <a:latin typeface="+mn-lt"/>
            </a:endParaRPr>
          </a:p>
          <a:p>
            <a:pPr eaLnBrk="1" hangingPunct="1">
              <a:spcBef>
                <a:spcPct val="0"/>
              </a:spcBef>
            </a:pPr>
            <a:endParaRPr lang="en-GB" altLang="en-US" sz="2400" dirty="0">
              <a:latin typeface="Times New Roman" panose="02020603050405020304" pitchFamily="18" charset="0"/>
            </a:endParaRPr>
          </a:p>
        </p:txBody>
      </p:sp>
      <p:pic>
        <p:nvPicPr>
          <p:cNvPr id="6" name="Picture 5" descr="A few words on a screen&#10;&#10;Description automatically generated with medium confidence">
            <a:extLst>
              <a:ext uri="{FF2B5EF4-FFF2-40B4-BE49-F238E27FC236}">
                <a16:creationId xmlns:a16="http://schemas.microsoft.com/office/drawing/2014/main" id="{A5BB4A50-F401-2C40-C31E-856D9A87D0AE}"/>
              </a:ext>
            </a:extLst>
          </p:cNvPr>
          <p:cNvPicPr>
            <a:picLocks noChangeAspect="1"/>
          </p:cNvPicPr>
          <p:nvPr/>
        </p:nvPicPr>
        <p:blipFill rotWithShape="1">
          <a:blip r:embed="rId6">
            <a:extLst>
              <a:ext uri="{28A0092B-C50C-407E-A947-70E740481C1C}">
                <a14:useLocalDpi xmlns:a14="http://schemas.microsoft.com/office/drawing/2010/main" val="0"/>
              </a:ext>
            </a:extLst>
          </a:blip>
          <a:srcRect l="3352" t="3665" r="4765" b="9439"/>
          <a:stretch/>
        </p:blipFill>
        <p:spPr>
          <a:xfrm>
            <a:off x="10090113" y="2789761"/>
            <a:ext cx="7543356" cy="4125107"/>
          </a:xfrm>
          <a:prstGeom prst="rect">
            <a:avLst/>
          </a:prstGeom>
        </p:spPr>
      </p:pic>
    </p:spTree>
    <p:custDataLst>
      <p:tags r:id="rId1"/>
    </p:custDataLst>
    <p:extLst>
      <p:ext uri="{BB962C8B-B14F-4D97-AF65-F5344CB8AC3E}">
        <p14:creationId xmlns:p14="http://schemas.microsoft.com/office/powerpoint/2010/main" val="2708011589"/>
      </p:ext>
    </p:extLst>
  </p:cSld>
  <p:clrMapOvr>
    <a:masterClrMapping/>
  </p:clrMapOvr>
  <mc:AlternateContent xmlns:mc="http://schemas.openxmlformats.org/markup-compatibility/2006" xmlns:p14="http://schemas.microsoft.com/office/powerpoint/2010/main">
    <mc:Choice Requires="p14">
      <p:transition spd="slow" p14:dur="2000" advTm="4178"/>
    </mc:Choice>
    <mc:Fallback xmlns="">
      <p:transition spd="slow" advTm="4178"/>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E36C5E8-7833-4D29-9BDB-01B442FB5D13}"/>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E9B31423-0C4D-A948-A108-39DB992ED483}"/>
              </a:ext>
            </a:extLst>
          </p:cNvPr>
          <p:cNvSpPr txBox="1"/>
          <p:nvPr/>
        </p:nvSpPr>
        <p:spPr>
          <a:xfrm>
            <a:off x="1143000" y="1736548"/>
            <a:ext cx="13847674" cy="859210"/>
          </a:xfrm>
          <a:prstGeom prst="rect">
            <a:avLst/>
          </a:prstGeom>
        </p:spPr>
        <p:txBody>
          <a:bodyPr wrap="square" lIns="0" tIns="0" rIns="0" bIns="0" rtlCol="0" anchor="t">
            <a:spAutoFit/>
          </a:bodyPr>
          <a:lstStyle/>
          <a:p>
            <a:pPr>
              <a:lnSpc>
                <a:spcPts val="6719"/>
              </a:lnSpc>
            </a:pPr>
            <a:r>
              <a:rPr lang="en-US" sz="5599" b="1" i="1" dirty="0">
                <a:solidFill>
                  <a:srgbClr val="46245A"/>
                </a:solidFill>
                <a:latin typeface="DM Sans" pitchFamily="2" charset="0"/>
              </a:rPr>
              <a:t>How did we do in 2004? </a:t>
            </a:r>
            <a:endParaRPr lang="en-US" sz="5599" i="1" dirty="0">
              <a:solidFill>
                <a:srgbClr val="46245A"/>
              </a:solidFill>
              <a:latin typeface="DM Sans" pitchFamily="2" charset="0"/>
            </a:endParaRPr>
          </a:p>
        </p:txBody>
      </p:sp>
      <p:sp>
        <p:nvSpPr>
          <p:cNvPr id="10" name="Freeform 13">
            <a:extLst>
              <a:ext uri="{FF2B5EF4-FFF2-40B4-BE49-F238E27FC236}">
                <a16:creationId xmlns:a16="http://schemas.microsoft.com/office/drawing/2014/main" id="{CE574C0C-2B76-5B6A-90BA-574BAB52244E}"/>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 Box 2">
            <a:extLst>
              <a:ext uri="{FF2B5EF4-FFF2-40B4-BE49-F238E27FC236}">
                <a16:creationId xmlns:a16="http://schemas.microsoft.com/office/drawing/2014/main" id="{E1CB9317-9D48-E9FA-BDA8-B43059EC16F8}"/>
              </a:ext>
            </a:extLst>
          </p:cNvPr>
          <p:cNvSpPr txBox="1">
            <a:spLocks noChangeArrowheads="1"/>
          </p:cNvSpPr>
          <p:nvPr/>
        </p:nvSpPr>
        <p:spPr bwMode="auto">
          <a:xfrm>
            <a:off x="9114020" y="3493835"/>
            <a:ext cx="8496300" cy="4881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a:spcBef>
                <a:spcPct val="30000"/>
              </a:spcBef>
              <a:buClr>
                <a:srgbClr val="F39FD1"/>
              </a:buClr>
            </a:pPr>
            <a:endParaRPr lang="en-GB" sz="2800" dirty="0">
              <a:solidFill>
                <a:srgbClr val="1B1B1B"/>
              </a:solidFill>
              <a:latin typeface="Calibri" panose="020F0502020204030204" pitchFamily="34" charset="0"/>
            </a:endParaRPr>
          </a:p>
          <a:p>
            <a:pPr>
              <a:spcBef>
                <a:spcPct val="30000"/>
              </a:spcBef>
              <a:buClr>
                <a:srgbClr val="F39FD1"/>
              </a:buClr>
            </a:pPr>
            <a:r>
              <a:rPr lang="en-GB" sz="2800" dirty="0">
                <a:solidFill>
                  <a:srgbClr val="1B1B1B"/>
                </a:solidFill>
                <a:latin typeface="Calibri" panose="020F0502020204030204" pitchFamily="34" charset="0"/>
              </a:rPr>
              <a:t>Observed changes in temperature and precipitation have generally been consistent with the changes projected by earlier models. </a:t>
            </a:r>
          </a:p>
          <a:p>
            <a:pPr>
              <a:spcBef>
                <a:spcPct val="30000"/>
              </a:spcBef>
              <a:buClr>
                <a:srgbClr val="F39FD1"/>
              </a:buClr>
            </a:pPr>
            <a:endParaRPr lang="en-GB" sz="2800" dirty="0">
              <a:solidFill>
                <a:srgbClr val="1B1B1B"/>
              </a:solidFill>
              <a:latin typeface="Calibri" panose="020F0502020204030204" pitchFamily="34" charset="0"/>
            </a:endParaRPr>
          </a:p>
          <a:p>
            <a:pPr>
              <a:spcBef>
                <a:spcPct val="30000"/>
              </a:spcBef>
              <a:buClr>
                <a:srgbClr val="F39FD1"/>
              </a:buClr>
            </a:pPr>
            <a:r>
              <a:rPr lang="en-GB" sz="2800" dirty="0">
                <a:solidFill>
                  <a:srgbClr val="1B1B1B"/>
                </a:solidFill>
                <a:latin typeface="Calibri" panose="020F0502020204030204" pitchFamily="34" charset="0"/>
              </a:rPr>
              <a:t>The accurate projections of future climate and hindcasting of past climate makes us confident that models can reliably project changes in the climate.</a:t>
            </a:r>
            <a:endParaRPr lang="en-GB" sz="2800" dirty="0"/>
          </a:p>
          <a:p>
            <a:pPr>
              <a:lnSpc>
                <a:spcPct val="160000"/>
              </a:lnSpc>
              <a:spcBef>
                <a:spcPct val="30000"/>
              </a:spcBef>
              <a:buClr>
                <a:srgbClr val="F39FD1"/>
              </a:buClr>
            </a:pPr>
            <a:endParaRPr lang="en-GB" altLang="en-US" sz="2000" dirty="0">
              <a:latin typeface="+mn-lt"/>
            </a:endParaRPr>
          </a:p>
          <a:p>
            <a:pPr eaLnBrk="1" hangingPunct="1">
              <a:spcBef>
                <a:spcPct val="0"/>
              </a:spcBef>
            </a:pPr>
            <a:endParaRPr lang="en-GB" altLang="en-US" sz="2400" dirty="0">
              <a:latin typeface="Times New Roman" panose="02020603050405020304" pitchFamily="18" charset="0"/>
            </a:endParaRPr>
          </a:p>
        </p:txBody>
      </p:sp>
      <p:pic>
        <p:nvPicPr>
          <p:cNvPr id="4" name="Picture 3" descr="A graph showing the average temperature&#10;&#10;Description automatically generated with medium confidence">
            <a:extLst>
              <a:ext uri="{FF2B5EF4-FFF2-40B4-BE49-F238E27FC236}">
                <a16:creationId xmlns:a16="http://schemas.microsoft.com/office/drawing/2014/main" id="{31E2ED28-2319-B7CD-40E6-19727F207DF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3020" y="3108941"/>
            <a:ext cx="7772400" cy="5266230"/>
          </a:xfrm>
          <a:prstGeom prst="rect">
            <a:avLst/>
          </a:prstGeom>
        </p:spPr>
      </p:pic>
    </p:spTree>
    <p:extLst>
      <p:ext uri="{BB962C8B-B14F-4D97-AF65-F5344CB8AC3E}">
        <p14:creationId xmlns:p14="http://schemas.microsoft.com/office/powerpoint/2010/main" val="4350058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75B4152-F415-8E3B-6ADF-DD8618C777D5}"/>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FB1128FF-E65A-E17D-9CDF-E369ADE02805}"/>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3" name="TextBox 2">
            <a:extLst>
              <a:ext uri="{FF2B5EF4-FFF2-40B4-BE49-F238E27FC236}">
                <a16:creationId xmlns:a16="http://schemas.microsoft.com/office/drawing/2014/main" id="{6F50DC2E-E2BF-2CCD-E45A-DC67A60EB452}"/>
              </a:ext>
            </a:extLst>
          </p:cNvPr>
          <p:cNvSpPr txBox="1"/>
          <p:nvPr/>
        </p:nvSpPr>
        <p:spPr>
          <a:xfrm>
            <a:off x="1038070" y="2337466"/>
            <a:ext cx="9239251" cy="6832640"/>
          </a:xfrm>
          <a:prstGeom prst="rect">
            <a:avLst/>
          </a:prstGeom>
          <a:noFill/>
        </p:spPr>
        <p:txBody>
          <a:bodyPr wrap="square">
            <a:spAutoFit/>
          </a:bodyPr>
          <a:lstStyle/>
          <a:p>
            <a:pPr eaLnBrk="1" hangingPunct="1">
              <a:spcBef>
                <a:spcPct val="0"/>
              </a:spcBef>
            </a:pPr>
            <a:endParaRPr lang="en-US" altLang="en-US" sz="2400" dirty="0">
              <a:cs typeface="Times New Roman" panose="02020603050405020304" pitchFamily="18" charset="0"/>
            </a:endParaRPr>
          </a:p>
          <a:p>
            <a:pPr eaLnBrk="1" hangingPunct="1">
              <a:spcBef>
                <a:spcPct val="50000"/>
              </a:spcBef>
            </a:pPr>
            <a:r>
              <a:rPr lang="en-US" altLang="en-US" sz="2400" dirty="0">
                <a:cs typeface="Times New Roman" panose="02020603050405020304" pitchFamily="18" charset="0"/>
              </a:rPr>
              <a:t>How would such a model simulation be carried out? The following protocol is typical.</a:t>
            </a:r>
          </a:p>
          <a:p>
            <a:pPr eaLnBrk="1" hangingPunct="1">
              <a:spcBef>
                <a:spcPct val="50000"/>
              </a:spcBef>
            </a:pPr>
            <a:r>
              <a:rPr lang="en-US" altLang="en-US" sz="2400" dirty="0">
                <a:cs typeface="Times New Roman" panose="02020603050405020304" pitchFamily="18" charset="0"/>
              </a:rPr>
              <a:t>1. A GCM model is run for many decades with no external forcing</a:t>
            </a:r>
          </a:p>
          <a:p>
            <a:pPr eaLnBrk="1" hangingPunct="1">
              <a:spcBef>
                <a:spcPct val="50000"/>
              </a:spcBef>
            </a:pPr>
            <a:r>
              <a:rPr lang="en-US" altLang="en-US" sz="2400" dirty="0">
                <a:cs typeface="Times New Roman" panose="02020603050405020304" pitchFamily="18" charset="0"/>
              </a:rPr>
              <a:t>2. The statistics of the run (mean climate, annual cycles and variability on a range of time scales) are then compared with observation to assess performance.</a:t>
            </a:r>
          </a:p>
          <a:p>
            <a:pPr eaLnBrk="1" hangingPunct="1">
              <a:spcBef>
                <a:spcPct val="50000"/>
              </a:spcBef>
            </a:pPr>
            <a:endParaRPr lang="en-US" altLang="en-US" sz="2400" dirty="0">
              <a:cs typeface="Times New Roman" panose="02020603050405020304" pitchFamily="18" charset="0"/>
            </a:endParaRPr>
          </a:p>
          <a:p>
            <a:pPr eaLnBrk="1" hangingPunct="1">
              <a:spcBef>
                <a:spcPct val="50000"/>
              </a:spcBef>
            </a:pPr>
            <a:endParaRPr lang="en-US" altLang="en-US" sz="2400" dirty="0">
              <a:cs typeface="Times New Roman" panose="02020603050405020304" pitchFamily="18" charset="0"/>
            </a:endParaRPr>
          </a:p>
          <a:p>
            <a:pPr eaLnBrk="1" hangingPunct="1">
              <a:spcBef>
                <a:spcPct val="50000"/>
              </a:spcBef>
            </a:pPr>
            <a:r>
              <a:rPr lang="en-US" altLang="en-US" sz="2400" dirty="0">
                <a:cs typeface="Times New Roman" panose="02020603050405020304" pitchFamily="18" charset="0"/>
              </a:rPr>
              <a:t>3. The model is then re-run with changes in forcing (such as greenhouse radiative forcing).</a:t>
            </a:r>
          </a:p>
          <a:p>
            <a:pPr eaLnBrk="1" hangingPunct="1">
              <a:spcBef>
                <a:spcPct val="50000"/>
              </a:spcBef>
            </a:pPr>
            <a:r>
              <a:rPr lang="en-US" altLang="en-US" sz="2400" dirty="0">
                <a:cs typeface="Times New Roman" panose="02020603050405020304" pitchFamily="18" charset="0"/>
              </a:rPr>
              <a:t>4. The difference in the two climates provides an estimate of the consequent climate change arising form that forcing factor.</a:t>
            </a:r>
          </a:p>
          <a:p>
            <a:pPr eaLnBrk="1" hangingPunct="1">
              <a:spcBef>
                <a:spcPct val="0"/>
              </a:spcBef>
            </a:pPr>
            <a:endParaRPr lang="en-US" altLang="en-US" sz="1800" dirty="0">
              <a:latin typeface="Verdana" panose="020B0604030504040204" pitchFamily="34" charset="0"/>
              <a:cs typeface="Times New Roman" panose="02020603050405020304" pitchFamily="18" charset="0"/>
            </a:endParaRPr>
          </a:p>
        </p:txBody>
      </p:sp>
      <p:pic>
        <p:nvPicPr>
          <p:cNvPr id="2" name="Picture 13" descr="TS-23_FINAL">
            <a:extLst>
              <a:ext uri="{FF2B5EF4-FFF2-40B4-BE49-F238E27FC236}">
                <a16:creationId xmlns:a16="http://schemas.microsoft.com/office/drawing/2014/main" id="{D68B39A2-52F7-87DD-73B9-A0F8EDC7473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2616" b="51137"/>
          <a:stretch/>
        </p:blipFill>
        <p:spPr bwMode="auto">
          <a:xfrm>
            <a:off x="10692500" y="6313075"/>
            <a:ext cx="5127756" cy="3685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13" descr="TS-23_FINAL">
            <a:extLst>
              <a:ext uri="{FF2B5EF4-FFF2-40B4-BE49-F238E27FC236}">
                <a16:creationId xmlns:a16="http://schemas.microsoft.com/office/drawing/2014/main" id="{F10D3650-5854-94F5-3F4F-D0A3062122F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49300"/>
          <a:stretch/>
        </p:blipFill>
        <p:spPr bwMode="auto">
          <a:xfrm>
            <a:off x="10692500" y="2683718"/>
            <a:ext cx="5127756" cy="3629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641A3547-C92B-4255-1E80-37AE404220DB}"/>
              </a:ext>
            </a:extLst>
          </p:cNvPr>
          <p:cNvSpPr txBox="1"/>
          <p:nvPr/>
        </p:nvSpPr>
        <p:spPr>
          <a:xfrm>
            <a:off x="1038069" y="1234487"/>
            <a:ext cx="14649450" cy="859210"/>
          </a:xfrm>
          <a:prstGeom prst="rect">
            <a:avLst/>
          </a:prstGeom>
        </p:spPr>
        <p:txBody>
          <a:bodyPr wrap="square" lIns="0" tIns="0" rIns="0" bIns="0" rtlCol="0" anchor="t">
            <a:spAutoFit/>
          </a:bodyPr>
          <a:lstStyle/>
          <a:p>
            <a:pPr>
              <a:lnSpc>
                <a:spcPts val="6719"/>
              </a:lnSpc>
            </a:pPr>
            <a:r>
              <a:rPr lang="en-US" sz="5599" b="1" i="1" dirty="0">
                <a:solidFill>
                  <a:srgbClr val="46245A"/>
                </a:solidFill>
                <a:latin typeface="DM Sans" pitchFamily="2" charset="0"/>
              </a:rPr>
              <a:t>Modelling Anthropogenic Impacts </a:t>
            </a:r>
            <a:endParaRPr lang="en-US" sz="5599" i="1" dirty="0">
              <a:solidFill>
                <a:srgbClr val="46245A"/>
              </a:solidFill>
              <a:latin typeface="DM Sans" pitchFamily="2" charset="0"/>
            </a:endParaRPr>
          </a:p>
        </p:txBody>
      </p:sp>
    </p:spTree>
    <p:extLst>
      <p:ext uri="{BB962C8B-B14F-4D97-AF65-F5344CB8AC3E}">
        <p14:creationId xmlns:p14="http://schemas.microsoft.com/office/powerpoint/2010/main" val="2849130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B6DF534-F58F-81F0-A6AD-966E6F21BFEF}"/>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5A24E54B-14C7-02C7-D054-B776BB95E8FB}"/>
              </a:ext>
            </a:extLst>
          </p:cNvPr>
          <p:cNvSpPr txBox="1"/>
          <p:nvPr/>
        </p:nvSpPr>
        <p:spPr>
          <a:xfrm>
            <a:off x="789581" y="1046718"/>
            <a:ext cx="10318162" cy="864276"/>
          </a:xfrm>
          <a:prstGeom prst="rect">
            <a:avLst/>
          </a:prstGeom>
        </p:spPr>
        <p:txBody>
          <a:bodyPr wrap="square" lIns="0" tIns="0" rIns="0" bIns="0" rtlCol="0" anchor="t">
            <a:spAutoFit/>
          </a:bodyPr>
          <a:lstStyle/>
          <a:p>
            <a:pPr>
              <a:lnSpc>
                <a:spcPts val="6719"/>
              </a:lnSpc>
            </a:pPr>
            <a:r>
              <a:rPr lang="en-US" sz="5600" b="1" i="1" dirty="0">
                <a:solidFill>
                  <a:srgbClr val="46245A"/>
                </a:solidFill>
                <a:latin typeface="DM Sans" pitchFamily="2" charset="0"/>
              </a:rPr>
              <a:t>Factors to consider….</a:t>
            </a:r>
            <a:endParaRPr lang="en-US" sz="5600" i="1" dirty="0">
              <a:solidFill>
                <a:srgbClr val="46245A"/>
              </a:solidFill>
              <a:latin typeface="DM Sans" pitchFamily="2" charset="0"/>
            </a:endParaRPr>
          </a:p>
        </p:txBody>
      </p:sp>
      <p:sp>
        <p:nvSpPr>
          <p:cNvPr id="3" name="Text Box 2">
            <a:extLst>
              <a:ext uri="{FF2B5EF4-FFF2-40B4-BE49-F238E27FC236}">
                <a16:creationId xmlns:a16="http://schemas.microsoft.com/office/drawing/2014/main" id="{76F649D5-5E9F-EB8D-9681-A0C071D4EA8D}"/>
              </a:ext>
            </a:extLst>
          </p:cNvPr>
          <p:cNvSpPr txBox="1">
            <a:spLocks noChangeArrowheads="1"/>
          </p:cNvSpPr>
          <p:nvPr/>
        </p:nvSpPr>
        <p:spPr bwMode="auto">
          <a:xfrm>
            <a:off x="789581" y="2237496"/>
            <a:ext cx="10498015" cy="7786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eaLnBrk="1" hangingPunct="1">
              <a:spcBef>
                <a:spcPct val="0"/>
              </a:spcBef>
            </a:pPr>
            <a:r>
              <a:rPr lang="en-GB" altLang="en-US" sz="2800" dirty="0">
                <a:latin typeface="Calibri" panose="020F0502020204030204" pitchFamily="34" charset="0"/>
                <a:cs typeface="Calibri" panose="020F0502020204030204" pitchFamily="34" charset="0"/>
              </a:rPr>
              <a:t>Short term changes are not reproduced but the results look encouraging. </a:t>
            </a:r>
            <a:endParaRPr lang="en-US" altLang="en-US" sz="2800" dirty="0">
              <a:latin typeface="Calibri" panose="020F0502020204030204" pitchFamily="34" charset="0"/>
              <a:cs typeface="Calibri" panose="020F0502020204030204" pitchFamily="34" charset="0"/>
            </a:endParaRPr>
          </a:p>
          <a:p>
            <a:pPr eaLnBrk="1" hangingPunct="1">
              <a:spcBef>
                <a:spcPct val="0"/>
              </a:spcBef>
            </a:pPr>
            <a:endParaRPr lang="en-US" altLang="en-US" sz="2800" dirty="0">
              <a:latin typeface="Calibri" panose="020F0502020204030204" pitchFamily="34" charset="0"/>
              <a:cs typeface="Calibri" panose="020F0502020204030204" pitchFamily="34" charset="0"/>
            </a:endParaRPr>
          </a:p>
          <a:p>
            <a:pPr eaLnBrk="1" hangingPunct="1">
              <a:spcBef>
                <a:spcPct val="0"/>
              </a:spcBef>
            </a:pPr>
            <a:r>
              <a:rPr lang="en-GB" altLang="en-US" sz="2800" dirty="0">
                <a:latin typeface="Calibri" panose="020F0502020204030204" pitchFamily="34" charset="0"/>
                <a:cs typeface="Calibri" panose="020F0502020204030204" pitchFamily="34" charset="0"/>
              </a:rPr>
              <a:t>However, problems remain</a:t>
            </a:r>
            <a:r>
              <a:rPr lang="en-US" altLang="en-US" sz="2800" dirty="0">
                <a:latin typeface="Calibri" panose="020F0502020204030204" pitchFamily="34" charset="0"/>
                <a:cs typeface="Calibri" panose="020F0502020204030204" pitchFamily="34" charset="0"/>
              </a:rPr>
              <a:t> –</a:t>
            </a:r>
          </a:p>
          <a:p>
            <a:pPr eaLnBrk="1" hangingPunct="1">
              <a:spcBef>
                <a:spcPct val="0"/>
              </a:spcBef>
            </a:pPr>
            <a:endParaRPr lang="en-US" altLang="en-US" sz="2800" dirty="0">
              <a:latin typeface="Calibri" panose="020F0502020204030204" pitchFamily="34" charset="0"/>
              <a:cs typeface="Calibri" panose="020F0502020204030204" pitchFamily="34" charset="0"/>
            </a:endParaRPr>
          </a:p>
          <a:p>
            <a:pPr marL="457200" indent="-457200" eaLnBrk="1" hangingPunct="1">
              <a:spcBef>
                <a:spcPct val="0"/>
              </a:spcBef>
              <a:buFont typeface="Arial" panose="020B0604020202020204" pitchFamily="34" charset="0"/>
              <a:buChar char="•"/>
            </a:pPr>
            <a:r>
              <a:rPr lang="en-GB" altLang="en-US" sz="2800" dirty="0">
                <a:latin typeface="Calibri" panose="020F0502020204030204" pitchFamily="34" charset="0"/>
                <a:cs typeface="Calibri" panose="020F0502020204030204" pitchFamily="34" charset="0"/>
              </a:rPr>
              <a:t>Is the temperature record reliable?</a:t>
            </a:r>
            <a:endParaRPr lang="en-US" altLang="en-US" sz="2800" dirty="0">
              <a:latin typeface="Calibri" panose="020F0502020204030204" pitchFamily="34" charset="0"/>
              <a:cs typeface="Calibri" panose="020F0502020204030204" pitchFamily="34" charset="0"/>
            </a:endParaRPr>
          </a:p>
          <a:p>
            <a:pPr eaLnBrk="1" hangingPunct="1">
              <a:spcBef>
                <a:spcPct val="0"/>
              </a:spcBef>
            </a:pPr>
            <a:endParaRPr lang="en-GB" altLang="en-US" sz="2800" dirty="0">
              <a:latin typeface="Calibri" panose="020F0502020204030204" pitchFamily="34" charset="0"/>
              <a:cs typeface="Calibri" panose="020F0502020204030204" pitchFamily="34" charset="0"/>
            </a:endParaRPr>
          </a:p>
          <a:p>
            <a:pPr marL="457200" indent="-457200" eaLnBrk="1" hangingPunct="1">
              <a:spcBef>
                <a:spcPct val="0"/>
              </a:spcBef>
              <a:buFont typeface="Arial" panose="020B0604020202020204" pitchFamily="34" charset="0"/>
              <a:buChar char="•"/>
            </a:pPr>
            <a:r>
              <a:rPr lang="en-US" altLang="en-US" sz="2800" dirty="0">
                <a:latin typeface="Calibri" panose="020F0502020204030204" pitchFamily="34" charset="0"/>
                <a:cs typeface="Calibri" panose="020F0502020204030204" pitchFamily="34" charset="0"/>
              </a:rPr>
              <a:t> </a:t>
            </a:r>
            <a:r>
              <a:rPr lang="en-GB" altLang="en-US" sz="2800" dirty="0">
                <a:latin typeface="Calibri" panose="020F0502020204030204" pitchFamily="34" charset="0"/>
                <a:cs typeface="Calibri" panose="020F0502020204030204" pitchFamily="34" charset="0"/>
              </a:rPr>
              <a:t>Cause and effect not finally established</a:t>
            </a:r>
            <a:endParaRPr lang="en-US" altLang="en-US" sz="2800" dirty="0">
              <a:latin typeface="Calibri" panose="020F0502020204030204" pitchFamily="34" charset="0"/>
              <a:cs typeface="Calibri" panose="020F0502020204030204" pitchFamily="34" charset="0"/>
            </a:endParaRPr>
          </a:p>
          <a:p>
            <a:pPr marL="457200" indent="-457200" eaLnBrk="1" hangingPunct="1">
              <a:spcBef>
                <a:spcPct val="0"/>
              </a:spcBef>
              <a:buFont typeface="Arial" panose="020B0604020202020204" pitchFamily="34" charset="0"/>
              <a:buChar char="•"/>
            </a:pPr>
            <a:endParaRPr lang="en-GB" altLang="en-US" sz="2800" dirty="0">
              <a:latin typeface="Calibri" panose="020F0502020204030204" pitchFamily="34" charset="0"/>
              <a:cs typeface="Calibri" panose="020F0502020204030204" pitchFamily="34" charset="0"/>
            </a:endParaRPr>
          </a:p>
          <a:p>
            <a:pPr marL="457200" indent="-457200" eaLnBrk="1" hangingPunct="1">
              <a:spcBef>
                <a:spcPct val="0"/>
              </a:spcBef>
              <a:buFont typeface="Arial" panose="020B0604020202020204" pitchFamily="34" charset="0"/>
              <a:buChar char="•"/>
            </a:pPr>
            <a:r>
              <a:rPr lang="en-US" altLang="en-US" sz="2800" dirty="0">
                <a:latin typeface="Calibri" panose="020F0502020204030204" pitchFamily="34" charset="0"/>
                <a:cs typeface="Calibri" panose="020F0502020204030204" pitchFamily="34" charset="0"/>
              </a:rPr>
              <a:t> </a:t>
            </a:r>
            <a:r>
              <a:rPr lang="en-GB" altLang="en-US" sz="2800" dirty="0">
                <a:latin typeface="Calibri" panose="020F0502020204030204" pitchFamily="34" charset="0"/>
                <a:cs typeface="Calibri" panose="020F0502020204030204" pitchFamily="34" charset="0"/>
              </a:rPr>
              <a:t>Large uncertainties in radiative forcing and the effect of aerosols</a:t>
            </a:r>
          </a:p>
          <a:p>
            <a:pPr marL="457200" indent="-457200" eaLnBrk="1" hangingPunct="1">
              <a:spcBef>
                <a:spcPct val="0"/>
              </a:spcBef>
              <a:buFont typeface="Arial" panose="020B0604020202020204" pitchFamily="34" charset="0"/>
              <a:buChar char="•"/>
            </a:pPr>
            <a:endParaRPr lang="en-GB" altLang="en-US" sz="2800" dirty="0">
              <a:latin typeface="Calibri" panose="020F0502020204030204" pitchFamily="34" charset="0"/>
              <a:cs typeface="Calibri" panose="020F0502020204030204" pitchFamily="34" charset="0"/>
            </a:endParaRPr>
          </a:p>
          <a:p>
            <a:pPr marL="457200" indent="-457200" eaLnBrk="1" hangingPunct="1">
              <a:spcBef>
                <a:spcPct val="0"/>
              </a:spcBef>
              <a:buFont typeface="Arial" panose="020B0604020202020204" pitchFamily="34" charset="0"/>
              <a:buChar char="•"/>
            </a:pPr>
            <a:r>
              <a:rPr lang="en-US" altLang="en-US" sz="2800" dirty="0">
                <a:latin typeface="Calibri" panose="020F0502020204030204" pitchFamily="34" charset="0"/>
                <a:cs typeface="Calibri" panose="020F0502020204030204" pitchFamily="34" charset="0"/>
              </a:rPr>
              <a:t> </a:t>
            </a:r>
            <a:r>
              <a:rPr lang="en-GB" altLang="en-US" sz="2800" dirty="0">
                <a:latin typeface="Calibri" panose="020F0502020204030204" pitchFamily="34" charset="0"/>
                <a:cs typeface="Calibri" panose="020F0502020204030204" pitchFamily="34" charset="0"/>
              </a:rPr>
              <a:t>Discrepancies remain between predicted and observed regional pattern of change</a:t>
            </a:r>
          </a:p>
          <a:p>
            <a:pPr marL="457200" indent="-457200" eaLnBrk="1" hangingPunct="1">
              <a:spcBef>
                <a:spcPct val="0"/>
              </a:spcBef>
              <a:buFont typeface="Arial" panose="020B0604020202020204" pitchFamily="34" charset="0"/>
              <a:buChar char="•"/>
            </a:pPr>
            <a:endParaRPr lang="en-GB" altLang="en-US" sz="2800" dirty="0">
              <a:latin typeface="Calibri" panose="020F0502020204030204" pitchFamily="34" charset="0"/>
              <a:cs typeface="Calibri" panose="020F0502020204030204" pitchFamily="34" charset="0"/>
            </a:endParaRPr>
          </a:p>
          <a:p>
            <a:pPr marL="457200" indent="-457200" eaLnBrk="1" hangingPunct="1">
              <a:spcBef>
                <a:spcPct val="0"/>
              </a:spcBef>
              <a:buFont typeface="Arial" panose="020B0604020202020204" pitchFamily="34" charset="0"/>
              <a:buChar char="•"/>
            </a:pPr>
            <a:r>
              <a:rPr lang="en-GB" altLang="en-US" sz="2800" dirty="0">
                <a:latin typeface="Calibri" panose="020F0502020204030204" pitchFamily="34" charset="0"/>
                <a:cs typeface="Calibri" panose="020F0502020204030204" pitchFamily="34" charset="0"/>
              </a:rPr>
              <a:t> Not all factors are represented in GCMs – e.g. nitrogen cycle</a:t>
            </a:r>
          </a:p>
          <a:p>
            <a:pPr marL="457200" indent="-457200" eaLnBrk="1" hangingPunct="1">
              <a:spcBef>
                <a:spcPct val="0"/>
              </a:spcBef>
              <a:buFont typeface="Arial" panose="020B0604020202020204" pitchFamily="34" charset="0"/>
              <a:buChar char="•"/>
            </a:pPr>
            <a:endParaRPr lang="en-GB" altLang="en-US" sz="2800" dirty="0">
              <a:latin typeface="Calibri" panose="020F0502020204030204" pitchFamily="34" charset="0"/>
              <a:cs typeface="Calibri" panose="020F0502020204030204" pitchFamily="34" charset="0"/>
            </a:endParaRPr>
          </a:p>
          <a:p>
            <a:pPr marL="457200" indent="-457200" eaLnBrk="1" hangingPunct="1">
              <a:spcBef>
                <a:spcPct val="0"/>
              </a:spcBef>
              <a:buFont typeface="Arial" panose="020B0604020202020204" pitchFamily="34" charset="0"/>
              <a:buChar char="•"/>
            </a:pPr>
            <a:r>
              <a:rPr lang="en-GB" altLang="en-US" sz="2800" dirty="0">
                <a:latin typeface="Calibri" panose="020F0502020204030204" pitchFamily="34" charset="0"/>
                <a:cs typeface="Calibri" panose="020F0502020204030204" pitchFamily="34" charset="0"/>
              </a:rPr>
              <a:t>As complexity is increased so is computing power</a:t>
            </a:r>
          </a:p>
          <a:p>
            <a:pPr eaLnBrk="1" hangingPunct="1">
              <a:spcBef>
                <a:spcPct val="0"/>
              </a:spcBef>
              <a:buFontTx/>
              <a:buChar char="•"/>
            </a:pPr>
            <a:endParaRPr lang="en-GB" altLang="en-US" sz="2400" dirty="0">
              <a:latin typeface="Times New Roman" panose="02020603050405020304" pitchFamily="18" charset="0"/>
            </a:endParaRPr>
          </a:p>
        </p:txBody>
      </p:sp>
      <p:pic>
        <p:nvPicPr>
          <p:cNvPr id="6" name="Picture 5" descr="A blue and white grid sphere with a map of the earth&#10;&#10;AI-generated content may be incorrect.">
            <a:extLst>
              <a:ext uri="{FF2B5EF4-FFF2-40B4-BE49-F238E27FC236}">
                <a16:creationId xmlns:a16="http://schemas.microsoft.com/office/drawing/2014/main" id="{638B22FA-294F-85F1-2AFB-931BC6AD2CE5}"/>
              </a:ext>
            </a:extLst>
          </p:cNvPr>
          <p:cNvPicPr>
            <a:picLocks noChangeAspect="1"/>
          </p:cNvPicPr>
          <p:nvPr/>
        </p:nvPicPr>
        <p:blipFill>
          <a:blip r:embed="rId4">
            <a:extLst>
              <a:ext uri="{28A0092B-C50C-407E-A947-70E740481C1C}">
                <a14:useLocalDpi xmlns:a14="http://schemas.microsoft.com/office/drawing/2010/main" val="0"/>
              </a:ext>
            </a:extLst>
          </a:blip>
          <a:srcRect l="10672" t="1" r="41029" b="1"/>
          <a:stretch>
            <a:fillRect/>
          </a:stretch>
        </p:blipFill>
        <p:spPr>
          <a:xfrm>
            <a:off x="11641015" y="-20944"/>
            <a:ext cx="6646985" cy="10286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8" name="Freeform 13">
            <a:extLst>
              <a:ext uri="{FF2B5EF4-FFF2-40B4-BE49-F238E27FC236}">
                <a16:creationId xmlns:a16="http://schemas.microsoft.com/office/drawing/2014/main" id="{51913F26-B581-A7C7-23F0-E132EE9EC84D}"/>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Tree>
    <p:extLst>
      <p:ext uri="{BB962C8B-B14F-4D97-AF65-F5344CB8AC3E}">
        <p14:creationId xmlns:p14="http://schemas.microsoft.com/office/powerpoint/2010/main" val="27148415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157CD56-D91A-3A22-9120-30ABEB1860FD}"/>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5E8F5CEF-007D-F33D-2438-FE79329DCAFE}"/>
              </a:ext>
            </a:extLst>
          </p:cNvPr>
          <p:cNvSpPr txBox="1"/>
          <p:nvPr/>
        </p:nvSpPr>
        <p:spPr>
          <a:xfrm>
            <a:off x="789581" y="1234487"/>
            <a:ext cx="10318162" cy="864276"/>
          </a:xfrm>
          <a:prstGeom prst="rect">
            <a:avLst/>
          </a:prstGeom>
        </p:spPr>
        <p:txBody>
          <a:bodyPr wrap="square" lIns="0" tIns="0" rIns="0" bIns="0" rtlCol="0" anchor="t">
            <a:spAutoFit/>
          </a:bodyPr>
          <a:lstStyle/>
          <a:p>
            <a:pPr>
              <a:lnSpc>
                <a:spcPts val="6719"/>
              </a:lnSpc>
            </a:pPr>
            <a:r>
              <a:rPr lang="en-US" sz="5600" b="1" i="1" dirty="0">
                <a:solidFill>
                  <a:srgbClr val="46245A"/>
                </a:solidFill>
                <a:latin typeface="DM Sans" pitchFamily="2" charset="0"/>
              </a:rPr>
              <a:t>GCMs into the Future</a:t>
            </a:r>
            <a:endParaRPr lang="en-US" sz="5600" i="1" dirty="0">
              <a:solidFill>
                <a:srgbClr val="46245A"/>
              </a:solidFill>
              <a:latin typeface="DM Sans" pitchFamily="2" charset="0"/>
            </a:endParaRPr>
          </a:p>
        </p:txBody>
      </p:sp>
      <p:sp>
        <p:nvSpPr>
          <p:cNvPr id="8" name="Freeform 13">
            <a:extLst>
              <a:ext uri="{FF2B5EF4-FFF2-40B4-BE49-F238E27FC236}">
                <a16:creationId xmlns:a16="http://schemas.microsoft.com/office/drawing/2014/main" id="{D105F37B-294A-3CF3-4060-110399D9AEE4}"/>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pic>
        <p:nvPicPr>
          <p:cNvPr id="11" name="Picture 10" descr="A diagram of a model&#10;&#10;AI-generated content may be incorrect.">
            <a:extLst>
              <a:ext uri="{FF2B5EF4-FFF2-40B4-BE49-F238E27FC236}">
                <a16:creationId xmlns:a16="http://schemas.microsoft.com/office/drawing/2014/main" id="{BFA87255-3848-E135-FD68-AA795F4AD1B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58462" y="3780985"/>
            <a:ext cx="7604142" cy="3802072"/>
          </a:xfrm>
          <a:prstGeom prst="rect">
            <a:avLst/>
          </a:prstGeom>
        </p:spPr>
      </p:pic>
      <p:sp>
        <p:nvSpPr>
          <p:cNvPr id="13" name="TextBox 12">
            <a:extLst>
              <a:ext uri="{FF2B5EF4-FFF2-40B4-BE49-F238E27FC236}">
                <a16:creationId xmlns:a16="http://schemas.microsoft.com/office/drawing/2014/main" id="{5C0F1819-B3F7-C643-2856-7B2A24B390DE}"/>
              </a:ext>
            </a:extLst>
          </p:cNvPr>
          <p:cNvSpPr txBox="1"/>
          <p:nvPr/>
        </p:nvSpPr>
        <p:spPr>
          <a:xfrm>
            <a:off x="787854" y="2274610"/>
            <a:ext cx="13453958" cy="1699514"/>
          </a:xfrm>
          <a:prstGeom prst="rect">
            <a:avLst/>
          </a:prstGeom>
        </p:spPr>
        <p:txBody>
          <a:bodyPr vert="horz" lIns="91440" tIns="45720" rIns="91440" bIns="45720" rtlCol="0" anchor="t">
            <a:normAutofit/>
          </a:bodyPr>
          <a:lstStyle/>
          <a:p>
            <a:pPr marL="342900" indent="-342900">
              <a:lnSpc>
                <a:spcPct val="90000"/>
              </a:lnSpc>
              <a:spcAft>
                <a:spcPts val="600"/>
              </a:spcAft>
              <a:buFont typeface="Arial" panose="020B0604020202020204" pitchFamily="34" charset="0"/>
              <a:buChar char="•"/>
            </a:pPr>
            <a:r>
              <a:rPr lang="en-US" sz="2800" dirty="0">
                <a:solidFill>
                  <a:schemeClr val="tx1">
                    <a:alpha val="80000"/>
                  </a:schemeClr>
                </a:solidFill>
                <a:latin typeface="Calibri" panose="020F0502020204030204" pitchFamily="34" charset="0"/>
                <a:cs typeface="Calibri" panose="020F0502020204030204" pitchFamily="34" charset="0"/>
              </a:rPr>
              <a:t>Current GCMs rely heavily on physical equations and </a:t>
            </a:r>
            <a:r>
              <a:rPr lang="en-US" sz="2800" dirty="0" err="1">
                <a:solidFill>
                  <a:schemeClr val="tx1">
                    <a:alpha val="80000"/>
                  </a:schemeClr>
                </a:solidFill>
                <a:latin typeface="Calibri" panose="020F0502020204030204" pitchFamily="34" charset="0"/>
                <a:cs typeface="Calibri" panose="020F0502020204030204" pitchFamily="34" charset="0"/>
              </a:rPr>
              <a:t>parameterisations</a:t>
            </a:r>
            <a:r>
              <a:rPr lang="en-US" sz="2800" dirty="0">
                <a:solidFill>
                  <a:schemeClr val="tx1">
                    <a:alpha val="80000"/>
                  </a:schemeClr>
                </a:solidFill>
                <a:latin typeface="Calibri" panose="020F0502020204030204" pitchFamily="34" charset="0"/>
                <a:cs typeface="Calibri" panose="020F0502020204030204" pitchFamily="34" charset="0"/>
              </a:rPr>
              <a:t>.</a:t>
            </a:r>
          </a:p>
          <a:p>
            <a:pPr marL="342900" indent="-342900">
              <a:lnSpc>
                <a:spcPct val="90000"/>
              </a:lnSpc>
              <a:spcAft>
                <a:spcPts val="600"/>
              </a:spcAft>
              <a:buFont typeface="Arial" panose="020B0604020202020204" pitchFamily="34" charset="0"/>
              <a:buChar char="•"/>
            </a:pPr>
            <a:r>
              <a:rPr lang="en-US" sz="2800" dirty="0">
                <a:solidFill>
                  <a:schemeClr val="tx1">
                    <a:alpha val="80000"/>
                  </a:schemeClr>
                </a:solidFill>
                <a:latin typeface="Calibri" panose="020F0502020204030204" pitchFamily="34" charset="0"/>
                <a:cs typeface="Calibri" panose="020F0502020204030204" pitchFamily="34" charset="0"/>
              </a:rPr>
              <a:t>Struggle with small-scale processes and nonlinear climate behavior.</a:t>
            </a:r>
          </a:p>
          <a:p>
            <a:pPr marL="342900" indent="-342900">
              <a:lnSpc>
                <a:spcPct val="90000"/>
              </a:lnSpc>
              <a:spcAft>
                <a:spcPts val="600"/>
              </a:spcAft>
              <a:buFont typeface="Arial" panose="020B0604020202020204" pitchFamily="34" charset="0"/>
              <a:buChar char="•"/>
            </a:pPr>
            <a:r>
              <a:rPr lang="en-US" sz="2800" dirty="0">
                <a:solidFill>
                  <a:schemeClr val="tx1">
                    <a:alpha val="80000"/>
                  </a:schemeClr>
                </a:solidFill>
                <a:latin typeface="Calibri" panose="020F0502020204030204" pitchFamily="34" charset="0"/>
                <a:cs typeface="Calibri" panose="020F0502020204030204" pitchFamily="34" charset="0"/>
              </a:rPr>
              <a:t>Require very high computational resources.</a:t>
            </a:r>
          </a:p>
          <a:p>
            <a:pPr>
              <a:lnSpc>
                <a:spcPct val="90000"/>
              </a:lnSpc>
              <a:spcAft>
                <a:spcPts val="600"/>
              </a:spcAft>
            </a:pPr>
            <a:endParaRPr lang="en-US" sz="2800" dirty="0">
              <a:solidFill>
                <a:schemeClr val="tx1">
                  <a:alpha val="80000"/>
                </a:schemeClr>
              </a:solidFill>
              <a:latin typeface="Calibri" panose="020F0502020204030204" pitchFamily="34" charset="0"/>
              <a:cs typeface="Calibri" panose="020F0502020204030204" pitchFamily="34" charset="0"/>
            </a:endParaRPr>
          </a:p>
          <a:p>
            <a:pPr marL="342900" indent="-342900">
              <a:lnSpc>
                <a:spcPct val="90000"/>
              </a:lnSpc>
              <a:spcAft>
                <a:spcPts val="600"/>
              </a:spcAft>
              <a:buFont typeface="Arial" panose="020B0604020202020204" pitchFamily="34" charset="0"/>
              <a:buChar char="•"/>
            </a:pPr>
            <a:endParaRPr lang="en-US" sz="2800" dirty="0">
              <a:solidFill>
                <a:schemeClr val="tx1">
                  <a:alpha val="80000"/>
                </a:schemeClr>
              </a:solidFill>
              <a:latin typeface="Calibri" panose="020F0502020204030204" pitchFamily="34" charset="0"/>
              <a:cs typeface="Calibri" panose="020F0502020204030204" pitchFamily="34" charset="0"/>
            </a:endParaRPr>
          </a:p>
          <a:p>
            <a:pPr>
              <a:lnSpc>
                <a:spcPct val="90000"/>
              </a:lnSpc>
              <a:spcAft>
                <a:spcPts val="600"/>
              </a:spcAft>
            </a:pPr>
            <a:endParaRPr lang="en-US" sz="2800" dirty="0">
              <a:solidFill>
                <a:schemeClr val="tx1">
                  <a:alpha val="80000"/>
                </a:schemeClr>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EA6DC1B4-675D-EFDE-0EEE-04E55DD25BD1}"/>
              </a:ext>
            </a:extLst>
          </p:cNvPr>
          <p:cNvSpPr txBox="1"/>
          <p:nvPr/>
        </p:nvSpPr>
        <p:spPr>
          <a:xfrm>
            <a:off x="787854" y="7389917"/>
            <a:ext cx="15741684" cy="2339102"/>
          </a:xfrm>
          <a:prstGeom prst="rect">
            <a:avLst/>
          </a:prstGeom>
          <a:noFill/>
        </p:spPr>
        <p:txBody>
          <a:bodyPr wrap="square">
            <a:spAutoFit/>
          </a:bodyPr>
          <a:lstStyle/>
          <a:p>
            <a:pPr marL="342900" indent="-342900">
              <a:lnSpc>
                <a:spcPct val="90000"/>
              </a:lnSpc>
              <a:spcAft>
                <a:spcPts val="600"/>
              </a:spcAft>
              <a:buFont typeface="Arial" panose="020B0604020202020204" pitchFamily="34" charset="0"/>
              <a:buChar char="•"/>
            </a:pPr>
            <a:endParaRPr lang="en-US" sz="2800" dirty="0">
              <a:solidFill>
                <a:schemeClr val="tx1">
                  <a:alpha val="80000"/>
                </a:schemeClr>
              </a:solidFill>
              <a:latin typeface="Calibri" panose="020F0502020204030204" pitchFamily="34" charset="0"/>
              <a:cs typeface="Calibri" panose="020F0502020204030204" pitchFamily="34" charset="0"/>
            </a:endParaRPr>
          </a:p>
          <a:p>
            <a:pPr marL="342900" indent="-342900">
              <a:lnSpc>
                <a:spcPct val="90000"/>
              </a:lnSpc>
              <a:spcAft>
                <a:spcPts val="600"/>
              </a:spcAft>
              <a:buFont typeface="Arial" panose="020B0604020202020204" pitchFamily="34" charset="0"/>
              <a:buChar char="•"/>
            </a:pPr>
            <a:r>
              <a:rPr lang="en-US" sz="2800" dirty="0">
                <a:solidFill>
                  <a:schemeClr val="tx1">
                    <a:alpha val="80000"/>
                  </a:schemeClr>
                </a:solidFill>
                <a:latin typeface="Calibri" panose="020F0502020204030204" pitchFamily="34" charset="0"/>
                <a:cs typeface="Calibri" panose="020F0502020204030204" pitchFamily="34" charset="0"/>
              </a:rPr>
              <a:t>Artificial Intelligence (AI) and Machine Learning (ML) are possible solutions</a:t>
            </a:r>
          </a:p>
          <a:p>
            <a:pPr marL="342900" indent="-342900">
              <a:lnSpc>
                <a:spcPct val="90000"/>
              </a:lnSpc>
              <a:spcAft>
                <a:spcPts val="600"/>
              </a:spcAft>
              <a:buFont typeface="Arial" panose="020B0604020202020204" pitchFamily="34" charset="0"/>
              <a:buChar char="•"/>
            </a:pPr>
            <a:r>
              <a:rPr lang="en-US" sz="2800" dirty="0">
                <a:solidFill>
                  <a:schemeClr val="tx1">
                    <a:alpha val="80000"/>
                  </a:schemeClr>
                </a:solidFill>
                <a:latin typeface="Calibri" panose="020F0502020204030204" pitchFamily="34" charset="0"/>
                <a:cs typeface="Calibri" panose="020F0502020204030204" pitchFamily="34" charset="0"/>
              </a:rPr>
              <a:t>Used to </a:t>
            </a:r>
            <a:r>
              <a:rPr lang="en-US" sz="2800" dirty="0" err="1">
                <a:solidFill>
                  <a:schemeClr val="tx1">
                    <a:alpha val="80000"/>
                  </a:schemeClr>
                </a:solidFill>
                <a:latin typeface="Calibri" panose="020F0502020204030204" pitchFamily="34" charset="0"/>
                <a:cs typeface="Calibri" panose="020F0502020204030204" pitchFamily="34" charset="0"/>
              </a:rPr>
              <a:t>analyse</a:t>
            </a:r>
            <a:r>
              <a:rPr lang="en-US" sz="2800" dirty="0">
                <a:solidFill>
                  <a:schemeClr val="tx1">
                    <a:alpha val="80000"/>
                  </a:schemeClr>
                </a:solidFill>
                <a:latin typeface="Calibri" panose="020F0502020204030204" pitchFamily="34" charset="0"/>
                <a:cs typeface="Calibri" panose="020F0502020204030204" pitchFamily="34" charset="0"/>
              </a:rPr>
              <a:t> large and complex climate datasets.</a:t>
            </a:r>
          </a:p>
          <a:p>
            <a:pPr marL="342900" indent="-342900">
              <a:lnSpc>
                <a:spcPct val="90000"/>
              </a:lnSpc>
              <a:spcAft>
                <a:spcPts val="600"/>
              </a:spcAft>
              <a:buFont typeface="Arial" panose="020B0604020202020204" pitchFamily="34" charset="0"/>
              <a:buChar char="•"/>
            </a:pPr>
            <a:r>
              <a:rPr lang="en-US" sz="2800" dirty="0">
                <a:solidFill>
                  <a:schemeClr val="tx1">
                    <a:alpha val="80000"/>
                  </a:schemeClr>
                </a:solidFill>
                <a:latin typeface="Calibri" panose="020F0502020204030204" pitchFamily="34" charset="0"/>
                <a:cs typeface="Calibri" panose="020F0502020204030204" pitchFamily="34" charset="0"/>
              </a:rPr>
              <a:t>Improves prediction accuracy in weather and climate systems.</a:t>
            </a:r>
          </a:p>
          <a:p>
            <a:pPr marL="342900" indent="-342900">
              <a:lnSpc>
                <a:spcPct val="90000"/>
              </a:lnSpc>
              <a:spcAft>
                <a:spcPts val="600"/>
              </a:spcAft>
              <a:buFont typeface="Arial" panose="020B0604020202020204" pitchFamily="34" charset="0"/>
              <a:buChar char="•"/>
            </a:pPr>
            <a:r>
              <a:rPr lang="en-US" sz="2800" dirty="0">
                <a:solidFill>
                  <a:schemeClr val="tx1">
                    <a:alpha val="80000"/>
                  </a:schemeClr>
                </a:solidFill>
                <a:latin typeface="Calibri" panose="020F0502020204030204" pitchFamily="34" charset="0"/>
                <a:cs typeface="Calibri" panose="020F0502020204030204" pitchFamily="34" charset="0"/>
              </a:rPr>
              <a:t>Helps accelerate climate research and simulations.</a:t>
            </a:r>
          </a:p>
        </p:txBody>
      </p:sp>
    </p:spTree>
    <p:extLst>
      <p:ext uri="{BB962C8B-B14F-4D97-AF65-F5344CB8AC3E}">
        <p14:creationId xmlns:p14="http://schemas.microsoft.com/office/powerpoint/2010/main" val="108164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640437B-BD0D-4CFB-6868-D0429A707669}"/>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9F6FF267-83F1-BC86-259A-AD11787BBE2E}"/>
              </a:ext>
            </a:extLst>
          </p:cNvPr>
          <p:cNvSpPr txBox="1"/>
          <p:nvPr/>
        </p:nvSpPr>
        <p:spPr>
          <a:xfrm>
            <a:off x="789581" y="1234487"/>
            <a:ext cx="10318162" cy="864276"/>
          </a:xfrm>
          <a:prstGeom prst="rect">
            <a:avLst/>
          </a:prstGeom>
        </p:spPr>
        <p:txBody>
          <a:bodyPr wrap="square" lIns="0" tIns="0" rIns="0" bIns="0" rtlCol="0" anchor="t">
            <a:spAutoFit/>
          </a:bodyPr>
          <a:lstStyle/>
          <a:p>
            <a:pPr>
              <a:lnSpc>
                <a:spcPts val="6719"/>
              </a:lnSpc>
            </a:pPr>
            <a:r>
              <a:rPr lang="en-US" sz="5600" b="1" i="1" dirty="0">
                <a:solidFill>
                  <a:srgbClr val="46245A"/>
                </a:solidFill>
                <a:latin typeface="DM Sans" pitchFamily="2" charset="0"/>
              </a:rPr>
              <a:t>GCMs into the Future</a:t>
            </a:r>
            <a:endParaRPr lang="en-US" sz="5600" i="1" dirty="0">
              <a:solidFill>
                <a:srgbClr val="46245A"/>
              </a:solidFill>
              <a:latin typeface="DM Sans" pitchFamily="2" charset="0"/>
            </a:endParaRPr>
          </a:p>
        </p:txBody>
      </p:sp>
      <p:sp>
        <p:nvSpPr>
          <p:cNvPr id="8" name="Freeform 13">
            <a:extLst>
              <a:ext uri="{FF2B5EF4-FFF2-40B4-BE49-F238E27FC236}">
                <a16:creationId xmlns:a16="http://schemas.microsoft.com/office/drawing/2014/main" id="{588321C9-F3CB-C1C5-7DB2-3FAD4F3F2C2F}"/>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3" name="TextBox 2">
            <a:extLst>
              <a:ext uri="{FF2B5EF4-FFF2-40B4-BE49-F238E27FC236}">
                <a16:creationId xmlns:a16="http://schemas.microsoft.com/office/drawing/2014/main" id="{7619635E-D72C-4B6A-485B-C78F2CC60AA4}"/>
              </a:ext>
            </a:extLst>
          </p:cNvPr>
          <p:cNvSpPr txBox="1"/>
          <p:nvPr/>
        </p:nvSpPr>
        <p:spPr>
          <a:xfrm>
            <a:off x="11219048" y="3156927"/>
            <a:ext cx="6670303" cy="5509200"/>
          </a:xfrm>
          <a:prstGeom prst="rect">
            <a:avLst/>
          </a:prstGeom>
          <a:noFill/>
        </p:spPr>
        <p:txBody>
          <a:bodyPr wrap="square">
            <a:spAutoFit/>
          </a:bodyPr>
          <a:lstStyle/>
          <a:p>
            <a:r>
              <a:rPr lang="en-GB" sz="3200" dirty="0">
                <a:latin typeface="Calibri" panose="020F0502020204030204" pitchFamily="34" charset="0"/>
                <a:cs typeface="Calibri" panose="020F0502020204030204" pitchFamily="34" charset="0"/>
              </a:rPr>
              <a:t>Advantages: handles nonlinear relationships and large datasets.</a:t>
            </a:r>
          </a:p>
          <a:p>
            <a:endParaRPr lang="en-GB" sz="3200" dirty="0">
              <a:latin typeface="Calibri" panose="020F0502020204030204" pitchFamily="34" charset="0"/>
              <a:cs typeface="Calibri" panose="020F0502020204030204" pitchFamily="34" charset="0"/>
            </a:endParaRPr>
          </a:p>
          <a:p>
            <a:r>
              <a:rPr lang="en-GB" sz="3200" dirty="0">
                <a:latin typeface="Calibri" panose="020F0502020204030204" pitchFamily="34" charset="0"/>
                <a:cs typeface="Calibri" panose="020F0502020204030204" pitchFamily="34" charset="0"/>
              </a:rPr>
              <a:t>Faster simulations and improved extreme event prediction.</a:t>
            </a:r>
          </a:p>
          <a:p>
            <a:endParaRPr lang="en-GB" sz="3200" dirty="0">
              <a:latin typeface="Calibri" panose="020F0502020204030204" pitchFamily="34" charset="0"/>
              <a:cs typeface="Calibri" panose="020F0502020204030204" pitchFamily="34" charset="0"/>
            </a:endParaRPr>
          </a:p>
          <a:p>
            <a:r>
              <a:rPr lang="en-GB" sz="3200" dirty="0">
                <a:latin typeface="Calibri" panose="020F0502020204030204" pitchFamily="34" charset="0"/>
                <a:cs typeface="Calibri" panose="020F0502020204030204" pitchFamily="34" charset="0"/>
              </a:rPr>
              <a:t>Challenges: model interpretability and data bias.</a:t>
            </a:r>
          </a:p>
          <a:p>
            <a:endParaRPr lang="en-GB" sz="3200" dirty="0">
              <a:latin typeface="Calibri" panose="020F0502020204030204" pitchFamily="34" charset="0"/>
              <a:cs typeface="Calibri" panose="020F0502020204030204" pitchFamily="34" charset="0"/>
            </a:endParaRPr>
          </a:p>
          <a:p>
            <a:r>
              <a:rPr lang="en-GB" sz="3200" dirty="0">
                <a:latin typeface="Calibri" panose="020F0502020204030204" pitchFamily="34" charset="0"/>
                <a:cs typeface="Calibri" panose="020F0502020204030204" pitchFamily="34" charset="0"/>
              </a:rPr>
              <a:t>Ensuring physical consistency with climate laws.</a:t>
            </a:r>
          </a:p>
        </p:txBody>
      </p:sp>
      <p:pic>
        <p:nvPicPr>
          <p:cNvPr id="6" name="Picture 5" descr="A diagram of earth model&#10;&#10;AI-generated content may be incorrect.">
            <a:extLst>
              <a:ext uri="{FF2B5EF4-FFF2-40B4-BE49-F238E27FC236}">
                <a16:creationId xmlns:a16="http://schemas.microsoft.com/office/drawing/2014/main" id="{CD78B617-115B-62B6-A2A1-734BB2DF5FD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6488" y="2098763"/>
            <a:ext cx="10377442" cy="7625529"/>
          </a:xfrm>
          <a:prstGeom prst="rect">
            <a:avLst/>
          </a:prstGeom>
        </p:spPr>
      </p:pic>
    </p:spTree>
    <p:extLst>
      <p:ext uri="{BB962C8B-B14F-4D97-AF65-F5344CB8AC3E}">
        <p14:creationId xmlns:p14="http://schemas.microsoft.com/office/powerpoint/2010/main" val="4110472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D4AF966-4DCC-67F2-58D8-8A7D4F39AFB4}"/>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A91D9E80-B30F-0ABF-1190-2091397622D8}"/>
              </a:ext>
            </a:extLst>
          </p:cNvPr>
          <p:cNvSpPr txBox="1"/>
          <p:nvPr/>
        </p:nvSpPr>
        <p:spPr>
          <a:xfrm>
            <a:off x="727363" y="1051784"/>
            <a:ext cx="14649450" cy="859210"/>
          </a:xfrm>
          <a:prstGeom prst="rect">
            <a:avLst/>
          </a:prstGeom>
        </p:spPr>
        <p:txBody>
          <a:bodyPr wrap="square" lIns="0" tIns="0" rIns="0" bIns="0" rtlCol="0" anchor="t">
            <a:spAutoFit/>
          </a:bodyPr>
          <a:lstStyle/>
          <a:p>
            <a:pPr>
              <a:lnSpc>
                <a:spcPts val="6719"/>
              </a:lnSpc>
            </a:pPr>
            <a:r>
              <a:rPr lang="en-US" sz="5599" b="1" i="1" dirty="0">
                <a:solidFill>
                  <a:srgbClr val="46245A"/>
                </a:solidFill>
                <a:latin typeface="DM Sans" pitchFamily="2" charset="0"/>
              </a:rPr>
              <a:t>In summary, GCMs provide….</a:t>
            </a:r>
            <a:endParaRPr lang="en-US" sz="5599" i="1" dirty="0">
              <a:solidFill>
                <a:srgbClr val="46245A"/>
              </a:solidFill>
              <a:latin typeface="DM Sans" pitchFamily="2" charset="0"/>
            </a:endParaRPr>
          </a:p>
        </p:txBody>
      </p:sp>
      <p:sp>
        <p:nvSpPr>
          <p:cNvPr id="6" name="TextBox 5">
            <a:extLst>
              <a:ext uri="{FF2B5EF4-FFF2-40B4-BE49-F238E27FC236}">
                <a16:creationId xmlns:a16="http://schemas.microsoft.com/office/drawing/2014/main" id="{40238D6A-0412-B463-393F-8852AD99AC99}"/>
              </a:ext>
            </a:extLst>
          </p:cNvPr>
          <p:cNvSpPr txBox="1"/>
          <p:nvPr/>
        </p:nvSpPr>
        <p:spPr>
          <a:xfrm>
            <a:off x="727363" y="2144620"/>
            <a:ext cx="10328564" cy="7417415"/>
          </a:xfrm>
          <a:prstGeom prst="rect">
            <a:avLst/>
          </a:prstGeom>
          <a:noFill/>
        </p:spPr>
        <p:txBody>
          <a:bodyPr wrap="square">
            <a:spAutoFit/>
          </a:bodyPr>
          <a:lstStyle/>
          <a:p>
            <a:pPr marL="342900" indent="-342900" algn="l">
              <a:buFont typeface="Arial" panose="020B0604020202020204" pitchFamily="34" charset="0"/>
              <a:buChar char="•"/>
            </a:pPr>
            <a:r>
              <a:rPr lang="en-GB" sz="2800" u="none" strike="noStrike" dirty="0">
                <a:solidFill>
                  <a:srgbClr val="0D0D0D"/>
                </a:solidFill>
                <a:effectLst/>
                <a:latin typeface="Calibri" panose="020F0502020204030204" pitchFamily="34" charset="0"/>
              </a:rPr>
              <a:t>Climate models offer predictions about future climate conditions on a global scale, informing us about changes driven by increased greenhouse gas emissions.</a:t>
            </a:r>
          </a:p>
          <a:p>
            <a:pPr marL="342900" indent="-342900" algn="l">
              <a:buFont typeface="Arial" panose="020B0604020202020204" pitchFamily="34" charset="0"/>
              <a:buChar char="•"/>
            </a:pPr>
            <a:endParaRPr lang="en-GB" sz="2800" u="none" strike="noStrike" dirty="0">
              <a:solidFill>
                <a:srgbClr val="0D0D0D"/>
              </a:solidFill>
              <a:effectLst/>
              <a:latin typeface="Calibri" panose="020F0502020204030204" pitchFamily="34" charset="0"/>
            </a:endParaRPr>
          </a:p>
          <a:p>
            <a:pPr marL="342900" indent="-342900" algn="l">
              <a:buFont typeface="Arial" panose="020B0604020202020204" pitchFamily="34" charset="0"/>
              <a:buChar char="•"/>
            </a:pPr>
            <a:r>
              <a:rPr lang="en-GB" sz="2800" u="none" strike="noStrike" dirty="0">
                <a:solidFill>
                  <a:srgbClr val="0D0D0D"/>
                </a:solidFill>
                <a:effectLst/>
                <a:latin typeface="Calibri" panose="020F0502020204030204" pitchFamily="34" charset="0"/>
              </a:rPr>
              <a:t>They provide valuable insights into how human activities could impact global temperatures, humidity, and precipitation patterns.</a:t>
            </a:r>
          </a:p>
          <a:p>
            <a:pPr marL="342900" indent="-342900" algn="l">
              <a:buFont typeface="Arial" panose="020B0604020202020204" pitchFamily="34" charset="0"/>
              <a:buChar char="•"/>
            </a:pPr>
            <a:endParaRPr lang="en-GB" sz="2800" u="none" strike="noStrike" dirty="0">
              <a:solidFill>
                <a:srgbClr val="0D0D0D"/>
              </a:solidFill>
              <a:effectLst/>
              <a:latin typeface="Calibri" panose="020F0502020204030204" pitchFamily="34" charset="0"/>
            </a:endParaRPr>
          </a:p>
          <a:p>
            <a:pPr marL="342900" indent="-342900" algn="l">
              <a:buFont typeface="Arial" panose="020B0604020202020204" pitchFamily="34" charset="0"/>
              <a:buChar char="•"/>
            </a:pPr>
            <a:r>
              <a:rPr lang="en-GB" sz="2800" u="none" strike="noStrike" dirty="0">
                <a:solidFill>
                  <a:srgbClr val="0D0D0D"/>
                </a:solidFill>
                <a:effectLst/>
                <a:latin typeface="Calibri" panose="020F0502020204030204" pitchFamily="34" charset="0"/>
              </a:rPr>
              <a:t>Climate models project varying degrees of temperature rise across different regions of the world, alongside shifts in precipitation patterns and snowfall events.</a:t>
            </a:r>
          </a:p>
          <a:p>
            <a:pPr marL="342900" indent="-342900" algn="l">
              <a:buFont typeface="Arial" panose="020B0604020202020204" pitchFamily="34" charset="0"/>
              <a:buChar char="•"/>
            </a:pPr>
            <a:endParaRPr lang="en-GB" sz="2800" u="none" strike="noStrike" dirty="0">
              <a:solidFill>
                <a:srgbClr val="0D0D0D"/>
              </a:solidFill>
              <a:effectLst/>
              <a:latin typeface="Calibri" panose="020F0502020204030204" pitchFamily="34" charset="0"/>
            </a:endParaRPr>
          </a:p>
          <a:p>
            <a:pPr marL="342900" indent="-342900" algn="l">
              <a:buFont typeface="Arial" panose="020B0604020202020204" pitchFamily="34" charset="0"/>
              <a:buChar char="•"/>
            </a:pPr>
            <a:r>
              <a:rPr lang="en-GB" sz="2800" u="none" strike="noStrike" dirty="0">
                <a:solidFill>
                  <a:srgbClr val="0D0D0D"/>
                </a:solidFill>
                <a:effectLst/>
                <a:latin typeface="Calibri" panose="020F0502020204030204" pitchFamily="34" charset="0"/>
              </a:rPr>
              <a:t>These models are instrumental in understanding potential impacts on natural resources, ecosystems, agriculture, water resources, and coastal areas globally.</a:t>
            </a:r>
          </a:p>
          <a:p>
            <a:pPr marL="342900" indent="-342900" algn="l">
              <a:buFont typeface="Arial" panose="020B0604020202020204" pitchFamily="34" charset="0"/>
              <a:buChar char="•"/>
            </a:pPr>
            <a:endParaRPr lang="en-GB" sz="2800" u="none" strike="noStrike" dirty="0">
              <a:solidFill>
                <a:srgbClr val="0D0D0D"/>
              </a:solidFill>
              <a:effectLst/>
              <a:latin typeface="Calibri" panose="020F0502020204030204" pitchFamily="34" charset="0"/>
            </a:endParaRPr>
          </a:p>
          <a:p>
            <a:pPr marL="342900" indent="-342900" algn="l">
              <a:buFont typeface="Arial" panose="020B0604020202020204" pitchFamily="34" charset="0"/>
              <a:buChar char="•"/>
            </a:pPr>
            <a:r>
              <a:rPr lang="en-GB" sz="2800" dirty="0">
                <a:solidFill>
                  <a:srgbClr val="0D0D0D"/>
                </a:solidFill>
                <a:latin typeface="Calibri" panose="020F0502020204030204" pitchFamily="34" charset="0"/>
              </a:rPr>
              <a:t>They serve </a:t>
            </a:r>
            <a:r>
              <a:rPr lang="en-GB" sz="2800" u="none" strike="noStrike" dirty="0">
                <a:solidFill>
                  <a:srgbClr val="0D0D0D"/>
                </a:solidFill>
                <a:effectLst/>
                <a:latin typeface="Calibri" panose="020F0502020204030204" pitchFamily="34" charset="0"/>
              </a:rPr>
              <a:t>as tools for policymakers, scientists, and stakeholders to plan for the complex challenges posed by climate change</a:t>
            </a:r>
          </a:p>
        </p:txBody>
      </p:sp>
      <p:pic>
        <p:nvPicPr>
          <p:cNvPr id="3" name="Picture 2" descr="A blue and white grid sphere with a map of the earth&#10;&#10;AI-generated content may be incorrect.">
            <a:extLst>
              <a:ext uri="{FF2B5EF4-FFF2-40B4-BE49-F238E27FC236}">
                <a16:creationId xmlns:a16="http://schemas.microsoft.com/office/drawing/2014/main" id="{1E15CFD0-3880-0E75-866F-9823AF198AE0}"/>
              </a:ext>
            </a:extLst>
          </p:cNvPr>
          <p:cNvPicPr>
            <a:picLocks noChangeAspect="1"/>
          </p:cNvPicPr>
          <p:nvPr/>
        </p:nvPicPr>
        <p:blipFill>
          <a:blip r:embed="rId4">
            <a:extLst>
              <a:ext uri="{28A0092B-C50C-407E-A947-70E740481C1C}">
                <a14:useLocalDpi xmlns:a14="http://schemas.microsoft.com/office/drawing/2010/main" val="0"/>
              </a:ext>
            </a:extLst>
          </a:blip>
          <a:srcRect l="10672" t="1" r="41029" b="1"/>
          <a:stretch>
            <a:fillRect/>
          </a:stretch>
        </p:blipFill>
        <p:spPr>
          <a:xfrm>
            <a:off x="11641015" y="-20944"/>
            <a:ext cx="6646985" cy="10286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4" name="Freeform 13">
            <a:extLst>
              <a:ext uri="{FF2B5EF4-FFF2-40B4-BE49-F238E27FC236}">
                <a16:creationId xmlns:a16="http://schemas.microsoft.com/office/drawing/2014/main" id="{3B501BBD-26DD-E42A-A647-EA03AB6530F3}"/>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Tree>
    <p:extLst>
      <p:ext uri="{BB962C8B-B14F-4D97-AF65-F5344CB8AC3E}">
        <p14:creationId xmlns:p14="http://schemas.microsoft.com/office/powerpoint/2010/main" val="32731230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17A1B92-8976-2AC1-80BD-E7958672C365}"/>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82694376-8AB1-E84B-4BB1-D855201AF2EC}"/>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Rectangle 3">
            <a:extLst>
              <a:ext uri="{FF2B5EF4-FFF2-40B4-BE49-F238E27FC236}">
                <a16:creationId xmlns:a16="http://schemas.microsoft.com/office/drawing/2014/main" id="{72650F32-9A91-DC20-6B0D-FC94509194EF}"/>
              </a:ext>
            </a:extLst>
          </p:cNvPr>
          <p:cNvSpPr txBox="1">
            <a:spLocks noChangeArrowheads="1"/>
          </p:cNvSpPr>
          <p:nvPr/>
        </p:nvSpPr>
        <p:spPr>
          <a:xfrm>
            <a:off x="962027" y="2736202"/>
            <a:ext cx="8229600" cy="4525963"/>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endParaRPr kumimoji="0" lang="en-US" altLang="en-US" sz="3200" b="0" i="0" u="none" strike="noStrike" kern="1200" cap="none" spc="0" normalizeH="0" baseline="0" noProof="0" dirty="0">
              <a:ln>
                <a:noFill/>
              </a:ln>
              <a:solidFill>
                <a:prstClr val="black"/>
              </a:solidFill>
              <a:effectLst/>
              <a:uLnTx/>
              <a:uFillTx/>
              <a:latin typeface="DM Sans" pitchFamily="2" charset="0"/>
              <a:ea typeface="+mn-ea"/>
              <a:cs typeface="+mn-cs"/>
            </a:endParaRPr>
          </a:p>
        </p:txBody>
      </p:sp>
      <p:pic>
        <p:nvPicPr>
          <p:cNvPr id="18" name="Picture 17" descr="A graph showing the number of emissions&#10;&#10;Description automatically generated">
            <a:extLst>
              <a:ext uri="{FF2B5EF4-FFF2-40B4-BE49-F238E27FC236}">
                <a16:creationId xmlns:a16="http://schemas.microsoft.com/office/drawing/2014/main" id="{BD0E0CFE-F9DE-F7E3-3435-89F2E0797F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5505" y="3601768"/>
            <a:ext cx="6314040" cy="4378288"/>
          </a:xfrm>
          <a:prstGeom prst="rect">
            <a:avLst/>
          </a:prstGeom>
        </p:spPr>
      </p:pic>
      <p:sp>
        <p:nvSpPr>
          <p:cNvPr id="3" name="TextBox 14">
            <a:extLst>
              <a:ext uri="{FF2B5EF4-FFF2-40B4-BE49-F238E27FC236}">
                <a16:creationId xmlns:a16="http://schemas.microsoft.com/office/drawing/2014/main" id="{CF50651A-9903-5AFF-98D6-3C5EF89F203D}"/>
              </a:ext>
            </a:extLst>
          </p:cNvPr>
          <p:cNvSpPr txBox="1"/>
          <p:nvPr/>
        </p:nvSpPr>
        <p:spPr>
          <a:xfrm>
            <a:off x="817428" y="1328408"/>
            <a:ext cx="15746987"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1" i="1" u="none" strike="noStrike" kern="1200" cap="none" spc="-413" normalizeH="0" baseline="0" noProof="0" dirty="0">
                <a:ln>
                  <a:noFill/>
                </a:ln>
                <a:solidFill>
                  <a:srgbClr val="46245A"/>
                </a:solidFill>
                <a:effectLst/>
                <a:uLnTx/>
                <a:uFillTx/>
                <a:latin typeface="DM Sans Bold"/>
                <a:ea typeface="MS PGothic" panose="020B0600070205080204" pitchFamily="34" charset="-128"/>
                <a:cs typeface="+mn-cs"/>
              </a:rPr>
              <a:t>Future projections </a:t>
            </a:r>
          </a:p>
        </p:txBody>
      </p:sp>
      <p:pic>
        <p:nvPicPr>
          <p:cNvPr id="4" name="Picture 3" descr="Chart&#10;&#10;Description automatically generated">
            <a:extLst>
              <a:ext uri="{FF2B5EF4-FFF2-40B4-BE49-F238E27FC236}">
                <a16:creationId xmlns:a16="http://schemas.microsoft.com/office/drawing/2014/main" id="{4342A375-ED3B-1861-C8FA-4C18B4528762}"/>
              </a:ext>
            </a:extLst>
          </p:cNvPr>
          <p:cNvPicPr>
            <a:picLocks noChangeAspect="1"/>
          </p:cNvPicPr>
          <p:nvPr/>
        </p:nvPicPr>
        <p:blipFill>
          <a:blip r:embed="rId6">
            <a:extLst>
              <a:ext uri="{28A0092B-C50C-407E-A947-70E740481C1C}">
                <a14:useLocalDpi xmlns:a14="http://schemas.microsoft.com/office/drawing/2010/main" val="0"/>
              </a:ext>
            </a:extLst>
          </a:blip>
          <a:srcRect t="13590" b="5781"/>
          <a:stretch/>
        </p:blipFill>
        <p:spPr>
          <a:xfrm>
            <a:off x="6455775" y="2497016"/>
            <a:ext cx="11568547" cy="6432482"/>
          </a:xfrm>
          <a:prstGeom prst="rect">
            <a:avLst/>
          </a:prstGeom>
          <a:ln>
            <a:solidFill>
              <a:schemeClr val="tx1"/>
            </a:solidFill>
          </a:ln>
        </p:spPr>
      </p:pic>
    </p:spTree>
    <p:extLst>
      <p:ext uri="{BB962C8B-B14F-4D97-AF65-F5344CB8AC3E}">
        <p14:creationId xmlns:p14="http://schemas.microsoft.com/office/powerpoint/2010/main" val="39215232"/>
      </p:ext>
    </p:extLst>
  </p:cSld>
  <p:clrMapOvr>
    <a:masterClrMapping/>
  </p:clrMapOvr>
  <mc:AlternateContent xmlns:mc="http://schemas.openxmlformats.org/markup-compatibility/2006" xmlns:p14="http://schemas.microsoft.com/office/powerpoint/2010/main">
    <mc:Choice Requires="p14">
      <p:transition spd="slow" p14:dur="2000" advTm="117752"/>
    </mc:Choice>
    <mc:Fallback xmlns="">
      <p:transition spd="slow" advTm="11775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B120B27-343C-BB8F-9E0F-B40372A6A5BD}"/>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D38FF519-5C27-238F-D963-4116057FA467}"/>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pic>
        <p:nvPicPr>
          <p:cNvPr id="4" name="Picture 3" descr="https://www.munichre.com/site/topics-online/get/documents/mr/assets-topicsonline/2017/MR_Topics_GEO_56_en_1_979x551.jpg">
            <a:extLst>
              <a:ext uri="{FF2B5EF4-FFF2-40B4-BE49-F238E27FC236}">
                <a16:creationId xmlns:a16="http://schemas.microsoft.com/office/drawing/2014/main" id="{30B731A7-ED2E-271E-036F-8891F41CA1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92256" y="3610488"/>
            <a:ext cx="8125690" cy="493996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1E461ED-5D68-E8D8-98FC-B619901668F1}"/>
              </a:ext>
            </a:extLst>
          </p:cNvPr>
          <p:cNvSpPr txBox="1"/>
          <p:nvPr/>
        </p:nvSpPr>
        <p:spPr>
          <a:xfrm>
            <a:off x="1018309" y="1449312"/>
            <a:ext cx="13847674" cy="820289"/>
          </a:xfrm>
          <a:prstGeom prst="rect">
            <a:avLst/>
          </a:prstGeom>
        </p:spPr>
        <p:txBody>
          <a:bodyPr wrap="square" lIns="0" tIns="0" rIns="0" bIns="0" rtlCol="0" anchor="t">
            <a:spAutoFit/>
          </a:bodyPr>
          <a:lstStyle/>
          <a:p>
            <a:pPr>
              <a:lnSpc>
                <a:spcPts val="6719"/>
              </a:lnSpc>
            </a:pPr>
            <a:r>
              <a:rPr lang="en-US" sz="4800" b="1" i="1" dirty="0">
                <a:solidFill>
                  <a:srgbClr val="46245A"/>
                </a:solidFill>
                <a:latin typeface="DM Sans" pitchFamily="2" charset="0"/>
              </a:rPr>
              <a:t>Impacts: Increase in Natural Disasters</a:t>
            </a:r>
            <a:endParaRPr lang="en-US" sz="4800" i="1" dirty="0">
              <a:solidFill>
                <a:srgbClr val="46245A"/>
              </a:solidFill>
              <a:latin typeface="DM Sans" pitchFamily="2" charset="0"/>
            </a:endParaRPr>
          </a:p>
        </p:txBody>
      </p:sp>
      <p:sp>
        <p:nvSpPr>
          <p:cNvPr id="8" name="TextBox 7">
            <a:extLst>
              <a:ext uri="{FF2B5EF4-FFF2-40B4-BE49-F238E27FC236}">
                <a16:creationId xmlns:a16="http://schemas.microsoft.com/office/drawing/2014/main" id="{BC478B30-B804-B13C-2CD6-598869F4FB98}"/>
              </a:ext>
            </a:extLst>
          </p:cNvPr>
          <p:cNvSpPr txBox="1"/>
          <p:nvPr/>
        </p:nvSpPr>
        <p:spPr>
          <a:xfrm>
            <a:off x="1018309" y="2786852"/>
            <a:ext cx="8535593" cy="6740307"/>
          </a:xfrm>
          <a:prstGeom prst="rect">
            <a:avLst/>
          </a:prstGeom>
          <a:noFill/>
        </p:spPr>
        <p:txBody>
          <a:bodyPr wrap="square">
            <a:spAutoFit/>
          </a:bodyPr>
          <a:lstStyle/>
          <a:p>
            <a:pPr algn="l"/>
            <a:r>
              <a:rPr lang="en-GB" b="0" i="0" u="none" strike="noStrike" dirty="0">
                <a:solidFill>
                  <a:srgbClr val="0D0D0D"/>
                </a:solidFill>
                <a:effectLst/>
                <a:latin typeface="Calibri" panose="020F0502020204030204" pitchFamily="34" charset="0"/>
                <a:cs typeface="Calibri" panose="020F0502020204030204" pitchFamily="34" charset="0"/>
              </a:rPr>
              <a:t>Global warming has been linked to an increase in the frequency, intensity, and severity of various types of natural disasters. </a:t>
            </a:r>
          </a:p>
          <a:p>
            <a:pPr algn="l"/>
            <a:endParaRPr lang="en-GB" b="0" i="0" u="none" strike="noStrike" dirty="0">
              <a:solidFill>
                <a:srgbClr val="0D0D0D"/>
              </a:solidFill>
              <a:effectLst/>
              <a:latin typeface="Calibri" panose="020F0502020204030204" pitchFamily="34" charset="0"/>
              <a:cs typeface="Calibri" panose="020F0502020204030204" pitchFamily="34" charset="0"/>
            </a:endParaRPr>
          </a:p>
          <a:p>
            <a:pPr algn="l"/>
            <a:r>
              <a:rPr lang="en-GB" b="1" i="0" u="none" strike="noStrike" dirty="0">
                <a:solidFill>
                  <a:srgbClr val="FF0000"/>
                </a:solidFill>
                <a:effectLst/>
                <a:latin typeface="Calibri" panose="020F0502020204030204" pitchFamily="34" charset="0"/>
                <a:cs typeface="Calibri" panose="020F0502020204030204" pitchFamily="34" charset="0"/>
              </a:rPr>
              <a:t>Heatwaves:</a:t>
            </a:r>
            <a:r>
              <a:rPr lang="en-GB" b="0" i="0" u="none" strike="noStrike" dirty="0">
                <a:solidFill>
                  <a:srgbClr val="FF0000"/>
                </a:solidFill>
                <a:effectLst/>
                <a:latin typeface="Calibri" panose="020F0502020204030204" pitchFamily="34" charset="0"/>
                <a:cs typeface="Calibri" panose="020F0502020204030204" pitchFamily="34" charset="0"/>
              </a:rPr>
              <a:t> </a:t>
            </a:r>
            <a:r>
              <a:rPr lang="en-GB" b="0" i="0" u="none" strike="noStrike" dirty="0">
                <a:solidFill>
                  <a:srgbClr val="0D0D0D"/>
                </a:solidFill>
                <a:effectLst/>
                <a:latin typeface="Calibri" panose="020F0502020204030204" pitchFamily="34" charset="0"/>
                <a:cs typeface="Calibri" panose="020F0502020204030204" pitchFamily="34" charset="0"/>
              </a:rPr>
              <a:t>Rising temperatures have led to more frequent and intense heatwaves. Heatwaves can have serious health implications, leading to heat-related illnesses and deaths, particularly among vulnerable populations.</a:t>
            </a:r>
          </a:p>
          <a:p>
            <a:pPr algn="l"/>
            <a:endParaRPr lang="en-GB" b="0" i="0" u="none" strike="noStrike" dirty="0">
              <a:solidFill>
                <a:srgbClr val="0D0D0D"/>
              </a:solidFill>
              <a:effectLst/>
              <a:latin typeface="Calibri" panose="020F0502020204030204" pitchFamily="34" charset="0"/>
              <a:cs typeface="Calibri" panose="020F0502020204030204" pitchFamily="34" charset="0"/>
            </a:endParaRPr>
          </a:p>
          <a:p>
            <a:pPr algn="l"/>
            <a:r>
              <a:rPr lang="en-GB" b="1" i="0" u="none" strike="noStrike" dirty="0">
                <a:solidFill>
                  <a:srgbClr val="FF0000"/>
                </a:solidFill>
                <a:effectLst/>
                <a:latin typeface="Calibri" panose="020F0502020204030204" pitchFamily="34" charset="0"/>
                <a:cs typeface="Calibri" panose="020F0502020204030204" pitchFamily="34" charset="0"/>
              </a:rPr>
              <a:t>Extreme Weather Events:</a:t>
            </a:r>
            <a:r>
              <a:rPr lang="en-GB" b="0" i="0" u="none" strike="noStrike" dirty="0">
                <a:solidFill>
                  <a:srgbClr val="FF0000"/>
                </a:solidFill>
                <a:effectLst/>
                <a:latin typeface="Calibri" panose="020F0502020204030204" pitchFamily="34" charset="0"/>
                <a:cs typeface="Calibri" panose="020F0502020204030204" pitchFamily="34" charset="0"/>
              </a:rPr>
              <a:t> </a:t>
            </a:r>
            <a:r>
              <a:rPr lang="en-GB" b="0" i="0" u="none" strike="noStrike" dirty="0">
                <a:solidFill>
                  <a:srgbClr val="0D0D0D"/>
                </a:solidFill>
                <a:effectLst/>
                <a:latin typeface="Calibri" panose="020F0502020204030204" pitchFamily="34" charset="0"/>
                <a:cs typeface="Calibri" panose="020F0502020204030204" pitchFamily="34" charset="0"/>
              </a:rPr>
              <a:t>GW can contribute to the intensification of extreme weather events such as hurricanes, typhoons, and cyclones. Warmer ocean temperatures provide more energy to fuel these storms, leading to increased wind speeds and heavier rainfall</a:t>
            </a:r>
            <a:endParaRPr lang="en-GB" dirty="0">
              <a:solidFill>
                <a:srgbClr val="0D0D0D"/>
              </a:solidFill>
              <a:latin typeface="Calibri" panose="020F0502020204030204" pitchFamily="34" charset="0"/>
              <a:cs typeface="Calibri" panose="020F0502020204030204" pitchFamily="34" charset="0"/>
            </a:endParaRPr>
          </a:p>
          <a:p>
            <a:pPr algn="l"/>
            <a:endParaRPr lang="en-GB" b="1" i="0" u="none" strike="noStrike" dirty="0">
              <a:solidFill>
                <a:srgbClr val="0D0D0D"/>
              </a:solidFill>
              <a:effectLst/>
              <a:latin typeface="Calibri" panose="020F0502020204030204" pitchFamily="34" charset="0"/>
              <a:cs typeface="Calibri" panose="020F0502020204030204" pitchFamily="34" charset="0"/>
            </a:endParaRPr>
          </a:p>
          <a:p>
            <a:pPr algn="l"/>
            <a:r>
              <a:rPr lang="en-GB" b="1" i="0" u="none" strike="noStrike" dirty="0">
                <a:solidFill>
                  <a:srgbClr val="FF0000"/>
                </a:solidFill>
                <a:effectLst/>
                <a:latin typeface="Calibri" panose="020F0502020204030204" pitchFamily="34" charset="0"/>
                <a:cs typeface="Calibri" panose="020F0502020204030204" pitchFamily="34" charset="0"/>
              </a:rPr>
              <a:t>Flooding:</a:t>
            </a:r>
            <a:r>
              <a:rPr lang="en-GB" b="0" i="0" u="none" strike="noStrike" dirty="0">
                <a:solidFill>
                  <a:srgbClr val="FF0000"/>
                </a:solidFill>
                <a:effectLst/>
                <a:latin typeface="Calibri" panose="020F0502020204030204" pitchFamily="34" charset="0"/>
                <a:cs typeface="Calibri" panose="020F0502020204030204" pitchFamily="34" charset="0"/>
              </a:rPr>
              <a:t> </a:t>
            </a:r>
            <a:r>
              <a:rPr lang="en-GB" b="0" i="0" u="none" strike="noStrike" dirty="0">
                <a:solidFill>
                  <a:srgbClr val="0D0D0D"/>
                </a:solidFill>
                <a:effectLst/>
                <a:latin typeface="Calibri" panose="020F0502020204030204" pitchFamily="34" charset="0"/>
                <a:cs typeface="Calibri" panose="020F0502020204030204" pitchFamily="34" charset="0"/>
              </a:rPr>
              <a:t>Higher temperatures accelerate the melting of glaciers and ice caps, leading to rising sea levels. This, coupled with increased precipitation intensity, can result in more frequent and severe flooding events</a:t>
            </a:r>
          </a:p>
          <a:p>
            <a:pPr algn="l"/>
            <a:endParaRPr lang="en-GB" dirty="0">
              <a:solidFill>
                <a:srgbClr val="0D0D0D"/>
              </a:solidFill>
              <a:latin typeface="Calibri" panose="020F0502020204030204" pitchFamily="34" charset="0"/>
              <a:cs typeface="Calibri" panose="020F0502020204030204" pitchFamily="34" charset="0"/>
            </a:endParaRPr>
          </a:p>
          <a:p>
            <a:pPr algn="l"/>
            <a:r>
              <a:rPr lang="en-GB" b="1" i="0" u="none" strike="noStrike" dirty="0">
                <a:solidFill>
                  <a:srgbClr val="FF0000"/>
                </a:solidFill>
                <a:effectLst/>
                <a:latin typeface="Calibri" panose="020F0502020204030204" pitchFamily="34" charset="0"/>
                <a:cs typeface="Calibri" panose="020F0502020204030204" pitchFamily="34" charset="0"/>
              </a:rPr>
              <a:t>Droughts:</a:t>
            </a:r>
            <a:r>
              <a:rPr lang="en-GB" b="0" i="0" u="none" strike="noStrike" dirty="0">
                <a:solidFill>
                  <a:srgbClr val="FF0000"/>
                </a:solidFill>
                <a:effectLst/>
                <a:latin typeface="Calibri" panose="020F0502020204030204" pitchFamily="34" charset="0"/>
                <a:cs typeface="Calibri" panose="020F0502020204030204" pitchFamily="34" charset="0"/>
              </a:rPr>
              <a:t> </a:t>
            </a:r>
            <a:r>
              <a:rPr lang="en-GB" b="0" i="0" u="none" strike="noStrike" dirty="0">
                <a:solidFill>
                  <a:srgbClr val="0D0D0D"/>
                </a:solidFill>
                <a:effectLst/>
                <a:latin typeface="Calibri" panose="020F0502020204030204" pitchFamily="34" charset="0"/>
                <a:cs typeface="Calibri" panose="020F0502020204030204" pitchFamily="34" charset="0"/>
              </a:rPr>
              <a:t>Changes in precipitation patterns and increased evaporation rates due to higher temperatures can contribute to more frequent and prolonged droughts. Droughts can have significant impacts on agriculture, water resources, and ecosystems and loss of biodiversity.</a:t>
            </a:r>
          </a:p>
          <a:p>
            <a:pPr algn="l"/>
            <a:endParaRPr lang="en-GB" b="0" i="0" u="none" strike="noStrike" dirty="0">
              <a:solidFill>
                <a:srgbClr val="0D0D0D"/>
              </a:solidFill>
              <a:effectLst/>
              <a:latin typeface="Calibri" panose="020F0502020204030204" pitchFamily="34" charset="0"/>
              <a:cs typeface="Calibri" panose="020F0502020204030204" pitchFamily="34" charset="0"/>
            </a:endParaRPr>
          </a:p>
          <a:p>
            <a:pPr algn="l"/>
            <a:r>
              <a:rPr lang="en-GB" b="1" i="0" u="none" strike="noStrike" dirty="0">
                <a:solidFill>
                  <a:srgbClr val="FF0000"/>
                </a:solidFill>
                <a:effectLst/>
                <a:latin typeface="Calibri" panose="020F0502020204030204" pitchFamily="34" charset="0"/>
                <a:cs typeface="Calibri" panose="020F0502020204030204" pitchFamily="34" charset="0"/>
              </a:rPr>
              <a:t>Wildfires:</a:t>
            </a:r>
            <a:r>
              <a:rPr lang="en-GB" b="0" i="0" u="none" strike="noStrike" dirty="0">
                <a:solidFill>
                  <a:srgbClr val="FF0000"/>
                </a:solidFill>
                <a:effectLst/>
                <a:latin typeface="Calibri" panose="020F0502020204030204" pitchFamily="34" charset="0"/>
                <a:cs typeface="Calibri" panose="020F0502020204030204" pitchFamily="34" charset="0"/>
              </a:rPr>
              <a:t> </a:t>
            </a:r>
            <a:r>
              <a:rPr lang="en-GB" b="0" i="0" u="none" strike="noStrike" dirty="0">
                <a:solidFill>
                  <a:srgbClr val="0D0D0D"/>
                </a:solidFill>
                <a:effectLst/>
                <a:latin typeface="Calibri" panose="020F0502020204030204" pitchFamily="34" charset="0"/>
                <a:cs typeface="Calibri" panose="020F0502020204030204" pitchFamily="34" charset="0"/>
              </a:rPr>
              <a:t>Warmer temperatures, coupled with changes in precipitation patterns, can create conditions conducive to the spread of wildfires. Drier vegetation and increased fire risk can lead to larger and more frequent wildfires, posing threats to human health, property, and ecosystems.</a:t>
            </a:r>
          </a:p>
        </p:txBody>
      </p:sp>
      <p:sp>
        <p:nvSpPr>
          <p:cNvPr id="2" name="TextBox 1">
            <a:extLst>
              <a:ext uri="{FF2B5EF4-FFF2-40B4-BE49-F238E27FC236}">
                <a16:creationId xmlns:a16="http://schemas.microsoft.com/office/drawing/2014/main" id="{8DB9A327-81F5-3C2B-3D3C-76BF13EF1A28}"/>
              </a:ext>
            </a:extLst>
          </p:cNvPr>
          <p:cNvSpPr txBox="1"/>
          <p:nvPr/>
        </p:nvSpPr>
        <p:spPr>
          <a:xfrm>
            <a:off x="13807963" y="8764665"/>
            <a:ext cx="3461728" cy="1107996"/>
          </a:xfrm>
          <a:prstGeom prst="rect">
            <a:avLst/>
          </a:prstGeom>
          <a:noFill/>
        </p:spPr>
        <p:txBody>
          <a:bodyPr wrap="square" rtlCol="0">
            <a:spAutoFit/>
          </a:bodyPr>
          <a:lstStyle/>
          <a:p>
            <a:r>
              <a:rPr lang="en-GB" sz="6600" b="1" dirty="0">
                <a:solidFill>
                  <a:srgbClr val="FF0000"/>
                </a:solidFill>
              </a:rPr>
              <a:t>WEEK 8</a:t>
            </a:r>
          </a:p>
        </p:txBody>
      </p:sp>
    </p:spTree>
    <p:extLst>
      <p:ext uri="{BB962C8B-B14F-4D97-AF65-F5344CB8AC3E}">
        <p14:creationId xmlns:p14="http://schemas.microsoft.com/office/powerpoint/2010/main" val="789562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80481EE-5C90-E45B-2885-D7D234A6F1CD}"/>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394A9CC6-A5B4-0619-6F4D-789D20E22316}"/>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4" name="TextBox 3">
            <a:extLst>
              <a:ext uri="{FF2B5EF4-FFF2-40B4-BE49-F238E27FC236}">
                <a16:creationId xmlns:a16="http://schemas.microsoft.com/office/drawing/2014/main" id="{5561FCF8-56F9-A830-9283-8024D5597821}"/>
              </a:ext>
            </a:extLst>
          </p:cNvPr>
          <p:cNvSpPr txBox="1"/>
          <p:nvPr/>
        </p:nvSpPr>
        <p:spPr>
          <a:xfrm>
            <a:off x="1143000" y="1736548"/>
            <a:ext cx="13847674" cy="805605"/>
          </a:xfrm>
          <a:prstGeom prst="rect">
            <a:avLst/>
          </a:prstGeom>
        </p:spPr>
        <p:txBody>
          <a:bodyPr wrap="square" lIns="0" tIns="0" rIns="0" bIns="0" rtlCol="0" anchor="t">
            <a:spAutoFit/>
          </a:bodyPr>
          <a:lstStyle/>
          <a:p>
            <a:pPr>
              <a:lnSpc>
                <a:spcPts val="6719"/>
              </a:lnSpc>
            </a:pPr>
            <a:r>
              <a:rPr lang="en-US" sz="4400" b="1" i="1" dirty="0">
                <a:solidFill>
                  <a:srgbClr val="46245A"/>
                </a:solidFill>
                <a:latin typeface="DM Sans" pitchFamily="2" charset="0"/>
              </a:rPr>
              <a:t>What could limit global warming to 1.5</a:t>
            </a:r>
            <a:r>
              <a:rPr lang="en-US" sz="4400" b="1" i="1" baseline="30000" dirty="0">
                <a:solidFill>
                  <a:srgbClr val="46245A"/>
                </a:solidFill>
                <a:latin typeface="DM Sans" pitchFamily="2" charset="0"/>
              </a:rPr>
              <a:t>o</a:t>
            </a:r>
            <a:r>
              <a:rPr lang="en-US" sz="4400" b="1" i="1" dirty="0">
                <a:solidFill>
                  <a:srgbClr val="46245A"/>
                </a:solidFill>
                <a:latin typeface="DM Sans" pitchFamily="2" charset="0"/>
              </a:rPr>
              <a:t>C?</a:t>
            </a:r>
            <a:endParaRPr lang="en-US" sz="4400" i="1" dirty="0">
              <a:solidFill>
                <a:srgbClr val="46245A"/>
              </a:solidFill>
              <a:latin typeface="DM Sans" pitchFamily="2" charset="0"/>
            </a:endParaRPr>
          </a:p>
        </p:txBody>
      </p:sp>
      <p:sp>
        <p:nvSpPr>
          <p:cNvPr id="6" name="TextBox 5">
            <a:extLst>
              <a:ext uri="{FF2B5EF4-FFF2-40B4-BE49-F238E27FC236}">
                <a16:creationId xmlns:a16="http://schemas.microsoft.com/office/drawing/2014/main" id="{CA42B2EF-5D23-4E37-CC57-AA134CEE1109}"/>
              </a:ext>
            </a:extLst>
          </p:cNvPr>
          <p:cNvSpPr txBox="1"/>
          <p:nvPr/>
        </p:nvSpPr>
        <p:spPr>
          <a:xfrm>
            <a:off x="1143000" y="3260358"/>
            <a:ext cx="16470512" cy="5632311"/>
          </a:xfrm>
          <a:prstGeom prst="rect">
            <a:avLst/>
          </a:prstGeom>
          <a:noFill/>
        </p:spPr>
        <p:txBody>
          <a:bodyPr wrap="square">
            <a:spAutoFit/>
          </a:bodyPr>
          <a:lstStyle/>
          <a:p>
            <a:r>
              <a:rPr lang="en-GB" sz="2800" i="0" u="none" strike="noStrike" dirty="0">
                <a:effectLst/>
                <a:latin typeface="Calibri" panose="020F0502020204030204" pitchFamily="34" charset="0"/>
                <a:cs typeface="Calibri" panose="020F0502020204030204" pitchFamily="34" charset="0"/>
              </a:rPr>
              <a:t>To strengthen the global response, almost all countries would need to significantly raise their level of ambition</a:t>
            </a:r>
          </a:p>
          <a:p>
            <a:pPr marL="342900" indent="-342900" algn="l">
              <a:buFont typeface="Arial" panose="020B0604020202020204" pitchFamily="34" charset="0"/>
              <a:buChar char="•"/>
            </a:pPr>
            <a:endParaRPr lang="en-GB" sz="2800" b="0" i="0" u="none" strike="noStrike" dirty="0">
              <a:solidFill>
                <a:srgbClr val="0D0D0D"/>
              </a:solidFill>
              <a:effectLst/>
              <a:latin typeface="Calibri" panose="020F0502020204030204" pitchFamily="34" charset="0"/>
              <a:cs typeface="Calibri" panose="020F0502020204030204" pitchFamily="34" charset="0"/>
            </a:endParaRPr>
          </a:p>
          <a:p>
            <a:pPr marL="342900" indent="-342900" algn="l">
              <a:buFont typeface="Arial" panose="020B0604020202020204" pitchFamily="34" charset="0"/>
              <a:buChar char="•"/>
            </a:pPr>
            <a:r>
              <a:rPr lang="en-GB" sz="2800" b="0" i="0" u="none" strike="noStrike" dirty="0">
                <a:solidFill>
                  <a:srgbClr val="0D0D0D"/>
                </a:solidFill>
                <a:effectLst/>
                <a:latin typeface="Calibri" panose="020F0502020204030204" pitchFamily="34" charset="0"/>
                <a:cs typeface="Calibri" panose="020F0502020204030204" pitchFamily="34" charset="0"/>
              </a:rPr>
              <a:t>Solar, wind, and electricity storage technologies more feasible</a:t>
            </a:r>
          </a:p>
          <a:p>
            <a:pPr marL="342900" indent="-342900" algn="l">
              <a:buFont typeface="Arial" panose="020B0604020202020204" pitchFamily="34" charset="0"/>
              <a:buChar char="•"/>
            </a:pPr>
            <a:r>
              <a:rPr lang="en-GB" sz="2800" b="0" i="0" u="none" strike="noStrike" dirty="0">
                <a:solidFill>
                  <a:srgbClr val="0D0D0D"/>
                </a:solidFill>
                <a:effectLst/>
                <a:latin typeface="Calibri" panose="020F0502020204030204" pitchFamily="34" charset="0"/>
                <a:cs typeface="Calibri" panose="020F0502020204030204" pitchFamily="34" charset="0"/>
              </a:rPr>
              <a:t>Nuclear energy and carbon capture technology improvements lacking</a:t>
            </a:r>
          </a:p>
          <a:p>
            <a:pPr marL="342900" indent="-342900" algn="l">
              <a:buFont typeface="Arial" panose="020B0604020202020204" pitchFamily="34" charset="0"/>
              <a:buChar char="•"/>
            </a:pPr>
            <a:r>
              <a:rPr lang="en-GB" sz="2800" b="0" i="0" u="none" strike="noStrike" dirty="0">
                <a:solidFill>
                  <a:srgbClr val="0D0D0D"/>
                </a:solidFill>
                <a:effectLst/>
                <a:latin typeface="Calibri" panose="020F0502020204030204" pitchFamily="34" charset="0"/>
                <a:cs typeface="Calibri" panose="020F0502020204030204" pitchFamily="34" charset="0"/>
              </a:rPr>
              <a:t>Electrification, hydrogen, bio-based feedstocks crucial for emissions reduction</a:t>
            </a:r>
          </a:p>
          <a:p>
            <a:pPr marL="342900" indent="-342900" algn="l">
              <a:buFont typeface="Arial" panose="020B0604020202020204" pitchFamily="34" charset="0"/>
              <a:buChar char="•"/>
            </a:pPr>
            <a:r>
              <a:rPr lang="en-GB" sz="2800" b="0" i="0" u="none" strike="noStrike" dirty="0">
                <a:solidFill>
                  <a:srgbClr val="0D0D0D"/>
                </a:solidFill>
                <a:effectLst/>
                <a:latin typeface="Calibri" panose="020F0502020204030204" pitchFamily="34" charset="0"/>
                <a:cs typeface="Calibri" panose="020F0502020204030204" pitchFamily="34" charset="0"/>
              </a:rPr>
              <a:t>Land use transitions necessary for limiting warming to 1.5°C</a:t>
            </a:r>
          </a:p>
          <a:p>
            <a:pPr marL="342900" indent="-342900" algn="l">
              <a:buFont typeface="Arial" panose="020B0604020202020204" pitchFamily="34" charset="0"/>
              <a:buChar char="•"/>
            </a:pPr>
            <a:r>
              <a:rPr lang="en-GB" sz="2800" b="0" i="0" u="none" strike="noStrike" dirty="0">
                <a:solidFill>
                  <a:srgbClr val="0D0D0D"/>
                </a:solidFill>
                <a:effectLst/>
                <a:latin typeface="Calibri" panose="020F0502020204030204" pitchFamily="34" charset="0"/>
                <a:cs typeface="Calibri" panose="020F0502020204030204" pitchFamily="34" charset="0"/>
              </a:rPr>
              <a:t>Efficiency in food production can reduce emissions and enhance food security</a:t>
            </a:r>
          </a:p>
          <a:p>
            <a:pPr marL="342900" indent="-342900" algn="l">
              <a:buFont typeface="Arial" panose="020B0604020202020204" pitchFamily="34" charset="0"/>
              <a:buChar char="•"/>
            </a:pPr>
            <a:r>
              <a:rPr lang="en-GB" sz="2800" b="0" i="0" u="none" strike="noStrike" dirty="0">
                <a:solidFill>
                  <a:srgbClr val="0D0D0D"/>
                </a:solidFill>
                <a:effectLst/>
                <a:latin typeface="Calibri" panose="020F0502020204030204" pitchFamily="34" charset="0"/>
                <a:cs typeface="Calibri" panose="020F0502020204030204" pitchFamily="34" charset="0"/>
              </a:rPr>
              <a:t>Dietary shifts and reduced food waste can lower emissions and increase adaptation</a:t>
            </a:r>
          </a:p>
          <a:p>
            <a:pPr marL="342900" indent="-342900" algn="l">
              <a:buFont typeface="Arial" panose="020B0604020202020204" pitchFamily="34" charset="0"/>
              <a:buChar char="•"/>
            </a:pPr>
            <a:r>
              <a:rPr lang="en-GB" sz="2800" b="0" i="0" u="none" strike="noStrike" dirty="0">
                <a:solidFill>
                  <a:srgbClr val="0D0D0D"/>
                </a:solidFill>
                <a:effectLst/>
                <a:latin typeface="Calibri" panose="020F0502020204030204" pitchFamily="34" charset="0"/>
                <a:cs typeface="Calibri" panose="020F0502020204030204" pitchFamily="34" charset="0"/>
              </a:rPr>
              <a:t>Participatory and integrated mitigation and adaptation approaches enable rapid transitions for limiting warming</a:t>
            </a:r>
          </a:p>
          <a:p>
            <a:endParaRPr lang="en-GB" sz="2000" dirty="0">
              <a:solidFill>
                <a:srgbClr val="252F52"/>
              </a:solidFill>
              <a:latin typeface="Calibri" panose="020F0502020204030204" pitchFamily="34" charset="0"/>
              <a:cs typeface="Calibri" panose="020F0502020204030204" pitchFamily="34" charset="0"/>
            </a:endParaRPr>
          </a:p>
          <a:p>
            <a:endParaRPr lang="en-GB" sz="2000" u="none" strike="noStrike" dirty="0">
              <a:solidFill>
                <a:srgbClr val="252F52"/>
              </a:solidFill>
              <a:effectLst/>
              <a:latin typeface="Calibri" panose="020F0502020204030204" pitchFamily="34" charset="0"/>
              <a:cs typeface="Calibri" panose="020F0502020204030204" pitchFamily="34" charset="0"/>
            </a:endParaRPr>
          </a:p>
          <a:p>
            <a:endParaRPr lang="en-GB" sz="2000" dirty="0">
              <a:solidFill>
                <a:srgbClr val="252F52"/>
              </a:solidFill>
              <a:latin typeface="Calibri" panose="020F0502020204030204" pitchFamily="34" charset="0"/>
              <a:cs typeface="Calibri" panose="020F0502020204030204" pitchFamily="34" charset="0"/>
            </a:endParaRPr>
          </a:p>
          <a:p>
            <a:r>
              <a:rPr lang="en-GB" sz="2000" u="none" strike="noStrike" dirty="0">
                <a:solidFill>
                  <a:srgbClr val="252F52"/>
                </a:solidFill>
                <a:effectLst/>
                <a:latin typeface="Calibri" panose="020F0502020204030204" pitchFamily="34" charset="0"/>
                <a:cs typeface="Calibri" panose="020F0502020204030204" pitchFamily="34" charset="0"/>
              </a:rPr>
              <a:t> </a:t>
            </a:r>
            <a:endParaRPr lang="en-GB" sz="20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EE6FB937-D08F-008F-045A-2D7A67062B94}"/>
              </a:ext>
            </a:extLst>
          </p:cNvPr>
          <p:cNvSpPr txBox="1"/>
          <p:nvPr/>
        </p:nvSpPr>
        <p:spPr>
          <a:xfrm>
            <a:off x="11843383" y="7638685"/>
            <a:ext cx="3648663" cy="1107996"/>
          </a:xfrm>
          <a:prstGeom prst="rect">
            <a:avLst/>
          </a:prstGeom>
          <a:noFill/>
        </p:spPr>
        <p:txBody>
          <a:bodyPr wrap="square" rtlCol="0">
            <a:spAutoFit/>
          </a:bodyPr>
          <a:lstStyle/>
          <a:p>
            <a:r>
              <a:rPr lang="en-GB" sz="6600" b="1" dirty="0">
                <a:solidFill>
                  <a:srgbClr val="FF0000"/>
                </a:solidFill>
              </a:rPr>
              <a:t>WEEK 9</a:t>
            </a:r>
          </a:p>
        </p:txBody>
      </p:sp>
    </p:spTree>
    <p:extLst>
      <p:ext uri="{BB962C8B-B14F-4D97-AF65-F5344CB8AC3E}">
        <p14:creationId xmlns:p14="http://schemas.microsoft.com/office/powerpoint/2010/main" val="3894411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1291E-B584-FD23-5409-AD4E8DF9D15D}"/>
            </a:ext>
          </a:extLst>
        </p:cNvPr>
        <p:cNvGrpSpPr/>
        <p:nvPr/>
      </p:nvGrpSpPr>
      <p:grpSpPr>
        <a:xfrm>
          <a:off x="0" y="0"/>
          <a:ext cx="0" cy="0"/>
          <a:chOff x="0" y="0"/>
          <a:chExt cx="0" cy="0"/>
        </a:xfrm>
      </p:grpSpPr>
      <p:sp>
        <p:nvSpPr>
          <p:cNvPr id="3" name="TextBox 14">
            <a:extLst>
              <a:ext uri="{FF2B5EF4-FFF2-40B4-BE49-F238E27FC236}">
                <a16:creationId xmlns:a16="http://schemas.microsoft.com/office/drawing/2014/main" id="{AF68D400-DEB6-92F7-3EDB-5A9701421D5E}"/>
              </a:ext>
            </a:extLst>
          </p:cNvPr>
          <p:cNvSpPr txBox="1"/>
          <p:nvPr/>
        </p:nvSpPr>
        <p:spPr>
          <a:xfrm>
            <a:off x="584198" y="1026137"/>
            <a:ext cx="11004828" cy="861518"/>
          </a:xfrm>
          <a:prstGeom prst="rect">
            <a:avLst/>
          </a:prstGeom>
        </p:spPr>
        <p:txBody>
          <a:bodyPr wrap="square" lIns="0" tIns="0" rIns="0" bIns="0" rtlCol="0" anchor="t">
            <a:spAutoFit/>
          </a:bodyPr>
          <a:lstStyle/>
          <a:p>
            <a:pPr defTabSz="914445">
              <a:lnSpc>
                <a:spcPts val="6860"/>
              </a:lnSpc>
              <a:defRPr/>
            </a:pPr>
            <a:r>
              <a:rPr lang="en-US" sz="5400" i="1" spc="-413" dirty="0">
                <a:solidFill>
                  <a:srgbClr val="46245A"/>
                </a:solidFill>
                <a:latin typeface="DM Sans Bold"/>
                <a:ea typeface="ＭＳ Ｐゴシック" panose="020B0600070205080204" pitchFamily="34" charset="-128"/>
              </a:rPr>
              <a:t>Lecture Summary</a:t>
            </a:r>
          </a:p>
        </p:txBody>
      </p:sp>
      <p:pic>
        <p:nvPicPr>
          <p:cNvPr id="10" name="Picture 2" descr="Places of Climate Change">
            <a:extLst>
              <a:ext uri="{FF2B5EF4-FFF2-40B4-BE49-F238E27FC236}">
                <a16:creationId xmlns:a16="http://schemas.microsoft.com/office/drawing/2014/main" id="{C0628126-DB9E-9414-769A-F262ECA340E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490" r="39572"/>
          <a:stretch>
            <a:fillRect/>
          </a:stretch>
        </p:blipFill>
        <p:spPr bwMode="auto">
          <a:xfrm>
            <a:off x="10248044" y="0"/>
            <a:ext cx="8035385" cy="10286985"/>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11" name="Freeform 13">
            <a:extLst>
              <a:ext uri="{FF2B5EF4-FFF2-40B4-BE49-F238E27FC236}">
                <a16:creationId xmlns:a16="http://schemas.microsoft.com/office/drawing/2014/main" id="{2F94EEC3-9338-4679-F02E-0F944C2AB3BA}"/>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a typeface="MS PGothic" panose="020B0600070205080204" pitchFamily="34" charset="-128"/>
            </a:endParaRPr>
          </a:p>
        </p:txBody>
      </p:sp>
      <p:sp>
        <p:nvSpPr>
          <p:cNvPr id="4" name="TextBox 3">
            <a:extLst>
              <a:ext uri="{FF2B5EF4-FFF2-40B4-BE49-F238E27FC236}">
                <a16:creationId xmlns:a16="http://schemas.microsoft.com/office/drawing/2014/main" id="{E70AA273-C7C1-A010-4271-E171ED172E87}"/>
              </a:ext>
            </a:extLst>
          </p:cNvPr>
          <p:cNvSpPr txBox="1"/>
          <p:nvPr/>
        </p:nvSpPr>
        <p:spPr>
          <a:xfrm>
            <a:off x="584198" y="2069258"/>
            <a:ext cx="9509371" cy="7540526"/>
          </a:xfrm>
          <a:prstGeom prst="rect">
            <a:avLst/>
          </a:prstGeom>
          <a:noFill/>
        </p:spPr>
        <p:txBody>
          <a:bodyPr wrap="square">
            <a:spAutoFit/>
          </a:bodyPr>
          <a:lstStyle/>
          <a:p>
            <a:r>
              <a:rPr lang="en-GB" sz="2200" dirty="0">
                <a:latin typeface="Calibri" panose="020F0502020204030204" pitchFamily="34" charset="0"/>
                <a:cs typeface="Calibri" panose="020F0502020204030204" pitchFamily="34" charset="0"/>
              </a:rPr>
              <a:t>Global Climate Models (GCMs) simulate the Earth’s climate by representing interactions between the atmosphere, oceans, land, and sea ice to understand long-term climate behaviour.</a:t>
            </a:r>
          </a:p>
          <a:p>
            <a:endParaRPr lang="en-GB" sz="2200" dirty="0">
              <a:latin typeface="Calibri" panose="020F0502020204030204" pitchFamily="34" charset="0"/>
              <a:cs typeface="Calibri" panose="020F0502020204030204" pitchFamily="34" charset="0"/>
            </a:endParaRPr>
          </a:p>
          <a:p>
            <a:r>
              <a:rPr lang="en-GB" sz="2200" dirty="0">
                <a:latin typeface="Calibri" panose="020F0502020204030204" pitchFamily="34" charset="0"/>
                <a:cs typeface="Calibri" panose="020F0502020204030204" pitchFamily="34" charset="0"/>
              </a:rPr>
              <a:t>The Earth is divided into a 3-D grid, where variables such as temperature, pressure, wind, and water vapour are calculated and exchanged between grid cells. Higher resolution improves accuracy but requires computational power.</a:t>
            </a:r>
          </a:p>
          <a:p>
            <a:endParaRPr lang="en-GB" sz="2200" dirty="0">
              <a:latin typeface="Calibri" panose="020F0502020204030204" pitchFamily="34" charset="0"/>
              <a:cs typeface="Calibri" panose="020F0502020204030204" pitchFamily="34" charset="0"/>
            </a:endParaRPr>
          </a:p>
          <a:p>
            <a:r>
              <a:rPr lang="en-GB" sz="2200" dirty="0">
                <a:latin typeface="Calibri" panose="020F0502020204030204" pitchFamily="34" charset="0"/>
                <a:cs typeface="Calibri" panose="020F0502020204030204" pitchFamily="34" charset="0"/>
              </a:rPr>
              <a:t>Modern models are coupled Earth system models, linking atmosphere, ocean, cryosphere, biosphere, and atmospheric chemistry to capture important climate feedbacks.</a:t>
            </a:r>
          </a:p>
          <a:p>
            <a:endParaRPr lang="en-GB" sz="2200" dirty="0">
              <a:latin typeface="Calibri" panose="020F0502020204030204" pitchFamily="34" charset="0"/>
              <a:cs typeface="Calibri" panose="020F0502020204030204" pitchFamily="34" charset="0"/>
            </a:endParaRPr>
          </a:p>
          <a:p>
            <a:r>
              <a:rPr lang="en-GB" sz="2200" dirty="0">
                <a:latin typeface="Calibri" panose="020F0502020204030204" pitchFamily="34" charset="0"/>
                <a:cs typeface="Calibri" panose="020F0502020204030204" pitchFamily="34" charset="0"/>
              </a:rPr>
              <a:t>Models are tested using hindcasting, where simulations of past climate are compared with observations to assess reliability.</a:t>
            </a:r>
          </a:p>
          <a:p>
            <a:endParaRPr lang="en-GB" sz="2200" dirty="0">
              <a:latin typeface="Calibri" panose="020F0502020204030204" pitchFamily="34" charset="0"/>
              <a:cs typeface="Calibri" panose="020F0502020204030204" pitchFamily="34" charset="0"/>
            </a:endParaRPr>
          </a:p>
          <a:p>
            <a:r>
              <a:rPr lang="en-GB" sz="2200" dirty="0">
                <a:latin typeface="Calibri" panose="020F0502020204030204" pitchFamily="34" charset="0"/>
                <a:cs typeface="Calibri" panose="020F0502020204030204" pitchFamily="34" charset="0"/>
              </a:rPr>
              <a:t>Representative Concentration Pathways (RCPs) describe possible future greenhouse-gas emission scenarios used to project warming and changes in precipitation and extreme events.</a:t>
            </a:r>
          </a:p>
          <a:p>
            <a:endParaRPr lang="en-GB" sz="2200" dirty="0">
              <a:latin typeface="Calibri" panose="020F0502020204030204" pitchFamily="34" charset="0"/>
              <a:cs typeface="Calibri" panose="020F0502020204030204" pitchFamily="34" charset="0"/>
            </a:endParaRPr>
          </a:p>
          <a:p>
            <a:r>
              <a:rPr lang="en-GB" sz="2200" dirty="0">
                <a:latin typeface="Calibri" panose="020F0502020204030204" pitchFamily="34" charset="0"/>
                <a:cs typeface="Calibri" panose="020F0502020204030204" pitchFamily="34" charset="0"/>
              </a:rPr>
              <a:t>Future climate models are expected to use higher resolution, improved observational data, and approaches such as AI and machine learning to better represent complex processes and reduce uncertainties in climate projections. </a:t>
            </a:r>
          </a:p>
        </p:txBody>
      </p:sp>
    </p:spTree>
    <p:extLst>
      <p:ext uri="{BB962C8B-B14F-4D97-AF65-F5344CB8AC3E}">
        <p14:creationId xmlns:p14="http://schemas.microsoft.com/office/powerpoint/2010/main" val="38700898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351D686-1DE4-1396-2A19-D718507EDCC0}"/>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0ABAAB73-8633-9C4C-A0E5-3E44FEF9664E}"/>
              </a:ext>
            </a:extLst>
          </p:cNvPr>
          <p:cNvSpPr txBox="1"/>
          <p:nvPr/>
        </p:nvSpPr>
        <p:spPr>
          <a:xfrm>
            <a:off x="738554" y="1500849"/>
            <a:ext cx="14649450" cy="820289"/>
          </a:xfrm>
          <a:prstGeom prst="rect">
            <a:avLst/>
          </a:prstGeom>
        </p:spPr>
        <p:txBody>
          <a:bodyPr wrap="square" lIns="0" tIns="0" rIns="0" bIns="0" rtlCol="0" anchor="t">
            <a:spAutoFit/>
          </a:bodyPr>
          <a:lstStyle/>
          <a:p>
            <a:pPr>
              <a:lnSpc>
                <a:spcPts val="6719"/>
              </a:lnSpc>
            </a:pPr>
            <a:r>
              <a:rPr lang="en-US" sz="4800" b="1" i="1" dirty="0">
                <a:solidFill>
                  <a:srgbClr val="46245A"/>
                </a:solidFill>
                <a:latin typeface="DM Sans" pitchFamily="2" charset="0"/>
              </a:rPr>
              <a:t>Example exam questions from today </a:t>
            </a:r>
            <a:endParaRPr lang="en-US" sz="4800" i="1" dirty="0">
              <a:solidFill>
                <a:srgbClr val="46245A"/>
              </a:solidFill>
              <a:latin typeface="DM Sans" pitchFamily="2" charset="0"/>
            </a:endParaRPr>
          </a:p>
        </p:txBody>
      </p:sp>
      <p:sp>
        <p:nvSpPr>
          <p:cNvPr id="10" name="Freeform 13">
            <a:extLst>
              <a:ext uri="{FF2B5EF4-FFF2-40B4-BE49-F238E27FC236}">
                <a16:creationId xmlns:a16="http://schemas.microsoft.com/office/drawing/2014/main" id="{63658212-4D3A-E72D-14FE-2F4158D3DC64}"/>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3" name="Content Placeholder 2">
            <a:extLst>
              <a:ext uri="{FF2B5EF4-FFF2-40B4-BE49-F238E27FC236}">
                <a16:creationId xmlns:a16="http://schemas.microsoft.com/office/drawing/2014/main" id="{B2530D13-C98C-CD4D-9898-7CEA2A67113D}"/>
              </a:ext>
            </a:extLst>
          </p:cNvPr>
          <p:cNvSpPr txBox="1">
            <a:spLocks/>
          </p:cNvSpPr>
          <p:nvPr/>
        </p:nvSpPr>
        <p:spPr>
          <a:xfrm>
            <a:off x="738554" y="2880518"/>
            <a:ext cx="16470512" cy="4525963"/>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457200" indent="-457200">
              <a:buFont typeface="+mj-lt"/>
              <a:buAutoNum type="arabicPeriod"/>
            </a:pPr>
            <a:r>
              <a:rPr lang="en-GB" sz="2200" dirty="0">
                <a:latin typeface="Calibri" panose="020F0502020204030204" pitchFamily="34" charset="0"/>
                <a:cs typeface="Calibri" panose="020F0502020204030204" pitchFamily="34" charset="0"/>
              </a:rPr>
              <a:t>Explain why the 1.5 °C global warming threshold is considered important, and discuss why exceeding 2 °C would pose greater risks.</a:t>
            </a:r>
          </a:p>
          <a:p>
            <a:pPr marL="457200" indent="-457200">
              <a:buFont typeface="+mj-lt"/>
              <a:buAutoNum type="arabicPeriod"/>
            </a:pPr>
            <a:r>
              <a:rPr lang="en-GB" sz="2200" dirty="0">
                <a:latin typeface="Calibri" panose="020F0502020204030204" pitchFamily="34" charset="0"/>
                <a:cs typeface="Calibri" panose="020F0502020204030204" pitchFamily="34" charset="0"/>
              </a:rPr>
              <a:t>Explain why coupling different Earth system components (e.g., atmosphere, ocean, cryosphere, biosphere) improves climate model performance.</a:t>
            </a:r>
          </a:p>
          <a:p>
            <a:pPr marL="457200" indent="-457200">
              <a:buFont typeface="+mj-lt"/>
              <a:buAutoNum type="arabicPeriod"/>
            </a:pPr>
            <a:r>
              <a:rPr lang="en-GB" sz="2200" dirty="0">
                <a:latin typeface="Calibri" panose="020F0502020204030204" pitchFamily="34" charset="0"/>
                <a:cs typeface="Calibri" panose="020F0502020204030204" pitchFamily="34" charset="0"/>
              </a:rPr>
              <a:t>Describe how global climate models can be used to attribute observed warming to human activities.</a:t>
            </a:r>
          </a:p>
          <a:p>
            <a:pPr marL="457200" indent="-457200">
              <a:buFont typeface="+mj-lt"/>
              <a:buAutoNum type="arabicPeriod"/>
            </a:pPr>
            <a:r>
              <a:rPr lang="en-GB" sz="2200" dirty="0">
                <a:latin typeface="Calibri" panose="020F0502020204030204" pitchFamily="34" charset="0"/>
                <a:cs typeface="Calibri" panose="020F0502020204030204" pitchFamily="34" charset="0"/>
              </a:rPr>
              <a:t>Explain the difference between natural climate variability and anthropogenic climate change, and how models help distinguish between them.</a:t>
            </a:r>
          </a:p>
          <a:p>
            <a:pPr marL="457200" indent="-457200">
              <a:buFont typeface="+mj-lt"/>
              <a:buAutoNum type="arabicPeriod"/>
            </a:pPr>
            <a:r>
              <a:rPr lang="en-GB" sz="2200" dirty="0">
                <a:latin typeface="Calibri" panose="020F0502020204030204" pitchFamily="34" charset="0"/>
                <a:cs typeface="Calibri" panose="020F0502020204030204" pitchFamily="34" charset="0"/>
              </a:rPr>
              <a:t>Describe how the Earth is represented within a climate model grid, and explain why model resolution is important.</a:t>
            </a:r>
          </a:p>
          <a:p>
            <a:pPr marL="457200" indent="-457200">
              <a:buFont typeface="+mj-lt"/>
              <a:buAutoNum type="arabicPeriod"/>
            </a:pPr>
            <a:r>
              <a:rPr lang="en-GB" sz="2200" dirty="0">
                <a:latin typeface="Calibri" panose="020F0502020204030204" pitchFamily="34" charset="0"/>
                <a:cs typeface="Calibri" panose="020F0502020204030204" pitchFamily="34" charset="0"/>
              </a:rPr>
              <a:t>Explain the role of Representative Concentration Pathways (RCPs) in projecting future climate change.</a:t>
            </a:r>
          </a:p>
          <a:p>
            <a:pPr marL="457200" indent="-457200">
              <a:buFont typeface="+mj-lt"/>
              <a:buAutoNum type="arabicPeriod"/>
            </a:pPr>
            <a:r>
              <a:rPr lang="en-GB" sz="2200" dirty="0">
                <a:latin typeface="Calibri" panose="020F0502020204030204" pitchFamily="34" charset="0"/>
                <a:cs typeface="Calibri" panose="020F0502020204030204" pitchFamily="34" charset="0"/>
              </a:rPr>
              <a:t>Describe how hindcasting is used to evaluate the performance of climate models.</a:t>
            </a:r>
          </a:p>
          <a:p>
            <a:pPr marL="457200" indent="-457200">
              <a:buFont typeface="+mj-lt"/>
              <a:buAutoNum type="arabicPeriod"/>
            </a:pPr>
            <a:r>
              <a:rPr lang="en-GB" sz="2200" dirty="0">
                <a:latin typeface="Calibri" panose="020F0502020204030204" pitchFamily="34" charset="0"/>
                <a:cs typeface="Calibri" panose="020F0502020204030204" pitchFamily="34" charset="0"/>
              </a:rPr>
              <a:t>Discuss the major sources of uncertainty in global climate models.</a:t>
            </a:r>
          </a:p>
          <a:p>
            <a:pPr marL="457200" indent="-457200">
              <a:buFont typeface="+mj-lt"/>
              <a:buAutoNum type="arabicPeriod"/>
            </a:pPr>
            <a:r>
              <a:rPr lang="en-GB" sz="2200" dirty="0">
                <a:latin typeface="Calibri" panose="020F0502020204030204" pitchFamily="34" charset="0"/>
                <a:cs typeface="Calibri" panose="020F0502020204030204" pitchFamily="34" charset="0"/>
              </a:rPr>
              <a:t>Explain how the lifetime of atmospheric components (e.g., aerosols or greenhouse gases) influences climate model predictions.</a:t>
            </a:r>
          </a:p>
          <a:p>
            <a:pPr marL="457200" indent="-457200">
              <a:buFont typeface="+mj-lt"/>
              <a:buAutoNum type="arabicPeriod"/>
            </a:pPr>
            <a:r>
              <a:rPr lang="en-GB" sz="2200" dirty="0">
                <a:latin typeface="Calibri" panose="020F0502020204030204" pitchFamily="34" charset="0"/>
                <a:cs typeface="Calibri" panose="020F0502020204030204" pitchFamily="34" charset="0"/>
              </a:rPr>
              <a:t>Describe the role of observational data in improving and validating climate models.</a:t>
            </a:r>
          </a:p>
          <a:p>
            <a:pPr marL="457200" indent="-457200">
              <a:buFont typeface="+mj-lt"/>
              <a:buAutoNum type="arabicPeriod"/>
            </a:pPr>
            <a:r>
              <a:rPr lang="en-GB" sz="2200" dirty="0">
                <a:latin typeface="Calibri" panose="020F0502020204030204" pitchFamily="34" charset="0"/>
                <a:cs typeface="Calibri" panose="020F0502020204030204" pitchFamily="34" charset="0"/>
              </a:rPr>
              <a:t>Explain why climate models perform better at global and long-term scales than at regional or short-term scales.</a:t>
            </a:r>
          </a:p>
          <a:p>
            <a:pPr marL="457200" indent="-457200">
              <a:buFont typeface="+mj-lt"/>
              <a:buAutoNum type="arabicPeriod"/>
            </a:pPr>
            <a:r>
              <a:rPr lang="en-GB" sz="2200" dirty="0">
                <a:latin typeface="Calibri" panose="020F0502020204030204" pitchFamily="34" charset="0"/>
                <a:cs typeface="Calibri" panose="020F0502020204030204" pitchFamily="34" charset="0"/>
              </a:rPr>
              <a:t>Discuss how advances in computing power have improved climate model capability and resolution.</a:t>
            </a:r>
          </a:p>
          <a:p>
            <a:pPr marL="457200" indent="-457200">
              <a:buFont typeface="+mj-lt"/>
              <a:buAutoNum type="arabicPeriod"/>
            </a:pPr>
            <a:r>
              <a:rPr lang="en-GB" sz="2200" dirty="0">
                <a:latin typeface="Calibri" panose="020F0502020204030204" pitchFamily="34" charset="0"/>
                <a:cs typeface="Calibri" panose="020F0502020204030204" pitchFamily="34" charset="0"/>
              </a:rPr>
              <a:t>Describe potential future developments in climate modelling, including the role of higher resolution models, improved observations, and artificial intelligence or machine learning.</a:t>
            </a:r>
            <a:r>
              <a:rPr lang="en-GB" altLang="en-US" sz="2200" dirty="0">
                <a:latin typeface="Calibri" panose="020F0502020204030204" pitchFamily="34" charset="0"/>
                <a:cs typeface="Calibri" panose="020F0502020204030204" pitchFamily="34" charset="0"/>
              </a:rPr>
              <a:t>      </a:t>
            </a:r>
            <a:r>
              <a:rPr lang="en-GB" altLang="en-US" dirty="0">
                <a:latin typeface="Calibri" panose="020F0502020204030204" pitchFamily="34" charset="0"/>
                <a:cs typeface="Calibri" panose="020F0502020204030204" pitchFamily="34" charset="0"/>
              </a:rPr>
              <a:t>      </a:t>
            </a:r>
            <a:r>
              <a:rPr lang="en-GB" altLang="en-US" dirty="0"/>
              <a:t>                                   </a:t>
            </a:r>
          </a:p>
          <a:p>
            <a:pPr marL="0" indent="0">
              <a:buNone/>
            </a:pPr>
            <a:endParaRPr lang="en-GB" altLang="en-US" dirty="0"/>
          </a:p>
        </p:txBody>
      </p:sp>
    </p:spTree>
    <p:extLst>
      <p:ext uri="{BB962C8B-B14F-4D97-AF65-F5344CB8AC3E}">
        <p14:creationId xmlns:p14="http://schemas.microsoft.com/office/powerpoint/2010/main" val="30526267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2455D-9EF2-494D-209E-9E109C0A74BB}"/>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D9F81932-4E4F-2E80-921C-DAC2EC93067E}"/>
              </a:ext>
            </a:extLst>
          </p:cNvPr>
          <p:cNvSpPr>
            <a:spLocks noGrp="1"/>
          </p:cNvSpPr>
          <p:nvPr>
            <p:ph idx="1"/>
          </p:nvPr>
        </p:nvSpPr>
        <p:spPr>
          <a:xfrm>
            <a:off x="440806" y="5701484"/>
            <a:ext cx="16766307" cy="4391422"/>
          </a:xfrm>
        </p:spPr>
        <p:txBody>
          <a:bodyPr rtlCol="0">
            <a:normAutofit/>
          </a:bodyPr>
          <a:lstStyle/>
          <a:p>
            <a:pPr marL="0" indent="0">
              <a:buNone/>
            </a:pPr>
            <a:r>
              <a:rPr lang="en-GB" sz="2400" dirty="0">
                <a:latin typeface="Calibri" panose="020F0502020204030204" pitchFamily="34" charset="0"/>
                <a:cs typeface="Calibri" panose="020F0502020204030204" pitchFamily="34" charset="0"/>
              </a:rPr>
              <a:t>We will focus on the impacts of climate change and how societies adapt to them. We will explore how projected changes in temperature, precipitation, sea level, and extreme events affect ecosystems and human systems, and examine strategies for responding to these risks. </a:t>
            </a:r>
          </a:p>
          <a:p>
            <a:pPr marL="0" indent="0">
              <a:buNone/>
            </a:pPr>
            <a:r>
              <a:rPr lang="en-GB" sz="2400" dirty="0">
                <a:latin typeface="Calibri" panose="020F0502020204030204" pitchFamily="34" charset="0"/>
                <a:cs typeface="Calibri" panose="020F0502020204030204" pitchFamily="34" charset="0"/>
              </a:rPr>
              <a:t>By the end of that lecture, you will be able to:</a:t>
            </a:r>
          </a:p>
          <a:p>
            <a:r>
              <a:rPr lang="en-GB" sz="2400" dirty="0">
                <a:latin typeface="Calibri" panose="020F0502020204030204" pitchFamily="34" charset="0"/>
                <a:cs typeface="Calibri" panose="020F0502020204030204" pitchFamily="34" charset="0"/>
              </a:rPr>
              <a:t>Explain how climate change is expected to impact temperature, precipitation patterns, sea level, ecosystems, and human health.</a:t>
            </a:r>
          </a:p>
          <a:p>
            <a:r>
              <a:rPr lang="en-GB" sz="2400" dirty="0">
                <a:latin typeface="Calibri" panose="020F0502020204030204" pitchFamily="34" charset="0"/>
                <a:cs typeface="Calibri" panose="020F0502020204030204" pitchFamily="34" charset="0"/>
              </a:rPr>
              <a:t>Describe the difference between climate change adaptation and mitigation, and why both approaches are necessary.</a:t>
            </a:r>
          </a:p>
          <a:p>
            <a:r>
              <a:rPr lang="en-GB" sz="2400" dirty="0">
                <a:latin typeface="Calibri" panose="020F0502020204030204" pitchFamily="34" charset="0"/>
                <a:cs typeface="Calibri" panose="020F0502020204030204" pitchFamily="34" charset="0"/>
              </a:rPr>
              <a:t>Discuss how climate impacts vary across different regions and populations, and why some groups are more vulnerable than others.</a:t>
            </a:r>
          </a:p>
          <a:p>
            <a:r>
              <a:rPr lang="en-GB" sz="2400" dirty="0">
                <a:latin typeface="Calibri" panose="020F0502020204030204" pitchFamily="34" charset="0"/>
                <a:cs typeface="Calibri" panose="020F0502020204030204" pitchFamily="34" charset="0"/>
              </a:rPr>
              <a:t>Outline examples of adaptation strategies used to reduce climate risks and evaluate their effectiveness.</a:t>
            </a:r>
          </a:p>
          <a:p>
            <a:r>
              <a:rPr lang="en-GB" sz="2400" dirty="0">
                <a:latin typeface="Calibri" panose="020F0502020204030204" pitchFamily="34" charset="0"/>
                <a:cs typeface="Calibri" panose="020F0502020204030204" pitchFamily="34" charset="0"/>
              </a:rPr>
              <a:t>Understand how regional climate projections and risk assessments help inform decision-making and long-term climate planning. </a:t>
            </a:r>
          </a:p>
        </p:txBody>
      </p:sp>
      <p:pic>
        <p:nvPicPr>
          <p:cNvPr id="5" name="Picture 2" descr="Places of Climate Change">
            <a:extLst>
              <a:ext uri="{FF2B5EF4-FFF2-40B4-BE49-F238E27FC236}">
                <a16:creationId xmlns:a16="http://schemas.microsoft.com/office/drawing/2014/main" id="{0E7323DA-2CFD-2387-B3D7-FFC7A6D8C79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 t="31098" r="-26" b="18919"/>
          <a:stretch>
            <a:fillRect/>
          </a:stretch>
        </p:blipFill>
        <p:spPr bwMode="auto">
          <a:xfrm>
            <a:off x="0" y="0"/>
            <a:ext cx="18288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14">
            <a:extLst>
              <a:ext uri="{FF2B5EF4-FFF2-40B4-BE49-F238E27FC236}">
                <a16:creationId xmlns:a16="http://schemas.microsoft.com/office/drawing/2014/main" id="{92EE434B-BF54-0D2B-1C60-07296D916036}"/>
              </a:ext>
            </a:extLst>
          </p:cNvPr>
          <p:cNvSpPr txBox="1"/>
          <p:nvPr/>
        </p:nvSpPr>
        <p:spPr>
          <a:xfrm>
            <a:off x="440806" y="4023689"/>
            <a:ext cx="18287999" cy="1769715"/>
          </a:xfrm>
          <a:prstGeom prst="rect">
            <a:avLst/>
          </a:prstGeom>
        </p:spPr>
        <p:txBody>
          <a:bodyPr wrap="square" lIns="0" tIns="0" rIns="0" bIns="0" rtlCol="0" anchor="t">
            <a:spAutoFit/>
          </a:bodyPr>
          <a:lstStyle/>
          <a:p>
            <a:pPr defTabSz="914490">
              <a:lnSpc>
                <a:spcPts val="6861"/>
              </a:lnSpc>
              <a:defRPr/>
            </a:pPr>
            <a:r>
              <a:rPr lang="en-US" sz="4800" i="1" spc="-413" dirty="0">
                <a:solidFill>
                  <a:prstClr val="white"/>
                </a:solidFill>
                <a:latin typeface="DM Sans Bold"/>
              </a:rPr>
              <a:t>Week 8: Adapting to Climate Change</a:t>
            </a:r>
          </a:p>
          <a:p>
            <a:pPr defTabSz="914490">
              <a:lnSpc>
                <a:spcPts val="6861"/>
              </a:lnSpc>
              <a:defRPr/>
            </a:pPr>
            <a:endParaRPr lang="en-US" sz="6000" i="1" spc="-413" dirty="0">
              <a:solidFill>
                <a:prstClr val="white"/>
              </a:solidFill>
              <a:latin typeface="DM Sans Bold"/>
            </a:endParaRPr>
          </a:p>
        </p:txBody>
      </p:sp>
      <p:sp>
        <p:nvSpPr>
          <p:cNvPr id="8" name="Freeform 13">
            <a:extLst>
              <a:ext uri="{FF2B5EF4-FFF2-40B4-BE49-F238E27FC236}">
                <a16:creationId xmlns:a16="http://schemas.microsoft.com/office/drawing/2014/main" id="{3AFD2C1F-0CE2-C515-F07D-A179C1F1DDED}"/>
              </a:ext>
            </a:extLst>
          </p:cNvPr>
          <p:cNvSpPr/>
          <p:nvPr/>
        </p:nvSpPr>
        <p:spPr>
          <a:xfrm>
            <a:off x="14147801"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ndParaRPr>
          </a:p>
        </p:txBody>
      </p:sp>
    </p:spTree>
    <p:extLst>
      <p:ext uri="{BB962C8B-B14F-4D97-AF65-F5344CB8AC3E}">
        <p14:creationId xmlns:p14="http://schemas.microsoft.com/office/powerpoint/2010/main" val="19905022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05591-0C6C-C1B9-7994-FC3AF4862C54}"/>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B02C04EA-4F21-92E0-71CD-0A84C5430463}"/>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ndParaRPr>
          </a:p>
        </p:txBody>
      </p:sp>
      <p:pic>
        <p:nvPicPr>
          <p:cNvPr id="6" name="Picture 5" descr="A qr code with a black and white background&#10;&#10;AI-generated content may be incorrect.">
            <a:extLst>
              <a:ext uri="{FF2B5EF4-FFF2-40B4-BE49-F238E27FC236}">
                <a16:creationId xmlns:a16="http://schemas.microsoft.com/office/drawing/2014/main" id="{CBEB779C-52FA-AD6F-A84D-7FDC73690F7D}"/>
              </a:ext>
            </a:extLst>
          </p:cNvPr>
          <p:cNvPicPr>
            <a:picLocks noChangeAspect="1"/>
          </p:cNvPicPr>
          <p:nvPr/>
        </p:nvPicPr>
        <p:blipFill>
          <a:blip r:embed="rId4"/>
          <a:stretch>
            <a:fillRect/>
          </a:stretch>
        </p:blipFill>
        <p:spPr>
          <a:xfrm>
            <a:off x="584199" y="2465147"/>
            <a:ext cx="5289063" cy="5289063"/>
          </a:xfrm>
          <a:prstGeom prst="rect">
            <a:avLst/>
          </a:prstGeom>
        </p:spPr>
      </p:pic>
      <p:sp>
        <p:nvSpPr>
          <p:cNvPr id="7" name="TextBox 6">
            <a:extLst>
              <a:ext uri="{FF2B5EF4-FFF2-40B4-BE49-F238E27FC236}">
                <a16:creationId xmlns:a16="http://schemas.microsoft.com/office/drawing/2014/main" id="{930B9941-E867-94DC-CA64-F6812FA14809}"/>
              </a:ext>
            </a:extLst>
          </p:cNvPr>
          <p:cNvSpPr txBox="1"/>
          <p:nvPr/>
        </p:nvSpPr>
        <p:spPr>
          <a:xfrm>
            <a:off x="584199" y="8026163"/>
            <a:ext cx="5289063" cy="5078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defTabSz="1371600"/>
            <a:r>
              <a:rPr lang="en-US" sz="2700" dirty="0">
                <a:solidFill>
                  <a:prstClr val="black"/>
                </a:solidFill>
                <a:latin typeface="DM Sans"/>
              </a:rPr>
              <a:t>Comments/Questions/Revision</a:t>
            </a:r>
          </a:p>
        </p:txBody>
      </p:sp>
    </p:spTree>
    <p:extLst>
      <p:ext uri="{BB962C8B-B14F-4D97-AF65-F5344CB8AC3E}">
        <p14:creationId xmlns:p14="http://schemas.microsoft.com/office/powerpoint/2010/main" val="12684027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3" name="Freeform 13"/>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F0DA2D17-C40D-DA25-624F-1D8A297B593A}"/>
              </a:ext>
            </a:extLst>
          </p:cNvPr>
          <p:cNvSpPr txBox="1"/>
          <p:nvPr/>
        </p:nvSpPr>
        <p:spPr>
          <a:xfrm>
            <a:off x="1371601" y="5143502"/>
            <a:ext cx="14764385" cy="1380443"/>
          </a:xfrm>
          <a:prstGeom prst="rect">
            <a:avLst/>
          </a:prstGeom>
        </p:spPr>
        <p:txBody>
          <a:bodyPr wrap="square" lIns="0" tIns="0" rIns="0" bIns="0" rtlCol="0" anchor="t">
            <a:spAutoFit/>
          </a:bodyPr>
          <a:lstStyle/>
          <a:p>
            <a:pPr marL="0" marR="0" lvl="0" indent="0" algn="l" defTabSz="914445" rtl="0" eaLnBrk="1" fontAlgn="auto" latinLnBrk="0" hangingPunct="1">
              <a:lnSpc>
                <a:spcPts val="11000"/>
              </a:lnSpc>
              <a:spcBef>
                <a:spcPts val="0"/>
              </a:spcBef>
              <a:spcAft>
                <a:spcPts val="0"/>
              </a:spcAft>
              <a:buClrTx/>
              <a:buSzTx/>
              <a:buFontTx/>
              <a:buNone/>
              <a:tabLst/>
              <a:defRPr/>
            </a:pPr>
            <a:r>
              <a:rPr kumimoji="0" lang="en-GB" altLang="en-US" sz="8801" b="1" i="0" u="none" strike="noStrike" kern="1200" cap="none" spc="0" normalizeH="0" baseline="0" noProof="0" dirty="0">
                <a:ln>
                  <a:noFill/>
                </a:ln>
                <a:solidFill>
                  <a:prstClr val="white"/>
                </a:solidFill>
                <a:effectLst/>
                <a:uLnTx/>
                <a:uFillTx/>
                <a:latin typeface="DM Sans"/>
                <a:ea typeface="MS PGothic" panose="020B0600070205080204" pitchFamily="34" charset="-128"/>
                <a:cs typeface="+mn-cs"/>
              </a:rPr>
              <a:t>Global Climate Change</a:t>
            </a:r>
            <a:endParaRPr kumimoji="0" lang="en-US" sz="8799" b="1" i="0" u="none" strike="noStrike" kern="1200" cap="none" spc="0" normalizeH="0" baseline="0" noProof="0" dirty="0">
              <a:ln>
                <a:noFill/>
              </a:ln>
              <a:solidFill>
                <a:prstClr val="white"/>
              </a:solidFill>
              <a:effectLst/>
              <a:uLnTx/>
              <a:uFillTx/>
              <a:latin typeface="DM Sans" pitchFamily="2" charset="0"/>
              <a:ea typeface="MS PGothic" panose="020B0600070205080204" pitchFamily="34" charset="-128"/>
              <a:cs typeface="+mn-cs"/>
            </a:endParaRPr>
          </a:p>
        </p:txBody>
      </p:sp>
      <p:sp>
        <p:nvSpPr>
          <p:cNvPr id="3" name="TextBox 14">
            <a:extLst>
              <a:ext uri="{FF2B5EF4-FFF2-40B4-BE49-F238E27FC236}">
                <a16:creationId xmlns:a16="http://schemas.microsoft.com/office/drawing/2014/main" id="{4E4EAF08-B290-2C6A-BBCC-3221855F907B}"/>
              </a:ext>
            </a:extLst>
          </p:cNvPr>
          <p:cNvSpPr txBox="1"/>
          <p:nvPr/>
        </p:nvSpPr>
        <p:spPr>
          <a:xfrm>
            <a:off x="1371600" y="6256375"/>
            <a:ext cx="7772400" cy="2585901"/>
          </a:xfrm>
          <a:prstGeom prst="rect">
            <a:avLst/>
          </a:prstGeom>
        </p:spPr>
        <p:txBody>
          <a:bodyPr wrap="square" lIns="0" tIns="0" rIns="0" bIns="0" rtlCol="0" anchor="t">
            <a:spAutoFit/>
          </a:bodyPr>
          <a:lstStyle/>
          <a:p>
            <a:pPr marL="0" marR="0" lvl="0" indent="0" algn="l" defTabSz="914445" rtl="0" eaLnBrk="1" fontAlgn="auto" latinLnBrk="0" hangingPunct="1">
              <a:lnSpc>
                <a:spcPts val="11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AB700"/>
                </a:solidFill>
                <a:effectLst/>
                <a:uLnTx/>
                <a:uFillTx/>
                <a:latin typeface="DM Sans" pitchFamily="2" charset="0"/>
                <a:ea typeface="MS PGothic" panose="020B0600070205080204" pitchFamily="34" charset="-128"/>
                <a:cs typeface="+mn-cs"/>
              </a:rPr>
              <a:t>Week 7, Questions and Answers</a:t>
            </a:r>
          </a:p>
          <a:p>
            <a:pPr marL="0" marR="0" lvl="0" indent="0" algn="l" defTabSz="914445" rtl="0" eaLnBrk="1" fontAlgn="auto" latinLnBrk="0" hangingPunct="1">
              <a:lnSpc>
                <a:spcPts val="11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AB700"/>
                </a:solidFill>
                <a:effectLst/>
                <a:uLnTx/>
                <a:uFillTx/>
                <a:latin typeface="DM Sans" pitchFamily="2" charset="0"/>
                <a:ea typeface="MS PGothic" panose="020B0600070205080204" pitchFamily="34" charset="-128"/>
                <a:cs typeface="+mn-cs"/>
              </a:rPr>
              <a:t>Dr Thomas </a:t>
            </a:r>
            <a:r>
              <a:rPr kumimoji="0" lang="en-US" sz="3200" b="1" i="0" u="none" strike="noStrike" kern="1200" cap="none" spc="0" normalizeH="0" baseline="0" noProof="0" dirty="0" err="1">
                <a:ln>
                  <a:noFill/>
                </a:ln>
                <a:solidFill>
                  <a:srgbClr val="FAB700"/>
                </a:solidFill>
                <a:effectLst/>
                <a:uLnTx/>
                <a:uFillTx/>
                <a:latin typeface="DM Sans" pitchFamily="2" charset="0"/>
                <a:ea typeface="MS PGothic" panose="020B0600070205080204" pitchFamily="34" charset="-128"/>
                <a:cs typeface="+mn-cs"/>
              </a:rPr>
              <a:t>Bannan</a:t>
            </a:r>
            <a:r>
              <a:rPr kumimoji="0" lang="en-US" sz="3200" b="1" i="0" u="none" strike="noStrike" kern="1200" cap="none" spc="0" normalizeH="0" baseline="0" noProof="0" dirty="0">
                <a:ln>
                  <a:noFill/>
                </a:ln>
                <a:solidFill>
                  <a:srgbClr val="FAB700"/>
                </a:solidFill>
                <a:effectLst/>
                <a:uLnTx/>
                <a:uFillTx/>
                <a:latin typeface="DM Sans" pitchFamily="2" charset="0"/>
                <a:ea typeface="MS PGothic" panose="020B0600070205080204" pitchFamily="34" charset="-128"/>
                <a:cs typeface="+mn-cs"/>
              </a:rPr>
              <a:t>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82D3E-A7C2-D4CE-6000-D69ABF52E0AC}"/>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BEE16A5-7C45-015F-8A98-91B324DAAE94}"/>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14">
            <a:extLst>
              <a:ext uri="{FF2B5EF4-FFF2-40B4-BE49-F238E27FC236}">
                <a16:creationId xmlns:a16="http://schemas.microsoft.com/office/drawing/2014/main" id="{CDF94BBB-12EF-E975-6BC5-CB4840BAD385}"/>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srgbClr val="46245A"/>
                </a:solidFill>
                <a:effectLst/>
                <a:uLnTx/>
                <a:uFillTx/>
                <a:latin typeface="DM Sans Bold"/>
                <a:ea typeface="ＭＳ Ｐゴシック" panose="020B0600070205080204" pitchFamily="34" charset="-128"/>
                <a:cs typeface="+mn-cs"/>
              </a:rPr>
              <a:t>Q1. </a:t>
            </a:r>
          </a:p>
        </p:txBody>
      </p:sp>
      <p:sp>
        <p:nvSpPr>
          <p:cNvPr id="2" name="TextBox 1">
            <a:extLst>
              <a:ext uri="{FF2B5EF4-FFF2-40B4-BE49-F238E27FC236}">
                <a16:creationId xmlns:a16="http://schemas.microsoft.com/office/drawing/2014/main" id="{BC3862E8-6D6C-68B2-1AE0-BEEE3E69FA88}"/>
              </a:ext>
            </a:extLst>
          </p:cNvPr>
          <p:cNvSpPr txBox="1"/>
          <p:nvPr/>
        </p:nvSpPr>
        <p:spPr>
          <a:xfrm>
            <a:off x="584197" y="2135706"/>
            <a:ext cx="13572069" cy="523220"/>
          </a:xfrm>
          <a:prstGeom prst="rect">
            <a:avLst/>
          </a:prstGeom>
          <a:noFill/>
        </p:spPr>
        <p:txBody>
          <a:bodyPr wrap="square">
            <a:spAutoFit/>
          </a:bodyPr>
          <a:lstStyle/>
          <a:p>
            <a:pPr algn="l"/>
            <a:r>
              <a:rPr lang="en-GB" sz="2800" b="1" i="0" u="none" strike="noStrike" dirty="0">
                <a:effectLst/>
              </a:rPr>
              <a:t>Why do scientists use models to study climate change?</a:t>
            </a:r>
          </a:p>
        </p:txBody>
      </p:sp>
    </p:spTree>
    <p:extLst>
      <p:ext uri="{BB962C8B-B14F-4D97-AF65-F5344CB8AC3E}">
        <p14:creationId xmlns:p14="http://schemas.microsoft.com/office/powerpoint/2010/main" val="23963186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F6798-5F2D-8D6E-38E7-516582793C25}"/>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BA73CCA-F1E8-5E6E-E878-5B4B6371D392}"/>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14">
            <a:extLst>
              <a:ext uri="{FF2B5EF4-FFF2-40B4-BE49-F238E27FC236}">
                <a16:creationId xmlns:a16="http://schemas.microsoft.com/office/drawing/2014/main" id="{8704B95F-2664-4705-EFCB-2B03D214D28C}"/>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srgbClr val="46245A"/>
                </a:solidFill>
                <a:effectLst/>
                <a:uLnTx/>
                <a:uFillTx/>
                <a:latin typeface="DM Sans Bold"/>
                <a:ea typeface="ＭＳ Ｐゴシック" panose="020B0600070205080204" pitchFamily="34" charset="-128"/>
                <a:cs typeface="+mn-cs"/>
              </a:rPr>
              <a:t>Q2. </a:t>
            </a:r>
          </a:p>
        </p:txBody>
      </p:sp>
      <p:sp>
        <p:nvSpPr>
          <p:cNvPr id="2" name="TextBox 1">
            <a:extLst>
              <a:ext uri="{FF2B5EF4-FFF2-40B4-BE49-F238E27FC236}">
                <a16:creationId xmlns:a16="http://schemas.microsoft.com/office/drawing/2014/main" id="{BF3AC924-C8BE-DFF6-336B-21684BA67B00}"/>
              </a:ext>
            </a:extLst>
          </p:cNvPr>
          <p:cNvSpPr txBox="1"/>
          <p:nvPr/>
        </p:nvSpPr>
        <p:spPr>
          <a:xfrm>
            <a:off x="584197" y="2135706"/>
            <a:ext cx="15725713" cy="523220"/>
          </a:xfrm>
          <a:prstGeom prst="rect">
            <a:avLst/>
          </a:prstGeom>
          <a:noFill/>
        </p:spPr>
        <p:txBody>
          <a:bodyPr wrap="square">
            <a:spAutoFit/>
          </a:bodyPr>
          <a:lstStyle/>
          <a:p>
            <a:pPr algn="l"/>
            <a:r>
              <a:rPr lang="en-GB" sz="2800" b="1" i="0" u="none" strike="noStrike" dirty="0">
                <a:effectLst/>
              </a:rPr>
              <a:t>What are the major uncertainties in climate models, and how can they be improved?</a:t>
            </a:r>
          </a:p>
        </p:txBody>
      </p:sp>
    </p:spTree>
    <p:extLst>
      <p:ext uri="{BB962C8B-B14F-4D97-AF65-F5344CB8AC3E}">
        <p14:creationId xmlns:p14="http://schemas.microsoft.com/office/powerpoint/2010/main" val="37694615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0C2C8-E7A9-257A-E555-8CBF8FE78603}"/>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39C3E47D-5219-EC54-867E-B8242F7D15EB}"/>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14">
            <a:extLst>
              <a:ext uri="{FF2B5EF4-FFF2-40B4-BE49-F238E27FC236}">
                <a16:creationId xmlns:a16="http://schemas.microsoft.com/office/drawing/2014/main" id="{68519FFB-0080-20DA-4B83-55A24C63A89C}"/>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srgbClr val="46245A"/>
                </a:solidFill>
                <a:effectLst/>
                <a:uLnTx/>
                <a:uFillTx/>
                <a:latin typeface="DM Sans Bold"/>
                <a:ea typeface="ＭＳ Ｐゴシック" panose="020B0600070205080204" pitchFamily="34" charset="-128"/>
                <a:cs typeface="+mn-cs"/>
              </a:rPr>
              <a:t>Q3.</a:t>
            </a:r>
          </a:p>
        </p:txBody>
      </p:sp>
      <p:sp>
        <p:nvSpPr>
          <p:cNvPr id="2" name="TextBox 1">
            <a:extLst>
              <a:ext uri="{FF2B5EF4-FFF2-40B4-BE49-F238E27FC236}">
                <a16:creationId xmlns:a16="http://schemas.microsoft.com/office/drawing/2014/main" id="{88B1BAA8-4D19-0548-5F70-6A6065725F0E}"/>
              </a:ext>
            </a:extLst>
          </p:cNvPr>
          <p:cNvSpPr txBox="1"/>
          <p:nvPr/>
        </p:nvSpPr>
        <p:spPr>
          <a:xfrm>
            <a:off x="584197" y="2181125"/>
            <a:ext cx="15651068"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effectLst/>
                <a:uLnTx/>
                <a:uFillTx/>
                <a:latin typeface="DM Sans"/>
                <a:ea typeface="+mn-ea"/>
                <a:cs typeface="+mn-cs"/>
              </a:rPr>
              <a:t>What is the difference between natural variability and human-induced climate change? How do we model their effects in climate studies?</a:t>
            </a:r>
          </a:p>
        </p:txBody>
      </p:sp>
    </p:spTree>
    <p:extLst>
      <p:ext uri="{BB962C8B-B14F-4D97-AF65-F5344CB8AC3E}">
        <p14:creationId xmlns:p14="http://schemas.microsoft.com/office/powerpoint/2010/main" val="38784516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52295-3D0B-5407-2EE3-8593731958C0}"/>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FD72082A-481A-B70C-F8B6-9B16EA38E186}"/>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14">
            <a:extLst>
              <a:ext uri="{FF2B5EF4-FFF2-40B4-BE49-F238E27FC236}">
                <a16:creationId xmlns:a16="http://schemas.microsoft.com/office/drawing/2014/main" id="{8C65C5A9-C140-D51C-2949-0EE4E8FF3951}"/>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srgbClr val="46245A"/>
                </a:solidFill>
                <a:effectLst/>
                <a:uLnTx/>
                <a:uFillTx/>
                <a:latin typeface="DM Sans Bold"/>
                <a:ea typeface="ＭＳ Ｐゴシック" panose="020B0600070205080204" pitchFamily="34" charset="-128"/>
                <a:cs typeface="+mn-cs"/>
              </a:rPr>
              <a:t>Q4. </a:t>
            </a:r>
          </a:p>
        </p:txBody>
      </p:sp>
      <p:sp>
        <p:nvSpPr>
          <p:cNvPr id="2" name="TextBox 1">
            <a:extLst>
              <a:ext uri="{FF2B5EF4-FFF2-40B4-BE49-F238E27FC236}">
                <a16:creationId xmlns:a16="http://schemas.microsoft.com/office/drawing/2014/main" id="{73B311C4-7FAF-9238-48DD-2DFF9EED044F}"/>
              </a:ext>
            </a:extLst>
          </p:cNvPr>
          <p:cNvSpPr txBox="1"/>
          <p:nvPr/>
        </p:nvSpPr>
        <p:spPr>
          <a:xfrm>
            <a:off x="584197" y="2135706"/>
            <a:ext cx="13572069"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effectLst/>
                <a:uLnTx/>
                <a:uFillTx/>
                <a:latin typeface="DM Sans Bold"/>
                <a:ea typeface="+mn-ea"/>
                <a:cs typeface="+mn-cs"/>
              </a:rPr>
              <a:t>What are the key components of a Global Climate Model, and why is coupling different models important?</a:t>
            </a:r>
          </a:p>
        </p:txBody>
      </p:sp>
    </p:spTree>
    <p:extLst>
      <p:ext uri="{BB962C8B-B14F-4D97-AF65-F5344CB8AC3E}">
        <p14:creationId xmlns:p14="http://schemas.microsoft.com/office/powerpoint/2010/main" val="34865059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E3B85-CA05-A3EC-04CE-55C8411527C8}"/>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00ABFF2-76B5-CBF4-57A4-1B275C92D764}"/>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14">
            <a:extLst>
              <a:ext uri="{FF2B5EF4-FFF2-40B4-BE49-F238E27FC236}">
                <a16:creationId xmlns:a16="http://schemas.microsoft.com/office/drawing/2014/main" id="{2CC1AA51-D763-2433-D69D-E62C62C571B9}"/>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srgbClr val="46245A"/>
                </a:solidFill>
                <a:effectLst/>
                <a:uLnTx/>
                <a:uFillTx/>
                <a:latin typeface="DM Sans Bold"/>
                <a:ea typeface="ＭＳ Ｐゴシック" panose="020B0600070205080204" pitchFamily="34" charset="-128"/>
                <a:cs typeface="+mn-cs"/>
              </a:rPr>
              <a:t>Q5. </a:t>
            </a:r>
          </a:p>
        </p:txBody>
      </p:sp>
      <p:sp>
        <p:nvSpPr>
          <p:cNvPr id="2" name="TextBox 1">
            <a:extLst>
              <a:ext uri="{FF2B5EF4-FFF2-40B4-BE49-F238E27FC236}">
                <a16:creationId xmlns:a16="http://schemas.microsoft.com/office/drawing/2014/main" id="{77C9A62E-C94B-0A46-9845-8D562A937631}"/>
              </a:ext>
            </a:extLst>
          </p:cNvPr>
          <p:cNvSpPr txBox="1"/>
          <p:nvPr/>
        </p:nvSpPr>
        <p:spPr>
          <a:xfrm>
            <a:off x="584197" y="2135706"/>
            <a:ext cx="13572069"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effectLst/>
                <a:uLnTx/>
                <a:uFillTx/>
                <a:latin typeface="DM Sans"/>
                <a:ea typeface="+mn-ea"/>
                <a:cs typeface="+mn-cs"/>
              </a:rPr>
              <a:t>How can volcanic eruptions serve as a "natural experiment" for studying climate response to aerosol forcing?</a:t>
            </a:r>
          </a:p>
        </p:txBody>
      </p:sp>
    </p:spTree>
    <p:extLst>
      <p:ext uri="{BB962C8B-B14F-4D97-AF65-F5344CB8AC3E}">
        <p14:creationId xmlns:p14="http://schemas.microsoft.com/office/powerpoint/2010/main" val="40700828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3367B-836C-8070-D94E-F9CB39E83729}"/>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C7BE170-5077-7EB3-83CA-E3F6E253082A}"/>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14">
            <a:extLst>
              <a:ext uri="{FF2B5EF4-FFF2-40B4-BE49-F238E27FC236}">
                <a16:creationId xmlns:a16="http://schemas.microsoft.com/office/drawing/2014/main" id="{C925E9AE-88AB-E43B-338E-7C5F7B8A395D}"/>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srgbClr val="46245A"/>
                </a:solidFill>
                <a:effectLst/>
                <a:uLnTx/>
                <a:uFillTx/>
                <a:latin typeface="DM Sans Bold"/>
                <a:ea typeface="ＭＳ Ｐゴシック" panose="020B0600070205080204" pitchFamily="34" charset="-128"/>
                <a:cs typeface="+mn-cs"/>
              </a:rPr>
              <a:t>Q6. </a:t>
            </a:r>
          </a:p>
        </p:txBody>
      </p:sp>
      <p:sp>
        <p:nvSpPr>
          <p:cNvPr id="2" name="TextBox 1">
            <a:extLst>
              <a:ext uri="{FF2B5EF4-FFF2-40B4-BE49-F238E27FC236}">
                <a16:creationId xmlns:a16="http://schemas.microsoft.com/office/drawing/2014/main" id="{AF89ABED-9363-9256-FD70-1CD67E7AB6AF}"/>
              </a:ext>
            </a:extLst>
          </p:cNvPr>
          <p:cNvSpPr txBox="1"/>
          <p:nvPr/>
        </p:nvSpPr>
        <p:spPr>
          <a:xfrm>
            <a:off x="584198" y="2074144"/>
            <a:ext cx="11751733"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effectLst/>
                <a:uLnTx/>
                <a:uFillTx/>
                <a:latin typeface="DM Sans"/>
                <a:ea typeface="+mn-ea"/>
                <a:cs typeface="+mn-cs"/>
              </a:rPr>
              <a:t>Can natural variability explain observed trends in global warming? Why or why not?</a:t>
            </a:r>
          </a:p>
        </p:txBody>
      </p:sp>
    </p:spTree>
    <p:extLst>
      <p:ext uri="{BB962C8B-B14F-4D97-AF65-F5344CB8AC3E}">
        <p14:creationId xmlns:p14="http://schemas.microsoft.com/office/powerpoint/2010/main" val="14680758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A4FD1-4B69-5146-5924-3A8031D07E28}"/>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A24A06CF-CECB-740E-D429-DAAEA7A3DAA5}"/>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14">
            <a:extLst>
              <a:ext uri="{FF2B5EF4-FFF2-40B4-BE49-F238E27FC236}">
                <a16:creationId xmlns:a16="http://schemas.microsoft.com/office/drawing/2014/main" id="{69B387B1-CE8E-49BD-FD51-2323949A5167}"/>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srgbClr val="46245A"/>
                </a:solidFill>
                <a:effectLst/>
                <a:uLnTx/>
                <a:uFillTx/>
                <a:latin typeface="DM Sans Bold"/>
                <a:ea typeface="ＭＳ Ｐゴシック" panose="020B0600070205080204" pitchFamily="34" charset="-128"/>
                <a:cs typeface="+mn-cs"/>
              </a:rPr>
              <a:t>Q7. </a:t>
            </a:r>
          </a:p>
        </p:txBody>
      </p:sp>
      <p:sp>
        <p:nvSpPr>
          <p:cNvPr id="4" name="TextBox 3">
            <a:extLst>
              <a:ext uri="{FF2B5EF4-FFF2-40B4-BE49-F238E27FC236}">
                <a16:creationId xmlns:a16="http://schemas.microsoft.com/office/drawing/2014/main" id="{A6A9C998-8470-7E85-2C48-D60BE819E168}"/>
              </a:ext>
            </a:extLst>
          </p:cNvPr>
          <p:cNvSpPr txBox="1"/>
          <p:nvPr/>
        </p:nvSpPr>
        <p:spPr>
          <a:xfrm>
            <a:off x="584197" y="2135706"/>
            <a:ext cx="13572069"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effectLst/>
                <a:uLnTx/>
                <a:uFillTx/>
                <a:latin typeface="DM Sans Bold"/>
                <a:ea typeface="+mn-ea"/>
                <a:cs typeface="+mn-cs"/>
              </a:rPr>
              <a:t>What do we need to improve future GCMs?</a:t>
            </a:r>
            <a:endParaRPr kumimoji="0" lang="en-GB" sz="2800" b="1" i="0" u="none" strike="noStrike" kern="1200" cap="none" spc="0" normalizeH="0" baseline="0" noProof="0" dirty="0">
              <a:ln>
                <a:noFill/>
              </a:ln>
              <a:effectLst/>
              <a:uLnTx/>
              <a:uFillTx/>
              <a:latin typeface="DM Sans"/>
              <a:ea typeface="+mn-ea"/>
              <a:cs typeface="+mn-cs"/>
            </a:endParaRPr>
          </a:p>
        </p:txBody>
      </p:sp>
    </p:spTree>
    <p:extLst>
      <p:ext uri="{BB962C8B-B14F-4D97-AF65-F5344CB8AC3E}">
        <p14:creationId xmlns:p14="http://schemas.microsoft.com/office/powerpoint/2010/main" val="39785358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C1BFC-FE01-21EB-832B-AC9C333BA957}"/>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1BAD4002-1BE6-9959-4BC8-B18BF3E91D01}"/>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14">
            <a:extLst>
              <a:ext uri="{FF2B5EF4-FFF2-40B4-BE49-F238E27FC236}">
                <a16:creationId xmlns:a16="http://schemas.microsoft.com/office/drawing/2014/main" id="{BB50905B-F16B-A742-8643-A51C9236E48F}"/>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srgbClr val="46245A"/>
                </a:solidFill>
                <a:effectLst/>
                <a:uLnTx/>
                <a:uFillTx/>
                <a:latin typeface="DM Sans Bold"/>
                <a:ea typeface="ＭＳ Ｐゴシック" panose="020B0600070205080204" pitchFamily="34" charset="-128"/>
                <a:cs typeface="+mn-cs"/>
              </a:rPr>
              <a:t>Q8. </a:t>
            </a:r>
          </a:p>
        </p:txBody>
      </p:sp>
      <p:sp>
        <p:nvSpPr>
          <p:cNvPr id="4" name="TextBox 3">
            <a:extLst>
              <a:ext uri="{FF2B5EF4-FFF2-40B4-BE49-F238E27FC236}">
                <a16:creationId xmlns:a16="http://schemas.microsoft.com/office/drawing/2014/main" id="{E85C821F-3348-B47F-D58D-276BF5AD84E0}"/>
              </a:ext>
            </a:extLst>
          </p:cNvPr>
          <p:cNvSpPr txBox="1"/>
          <p:nvPr/>
        </p:nvSpPr>
        <p:spPr>
          <a:xfrm>
            <a:off x="584197" y="2135706"/>
            <a:ext cx="14485818"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effectLst/>
                <a:uLnTx/>
                <a:uFillTx/>
                <a:latin typeface="DM Sans Bold"/>
                <a:ea typeface="+mn-ea"/>
                <a:cs typeface="+mn-cs"/>
              </a:rPr>
              <a:t>How might improvements in observations (e.g., satellites, ocean measurements) help improve climate models?</a:t>
            </a:r>
          </a:p>
        </p:txBody>
      </p:sp>
    </p:spTree>
    <p:extLst>
      <p:ext uri="{BB962C8B-B14F-4D97-AF65-F5344CB8AC3E}">
        <p14:creationId xmlns:p14="http://schemas.microsoft.com/office/powerpoint/2010/main" val="34588185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63FA7-29D4-890D-577D-5B26EFD1F1A4}"/>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00CB4E05-D7B8-A1E2-CA1B-53B248311204}"/>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14">
            <a:extLst>
              <a:ext uri="{FF2B5EF4-FFF2-40B4-BE49-F238E27FC236}">
                <a16:creationId xmlns:a16="http://schemas.microsoft.com/office/drawing/2014/main" id="{684D0F5B-6E93-DFB1-44C2-12AD47AE0BFD}"/>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srgbClr val="46245A"/>
                </a:solidFill>
                <a:effectLst/>
                <a:uLnTx/>
                <a:uFillTx/>
                <a:latin typeface="DM Sans Bold"/>
                <a:ea typeface="ＭＳ Ｐゴシック" panose="020B0600070205080204" pitchFamily="34" charset="-128"/>
                <a:cs typeface="+mn-cs"/>
              </a:rPr>
              <a:t>Q9. </a:t>
            </a:r>
          </a:p>
        </p:txBody>
      </p:sp>
      <p:sp>
        <p:nvSpPr>
          <p:cNvPr id="4" name="TextBox 3">
            <a:extLst>
              <a:ext uri="{FF2B5EF4-FFF2-40B4-BE49-F238E27FC236}">
                <a16:creationId xmlns:a16="http://schemas.microsoft.com/office/drawing/2014/main" id="{EB91FFFC-4394-C112-78E6-A6939D8DAFDF}"/>
              </a:ext>
            </a:extLst>
          </p:cNvPr>
          <p:cNvSpPr txBox="1"/>
          <p:nvPr/>
        </p:nvSpPr>
        <p:spPr>
          <a:xfrm>
            <a:off x="584197" y="2135706"/>
            <a:ext cx="14485818"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effectLst/>
                <a:uLnTx/>
                <a:uFillTx/>
                <a:latin typeface="DM Sans Bold"/>
                <a:ea typeface="+mn-ea"/>
                <a:cs typeface="+mn-cs"/>
              </a:rPr>
              <a:t>Do you think AI and machine learning will eventually replace physics-based climate models, or just complement them? Why?</a:t>
            </a:r>
          </a:p>
        </p:txBody>
      </p:sp>
    </p:spTree>
    <p:extLst>
      <p:ext uri="{BB962C8B-B14F-4D97-AF65-F5344CB8AC3E}">
        <p14:creationId xmlns:p14="http://schemas.microsoft.com/office/powerpoint/2010/main" val="31955936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0|0.5|0.3|0.2|0.2|0.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M Sans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DM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panose="020F0502020204030204"/>
        <a:ea typeface=""/>
        <a:cs typeface=""/>
        <a:font script="Jpan" typeface="游ゴシック"/>
        <a:font script="Hang" typeface="맑은 고딕"/>
        <a:font script="Hans" typeface="等线"/>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font script="Geor" typeface="Sylfaen"/>
        <a:font script="Armn" typeface="DM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28E7656B8F854EA3FBA2DC0FDE57D8" ma:contentTypeVersion="13" ma:contentTypeDescription="Create a new document." ma:contentTypeScope="" ma:versionID="2f55f3757423f8a9510e16e0485ceae4">
  <xsd:schema xmlns:xsd="http://www.w3.org/2001/XMLSchema" xmlns:xs="http://www.w3.org/2001/XMLSchema" xmlns:p="http://schemas.microsoft.com/office/2006/metadata/properties" xmlns:ns2="ef2cdc88-2d9e-4cc1-9996-acd9d00229e7" xmlns:ns3="2d04b034-a6a6-4c18-a06a-c7f1475d22b7" targetNamespace="http://schemas.microsoft.com/office/2006/metadata/properties" ma:root="true" ma:fieldsID="aad162b2229c38d96906976cd1e951d1" ns2:_="" ns3:_="">
    <xsd:import namespace="ef2cdc88-2d9e-4cc1-9996-acd9d00229e7"/>
    <xsd:import namespace="2d04b034-a6a6-4c18-a06a-c7f1475d22b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f2cdc88-2d9e-4cc1-9996-acd9d00229e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d84f0fb1-3ff4-4041-99c9-0ff0a116d579"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d04b034-a6a6-4c18-a06a-c7f1475d22b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c3033590-d564-48aa-a497-c6dbf64d132b}" ma:internalName="TaxCatchAll" ma:showField="CatchAllData" ma:web="2d04b034-a6a6-4c18-a06a-c7f1475d22b7">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2d04b034-a6a6-4c18-a06a-c7f1475d22b7">
      <UserInfo>
        <DisplayName>James Evans</DisplayName>
        <AccountId>12</AccountId>
        <AccountType/>
      </UserInfo>
    </SharedWithUsers>
    <TaxCatchAll xmlns="2d04b034-a6a6-4c18-a06a-c7f1475d22b7" xsi:nil="true"/>
    <lcf76f155ced4ddcb4097134ff3c332f xmlns="ef2cdc88-2d9e-4cc1-9996-acd9d00229e7">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75AF22D-E930-4A35-96C8-45C4552CEFD0}">
  <ds:schemaRefs>
    <ds:schemaRef ds:uri="2d04b034-a6a6-4c18-a06a-c7f1475d22b7"/>
    <ds:schemaRef ds:uri="ef2cdc88-2d9e-4cc1-9996-acd9d00229e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6E3B905-089B-4AAB-92C2-9145328F7EB6}">
  <ds:schemaRefs>
    <ds:schemaRef ds:uri="http://schemas.microsoft.com/sharepoint/v3/contenttype/forms"/>
  </ds:schemaRefs>
</ds:datastoreItem>
</file>

<file path=customXml/itemProps3.xml><?xml version="1.0" encoding="utf-8"?>
<ds:datastoreItem xmlns:ds="http://schemas.openxmlformats.org/officeDocument/2006/customXml" ds:itemID="{34204787-5CC9-4B4C-895B-E2DD531E2E20}">
  <ds:schemaRefs>
    <ds:schemaRef ds:uri="2d04b034-a6a6-4c18-a06a-c7f1475d22b7"/>
    <ds:schemaRef ds:uri="ef2cdc88-2d9e-4cc1-9996-acd9d00229e7"/>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11413</TotalTime>
  <Words>3609</Words>
  <Application>Microsoft Macintosh PowerPoint</Application>
  <PresentationFormat>Custom</PresentationFormat>
  <Paragraphs>442</Paragraphs>
  <Slides>48</Slides>
  <Notes>48</Notes>
  <HiddenSlides>0</HiddenSlides>
  <MMClips>0</MMClips>
  <ScaleCrop>false</ScaleCrop>
  <HeadingPairs>
    <vt:vector size="8" baseType="variant">
      <vt:variant>
        <vt:lpstr>Fonts Used</vt:lpstr>
      </vt:variant>
      <vt:variant>
        <vt:i4>9</vt:i4>
      </vt:variant>
      <vt:variant>
        <vt:lpstr>Theme</vt:lpstr>
      </vt:variant>
      <vt:variant>
        <vt:i4>3</vt:i4>
      </vt:variant>
      <vt:variant>
        <vt:lpstr>Embedded OLE Servers</vt:lpstr>
      </vt:variant>
      <vt:variant>
        <vt:i4>1</vt:i4>
      </vt:variant>
      <vt:variant>
        <vt:lpstr>Slide Titles</vt:lpstr>
      </vt:variant>
      <vt:variant>
        <vt:i4>48</vt:i4>
      </vt:variant>
    </vt:vector>
  </HeadingPairs>
  <TitlesOfParts>
    <vt:vector size="61" baseType="lpstr">
      <vt:lpstr>DM Sans</vt:lpstr>
      <vt:lpstr>Verdana</vt:lpstr>
      <vt:lpstr>Arial</vt:lpstr>
      <vt:lpstr>Calibri</vt:lpstr>
      <vt:lpstr>Aptos</vt:lpstr>
      <vt:lpstr>Tahoma</vt:lpstr>
      <vt:lpstr>Open Sans</vt:lpstr>
      <vt:lpstr>Times New Roman</vt:lpstr>
      <vt:lpstr>DM Sans Bold</vt:lpstr>
      <vt:lpstr>Office Theme</vt:lpstr>
      <vt:lpstr>1_Office Theme</vt:lpstr>
      <vt:lpstr>2_Office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Urban 360 Presentation Template</dc:title>
  <dc:creator>Rebecca Pinder</dc:creator>
  <cp:lastModifiedBy>Thomas Bannan</cp:lastModifiedBy>
  <cp:revision>70</cp:revision>
  <dcterms:created xsi:type="dcterms:W3CDTF">2006-08-16T00:00:00Z</dcterms:created>
  <dcterms:modified xsi:type="dcterms:W3CDTF">2026-03-18T18:06:10Z</dcterms:modified>
  <dc:identifier>DAFmF_MGmPY</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0x010100BE28E7656B8F854EA3FBA2DC0FDE57D8</vt:lpwstr>
  </property>
  <property fmtid="{D5CDD505-2E9C-101B-9397-08002B2CF9AE}" pid="3" name="MediaServiceImageTags">
    <vt:lpwstr/>
  </property>
</Properties>
</file>