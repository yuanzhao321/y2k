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 id="2147483674" r:id="rId5"/>
  </p:sldMasterIdLst>
  <p:notesMasterIdLst>
    <p:notesMasterId r:id="rId31"/>
  </p:notesMasterIdLst>
  <p:sldIdLst>
    <p:sldId id="257" r:id="rId6"/>
    <p:sldId id="1229" r:id="rId7"/>
    <p:sldId id="1336" r:id="rId8"/>
    <p:sldId id="1337" r:id="rId9"/>
    <p:sldId id="1338" r:id="rId10"/>
    <p:sldId id="1255" r:id="rId11"/>
    <p:sldId id="1339" r:id="rId12"/>
    <p:sldId id="1256" r:id="rId13"/>
    <p:sldId id="1340" r:id="rId14"/>
    <p:sldId id="1257" r:id="rId15"/>
    <p:sldId id="1341" r:id="rId16"/>
    <p:sldId id="1259" r:id="rId17"/>
    <p:sldId id="1342" r:id="rId18"/>
    <p:sldId id="1260" r:id="rId19"/>
    <p:sldId id="1343" r:id="rId20"/>
    <p:sldId id="1404" r:id="rId21"/>
    <p:sldId id="1409" r:id="rId22"/>
    <p:sldId id="1405" r:id="rId23"/>
    <p:sldId id="1410" r:id="rId24"/>
    <p:sldId id="1406" r:id="rId25"/>
    <p:sldId id="1411" r:id="rId26"/>
    <p:sldId id="1407" r:id="rId27"/>
    <p:sldId id="1412" r:id="rId28"/>
    <p:sldId id="1408" r:id="rId29"/>
    <p:sldId id="1413" r:id="rId30"/>
  </p:sldIdLst>
  <p:sldSz cx="18288000" cy="10287000"/>
  <p:notesSz cx="6858000" cy="9144000"/>
  <p:embeddedFontLst>
    <p:embeddedFont>
      <p:font typeface="DM Sans" pitchFamily="2" charset="77"/>
      <p:regular r:id="rId32"/>
      <p:bold r:id="rId33"/>
      <p:italic r:id="rId34"/>
      <p:boldItalic r:id="rId35"/>
    </p:embeddedFont>
    <p:embeddedFont>
      <p:font typeface="DM Sans Bold" panose="020B0806030504020204"/>
      <p:regular r:id="rId36"/>
      <p:bold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6245A"/>
    <a:srgbClr val="FAB700"/>
    <a:srgbClr val="0E173B"/>
    <a:srgbClr val="545454"/>
    <a:srgbClr val="DEA40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09"/>
    <p:restoredTop sz="88471"/>
  </p:normalViewPr>
  <p:slideViewPr>
    <p:cSldViewPr snapToGrid="0">
      <p:cViewPr varScale="1">
        <p:scale>
          <a:sx n="87" d="100"/>
          <a:sy n="87" d="100"/>
        </p:scale>
        <p:origin x="720" y="21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font" Target="fonts/font3.fntdata"/><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5.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4.fntdata"/><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2.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DM Sans" pitchFamily="2"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DM Sans" pitchFamily="2" charset="0"/>
              </a:defRPr>
            </a:lvl1pPr>
          </a:lstStyle>
          <a:p>
            <a:fld id="{62D80C2D-EE18-43D6-B2C1-C03B0D42E456}" type="datetimeFigureOut">
              <a:rPr lang="en-GB" smtClean="0"/>
              <a:pPr/>
              <a:t>29/04/2026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DM Sans" pitchFamily="2"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DM Sans" pitchFamily="2" charset="0"/>
              </a:defRPr>
            </a:lvl1pPr>
          </a:lstStyle>
          <a:p>
            <a:fld id="{C6B3559C-4BE5-4262-A2E7-0EADDD5F845B}" type="slidenum">
              <a:rPr lang="en-GB" smtClean="0"/>
              <a:pPr/>
              <a:t>‹#›</a:t>
            </a:fld>
            <a:endParaRPr lang="en-GB"/>
          </a:p>
        </p:txBody>
      </p:sp>
    </p:spTree>
    <p:extLst>
      <p:ext uri="{BB962C8B-B14F-4D97-AF65-F5344CB8AC3E}">
        <p14:creationId xmlns:p14="http://schemas.microsoft.com/office/powerpoint/2010/main" val="2063940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DM Sans" pitchFamily="2" charset="0"/>
        <a:ea typeface="+mn-ea"/>
        <a:cs typeface="+mn-cs"/>
      </a:defRPr>
    </a:lvl1pPr>
    <a:lvl2pPr marL="457200" algn="l" defTabSz="914400" rtl="0" eaLnBrk="1" latinLnBrk="0" hangingPunct="1">
      <a:defRPr sz="1200" kern="1200">
        <a:solidFill>
          <a:schemeClr val="tx1"/>
        </a:solidFill>
        <a:latin typeface="DM Sans" pitchFamily="2" charset="0"/>
        <a:ea typeface="+mn-ea"/>
        <a:cs typeface="+mn-cs"/>
      </a:defRPr>
    </a:lvl2pPr>
    <a:lvl3pPr marL="914400" algn="l" defTabSz="914400" rtl="0" eaLnBrk="1" latinLnBrk="0" hangingPunct="1">
      <a:defRPr sz="1200" kern="1200">
        <a:solidFill>
          <a:schemeClr val="tx1"/>
        </a:solidFill>
        <a:latin typeface="DM Sans" pitchFamily="2" charset="0"/>
        <a:ea typeface="+mn-ea"/>
        <a:cs typeface="+mn-cs"/>
      </a:defRPr>
    </a:lvl3pPr>
    <a:lvl4pPr marL="1371600" algn="l" defTabSz="914400" rtl="0" eaLnBrk="1" latinLnBrk="0" hangingPunct="1">
      <a:defRPr sz="1200" kern="1200">
        <a:solidFill>
          <a:schemeClr val="tx1"/>
        </a:solidFill>
        <a:latin typeface="DM Sans" pitchFamily="2" charset="0"/>
        <a:ea typeface="+mn-ea"/>
        <a:cs typeface="+mn-cs"/>
      </a:defRPr>
    </a:lvl4pPr>
    <a:lvl5pPr marL="1828800" algn="l" defTabSz="914400" rtl="0" eaLnBrk="1" latinLnBrk="0" hangingPunct="1">
      <a:defRPr sz="1200" kern="1200">
        <a:solidFill>
          <a:schemeClr val="tx1"/>
        </a:solidFill>
        <a:latin typeface="DM San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fld id="{C6B3559C-4BE5-4262-A2E7-0EADDD5F845B}" type="slidenum">
              <a:rPr lang="en-GB" smtClean="0"/>
              <a:t>1</a:t>
            </a:fld>
            <a:endParaRPr lang="en-GB"/>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7200707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75A35-1295-2AF9-046D-7F9A02AB1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8ADCC-1249-AD6B-9DBA-200E42EB0D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901DB2-24C5-0FDB-C6F6-A0D4440444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8DBAD1-78CE-E44D-43BB-2816EB39A0D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122233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EC30B-92F7-EC9B-405F-9530A662E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64897-D04C-17CB-175D-86C696E08D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E609A5-F253-A7DF-F681-495A175C5CD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5D689BD-EE32-A212-5C06-92CF585DF9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360052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D9598-4BCB-9343-E7A1-D5D56CD43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7C58B2-F04A-CDDE-A927-9D89BCA239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8C8545-58A5-9362-91CA-5297699BF9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8DF10C-E605-C383-5750-2005DA40BA0F}"/>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521130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B824A-49B1-B98B-AAE9-42CBAA5ED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AD0DC-E2F5-3917-22AC-F74B18DEDF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0AE5B7-A555-8BC1-49E0-B762FD6DCA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F6E4AA5-A9FA-92EA-496A-524A2DF2D7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884473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EE463-3354-45CD-7235-544EDBD69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C9FDE-FB74-7943-2880-CF2949EE36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DCB5F9-A25A-276C-46BE-6B22DAAB21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D434FF-B1ED-C3BD-89AA-C37C927665C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912992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7F069-A6B1-4E5A-B68F-795E16E1E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736BF-1AF6-92FA-7C3B-BE9A84FC5C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EF9998-BCD5-F31C-1691-CF4A4977E5A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57965CB-46AE-2A45-91BE-B591FAF6E6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741186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3BB4B-1466-B51A-96FF-A95B858581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A7114-ABEE-B560-8D88-CDBBF48256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98400-7EA7-D1CB-1F14-EDDBAB4F93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78E9FF-9724-CD0B-D39B-1DA4C1ABCEC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9670370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34EA7-30AD-DC3E-51D6-94E0D7B25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8C71AC-FDE4-3969-D228-B4A1E8ABA7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9A6ADB-742E-18F3-7F46-17CD44C8DB5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4F62843-159C-650E-7623-774056B049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278696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4289E-6943-77F2-175D-C3F237007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E3BC0-0D5E-3A14-583E-AAE879B893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AEB80-BFD3-3BA4-BEF2-841973CF1F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E7BA76-571B-07D1-F56C-525D48719FD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540399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DD63D-C14F-15AE-B97B-F0B6C0CCE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00139-5707-07AA-A321-AF227456BC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E7C93C-DE90-C1B7-06DF-5F7C2434D12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D15C597-2AA2-06CB-A093-5609004455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855706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6411A-9D09-7BF8-F923-1A16D0A92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FF47F-B247-26F3-3AA7-CA46CE050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01B47-DEED-8117-D624-032771DE72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928D9A-332F-7C0A-24D1-7707A7C83E5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8613658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259D-BB7D-1D84-61A7-3CCF28CA8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3E176-2665-BE1E-6D9C-64899DFCBC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BF9AC-5132-6845-5ED0-852EE78B4A0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C8549F4-4D11-C2D4-E5AD-103473877A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9131814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D0F5E-F8C4-7B7B-D464-721C88F3F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A7D31-FF94-4806-1902-0EC386A100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95A97-267A-95B9-7DA0-E2F91BCA50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719781-6568-A88B-053F-BF8D0A91EAA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8245734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14E75-85BA-0D02-3E6A-214DA771D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7F65D-6F93-DB59-9171-5B5E5B83CC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DFA16-9D1C-3FD9-8A7F-6F7A688109E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91FE375-7933-43AE-B1D4-5E5059B3EE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8472252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0FA64-E385-F51F-A292-06220CF902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B0E559-87F6-6237-3110-96B3E8DF0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1F8D78-3D59-60AF-5B19-FEEC9CD8F5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B29949-2C74-F72D-E66C-E2593BAA56B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3562517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3E8D3-9CE3-3730-8CDA-2D83EE5DB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58737-6A7C-D366-2AFF-9BEF6ED1C1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00FB0E-F6C1-ED24-8536-A3731DBFBD5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6831727-BC44-16DE-76A3-F6B77CB257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8891093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486A3-FCF1-87CC-C9E9-642AC5ED4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FDFA9-0311-24E3-D8AB-2103B58180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58E5B-DC91-AE06-36F9-087CC4EA63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7A5F9F-00CE-6A8D-AA58-27BA5B93F3C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8371729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EB635-15CF-2FD0-350D-6AA1430E9A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9E6AE-541C-8E04-ECA4-030C1187D0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A7530-FC39-4585-32FB-9EE80BDEDBA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5833D06-B195-6FBA-D00C-A4F3829852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42447663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E49ED-B2DF-D755-280E-54C090D80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11D86-2BC2-FAE2-B301-9E7E51239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4A4A3-2B55-6E5B-3582-A13818C505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759388-BD40-4EA7-F8D6-56CEFA69730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339772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04F47-4368-04D1-1CE4-520AD72B8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1169C-4867-55A6-3C81-53663D35DA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EA4A1-E361-7EDD-9032-0ACC967248E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A6F0C6B-7A49-F9EF-FD44-EE59B3C657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5685093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E92FE-3907-E6CA-786A-0F358C7CA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032C0-9145-E72B-A8B4-F1615D3E8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CD1DB-B345-1B5F-8578-D453F8E0D7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677467-4375-CF1C-F49E-744E552392C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1744286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C3B99-9393-CD55-92A0-8B560232D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8C69F-2665-2338-B594-3D3476E9B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DAA929-8029-C60F-29B7-288BCA6808C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C69146D-C9E0-1A9E-685D-B5B8EF4B18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7550726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852F6-F87B-5748-D253-A8822B387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1FC59-3EF9-26C7-9F95-D13694941C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AF6BB-2E34-886D-E843-ADFAE40E1F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709EE7-378F-66FE-E41D-DCAF9911216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510228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6"/>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35" indent="0" algn="ctr">
              <a:buNone/>
              <a:defRPr>
                <a:solidFill>
                  <a:schemeClr val="tx1">
                    <a:tint val="75000"/>
                  </a:schemeClr>
                </a:solidFill>
              </a:defRPr>
            </a:lvl2pPr>
            <a:lvl3pPr marL="685869" indent="0" algn="ctr">
              <a:buNone/>
              <a:defRPr>
                <a:solidFill>
                  <a:schemeClr val="tx1">
                    <a:tint val="75000"/>
                  </a:schemeClr>
                </a:solidFill>
              </a:defRPr>
            </a:lvl3pPr>
            <a:lvl4pPr marL="1028805" indent="0" algn="ctr">
              <a:buNone/>
              <a:defRPr>
                <a:solidFill>
                  <a:schemeClr val="tx1">
                    <a:tint val="75000"/>
                  </a:schemeClr>
                </a:solidFill>
              </a:defRPr>
            </a:lvl4pPr>
            <a:lvl5pPr marL="1371738" indent="0" algn="ctr">
              <a:buNone/>
              <a:defRPr>
                <a:solidFill>
                  <a:schemeClr val="tx1">
                    <a:tint val="75000"/>
                  </a:schemeClr>
                </a:solidFill>
              </a:defRPr>
            </a:lvl5pPr>
            <a:lvl6pPr marL="1714671" indent="0" algn="ctr">
              <a:buNone/>
              <a:defRPr>
                <a:solidFill>
                  <a:schemeClr val="tx1">
                    <a:tint val="75000"/>
                  </a:schemeClr>
                </a:solidFill>
              </a:defRPr>
            </a:lvl6pPr>
            <a:lvl7pPr marL="2057606" indent="0" algn="ctr">
              <a:buNone/>
              <a:defRPr>
                <a:solidFill>
                  <a:schemeClr val="tx1">
                    <a:tint val="75000"/>
                  </a:schemeClr>
                </a:solidFill>
              </a:defRPr>
            </a:lvl7pPr>
            <a:lvl8pPr marL="2400540" indent="0" algn="ctr">
              <a:buNone/>
              <a:defRPr>
                <a:solidFill>
                  <a:schemeClr val="tx1">
                    <a:tint val="75000"/>
                  </a:schemeClr>
                </a:solidFill>
              </a:defRPr>
            </a:lvl8pPr>
            <a:lvl9pPr marL="274347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94452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74235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5" y="2906714"/>
            <a:ext cx="7772400" cy="1500188"/>
          </a:xfrm>
        </p:spPr>
        <p:txBody>
          <a:bodyPr anchor="b"/>
          <a:lstStyle>
            <a:lvl1pPr marL="0" indent="0">
              <a:buNone/>
              <a:defRPr sz="1500">
                <a:solidFill>
                  <a:schemeClr val="tx1">
                    <a:tint val="75000"/>
                  </a:schemeClr>
                </a:solidFill>
              </a:defRPr>
            </a:lvl1pPr>
            <a:lvl2pPr marL="342935" indent="0">
              <a:buNone/>
              <a:defRPr sz="1350">
                <a:solidFill>
                  <a:schemeClr val="tx1">
                    <a:tint val="75000"/>
                  </a:schemeClr>
                </a:solidFill>
              </a:defRPr>
            </a:lvl2pPr>
            <a:lvl3pPr marL="685869" indent="0">
              <a:buNone/>
              <a:defRPr sz="1200">
                <a:solidFill>
                  <a:schemeClr val="tx1">
                    <a:tint val="75000"/>
                  </a:schemeClr>
                </a:solidFill>
              </a:defRPr>
            </a:lvl3pPr>
            <a:lvl4pPr marL="1028805" indent="0">
              <a:buNone/>
              <a:defRPr sz="1050">
                <a:solidFill>
                  <a:schemeClr val="tx1">
                    <a:tint val="75000"/>
                  </a:schemeClr>
                </a:solidFill>
              </a:defRPr>
            </a:lvl4pPr>
            <a:lvl5pPr marL="1371738" indent="0">
              <a:buNone/>
              <a:defRPr sz="1050">
                <a:solidFill>
                  <a:schemeClr val="tx1">
                    <a:tint val="75000"/>
                  </a:schemeClr>
                </a:solidFill>
              </a:defRPr>
            </a:lvl5pPr>
            <a:lvl6pPr marL="1714671" indent="0">
              <a:buNone/>
              <a:defRPr sz="1050">
                <a:solidFill>
                  <a:schemeClr val="tx1">
                    <a:tint val="75000"/>
                  </a:schemeClr>
                </a:solidFill>
              </a:defRPr>
            </a:lvl6pPr>
            <a:lvl7pPr marL="2057606" indent="0">
              <a:buNone/>
              <a:defRPr sz="1050">
                <a:solidFill>
                  <a:schemeClr val="tx1">
                    <a:tint val="75000"/>
                  </a:schemeClr>
                </a:solidFill>
              </a:defRPr>
            </a:lvl7pPr>
            <a:lvl8pPr marL="2400540" indent="0">
              <a:buNone/>
              <a:defRPr sz="1050">
                <a:solidFill>
                  <a:schemeClr val="tx1">
                    <a:tint val="75000"/>
                  </a:schemeClr>
                </a:solidFill>
              </a:defRPr>
            </a:lvl8pPr>
            <a:lvl9pPr marL="2743475"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48681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3"/>
            <a:ext cx="4038600" cy="452596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3"/>
            <a:ext cx="4038600" cy="452596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48911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4" y="1535114"/>
            <a:ext cx="4040189" cy="639762"/>
          </a:xfrm>
        </p:spPr>
        <p:txBody>
          <a:bodyPr anchor="b"/>
          <a:lstStyle>
            <a:lvl1pPr marL="0" indent="0">
              <a:buNone/>
              <a:defRPr sz="1800" b="1"/>
            </a:lvl1pPr>
            <a:lvl2pPr marL="342935" indent="0">
              <a:buNone/>
              <a:defRPr sz="1500" b="1"/>
            </a:lvl2pPr>
            <a:lvl3pPr marL="685869" indent="0">
              <a:buNone/>
              <a:defRPr sz="1350" b="1"/>
            </a:lvl3pPr>
            <a:lvl4pPr marL="1028805" indent="0">
              <a:buNone/>
              <a:defRPr sz="1200" b="1"/>
            </a:lvl4pPr>
            <a:lvl5pPr marL="1371738" indent="0">
              <a:buNone/>
              <a:defRPr sz="1200" b="1"/>
            </a:lvl5pPr>
            <a:lvl6pPr marL="1714671" indent="0">
              <a:buNone/>
              <a:defRPr sz="1200" b="1"/>
            </a:lvl6pPr>
            <a:lvl7pPr marL="2057606" indent="0">
              <a:buNone/>
              <a:defRPr sz="1200" b="1"/>
            </a:lvl7pPr>
            <a:lvl8pPr marL="2400540" indent="0">
              <a:buNone/>
              <a:defRPr sz="1200" b="1"/>
            </a:lvl8pPr>
            <a:lvl9pPr marL="2743475"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4" y="2174876"/>
            <a:ext cx="4040189"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4"/>
            <a:ext cx="4041776" cy="639762"/>
          </a:xfrm>
        </p:spPr>
        <p:txBody>
          <a:bodyPr anchor="b"/>
          <a:lstStyle>
            <a:lvl1pPr marL="0" indent="0">
              <a:buNone/>
              <a:defRPr sz="1800" b="1"/>
            </a:lvl1pPr>
            <a:lvl2pPr marL="342935" indent="0">
              <a:buNone/>
              <a:defRPr sz="1500" b="1"/>
            </a:lvl2pPr>
            <a:lvl3pPr marL="685869" indent="0">
              <a:buNone/>
              <a:defRPr sz="1350" b="1"/>
            </a:lvl3pPr>
            <a:lvl4pPr marL="1028805" indent="0">
              <a:buNone/>
              <a:defRPr sz="1200" b="1"/>
            </a:lvl4pPr>
            <a:lvl5pPr marL="1371738" indent="0">
              <a:buNone/>
              <a:defRPr sz="1200" b="1"/>
            </a:lvl5pPr>
            <a:lvl6pPr marL="1714671" indent="0">
              <a:buNone/>
              <a:defRPr sz="1200" b="1"/>
            </a:lvl6pPr>
            <a:lvl7pPr marL="2057606" indent="0">
              <a:buNone/>
              <a:defRPr sz="1200" b="1"/>
            </a:lvl7pPr>
            <a:lvl8pPr marL="2400540" indent="0">
              <a:buNone/>
              <a:defRPr sz="1200" b="1"/>
            </a:lvl8pPr>
            <a:lvl9pPr marL="2743475"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6"/>
            <a:ext cx="4041776"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877441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058834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317895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0"/>
            <a:ext cx="300831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6" y="273056"/>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4"/>
            <a:ext cx="3008315" cy="4691063"/>
          </a:xfrm>
        </p:spPr>
        <p:txBody>
          <a:bodyPr/>
          <a:lstStyle>
            <a:lvl1pPr marL="0" indent="0">
              <a:buNone/>
              <a:defRPr sz="1050"/>
            </a:lvl1pPr>
            <a:lvl2pPr marL="342935" indent="0">
              <a:buNone/>
              <a:defRPr sz="900"/>
            </a:lvl2pPr>
            <a:lvl3pPr marL="685869" indent="0">
              <a:buNone/>
              <a:defRPr sz="750"/>
            </a:lvl3pPr>
            <a:lvl4pPr marL="1028805" indent="0">
              <a:buNone/>
              <a:defRPr sz="675"/>
            </a:lvl4pPr>
            <a:lvl5pPr marL="1371738" indent="0">
              <a:buNone/>
              <a:defRPr sz="675"/>
            </a:lvl5pPr>
            <a:lvl6pPr marL="1714671" indent="0">
              <a:buNone/>
              <a:defRPr sz="675"/>
            </a:lvl6pPr>
            <a:lvl7pPr marL="2057606" indent="0">
              <a:buNone/>
              <a:defRPr sz="675"/>
            </a:lvl7pPr>
            <a:lvl8pPr marL="2400540" indent="0">
              <a:buNone/>
              <a:defRPr sz="675"/>
            </a:lvl8pPr>
            <a:lvl9pPr marL="2743475"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262400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5"/>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6"/>
            <a:ext cx="5486400" cy="4114800"/>
          </a:xfrm>
        </p:spPr>
        <p:txBody>
          <a:bodyPr/>
          <a:lstStyle>
            <a:lvl1pPr marL="0" indent="0">
              <a:buNone/>
              <a:defRPr sz="2400"/>
            </a:lvl1pPr>
            <a:lvl2pPr marL="342935" indent="0">
              <a:buNone/>
              <a:defRPr sz="2100"/>
            </a:lvl2pPr>
            <a:lvl3pPr marL="685869" indent="0">
              <a:buNone/>
              <a:defRPr sz="1800"/>
            </a:lvl3pPr>
            <a:lvl4pPr marL="1028805" indent="0">
              <a:buNone/>
              <a:defRPr sz="1500"/>
            </a:lvl4pPr>
            <a:lvl5pPr marL="1371738" indent="0">
              <a:buNone/>
              <a:defRPr sz="1500"/>
            </a:lvl5pPr>
            <a:lvl6pPr marL="1714671" indent="0">
              <a:buNone/>
              <a:defRPr sz="1500"/>
            </a:lvl6pPr>
            <a:lvl7pPr marL="2057606" indent="0">
              <a:buNone/>
              <a:defRPr sz="1500"/>
            </a:lvl7pPr>
            <a:lvl8pPr marL="2400540" indent="0">
              <a:buNone/>
              <a:defRPr sz="1500"/>
            </a:lvl8pPr>
            <a:lvl9pPr marL="2743475" indent="0">
              <a:buNone/>
              <a:defRPr sz="1500"/>
            </a:lvl9pPr>
          </a:lstStyle>
          <a:p>
            <a:endParaRPr lang="en-US"/>
          </a:p>
        </p:txBody>
      </p:sp>
      <p:sp>
        <p:nvSpPr>
          <p:cNvPr id="4" name="Text Placeholder 3"/>
          <p:cNvSpPr>
            <a:spLocks noGrp="1"/>
          </p:cNvSpPr>
          <p:nvPr>
            <p:ph type="body" sz="half" idx="2"/>
          </p:nvPr>
        </p:nvSpPr>
        <p:spPr>
          <a:xfrm>
            <a:off x="1792288" y="5367343"/>
            <a:ext cx="5486400" cy="804863"/>
          </a:xfrm>
        </p:spPr>
        <p:txBody>
          <a:bodyPr/>
          <a:lstStyle>
            <a:lvl1pPr marL="0" indent="0">
              <a:buNone/>
              <a:defRPr sz="1050"/>
            </a:lvl1pPr>
            <a:lvl2pPr marL="342935" indent="0">
              <a:buNone/>
              <a:defRPr sz="900"/>
            </a:lvl2pPr>
            <a:lvl3pPr marL="685869" indent="0">
              <a:buNone/>
              <a:defRPr sz="750"/>
            </a:lvl3pPr>
            <a:lvl4pPr marL="1028805" indent="0">
              <a:buNone/>
              <a:defRPr sz="675"/>
            </a:lvl4pPr>
            <a:lvl5pPr marL="1371738" indent="0">
              <a:buNone/>
              <a:defRPr sz="675"/>
            </a:lvl5pPr>
            <a:lvl6pPr marL="1714671" indent="0">
              <a:buNone/>
              <a:defRPr sz="675"/>
            </a:lvl6pPr>
            <a:lvl7pPr marL="2057606" indent="0">
              <a:buNone/>
              <a:defRPr sz="675"/>
            </a:lvl7pPr>
            <a:lvl8pPr marL="2400540" indent="0">
              <a:buNone/>
              <a:defRPr sz="675"/>
            </a:lvl8pPr>
            <a:lvl9pPr marL="2743475"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508039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8911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72814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411957"/>
            <a:ext cx="16459200" cy="17145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914400" y="2400307"/>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9296400" y="2400307"/>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35580732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411959"/>
            <a:ext cx="16459200" cy="8777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758405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0"/>
              </a:defRPr>
            </a:lvl1pPr>
          </a:lstStyle>
          <a:p>
            <a:fld id="{1D8BD707-D9CF-40AE-B4C6-C98DA3205C09}" type="datetimeFigureOut">
              <a:rPr lang="en-US" smtClean="0"/>
              <a:pPr/>
              <a:t>4/29/26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DM Sans" pitchFamily="2" charset="0"/>
          <a:ea typeface="+mj-ea"/>
          <a:cs typeface="+mj-cs"/>
        </a:defRPr>
      </a:lvl1pPr>
    </p:titleStyle>
    <p:body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3"/>
            <a:ext cx="8229600" cy="4525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6"/>
            <a:ext cx="2133600" cy="365126"/>
          </a:xfrm>
          <a:prstGeom prst="rect">
            <a:avLst/>
          </a:prstGeom>
        </p:spPr>
        <p:txBody>
          <a:bodyPr vert="horz" lIns="91440" tIns="45720" rIns="91440" bIns="45720" rtlCol="0" anchor="ctr"/>
          <a:lstStyle>
            <a:lvl1pPr algn="l">
              <a:defRPr sz="900">
                <a:solidFill>
                  <a:schemeClr val="tx1">
                    <a:tint val="75000"/>
                  </a:schemeClr>
                </a:solidFill>
                <a:latin typeface="DM Sans" pitchFamily="2" charset="0"/>
              </a:defRPr>
            </a:lvl1pPr>
          </a:lstStyle>
          <a:p>
            <a:fld id="{1D8BD707-D9CF-40AE-B4C6-C98DA3205C09}" type="datetimeFigureOut">
              <a:rPr lang="en-US" smtClean="0"/>
              <a:pPr/>
              <a:t>4/29/26</a:t>
            </a:fld>
            <a:endParaRPr lang="en-US"/>
          </a:p>
        </p:txBody>
      </p:sp>
      <p:sp>
        <p:nvSpPr>
          <p:cNvPr id="5" name="Footer Placeholder 4"/>
          <p:cNvSpPr>
            <a:spLocks noGrp="1"/>
          </p:cNvSpPr>
          <p:nvPr>
            <p:ph type="ftr" sz="quarter" idx="3"/>
          </p:nvPr>
        </p:nvSpPr>
        <p:spPr>
          <a:xfrm>
            <a:off x="3124200" y="6356356"/>
            <a:ext cx="2895600" cy="365126"/>
          </a:xfrm>
          <a:prstGeom prst="rect">
            <a:avLst/>
          </a:prstGeom>
        </p:spPr>
        <p:txBody>
          <a:bodyPr vert="horz" lIns="91440" tIns="45720" rIns="91440" bIns="45720" rtlCol="0" anchor="ctr"/>
          <a:lstStyle>
            <a:lvl1pPr algn="ctr">
              <a:defRPr sz="9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6"/>
            <a:ext cx="2133600" cy="365126"/>
          </a:xfrm>
          <a:prstGeom prst="rect">
            <a:avLst/>
          </a:prstGeom>
        </p:spPr>
        <p:txBody>
          <a:bodyPr vert="horz" lIns="91440" tIns="45720" rIns="91440" bIns="45720" rtlCol="0" anchor="ctr"/>
          <a:lstStyle>
            <a:lvl1pPr algn="r">
              <a:defRPr sz="9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44326316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ctr" defTabSz="685869" rtl="0" eaLnBrk="1" latinLnBrk="0" hangingPunct="1">
        <a:spcBef>
          <a:spcPct val="0"/>
        </a:spcBef>
        <a:buNone/>
        <a:defRPr sz="3300" kern="1200">
          <a:solidFill>
            <a:schemeClr val="tx1"/>
          </a:solidFill>
          <a:latin typeface="DM Sans" pitchFamily="2" charset="0"/>
          <a:ea typeface="+mj-ea"/>
          <a:cs typeface="+mj-cs"/>
        </a:defRPr>
      </a:lvl1pPr>
    </p:titleStyle>
    <p:bodyStyle>
      <a:lvl1pPr marL="257201" indent="-257201" algn="l" defTabSz="685869"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1pPr>
      <a:lvl2pPr marL="557270" indent="-214335" algn="l" defTabSz="685869" rtl="0" eaLnBrk="1" latinLnBrk="0" hangingPunct="1">
        <a:spcBef>
          <a:spcPct val="20000"/>
        </a:spcBef>
        <a:buFont typeface="DM Sans" pitchFamily="34" charset="0"/>
        <a:buChar char="–"/>
        <a:defRPr sz="2100" kern="1200">
          <a:solidFill>
            <a:schemeClr val="tx1"/>
          </a:solidFill>
          <a:latin typeface="DM Sans" pitchFamily="2" charset="0"/>
          <a:ea typeface="+mn-ea"/>
          <a:cs typeface="+mn-cs"/>
        </a:defRPr>
      </a:lvl2pPr>
      <a:lvl3pPr marL="857337" indent="-171468" algn="l" defTabSz="685869" rtl="0" eaLnBrk="1" latinLnBrk="0" hangingPunct="1">
        <a:spcBef>
          <a:spcPct val="20000"/>
        </a:spcBef>
        <a:buFont typeface="DM Sans" pitchFamily="34" charset="0"/>
        <a:buChar char="•"/>
        <a:defRPr sz="1800" kern="1200">
          <a:solidFill>
            <a:schemeClr val="tx1"/>
          </a:solidFill>
          <a:latin typeface="DM Sans" pitchFamily="2" charset="0"/>
          <a:ea typeface="+mn-ea"/>
          <a:cs typeface="+mn-cs"/>
        </a:defRPr>
      </a:lvl3pPr>
      <a:lvl4pPr marL="1200270" indent="-171468" algn="l" defTabSz="685869" rtl="0" eaLnBrk="1" latinLnBrk="0" hangingPunct="1">
        <a:spcBef>
          <a:spcPct val="20000"/>
        </a:spcBef>
        <a:buFont typeface="DM Sans" pitchFamily="34" charset="0"/>
        <a:buChar char="–"/>
        <a:defRPr sz="1500" kern="1200">
          <a:solidFill>
            <a:schemeClr val="tx1"/>
          </a:solidFill>
          <a:latin typeface="DM Sans" pitchFamily="2" charset="0"/>
          <a:ea typeface="+mn-ea"/>
          <a:cs typeface="+mn-cs"/>
        </a:defRPr>
      </a:lvl4pPr>
      <a:lvl5pPr marL="1543205" indent="-171468" algn="l" defTabSz="685869" rtl="0" eaLnBrk="1" latinLnBrk="0" hangingPunct="1">
        <a:spcBef>
          <a:spcPct val="20000"/>
        </a:spcBef>
        <a:buFont typeface="DM Sans" pitchFamily="34" charset="0"/>
        <a:buChar char="»"/>
        <a:defRPr sz="1500" kern="1200">
          <a:solidFill>
            <a:schemeClr val="tx1"/>
          </a:solidFill>
          <a:latin typeface="DM Sans" pitchFamily="2" charset="0"/>
          <a:ea typeface="+mn-ea"/>
          <a:cs typeface="+mn-cs"/>
        </a:defRPr>
      </a:lvl5pPr>
      <a:lvl6pPr marL="1886139" indent="-171468" algn="l" defTabSz="685869" rtl="0" eaLnBrk="1" latinLnBrk="0" hangingPunct="1">
        <a:spcBef>
          <a:spcPct val="20000"/>
        </a:spcBef>
        <a:buFont typeface="DM Sans" pitchFamily="34" charset="0"/>
        <a:buChar char="•"/>
        <a:defRPr sz="1500" kern="1200">
          <a:solidFill>
            <a:schemeClr val="tx1"/>
          </a:solidFill>
          <a:latin typeface="+mn-lt"/>
          <a:ea typeface="+mn-ea"/>
          <a:cs typeface="+mn-cs"/>
        </a:defRPr>
      </a:lvl6pPr>
      <a:lvl7pPr marL="2229072" indent="-171468" algn="l" defTabSz="685869" rtl="0" eaLnBrk="1" latinLnBrk="0" hangingPunct="1">
        <a:spcBef>
          <a:spcPct val="20000"/>
        </a:spcBef>
        <a:buFont typeface="DM Sans" pitchFamily="34" charset="0"/>
        <a:buChar char="•"/>
        <a:defRPr sz="1500" kern="1200">
          <a:solidFill>
            <a:schemeClr val="tx1"/>
          </a:solidFill>
          <a:latin typeface="+mn-lt"/>
          <a:ea typeface="+mn-ea"/>
          <a:cs typeface="+mn-cs"/>
        </a:defRPr>
      </a:lvl7pPr>
      <a:lvl8pPr marL="2572008" indent="-171468" algn="l" defTabSz="685869" rtl="0" eaLnBrk="1" latinLnBrk="0" hangingPunct="1">
        <a:spcBef>
          <a:spcPct val="20000"/>
        </a:spcBef>
        <a:buFont typeface="DM Sans" pitchFamily="34" charset="0"/>
        <a:buChar char="•"/>
        <a:defRPr sz="1500" kern="1200">
          <a:solidFill>
            <a:schemeClr val="tx1"/>
          </a:solidFill>
          <a:latin typeface="+mn-lt"/>
          <a:ea typeface="+mn-ea"/>
          <a:cs typeface="+mn-cs"/>
        </a:defRPr>
      </a:lvl8pPr>
      <a:lvl9pPr marL="2914943" indent="-171468" algn="l" defTabSz="685869" rtl="0" eaLnBrk="1" latinLnBrk="0" hangingPunct="1">
        <a:spcBef>
          <a:spcPct val="20000"/>
        </a:spcBef>
        <a:buFont typeface="DM Sans" pitchFamily="34" charset="0"/>
        <a:buChar char="•"/>
        <a:defRPr sz="1500" kern="1200">
          <a:solidFill>
            <a:schemeClr val="tx1"/>
          </a:solidFill>
          <a:latin typeface="+mn-lt"/>
          <a:ea typeface="+mn-ea"/>
          <a:cs typeface="+mn-cs"/>
        </a:defRPr>
      </a:lvl9pPr>
    </p:bodyStyle>
    <p:otherStyle>
      <a:defPPr>
        <a:defRPr lang="en-US"/>
      </a:defPPr>
      <a:lvl1pPr marL="0" algn="l" defTabSz="685869" rtl="0" eaLnBrk="1" latinLnBrk="0" hangingPunct="1">
        <a:defRPr sz="1350" kern="1200">
          <a:solidFill>
            <a:schemeClr val="tx1"/>
          </a:solidFill>
          <a:latin typeface="+mn-lt"/>
          <a:ea typeface="+mn-ea"/>
          <a:cs typeface="+mn-cs"/>
        </a:defRPr>
      </a:lvl1pPr>
      <a:lvl2pPr marL="342935" algn="l" defTabSz="685869" rtl="0" eaLnBrk="1" latinLnBrk="0" hangingPunct="1">
        <a:defRPr sz="1350" kern="1200">
          <a:solidFill>
            <a:schemeClr val="tx1"/>
          </a:solidFill>
          <a:latin typeface="+mn-lt"/>
          <a:ea typeface="+mn-ea"/>
          <a:cs typeface="+mn-cs"/>
        </a:defRPr>
      </a:lvl2pPr>
      <a:lvl3pPr marL="685869" algn="l" defTabSz="685869" rtl="0" eaLnBrk="1" latinLnBrk="0" hangingPunct="1">
        <a:defRPr sz="1350" kern="1200">
          <a:solidFill>
            <a:schemeClr val="tx1"/>
          </a:solidFill>
          <a:latin typeface="+mn-lt"/>
          <a:ea typeface="+mn-ea"/>
          <a:cs typeface="+mn-cs"/>
        </a:defRPr>
      </a:lvl3pPr>
      <a:lvl4pPr marL="1028805" algn="l" defTabSz="685869" rtl="0" eaLnBrk="1" latinLnBrk="0" hangingPunct="1">
        <a:defRPr sz="1350" kern="1200">
          <a:solidFill>
            <a:schemeClr val="tx1"/>
          </a:solidFill>
          <a:latin typeface="+mn-lt"/>
          <a:ea typeface="+mn-ea"/>
          <a:cs typeface="+mn-cs"/>
        </a:defRPr>
      </a:lvl4pPr>
      <a:lvl5pPr marL="1371738" algn="l" defTabSz="685869" rtl="0" eaLnBrk="1" latinLnBrk="0" hangingPunct="1">
        <a:defRPr sz="1350" kern="1200">
          <a:solidFill>
            <a:schemeClr val="tx1"/>
          </a:solidFill>
          <a:latin typeface="+mn-lt"/>
          <a:ea typeface="+mn-ea"/>
          <a:cs typeface="+mn-cs"/>
        </a:defRPr>
      </a:lvl5pPr>
      <a:lvl6pPr marL="1714671" algn="l" defTabSz="685869" rtl="0" eaLnBrk="1" latinLnBrk="0" hangingPunct="1">
        <a:defRPr sz="1350" kern="1200">
          <a:solidFill>
            <a:schemeClr val="tx1"/>
          </a:solidFill>
          <a:latin typeface="+mn-lt"/>
          <a:ea typeface="+mn-ea"/>
          <a:cs typeface="+mn-cs"/>
        </a:defRPr>
      </a:lvl6pPr>
      <a:lvl7pPr marL="2057606" algn="l" defTabSz="685869" rtl="0" eaLnBrk="1" latinLnBrk="0" hangingPunct="1">
        <a:defRPr sz="1350" kern="1200">
          <a:solidFill>
            <a:schemeClr val="tx1"/>
          </a:solidFill>
          <a:latin typeface="+mn-lt"/>
          <a:ea typeface="+mn-ea"/>
          <a:cs typeface="+mn-cs"/>
        </a:defRPr>
      </a:lvl7pPr>
      <a:lvl8pPr marL="2400540" algn="l" defTabSz="685869" rtl="0" eaLnBrk="1" latinLnBrk="0" hangingPunct="1">
        <a:defRPr sz="1350" kern="1200">
          <a:solidFill>
            <a:schemeClr val="tx1"/>
          </a:solidFill>
          <a:latin typeface="+mn-lt"/>
          <a:ea typeface="+mn-ea"/>
          <a:cs typeface="+mn-cs"/>
        </a:defRPr>
      </a:lvl8pPr>
      <a:lvl9pPr marL="2743475" algn="l" defTabSz="685869"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1319472" y="4205856"/>
            <a:ext cx="14764384" cy="2761718"/>
          </a:xfrm>
          <a:prstGeom prst="rect">
            <a:avLst/>
          </a:prstGeom>
        </p:spPr>
        <p:txBody>
          <a:bodyPr wrap="square" lIns="0" tIns="0" rIns="0" bIns="0" rtlCol="0" anchor="t">
            <a:spAutoFit/>
          </a:bodyPr>
          <a:lstStyle/>
          <a:p>
            <a:pPr>
              <a:lnSpc>
                <a:spcPts val="10999"/>
              </a:lnSpc>
            </a:pPr>
            <a:r>
              <a:rPr lang="en-GB" altLang="en-US" sz="8000" b="1" dirty="0">
                <a:solidFill>
                  <a:schemeClr val="bg1"/>
                </a:solidFill>
              </a:rPr>
              <a:t>Mitigating Climate Change</a:t>
            </a:r>
            <a:br>
              <a:rPr lang="en-GB" altLang="en-US" sz="8000" b="1" dirty="0">
                <a:solidFill>
                  <a:schemeClr val="bg1"/>
                </a:solidFill>
              </a:rPr>
            </a:br>
            <a:endParaRPr lang="en-US" sz="8000" b="1" dirty="0">
              <a:solidFill>
                <a:schemeClr val="bg1"/>
              </a:solidFill>
              <a:latin typeface="DM Sans" pitchFamily="2" charset="0"/>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1371599" y="6256374"/>
            <a:ext cx="9787467" cy="2585901"/>
          </a:xfrm>
          <a:prstGeom prst="rect">
            <a:avLst/>
          </a:prstGeom>
        </p:spPr>
        <p:txBody>
          <a:bodyPr wrap="square" lIns="0" tIns="0" rIns="0" bIns="0" rtlCol="0" anchor="t">
            <a:spAutoFit/>
          </a:bodyPr>
          <a:lstStyle/>
          <a:p>
            <a:pPr>
              <a:lnSpc>
                <a:spcPts val="10999"/>
              </a:lnSpc>
            </a:pPr>
            <a:r>
              <a:rPr lang="en-US" sz="3200" b="1" dirty="0">
                <a:solidFill>
                  <a:srgbClr val="FAB700"/>
                </a:solidFill>
                <a:latin typeface="DM Sans" pitchFamily="2" charset="0"/>
              </a:rPr>
              <a:t>Week 9 - Global Climate Change EART21202 </a:t>
            </a:r>
          </a:p>
          <a:p>
            <a:pPr>
              <a:lnSpc>
                <a:spcPts val="10999"/>
              </a:lnSpc>
            </a:pPr>
            <a:r>
              <a:rPr lang="en-US" sz="3200" b="1" dirty="0">
                <a:solidFill>
                  <a:srgbClr val="FAB700"/>
                </a:solidFill>
                <a:latin typeface="DM Sans" pitchFamily="2" charset="0"/>
              </a:rPr>
              <a:t>Dr Thomas </a:t>
            </a:r>
            <a:r>
              <a:rPr lang="en-US" sz="3200" b="1" dirty="0" err="1">
                <a:solidFill>
                  <a:srgbClr val="FAB700"/>
                </a:solidFill>
                <a:latin typeface="DM Sans" pitchFamily="2" charset="0"/>
              </a:rPr>
              <a:t>Bannan</a:t>
            </a:r>
            <a:r>
              <a:rPr lang="en-US" sz="3200" b="1" dirty="0">
                <a:solidFill>
                  <a:srgbClr val="FAB700"/>
                </a:solidFill>
                <a:latin typeface="DM Sans" pitchFamily="2" charset="0"/>
              </a:rPr>
              <a:t> </a:t>
            </a:r>
          </a:p>
        </p:txBody>
      </p:sp>
      <p:sp>
        <p:nvSpPr>
          <p:cNvPr id="4" name="TextBox 3">
            <a:extLst>
              <a:ext uri="{FF2B5EF4-FFF2-40B4-BE49-F238E27FC236}">
                <a16:creationId xmlns:a16="http://schemas.microsoft.com/office/drawing/2014/main" id="{5889A0A8-15D6-C5A0-517B-A5C87EE4AF42}"/>
              </a:ext>
            </a:extLst>
          </p:cNvPr>
          <p:cNvSpPr txBox="1"/>
          <p:nvPr/>
        </p:nvSpPr>
        <p:spPr>
          <a:xfrm>
            <a:off x="1371600" y="9077406"/>
            <a:ext cx="9047747" cy="461665"/>
          </a:xfrm>
          <a:prstGeom prst="rect">
            <a:avLst/>
          </a:prstGeom>
          <a:noFill/>
        </p:spPr>
        <p:txBody>
          <a:bodyPr wrap="square" rtlCol="0">
            <a:spAutoFit/>
          </a:bodyPr>
          <a:lstStyle/>
          <a:p>
            <a:r>
              <a:rPr lang="en-US" sz="2400" dirty="0" err="1">
                <a:solidFill>
                  <a:schemeClr val="bg1"/>
                </a:solidFill>
              </a:rPr>
              <a:t>Thomas.Bannan@Manchester.ac.uk</a:t>
            </a:r>
            <a:endParaRPr lang="en-US" sz="24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48833"/>
    </mc:Choice>
    <mc:Fallback xmlns="">
      <p:transition spd="slow" advTm="488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Q1. </a:t>
            </a:r>
          </a:p>
        </p:txBody>
      </p:sp>
      <p:sp>
        <p:nvSpPr>
          <p:cNvPr id="2" name="TextBox 1">
            <a:extLst>
              <a:ext uri="{FF2B5EF4-FFF2-40B4-BE49-F238E27FC236}">
                <a16:creationId xmlns:a16="http://schemas.microsoft.com/office/drawing/2014/main" id="{B6B4BD0F-8FE4-63C8-843F-CA220171C15F}"/>
              </a:ext>
            </a:extLst>
          </p:cNvPr>
          <p:cNvSpPr txBox="1"/>
          <p:nvPr/>
        </p:nvSpPr>
        <p:spPr>
          <a:xfrm>
            <a:off x="584198" y="2135706"/>
            <a:ext cx="13572069" cy="523348"/>
          </a:xfrm>
          <a:prstGeom prst="rect">
            <a:avLst/>
          </a:prstGeom>
          <a:noFill/>
        </p:spPr>
        <p:txBody>
          <a:bodyPr wrap="square">
            <a:spAutoFit/>
          </a:bodyPr>
          <a:lstStyle/>
          <a:p>
            <a:pPr defTabSz="914445">
              <a:defRPr/>
            </a:pPr>
            <a:r>
              <a:rPr lang="en-GB" sz="2801" b="1" dirty="0">
                <a:solidFill>
                  <a:prstClr val="black"/>
                </a:solidFill>
                <a:latin typeface="DM Sans"/>
              </a:rPr>
              <a:t>Who Should Pay for Global Mitigation: Polluters Past, Present or Future?</a:t>
            </a:r>
          </a:p>
        </p:txBody>
      </p:sp>
    </p:spTree>
    <p:extLst>
      <p:ext uri="{BB962C8B-B14F-4D97-AF65-F5344CB8AC3E}">
        <p14:creationId xmlns:p14="http://schemas.microsoft.com/office/powerpoint/2010/main" val="2396318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489E4E4A-77F1-A103-DFA8-98837D7294B6}"/>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6348745-BC54-889A-5C5A-8B5AA81CC0E7}"/>
              </a:ext>
            </a:extLst>
          </p:cNvPr>
          <p:cNvSpPr/>
          <p:nvPr/>
        </p:nvSpPr>
        <p:spPr>
          <a:xfrm>
            <a:off x="14554202"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475983DD-C588-3ED2-288B-CEDF44687659}"/>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prstClr val="white"/>
                </a:solidFill>
                <a:latin typeface="DM Sans Bold"/>
                <a:ea typeface="ＭＳ Ｐゴシック" panose="020B0600070205080204" pitchFamily="34" charset="-128"/>
              </a:rPr>
              <a:t>Q1.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8" name="TextBox 7">
            <a:extLst>
              <a:ext uri="{FF2B5EF4-FFF2-40B4-BE49-F238E27FC236}">
                <a16:creationId xmlns:a16="http://schemas.microsoft.com/office/drawing/2014/main" id="{76BBED8B-FFB8-1E54-F3E3-8565EC5D9DFB}"/>
              </a:ext>
            </a:extLst>
          </p:cNvPr>
          <p:cNvSpPr txBox="1"/>
          <p:nvPr/>
        </p:nvSpPr>
        <p:spPr>
          <a:xfrm>
            <a:off x="584200" y="4333897"/>
            <a:ext cx="10659536" cy="646331"/>
          </a:xfrm>
          <a:prstGeom prst="rect">
            <a:avLst/>
          </a:prstGeom>
          <a:noFill/>
        </p:spPr>
        <p:txBody>
          <a:bodyPr wrap="square">
            <a:spAutoFit/>
          </a:bodyPr>
          <a:lstStyle/>
          <a:p>
            <a:pPr defTabSz="914445">
              <a:defRPr/>
            </a:pPr>
            <a:br>
              <a:rPr lang="en-GB" dirty="0">
                <a:solidFill>
                  <a:srgbClr val="000000"/>
                </a:solidFill>
                <a:latin typeface="DM Sans"/>
              </a:rPr>
            </a:br>
            <a:endParaRPr lang="en-GB" dirty="0">
              <a:solidFill>
                <a:srgbClr val="000000"/>
              </a:solidFill>
              <a:latin typeface="DM Sans"/>
            </a:endParaRPr>
          </a:p>
        </p:txBody>
      </p:sp>
      <p:sp>
        <p:nvSpPr>
          <p:cNvPr id="6" name="TextBox 5">
            <a:extLst>
              <a:ext uri="{FF2B5EF4-FFF2-40B4-BE49-F238E27FC236}">
                <a16:creationId xmlns:a16="http://schemas.microsoft.com/office/drawing/2014/main" id="{A2FA34BC-F529-A2B7-50B8-130C63098FDF}"/>
              </a:ext>
            </a:extLst>
          </p:cNvPr>
          <p:cNvSpPr txBox="1"/>
          <p:nvPr/>
        </p:nvSpPr>
        <p:spPr>
          <a:xfrm>
            <a:off x="584198" y="2135708"/>
            <a:ext cx="13572069" cy="954364"/>
          </a:xfrm>
          <a:prstGeom prst="rect">
            <a:avLst/>
          </a:prstGeom>
          <a:noFill/>
        </p:spPr>
        <p:txBody>
          <a:bodyPr wrap="square">
            <a:spAutoFit/>
          </a:bodyPr>
          <a:lstStyle/>
          <a:p>
            <a:pPr defTabSz="914445">
              <a:defRPr/>
            </a:pPr>
            <a:r>
              <a:rPr lang="en-GB" sz="2801" b="1" dirty="0">
                <a:solidFill>
                  <a:prstClr val="white"/>
                </a:solidFill>
                <a:latin typeface="DM Sans"/>
              </a:rPr>
              <a:t>Who Should Pay for Global Mitigation: Polluters Past, Present or Future?</a:t>
            </a:r>
          </a:p>
          <a:p>
            <a:pPr defTabSz="914445">
              <a:defRPr/>
            </a:pPr>
            <a:endParaRPr lang="en-GB" sz="2801" b="1" dirty="0">
              <a:solidFill>
                <a:prstClr val="white"/>
              </a:solidFill>
              <a:latin typeface="DM Sans"/>
            </a:endParaRPr>
          </a:p>
        </p:txBody>
      </p:sp>
      <p:sp>
        <p:nvSpPr>
          <p:cNvPr id="7" name="TextBox 6">
            <a:extLst>
              <a:ext uri="{FF2B5EF4-FFF2-40B4-BE49-F238E27FC236}">
                <a16:creationId xmlns:a16="http://schemas.microsoft.com/office/drawing/2014/main" id="{A93B71CE-EF4C-99C0-91BE-E8CE817F38BD}"/>
              </a:ext>
            </a:extLst>
          </p:cNvPr>
          <p:cNvSpPr txBox="1"/>
          <p:nvPr/>
        </p:nvSpPr>
        <p:spPr>
          <a:xfrm>
            <a:off x="584198" y="2908908"/>
            <a:ext cx="15078589" cy="558614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914445">
              <a:defRPr/>
            </a:pPr>
            <a:r>
              <a:rPr lang="en-GB" sz="2100" dirty="0">
                <a:solidFill>
                  <a:srgbClr val="FF0000"/>
                </a:solidFill>
                <a:latin typeface="DM Sans"/>
              </a:rPr>
              <a:t>The Paris Agreement highlights that the developed nations should shoulder a significant share of the financial and technological burden for climate mitigation. These nations are historically responsible for the majority of GHG emissions that have driven the climate change we face today and in the future.</a:t>
            </a:r>
          </a:p>
          <a:p>
            <a:pPr defTabSz="914445">
              <a:defRPr/>
            </a:pPr>
            <a:endParaRPr lang="en-GB" sz="2100" dirty="0">
              <a:solidFill>
                <a:srgbClr val="FF0000"/>
              </a:solidFill>
              <a:latin typeface="DM Sans"/>
            </a:endParaRPr>
          </a:p>
          <a:p>
            <a:pPr defTabSz="914445">
              <a:defRPr/>
            </a:pPr>
            <a:r>
              <a:rPr lang="en-GB" sz="2100" dirty="0">
                <a:solidFill>
                  <a:srgbClr val="FF0000"/>
                </a:solidFill>
                <a:latin typeface="DM Sans"/>
              </a:rPr>
              <a:t>Their early industrial development came at the cost of largescale emissions, yet these countries have retained the benefits of that progress (e.g. wealth, infrastructure, and technology). This underscores the argument that they should compensate for the damage caused, particularly to vulnerable nations that contributed little to the problem but now suffer disproportionately.</a:t>
            </a:r>
          </a:p>
          <a:p>
            <a:pPr defTabSz="914445">
              <a:defRPr/>
            </a:pPr>
            <a:endParaRPr lang="en-GB" sz="2100" dirty="0">
              <a:solidFill>
                <a:srgbClr val="FF0000"/>
              </a:solidFill>
              <a:latin typeface="DM Sans"/>
            </a:endParaRPr>
          </a:p>
          <a:p>
            <a:pPr defTabSz="914445">
              <a:defRPr/>
            </a:pPr>
            <a:r>
              <a:rPr lang="en-GB" sz="2100" dirty="0">
                <a:solidFill>
                  <a:srgbClr val="FF0000"/>
                </a:solidFill>
                <a:latin typeface="DM Sans"/>
              </a:rPr>
              <a:t>Rapidly developing economies such as China, India, Brazil (and others) are now among the big emitters. Although they have less historical responsibility, they now possess greater capacity and influence to take meaningful climate action. A shared responsibility model suggests that current high emitters must also contribute, especially as their emissions continue to rise.</a:t>
            </a:r>
          </a:p>
          <a:p>
            <a:pPr defTabSz="914445">
              <a:defRPr/>
            </a:pPr>
            <a:endParaRPr lang="en-GB" sz="2100" dirty="0">
              <a:solidFill>
                <a:srgbClr val="FF0000"/>
              </a:solidFill>
              <a:latin typeface="DM Sans"/>
            </a:endParaRPr>
          </a:p>
          <a:p>
            <a:pPr defTabSz="914445">
              <a:defRPr/>
            </a:pPr>
            <a:r>
              <a:rPr lang="en-GB" sz="2100" dirty="0">
                <a:solidFill>
                  <a:srgbClr val="FF0000"/>
                </a:solidFill>
                <a:latin typeface="DM Sans"/>
              </a:rPr>
              <a:t>The principle forms the foundation of the Paris Agreement, which calls on all nations to act while recognising that developed countries must provide enhanced support (financial, technological, and capacity) to those in greater need.</a:t>
            </a:r>
          </a:p>
        </p:txBody>
      </p:sp>
    </p:spTree>
    <p:extLst>
      <p:ext uri="{BB962C8B-B14F-4D97-AF65-F5344CB8AC3E}">
        <p14:creationId xmlns:p14="http://schemas.microsoft.com/office/powerpoint/2010/main" val="4185579472"/>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28136-7365-247B-4D98-465541AEBF9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8A1C65E-FB86-0C5C-F587-A10D11C142F0}"/>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1E42987F-7B0F-8D13-4A5A-FC72FAE1BC61}"/>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Q2. </a:t>
            </a:r>
          </a:p>
        </p:txBody>
      </p:sp>
      <p:sp>
        <p:nvSpPr>
          <p:cNvPr id="2" name="TextBox 1">
            <a:extLst>
              <a:ext uri="{FF2B5EF4-FFF2-40B4-BE49-F238E27FC236}">
                <a16:creationId xmlns:a16="http://schemas.microsoft.com/office/drawing/2014/main" id="{ABD61998-BC57-2389-2360-2D2DC47A99FA}"/>
              </a:ext>
            </a:extLst>
          </p:cNvPr>
          <p:cNvSpPr txBox="1"/>
          <p:nvPr/>
        </p:nvSpPr>
        <p:spPr>
          <a:xfrm>
            <a:off x="575732" y="2149994"/>
            <a:ext cx="13572069" cy="523348"/>
          </a:xfrm>
          <a:prstGeom prst="rect">
            <a:avLst/>
          </a:prstGeom>
          <a:noFill/>
        </p:spPr>
        <p:txBody>
          <a:bodyPr wrap="square">
            <a:spAutoFit/>
          </a:bodyPr>
          <a:lstStyle/>
          <a:p>
            <a:pPr defTabSz="914445">
              <a:defRPr/>
            </a:pPr>
            <a:r>
              <a:rPr lang="en-GB" sz="2801" b="1" dirty="0">
                <a:solidFill>
                  <a:prstClr val="black"/>
                </a:solidFill>
                <a:latin typeface="DM Sans"/>
              </a:rPr>
              <a:t>Should adaptation be prioritised over mitigation?</a:t>
            </a:r>
          </a:p>
        </p:txBody>
      </p:sp>
    </p:spTree>
    <p:extLst>
      <p:ext uri="{BB962C8B-B14F-4D97-AF65-F5344CB8AC3E}">
        <p14:creationId xmlns:p14="http://schemas.microsoft.com/office/powerpoint/2010/main" val="3093078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DC106844-8F38-A33B-E5FA-B3831D7D4E26}"/>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E36D6F71-F7C8-EDDF-FAA9-4CE8BBE5CB80}"/>
              </a:ext>
            </a:extLst>
          </p:cNvPr>
          <p:cNvSpPr/>
          <p:nvPr/>
        </p:nvSpPr>
        <p:spPr>
          <a:xfrm>
            <a:off x="14554202"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EE50A5B9-927D-D544-EA22-6FF36AF27202}"/>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prstClr val="white"/>
                </a:solidFill>
                <a:latin typeface="DM Sans Bold"/>
                <a:ea typeface="ＭＳ Ｐゴシック" panose="020B0600070205080204" pitchFamily="34" charset="-128"/>
              </a:rPr>
              <a:t>Q2.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8" name="TextBox 7">
            <a:extLst>
              <a:ext uri="{FF2B5EF4-FFF2-40B4-BE49-F238E27FC236}">
                <a16:creationId xmlns:a16="http://schemas.microsoft.com/office/drawing/2014/main" id="{20D517D6-C6E6-62FF-AACC-338F8687DC54}"/>
              </a:ext>
            </a:extLst>
          </p:cNvPr>
          <p:cNvSpPr txBox="1"/>
          <p:nvPr/>
        </p:nvSpPr>
        <p:spPr>
          <a:xfrm>
            <a:off x="584200" y="4333897"/>
            <a:ext cx="10659536" cy="646331"/>
          </a:xfrm>
          <a:prstGeom prst="rect">
            <a:avLst/>
          </a:prstGeom>
          <a:noFill/>
        </p:spPr>
        <p:txBody>
          <a:bodyPr wrap="square">
            <a:spAutoFit/>
          </a:bodyPr>
          <a:lstStyle/>
          <a:p>
            <a:pPr defTabSz="914445">
              <a:defRPr/>
            </a:pPr>
            <a:br>
              <a:rPr lang="en-GB" dirty="0">
                <a:solidFill>
                  <a:srgbClr val="000000"/>
                </a:solidFill>
                <a:latin typeface="DM Sans"/>
              </a:rPr>
            </a:br>
            <a:endParaRPr lang="en-GB" dirty="0">
              <a:solidFill>
                <a:srgbClr val="000000"/>
              </a:solidFill>
              <a:latin typeface="DM Sans"/>
            </a:endParaRPr>
          </a:p>
        </p:txBody>
      </p:sp>
      <p:sp>
        <p:nvSpPr>
          <p:cNvPr id="6" name="TextBox 5">
            <a:extLst>
              <a:ext uri="{FF2B5EF4-FFF2-40B4-BE49-F238E27FC236}">
                <a16:creationId xmlns:a16="http://schemas.microsoft.com/office/drawing/2014/main" id="{08454299-61B6-988E-A25B-9919D14E24FF}"/>
              </a:ext>
            </a:extLst>
          </p:cNvPr>
          <p:cNvSpPr txBox="1"/>
          <p:nvPr/>
        </p:nvSpPr>
        <p:spPr>
          <a:xfrm>
            <a:off x="584198" y="2135707"/>
            <a:ext cx="13572069" cy="1385379"/>
          </a:xfrm>
          <a:prstGeom prst="rect">
            <a:avLst/>
          </a:prstGeom>
          <a:noFill/>
        </p:spPr>
        <p:txBody>
          <a:bodyPr wrap="square">
            <a:spAutoFit/>
          </a:bodyPr>
          <a:lstStyle/>
          <a:p>
            <a:pPr defTabSz="914445">
              <a:defRPr/>
            </a:pPr>
            <a:r>
              <a:rPr lang="en-GB" sz="2801" b="1" dirty="0">
                <a:solidFill>
                  <a:prstClr val="white"/>
                </a:solidFill>
                <a:latin typeface="DM Sans"/>
              </a:rPr>
              <a:t>Should adaptation be prioritised over mitigation?</a:t>
            </a: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p:txBody>
      </p:sp>
      <p:sp>
        <p:nvSpPr>
          <p:cNvPr id="7" name="TextBox 6">
            <a:extLst>
              <a:ext uri="{FF2B5EF4-FFF2-40B4-BE49-F238E27FC236}">
                <a16:creationId xmlns:a16="http://schemas.microsoft.com/office/drawing/2014/main" id="{61A33237-CB0D-5C15-C0D1-129D60BEA4C4}"/>
              </a:ext>
            </a:extLst>
          </p:cNvPr>
          <p:cNvSpPr txBox="1"/>
          <p:nvPr/>
        </p:nvSpPr>
        <p:spPr>
          <a:xfrm>
            <a:off x="629342" y="3403324"/>
            <a:ext cx="17029316" cy="415498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914445">
              <a:defRPr/>
            </a:pPr>
            <a:r>
              <a:rPr lang="en-GB" sz="2400" dirty="0">
                <a:solidFill>
                  <a:srgbClr val="FF0000"/>
                </a:solidFill>
                <a:latin typeface="DM Sans"/>
              </a:rPr>
              <a:t>Both are essential, but the balance depends on local and global contexts.</a:t>
            </a:r>
          </a:p>
          <a:p>
            <a:pPr defTabSz="914445">
              <a:defRPr/>
            </a:pPr>
            <a:endParaRPr lang="en-GB" sz="2400" dirty="0">
              <a:solidFill>
                <a:srgbClr val="FF0000"/>
              </a:solidFill>
              <a:latin typeface="DM Sans"/>
            </a:endParaRPr>
          </a:p>
          <a:p>
            <a:pPr marL="428625" indent="-428625" defTabSz="914445">
              <a:buFont typeface="Arial" panose="020B0604020202020204" pitchFamily="34" charset="0"/>
              <a:buChar char="•"/>
              <a:defRPr/>
            </a:pPr>
            <a:r>
              <a:rPr lang="en-GB" sz="2400" dirty="0">
                <a:solidFill>
                  <a:srgbClr val="FF0000"/>
                </a:solidFill>
                <a:latin typeface="DM Sans"/>
              </a:rPr>
              <a:t>Adaptation addresses current and unavoidable climate impacts (e.g., flood defences, drought resistant crops).</a:t>
            </a:r>
          </a:p>
          <a:p>
            <a:pPr marL="428625" indent="-428625" defTabSz="914445">
              <a:buFont typeface="Arial" panose="020B0604020202020204" pitchFamily="34" charset="0"/>
              <a:buChar char="•"/>
              <a:defRPr/>
            </a:pPr>
            <a:r>
              <a:rPr lang="en-GB" sz="2400" dirty="0">
                <a:solidFill>
                  <a:srgbClr val="FF0000"/>
                </a:solidFill>
                <a:latin typeface="DM Sans"/>
              </a:rPr>
              <a:t>Mitigation tackles the root cause, GHG emission, and aims to prevent worsening impacts through emission reductions or NETs</a:t>
            </a:r>
          </a:p>
          <a:p>
            <a:pPr marL="428625" indent="-428625" defTabSz="914445">
              <a:buFont typeface="Arial" panose="020B0604020202020204" pitchFamily="34" charset="0"/>
              <a:buChar char="•"/>
              <a:defRPr/>
            </a:pPr>
            <a:r>
              <a:rPr lang="en-GB" sz="2400" dirty="0">
                <a:solidFill>
                  <a:srgbClr val="FF0000"/>
                </a:solidFill>
                <a:latin typeface="DM Sans"/>
              </a:rPr>
              <a:t>The lecture emphasises a two-pillar approach, where mitigation is necessary to limit future change, while adaptation helps manage committed impacts (think about the lifetime of the WM GHGs). </a:t>
            </a:r>
          </a:p>
          <a:p>
            <a:pPr marL="428625" indent="-428625" defTabSz="914445">
              <a:buFont typeface="Arial" panose="020B0604020202020204" pitchFamily="34" charset="0"/>
              <a:buChar char="•"/>
              <a:defRPr/>
            </a:pPr>
            <a:r>
              <a:rPr lang="en-GB" sz="2400" dirty="0">
                <a:solidFill>
                  <a:srgbClr val="FF0000"/>
                </a:solidFill>
                <a:latin typeface="DM Sans"/>
              </a:rPr>
              <a:t>Overreliance on adaptation can lead to escalating costs and less incentive to mitigate. </a:t>
            </a:r>
          </a:p>
          <a:p>
            <a:pPr marL="428625" indent="-428625" defTabSz="914445">
              <a:buFont typeface="Arial" panose="020B0604020202020204" pitchFamily="34" charset="0"/>
              <a:buChar char="•"/>
              <a:defRPr/>
            </a:pPr>
            <a:endParaRPr lang="en-GB" sz="2400" dirty="0">
              <a:solidFill>
                <a:srgbClr val="FF0000"/>
              </a:solidFill>
              <a:latin typeface="DM Sans"/>
            </a:endParaRPr>
          </a:p>
          <a:p>
            <a:pPr defTabSz="914445">
              <a:defRPr/>
            </a:pPr>
            <a:r>
              <a:rPr lang="en-GB" sz="2400" dirty="0">
                <a:solidFill>
                  <a:srgbClr val="FF0000"/>
                </a:solidFill>
                <a:latin typeface="DM Sans"/>
              </a:rPr>
              <a:t>Can you think of any local examples? </a:t>
            </a:r>
          </a:p>
          <a:p>
            <a:pPr defTabSz="914445">
              <a:defRPr/>
            </a:pPr>
            <a:endParaRPr lang="en-GB" sz="2400" dirty="0">
              <a:solidFill>
                <a:srgbClr val="FF0000"/>
              </a:solidFill>
              <a:latin typeface="DM Sans"/>
            </a:endParaRPr>
          </a:p>
        </p:txBody>
      </p:sp>
    </p:spTree>
    <p:extLst>
      <p:ext uri="{BB962C8B-B14F-4D97-AF65-F5344CB8AC3E}">
        <p14:creationId xmlns:p14="http://schemas.microsoft.com/office/powerpoint/2010/main" val="2343610797"/>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77419-C617-6D59-EC48-A13C520CBA6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E266E70-898B-4C49-5B17-E0C72185061A}"/>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4D5004AD-41BF-9D74-0D04-FC635CA020D7}"/>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Q3. </a:t>
            </a:r>
          </a:p>
        </p:txBody>
      </p:sp>
      <p:sp>
        <p:nvSpPr>
          <p:cNvPr id="2" name="TextBox 1">
            <a:extLst>
              <a:ext uri="{FF2B5EF4-FFF2-40B4-BE49-F238E27FC236}">
                <a16:creationId xmlns:a16="http://schemas.microsoft.com/office/drawing/2014/main" id="{6C77AF1F-6A87-CF46-20ED-8448F4814FC8}"/>
              </a:ext>
            </a:extLst>
          </p:cNvPr>
          <p:cNvSpPr txBox="1"/>
          <p:nvPr/>
        </p:nvSpPr>
        <p:spPr>
          <a:xfrm>
            <a:off x="575732" y="2149994"/>
            <a:ext cx="13572069" cy="954364"/>
          </a:xfrm>
          <a:prstGeom prst="rect">
            <a:avLst/>
          </a:prstGeom>
          <a:noFill/>
        </p:spPr>
        <p:txBody>
          <a:bodyPr wrap="square">
            <a:spAutoFit/>
          </a:bodyPr>
          <a:lstStyle/>
          <a:p>
            <a:pPr defTabSz="914445">
              <a:defRPr/>
            </a:pPr>
            <a:r>
              <a:rPr lang="en-GB" sz="2801" b="1" dirty="0">
                <a:solidFill>
                  <a:prstClr val="black"/>
                </a:solidFill>
                <a:latin typeface="DM Sans"/>
              </a:rPr>
              <a:t>How can education empower individuals and communities to adapt to climate change?</a:t>
            </a:r>
          </a:p>
        </p:txBody>
      </p:sp>
    </p:spTree>
    <p:extLst>
      <p:ext uri="{BB962C8B-B14F-4D97-AF65-F5344CB8AC3E}">
        <p14:creationId xmlns:p14="http://schemas.microsoft.com/office/powerpoint/2010/main" val="2789555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C757DEA0-A449-1F9D-71CD-8C9D17EFF7D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B8AA9DC-D321-EA2F-5EE6-923F67033F3E}"/>
              </a:ext>
            </a:extLst>
          </p:cNvPr>
          <p:cNvSpPr/>
          <p:nvPr/>
        </p:nvSpPr>
        <p:spPr>
          <a:xfrm>
            <a:off x="14554202"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12AF9D6A-66A2-5AC1-CE39-A786A653C961}"/>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prstClr val="white"/>
                </a:solidFill>
                <a:latin typeface="DM Sans Bold"/>
                <a:ea typeface="ＭＳ Ｐゴシック" panose="020B0600070205080204" pitchFamily="34" charset="-128"/>
              </a:rPr>
              <a:t>Q3.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8" name="TextBox 7">
            <a:extLst>
              <a:ext uri="{FF2B5EF4-FFF2-40B4-BE49-F238E27FC236}">
                <a16:creationId xmlns:a16="http://schemas.microsoft.com/office/drawing/2014/main" id="{C96B4082-B1E6-5B69-2BB6-81F0B2EC4AE9}"/>
              </a:ext>
            </a:extLst>
          </p:cNvPr>
          <p:cNvSpPr txBox="1"/>
          <p:nvPr/>
        </p:nvSpPr>
        <p:spPr>
          <a:xfrm>
            <a:off x="584200" y="4333897"/>
            <a:ext cx="10659536" cy="646331"/>
          </a:xfrm>
          <a:prstGeom prst="rect">
            <a:avLst/>
          </a:prstGeom>
          <a:noFill/>
        </p:spPr>
        <p:txBody>
          <a:bodyPr wrap="square">
            <a:spAutoFit/>
          </a:bodyPr>
          <a:lstStyle/>
          <a:p>
            <a:pPr defTabSz="914445">
              <a:defRPr/>
            </a:pPr>
            <a:br>
              <a:rPr lang="en-GB" dirty="0">
                <a:solidFill>
                  <a:srgbClr val="000000"/>
                </a:solidFill>
                <a:latin typeface="DM Sans"/>
              </a:rPr>
            </a:br>
            <a:endParaRPr lang="en-GB" dirty="0">
              <a:solidFill>
                <a:srgbClr val="000000"/>
              </a:solidFill>
              <a:latin typeface="DM Sans"/>
            </a:endParaRPr>
          </a:p>
        </p:txBody>
      </p:sp>
      <p:sp>
        <p:nvSpPr>
          <p:cNvPr id="6" name="TextBox 5">
            <a:extLst>
              <a:ext uri="{FF2B5EF4-FFF2-40B4-BE49-F238E27FC236}">
                <a16:creationId xmlns:a16="http://schemas.microsoft.com/office/drawing/2014/main" id="{1E98629E-A55F-BDAF-94B9-CADC6268BC21}"/>
              </a:ext>
            </a:extLst>
          </p:cNvPr>
          <p:cNvSpPr txBox="1"/>
          <p:nvPr/>
        </p:nvSpPr>
        <p:spPr>
          <a:xfrm>
            <a:off x="584198" y="2135706"/>
            <a:ext cx="13572069" cy="2247410"/>
          </a:xfrm>
          <a:prstGeom prst="rect">
            <a:avLst/>
          </a:prstGeom>
          <a:noFill/>
        </p:spPr>
        <p:txBody>
          <a:bodyPr wrap="square">
            <a:spAutoFit/>
          </a:bodyPr>
          <a:lstStyle/>
          <a:p>
            <a:pPr defTabSz="914445">
              <a:defRPr/>
            </a:pPr>
            <a:r>
              <a:rPr lang="en-GB" sz="2801" b="1" dirty="0">
                <a:solidFill>
                  <a:prstClr val="white"/>
                </a:solidFill>
                <a:latin typeface="DM Sans"/>
              </a:rPr>
              <a:t>How can education empower individuals and communities to adapt to climate change?</a:t>
            </a: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p:txBody>
      </p:sp>
      <p:sp>
        <p:nvSpPr>
          <p:cNvPr id="7" name="TextBox 6">
            <a:extLst>
              <a:ext uri="{FF2B5EF4-FFF2-40B4-BE49-F238E27FC236}">
                <a16:creationId xmlns:a16="http://schemas.microsoft.com/office/drawing/2014/main" id="{346CEE70-4EB0-96D6-3695-55335E97C646}"/>
              </a:ext>
            </a:extLst>
          </p:cNvPr>
          <p:cNvSpPr txBox="1"/>
          <p:nvPr/>
        </p:nvSpPr>
        <p:spPr>
          <a:xfrm>
            <a:off x="629344" y="3610658"/>
            <a:ext cx="17029316" cy="34163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914445">
              <a:defRPr/>
            </a:pPr>
            <a:r>
              <a:rPr lang="en-GB" sz="2400" dirty="0">
                <a:solidFill>
                  <a:srgbClr val="FF0000"/>
                </a:solidFill>
                <a:latin typeface="DM Sans"/>
              </a:rPr>
              <a:t>Education can play a big part in talking climate change. Examples of this include: </a:t>
            </a:r>
          </a:p>
          <a:p>
            <a:pPr marL="428625" indent="-428625" defTabSz="914445">
              <a:buFont typeface="Arial" panose="020B0604020202020204" pitchFamily="34" charset="0"/>
              <a:buChar char="•"/>
              <a:defRPr/>
            </a:pPr>
            <a:r>
              <a:rPr lang="en-GB" sz="2400" dirty="0">
                <a:solidFill>
                  <a:srgbClr val="FF0000"/>
                </a:solidFill>
                <a:latin typeface="DM Sans"/>
              </a:rPr>
              <a:t>Awareness of risks (e.g., floods, heatwaves, droughts)</a:t>
            </a:r>
          </a:p>
          <a:p>
            <a:pPr marL="428625" indent="-428625" defTabSz="914445">
              <a:buFont typeface="Arial" panose="020B0604020202020204" pitchFamily="34" charset="0"/>
              <a:buChar char="•"/>
              <a:defRPr/>
            </a:pPr>
            <a:r>
              <a:rPr lang="en-GB" sz="2400" dirty="0">
                <a:solidFill>
                  <a:srgbClr val="FF0000"/>
                </a:solidFill>
                <a:latin typeface="DM Sans"/>
              </a:rPr>
              <a:t>Knowledge of adaptation strategies (e.g., efficient water use, crop selection)</a:t>
            </a:r>
          </a:p>
          <a:p>
            <a:pPr marL="428625" indent="-428625" defTabSz="914445">
              <a:buFont typeface="Arial" panose="020B0604020202020204" pitchFamily="34" charset="0"/>
              <a:buChar char="•"/>
              <a:defRPr/>
            </a:pPr>
            <a:r>
              <a:rPr lang="en-GB" sz="2400" dirty="0">
                <a:solidFill>
                  <a:srgbClr val="FF0000"/>
                </a:solidFill>
                <a:latin typeface="DM Sans"/>
              </a:rPr>
              <a:t>Community resilience through shared knowledge and preparedness</a:t>
            </a:r>
          </a:p>
          <a:p>
            <a:pPr marL="428625" indent="-428625" defTabSz="914445">
              <a:buFont typeface="Arial" panose="020B0604020202020204" pitchFamily="34" charset="0"/>
              <a:buChar char="•"/>
              <a:defRPr/>
            </a:pPr>
            <a:r>
              <a:rPr lang="en-GB" sz="2400" dirty="0">
                <a:solidFill>
                  <a:srgbClr val="FF0000"/>
                </a:solidFill>
                <a:latin typeface="DM Sans"/>
              </a:rPr>
              <a:t>It encourages informed decision making and collective action. </a:t>
            </a:r>
          </a:p>
          <a:p>
            <a:pPr marL="428625" indent="-428625" defTabSz="914445">
              <a:buFont typeface="Arial" panose="020B0604020202020204" pitchFamily="34" charset="0"/>
              <a:buChar char="•"/>
              <a:defRPr/>
            </a:pPr>
            <a:r>
              <a:rPr lang="en-GB" sz="2400" dirty="0">
                <a:solidFill>
                  <a:srgbClr val="FF0000"/>
                </a:solidFill>
                <a:latin typeface="DM Sans"/>
              </a:rPr>
              <a:t>Education also enhances acceptance and support for policy and infrastructure adaptation and encourages sustainable behaviour.</a:t>
            </a:r>
          </a:p>
          <a:p>
            <a:pPr marL="428625" indent="-428625" defTabSz="914445">
              <a:buFont typeface="Arial" panose="020B0604020202020204" pitchFamily="34" charset="0"/>
              <a:buChar char="•"/>
              <a:defRPr/>
            </a:pPr>
            <a:endParaRPr lang="en-GB" sz="2400" dirty="0">
              <a:solidFill>
                <a:srgbClr val="FF0000"/>
              </a:solidFill>
              <a:latin typeface="DM Sans"/>
            </a:endParaRPr>
          </a:p>
          <a:p>
            <a:pPr defTabSz="914445">
              <a:defRPr/>
            </a:pPr>
            <a:r>
              <a:rPr lang="en-GB" sz="2400" dirty="0">
                <a:solidFill>
                  <a:srgbClr val="FF0000"/>
                </a:solidFill>
                <a:latin typeface="DM Sans"/>
              </a:rPr>
              <a:t>Can you think of any more? </a:t>
            </a:r>
          </a:p>
        </p:txBody>
      </p:sp>
    </p:spTree>
    <p:extLst>
      <p:ext uri="{BB962C8B-B14F-4D97-AF65-F5344CB8AC3E}">
        <p14:creationId xmlns:p14="http://schemas.microsoft.com/office/powerpoint/2010/main" val="104678717"/>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EC935-1BFB-46ED-3AA7-6ADBC1BC4C89}"/>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9468F8D-DAA4-B63E-F47F-6FAE1C583532}"/>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8AC1C375-A319-390F-9BBE-AD438D2F88E6}"/>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Q4. </a:t>
            </a:r>
          </a:p>
        </p:txBody>
      </p:sp>
      <p:sp>
        <p:nvSpPr>
          <p:cNvPr id="2" name="TextBox 1">
            <a:extLst>
              <a:ext uri="{FF2B5EF4-FFF2-40B4-BE49-F238E27FC236}">
                <a16:creationId xmlns:a16="http://schemas.microsoft.com/office/drawing/2014/main" id="{6D44BA63-570E-DE38-4616-1C1CE5D2AAB3}"/>
              </a:ext>
            </a:extLst>
          </p:cNvPr>
          <p:cNvSpPr txBox="1"/>
          <p:nvPr/>
        </p:nvSpPr>
        <p:spPr>
          <a:xfrm>
            <a:off x="575732" y="2149994"/>
            <a:ext cx="13572069" cy="954364"/>
          </a:xfrm>
          <a:prstGeom prst="rect">
            <a:avLst/>
          </a:prstGeom>
          <a:noFill/>
        </p:spPr>
        <p:txBody>
          <a:bodyPr wrap="square">
            <a:spAutoFit/>
          </a:bodyPr>
          <a:lstStyle/>
          <a:p>
            <a:pPr defTabSz="914445">
              <a:defRPr/>
            </a:pPr>
            <a:r>
              <a:rPr lang="en-GB" sz="2801" b="1" dirty="0">
                <a:solidFill>
                  <a:prstClr val="black"/>
                </a:solidFill>
                <a:latin typeface="DM Sans"/>
              </a:rPr>
              <a:t>Compare emissions and mitigation potential from key sectors: energy, transport, agriculture, industry, and buildings.</a:t>
            </a:r>
          </a:p>
        </p:txBody>
      </p:sp>
    </p:spTree>
    <p:extLst>
      <p:ext uri="{BB962C8B-B14F-4D97-AF65-F5344CB8AC3E}">
        <p14:creationId xmlns:p14="http://schemas.microsoft.com/office/powerpoint/2010/main" val="2280884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765CF8AA-7106-24CF-1380-3AA35B3CD395}"/>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0FEC332-F013-BF7C-2858-B1C4CEF62F95}"/>
              </a:ext>
            </a:extLst>
          </p:cNvPr>
          <p:cNvSpPr/>
          <p:nvPr/>
        </p:nvSpPr>
        <p:spPr>
          <a:xfrm>
            <a:off x="14554202"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659D1615-0400-CF6A-A738-E50BA7279F23}"/>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prstClr val="white"/>
                </a:solidFill>
                <a:latin typeface="DM Sans Bold"/>
                <a:ea typeface="ＭＳ Ｐゴシック" panose="020B0600070205080204" pitchFamily="34" charset="-128"/>
              </a:rPr>
              <a:t>Q4.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8" name="TextBox 7">
            <a:extLst>
              <a:ext uri="{FF2B5EF4-FFF2-40B4-BE49-F238E27FC236}">
                <a16:creationId xmlns:a16="http://schemas.microsoft.com/office/drawing/2014/main" id="{102454F7-C0A0-C87D-5A0A-D8164481CFF1}"/>
              </a:ext>
            </a:extLst>
          </p:cNvPr>
          <p:cNvSpPr txBox="1"/>
          <p:nvPr/>
        </p:nvSpPr>
        <p:spPr>
          <a:xfrm>
            <a:off x="584200" y="4333897"/>
            <a:ext cx="10659536" cy="646331"/>
          </a:xfrm>
          <a:prstGeom prst="rect">
            <a:avLst/>
          </a:prstGeom>
          <a:noFill/>
        </p:spPr>
        <p:txBody>
          <a:bodyPr wrap="square">
            <a:spAutoFit/>
          </a:bodyPr>
          <a:lstStyle/>
          <a:p>
            <a:pPr defTabSz="914445">
              <a:defRPr/>
            </a:pPr>
            <a:br>
              <a:rPr lang="en-GB" dirty="0">
                <a:solidFill>
                  <a:srgbClr val="000000"/>
                </a:solidFill>
                <a:latin typeface="DM Sans"/>
              </a:rPr>
            </a:br>
            <a:endParaRPr lang="en-GB" dirty="0">
              <a:solidFill>
                <a:srgbClr val="000000"/>
              </a:solidFill>
              <a:latin typeface="DM Sans"/>
            </a:endParaRPr>
          </a:p>
        </p:txBody>
      </p:sp>
      <p:sp>
        <p:nvSpPr>
          <p:cNvPr id="6" name="TextBox 5">
            <a:extLst>
              <a:ext uri="{FF2B5EF4-FFF2-40B4-BE49-F238E27FC236}">
                <a16:creationId xmlns:a16="http://schemas.microsoft.com/office/drawing/2014/main" id="{3261ECF4-346B-7CB0-D3B3-6F30BEB56647}"/>
              </a:ext>
            </a:extLst>
          </p:cNvPr>
          <p:cNvSpPr txBox="1"/>
          <p:nvPr/>
        </p:nvSpPr>
        <p:spPr>
          <a:xfrm>
            <a:off x="584198" y="2135707"/>
            <a:ext cx="13572069" cy="2678426"/>
          </a:xfrm>
          <a:prstGeom prst="rect">
            <a:avLst/>
          </a:prstGeom>
          <a:noFill/>
        </p:spPr>
        <p:txBody>
          <a:bodyPr wrap="square">
            <a:spAutoFit/>
          </a:bodyPr>
          <a:lstStyle/>
          <a:p>
            <a:pPr defTabSz="914445">
              <a:defRPr/>
            </a:pPr>
            <a:r>
              <a:rPr lang="en-GB" sz="2801" b="1" dirty="0">
                <a:solidFill>
                  <a:prstClr val="white"/>
                </a:solidFill>
                <a:latin typeface="DM Sans"/>
              </a:rPr>
              <a:t>Compare emissions and mitigation potential from key sectors: energy, transport, agriculture, industry, and buildings.</a:t>
            </a: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p:txBody>
      </p:sp>
      <p:sp>
        <p:nvSpPr>
          <p:cNvPr id="7" name="TextBox 6">
            <a:extLst>
              <a:ext uri="{FF2B5EF4-FFF2-40B4-BE49-F238E27FC236}">
                <a16:creationId xmlns:a16="http://schemas.microsoft.com/office/drawing/2014/main" id="{642788C6-A9E6-38A4-A5DA-FF67F551F991}"/>
              </a:ext>
            </a:extLst>
          </p:cNvPr>
          <p:cNvSpPr txBox="1"/>
          <p:nvPr/>
        </p:nvSpPr>
        <p:spPr>
          <a:xfrm>
            <a:off x="629342" y="3339528"/>
            <a:ext cx="14133793" cy="637097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914445">
              <a:defRPr/>
            </a:pPr>
            <a:r>
              <a:rPr lang="en-GB" sz="2400" b="1" dirty="0">
                <a:solidFill>
                  <a:srgbClr val="FF0000"/>
                </a:solidFill>
                <a:latin typeface="DM Sans"/>
              </a:rPr>
              <a:t>Energy (largest sector, ~33% of emissions):</a:t>
            </a:r>
          </a:p>
          <a:p>
            <a:pPr marL="428625" indent="-428625" defTabSz="914445">
              <a:buFont typeface="Arial" panose="020B0604020202020204" pitchFamily="34" charset="0"/>
              <a:buChar char="•"/>
              <a:defRPr/>
            </a:pPr>
            <a:r>
              <a:rPr lang="en-GB" sz="2400" dirty="0">
                <a:solidFill>
                  <a:srgbClr val="FF0000"/>
                </a:solidFill>
                <a:latin typeface="DM Sans"/>
              </a:rPr>
              <a:t>High emissions from coal, oil, gas.</a:t>
            </a:r>
          </a:p>
          <a:p>
            <a:pPr marL="428625" indent="-428625" defTabSz="914445">
              <a:buFont typeface="Arial" panose="020B0604020202020204" pitchFamily="34" charset="0"/>
              <a:buChar char="•"/>
              <a:defRPr/>
            </a:pPr>
            <a:r>
              <a:rPr lang="en-GB" sz="2400" i="1" dirty="0">
                <a:solidFill>
                  <a:srgbClr val="FF0000"/>
                </a:solidFill>
                <a:latin typeface="DM Sans"/>
              </a:rPr>
              <a:t>Mitigation: Renewables, nuclear, carbon capture/NETs, behavioural demand reduction.</a:t>
            </a:r>
          </a:p>
          <a:p>
            <a:pPr defTabSz="914445">
              <a:defRPr/>
            </a:pPr>
            <a:r>
              <a:rPr lang="en-GB" sz="2400" b="1" dirty="0">
                <a:solidFill>
                  <a:srgbClr val="FF0000"/>
                </a:solidFill>
                <a:latin typeface="DM Sans"/>
              </a:rPr>
              <a:t>Transport: </a:t>
            </a:r>
          </a:p>
          <a:p>
            <a:pPr marL="428625" indent="-428625" defTabSz="914445">
              <a:buFont typeface="Arial" panose="020B0604020202020204" pitchFamily="34" charset="0"/>
              <a:buChar char="•"/>
              <a:defRPr/>
            </a:pPr>
            <a:r>
              <a:rPr lang="en-GB" sz="2400" dirty="0">
                <a:solidFill>
                  <a:srgbClr val="FF0000"/>
                </a:solidFill>
                <a:latin typeface="DM Sans"/>
              </a:rPr>
              <a:t>Dependent on fossil fuels</a:t>
            </a:r>
          </a:p>
          <a:p>
            <a:pPr marL="428625" indent="-428625" defTabSz="914445">
              <a:buFont typeface="Arial" panose="020B0604020202020204" pitchFamily="34" charset="0"/>
              <a:buChar char="•"/>
              <a:defRPr/>
            </a:pPr>
            <a:r>
              <a:rPr lang="en-GB" sz="2400" i="1" dirty="0">
                <a:solidFill>
                  <a:srgbClr val="FF0000"/>
                </a:solidFill>
                <a:latin typeface="DM Sans"/>
              </a:rPr>
              <a:t>Mitigation: Public transport, EVs, biofuels, efficiency improvements.</a:t>
            </a:r>
          </a:p>
          <a:p>
            <a:pPr defTabSz="914445">
              <a:defRPr/>
            </a:pPr>
            <a:r>
              <a:rPr lang="en-GB" sz="2400" b="1" dirty="0">
                <a:solidFill>
                  <a:srgbClr val="FF0000"/>
                </a:solidFill>
                <a:latin typeface="DM Sans"/>
              </a:rPr>
              <a:t>Agriculture:</a:t>
            </a:r>
          </a:p>
          <a:p>
            <a:pPr marL="428625" indent="-428625" defTabSz="914445">
              <a:buFont typeface="Arial" panose="020B0604020202020204" pitchFamily="34" charset="0"/>
              <a:buChar char="•"/>
              <a:defRPr/>
            </a:pPr>
            <a:r>
              <a:rPr lang="en-GB" sz="2400" dirty="0">
                <a:solidFill>
                  <a:srgbClr val="FF0000"/>
                </a:solidFill>
                <a:latin typeface="DM Sans"/>
              </a:rPr>
              <a:t>Emissions from livestock (CH</a:t>
            </a:r>
            <a:r>
              <a:rPr lang="en-GB" sz="2400" baseline="-25000" dirty="0">
                <a:solidFill>
                  <a:srgbClr val="FF0000"/>
                </a:solidFill>
                <a:latin typeface="DM Sans"/>
              </a:rPr>
              <a:t>4</a:t>
            </a:r>
            <a:r>
              <a:rPr lang="en-GB" sz="2400" dirty="0">
                <a:solidFill>
                  <a:srgbClr val="FF0000"/>
                </a:solidFill>
                <a:latin typeface="DM Sans"/>
              </a:rPr>
              <a:t>), rice (CH</a:t>
            </a:r>
            <a:r>
              <a:rPr lang="en-GB" sz="2400" baseline="-25000" dirty="0">
                <a:solidFill>
                  <a:srgbClr val="FF0000"/>
                </a:solidFill>
                <a:latin typeface="DM Sans"/>
              </a:rPr>
              <a:t>4</a:t>
            </a:r>
            <a:r>
              <a:rPr lang="en-GB" sz="2400" dirty="0">
                <a:solidFill>
                  <a:srgbClr val="FF0000"/>
                </a:solidFill>
                <a:latin typeface="DM Sans"/>
              </a:rPr>
              <a:t>), fertiliser (N₂O).</a:t>
            </a:r>
          </a:p>
          <a:p>
            <a:pPr marL="428625" indent="-428625" defTabSz="914445">
              <a:buFont typeface="Arial" panose="020B0604020202020204" pitchFamily="34" charset="0"/>
              <a:buChar char="•"/>
              <a:defRPr/>
            </a:pPr>
            <a:r>
              <a:rPr lang="en-GB" sz="2400" i="1" dirty="0">
                <a:solidFill>
                  <a:srgbClr val="FF0000"/>
                </a:solidFill>
                <a:latin typeface="DM Sans"/>
              </a:rPr>
              <a:t>Mitigation: Dietary shifts, soil carbon sequestration, livestock feed changes.</a:t>
            </a:r>
          </a:p>
          <a:p>
            <a:pPr defTabSz="914445">
              <a:defRPr/>
            </a:pPr>
            <a:r>
              <a:rPr lang="en-GB" sz="2400" b="1" dirty="0">
                <a:solidFill>
                  <a:srgbClr val="FF0000"/>
                </a:solidFill>
                <a:latin typeface="DM Sans"/>
              </a:rPr>
              <a:t>Industry: </a:t>
            </a:r>
            <a:r>
              <a:rPr lang="en-GB" sz="2400" dirty="0">
                <a:solidFill>
                  <a:srgbClr val="FF0000"/>
                </a:solidFill>
                <a:latin typeface="DM Sans"/>
              </a:rPr>
              <a:t>Emissions from production processes and energy use.</a:t>
            </a:r>
          </a:p>
          <a:p>
            <a:pPr marL="428625" indent="-428625" defTabSz="914445">
              <a:buFont typeface="Arial" panose="020B0604020202020204" pitchFamily="34" charset="0"/>
              <a:buChar char="•"/>
              <a:defRPr/>
            </a:pPr>
            <a:r>
              <a:rPr lang="en-GB" sz="2400" i="1" dirty="0">
                <a:solidFill>
                  <a:srgbClr val="FF0000"/>
                </a:solidFill>
                <a:latin typeface="DM Sans"/>
              </a:rPr>
              <a:t>Mitigation: Efficiency, low-carbon materials, recycling, product longevity.</a:t>
            </a:r>
          </a:p>
          <a:p>
            <a:pPr defTabSz="914445">
              <a:defRPr/>
            </a:pPr>
            <a:r>
              <a:rPr lang="en-GB" sz="2400" b="1" dirty="0">
                <a:solidFill>
                  <a:srgbClr val="FF0000"/>
                </a:solidFill>
                <a:latin typeface="DM Sans"/>
              </a:rPr>
              <a:t>Buildings: </a:t>
            </a:r>
          </a:p>
          <a:p>
            <a:pPr marL="428625" indent="-428625" defTabSz="914445">
              <a:buFont typeface="Arial" panose="020B0604020202020204" pitchFamily="34" charset="0"/>
              <a:buChar char="•"/>
              <a:defRPr/>
            </a:pPr>
            <a:r>
              <a:rPr lang="en-GB" sz="2400" dirty="0">
                <a:solidFill>
                  <a:srgbClr val="FF0000"/>
                </a:solidFill>
                <a:latin typeface="DM Sans"/>
              </a:rPr>
              <a:t>Emissions from heating, cooling, cooking.</a:t>
            </a:r>
          </a:p>
          <a:p>
            <a:pPr marL="428625" indent="-428625" defTabSz="914445">
              <a:buFont typeface="Arial" panose="020B0604020202020204" pitchFamily="34" charset="0"/>
              <a:buChar char="•"/>
              <a:defRPr/>
            </a:pPr>
            <a:r>
              <a:rPr lang="en-GB" sz="2400" i="1" dirty="0">
                <a:solidFill>
                  <a:srgbClr val="FF0000"/>
                </a:solidFill>
                <a:latin typeface="DM Sans"/>
              </a:rPr>
              <a:t>Mitigation: Insulation, efficient appliances, net-zero designs, behaviour change.</a:t>
            </a:r>
          </a:p>
          <a:p>
            <a:pPr marL="428625" indent="-428625" defTabSz="914445">
              <a:buFont typeface="Arial" panose="020B0604020202020204" pitchFamily="34" charset="0"/>
              <a:buChar char="•"/>
              <a:defRPr/>
            </a:pPr>
            <a:endParaRPr lang="en-GB" sz="2400" i="1" dirty="0">
              <a:solidFill>
                <a:srgbClr val="FF0000"/>
              </a:solidFill>
              <a:latin typeface="DM Sans"/>
            </a:endParaRPr>
          </a:p>
          <a:p>
            <a:pPr defTabSz="914445">
              <a:defRPr/>
            </a:pPr>
            <a:r>
              <a:rPr lang="en-GB" sz="2400" b="1" i="1" dirty="0">
                <a:solidFill>
                  <a:srgbClr val="FF0000"/>
                </a:solidFill>
                <a:latin typeface="DM Sans"/>
              </a:rPr>
              <a:t>Can you give any examples not shown in the lecture?</a:t>
            </a:r>
          </a:p>
          <a:p>
            <a:pPr defTabSz="914445">
              <a:defRPr/>
            </a:pPr>
            <a:endParaRPr lang="en-GB" sz="2400" dirty="0">
              <a:solidFill>
                <a:srgbClr val="FF0000"/>
              </a:solidFill>
              <a:latin typeface="DM Sans"/>
            </a:endParaRPr>
          </a:p>
        </p:txBody>
      </p:sp>
    </p:spTree>
    <p:extLst>
      <p:ext uri="{BB962C8B-B14F-4D97-AF65-F5344CB8AC3E}">
        <p14:creationId xmlns:p14="http://schemas.microsoft.com/office/powerpoint/2010/main" val="2441577692"/>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75891-CD99-C930-941B-97CCB2E88344}"/>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72A31336-CE94-3A4F-589D-F6EB39D67685}"/>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07F9945A-10A8-A4E4-9DDF-F536C96BF3AF}"/>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Q5. </a:t>
            </a:r>
          </a:p>
        </p:txBody>
      </p:sp>
      <p:sp>
        <p:nvSpPr>
          <p:cNvPr id="2" name="TextBox 1">
            <a:extLst>
              <a:ext uri="{FF2B5EF4-FFF2-40B4-BE49-F238E27FC236}">
                <a16:creationId xmlns:a16="http://schemas.microsoft.com/office/drawing/2014/main" id="{A145C69B-5174-A2D3-2B21-0E9F2800185D}"/>
              </a:ext>
            </a:extLst>
          </p:cNvPr>
          <p:cNvSpPr txBox="1"/>
          <p:nvPr/>
        </p:nvSpPr>
        <p:spPr>
          <a:xfrm>
            <a:off x="575732" y="2149994"/>
            <a:ext cx="13572069" cy="954364"/>
          </a:xfrm>
          <a:prstGeom prst="rect">
            <a:avLst/>
          </a:prstGeom>
          <a:noFill/>
        </p:spPr>
        <p:txBody>
          <a:bodyPr wrap="square">
            <a:spAutoFit/>
          </a:bodyPr>
          <a:lstStyle/>
          <a:p>
            <a:pPr defTabSz="914445">
              <a:defRPr/>
            </a:pPr>
            <a:r>
              <a:rPr lang="en-GB" sz="2801" b="1" dirty="0"/>
              <a:t>How can urban areas be redesigned to cope with floods, heatwaves, and storms?</a:t>
            </a:r>
          </a:p>
        </p:txBody>
      </p:sp>
    </p:spTree>
    <p:extLst>
      <p:ext uri="{BB962C8B-B14F-4D97-AF65-F5344CB8AC3E}">
        <p14:creationId xmlns:p14="http://schemas.microsoft.com/office/powerpoint/2010/main" val="4268742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D6BFDD4B-0D99-9AA1-016B-3606EF3D636E}"/>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B9C925D9-43CF-C1D0-D7A7-55D26EC7379B}"/>
              </a:ext>
            </a:extLst>
          </p:cNvPr>
          <p:cNvSpPr/>
          <p:nvPr/>
        </p:nvSpPr>
        <p:spPr>
          <a:xfrm>
            <a:off x="14554202"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E12A0352-A1A5-2B73-418A-791B8407D1FB}"/>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prstClr val="white"/>
                </a:solidFill>
                <a:latin typeface="DM Sans Bold"/>
                <a:ea typeface="ＭＳ Ｐゴシック" panose="020B0600070205080204" pitchFamily="34" charset="-128"/>
              </a:rPr>
              <a:t>Q5.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8" name="TextBox 7">
            <a:extLst>
              <a:ext uri="{FF2B5EF4-FFF2-40B4-BE49-F238E27FC236}">
                <a16:creationId xmlns:a16="http://schemas.microsoft.com/office/drawing/2014/main" id="{401F9CD1-AB6F-98F4-43CB-17F25772DE66}"/>
              </a:ext>
            </a:extLst>
          </p:cNvPr>
          <p:cNvSpPr txBox="1"/>
          <p:nvPr/>
        </p:nvSpPr>
        <p:spPr>
          <a:xfrm>
            <a:off x="584200" y="4333897"/>
            <a:ext cx="10659536" cy="646331"/>
          </a:xfrm>
          <a:prstGeom prst="rect">
            <a:avLst/>
          </a:prstGeom>
          <a:noFill/>
        </p:spPr>
        <p:txBody>
          <a:bodyPr wrap="square">
            <a:spAutoFit/>
          </a:bodyPr>
          <a:lstStyle/>
          <a:p>
            <a:pPr defTabSz="914445">
              <a:defRPr/>
            </a:pPr>
            <a:br>
              <a:rPr lang="en-GB" dirty="0">
                <a:solidFill>
                  <a:srgbClr val="000000"/>
                </a:solidFill>
                <a:latin typeface="DM Sans"/>
              </a:rPr>
            </a:br>
            <a:endParaRPr lang="en-GB" dirty="0">
              <a:solidFill>
                <a:srgbClr val="000000"/>
              </a:solidFill>
              <a:latin typeface="DM Sans"/>
            </a:endParaRPr>
          </a:p>
        </p:txBody>
      </p:sp>
      <p:sp>
        <p:nvSpPr>
          <p:cNvPr id="6" name="TextBox 5">
            <a:extLst>
              <a:ext uri="{FF2B5EF4-FFF2-40B4-BE49-F238E27FC236}">
                <a16:creationId xmlns:a16="http://schemas.microsoft.com/office/drawing/2014/main" id="{E1DDD2C2-420C-4A45-A6C9-BD51D3A4331B}"/>
              </a:ext>
            </a:extLst>
          </p:cNvPr>
          <p:cNvSpPr txBox="1"/>
          <p:nvPr/>
        </p:nvSpPr>
        <p:spPr>
          <a:xfrm>
            <a:off x="584198" y="2135706"/>
            <a:ext cx="13572069" cy="3540456"/>
          </a:xfrm>
          <a:prstGeom prst="rect">
            <a:avLst/>
          </a:prstGeom>
          <a:noFill/>
        </p:spPr>
        <p:txBody>
          <a:bodyPr wrap="square">
            <a:spAutoFit/>
          </a:bodyPr>
          <a:lstStyle/>
          <a:p>
            <a:pPr defTabSz="914445">
              <a:defRPr/>
            </a:pPr>
            <a:r>
              <a:rPr lang="en-GB" sz="2801" b="1" dirty="0">
                <a:solidFill>
                  <a:prstClr val="white"/>
                </a:solidFill>
                <a:latin typeface="DM Sans"/>
              </a:rPr>
              <a:t>How can urban areas be redesigned to cope with floods, heatwaves, and storms?</a:t>
            </a: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p:txBody>
      </p:sp>
      <p:sp>
        <p:nvSpPr>
          <p:cNvPr id="7" name="TextBox 6">
            <a:extLst>
              <a:ext uri="{FF2B5EF4-FFF2-40B4-BE49-F238E27FC236}">
                <a16:creationId xmlns:a16="http://schemas.microsoft.com/office/drawing/2014/main" id="{2D5FCA77-72F2-035D-224B-0A976352A829}"/>
              </a:ext>
            </a:extLst>
          </p:cNvPr>
          <p:cNvSpPr txBox="1"/>
          <p:nvPr/>
        </p:nvSpPr>
        <p:spPr>
          <a:xfrm>
            <a:off x="629344" y="3610658"/>
            <a:ext cx="13145650" cy="34163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914445">
              <a:defRPr/>
            </a:pPr>
            <a:r>
              <a:rPr lang="en-GB" sz="2400" dirty="0">
                <a:solidFill>
                  <a:srgbClr val="FF0000"/>
                </a:solidFill>
                <a:latin typeface="DM Sans"/>
              </a:rPr>
              <a:t>Here are some examples:</a:t>
            </a:r>
          </a:p>
          <a:p>
            <a:pPr defTabSz="914445">
              <a:defRPr/>
            </a:pPr>
            <a:endParaRPr lang="en-GB" sz="2400" dirty="0">
              <a:solidFill>
                <a:srgbClr val="FF0000"/>
              </a:solidFill>
              <a:latin typeface="DM Sans"/>
            </a:endParaRPr>
          </a:p>
          <a:p>
            <a:pPr marL="428625" indent="-428625" defTabSz="914445">
              <a:buFont typeface="Arial" panose="020B0604020202020204" pitchFamily="34" charset="0"/>
              <a:buChar char="•"/>
              <a:defRPr/>
            </a:pPr>
            <a:r>
              <a:rPr lang="en-GB" sz="2400" dirty="0">
                <a:solidFill>
                  <a:srgbClr val="FF0000"/>
                </a:solidFill>
                <a:latin typeface="DM Sans"/>
              </a:rPr>
              <a:t>Green infrastructure (e.g., parks, green roofs) to absorb heat and water.</a:t>
            </a:r>
          </a:p>
          <a:p>
            <a:pPr marL="428625" indent="-428625" defTabSz="914445">
              <a:buFont typeface="Arial" panose="020B0604020202020204" pitchFamily="34" charset="0"/>
              <a:buChar char="•"/>
              <a:defRPr/>
            </a:pPr>
            <a:r>
              <a:rPr lang="en-GB" sz="2400" dirty="0">
                <a:solidFill>
                  <a:srgbClr val="FF0000"/>
                </a:solidFill>
                <a:latin typeface="DM Sans"/>
              </a:rPr>
              <a:t>Permeable surfaces and drainage upgrades to prevent flooding.</a:t>
            </a:r>
          </a:p>
          <a:p>
            <a:pPr marL="428625" indent="-428625" defTabSz="914445">
              <a:buFont typeface="Arial" panose="020B0604020202020204" pitchFamily="34" charset="0"/>
              <a:buChar char="•"/>
              <a:defRPr/>
            </a:pPr>
            <a:r>
              <a:rPr lang="en-GB" sz="2400" dirty="0">
                <a:solidFill>
                  <a:srgbClr val="FF0000"/>
                </a:solidFill>
                <a:latin typeface="DM Sans"/>
              </a:rPr>
              <a:t>Resilient building practices to withstand storms and temperature extremes.</a:t>
            </a:r>
          </a:p>
          <a:p>
            <a:pPr marL="428625" indent="-428625" defTabSz="914445">
              <a:buFont typeface="Arial" panose="020B0604020202020204" pitchFamily="34" charset="0"/>
              <a:buChar char="•"/>
              <a:defRPr/>
            </a:pPr>
            <a:r>
              <a:rPr lang="en-GB" sz="2400" dirty="0">
                <a:solidFill>
                  <a:srgbClr val="FF0000"/>
                </a:solidFill>
                <a:latin typeface="DM Sans"/>
              </a:rPr>
              <a:t>Tree planting, and reflective surfaces to reduce heat islands.</a:t>
            </a:r>
          </a:p>
          <a:p>
            <a:pPr marL="428625" indent="-428625" defTabSz="914445">
              <a:buFont typeface="Arial" panose="020B0604020202020204" pitchFamily="34" charset="0"/>
              <a:buChar char="•"/>
              <a:defRPr/>
            </a:pPr>
            <a:r>
              <a:rPr lang="en-GB" sz="2400" dirty="0">
                <a:solidFill>
                  <a:srgbClr val="FF0000"/>
                </a:solidFill>
                <a:latin typeface="DM Sans"/>
              </a:rPr>
              <a:t>Compact, connected cities that reduce emissions</a:t>
            </a:r>
          </a:p>
          <a:p>
            <a:pPr defTabSz="914445">
              <a:defRPr/>
            </a:pPr>
            <a:endParaRPr lang="en-GB" sz="2400" dirty="0">
              <a:solidFill>
                <a:srgbClr val="FF0000"/>
              </a:solidFill>
              <a:latin typeface="DM Sans"/>
            </a:endParaRPr>
          </a:p>
          <a:p>
            <a:pPr defTabSz="914445">
              <a:defRPr/>
            </a:pPr>
            <a:r>
              <a:rPr lang="en-GB" sz="2400" dirty="0">
                <a:solidFill>
                  <a:srgbClr val="FF0000"/>
                </a:solidFill>
                <a:latin typeface="DM Sans"/>
              </a:rPr>
              <a:t>Are there any more you can think of?</a:t>
            </a:r>
          </a:p>
        </p:txBody>
      </p:sp>
    </p:spTree>
    <p:extLst>
      <p:ext uri="{BB962C8B-B14F-4D97-AF65-F5344CB8AC3E}">
        <p14:creationId xmlns:p14="http://schemas.microsoft.com/office/powerpoint/2010/main" val="3000513473"/>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A9F1A-6FDE-4C44-E39C-2C51B773AEC7}"/>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764BEFF-9C5A-7D1F-57BF-6826306A68EF}"/>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3DC81070-3BFA-6D4B-DAD1-7C13A5EF6F78}"/>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Q6. </a:t>
            </a:r>
          </a:p>
        </p:txBody>
      </p:sp>
      <p:sp>
        <p:nvSpPr>
          <p:cNvPr id="2" name="TextBox 1">
            <a:extLst>
              <a:ext uri="{FF2B5EF4-FFF2-40B4-BE49-F238E27FC236}">
                <a16:creationId xmlns:a16="http://schemas.microsoft.com/office/drawing/2014/main" id="{82CDC777-E055-E46B-6858-0C73897429AF}"/>
              </a:ext>
            </a:extLst>
          </p:cNvPr>
          <p:cNvSpPr txBox="1"/>
          <p:nvPr/>
        </p:nvSpPr>
        <p:spPr>
          <a:xfrm>
            <a:off x="575732" y="2149994"/>
            <a:ext cx="15397694" cy="954364"/>
          </a:xfrm>
          <a:prstGeom prst="rect">
            <a:avLst/>
          </a:prstGeom>
          <a:noFill/>
        </p:spPr>
        <p:txBody>
          <a:bodyPr wrap="square">
            <a:spAutoFit/>
          </a:bodyPr>
          <a:lstStyle/>
          <a:p>
            <a:pPr defTabSz="914445">
              <a:defRPr/>
            </a:pPr>
            <a:r>
              <a:rPr lang="en-GB" sz="2801" b="1" dirty="0">
                <a:solidFill>
                  <a:prstClr val="black"/>
                </a:solidFill>
                <a:latin typeface="DM Sans"/>
              </a:rPr>
              <a:t>Is individual action (e.g. flying less, eating less meat) meaningful, or is it a distraction from wider larger change?</a:t>
            </a:r>
          </a:p>
        </p:txBody>
      </p:sp>
    </p:spTree>
    <p:extLst>
      <p:ext uri="{BB962C8B-B14F-4D97-AF65-F5344CB8AC3E}">
        <p14:creationId xmlns:p14="http://schemas.microsoft.com/office/powerpoint/2010/main" val="974577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4E60D060-EC7B-DBD6-26F0-F20EC3BB2571}"/>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2F56E0D-B8DD-3DEB-D9F4-2F442AC2A68A}"/>
              </a:ext>
            </a:extLst>
          </p:cNvPr>
          <p:cNvSpPr/>
          <p:nvPr/>
        </p:nvSpPr>
        <p:spPr>
          <a:xfrm>
            <a:off x="14554202"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C2688BE2-4B1C-C208-BC18-701139A81DE4}"/>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prstClr val="white"/>
                </a:solidFill>
                <a:latin typeface="DM Sans Bold"/>
                <a:ea typeface="ＭＳ Ｐゴシック" panose="020B0600070205080204" pitchFamily="34" charset="-128"/>
              </a:rPr>
              <a:t>Q6.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8" name="TextBox 7">
            <a:extLst>
              <a:ext uri="{FF2B5EF4-FFF2-40B4-BE49-F238E27FC236}">
                <a16:creationId xmlns:a16="http://schemas.microsoft.com/office/drawing/2014/main" id="{24C2AC4F-8625-9928-0C5A-8984C287CA24}"/>
              </a:ext>
            </a:extLst>
          </p:cNvPr>
          <p:cNvSpPr txBox="1"/>
          <p:nvPr/>
        </p:nvSpPr>
        <p:spPr>
          <a:xfrm>
            <a:off x="584200" y="4333897"/>
            <a:ext cx="10659536" cy="646331"/>
          </a:xfrm>
          <a:prstGeom prst="rect">
            <a:avLst/>
          </a:prstGeom>
          <a:noFill/>
        </p:spPr>
        <p:txBody>
          <a:bodyPr wrap="square">
            <a:spAutoFit/>
          </a:bodyPr>
          <a:lstStyle/>
          <a:p>
            <a:pPr defTabSz="914445">
              <a:defRPr/>
            </a:pPr>
            <a:br>
              <a:rPr lang="en-GB" dirty="0">
                <a:solidFill>
                  <a:srgbClr val="000000"/>
                </a:solidFill>
                <a:latin typeface="DM Sans"/>
              </a:rPr>
            </a:br>
            <a:endParaRPr lang="en-GB" dirty="0">
              <a:solidFill>
                <a:srgbClr val="000000"/>
              </a:solidFill>
              <a:latin typeface="DM Sans"/>
            </a:endParaRPr>
          </a:p>
        </p:txBody>
      </p:sp>
      <p:sp>
        <p:nvSpPr>
          <p:cNvPr id="6" name="TextBox 5">
            <a:extLst>
              <a:ext uri="{FF2B5EF4-FFF2-40B4-BE49-F238E27FC236}">
                <a16:creationId xmlns:a16="http://schemas.microsoft.com/office/drawing/2014/main" id="{2A88ADE4-6C30-3332-9FC6-296D51B7DFB6}"/>
              </a:ext>
            </a:extLst>
          </p:cNvPr>
          <p:cNvSpPr txBox="1"/>
          <p:nvPr/>
        </p:nvSpPr>
        <p:spPr>
          <a:xfrm>
            <a:off x="584198" y="2135707"/>
            <a:ext cx="13572069" cy="3971472"/>
          </a:xfrm>
          <a:prstGeom prst="rect">
            <a:avLst/>
          </a:prstGeom>
          <a:noFill/>
        </p:spPr>
        <p:txBody>
          <a:bodyPr wrap="square">
            <a:spAutoFit/>
          </a:bodyPr>
          <a:lstStyle/>
          <a:p>
            <a:pPr defTabSz="914445">
              <a:defRPr/>
            </a:pPr>
            <a:r>
              <a:rPr lang="en-GB" sz="2801" b="1" dirty="0">
                <a:solidFill>
                  <a:prstClr val="white"/>
                </a:solidFill>
                <a:latin typeface="DM Sans"/>
              </a:rPr>
              <a:t>Is individual action (e.g. flying less, eating less meat) meaningful, or is it a distraction from wider larger change?</a:t>
            </a: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p:txBody>
      </p:sp>
      <p:sp>
        <p:nvSpPr>
          <p:cNvPr id="7" name="TextBox 6">
            <a:extLst>
              <a:ext uri="{FF2B5EF4-FFF2-40B4-BE49-F238E27FC236}">
                <a16:creationId xmlns:a16="http://schemas.microsoft.com/office/drawing/2014/main" id="{83A5800F-97AD-CEA7-B8F7-C7BDC197D631}"/>
              </a:ext>
            </a:extLst>
          </p:cNvPr>
          <p:cNvSpPr txBox="1"/>
          <p:nvPr/>
        </p:nvSpPr>
        <p:spPr>
          <a:xfrm>
            <a:off x="629344" y="3610659"/>
            <a:ext cx="14502501"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914445">
              <a:defRPr/>
            </a:pPr>
            <a:r>
              <a:rPr lang="en-GB" sz="2400" dirty="0">
                <a:solidFill>
                  <a:srgbClr val="FF0000"/>
                </a:solidFill>
                <a:latin typeface="DM Sans"/>
              </a:rPr>
              <a:t>Both perspectives are very valid:</a:t>
            </a:r>
          </a:p>
          <a:p>
            <a:pPr marL="342917" indent="-342917" defTabSz="914445">
              <a:buFont typeface="Arial" panose="020B0604020202020204" pitchFamily="34" charset="0"/>
              <a:buChar char="•"/>
              <a:defRPr/>
            </a:pPr>
            <a:r>
              <a:rPr lang="en-GB" sz="2400" dirty="0">
                <a:solidFill>
                  <a:srgbClr val="FF0000"/>
                </a:solidFill>
                <a:latin typeface="DM Sans"/>
              </a:rPr>
              <a:t>Individual choices (e.g., flying less, dietary changes) can reduce emissions and influence different economic sectors positively.</a:t>
            </a:r>
          </a:p>
          <a:p>
            <a:pPr marL="342917" indent="-342917" defTabSz="914445">
              <a:buFont typeface="Arial" panose="020B0604020202020204" pitchFamily="34" charset="0"/>
              <a:buChar char="•"/>
              <a:defRPr/>
            </a:pPr>
            <a:r>
              <a:rPr lang="en-GB" sz="2400" dirty="0">
                <a:solidFill>
                  <a:srgbClr val="FF0000"/>
                </a:solidFill>
                <a:latin typeface="DM Sans"/>
              </a:rPr>
              <a:t>However, structural and systemic change (e.g., energy grids, policy) is necessary for large-scale mitigation.</a:t>
            </a:r>
          </a:p>
          <a:p>
            <a:pPr marL="342917" indent="-342917" defTabSz="914445">
              <a:buFont typeface="Arial" panose="020B0604020202020204" pitchFamily="34" charset="0"/>
              <a:buChar char="•"/>
              <a:defRPr/>
            </a:pPr>
            <a:r>
              <a:rPr lang="en-GB" sz="2400" dirty="0">
                <a:solidFill>
                  <a:srgbClr val="FF0000"/>
                </a:solidFill>
                <a:latin typeface="DM Sans"/>
              </a:rPr>
              <a:t>Individual actions are part of the solution, especially when coupled with collective action.</a:t>
            </a:r>
          </a:p>
        </p:txBody>
      </p:sp>
    </p:spTree>
    <p:extLst>
      <p:ext uri="{BB962C8B-B14F-4D97-AF65-F5344CB8AC3E}">
        <p14:creationId xmlns:p14="http://schemas.microsoft.com/office/powerpoint/2010/main" val="916867785"/>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B57BD-7171-BB72-A0F3-C59063D6830E}"/>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90C8535-30C8-017B-2AC7-8A4DF2774C7A}"/>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22E6D976-4FA0-A837-FEC7-B9F2D7CC1EE8}"/>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Q7. </a:t>
            </a:r>
          </a:p>
        </p:txBody>
      </p:sp>
      <p:sp>
        <p:nvSpPr>
          <p:cNvPr id="2" name="TextBox 1">
            <a:extLst>
              <a:ext uri="{FF2B5EF4-FFF2-40B4-BE49-F238E27FC236}">
                <a16:creationId xmlns:a16="http://schemas.microsoft.com/office/drawing/2014/main" id="{EF790655-0D0A-A777-1509-E6DE272BD7EE}"/>
              </a:ext>
            </a:extLst>
          </p:cNvPr>
          <p:cNvSpPr txBox="1"/>
          <p:nvPr/>
        </p:nvSpPr>
        <p:spPr>
          <a:xfrm>
            <a:off x="575732" y="2149994"/>
            <a:ext cx="15397694" cy="523348"/>
          </a:xfrm>
          <a:prstGeom prst="rect">
            <a:avLst/>
          </a:prstGeom>
          <a:noFill/>
        </p:spPr>
        <p:txBody>
          <a:bodyPr wrap="square">
            <a:spAutoFit/>
          </a:bodyPr>
          <a:lstStyle/>
          <a:p>
            <a:pPr defTabSz="914445">
              <a:defRPr/>
            </a:pPr>
            <a:r>
              <a:rPr lang="en-GB" sz="2801" b="1" dirty="0">
                <a:solidFill>
                  <a:srgbClr val="000000"/>
                </a:solidFill>
                <a:latin typeface="DM Sans"/>
              </a:rPr>
              <a:t>Why Do We Need Negative Emission Strategies?</a:t>
            </a:r>
            <a:endParaRPr lang="en-GB" sz="2801" b="1" dirty="0">
              <a:solidFill>
                <a:prstClr val="black"/>
              </a:solidFill>
              <a:latin typeface="DM Sans"/>
            </a:endParaRPr>
          </a:p>
        </p:txBody>
      </p:sp>
    </p:spTree>
    <p:extLst>
      <p:ext uri="{BB962C8B-B14F-4D97-AF65-F5344CB8AC3E}">
        <p14:creationId xmlns:p14="http://schemas.microsoft.com/office/powerpoint/2010/main" val="69525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57543415-A7F6-F158-37F5-D8EDA70651D5}"/>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E4EE776-D58D-656C-196F-04C3523D9B00}"/>
              </a:ext>
            </a:extLst>
          </p:cNvPr>
          <p:cNvSpPr/>
          <p:nvPr/>
        </p:nvSpPr>
        <p:spPr>
          <a:xfrm>
            <a:off x="14554202"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77E95811-D13F-7323-0292-1D201AB60838}"/>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prstClr val="white"/>
                </a:solidFill>
                <a:latin typeface="DM Sans Bold"/>
                <a:ea typeface="ＭＳ Ｐゴシック" panose="020B0600070205080204" pitchFamily="34" charset="-128"/>
              </a:rPr>
              <a:t>Q7.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8" name="TextBox 7">
            <a:extLst>
              <a:ext uri="{FF2B5EF4-FFF2-40B4-BE49-F238E27FC236}">
                <a16:creationId xmlns:a16="http://schemas.microsoft.com/office/drawing/2014/main" id="{66DD9A30-08EE-AADF-E67F-E9F575A2A33D}"/>
              </a:ext>
            </a:extLst>
          </p:cNvPr>
          <p:cNvSpPr txBox="1"/>
          <p:nvPr/>
        </p:nvSpPr>
        <p:spPr>
          <a:xfrm>
            <a:off x="584200" y="4333897"/>
            <a:ext cx="10659536" cy="646331"/>
          </a:xfrm>
          <a:prstGeom prst="rect">
            <a:avLst/>
          </a:prstGeom>
          <a:noFill/>
        </p:spPr>
        <p:txBody>
          <a:bodyPr wrap="square">
            <a:spAutoFit/>
          </a:bodyPr>
          <a:lstStyle/>
          <a:p>
            <a:pPr defTabSz="914445">
              <a:defRPr/>
            </a:pPr>
            <a:br>
              <a:rPr lang="en-GB" dirty="0">
                <a:solidFill>
                  <a:srgbClr val="000000"/>
                </a:solidFill>
                <a:latin typeface="DM Sans"/>
              </a:rPr>
            </a:br>
            <a:endParaRPr lang="en-GB" dirty="0">
              <a:solidFill>
                <a:srgbClr val="000000"/>
              </a:solidFill>
              <a:latin typeface="DM Sans"/>
            </a:endParaRPr>
          </a:p>
        </p:txBody>
      </p:sp>
      <p:sp>
        <p:nvSpPr>
          <p:cNvPr id="6" name="TextBox 5">
            <a:extLst>
              <a:ext uri="{FF2B5EF4-FFF2-40B4-BE49-F238E27FC236}">
                <a16:creationId xmlns:a16="http://schemas.microsoft.com/office/drawing/2014/main" id="{A674EA6C-33C3-F25A-11A2-184F771F7A7F}"/>
              </a:ext>
            </a:extLst>
          </p:cNvPr>
          <p:cNvSpPr txBox="1"/>
          <p:nvPr/>
        </p:nvSpPr>
        <p:spPr>
          <a:xfrm>
            <a:off x="584198" y="2135706"/>
            <a:ext cx="13572069" cy="3971472"/>
          </a:xfrm>
          <a:prstGeom prst="rect">
            <a:avLst/>
          </a:prstGeom>
          <a:noFill/>
        </p:spPr>
        <p:txBody>
          <a:bodyPr wrap="square">
            <a:spAutoFit/>
          </a:bodyPr>
          <a:lstStyle/>
          <a:p>
            <a:pPr defTabSz="914445">
              <a:defRPr/>
            </a:pPr>
            <a:r>
              <a:rPr lang="en-GB" sz="2801" b="1" dirty="0">
                <a:solidFill>
                  <a:prstClr val="white"/>
                </a:solidFill>
                <a:latin typeface="DM Sans"/>
              </a:rPr>
              <a:t>Why Do We Need Negative Emission Strategies?</a:t>
            </a: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p:txBody>
      </p:sp>
      <p:sp>
        <p:nvSpPr>
          <p:cNvPr id="7" name="TextBox 6">
            <a:extLst>
              <a:ext uri="{FF2B5EF4-FFF2-40B4-BE49-F238E27FC236}">
                <a16:creationId xmlns:a16="http://schemas.microsoft.com/office/drawing/2014/main" id="{C22567A2-AEF8-D87A-58DC-C79555C205E0}"/>
              </a:ext>
            </a:extLst>
          </p:cNvPr>
          <p:cNvSpPr txBox="1"/>
          <p:nvPr/>
        </p:nvSpPr>
        <p:spPr>
          <a:xfrm>
            <a:off x="584198" y="3529044"/>
            <a:ext cx="17029316" cy="34163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914445">
              <a:defRPr/>
            </a:pPr>
            <a:r>
              <a:rPr lang="en-GB" sz="2400" dirty="0">
                <a:solidFill>
                  <a:srgbClr val="FF0000"/>
                </a:solidFill>
                <a:latin typeface="DM Sans"/>
              </a:rPr>
              <a:t>NETs are required to:</a:t>
            </a:r>
          </a:p>
          <a:p>
            <a:pPr marL="342917" indent="-342917" defTabSz="914445">
              <a:buFont typeface="Arial" panose="020B0604020202020204" pitchFamily="34" charset="0"/>
              <a:buChar char="•"/>
              <a:defRPr/>
            </a:pPr>
            <a:r>
              <a:rPr lang="en-GB" sz="2400" dirty="0">
                <a:solidFill>
                  <a:srgbClr val="FF0000"/>
                </a:solidFill>
                <a:latin typeface="DM Sans"/>
              </a:rPr>
              <a:t>Offset emissions that are hard to eliminate. An example of this is the aviation and shipping sector</a:t>
            </a:r>
          </a:p>
          <a:p>
            <a:pPr marL="342917" indent="-342917" defTabSz="914445">
              <a:buFont typeface="Arial" panose="020B0604020202020204" pitchFamily="34" charset="0"/>
              <a:buChar char="•"/>
              <a:defRPr/>
            </a:pPr>
            <a:r>
              <a:rPr lang="en-GB" sz="2400" dirty="0">
                <a:solidFill>
                  <a:srgbClr val="FF0000"/>
                </a:solidFill>
                <a:latin typeface="DM Sans"/>
              </a:rPr>
              <a:t>Compensate for past emissions.</a:t>
            </a:r>
          </a:p>
          <a:p>
            <a:pPr marL="342917" indent="-342917" defTabSz="914445">
              <a:buFont typeface="Arial" panose="020B0604020202020204" pitchFamily="34" charset="0"/>
              <a:buChar char="•"/>
              <a:defRPr/>
            </a:pPr>
            <a:r>
              <a:rPr lang="en-GB" sz="2400" dirty="0">
                <a:solidFill>
                  <a:srgbClr val="FF0000"/>
                </a:solidFill>
                <a:latin typeface="DM Sans"/>
              </a:rPr>
              <a:t>Achieve the ambition of not exceeding 2</a:t>
            </a:r>
            <a:r>
              <a:rPr lang="en-GB" sz="2400" baseline="30000" dirty="0">
                <a:solidFill>
                  <a:srgbClr val="FF0000"/>
                </a:solidFill>
                <a:latin typeface="DM Sans"/>
              </a:rPr>
              <a:t>O</a:t>
            </a:r>
            <a:r>
              <a:rPr lang="en-GB" sz="2400" dirty="0">
                <a:solidFill>
                  <a:srgbClr val="FF0000"/>
                </a:solidFill>
                <a:latin typeface="DM Sans"/>
              </a:rPr>
              <a:t>C warming (think about the pathways)</a:t>
            </a:r>
          </a:p>
          <a:p>
            <a:pPr defTabSz="914445">
              <a:defRPr/>
            </a:pPr>
            <a:r>
              <a:rPr lang="en-GB" sz="2400" dirty="0">
                <a:solidFill>
                  <a:srgbClr val="FF0000"/>
                </a:solidFill>
                <a:latin typeface="DM Sans"/>
              </a:rPr>
              <a:t>But there are some real challenges:</a:t>
            </a:r>
          </a:p>
          <a:p>
            <a:pPr marL="342917" indent="-342917" defTabSz="914445">
              <a:buFont typeface="Arial" panose="020B0604020202020204" pitchFamily="34" charset="0"/>
              <a:buChar char="•"/>
              <a:defRPr/>
            </a:pPr>
            <a:r>
              <a:rPr lang="en-GB" sz="2400" dirty="0">
                <a:solidFill>
                  <a:srgbClr val="FF0000"/>
                </a:solidFill>
                <a:latin typeface="DM Sans"/>
              </a:rPr>
              <a:t>High cost, untested at scale, risk of delaying real emission cuts.</a:t>
            </a:r>
          </a:p>
          <a:p>
            <a:pPr marL="342917" indent="-342917" defTabSz="914445">
              <a:buFont typeface="Arial" panose="020B0604020202020204" pitchFamily="34" charset="0"/>
              <a:buChar char="•"/>
              <a:defRPr/>
            </a:pPr>
            <a:r>
              <a:rPr lang="en-GB" sz="2400" dirty="0">
                <a:solidFill>
                  <a:srgbClr val="FF0000"/>
                </a:solidFill>
                <a:latin typeface="DM Sans"/>
              </a:rPr>
              <a:t>Potential overreliance is risky; some NETs compete with food production or harm biodiversity and therefore might have unintended consequences. </a:t>
            </a:r>
          </a:p>
          <a:p>
            <a:pPr marL="342917" indent="-342917" defTabSz="914445">
              <a:buFont typeface="Arial" panose="020B0604020202020204" pitchFamily="34" charset="0"/>
              <a:buChar char="•"/>
              <a:defRPr/>
            </a:pPr>
            <a:r>
              <a:rPr lang="en-GB" sz="2400" dirty="0">
                <a:solidFill>
                  <a:srgbClr val="FF0000"/>
                </a:solidFill>
                <a:latin typeface="DM Sans"/>
              </a:rPr>
              <a:t>Lecture emphasises NETs should complement, not replace mitigation.</a:t>
            </a:r>
          </a:p>
        </p:txBody>
      </p:sp>
    </p:spTree>
    <p:extLst>
      <p:ext uri="{BB962C8B-B14F-4D97-AF65-F5344CB8AC3E}">
        <p14:creationId xmlns:p14="http://schemas.microsoft.com/office/powerpoint/2010/main" val="3405956099"/>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1630C-DA6E-D233-72C0-B1A1B0B8A922}"/>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2BA719E-55A5-247C-C0A7-1224AF4EAECD}"/>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89642FBA-E071-A75B-0188-18D7784B8CB8}"/>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Q8. </a:t>
            </a:r>
          </a:p>
        </p:txBody>
      </p:sp>
      <p:sp>
        <p:nvSpPr>
          <p:cNvPr id="2" name="TextBox 1">
            <a:extLst>
              <a:ext uri="{FF2B5EF4-FFF2-40B4-BE49-F238E27FC236}">
                <a16:creationId xmlns:a16="http://schemas.microsoft.com/office/drawing/2014/main" id="{B136DA83-1D10-B840-E517-5C436F696018}"/>
              </a:ext>
            </a:extLst>
          </p:cNvPr>
          <p:cNvSpPr txBox="1"/>
          <p:nvPr/>
        </p:nvSpPr>
        <p:spPr>
          <a:xfrm>
            <a:off x="575732" y="2149994"/>
            <a:ext cx="15397694" cy="523220"/>
          </a:xfrm>
          <a:prstGeom prst="rect">
            <a:avLst/>
          </a:prstGeom>
          <a:noFill/>
        </p:spPr>
        <p:txBody>
          <a:bodyPr wrap="square">
            <a:spAutoFit/>
          </a:bodyPr>
          <a:lstStyle/>
          <a:p>
            <a:r>
              <a:rPr lang="en-GB" sz="2800" dirty="0">
                <a:latin typeface="Calibri" panose="020F0502020204030204" pitchFamily="34" charset="0"/>
                <a:cs typeface="Calibri" panose="020F0502020204030204" pitchFamily="34" charset="0"/>
              </a:rPr>
              <a:t>What information would you need to decide whether a mitigation strategy is “worth it”?</a:t>
            </a:r>
          </a:p>
        </p:txBody>
      </p:sp>
    </p:spTree>
    <p:extLst>
      <p:ext uri="{BB962C8B-B14F-4D97-AF65-F5344CB8AC3E}">
        <p14:creationId xmlns:p14="http://schemas.microsoft.com/office/powerpoint/2010/main" val="1366350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450361E1-73D8-875B-B8BD-E151C7840F31}"/>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F22B585D-FB44-3B15-8011-08A251CF976C}"/>
              </a:ext>
            </a:extLst>
          </p:cNvPr>
          <p:cNvSpPr/>
          <p:nvPr/>
        </p:nvSpPr>
        <p:spPr>
          <a:xfrm>
            <a:off x="14554202"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E8CBF1C0-45E1-3DC2-E1C6-7677874A7393}"/>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prstClr val="white"/>
                </a:solidFill>
                <a:latin typeface="DM Sans Bold"/>
                <a:ea typeface="ＭＳ Ｐゴシック" panose="020B0600070205080204" pitchFamily="34" charset="-128"/>
              </a:rPr>
              <a:t>Q8.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8" name="TextBox 7">
            <a:extLst>
              <a:ext uri="{FF2B5EF4-FFF2-40B4-BE49-F238E27FC236}">
                <a16:creationId xmlns:a16="http://schemas.microsoft.com/office/drawing/2014/main" id="{BC823520-07B2-9F91-72F2-0A5DCC62C13E}"/>
              </a:ext>
            </a:extLst>
          </p:cNvPr>
          <p:cNvSpPr txBox="1"/>
          <p:nvPr/>
        </p:nvSpPr>
        <p:spPr>
          <a:xfrm>
            <a:off x="584200" y="4333897"/>
            <a:ext cx="10659536" cy="646331"/>
          </a:xfrm>
          <a:prstGeom prst="rect">
            <a:avLst/>
          </a:prstGeom>
          <a:noFill/>
        </p:spPr>
        <p:txBody>
          <a:bodyPr wrap="square">
            <a:spAutoFit/>
          </a:bodyPr>
          <a:lstStyle/>
          <a:p>
            <a:pPr defTabSz="914445">
              <a:defRPr/>
            </a:pPr>
            <a:br>
              <a:rPr lang="en-GB" dirty="0">
                <a:solidFill>
                  <a:srgbClr val="000000"/>
                </a:solidFill>
                <a:latin typeface="DM Sans"/>
              </a:rPr>
            </a:br>
            <a:endParaRPr lang="en-GB" dirty="0">
              <a:solidFill>
                <a:srgbClr val="000000"/>
              </a:solidFill>
              <a:latin typeface="DM Sans"/>
            </a:endParaRPr>
          </a:p>
        </p:txBody>
      </p:sp>
      <p:sp>
        <p:nvSpPr>
          <p:cNvPr id="6" name="TextBox 5">
            <a:extLst>
              <a:ext uri="{FF2B5EF4-FFF2-40B4-BE49-F238E27FC236}">
                <a16:creationId xmlns:a16="http://schemas.microsoft.com/office/drawing/2014/main" id="{7AC475A3-9DE6-5E91-6941-35D0640CE15D}"/>
              </a:ext>
            </a:extLst>
          </p:cNvPr>
          <p:cNvSpPr txBox="1"/>
          <p:nvPr/>
        </p:nvSpPr>
        <p:spPr>
          <a:xfrm>
            <a:off x="584198" y="2135706"/>
            <a:ext cx="15954515" cy="954364"/>
          </a:xfrm>
          <a:prstGeom prst="rect">
            <a:avLst/>
          </a:prstGeom>
          <a:noFill/>
        </p:spPr>
        <p:txBody>
          <a:bodyPr wrap="square">
            <a:spAutoFit/>
          </a:bodyPr>
          <a:lstStyle/>
          <a:p>
            <a:pPr defTabSz="914445">
              <a:defRPr/>
            </a:pPr>
            <a:r>
              <a:rPr lang="en-GB" sz="2801" b="1" dirty="0">
                <a:solidFill>
                  <a:prstClr val="white"/>
                </a:solidFill>
                <a:latin typeface="DM Sans"/>
              </a:rPr>
              <a:t>What information would you need to decide whether a mitigation strategy is “worth it”?</a:t>
            </a:r>
          </a:p>
          <a:p>
            <a:pPr defTabSz="914445">
              <a:defRPr/>
            </a:pPr>
            <a:endParaRPr lang="en-GB" sz="2801" b="1" dirty="0">
              <a:solidFill>
                <a:prstClr val="white"/>
              </a:solidFill>
              <a:latin typeface="DM Sans"/>
            </a:endParaRPr>
          </a:p>
        </p:txBody>
      </p:sp>
      <p:sp>
        <p:nvSpPr>
          <p:cNvPr id="7" name="TextBox 6">
            <a:extLst>
              <a:ext uri="{FF2B5EF4-FFF2-40B4-BE49-F238E27FC236}">
                <a16:creationId xmlns:a16="http://schemas.microsoft.com/office/drawing/2014/main" id="{779C7D21-1E5D-76D8-CB65-E1FDD4ADCC2B}"/>
              </a:ext>
            </a:extLst>
          </p:cNvPr>
          <p:cNvSpPr txBox="1"/>
          <p:nvPr/>
        </p:nvSpPr>
        <p:spPr>
          <a:xfrm>
            <a:off x="584198" y="3529044"/>
            <a:ext cx="14178937"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914445">
              <a:defRPr/>
            </a:pPr>
            <a:r>
              <a:rPr lang="en-GB" sz="2400" dirty="0">
                <a:solidFill>
                  <a:srgbClr val="FF0000"/>
                </a:solidFill>
                <a:latin typeface="DM Sans"/>
              </a:rPr>
              <a:t>Information could include:</a:t>
            </a:r>
          </a:p>
          <a:p>
            <a:pPr defTabSz="914445">
              <a:defRPr/>
            </a:pPr>
            <a:endParaRPr lang="en-GB" sz="2400" dirty="0">
              <a:solidFill>
                <a:srgbClr val="FF0000"/>
              </a:solidFill>
              <a:latin typeface="DM Sans"/>
            </a:endParaRPr>
          </a:p>
          <a:p>
            <a:pPr marL="342900" indent="-342900" defTabSz="914445">
              <a:buFont typeface="Arial" panose="020B0604020202020204" pitchFamily="34" charset="0"/>
              <a:buChar char="•"/>
              <a:defRPr/>
            </a:pPr>
            <a:r>
              <a:rPr lang="en-GB" sz="2400" dirty="0">
                <a:solidFill>
                  <a:srgbClr val="FF0000"/>
                </a:solidFill>
                <a:latin typeface="DM Sans"/>
              </a:rPr>
              <a:t>Emission reduction potential (how much CO₂ or GHGs can be reduced)</a:t>
            </a:r>
          </a:p>
          <a:p>
            <a:pPr marL="342900" indent="-342900" defTabSz="914445">
              <a:buFont typeface="Arial" panose="020B0604020202020204" pitchFamily="34" charset="0"/>
              <a:buChar char="•"/>
              <a:defRPr/>
            </a:pPr>
            <a:r>
              <a:rPr lang="en-GB" sz="2400" dirty="0">
                <a:solidFill>
                  <a:srgbClr val="FF0000"/>
                </a:solidFill>
                <a:latin typeface="DM Sans"/>
              </a:rPr>
              <a:t>Cost and cost-effectiveness </a:t>
            </a:r>
          </a:p>
          <a:p>
            <a:pPr marL="342900" indent="-342900" defTabSz="914445">
              <a:buFont typeface="Arial" panose="020B0604020202020204" pitchFamily="34" charset="0"/>
              <a:buChar char="•"/>
              <a:defRPr/>
            </a:pPr>
            <a:r>
              <a:rPr lang="en-GB" sz="2400" dirty="0">
                <a:solidFill>
                  <a:srgbClr val="FF0000"/>
                </a:solidFill>
                <a:latin typeface="DM Sans"/>
              </a:rPr>
              <a:t>Feasibility and scalability (can it be implemented widely and quickly?)</a:t>
            </a:r>
          </a:p>
          <a:p>
            <a:pPr marL="342900" indent="-342900" defTabSz="914445">
              <a:buFont typeface="Arial" panose="020B0604020202020204" pitchFamily="34" charset="0"/>
              <a:buChar char="•"/>
              <a:defRPr/>
            </a:pPr>
            <a:r>
              <a:rPr lang="en-GB" sz="2400" dirty="0">
                <a:solidFill>
                  <a:srgbClr val="FF0000"/>
                </a:solidFill>
                <a:latin typeface="DM Sans"/>
              </a:rPr>
              <a:t>Technological readiness (proven vs experimental)</a:t>
            </a:r>
          </a:p>
          <a:p>
            <a:pPr marL="342900" indent="-342900" defTabSz="914445">
              <a:buFont typeface="Arial" panose="020B0604020202020204" pitchFamily="34" charset="0"/>
              <a:buChar char="•"/>
              <a:defRPr/>
            </a:pPr>
            <a:r>
              <a:rPr lang="en-GB" sz="2400" dirty="0">
                <a:solidFill>
                  <a:srgbClr val="FF0000"/>
                </a:solidFill>
                <a:latin typeface="DM Sans"/>
              </a:rPr>
              <a:t>Co-benefits (e.g. improved air quality, health benefits)</a:t>
            </a:r>
          </a:p>
          <a:p>
            <a:pPr marL="342900" indent="-342900" defTabSz="914445">
              <a:buFont typeface="Arial" panose="020B0604020202020204" pitchFamily="34" charset="0"/>
              <a:buChar char="•"/>
              <a:defRPr/>
            </a:pPr>
            <a:r>
              <a:rPr lang="en-GB" sz="2400" dirty="0">
                <a:solidFill>
                  <a:srgbClr val="FF0000"/>
                </a:solidFill>
                <a:latin typeface="DM Sans"/>
              </a:rPr>
              <a:t>Trade-offs / risks (e.g. land use, biodiversity, social impacts)</a:t>
            </a:r>
          </a:p>
          <a:p>
            <a:pPr marL="342900" indent="-342900" defTabSz="914445">
              <a:buFont typeface="Arial" panose="020B0604020202020204" pitchFamily="34" charset="0"/>
              <a:buChar char="•"/>
              <a:defRPr/>
            </a:pPr>
            <a:r>
              <a:rPr lang="en-GB" sz="2400" dirty="0">
                <a:solidFill>
                  <a:srgbClr val="FF0000"/>
                </a:solidFill>
                <a:latin typeface="DM Sans"/>
              </a:rPr>
              <a:t>Timescale (short-term vs long-term impact)</a:t>
            </a:r>
          </a:p>
          <a:p>
            <a:pPr defTabSz="914445">
              <a:defRPr/>
            </a:pPr>
            <a:endParaRPr lang="en-GB" sz="2400" dirty="0">
              <a:solidFill>
                <a:srgbClr val="FF0000"/>
              </a:solidFill>
              <a:latin typeface="DM Sans"/>
            </a:endParaRPr>
          </a:p>
          <a:p>
            <a:pPr defTabSz="914445">
              <a:defRPr/>
            </a:pPr>
            <a:r>
              <a:rPr lang="en-GB" sz="2400" dirty="0">
                <a:solidFill>
                  <a:srgbClr val="FF0000"/>
                </a:solidFill>
                <a:latin typeface="DM Sans"/>
              </a:rPr>
              <a:t>A strategy is “worth it” if it delivers significant, reliable emission reductions at acceptable cost with manageable risks.</a:t>
            </a:r>
          </a:p>
        </p:txBody>
      </p:sp>
    </p:spTree>
    <p:extLst>
      <p:ext uri="{BB962C8B-B14F-4D97-AF65-F5344CB8AC3E}">
        <p14:creationId xmlns:p14="http://schemas.microsoft.com/office/powerpoint/2010/main" val="3687396870"/>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DFCF4-B09F-8A9F-9910-510379043066}"/>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C3399181-E687-8632-59A0-16DB45B0D8D2}"/>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DFDEC19A-4BF9-CB1A-01AB-BAA3192C5E68}"/>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Q9. </a:t>
            </a:r>
          </a:p>
        </p:txBody>
      </p:sp>
      <p:sp>
        <p:nvSpPr>
          <p:cNvPr id="2" name="TextBox 1">
            <a:extLst>
              <a:ext uri="{FF2B5EF4-FFF2-40B4-BE49-F238E27FC236}">
                <a16:creationId xmlns:a16="http://schemas.microsoft.com/office/drawing/2014/main" id="{E52C3BC8-68DE-6B84-7965-006B44BC8EFE}"/>
              </a:ext>
            </a:extLst>
          </p:cNvPr>
          <p:cNvSpPr txBox="1"/>
          <p:nvPr/>
        </p:nvSpPr>
        <p:spPr>
          <a:xfrm>
            <a:off x="575732" y="2149994"/>
            <a:ext cx="15397694" cy="523220"/>
          </a:xfrm>
          <a:prstGeom prst="rect">
            <a:avLst/>
          </a:prstGeom>
          <a:noFill/>
        </p:spPr>
        <p:txBody>
          <a:bodyPr wrap="square">
            <a:spAutoFit/>
          </a:bodyPr>
          <a:lstStyle/>
          <a:p>
            <a:r>
              <a:rPr lang="en-GB" sz="2800" dirty="0">
                <a:latin typeface="Calibri" panose="020F0502020204030204" pitchFamily="34" charset="0"/>
                <a:cs typeface="Calibri" panose="020F0502020204030204" pitchFamily="34" charset="0"/>
              </a:rPr>
              <a:t>Can you think of any real-world examples of successful mitigation strategies? What made them work?</a:t>
            </a:r>
          </a:p>
        </p:txBody>
      </p:sp>
    </p:spTree>
    <p:extLst>
      <p:ext uri="{BB962C8B-B14F-4D97-AF65-F5344CB8AC3E}">
        <p14:creationId xmlns:p14="http://schemas.microsoft.com/office/powerpoint/2010/main" val="372061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71DA0F76-4F36-5519-E0A0-6069F1A05B7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1F2C75F3-08B1-AC68-36B7-D4928346E24C}"/>
              </a:ext>
            </a:extLst>
          </p:cNvPr>
          <p:cNvSpPr/>
          <p:nvPr/>
        </p:nvSpPr>
        <p:spPr>
          <a:xfrm>
            <a:off x="14554202"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5273E081-AF49-9229-C488-C0F5392F4448}"/>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prstClr val="white"/>
                </a:solidFill>
                <a:latin typeface="DM Sans Bold"/>
                <a:ea typeface="ＭＳ Ｐゴシック" panose="020B0600070205080204" pitchFamily="34" charset="-128"/>
              </a:rPr>
              <a:t>Q9.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8" name="TextBox 7">
            <a:extLst>
              <a:ext uri="{FF2B5EF4-FFF2-40B4-BE49-F238E27FC236}">
                <a16:creationId xmlns:a16="http://schemas.microsoft.com/office/drawing/2014/main" id="{6CB37D64-E206-6D64-9FB2-3B5B716C7714}"/>
              </a:ext>
            </a:extLst>
          </p:cNvPr>
          <p:cNvSpPr txBox="1"/>
          <p:nvPr/>
        </p:nvSpPr>
        <p:spPr>
          <a:xfrm>
            <a:off x="584200" y="4333897"/>
            <a:ext cx="10659536" cy="646331"/>
          </a:xfrm>
          <a:prstGeom prst="rect">
            <a:avLst/>
          </a:prstGeom>
          <a:noFill/>
        </p:spPr>
        <p:txBody>
          <a:bodyPr wrap="square">
            <a:spAutoFit/>
          </a:bodyPr>
          <a:lstStyle/>
          <a:p>
            <a:pPr defTabSz="914445">
              <a:defRPr/>
            </a:pPr>
            <a:br>
              <a:rPr lang="en-GB" dirty="0">
                <a:solidFill>
                  <a:srgbClr val="000000"/>
                </a:solidFill>
                <a:latin typeface="DM Sans"/>
              </a:rPr>
            </a:br>
            <a:endParaRPr lang="en-GB" dirty="0">
              <a:solidFill>
                <a:srgbClr val="000000"/>
              </a:solidFill>
              <a:latin typeface="DM Sans"/>
            </a:endParaRPr>
          </a:p>
        </p:txBody>
      </p:sp>
      <p:sp>
        <p:nvSpPr>
          <p:cNvPr id="6" name="TextBox 5">
            <a:extLst>
              <a:ext uri="{FF2B5EF4-FFF2-40B4-BE49-F238E27FC236}">
                <a16:creationId xmlns:a16="http://schemas.microsoft.com/office/drawing/2014/main" id="{79DE8111-6943-50E4-6023-0B599B277DEE}"/>
              </a:ext>
            </a:extLst>
          </p:cNvPr>
          <p:cNvSpPr txBox="1"/>
          <p:nvPr/>
        </p:nvSpPr>
        <p:spPr>
          <a:xfrm>
            <a:off x="584198" y="2135706"/>
            <a:ext cx="15954515" cy="1385379"/>
          </a:xfrm>
          <a:prstGeom prst="rect">
            <a:avLst/>
          </a:prstGeom>
          <a:noFill/>
        </p:spPr>
        <p:txBody>
          <a:bodyPr wrap="square">
            <a:spAutoFit/>
          </a:bodyPr>
          <a:lstStyle/>
          <a:p>
            <a:pPr defTabSz="914445">
              <a:defRPr/>
            </a:pPr>
            <a:r>
              <a:rPr lang="en-GB" sz="2801" b="1" dirty="0">
                <a:solidFill>
                  <a:prstClr val="white"/>
                </a:solidFill>
                <a:latin typeface="DM Sans"/>
              </a:rPr>
              <a:t>Can you think of any real-world examples of successful mitigation strategies? What made them work?</a:t>
            </a:r>
          </a:p>
          <a:p>
            <a:pPr defTabSz="914445">
              <a:defRPr/>
            </a:pPr>
            <a:endParaRPr lang="en-GB" sz="2801" b="1" dirty="0">
              <a:solidFill>
                <a:prstClr val="white"/>
              </a:solidFill>
              <a:latin typeface="DM Sans"/>
            </a:endParaRPr>
          </a:p>
        </p:txBody>
      </p:sp>
      <p:sp>
        <p:nvSpPr>
          <p:cNvPr id="7" name="TextBox 6">
            <a:extLst>
              <a:ext uri="{FF2B5EF4-FFF2-40B4-BE49-F238E27FC236}">
                <a16:creationId xmlns:a16="http://schemas.microsoft.com/office/drawing/2014/main" id="{3D6D8862-19F8-F317-008D-E1E97D01A99A}"/>
              </a:ext>
            </a:extLst>
          </p:cNvPr>
          <p:cNvSpPr txBox="1"/>
          <p:nvPr/>
        </p:nvSpPr>
        <p:spPr>
          <a:xfrm>
            <a:off x="584198" y="3362335"/>
            <a:ext cx="14267428" cy="489364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914445">
              <a:defRPr/>
            </a:pPr>
            <a:r>
              <a:rPr lang="en-GB" sz="2400" dirty="0">
                <a:solidFill>
                  <a:srgbClr val="FF0000"/>
                </a:solidFill>
                <a:latin typeface="DM Sans"/>
              </a:rPr>
              <a:t>Examples include:</a:t>
            </a:r>
          </a:p>
          <a:p>
            <a:pPr marL="342900" indent="-342900" defTabSz="914445">
              <a:buFont typeface="Arial" panose="020B0604020202020204" pitchFamily="34" charset="0"/>
              <a:buChar char="•"/>
              <a:defRPr/>
            </a:pPr>
            <a:r>
              <a:rPr lang="en-GB" sz="2400" dirty="0">
                <a:solidFill>
                  <a:srgbClr val="FF0000"/>
                </a:solidFill>
                <a:latin typeface="DM Sans"/>
              </a:rPr>
              <a:t>Renewable energy expansion (e.g. wind/solar in UK &amp; EU)</a:t>
            </a:r>
          </a:p>
          <a:p>
            <a:pPr marL="342900" indent="-342900" defTabSz="914445">
              <a:buFont typeface="Arial" panose="020B0604020202020204" pitchFamily="34" charset="0"/>
              <a:buChar char="•"/>
              <a:defRPr/>
            </a:pPr>
            <a:r>
              <a:rPr lang="en-GB" sz="2400" dirty="0">
                <a:solidFill>
                  <a:srgbClr val="FF0000"/>
                </a:solidFill>
                <a:latin typeface="DM Sans"/>
              </a:rPr>
              <a:t>Coal phase out in the UK</a:t>
            </a:r>
          </a:p>
          <a:p>
            <a:pPr marL="342900" indent="-342900" defTabSz="914445">
              <a:buFont typeface="Arial" panose="020B0604020202020204" pitchFamily="34" charset="0"/>
              <a:buChar char="•"/>
              <a:defRPr/>
            </a:pPr>
            <a:r>
              <a:rPr lang="en-GB" sz="2400" dirty="0">
                <a:solidFill>
                  <a:srgbClr val="FF0000"/>
                </a:solidFill>
                <a:latin typeface="DM Sans"/>
              </a:rPr>
              <a:t>Electric vehicle uptake in many parts of the world</a:t>
            </a:r>
          </a:p>
          <a:p>
            <a:pPr defTabSz="914445">
              <a:defRPr/>
            </a:pPr>
            <a:endParaRPr lang="en-GB" sz="2400" dirty="0">
              <a:solidFill>
                <a:srgbClr val="FF0000"/>
              </a:solidFill>
              <a:latin typeface="DM Sans"/>
            </a:endParaRPr>
          </a:p>
          <a:p>
            <a:pPr defTabSz="914445">
              <a:defRPr/>
            </a:pPr>
            <a:r>
              <a:rPr lang="en-GB" sz="2400" dirty="0">
                <a:solidFill>
                  <a:srgbClr val="FF0000"/>
                </a:solidFill>
                <a:latin typeface="DM Sans"/>
              </a:rPr>
              <a:t>What made them successful:</a:t>
            </a:r>
          </a:p>
          <a:p>
            <a:pPr marL="342900" indent="-342900" defTabSz="914445">
              <a:buFont typeface="Arial" panose="020B0604020202020204" pitchFamily="34" charset="0"/>
              <a:buChar char="•"/>
              <a:defRPr/>
            </a:pPr>
            <a:r>
              <a:rPr lang="en-GB" sz="2400" dirty="0">
                <a:solidFill>
                  <a:srgbClr val="FF0000"/>
                </a:solidFill>
                <a:latin typeface="DM Sans"/>
              </a:rPr>
              <a:t>Strong government policy and incentives</a:t>
            </a:r>
          </a:p>
          <a:p>
            <a:pPr marL="342900" indent="-342900" defTabSz="914445">
              <a:buFont typeface="Arial" panose="020B0604020202020204" pitchFamily="34" charset="0"/>
              <a:buChar char="•"/>
              <a:defRPr/>
            </a:pPr>
            <a:r>
              <a:rPr lang="en-GB" sz="2400" dirty="0">
                <a:solidFill>
                  <a:srgbClr val="FF0000"/>
                </a:solidFill>
                <a:latin typeface="DM Sans"/>
              </a:rPr>
              <a:t>Technological maturity and falling costs (think of the figure of costs vs uptake I showed) </a:t>
            </a:r>
          </a:p>
          <a:p>
            <a:pPr marL="342900" indent="-342900" defTabSz="914445">
              <a:buFont typeface="Arial" panose="020B0604020202020204" pitchFamily="34" charset="0"/>
              <a:buChar char="•"/>
              <a:defRPr/>
            </a:pPr>
            <a:r>
              <a:rPr lang="en-GB" sz="2400" dirty="0">
                <a:solidFill>
                  <a:srgbClr val="FF0000"/>
                </a:solidFill>
                <a:latin typeface="DM Sans"/>
              </a:rPr>
              <a:t>Clear regulatory frameworks</a:t>
            </a:r>
          </a:p>
          <a:p>
            <a:pPr marL="342900" indent="-342900" defTabSz="914445">
              <a:buFont typeface="Arial" panose="020B0604020202020204" pitchFamily="34" charset="0"/>
              <a:buChar char="•"/>
              <a:defRPr/>
            </a:pPr>
            <a:r>
              <a:rPr lang="en-GB" sz="2400" dirty="0">
                <a:solidFill>
                  <a:srgbClr val="FF0000"/>
                </a:solidFill>
                <a:latin typeface="DM Sans"/>
              </a:rPr>
              <a:t>Public acceptance and behavioural shifts</a:t>
            </a:r>
          </a:p>
          <a:p>
            <a:pPr marL="342900" indent="-342900" defTabSz="914445">
              <a:buFont typeface="Arial" panose="020B0604020202020204" pitchFamily="34" charset="0"/>
              <a:buChar char="•"/>
              <a:defRPr/>
            </a:pPr>
            <a:r>
              <a:rPr lang="en-GB" sz="2400" dirty="0">
                <a:solidFill>
                  <a:srgbClr val="FF0000"/>
                </a:solidFill>
                <a:latin typeface="DM Sans"/>
              </a:rPr>
              <a:t>Long-term investment and infrastructure planning</a:t>
            </a:r>
          </a:p>
          <a:p>
            <a:pPr defTabSz="914445">
              <a:defRPr/>
            </a:pPr>
            <a:endParaRPr lang="en-GB" sz="2400" dirty="0">
              <a:solidFill>
                <a:srgbClr val="FF0000"/>
              </a:solidFill>
              <a:latin typeface="DM Sans"/>
            </a:endParaRPr>
          </a:p>
          <a:p>
            <a:pPr defTabSz="914445">
              <a:defRPr/>
            </a:pPr>
            <a:r>
              <a:rPr lang="en-GB" sz="2400" dirty="0">
                <a:solidFill>
                  <a:srgbClr val="FF0000"/>
                </a:solidFill>
                <a:latin typeface="DM Sans"/>
              </a:rPr>
              <a:t>Success often depends on a combination of policy, economics, and technology.</a:t>
            </a:r>
          </a:p>
        </p:txBody>
      </p:sp>
    </p:spTree>
    <p:extLst>
      <p:ext uri="{BB962C8B-B14F-4D97-AF65-F5344CB8AC3E}">
        <p14:creationId xmlns:p14="http://schemas.microsoft.com/office/powerpoint/2010/main" val="1969511844"/>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4BF5D-7D1C-3951-EAF2-4146741C99B2}"/>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C1690E7-F875-4A23-8558-EC331029EA95}"/>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22EBB4BB-E4DD-1288-93C6-A848DAA2AFC2}"/>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Q10. </a:t>
            </a:r>
          </a:p>
        </p:txBody>
      </p:sp>
      <p:sp>
        <p:nvSpPr>
          <p:cNvPr id="2" name="TextBox 1">
            <a:extLst>
              <a:ext uri="{FF2B5EF4-FFF2-40B4-BE49-F238E27FC236}">
                <a16:creationId xmlns:a16="http://schemas.microsoft.com/office/drawing/2014/main" id="{9AD1C9D6-39BA-75D1-CA28-832E267E0188}"/>
              </a:ext>
            </a:extLst>
          </p:cNvPr>
          <p:cNvSpPr txBox="1"/>
          <p:nvPr/>
        </p:nvSpPr>
        <p:spPr>
          <a:xfrm>
            <a:off x="575732" y="2149994"/>
            <a:ext cx="15397694" cy="523220"/>
          </a:xfrm>
          <a:prstGeom prst="rect">
            <a:avLst/>
          </a:prstGeom>
          <a:noFill/>
        </p:spPr>
        <p:txBody>
          <a:bodyPr wrap="square">
            <a:spAutoFit/>
          </a:bodyPr>
          <a:lstStyle/>
          <a:p>
            <a:r>
              <a:rPr lang="en-GB" sz="2800" dirty="0">
                <a:latin typeface="Calibri" panose="020F0502020204030204" pitchFamily="34" charset="0"/>
                <a:cs typeface="Calibri" panose="020F0502020204030204" pitchFamily="34" charset="0"/>
              </a:rPr>
              <a:t>Is it realistic to achieve global net zero by 2050? What are the biggest barriers?</a:t>
            </a:r>
          </a:p>
        </p:txBody>
      </p:sp>
    </p:spTree>
    <p:extLst>
      <p:ext uri="{BB962C8B-B14F-4D97-AF65-F5344CB8AC3E}">
        <p14:creationId xmlns:p14="http://schemas.microsoft.com/office/powerpoint/2010/main" val="2481659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0200D6D6-5C06-4C21-C87E-86092A52E14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70540418-512E-5007-820C-326759E340BE}"/>
              </a:ext>
            </a:extLst>
          </p:cNvPr>
          <p:cNvSpPr/>
          <p:nvPr/>
        </p:nvSpPr>
        <p:spPr>
          <a:xfrm>
            <a:off x="14554202"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5D998046-7674-AEC4-C594-A063D318586C}"/>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prstClr val="white"/>
                </a:solidFill>
                <a:latin typeface="DM Sans Bold"/>
                <a:ea typeface="ＭＳ Ｐゴシック" panose="020B0600070205080204" pitchFamily="34" charset="-128"/>
              </a:rPr>
              <a:t>Q10.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8" name="TextBox 7">
            <a:extLst>
              <a:ext uri="{FF2B5EF4-FFF2-40B4-BE49-F238E27FC236}">
                <a16:creationId xmlns:a16="http://schemas.microsoft.com/office/drawing/2014/main" id="{E9D04A42-3927-354E-18FC-8EB59858405F}"/>
              </a:ext>
            </a:extLst>
          </p:cNvPr>
          <p:cNvSpPr txBox="1"/>
          <p:nvPr/>
        </p:nvSpPr>
        <p:spPr>
          <a:xfrm>
            <a:off x="584200" y="4333897"/>
            <a:ext cx="10659536" cy="646331"/>
          </a:xfrm>
          <a:prstGeom prst="rect">
            <a:avLst/>
          </a:prstGeom>
          <a:noFill/>
        </p:spPr>
        <p:txBody>
          <a:bodyPr wrap="square">
            <a:spAutoFit/>
          </a:bodyPr>
          <a:lstStyle/>
          <a:p>
            <a:pPr defTabSz="914445">
              <a:defRPr/>
            </a:pPr>
            <a:br>
              <a:rPr lang="en-GB" dirty="0">
                <a:solidFill>
                  <a:srgbClr val="000000"/>
                </a:solidFill>
                <a:latin typeface="DM Sans"/>
              </a:rPr>
            </a:br>
            <a:endParaRPr lang="en-GB" dirty="0">
              <a:solidFill>
                <a:srgbClr val="000000"/>
              </a:solidFill>
              <a:latin typeface="DM Sans"/>
            </a:endParaRPr>
          </a:p>
        </p:txBody>
      </p:sp>
      <p:sp>
        <p:nvSpPr>
          <p:cNvPr id="6" name="TextBox 5">
            <a:extLst>
              <a:ext uri="{FF2B5EF4-FFF2-40B4-BE49-F238E27FC236}">
                <a16:creationId xmlns:a16="http://schemas.microsoft.com/office/drawing/2014/main" id="{5438AC24-2618-BF50-9C38-DE2DD53D5922}"/>
              </a:ext>
            </a:extLst>
          </p:cNvPr>
          <p:cNvSpPr txBox="1"/>
          <p:nvPr/>
        </p:nvSpPr>
        <p:spPr>
          <a:xfrm>
            <a:off x="584198" y="2135706"/>
            <a:ext cx="15954515" cy="1385379"/>
          </a:xfrm>
          <a:prstGeom prst="rect">
            <a:avLst/>
          </a:prstGeom>
          <a:noFill/>
        </p:spPr>
        <p:txBody>
          <a:bodyPr wrap="square">
            <a:spAutoFit/>
          </a:bodyPr>
          <a:lstStyle/>
          <a:p>
            <a:pPr defTabSz="914445">
              <a:defRPr/>
            </a:pPr>
            <a:r>
              <a:rPr lang="en-GB" sz="2801" b="1" dirty="0">
                <a:solidFill>
                  <a:prstClr val="white"/>
                </a:solidFill>
                <a:latin typeface="DM Sans"/>
              </a:rPr>
              <a:t>Is it realistic to achieve global net zero by 2050? What are the biggest barriers?</a:t>
            </a: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p:txBody>
      </p:sp>
      <p:sp>
        <p:nvSpPr>
          <p:cNvPr id="7" name="TextBox 6">
            <a:extLst>
              <a:ext uri="{FF2B5EF4-FFF2-40B4-BE49-F238E27FC236}">
                <a16:creationId xmlns:a16="http://schemas.microsoft.com/office/drawing/2014/main" id="{106D275D-85D4-F911-ED40-47C671BFC0D6}"/>
              </a:ext>
            </a:extLst>
          </p:cNvPr>
          <p:cNvSpPr txBox="1"/>
          <p:nvPr/>
        </p:nvSpPr>
        <p:spPr>
          <a:xfrm>
            <a:off x="584198" y="3521085"/>
            <a:ext cx="14943669" cy="415498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914445">
              <a:defRPr/>
            </a:pPr>
            <a:r>
              <a:rPr lang="en-GB" sz="2400" dirty="0">
                <a:solidFill>
                  <a:srgbClr val="FF0000"/>
                </a:solidFill>
                <a:latin typeface="DM Sans"/>
              </a:rPr>
              <a:t>Achieving net zero by 2050 is technically possible but highly challenging.</a:t>
            </a:r>
          </a:p>
          <a:p>
            <a:pPr defTabSz="914445">
              <a:defRPr/>
            </a:pPr>
            <a:endParaRPr lang="en-GB" sz="2400" dirty="0">
              <a:solidFill>
                <a:srgbClr val="FF0000"/>
              </a:solidFill>
              <a:latin typeface="DM Sans"/>
            </a:endParaRPr>
          </a:p>
          <a:p>
            <a:pPr defTabSz="914445">
              <a:defRPr/>
            </a:pPr>
            <a:r>
              <a:rPr lang="en-GB" sz="2400" dirty="0">
                <a:solidFill>
                  <a:srgbClr val="FF0000"/>
                </a:solidFill>
                <a:latin typeface="DM Sans"/>
              </a:rPr>
              <a:t>Key barriers include:</a:t>
            </a:r>
          </a:p>
          <a:p>
            <a:pPr marL="342900" indent="-342900" defTabSz="914445">
              <a:buFont typeface="Arial" panose="020B0604020202020204" pitchFamily="34" charset="0"/>
              <a:buChar char="•"/>
              <a:defRPr/>
            </a:pPr>
            <a:r>
              <a:rPr lang="en-GB" sz="2400" dirty="0">
                <a:solidFill>
                  <a:srgbClr val="FF0000"/>
                </a:solidFill>
                <a:latin typeface="DM Sans"/>
              </a:rPr>
              <a:t>Continued global reliance on fossil fuels</a:t>
            </a:r>
          </a:p>
          <a:p>
            <a:pPr marL="342900" indent="-342900" defTabSz="914445">
              <a:buFont typeface="Arial" panose="020B0604020202020204" pitchFamily="34" charset="0"/>
              <a:buChar char="•"/>
              <a:defRPr/>
            </a:pPr>
            <a:r>
              <a:rPr lang="en-GB" sz="2400" dirty="0">
                <a:solidFill>
                  <a:srgbClr val="FF0000"/>
                </a:solidFill>
                <a:latin typeface="DM Sans"/>
              </a:rPr>
              <a:t>Economic and political constraints </a:t>
            </a:r>
          </a:p>
          <a:p>
            <a:pPr marL="342900" indent="-342900" defTabSz="914445">
              <a:buFont typeface="Arial" panose="020B0604020202020204" pitchFamily="34" charset="0"/>
              <a:buChar char="•"/>
              <a:defRPr/>
            </a:pPr>
            <a:r>
              <a:rPr lang="en-GB" sz="2400" dirty="0">
                <a:solidFill>
                  <a:srgbClr val="FF0000"/>
                </a:solidFill>
                <a:latin typeface="DM Sans"/>
              </a:rPr>
              <a:t>Infrastructure limitations (energy systems, transport)</a:t>
            </a:r>
          </a:p>
          <a:p>
            <a:pPr marL="342900" indent="-342900" defTabSz="914445">
              <a:buFont typeface="Arial" panose="020B0604020202020204" pitchFamily="34" charset="0"/>
              <a:buChar char="•"/>
              <a:defRPr/>
            </a:pPr>
            <a:r>
              <a:rPr lang="en-GB" sz="2400" dirty="0">
                <a:solidFill>
                  <a:srgbClr val="FF0000"/>
                </a:solidFill>
                <a:latin typeface="DM Sans"/>
              </a:rPr>
              <a:t>Slow pace of policy implementation</a:t>
            </a:r>
          </a:p>
          <a:p>
            <a:pPr marL="342900" indent="-342900" defTabSz="914445">
              <a:buFont typeface="Arial" panose="020B0604020202020204" pitchFamily="34" charset="0"/>
              <a:buChar char="•"/>
              <a:defRPr/>
            </a:pPr>
            <a:r>
              <a:rPr lang="en-GB" sz="2400" dirty="0">
                <a:solidFill>
                  <a:srgbClr val="FF0000"/>
                </a:solidFill>
                <a:latin typeface="DM Sans"/>
              </a:rPr>
              <a:t>Dependence on emerging technologies (e.g. CCS, NETs)</a:t>
            </a:r>
          </a:p>
          <a:p>
            <a:pPr marL="342900" indent="-342900" defTabSz="914445">
              <a:buFont typeface="Arial" panose="020B0604020202020204" pitchFamily="34" charset="0"/>
              <a:buChar char="•"/>
              <a:defRPr/>
            </a:pPr>
            <a:r>
              <a:rPr lang="en-GB" sz="2400" dirty="0">
                <a:solidFill>
                  <a:srgbClr val="FF0000"/>
                </a:solidFill>
                <a:latin typeface="DM Sans"/>
              </a:rPr>
              <a:t>Equity issues between developed and developing nations</a:t>
            </a:r>
          </a:p>
          <a:p>
            <a:pPr defTabSz="914445">
              <a:defRPr/>
            </a:pPr>
            <a:endParaRPr lang="en-GB" sz="2400" dirty="0">
              <a:solidFill>
                <a:srgbClr val="FF0000"/>
              </a:solidFill>
              <a:latin typeface="DM Sans"/>
            </a:endParaRPr>
          </a:p>
          <a:p>
            <a:pPr defTabSz="914445">
              <a:defRPr/>
            </a:pPr>
            <a:r>
              <a:rPr lang="en-GB" sz="2400" dirty="0">
                <a:solidFill>
                  <a:srgbClr val="FF0000"/>
                </a:solidFill>
                <a:latin typeface="DM Sans"/>
              </a:rPr>
              <a:t>Rapid, coordinated global action is required, but current trends suggest we are not yet on track.</a:t>
            </a:r>
          </a:p>
        </p:txBody>
      </p:sp>
    </p:spTree>
    <p:extLst>
      <p:ext uri="{BB962C8B-B14F-4D97-AF65-F5344CB8AC3E}">
        <p14:creationId xmlns:p14="http://schemas.microsoft.com/office/powerpoint/2010/main" val="3285925513"/>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38FAA-E79D-A155-0CF2-32D1D92444B3}"/>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DB2386A6-A2C9-AEB9-45F3-DA13260350B7}"/>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7A369DFE-E96E-EEE8-C126-B29DC2A93DEE}"/>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Q11. </a:t>
            </a:r>
          </a:p>
        </p:txBody>
      </p:sp>
      <p:sp>
        <p:nvSpPr>
          <p:cNvPr id="2" name="TextBox 1">
            <a:extLst>
              <a:ext uri="{FF2B5EF4-FFF2-40B4-BE49-F238E27FC236}">
                <a16:creationId xmlns:a16="http://schemas.microsoft.com/office/drawing/2014/main" id="{464304A1-51FD-2610-C705-4FF29CEA1329}"/>
              </a:ext>
            </a:extLst>
          </p:cNvPr>
          <p:cNvSpPr txBox="1"/>
          <p:nvPr/>
        </p:nvSpPr>
        <p:spPr>
          <a:xfrm>
            <a:off x="575732" y="2149994"/>
            <a:ext cx="15397694" cy="523220"/>
          </a:xfrm>
          <a:prstGeom prst="rect">
            <a:avLst/>
          </a:prstGeom>
          <a:noFill/>
        </p:spPr>
        <p:txBody>
          <a:bodyPr wrap="square">
            <a:spAutoFit/>
          </a:bodyPr>
          <a:lstStyle/>
          <a:p>
            <a:r>
              <a:rPr lang="en-GB" sz="2800" dirty="0">
                <a:latin typeface="Calibri" panose="020F0502020204030204" pitchFamily="34" charset="0"/>
                <a:cs typeface="Calibri" panose="020F0502020204030204" pitchFamily="34" charset="0"/>
              </a:rPr>
              <a:t>Which is more effective for reducing emissions: technological innovation or behavioural change?</a:t>
            </a:r>
          </a:p>
        </p:txBody>
      </p:sp>
    </p:spTree>
    <p:extLst>
      <p:ext uri="{BB962C8B-B14F-4D97-AF65-F5344CB8AC3E}">
        <p14:creationId xmlns:p14="http://schemas.microsoft.com/office/powerpoint/2010/main" val="2885197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A3F8D507-4596-E45E-0572-431B3FC9D07F}"/>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EFF74463-6D7B-E975-4041-9A8430453F8D}"/>
              </a:ext>
            </a:extLst>
          </p:cNvPr>
          <p:cNvSpPr/>
          <p:nvPr/>
        </p:nvSpPr>
        <p:spPr>
          <a:xfrm>
            <a:off x="14554202"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7CF71E69-AE8C-C703-959C-60B5340C5E22}"/>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prstClr val="white"/>
                </a:solidFill>
                <a:latin typeface="DM Sans Bold"/>
                <a:ea typeface="ＭＳ Ｐゴシック" panose="020B0600070205080204" pitchFamily="34" charset="-128"/>
              </a:rPr>
              <a:t>Q11.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8" name="TextBox 7">
            <a:extLst>
              <a:ext uri="{FF2B5EF4-FFF2-40B4-BE49-F238E27FC236}">
                <a16:creationId xmlns:a16="http://schemas.microsoft.com/office/drawing/2014/main" id="{4C4090F6-D9AD-FEDF-F6D9-4F95D6431BF5}"/>
              </a:ext>
            </a:extLst>
          </p:cNvPr>
          <p:cNvSpPr txBox="1"/>
          <p:nvPr/>
        </p:nvSpPr>
        <p:spPr>
          <a:xfrm>
            <a:off x="584200" y="4333897"/>
            <a:ext cx="10659536" cy="646331"/>
          </a:xfrm>
          <a:prstGeom prst="rect">
            <a:avLst/>
          </a:prstGeom>
          <a:noFill/>
        </p:spPr>
        <p:txBody>
          <a:bodyPr wrap="square">
            <a:spAutoFit/>
          </a:bodyPr>
          <a:lstStyle/>
          <a:p>
            <a:pPr defTabSz="914445">
              <a:defRPr/>
            </a:pPr>
            <a:br>
              <a:rPr lang="en-GB" dirty="0">
                <a:solidFill>
                  <a:srgbClr val="000000"/>
                </a:solidFill>
                <a:latin typeface="DM Sans"/>
              </a:rPr>
            </a:br>
            <a:endParaRPr lang="en-GB" dirty="0">
              <a:solidFill>
                <a:srgbClr val="000000"/>
              </a:solidFill>
              <a:latin typeface="DM Sans"/>
            </a:endParaRPr>
          </a:p>
        </p:txBody>
      </p:sp>
      <p:sp>
        <p:nvSpPr>
          <p:cNvPr id="6" name="TextBox 5">
            <a:extLst>
              <a:ext uri="{FF2B5EF4-FFF2-40B4-BE49-F238E27FC236}">
                <a16:creationId xmlns:a16="http://schemas.microsoft.com/office/drawing/2014/main" id="{79CF15C0-CA49-9D22-A815-E2E59DB711CE}"/>
              </a:ext>
            </a:extLst>
          </p:cNvPr>
          <p:cNvSpPr txBox="1"/>
          <p:nvPr/>
        </p:nvSpPr>
        <p:spPr>
          <a:xfrm>
            <a:off x="584198" y="2135706"/>
            <a:ext cx="15954515" cy="2247410"/>
          </a:xfrm>
          <a:prstGeom prst="rect">
            <a:avLst/>
          </a:prstGeom>
          <a:noFill/>
        </p:spPr>
        <p:txBody>
          <a:bodyPr wrap="square">
            <a:spAutoFit/>
          </a:bodyPr>
          <a:lstStyle/>
          <a:p>
            <a:pPr defTabSz="914445">
              <a:defRPr/>
            </a:pPr>
            <a:r>
              <a:rPr lang="en-GB" sz="2801" b="1" dirty="0">
                <a:solidFill>
                  <a:prstClr val="white"/>
                </a:solidFill>
                <a:latin typeface="DM Sans"/>
              </a:rPr>
              <a:t>Which is more effective for reducing emissions: technological innovation or behavioural change?</a:t>
            </a: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p:txBody>
      </p:sp>
      <p:sp>
        <p:nvSpPr>
          <p:cNvPr id="7" name="TextBox 6">
            <a:extLst>
              <a:ext uri="{FF2B5EF4-FFF2-40B4-BE49-F238E27FC236}">
                <a16:creationId xmlns:a16="http://schemas.microsoft.com/office/drawing/2014/main" id="{9D59CFE8-D05D-6330-E762-34B78B3E66D0}"/>
              </a:ext>
            </a:extLst>
          </p:cNvPr>
          <p:cNvSpPr txBox="1"/>
          <p:nvPr/>
        </p:nvSpPr>
        <p:spPr>
          <a:xfrm>
            <a:off x="584198" y="3727373"/>
            <a:ext cx="15756469" cy="526297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914445">
              <a:defRPr/>
            </a:pPr>
            <a:r>
              <a:rPr lang="en-GB" sz="2400" dirty="0">
                <a:solidFill>
                  <a:srgbClr val="FF0000"/>
                </a:solidFill>
                <a:latin typeface="DM Sans"/>
              </a:rPr>
              <a:t>Both approaches are important and work best together:</a:t>
            </a:r>
          </a:p>
          <a:p>
            <a:pPr defTabSz="914445">
              <a:defRPr/>
            </a:pPr>
            <a:endParaRPr lang="en-GB" sz="2400" dirty="0">
              <a:solidFill>
                <a:srgbClr val="FF0000"/>
              </a:solidFill>
              <a:latin typeface="DM Sans"/>
            </a:endParaRPr>
          </a:p>
          <a:p>
            <a:pPr defTabSz="914445">
              <a:defRPr/>
            </a:pPr>
            <a:r>
              <a:rPr lang="en-GB" sz="2400" dirty="0">
                <a:solidFill>
                  <a:srgbClr val="FF0000"/>
                </a:solidFill>
                <a:latin typeface="DM Sans"/>
              </a:rPr>
              <a:t>Technological innovation</a:t>
            </a:r>
          </a:p>
          <a:p>
            <a:pPr marL="342900" indent="-342900" defTabSz="914445">
              <a:buFont typeface="Arial" panose="020B0604020202020204" pitchFamily="34" charset="0"/>
              <a:buChar char="•"/>
              <a:defRPr/>
            </a:pPr>
            <a:r>
              <a:rPr lang="en-GB" sz="2400" dirty="0">
                <a:solidFill>
                  <a:srgbClr val="FF0000"/>
                </a:solidFill>
                <a:latin typeface="DM Sans"/>
              </a:rPr>
              <a:t>Enables large-scale reductions (e.g. renewables, EVs)</a:t>
            </a:r>
          </a:p>
          <a:p>
            <a:pPr marL="342900" indent="-342900" defTabSz="914445">
              <a:buFont typeface="Arial" panose="020B0604020202020204" pitchFamily="34" charset="0"/>
              <a:buChar char="•"/>
              <a:defRPr/>
            </a:pPr>
            <a:r>
              <a:rPr lang="en-GB" sz="2400" dirty="0">
                <a:solidFill>
                  <a:srgbClr val="FF0000"/>
                </a:solidFill>
                <a:latin typeface="DM Sans"/>
              </a:rPr>
              <a:t>Can decarbonise entire sectors</a:t>
            </a:r>
          </a:p>
          <a:p>
            <a:pPr marL="342900" indent="-342900" defTabSz="914445">
              <a:buFont typeface="Arial" panose="020B0604020202020204" pitchFamily="34" charset="0"/>
              <a:buChar char="•"/>
              <a:defRPr/>
            </a:pPr>
            <a:r>
              <a:rPr lang="en-GB" sz="2400" dirty="0">
                <a:solidFill>
                  <a:srgbClr val="FF0000"/>
                </a:solidFill>
                <a:latin typeface="DM Sans"/>
              </a:rPr>
              <a:t>Often requires time and investment</a:t>
            </a:r>
          </a:p>
          <a:p>
            <a:pPr defTabSz="914445">
              <a:defRPr/>
            </a:pPr>
            <a:endParaRPr lang="en-GB" sz="2400" dirty="0">
              <a:solidFill>
                <a:srgbClr val="FF0000"/>
              </a:solidFill>
              <a:latin typeface="DM Sans"/>
            </a:endParaRPr>
          </a:p>
          <a:p>
            <a:pPr defTabSz="914445">
              <a:defRPr/>
            </a:pPr>
            <a:r>
              <a:rPr lang="en-GB" sz="2400" dirty="0">
                <a:solidFill>
                  <a:srgbClr val="FF0000"/>
                </a:solidFill>
                <a:latin typeface="DM Sans"/>
              </a:rPr>
              <a:t>Behavioural change</a:t>
            </a:r>
          </a:p>
          <a:p>
            <a:pPr marL="342900" indent="-342900" defTabSz="914445">
              <a:buFont typeface="Arial" panose="020B0604020202020204" pitchFamily="34" charset="0"/>
              <a:buChar char="•"/>
              <a:defRPr/>
            </a:pPr>
            <a:r>
              <a:rPr lang="en-GB" sz="2400" dirty="0">
                <a:solidFill>
                  <a:srgbClr val="FF0000"/>
                </a:solidFill>
                <a:latin typeface="DM Sans"/>
              </a:rPr>
              <a:t>Can deliver immediate reductions (e.g. less travel, diet changes)</a:t>
            </a:r>
          </a:p>
          <a:p>
            <a:pPr marL="342900" indent="-342900" defTabSz="914445">
              <a:buFont typeface="Arial" panose="020B0604020202020204" pitchFamily="34" charset="0"/>
              <a:buChar char="•"/>
              <a:defRPr/>
            </a:pPr>
            <a:r>
              <a:rPr lang="en-GB" sz="2400" dirty="0">
                <a:solidFill>
                  <a:srgbClr val="FF0000"/>
                </a:solidFill>
                <a:latin typeface="DM Sans"/>
              </a:rPr>
              <a:t>Often low cost</a:t>
            </a:r>
          </a:p>
          <a:p>
            <a:pPr marL="342900" indent="-342900" defTabSz="914445">
              <a:buFont typeface="Arial" panose="020B0604020202020204" pitchFamily="34" charset="0"/>
              <a:buChar char="•"/>
              <a:defRPr/>
            </a:pPr>
            <a:r>
              <a:rPr lang="en-GB" sz="2400" dirty="0">
                <a:solidFill>
                  <a:srgbClr val="FF0000"/>
                </a:solidFill>
                <a:latin typeface="DM Sans"/>
              </a:rPr>
              <a:t>Harder to sustain or scale without policy support</a:t>
            </a:r>
          </a:p>
          <a:p>
            <a:pPr defTabSz="914445">
              <a:defRPr/>
            </a:pPr>
            <a:endParaRPr lang="en-GB" sz="2400" dirty="0">
              <a:solidFill>
                <a:srgbClr val="FF0000"/>
              </a:solidFill>
              <a:latin typeface="DM Sans"/>
            </a:endParaRPr>
          </a:p>
          <a:p>
            <a:pPr defTabSz="914445">
              <a:defRPr/>
            </a:pPr>
            <a:r>
              <a:rPr lang="en-GB" sz="2400" dirty="0">
                <a:solidFill>
                  <a:srgbClr val="FF0000"/>
                </a:solidFill>
                <a:latin typeface="DM Sans"/>
              </a:rPr>
              <a:t>Technology provides long-term systemic change, while behaviour enables short-term reductions and supports transition.</a:t>
            </a:r>
          </a:p>
        </p:txBody>
      </p:sp>
    </p:spTree>
    <p:extLst>
      <p:ext uri="{BB962C8B-B14F-4D97-AF65-F5344CB8AC3E}">
        <p14:creationId xmlns:p14="http://schemas.microsoft.com/office/powerpoint/2010/main" val="1881388148"/>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AA97D-F9B6-3C43-0889-578CE43B576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D9BC9AB3-DF29-7A9B-22B9-CE0E28AF5B08}"/>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ED290CB7-AB1C-8E9A-DA97-EFA6882B8333}"/>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Q12.  </a:t>
            </a:r>
          </a:p>
        </p:txBody>
      </p:sp>
      <p:sp>
        <p:nvSpPr>
          <p:cNvPr id="2" name="TextBox 1">
            <a:extLst>
              <a:ext uri="{FF2B5EF4-FFF2-40B4-BE49-F238E27FC236}">
                <a16:creationId xmlns:a16="http://schemas.microsoft.com/office/drawing/2014/main" id="{501843B7-3C68-2F71-E739-9C5A8BB74547}"/>
              </a:ext>
            </a:extLst>
          </p:cNvPr>
          <p:cNvSpPr txBox="1"/>
          <p:nvPr/>
        </p:nvSpPr>
        <p:spPr>
          <a:xfrm>
            <a:off x="575732" y="2149994"/>
            <a:ext cx="15397694" cy="954107"/>
          </a:xfrm>
          <a:prstGeom prst="rect">
            <a:avLst/>
          </a:prstGeom>
          <a:noFill/>
        </p:spPr>
        <p:txBody>
          <a:bodyPr wrap="square">
            <a:spAutoFit/>
          </a:bodyPr>
          <a:lstStyle/>
          <a:p>
            <a:r>
              <a:rPr lang="en-GB" sz="2800" dirty="0">
                <a:latin typeface="Calibri" panose="020F0502020204030204" pitchFamily="34" charset="0"/>
                <a:cs typeface="Calibri" panose="020F0502020204030204" pitchFamily="34" charset="0"/>
              </a:rPr>
              <a:t>Should governments prioritise short-term emission reductions or long-term technological solutions? Discuss the trade-offs.</a:t>
            </a:r>
          </a:p>
        </p:txBody>
      </p:sp>
    </p:spTree>
    <p:extLst>
      <p:ext uri="{BB962C8B-B14F-4D97-AF65-F5344CB8AC3E}">
        <p14:creationId xmlns:p14="http://schemas.microsoft.com/office/powerpoint/2010/main" val="2532047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0764110C-8BBF-ADC3-4306-E9565206A633}"/>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E9D2BE35-0DAC-59C2-A500-BA30649025F5}"/>
              </a:ext>
            </a:extLst>
          </p:cNvPr>
          <p:cNvSpPr/>
          <p:nvPr/>
        </p:nvSpPr>
        <p:spPr>
          <a:xfrm>
            <a:off x="14554202"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C2FC9A06-AF1F-F86E-3EFA-D14DCC64F8E6}"/>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prstClr val="white"/>
                </a:solidFill>
                <a:latin typeface="DM Sans Bold"/>
                <a:ea typeface="ＭＳ Ｐゴシック" panose="020B0600070205080204" pitchFamily="34" charset="-128"/>
              </a:rPr>
              <a:t>Q12.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8" name="TextBox 7">
            <a:extLst>
              <a:ext uri="{FF2B5EF4-FFF2-40B4-BE49-F238E27FC236}">
                <a16:creationId xmlns:a16="http://schemas.microsoft.com/office/drawing/2014/main" id="{2D28D964-2E90-763F-F5D2-C08C4ECCE707}"/>
              </a:ext>
            </a:extLst>
          </p:cNvPr>
          <p:cNvSpPr txBox="1"/>
          <p:nvPr/>
        </p:nvSpPr>
        <p:spPr>
          <a:xfrm>
            <a:off x="584200" y="4333897"/>
            <a:ext cx="10659536" cy="646331"/>
          </a:xfrm>
          <a:prstGeom prst="rect">
            <a:avLst/>
          </a:prstGeom>
          <a:noFill/>
        </p:spPr>
        <p:txBody>
          <a:bodyPr wrap="square">
            <a:spAutoFit/>
          </a:bodyPr>
          <a:lstStyle/>
          <a:p>
            <a:pPr defTabSz="914445">
              <a:defRPr/>
            </a:pPr>
            <a:br>
              <a:rPr lang="en-GB" dirty="0">
                <a:solidFill>
                  <a:srgbClr val="000000"/>
                </a:solidFill>
                <a:latin typeface="DM Sans"/>
              </a:rPr>
            </a:br>
            <a:endParaRPr lang="en-GB" dirty="0">
              <a:solidFill>
                <a:srgbClr val="000000"/>
              </a:solidFill>
              <a:latin typeface="DM Sans"/>
            </a:endParaRPr>
          </a:p>
        </p:txBody>
      </p:sp>
      <p:sp>
        <p:nvSpPr>
          <p:cNvPr id="6" name="TextBox 5">
            <a:extLst>
              <a:ext uri="{FF2B5EF4-FFF2-40B4-BE49-F238E27FC236}">
                <a16:creationId xmlns:a16="http://schemas.microsoft.com/office/drawing/2014/main" id="{C372FB66-5DF6-C21A-5BB2-6BFAC6166658}"/>
              </a:ext>
            </a:extLst>
          </p:cNvPr>
          <p:cNvSpPr txBox="1"/>
          <p:nvPr/>
        </p:nvSpPr>
        <p:spPr>
          <a:xfrm>
            <a:off x="584198" y="2135706"/>
            <a:ext cx="15954515" cy="2678426"/>
          </a:xfrm>
          <a:prstGeom prst="rect">
            <a:avLst/>
          </a:prstGeom>
          <a:noFill/>
        </p:spPr>
        <p:txBody>
          <a:bodyPr wrap="square">
            <a:spAutoFit/>
          </a:bodyPr>
          <a:lstStyle/>
          <a:p>
            <a:pPr defTabSz="914445">
              <a:defRPr/>
            </a:pPr>
            <a:r>
              <a:rPr lang="en-GB" sz="2801" b="1" dirty="0">
                <a:solidFill>
                  <a:prstClr val="white"/>
                </a:solidFill>
                <a:latin typeface="DM Sans"/>
              </a:rPr>
              <a:t>Should governments prioritise short-term emission reductions or long-term technological solutions? Discuss the trade-offs.</a:t>
            </a: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a:p>
            <a:pPr defTabSz="914445">
              <a:defRPr/>
            </a:pPr>
            <a:endParaRPr lang="en-GB" sz="2801" b="1" dirty="0">
              <a:solidFill>
                <a:prstClr val="white"/>
              </a:solidFill>
              <a:latin typeface="DM Sans"/>
            </a:endParaRPr>
          </a:p>
        </p:txBody>
      </p:sp>
      <p:sp>
        <p:nvSpPr>
          <p:cNvPr id="7" name="TextBox 6">
            <a:extLst>
              <a:ext uri="{FF2B5EF4-FFF2-40B4-BE49-F238E27FC236}">
                <a16:creationId xmlns:a16="http://schemas.microsoft.com/office/drawing/2014/main" id="{3A23D6D6-F71B-9259-D995-D51DC5225DA1}"/>
              </a:ext>
            </a:extLst>
          </p:cNvPr>
          <p:cNvSpPr txBox="1"/>
          <p:nvPr/>
        </p:nvSpPr>
        <p:spPr>
          <a:xfrm>
            <a:off x="674484" y="3259219"/>
            <a:ext cx="14531649" cy="600164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914445">
              <a:defRPr/>
            </a:pPr>
            <a:r>
              <a:rPr lang="en-GB" sz="2400" dirty="0">
                <a:solidFill>
                  <a:srgbClr val="FF0000"/>
                </a:solidFill>
                <a:latin typeface="DM Sans"/>
              </a:rPr>
              <a:t>Both are necessary, but there are trade-offs:</a:t>
            </a:r>
          </a:p>
          <a:p>
            <a:pPr defTabSz="914445">
              <a:defRPr/>
            </a:pPr>
            <a:endParaRPr lang="en-GB" sz="2400" dirty="0">
              <a:solidFill>
                <a:srgbClr val="FF0000"/>
              </a:solidFill>
              <a:latin typeface="DM Sans"/>
            </a:endParaRPr>
          </a:p>
          <a:p>
            <a:pPr defTabSz="914445">
              <a:defRPr/>
            </a:pPr>
            <a:r>
              <a:rPr lang="en-GB" sz="2400" b="1" dirty="0">
                <a:solidFill>
                  <a:srgbClr val="FF0000"/>
                </a:solidFill>
                <a:latin typeface="DM Sans"/>
              </a:rPr>
              <a:t>Short-term reductions</a:t>
            </a:r>
          </a:p>
          <a:p>
            <a:pPr marL="342900" indent="-342900" defTabSz="914445">
              <a:buFont typeface="Arial" panose="020B0604020202020204" pitchFamily="34" charset="0"/>
              <a:buChar char="•"/>
              <a:defRPr/>
            </a:pPr>
            <a:r>
              <a:rPr lang="en-GB" sz="2400" dirty="0">
                <a:solidFill>
                  <a:srgbClr val="FF0000"/>
                </a:solidFill>
                <a:latin typeface="DM Sans"/>
              </a:rPr>
              <a:t>Immediate impact on emissions</a:t>
            </a:r>
          </a:p>
          <a:p>
            <a:pPr marL="342900" indent="-342900" defTabSz="914445">
              <a:buFont typeface="Arial" panose="020B0604020202020204" pitchFamily="34" charset="0"/>
              <a:buChar char="•"/>
              <a:defRPr/>
            </a:pPr>
            <a:r>
              <a:rPr lang="en-GB" sz="2400" dirty="0">
                <a:solidFill>
                  <a:srgbClr val="FF0000"/>
                </a:solidFill>
                <a:latin typeface="DM Sans"/>
              </a:rPr>
              <a:t>Often rely on behaviour change or existing technologies</a:t>
            </a:r>
          </a:p>
          <a:p>
            <a:pPr marL="342900" indent="-342900" defTabSz="914445">
              <a:buFont typeface="Arial" panose="020B0604020202020204" pitchFamily="34" charset="0"/>
              <a:buChar char="•"/>
              <a:defRPr/>
            </a:pPr>
            <a:r>
              <a:rPr lang="en-GB" sz="2400" dirty="0">
                <a:solidFill>
                  <a:srgbClr val="FF0000"/>
                </a:solidFill>
                <a:latin typeface="DM Sans"/>
              </a:rPr>
              <a:t>May be politically or socially challenging</a:t>
            </a:r>
          </a:p>
          <a:p>
            <a:pPr defTabSz="914445">
              <a:defRPr/>
            </a:pPr>
            <a:endParaRPr lang="en-GB" sz="2400" dirty="0">
              <a:solidFill>
                <a:srgbClr val="FF0000"/>
              </a:solidFill>
              <a:latin typeface="DM Sans"/>
            </a:endParaRPr>
          </a:p>
          <a:p>
            <a:pPr defTabSz="914445">
              <a:defRPr/>
            </a:pPr>
            <a:r>
              <a:rPr lang="en-GB" sz="2400" b="1" dirty="0">
                <a:solidFill>
                  <a:srgbClr val="FF0000"/>
                </a:solidFill>
                <a:latin typeface="DM Sans"/>
              </a:rPr>
              <a:t>Long-term technological solutions</a:t>
            </a:r>
          </a:p>
          <a:p>
            <a:pPr marL="342900" indent="-342900" defTabSz="914445">
              <a:buFont typeface="Arial" panose="020B0604020202020204" pitchFamily="34" charset="0"/>
              <a:buChar char="•"/>
              <a:defRPr/>
            </a:pPr>
            <a:r>
              <a:rPr lang="en-GB" sz="2400" dirty="0">
                <a:solidFill>
                  <a:srgbClr val="FF0000"/>
                </a:solidFill>
                <a:latin typeface="DM Sans"/>
              </a:rPr>
              <a:t>Essential for deep decarbonisation</a:t>
            </a:r>
          </a:p>
          <a:p>
            <a:pPr marL="342900" indent="-342900" defTabSz="914445">
              <a:buFont typeface="Arial" panose="020B0604020202020204" pitchFamily="34" charset="0"/>
              <a:buChar char="•"/>
              <a:defRPr/>
            </a:pPr>
            <a:r>
              <a:rPr lang="en-GB" sz="2400" dirty="0">
                <a:solidFill>
                  <a:srgbClr val="FF0000"/>
                </a:solidFill>
                <a:latin typeface="DM Sans"/>
              </a:rPr>
              <a:t>Require time, investment, and development</a:t>
            </a:r>
          </a:p>
          <a:p>
            <a:pPr marL="342900" indent="-342900" defTabSz="914445">
              <a:buFont typeface="Arial" panose="020B0604020202020204" pitchFamily="34" charset="0"/>
              <a:buChar char="•"/>
              <a:defRPr/>
            </a:pPr>
            <a:r>
              <a:rPr lang="en-GB" sz="2400" dirty="0">
                <a:solidFill>
                  <a:srgbClr val="FF0000"/>
                </a:solidFill>
                <a:latin typeface="DM Sans"/>
              </a:rPr>
              <a:t>Risk of delaying action if over-relied upon</a:t>
            </a:r>
          </a:p>
          <a:p>
            <a:pPr defTabSz="914445">
              <a:defRPr/>
            </a:pPr>
            <a:endParaRPr lang="en-GB" sz="2400" dirty="0">
              <a:solidFill>
                <a:srgbClr val="FF0000"/>
              </a:solidFill>
              <a:latin typeface="DM Sans"/>
            </a:endParaRPr>
          </a:p>
          <a:p>
            <a:pPr defTabSz="914445">
              <a:defRPr/>
            </a:pPr>
            <a:r>
              <a:rPr lang="en-GB" sz="2400" b="1" dirty="0">
                <a:solidFill>
                  <a:srgbClr val="FF0000"/>
                </a:solidFill>
                <a:latin typeface="DM Sans"/>
              </a:rPr>
              <a:t>A balanced approach is needed</a:t>
            </a:r>
          </a:p>
          <a:p>
            <a:pPr marL="342900" indent="-342900" defTabSz="914445">
              <a:buFont typeface="Arial" panose="020B0604020202020204" pitchFamily="34" charset="0"/>
              <a:buChar char="•"/>
              <a:defRPr/>
            </a:pPr>
            <a:r>
              <a:rPr lang="en-GB" sz="2400" dirty="0">
                <a:solidFill>
                  <a:srgbClr val="FF0000"/>
                </a:solidFill>
                <a:latin typeface="DM Sans"/>
              </a:rPr>
              <a:t>Immediate reductions to limit near-term warming</a:t>
            </a:r>
          </a:p>
          <a:p>
            <a:pPr marL="342900" indent="-342900" defTabSz="914445">
              <a:buFont typeface="Arial" panose="020B0604020202020204" pitchFamily="34" charset="0"/>
              <a:buChar char="•"/>
              <a:defRPr/>
            </a:pPr>
            <a:r>
              <a:rPr lang="en-GB" sz="2400" dirty="0">
                <a:solidFill>
                  <a:srgbClr val="FF0000"/>
                </a:solidFill>
                <a:latin typeface="DM Sans"/>
              </a:rPr>
              <a:t>Long-term innovation to achieve sustained net zero</a:t>
            </a:r>
          </a:p>
          <a:p>
            <a:pPr marL="342900" indent="-342900" defTabSz="914445">
              <a:buFont typeface="Arial" panose="020B0604020202020204" pitchFamily="34" charset="0"/>
              <a:buChar char="•"/>
              <a:defRPr/>
            </a:pPr>
            <a:r>
              <a:rPr lang="en-GB" sz="2400" dirty="0">
                <a:solidFill>
                  <a:srgbClr val="FF0000"/>
                </a:solidFill>
                <a:latin typeface="DM Sans"/>
              </a:rPr>
              <a:t>Over-prioritising one at the expense of the other can undermine overall goals.</a:t>
            </a:r>
          </a:p>
        </p:txBody>
      </p:sp>
    </p:spTree>
    <p:extLst>
      <p:ext uri="{BB962C8B-B14F-4D97-AF65-F5344CB8AC3E}">
        <p14:creationId xmlns:p14="http://schemas.microsoft.com/office/powerpoint/2010/main" val="1670392760"/>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M Sans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panose="020F0502020204030204"/>
        <a:ea typeface=""/>
        <a:cs typeface=""/>
        <a:font script="Jpan" typeface="游ゴシック"/>
        <a:font script="Hang" typeface="맑은 고딕"/>
        <a:font script="Hans" typeface="等线"/>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2d04b034-a6a6-4c18-a06a-c7f1475d22b7">
      <UserInfo>
        <DisplayName>James Evans</DisplayName>
        <AccountId>12</AccountId>
        <AccountType/>
      </UserInfo>
    </SharedWithUsers>
    <TaxCatchAll xmlns="2d04b034-a6a6-4c18-a06a-c7f1475d22b7" xsi:nil="true"/>
    <lcf76f155ced4ddcb4097134ff3c332f xmlns="ef2cdc88-2d9e-4cc1-9996-acd9d00229e7">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28E7656B8F854EA3FBA2DC0FDE57D8" ma:contentTypeVersion="13" ma:contentTypeDescription="Create a new document." ma:contentTypeScope="" ma:versionID="2f55f3757423f8a9510e16e0485ceae4">
  <xsd:schema xmlns:xsd="http://www.w3.org/2001/XMLSchema" xmlns:xs="http://www.w3.org/2001/XMLSchema" xmlns:p="http://schemas.microsoft.com/office/2006/metadata/properties" xmlns:ns2="ef2cdc88-2d9e-4cc1-9996-acd9d00229e7" xmlns:ns3="2d04b034-a6a6-4c18-a06a-c7f1475d22b7" targetNamespace="http://schemas.microsoft.com/office/2006/metadata/properties" ma:root="true" ma:fieldsID="aad162b2229c38d96906976cd1e951d1" ns2:_="" ns3:_="">
    <xsd:import namespace="ef2cdc88-2d9e-4cc1-9996-acd9d00229e7"/>
    <xsd:import namespace="2d04b034-a6a6-4c18-a06a-c7f1475d22b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2cdc88-2d9e-4cc1-9996-acd9d00229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d84f0fb1-3ff4-4041-99c9-0ff0a116d57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04b034-a6a6-4c18-a06a-c7f1475d22b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c3033590-d564-48aa-a497-c6dbf64d132b}" ma:internalName="TaxCatchAll" ma:showField="CatchAllData" ma:web="2d04b034-a6a6-4c18-a06a-c7f1475d22b7">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204787-5CC9-4B4C-895B-E2DD531E2E20}">
  <ds:schemaRefs>
    <ds:schemaRef ds:uri="2d04b034-a6a6-4c18-a06a-c7f1475d22b7"/>
    <ds:schemaRef ds:uri="ef2cdc88-2d9e-4cc1-9996-acd9d00229e7"/>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75AF22D-E930-4A35-96C8-45C4552CEFD0}">
  <ds:schemaRefs>
    <ds:schemaRef ds:uri="2d04b034-a6a6-4c18-a06a-c7f1475d22b7"/>
    <ds:schemaRef ds:uri="ef2cdc88-2d9e-4cc1-9996-acd9d00229e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6E3B905-089B-4AAB-92C2-9145328F7EB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9157</TotalTime>
  <Words>1681</Words>
  <Application>Microsoft Macintosh PowerPoint</Application>
  <PresentationFormat>Custom</PresentationFormat>
  <Paragraphs>234</Paragraphs>
  <Slides>25</Slides>
  <Notes>25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25</vt:i4>
      </vt:variant>
    </vt:vector>
  </HeadingPairs>
  <TitlesOfParts>
    <vt:vector size="31" baseType="lpstr">
      <vt:lpstr>DM Sans</vt:lpstr>
      <vt:lpstr>Arial</vt:lpstr>
      <vt:lpstr>Calibri</vt:lpstr>
      <vt:lpstr>DM Sans Bold</vt:lpstr>
      <vt:lpstr>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360 Presentation Template</dc:title>
  <dc:creator>Rebecca Pinder</dc:creator>
  <cp:lastModifiedBy>Thomas Bannan</cp:lastModifiedBy>
  <cp:revision>66</cp:revision>
  <dcterms:created xsi:type="dcterms:W3CDTF">2006-08-16T00:00:00Z</dcterms:created>
  <dcterms:modified xsi:type="dcterms:W3CDTF">2026-04-29T12:08:41Z</dcterms:modified>
  <dc:identifier>DAFmF_MGmPY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0x010100BE28E7656B8F854EA3FBA2DC0FDE57D8</vt:lpwstr>
  </property>
  <property fmtid="{D5CDD505-2E9C-101B-9397-08002B2CF9AE}" pid="3" name="MediaServiceImageTags">
    <vt:lpwstr/>
  </property>
</Properties>
</file>