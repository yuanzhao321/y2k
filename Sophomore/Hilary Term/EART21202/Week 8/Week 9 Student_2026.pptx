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2.xml" ContentType="application/vnd.openxmlformats-officedocument.presentationml.tags+xml"/>
  <Override PartName="/ppt/notesSlides/notesSlide24.xml" ContentType="application/vnd.openxmlformats-officedocument.presentationml.notesSlide+xml"/>
  <Override PartName="/ppt/tags/tag3.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4.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5.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6.xml" ContentType="application/vnd.openxmlformats-officedocument.presentationml.tags+xml"/>
  <Override PartName="/ppt/notesSlides/notesSlide37.xml" ContentType="application/vnd.openxmlformats-officedocument.presentationml.notesSlide+xml"/>
  <Override PartName="/ppt/tags/tag7.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8.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9.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 id="2147483660" r:id="rId5"/>
    <p:sldMasterId id="2147483674" r:id="rId6"/>
  </p:sldMasterIdLst>
  <p:notesMasterIdLst>
    <p:notesMasterId r:id="rId70"/>
  </p:notesMasterIdLst>
  <p:sldIdLst>
    <p:sldId id="257" r:id="rId7"/>
    <p:sldId id="602" r:id="rId8"/>
    <p:sldId id="1344" r:id="rId9"/>
    <p:sldId id="1345" r:id="rId10"/>
    <p:sldId id="896" r:id="rId11"/>
    <p:sldId id="258" r:id="rId12"/>
    <p:sldId id="816" r:id="rId13"/>
    <p:sldId id="828" r:id="rId14"/>
    <p:sldId id="834" r:id="rId15"/>
    <p:sldId id="844" r:id="rId16"/>
    <p:sldId id="849" r:id="rId17"/>
    <p:sldId id="822" r:id="rId18"/>
    <p:sldId id="823" r:id="rId19"/>
    <p:sldId id="1414" r:id="rId20"/>
    <p:sldId id="1400" r:id="rId21"/>
    <p:sldId id="832" r:id="rId22"/>
    <p:sldId id="763" r:id="rId23"/>
    <p:sldId id="833" r:id="rId24"/>
    <p:sldId id="1415" r:id="rId25"/>
    <p:sldId id="784" r:id="rId26"/>
    <p:sldId id="786" r:id="rId27"/>
    <p:sldId id="1247" r:id="rId28"/>
    <p:sldId id="1402" r:id="rId29"/>
    <p:sldId id="780" r:id="rId30"/>
    <p:sldId id="782" r:id="rId31"/>
    <p:sldId id="785" r:id="rId32"/>
    <p:sldId id="1249" r:id="rId33"/>
    <p:sldId id="1401" r:id="rId34"/>
    <p:sldId id="789" r:id="rId35"/>
    <p:sldId id="790" r:id="rId36"/>
    <p:sldId id="1245" r:id="rId37"/>
    <p:sldId id="794" r:id="rId38"/>
    <p:sldId id="1250" r:id="rId39"/>
    <p:sldId id="1253" r:id="rId40"/>
    <p:sldId id="798" r:id="rId41"/>
    <p:sldId id="801" r:id="rId42"/>
    <p:sldId id="802" r:id="rId43"/>
    <p:sldId id="803" r:id="rId44"/>
    <p:sldId id="804" r:id="rId45"/>
    <p:sldId id="805" r:id="rId46"/>
    <p:sldId id="799" r:id="rId47"/>
    <p:sldId id="800" r:id="rId48"/>
    <p:sldId id="808" r:id="rId49"/>
    <p:sldId id="814" r:id="rId50"/>
    <p:sldId id="815" r:id="rId51"/>
    <p:sldId id="1416" r:id="rId52"/>
    <p:sldId id="1392" r:id="rId53"/>
    <p:sldId id="1399" r:id="rId54"/>
    <p:sldId id="511" r:id="rId55"/>
    <p:sldId id="1390" r:id="rId56"/>
    <p:sldId id="529" r:id="rId57"/>
    <p:sldId id="1229" r:id="rId58"/>
    <p:sldId id="1337" r:id="rId59"/>
    <p:sldId id="1255" r:id="rId60"/>
    <p:sldId id="1256" r:id="rId61"/>
    <p:sldId id="1257" r:id="rId62"/>
    <p:sldId id="1259" r:id="rId63"/>
    <p:sldId id="1260" r:id="rId64"/>
    <p:sldId id="1404" r:id="rId65"/>
    <p:sldId id="1405" r:id="rId66"/>
    <p:sldId id="1406" r:id="rId67"/>
    <p:sldId id="1407" r:id="rId68"/>
    <p:sldId id="1408" r:id="rId69"/>
  </p:sldIdLst>
  <p:sldSz cx="18288000" cy="10287000"/>
  <p:notesSz cx="6858000" cy="9144000"/>
  <p:embeddedFontLst>
    <p:embeddedFont>
      <p:font typeface="DM Sans" pitchFamily="2" charset="77"/>
      <p:regular r:id="rId71"/>
      <p:bold r:id="rId72"/>
      <p:italic r:id="rId73"/>
      <p:boldItalic r:id="rId74"/>
    </p:embeddedFont>
    <p:embeddedFont>
      <p:font typeface="DM Sans Bold"/>
      <p:regular r:id="rId75"/>
      <p:bold r:id="rId76"/>
    </p:embeddedFont>
    <p:embeddedFont>
      <p:font typeface="Open Sans" panose="020B0606030504020204" pitchFamily="34" charset="0"/>
      <p:regular r:id="rId77"/>
      <p:bold r:id="rId78"/>
      <p:italic r:id="rId79"/>
      <p:boldItalic r:id="rId80"/>
    </p:embeddedFont>
    <p:embeddedFont>
      <p:font typeface="Tahoma" panose="020B0604030504040204" pitchFamily="34" charset="0"/>
      <p:regular r:id="rId81"/>
      <p:bold r:id="rId8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6245A"/>
    <a:srgbClr val="FAB700"/>
    <a:srgbClr val="0E173B"/>
    <a:srgbClr val="545454"/>
    <a:srgbClr val="DEA400"/>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02"/>
    <p:restoredTop sz="88493"/>
  </p:normalViewPr>
  <p:slideViewPr>
    <p:cSldViewPr snapToGrid="0">
      <p:cViewPr varScale="1">
        <p:scale>
          <a:sx n="74" d="100"/>
          <a:sy n="74" d="100"/>
        </p:scale>
        <p:origin x="832" y="20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viewProps" Target="viewProps.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font" Target="fonts/font4.fntdata"/><Relationship Id="rId79" Type="http://schemas.openxmlformats.org/officeDocument/2006/relationships/font" Target="fonts/font9.fntdata"/><Relationship Id="rId5" Type="http://schemas.openxmlformats.org/officeDocument/2006/relationships/slideMaster" Target="slideMasters/slideMaster2.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font" Target="fonts/font7.fntdata"/><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font" Target="fonts/font2.fntdata"/><Relationship Id="rId80" Type="http://schemas.openxmlformats.org/officeDocument/2006/relationships/font" Target="fonts/font10.fntdata"/><Relationship Id="rId85"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notesMaster" Target="notesMasters/notesMaster1.xml"/><Relationship Id="rId75" Type="http://schemas.openxmlformats.org/officeDocument/2006/relationships/font" Target="fonts/font5.fntdata"/><Relationship Id="rId83"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font" Target="fonts/font3.fntdata"/><Relationship Id="rId78" Type="http://schemas.openxmlformats.org/officeDocument/2006/relationships/font" Target="fonts/font8.fntdata"/><Relationship Id="rId81" Type="http://schemas.openxmlformats.org/officeDocument/2006/relationships/font" Target="fonts/font11.fntdata"/><Relationship Id="rId86"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font" Target="fonts/font6.fntdata"/><Relationship Id="rId7" Type="http://schemas.openxmlformats.org/officeDocument/2006/relationships/slide" Target="slides/slide1.xml"/><Relationship Id="rId71" Type="http://schemas.openxmlformats.org/officeDocument/2006/relationships/font" Target="fonts/font1.fntdata"/><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61" Type="http://schemas.openxmlformats.org/officeDocument/2006/relationships/slide" Target="slides/slide55.xml"/><Relationship Id="rId82" Type="http://schemas.openxmlformats.org/officeDocument/2006/relationships/font" Target="fonts/font12.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2359C2-2C8E-4E6C-A0D7-EA31982294E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8A0B997-EA22-4D06-9243-88DBC488A8A6}">
      <dgm:prSet custT="1"/>
      <dgm:spPr/>
      <dgm:t>
        <a:bodyPr/>
        <a:lstStyle/>
        <a:p>
          <a:r>
            <a:rPr lang="en-GB" sz="2400" dirty="0">
              <a:latin typeface="Calibri" panose="020F0502020204030204" pitchFamily="34" charset="0"/>
              <a:cs typeface="Calibri" panose="020F0502020204030204" pitchFamily="34" charset="0"/>
            </a:rPr>
            <a:t>Afforestation Bioenergy with carbon capture</a:t>
          </a:r>
          <a:endParaRPr lang="en-US" sz="2400" dirty="0">
            <a:latin typeface="Calibri" panose="020F0502020204030204" pitchFamily="34" charset="0"/>
            <a:cs typeface="Calibri" panose="020F0502020204030204" pitchFamily="34" charset="0"/>
          </a:endParaRPr>
        </a:p>
      </dgm:t>
    </dgm:pt>
    <dgm:pt modelId="{3C41AFAF-0A5C-4E61-BAB2-BF054E558AA1}" type="parTrans" cxnId="{7EF7B60A-57DE-4587-9F1C-401AB9851FEC}">
      <dgm:prSet/>
      <dgm:spPr/>
      <dgm:t>
        <a:bodyPr/>
        <a:lstStyle/>
        <a:p>
          <a:endParaRPr lang="en-US"/>
        </a:p>
      </dgm:t>
    </dgm:pt>
    <dgm:pt modelId="{E4737F13-3C02-42A4-8F42-910450CA1D34}" type="sibTrans" cxnId="{7EF7B60A-57DE-4587-9F1C-401AB9851FEC}">
      <dgm:prSet/>
      <dgm:spPr/>
      <dgm:t>
        <a:bodyPr/>
        <a:lstStyle/>
        <a:p>
          <a:endParaRPr lang="en-US"/>
        </a:p>
      </dgm:t>
    </dgm:pt>
    <dgm:pt modelId="{CADC97B1-AA2D-4C0F-863A-35ADF50A64D9}">
      <dgm:prSet custT="1"/>
      <dgm:spPr/>
      <dgm:t>
        <a:bodyPr/>
        <a:lstStyle/>
        <a:p>
          <a:r>
            <a:rPr lang="en-GB" sz="2400">
              <a:latin typeface="Calibri" panose="020F0502020204030204" pitchFamily="34" charset="0"/>
              <a:cs typeface="Calibri" panose="020F0502020204030204" pitchFamily="34" charset="0"/>
            </a:rPr>
            <a:t>Biochar production and burial</a:t>
          </a:r>
          <a:endParaRPr lang="en-US" sz="2400">
            <a:latin typeface="Calibri" panose="020F0502020204030204" pitchFamily="34" charset="0"/>
            <a:cs typeface="Calibri" panose="020F0502020204030204" pitchFamily="34" charset="0"/>
          </a:endParaRPr>
        </a:p>
      </dgm:t>
    </dgm:pt>
    <dgm:pt modelId="{FDCE9270-499D-4D52-948E-479DC6613065}" type="parTrans" cxnId="{A74391F7-0947-468D-81EE-3C1D8CCF4C26}">
      <dgm:prSet/>
      <dgm:spPr/>
      <dgm:t>
        <a:bodyPr/>
        <a:lstStyle/>
        <a:p>
          <a:endParaRPr lang="en-US"/>
        </a:p>
      </dgm:t>
    </dgm:pt>
    <dgm:pt modelId="{E087335D-967F-4A97-BD4E-7FA3AA360A73}" type="sibTrans" cxnId="{A74391F7-0947-468D-81EE-3C1D8CCF4C26}">
      <dgm:prSet/>
      <dgm:spPr/>
      <dgm:t>
        <a:bodyPr/>
        <a:lstStyle/>
        <a:p>
          <a:endParaRPr lang="en-US"/>
        </a:p>
      </dgm:t>
    </dgm:pt>
    <dgm:pt modelId="{3FB5082D-2208-4228-BA17-C13217C05237}">
      <dgm:prSet custT="1"/>
      <dgm:spPr/>
      <dgm:t>
        <a:bodyPr/>
        <a:lstStyle/>
        <a:p>
          <a:r>
            <a:rPr lang="en-GB" sz="2400">
              <a:latin typeface="Calibri" panose="020F0502020204030204" pitchFamily="34" charset="0"/>
              <a:cs typeface="Calibri" panose="020F0502020204030204" pitchFamily="34" charset="0"/>
            </a:rPr>
            <a:t>Soil carbon enrichment</a:t>
          </a:r>
          <a:endParaRPr lang="en-US" sz="2400">
            <a:latin typeface="Calibri" panose="020F0502020204030204" pitchFamily="34" charset="0"/>
            <a:cs typeface="Calibri" panose="020F0502020204030204" pitchFamily="34" charset="0"/>
          </a:endParaRPr>
        </a:p>
      </dgm:t>
    </dgm:pt>
    <dgm:pt modelId="{746D224E-75DE-4E08-854A-FD89E8447AED}" type="parTrans" cxnId="{5BE77792-D413-4F5A-B58D-63EE3156EFB0}">
      <dgm:prSet/>
      <dgm:spPr/>
      <dgm:t>
        <a:bodyPr/>
        <a:lstStyle/>
        <a:p>
          <a:endParaRPr lang="en-US"/>
        </a:p>
      </dgm:t>
    </dgm:pt>
    <dgm:pt modelId="{7CEE8444-F4C4-4712-B79A-9538E7F258D9}" type="sibTrans" cxnId="{5BE77792-D413-4F5A-B58D-63EE3156EFB0}">
      <dgm:prSet/>
      <dgm:spPr/>
      <dgm:t>
        <a:bodyPr/>
        <a:lstStyle/>
        <a:p>
          <a:endParaRPr lang="en-US"/>
        </a:p>
      </dgm:t>
    </dgm:pt>
    <dgm:pt modelId="{B0FA9CC7-22A0-4332-84D5-27B1598C8FDB}">
      <dgm:prSet custT="1"/>
      <dgm:spPr/>
      <dgm:t>
        <a:bodyPr/>
        <a:lstStyle/>
        <a:p>
          <a:r>
            <a:rPr lang="en-GB" sz="2400">
              <a:latin typeface="Calibri" panose="020F0502020204030204" pitchFamily="34" charset="0"/>
              <a:cs typeface="Calibri" panose="020F0502020204030204" pitchFamily="34" charset="0"/>
            </a:rPr>
            <a:t>Ocean iron fertilisation (OIF)</a:t>
          </a:r>
          <a:endParaRPr lang="en-US" sz="2400">
            <a:latin typeface="Calibri" panose="020F0502020204030204" pitchFamily="34" charset="0"/>
            <a:cs typeface="Calibri" panose="020F0502020204030204" pitchFamily="34" charset="0"/>
          </a:endParaRPr>
        </a:p>
      </dgm:t>
    </dgm:pt>
    <dgm:pt modelId="{EB3F2326-41E3-43B2-8F16-05ED6A81CE56}" type="parTrans" cxnId="{39BFF88C-19F2-4515-910A-36F8D69BDD07}">
      <dgm:prSet/>
      <dgm:spPr/>
      <dgm:t>
        <a:bodyPr/>
        <a:lstStyle/>
        <a:p>
          <a:endParaRPr lang="en-US"/>
        </a:p>
      </dgm:t>
    </dgm:pt>
    <dgm:pt modelId="{650D0227-7619-4E3C-AE6E-CF2AA6930C6B}" type="sibTrans" cxnId="{39BFF88C-19F2-4515-910A-36F8D69BDD07}">
      <dgm:prSet/>
      <dgm:spPr/>
      <dgm:t>
        <a:bodyPr/>
        <a:lstStyle/>
        <a:p>
          <a:endParaRPr lang="en-US"/>
        </a:p>
      </dgm:t>
    </dgm:pt>
    <dgm:pt modelId="{61A15497-CA56-4178-A941-E86C27BC69A0}">
      <dgm:prSet custT="1"/>
      <dgm:spPr/>
      <dgm:t>
        <a:bodyPr/>
        <a:lstStyle/>
        <a:p>
          <a:r>
            <a:rPr lang="en-GB" sz="2400">
              <a:latin typeface="Calibri" panose="020F0502020204030204" pitchFamily="34" charset="0"/>
              <a:cs typeface="Calibri" panose="020F0502020204030204" pitchFamily="34" charset="0"/>
            </a:rPr>
            <a:t>Enhanced weathering and ocean alkalinisation</a:t>
          </a:r>
          <a:endParaRPr lang="en-US" sz="2400">
            <a:latin typeface="Calibri" panose="020F0502020204030204" pitchFamily="34" charset="0"/>
            <a:cs typeface="Calibri" panose="020F0502020204030204" pitchFamily="34" charset="0"/>
          </a:endParaRPr>
        </a:p>
      </dgm:t>
    </dgm:pt>
    <dgm:pt modelId="{BD831A7D-D294-4615-9341-36B006DE827F}" type="parTrans" cxnId="{421D306C-178F-42B3-9755-057FE5C1EED3}">
      <dgm:prSet/>
      <dgm:spPr/>
      <dgm:t>
        <a:bodyPr/>
        <a:lstStyle/>
        <a:p>
          <a:endParaRPr lang="en-US"/>
        </a:p>
      </dgm:t>
    </dgm:pt>
    <dgm:pt modelId="{902CE454-942A-4135-915F-4550C6ED50AA}" type="sibTrans" cxnId="{421D306C-178F-42B3-9755-057FE5C1EED3}">
      <dgm:prSet/>
      <dgm:spPr/>
      <dgm:t>
        <a:bodyPr/>
        <a:lstStyle/>
        <a:p>
          <a:endParaRPr lang="en-US"/>
        </a:p>
      </dgm:t>
    </dgm:pt>
    <dgm:pt modelId="{14ACF912-573C-434B-BB1A-45C1FE1E2E64}">
      <dgm:prSet custT="1"/>
      <dgm:spPr/>
      <dgm:t>
        <a:bodyPr/>
        <a:lstStyle/>
        <a:p>
          <a:r>
            <a:rPr lang="en-GB" sz="2400">
              <a:latin typeface="Calibri" panose="020F0502020204030204" pitchFamily="34" charset="0"/>
              <a:cs typeface="Calibri" panose="020F0502020204030204" pitchFamily="34" charset="0"/>
            </a:rPr>
            <a:t>Space mirrors</a:t>
          </a:r>
          <a:endParaRPr lang="en-US" sz="2400">
            <a:latin typeface="Calibri" panose="020F0502020204030204" pitchFamily="34" charset="0"/>
            <a:cs typeface="Calibri" panose="020F0502020204030204" pitchFamily="34" charset="0"/>
          </a:endParaRPr>
        </a:p>
      </dgm:t>
    </dgm:pt>
    <dgm:pt modelId="{6481129F-AA1E-4D1D-98D0-BFF8FB0375DD}" type="parTrans" cxnId="{33A94E38-974C-4C87-B94B-B0253A3C4BCE}">
      <dgm:prSet/>
      <dgm:spPr/>
      <dgm:t>
        <a:bodyPr/>
        <a:lstStyle/>
        <a:p>
          <a:endParaRPr lang="en-US"/>
        </a:p>
      </dgm:t>
    </dgm:pt>
    <dgm:pt modelId="{3AF45D6F-7B6A-4DE0-8576-0FA9C3F41AF9}" type="sibTrans" cxnId="{33A94E38-974C-4C87-B94B-B0253A3C4BCE}">
      <dgm:prSet/>
      <dgm:spPr/>
      <dgm:t>
        <a:bodyPr/>
        <a:lstStyle/>
        <a:p>
          <a:endParaRPr lang="en-US"/>
        </a:p>
      </dgm:t>
    </dgm:pt>
    <dgm:pt modelId="{DC40A65E-A227-49A0-B5BA-A599B418D7EC}">
      <dgm:prSet custT="1"/>
      <dgm:spPr/>
      <dgm:t>
        <a:bodyPr/>
        <a:lstStyle/>
        <a:p>
          <a:r>
            <a:rPr lang="en-GB" sz="2400">
              <a:latin typeface="Calibri" panose="020F0502020204030204" pitchFamily="34" charset="0"/>
              <a:cs typeface="Calibri" panose="020F0502020204030204" pitchFamily="34" charset="0"/>
            </a:rPr>
            <a:t>Stratospheric aerosol injection (SAI)</a:t>
          </a:r>
          <a:endParaRPr lang="en-US" sz="2400">
            <a:latin typeface="Calibri" panose="020F0502020204030204" pitchFamily="34" charset="0"/>
            <a:cs typeface="Calibri" panose="020F0502020204030204" pitchFamily="34" charset="0"/>
          </a:endParaRPr>
        </a:p>
      </dgm:t>
    </dgm:pt>
    <dgm:pt modelId="{E7C27E20-41C8-4D76-8461-A7E2D4B25204}" type="parTrans" cxnId="{CEC92701-A111-4E7E-9261-8F7A31EA5EC4}">
      <dgm:prSet/>
      <dgm:spPr/>
      <dgm:t>
        <a:bodyPr/>
        <a:lstStyle/>
        <a:p>
          <a:endParaRPr lang="en-US"/>
        </a:p>
      </dgm:t>
    </dgm:pt>
    <dgm:pt modelId="{76B787F0-7BAE-4BE2-A19D-6C720CE382C1}" type="sibTrans" cxnId="{CEC92701-A111-4E7E-9261-8F7A31EA5EC4}">
      <dgm:prSet/>
      <dgm:spPr/>
      <dgm:t>
        <a:bodyPr/>
        <a:lstStyle/>
        <a:p>
          <a:endParaRPr lang="en-US"/>
        </a:p>
      </dgm:t>
    </dgm:pt>
    <dgm:pt modelId="{6B2BE5D4-509F-4F69-9837-7BE88548C706}">
      <dgm:prSet custT="1"/>
      <dgm:spPr/>
      <dgm:t>
        <a:bodyPr/>
        <a:lstStyle/>
        <a:p>
          <a:r>
            <a:rPr lang="en-GB" sz="2400" dirty="0">
              <a:latin typeface="Calibri" panose="020F0502020204030204" pitchFamily="34" charset="0"/>
              <a:cs typeface="Calibri" panose="020F0502020204030204" pitchFamily="34" charset="0"/>
            </a:rPr>
            <a:t>Cirrus cloud thinning (CCT)</a:t>
          </a:r>
          <a:endParaRPr lang="en-US" sz="2400" dirty="0">
            <a:latin typeface="Calibri" panose="020F0502020204030204" pitchFamily="34" charset="0"/>
            <a:cs typeface="Calibri" panose="020F0502020204030204" pitchFamily="34" charset="0"/>
          </a:endParaRPr>
        </a:p>
      </dgm:t>
    </dgm:pt>
    <dgm:pt modelId="{D3E07075-AB05-4F35-92D0-AEFE8C97D6BF}" type="parTrans" cxnId="{436A8CAC-B8FC-4130-9BE8-1C864DAE4F00}">
      <dgm:prSet/>
      <dgm:spPr/>
      <dgm:t>
        <a:bodyPr/>
        <a:lstStyle/>
        <a:p>
          <a:endParaRPr lang="en-US"/>
        </a:p>
      </dgm:t>
    </dgm:pt>
    <dgm:pt modelId="{F2B2144B-F940-4E9A-BD8C-DB5D19984B02}" type="sibTrans" cxnId="{436A8CAC-B8FC-4130-9BE8-1C864DAE4F00}">
      <dgm:prSet/>
      <dgm:spPr/>
      <dgm:t>
        <a:bodyPr/>
        <a:lstStyle/>
        <a:p>
          <a:endParaRPr lang="en-US"/>
        </a:p>
      </dgm:t>
    </dgm:pt>
    <dgm:pt modelId="{D5108C88-4B78-43B4-A499-E5B8476CFBED}">
      <dgm:prSet custT="1"/>
      <dgm:spPr/>
      <dgm:t>
        <a:bodyPr/>
        <a:lstStyle/>
        <a:p>
          <a:r>
            <a:rPr lang="en-GB" sz="2400">
              <a:latin typeface="Calibri" panose="020F0502020204030204" pitchFamily="34" charset="0"/>
              <a:cs typeface="Calibri" panose="020F0502020204030204" pitchFamily="34" charset="0"/>
            </a:rPr>
            <a:t>Marine sky brightening (MSB)</a:t>
          </a:r>
          <a:endParaRPr lang="en-US" sz="2400">
            <a:latin typeface="Calibri" panose="020F0502020204030204" pitchFamily="34" charset="0"/>
            <a:cs typeface="Calibri" panose="020F0502020204030204" pitchFamily="34" charset="0"/>
          </a:endParaRPr>
        </a:p>
      </dgm:t>
    </dgm:pt>
    <dgm:pt modelId="{39D24531-0018-4B8D-B0A5-6E8DF6BE6123}" type="parTrans" cxnId="{C4E56F24-998B-4F64-BBCE-3F2ED49AE908}">
      <dgm:prSet/>
      <dgm:spPr/>
      <dgm:t>
        <a:bodyPr/>
        <a:lstStyle/>
        <a:p>
          <a:endParaRPr lang="en-US"/>
        </a:p>
      </dgm:t>
    </dgm:pt>
    <dgm:pt modelId="{555225F0-12C4-4DFC-A7F9-485082373C50}" type="sibTrans" cxnId="{C4E56F24-998B-4F64-BBCE-3F2ED49AE908}">
      <dgm:prSet/>
      <dgm:spPr/>
      <dgm:t>
        <a:bodyPr/>
        <a:lstStyle/>
        <a:p>
          <a:endParaRPr lang="en-US"/>
        </a:p>
      </dgm:t>
    </dgm:pt>
    <dgm:pt modelId="{10EA037C-FA74-4004-BCCF-05A473A7CBA9}">
      <dgm:prSet custT="1"/>
      <dgm:spPr/>
      <dgm:t>
        <a:bodyPr/>
        <a:lstStyle/>
        <a:p>
          <a:r>
            <a:rPr lang="en-GB" sz="2400">
              <a:latin typeface="Calibri" panose="020F0502020204030204" pitchFamily="34" charset="0"/>
              <a:cs typeface="Calibri" panose="020F0502020204030204" pitchFamily="34" charset="0"/>
            </a:rPr>
            <a:t>Surface-based brightening</a:t>
          </a:r>
          <a:endParaRPr lang="en-US" sz="2400">
            <a:latin typeface="Calibri" panose="020F0502020204030204" pitchFamily="34" charset="0"/>
            <a:cs typeface="Calibri" panose="020F0502020204030204" pitchFamily="34" charset="0"/>
          </a:endParaRPr>
        </a:p>
      </dgm:t>
    </dgm:pt>
    <dgm:pt modelId="{FE6598F0-0DEB-424B-80AA-337530DDD82A}" type="parTrans" cxnId="{31ABFF58-5B9D-400D-9C94-C96F3B733E01}">
      <dgm:prSet/>
      <dgm:spPr/>
      <dgm:t>
        <a:bodyPr/>
        <a:lstStyle/>
        <a:p>
          <a:endParaRPr lang="en-US"/>
        </a:p>
      </dgm:t>
    </dgm:pt>
    <dgm:pt modelId="{79636DFA-2680-4728-B2C3-ABD9B8208E6C}" type="sibTrans" cxnId="{31ABFF58-5B9D-400D-9C94-C96F3B733E01}">
      <dgm:prSet/>
      <dgm:spPr/>
      <dgm:t>
        <a:bodyPr/>
        <a:lstStyle/>
        <a:p>
          <a:endParaRPr lang="en-US"/>
        </a:p>
      </dgm:t>
    </dgm:pt>
    <dgm:pt modelId="{8EC489F2-FA17-4DD2-8737-93F0989C52DD}">
      <dgm:prSet custT="1"/>
      <dgm:spPr/>
      <dgm:t>
        <a:bodyPr/>
        <a:lstStyle/>
        <a:p>
          <a:r>
            <a:rPr lang="en-GB" sz="2400" dirty="0">
              <a:latin typeface="Calibri" panose="020F0502020204030204" pitchFamily="34" charset="0"/>
              <a:cs typeface="Calibri" panose="020F0502020204030204" pitchFamily="34" charset="0"/>
            </a:rPr>
            <a:t>Direct air CO</a:t>
          </a:r>
          <a:r>
            <a:rPr lang="en-GB" sz="2400" baseline="-25000" dirty="0">
              <a:latin typeface="Calibri" panose="020F0502020204030204" pitchFamily="34" charset="0"/>
              <a:cs typeface="Calibri" panose="020F0502020204030204" pitchFamily="34" charset="0"/>
            </a:rPr>
            <a:t>2</a:t>
          </a:r>
          <a:r>
            <a:rPr lang="en-GB" sz="2400" dirty="0">
              <a:latin typeface="Calibri" panose="020F0502020204030204" pitchFamily="34" charset="0"/>
              <a:cs typeface="Calibri" panose="020F0502020204030204" pitchFamily="34" charset="0"/>
            </a:rPr>
            <a:t> capture and storage (DACCS)</a:t>
          </a:r>
          <a:endParaRPr lang="en-US" sz="2400" dirty="0">
            <a:latin typeface="Calibri" panose="020F0502020204030204" pitchFamily="34" charset="0"/>
            <a:cs typeface="Calibri" panose="020F0502020204030204" pitchFamily="34" charset="0"/>
          </a:endParaRPr>
        </a:p>
      </dgm:t>
    </dgm:pt>
    <dgm:pt modelId="{60B44878-6139-48A4-B06A-57401FDFE6D0}" type="parTrans" cxnId="{ADD62C9D-8AA4-444B-B58D-36290AE78C39}">
      <dgm:prSet/>
      <dgm:spPr/>
      <dgm:t>
        <a:bodyPr/>
        <a:lstStyle/>
        <a:p>
          <a:endParaRPr lang="en-US"/>
        </a:p>
      </dgm:t>
    </dgm:pt>
    <dgm:pt modelId="{F6814E1A-A58E-456F-9090-80C96C07259C}" type="sibTrans" cxnId="{ADD62C9D-8AA4-444B-B58D-36290AE78C39}">
      <dgm:prSet/>
      <dgm:spPr/>
      <dgm:t>
        <a:bodyPr/>
        <a:lstStyle/>
        <a:p>
          <a:endParaRPr lang="en-US"/>
        </a:p>
      </dgm:t>
    </dgm:pt>
    <dgm:pt modelId="{0F54446D-05E4-AC41-BD73-89E5A142A083}" type="pres">
      <dgm:prSet presAssocID="{382359C2-2C8E-4E6C-A0D7-EA31982294E9}" presName="linear" presStyleCnt="0">
        <dgm:presLayoutVars>
          <dgm:animLvl val="lvl"/>
          <dgm:resizeHandles val="exact"/>
        </dgm:presLayoutVars>
      </dgm:prSet>
      <dgm:spPr/>
    </dgm:pt>
    <dgm:pt modelId="{28BC2CF5-4431-854D-9B99-4EE4BA7F36FB}" type="pres">
      <dgm:prSet presAssocID="{28A0B997-EA22-4D06-9243-88DBC488A8A6}" presName="parentText" presStyleLbl="node1" presStyleIdx="0" presStyleCnt="11">
        <dgm:presLayoutVars>
          <dgm:chMax val="0"/>
          <dgm:bulletEnabled val="1"/>
        </dgm:presLayoutVars>
      </dgm:prSet>
      <dgm:spPr/>
    </dgm:pt>
    <dgm:pt modelId="{C8873F53-0DFF-6D42-8B4B-5A7842C57EF5}" type="pres">
      <dgm:prSet presAssocID="{E4737F13-3C02-42A4-8F42-910450CA1D34}" presName="spacer" presStyleCnt="0"/>
      <dgm:spPr/>
    </dgm:pt>
    <dgm:pt modelId="{B177CE35-0A26-0641-A178-B56A1F71B06B}" type="pres">
      <dgm:prSet presAssocID="{CADC97B1-AA2D-4C0F-863A-35ADF50A64D9}" presName="parentText" presStyleLbl="node1" presStyleIdx="1" presStyleCnt="11">
        <dgm:presLayoutVars>
          <dgm:chMax val="0"/>
          <dgm:bulletEnabled val="1"/>
        </dgm:presLayoutVars>
      </dgm:prSet>
      <dgm:spPr/>
    </dgm:pt>
    <dgm:pt modelId="{85D9DE11-2A8B-C24A-BB63-27F905A13928}" type="pres">
      <dgm:prSet presAssocID="{E087335D-967F-4A97-BD4E-7FA3AA360A73}" presName="spacer" presStyleCnt="0"/>
      <dgm:spPr/>
    </dgm:pt>
    <dgm:pt modelId="{C8776740-D162-D142-93E1-D3BAD8C0F46C}" type="pres">
      <dgm:prSet presAssocID="{3FB5082D-2208-4228-BA17-C13217C05237}" presName="parentText" presStyleLbl="node1" presStyleIdx="2" presStyleCnt="11">
        <dgm:presLayoutVars>
          <dgm:chMax val="0"/>
          <dgm:bulletEnabled val="1"/>
        </dgm:presLayoutVars>
      </dgm:prSet>
      <dgm:spPr/>
    </dgm:pt>
    <dgm:pt modelId="{CDB80D1E-6678-0746-9169-20EBD853B931}" type="pres">
      <dgm:prSet presAssocID="{7CEE8444-F4C4-4712-B79A-9538E7F258D9}" presName="spacer" presStyleCnt="0"/>
      <dgm:spPr/>
    </dgm:pt>
    <dgm:pt modelId="{39F089F5-1E66-C043-8489-FE21C41EB8D3}" type="pres">
      <dgm:prSet presAssocID="{B0FA9CC7-22A0-4332-84D5-27B1598C8FDB}" presName="parentText" presStyleLbl="node1" presStyleIdx="3" presStyleCnt="11">
        <dgm:presLayoutVars>
          <dgm:chMax val="0"/>
          <dgm:bulletEnabled val="1"/>
        </dgm:presLayoutVars>
      </dgm:prSet>
      <dgm:spPr/>
    </dgm:pt>
    <dgm:pt modelId="{D7C62D56-76EF-A64F-8559-6230D126BC3A}" type="pres">
      <dgm:prSet presAssocID="{650D0227-7619-4E3C-AE6E-CF2AA6930C6B}" presName="spacer" presStyleCnt="0"/>
      <dgm:spPr/>
    </dgm:pt>
    <dgm:pt modelId="{D691D4BC-BBAD-E441-AE7B-7EA0C413FB24}" type="pres">
      <dgm:prSet presAssocID="{61A15497-CA56-4178-A941-E86C27BC69A0}" presName="parentText" presStyleLbl="node1" presStyleIdx="4" presStyleCnt="11">
        <dgm:presLayoutVars>
          <dgm:chMax val="0"/>
          <dgm:bulletEnabled val="1"/>
        </dgm:presLayoutVars>
      </dgm:prSet>
      <dgm:spPr/>
    </dgm:pt>
    <dgm:pt modelId="{F27CE331-4C81-3546-8D70-DBEAB102BC12}" type="pres">
      <dgm:prSet presAssocID="{902CE454-942A-4135-915F-4550C6ED50AA}" presName="spacer" presStyleCnt="0"/>
      <dgm:spPr/>
    </dgm:pt>
    <dgm:pt modelId="{05C1D751-0CFA-4A4A-82FB-CEBFAE2ED32E}" type="pres">
      <dgm:prSet presAssocID="{14ACF912-573C-434B-BB1A-45C1FE1E2E64}" presName="parentText" presStyleLbl="node1" presStyleIdx="5" presStyleCnt="11">
        <dgm:presLayoutVars>
          <dgm:chMax val="0"/>
          <dgm:bulletEnabled val="1"/>
        </dgm:presLayoutVars>
      </dgm:prSet>
      <dgm:spPr/>
    </dgm:pt>
    <dgm:pt modelId="{2984403B-919E-A146-9A55-333E84C86647}" type="pres">
      <dgm:prSet presAssocID="{3AF45D6F-7B6A-4DE0-8576-0FA9C3F41AF9}" presName="spacer" presStyleCnt="0"/>
      <dgm:spPr/>
    </dgm:pt>
    <dgm:pt modelId="{91E193AC-07C5-9242-867F-B235046CFD45}" type="pres">
      <dgm:prSet presAssocID="{DC40A65E-A227-49A0-B5BA-A599B418D7EC}" presName="parentText" presStyleLbl="node1" presStyleIdx="6" presStyleCnt="11">
        <dgm:presLayoutVars>
          <dgm:chMax val="0"/>
          <dgm:bulletEnabled val="1"/>
        </dgm:presLayoutVars>
      </dgm:prSet>
      <dgm:spPr/>
    </dgm:pt>
    <dgm:pt modelId="{0244AF61-E53D-0447-B95E-0741AAA4AB29}" type="pres">
      <dgm:prSet presAssocID="{76B787F0-7BAE-4BE2-A19D-6C720CE382C1}" presName="spacer" presStyleCnt="0"/>
      <dgm:spPr/>
    </dgm:pt>
    <dgm:pt modelId="{96EEEC37-5BC4-F348-A8B2-8F898E6FA1E1}" type="pres">
      <dgm:prSet presAssocID="{6B2BE5D4-509F-4F69-9837-7BE88548C706}" presName="parentText" presStyleLbl="node1" presStyleIdx="7" presStyleCnt="11">
        <dgm:presLayoutVars>
          <dgm:chMax val="0"/>
          <dgm:bulletEnabled val="1"/>
        </dgm:presLayoutVars>
      </dgm:prSet>
      <dgm:spPr/>
    </dgm:pt>
    <dgm:pt modelId="{BDAC1E64-614A-1E4F-A90C-EA0BD6131230}" type="pres">
      <dgm:prSet presAssocID="{F2B2144B-F940-4E9A-BD8C-DB5D19984B02}" presName="spacer" presStyleCnt="0"/>
      <dgm:spPr/>
    </dgm:pt>
    <dgm:pt modelId="{CAFC33B2-7FA5-5B48-8197-D6BA1EC7A44C}" type="pres">
      <dgm:prSet presAssocID="{D5108C88-4B78-43B4-A499-E5B8476CFBED}" presName="parentText" presStyleLbl="node1" presStyleIdx="8" presStyleCnt="11">
        <dgm:presLayoutVars>
          <dgm:chMax val="0"/>
          <dgm:bulletEnabled val="1"/>
        </dgm:presLayoutVars>
      </dgm:prSet>
      <dgm:spPr/>
    </dgm:pt>
    <dgm:pt modelId="{6E8DD522-F155-1A45-978B-9FE1B47778F8}" type="pres">
      <dgm:prSet presAssocID="{555225F0-12C4-4DFC-A7F9-485082373C50}" presName="spacer" presStyleCnt="0"/>
      <dgm:spPr/>
    </dgm:pt>
    <dgm:pt modelId="{E5E86166-C416-B84D-8767-63154A5E6A03}" type="pres">
      <dgm:prSet presAssocID="{10EA037C-FA74-4004-BCCF-05A473A7CBA9}" presName="parentText" presStyleLbl="node1" presStyleIdx="9" presStyleCnt="11">
        <dgm:presLayoutVars>
          <dgm:chMax val="0"/>
          <dgm:bulletEnabled val="1"/>
        </dgm:presLayoutVars>
      </dgm:prSet>
      <dgm:spPr/>
    </dgm:pt>
    <dgm:pt modelId="{A3577242-26B8-7945-8EAC-3A7ED076DB2A}" type="pres">
      <dgm:prSet presAssocID="{79636DFA-2680-4728-B2C3-ABD9B8208E6C}" presName="spacer" presStyleCnt="0"/>
      <dgm:spPr/>
    </dgm:pt>
    <dgm:pt modelId="{AD545E1F-AA3C-5B49-BEDC-1F0D3A401CE8}" type="pres">
      <dgm:prSet presAssocID="{8EC489F2-FA17-4DD2-8737-93F0989C52DD}" presName="parentText" presStyleLbl="node1" presStyleIdx="10" presStyleCnt="11">
        <dgm:presLayoutVars>
          <dgm:chMax val="0"/>
          <dgm:bulletEnabled val="1"/>
        </dgm:presLayoutVars>
      </dgm:prSet>
      <dgm:spPr/>
    </dgm:pt>
  </dgm:ptLst>
  <dgm:cxnLst>
    <dgm:cxn modelId="{CEC92701-A111-4E7E-9261-8F7A31EA5EC4}" srcId="{382359C2-2C8E-4E6C-A0D7-EA31982294E9}" destId="{DC40A65E-A227-49A0-B5BA-A599B418D7EC}" srcOrd="6" destOrd="0" parTransId="{E7C27E20-41C8-4D76-8461-A7E2D4B25204}" sibTransId="{76B787F0-7BAE-4BE2-A19D-6C720CE382C1}"/>
    <dgm:cxn modelId="{7EF7B60A-57DE-4587-9F1C-401AB9851FEC}" srcId="{382359C2-2C8E-4E6C-A0D7-EA31982294E9}" destId="{28A0B997-EA22-4D06-9243-88DBC488A8A6}" srcOrd="0" destOrd="0" parTransId="{3C41AFAF-0A5C-4E61-BAB2-BF054E558AA1}" sibTransId="{E4737F13-3C02-42A4-8F42-910450CA1D34}"/>
    <dgm:cxn modelId="{C4E56F24-998B-4F64-BBCE-3F2ED49AE908}" srcId="{382359C2-2C8E-4E6C-A0D7-EA31982294E9}" destId="{D5108C88-4B78-43B4-A499-E5B8476CFBED}" srcOrd="8" destOrd="0" parTransId="{39D24531-0018-4B8D-B0A5-6E8DF6BE6123}" sibTransId="{555225F0-12C4-4DFC-A7F9-485082373C50}"/>
    <dgm:cxn modelId="{6CA2F524-1707-E240-AECE-AF0CD4F6088F}" type="presOf" srcId="{8EC489F2-FA17-4DD2-8737-93F0989C52DD}" destId="{AD545E1F-AA3C-5B49-BEDC-1F0D3A401CE8}" srcOrd="0" destOrd="0" presId="urn:microsoft.com/office/officeart/2005/8/layout/vList2"/>
    <dgm:cxn modelId="{33A94E38-974C-4C87-B94B-B0253A3C4BCE}" srcId="{382359C2-2C8E-4E6C-A0D7-EA31982294E9}" destId="{14ACF912-573C-434B-BB1A-45C1FE1E2E64}" srcOrd="5" destOrd="0" parTransId="{6481129F-AA1E-4D1D-98D0-BFF8FB0375DD}" sibTransId="{3AF45D6F-7B6A-4DE0-8576-0FA9C3F41AF9}"/>
    <dgm:cxn modelId="{E4A01645-EE0F-0946-BF2B-8D5513F57323}" type="presOf" srcId="{10EA037C-FA74-4004-BCCF-05A473A7CBA9}" destId="{E5E86166-C416-B84D-8767-63154A5E6A03}" srcOrd="0" destOrd="0" presId="urn:microsoft.com/office/officeart/2005/8/layout/vList2"/>
    <dgm:cxn modelId="{31ABFF58-5B9D-400D-9C94-C96F3B733E01}" srcId="{382359C2-2C8E-4E6C-A0D7-EA31982294E9}" destId="{10EA037C-FA74-4004-BCCF-05A473A7CBA9}" srcOrd="9" destOrd="0" parTransId="{FE6598F0-0DEB-424B-80AA-337530DDD82A}" sibTransId="{79636DFA-2680-4728-B2C3-ABD9B8208E6C}"/>
    <dgm:cxn modelId="{421D306C-178F-42B3-9755-057FE5C1EED3}" srcId="{382359C2-2C8E-4E6C-A0D7-EA31982294E9}" destId="{61A15497-CA56-4178-A941-E86C27BC69A0}" srcOrd="4" destOrd="0" parTransId="{BD831A7D-D294-4615-9341-36B006DE827F}" sibTransId="{902CE454-942A-4135-915F-4550C6ED50AA}"/>
    <dgm:cxn modelId="{40910278-7C98-BA4A-A704-5176E7CD10E4}" type="presOf" srcId="{DC40A65E-A227-49A0-B5BA-A599B418D7EC}" destId="{91E193AC-07C5-9242-867F-B235046CFD45}" srcOrd="0" destOrd="0" presId="urn:microsoft.com/office/officeart/2005/8/layout/vList2"/>
    <dgm:cxn modelId="{9065A17A-E628-9447-98C1-3683C387B574}" type="presOf" srcId="{CADC97B1-AA2D-4C0F-863A-35ADF50A64D9}" destId="{B177CE35-0A26-0641-A178-B56A1F71B06B}" srcOrd="0" destOrd="0" presId="urn:microsoft.com/office/officeart/2005/8/layout/vList2"/>
    <dgm:cxn modelId="{F87AD787-F18A-9846-B365-333E8ECDD1D5}" type="presOf" srcId="{D5108C88-4B78-43B4-A499-E5B8476CFBED}" destId="{CAFC33B2-7FA5-5B48-8197-D6BA1EC7A44C}" srcOrd="0" destOrd="0" presId="urn:microsoft.com/office/officeart/2005/8/layout/vList2"/>
    <dgm:cxn modelId="{A75E448C-299A-614F-999A-1AF148CE6AE5}" type="presOf" srcId="{B0FA9CC7-22A0-4332-84D5-27B1598C8FDB}" destId="{39F089F5-1E66-C043-8489-FE21C41EB8D3}" srcOrd="0" destOrd="0" presId="urn:microsoft.com/office/officeart/2005/8/layout/vList2"/>
    <dgm:cxn modelId="{39BFF88C-19F2-4515-910A-36F8D69BDD07}" srcId="{382359C2-2C8E-4E6C-A0D7-EA31982294E9}" destId="{B0FA9CC7-22A0-4332-84D5-27B1598C8FDB}" srcOrd="3" destOrd="0" parTransId="{EB3F2326-41E3-43B2-8F16-05ED6A81CE56}" sibTransId="{650D0227-7619-4E3C-AE6E-CF2AA6930C6B}"/>
    <dgm:cxn modelId="{3DC84D8F-B48E-D143-B929-8AA43CA70681}" type="presOf" srcId="{382359C2-2C8E-4E6C-A0D7-EA31982294E9}" destId="{0F54446D-05E4-AC41-BD73-89E5A142A083}" srcOrd="0" destOrd="0" presId="urn:microsoft.com/office/officeart/2005/8/layout/vList2"/>
    <dgm:cxn modelId="{5BE77792-D413-4F5A-B58D-63EE3156EFB0}" srcId="{382359C2-2C8E-4E6C-A0D7-EA31982294E9}" destId="{3FB5082D-2208-4228-BA17-C13217C05237}" srcOrd="2" destOrd="0" parTransId="{746D224E-75DE-4E08-854A-FD89E8447AED}" sibTransId="{7CEE8444-F4C4-4712-B79A-9538E7F258D9}"/>
    <dgm:cxn modelId="{ADD62C9D-8AA4-444B-B58D-36290AE78C39}" srcId="{382359C2-2C8E-4E6C-A0D7-EA31982294E9}" destId="{8EC489F2-FA17-4DD2-8737-93F0989C52DD}" srcOrd="10" destOrd="0" parTransId="{60B44878-6139-48A4-B06A-57401FDFE6D0}" sibTransId="{F6814E1A-A58E-456F-9090-80C96C07259C}"/>
    <dgm:cxn modelId="{436A8CAC-B8FC-4130-9BE8-1C864DAE4F00}" srcId="{382359C2-2C8E-4E6C-A0D7-EA31982294E9}" destId="{6B2BE5D4-509F-4F69-9837-7BE88548C706}" srcOrd="7" destOrd="0" parTransId="{D3E07075-AB05-4F35-92D0-AEFE8C97D6BF}" sibTransId="{F2B2144B-F940-4E9A-BD8C-DB5D19984B02}"/>
    <dgm:cxn modelId="{1D5F56AE-867C-3549-9D18-5DCF36369B4C}" type="presOf" srcId="{61A15497-CA56-4178-A941-E86C27BC69A0}" destId="{D691D4BC-BBAD-E441-AE7B-7EA0C413FB24}" srcOrd="0" destOrd="0" presId="urn:microsoft.com/office/officeart/2005/8/layout/vList2"/>
    <dgm:cxn modelId="{F2FA21B5-FB7C-EB40-BCB7-0B2C2944CC42}" type="presOf" srcId="{6B2BE5D4-509F-4F69-9837-7BE88548C706}" destId="{96EEEC37-5BC4-F348-A8B2-8F898E6FA1E1}" srcOrd="0" destOrd="0" presId="urn:microsoft.com/office/officeart/2005/8/layout/vList2"/>
    <dgm:cxn modelId="{70517BC0-6F6C-9C4E-89ED-9E96951381D9}" type="presOf" srcId="{28A0B997-EA22-4D06-9243-88DBC488A8A6}" destId="{28BC2CF5-4431-854D-9B99-4EE4BA7F36FB}" srcOrd="0" destOrd="0" presId="urn:microsoft.com/office/officeart/2005/8/layout/vList2"/>
    <dgm:cxn modelId="{5D81EFDF-88DE-FB42-BE94-9FEB284D3253}" type="presOf" srcId="{14ACF912-573C-434B-BB1A-45C1FE1E2E64}" destId="{05C1D751-0CFA-4A4A-82FB-CEBFAE2ED32E}" srcOrd="0" destOrd="0" presId="urn:microsoft.com/office/officeart/2005/8/layout/vList2"/>
    <dgm:cxn modelId="{36D58EEE-3586-F34C-A3B4-34041D159EB4}" type="presOf" srcId="{3FB5082D-2208-4228-BA17-C13217C05237}" destId="{C8776740-D162-D142-93E1-D3BAD8C0F46C}" srcOrd="0" destOrd="0" presId="urn:microsoft.com/office/officeart/2005/8/layout/vList2"/>
    <dgm:cxn modelId="{A74391F7-0947-468D-81EE-3C1D8CCF4C26}" srcId="{382359C2-2C8E-4E6C-A0D7-EA31982294E9}" destId="{CADC97B1-AA2D-4C0F-863A-35ADF50A64D9}" srcOrd="1" destOrd="0" parTransId="{FDCE9270-499D-4D52-948E-479DC6613065}" sibTransId="{E087335D-967F-4A97-BD4E-7FA3AA360A73}"/>
    <dgm:cxn modelId="{5CC960CA-D9DC-CB4E-A346-2909A0F419A8}" type="presParOf" srcId="{0F54446D-05E4-AC41-BD73-89E5A142A083}" destId="{28BC2CF5-4431-854D-9B99-4EE4BA7F36FB}" srcOrd="0" destOrd="0" presId="urn:microsoft.com/office/officeart/2005/8/layout/vList2"/>
    <dgm:cxn modelId="{F25222D7-DFBD-8A4A-94FA-07B36A4B3B7F}" type="presParOf" srcId="{0F54446D-05E4-AC41-BD73-89E5A142A083}" destId="{C8873F53-0DFF-6D42-8B4B-5A7842C57EF5}" srcOrd="1" destOrd="0" presId="urn:microsoft.com/office/officeart/2005/8/layout/vList2"/>
    <dgm:cxn modelId="{8B1DDF68-DA77-3E4F-9276-20DE22720B57}" type="presParOf" srcId="{0F54446D-05E4-AC41-BD73-89E5A142A083}" destId="{B177CE35-0A26-0641-A178-B56A1F71B06B}" srcOrd="2" destOrd="0" presId="urn:microsoft.com/office/officeart/2005/8/layout/vList2"/>
    <dgm:cxn modelId="{A745ABBE-E2D1-FF48-B421-32131EF669D5}" type="presParOf" srcId="{0F54446D-05E4-AC41-BD73-89E5A142A083}" destId="{85D9DE11-2A8B-C24A-BB63-27F905A13928}" srcOrd="3" destOrd="0" presId="urn:microsoft.com/office/officeart/2005/8/layout/vList2"/>
    <dgm:cxn modelId="{191A36CC-9E80-B044-8921-CB14D72DCB75}" type="presParOf" srcId="{0F54446D-05E4-AC41-BD73-89E5A142A083}" destId="{C8776740-D162-D142-93E1-D3BAD8C0F46C}" srcOrd="4" destOrd="0" presId="urn:microsoft.com/office/officeart/2005/8/layout/vList2"/>
    <dgm:cxn modelId="{971E0522-6BBA-4546-9F85-65E57D590E58}" type="presParOf" srcId="{0F54446D-05E4-AC41-BD73-89E5A142A083}" destId="{CDB80D1E-6678-0746-9169-20EBD853B931}" srcOrd="5" destOrd="0" presId="urn:microsoft.com/office/officeart/2005/8/layout/vList2"/>
    <dgm:cxn modelId="{13A846C8-A304-AA4D-AE0E-ADC92E0F9AAF}" type="presParOf" srcId="{0F54446D-05E4-AC41-BD73-89E5A142A083}" destId="{39F089F5-1E66-C043-8489-FE21C41EB8D3}" srcOrd="6" destOrd="0" presId="urn:microsoft.com/office/officeart/2005/8/layout/vList2"/>
    <dgm:cxn modelId="{AB5254FC-2310-8343-99C5-CDC81B7949B9}" type="presParOf" srcId="{0F54446D-05E4-AC41-BD73-89E5A142A083}" destId="{D7C62D56-76EF-A64F-8559-6230D126BC3A}" srcOrd="7" destOrd="0" presId="urn:microsoft.com/office/officeart/2005/8/layout/vList2"/>
    <dgm:cxn modelId="{F6558C75-1C3F-5E40-8A92-BC2CAED05575}" type="presParOf" srcId="{0F54446D-05E4-AC41-BD73-89E5A142A083}" destId="{D691D4BC-BBAD-E441-AE7B-7EA0C413FB24}" srcOrd="8" destOrd="0" presId="urn:microsoft.com/office/officeart/2005/8/layout/vList2"/>
    <dgm:cxn modelId="{7C871AAC-843D-294B-9599-EBDA9C559D0D}" type="presParOf" srcId="{0F54446D-05E4-AC41-BD73-89E5A142A083}" destId="{F27CE331-4C81-3546-8D70-DBEAB102BC12}" srcOrd="9" destOrd="0" presId="urn:microsoft.com/office/officeart/2005/8/layout/vList2"/>
    <dgm:cxn modelId="{0DE06647-786E-5344-967D-53000B8F2430}" type="presParOf" srcId="{0F54446D-05E4-AC41-BD73-89E5A142A083}" destId="{05C1D751-0CFA-4A4A-82FB-CEBFAE2ED32E}" srcOrd="10" destOrd="0" presId="urn:microsoft.com/office/officeart/2005/8/layout/vList2"/>
    <dgm:cxn modelId="{C7A92C7B-7192-B54F-858E-2AD5A5869704}" type="presParOf" srcId="{0F54446D-05E4-AC41-BD73-89E5A142A083}" destId="{2984403B-919E-A146-9A55-333E84C86647}" srcOrd="11" destOrd="0" presId="urn:microsoft.com/office/officeart/2005/8/layout/vList2"/>
    <dgm:cxn modelId="{4C7AB3AE-8ACC-9441-A233-1804966F0322}" type="presParOf" srcId="{0F54446D-05E4-AC41-BD73-89E5A142A083}" destId="{91E193AC-07C5-9242-867F-B235046CFD45}" srcOrd="12" destOrd="0" presId="urn:microsoft.com/office/officeart/2005/8/layout/vList2"/>
    <dgm:cxn modelId="{5AECC492-987E-0E48-AFA1-498A5008944D}" type="presParOf" srcId="{0F54446D-05E4-AC41-BD73-89E5A142A083}" destId="{0244AF61-E53D-0447-B95E-0741AAA4AB29}" srcOrd="13" destOrd="0" presId="urn:microsoft.com/office/officeart/2005/8/layout/vList2"/>
    <dgm:cxn modelId="{9D56A2C0-EC92-AA4F-BAD0-914B8CD9616B}" type="presParOf" srcId="{0F54446D-05E4-AC41-BD73-89E5A142A083}" destId="{96EEEC37-5BC4-F348-A8B2-8F898E6FA1E1}" srcOrd="14" destOrd="0" presId="urn:microsoft.com/office/officeart/2005/8/layout/vList2"/>
    <dgm:cxn modelId="{F8ED4171-C89F-124D-BD4C-B3E2DD1A5D7B}" type="presParOf" srcId="{0F54446D-05E4-AC41-BD73-89E5A142A083}" destId="{BDAC1E64-614A-1E4F-A90C-EA0BD6131230}" srcOrd="15" destOrd="0" presId="urn:microsoft.com/office/officeart/2005/8/layout/vList2"/>
    <dgm:cxn modelId="{169937F2-6530-F647-9673-C39A9C0B8D91}" type="presParOf" srcId="{0F54446D-05E4-AC41-BD73-89E5A142A083}" destId="{CAFC33B2-7FA5-5B48-8197-D6BA1EC7A44C}" srcOrd="16" destOrd="0" presId="urn:microsoft.com/office/officeart/2005/8/layout/vList2"/>
    <dgm:cxn modelId="{EAB35B6E-BCBC-6248-B903-32F35596DF74}" type="presParOf" srcId="{0F54446D-05E4-AC41-BD73-89E5A142A083}" destId="{6E8DD522-F155-1A45-978B-9FE1B47778F8}" srcOrd="17" destOrd="0" presId="urn:microsoft.com/office/officeart/2005/8/layout/vList2"/>
    <dgm:cxn modelId="{5FABEFB5-B906-3542-8A0D-D64D6BDBCF88}" type="presParOf" srcId="{0F54446D-05E4-AC41-BD73-89E5A142A083}" destId="{E5E86166-C416-B84D-8767-63154A5E6A03}" srcOrd="18" destOrd="0" presId="urn:microsoft.com/office/officeart/2005/8/layout/vList2"/>
    <dgm:cxn modelId="{4CFCEA54-32A4-DF46-BE53-DF8222C16CCD}" type="presParOf" srcId="{0F54446D-05E4-AC41-BD73-89E5A142A083}" destId="{A3577242-26B8-7945-8EAC-3A7ED076DB2A}" srcOrd="19" destOrd="0" presId="urn:microsoft.com/office/officeart/2005/8/layout/vList2"/>
    <dgm:cxn modelId="{61DE79A1-2C73-3A4C-A576-C880AFBA235C}" type="presParOf" srcId="{0F54446D-05E4-AC41-BD73-89E5A142A083}" destId="{AD545E1F-AA3C-5B49-BEDC-1F0D3A401CE8}" srcOrd="20"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2359C2-2C8E-4E6C-A0D7-EA31982294E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8A0B997-EA22-4D06-9243-88DBC488A8A6}">
      <dgm:prSet custT="1"/>
      <dgm:spPr/>
      <dgm:t>
        <a:bodyPr/>
        <a:lstStyle/>
        <a:p>
          <a:r>
            <a:rPr lang="en-GB" sz="2400" dirty="0">
              <a:latin typeface="Calibri" panose="020F0502020204030204" pitchFamily="34" charset="0"/>
              <a:cs typeface="Calibri" panose="020F0502020204030204" pitchFamily="34" charset="0"/>
            </a:rPr>
            <a:t>Afforestation Bioenergy with carbon capture</a:t>
          </a:r>
          <a:endParaRPr lang="en-US" sz="2400" dirty="0">
            <a:latin typeface="Calibri" panose="020F0502020204030204" pitchFamily="34" charset="0"/>
            <a:cs typeface="Calibri" panose="020F0502020204030204" pitchFamily="34" charset="0"/>
          </a:endParaRPr>
        </a:p>
      </dgm:t>
    </dgm:pt>
    <dgm:pt modelId="{3C41AFAF-0A5C-4E61-BAB2-BF054E558AA1}" type="parTrans" cxnId="{7EF7B60A-57DE-4587-9F1C-401AB9851FEC}">
      <dgm:prSet/>
      <dgm:spPr/>
      <dgm:t>
        <a:bodyPr/>
        <a:lstStyle/>
        <a:p>
          <a:endParaRPr lang="en-US"/>
        </a:p>
      </dgm:t>
    </dgm:pt>
    <dgm:pt modelId="{E4737F13-3C02-42A4-8F42-910450CA1D34}" type="sibTrans" cxnId="{7EF7B60A-57DE-4587-9F1C-401AB9851FEC}">
      <dgm:prSet/>
      <dgm:spPr/>
      <dgm:t>
        <a:bodyPr/>
        <a:lstStyle/>
        <a:p>
          <a:endParaRPr lang="en-US"/>
        </a:p>
      </dgm:t>
    </dgm:pt>
    <dgm:pt modelId="{CADC97B1-AA2D-4C0F-863A-35ADF50A64D9}">
      <dgm:prSet custT="1"/>
      <dgm:spPr/>
      <dgm:t>
        <a:bodyPr/>
        <a:lstStyle/>
        <a:p>
          <a:r>
            <a:rPr lang="en-GB" sz="2400">
              <a:latin typeface="Calibri" panose="020F0502020204030204" pitchFamily="34" charset="0"/>
              <a:cs typeface="Calibri" panose="020F0502020204030204" pitchFamily="34" charset="0"/>
            </a:rPr>
            <a:t>Biochar production and burial</a:t>
          </a:r>
          <a:endParaRPr lang="en-US" sz="2400">
            <a:latin typeface="Calibri" panose="020F0502020204030204" pitchFamily="34" charset="0"/>
            <a:cs typeface="Calibri" panose="020F0502020204030204" pitchFamily="34" charset="0"/>
          </a:endParaRPr>
        </a:p>
      </dgm:t>
    </dgm:pt>
    <dgm:pt modelId="{FDCE9270-499D-4D52-948E-479DC6613065}" type="parTrans" cxnId="{A74391F7-0947-468D-81EE-3C1D8CCF4C26}">
      <dgm:prSet/>
      <dgm:spPr/>
      <dgm:t>
        <a:bodyPr/>
        <a:lstStyle/>
        <a:p>
          <a:endParaRPr lang="en-US"/>
        </a:p>
      </dgm:t>
    </dgm:pt>
    <dgm:pt modelId="{E087335D-967F-4A97-BD4E-7FA3AA360A73}" type="sibTrans" cxnId="{A74391F7-0947-468D-81EE-3C1D8CCF4C26}">
      <dgm:prSet/>
      <dgm:spPr/>
      <dgm:t>
        <a:bodyPr/>
        <a:lstStyle/>
        <a:p>
          <a:endParaRPr lang="en-US"/>
        </a:p>
      </dgm:t>
    </dgm:pt>
    <dgm:pt modelId="{3FB5082D-2208-4228-BA17-C13217C05237}">
      <dgm:prSet custT="1"/>
      <dgm:spPr/>
      <dgm:t>
        <a:bodyPr/>
        <a:lstStyle/>
        <a:p>
          <a:r>
            <a:rPr lang="en-GB" sz="2400">
              <a:latin typeface="Calibri" panose="020F0502020204030204" pitchFamily="34" charset="0"/>
              <a:cs typeface="Calibri" panose="020F0502020204030204" pitchFamily="34" charset="0"/>
            </a:rPr>
            <a:t>Soil carbon enrichment</a:t>
          </a:r>
          <a:endParaRPr lang="en-US" sz="2400">
            <a:latin typeface="Calibri" panose="020F0502020204030204" pitchFamily="34" charset="0"/>
            <a:cs typeface="Calibri" panose="020F0502020204030204" pitchFamily="34" charset="0"/>
          </a:endParaRPr>
        </a:p>
      </dgm:t>
    </dgm:pt>
    <dgm:pt modelId="{746D224E-75DE-4E08-854A-FD89E8447AED}" type="parTrans" cxnId="{5BE77792-D413-4F5A-B58D-63EE3156EFB0}">
      <dgm:prSet/>
      <dgm:spPr/>
      <dgm:t>
        <a:bodyPr/>
        <a:lstStyle/>
        <a:p>
          <a:endParaRPr lang="en-US"/>
        </a:p>
      </dgm:t>
    </dgm:pt>
    <dgm:pt modelId="{7CEE8444-F4C4-4712-B79A-9538E7F258D9}" type="sibTrans" cxnId="{5BE77792-D413-4F5A-B58D-63EE3156EFB0}">
      <dgm:prSet/>
      <dgm:spPr/>
      <dgm:t>
        <a:bodyPr/>
        <a:lstStyle/>
        <a:p>
          <a:endParaRPr lang="en-US"/>
        </a:p>
      </dgm:t>
    </dgm:pt>
    <dgm:pt modelId="{B0FA9CC7-22A0-4332-84D5-27B1598C8FDB}">
      <dgm:prSet custT="1"/>
      <dgm:spPr/>
      <dgm:t>
        <a:bodyPr/>
        <a:lstStyle/>
        <a:p>
          <a:r>
            <a:rPr lang="en-GB" sz="2400">
              <a:latin typeface="Calibri" panose="020F0502020204030204" pitchFamily="34" charset="0"/>
              <a:cs typeface="Calibri" panose="020F0502020204030204" pitchFamily="34" charset="0"/>
            </a:rPr>
            <a:t>Ocean iron fertilisation (OIF)</a:t>
          </a:r>
          <a:endParaRPr lang="en-US" sz="2400">
            <a:latin typeface="Calibri" panose="020F0502020204030204" pitchFamily="34" charset="0"/>
            <a:cs typeface="Calibri" panose="020F0502020204030204" pitchFamily="34" charset="0"/>
          </a:endParaRPr>
        </a:p>
      </dgm:t>
    </dgm:pt>
    <dgm:pt modelId="{EB3F2326-41E3-43B2-8F16-05ED6A81CE56}" type="parTrans" cxnId="{39BFF88C-19F2-4515-910A-36F8D69BDD07}">
      <dgm:prSet/>
      <dgm:spPr/>
      <dgm:t>
        <a:bodyPr/>
        <a:lstStyle/>
        <a:p>
          <a:endParaRPr lang="en-US"/>
        </a:p>
      </dgm:t>
    </dgm:pt>
    <dgm:pt modelId="{650D0227-7619-4E3C-AE6E-CF2AA6930C6B}" type="sibTrans" cxnId="{39BFF88C-19F2-4515-910A-36F8D69BDD07}">
      <dgm:prSet/>
      <dgm:spPr/>
      <dgm:t>
        <a:bodyPr/>
        <a:lstStyle/>
        <a:p>
          <a:endParaRPr lang="en-US"/>
        </a:p>
      </dgm:t>
    </dgm:pt>
    <dgm:pt modelId="{61A15497-CA56-4178-A941-E86C27BC69A0}">
      <dgm:prSet custT="1"/>
      <dgm:spPr/>
      <dgm:t>
        <a:bodyPr/>
        <a:lstStyle/>
        <a:p>
          <a:r>
            <a:rPr lang="en-GB" sz="2400">
              <a:latin typeface="Calibri" panose="020F0502020204030204" pitchFamily="34" charset="0"/>
              <a:cs typeface="Calibri" panose="020F0502020204030204" pitchFamily="34" charset="0"/>
            </a:rPr>
            <a:t>Enhanced weathering and ocean alkalinisation</a:t>
          </a:r>
          <a:endParaRPr lang="en-US" sz="2400">
            <a:latin typeface="Calibri" panose="020F0502020204030204" pitchFamily="34" charset="0"/>
            <a:cs typeface="Calibri" panose="020F0502020204030204" pitchFamily="34" charset="0"/>
          </a:endParaRPr>
        </a:p>
      </dgm:t>
    </dgm:pt>
    <dgm:pt modelId="{BD831A7D-D294-4615-9341-36B006DE827F}" type="parTrans" cxnId="{421D306C-178F-42B3-9755-057FE5C1EED3}">
      <dgm:prSet/>
      <dgm:spPr/>
      <dgm:t>
        <a:bodyPr/>
        <a:lstStyle/>
        <a:p>
          <a:endParaRPr lang="en-US"/>
        </a:p>
      </dgm:t>
    </dgm:pt>
    <dgm:pt modelId="{902CE454-942A-4135-915F-4550C6ED50AA}" type="sibTrans" cxnId="{421D306C-178F-42B3-9755-057FE5C1EED3}">
      <dgm:prSet/>
      <dgm:spPr/>
      <dgm:t>
        <a:bodyPr/>
        <a:lstStyle/>
        <a:p>
          <a:endParaRPr lang="en-US"/>
        </a:p>
      </dgm:t>
    </dgm:pt>
    <dgm:pt modelId="{14ACF912-573C-434B-BB1A-45C1FE1E2E64}">
      <dgm:prSet custT="1"/>
      <dgm:spPr/>
      <dgm:t>
        <a:bodyPr/>
        <a:lstStyle/>
        <a:p>
          <a:r>
            <a:rPr lang="en-GB" sz="2400">
              <a:latin typeface="Calibri" panose="020F0502020204030204" pitchFamily="34" charset="0"/>
              <a:cs typeface="Calibri" panose="020F0502020204030204" pitchFamily="34" charset="0"/>
            </a:rPr>
            <a:t>Space mirrors</a:t>
          </a:r>
          <a:endParaRPr lang="en-US" sz="2400">
            <a:latin typeface="Calibri" panose="020F0502020204030204" pitchFamily="34" charset="0"/>
            <a:cs typeface="Calibri" panose="020F0502020204030204" pitchFamily="34" charset="0"/>
          </a:endParaRPr>
        </a:p>
      </dgm:t>
    </dgm:pt>
    <dgm:pt modelId="{6481129F-AA1E-4D1D-98D0-BFF8FB0375DD}" type="parTrans" cxnId="{33A94E38-974C-4C87-B94B-B0253A3C4BCE}">
      <dgm:prSet/>
      <dgm:spPr/>
      <dgm:t>
        <a:bodyPr/>
        <a:lstStyle/>
        <a:p>
          <a:endParaRPr lang="en-US"/>
        </a:p>
      </dgm:t>
    </dgm:pt>
    <dgm:pt modelId="{3AF45D6F-7B6A-4DE0-8576-0FA9C3F41AF9}" type="sibTrans" cxnId="{33A94E38-974C-4C87-B94B-B0253A3C4BCE}">
      <dgm:prSet/>
      <dgm:spPr/>
      <dgm:t>
        <a:bodyPr/>
        <a:lstStyle/>
        <a:p>
          <a:endParaRPr lang="en-US"/>
        </a:p>
      </dgm:t>
    </dgm:pt>
    <dgm:pt modelId="{DC40A65E-A227-49A0-B5BA-A599B418D7EC}">
      <dgm:prSet custT="1"/>
      <dgm:spPr/>
      <dgm:t>
        <a:bodyPr/>
        <a:lstStyle/>
        <a:p>
          <a:r>
            <a:rPr lang="en-GB" sz="2400">
              <a:latin typeface="Calibri" panose="020F0502020204030204" pitchFamily="34" charset="0"/>
              <a:cs typeface="Calibri" panose="020F0502020204030204" pitchFamily="34" charset="0"/>
            </a:rPr>
            <a:t>Stratospheric aerosol injection (SAI)</a:t>
          </a:r>
          <a:endParaRPr lang="en-US" sz="2400">
            <a:latin typeface="Calibri" panose="020F0502020204030204" pitchFamily="34" charset="0"/>
            <a:cs typeface="Calibri" panose="020F0502020204030204" pitchFamily="34" charset="0"/>
          </a:endParaRPr>
        </a:p>
      </dgm:t>
    </dgm:pt>
    <dgm:pt modelId="{E7C27E20-41C8-4D76-8461-A7E2D4B25204}" type="parTrans" cxnId="{CEC92701-A111-4E7E-9261-8F7A31EA5EC4}">
      <dgm:prSet/>
      <dgm:spPr/>
      <dgm:t>
        <a:bodyPr/>
        <a:lstStyle/>
        <a:p>
          <a:endParaRPr lang="en-US"/>
        </a:p>
      </dgm:t>
    </dgm:pt>
    <dgm:pt modelId="{76B787F0-7BAE-4BE2-A19D-6C720CE382C1}" type="sibTrans" cxnId="{CEC92701-A111-4E7E-9261-8F7A31EA5EC4}">
      <dgm:prSet/>
      <dgm:spPr/>
      <dgm:t>
        <a:bodyPr/>
        <a:lstStyle/>
        <a:p>
          <a:endParaRPr lang="en-US"/>
        </a:p>
      </dgm:t>
    </dgm:pt>
    <dgm:pt modelId="{6B2BE5D4-509F-4F69-9837-7BE88548C706}">
      <dgm:prSet custT="1"/>
      <dgm:spPr/>
      <dgm:t>
        <a:bodyPr/>
        <a:lstStyle/>
        <a:p>
          <a:r>
            <a:rPr lang="en-GB" sz="2400" dirty="0">
              <a:latin typeface="Calibri" panose="020F0502020204030204" pitchFamily="34" charset="0"/>
              <a:cs typeface="Calibri" panose="020F0502020204030204" pitchFamily="34" charset="0"/>
            </a:rPr>
            <a:t>Cirrus cloud thinning (CCT)</a:t>
          </a:r>
          <a:endParaRPr lang="en-US" sz="2400" dirty="0">
            <a:latin typeface="Calibri" panose="020F0502020204030204" pitchFamily="34" charset="0"/>
            <a:cs typeface="Calibri" panose="020F0502020204030204" pitchFamily="34" charset="0"/>
          </a:endParaRPr>
        </a:p>
      </dgm:t>
    </dgm:pt>
    <dgm:pt modelId="{D3E07075-AB05-4F35-92D0-AEFE8C97D6BF}" type="parTrans" cxnId="{436A8CAC-B8FC-4130-9BE8-1C864DAE4F00}">
      <dgm:prSet/>
      <dgm:spPr/>
      <dgm:t>
        <a:bodyPr/>
        <a:lstStyle/>
        <a:p>
          <a:endParaRPr lang="en-US"/>
        </a:p>
      </dgm:t>
    </dgm:pt>
    <dgm:pt modelId="{F2B2144B-F940-4E9A-BD8C-DB5D19984B02}" type="sibTrans" cxnId="{436A8CAC-B8FC-4130-9BE8-1C864DAE4F00}">
      <dgm:prSet/>
      <dgm:spPr/>
      <dgm:t>
        <a:bodyPr/>
        <a:lstStyle/>
        <a:p>
          <a:endParaRPr lang="en-US"/>
        </a:p>
      </dgm:t>
    </dgm:pt>
    <dgm:pt modelId="{D5108C88-4B78-43B4-A499-E5B8476CFBED}">
      <dgm:prSet custT="1"/>
      <dgm:spPr/>
      <dgm:t>
        <a:bodyPr/>
        <a:lstStyle/>
        <a:p>
          <a:r>
            <a:rPr lang="en-GB" sz="2400">
              <a:latin typeface="Calibri" panose="020F0502020204030204" pitchFamily="34" charset="0"/>
              <a:cs typeface="Calibri" panose="020F0502020204030204" pitchFamily="34" charset="0"/>
            </a:rPr>
            <a:t>Marine sky brightening (MSB)</a:t>
          </a:r>
          <a:endParaRPr lang="en-US" sz="2400">
            <a:latin typeface="Calibri" panose="020F0502020204030204" pitchFamily="34" charset="0"/>
            <a:cs typeface="Calibri" panose="020F0502020204030204" pitchFamily="34" charset="0"/>
          </a:endParaRPr>
        </a:p>
      </dgm:t>
    </dgm:pt>
    <dgm:pt modelId="{39D24531-0018-4B8D-B0A5-6E8DF6BE6123}" type="parTrans" cxnId="{C4E56F24-998B-4F64-BBCE-3F2ED49AE908}">
      <dgm:prSet/>
      <dgm:spPr/>
      <dgm:t>
        <a:bodyPr/>
        <a:lstStyle/>
        <a:p>
          <a:endParaRPr lang="en-US"/>
        </a:p>
      </dgm:t>
    </dgm:pt>
    <dgm:pt modelId="{555225F0-12C4-4DFC-A7F9-485082373C50}" type="sibTrans" cxnId="{C4E56F24-998B-4F64-BBCE-3F2ED49AE908}">
      <dgm:prSet/>
      <dgm:spPr/>
      <dgm:t>
        <a:bodyPr/>
        <a:lstStyle/>
        <a:p>
          <a:endParaRPr lang="en-US"/>
        </a:p>
      </dgm:t>
    </dgm:pt>
    <dgm:pt modelId="{10EA037C-FA74-4004-BCCF-05A473A7CBA9}">
      <dgm:prSet custT="1"/>
      <dgm:spPr/>
      <dgm:t>
        <a:bodyPr/>
        <a:lstStyle/>
        <a:p>
          <a:r>
            <a:rPr lang="en-GB" sz="2400">
              <a:latin typeface="Calibri" panose="020F0502020204030204" pitchFamily="34" charset="0"/>
              <a:cs typeface="Calibri" panose="020F0502020204030204" pitchFamily="34" charset="0"/>
            </a:rPr>
            <a:t>Surface-based brightening</a:t>
          </a:r>
          <a:endParaRPr lang="en-US" sz="2400">
            <a:latin typeface="Calibri" panose="020F0502020204030204" pitchFamily="34" charset="0"/>
            <a:cs typeface="Calibri" panose="020F0502020204030204" pitchFamily="34" charset="0"/>
          </a:endParaRPr>
        </a:p>
      </dgm:t>
    </dgm:pt>
    <dgm:pt modelId="{FE6598F0-0DEB-424B-80AA-337530DDD82A}" type="parTrans" cxnId="{31ABFF58-5B9D-400D-9C94-C96F3B733E01}">
      <dgm:prSet/>
      <dgm:spPr/>
      <dgm:t>
        <a:bodyPr/>
        <a:lstStyle/>
        <a:p>
          <a:endParaRPr lang="en-US"/>
        </a:p>
      </dgm:t>
    </dgm:pt>
    <dgm:pt modelId="{79636DFA-2680-4728-B2C3-ABD9B8208E6C}" type="sibTrans" cxnId="{31ABFF58-5B9D-400D-9C94-C96F3B733E01}">
      <dgm:prSet/>
      <dgm:spPr/>
      <dgm:t>
        <a:bodyPr/>
        <a:lstStyle/>
        <a:p>
          <a:endParaRPr lang="en-US"/>
        </a:p>
      </dgm:t>
    </dgm:pt>
    <dgm:pt modelId="{8EC489F2-FA17-4DD2-8737-93F0989C52DD}">
      <dgm:prSet custT="1"/>
      <dgm:spPr/>
      <dgm:t>
        <a:bodyPr/>
        <a:lstStyle/>
        <a:p>
          <a:r>
            <a:rPr lang="en-GB" sz="2400" dirty="0">
              <a:latin typeface="Calibri" panose="020F0502020204030204" pitchFamily="34" charset="0"/>
              <a:cs typeface="Calibri" panose="020F0502020204030204" pitchFamily="34" charset="0"/>
            </a:rPr>
            <a:t>Direct air CO</a:t>
          </a:r>
          <a:r>
            <a:rPr lang="en-GB" sz="2400" baseline="-25000" dirty="0">
              <a:latin typeface="Calibri" panose="020F0502020204030204" pitchFamily="34" charset="0"/>
              <a:cs typeface="Calibri" panose="020F0502020204030204" pitchFamily="34" charset="0"/>
            </a:rPr>
            <a:t>2</a:t>
          </a:r>
          <a:r>
            <a:rPr lang="en-GB" sz="2400" dirty="0">
              <a:latin typeface="Calibri" panose="020F0502020204030204" pitchFamily="34" charset="0"/>
              <a:cs typeface="Calibri" panose="020F0502020204030204" pitchFamily="34" charset="0"/>
            </a:rPr>
            <a:t> capture and storage (DACCS)</a:t>
          </a:r>
          <a:endParaRPr lang="en-US" sz="2400" dirty="0">
            <a:latin typeface="Calibri" panose="020F0502020204030204" pitchFamily="34" charset="0"/>
            <a:cs typeface="Calibri" panose="020F0502020204030204" pitchFamily="34" charset="0"/>
          </a:endParaRPr>
        </a:p>
      </dgm:t>
    </dgm:pt>
    <dgm:pt modelId="{60B44878-6139-48A4-B06A-57401FDFE6D0}" type="parTrans" cxnId="{ADD62C9D-8AA4-444B-B58D-36290AE78C39}">
      <dgm:prSet/>
      <dgm:spPr/>
      <dgm:t>
        <a:bodyPr/>
        <a:lstStyle/>
        <a:p>
          <a:endParaRPr lang="en-US"/>
        </a:p>
      </dgm:t>
    </dgm:pt>
    <dgm:pt modelId="{F6814E1A-A58E-456F-9090-80C96C07259C}" type="sibTrans" cxnId="{ADD62C9D-8AA4-444B-B58D-36290AE78C39}">
      <dgm:prSet/>
      <dgm:spPr/>
      <dgm:t>
        <a:bodyPr/>
        <a:lstStyle/>
        <a:p>
          <a:endParaRPr lang="en-US"/>
        </a:p>
      </dgm:t>
    </dgm:pt>
    <dgm:pt modelId="{0F54446D-05E4-AC41-BD73-89E5A142A083}" type="pres">
      <dgm:prSet presAssocID="{382359C2-2C8E-4E6C-A0D7-EA31982294E9}" presName="linear" presStyleCnt="0">
        <dgm:presLayoutVars>
          <dgm:animLvl val="lvl"/>
          <dgm:resizeHandles val="exact"/>
        </dgm:presLayoutVars>
      </dgm:prSet>
      <dgm:spPr/>
    </dgm:pt>
    <dgm:pt modelId="{28BC2CF5-4431-854D-9B99-4EE4BA7F36FB}" type="pres">
      <dgm:prSet presAssocID="{28A0B997-EA22-4D06-9243-88DBC488A8A6}" presName="parentText" presStyleLbl="node1" presStyleIdx="0" presStyleCnt="11">
        <dgm:presLayoutVars>
          <dgm:chMax val="0"/>
          <dgm:bulletEnabled val="1"/>
        </dgm:presLayoutVars>
      </dgm:prSet>
      <dgm:spPr/>
    </dgm:pt>
    <dgm:pt modelId="{C8873F53-0DFF-6D42-8B4B-5A7842C57EF5}" type="pres">
      <dgm:prSet presAssocID="{E4737F13-3C02-42A4-8F42-910450CA1D34}" presName="spacer" presStyleCnt="0"/>
      <dgm:spPr/>
    </dgm:pt>
    <dgm:pt modelId="{B177CE35-0A26-0641-A178-B56A1F71B06B}" type="pres">
      <dgm:prSet presAssocID="{CADC97B1-AA2D-4C0F-863A-35ADF50A64D9}" presName="parentText" presStyleLbl="node1" presStyleIdx="1" presStyleCnt="11">
        <dgm:presLayoutVars>
          <dgm:chMax val="0"/>
          <dgm:bulletEnabled val="1"/>
        </dgm:presLayoutVars>
      </dgm:prSet>
      <dgm:spPr/>
    </dgm:pt>
    <dgm:pt modelId="{85D9DE11-2A8B-C24A-BB63-27F905A13928}" type="pres">
      <dgm:prSet presAssocID="{E087335D-967F-4A97-BD4E-7FA3AA360A73}" presName="spacer" presStyleCnt="0"/>
      <dgm:spPr/>
    </dgm:pt>
    <dgm:pt modelId="{C8776740-D162-D142-93E1-D3BAD8C0F46C}" type="pres">
      <dgm:prSet presAssocID="{3FB5082D-2208-4228-BA17-C13217C05237}" presName="parentText" presStyleLbl="node1" presStyleIdx="2" presStyleCnt="11">
        <dgm:presLayoutVars>
          <dgm:chMax val="0"/>
          <dgm:bulletEnabled val="1"/>
        </dgm:presLayoutVars>
      </dgm:prSet>
      <dgm:spPr/>
    </dgm:pt>
    <dgm:pt modelId="{CDB80D1E-6678-0746-9169-20EBD853B931}" type="pres">
      <dgm:prSet presAssocID="{7CEE8444-F4C4-4712-B79A-9538E7F258D9}" presName="spacer" presStyleCnt="0"/>
      <dgm:spPr/>
    </dgm:pt>
    <dgm:pt modelId="{39F089F5-1E66-C043-8489-FE21C41EB8D3}" type="pres">
      <dgm:prSet presAssocID="{B0FA9CC7-22A0-4332-84D5-27B1598C8FDB}" presName="parentText" presStyleLbl="node1" presStyleIdx="3" presStyleCnt="11">
        <dgm:presLayoutVars>
          <dgm:chMax val="0"/>
          <dgm:bulletEnabled val="1"/>
        </dgm:presLayoutVars>
      </dgm:prSet>
      <dgm:spPr/>
    </dgm:pt>
    <dgm:pt modelId="{D7C62D56-76EF-A64F-8559-6230D126BC3A}" type="pres">
      <dgm:prSet presAssocID="{650D0227-7619-4E3C-AE6E-CF2AA6930C6B}" presName="spacer" presStyleCnt="0"/>
      <dgm:spPr/>
    </dgm:pt>
    <dgm:pt modelId="{D691D4BC-BBAD-E441-AE7B-7EA0C413FB24}" type="pres">
      <dgm:prSet presAssocID="{61A15497-CA56-4178-A941-E86C27BC69A0}" presName="parentText" presStyleLbl="node1" presStyleIdx="4" presStyleCnt="11">
        <dgm:presLayoutVars>
          <dgm:chMax val="0"/>
          <dgm:bulletEnabled val="1"/>
        </dgm:presLayoutVars>
      </dgm:prSet>
      <dgm:spPr/>
    </dgm:pt>
    <dgm:pt modelId="{F27CE331-4C81-3546-8D70-DBEAB102BC12}" type="pres">
      <dgm:prSet presAssocID="{902CE454-942A-4135-915F-4550C6ED50AA}" presName="spacer" presStyleCnt="0"/>
      <dgm:spPr/>
    </dgm:pt>
    <dgm:pt modelId="{05C1D751-0CFA-4A4A-82FB-CEBFAE2ED32E}" type="pres">
      <dgm:prSet presAssocID="{14ACF912-573C-434B-BB1A-45C1FE1E2E64}" presName="parentText" presStyleLbl="node1" presStyleIdx="5" presStyleCnt="11">
        <dgm:presLayoutVars>
          <dgm:chMax val="0"/>
          <dgm:bulletEnabled val="1"/>
        </dgm:presLayoutVars>
      </dgm:prSet>
      <dgm:spPr/>
    </dgm:pt>
    <dgm:pt modelId="{2984403B-919E-A146-9A55-333E84C86647}" type="pres">
      <dgm:prSet presAssocID="{3AF45D6F-7B6A-4DE0-8576-0FA9C3F41AF9}" presName="spacer" presStyleCnt="0"/>
      <dgm:spPr/>
    </dgm:pt>
    <dgm:pt modelId="{91E193AC-07C5-9242-867F-B235046CFD45}" type="pres">
      <dgm:prSet presAssocID="{DC40A65E-A227-49A0-B5BA-A599B418D7EC}" presName="parentText" presStyleLbl="node1" presStyleIdx="6" presStyleCnt="11">
        <dgm:presLayoutVars>
          <dgm:chMax val="0"/>
          <dgm:bulletEnabled val="1"/>
        </dgm:presLayoutVars>
      </dgm:prSet>
      <dgm:spPr/>
    </dgm:pt>
    <dgm:pt modelId="{0244AF61-E53D-0447-B95E-0741AAA4AB29}" type="pres">
      <dgm:prSet presAssocID="{76B787F0-7BAE-4BE2-A19D-6C720CE382C1}" presName="spacer" presStyleCnt="0"/>
      <dgm:spPr/>
    </dgm:pt>
    <dgm:pt modelId="{96EEEC37-5BC4-F348-A8B2-8F898E6FA1E1}" type="pres">
      <dgm:prSet presAssocID="{6B2BE5D4-509F-4F69-9837-7BE88548C706}" presName="parentText" presStyleLbl="node1" presStyleIdx="7" presStyleCnt="11">
        <dgm:presLayoutVars>
          <dgm:chMax val="0"/>
          <dgm:bulletEnabled val="1"/>
        </dgm:presLayoutVars>
      </dgm:prSet>
      <dgm:spPr/>
    </dgm:pt>
    <dgm:pt modelId="{BDAC1E64-614A-1E4F-A90C-EA0BD6131230}" type="pres">
      <dgm:prSet presAssocID="{F2B2144B-F940-4E9A-BD8C-DB5D19984B02}" presName="spacer" presStyleCnt="0"/>
      <dgm:spPr/>
    </dgm:pt>
    <dgm:pt modelId="{CAFC33B2-7FA5-5B48-8197-D6BA1EC7A44C}" type="pres">
      <dgm:prSet presAssocID="{D5108C88-4B78-43B4-A499-E5B8476CFBED}" presName="parentText" presStyleLbl="node1" presStyleIdx="8" presStyleCnt="11">
        <dgm:presLayoutVars>
          <dgm:chMax val="0"/>
          <dgm:bulletEnabled val="1"/>
        </dgm:presLayoutVars>
      </dgm:prSet>
      <dgm:spPr/>
    </dgm:pt>
    <dgm:pt modelId="{6E8DD522-F155-1A45-978B-9FE1B47778F8}" type="pres">
      <dgm:prSet presAssocID="{555225F0-12C4-4DFC-A7F9-485082373C50}" presName="spacer" presStyleCnt="0"/>
      <dgm:spPr/>
    </dgm:pt>
    <dgm:pt modelId="{E5E86166-C416-B84D-8767-63154A5E6A03}" type="pres">
      <dgm:prSet presAssocID="{10EA037C-FA74-4004-BCCF-05A473A7CBA9}" presName="parentText" presStyleLbl="node1" presStyleIdx="9" presStyleCnt="11">
        <dgm:presLayoutVars>
          <dgm:chMax val="0"/>
          <dgm:bulletEnabled val="1"/>
        </dgm:presLayoutVars>
      </dgm:prSet>
      <dgm:spPr/>
    </dgm:pt>
    <dgm:pt modelId="{A3577242-26B8-7945-8EAC-3A7ED076DB2A}" type="pres">
      <dgm:prSet presAssocID="{79636DFA-2680-4728-B2C3-ABD9B8208E6C}" presName="spacer" presStyleCnt="0"/>
      <dgm:spPr/>
    </dgm:pt>
    <dgm:pt modelId="{AD545E1F-AA3C-5B49-BEDC-1F0D3A401CE8}" type="pres">
      <dgm:prSet presAssocID="{8EC489F2-FA17-4DD2-8737-93F0989C52DD}" presName="parentText" presStyleLbl="node1" presStyleIdx="10" presStyleCnt="11">
        <dgm:presLayoutVars>
          <dgm:chMax val="0"/>
          <dgm:bulletEnabled val="1"/>
        </dgm:presLayoutVars>
      </dgm:prSet>
      <dgm:spPr/>
    </dgm:pt>
  </dgm:ptLst>
  <dgm:cxnLst>
    <dgm:cxn modelId="{CEC92701-A111-4E7E-9261-8F7A31EA5EC4}" srcId="{382359C2-2C8E-4E6C-A0D7-EA31982294E9}" destId="{DC40A65E-A227-49A0-B5BA-A599B418D7EC}" srcOrd="6" destOrd="0" parTransId="{E7C27E20-41C8-4D76-8461-A7E2D4B25204}" sibTransId="{76B787F0-7BAE-4BE2-A19D-6C720CE382C1}"/>
    <dgm:cxn modelId="{7EF7B60A-57DE-4587-9F1C-401AB9851FEC}" srcId="{382359C2-2C8E-4E6C-A0D7-EA31982294E9}" destId="{28A0B997-EA22-4D06-9243-88DBC488A8A6}" srcOrd="0" destOrd="0" parTransId="{3C41AFAF-0A5C-4E61-BAB2-BF054E558AA1}" sibTransId="{E4737F13-3C02-42A4-8F42-910450CA1D34}"/>
    <dgm:cxn modelId="{C4E56F24-998B-4F64-BBCE-3F2ED49AE908}" srcId="{382359C2-2C8E-4E6C-A0D7-EA31982294E9}" destId="{D5108C88-4B78-43B4-A499-E5B8476CFBED}" srcOrd="8" destOrd="0" parTransId="{39D24531-0018-4B8D-B0A5-6E8DF6BE6123}" sibTransId="{555225F0-12C4-4DFC-A7F9-485082373C50}"/>
    <dgm:cxn modelId="{6CA2F524-1707-E240-AECE-AF0CD4F6088F}" type="presOf" srcId="{8EC489F2-FA17-4DD2-8737-93F0989C52DD}" destId="{AD545E1F-AA3C-5B49-BEDC-1F0D3A401CE8}" srcOrd="0" destOrd="0" presId="urn:microsoft.com/office/officeart/2005/8/layout/vList2"/>
    <dgm:cxn modelId="{33A94E38-974C-4C87-B94B-B0253A3C4BCE}" srcId="{382359C2-2C8E-4E6C-A0D7-EA31982294E9}" destId="{14ACF912-573C-434B-BB1A-45C1FE1E2E64}" srcOrd="5" destOrd="0" parTransId="{6481129F-AA1E-4D1D-98D0-BFF8FB0375DD}" sibTransId="{3AF45D6F-7B6A-4DE0-8576-0FA9C3F41AF9}"/>
    <dgm:cxn modelId="{E4A01645-EE0F-0946-BF2B-8D5513F57323}" type="presOf" srcId="{10EA037C-FA74-4004-BCCF-05A473A7CBA9}" destId="{E5E86166-C416-B84D-8767-63154A5E6A03}" srcOrd="0" destOrd="0" presId="urn:microsoft.com/office/officeart/2005/8/layout/vList2"/>
    <dgm:cxn modelId="{31ABFF58-5B9D-400D-9C94-C96F3B733E01}" srcId="{382359C2-2C8E-4E6C-A0D7-EA31982294E9}" destId="{10EA037C-FA74-4004-BCCF-05A473A7CBA9}" srcOrd="9" destOrd="0" parTransId="{FE6598F0-0DEB-424B-80AA-337530DDD82A}" sibTransId="{79636DFA-2680-4728-B2C3-ABD9B8208E6C}"/>
    <dgm:cxn modelId="{421D306C-178F-42B3-9755-057FE5C1EED3}" srcId="{382359C2-2C8E-4E6C-A0D7-EA31982294E9}" destId="{61A15497-CA56-4178-A941-E86C27BC69A0}" srcOrd="4" destOrd="0" parTransId="{BD831A7D-D294-4615-9341-36B006DE827F}" sibTransId="{902CE454-942A-4135-915F-4550C6ED50AA}"/>
    <dgm:cxn modelId="{40910278-7C98-BA4A-A704-5176E7CD10E4}" type="presOf" srcId="{DC40A65E-A227-49A0-B5BA-A599B418D7EC}" destId="{91E193AC-07C5-9242-867F-B235046CFD45}" srcOrd="0" destOrd="0" presId="urn:microsoft.com/office/officeart/2005/8/layout/vList2"/>
    <dgm:cxn modelId="{9065A17A-E628-9447-98C1-3683C387B574}" type="presOf" srcId="{CADC97B1-AA2D-4C0F-863A-35ADF50A64D9}" destId="{B177CE35-0A26-0641-A178-B56A1F71B06B}" srcOrd="0" destOrd="0" presId="urn:microsoft.com/office/officeart/2005/8/layout/vList2"/>
    <dgm:cxn modelId="{F87AD787-F18A-9846-B365-333E8ECDD1D5}" type="presOf" srcId="{D5108C88-4B78-43B4-A499-E5B8476CFBED}" destId="{CAFC33B2-7FA5-5B48-8197-D6BA1EC7A44C}" srcOrd="0" destOrd="0" presId="urn:microsoft.com/office/officeart/2005/8/layout/vList2"/>
    <dgm:cxn modelId="{A75E448C-299A-614F-999A-1AF148CE6AE5}" type="presOf" srcId="{B0FA9CC7-22A0-4332-84D5-27B1598C8FDB}" destId="{39F089F5-1E66-C043-8489-FE21C41EB8D3}" srcOrd="0" destOrd="0" presId="urn:microsoft.com/office/officeart/2005/8/layout/vList2"/>
    <dgm:cxn modelId="{39BFF88C-19F2-4515-910A-36F8D69BDD07}" srcId="{382359C2-2C8E-4E6C-A0D7-EA31982294E9}" destId="{B0FA9CC7-22A0-4332-84D5-27B1598C8FDB}" srcOrd="3" destOrd="0" parTransId="{EB3F2326-41E3-43B2-8F16-05ED6A81CE56}" sibTransId="{650D0227-7619-4E3C-AE6E-CF2AA6930C6B}"/>
    <dgm:cxn modelId="{3DC84D8F-B48E-D143-B929-8AA43CA70681}" type="presOf" srcId="{382359C2-2C8E-4E6C-A0D7-EA31982294E9}" destId="{0F54446D-05E4-AC41-BD73-89E5A142A083}" srcOrd="0" destOrd="0" presId="urn:microsoft.com/office/officeart/2005/8/layout/vList2"/>
    <dgm:cxn modelId="{5BE77792-D413-4F5A-B58D-63EE3156EFB0}" srcId="{382359C2-2C8E-4E6C-A0D7-EA31982294E9}" destId="{3FB5082D-2208-4228-BA17-C13217C05237}" srcOrd="2" destOrd="0" parTransId="{746D224E-75DE-4E08-854A-FD89E8447AED}" sibTransId="{7CEE8444-F4C4-4712-B79A-9538E7F258D9}"/>
    <dgm:cxn modelId="{ADD62C9D-8AA4-444B-B58D-36290AE78C39}" srcId="{382359C2-2C8E-4E6C-A0D7-EA31982294E9}" destId="{8EC489F2-FA17-4DD2-8737-93F0989C52DD}" srcOrd="10" destOrd="0" parTransId="{60B44878-6139-48A4-B06A-57401FDFE6D0}" sibTransId="{F6814E1A-A58E-456F-9090-80C96C07259C}"/>
    <dgm:cxn modelId="{436A8CAC-B8FC-4130-9BE8-1C864DAE4F00}" srcId="{382359C2-2C8E-4E6C-A0D7-EA31982294E9}" destId="{6B2BE5D4-509F-4F69-9837-7BE88548C706}" srcOrd="7" destOrd="0" parTransId="{D3E07075-AB05-4F35-92D0-AEFE8C97D6BF}" sibTransId="{F2B2144B-F940-4E9A-BD8C-DB5D19984B02}"/>
    <dgm:cxn modelId="{1D5F56AE-867C-3549-9D18-5DCF36369B4C}" type="presOf" srcId="{61A15497-CA56-4178-A941-E86C27BC69A0}" destId="{D691D4BC-BBAD-E441-AE7B-7EA0C413FB24}" srcOrd="0" destOrd="0" presId="urn:microsoft.com/office/officeart/2005/8/layout/vList2"/>
    <dgm:cxn modelId="{F2FA21B5-FB7C-EB40-BCB7-0B2C2944CC42}" type="presOf" srcId="{6B2BE5D4-509F-4F69-9837-7BE88548C706}" destId="{96EEEC37-5BC4-F348-A8B2-8F898E6FA1E1}" srcOrd="0" destOrd="0" presId="urn:microsoft.com/office/officeart/2005/8/layout/vList2"/>
    <dgm:cxn modelId="{70517BC0-6F6C-9C4E-89ED-9E96951381D9}" type="presOf" srcId="{28A0B997-EA22-4D06-9243-88DBC488A8A6}" destId="{28BC2CF5-4431-854D-9B99-4EE4BA7F36FB}" srcOrd="0" destOrd="0" presId="urn:microsoft.com/office/officeart/2005/8/layout/vList2"/>
    <dgm:cxn modelId="{5D81EFDF-88DE-FB42-BE94-9FEB284D3253}" type="presOf" srcId="{14ACF912-573C-434B-BB1A-45C1FE1E2E64}" destId="{05C1D751-0CFA-4A4A-82FB-CEBFAE2ED32E}" srcOrd="0" destOrd="0" presId="urn:microsoft.com/office/officeart/2005/8/layout/vList2"/>
    <dgm:cxn modelId="{36D58EEE-3586-F34C-A3B4-34041D159EB4}" type="presOf" srcId="{3FB5082D-2208-4228-BA17-C13217C05237}" destId="{C8776740-D162-D142-93E1-D3BAD8C0F46C}" srcOrd="0" destOrd="0" presId="urn:microsoft.com/office/officeart/2005/8/layout/vList2"/>
    <dgm:cxn modelId="{A74391F7-0947-468D-81EE-3C1D8CCF4C26}" srcId="{382359C2-2C8E-4E6C-A0D7-EA31982294E9}" destId="{CADC97B1-AA2D-4C0F-863A-35ADF50A64D9}" srcOrd="1" destOrd="0" parTransId="{FDCE9270-499D-4D52-948E-479DC6613065}" sibTransId="{E087335D-967F-4A97-BD4E-7FA3AA360A73}"/>
    <dgm:cxn modelId="{5CC960CA-D9DC-CB4E-A346-2909A0F419A8}" type="presParOf" srcId="{0F54446D-05E4-AC41-BD73-89E5A142A083}" destId="{28BC2CF5-4431-854D-9B99-4EE4BA7F36FB}" srcOrd="0" destOrd="0" presId="urn:microsoft.com/office/officeart/2005/8/layout/vList2"/>
    <dgm:cxn modelId="{F25222D7-DFBD-8A4A-94FA-07B36A4B3B7F}" type="presParOf" srcId="{0F54446D-05E4-AC41-BD73-89E5A142A083}" destId="{C8873F53-0DFF-6D42-8B4B-5A7842C57EF5}" srcOrd="1" destOrd="0" presId="urn:microsoft.com/office/officeart/2005/8/layout/vList2"/>
    <dgm:cxn modelId="{8B1DDF68-DA77-3E4F-9276-20DE22720B57}" type="presParOf" srcId="{0F54446D-05E4-AC41-BD73-89E5A142A083}" destId="{B177CE35-0A26-0641-A178-B56A1F71B06B}" srcOrd="2" destOrd="0" presId="urn:microsoft.com/office/officeart/2005/8/layout/vList2"/>
    <dgm:cxn modelId="{A745ABBE-E2D1-FF48-B421-32131EF669D5}" type="presParOf" srcId="{0F54446D-05E4-AC41-BD73-89E5A142A083}" destId="{85D9DE11-2A8B-C24A-BB63-27F905A13928}" srcOrd="3" destOrd="0" presId="urn:microsoft.com/office/officeart/2005/8/layout/vList2"/>
    <dgm:cxn modelId="{191A36CC-9E80-B044-8921-CB14D72DCB75}" type="presParOf" srcId="{0F54446D-05E4-AC41-BD73-89E5A142A083}" destId="{C8776740-D162-D142-93E1-D3BAD8C0F46C}" srcOrd="4" destOrd="0" presId="urn:microsoft.com/office/officeart/2005/8/layout/vList2"/>
    <dgm:cxn modelId="{971E0522-6BBA-4546-9F85-65E57D590E58}" type="presParOf" srcId="{0F54446D-05E4-AC41-BD73-89E5A142A083}" destId="{CDB80D1E-6678-0746-9169-20EBD853B931}" srcOrd="5" destOrd="0" presId="urn:microsoft.com/office/officeart/2005/8/layout/vList2"/>
    <dgm:cxn modelId="{13A846C8-A304-AA4D-AE0E-ADC92E0F9AAF}" type="presParOf" srcId="{0F54446D-05E4-AC41-BD73-89E5A142A083}" destId="{39F089F5-1E66-C043-8489-FE21C41EB8D3}" srcOrd="6" destOrd="0" presId="urn:microsoft.com/office/officeart/2005/8/layout/vList2"/>
    <dgm:cxn modelId="{AB5254FC-2310-8343-99C5-CDC81B7949B9}" type="presParOf" srcId="{0F54446D-05E4-AC41-BD73-89E5A142A083}" destId="{D7C62D56-76EF-A64F-8559-6230D126BC3A}" srcOrd="7" destOrd="0" presId="urn:microsoft.com/office/officeart/2005/8/layout/vList2"/>
    <dgm:cxn modelId="{F6558C75-1C3F-5E40-8A92-BC2CAED05575}" type="presParOf" srcId="{0F54446D-05E4-AC41-BD73-89E5A142A083}" destId="{D691D4BC-BBAD-E441-AE7B-7EA0C413FB24}" srcOrd="8" destOrd="0" presId="urn:microsoft.com/office/officeart/2005/8/layout/vList2"/>
    <dgm:cxn modelId="{7C871AAC-843D-294B-9599-EBDA9C559D0D}" type="presParOf" srcId="{0F54446D-05E4-AC41-BD73-89E5A142A083}" destId="{F27CE331-4C81-3546-8D70-DBEAB102BC12}" srcOrd="9" destOrd="0" presId="urn:microsoft.com/office/officeart/2005/8/layout/vList2"/>
    <dgm:cxn modelId="{0DE06647-786E-5344-967D-53000B8F2430}" type="presParOf" srcId="{0F54446D-05E4-AC41-BD73-89E5A142A083}" destId="{05C1D751-0CFA-4A4A-82FB-CEBFAE2ED32E}" srcOrd="10" destOrd="0" presId="urn:microsoft.com/office/officeart/2005/8/layout/vList2"/>
    <dgm:cxn modelId="{C7A92C7B-7192-B54F-858E-2AD5A5869704}" type="presParOf" srcId="{0F54446D-05E4-AC41-BD73-89E5A142A083}" destId="{2984403B-919E-A146-9A55-333E84C86647}" srcOrd="11" destOrd="0" presId="urn:microsoft.com/office/officeart/2005/8/layout/vList2"/>
    <dgm:cxn modelId="{4C7AB3AE-8ACC-9441-A233-1804966F0322}" type="presParOf" srcId="{0F54446D-05E4-AC41-BD73-89E5A142A083}" destId="{91E193AC-07C5-9242-867F-B235046CFD45}" srcOrd="12" destOrd="0" presId="urn:microsoft.com/office/officeart/2005/8/layout/vList2"/>
    <dgm:cxn modelId="{5AECC492-987E-0E48-AFA1-498A5008944D}" type="presParOf" srcId="{0F54446D-05E4-AC41-BD73-89E5A142A083}" destId="{0244AF61-E53D-0447-B95E-0741AAA4AB29}" srcOrd="13" destOrd="0" presId="urn:microsoft.com/office/officeart/2005/8/layout/vList2"/>
    <dgm:cxn modelId="{9D56A2C0-EC92-AA4F-BAD0-914B8CD9616B}" type="presParOf" srcId="{0F54446D-05E4-AC41-BD73-89E5A142A083}" destId="{96EEEC37-5BC4-F348-A8B2-8F898E6FA1E1}" srcOrd="14" destOrd="0" presId="urn:microsoft.com/office/officeart/2005/8/layout/vList2"/>
    <dgm:cxn modelId="{F8ED4171-C89F-124D-BD4C-B3E2DD1A5D7B}" type="presParOf" srcId="{0F54446D-05E4-AC41-BD73-89E5A142A083}" destId="{BDAC1E64-614A-1E4F-A90C-EA0BD6131230}" srcOrd="15" destOrd="0" presId="urn:microsoft.com/office/officeart/2005/8/layout/vList2"/>
    <dgm:cxn modelId="{169937F2-6530-F647-9673-C39A9C0B8D91}" type="presParOf" srcId="{0F54446D-05E4-AC41-BD73-89E5A142A083}" destId="{CAFC33B2-7FA5-5B48-8197-D6BA1EC7A44C}" srcOrd="16" destOrd="0" presId="urn:microsoft.com/office/officeart/2005/8/layout/vList2"/>
    <dgm:cxn modelId="{EAB35B6E-BCBC-6248-B903-32F35596DF74}" type="presParOf" srcId="{0F54446D-05E4-AC41-BD73-89E5A142A083}" destId="{6E8DD522-F155-1A45-978B-9FE1B47778F8}" srcOrd="17" destOrd="0" presId="urn:microsoft.com/office/officeart/2005/8/layout/vList2"/>
    <dgm:cxn modelId="{5FABEFB5-B906-3542-8A0D-D64D6BDBCF88}" type="presParOf" srcId="{0F54446D-05E4-AC41-BD73-89E5A142A083}" destId="{E5E86166-C416-B84D-8767-63154A5E6A03}" srcOrd="18" destOrd="0" presId="urn:microsoft.com/office/officeart/2005/8/layout/vList2"/>
    <dgm:cxn modelId="{4CFCEA54-32A4-DF46-BE53-DF8222C16CCD}" type="presParOf" srcId="{0F54446D-05E4-AC41-BD73-89E5A142A083}" destId="{A3577242-26B8-7945-8EAC-3A7ED076DB2A}" srcOrd="19" destOrd="0" presId="urn:microsoft.com/office/officeart/2005/8/layout/vList2"/>
    <dgm:cxn modelId="{61DE79A1-2C73-3A4C-A576-C880AFBA235C}" type="presParOf" srcId="{0F54446D-05E4-AC41-BD73-89E5A142A083}" destId="{AD545E1F-AA3C-5B49-BEDC-1F0D3A401CE8}" srcOrd="20"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BC2CF5-4431-854D-9B99-4EE4BA7F36FB}">
      <dsp:nvSpPr>
        <dsp:cNvPr id="0" name=""/>
        <dsp:cNvSpPr/>
      </dsp:nvSpPr>
      <dsp:spPr>
        <a:xfrm>
          <a:off x="0" y="518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latin typeface="Calibri" panose="020F0502020204030204" pitchFamily="34" charset="0"/>
              <a:cs typeface="Calibri" panose="020F0502020204030204" pitchFamily="34" charset="0"/>
            </a:rPr>
            <a:t>Afforestation Bioenergy with carbon capture</a:t>
          </a:r>
          <a:endParaRPr lang="en-US" sz="2400" kern="1200" dirty="0">
            <a:latin typeface="Calibri" panose="020F0502020204030204" pitchFamily="34" charset="0"/>
            <a:cs typeface="Calibri" panose="020F0502020204030204" pitchFamily="34" charset="0"/>
          </a:endParaRPr>
        </a:p>
      </dsp:txBody>
      <dsp:txXfrm>
        <a:off x="28100" y="33282"/>
        <a:ext cx="6727322" cy="519439"/>
      </dsp:txXfrm>
    </dsp:sp>
    <dsp:sp modelId="{B177CE35-0A26-0641-A178-B56A1F71B06B}">
      <dsp:nvSpPr>
        <dsp:cNvPr id="0" name=""/>
        <dsp:cNvSpPr/>
      </dsp:nvSpPr>
      <dsp:spPr>
        <a:xfrm>
          <a:off x="0" y="64994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Biochar production and burial</a:t>
          </a:r>
          <a:endParaRPr lang="en-US" sz="2400" kern="1200">
            <a:latin typeface="Calibri" panose="020F0502020204030204" pitchFamily="34" charset="0"/>
            <a:cs typeface="Calibri" panose="020F0502020204030204" pitchFamily="34" charset="0"/>
          </a:endParaRPr>
        </a:p>
      </dsp:txBody>
      <dsp:txXfrm>
        <a:off x="28100" y="678042"/>
        <a:ext cx="6727322" cy="519439"/>
      </dsp:txXfrm>
    </dsp:sp>
    <dsp:sp modelId="{C8776740-D162-D142-93E1-D3BAD8C0F46C}">
      <dsp:nvSpPr>
        <dsp:cNvPr id="0" name=""/>
        <dsp:cNvSpPr/>
      </dsp:nvSpPr>
      <dsp:spPr>
        <a:xfrm>
          <a:off x="0" y="129470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Soil carbon enrichment</a:t>
          </a:r>
          <a:endParaRPr lang="en-US" sz="2400" kern="1200">
            <a:latin typeface="Calibri" panose="020F0502020204030204" pitchFamily="34" charset="0"/>
            <a:cs typeface="Calibri" panose="020F0502020204030204" pitchFamily="34" charset="0"/>
          </a:endParaRPr>
        </a:p>
      </dsp:txBody>
      <dsp:txXfrm>
        <a:off x="28100" y="1322802"/>
        <a:ext cx="6727322" cy="519439"/>
      </dsp:txXfrm>
    </dsp:sp>
    <dsp:sp modelId="{39F089F5-1E66-C043-8489-FE21C41EB8D3}">
      <dsp:nvSpPr>
        <dsp:cNvPr id="0" name=""/>
        <dsp:cNvSpPr/>
      </dsp:nvSpPr>
      <dsp:spPr>
        <a:xfrm>
          <a:off x="0" y="193946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Ocean iron fertilisation (OIF)</a:t>
          </a:r>
          <a:endParaRPr lang="en-US" sz="2400" kern="1200">
            <a:latin typeface="Calibri" panose="020F0502020204030204" pitchFamily="34" charset="0"/>
            <a:cs typeface="Calibri" panose="020F0502020204030204" pitchFamily="34" charset="0"/>
          </a:endParaRPr>
        </a:p>
      </dsp:txBody>
      <dsp:txXfrm>
        <a:off x="28100" y="1967562"/>
        <a:ext cx="6727322" cy="519439"/>
      </dsp:txXfrm>
    </dsp:sp>
    <dsp:sp modelId="{D691D4BC-BBAD-E441-AE7B-7EA0C413FB24}">
      <dsp:nvSpPr>
        <dsp:cNvPr id="0" name=""/>
        <dsp:cNvSpPr/>
      </dsp:nvSpPr>
      <dsp:spPr>
        <a:xfrm>
          <a:off x="0" y="258422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Enhanced weathering and ocean alkalinisation</a:t>
          </a:r>
          <a:endParaRPr lang="en-US" sz="2400" kern="1200">
            <a:latin typeface="Calibri" panose="020F0502020204030204" pitchFamily="34" charset="0"/>
            <a:cs typeface="Calibri" panose="020F0502020204030204" pitchFamily="34" charset="0"/>
          </a:endParaRPr>
        </a:p>
      </dsp:txBody>
      <dsp:txXfrm>
        <a:off x="28100" y="2612322"/>
        <a:ext cx="6727322" cy="519439"/>
      </dsp:txXfrm>
    </dsp:sp>
    <dsp:sp modelId="{05C1D751-0CFA-4A4A-82FB-CEBFAE2ED32E}">
      <dsp:nvSpPr>
        <dsp:cNvPr id="0" name=""/>
        <dsp:cNvSpPr/>
      </dsp:nvSpPr>
      <dsp:spPr>
        <a:xfrm>
          <a:off x="0" y="322898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Space mirrors</a:t>
          </a:r>
          <a:endParaRPr lang="en-US" sz="2400" kern="1200">
            <a:latin typeface="Calibri" panose="020F0502020204030204" pitchFamily="34" charset="0"/>
            <a:cs typeface="Calibri" panose="020F0502020204030204" pitchFamily="34" charset="0"/>
          </a:endParaRPr>
        </a:p>
      </dsp:txBody>
      <dsp:txXfrm>
        <a:off x="28100" y="3257082"/>
        <a:ext cx="6727322" cy="519439"/>
      </dsp:txXfrm>
    </dsp:sp>
    <dsp:sp modelId="{91E193AC-07C5-9242-867F-B235046CFD45}">
      <dsp:nvSpPr>
        <dsp:cNvPr id="0" name=""/>
        <dsp:cNvSpPr/>
      </dsp:nvSpPr>
      <dsp:spPr>
        <a:xfrm>
          <a:off x="0" y="387374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Stratospheric aerosol injection (SAI)</a:t>
          </a:r>
          <a:endParaRPr lang="en-US" sz="2400" kern="1200">
            <a:latin typeface="Calibri" panose="020F0502020204030204" pitchFamily="34" charset="0"/>
            <a:cs typeface="Calibri" panose="020F0502020204030204" pitchFamily="34" charset="0"/>
          </a:endParaRPr>
        </a:p>
      </dsp:txBody>
      <dsp:txXfrm>
        <a:off x="28100" y="3901842"/>
        <a:ext cx="6727322" cy="519439"/>
      </dsp:txXfrm>
    </dsp:sp>
    <dsp:sp modelId="{96EEEC37-5BC4-F348-A8B2-8F898E6FA1E1}">
      <dsp:nvSpPr>
        <dsp:cNvPr id="0" name=""/>
        <dsp:cNvSpPr/>
      </dsp:nvSpPr>
      <dsp:spPr>
        <a:xfrm>
          <a:off x="0" y="451850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latin typeface="Calibri" panose="020F0502020204030204" pitchFamily="34" charset="0"/>
              <a:cs typeface="Calibri" panose="020F0502020204030204" pitchFamily="34" charset="0"/>
            </a:rPr>
            <a:t>Cirrus cloud thinning (CCT)</a:t>
          </a:r>
          <a:endParaRPr lang="en-US" sz="2400" kern="1200" dirty="0">
            <a:latin typeface="Calibri" panose="020F0502020204030204" pitchFamily="34" charset="0"/>
            <a:cs typeface="Calibri" panose="020F0502020204030204" pitchFamily="34" charset="0"/>
          </a:endParaRPr>
        </a:p>
      </dsp:txBody>
      <dsp:txXfrm>
        <a:off x="28100" y="4546602"/>
        <a:ext cx="6727322" cy="519439"/>
      </dsp:txXfrm>
    </dsp:sp>
    <dsp:sp modelId="{CAFC33B2-7FA5-5B48-8197-D6BA1EC7A44C}">
      <dsp:nvSpPr>
        <dsp:cNvPr id="0" name=""/>
        <dsp:cNvSpPr/>
      </dsp:nvSpPr>
      <dsp:spPr>
        <a:xfrm>
          <a:off x="0" y="516326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Marine sky brightening (MSB)</a:t>
          </a:r>
          <a:endParaRPr lang="en-US" sz="2400" kern="1200">
            <a:latin typeface="Calibri" panose="020F0502020204030204" pitchFamily="34" charset="0"/>
            <a:cs typeface="Calibri" panose="020F0502020204030204" pitchFamily="34" charset="0"/>
          </a:endParaRPr>
        </a:p>
      </dsp:txBody>
      <dsp:txXfrm>
        <a:off x="28100" y="5191362"/>
        <a:ext cx="6727322" cy="519439"/>
      </dsp:txXfrm>
    </dsp:sp>
    <dsp:sp modelId="{E5E86166-C416-B84D-8767-63154A5E6A03}">
      <dsp:nvSpPr>
        <dsp:cNvPr id="0" name=""/>
        <dsp:cNvSpPr/>
      </dsp:nvSpPr>
      <dsp:spPr>
        <a:xfrm>
          <a:off x="0" y="5808021"/>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Surface-based brightening</a:t>
          </a:r>
          <a:endParaRPr lang="en-US" sz="2400" kern="1200">
            <a:latin typeface="Calibri" panose="020F0502020204030204" pitchFamily="34" charset="0"/>
            <a:cs typeface="Calibri" panose="020F0502020204030204" pitchFamily="34" charset="0"/>
          </a:endParaRPr>
        </a:p>
      </dsp:txBody>
      <dsp:txXfrm>
        <a:off x="28100" y="5836121"/>
        <a:ext cx="6727322" cy="519439"/>
      </dsp:txXfrm>
    </dsp:sp>
    <dsp:sp modelId="{AD545E1F-AA3C-5B49-BEDC-1F0D3A401CE8}">
      <dsp:nvSpPr>
        <dsp:cNvPr id="0" name=""/>
        <dsp:cNvSpPr/>
      </dsp:nvSpPr>
      <dsp:spPr>
        <a:xfrm>
          <a:off x="0" y="6452781"/>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latin typeface="Calibri" panose="020F0502020204030204" pitchFamily="34" charset="0"/>
              <a:cs typeface="Calibri" panose="020F0502020204030204" pitchFamily="34" charset="0"/>
            </a:rPr>
            <a:t>Direct air CO</a:t>
          </a:r>
          <a:r>
            <a:rPr lang="en-GB" sz="2400" kern="1200" baseline="-25000" dirty="0">
              <a:latin typeface="Calibri" panose="020F0502020204030204" pitchFamily="34" charset="0"/>
              <a:cs typeface="Calibri" panose="020F0502020204030204" pitchFamily="34" charset="0"/>
            </a:rPr>
            <a:t>2</a:t>
          </a:r>
          <a:r>
            <a:rPr lang="en-GB" sz="2400" kern="1200" dirty="0">
              <a:latin typeface="Calibri" panose="020F0502020204030204" pitchFamily="34" charset="0"/>
              <a:cs typeface="Calibri" panose="020F0502020204030204" pitchFamily="34" charset="0"/>
            </a:rPr>
            <a:t> capture and storage (DACCS)</a:t>
          </a:r>
          <a:endParaRPr lang="en-US" sz="2400" kern="1200" dirty="0">
            <a:latin typeface="Calibri" panose="020F0502020204030204" pitchFamily="34" charset="0"/>
            <a:cs typeface="Calibri" panose="020F0502020204030204" pitchFamily="34" charset="0"/>
          </a:endParaRPr>
        </a:p>
      </dsp:txBody>
      <dsp:txXfrm>
        <a:off x="28100" y="6480881"/>
        <a:ext cx="6727322" cy="5194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BC2CF5-4431-854D-9B99-4EE4BA7F36FB}">
      <dsp:nvSpPr>
        <dsp:cNvPr id="0" name=""/>
        <dsp:cNvSpPr/>
      </dsp:nvSpPr>
      <dsp:spPr>
        <a:xfrm>
          <a:off x="0" y="518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latin typeface="Calibri" panose="020F0502020204030204" pitchFamily="34" charset="0"/>
              <a:cs typeface="Calibri" panose="020F0502020204030204" pitchFamily="34" charset="0"/>
            </a:rPr>
            <a:t>Afforestation Bioenergy with carbon capture</a:t>
          </a:r>
          <a:endParaRPr lang="en-US" sz="2400" kern="1200" dirty="0">
            <a:latin typeface="Calibri" panose="020F0502020204030204" pitchFamily="34" charset="0"/>
            <a:cs typeface="Calibri" panose="020F0502020204030204" pitchFamily="34" charset="0"/>
          </a:endParaRPr>
        </a:p>
      </dsp:txBody>
      <dsp:txXfrm>
        <a:off x="28100" y="33282"/>
        <a:ext cx="6727322" cy="519439"/>
      </dsp:txXfrm>
    </dsp:sp>
    <dsp:sp modelId="{B177CE35-0A26-0641-A178-B56A1F71B06B}">
      <dsp:nvSpPr>
        <dsp:cNvPr id="0" name=""/>
        <dsp:cNvSpPr/>
      </dsp:nvSpPr>
      <dsp:spPr>
        <a:xfrm>
          <a:off x="0" y="64994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Biochar production and burial</a:t>
          </a:r>
          <a:endParaRPr lang="en-US" sz="2400" kern="1200">
            <a:latin typeface="Calibri" panose="020F0502020204030204" pitchFamily="34" charset="0"/>
            <a:cs typeface="Calibri" panose="020F0502020204030204" pitchFamily="34" charset="0"/>
          </a:endParaRPr>
        </a:p>
      </dsp:txBody>
      <dsp:txXfrm>
        <a:off x="28100" y="678042"/>
        <a:ext cx="6727322" cy="519439"/>
      </dsp:txXfrm>
    </dsp:sp>
    <dsp:sp modelId="{C8776740-D162-D142-93E1-D3BAD8C0F46C}">
      <dsp:nvSpPr>
        <dsp:cNvPr id="0" name=""/>
        <dsp:cNvSpPr/>
      </dsp:nvSpPr>
      <dsp:spPr>
        <a:xfrm>
          <a:off x="0" y="129470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Soil carbon enrichment</a:t>
          </a:r>
          <a:endParaRPr lang="en-US" sz="2400" kern="1200">
            <a:latin typeface="Calibri" panose="020F0502020204030204" pitchFamily="34" charset="0"/>
            <a:cs typeface="Calibri" panose="020F0502020204030204" pitchFamily="34" charset="0"/>
          </a:endParaRPr>
        </a:p>
      </dsp:txBody>
      <dsp:txXfrm>
        <a:off x="28100" y="1322802"/>
        <a:ext cx="6727322" cy="519439"/>
      </dsp:txXfrm>
    </dsp:sp>
    <dsp:sp modelId="{39F089F5-1E66-C043-8489-FE21C41EB8D3}">
      <dsp:nvSpPr>
        <dsp:cNvPr id="0" name=""/>
        <dsp:cNvSpPr/>
      </dsp:nvSpPr>
      <dsp:spPr>
        <a:xfrm>
          <a:off x="0" y="193946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Ocean iron fertilisation (OIF)</a:t>
          </a:r>
          <a:endParaRPr lang="en-US" sz="2400" kern="1200">
            <a:latin typeface="Calibri" panose="020F0502020204030204" pitchFamily="34" charset="0"/>
            <a:cs typeface="Calibri" panose="020F0502020204030204" pitchFamily="34" charset="0"/>
          </a:endParaRPr>
        </a:p>
      </dsp:txBody>
      <dsp:txXfrm>
        <a:off x="28100" y="1967562"/>
        <a:ext cx="6727322" cy="519439"/>
      </dsp:txXfrm>
    </dsp:sp>
    <dsp:sp modelId="{D691D4BC-BBAD-E441-AE7B-7EA0C413FB24}">
      <dsp:nvSpPr>
        <dsp:cNvPr id="0" name=""/>
        <dsp:cNvSpPr/>
      </dsp:nvSpPr>
      <dsp:spPr>
        <a:xfrm>
          <a:off x="0" y="258422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Enhanced weathering and ocean alkalinisation</a:t>
          </a:r>
          <a:endParaRPr lang="en-US" sz="2400" kern="1200">
            <a:latin typeface="Calibri" panose="020F0502020204030204" pitchFamily="34" charset="0"/>
            <a:cs typeface="Calibri" panose="020F0502020204030204" pitchFamily="34" charset="0"/>
          </a:endParaRPr>
        </a:p>
      </dsp:txBody>
      <dsp:txXfrm>
        <a:off x="28100" y="2612322"/>
        <a:ext cx="6727322" cy="519439"/>
      </dsp:txXfrm>
    </dsp:sp>
    <dsp:sp modelId="{05C1D751-0CFA-4A4A-82FB-CEBFAE2ED32E}">
      <dsp:nvSpPr>
        <dsp:cNvPr id="0" name=""/>
        <dsp:cNvSpPr/>
      </dsp:nvSpPr>
      <dsp:spPr>
        <a:xfrm>
          <a:off x="0" y="322898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Space mirrors</a:t>
          </a:r>
          <a:endParaRPr lang="en-US" sz="2400" kern="1200">
            <a:latin typeface="Calibri" panose="020F0502020204030204" pitchFamily="34" charset="0"/>
            <a:cs typeface="Calibri" panose="020F0502020204030204" pitchFamily="34" charset="0"/>
          </a:endParaRPr>
        </a:p>
      </dsp:txBody>
      <dsp:txXfrm>
        <a:off x="28100" y="3257082"/>
        <a:ext cx="6727322" cy="519439"/>
      </dsp:txXfrm>
    </dsp:sp>
    <dsp:sp modelId="{91E193AC-07C5-9242-867F-B235046CFD45}">
      <dsp:nvSpPr>
        <dsp:cNvPr id="0" name=""/>
        <dsp:cNvSpPr/>
      </dsp:nvSpPr>
      <dsp:spPr>
        <a:xfrm>
          <a:off x="0" y="387374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Stratospheric aerosol injection (SAI)</a:t>
          </a:r>
          <a:endParaRPr lang="en-US" sz="2400" kern="1200">
            <a:latin typeface="Calibri" panose="020F0502020204030204" pitchFamily="34" charset="0"/>
            <a:cs typeface="Calibri" panose="020F0502020204030204" pitchFamily="34" charset="0"/>
          </a:endParaRPr>
        </a:p>
      </dsp:txBody>
      <dsp:txXfrm>
        <a:off x="28100" y="3901842"/>
        <a:ext cx="6727322" cy="519439"/>
      </dsp:txXfrm>
    </dsp:sp>
    <dsp:sp modelId="{96EEEC37-5BC4-F348-A8B2-8F898E6FA1E1}">
      <dsp:nvSpPr>
        <dsp:cNvPr id="0" name=""/>
        <dsp:cNvSpPr/>
      </dsp:nvSpPr>
      <dsp:spPr>
        <a:xfrm>
          <a:off x="0" y="451850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latin typeface="Calibri" panose="020F0502020204030204" pitchFamily="34" charset="0"/>
              <a:cs typeface="Calibri" panose="020F0502020204030204" pitchFamily="34" charset="0"/>
            </a:rPr>
            <a:t>Cirrus cloud thinning (CCT)</a:t>
          </a:r>
          <a:endParaRPr lang="en-US" sz="2400" kern="1200" dirty="0">
            <a:latin typeface="Calibri" panose="020F0502020204030204" pitchFamily="34" charset="0"/>
            <a:cs typeface="Calibri" panose="020F0502020204030204" pitchFamily="34" charset="0"/>
          </a:endParaRPr>
        </a:p>
      </dsp:txBody>
      <dsp:txXfrm>
        <a:off x="28100" y="4546602"/>
        <a:ext cx="6727322" cy="519439"/>
      </dsp:txXfrm>
    </dsp:sp>
    <dsp:sp modelId="{CAFC33B2-7FA5-5B48-8197-D6BA1EC7A44C}">
      <dsp:nvSpPr>
        <dsp:cNvPr id="0" name=""/>
        <dsp:cNvSpPr/>
      </dsp:nvSpPr>
      <dsp:spPr>
        <a:xfrm>
          <a:off x="0" y="5163262"/>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Marine sky brightening (MSB)</a:t>
          </a:r>
          <a:endParaRPr lang="en-US" sz="2400" kern="1200">
            <a:latin typeface="Calibri" panose="020F0502020204030204" pitchFamily="34" charset="0"/>
            <a:cs typeface="Calibri" panose="020F0502020204030204" pitchFamily="34" charset="0"/>
          </a:endParaRPr>
        </a:p>
      </dsp:txBody>
      <dsp:txXfrm>
        <a:off x="28100" y="5191362"/>
        <a:ext cx="6727322" cy="519439"/>
      </dsp:txXfrm>
    </dsp:sp>
    <dsp:sp modelId="{E5E86166-C416-B84D-8767-63154A5E6A03}">
      <dsp:nvSpPr>
        <dsp:cNvPr id="0" name=""/>
        <dsp:cNvSpPr/>
      </dsp:nvSpPr>
      <dsp:spPr>
        <a:xfrm>
          <a:off x="0" y="5808021"/>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latin typeface="Calibri" panose="020F0502020204030204" pitchFamily="34" charset="0"/>
              <a:cs typeface="Calibri" panose="020F0502020204030204" pitchFamily="34" charset="0"/>
            </a:rPr>
            <a:t>Surface-based brightening</a:t>
          </a:r>
          <a:endParaRPr lang="en-US" sz="2400" kern="1200">
            <a:latin typeface="Calibri" panose="020F0502020204030204" pitchFamily="34" charset="0"/>
            <a:cs typeface="Calibri" panose="020F0502020204030204" pitchFamily="34" charset="0"/>
          </a:endParaRPr>
        </a:p>
      </dsp:txBody>
      <dsp:txXfrm>
        <a:off x="28100" y="5836121"/>
        <a:ext cx="6727322" cy="519439"/>
      </dsp:txXfrm>
    </dsp:sp>
    <dsp:sp modelId="{AD545E1F-AA3C-5B49-BEDC-1F0D3A401CE8}">
      <dsp:nvSpPr>
        <dsp:cNvPr id="0" name=""/>
        <dsp:cNvSpPr/>
      </dsp:nvSpPr>
      <dsp:spPr>
        <a:xfrm>
          <a:off x="0" y="6452781"/>
          <a:ext cx="6783522"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latin typeface="Calibri" panose="020F0502020204030204" pitchFamily="34" charset="0"/>
              <a:cs typeface="Calibri" panose="020F0502020204030204" pitchFamily="34" charset="0"/>
            </a:rPr>
            <a:t>Direct air CO</a:t>
          </a:r>
          <a:r>
            <a:rPr lang="en-GB" sz="2400" kern="1200" baseline="-25000" dirty="0">
              <a:latin typeface="Calibri" panose="020F0502020204030204" pitchFamily="34" charset="0"/>
              <a:cs typeface="Calibri" panose="020F0502020204030204" pitchFamily="34" charset="0"/>
            </a:rPr>
            <a:t>2</a:t>
          </a:r>
          <a:r>
            <a:rPr lang="en-GB" sz="2400" kern="1200" dirty="0">
              <a:latin typeface="Calibri" panose="020F0502020204030204" pitchFamily="34" charset="0"/>
              <a:cs typeface="Calibri" panose="020F0502020204030204" pitchFamily="34" charset="0"/>
            </a:rPr>
            <a:t> capture and storage (DACCS)</a:t>
          </a:r>
          <a:endParaRPr lang="en-US" sz="2400" kern="1200" dirty="0">
            <a:latin typeface="Calibri" panose="020F0502020204030204" pitchFamily="34" charset="0"/>
            <a:cs typeface="Calibri" panose="020F0502020204030204" pitchFamily="34" charset="0"/>
          </a:endParaRPr>
        </a:p>
      </dsp:txBody>
      <dsp:txXfrm>
        <a:off x="28100" y="6480881"/>
        <a:ext cx="6727322" cy="51943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DM Sans" pitchFamily="2"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DM Sans" pitchFamily="2" charset="0"/>
              </a:defRPr>
            </a:lvl1pPr>
          </a:lstStyle>
          <a:p>
            <a:fld id="{62D80C2D-EE18-43D6-B2C1-C03B0D42E456}" type="datetimeFigureOut">
              <a:rPr lang="en-GB" smtClean="0"/>
              <a:pPr/>
              <a:t>22/04/2026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DM Sans" pitchFamily="2"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DM Sans" pitchFamily="2" charset="0"/>
              </a:defRPr>
            </a:lvl1pPr>
          </a:lstStyle>
          <a:p>
            <a:fld id="{C6B3559C-4BE5-4262-A2E7-0EADDD5F845B}" type="slidenum">
              <a:rPr lang="en-GB" smtClean="0"/>
              <a:pPr/>
              <a:t>‹#›</a:t>
            </a:fld>
            <a:endParaRPr lang="en-GB"/>
          </a:p>
        </p:txBody>
      </p:sp>
    </p:spTree>
    <p:extLst>
      <p:ext uri="{BB962C8B-B14F-4D97-AF65-F5344CB8AC3E}">
        <p14:creationId xmlns:p14="http://schemas.microsoft.com/office/powerpoint/2010/main" val="2063940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DM Sans" pitchFamily="2" charset="0"/>
        <a:ea typeface="+mn-ea"/>
        <a:cs typeface="+mn-cs"/>
      </a:defRPr>
    </a:lvl1pPr>
    <a:lvl2pPr marL="457200" algn="l" defTabSz="914400" rtl="0" eaLnBrk="1" latinLnBrk="0" hangingPunct="1">
      <a:defRPr sz="1200" kern="1200">
        <a:solidFill>
          <a:schemeClr val="tx1"/>
        </a:solidFill>
        <a:latin typeface="DM Sans" pitchFamily="2" charset="0"/>
        <a:ea typeface="+mn-ea"/>
        <a:cs typeface="+mn-cs"/>
      </a:defRPr>
    </a:lvl2pPr>
    <a:lvl3pPr marL="914400" algn="l" defTabSz="914400" rtl="0" eaLnBrk="1" latinLnBrk="0" hangingPunct="1">
      <a:defRPr sz="1200" kern="1200">
        <a:solidFill>
          <a:schemeClr val="tx1"/>
        </a:solidFill>
        <a:latin typeface="DM Sans" pitchFamily="2" charset="0"/>
        <a:ea typeface="+mn-ea"/>
        <a:cs typeface="+mn-cs"/>
      </a:defRPr>
    </a:lvl3pPr>
    <a:lvl4pPr marL="1371600" algn="l" defTabSz="914400" rtl="0" eaLnBrk="1" latinLnBrk="0" hangingPunct="1">
      <a:defRPr sz="1200" kern="1200">
        <a:solidFill>
          <a:schemeClr val="tx1"/>
        </a:solidFill>
        <a:latin typeface="DM Sans" pitchFamily="2" charset="0"/>
        <a:ea typeface="+mn-ea"/>
        <a:cs typeface="+mn-cs"/>
      </a:defRPr>
    </a:lvl4pPr>
    <a:lvl5pPr marL="1828800" algn="l" defTabSz="914400" rtl="0" eaLnBrk="1" latinLnBrk="0" hangingPunct="1">
      <a:defRPr sz="1200" kern="1200">
        <a:solidFill>
          <a:schemeClr val="tx1"/>
        </a:solidFill>
        <a:latin typeface="DM Sans"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DM Sans" pitchFamily="2" charset="0"/>
            </a:endParaRPr>
          </a:p>
        </p:txBody>
      </p:sp>
      <p:sp>
        <p:nvSpPr>
          <p:cNvPr id="4" name="Slide Number Placeholder 3"/>
          <p:cNvSpPr>
            <a:spLocks noGrp="1"/>
          </p:cNvSpPr>
          <p:nvPr>
            <p:ph type="sldNum" sz="quarter" idx="5"/>
          </p:nvPr>
        </p:nvSpPr>
        <p:spPr/>
        <p:txBody>
          <a:bodyPr/>
          <a:lstStyle/>
          <a:p>
            <a:fld id="{C6B3559C-4BE5-4262-A2E7-0EADDD5F845B}" type="slidenum">
              <a:rPr lang="en-GB" smtClean="0"/>
              <a:t>1</a:t>
            </a:fld>
            <a:endParaRPr lang="en-GB"/>
          </a:p>
        </p:txBody>
      </p:sp>
    </p:spTree>
    <p:extLst>
      <p:ext uri="{BB962C8B-B14F-4D97-AF65-F5344CB8AC3E}">
        <p14:creationId xmlns:p14="http://schemas.microsoft.com/office/powerpoint/2010/main" val="3533320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4231491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F6BD3B0F-0611-95B6-4662-18418EBCA14F}"/>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70BC343B-2E55-040C-F068-498DFB0283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CBA2E49B-EF06-C991-EEDC-1905AC4CD5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9B20F9-B0C9-4C43-AA44-6686FCE3390A}" type="slidenum">
              <a:rPr kumimoji="0" lang="en-GB"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6B3559C-4BE5-4262-A2E7-0EADDD5F845B}" type="slidenum">
              <a:rPr lang="en-GB" smtClean="0"/>
              <a:t>6</a:t>
            </a:fld>
            <a:endParaRPr lang="en-GB"/>
          </a:p>
        </p:txBody>
      </p:sp>
    </p:spTree>
    <p:extLst>
      <p:ext uri="{BB962C8B-B14F-4D97-AF65-F5344CB8AC3E}">
        <p14:creationId xmlns:p14="http://schemas.microsoft.com/office/powerpoint/2010/main" val="2544274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en-US" sz="1200" dirty="0">
              <a:latin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en-US" sz="1200" dirty="0">
              <a:latin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en-US" sz="1200" dirty="0">
              <a:latin typeface="Tahoma" panose="020B0604030504040204" pitchFamily="34" charset="0"/>
            </a:endParaRPr>
          </a:p>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5523641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8846585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en-US" sz="1200" dirty="0">
              <a:latin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en-US" sz="1200" dirty="0">
              <a:latin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en-US" sz="1200" dirty="0">
              <a:latin typeface="Tahoma" panose="020B0604030504040204" pitchFamily="34" charset="0"/>
            </a:endParaRPr>
          </a:p>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0202580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7674088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en-US" sz="1200" dirty="0">
              <a:latin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en-US" sz="1200" dirty="0">
              <a:latin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en-US" sz="1200" dirty="0">
              <a:latin typeface="Tahoma" panose="020B0604030504040204" pitchFamily="34" charset="0"/>
            </a:endParaRPr>
          </a:p>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9921379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2646817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436185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41E19-2E49-293B-8C6E-AB9FF870BD94}"/>
            </a:ext>
          </a:extLst>
        </p:cNvPr>
        <p:cNvGrpSpPr/>
        <p:nvPr/>
      </p:nvGrpSpPr>
      <p:grpSpPr>
        <a:xfrm>
          <a:off x="0" y="0"/>
          <a:ext cx="0" cy="0"/>
          <a:chOff x="0" y="0"/>
          <a:chExt cx="0" cy="0"/>
        </a:xfrm>
      </p:grpSpPr>
      <p:sp>
        <p:nvSpPr>
          <p:cNvPr id="65537" name="Rectangle 7">
            <a:extLst>
              <a:ext uri="{FF2B5EF4-FFF2-40B4-BE49-F238E27FC236}">
                <a16:creationId xmlns:a16="http://schemas.microsoft.com/office/drawing/2014/main" id="{7A0D2D2F-9F90-DB88-23E8-E2EB1927C0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E9A0C49-509C-5F46-9879-66CBB1041243}" type="slidenum">
              <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14</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65538" name="Rectangle 2">
            <a:extLst>
              <a:ext uri="{FF2B5EF4-FFF2-40B4-BE49-F238E27FC236}">
                <a16:creationId xmlns:a16="http://schemas.microsoft.com/office/drawing/2014/main" id="{CD9A8C09-3D9E-0A8C-724D-A4F1138CC08D}"/>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16E5114B-5659-B8F0-1079-B4C477D1E3EC}"/>
              </a:ext>
            </a:extLst>
          </p:cNvPr>
          <p:cNvSpPr>
            <a:spLocks noGrp="1" noChangeArrowheads="1"/>
          </p:cNvSpPr>
          <p:nvPr>
            <p:ph type="body" idx="1"/>
          </p:nvPr>
        </p:nvSpPr>
        <p:spPr>
          <a:xfrm>
            <a:off x="730250" y="4560888"/>
            <a:ext cx="585470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endParaRPr lang="en-GB" altLang="en-US" sz="1200" dirty="0">
              <a:latin typeface="Times New Roman" panose="02020603050405020304" pitchFamily="18" charset="0"/>
            </a:endParaRPr>
          </a:p>
        </p:txBody>
      </p:sp>
    </p:spTree>
    <p:extLst>
      <p:ext uri="{BB962C8B-B14F-4D97-AF65-F5344CB8AC3E}">
        <p14:creationId xmlns:p14="http://schemas.microsoft.com/office/powerpoint/2010/main" val="11565269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2DA25-9A43-7659-D62F-D62987CFCE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E870B-5F27-86AE-F374-137FB618F1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DE3B79-23EA-DD57-71B6-D0A4C58F3C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en-US" sz="1200" dirty="0">
              <a:latin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en-US" sz="1200" dirty="0">
              <a:latin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en-US" sz="1200" dirty="0">
              <a:latin typeface="Tahoma" panose="020B0604030504040204" pitchFamily="34" charset="0"/>
            </a:endParaRPr>
          </a:p>
          <a:p>
            <a:endParaRPr lang="en-GB" dirty="0">
              <a:cs typeface="DM Sans"/>
            </a:endParaRPr>
          </a:p>
        </p:txBody>
      </p:sp>
      <p:sp>
        <p:nvSpPr>
          <p:cNvPr id="4" name="Slide Number Placeholder 3">
            <a:extLst>
              <a:ext uri="{FF2B5EF4-FFF2-40B4-BE49-F238E27FC236}">
                <a16:creationId xmlns:a16="http://schemas.microsoft.com/office/drawing/2014/main" id="{8C4912A0-08A8-1DA4-9431-9147487525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1495148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16</a:t>
            </a:fld>
            <a:endParaRPr lang="en-GB"/>
          </a:p>
        </p:txBody>
      </p:sp>
    </p:spTree>
    <p:extLst>
      <p:ext uri="{BB962C8B-B14F-4D97-AF65-F5344CB8AC3E}">
        <p14:creationId xmlns:p14="http://schemas.microsoft.com/office/powerpoint/2010/main" val="21523982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17</a:t>
            </a:fld>
            <a:endParaRPr lang="en-GB"/>
          </a:p>
        </p:txBody>
      </p:sp>
    </p:spTree>
    <p:extLst>
      <p:ext uri="{BB962C8B-B14F-4D97-AF65-F5344CB8AC3E}">
        <p14:creationId xmlns:p14="http://schemas.microsoft.com/office/powerpoint/2010/main" val="8381274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18</a:t>
            </a:fld>
            <a:endParaRPr lang="en-GB"/>
          </a:p>
        </p:txBody>
      </p:sp>
    </p:spTree>
    <p:extLst>
      <p:ext uri="{BB962C8B-B14F-4D97-AF65-F5344CB8AC3E}">
        <p14:creationId xmlns:p14="http://schemas.microsoft.com/office/powerpoint/2010/main" val="16618627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4409051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20</a:t>
            </a:fld>
            <a:endParaRPr lang="en-GB"/>
          </a:p>
        </p:txBody>
      </p:sp>
    </p:spTree>
    <p:extLst>
      <p:ext uri="{BB962C8B-B14F-4D97-AF65-F5344CB8AC3E}">
        <p14:creationId xmlns:p14="http://schemas.microsoft.com/office/powerpoint/2010/main" val="1366147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3255129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E6D28-0DB4-002C-7DBC-AC2BC3412A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26D14B-68C6-6F45-4D56-DEAA19E68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0CFBF5-DDBC-9248-9292-E7D852EF5C5D}"/>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D2A0A7AB-92CD-87C1-7C8C-94E413D074A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9451525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37A8D-2D3C-290F-35F8-EB6AE97496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485E13-D87A-2102-E934-003AED835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EE5851-D359-F2EA-5DB8-DEC1E15FFD39}"/>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2DAC1754-AB4C-31E4-A348-9B8C9FF3D718}"/>
              </a:ext>
            </a:extLst>
          </p:cNvPr>
          <p:cNvSpPr>
            <a:spLocks noGrp="1"/>
          </p:cNvSpPr>
          <p:nvPr>
            <p:ph type="sldNum" sz="quarter" idx="5"/>
          </p:nvPr>
        </p:nvSpPr>
        <p:spPr/>
        <p:txBody>
          <a:bodyPr/>
          <a:lstStyle/>
          <a:p>
            <a:fld id="{C6B3559C-4BE5-4262-A2E7-0EADDD5F845B}" type="slidenum">
              <a:rPr lang="en-GB" smtClean="0"/>
              <a:t>23</a:t>
            </a:fld>
            <a:endParaRPr lang="en-GB"/>
          </a:p>
        </p:txBody>
      </p:sp>
    </p:spTree>
    <p:extLst>
      <p:ext uri="{BB962C8B-B14F-4D97-AF65-F5344CB8AC3E}">
        <p14:creationId xmlns:p14="http://schemas.microsoft.com/office/powerpoint/2010/main" val="6355619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r>
              <a:rPr lang="en-GB" dirty="0">
                <a:cs typeface="DM Sans"/>
              </a:rPr>
              <a:t>We now know how much CO2 we can release, we know one country cannot control its own climate change, so who does decide this? </a:t>
            </a: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24</a:t>
            </a:fld>
            <a:endParaRPr lang="en-GB"/>
          </a:p>
        </p:txBody>
      </p:sp>
    </p:spTree>
    <p:extLst>
      <p:ext uri="{BB962C8B-B14F-4D97-AF65-F5344CB8AC3E}">
        <p14:creationId xmlns:p14="http://schemas.microsoft.com/office/powerpoint/2010/main" val="6212793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25</a:t>
            </a:fld>
            <a:endParaRPr lang="en-GB"/>
          </a:p>
        </p:txBody>
      </p:sp>
    </p:spTree>
    <p:extLst>
      <p:ext uri="{BB962C8B-B14F-4D97-AF65-F5344CB8AC3E}">
        <p14:creationId xmlns:p14="http://schemas.microsoft.com/office/powerpoint/2010/main" val="30339032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26</a:t>
            </a:fld>
            <a:endParaRPr lang="en-GB"/>
          </a:p>
        </p:txBody>
      </p:sp>
    </p:spTree>
    <p:extLst>
      <p:ext uri="{BB962C8B-B14F-4D97-AF65-F5344CB8AC3E}">
        <p14:creationId xmlns:p14="http://schemas.microsoft.com/office/powerpoint/2010/main" val="12626665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17F3C-E35A-A48B-D95E-393B26B0F7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B8748D-1DA6-49EF-BA00-0E565B3A37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B6D9A2-79DF-25A0-12B6-A8C8BE3C7ABC}"/>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140FD46E-D4E3-85A1-C525-F7090BFFAEDB}"/>
              </a:ext>
            </a:extLst>
          </p:cNvPr>
          <p:cNvSpPr>
            <a:spLocks noGrp="1"/>
          </p:cNvSpPr>
          <p:nvPr>
            <p:ph type="sldNum" sz="quarter" idx="5"/>
          </p:nvPr>
        </p:nvSpPr>
        <p:spPr/>
        <p:txBody>
          <a:bodyPr/>
          <a:lstStyle/>
          <a:p>
            <a:fld id="{C6B3559C-4BE5-4262-A2E7-0EADDD5F845B}" type="slidenum">
              <a:rPr lang="en-GB" smtClean="0"/>
              <a:t>27</a:t>
            </a:fld>
            <a:endParaRPr lang="en-GB"/>
          </a:p>
        </p:txBody>
      </p:sp>
    </p:spTree>
    <p:extLst>
      <p:ext uri="{BB962C8B-B14F-4D97-AF65-F5344CB8AC3E}">
        <p14:creationId xmlns:p14="http://schemas.microsoft.com/office/powerpoint/2010/main" val="16240676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147237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29</a:t>
            </a:fld>
            <a:endParaRPr lang="en-GB"/>
          </a:p>
        </p:txBody>
      </p:sp>
    </p:spTree>
    <p:extLst>
      <p:ext uri="{BB962C8B-B14F-4D97-AF65-F5344CB8AC3E}">
        <p14:creationId xmlns:p14="http://schemas.microsoft.com/office/powerpoint/2010/main" val="12424026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30</a:t>
            </a:fld>
            <a:endParaRPr lang="en-GB"/>
          </a:p>
        </p:txBody>
      </p:sp>
    </p:spTree>
    <p:extLst>
      <p:ext uri="{BB962C8B-B14F-4D97-AF65-F5344CB8AC3E}">
        <p14:creationId xmlns:p14="http://schemas.microsoft.com/office/powerpoint/2010/main" val="41768241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F674FCE3-9658-7146-B0EE-3C40BEE1CF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E9A0C49-509C-5F46-9879-66CBB1041243}" type="slidenum">
              <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31</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65538" name="Rectangle 2">
            <a:extLst>
              <a:ext uri="{FF2B5EF4-FFF2-40B4-BE49-F238E27FC236}">
                <a16:creationId xmlns:a16="http://schemas.microsoft.com/office/drawing/2014/main" id="{7F255ED0-AF38-5F4A-AEDF-3F0479128794}"/>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BEFD6AD4-FA02-E345-83D4-A7A2B402F3DC}"/>
              </a:ext>
            </a:extLst>
          </p:cNvPr>
          <p:cNvSpPr>
            <a:spLocks noGrp="1" noChangeArrowheads="1"/>
          </p:cNvSpPr>
          <p:nvPr>
            <p:ph type="body" idx="1"/>
          </p:nvPr>
        </p:nvSpPr>
        <p:spPr>
          <a:xfrm>
            <a:off x="730250" y="4560888"/>
            <a:ext cx="585470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endParaRPr lang="en-GB" altLang="en-US" sz="1200" dirty="0">
              <a:latin typeface="Times New Roman" panose="02020603050405020304" pitchFamily="18" charset="0"/>
            </a:endParaRPr>
          </a:p>
        </p:txBody>
      </p:sp>
    </p:spTree>
    <p:extLst>
      <p:ext uri="{BB962C8B-B14F-4D97-AF65-F5344CB8AC3E}">
        <p14:creationId xmlns:p14="http://schemas.microsoft.com/office/powerpoint/2010/main" val="18690349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32</a:t>
            </a:fld>
            <a:endParaRPr lang="en-GB"/>
          </a:p>
        </p:txBody>
      </p:sp>
    </p:spTree>
    <p:extLst>
      <p:ext uri="{BB962C8B-B14F-4D97-AF65-F5344CB8AC3E}">
        <p14:creationId xmlns:p14="http://schemas.microsoft.com/office/powerpoint/2010/main" val="20632785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14F25-5F39-0D66-85D9-57ED644265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D86B8B-F00B-8F57-E0AF-1C1534D902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0FC227-4563-7750-54BE-1E9BC8476FC6}"/>
              </a:ext>
            </a:extLst>
          </p:cNvPr>
          <p:cNvSpPr>
            <a:spLocks noGrp="1"/>
          </p:cNvSpPr>
          <p:nvPr>
            <p:ph type="body" idx="1"/>
          </p:nvPr>
        </p:nvSpPr>
        <p:spPr/>
        <p:txBody>
          <a:bodyPr/>
          <a:lstStyle/>
          <a:p>
            <a:r>
              <a:rPr lang="en-GB" dirty="0">
                <a:cs typeface="DM Sans"/>
              </a:rPr>
              <a:t>Agriculture forestry and other land use</a:t>
            </a:r>
          </a:p>
          <a:p>
            <a:endParaRPr lang="en-GB" dirty="0">
              <a:cs typeface="DM Sans"/>
            </a:endParaRPr>
          </a:p>
        </p:txBody>
      </p:sp>
      <p:sp>
        <p:nvSpPr>
          <p:cNvPr id="4" name="Slide Number Placeholder 3">
            <a:extLst>
              <a:ext uri="{FF2B5EF4-FFF2-40B4-BE49-F238E27FC236}">
                <a16:creationId xmlns:a16="http://schemas.microsoft.com/office/drawing/2014/main" id="{83BA45D9-2FB7-3545-068F-DE2D478AB3C0}"/>
              </a:ext>
            </a:extLst>
          </p:cNvPr>
          <p:cNvSpPr>
            <a:spLocks noGrp="1"/>
          </p:cNvSpPr>
          <p:nvPr>
            <p:ph type="sldNum" sz="quarter" idx="5"/>
          </p:nvPr>
        </p:nvSpPr>
        <p:spPr/>
        <p:txBody>
          <a:bodyPr/>
          <a:lstStyle/>
          <a:p>
            <a:fld id="{C6B3559C-4BE5-4262-A2E7-0EADDD5F845B}" type="slidenum">
              <a:rPr lang="en-GB" smtClean="0"/>
              <a:t>33</a:t>
            </a:fld>
            <a:endParaRPr lang="en-GB"/>
          </a:p>
        </p:txBody>
      </p:sp>
    </p:spTree>
    <p:extLst>
      <p:ext uri="{BB962C8B-B14F-4D97-AF65-F5344CB8AC3E}">
        <p14:creationId xmlns:p14="http://schemas.microsoft.com/office/powerpoint/2010/main" val="16451017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F61D2-7202-6C80-5136-95D20BC8FA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F8733E-C3C5-1AAF-89FF-CB3A995140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55E314-A106-DCCC-2450-8CE19FB8CD16}"/>
              </a:ext>
            </a:extLst>
          </p:cNvPr>
          <p:cNvSpPr>
            <a:spLocks noGrp="1"/>
          </p:cNvSpPr>
          <p:nvPr>
            <p:ph type="body" idx="1"/>
          </p:nvPr>
        </p:nvSpPr>
        <p:spPr/>
        <p:txBody>
          <a:bodyPr/>
          <a:lstStyle/>
          <a:p>
            <a:r>
              <a:rPr lang="en-GB" dirty="0">
                <a:cs typeface="DM Sans"/>
              </a:rPr>
              <a:t>Agriculture forestry and other land use</a:t>
            </a:r>
          </a:p>
          <a:p>
            <a:endParaRPr lang="en-GB" dirty="0">
              <a:cs typeface="DM Sans"/>
            </a:endParaRPr>
          </a:p>
        </p:txBody>
      </p:sp>
      <p:sp>
        <p:nvSpPr>
          <p:cNvPr id="4" name="Slide Number Placeholder 3">
            <a:extLst>
              <a:ext uri="{FF2B5EF4-FFF2-40B4-BE49-F238E27FC236}">
                <a16:creationId xmlns:a16="http://schemas.microsoft.com/office/drawing/2014/main" id="{DAEEC5B5-F158-1A46-E869-D333A31116AD}"/>
              </a:ext>
            </a:extLst>
          </p:cNvPr>
          <p:cNvSpPr>
            <a:spLocks noGrp="1"/>
          </p:cNvSpPr>
          <p:nvPr>
            <p:ph type="sldNum" sz="quarter" idx="5"/>
          </p:nvPr>
        </p:nvSpPr>
        <p:spPr/>
        <p:txBody>
          <a:bodyPr/>
          <a:lstStyle/>
          <a:p>
            <a:fld id="{C6B3559C-4BE5-4262-A2E7-0EADDD5F845B}" type="slidenum">
              <a:rPr lang="en-GB" smtClean="0"/>
              <a:t>34</a:t>
            </a:fld>
            <a:endParaRPr lang="en-GB"/>
          </a:p>
        </p:txBody>
      </p:sp>
    </p:spTree>
    <p:extLst>
      <p:ext uri="{BB962C8B-B14F-4D97-AF65-F5344CB8AC3E}">
        <p14:creationId xmlns:p14="http://schemas.microsoft.com/office/powerpoint/2010/main" val="41510949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35</a:t>
            </a:fld>
            <a:endParaRPr lang="en-GB"/>
          </a:p>
        </p:txBody>
      </p:sp>
    </p:spTree>
    <p:extLst>
      <p:ext uri="{BB962C8B-B14F-4D97-AF65-F5344CB8AC3E}">
        <p14:creationId xmlns:p14="http://schemas.microsoft.com/office/powerpoint/2010/main" val="31712169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36</a:t>
            </a:fld>
            <a:endParaRPr lang="en-GB"/>
          </a:p>
        </p:txBody>
      </p:sp>
    </p:spTree>
    <p:extLst>
      <p:ext uri="{BB962C8B-B14F-4D97-AF65-F5344CB8AC3E}">
        <p14:creationId xmlns:p14="http://schemas.microsoft.com/office/powerpoint/2010/main" val="34184914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37</a:t>
            </a:fld>
            <a:endParaRPr lang="en-GB"/>
          </a:p>
        </p:txBody>
      </p:sp>
    </p:spTree>
    <p:extLst>
      <p:ext uri="{BB962C8B-B14F-4D97-AF65-F5344CB8AC3E}">
        <p14:creationId xmlns:p14="http://schemas.microsoft.com/office/powerpoint/2010/main" val="16457561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38</a:t>
            </a:fld>
            <a:endParaRPr lang="en-GB"/>
          </a:p>
        </p:txBody>
      </p:sp>
    </p:spTree>
    <p:extLst>
      <p:ext uri="{BB962C8B-B14F-4D97-AF65-F5344CB8AC3E}">
        <p14:creationId xmlns:p14="http://schemas.microsoft.com/office/powerpoint/2010/main" val="30007603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39</a:t>
            </a:fld>
            <a:endParaRPr lang="en-GB"/>
          </a:p>
        </p:txBody>
      </p:sp>
    </p:spTree>
    <p:extLst>
      <p:ext uri="{BB962C8B-B14F-4D97-AF65-F5344CB8AC3E}">
        <p14:creationId xmlns:p14="http://schemas.microsoft.com/office/powerpoint/2010/main" val="39622540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40</a:t>
            </a:fld>
            <a:endParaRPr lang="en-GB"/>
          </a:p>
        </p:txBody>
      </p:sp>
    </p:spTree>
    <p:extLst>
      <p:ext uri="{BB962C8B-B14F-4D97-AF65-F5344CB8AC3E}">
        <p14:creationId xmlns:p14="http://schemas.microsoft.com/office/powerpoint/2010/main" val="42721887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41</a:t>
            </a:fld>
            <a:endParaRPr lang="en-GB"/>
          </a:p>
        </p:txBody>
      </p:sp>
    </p:spTree>
    <p:extLst>
      <p:ext uri="{BB962C8B-B14F-4D97-AF65-F5344CB8AC3E}">
        <p14:creationId xmlns:p14="http://schemas.microsoft.com/office/powerpoint/2010/main" val="38780543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42</a:t>
            </a:fld>
            <a:endParaRPr lang="en-GB"/>
          </a:p>
        </p:txBody>
      </p:sp>
    </p:spTree>
    <p:extLst>
      <p:ext uri="{BB962C8B-B14F-4D97-AF65-F5344CB8AC3E}">
        <p14:creationId xmlns:p14="http://schemas.microsoft.com/office/powerpoint/2010/main" val="17202310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6552779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24387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4592994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B213C-69AB-0E3B-CDC1-87C64A3F683B}"/>
            </a:ext>
          </a:extLst>
        </p:cNvPr>
        <p:cNvGrpSpPr/>
        <p:nvPr/>
      </p:nvGrpSpPr>
      <p:grpSpPr>
        <a:xfrm>
          <a:off x="0" y="0"/>
          <a:ext cx="0" cy="0"/>
          <a:chOff x="0" y="0"/>
          <a:chExt cx="0" cy="0"/>
        </a:xfrm>
      </p:grpSpPr>
      <p:sp>
        <p:nvSpPr>
          <p:cNvPr id="65537" name="Rectangle 7">
            <a:extLst>
              <a:ext uri="{FF2B5EF4-FFF2-40B4-BE49-F238E27FC236}">
                <a16:creationId xmlns:a16="http://schemas.microsoft.com/office/drawing/2014/main" id="{D9FBE0F3-77DF-AC07-7C18-8C4C8CFF8D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BE9A0C49-509C-5F46-9879-66CBB1041243}" type="slidenum">
              <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46</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65538" name="Rectangle 2">
            <a:extLst>
              <a:ext uri="{FF2B5EF4-FFF2-40B4-BE49-F238E27FC236}">
                <a16:creationId xmlns:a16="http://schemas.microsoft.com/office/drawing/2014/main" id="{213D749D-FAC8-D4BF-7337-C8672E9A81A9}"/>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096C1E67-7BBA-85C9-3257-3766CFF05F84}"/>
              </a:ext>
            </a:extLst>
          </p:cNvPr>
          <p:cNvSpPr>
            <a:spLocks noGrp="1" noChangeArrowheads="1"/>
          </p:cNvSpPr>
          <p:nvPr>
            <p:ph type="body" idx="1"/>
          </p:nvPr>
        </p:nvSpPr>
        <p:spPr>
          <a:xfrm>
            <a:off x="730250" y="4560888"/>
            <a:ext cx="585470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endParaRPr lang="en-GB" altLang="en-US" sz="1200" dirty="0">
              <a:latin typeface="Times New Roman" panose="02020603050405020304" pitchFamily="18" charset="0"/>
            </a:endParaRPr>
          </a:p>
        </p:txBody>
      </p:sp>
    </p:spTree>
    <p:extLst>
      <p:ext uri="{BB962C8B-B14F-4D97-AF65-F5344CB8AC3E}">
        <p14:creationId xmlns:p14="http://schemas.microsoft.com/office/powerpoint/2010/main" val="35382521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6FB5A-E1A9-FC8A-2118-5C6A8C5E0047}"/>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F3AB7384-3B4A-A0CE-77FA-AB7D4BE8991C}"/>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9E752A68-FF6F-8FC5-D52D-C41CABC398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8FDC3139-D055-4EE5-BA8D-9C72836D53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9B20F9-B0C9-4C43-AA44-6686FCE3390A}" type="slidenum">
              <a:rPr kumimoji="0" lang="en-GB"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8958402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D7764-18B3-5F4A-DE05-8C731B9F24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EF09A5-0E01-4B49-2865-F522309227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E0A775-027A-57E3-DE0A-938F2E40141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7794878-4127-681A-227F-EB8BC8FA10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2907743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78529-677C-C7CB-7969-1BC2AAD7DE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D9DCE7-6FFB-B799-CD17-70226423B2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8F377F-7CF9-4B7C-3454-EEDCC5CCBDE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77C2368A-2688-3081-DC3D-6F84D781C59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1395276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A3CE4-8C0B-3DFC-5FB8-B2EA7A6BEE08}"/>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B2E32859-4956-0E43-CA86-D7F1E7B1A123}"/>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04656766-9178-76BB-1992-D5ECA6AC2E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F69C0F02-F4F1-D1E5-5751-6BEC404B9F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9B20F9-B0C9-4C43-AA44-6686FCE3390A}"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GB"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501829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31E4D-2DAB-4871-92D0-23CCBE3216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0D023-2691-83E4-AF0A-2EFCE909D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BC22AD-45AE-AD2B-52FF-51C3BEDF0B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Post-training evaluation survey</a:t>
            </a:r>
          </a:p>
          <a:p>
            <a:endParaRPr lang="en-GB"/>
          </a:p>
        </p:txBody>
      </p:sp>
      <p:sp>
        <p:nvSpPr>
          <p:cNvPr id="4" name="Slide Number Placeholder 3">
            <a:extLst>
              <a:ext uri="{FF2B5EF4-FFF2-40B4-BE49-F238E27FC236}">
                <a16:creationId xmlns:a16="http://schemas.microsoft.com/office/drawing/2014/main" id="{0AADD95E-C9D2-C4A8-A40B-7103171A9CF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8511864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7200707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EC30B-92F7-EC9B-405F-9530A662E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64897-D04C-17CB-175D-86C696E08D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E609A5-F253-A7DF-F681-495A175C5CD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5D689BD-EE32-A212-5C06-92CF585DF9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3600523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B824A-49B1-B98B-AAE9-42CBAA5ED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CAD0DC-E2F5-3917-22AC-F74B18DEDF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0AE5B7-A555-8BC1-49E0-B762FD6DCA8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F6E4AA5-A9FA-92EA-496A-524A2DF2D7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88447383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7F069-A6B1-4E5A-B68F-795E16E1EF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736BF-1AF6-92FA-7C3B-BE9A84FC5C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EF9998-BCD5-F31C-1691-CF4A4977E5A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57965CB-46AE-2A45-91BE-B591FAF6E6B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74118653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34EA7-30AD-DC3E-51D6-94E0D7B25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8C71AC-FDE4-3969-D228-B4A1E8ABA7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9A6ADB-742E-18F3-7F46-17CD44C8DB5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4F62843-159C-650E-7623-774056B049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2786964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DD63D-C14F-15AE-B97B-F0B6C0CCE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00139-5707-07AA-A321-AF227456BC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E7C93C-DE90-C1B7-06DF-5F7C2434D12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D15C597-2AA2-06CB-A093-5609004455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8557064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259D-BB7D-1D84-61A7-3CCF28CA85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B3E176-2665-BE1E-6D9C-64899DFCBC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BF9AC-5132-6845-5ED0-852EE78B4A0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C8549F4-4D11-C2D4-E5AD-103473877A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91318149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14E75-85BA-0D02-3E6A-214DA771DF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7F65D-6F93-DB59-9171-5B5E5B83CC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CDFA16-9D1C-3FD9-8A7F-6F7A688109E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91FE375-7933-43AE-B1D4-5E5059B3EED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84722523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3E8D3-9CE3-3730-8CDA-2D83EE5DB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E58737-6A7C-D366-2AFF-9BEF6ED1C1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00FB0E-F6C1-ED24-8536-A3731DBFBD5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6831727-BC44-16DE-76A3-F6B77CB257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88910939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EB635-15CF-2FD0-350D-6AA1430E9A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9E6AE-541C-8E04-ECA4-030C1187D0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1A7530-FC39-4585-32FB-9EE80BDEDBA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5833D06-B195-6FBA-D00C-A4F3829852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424476633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04F47-4368-04D1-1CE4-520AD72B8E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1169C-4867-55A6-3C81-53663D35DA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8EA4A1-E361-7EDD-9032-0ACC967248E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A6F0C6B-7A49-F9EF-FD44-EE59B3C657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56850935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C3B99-9393-CD55-92A0-8B560232D2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D8C69F-2665-2338-B594-3D3476E9BC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DAA929-8029-C60F-29B7-288BCA6808C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C69146D-C9E0-1A9E-685D-B5B8EF4B18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755072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3057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70878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617271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479874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678090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923103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986075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306442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111213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271462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3093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411957"/>
            <a:ext cx="16459200" cy="17145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914400" y="2400301"/>
            <a:ext cx="8077200" cy="6788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9296400" y="2400301"/>
            <a:ext cx="8077200" cy="6788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CA130A59-24D6-BF44-B4BD-970B6853F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2DA918-BA26-C842-8E1E-1ED32CE274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F81648-DEEE-D640-983E-74FC943C9CDF}"/>
              </a:ext>
            </a:extLst>
          </p:cNvPr>
          <p:cNvSpPr>
            <a:spLocks noGrp="1" noChangeArrowheads="1"/>
          </p:cNvSpPr>
          <p:nvPr>
            <p:ph type="sldNum" sz="quarter" idx="12"/>
          </p:nvPr>
        </p:nvSpPr>
        <p:spPr>
          <a:ln/>
        </p:spPr>
        <p:txBody>
          <a:bodyPr/>
          <a:lstStyle>
            <a:lvl1pPr>
              <a:defRPr/>
            </a:lvl1pPr>
          </a:lstStyle>
          <a:p>
            <a:fld id="{7F318B0F-B1AF-594B-AA89-D1C92B2445CC}" type="slidenum">
              <a:rPr lang="en-US" altLang="en-US"/>
              <a:pPr/>
              <a:t>‹#›</a:t>
            </a:fld>
            <a:endParaRPr lang="en-US" altLang="en-US"/>
          </a:p>
        </p:txBody>
      </p:sp>
    </p:spTree>
    <p:extLst>
      <p:ext uri="{BB962C8B-B14F-4D97-AF65-F5344CB8AC3E}">
        <p14:creationId xmlns:p14="http://schemas.microsoft.com/office/powerpoint/2010/main" val="28135919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Portfolio 2 Images">
    <p:spTree>
      <p:nvGrpSpPr>
        <p:cNvPr id="1" name=""/>
        <p:cNvGrpSpPr/>
        <p:nvPr/>
      </p:nvGrpSpPr>
      <p:grpSpPr>
        <a:xfrm>
          <a:off x="0" y="0"/>
          <a:ext cx="0" cy="0"/>
          <a:chOff x="0" y="0"/>
          <a:chExt cx="0" cy="0"/>
        </a:xfrm>
      </p:grpSpPr>
      <p:sp>
        <p:nvSpPr>
          <p:cNvPr id="6" name="Picture Placeholder 13"/>
          <p:cNvSpPr>
            <a:spLocks noGrp="1"/>
          </p:cNvSpPr>
          <p:nvPr>
            <p:ph type="pic" sz="quarter" idx="27"/>
          </p:nvPr>
        </p:nvSpPr>
        <p:spPr>
          <a:xfrm>
            <a:off x="0" y="0"/>
            <a:ext cx="18288000" cy="6540191"/>
          </a:xfrm>
          <a:solidFill>
            <a:schemeClr val="bg1">
              <a:lumMod val="95000"/>
            </a:schemeClr>
          </a:solidFill>
          <a:effectLst/>
        </p:spPr>
        <p:txBody>
          <a:bodyPr>
            <a:normAutofit/>
          </a:bodyPr>
          <a:lstStyle>
            <a:lvl1pPr marL="0" indent="0">
              <a:buNone/>
              <a:defRPr sz="1950" b="0" i="0">
                <a:ln>
                  <a:noFill/>
                </a:ln>
                <a:solidFill>
                  <a:schemeClr val="bg1">
                    <a:lumMod val="85000"/>
                  </a:schemeClr>
                </a:solidFill>
                <a:latin typeface="Open Sans" charset="0"/>
                <a:ea typeface="Open Sans" charset="0"/>
                <a:cs typeface="Open Sans" charset="0"/>
              </a:defRPr>
            </a:lvl1pPr>
          </a:lstStyle>
          <a:p>
            <a:endParaRPr lang="en-US" dirty="0"/>
          </a:p>
        </p:txBody>
      </p:sp>
    </p:spTree>
    <p:extLst>
      <p:ext uri="{BB962C8B-B14F-4D97-AF65-F5344CB8AC3E}">
        <p14:creationId xmlns:p14="http://schemas.microsoft.com/office/powerpoint/2010/main" val="3733447529"/>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6"/>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35" indent="0" algn="ctr">
              <a:buNone/>
              <a:defRPr>
                <a:solidFill>
                  <a:schemeClr val="tx1">
                    <a:tint val="75000"/>
                  </a:schemeClr>
                </a:solidFill>
              </a:defRPr>
            </a:lvl2pPr>
            <a:lvl3pPr marL="685869" indent="0" algn="ctr">
              <a:buNone/>
              <a:defRPr>
                <a:solidFill>
                  <a:schemeClr val="tx1">
                    <a:tint val="75000"/>
                  </a:schemeClr>
                </a:solidFill>
              </a:defRPr>
            </a:lvl3pPr>
            <a:lvl4pPr marL="1028805" indent="0" algn="ctr">
              <a:buNone/>
              <a:defRPr>
                <a:solidFill>
                  <a:schemeClr val="tx1">
                    <a:tint val="75000"/>
                  </a:schemeClr>
                </a:solidFill>
              </a:defRPr>
            </a:lvl4pPr>
            <a:lvl5pPr marL="1371738" indent="0" algn="ctr">
              <a:buNone/>
              <a:defRPr>
                <a:solidFill>
                  <a:schemeClr val="tx1">
                    <a:tint val="75000"/>
                  </a:schemeClr>
                </a:solidFill>
              </a:defRPr>
            </a:lvl5pPr>
            <a:lvl6pPr marL="1714671" indent="0" algn="ctr">
              <a:buNone/>
              <a:defRPr>
                <a:solidFill>
                  <a:schemeClr val="tx1">
                    <a:tint val="75000"/>
                  </a:schemeClr>
                </a:solidFill>
              </a:defRPr>
            </a:lvl6pPr>
            <a:lvl7pPr marL="2057606" indent="0" algn="ctr">
              <a:buNone/>
              <a:defRPr>
                <a:solidFill>
                  <a:schemeClr val="tx1">
                    <a:tint val="75000"/>
                  </a:schemeClr>
                </a:solidFill>
              </a:defRPr>
            </a:lvl7pPr>
            <a:lvl8pPr marL="2400540" indent="0" algn="ctr">
              <a:buNone/>
              <a:defRPr>
                <a:solidFill>
                  <a:schemeClr val="tx1">
                    <a:tint val="75000"/>
                  </a:schemeClr>
                </a:solidFill>
              </a:defRPr>
            </a:lvl8pPr>
            <a:lvl9pPr marL="274347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694452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774235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5" y="4406901"/>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5" y="2906714"/>
            <a:ext cx="7772400" cy="1500188"/>
          </a:xfrm>
        </p:spPr>
        <p:txBody>
          <a:bodyPr anchor="b"/>
          <a:lstStyle>
            <a:lvl1pPr marL="0" indent="0">
              <a:buNone/>
              <a:defRPr sz="1500">
                <a:solidFill>
                  <a:schemeClr val="tx1">
                    <a:tint val="75000"/>
                  </a:schemeClr>
                </a:solidFill>
              </a:defRPr>
            </a:lvl1pPr>
            <a:lvl2pPr marL="342935" indent="0">
              <a:buNone/>
              <a:defRPr sz="1350">
                <a:solidFill>
                  <a:schemeClr val="tx1">
                    <a:tint val="75000"/>
                  </a:schemeClr>
                </a:solidFill>
              </a:defRPr>
            </a:lvl2pPr>
            <a:lvl3pPr marL="685869" indent="0">
              <a:buNone/>
              <a:defRPr sz="1200">
                <a:solidFill>
                  <a:schemeClr val="tx1">
                    <a:tint val="75000"/>
                  </a:schemeClr>
                </a:solidFill>
              </a:defRPr>
            </a:lvl3pPr>
            <a:lvl4pPr marL="1028805" indent="0">
              <a:buNone/>
              <a:defRPr sz="1050">
                <a:solidFill>
                  <a:schemeClr val="tx1">
                    <a:tint val="75000"/>
                  </a:schemeClr>
                </a:solidFill>
              </a:defRPr>
            </a:lvl4pPr>
            <a:lvl5pPr marL="1371738" indent="0">
              <a:buNone/>
              <a:defRPr sz="1050">
                <a:solidFill>
                  <a:schemeClr val="tx1">
                    <a:tint val="75000"/>
                  </a:schemeClr>
                </a:solidFill>
              </a:defRPr>
            </a:lvl5pPr>
            <a:lvl6pPr marL="1714671" indent="0">
              <a:buNone/>
              <a:defRPr sz="1050">
                <a:solidFill>
                  <a:schemeClr val="tx1">
                    <a:tint val="75000"/>
                  </a:schemeClr>
                </a:solidFill>
              </a:defRPr>
            </a:lvl6pPr>
            <a:lvl7pPr marL="2057606" indent="0">
              <a:buNone/>
              <a:defRPr sz="1050">
                <a:solidFill>
                  <a:schemeClr val="tx1">
                    <a:tint val="75000"/>
                  </a:schemeClr>
                </a:solidFill>
              </a:defRPr>
            </a:lvl7pPr>
            <a:lvl8pPr marL="2400540" indent="0">
              <a:buNone/>
              <a:defRPr sz="1050">
                <a:solidFill>
                  <a:schemeClr val="tx1">
                    <a:tint val="75000"/>
                  </a:schemeClr>
                </a:solidFill>
              </a:defRPr>
            </a:lvl8pPr>
            <a:lvl9pPr marL="2743475"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486819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3"/>
            <a:ext cx="4038600" cy="4525964"/>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3"/>
            <a:ext cx="4038600" cy="4525964"/>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948911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4" y="1535114"/>
            <a:ext cx="4040189" cy="639762"/>
          </a:xfrm>
        </p:spPr>
        <p:txBody>
          <a:bodyPr anchor="b"/>
          <a:lstStyle>
            <a:lvl1pPr marL="0" indent="0">
              <a:buNone/>
              <a:defRPr sz="1800" b="1"/>
            </a:lvl1pPr>
            <a:lvl2pPr marL="342935" indent="0">
              <a:buNone/>
              <a:defRPr sz="1500" b="1"/>
            </a:lvl2pPr>
            <a:lvl3pPr marL="685869" indent="0">
              <a:buNone/>
              <a:defRPr sz="1350" b="1"/>
            </a:lvl3pPr>
            <a:lvl4pPr marL="1028805" indent="0">
              <a:buNone/>
              <a:defRPr sz="1200" b="1"/>
            </a:lvl4pPr>
            <a:lvl5pPr marL="1371738" indent="0">
              <a:buNone/>
              <a:defRPr sz="1200" b="1"/>
            </a:lvl5pPr>
            <a:lvl6pPr marL="1714671" indent="0">
              <a:buNone/>
              <a:defRPr sz="1200" b="1"/>
            </a:lvl6pPr>
            <a:lvl7pPr marL="2057606" indent="0">
              <a:buNone/>
              <a:defRPr sz="1200" b="1"/>
            </a:lvl7pPr>
            <a:lvl8pPr marL="2400540" indent="0">
              <a:buNone/>
              <a:defRPr sz="1200" b="1"/>
            </a:lvl8pPr>
            <a:lvl9pPr marL="2743475"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4" y="2174876"/>
            <a:ext cx="4040189"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4"/>
            <a:ext cx="4041776" cy="639762"/>
          </a:xfrm>
        </p:spPr>
        <p:txBody>
          <a:bodyPr anchor="b"/>
          <a:lstStyle>
            <a:lvl1pPr marL="0" indent="0">
              <a:buNone/>
              <a:defRPr sz="1800" b="1"/>
            </a:lvl1pPr>
            <a:lvl2pPr marL="342935" indent="0">
              <a:buNone/>
              <a:defRPr sz="1500" b="1"/>
            </a:lvl2pPr>
            <a:lvl3pPr marL="685869" indent="0">
              <a:buNone/>
              <a:defRPr sz="1350" b="1"/>
            </a:lvl3pPr>
            <a:lvl4pPr marL="1028805" indent="0">
              <a:buNone/>
              <a:defRPr sz="1200" b="1"/>
            </a:lvl4pPr>
            <a:lvl5pPr marL="1371738" indent="0">
              <a:buNone/>
              <a:defRPr sz="1200" b="1"/>
            </a:lvl5pPr>
            <a:lvl6pPr marL="1714671" indent="0">
              <a:buNone/>
              <a:defRPr sz="1200" b="1"/>
            </a:lvl6pPr>
            <a:lvl7pPr marL="2057606" indent="0">
              <a:buNone/>
              <a:defRPr sz="1200" b="1"/>
            </a:lvl7pPr>
            <a:lvl8pPr marL="2400540" indent="0">
              <a:buNone/>
              <a:defRPr sz="1200" b="1"/>
            </a:lvl8pPr>
            <a:lvl9pPr marL="2743475"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6"/>
            <a:ext cx="4041776"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877441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058834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317895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73050"/>
            <a:ext cx="3008315"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6" y="273056"/>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4" y="1435104"/>
            <a:ext cx="3008315" cy="4691063"/>
          </a:xfrm>
        </p:spPr>
        <p:txBody>
          <a:bodyPr/>
          <a:lstStyle>
            <a:lvl1pPr marL="0" indent="0">
              <a:buNone/>
              <a:defRPr sz="1050"/>
            </a:lvl1pPr>
            <a:lvl2pPr marL="342935" indent="0">
              <a:buNone/>
              <a:defRPr sz="900"/>
            </a:lvl2pPr>
            <a:lvl3pPr marL="685869" indent="0">
              <a:buNone/>
              <a:defRPr sz="750"/>
            </a:lvl3pPr>
            <a:lvl4pPr marL="1028805" indent="0">
              <a:buNone/>
              <a:defRPr sz="675"/>
            </a:lvl4pPr>
            <a:lvl5pPr marL="1371738" indent="0">
              <a:buNone/>
              <a:defRPr sz="675"/>
            </a:lvl5pPr>
            <a:lvl6pPr marL="1714671" indent="0">
              <a:buNone/>
              <a:defRPr sz="675"/>
            </a:lvl6pPr>
            <a:lvl7pPr marL="2057606" indent="0">
              <a:buNone/>
              <a:defRPr sz="675"/>
            </a:lvl7pPr>
            <a:lvl8pPr marL="2400540" indent="0">
              <a:buNone/>
              <a:defRPr sz="675"/>
            </a:lvl8pPr>
            <a:lvl9pPr marL="2743475"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262400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5"/>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6"/>
            <a:ext cx="5486400" cy="4114800"/>
          </a:xfrm>
        </p:spPr>
        <p:txBody>
          <a:bodyPr/>
          <a:lstStyle>
            <a:lvl1pPr marL="0" indent="0">
              <a:buNone/>
              <a:defRPr sz="2400"/>
            </a:lvl1pPr>
            <a:lvl2pPr marL="342935" indent="0">
              <a:buNone/>
              <a:defRPr sz="2100"/>
            </a:lvl2pPr>
            <a:lvl3pPr marL="685869" indent="0">
              <a:buNone/>
              <a:defRPr sz="1800"/>
            </a:lvl3pPr>
            <a:lvl4pPr marL="1028805" indent="0">
              <a:buNone/>
              <a:defRPr sz="1500"/>
            </a:lvl4pPr>
            <a:lvl5pPr marL="1371738" indent="0">
              <a:buNone/>
              <a:defRPr sz="1500"/>
            </a:lvl5pPr>
            <a:lvl6pPr marL="1714671" indent="0">
              <a:buNone/>
              <a:defRPr sz="1500"/>
            </a:lvl6pPr>
            <a:lvl7pPr marL="2057606" indent="0">
              <a:buNone/>
              <a:defRPr sz="1500"/>
            </a:lvl7pPr>
            <a:lvl8pPr marL="2400540" indent="0">
              <a:buNone/>
              <a:defRPr sz="1500"/>
            </a:lvl8pPr>
            <a:lvl9pPr marL="2743475" indent="0">
              <a:buNone/>
              <a:defRPr sz="1500"/>
            </a:lvl9pPr>
          </a:lstStyle>
          <a:p>
            <a:endParaRPr lang="en-US"/>
          </a:p>
        </p:txBody>
      </p:sp>
      <p:sp>
        <p:nvSpPr>
          <p:cNvPr id="4" name="Text Placeholder 3"/>
          <p:cNvSpPr>
            <a:spLocks noGrp="1"/>
          </p:cNvSpPr>
          <p:nvPr>
            <p:ph type="body" sz="half" idx="2"/>
          </p:nvPr>
        </p:nvSpPr>
        <p:spPr>
          <a:xfrm>
            <a:off x="1792288" y="5367343"/>
            <a:ext cx="5486400" cy="804863"/>
          </a:xfrm>
        </p:spPr>
        <p:txBody>
          <a:bodyPr/>
          <a:lstStyle>
            <a:lvl1pPr marL="0" indent="0">
              <a:buNone/>
              <a:defRPr sz="1050"/>
            </a:lvl1pPr>
            <a:lvl2pPr marL="342935" indent="0">
              <a:buNone/>
              <a:defRPr sz="900"/>
            </a:lvl2pPr>
            <a:lvl3pPr marL="685869" indent="0">
              <a:buNone/>
              <a:defRPr sz="750"/>
            </a:lvl3pPr>
            <a:lvl4pPr marL="1028805" indent="0">
              <a:buNone/>
              <a:defRPr sz="675"/>
            </a:lvl4pPr>
            <a:lvl5pPr marL="1371738" indent="0">
              <a:buNone/>
              <a:defRPr sz="675"/>
            </a:lvl5pPr>
            <a:lvl6pPr marL="1714671" indent="0">
              <a:buNone/>
              <a:defRPr sz="675"/>
            </a:lvl6pPr>
            <a:lvl7pPr marL="2057606" indent="0">
              <a:buNone/>
              <a:defRPr sz="675"/>
            </a:lvl7pPr>
            <a:lvl8pPr marL="2400540" indent="0">
              <a:buNone/>
              <a:defRPr sz="675"/>
            </a:lvl8pPr>
            <a:lvl9pPr marL="2743475"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508039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8911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8728147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411957"/>
            <a:ext cx="16459200" cy="17145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914400" y="2400307"/>
            <a:ext cx="8077200" cy="6788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9296400" y="2400307"/>
            <a:ext cx="8077200" cy="6788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CA130A59-24D6-BF44-B4BD-970B6853F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2DA918-BA26-C842-8E1E-1ED32CE274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F81648-DEEE-D640-983E-74FC943C9CDF}"/>
              </a:ext>
            </a:extLst>
          </p:cNvPr>
          <p:cNvSpPr>
            <a:spLocks noGrp="1" noChangeArrowheads="1"/>
          </p:cNvSpPr>
          <p:nvPr>
            <p:ph type="sldNum" sz="quarter" idx="12"/>
          </p:nvPr>
        </p:nvSpPr>
        <p:spPr>
          <a:ln/>
        </p:spPr>
        <p:txBody>
          <a:bodyPr/>
          <a:lstStyle>
            <a:lvl1pPr>
              <a:defRPr/>
            </a:lvl1pPr>
          </a:lstStyle>
          <a:p>
            <a:fld id="{7F318B0F-B1AF-594B-AA89-D1C92B2445CC}" type="slidenum">
              <a:rPr lang="en-US" altLang="en-US"/>
              <a:pPr/>
              <a:t>‹#›</a:t>
            </a:fld>
            <a:endParaRPr lang="en-US" altLang="en-US"/>
          </a:p>
        </p:txBody>
      </p:sp>
    </p:spTree>
    <p:extLst>
      <p:ext uri="{BB962C8B-B14F-4D97-AF65-F5344CB8AC3E}">
        <p14:creationId xmlns:p14="http://schemas.microsoft.com/office/powerpoint/2010/main" val="355807327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411959"/>
            <a:ext cx="16459200" cy="8777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Rectangle 4">
            <a:extLst>
              <a:ext uri="{FF2B5EF4-FFF2-40B4-BE49-F238E27FC236}">
                <a16:creationId xmlns:a16="http://schemas.microsoft.com/office/drawing/2014/main" id="{A78232EC-B2A8-C143-ACB0-89F0E5D889B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E5602903-C5EA-6C4C-B5F2-B86D2D565E1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BF1A0A5-AD10-2340-BC89-9D16FDAD00D9}"/>
              </a:ext>
            </a:extLst>
          </p:cNvPr>
          <p:cNvSpPr>
            <a:spLocks noGrp="1" noChangeArrowheads="1"/>
          </p:cNvSpPr>
          <p:nvPr>
            <p:ph type="sldNum" sz="quarter" idx="12"/>
          </p:nvPr>
        </p:nvSpPr>
        <p:spPr>
          <a:ln/>
        </p:spPr>
        <p:txBody>
          <a:bodyPr/>
          <a:lstStyle>
            <a:lvl1pPr>
              <a:defRPr/>
            </a:lvl1pPr>
          </a:lstStyle>
          <a:p>
            <a:fld id="{96A68D32-FF93-834A-B58C-1FA432242830}" type="slidenum">
              <a:rPr lang="en-US" altLang="en-US"/>
              <a:pPr/>
              <a:t>‹#›</a:t>
            </a:fld>
            <a:endParaRPr lang="en-US" altLang="en-US"/>
          </a:p>
        </p:txBody>
      </p:sp>
    </p:spTree>
    <p:extLst>
      <p:ext uri="{BB962C8B-B14F-4D97-AF65-F5344CB8AC3E}">
        <p14:creationId xmlns:p14="http://schemas.microsoft.com/office/powerpoint/2010/main" val="758405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1.jpe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DM Sans" pitchFamily="2" charset="0"/>
              </a:defRPr>
            </a:lvl1pPr>
          </a:lstStyle>
          <a:p>
            <a:fld id="{1D8BD707-D9CF-40AE-B4C6-C98DA3205C09}" type="datetimeFigureOut">
              <a:rPr lang="en-US" smtClean="0"/>
              <a:pPr/>
              <a:t>4/22/26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DM Sans" pitchFamily="2" charset="0"/>
          <a:ea typeface="+mj-ea"/>
          <a:cs typeface="+mj-cs"/>
        </a:defRPr>
      </a:lvl1pPr>
    </p:titleStyle>
    <p:body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DM Sans" pitchFamily="2" charset="0"/>
              </a:defRPr>
            </a:lvl1pPr>
          </a:lstStyle>
          <a:p>
            <a:fld id="{1D8BD707-D9CF-40AE-B4C6-C98DA3205C09}" type="datetimeFigureOut">
              <a:rPr lang="en-US" smtClean="0"/>
              <a:pPr/>
              <a:t>4/22/26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081754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defTabSz="914400" rtl="0" eaLnBrk="1" latinLnBrk="0" hangingPunct="1">
        <a:spcBef>
          <a:spcPct val="0"/>
        </a:spcBef>
        <a:buNone/>
        <a:defRPr sz="4400" kern="1200">
          <a:solidFill>
            <a:schemeClr val="tx1"/>
          </a:solidFill>
          <a:latin typeface="DM Sans" pitchFamily="2" charset="0"/>
          <a:ea typeface="+mj-ea"/>
          <a:cs typeface="+mj-cs"/>
        </a:defRPr>
      </a:lvl1pPr>
    </p:titleStyle>
    <p:body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3"/>
            <a:ext cx="8229600" cy="45259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6"/>
            <a:ext cx="2133600" cy="365126"/>
          </a:xfrm>
          <a:prstGeom prst="rect">
            <a:avLst/>
          </a:prstGeom>
        </p:spPr>
        <p:txBody>
          <a:bodyPr vert="horz" lIns="91440" tIns="45720" rIns="91440" bIns="45720" rtlCol="0" anchor="ctr"/>
          <a:lstStyle>
            <a:lvl1pPr algn="l">
              <a:defRPr sz="900">
                <a:solidFill>
                  <a:schemeClr val="tx1">
                    <a:tint val="75000"/>
                  </a:schemeClr>
                </a:solidFill>
                <a:latin typeface="DM Sans" pitchFamily="2" charset="0"/>
              </a:defRPr>
            </a:lvl1pPr>
          </a:lstStyle>
          <a:p>
            <a:fld id="{1D8BD707-D9CF-40AE-B4C6-C98DA3205C09}" type="datetimeFigureOut">
              <a:rPr lang="en-US" smtClean="0"/>
              <a:pPr/>
              <a:t>4/22/26</a:t>
            </a:fld>
            <a:endParaRPr lang="en-US"/>
          </a:p>
        </p:txBody>
      </p:sp>
      <p:sp>
        <p:nvSpPr>
          <p:cNvPr id="5" name="Footer Placeholder 4"/>
          <p:cNvSpPr>
            <a:spLocks noGrp="1"/>
          </p:cNvSpPr>
          <p:nvPr>
            <p:ph type="ftr" sz="quarter" idx="3"/>
          </p:nvPr>
        </p:nvSpPr>
        <p:spPr>
          <a:xfrm>
            <a:off x="3124200" y="6356356"/>
            <a:ext cx="2895600" cy="365126"/>
          </a:xfrm>
          <a:prstGeom prst="rect">
            <a:avLst/>
          </a:prstGeom>
        </p:spPr>
        <p:txBody>
          <a:bodyPr vert="horz" lIns="91440" tIns="45720" rIns="91440" bIns="45720" rtlCol="0" anchor="ctr"/>
          <a:lstStyle>
            <a:lvl1pPr algn="ctr">
              <a:defRPr sz="9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6553200" y="6356356"/>
            <a:ext cx="2133600" cy="365126"/>
          </a:xfrm>
          <a:prstGeom prst="rect">
            <a:avLst/>
          </a:prstGeom>
        </p:spPr>
        <p:txBody>
          <a:bodyPr vert="horz" lIns="91440" tIns="45720" rIns="91440" bIns="45720" rtlCol="0" anchor="ctr"/>
          <a:lstStyle>
            <a:lvl1pPr algn="r">
              <a:defRPr sz="9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44326316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xStyles>
    <p:titleStyle>
      <a:lvl1pPr algn="ctr" defTabSz="685869" rtl="0" eaLnBrk="1" latinLnBrk="0" hangingPunct="1">
        <a:spcBef>
          <a:spcPct val="0"/>
        </a:spcBef>
        <a:buNone/>
        <a:defRPr sz="3300" kern="1200">
          <a:solidFill>
            <a:schemeClr val="tx1"/>
          </a:solidFill>
          <a:latin typeface="DM Sans" pitchFamily="2" charset="0"/>
          <a:ea typeface="+mj-ea"/>
          <a:cs typeface="+mj-cs"/>
        </a:defRPr>
      </a:lvl1pPr>
    </p:titleStyle>
    <p:bodyStyle>
      <a:lvl1pPr marL="257201" indent="-257201" algn="l" defTabSz="685869"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1pPr>
      <a:lvl2pPr marL="557270" indent="-214335" algn="l" defTabSz="685869" rtl="0" eaLnBrk="1" latinLnBrk="0" hangingPunct="1">
        <a:spcBef>
          <a:spcPct val="20000"/>
        </a:spcBef>
        <a:buFont typeface="DM Sans" pitchFamily="34" charset="0"/>
        <a:buChar char="–"/>
        <a:defRPr sz="2100" kern="1200">
          <a:solidFill>
            <a:schemeClr val="tx1"/>
          </a:solidFill>
          <a:latin typeface="DM Sans" pitchFamily="2" charset="0"/>
          <a:ea typeface="+mn-ea"/>
          <a:cs typeface="+mn-cs"/>
        </a:defRPr>
      </a:lvl2pPr>
      <a:lvl3pPr marL="857337" indent="-171468" algn="l" defTabSz="685869" rtl="0" eaLnBrk="1" latinLnBrk="0" hangingPunct="1">
        <a:spcBef>
          <a:spcPct val="20000"/>
        </a:spcBef>
        <a:buFont typeface="DM Sans" pitchFamily="34" charset="0"/>
        <a:buChar char="•"/>
        <a:defRPr sz="1800" kern="1200">
          <a:solidFill>
            <a:schemeClr val="tx1"/>
          </a:solidFill>
          <a:latin typeface="DM Sans" pitchFamily="2" charset="0"/>
          <a:ea typeface="+mn-ea"/>
          <a:cs typeface="+mn-cs"/>
        </a:defRPr>
      </a:lvl3pPr>
      <a:lvl4pPr marL="1200270" indent="-171468" algn="l" defTabSz="685869" rtl="0" eaLnBrk="1" latinLnBrk="0" hangingPunct="1">
        <a:spcBef>
          <a:spcPct val="20000"/>
        </a:spcBef>
        <a:buFont typeface="DM Sans" pitchFamily="34" charset="0"/>
        <a:buChar char="–"/>
        <a:defRPr sz="1500" kern="1200">
          <a:solidFill>
            <a:schemeClr val="tx1"/>
          </a:solidFill>
          <a:latin typeface="DM Sans" pitchFamily="2" charset="0"/>
          <a:ea typeface="+mn-ea"/>
          <a:cs typeface="+mn-cs"/>
        </a:defRPr>
      </a:lvl4pPr>
      <a:lvl5pPr marL="1543205" indent="-171468" algn="l" defTabSz="685869" rtl="0" eaLnBrk="1" latinLnBrk="0" hangingPunct="1">
        <a:spcBef>
          <a:spcPct val="20000"/>
        </a:spcBef>
        <a:buFont typeface="DM Sans" pitchFamily="34" charset="0"/>
        <a:buChar char="»"/>
        <a:defRPr sz="1500" kern="1200">
          <a:solidFill>
            <a:schemeClr val="tx1"/>
          </a:solidFill>
          <a:latin typeface="DM Sans" pitchFamily="2" charset="0"/>
          <a:ea typeface="+mn-ea"/>
          <a:cs typeface="+mn-cs"/>
        </a:defRPr>
      </a:lvl5pPr>
      <a:lvl6pPr marL="1886139" indent="-171468" algn="l" defTabSz="685869" rtl="0" eaLnBrk="1" latinLnBrk="0" hangingPunct="1">
        <a:spcBef>
          <a:spcPct val="20000"/>
        </a:spcBef>
        <a:buFont typeface="DM Sans" pitchFamily="34" charset="0"/>
        <a:buChar char="•"/>
        <a:defRPr sz="1500" kern="1200">
          <a:solidFill>
            <a:schemeClr val="tx1"/>
          </a:solidFill>
          <a:latin typeface="+mn-lt"/>
          <a:ea typeface="+mn-ea"/>
          <a:cs typeface="+mn-cs"/>
        </a:defRPr>
      </a:lvl6pPr>
      <a:lvl7pPr marL="2229072" indent="-171468" algn="l" defTabSz="685869" rtl="0" eaLnBrk="1" latinLnBrk="0" hangingPunct="1">
        <a:spcBef>
          <a:spcPct val="20000"/>
        </a:spcBef>
        <a:buFont typeface="DM Sans" pitchFamily="34" charset="0"/>
        <a:buChar char="•"/>
        <a:defRPr sz="1500" kern="1200">
          <a:solidFill>
            <a:schemeClr val="tx1"/>
          </a:solidFill>
          <a:latin typeface="+mn-lt"/>
          <a:ea typeface="+mn-ea"/>
          <a:cs typeface="+mn-cs"/>
        </a:defRPr>
      </a:lvl7pPr>
      <a:lvl8pPr marL="2572008" indent="-171468" algn="l" defTabSz="685869" rtl="0" eaLnBrk="1" latinLnBrk="0" hangingPunct="1">
        <a:spcBef>
          <a:spcPct val="20000"/>
        </a:spcBef>
        <a:buFont typeface="DM Sans" pitchFamily="34" charset="0"/>
        <a:buChar char="•"/>
        <a:defRPr sz="1500" kern="1200">
          <a:solidFill>
            <a:schemeClr val="tx1"/>
          </a:solidFill>
          <a:latin typeface="+mn-lt"/>
          <a:ea typeface="+mn-ea"/>
          <a:cs typeface="+mn-cs"/>
        </a:defRPr>
      </a:lvl8pPr>
      <a:lvl9pPr marL="2914943" indent="-171468" algn="l" defTabSz="685869" rtl="0" eaLnBrk="1" latinLnBrk="0" hangingPunct="1">
        <a:spcBef>
          <a:spcPct val="20000"/>
        </a:spcBef>
        <a:buFont typeface="DM Sans" pitchFamily="34" charset="0"/>
        <a:buChar char="•"/>
        <a:defRPr sz="1500" kern="1200">
          <a:solidFill>
            <a:schemeClr val="tx1"/>
          </a:solidFill>
          <a:latin typeface="+mn-lt"/>
          <a:ea typeface="+mn-ea"/>
          <a:cs typeface="+mn-cs"/>
        </a:defRPr>
      </a:lvl9pPr>
    </p:bodyStyle>
    <p:otherStyle>
      <a:defPPr>
        <a:defRPr lang="en-US"/>
      </a:defPPr>
      <a:lvl1pPr marL="0" algn="l" defTabSz="685869" rtl="0" eaLnBrk="1" latinLnBrk="0" hangingPunct="1">
        <a:defRPr sz="1350" kern="1200">
          <a:solidFill>
            <a:schemeClr val="tx1"/>
          </a:solidFill>
          <a:latin typeface="+mn-lt"/>
          <a:ea typeface="+mn-ea"/>
          <a:cs typeface="+mn-cs"/>
        </a:defRPr>
      </a:lvl1pPr>
      <a:lvl2pPr marL="342935" algn="l" defTabSz="685869" rtl="0" eaLnBrk="1" latinLnBrk="0" hangingPunct="1">
        <a:defRPr sz="1350" kern="1200">
          <a:solidFill>
            <a:schemeClr val="tx1"/>
          </a:solidFill>
          <a:latin typeface="+mn-lt"/>
          <a:ea typeface="+mn-ea"/>
          <a:cs typeface="+mn-cs"/>
        </a:defRPr>
      </a:lvl2pPr>
      <a:lvl3pPr marL="685869" algn="l" defTabSz="685869" rtl="0" eaLnBrk="1" latinLnBrk="0" hangingPunct="1">
        <a:defRPr sz="1350" kern="1200">
          <a:solidFill>
            <a:schemeClr val="tx1"/>
          </a:solidFill>
          <a:latin typeface="+mn-lt"/>
          <a:ea typeface="+mn-ea"/>
          <a:cs typeface="+mn-cs"/>
        </a:defRPr>
      </a:lvl3pPr>
      <a:lvl4pPr marL="1028805" algn="l" defTabSz="685869" rtl="0" eaLnBrk="1" latinLnBrk="0" hangingPunct="1">
        <a:defRPr sz="1350" kern="1200">
          <a:solidFill>
            <a:schemeClr val="tx1"/>
          </a:solidFill>
          <a:latin typeface="+mn-lt"/>
          <a:ea typeface="+mn-ea"/>
          <a:cs typeface="+mn-cs"/>
        </a:defRPr>
      </a:lvl4pPr>
      <a:lvl5pPr marL="1371738" algn="l" defTabSz="685869" rtl="0" eaLnBrk="1" latinLnBrk="0" hangingPunct="1">
        <a:defRPr sz="1350" kern="1200">
          <a:solidFill>
            <a:schemeClr val="tx1"/>
          </a:solidFill>
          <a:latin typeface="+mn-lt"/>
          <a:ea typeface="+mn-ea"/>
          <a:cs typeface="+mn-cs"/>
        </a:defRPr>
      </a:lvl5pPr>
      <a:lvl6pPr marL="1714671" algn="l" defTabSz="685869" rtl="0" eaLnBrk="1" latinLnBrk="0" hangingPunct="1">
        <a:defRPr sz="1350" kern="1200">
          <a:solidFill>
            <a:schemeClr val="tx1"/>
          </a:solidFill>
          <a:latin typeface="+mn-lt"/>
          <a:ea typeface="+mn-ea"/>
          <a:cs typeface="+mn-cs"/>
        </a:defRPr>
      </a:lvl6pPr>
      <a:lvl7pPr marL="2057606" algn="l" defTabSz="685869" rtl="0" eaLnBrk="1" latinLnBrk="0" hangingPunct="1">
        <a:defRPr sz="1350" kern="1200">
          <a:solidFill>
            <a:schemeClr val="tx1"/>
          </a:solidFill>
          <a:latin typeface="+mn-lt"/>
          <a:ea typeface="+mn-ea"/>
          <a:cs typeface="+mn-cs"/>
        </a:defRPr>
      </a:lvl7pPr>
      <a:lvl8pPr marL="2400540" algn="l" defTabSz="685869" rtl="0" eaLnBrk="1" latinLnBrk="0" hangingPunct="1">
        <a:defRPr sz="1350" kern="1200">
          <a:solidFill>
            <a:schemeClr val="tx1"/>
          </a:solidFill>
          <a:latin typeface="+mn-lt"/>
          <a:ea typeface="+mn-ea"/>
          <a:cs typeface="+mn-cs"/>
        </a:defRPr>
      </a:lvl8pPr>
      <a:lvl9pPr marL="2743475" algn="l" defTabSz="685869"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5.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png"/><Relationship Id="rId7" Type="http://schemas.openxmlformats.org/officeDocument/2006/relationships/diagramQuickStyle" Target="../diagrams/quickStyle1.xml"/><Relationship Id="rId2" Type="http://schemas.openxmlformats.org/officeDocument/2006/relationships/notesSlide" Target="../notesSlides/notesSlide12.xml"/><Relationship Id="rId1" Type="http://schemas.openxmlformats.org/officeDocument/2006/relationships/slideLayout" Target="../slideLayouts/slideLayout18.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7.png"/><Relationship Id="rId9" Type="http://schemas.microsoft.com/office/2007/relationships/diagramDrawing" Target="../diagrams/drawing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8.gif"/><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21.jp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24.png"/><Relationship Id="rId5" Type="http://schemas.openxmlformats.org/officeDocument/2006/relationships/image" Target="../media/image3.png"/><Relationship Id="rId4" Type="http://schemas.openxmlformats.org/officeDocument/2006/relationships/image" Target="../media/image1.jpe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25.jpe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26.jpg"/><Relationship Id="rId2" Type="http://schemas.openxmlformats.org/officeDocument/2006/relationships/slideLayout" Target="../slideLayouts/slideLayout7.xml"/><Relationship Id="rId1" Type="http://schemas.openxmlformats.org/officeDocument/2006/relationships/tags" Target="../tags/tag2.xml"/><Relationship Id="rId6" Type="http://schemas.openxmlformats.org/officeDocument/2006/relationships/image" Target="../media/image21.jpg"/><Relationship Id="rId5" Type="http://schemas.openxmlformats.org/officeDocument/2006/relationships/image" Target="../media/image3.png"/><Relationship Id="rId4" Type="http://schemas.openxmlformats.org/officeDocument/2006/relationships/image" Target="../media/image1.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7" Type="http://schemas.openxmlformats.org/officeDocument/2006/relationships/image" Target="../media/image27.png"/><Relationship Id="rId2" Type="http://schemas.openxmlformats.org/officeDocument/2006/relationships/slideLayout" Target="../slideLayouts/slideLayout7.xml"/><Relationship Id="rId1" Type="http://schemas.openxmlformats.org/officeDocument/2006/relationships/tags" Target="../tags/tag3.xml"/><Relationship Id="rId6" Type="http://schemas.openxmlformats.org/officeDocument/2006/relationships/image" Target="../media/image26.jpg"/><Relationship Id="rId5" Type="http://schemas.openxmlformats.org/officeDocument/2006/relationships/image" Target="../media/image3.png"/><Relationship Id="rId4" Type="http://schemas.openxmlformats.org/officeDocument/2006/relationships/image" Target="../media/image1.jpe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21.jpg"/><Relationship Id="rId5" Type="http://schemas.openxmlformats.org/officeDocument/2006/relationships/image" Target="../media/image31.jpe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8.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1.jpeg"/></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ags" Target="../tags/tag5.xml"/><Relationship Id="rId5" Type="http://schemas.openxmlformats.org/officeDocument/2006/relationships/image" Target="../media/image3.png"/><Relationship Id="rId4" Type="http://schemas.openxmlformats.org/officeDocument/2006/relationships/image" Target="../media/image1.jpe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tags" Target="../tags/tag6.xml"/><Relationship Id="rId6" Type="http://schemas.openxmlformats.org/officeDocument/2006/relationships/image" Target="../media/image38.png"/><Relationship Id="rId5" Type="http://schemas.openxmlformats.org/officeDocument/2006/relationships/image" Target="../media/image3.png"/><Relationship Id="rId4" Type="http://schemas.openxmlformats.org/officeDocument/2006/relationships/image" Target="../media/image1.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tags" Target="../tags/tag7.xml"/><Relationship Id="rId5" Type="http://schemas.openxmlformats.org/officeDocument/2006/relationships/image" Target="../media/image3.png"/><Relationship Id="rId4" Type="http://schemas.openxmlformats.org/officeDocument/2006/relationships/image" Target="../media/image1.jpeg"/></Relationships>
</file>

<file path=ppt/slides/_rels/slide4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tags" Target="../tags/tag8.xml"/><Relationship Id="rId5" Type="http://schemas.openxmlformats.org/officeDocument/2006/relationships/image" Target="../media/image3.png"/><Relationship Id="rId4" Type="http://schemas.openxmlformats.org/officeDocument/2006/relationships/image" Target="../media/image1.jpeg"/></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7.xml"/><Relationship Id="rId1" Type="http://schemas.openxmlformats.org/officeDocument/2006/relationships/tags" Target="../tags/tag9.xml"/><Relationship Id="rId5" Type="http://schemas.openxmlformats.org/officeDocument/2006/relationships/image" Target="../media/image3.png"/><Relationship Id="rId4" Type="http://schemas.openxmlformats.org/officeDocument/2006/relationships/image" Target="../media/image1.jpeg"/></Relationships>
</file>

<file path=ppt/slides/_rels/slide46.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3.png"/><Relationship Id="rId7" Type="http://schemas.openxmlformats.org/officeDocument/2006/relationships/diagramQuickStyle" Target="../diagrams/quickStyle2.xml"/><Relationship Id="rId2" Type="http://schemas.openxmlformats.org/officeDocument/2006/relationships/notesSlide" Target="../notesSlides/notesSlide44.xml"/><Relationship Id="rId1" Type="http://schemas.openxmlformats.org/officeDocument/2006/relationships/slideLayout" Target="../slideLayouts/slideLayout18.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7.png"/><Relationship Id="rId9" Type="http://schemas.microsoft.com/office/2007/relationships/diagramDrawing" Target="../diagrams/drawing2.xml"/></Relationships>
</file>

<file path=ppt/slides/_rels/slide4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5.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8.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31.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31.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31.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31.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31.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31.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31.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31.xml"/></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31.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31.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31.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Freeform 13"/>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14">
            <a:extLst>
              <a:ext uri="{FF2B5EF4-FFF2-40B4-BE49-F238E27FC236}">
                <a16:creationId xmlns:a16="http://schemas.microsoft.com/office/drawing/2014/main" id="{F0DA2D17-C40D-DA25-624F-1D8A297B593A}"/>
              </a:ext>
            </a:extLst>
          </p:cNvPr>
          <p:cNvSpPr txBox="1"/>
          <p:nvPr/>
        </p:nvSpPr>
        <p:spPr>
          <a:xfrm>
            <a:off x="1319472" y="4205856"/>
            <a:ext cx="14764384" cy="2761718"/>
          </a:xfrm>
          <a:prstGeom prst="rect">
            <a:avLst/>
          </a:prstGeom>
        </p:spPr>
        <p:txBody>
          <a:bodyPr wrap="square" lIns="0" tIns="0" rIns="0" bIns="0" rtlCol="0" anchor="t">
            <a:spAutoFit/>
          </a:bodyPr>
          <a:lstStyle/>
          <a:p>
            <a:pPr>
              <a:lnSpc>
                <a:spcPts val="10999"/>
              </a:lnSpc>
            </a:pPr>
            <a:r>
              <a:rPr lang="en-GB" altLang="en-US" sz="8000" b="1" dirty="0">
                <a:solidFill>
                  <a:schemeClr val="bg1"/>
                </a:solidFill>
              </a:rPr>
              <a:t>Mitigating Climate Change</a:t>
            </a:r>
            <a:br>
              <a:rPr lang="en-GB" altLang="en-US" sz="8000" b="1" dirty="0">
                <a:solidFill>
                  <a:schemeClr val="bg1"/>
                </a:solidFill>
              </a:rPr>
            </a:br>
            <a:endParaRPr lang="en-US" sz="8000" b="1" dirty="0">
              <a:solidFill>
                <a:schemeClr val="bg1"/>
              </a:solidFill>
              <a:latin typeface="DM Sans" pitchFamily="2" charset="0"/>
            </a:endParaRPr>
          </a:p>
        </p:txBody>
      </p:sp>
      <p:sp>
        <p:nvSpPr>
          <p:cNvPr id="3" name="TextBox 14">
            <a:extLst>
              <a:ext uri="{FF2B5EF4-FFF2-40B4-BE49-F238E27FC236}">
                <a16:creationId xmlns:a16="http://schemas.microsoft.com/office/drawing/2014/main" id="{4E4EAF08-B290-2C6A-BBCC-3221855F907B}"/>
              </a:ext>
            </a:extLst>
          </p:cNvPr>
          <p:cNvSpPr txBox="1"/>
          <p:nvPr/>
        </p:nvSpPr>
        <p:spPr>
          <a:xfrm>
            <a:off x="1371599" y="6256374"/>
            <a:ext cx="9787467" cy="2585901"/>
          </a:xfrm>
          <a:prstGeom prst="rect">
            <a:avLst/>
          </a:prstGeom>
        </p:spPr>
        <p:txBody>
          <a:bodyPr wrap="square" lIns="0" tIns="0" rIns="0" bIns="0" rtlCol="0" anchor="t">
            <a:spAutoFit/>
          </a:bodyPr>
          <a:lstStyle/>
          <a:p>
            <a:pPr>
              <a:lnSpc>
                <a:spcPts val="10999"/>
              </a:lnSpc>
            </a:pPr>
            <a:r>
              <a:rPr lang="en-US" sz="3200" b="1" dirty="0">
                <a:solidFill>
                  <a:srgbClr val="FAB700"/>
                </a:solidFill>
                <a:latin typeface="DM Sans" pitchFamily="2" charset="0"/>
              </a:rPr>
              <a:t>Week 9 - Global Climate Change EART21202 </a:t>
            </a:r>
          </a:p>
          <a:p>
            <a:pPr>
              <a:lnSpc>
                <a:spcPts val="10999"/>
              </a:lnSpc>
            </a:pPr>
            <a:r>
              <a:rPr lang="en-US" sz="3200" b="1" dirty="0">
                <a:solidFill>
                  <a:srgbClr val="FAB700"/>
                </a:solidFill>
                <a:latin typeface="DM Sans" pitchFamily="2" charset="0"/>
              </a:rPr>
              <a:t>Dr Thomas </a:t>
            </a:r>
            <a:r>
              <a:rPr lang="en-US" sz="3200" b="1" dirty="0" err="1">
                <a:solidFill>
                  <a:srgbClr val="FAB700"/>
                </a:solidFill>
                <a:latin typeface="DM Sans" pitchFamily="2" charset="0"/>
              </a:rPr>
              <a:t>Bannan</a:t>
            </a:r>
            <a:r>
              <a:rPr lang="en-US" sz="3200" b="1" dirty="0">
                <a:solidFill>
                  <a:srgbClr val="FAB700"/>
                </a:solidFill>
                <a:latin typeface="DM Sans" pitchFamily="2" charset="0"/>
              </a:rPr>
              <a:t> </a:t>
            </a:r>
          </a:p>
        </p:txBody>
      </p:sp>
      <p:sp>
        <p:nvSpPr>
          <p:cNvPr id="4" name="TextBox 3">
            <a:extLst>
              <a:ext uri="{FF2B5EF4-FFF2-40B4-BE49-F238E27FC236}">
                <a16:creationId xmlns:a16="http://schemas.microsoft.com/office/drawing/2014/main" id="{5889A0A8-15D6-C5A0-517B-A5C87EE4AF42}"/>
              </a:ext>
            </a:extLst>
          </p:cNvPr>
          <p:cNvSpPr txBox="1"/>
          <p:nvPr/>
        </p:nvSpPr>
        <p:spPr>
          <a:xfrm>
            <a:off x="1371600" y="9077406"/>
            <a:ext cx="9047747" cy="461665"/>
          </a:xfrm>
          <a:prstGeom prst="rect">
            <a:avLst/>
          </a:prstGeom>
          <a:noFill/>
        </p:spPr>
        <p:txBody>
          <a:bodyPr wrap="square" rtlCol="0">
            <a:spAutoFit/>
          </a:bodyPr>
          <a:lstStyle/>
          <a:p>
            <a:r>
              <a:rPr lang="en-US" sz="2400" dirty="0" err="1">
                <a:solidFill>
                  <a:schemeClr val="bg1"/>
                </a:solidFill>
              </a:rPr>
              <a:t>Thomas.Bannan@Manchester.ac.uk</a:t>
            </a:r>
            <a:endParaRPr lang="en-US" sz="24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48833"/>
    </mc:Choice>
    <mc:Fallback xmlns="">
      <p:transition spd="slow" advTm="4883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9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FB782D3E-A7C2-D4CE-6000-D69ABF52E0A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EE16A5-7C45-015F-8A98-91B324DAAE94}"/>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5" name="TextBox 14">
            <a:extLst>
              <a:ext uri="{FF2B5EF4-FFF2-40B4-BE49-F238E27FC236}">
                <a16:creationId xmlns:a16="http://schemas.microsoft.com/office/drawing/2014/main" id="{CDF94BBB-12EF-E975-6BC5-CB4840BAD385}"/>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mn-ea"/>
                <a:cs typeface="+mn-cs"/>
              </a:rPr>
              <a:t>Global Climate Change - 2026</a:t>
            </a:r>
          </a:p>
        </p:txBody>
      </p:sp>
      <p:sp>
        <p:nvSpPr>
          <p:cNvPr id="2" name="TextBox 1">
            <a:extLst>
              <a:ext uri="{FF2B5EF4-FFF2-40B4-BE49-F238E27FC236}">
                <a16:creationId xmlns:a16="http://schemas.microsoft.com/office/drawing/2014/main" id="{80BD60C8-019A-F807-75A8-73ADCA403375}"/>
              </a:ext>
            </a:extLst>
          </p:cNvPr>
          <p:cNvSpPr txBox="1"/>
          <p:nvPr/>
        </p:nvSpPr>
        <p:spPr>
          <a:xfrm>
            <a:off x="584198" y="2192954"/>
            <a:ext cx="17081234" cy="7294305"/>
          </a:xfrm>
          <a:prstGeom prst="rect">
            <a:avLst/>
          </a:prstGeom>
          <a:noFill/>
        </p:spPr>
        <p:txBody>
          <a:bodyPr wrap="square">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Week 1 – </a:t>
            </a:r>
            <a:r>
              <a:rPr kumimoji="0" lang="en-GB" sz="3600" b="0" i="0" u="none" strike="noStrike" kern="1200" cap="none" spc="0" normalizeH="0" baseline="0" noProof="0" dirty="0">
                <a:ln>
                  <a:noFill/>
                </a:ln>
                <a:solidFill>
                  <a:prstClr val="white">
                    <a:lumMod val="65000"/>
                  </a:prstClr>
                </a:solidFill>
                <a:effectLst/>
                <a:uLnTx/>
                <a:uFillTx/>
                <a:latin typeface="Calibri" panose="020F0502020204030204" pitchFamily="34" charset="0"/>
                <a:ea typeface="+mn-ea"/>
                <a:cs typeface="Calibri" panose="020F0502020204030204" pitchFamily="34" charset="0"/>
              </a:rPr>
              <a:t>Introduction to climate change and its impacts </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(5</a:t>
            </a:r>
            <a:r>
              <a:rPr kumimoji="0" lang="en-GB" sz="3600" b="0" i="0" u="none" strike="noStrike" kern="100" cap="none" spc="0" normalizeH="0" baseline="3000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Feb)</a:t>
            </a:r>
          </a:p>
          <a:p>
            <a:pPr marL="0" marR="0" lvl="0" indent="0" algn="l" defTabSz="609660" rtl="0" eaLnBrk="1" fontAlgn="auto" latinLnBrk="0" hangingPunct="1">
              <a:lnSpc>
                <a:spcPct val="100000"/>
              </a:lnSpc>
              <a:spcBef>
                <a:spcPts val="0"/>
              </a:spcBef>
              <a:spcAft>
                <a:spcPts val="0"/>
              </a:spcAft>
              <a:buClrTx/>
              <a:buSzTx/>
              <a:buFontTx/>
              <a:buNone/>
              <a:tabLst/>
              <a:defRPr/>
            </a:pP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Week 2 – </a:t>
            </a:r>
            <a:r>
              <a:rPr kumimoji="0" lang="en-GB" sz="3600" b="0" i="0" u="none" strike="noStrike" kern="1200" cap="none" spc="0" normalizeH="0" baseline="0" noProof="0" dirty="0">
                <a:ln>
                  <a:noFill/>
                </a:ln>
                <a:solidFill>
                  <a:prstClr val="white">
                    <a:lumMod val="65000"/>
                  </a:prstClr>
                </a:solidFill>
                <a:effectLst/>
                <a:uLnTx/>
                <a:uFillTx/>
                <a:latin typeface="Calibri" panose="020F0502020204030204" pitchFamily="34" charset="0"/>
                <a:ea typeface="+mn-ea"/>
                <a:cs typeface="Calibri" panose="020F0502020204030204" pitchFamily="34" charset="0"/>
              </a:rPr>
              <a:t>Natural climate variability</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(12</a:t>
            </a:r>
            <a:r>
              <a:rPr kumimoji="0" lang="en-GB" sz="3600" b="0" i="0" u="none" strike="noStrike" kern="100" cap="none" spc="0" normalizeH="0" baseline="3000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Feb)</a:t>
            </a:r>
            <a:endParaRPr kumimoji="0" lang="en-GB" sz="3600" b="0" i="0" u="none" strike="noStrike" kern="1200" cap="none" spc="0" normalizeH="0" baseline="0" noProof="0" dirty="0">
              <a:ln>
                <a:noFill/>
              </a:ln>
              <a:solidFill>
                <a:prstClr val="white">
                  <a:lumMod val="65000"/>
                </a:prstClr>
              </a:solidFill>
              <a:effectLst/>
              <a:uLnTx/>
              <a:uFillTx/>
              <a:latin typeface="Calibri" panose="020F0502020204030204" pitchFamily="34" charset="0"/>
              <a:ea typeface="+mn-ea"/>
              <a:cs typeface="Calibri" panose="020F0502020204030204" pitchFamily="34" charset="0"/>
            </a:endParaRPr>
          </a:p>
          <a:p>
            <a:pPr marL="0" marR="0" lvl="0" indent="0" algn="l" defTabSz="609660" rtl="0" eaLnBrk="1" fontAlgn="auto" latinLnBrk="0" hangingPunct="1">
              <a:lnSpc>
                <a:spcPct val="100000"/>
              </a:lnSpc>
              <a:spcBef>
                <a:spcPts val="0"/>
              </a:spcBef>
              <a:spcAft>
                <a:spcPts val="0"/>
              </a:spcAft>
              <a:buClrTx/>
              <a:buSzTx/>
              <a:buFontTx/>
              <a:buNone/>
              <a:tabLst/>
              <a:defRPr/>
            </a:pP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Week 3 – </a:t>
            </a:r>
            <a:r>
              <a:rPr kumimoji="0" lang="en-GB" sz="3600" b="0" i="0" u="none" strike="noStrike" kern="1200" cap="none" spc="0" normalizeH="0" baseline="0" noProof="0" dirty="0">
                <a:ln>
                  <a:noFill/>
                </a:ln>
                <a:solidFill>
                  <a:prstClr val="white">
                    <a:lumMod val="65000"/>
                  </a:prstClr>
                </a:solidFill>
                <a:effectLst/>
                <a:uLnTx/>
                <a:uFillTx/>
                <a:latin typeface="Calibri" panose="020F0502020204030204" pitchFamily="34" charset="0"/>
                <a:ea typeface="+mn-ea"/>
                <a:cs typeface="Calibri" panose="020F0502020204030204" pitchFamily="34" charset="0"/>
              </a:rPr>
              <a:t>Radiation Law/Greenhouse Effect/Radiative forcing/feedbacks</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(19</a:t>
            </a:r>
            <a:r>
              <a:rPr kumimoji="0" lang="en-GB" sz="3600" b="0" i="0" u="none" strike="noStrike" kern="100" cap="none" spc="0" normalizeH="0" baseline="3000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Feb)</a:t>
            </a:r>
            <a:endParaRPr kumimoji="0" lang="en-GB" sz="3600" b="0" i="0" u="none" strike="noStrike" kern="1200" cap="none" spc="0" normalizeH="0" baseline="0" noProof="0" dirty="0">
              <a:ln>
                <a:noFill/>
              </a:ln>
              <a:solidFill>
                <a:prstClr val="white">
                  <a:lumMod val="65000"/>
                </a:prstClr>
              </a:solidFill>
              <a:effectLst/>
              <a:uLnTx/>
              <a:uFillTx/>
              <a:latin typeface="Calibri" panose="020F0502020204030204" pitchFamily="34" charset="0"/>
              <a:ea typeface="+mn-ea"/>
              <a:cs typeface="Calibri" panose="020F0502020204030204" pitchFamily="34" charset="0"/>
            </a:endParaRPr>
          </a:p>
          <a:p>
            <a:pPr marL="0" marR="0" lvl="0" indent="0" algn="l" defTabSz="609660" rtl="0" eaLnBrk="1" fontAlgn="auto" latinLnBrk="0" hangingPunct="1">
              <a:lnSpc>
                <a:spcPct val="100000"/>
              </a:lnSpc>
              <a:spcBef>
                <a:spcPts val="0"/>
              </a:spcBef>
              <a:spcAft>
                <a:spcPts val="0"/>
              </a:spcAft>
              <a:buClrTx/>
              <a:buSzTx/>
              <a:buFontTx/>
              <a:buNone/>
              <a:tabLst/>
              <a:defRPr/>
            </a:pP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Week 4 – A</a:t>
            </a:r>
            <a:r>
              <a:rPr kumimoji="0" lang="en-GB" sz="3600" b="0" i="0" u="none" strike="noStrike" kern="1200" cap="none" spc="0" normalizeH="0" baseline="0" noProof="0" dirty="0">
                <a:ln>
                  <a:noFill/>
                </a:ln>
                <a:solidFill>
                  <a:prstClr val="white">
                    <a:lumMod val="65000"/>
                  </a:prstClr>
                </a:solidFill>
                <a:effectLst/>
                <a:uLnTx/>
                <a:uFillTx/>
                <a:latin typeface="Calibri" panose="020F0502020204030204" pitchFamily="34" charset="0"/>
                <a:ea typeface="+mn-ea"/>
                <a:cs typeface="Calibri" panose="020F0502020204030204" pitchFamily="34" charset="0"/>
              </a:rPr>
              <a:t>nthropogenic impacts </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(26</a:t>
            </a:r>
            <a:r>
              <a:rPr kumimoji="0" lang="en-GB" sz="3600" b="0" i="0" u="none" strike="noStrike" kern="100" cap="none" spc="0" normalizeH="0" baseline="3000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Feb)</a:t>
            </a:r>
          </a:p>
          <a:p>
            <a:pPr marL="0" marR="0" lvl="0" indent="0" algn="l" defTabSz="609660" rtl="0" eaLnBrk="1" fontAlgn="auto" latinLnBrk="0" hangingPunct="1">
              <a:lnSpc>
                <a:spcPct val="100000"/>
              </a:lnSpc>
              <a:spcBef>
                <a:spcPts val="0"/>
              </a:spcBef>
              <a:spcAft>
                <a:spcPts val="0"/>
              </a:spcAft>
              <a:buClrTx/>
              <a:buSzTx/>
              <a:buFontTx/>
              <a:buNone/>
              <a:tabLst/>
              <a:defRPr/>
            </a:pP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Week 5 – </a:t>
            </a:r>
            <a:r>
              <a:rPr kumimoji="0" lang="en-GB" sz="3600" b="0" i="0" u="none" strike="noStrike" kern="1200" cap="none" spc="0" normalizeH="0" baseline="0" noProof="0" dirty="0">
                <a:ln>
                  <a:noFill/>
                </a:ln>
                <a:solidFill>
                  <a:prstClr val="white">
                    <a:lumMod val="65000"/>
                  </a:prstClr>
                </a:solidFill>
                <a:effectLst/>
                <a:uLnTx/>
                <a:uFillTx/>
                <a:latin typeface="Calibri" panose="020F0502020204030204" pitchFamily="34" charset="0"/>
                <a:ea typeface="+mn-ea"/>
                <a:cs typeface="Calibri" panose="020F0502020204030204" pitchFamily="34" charset="0"/>
              </a:rPr>
              <a:t>The Evidence Base for Climate Change </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(5</a:t>
            </a:r>
            <a:r>
              <a:rPr kumimoji="0" lang="en-GB" sz="3600" b="0" i="0" u="none" strike="noStrike" kern="100" cap="none" spc="0" normalizeH="0" baseline="3000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March)</a:t>
            </a:r>
          </a:p>
          <a:p>
            <a:pPr marL="0" marR="0" lvl="0" indent="0" algn="l" defTabSz="609660" rtl="0" eaLnBrk="1" fontAlgn="auto" latinLnBrk="0" hangingPunct="1">
              <a:lnSpc>
                <a:spcPct val="100000"/>
              </a:lnSpc>
              <a:spcBef>
                <a:spcPts val="0"/>
              </a:spcBef>
              <a:spcAft>
                <a:spcPts val="0"/>
              </a:spcAft>
              <a:buClrTx/>
              <a:buSzTx/>
              <a:buFontTx/>
              <a:buNone/>
              <a:tabLst/>
              <a:defRPr/>
            </a:pP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Week 6 – Mid Unit Test (10</a:t>
            </a:r>
            <a:r>
              <a:rPr kumimoji="0" lang="en-GB" sz="3600" b="0" i="0" u="none" strike="noStrike" kern="100" cap="none" spc="0" normalizeH="0" baseline="3000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March) </a:t>
            </a:r>
          </a:p>
          <a:p>
            <a:pPr marL="0" marR="0" lvl="0" indent="0" algn="l" defTabSz="914445" rtl="0" eaLnBrk="1" fontAlgn="auto" latinLnBrk="0" hangingPunct="1">
              <a:lnSpc>
                <a:spcPct val="100000"/>
              </a:lnSpc>
              <a:spcBef>
                <a:spcPts val="0"/>
              </a:spcBef>
              <a:spcAft>
                <a:spcPts val="0"/>
              </a:spcAft>
              <a:buClrTx/>
              <a:buSzTx/>
              <a:buFontTx/>
              <a:buNone/>
              <a:tabLst/>
              <a:defRPr/>
            </a:pP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Week 7 – </a:t>
            </a:r>
            <a:r>
              <a:rPr kumimoji="0" lang="en-GB" sz="3600" b="0" i="0" u="none" strike="noStrike" kern="1200" cap="none" spc="0" normalizeH="0" baseline="0" noProof="0" dirty="0">
                <a:ln>
                  <a:noFill/>
                </a:ln>
                <a:solidFill>
                  <a:prstClr val="white">
                    <a:lumMod val="65000"/>
                  </a:prstClr>
                </a:solidFill>
                <a:effectLst/>
                <a:uLnTx/>
                <a:uFillTx/>
                <a:latin typeface="Calibri" panose="020F0502020204030204" pitchFamily="34" charset="0"/>
                <a:ea typeface="+mn-ea"/>
                <a:cs typeface="Calibri" panose="020F0502020204030204" pitchFamily="34" charset="0"/>
              </a:rPr>
              <a:t>Climate Models  </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(19</a:t>
            </a:r>
            <a:r>
              <a:rPr kumimoji="0" lang="en-GB" sz="3600" b="0" i="0" u="none" strike="noStrike" kern="100" cap="none" spc="0" normalizeH="0" baseline="3000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March)</a:t>
            </a:r>
          </a:p>
          <a:p>
            <a:pPr marL="0" marR="0" lvl="0" indent="0" algn="l" defTabSz="914445" rtl="0" eaLnBrk="1" fontAlgn="auto" latinLnBrk="0" hangingPunct="1">
              <a:lnSpc>
                <a:spcPct val="100000"/>
              </a:lnSpc>
              <a:spcBef>
                <a:spcPts val="0"/>
              </a:spcBef>
              <a:spcAft>
                <a:spcPts val="0"/>
              </a:spcAft>
              <a:buClrTx/>
              <a:buSzTx/>
              <a:buFontTx/>
              <a:buNone/>
              <a:tabLst/>
              <a:defRPr/>
            </a:pPr>
            <a:r>
              <a:rPr kumimoji="0" lang="en-GB" sz="3600" i="0" u="none" strike="noStrike" kern="100" cap="none" spc="0" normalizeH="0" baseline="0" noProof="0" dirty="0">
                <a:ln>
                  <a:noFill/>
                </a:ln>
                <a:solidFill>
                  <a:schemeClr val="bg1">
                    <a:lumMod val="50000"/>
                  </a:schemeClr>
                </a:solidFill>
                <a:effectLst/>
                <a:uLnTx/>
                <a:uFillTx/>
                <a:latin typeface="Calibri" panose="020F0502020204030204" pitchFamily="34" charset="0"/>
                <a:ea typeface="Calibri" panose="020F0502020204030204" pitchFamily="34" charset="0"/>
                <a:cs typeface="Calibri" panose="020F0502020204030204" pitchFamily="34" charset="0"/>
              </a:rPr>
              <a:t>Week 8 – Climate C</a:t>
            </a:r>
            <a:r>
              <a:rPr kumimoji="0" lang="en-GB" sz="3600" i="0" u="none" strike="noStrike" kern="1200" cap="none" spc="0" normalizeH="0" baseline="0" noProof="0" dirty="0">
                <a:ln>
                  <a:noFill/>
                </a:ln>
                <a:solidFill>
                  <a:schemeClr val="bg1">
                    <a:lumMod val="50000"/>
                  </a:schemeClr>
                </a:solidFill>
                <a:effectLst/>
                <a:uLnTx/>
                <a:uFillTx/>
                <a:latin typeface="Calibri" panose="020F0502020204030204" pitchFamily="34" charset="0"/>
                <a:ea typeface="+mn-ea"/>
                <a:cs typeface="Calibri" panose="020F0502020204030204" pitchFamily="34" charset="0"/>
              </a:rPr>
              <a:t>hange Adaptation </a:t>
            </a:r>
            <a:r>
              <a:rPr kumimoji="0" lang="en-GB" sz="3600" i="0" u="none" strike="noStrike" kern="100" cap="none" spc="0" normalizeH="0" baseline="0" noProof="0" dirty="0">
                <a:ln>
                  <a:noFill/>
                </a:ln>
                <a:solidFill>
                  <a:schemeClr val="bg1">
                    <a:lumMod val="50000"/>
                  </a:schemeClr>
                </a:solidFill>
                <a:effectLst/>
                <a:uLnTx/>
                <a:uFillTx/>
                <a:latin typeface="Calibri" panose="020F0502020204030204" pitchFamily="34" charset="0"/>
                <a:ea typeface="Calibri" panose="020F0502020204030204" pitchFamily="34" charset="0"/>
                <a:cs typeface="Calibri" panose="020F0502020204030204" pitchFamily="34" charset="0"/>
              </a:rPr>
              <a:t>(26</a:t>
            </a:r>
            <a:r>
              <a:rPr kumimoji="0" lang="en-GB" sz="3600" i="0" u="none" strike="noStrike" kern="100" cap="none" spc="0" normalizeH="0" baseline="30000" noProof="0" dirty="0">
                <a:ln>
                  <a:noFill/>
                </a:ln>
                <a:solidFill>
                  <a:schemeClr val="bg1">
                    <a:lumMod val="50000"/>
                  </a:scheme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i="0" u="none" strike="noStrike" kern="100" cap="none" spc="0" normalizeH="0" baseline="0" noProof="0" dirty="0">
                <a:ln>
                  <a:noFill/>
                </a:ln>
                <a:solidFill>
                  <a:schemeClr val="bg1">
                    <a:lumMod val="50000"/>
                  </a:schemeClr>
                </a:solidFill>
                <a:effectLst/>
                <a:uLnTx/>
                <a:uFillTx/>
                <a:latin typeface="Calibri" panose="020F0502020204030204" pitchFamily="34" charset="0"/>
                <a:ea typeface="Calibri" panose="020F0502020204030204" pitchFamily="34" charset="0"/>
                <a:cs typeface="Calibri" panose="020F0502020204030204" pitchFamily="34" charset="0"/>
              </a:rPr>
              <a:t> March)</a:t>
            </a:r>
          </a:p>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36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lvl="0" defTabSz="914445">
              <a:defRPr/>
            </a:pPr>
            <a:r>
              <a:rPr kumimoji="0" lang="en-GB" sz="3600" b="1" i="0" u="none" strike="noStrike" kern="1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Week 9 – </a:t>
            </a:r>
            <a:r>
              <a:rPr lang="en-GB" sz="3600" b="1" dirty="0">
                <a:solidFill>
                  <a:srgbClr val="FF0000"/>
                </a:solidFill>
                <a:latin typeface="Calibri" panose="020F0502020204030204" pitchFamily="34" charset="0"/>
                <a:cs typeface="Calibri" panose="020F0502020204030204" pitchFamily="34" charset="0"/>
              </a:rPr>
              <a:t>Climate Change Mitigation </a:t>
            </a:r>
            <a:r>
              <a:rPr lang="en-GB" sz="3600" b="1" kern="100"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GB" sz="3600" b="1" i="1" kern="100" dirty="0">
                <a:solidFill>
                  <a:srgbClr val="FF0000"/>
                </a:solidFill>
                <a:latin typeface="Calibri" panose="020F0502020204030204" pitchFamily="34" charset="0"/>
                <a:ea typeface="Calibri" panose="020F0502020204030204" pitchFamily="34" charset="0"/>
                <a:cs typeface="Calibri" panose="020F0502020204030204" pitchFamily="34" charset="0"/>
              </a:rPr>
              <a:t>23</a:t>
            </a:r>
            <a:r>
              <a:rPr lang="en-GB" sz="3600" b="1" i="1" kern="100" baseline="30000" dirty="0">
                <a:solidFill>
                  <a:srgbClr val="FF0000"/>
                </a:solidFill>
                <a:latin typeface="Calibri" panose="020F0502020204030204" pitchFamily="34" charset="0"/>
                <a:ea typeface="Calibri" panose="020F0502020204030204" pitchFamily="34" charset="0"/>
                <a:cs typeface="Calibri" panose="020F0502020204030204" pitchFamily="34" charset="0"/>
              </a:rPr>
              <a:t>rd</a:t>
            </a:r>
            <a:r>
              <a:rPr lang="en-GB" sz="3600" b="1" i="1" kern="100" dirty="0">
                <a:solidFill>
                  <a:srgbClr val="FF0000"/>
                </a:solidFill>
                <a:latin typeface="Calibri" panose="020F0502020204030204" pitchFamily="34" charset="0"/>
                <a:ea typeface="Calibri" panose="020F0502020204030204" pitchFamily="34" charset="0"/>
                <a:cs typeface="Calibri" panose="020F0502020204030204" pitchFamily="34" charset="0"/>
              </a:rPr>
              <a:t> April)</a:t>
            </a:r>
            <a:endParaRPr lang="en-GB" sz="3600" b="1" kern="1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lvl="0" defTabSz="914445">
              <a:defRPr/>
            </a:pPr>
            <a:r>
              <a:rPr kumimoji="0" lang="en-GB" sz="36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Week 10 – </a:t>
            </a:r>
            <a:r>
              <a:rPr lang="en-GB" sz="3600" dirty="0">
                <a:solidFill>
                  <a:srgbClr val="212121"/>
                </a:solidFill>
                <a:latin typeface="Calibri" panose="020F0502020204030204" pitchFamily="34" charset="0"/>
                <a:cs typeface="Calibri" panose="020F0502020204030204" pitchFamily="34" charset="0"/>
              </a:rPr>
              <a:t>Effects of Climate Change: </a:t>
            </a:r>
            <a:r>
              <a:rPr lang="en-GB" sz="3600" i="1" dirty="0">
                <a:solidFill>
                  <a:srgbClr val="212121"/>
                </a:solidFill>
                <a:latin typeface="Calibri" panose="020F0502020204030204" pitchFamily="34" charset="0"/>
                <a:cs typeface="Calibri" panose="020F0502020204030204" pitchFamily="34" charset="0"/>
              </a:rPr>
              <a:t>Case Studies </a:t>
            </a:r>
            <a:r>
              <a:rPr lang="en-GB" sz="3600" i="1" kern="100" dirty="0">
                <a:solidFill>
                  <a:prstClr val="black"/>
                </a:solidFill>
                <a:latin typeface="Calibri" panose="020F0502020204030204" pitchFamily="34" charset="0"/>
                <a:ea typeface="Calibri" panose="020F0502020204030204" pitchFamily="34" charset="0"/>
                <a:cs typeface="Calibri" panose="020F0502020204030204" pitchFamily="34" charset="0"/>
              </a:rPr>
              <a:t>(30</a:t>
            </a:r>
            <a:r>
              <a:rPr lang="en-GB" sz="3600" i="1"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GB" sz="3600" i="1" kern="100" dirty="0">
                <a:solidFill>
                  <a:prstClr val="black"/>
                </a:solidFill>
                <a:latin typeface="Calibri" panose="020F0502020204030204" pitchFamily="34" charset="0"/>
                <a:ea typeface="Calibri" panose="020F0502020204030204" pitchFamily="34" charset="0"/>
                <a:cs typeface="Calibri" panose="020F0502020204030204" pitchFamily="34" charset="0"/>
              </a:rPr>
              <a:t> April)</a:t>
            </a:r>
          </a:p>
          <a:p>
            <a:pPr lvl="0" defTabSz="914445">
              <a:defRPr/>
            </a:pPr>
            <a:r>
              <a:rPr kumimoji="0" lang="en-GB" sz="3600" b="0" i="0" u="none" strike="noStrike" kern="100" cap="none" spc="0" normalizeH="0" baseline="0" noProof="0" dirty="0">
                <a:ln>
                  <a:noFill/>
                </a:ln>
                <a:solidFill>
                  <a:srgbClr val="1F497D">
                    <a:lumMod val="60000"/>
                    <a:lumOff val="40000"/>
                  </a:srgbClr>
                </a:solidFill>
                <a:effectLst/>
                <a:uLnTx/>
                <a:uFillTx/>
                <a:latin typeface="Calibri" panose="020F0502020204030204" pitchFamily="34" charset="0"/>
                <a:ea typeface="Calibri" panose="020F0502020204030204" pitchFamily="34" charset="0"/>
                <a:cs typeface="Calibri" panose="020F0502020204030204" pitchFamily="34" charset="0"/>
              </a:rPr>
              <a:t>Week 11 – Revision Lecture (7</a:t>
            </a:r>
            <a:r>
              <a:rPr kumimoji="0" lang="en-GB" sz="3600" b="0" i="0" u="none" strike="noStrike" kern="100" cap="none" spc="0" normalizeH="0" baseline="30000" noProof="0" dirty="0">
                <a:ln>
                  <a:noFill/>
                </a:ln>
                <a:solidFill>
                  <a:srgbClr val="1F497D">
                    <a:lumMod val="60000"/>
                    <a:lumOff val="40000"/>
                  </a:srgb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b="0" i="0" u="none" strike="noStrike" kern="100" cap="none" spc="0" normalizeH="0" baseline="0" noProof="0" dirty="0">
                <a:ln>
                  <a:noFill/>
                </a:ln>
                <a:solidFill>
                  <a:srgbClr val="1F497D">
                    <a:lumMod val="60000"/>
                    <a:lumOff val="40000"/>
                  </a:srgbClr>
                </a:solidFill>
                <a:effectLst/>
                <a:uLnTx/>
                <a:uFillTx/>
                <a:latin typeface="Calibri" panose="020F0502020204030204" pitchFamily="34" charset="0"/>
                <a:ea typeface="Calibri" panose="020F0502020204030204" pitchFamily="34" charset="0"/>
                <a:cs typeface="Calibri" panose="020F0502020204030204" pitchFamily="34" charset="0"/>
              </a:rPr>
              <a:t> May)</a:t>
            </a:r>
          </a:p>
          <a:p>
            <a:pPr lvl="0" defTabSz="914445">
              <a:defRPr/>
            </a:pPr>
            <a:r>
              <a:rPr lang="en-GB" sz="3600" kern="100" dirty="0">
                <a:solidFill>
                  <a:srgbClr val="1F497D">
                    <a:lumMod val="60000"/>
                    <a:lumOff val="40000"/>
                  </a:srgbClr>
                </a:solidFill>
                <a:latin typeface="Calibri" panose="020F0502020204030204" pitchFamily="34" charset="0"/>
                <a:ea typeface="Calibri" panose="020F0502020204030204" pitchFamily="34" charset="0"/>
                <a:cs typeface="Calibri" panose="020F0502020204030204" pitchFamily="34" charset="0"/>
              </a:rPr>
              <a:t>Exam - 18 May 2026, 9:45-11:15</a:t>
            </a:r>
          </a:p>
        </p:txBody>
      </p:sp>
      <p:pic>
        <p:nvPicPr>
          <p:cNvPr id="6" name="Picture 5" descr="A qr code with a black and white background&#10;&#10;AI-generated content may be incorrect.">
            <a:extLst>
              <a:ext uri="{FF2B5EF4-FFF2-40B4-BE49-F238E27FC236}">
                <a16:creationId xmlns:a16="http://schemas.microsoft.com/office/drawing/2014/main" id="{112BB3D5-FC58-710F-489D-C975E1C5EDA4}"/>
              </a:ext>
            </a:extLst>
          </p:cNvPr>
          <p:cNvPicPr>
            <a:picLocks noChangeAspect="1"/>
          </p:cNvPicPr>
          <p:nvPr/>
        </p:nvPicPr>
        <p:blipFill>
          <a:blip r:embed="rId5"/>
          <a:stretch>
            <a:fillRect/>
          </a:stretch>
        </p:blipFill>
        <p:spPr>
          <a:xfrm>
            <a:off x="13576699" y="5143501"/>
            <a:ext cx="4201511" cy="4201511"/>
          </a:xfrm>
          <a:prstGeom prst="rect">
            <a:avLst/>
          </a:prstGeom>
        </p:spPr>
      </p:pic>
      <p:sp>
        <p:nvSpPr>
          <p:cNvPr id="7" name="TextBox 6">
            <a:extLst>
              <a:ext uri="{FF2B5EF4-FFF2-40B4-BE49-F238E27FC236}">
                <a16:creationId xmlns:a16="http://schemas.microsoft.com/office/drawing/2014/main" id="{F327CCA7-4299-796F-6F60-9D7FE40386D5}"/>
              </a:ext>
            </a:extLst>
          </p:cNvPr>
          <p:cNvSpPr txBox="1"/>
          <p:nvPr/>
        </p:nvSpPr>
        <p:spPr>
          <a:xfrm>
            <a:off x="13576700" y="9616965"/>
            <a:ext cx="4201509" cy="5078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2700" b="0" i="0" u="none" strike="noStrike" kern="1200" cap="none" spc="0" normalizeH="0" baseline="0" noProof="0" dirty="0">
                <a:ln>
                  <a:noFill/>
                </a:ln>
                <a:solidFill>
                  <a:prstClr val="black"/>
                </a:solidFill>
                <a:effectLst/>
                <a:uLnTx/>
                <a:uFillTx/>
                <a:latin typeface="DM Sans"/>
                <a:ea typeface="+mn-ea"/>
                <a:cs typeface="+mn-cs"/>
              </a:rPr>
              <a:t>Comments/Questions</a:t>
            </a:r>
          </a:p>
        </p:txBody>
      </p:sp>
    </p:spTree>
    <p:extLst>
      <p:ext uri="{BB962C8B-B14F-4D97-AF65-F5344CB8AC3E}">
        <p14:creationId xmlns:p14="http://schemas.microsoft.com/office/powerpoint/2010/main" val="1796596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9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6AE92CB8-F315-2F50-CF2A-2DF5986675A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CD9A96E-2AB2-2D64-5FCF-E39EDF88CA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929" y="154984"/>
            <a:ext cx="7994475" cy="9515772"/>
          </a:xfrm>
          <a:prstGeom prst="rect">
            <a:avLst/>
          </a:prstGeom>
        </p:spPr>
      </p:pic>
      <p:pic>
        <p:nvPicPr>
          <p:cNvPr id="8" name="Picture 7">
            <a:extLst>
              <a:ext uri="{FF2B5EF4-FFF2-40B4-BE49-F238E27FC236}">
                <a16:creationId xmlns:a16="http://schemas.microsoft.com/office/drawing/2014/main" id="{3E05F743-6ECB-7A96-92A7-E8EB6AA4BF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9404" y="115228"/>
            <a:ext cx="9341981" cy="2655378"/>
          </a:xfrm>
          <a:prstGeom prst="rect">
            <a:avLst/>
          </a:prstGeom>
        </p:spPr>
      </p:pic>
      <p:pic>
        <p:nvPicPr>
          <p:cNvPr id="4" name="Picture 3">
            <a:extLst>
              <a:ext uri="{FF2B5EF4-FFF2-40B4-BE49-F238E27FC236}">
                <a16:creationId xmlns:a16="http://schemas.microsoft.com/office/drawing/2014/main" id="{55A3A63E-AC0A-036D-B98D-9B6FD07CCD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74236" y="2506271"/>
            <a:ext cx="9147149" cy="7124729"/>
          </a:xfrm>
          <a:prstGeom prst="rect">
            <a:avLst/>
          </a:prstGeom>
        </p:spPr>
      </p:pic>
      <p:sp>
        <p:nvSpPr>
          <p:cNvPr id="5" name="TextBox 4">
            <a:extLst>
              <a:ext uri="{FF2B5EF4-FFF2-40B4-BE49-F238E27FC236}">
                <a16:creationId xmlns:a16="http://schemas.microsoft.com/office/drawing/2014/main" id="{5CE2D58F-C650-0035-6AEF-7D122913F3DE}"/>
              </a:ext>
            </a:extLst>
          </p:cNvPr>
          <p:cNvSpPr txBox="1"/>
          <p:nvPr/>
        </p:nvSpPr>
        <p:spPr>
          <a:xfrm>
            <a:off x="903470" y="6380922"/>
            <a:ext cx="6957391" cy="854765"/>
          </a:xfrm>
          <a:prstGeom prst="rect">
            <a:avLst/>
          </a:prstGeom>
          <a:noFill/>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US" dirty="0"/>
          </a:p>
        </p:txBody>
      </p:sp>
      <p:cxnSp>
        <p:nvCxnSpPr>
          <p:cNvPr id="9" name="Straight Arrow Connector 8">
            <a:extLst>
              <a:ext uri="{FF2B5EF4-FFF2-40B4-BE49-F238E27FC236}">
                <a16:creationId xmlns:a16="http://schemas.microsoft.com/office/drawing/2014/main" id="{718B09F4-2409-492F-8A80-07FEA922B2DE}"/>
              </a:ext>
            </a:extLst>
          </p:cNvPr>
          <p:cNvCxnSpPr>
            <a:stCxn id="5" idx="2"/>
          </p:cNvCxnSpPr>
          <p:nvPr/>
        </p:nvCxnSpPr>
        <p:spPr>
          <a:xfrm flipH="1">
            <a:off x="3955774" y="7235687"/>
            <a:ext cx="426392" cy="47707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0" name="TextBox 9">
            <a:extLst>
              <a:ext uri="{FF2B5EF4-FFF2-40B4-BE49-F238E27FC236}">
                <a16:creationId xmlns:a16="http://schemas.microsoft.com/office/drawing/2014/main" id="{C00F1713-A58D-0C3E-35A3-E6ADFE6F0717}"/>
              </a:ext>
            </a:extLst>
          </p:cNvPr>
          <p:cNvSpPr txBox="1"/>
          <p:nvPr/>
        </p:nvSpPr>
        <p:spPr>
          <a:xfrm>
            <a:off x="2445026" y="7780754"/>
            <a:ext cx="1937140" cy="46166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400" dirty="0">
                <a:latin typeface="Calibri" panose="020F0502020204030204" pitchFamily="34" charset="0"/>
                <a:cs typeface="Calibri" panose="020F0502020204030204" pitchFamily="34" charset="0"/>
              </a:rPr>
              <a:t>Not needed!</a:t>
            </a:r>
          </a:p>
        </p:txBody>
      </p:sp>
    </p:spTree>
    <p:extLst>
      <p:ext uri="{BB962C8B-B14F-4D97-AF65-F5344CB8AC3E}">
        <p14:creationId xmlns:p14="http://schemas.microsoft.com/office/powerpoint/2010/main" val="234181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9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9B693CE2-191B-CF17-DBCC-B40B5BC806CD}"/>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1F2A7427-2BC8-A348-9560-329FBA186A2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4" name="Picture 3">
            <a:extLst>
              <a:ext uri="{FF2B5EF4-FFF2-40B4-BE49-F238E27FC236}">
                <a16:creationId xmlns:a16="http://schemas.microsoft.com/office/drawing/2014/main" id="{FDE1E93D-55DA-0A65-6BFB-F6C46CE0E2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1466" y="370816"/>
            <a:ext cx="7747000" cy="9131300"/>
          </a:xfrm>
          <a:prstGeom prst="rect">
            <a:avLst/>
          </a:prstGeom>
        </p:spPr>
      </p:pic>
    </p:spTree>
    <p:extLst>
      <p:ext uri="{BB962C8B-B14F-4D97-AF65-F5344CB8AC3E}">
        <p14:creationId xmlns:p14="http://schemas.microsoft.com/office/powerpoint/2010/main" val="744325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Places of Climate Change">
            <a:extLst>
              <a:ext uri="{FF2B5EF4-FFF2-40B4-BE49-F238E27FC236}">
                <a16:creationId xmlns:a16="http://schemas.microsoft.com/office/drawing/2014/main" id="{7581CA3A-6578-3D4E-90D5-FA5777EE452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 t="31098" r="-26" b="18919"/>
          <a:stretch>
            <a:fillRect/>
          </a:stretch>
        </p:blipFill>
        <p:spPr bwMode="auto">
          <a:xfrm>
            <a:off x="0" y="0"/>
            <a:ext cx="18288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4">
            <a:extLst>
              <a:ext uri="{FF2B5EF4-FFF2-40B4-BE49-F238E27FC236}">
                <a16:creationId xmlns:a16="http://schemas.microsoft.com/office/drawing/2014/main" id="{49BB5E81-1DCC-286E-DD74-F3B53623F288}"/>
              </a:ext>
            </a:extLst>
          </p:cNvPr>
          <p:cNvSpPr txBox="1"/>
          <p:nvPr/>
        </p:nvSpPr>
        <p:spPr>
          <a:xfrm>
            <a:off x="440805" y="4023689"/>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prstClr val="white"/>
                </a:solidFill>
                <a:effectLst/>
                <a:uLnTx/>
                <a:uFillTx/>
                <a:latin typeface="DM Sans Bold"/>
                <a:ea typeface="+mn-ea"/>
                <a:cs typeface="+mn-cs"/>
              </a:rPr>
              <a:t>Intended Learning Outcomes</a:t>
            </a:r>
          </a:p>
        </p:txBody>
      </p:sp>
      <p:sp>
        <p:nvSpPr>
          <p:cNvPr id="8" name="Freeform 13">
            <a:extLst>
              <a:ext uri="{FF2B5EF4-FFF2-40B4-BE49-F238E27FC236}">
                <a16:creationId xmlns:a16="http://schemas.microsoft.com/office/drawing/2014/main" id="{C6335595-B71A-3F7E-3031-B5690D697278}"/>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extBox 2">
            <a:extLst>
              <a:ext uri="{FF2B5EF4-FFF2-40B4-BE49-F238E27FC236}">
                <a16:creationId xmlns:a16="http://schemas.microsoft.com/office/drawing/2014/main" id="{DDB4D602-0E49-2A1B-B490-ADA317C8939B}"/>
              </a:ext>
            </a:extLst>
          </p:cNvPr>
          <p:cNvSpPr txBox="1"/>
          <p:nvPr/>
        </p:nvSpPr>
        <p:spPr>
          <a:xfrm>
            <a:off x="440805" y="5934686"/>
            <a:ext cx="15619674" cy="3323987"/>
          </a:xfrm>
          <a:prstGeom prst="rect">
            <a:avLst/>
          </a:prstGeom>
          <a:noFill/>
        </p:spPr>
        <p:txBody>
          <a:bodyPr wrap="square">
            <a:spAutoFit/>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GB" sz="30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By the end of this week you will be able to:</a:t>
            </a:r>
          </a:p>
          <a:p>
            <a:pPr marL="457200" marR="0" lvl="0" indent="-457200" algn="l" defTabSz="1371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30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Describe how we set global mitigation targets and discuss how different pathways can achieve these targets.</a:t>
            </a:r>
          </a:p>
          <a:p>
            <a:pPr marL="457200" marR="0" lvl="0" indent="-457200" algn="l" defTabSz="1371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30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List different sources of anthropogenic greenhouse gas emissions and discuss how these can be reduced in different sectors.</a:t>
            </a:r>
          </a:p>
          <a:p>
            <a:pPr marL="457200" marR="0" lvl="0" indent="-457200" algn="l" defTabSz="1371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30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Describe different ways in which negative emissions can be achieved and discuss the advantages and disadvantages of different approaches.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4" name="TextBox 14"/>
          <p:cNvSpPr txBox="1"/>
          <p:nvPr/>
        </p:nvSpPr>
        <p:spPr>
          <a:xfrm>
            <a:off x="990600" y="2171700"/>
            <a:ext cx="7994305" cy="919480"/>
          </a:xfrm>
          <a:prstGeom prst="rect">
            <a:avLst/>
          </a:prstGeom>
        </p:spPr>
        <p:txBody>
          <a:bodyPr lIns="0" tIns="0" rIns="0" bIns="0" rtlCol="0" anchor="t">
            <a:spAutoFit/>
          </a:bodyPr>
          <a:lstStyle/>
          <a:p>
            <a:pPr>
              <a:lnSpc>
                <a:spcPts val="6859"/>
              </a:lnSpc>
            </a:pPr>
            <a:r>
              <a:rPr lang="en-US" sz="6000" spc="-412" dirty="0">
                <a:solidFill>
                  <a:srgbClr val="46245A"/>
                </a:solidFill>
                <a:latin typeface="DM Sans Bold"/>
              </a:rPr>
              <a:t>Today’s session</a:t>
            </a:r>
          </a:p>
        </p:txBody>
      </p:sp>
      <p:sp>
        <p:nvSpPr>
          <p:cNvPr id="3" name="Freeform 13">
            <a:extLst>
              <a:ext uri="{FF2B5EF4-FFF2-40B4-BE49-F238E27FC236}">
                <a16:creationId xmlns:a16="http://schemas.microsoft.com/office/drawing/2014/main" id="{110E8D5E-37F5-D004-AA80-8A76901C57F9}"/>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15">
            <a:extLst>
              <a:ext uri="{FF2B5EF4-FFF2-40B4-BE49-F238E27FC236}">
                <a16:creationId xmlns:a16="http://schemas.microsoft.com/office/drawing/2014/main" id="{C15804F0-50F1-A4A4-E19C-D472744C65F8}"/>
              </a:ext>
            </a:extLst>
          </p:cNvPr>
          <p:cNvSpPr txBox="1"/>
          <p:nvPr/>
        </p:nvSpPr>
        <p:spPr>
          <a:xfrm>
            <a:off x="824023" y="4585291"/>
            <a:ext cx="9255642" cy="4416081"/>
          </a:xfrm>
          <a:prstGeom prst="rect">
            <a:avLst/>
          </a:prstGeom>
        </p:spPr>
        <p:txBody>
          <a:bodyPr wrap="square" lIns="0" tIns="0" rIns="0" bIns="0" rtlCol="0" anchor="t">
            <a:spAutoFit/>
          </a:bodyPr>
          <a:lstStyle/>
          <a:p>
            <a:pPr marL="269240" lvl="1">
              <a:lnSpc>
                <a:spcPts val="4999"/>
              </a:lnSpc>
            </a:pPr>
            <a:r>
              <a:rPr lang="en-US" sz="2400" b="1" spc="49" dirty="0">
                <a:solidFill>
                  <a:srgbClr val="FAB700"/>
                </a:solidFill>
                <a:latin typeface="+mj-lt"/>
              </a:rPr>
              <a:t>Part 1:  </a:t>
            </a:r>
            <a:r>
              <a:rPr lang="en-US" sz="2400" b="1" spc="49" dirty="0">
                <a:solidFill>
                  <a:srgbClr val="FFFFFF"/>
                </a:solidFill>
                <a:latin typeface="+mj-lt"/>
              </a:rPr>
              <a:t>Impacts of climate change (10 mins)</a:t>
            </a:r>
          </a:p>
          <a:p>
            <a:pPr marL="269240" lvl="1">
              <a:lnSpc>
                <a:spcPts val="4999"/>
              </a:lnSpc>
            </a:pPr>
            <a:r>
              <a:rPr lang="en-US" sz="2400" b="1" spc="49" dirty="0">
                <a:solidFill>
                  <a:srgbClr val="FAB700"/>
                </a:solidFill>
                <a:latin typeface="+mj-lt"/>
              </a:rPr>
              <a:t>Part 2: </a:t>
            </a:r>
            <a:r>
              <a:rPr lang="en-US" sz="2400" b="1" spc="49" dirty="0">
                <a:solidFill>
                  <a:srgbClr val="FFFFFF"/>
                </a:solidFill>
                <a:latin typeface="+mj-lt"/>
              </a:rPr>
              <a:t>Decisions on climate change (20 mins)</a:t>
            </a:r>
          </a:p>
          <a:p>
            <a:pPr marL="269240" lvl="1">
              <a:lnSpc>
                <a:spcPts val="4999"/>
              </a:lnSpc>
            </a:pPr>
            <a:r>
              <a:rPr lang="en-US" sz="2400" b="1" spc="49" dirty="0">
                <a:solidFill>
                  <a:srgbClr val="FAB700"/>
                </a:solidFill>
                <a:latin typeface="+mj-lt"/>
              </a:rPr>
              <a:t>Part 3: </a:t>
            </a:r>
            <a:r>
              <a:rPr lang="en-US" sz="2400" b="1" spc="49" dirty="0">
                <a:solidFill>
                  <a:srgbClr val="FFFFFF"/>
                </a:solidFill>
                <a:latin typeface="+mj-lt"/>
              </a:rPr>
              <a:t>Mitigation Strategies (10 mins)</a:t>
            </a:r>
          </a:p>
          <a:p>
            <a:pPr marL="269240" lvl="1">
              <a:lnSpc>
                <a:spcPts val="4999"/>
              </a:lnSpc>
            </a:pPr>
            <a:r>
              <a:rPr lang="en-US" sz="2400" b="1" spc="49" dirty="0">
                <a:solidFill>
                  <a:srgbClr val="FAB700"/>
                </a:solidFill>
                <a:latin typeface="+mj-lt"/>
              </a:rPr>
              <a:t>Part 4: </a:t>
            </a:r>
            <a:r>
              <a:rPr lang="en-US" sz="2400" b="1" spc="49" dirty="0">
                <a:solidFill>
                  <a:srgbClr val="FFFFFF"/>
                </a:solidFill>
                <a:latin typeface="+mj-lt"/>
              </a:rPr>
              <a:t>Break (10 mins)</a:t>
            </a:r>
          </a:p>
          <a:p>
            <a:pPr marL="269240" lvl="1">
              <a:lnSpc>
                <a:spcPts val="4999"/>
              </a:lnSpc>
            </a:pPr>
            <a:r>
              <a:rPr lang="en-US" sz="2400" b="1" spc="49" dirty="0">
                <a:solidFill>
                  <a:srgbClr val="FAB700"/>
                </a:solidFill>
                <a:latin typeface="+mj-lt"/>
              </a:rPr>
              <a:t>Part 5: </a:t>
            </a:r>
            <a:r>
              <a:rPr lang="en-US" sz="2400" b="1" spc="49" dirty="0">
                <a:solidFill>
                  <a:srgbClr val="FFFFFF"/>
                </a:solidFill>
                <a:latin typeface="+mj-lt"/>
              </a:rPr>
              <a:t>Workshop (50 mins)</a:t>
            </a:r>
          </a:p>
          <a:p>
            <a:pPr marL="269240" lvl="1">
              <a:lnSpc>
                <a:spcPts val="4999"/>
              </a:lnSpc>
            </a:pPr>
            <a:endParaRPr lang="en-US" sz="2400" b="1" spc="49" dirty="0">
              <a:solidFill>
                <a:srgbClr val="FFFFFF"/>
              </a:solidFill>
              <a:latin typeface="+mj-lt"/>
            </a:endParaRPr>
          </a:p>
          <a:p>
            <a:pPr marL="269240" lvl="1">
              <a:lnSpc>
                <a:spcPts val="4999"/>
              </a:lnSpc>
            </a:pPr>
            <a:endParaRPr lang="en-US" sz="2400" b="1" spc="49" dirty="0">
              <a:solidFill>
                <a:srgbClr val="FFFFFF"/>
              </a:solidFill>
              <a:latin typeface="+mj-lt"/>
            </a:endParaRPr>
          </a:p>
        </p:txBody>
      </p:sp>
    </p:spTree>
  </p:cSld>
  <p:clrMapOvr>
    <a:masterClrMapping/>
  </p:clrMapOvr>
  <mc:AlternateContent xmlns:mc="http://schemas.openxmlformats.org/markup-compatibility/2006" xmlns:p14="http://schemas.microsoft.com/office/powerpoint/2010/main">
    <mc:Choice Requires="p14">
      <p:transition spd="slow" p14:dur="2000" advTm="52419"/>
    </mc:Choice>
    <mc:Fallback xmlns="">
      <p:transition spd="slow" advTm="5241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DB3D659-F74C-F8C2-4D5A-FD89D2EE28B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Subtitle 2">
            <a:extLst>
              <a:ext uri="{FF2B5EF4-FFF2-40B4-BE49-F238E27FC236}">
                <a16:creationId xmlns:a16="http://schemas.microsoft.com/office/drawing/2014/main" id="{8B1AFAA2-F449-EC56-C3FB-0656BCBB6745}"/>
              </a:ext>
            </a:extLst>
          </p:cNvPr>
          <p:cNvSpPr txBox="1">
            <a:spLocks/>
          </p:cNvSpPr>
          <p:nvPr/>
        </p:nvSpPr>
        <p:spPr>
          <a:xfrm>
            <a:off x="1982972" y="3794162"/>
            <a:ext cx="9601200" cy="7350920"/>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sp>
        <p:nvSpPr>
          <p:cNvPr id="5" name="TextBox 5">
            <a:extLst>
              <a:ext uri="{FF2B5EF4-FFF2-40B4-BE49-F238E27FC236}">
                <a16:creationId xmlns:a16="http://schemas.microsoft.com/office/drawing/2014/main" id="{779588C8-99B4-0066-A29B-472B6CF20D8B}"/>
              </a:ext>
            </a:extLst>
          </p:cNvPr>
          <p:cNvSpPr txBox="1"/>
          <p:nvPr/>
        </p:nvSpPr>
        <p:spPr>
          <a:xfrm>
            <a:off x="1143000" y="1736548"/>
            <a:ext cx="13847674" cy="820289"/>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What impact will Climate Change have?</a:t>
            </a:r>
          </a:p>
        </p:txBody>
      </p:sp>
      <p:sp>
        <p:nvSpPr>
          <p:cNvPr id="7" name="TextBox 6">
            <a:extLst>
              <a:ext uri="{FF2B5EF4-FFF2-40B4-BE49-F238E27FC236}">
                <a16:creationId xmlns:a16="http://schemas.microsoft.com/office/drawing/2014/main" id="{18C727CE-3E21-F6C9-0970-F01FE11AB416}"/>
              </a:ext>
            </a:extLst>
          </p:cNvPr>
          <p:cNvSpPr txBox="1"/>
          <p:nvPr/>
        </p:nvSpPr>
        <p:spPr>
          <a:xfrm>
            <a:off x="1143000" y="2747664"/>
            <a:ext cx="8779933" cy="3662541"/>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Increase Earth's average temperature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Influence the patterns and amounts of precipitation</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Reduce ice and snow cover, as well as permafrost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Raise sea level</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Increase the acidity of the oceans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Increase the frequency, intensity of extreme events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Shift ecosystem characteristics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Increase threats to human health</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GB" sz="2000" b="0" i="0" u="none" strike="noStrike" kern="1200" cap="none" spc="0" normalizeH="0" baseline="0" noProof="0" dirty="0">
                <a:ln>
                  <a:noFill/>
                </a:ln>
                <a:solidFill>
                  <a:prstClr val="black"/>
                </a:solidFill>
                <a:effectLst/>
                <a:uLnTx/>
                <a:uFillTx/>
                <a:latin typeface="DM Sans"/>
                <a:ea typeface="+mn-ea"/>
                <a:cs typeface="+mn-cs"/>
              </a:rPr>
            </a:br>
            <a:endParaRPr kumimoji="0" lang="en-GB" sz="2000" b="0" i="0" u="none" strike="noStrike" kern="1200" cap="none" spc="0" normalizeH="0" baseline="0" noProof="0" dirty="0">
              <a:ln>
                <a:noFill/>
              </a:ln>
              <a:solidFill>
                <a:prstClr val="black"/>
              </a:solidFill>
              <a:effectLst/>
              <a:uLnTx/>
              <a:uFillTx/>
              <a:latin typeface="DM Sans"/>
              <a:ea typeface="+mn-ea"/>
              <a:cs typeface="+mn-cs"/>
            </a:endParaRPr>
          </a:p>
        </p:txBody>
      </p:sp>
      <p:sp>
        <p:nvSpPr>
          <p:cNvPr id="3" name="TextBox 5">
            <a:extLst>
              <a:ext uri="{FF2B5EF4-FFF2-40B4-BE49-F238E27FC236}">
                <a16:creationId xmlns:a16="http://schemas.microsoft.com/office/drawing/2014/main" id="{0E6C3B07-7701-3AD6-49CD-4A3B3659E0AA}"/>
              </a:ext>
            </a:extLst>
          </p:cNvPr>
          <p:cNvSpPr txBox="1"/>
          <p:nvPr/>
        </p:nvSpPr>
        <p:spPr>
          <a:xfrm>
            <a:off x="1143000" y="6000060"/>
            <a:ext cx="13847674" cy="820289"/>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What will this depend on?</a:t>
            </a:r>
            <a:endParaRPr kumimoji="0" lang="en-US" sz="4800"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4" name="TextBox 3">
            <a:extLst>
              <a:ext uri="{FF2B5EF4-FFF2-40B4-BE49-F238E27FC236}">
                <a16:creationId xmlns:a16="http://schemas.microsoft.com/office/drawing/2014/main" id="{1A7087AE-3019-A578-FBE7-6E42BD8ECEA8}"/>
              </a:ext>
            </a:extLst>
          </p:cNvPr>
          <p:cNvSpPr txBox="1"/>
          <p:nvPr/>
        </p:nvSpPr>
        <p:spPr>
          <a:xfrm>
            <a:off x="1143001" y="6892493"/>
            <a:ext cx="8610600" cy="2616101"/>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srgbClr val="212121"/>
                </a:solidFill>
                <a:effectLst/>
                <a:uLnTx/>
                <a:uFillTx/>
                <a:latin typeface="Calibri" panose="020F0502020204030204" pitchFamily="34" charset="0"/>
                <a:ea typeface="+mn-ea"/>
                <a:cs typeface="+mn-cs"/>
              </a:rPr>
              <a:t>Increase in greenhouse gas concentrations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srgbClr val="212121"/>
                </a:solidFill>
                <a:effectLst/>
                <a:uLnTx/>
                <a:uFillTx/>
                <a:latin typeface="Calibri" panose="020F0502020204030204" pitchFamily="34" charset="0"/>
                <a:ea typeface="+mn-ea"/>
                <a:cs typeface="+mn-cs"/>
              </a:rPr>
              <a:t>Other Anthropogenic radiative forcing effects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srgbClr val="212121"/>
                </a:solidFill>
                <a:effectLst/>
                <a:uLnTx/>
                <a:uFillTx/>
                <a:latin typeface="Calibri" panose="020F0502020204030204" pitchFamily="34" charset="0"/>
                <a:ea typeface="+mn-ea"/>
                <a:cs typeface="+mn-cs"/>
              </a:rPr>
              <a:t>Natural influences on climate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srgbClr val="212121"/>
                </a:solidFill>
                <a:effectLst/>
                <a:uLnTx/>
                <a:uFillTx/>
                <a:latin typeface="Calibri" panose="020F0502020204030204" pitchFamily="34" charset="0"/>
                <a:ea typeface="+mn-ea"/>
                <a:cs typeface="+mn-cs"/>
              </a:rPr>
              <a:t>Mitigations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srgbClr val="212121"/>
                </a:solidFill>
                <a:effectLst/>
                <a:uLnTx/>
                <a:uFillTx/>
                <a:latin typeface="Calibri" panose="020F0502020204030204" pitchFamily="34" charset="0"/>
                <a:ea typeface="+mn-ea"/>
                <a:cs typeface="+mn-cs"/>
              </a:rPr>
              <a:t>Models of the climate system to better understand these issues and project future climate changes</a:t>
            </a:r>
            <a:br>
              <a:rPr kumimoji="0" lang="en-GB" sz="2000" b="0" i="0" u="none" strike="noStrike" kern="1200" cap="none" spc="0" normalizeH="0" baseline="0" noProof="0" dirty="0">
                <a:ln>
                  <a:noFill/>
                </a:ln>
                <a:solidFill>
                  <a:prstClr val="black"/>
                </a:solidFill>
                <a:effectLst/>
                <a:uLnTx/>
                <a:uFillTx/>
                <a:latin typeface="DM Sans"/>
                <a:ea typeface="+mn-ea"/>
                <a:cs typeface="+mn-cs"/>
              </a:rPr>
            </a:br>
            <a:endParaRPr kumimoji="0" lang="en-GB" sz="2000" b="0" i="0" u="none" strike="noStrike" kern="1200" cap="none" spc="0" normalizeH="0" baseline="0" noProof="0" dirty="0">
              <a:ln>
                <a:noFill/>
              </a:ln>
              <a:solidFill>
                <a:prstClr val="black"/>
              </a:solidFill>
              <a:effectLst/>
              <a:uLnTx/>
              <a:uFillTx/>
              <a:latin typeface="DM Sans"/>
              <a:ea typeface="+mn-ea"/>
              <a:cs typeface="+mn-cs"/>
            </a:endParaRPr>
          </a:p>
        </p:txBody>
      </p:sp>
      <p:pic>
        <p:nvPicPr>
          <p:cNvPr id="8" name="Picture 7" descr="A city and grass with a city in the background&#10;&#10;Description automatically generated">
            <a:extLst>
              <a:ext uri="{FF2B5EF4-FFF2-40B4-BE49-F238E27FC236}">
                <a16:creationId xmlns:a16="http://schemas.microsoft.com/office/drawing/2014/main" id="{C4920D5A-4C3B-E8F7-0D8E-7F35A0B532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75333" y="2844702"/>
            <a:ext cx="7222470" cy="6195274"/>
          </a:xfrm>
          <a:prstGeom prst="rect">
            <a:avLst/>
          </a:prstGeom>
        </p:spPr>
      </p:pic>
    </p:spTree>
    <p:extLst>
      <p:ext uri="{BB962C8B-B14F-4D97-AF65-F5344CB8AC3E}">
        <p14:creationId xmlns:p14="http://schemas.microsoft.com/office/powerpoint/2010/main" val="160660511"/>
      </p:ext>
    </p:extLst>
  </p:cSld>
  <p:clrMapOvr>
    <a:masterClrMapping/>
  </p:clrMapOvr>
  <mc:AlternateContent xmlns:mc="http://schemas.openxmlformats.org/markup-compatibility/2006" xmlns:p14="http://schemas.microsoft.com/office/powerpoint/2010/main">
    <mc:Choice Requires="p14">
      <p:transition spd="slow" p14:dur="2000" advTm="186516"/>
    </mc:Choice>
    <mc:Fallback xmlns="">
      <p:transition spd="slow" advTm="18651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DB3D659-F74C-F8C2-4D5A-FD89D2EE28B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Subtitle 2">
            <a:extLst>
              <a:ext uri="{FF2B5EF4-FFF2-40B4-BE49-F238E27FC236}">
                <a16:creationId xmlns:a16="http://schemas.microsoft.com/office/drawing/2014/main" id="{8B1AFAA2-F449-EC56-C3FB-0656BCBB6745}"/>
              </a:ext>
            </a:extLst>
          </p:cNvPr>
          <p:cNvSpPr txBox="1">
            <a:spLocks/>
          </p:cNvSpPr>
          <p:nvPr/>
        </p:nvSpPr>
        <p:spPr>
          <a:xfrm>
            <a:off x="1982972" y="3794162"/>
            <a:ext cx="9601200" cy="7350920"/>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sp>
        <p:nvSpPr>
          <p:cNvPr id="5" name="TextBox 5">
            <a:extLst>
              <a:ext uri="{FF2B5EF4-FFF2-40B4-BE49-F238E27FC236}">
                <a16:creationId xmlns:a16="http://schemas.microsoft.com/office/drawing/2014/main" id="{779588C8-99B4-0066-A29B-472B6CF20D8B}"/>
              </a:ext>
            </a:extLst>
          </p:cNvPr>
          <p:cNvSpPr txBox="1"/>
          <p:nvPr/>
        </p:nvSpPr>
        <p:spPr>
          <a:xfrm>
            <a:off x="1143000" y="1736548"/>
            <a:ext cx="13847674" cy="820289"/>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What impact will Climate Change have?</a:t>
            </a:r>
          </a:p>
        </p:txBody>
      </p:sp>
      <p:sp>
        <p:nvSpPr>
          <p:cNvPr id="7" name="TextBox 6">
            <a:extLst>
              <a:ext uri="{FF2B5EF4-FFF2-40B4-BE49-F238E27FC236}">
                <a16:creationId xmlns:a16="http://schemas.microsoft.com/office/drawing/2014/main" id="{18C727CE-3E21-F6C9-0970-F01FE11AB416}"/>
              </a:ext>
            </a:extLst>
          </p:cNvPr>
          <p:cNvSpPr txBox="1"/>
          <p:nvPr/>
        </p:nvSpPr>
        <p:spPr>
          <a:xfrm>
            <a:off x="1143000" y="2747664"/>
            <a:ext cx="8779933" cy="3662541"/>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Increase Earth's average temperature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Influence the patterns and amounts of precipitation</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Reduce ice and snow cover, as well as permafrost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Raise sea level</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Increase the acidity of the oceans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Increase the frequency, intensity of extreme events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Shift ecosystem characteristics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Increase threats to human health</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GB" sz="2000" b="0" i="0" u="none" strike="noStrike" kern="1200" cap="none" spc="0" normalizeH="0" baseline="0" noProof="0" dirty="0">
                <a:ln>
                  <a:noFill/>
                </a:ln>
                <a:solidFill>
                  <a:prstClr val="black"/>
                </a:solidFill>
                <a:effectLst/>
                <a:uLnTx/>
                <a:uFillTx/>
                <a:latin typeface="DM Sans"/>
                <a:ea typeface="+mn-ea"/>
                <a:cs typeface="+mn-cs"/>
              </a:rPr>
            </a:br>
            <a:endParaRPr kumimoji="0" lang="en-GB" sz="2000" b="0" i="0" u="none" strike="noStrike" kern="1200" cap="none" spc="0" normalizeH="0" baseline="0" noProof="0" dirty="0">
              <a:ln>
                <a:noFill/>
              </a:ln>
              <a:solidFill>
                <a:prstClr val="black"/>
              </a:solidFill>
              <a:effectLst/>
              <a:uLnTx/>
              <a:uFillTx/>
              <a:latin typeface="DM Sans"/>
              <a:ea typeface="+mn-ea"/>
              <a:cs typeface="+mn-cs"/>
            </a:endParaRPr>
          </a:p>
        </p:txBody>
      </p:sp>
      <p:sp>
        <p:nvSpPr>
          <p:cNvPr id="3" name="TextBox 5">
            <a:extLst>
              <a:ext uri="{FF2B5EF4-FFF2-40B4-BE49-F238E27FC236}">
                <a16:creationId xmlns:a16="http://schemas.microsoft.com/office/drawing/2014/main" id="{0E6C3B07-7701-3AD6-49CD-4A3B3659E0AA}"/>
              </a:ext>
            </a:extLst>
          </p:cNvPr>
          <p:cNvSpPr txBox="1"/>
          <p:nvPr/>
        </p:nvSpPr>
        <p:spPr>
          <a:xfrm>
            <a:off x="1143000" y="6000060"/>
            <a:ext cx="13847674" cy="820289"/>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What will this depend on?</a:t>
            </a:r>
            <a:endParaRPr kumimoji="0" lang="en-US" sz="4800"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4" name="TextBox 3">
            <a:extLst>
              <a:ext uri="{FF2B5EF4-FFF2-40B4-BE49-F238E27FC236}">
                <a16:creationId xmlns:a16="http://schemas.microsoft.com/office/drawing/2014/main" id="{1A7087AE-3019-A578-FBE7-6E42BD8ECEA8}"/>
              </a:ext>
            </a:extLst>
          </p:cNvPr>
          <p:cNvSpPr txBox="1"/>
          <p:nvPr/>
        </p:nvSpPr>
        <p:spPr>
          <a:xfrm>
            <a:off x="1143001" y="6892493"/>
            <a:ext cx="8610600" cy="2923877"/>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srgbClr val="212121"/>
                </a:solidFill>
                <a:effectLst/>
                <a:uLnTx/>
                <a:uFillTx/>
                <a:latin typeface="Calibri" panose="020F0502020204030204" pitchFamily="34" charset="0"/>
                <a:ea typeface="+mn-ea"/>
                <a:cs typeface="+mn-cs"/>
              </a:rPr>
              <a:t>Increase in greenhouse gas concentrations </a:t>
            </a:r>
            <a:r>
              <a:rPr kumimoji="0" lang="en-GB" sz="2400" u="none" strike="noStrike" kern="1200" cap="none" spc="0" normalizeH="0" baseline="0" noProof="0" dirty="0">
                <a:ln>
                  <a:noFill/>
                </a:ln>
                <a:solidFill>
                  <a:srgbClr val="FF0000"/>
                </a:solidFill>
                <a:effectLst/>
                <a:uLnTx/>
                <a:uFillTx/>
                <a:latin typeface="Calibri" panose="020F0502020204030204" pitchFamily="34" charset="0"/>
                <a:ea typeface="+mn-ea"/>
                <a:cs typeface="+mn-cs"/>
              </a:rPr>
              <a:t>(weeks 1-5)</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srgbClr val="212121"/>
                </a:solidFill>
                <a:effectLst/>
                <a:uLnTx/>
                <a:uFillTx/>
                <a:latin typeface="Calibri" panose="020F0502020204030204" pitchFamily="34" charset="0"/>
                <a:ea typeface="+mn-ea"/>
                <a:cs typeface="+mn-cs"/>
              </a:rPr>
              <a:t>Other Anthropogenic radiative forcing effects </a:t>
            </a:r>
            <a:r>
              <a:rPr kumimoji="0" lang="en-GB" sz="2400" u="none" strike="noStrike" kern="1200" cap="none" spc="0" normalizeH="0" baseline="0" noProof="0" dirty="0">
                <a:ln>
                  <a:noFill/>
                </a:ln>
                <a:solidFill>
                  <a:srgbClr val="FF0000"/>
                </a:solidFill>
                <a:effectLst/>
                <a:uLnTx/>
                <a:uFillTx/>
                <a:latin typeface="Calibri" panose="020F0502020204030204" pitchFamily="34" charset="0"/>
                <a:ea typeface="+mn-ea"/>
                <a:cs typeface="+mn-cs"/>
              </a:rPr>
              <a:t>(weeks 1-5)</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srgbClr val="212121"/>
                </a:solidFill>
                <a:effectLst/>
                <a:uLnTx/>
                <a:uFillTx/>
                <a:latin typeface="Calibri" panose="020F0502020204030204" pitchFamily="34" charset="0"/>
                <a:ea typeface="+mn-ea"/>
                <a:cs typeface="+mn-cs"/>
              </a:rPr>
              <a:t>Natural influences on climate </a:t>
            </a:r>
            <a:r>
              <a:rPr kumimoji="0" lang="en-GB" sz="2400" u="none" strike="noStrike" kern="1200" cap="none" spc="0" normalizeH="0" baseline="0" noProof="0" dirty="0">
                <a:ln>
                  <a:noFill/>
                </a:ln>
                <a:solidFill>
                  <a:srgbClr val="FF0000"/>
                </a:solidFill>
                <a:effectLst/>
                <a:uLnTx/>
                <a:uFillTx/>
                <a:latin typeface="Calibri" panose="020F0502020204030204" pitchFamily="34" charset="0"/>
                <a:ea typeface="+mn-ea"/>
                <a:cs typeface="+mn-cs"/>
              </a:rPr>
              <a:t>(week 7)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srgbClr val="212121"/>
                </a:solidFill>
                <a:effectLst/>
                <a:uLnTx/>
                <a:uFillTx/>
                <a:latin typeface="Calibri" panose="020F0502020204030204" pitchFamily="34" charset="0"/>
                <a:ea typeface="+mn-ea"/>
                <a:cs typeface="+mn-cs"/>
              </a:rPr>
              <a:t>Mitigations </a:t>
            </a:r>
            <a:r>
              <a:rPr kumimoji="0" lang="en-GB" sz="2400" u="none" strike="noStrike" kern="1200" cap="none" spc="0" normalizeH="0" baseline="0" noProof="0" dirty="0">
                <a:ln>
                  <a:noFill/>
                </a:ln>
                <a:solidFill>
                  <a:srgbClr val="FF0000"/>
                </a:solidFill>
                <a:effectLst/>
                <a:uLnTx/>
                <a:uFillTx/>
                <a:latin typeface="Calibri" panose="020F0502020204030204" pitchFamily="34" charset="0"/>
                <a:ea typeface="+mn-ea"/>
                <a:cs typeface="+mn-cs"/>
              </a:rPr>
              <a:t>(week 9)</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u="none" strike="noStrike" kern="1200" cap="none" spc="0" normalizeH="0" baseline="0" noProof="0" dirty="0">
                <a:ln>
                  <a:noFill/>
                </a:ln>
                <a:solidFill>
                  <a:srgbClr val="212121"/>
                </a:solidFill>
                <a:effectLst/>
                <a:uLnTx/>
                <a:uFillTx/>
                <a:latin typeface="Calibri" panose="020F0502020204030204" pitchFamily="34" charset="0"/>
                <a:ea typeface="+mn-ea"/>
                <a:cs typeface="+mn-cs"/>
              </a:rPr>
              <a:t>Models of the climate system to better understand these issues and project future climate changes </a:t>
            </a:r>
            <a:r>
              <a:rPr kumimoji="0" lang="en-GB" sz="2400" u="none" strike="noStrike" kern="1200" cap="none" spc="0" normalizeH="0" baseline="0" noProof="0" dirty="0">
                <a:ln>
                  <a:noFill/>
                </a:ln>
                <a:solidFill>
                  <a:srgbClr val="FF0000"/>
                </a:solidFill>
                <a:effectLst/>
                <a:uLnTx/>
                <a:uFillTx/>
                <a:latin typeface="Calibri" panose="020F0502020204030204" pitchFamily="34" charset="0"/>
                <a:ea typeface="+mn-ea"/>
                <a:cs typeface="+mn-cs"/>
              </a:rPr>
              <a:t>(week 6).</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GB" sz="2000" b="0" i="0" u="none" strike="noStrike" kern="1200" cap="none" spc="0" normalizeH="0" baseline="0" noProof="0" dirty="0">
                <a:ln>
                  <a:noFill/>
                </a:ln>
                <a:solidFill>
                  <a:prstClr val="black"/>
                </a:solidFill>
                <a:effectLst/>
                <a:uLnTx/>
                <a:uFillTx/>
                <a:latin typeface="DM Sans"/>
                <a:ea typeface="+mn-ea"/>
                <a:cs typeface="+mn-cs"/>
              </a:rPr>
            </a:br>
            <a:endParaRPr kumimoji="0" lang="en-GB" sz="2000" b="0" i="0" u="none" strike="noStrike" kern="1200" cap="none" spc="0" normalizeH="0" baseline="0" noProof="0" dirty="0">
              <a:ln>
                <a:noFill/>
              </a:ln>
              <a:solidFill>
                <a:prstClr val="black"/>
              </a:solidFill>
              <a:effectLst/>
              <a:uLnTx/>
              <a:uFillTx/>
              <a:latin typeface="DM Sans"/>
              <a:ea typeface="+mn-ea"/>
              <a:cs typeface="+mn-cs"/>
            </a:endParaRPr>
          </a:p>
        </p:txBody>
      </p:sp>
      <p:pic>
        <p:nvPicPr>
          <p:cNvPr id="8" name="Picture 7" descr="A city and grass with a city in the background&#10;&#10;Description automatically generated">
            <a:extLst>
              <a:ext uri="{FF2B5EF4-FFF2-40B4-BE49-F238E27FC236}">
                <a16:creationId xmlns:a16="http://schemas.microsoft.com/office/drawing/2014/main" id="{C4920D5A-4C3B-E8F7-0D8E-7F35A0B532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75333" y="2844702"/>
            <a:ext cx="7222470" cy="6195274"/>
          </a:xfrm>
          <a:prstGeom prst="rect">
            <a:avLst/>
          </a:prstGeom>
        </p:spPr>
      </p:pic>
    </p:spTree>
    <p:extLst>
      <p:ext uri="{BB962C8B-B14F-4D97-AF65-F5344CB8AC3E}">
        <p14:creationId xmlns:p14="http://schemas.microsoft.com/office/powerpoint/2010/main" val="818363512"/>
      </p:ext>
    </p:extLst>
  </p:cSld>
  <p:clrMapOvr>
    <a:masterClrMapping/>
  </p:clrMapOvr>
  <mc:AlternateContent xmlns:mc="http://schemas.openxmlformats.org/markup-compatibility/2006" xmlns:p14="http://schemas.microsoft.com/office/powerpoint/2010/main">
    <mc:Choice Requires="p14">
      <p:transition spd="slow" p14:dur="2000" advTm="12228"/>
    </mc:Choice>
    <mc:Fallback xmlns="">
      <p:transition spd="slow" advTm="1222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DB3D659-F74C-F8C2-4D5A-FD89D2EE28B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Subtitle 2">
            <a:extLst>
              <a:ext uri="{FF2B5EF4-FFF2-40B4-BE49-F238E27FC236}">
                <a16:creationId xmlns:a16="http://schemas.microsoft.com/office/drawing/2014/main" id="{8B1AFAA2-F449-EC56-C3FB-0656BCBB6745}"/>
              </a:ext>
            </a:extLst>
          </p:cNvPr>
          <p:cNvSpPr txBox="1">
            <a:spLocks/>
          </p:cNvSpPr>
          <p:nvPr/>
        </p:nvSpPr>
        <p:spPr>
          <a:xfrm>
            <a:off x="1982972" y="3794162"/>
            <a:ext cx="9601200" cy="7350920"/>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pic>
        <p:nvPicPr>
          <p:cNvPr id="9" name="Picture 8" descr="A diagram of climate change&#10;&#10;Description automatically generated">
            <a:extLst>
              <a:ext uri="{FF2B5EF4-FFF2-40B4-BE49-F238E27FC236}">
                <a16:creationId xmlns:a16="http://schemas.microsoft.com/office/drawing/2014/main" id="{EF2460A9-513D-215E-3939-29BAEF1BB5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000" y="824662"/>
            <a:ext cx="11976652" cy="8923536"/>
          </a:xfrm>
          <a:prstGeom prst="rect">
            <a:avLst/>
          </a:prstGeom>
        </p:spPr>
      </p:pic>
    </p:spTree>
    <p:extLst>
      <p:ext uri="{BB962C8B-B14F-4D97-AF65-F5344CB8AC3E}">
        <p14:creationId xmlns:p14="http://schemas.microsoft.com/office/powerpoint/2010/main" val="4169010033"/>
      </p:ext>
    </p:extLst>
  </p:cSld>
  <p:clrMapOvr>
    <a:masterClrMapping/>
  </p:clrMapOvr>
  <mc:AlternateContent xmlns:mc="http://schemas.openxmlformats.org/markup-compatibility/2006" xmlns:p14="http://schemas.microsoft.com/office/powerpoint/2010/main">
    <mc:Choice Requires="p14">
      <p:transition spd="slow" p14:dur="2000" advTm="40315"/>
    </mc:Choice>
    <mc:Fallback xmlns="">
      <p:transition spd="slow" advTm="4031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DB3D659-F74C-F8C2-4D5A-FD89D2EE28B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Subtitle 2">
            <a:extLst>
              <a:ext uri="{FF2B5EF4-FFF2-40B4-BE49-F238E27FC236}">
                <a16:creationId xmlns:a16="http://schemas.microsoft.com/office/drawing/2014/main" id="{8B1AFAA2-F449-EC56-C3FB-0656BCBB6745}"/>
              </a:ext>
            </a:extLst>
          </p:cNvPr>
          <p:cNvSpPr txBox="1">
            <a:spLocks/>
          </p:cNvSpPr>
          <p:nvPr/>
        </p:nvSpPr>
        <p:spPr>
          <a:xfrm>
            <a:off x="1982972" y="3794162"/>
            <a:ext cx="9601200" cy="7350920"/>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pic>
        <p:nvPicPr>
          <p:cNvPr id="3" name="Picture 2">
            <a:extLst>
              <a:ext uri="{FF2B5EF4-FFF2-40B4-BE49-F238E27FC236}">
                <a16:creationId xmlns:a16="http://schemas.microsoft.com/office/drawing/2014/main" id="{51E7E8F0-0E6F-16F3-F61A-53A71E9EEB6F}"/>
              </a:ext>
            </a:extLst>
          </p:cNvPr>
          <p:cNvPicPr>
            <a:picLocks noChangeAspect="1"/>
          </p:cNvPicPr>
          <p:nvPr/>
        </p:nvPicPr>
        <p:blipFill>
          <a:blip r:embed="rId5"/>
          <a:stretch>
            <a:fillRect/>
          </a:stretch>
        </p:blipFill>
        <p:spPr>
          <a:xfrm>
            <a:off x="968251" y="794311"/>
            <a:ext cx="12326875" cy="8894666"/>
          </a:xfrm>
          <a:prstGeom prst="rect">
            <a:avLst/>
          </a:prstGeom>
        </p:spPr>
      </p:pic>
    </p:spTree>
    <p:extLst>
      <p:ext uri="{BB962C8B-B14F-4D97-AF65-F5344CB8AC3E}">
        <p14:creationId xmlns:p14="http://schemas.microsoft.com/office/powerpoint/2010/main" val="2571380510"/>
      </p:ext>
    </p:extLst>
  </p:cSld>
  <p:clrMapOvr>
    <a:masterClrMapping/>
  </p:clrMapOvr>
  <mc:AlternateContent xmlns:mc="http://schemas.openxmlformats.org/markup-compatibility/2006" xmlns:p14="http://schemas.microsoft.com/office/powerpoint/2010/main">
    <mc:Choice Requires="p14">
      <p:transition spd="slow" p14:dur="2000" advTm="76526"/>
    </mc:Choice>
    <mc:Fallback xmlns="">
      <p:transition spd="slow" advTm="7652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DB3D659-F74C-F8C2-4D5A-FD89D2EE28B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Subtitle 2">
            <a:extLst>
              <a:ext uri="{FF2B5EF4-FFF2-40B4-BE49-F238E27FC236}">
                <a16:creationId xmlns:a16="http://schemas.microsoft.com/office/drawing/2014/main" id="{8B1AFAA2-F449-EC56-C3FB-0656BCBB6745}"/>
              </a:ext>
            </a:extLst>
          </p:cNvPr>
          <p:cNvSpPr txBox="1">
            <a:spLocks/>
          </p:cNvSpPr>
          <p:nvPr/>
        </p:nvSpPr>
        <p:spPr>
          <a:xfrm>
            <a:off x="1982972" y="3794162"/>
            <a:ext cx="9601200" cy="7350920"/>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pic>
        <p:nvPicPr>
          <p:cNvPr id="3" name="Picture 2">
            <a:extLst>
              <a:ext uri="{FF2B5EF4-FFF2-40B4-BE49-F238E27FC236}">
                <a16:creationId xmlns:a16="http://schemas.microsoft.com/office/drawing/2014/main" id="{70BEC44D-C3C7-999F-BBD7-78264EA09206}"/>
              </a:ext>
            </a:extLst>
          </p:cNvPr>
          <p:cNvPicPr>
            <a:picLocks noChangeAspect="1"/>
          </p:cNvPicPr>
          <p:nvPr/>
        </p:nvPicPr>
        <p:blipFill>
          <a:blip r:embed="rId5"/>
          <a:stretch>
            <a:fillRect/>
          </a:stretch>
        </p:blipFill>
        <p:spPr>
          <a:xfrm>
            <a:off x="1004639" y="2501782"/>
            <a:ext cx="9329468" cy="5794585"/>
          </a:xfrm>
          <a:prstGeom prst="rect">
            <a:avLst/>
          </a:prstGeom>
        </p:spPr>
      </p:pic>
      <p:sp>
        <p:nvSpPr>
          <p:cNvPr id="4" name="Oval 3">
            <a:extLst>
              <a:ext uri="{FF2B5EF4-FFF2-40B4-BE49-F238E27FC236}">
                <a16:creationId xmlns:a16="http://schemas.microsoft.com/office/drawing/2014/main" id="{3348EFA1-7292-8618-9155-43E6B9E21A66}"/>
              </a:ext>
            </a:extLst>
          </p:cNvPr>
          <p:cNvSpPr/>
          <p:nvPr/>
        </p:nvSpPr>
        <p:spPr>
          <a:xfrm>
            <a:off x="5964892" y="3675895"/>
            <a:ext cx="1602455" cy="97545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700" b="0" i="0" u="none" strike="noStrike" kern="1200" cap="none" spc="0" normalizeH="0" baseline="0" noProof="0">
              <a:ln>
                <a:noFill/>
              </a:ln>
              <a:solidFill>
                <a:prstClr val="white"/>
              </a:solidFill>
              <a:effectLst/>
              <a:uLnTx/>
              <a:uFillTx/>
              <a:latin typeface="DM Sans"/>
              <a:ea typeface="+mn-ea"/>
              <a:cs typeface="+mn-cs"/>
            </a:endParaRPr>
          </a:p>
        </p:txBody>
      </p:sp>
      <p:sp>
        <p:nvSpPr>
          <p:cNvPr id="5" name="TextBox 4">
            <a:extLst>
              <a:ext uri="{FF2B5EF4-FFF2-40B4-BE49-F238E27FC236}">
                <a16:creationId xmlns:a16="http://schemas.microsoft.com/office/drawing/2014/main" id="{FAEA2B24-EDFE-4D92-03CC-9D1655507943}"/>
              </a:ext>
            </a:extLst>
          </p:cNvPr>
          <p:cNvSpPr txBox="1"/>
          <p:nvPr/>
        </p:nvSpPr>
        <p:spPr>
          <a:xfrm>
            <a:off x="498764" y="8454044"/>
            <a:ext cx="17404123" cy="124649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900" b="1" i="0" u="none" strike="noStrike" kern="1200" cap="none" spc="0" normalizeH="0" baseline="0" noProof="0" dirty="0">
                <a:ln>
                  <a:noFill/>
                </a:ln>
                <a:solidFill>
                  <a:prstClr val="black"/>
                </a:solidFill>
                <a:effectLst/>
                <a:uLnTx/>
                <a:uFillTx/>
                <a:latin typeface="DM Sans"/>
                <a:ea typeface="+mn-ea"/>
                <a:cs typeface="+mn-cs"/>
              </a:rPr>
              <a:t>Vulnerability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prstClr val="black"/>
                </a:solidFill>
                <a:effectLst/>
                <a:uLnTx/>
                <a:uFillTx/>
                <a:latin typeface="DM Sans"/>
                <a:ea typeface="+mn-ea"/>
                <a:cs typeface="+mn-cs"/>
              </a:rPr>
              <a:t>Susceptibility to harm, resilience and the capacity to cope and adapt to hazards.</a:t>
            </a:r>
          </a:p>
        </p:txBody>
      </p:sp>
      <p:sp>
        <p:nvSpPr>
          <p:cNvPr id="6" name="TextBox 5">
            <a:extLst>
              <a:ext uri="{FF2B5EF4-FFF2-40B4-BE49-F238E27FC236}">
                <a16:creationId xmlns:a16="http://schemas.microsoft.com/office/drawing/2014/main" id="{B501E6C8-7BE5-B9FD-614B-53ED2AE924BC}"/>
              </a:ext>
            </a:extLst>
          </p:cNvPr>
          <p:cNvSpPr txBox="1"/>
          <p:nvPr/>
        </p:nvSpPr>
        <p:spPr>
          <a:xfrm>
            <a:off x="1143000" y="1499819"/>
            <a:ext cx="15725274" cy="2538708"/>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Climate C</a:t>
            </a:r>
            <a:r>
              <a:rPr kumimoji="0" lang="en-US" sz="4800" b="1" i="0" u="none" strike="noStrike" kern="1200" cap="none" spc="0" normalizeH="0" baseline="0" noProof="0" dirty="0" err="1">
                <a:ln>
                  <a:noFill/>
                </a:ln>
                <a:solidFill>
                  <a:srgbClr val="46245A"/>
                </a:solidFill>
                <a:effectLst/>
                <a:uLnTx/>
                <a:uFillTx/>
                <a:latin typeface="DM Sans" pitchFamily="2" charset="0"/>
                <a:ea typeface="+mn-ea"/>
                <a:cs typeface="+mn-cs"/>
              </a:rPr>
              <a:t>hange</a:t>
            </a: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 Vulnerability </a:t>
            </a:r>
          </a:p>
          <a:p>
            <a:pPr marL="0" marR="0" lvl="0" indent="0" algn="l" defTabSz="914400" rtl="0" eaLnBrk="1" fontAlgn="auto" latinLnBrk="0" hangingPunct="1">
              <a:lnSpc>
                <a:spcPts val="6719"/>
              </a:lnSpc>
              <a:spcBef>
                <a:spcPts val="0"/>
              </a:spcBef>
              <a:spcAft>
                <a:spcPts val="0"/>
              </a:spcAft>
              <a:buClrTx/>
              <a:buSzTx/>
              <a:buFontTx/>
              <a:buNone/>
              <a:tabLst/>
              <a:defRPr/>
            </a:pPr>
            <a:endPar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endParaRPr>
          </a:p>
          <a:p>
            <a:pPr marL="0" marR="0" lvl="0" indent="0" algn="l" defTabSz="914400" rtl="0" eaLnBrk="1" fontAlgn="auto" latinLnBrk="0" hangingPunct="1">
              <a:lnSpc>
                <a:spcPts val="6719"/>
              </a:lnSpc>
              <a:spcBef>
                <a:spcPts val="0"/>
              </a:spcBef>
              <a:spcAft>
                <a:spcPts val="0"/>
              </a:spcAft>
              <a:buClrTx/>
              <a:buSzTx/>
              <a:buFontTx/>
              <a:buNone/>
              <a:tabLst/>
              <a:defRPr/>
            </a:pPr>
            <a:endPar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endParaRPr>
          </a:p>
        </p:txBody>
      </p:sp>
      <p:pic>
        <p:nvPicPr>
          <p:cNvPr id="12" name="Picture 11">
            <a:extLst>
              <a:ext uri="{FF2B5EF4-FFF2-40B4-BE49-F238E27FC236}">
                <a16:creationId xmlns:a16="http://schemas.microsoft.com/office/drawing/2014/main" id="{1746E7F6-A07E-521B-23F3-40F8AFBF5181}"/>
              </a:ext>
            </a:extLst>
          </p:cNvPr>
          <p:cNvPicPr>
            <a:picLocks noChangeAspect="1"/>
          </p:cNvPicPr>
          <p:nvPr/>
        </p:nvPicPr>
        <p:blipFill>
          <a:blip r:embed="rId6"/>
          <a:stretch>
            <a:fillRect/>
          </a:stretch>
        </p:blipFill>
        <p:spPr>
          <a:xfrm>
            <a:off x="9908293" y="2501782"/>
            <a:ext cx="8249078" cy="5952262"/>
          </a:xfrm>
          <a:prstGeom prst="rect">
            <a:avLst/>
          </a:prstGeom>
        </p:spPr>
      </p:pic>
    </p:spTree>
    <p:extLst>
      <p:ext uri="{BB962C8B-B14F-4D97-AF65-F5344CB8AC3E}">
        <p14:creationId xmlns:p14="http://schemas.microsoft.com/office/powerpoint/2010/main" val="848771126"/>
      </p:ext>
    </p:extLst>
  </p:cSld>
  <p:clrMapOvr>
    <a:masterClrMapping/>
  </p:clrMapOvr>
  <mc:AlternateContent xmlns:mc="http://schemas.openxmlformats.org/markup-compatibility/2006" xmlns:p14="http://schemas.microsoft.com/office/powerpoint/2010/main">
    <mc:Choice Requires="p14">
      <p:transition spd="slow" p14:dur="2000" advTm="19878"/>
    </mc:Choice>
    <mc:Fallback xmlns="">
      <p:transition spd="slow" advTm="1987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What can we do?</a:t>
            </a:r>
            <a:endParaRPr kumimoji="0" lang="en-US" sz="5599"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3" name="Content Placeholder 2">
            <a:extLst>
              <a:ext uri="{FF2B5EF4-FFF2-40B4-BE49-F238E27FC236}">
                <a16:creationId xmlns:a16="http://schemas.microsoft.com/office/drawing/2014/main" id="{7C368D6C-F9C4-59FA-AD50-DE8DA0972EE6}"/>
              </a:ext>
            </a:extLst>
          </p:cNvPr>
          <p:cNvSpPr txBox="1">
            <a:spLocks/>
          </p:cNvSpPr>
          <p:nvPr/>
        </p:nvSpPr>
        <p:spPr>
          <a:xfrm>
            <a:off x="9372603" y="3571580"/>
            <a:ext cx="8597345" cy="8239727"/>
          </a:xfrm>
          <a:prstGeom prst="rect">
            <a:avLst/>
          </a:prstGeom>
        </p:spPr>
        <p:txBody>
          <a:bodyPr>
            <a:normAutofit/>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r>
              <a:rPr kumimoji="0" lang="en-GB" sz="2000" b="1" i="0" u="none" strike="noStrike" kern="1200" cap="none" spc="0" normalizeH="0" baseline="0" noProof="0" dirty="0">
                <a:ln>
                  <a:noFill/>
                </a:ln>
                <a:solidFill>
                  <a:prstClr val="black"/>
                </a:solidFill>
                <a:effectLst/>
                <a:uLnTx/>
                <a:uFillTx/>
                <a:latin typeface="DM Sans"/>
                <a:ea typeface="+mn-ea"/>
                <a:cs typeface="+mn-cs"/>
              </a:rPr>
              <a:t>Adaptation:</a:t>
            </a:r>
            <a:r>
              <a:rPr kumimoji="0" lang="en-GB" sz="2000" b="0" i="0" u="none" strike="noStrike" kern="1200" cap="none" spc="0" normalizeH="0" baseline="0" noProof="0" dirty="0">
                <a:ln>
                  <a:noFill/>
                </a:ln>
                <a:solidFill>
                  <a:prstClr val="black"/>
                </a:solidFill>
                <a:effectLst/>
                <a:uLnTx/>
                <a:uFillTx/>
                <a:latin typeface="DM Sans"/>
                <a:ea typeface="+mn-ea"/>
                <a:cs typeface="+mn-cs"/>
              </a:rPr>
              <a:t> adapting to life in a changing climate.</a:t>
            </a:r>
          </a:p>
          <a:p>
            <a:pPr marL="0" marR="0" lvl="0" indent="0" algn="l" defTabSz="914400" rtl="0" eaLnBrk="1" fontAlgn="auto" latinLnBrk="0" hangingPunct="1">
              <a:lnSpc>
                <a:spcPct val="100000"/>
              </a:lnSpc>
              <a:spcBef>
                <a:spcPct val="20000"/>
              </a:spcBef>
              <a:spcAft>
                <a:spcPts val="0"/>
              </a:spcAft>
              <a:buClrTx/>
              <a:buSzTx/>
              <a:buNone/>
              <a:tabLst/>
              <a:defRPr/>
            </a:pPr>
            <a:endParaRPr kumimoji="0" lang="en-GB" sz="2000" b="1" i="0" u="none" strike="noStrike" kern="1200" cap="none" spc="0" normalizeH="0" baseline="0" noProof="0" dirty="0">
              <a:ln>
                <a:noFill/>
              </a:ln>
              <a:solidFill>
                <a:srgbClr val="2B2B2B"/>
              </a:solidFill>
              <a:effectLst/>
              <a:uLnTx/>
              <a:uFillTx/>
              <a:latin typeface="DM Sans"/>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r>
              <a:rPr kumimoji="0" lang="en-GB" sz="2000" b="0" i="0" u="none" strike="noStrike" kern="1200" cap="none" spc="0" normalizeH="0" baseline="0" noProof="0" dirty="0">
                <a:ln>
                  <a:noFill/>
                </a:ln>
                <a:solidFill>
                  <a:srgbClr val="2B2B2B"/>
                </a:solidFill>
                <a:effectLst/>
                <a:uLnTx/>
                <a:uFillTx/>
                <a:latin typeface="DM Sans"/>
                <a:ea typeface="+mn-ea"/>
                <a:cs typeface="+mn-cs"/>
              </a:rPr>
              <a:t>The goal is to reduce our risks from the harmful effects of climate change </a:t>
            </a: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r>
              <a:rPr kumimoji="0" lang="en-GB" sz="2000" b="0" i="0" u="none" strike="noStrike" kern="1200" cap="none" spc="0" normalizeH="0" baseline="0" noProof="0" dirty="0">
                <a:ln>
                  <a:noFill/>
                </a:ln>
                <a:solidFill>
                  <a:srgbClr val="2B2B2B"/>
                </a:solidFill>
                <a:effectLst/>
                <a:uLnTx/>
                <a:uFillTx/>
                <a:latin typeface="DM Sans"/>
                <a:ea typeface="+mn-ea"/>
                <a:cs typeface="+mn-cs"/>
              </a:rPr>
              <a:t>It also includes making the most of any potential beneficial opportunities associated with climate change (for example, longer growing seasons or increased yields in some regions).</a:t>
            </a:r>
            <a:endParaRPr kumimoji="0" lang="en-GB" sz="2000" b="0" i="0" u="none" strike="noStrike" kern="1200" cap="none" spc="0" normalizeH="0" baseline="0" noProof="0" dirty="0">
              <a:ln>
                <a:noFill/>
              </a:ln>
              <a:solidFill>
                <a:prstClr val="black"/>
              </a:solidFill>
              <a:effectLst/>
              <a:uLnTx/>
              <a:uFillTx/>
              <a:latin typeface="DM Sans"/>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DM Sans"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DM Sans"/>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r>
              <a:rPr kumimoji="0" lang="en-GB" sz="2000" b="1" i="0" u="none" strike="noStrike" kern="1200" cap="none" spc="0" normalizeH="0" baseline="0" noProof="0" dirty="0">
                <a:ln>
                  <a:noFill/>
                </a:ln>
                <a:solidFill>
                  <a:prstClr val="black"/>
                </a:solidFill>
                <a:effectLst/>
                <a:uLnTx/>
                <a:uFillTx/>
                <a:latin typeface="DM Sans"/>
                <a:ea typeface="+mn-ea"/>
                <a:cs typeface="+mn-cs"/>
              </a:rPr>
              <a:t>Mitigation:</a:t>
            </a:r>
            <a:r>
              <a:rPr kumimoji="0" lang="en-GB" sz="2000" b="0" i="0" u="none" strike="noStrike" kern="1200" cap="none" spc="0" normalizeH="0" baseline="0" noProof="0" dirty="0">
                <a:ln>
                  <a:noFill/>
                </a:ln>
                <a:solidFill>
                  <a:prstClr val="black"/>
                </a:solidFill>
                <a:effectLst/>
                <a:uLnTx/>
                <a:uFillTx/>
                <a:latin typeface="DM Sans"/>
                <a:ea typeface="+mn-ea"/>
                <a:cs typeface="+mn-cs"/>
              </a:rPr>
              <a:t> reducing climate change.</a:t>
            </a:r>
          </a:p>
          <a:p>
            <a:pPr marL="342900" marR="0" lvl="0" indent="-342900" algn="l" defTabSz="914400" rtl="0" eaLnBrk="1" fontAlgn="auto" latinLnBrk="0" hangingPunct="1">
              <a:lnSpc>
                <a:spcPct val="100000"/>
              </a:lnSpc>
              <a:spcBef>
                <a:spcPct val="20000"/>
              </a:spcBef>
              <a:spcAft>
                <a:spcPts val="0"/>
              </a:spcAft>
              <a:buClrTx/>
              <a:buSzTx/>
              <a:buFont typeface="DM Sans"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DM Sans"/>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r>
              <a:rPr kumimoji="0" lang="en-GB" sz="2000" b="1" i="0" u="none" strike="noStrike" kern="1200" cap="none" spc="0" normalizeH="0" baseline="0" noProof="0" dirty="0">
                <a:ln>
                  <a:noFill/>
                </a:ln>
                <a:solidFill>
                  <a:prstClr val="black"/>
                </a:solidFill>
                <a:effectLst/>
                <a:uLnTx/>
                <a:uFillTx/>
                <a:latin typeface="DM Sans"/>
                <a:ea typeface="+mn-ea"/>
                <a:cs typeface="+mn-cs"/>
              </a:rPr>
              <a:t>involves reducing the flow of greenhouse gases into the atmosphere</a:t>
            </a:r>
            <a:r>
              <a:rPr kumimoji="0" lang="en-GB" sz="2000" b="0" i="0" u="none" strike="noStrike" kern="1200" cap="none" spc="0" normalizeH="0" baseline="0" noProof="0" dirty="0">
                <a:ln>
                  <a:noFill/>
                </a:ln>
                <a:solidFill>
                  <a:prstClr val="black"/>
                </a:solidFill>
                <a:effectLst/>
                <a:uLnTx/>
                <a:uFillTx/>
                <a:latin typeface="DM Sans"/>
                <a:ea typeface="+mn-ea"/>
                <a:cs typeface="+mn-cs"/>
              </a:rPr>
              <a:t>, either by reducing sources of these gases (for example, the burning of fossil fuels for electricity, heat, or transport) or enhancing the “sinks” that accumulate and store these gases (such as the oceans, forests, and soil). </a:t>
            </a:r>
          </a:p>
        </p:txBody>
      </p:sp>
      <p:pic>
        <p:nvPicPr>
          <p:cNvPr id="4" name="Picture 3" descr="A planet earth with smoke coming out of the top of a factory&#10;&#10;Description automatically generated">
            <a:extLst>
              <a:ext uri="{FF2B5EF4-FFF2-40B4-BE49-F238E27FC236}">
                <a16:creationId xmlns:a16="http://schemas.microsoft.com/office/drawing/2014/main" id="{F3EF454D-8A0B-D9D7-3721-331064DBEA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2999" y="3246751"/>
            <a:ext cx="7772400" cy="5699760"/>
          </a:xfrm>
          <a:prstGeom prst="rect">
            <a:avLst/>
          </a:prstGeom>
        </p:spPr>
      </p:pic>
      <p:sp>
        <p:nvSpPr>
          <p:cNvPr id="6" name="TextBox 5">
            <a:extLst>
              <a:ext uri="{FF2B5EF4-FFF2-40B4-BE49-F238E27FC236}">
                <a16:creationId xmlns:a16="http://schemas.microsoft.com/office/drawing/2014/main" id="{3E83AF9A-52E8-ACA7-540F-AC0138C2CCB5}"/>
              </a:ext>
            </a:extLst>
          </p:cNvPr>
          <p:cNvSpPr txBox="1"/>
          <p:nvPr/>
        </p:nvSpPr>
        <p:spPr>
          <a:xfrm>
            <a:off x="1031632" y="2600420"/>
            <a:ext cx="15404122"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2B2B2B"/>
                </a:solidFill>
                <a:effectLst/>
                <a:uLnTx/>
                <a:uFillTx/>
                <a:latin typeface="DM Sans"/>
                <a:ea typeface="+mn-ea"/>
                <a:cs typeface="+mn-cs"/>
              </a:rPr>
              <a:t>We are already committed to some level of climate change, responding to climate change involves a two-pronged approach: </a:t>
            </a:r>
          </a:p>
        </p:txBody>
      </p:sp>
    </p:spTree>
    <p:extLst>
      <p:ext uri="{BB962C8B-B14F-4D97-AF65-F5344CB8AC3E}">
        <p14:creationId xmlns:p14="http://schemas.microsoft.com/office/powerpoint/2010/main" val="4055362553"/>
      </p:ext>
    </p:extLst>
  </p:cSld>
  <p:clrMapOvr>
    <a:masterClrMapping/>
  </p:clrMapOvr>
  <mc:AlternateContent xmlns:mc="http://schemas.openxmlformats.org/markup-compatibility/2006" xmlns:p14="http://schemas.microsoft.com/office/powerpoint/2010/main">
    <mc:Choice Requires="p14">
      <p:transition spd="slow" p14:dur="2000" advTm="139624"/>
    </mc:Choice>
    <mc:Fallback xmlns="">
      <p:transition spd="slow" advTm="13962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What can we do?</a:t>
            </a:r>
            <a:endParaRPr kumimoji="0" lang="en-US" sz="5599"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3" name="Content Placeholder 2">
            <a:extLst>
              <a:ext uri="{FF2B5EF4-FFF2-40B4-BE49-F238E27FC236}">
                <a16:creationId xmlns:a16="http://schemas.microsoft.com/office/drawing/2014/main" id="{7C368D6C-F9C4-59FA-AD50-DE8DA0972EE6}"/>
              </a:ext>
            </a:extLst>
          </p:cNvPr>
          <p:cNvSpPr txBox="1">
            <a:spLocks/>
          </p:cNvSpPr>
          <p:nvPr/>
        </p:nvSpPr>
        <p:spPr>
          <a:xfrm>
            <a:off x="9372603" y="4085335"/>
            <a:ext cx="8597345" cy="8239727"/>
          </a:xfrm>
          <a:prstGeom prst="rect">
            <a:avLst/>
          </a:prstGeom>
        </p:spPr>
        <p:txBody>
          <a:bodyPr>
            <a:normAutofit/>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r>
              <a:rPr kumimoji="0" lang="en-GB" sz="2000" b="1" i="0" u="none" strike="noStrike" kern="1200" cap="none" spc="0" normalizeH="0" baseline="0" noProof="0" dirty="0">
                <a:ln>
                  <a:noFill/>
                </a:ln>
                <a:solidFill>
                  <a:prstClr val="black"/>
                </a:solidFill>
                <a:effectLst/>
                <a:uLnTx/>
                <a:uFillTx/>
                <a:latin typeface="DM Sans"/>
                <a:ea typeface="+mn-ea"/>
                <a:cs typeface="+mn-cs"/>
              </a:rPr>
              <a:t>Adaptation:</a:t>
            </a:r>
            <a:r>
              <a:rPr kumimoji="0" lang="en-GB" sz="2000" b="0" i="0" u="none" strike="noStrike" kern="1200" cap="none" spc="0" normalizeH="0" baseline="0" noProof="0" dirty="0">
                <a:ln>
                  <a:noFill/>
                </a:ln>
                <a:solidFill>
                  <a:prstClr val="black"/>
                </a:solidFill>
                <a:effectLst/>
                <a:uLnTx/>
                <a:uFillTx/>
                <a:latin typeface="DM Sans"/>
                <a:ea typeface="+mn-ea"/>
                <a:cs typeface="+mn-cs"/>
              </a:rPr>
              <a:t> adapting to life in a changing climate.</a:t>
            </a: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kumimoji="0" lang="en-GB" sz="2000" b="0" i="0" u="none" strike="noStrike" kern="1200" cap="none" spc="0" normalizeH="0" baseline="0" noProof="0" dirty="0">
              <a:ln>
                <a:noFill/>
              </a:ln>
              <a:solidFill>
                <a:prstClr val="black"/>
              </a:solidFill>
              <a:effectLst/>
              <a:uLnTx/>
              <a:uFillTx/>
              <a:latin typeface="DM Sans"/>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r>
              <a:rPr kumimoji="0" lang="en-GB" sz="2000" b="1" i="0" u="none" strike="noStrike" kern="1200" cap="none" spc="0" normalizeH="0" baseline="0" noProof="0" dirty="0">
                <a:ln>
                  <a:noFill/>
                </a:ln>
                <a:solidFill>
                  <a:prstClr val="black"/>
                </a:solidFill>
                <a:effectLst/>
                <a:uLnTx/>
                <a:uFillTx/>
                <a:latin typeface="DM Sans"/>
                <a:ea typeface="+mn-ea"/>
                <a:cs typeface="+mn-cs"/>
              </a:rPr>
              <a:t>Mitigation:</a:t>
            </a:r>
            <a:r>
              <a:rPr kumimoji="0" lang="en-GB" sz="2000" b="0" i="0" u="none" strike="noStrike" kern="1200" cap="none" spc="0" normalizeH="0" baseline="0" noProof="0" dirty="0">
                <a:ln>
                  <a:noFill/>
                </a:ln>
                <a:solidFill>
                  <a:prstClr val="black"/>
                </a:solidFill>
                <a:effectLst/>
                <a:uLnTx/>
                <a:uFillTx/>
                <a:latin typeface="DM Sans"/>
                <a:ea typeface="+mn-ea"/>
                <a:cs typeface="+mn-cs"/>
              </a:rPr>
              <a:t> reducing climate change.</a:t>
            </a: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kumimoji="0" lang="en-GB" sz="2000" b="0" i="0" u="none" strike="noStrike" kern="1200" cap="none" spc="0" normalizeH="0" baseline="0" noProof="0" dirty="0">
              <a:ln>
                <a:noFill/>
              </a:ln>
              <a:solidFill>
                <a:srgbClr val="2B2B2B"/>
              </a:solidFill>
              <a:effectLst/>
              <a:uLnTx/>
              <a:uFillTx/>
              <a:latin typeface="DM Sans"/>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r>
              <a:rPr kumimoji="0" lang="en-GB" sz="2000" b="0" i="0" u="none" strike="noStrike" kern="1200" cap="none" spc="0" normalizeH="0" baseline="0" noProof="0" dirty="0">
                <a:ln>
                  <a:noFill/>
                </a:ln>
                <a:solidFill>
                  <a:prstClr val="black"/>
                </a:solidFill>
                <a:effectLst/>
                <a:uLnTx/>
                <a:uFillTx/>
                <a:latin typeface="DM Sans"/>
                <a:ea typeface="+mn-ea"/>
                <a:cs typeface="+mn-cs"/>
              </a:rPr>
              <a:t>Both approaches are needed to respond to climate change!</a:t>
            </a: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kumimoji="0" lang="en-GB" sz="2000" b="0" i="0" u="none" strike="noStrike" kern="1200" cap="none" spc="0" normalizeH="0" baseline="0" noProof="0" dirty="0">
              <a:ln>
                <a:noFill/>
              </a:ln>
              <a:solidFill>
                <a:prstClr val="black"/>
              </a:solidFill>
              <a:effectLst/>
              <a:uLnTx/>
              <a:uFillTx/>
              <a:latin typeface="DM Sans"/>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r>
              <a:rPr kumimoji="0" lang="en-GB" sz="2000" b="0" i="0" u="none" strike="noStrike" kern="1200" cap="none" spc="0" normalizeH="0" baseline="0" noProof="0" dirty="0">
                <a:ln>
                  <a:noFill/>
                </a:ln>
                <a:solidFill>
                  <a:prstClr val="black"/>
                </a:solidFill>
                <a:effectLst/>
                <a:uLnTx/>
                <a:uFillTx/>
                <a:latin typeface="DM Sans"/>
                <a:ea typeface="+mn-ea"/>
                <a:cs typeface="+mn-cs"/>
              </a:rPr>
              <a:t>Aim to keep temperature increases well below 2°C and pursue efforts to limit the temperature increase to 1.5°C</a:t>
            </a: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lang="en-GB" sz="2000" noProof="0" dirty="0">
              <a:solidFill>
                <a:prstClr val="black"/>
              </a:solidFill>
              <a:latin typeface="DM Sans"/>
            </a:endParaRP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r>
              <a:rPr kumimoji="0" lang="en-GB" sz="2000" b="0" i="0" u="none" strike="noStrike" kern="1200" cap="none" spc="0" normalizeH="0" baseline="0" dirty="0">
                <a:ln>
                  <a:noFill/>
                </a:ln>
                <a:solidFill>
                  <a:prstClr val="black"/>
                </a:solidFill>
                <a:effectLst/>
                <a:uLnTx/>
                <a:uFillTx/>
                <a:latin typeface="DM Sans"/>
                <a:ea typeface="+mn-ea"/>
                <a:cs typeface="+mn-cs"/>
              </a:rPr>
              <a:t>Given the lifetime of the pollutants, international collaboration is required to </a:t>
            </a:r>
            <a:r>
              <a:rPr lang="en-GB" sz="2000" dirty="0">
                <a:solidFill>
                  <a:prstClr val="black"/>
                </a:solidFill>
                <a:latin typeface="DM Sans"/>
              </a:rPr>
              <a:t>achieve this </a:t>
            </a:r>
            <a:endParaRPr kumimoji="0" lang="en-GB" sz="1800" b="0" i="0" u="none" strike="noStrike" kern="1200" cap="none" spc="0" normalizeH="0" baseline="0" noProof="0" dirty="0">
              <a:ln>
                <a:noFill/>
              </a:ln>
              <a:solidFill>
                <a:prstClr val="black"/>
              </a:solidFill>
              <a:effectLst/>
              <a:uLnTx/>
              <a:uFillTx/>
              <a:latin typeface="DM Sans"/>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DM Sans"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DM Sans" pitchFamily="2"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DM Sans" pitchFamily="34" charset="0"/>
              <a:buChar char="•"/>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DM Sans" pitchFamily="34" charset="0"/>
              <a:buChar char="•"/>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pic>
        <p:nvPicPr>
          <p:cNvPr id="4" name="Picture 3" descr="A planet earth with smoke coming out of the top of a factory&#10;&#10;Description automatically generated">
            <a:extLst>
              <a:ext uri="{FF2B5EF4-FFF2-40B4-BE49-F238E27FC236}">
                <a16:creationId xmlns:a16="http://schemas.microsoft.com/office/drawing/2014/main" id="{F3EF454D-8A0B-D9D7-3721-331064DBEA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2999" y="3246751"/>
            <a:ext cx="7772400" cy="5699760"/>
          </a:xfrm>
          <a:prstGeom prst="rect">
            <a:avLst/>
          </a:prstGeom>
        </p:spPr>
      </p:pic>
      <p:sp>
        <p:nvSpPr>
          <p:cNvPr id="6" name="TextBox 5">
            <a:extLst>
              <a:ext uri="{FF2B5EF4-FFF2-40B4-BE49-F238E27FC236}">
                <a16:creationId xmlns:a16="http://schemas.microsoft.com/office/drawing/2014/main" id="{3E83AF9A-52E8-ACA7-540F-AC0138C2CCB5}"/>
              </a:ext>
            </a:extLst>
          </p:cNvPr>
          <p:cNvSpPr txBox="1"/>
          <p:nvPr/>
        </p:nvSpPr>
        <p:spPr>
          <a:xfrm>
            <a:off x="1031632" y="2600420"/>
            <a:ext cx="15404122"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2B2B2B"/>
                </a:solidFill>
                <a:effectLst/>
                <a:uLnTx/>
                <a:uFillTx/>
                <a:latin typeface="DM Sans"/>
                <a:ea typeface="+mn-ea"/>
                <a:cs typeface="+mn-cs"/>
              </a:rPr>
              <a:t>We are already committed to some level of climate change, responding to climate change involves a two-pronged approach: </a:t>
            </a:r>
          </a:p>
        </p:txBody>
      </p:sp>
    </p:spTree>
    <p:extLst>
      <p:ext uri="{BB962C8B-B14F-4D97-AF65-F5344CB8AC3E}">
        <p14:creationId xmlns:p14="http://schemas.microsoft.com/office/powerpoint/2010/main" val="2843907140"/>
      </p:ext>
    </p:extLst>
  </p:cSld>
  <p:clrMapOvr>
    <a:masterClrMapping/>
  </p:clrMapOvr>
  <mc:AlternateContent xmlns:mc="http://schemas.openxmlformats.org/markup-compatibility/2006" xmlns:p14="http://schemas.microsoft.com/office/powerpoint/2010/main">
    <mc:Choice Requires="p14">
      <p:transition spd="slow" p14:dur="2000" advTm="49331"/>
    </mc:Choice>
    <mc:Fallback xmlns="">
      <p:transition spd="slow" advTm="4933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F427A-A4FD-78DF-106E-DEE6BFC72BD2}"/>
            </a:ext>
          </a:extLst>
        </p:cNvPr>
        <p:cNvGrpSpPr/>
        <p:nvPr/>
      </p:nvGrpSpPr>
      <p:grpSpPr>
        <a:xfrm>
          <a:off x="0" y="0"/>
          <a:ext cx="0" cy="0"/>
          <a:chOff x="0" y="0"/>
          <a:chExt cx="0" cy="0"/>
        </a:xfrm>
      </p:grpSpPr>
      <p:sp>
        <p:nvSpPr>
          <p:cNvPr id="7" name="Freeform 13">
            <a:extLst>
              <a:ext uri="{FF2B5EF4-FFF2-40B4-BE49-F238E27FC236}">
                <a16:creationId xmlns:a16="http://schemas.microsoft.com/office/drawing/2014/main" id="{588CE269-C341-A33B-06D8-6000D68538FC}"/>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3" name="TextBox 14">
            <a:extLst>
              <a:ext uri="{FF2B5EF4-FFF2-40B4-BE49-F238E27FC236}">
                <a16:creationId xmlns:a16="http://schemas.microsoft.com/office/drawing/2014/main" id="{482C14A5-D708-1A41-7C32-DBC436A96126}"/>
              </a:ext>
            </a:extLst>
          </p:cNvPr>
          <p:cNvSpPr txBox="1"/>
          <p:nvPr/>
        </p:nvSpPr>
        <p:spPr>
          <a:xfrm>
            <a:off x="817428" y="1260123"/>
            <a:ext cx="15746987" cy="86151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5400" b="1" i="1" u="none" strike="noStrike" kern="1200" cap="none" spc="-413" normalizeH="0" baseline="0" noProof="0" dirty="0">
                <a:ln>
                  <a:noFill/>
                </a:ln>
                <a:solidFill>
                  <a:srgbClr val="46245A"/>
                </a:solidFill>
                <a:effectLst/>
                <a:uLnTx/>
                <a:uFillTx/>
                <a:latin typeface="DM Sans Bold"/>
                <a:ea typeface="MS PGothic" panose="020B0600070205080204" pitchFamily="34" charset="-128"/>
                <a:cs typeface="+mn-cs"/>
              </a:rPr>
              <a:t>Could we do something about it?</a:t>
            </a:r>
          </a:p>
        </p:txBody>
      </p:sp>
      <p:pic>
        <p:nvPicPr>
          <p:cNvPr id="6" name="Picture 5">
            <a:extLst>
              <a:ext uri="{FF2B5EF4-FFF2-40B4-BE49-F238E27FC236}">
                <a16:creationId xmlns:a16="http://schemas.microsoft.com/office/drawing/2014/main" id="{72EC22C0-65CF-8EDB-9FEB-347C74BED106}"/>
              </a:ext>
            </a:extLst>
          </p:cNvPr>
          <p:cNvPicPr>
            <a:picLocks noChangeAspect="1"/>
          </p:cNvPicPr>
          <p:nvPr/>
        </p:nvPicPr>
        <p:blipFill>
          <a:blip r:embed="rId4"/>
          <a:stretch>
            <a:fillRect/>
          </a:stretch>
        </p:blipFill>
        <p:spPr>
          <a:xfrm>
            <a:off x="7848600" y="2475280"/>
            <a:ext cx="9621972" cy="7033605"/>
          </a:xfrm>
          <a:prstGeom prst="rect">
            <a:avLst/>
          </a:prstGeom>
        </p:spPr>
      </p:pic>
      <p:graphicFrame>
        <p:nvGraphicFramePr>
          <p:cNvPr id="9" name="TextBox 4">
            <a:extLst>
              <a:ext uri="{FF2B5EF4-FFF2-40B4-BE49-F238E27FC236}">
                <a16:creationId xmlns:a16="http://schemas.microsoft.com/office/drawing/2014/main" id="{8CFB2907-9B3B-1BC9-81E4-0B7D82029321}"/>
              </a:ext>
            </a:extLst>
          </p:cNvPr>
          <p:cNvGraphicFramePr/>
          <p:nvPr>
            <p:extLst>
              <p:ext uri="{D42A27DB-BD31-4B8C-83A1-F6EECF244321}">
                <p14:modId xmlns:p14="http://schemas.microsoft.com/office/powerpoint/2010/main" val="424520067"/>
              </p:ext>
            </p:extLst>
          </p:nvPr>
        </p:nvGraphicFramePr>
        <p:xfrm>
          <a:off x="817428" y="2475281"/>
          <a:ext cx="6783522" cy="703360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8" name="TextBox 7">
            <a:extLst>
              <a:ext uri="{FF2B5EF4-FFF2-40B4-BE49-F238E27FC236}">
                <a16:creationId xmlns:a16="http://schemas.microsoft.com/office/drawing/2014/main" id="{7B94180E-1C47-F391-813B-318E9917AE06}"/>
              </a:ext>
            </a:extLst>
          </p:cNvPr>
          <p:cNvSpPr txBox="1"/>
          <p:nvPr/>
        </p:nvSpPr>
        <p:spPr>
          <a:xfrm>
            <a:off x="12522200" y="9862524"/>
            <a:ext cx="5486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DM Sans"/>
                <a:ea typeface="+mn-ea"/>
                <a:cs typeface="+mn-cs"/>
              </a:rPr>
              <a:t>Lawrence et al., 2018, Nature Communications</a:t>
            </a:r>
          </a:p>
        </p:txBody>
      </p:sp>
    </p:spTree>
    <p:extLst>
      <p:ext uri="{BB962C8B-B14F-4D97-AF65-F5344CB8AC3E}">
        <p14:creationId xmlns:p14="http://schemas.microsoft.com/office/powerpoint/2010/main" val="2147524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987311F-ECE7-CE28-D5AD-EE78BC737998}"/>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F05B7EB4-C27E-EE3B-E28D-08BD4B43FF73}"/>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3" name="Picture 2" descr="A diagram of a solar cloud&#10;&#10;AI-generated content may be incorrect.">
            <a:extLst>
              <a:ext uri="{FF2B5EF4-FFF2-40B4-BE49-F238E27FC236}">
                <a16:creationId xmlns:a16="http://schemas.microsoft.com/office/drawing/2014/main" id="{39C92371-7A71-C1C9-CDFF-1AF4EA7E75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8556" y="776378"/>
            <a:ext cx="13113728" cy="8926422"/>
          </a:xfrm>
          <a:prstGeom prst="rect">
            <a:avLst/>
          </a:prstGeom>
        </p:spPr>
      </p:pic>
    </p:spTree>
    <p:extLst>
      <p:ext uri="{BB962C8B-B14F-4D97-AF65-F5344CB8AC3E}">
        <p14:creationId xmlns:p14="http://schemas.microsoft.com/office/powerpoint/2010/main" val="1649577866"/>
      </p:ext>
    </p:extLst>
  </p:cSld>
  <p:clrMapOvr>
    <a:masterClrMapping/>
  </p:clrMapOvr>
  <mc:AlternateContent xmlns:mc="http://schemas.openxmlformats.org/markup-compatibility/2006" xmlns:p14="http://schemas.microsoft.com/office/powerpoint/2010/main">
    <mc:Choice Requires="p14">
      <p:transition spd="slow" p14:dur="2000" advTm="40315"/>
    </mc:Choice>
    <mc:Fallback xmlns="">
      <p:transition spd="slow" advTm="40315"/>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59210"/>
          </a:xfrm>
          <a:prstGeom prst="rect">
            <a:avLst/>
          </a:prstGeom>
        </p:spPr>
        <p:txBody>
          <a:bodyPr wrap="square" lIns="0" tIns="0" rIns="0" bIns="0" rtlCol="0" anchor="t">
            <a:spAutoFit/>
          </a:bodyPr>
          <a:lstStyle/>
          <a:p>
            <a:pPr>
              <a:lnSpc>
                <a:spcPts val="6719"/>
              </a:lnSpc>
            </a:pPr>
            <a:r>
              <a:rPr lang="en-US" sz="5599" b="1" dirty="0">
                <a:solidFill>
                  <a:srgbClr val="46245A"/>
                </a:solidFill>
                <a:latin typeface="DM Sans" pitchFamily="2" charset="0"/>
              </a:rPr>
              <a:t>How much CO</a:t>
            </a:r>
            <a:r>
              <a:rPr lang="en-US" sz="5599" b="1" baseline="-25000" dirty="0">
                <a:solidFill>
                  <a:srgbClr val="46245A"/>
                </a:solidFill>
                <a:latin typeface="DM Sans" pitchFamily="2" charset="0"/>
              </a:rPr>
              <a:t>2 </a:t>
            </a:r>
            <a:r>
              <a:rPr lang="en-US" sz="5599" b="1" dirty="0">
                <a:solidFill>
                  <a:srgbClr val="46245A"/>
                </a:solidFill>
                <a:latin typeface="DM Sans" pitchFamily="2" charset="0"/>
              </a:rPr>
              <a:t>can we emit? </a:t>
            </a:r>
            <a:endParaRPr lang="en-US" sz="5599" baseline="-25000" dirty="0">
              <a:solidFill>
                <a:srgbClr val="46245A"/>
              </a:solidFill>
              <a:latin typeface="DM Sans" pitchFamily="2" charset="0"/>
            </a:endParaRPr>
          </a:p>
        </p:txBody>
      </p:sp>
      <p:pic>
        <p:nvPicPr>
          <p:cNvPr id="5" name="Picture 4" descr="https://www.ipcc.ch/site/assets/uploads/2018/02/Fig8-15-1-1024x647.jpg">
            <a:extLst>
              <a:ext uri="{FF2B5EF4-FFF2-40B4-BE49-F238E27FC236}">
                <a16:creationId xmlns:a16="http://schemas.microsoft.com/office/drawing/2014/main" id="{AB158979-7130-C86D-372E-34F269602A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2796201"/>
            <a:ext cx="10633519" cy="671864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97E9F7-9493-B14A-132A-E7E6F6280C53}"/>
              </a:ext>
            </a:extLst>
          </p:cNvPr>
          <p:cNvSpPr txBox="1"/>
          <p:nvPr/>
        </p:nvSpPr>
        <p:spPr>
          <a:xfrm>
            <a:off x="11085943" y="9729019"/>
            <a:ext cx="6936514" cy="461665"/>
          </a:xfrm>
          <a:prstGeom prst="rect">
            <a:avLst/>
          </a:prstGeom>
          <a:noFill/>
        </p:spPr>
        <p:txBody>
          <a:bodyPr wrap="none" rtlCol="0">
            <a:spAutoFit/>
          </a:bodyPr>
          <a:lstStyle/>
          <a:p>
            <a:r>
              <a:rPr lang="en-GB" sz="2400" dirty="0"/>
              <a:t>Figure TS.6, AR5 WG1 technical summary report</a:t>
            </a:r>
          </a:p>
        </p:txBody>
      </p:sp>
    </p:spTree>
    <p:extLst>
      <p:ext uri="{BB962C8B-B14F-4D97-AF65-F5344CB8AC3E}">
        <p14:creationId xmlns:p14="http://schemas.microsoft.com/office/powerpoint/2010/main" val="401778809"/>
      </p:ext>
    </p:extLst>
  </p:cSld>
  <p:clrMapOvr>
    <a:masterClrMapping/>
  </p:clrMapOvr>
  <mc:AlternateContent xmlns:mc="http://schemas.openxmlformats.org/markup-compatibility/2006" xmlns:p14="http://schemas.microsoft.com/office/powerpoint/2010/main">
    <mc:Choice Requires="p14">
      <p:transition spd="slow" p14:dur="2000" advTm="33429"/>
    </mc:Choice>
    <mc:Fallback xmlns="">
      <p:transition spd="slow" advTm="33429"/>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59210"/>
          </a:xfrm>
          <a:prstGeom prst="rect">
            <a:avLst/>
          </a:prstGeom>
        </p:spPr>
        <p:txBody>
          <a:bodyPr wrap="square" lIns="0" tIns="0" rIns="0" bIns="0" rtlCol="0" anchor="t">
            <a:spAutoFit/>
          </a:bodyPr>
          <a:lstStyle/>
          <a:p>
            <a:pPr>
              <a:lnSpc>
                <a:spcPts val="6719"/>
              </a:lnSpc>
            </a:pPr>
            <a:r>
              <a:rPr lang="en-US" sz="5599" b="1" dirty="0">
                <a:solidFill>
                  <a:srgbClr val="46245A"/>
                </a:solidFill>
                <a:latin typeface="DM Sans" pitchFamily="2" charset="0"/>
              </a:rPr>
              <a:t>Climate Sensitivity </a:t>
            </a:r>
            <a:endParaRPr lang="en-US" sz="5599" dirty="0">
              <a:solidFill>
                <a:srgbClr val="46245A"/>
              </a:solidFill>
              <a:latin typeface="DM Sans" pitchFamily="2" charset="0"/>
            </a:endParaRPr>
          </a:p>
        </p:txBody>
      </p:sp>
      <p:sp>
        <p:nvSpPr>
          <p:cNvPr id="3" name="Rectangle 2">
            <a:extLst>
              <a:ext uri="{FF2B5EF4-FFF2-40B4-BE49-F238E27FC236}">
                <a16:creationId xmlns:a16="http://schemas.microsoft.com/office/drawing/2014/main" id="{D805052F-B894-A374-7B9B-ECA296EB664F}"/>
              </a:ext>
            </a:extLst>
          </p:cNvPr>
          <p:cNvSpPr/>
          <p:nvPr/>
        </p:nvSpPr>
        <p:spPr>
          <a:xfrm>
            <a:off x="1143000" y="2766628"/>
            <a:ext cx="15950381" cy="1077218"/>
          </a:xfrm>
          <a:prstGeom prst="rect">
            <a:avLst/>
          </a:prstGeom>
        </p:spPr>
        <p:txBody>
          <a:bodyPr wrap="square">
            <a:spAutoFit/>
          </a:bodyPr>
          <a:lstStyle/>
          <a:p>
            <a:r>
              <a:rPr lang="en-GB" sz="3200" i="1" dirty="0"/>
              <a:t>This is defined as: The change in global mean surface temperature at equilibrium that is caused by a doubling of the atmospheric CO</a:t>
            </a:r>
            <a:r>
              <a:rPr lang="en-GB" sz="3200" i="1" baseline="-25000" dirty="0"/>
              <a:t>2</a:t>
            </a:r>
            <a:r>
              <a:rPr lang="en-GB" sz="3200" i="1" dirty="0"/>
              <a:t> concentration. </a:t>
            </a:r>
          </a:p>
        </p:txBody>
      </p:sp>
    </p:spTree>
    <p:extLst>
      <p:ext uri="{BB962C8B-B14F-4D97-AF65-F5344CB8AC3E}">
        <p14:creationId xmlns:p14="http://schemas.microsoft.com/office/powerpoint/2010/main" val="2126491312"/>
      </p:ext>
    </p:extLst>
  </p:cSld>
  <p:clrMapOvr>
    <a:masterClrMapping/>
  </p:clrMapOvr>
  <mc:AlternateContent xmlns:mc="http://schemas.openxmlformats.org/markup-compatibility/2006" xmlns:p14="http://schemas.microsoft.com/office/powerpoint/2010/main">
    <mc:Choice Requires="p14">
      <p:transition spd="slow" p14:dur="2000" advTm="41729"/>
    </mc:Choice>
    <mc:Fallback xmlns="">
      <p:transition spd="slow" advTm="41729"/>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59210"/>
          </a:xfrm>
          <a:prstGeom prst="rect">
            <a:avLst/>
          </a:prstGeom>
        </p:spPr>
        <p:txBody>
          <a:bodyPr wrap="square" lIns="0" tIns="0" rIns="0" bIns="0" rtlCol="0" anchor="t">
            <a:spAutoFit/>
          </a:bodyPr>
          <a:lstStyle/>
          <a:p>
            <a:pPr>
              <a:lnSpc>
                <a:spcPts val="6719"/>
              </a:lnSpc>
            </a:pPr>
            <a:r>
              <a:rPr lang="en-US" sz="5599" b="1" dirty="0">
                <a:solidFill>
                  <a:srgbClr val="46245A"/>
                </a:solidFill>
                <a:latin typeface="DM Sans" pitchFamily="2" charset="0"/>
              </a:rPr>
              <a:t>Climate Sensitivity </a:t>
            </a:r>
            <a:endParaRPr lang="en-US" sz="5599" dirty="0">
              <a:solidFill>
                <a:srgbClr val="46245A"/>
              </a:solidFill>
              <a:latin typeface="DM Sans" pitchFamily="2" charset="0"/>
            </a:endParaRPr>
          </a:p>
        </p:txBody>
      </p:sp>
      <p:sp>
        <p:nvSpPr>
          <p:cNvPr id="3" name="Rectangle 2">
            <a:extLst>
              <a:ext uri="{FF2B5EF4-FFF2-40B4-BE49-F238E27FC236}">
                <a16:creationId xmlns:a16="http://schemas.microsoft.com/office/drawing/2014/main" id="{D805052F-B894-A374-7B9B-ECA296EB664F}"/>
              </a:ext>
            </a:extLst>
          </p:cNvPr>
          <p:cNvSpPr/>
          <p:nvPr/>
        </p:nvSpPr>
        <p:spPr>
          <a:xfrm>
            <a:off x="1143000" y="2604395"/>
            <a:ext cx="8391042" cy="2062103"/>
          </a:xfrm>
          <a:prstGeom prst="rect">
            <a:avLst/>
          </a:prstGeom>
        </p:spPr>
        <p:txBody>
          <a:bodyPr wrap="square">
            <a:spAutoFit/>
          </a:bodyPr>
          <a:lstStyle/>
          <a:p>
            <a:r>
              <a:rPr lang="en-GB" sz="3200" i="1" dirty="0"/>
              <a:t>This is defined as: The change in global mean surface temperature at equilibrium that is caused by a doubling of the atmospheric CO</a:t>
            </a:r>
            <a:r>
              <a:rPr lang="en-GB" sz="3200" i="1" baseline="-25000" dirty="0"/>
              <a:t>2</a:t>
            </a:r>
            <a:r>
              <a:rPr lang="en-GB" sz="3200" i="1" dirty="0"/>
              <a:t> concentration. </a:t>
            </a:r>
          </a:p>
        </p:txBody>
      </p:sp>
      <p:pic>
        <p:nvPicPr>
          <p:cNvPr id="4" name="Picture 3" descr="Financial Post commentary misleads about warming effect of ...">
            <a:extLst>
              <a:ext uri="{FF2B5EF4-FFF2-40B4-BE49-F238E27FC236}">
                <a16:creationId xmlns:a16="http://schemas.microsoft.com/office/drawing/2014/main" id="{8A67AAA4-9349-1CEE-64D8-EAFBBBB993A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22952" b="14447"/>
          <a:stretch/>
        </p:blipFill>
        <p:spPr bwMode="auto">
          <a:xfrm>
            <a:off x="9013372" y="2492776"/>
            <a:ext cx="9013481" cy="717458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4DEE1EA6-0591-C383-B6FE-A46874662241}"/>
              </a:ext>
            </a:extLst>
          </p:cNvPr>
          <p:cNvSpPr/>
          <p:nvPr/>
        </p:nvSpPr>
        <p:spPr>
          <a:xfrm>
            <a:off x="1143000" y="4998317"/>
            <a:ext cx="6741762" cy="3970318"/>
          </a:xfrm>
          <a:prstGeom prst="rect">
            <a:avLst/>
          </a:prstGeom>
        </p:spPr>
        <p:txBody>
          <a:bodyPr wrap="square">
            <a:spAutoFit/>
          </a:bodyPr>
          <a:lstStyle/>
          <a:p>
            <a:r>
              <a:rPr lang="en-GB" sz="3600" dirty="0"/>
              <a:t>CO</a:t>
            </a:r>
            <a:r>
              <a:rPr lang="en-GB" sz="3600" baseline="-25000" dirty="0"/>
              <a:t>2</a:t>
            </a:r>
            <a:r>
              <a:rPr lang="en-GB" sz="3600" dirty="0"/>
              <a:t> concentrations:</a:t>
            </a:r>
          </a:p>
          <a:p>
            <a:pPr algn="ctr"/>
            <a:endParaRPr lang="en-GB" sz="3600" dirty="0"/>
          </a:p>
          <a:p>
            <a:r>
              <a:rPr lang="en-GB" sz="3600" dirty="0"/>
              <a:t>Preindustrial (1750s): 280 ppm</a:t>
            </a:r>
          </a:p>
          <a:p>
            <a:endParaRPr lang="en-GB" sz="3600" dirty="0"/>
          </a:p>
          <a:p>
            <a:r>
              <a:rPr lang="en-GB" sz="3600" dirty="0"/>
              <a:t>Current: 425 ppm</a:t>
            </a:r>
          </a:p>
          <a:p>
            <a:endParaRPr lang="en-GB" sz="3600" dirty="0"/>
          </a:p>
          <a:p>
            <a:r>
              <a:rPr lang="en-GB" sz="3600" dirty="0"/>
              <a:t>2 x CO</a:t>
            </a:r>
            <a:r>
              <a:rPr lang="en-GB" sz="3600" baseline="-25000" dirty="0"/>
              <a:t>2</a:t>
            </a:r>
            <a:r>
              <a:rPr lang="en-GB" sz="3600" dirty="0"/>
              <a:t> (2060s?): 560 ppm</a:t>
            </a:r>
          </a:p>
        </p:txBody>
      </p:sp>
    </p:spTree>
    <p:extLst>
      <p:ext uri="{BB962C8B-B14F-4D97-AF65-F5344CB8AC3E}">
        <p14:creationId xmlns:p14="http://schemas.microsoft.com/office/powerpoint/2010/main" val="3933330673"/>
      </p:ext>
    </p:extLst>
  </p:cSld>
  <p:clrMapOvr>
    <a:masterClrMapping/>
  </p:clrMapOvr>
  <mc:AlternateContent xmlns:mc="http://schemas.openxmlformats.org/markup-compatibility/2006" xmlns:p14="http://schemas.microsoft.com/office/powerpoint/2010/main">
    <mc:Choice Requires="p14">
      <p:transition spd="slow" p14:dur="2000" advTm="110041"/>
    </mc:Choice>
    <mc:Fallback xmlns="">
      <p:transition spd="slow" advTm="11004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270415" y="1675139"/>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Climate Sensitivity </a:t>
            </a:r>
            <a:endParaRPr kumimoji="0" lang="en-US" sz="5599"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5" name="TextBox 4">
            <a:extLst>
              <a:ext uri="{FF2B5EF4-FFF2-40B4-BE49-F238E27FC236}">
                <a16:creationId xmlns:a16="http://schemas.microsoft.com/office/drawing/2014/main" id="{C0F25F85-22EE-68B8-B08D-E7C6900274ED}"/>
              </a:ext>
            </a:extLst>
          </p:cNvPr>
          <p:cNvSpPr txBox="1"/>
          <p:nvPr/>
        </p:nvSpPr>
        <p:spPr>
          <a:xfrm>
            <a:off x="9764912" y="3275076"/>
            <a:ext cx="5257401" cy="161582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3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Every 1000 </a:t>
            </a:r>
            <a:r>
              <a:rPr kumimoji="0" lang="en-GB" sz="33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GtC</a:t>
            </a:r>
            <a:r>
              <a:rPr kumimoji="0" lang="en-GB" sz="33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en-GB" sz="33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sym typeface="Wingdings" panose="05000000000000000000" pitchFamily="2" charset="2"/>
              </a:rPr>
              <a:t> 1.5 – 2.5°C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33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33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Arrow: Down 14">
            <a:extLst>
              <a:ext uri="{FF2B5EF4-FFF2-40B4-BE49-F238E27FC236}">
                <a16:creationId xmlns:a16="http://schemas.microsoft.com/office/drawing/2014/main" id="{E0FFCE8F-A1D8-9028-4765-3BC4819E091A}"/>
              </a:ext>
            </a:extLst>
          </p:cNvPr>
          <p:cNvSpPr/>
          <p:nvPr/>
        </p:nvSpPr>
        <p:spPr>
          <a:xfrm>
            <a:off x="11465140" y="4058675"/>
            <a:ext cx="554000" cy="1018376"/>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7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9" name="TextBox 8">
            <a:extLst>
              <a:ext uri="{FF2B5EF4-FFF2-40B4-BE49-F238E27FC236}">
                <a16:creationId xmlns:a16="http://schemas.microsoft.com/office/drawing/2014/main" id="{18D481E5-EBEE-4154-9924-DC0441B907E0}"/>
              </a:ext>
            </a:extLst>
          </p:cNvPr>
          <p:cNvSpPr txBox="1"/>
          <p:nvPr/>
        </p:nvSpPr>
        <p:spPr>
          <a:xfrm>
            <a:off x="9764912" y="5197162"/>
            <a:ext cx="7848600" cy="47089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3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Approximate ‘budget’ to limit warming to 2°C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33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3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~20 </a:t>
            </a:r>
            <a:r>
              <a:rPr kumimoji="0" lang="en-GB" sz="33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GtC</a:t>
            </a:r>
            <a:r>
              <a:rPr kumimoji="0" lang="en-GB" sz="33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emitted each year</a:t>
            </a:r>
          </a:p>
          <a:p>
            <a:pPr marL="514350" marR="0" lvl="0" indent="-5143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33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3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500 </a:t>
            </a:r>
            <a:r>
              <a:rPr kumimoji="0" lang="en-GB" sz="33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GtC</a:t>
            </a:r>
            <a:r>
              <a:rPr kumimoji="0" lang="en-GB" sz="33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already emitted up to today.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33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NOTE: 1 </a:t>
            </a:r>
            <a:r>
              <a:rPr kumimoji="0" lang="en-GB" sz="36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GtC</a:t>
            </a:r>
            <a:r>
              <a:rPr kumimoji="0" lang="en-GB" sz="36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3.66 GtCO</a:t>
            </a:r>
            <a:r>
              <a:rPr kumimoji="0" lang="en-GB" sz="3600" b="0" i="0" u="none" strike="noStrike" kern="1200" cap="none" spc="0" normalizeH="0" baseline="-25000" noProof="0" dirty="0">
                <a:ln>
                  <a:noFill/>
                </a:ln>
                <a:solidFill>
                  <a:prstClr val="black"/>
                </a:solidFill>
                <a:effectLst/>
                <a:uLnTx/>
                <a:uFillTx/>
                <a:latin typeface="Calibri" panose="020F0502020204030204" pitchFamily="34" charset="0"/>
                <a:ea typeface="+mn-ea"/>
                <a:cs typeface="Calibri" panose="020F0502020204030204" pitchFamily="34" charset="0"/>
              </a:rPr>
              <a:t>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33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 name="Oval 10">
            <a:extLst>
              <a:ext uri="{FF2B5EF4-FFF2-40B4-BE49-F238E27FC236}">
                <a16:creationId xmlns:a16="http://schemas.microsoft.com/office/drawing/2014/main" id="{D71E9676-5C17-A305-1835-D30812751D39}"/>
              </a:ext>
            </a:extLst>
          </p:cNvPr>
          <p:cNvSpPr/>
          <p:nvPr/>
        </p:nvSpPr>
        <p:spPr>
          <a:xfrm>
            <a:off x="10903540" y="3216470"/>
            <a:ext cx="1910444" cy="74640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700" b="0"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pic>
        <p:nvPicPr>
          <p:cNvPr id="12" name="Picture 11" descr="Chart&#10;&#10;Description automatically generated">
            <a:extLst>
              <a:ext uri="{FF2B5EF4-FFF2-40B4-BE49-F238E27FC236}">
                <a16:creationId xmlns:a16="http://schemas.microsoft.com/office/drawing/2014/main" id="{071A2858-D8E6-BE3D-75FD-D7E7521ACB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415" y="3275076"/>
            <a:ext cx="7844994" cy="6270881"/>
          </a:xfrm>
          <a:prstGeom prst="rect">
            <a:avLst/>
          </a:prstGeom>
        </p:spPr>
      </p:pic>
      <p:sp>
        <p:nvSpPr>
          <p:cNvPr id="14" name="TextBox 13">
            <a:extLst>
              <a:ext uri="{FF2B5EF4-FFF2-40B4-BE49-F238E27FC236}">
                <a16:creationId xmlns:a16="http://schemas.microsoft.com/office/drawing/2014/main" id="{739366C6-F3E8-8311-114C-7A32BECF3A2D}"/>
              </a:ext>
            </a:extLst>
          </p:cNvPr>
          <p:cNvSpPr txBox="1"/>
          <p:nvPr/>
        </p:nvSpPr>
        <p:spPr>
          <a:xfrm>
            <a:off x="12995794" y="9823513"/>
            <a:ext cx="507542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DM Sans"/>
                <a:ea typeface="+mn-ea"/>
                <a:cs typeface="+mn-cs"/>
              </a:rPr>
              <a:t>adapted from Figure 2.3, AR5 synthesis report</a:t>
            </a:r>
          </a:p>
        </p:txBody>
      </p:sp>
      <p:sp>
        <p:nvSpPr>
          <p:cNvPr id="3" name="TextBox 2">
            <a:extLst>
              <a:ext uri="{FF2B5EF4-FFF2-40B4-BE49-F238E27FC236}">
                <a16:creationId xmlns:a16="http://schemas.microsoft.com/office/drawing/2014/main" id="{73618ED6-A02A-6B52-0538-FAC5F6BA2D38}"/>
              </a:ext>
            </a:extLst>
          </p:cNvPr>
          <p:cNvSpPr txBox="1"/>
          <p:nvPr/>
        </p:nvSpPr>
        <p:spPr>
          <a:xfrm>
            <a:off x="1095394" y="2506718"/>
            <a:ext cx="11900399"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prstClr val="black"/>
                </a:solidFill>
                <a:effectLst/>
                <a:uLnTx/>
                <a:uFillTx/>
                <a:latin typeface="DM Sans"/>
                <a:ea typeface="+mn-ea"/>
                <a:cs typeface="+mn-cs"/>
              </a:rPr>
              <a:t>How do we calculate long term climate change from GHG emissions?</a:t>
            </a:r>
          </a:p>
        </p:txBody>
      </p:sp>
    </p:spTree>
    <p:extLst>
      <p:ext uri="{BB962C8B-B14F-4D97-AF65-F5344CB8AC3E}">
        <p14:creationId xmlns:p14="http://schemas.microsoft.com/office/powerpoint/2010/main" val="4257584733"/>
      </p:ext>
    </p:extLst>
  </p:cSld>
  <p:clrMapOvr>
    <a:masterClrMapping/>
  </p:clrMapOvr>
  <mc:AlternateContent xmlns:mc="http://schemas.openxmlformats.org/markup-compatibility/2006" xmlns:p14="http://schemas.microsoft.com/office/powerpoint/2010/main">
    <mc:Choice Requires="p14">
      <p:transition spd="slow" p14:dur="2000" advTm="102003"/>
    </mc:Choice>
    <mc:Fallback xmlns="">
      <p:transition spd="slow" advTm="10200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59210"/>
          </a:xfrm>
          <a:prstGeom prst="rect">
            <a:avLst/>
          </a:prstGeom>
        </p:spPr>
        <p:txBody>
          <a:bodyPr wrap="square" lIns="0" tIns="0" rIns="0" bIns="0" rtlCol="0" anchor="t">
            <a:spAutoFit/>
          </a:bodyPr>
          <a:lstStyle/>
          <a:p>
            <a:pPr>
              <a:lnSpc>
                <a:spcPts val="6719"/>
              </a:lnSpc>
            </a:pPr>
            <a:r>
              <a:rPr lang="en-US" sz="5599" b="1" dirty="0">
                <a:solidFill>
                  <a:srgbClr val="46245A"/>
                </a:solidFill>
                <a:latin typeface="DM Sans" pitchFamily="2" charset="0"/>
              </a:rPr>
              <a:t>GHG Emissions per capita </a:t>
            </a:r>
            <a:endParaRPr lang="en-US" sz="5599" dirty="0">
              <a:solidFill>
                <a:srgbClr val="46245A"/>
              </a:solidFill>
              <a:latin typeface="DM Sans" pitchFamily="2" charset="0"/>
            </a:endParaRPr>
          </a:p>
        </p:txBody>
      </p:sp>
      <p:pic>
        <p:nvPicPr>
          <p:cNvPr id="4" name="Picture 3">
            <a:extLst>
              <a:ext uri="{FF2B5EF4-FFF2-40B4-BE49-F238E27FC236}">
                <a16:creationId xmlns:a16="http://schemas.microsoft.com/office/drawing/2014/main" id="{7EC7D4ED-AA42-F3A1-8707-4ED2016FCC7E}"/>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b="54233"/>
          <a:stretch/>
        </p:blipFill>
        <p:spPr>
          <a:xfrm>
            <a:off x="535659" y="2986579"/>
            <a:ext cx="16902609" cy="5898138"/>
          </a:xfrm>
          <a:prstGeom prst="rect">
            <a:avLst/>
          </a:prstGeom>
        </p:spPr>
      </p:pic>
    </p:spTree>
    <p:extLst>
      <p:ext uri="{BB962C8B-B14F-4D97-AF65-F5344CB8AC3E}">
        <p14:creationId xmlns:p14="http://schemas.microsoft.com/office/powerpoint/2010/main" val="3616171272"/>
      </p:ext>
    </p:extLst>
  </p:cSld>
  <p:clrMapOvr>
    <a:masterClrMapping/>
  </p:clrMapOvr>
  <mc:AlternateContent xmlns:mc="http://schemas.openxmlformats.org/markup-compatibility/2006" xmlns:p14="http://schemas.microsoft.com/office/powerpoint/2010/main">
    <mc:Choice Requires="p14">
      <p:transition spd="slow" p14:dur="2000" advTm="43575"/>
    </mc:Choice>
    <mc:Fallback xmlns="">
      <p:transition spd="slow" advTm="43575"/>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GHG, Annual Global Emissions</a:t>
            </a:r>
            <a:endParaRPr kumimoji="0" lang="en-US" sz="5599"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8" name="TextBox 7">
            <a:extLst>
              <a:ext uri="{FF2B5EF4-FFF2-40B4-BE49-F238E27FC236}">
                <a16:creationId xmlns:a16="http://schemas.microsoft.com/office/drawing/2014/main" id="{3104733F-B227-AD46-20DF-3248CEAB6820}"/>
              </a:ext>
            </a:extLst>
          </p:cNvPr>
          <p:cNvSpPr txBox="1"/>
          <p:nvPr/>
        </p:nvSpPr>
        <p:spPr>
          <a:xfrm>
            <a:off x="1143000" y="8053269"/>
            <a:ext cx="13411200" cy="1200329"/>
          </a:xfrm>
          <a:prstGeom prst="rect">
            <a:avLst/>
          </a:prstGeom>
          <a:noFill/>
        </p:spPr>
        <p:txBody>
          <a:bodyPr wrap="square">
            <a:spAutoFit/>
          </a:bodyPr>
          <a:lstStyle/>
          <a:p>
            <a:pPr marL="342900" indent="-342900">
              <a:buFont typeface="Arial" panose="020B0604020202020204" pitchFamily="34" charset="0"/>
              <a:buChar char="•"/>
            </a:pPr>
            <a:r>
              <a:rPr lang="en-GB" sz="2400" kern="100" dirty="0">
                <a:effectLst/>
                <a:latin typeface="Aptos" panose="020B0004020202020204" pitchFamily="34" charset="0"/>
                <a:ea typeface="Aptos" panose="020B0004020202020204" pitchFamily="34" charset="0"/>
                <a:cs typeface="Times New Roman" panose="02020603050405020304" pitchFamily="18" charset="0"/>
              </a:rPr>
              <a:t>Anthropogenic GHG emissions kept increasing between 2010 and 2019.</a:t>
            </a:r>
          </a:p>
          <a:p>
            <a:pPr marL="342900" indent="-342900">
              <a:buFont typeface="Arial" panose="020B0604020202020204" pitchFamily="34" charset="0"/>
              <a:buChar char="•"/>
            </a:pPr>
            <a:r>
              <a:rPr lang="en-GB" sz="2400" kern="100" dirty="0">
                <a:effectLst/>
                <a:latin typeface="Aptos" panose="020B0004020202020204" pitchFamily="34" charset="0"/>
                <a:ea typeface="Aptos" panose="020B0004020202020204" pitchFamily="34" charset="0"/>
                <a:cs typeface="Times New Roman" panose="02020603050405020304" pitchFamily="18" charset="0"/>
              </a:rPr>
              <a:t>The average annual GHG emissions in the 2010s were the highest of any decade on record.</a:t>
            </a:r>
          </a:p>
          <a:p>
            <a:pPr marL="342900" indent="-342900">
              <a:buFont typeface="Arial" panose="020B0604020202020204" pitchFamily="34" charset="0"/>
              <a:buChar char="•"/>
            </a:pPr>
            <a:r>
              <a:rPr lang="en-GB" sz="2400" kern="100" dirty="0">
                <a:effectLst/>
                <a:latin typeface="Aptos" panose="020B0004020202020204" pitchFamily="34" charset="0"/>
                <a:ea typeface="Aptos" panose="020B0004020202020204" pitchFamily="34" charset="0"/>
                <a:cs typeface="Times New Roman" panose="02020603050405020304" pitchFamily="18" charset="0"/>
              </a:rPr>
              <a:t>Although emissions grew in the 2010s, they did so at a slower pace compared to the 2000s.</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9" name="Picture 8" descr="A graph of different colored lines&#10;&#10;AI-generated content may be incorrect.">
            <a:extLst>
              <a:ext uri="{FF2B5EF4-FFF2-40B4-BE49-F238E27FC236}">
                <a16:creationId xmlns:a16="http://schemas.microsoft.com/office/drawing/2014/main" id="{18424895-207C-C54F-C345-F01ADAB854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8880" y="2638365"/>
            <a:ext cx="13847674" cy="5105208"/>
          </a:xfrm>
          <a:prstGeom prst="rect">
            <a:avLst/>
          </a:prstGeom>
        </p:spPr>
      </p:pic>
    </p:spTree>
    <p:extLst>
      <p:ext uri="{BB962C8B-B14F-4D97-AF65-F5344CB8AC3E}">
        <p14:creationId xmlns:p14="http://schemas.microsoft.com/office/powerpoint/2010/main" val="909141214"/>
      </p:ext>
    </p:extLst>
  </p:cSld>
  <p:clrMapOvr>
    <a:masterClrMapping/>
  </p:clrMapOvr>
  <mc:AlternateContent xmlns:mc="http://schemas.openxmlformats.org/markup-compatibility/2006" xmlns:p14="http://schemas.microsoft.com/office/powerpoint/2010/main">
    <mc:Choice Requires="p14">
      <p:transition spd="slow" p14:dur="2000" advTm="54579"/>
    </mc:Choice>
    <mc:Fallback xmlns="">
      <p:transition spd="slow" advTm="54579"/>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EEE9A05-F5F7-A436-20A7-912C24E59874}"/>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488EFD0-888A-F7CC-E90A-F0F23D0E2533}"/>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5">
            <a:extLst>
              <a:ext uri="{FF2B5EF4-FFF2-40B4-BE49-F238E27FC236}">
                <a16:creationId xmlns:a16="http://schemas.microsoft.com/office/drawing/2014/main" id="{64107C3D-0F0D-8D5B-0D6F-4C14F1540D88}"/>
              </a:ext>
            </a:extLst>
          </p:cNvPr>
          <p:cNvSpPr txBox="1"/>
          <p:nvPr/>
        </p:nvSpPr>
        <p:spPr>
          <a:xfrm>
            <a:off x="1143000" y="1633566"/>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GHG, Annual Global Emissions</a:t>
            </a:r>
            <a:endParaRPr kumimoji="0" lang="en-US" sz="5599"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4" name="TextBox 3">
            <a:extLst>
              <a:ext uri="{FF2B5EF4-FFF2-40B4-BE49-F238E27FC236}">
                <a16:creationId xmlns:a16="http://schemas.microsoft.com/office/drawing/2014/main" id="{B04C2EDB-0546-7288-412A-A6EB9A89E109}"/>
              </a:ext>
            </a:extLst>
          </p:cNvPr>
          <p:cNvSpPr txBox="1"/>
          <p:nvPr/>
        </p:nvSpPr>
        <p:spPr>
          <a:xfrm>
            <a:off x="888880" y="7743573"/>
            <a:ext cx="13595181" cy="1938992"/>
          </a:xfrm>
          <a:prstGeom prst="rect">
            <a:avLst/>
          </a:prstGeom>
          <a:noFill/>
        </p:spPr>
        <p:txBody>
          <a:bodyPr wrap="square">
            <a:spAutoFit/>
          </a:bodyPr>
          <a:lstStyle/>
          <a:p>
            <a:pPr>
              <a:buNone/>
            </a:pPr>
            <a:r>
              <a:rPr lang="en-GB" sz="2400" dirty="0">
                <a:solidFill>
                  <a:srgbClr val="022244"/>
                </a:solidFill>
                <a:effectLst/>
                <a:latin typeface="Aptos" panose="020B0004020202020204" pitchFamily="34" charset="0"/>
              </a:rPr>
              <a:t>Net anthropogenic GHG emissions have increased since 2010 across all major sectors globally. </a:t>
            </a:r>
          </a:p>
          <a:p>
            <a:pPr>
              <a:buNone/>
            </a:pPr>
            <a:endParaRPr lang="en-GB" sz="2400" dirty="0">
              <a:solidFill>
                <a:srgbClr val="022244"/>
              </a:solidFill>
              <a:effectLst/>
              <a:latin typeface="Aptos" panose="020B0004020202020204" pitchFamily="34" charset="0"/>
            </a:endParaRPr>
          </a:p>
          <a:p>
            <a:pPr>
              <a:buNone/>
            </a:pPr>
            <a:r>
              <a:rPr lang="en-GB" sz="2400" i="1" dirty="0">
                <a:solidFill>
                  <a:srgbClr val="FF0000"/>
                </a:solidFill>
                <a:effectLst/>
                <a:latin typeface="Aptos" panose="020B0004020202020204" pitchFamily="34" charset="0"/>
              </a:rPr>
              <a:t>Emissions reductions in CO2 from fossil fuels and industrial processes, due to improvements in carbon intensity of energy, have been less than emissions increases from rising global activity levels in industry, energy supply, transport, agriculture and buildings. </a:t>
            </a:r>
          </a:p>
        </p:txBody>
      </p:sp>
      <p:pic>
        <p:nvPicPr>
          <p:cNvPr id="7" name="Picture 6" descr="A graph of different colored lines&#10;&#10;AI-generated content may be incorrect.">
            <a:extLst>
              <a:ext uri="{FF2B5EF4-FFF2-40B4-BE49-F238E27FC236}">
                <a16:creationId xmlns:a16="http://schemas.microsoft.com/office/drawing/2014/main" id="{3A0FBCDA-312C-A105-BA2F-23B6A5829F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8880" y="2638365"/>
            <a:ext cx="13847674" cy="5105208"/>
          </a:xfrm>
          <a:prstGeom prst="rect">
            <a:avLst/>
          </a:prstGeom>
        </p:spPr>
      </p:pic>
    </p:spTree>
    <p:extLst>
      <p:ext uri="{BB962C8B-B14F-4D97-AF65-F5344CB8AC3E}">
        <p14:creationId xmlns:p14="http://schemas.microsoft.com/office/powerpoint/2010/main" val="646538019"/>
      </p:ext>
    </p:extLst>
  </p:cSld>
  <p:clrMapOvr>
    <a:masterClrMapping/>
  </p:clrMapOvr>
  <mc:AlternateContent xmlns:mc="http://schemas.openxmlformats.org/markup-compatibility/2006" xmlns:p14="http://schemas.microsoft.com/office/powerpoint/2010/main">
    <mc:Choice Requires="p14">
      <p:transition spd="slow" p14:dur="2000" advTm="54579"/>
    </mc:Choice>
    <mc:Fallback xmlns="">
      <p:transition spd="slow" advTm="54579"/>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3937494-95F1-C661-78B2-FEB1F505AA11}"/>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CB822B3F-3364-1C54-293F-D60642DC362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C4C4171B-0731-3E07-A594-BA92A09C50CF}"/>
              </a:ext>
            </a:extLst>
          </p:cNvPr>
          <p:cNvSpPr txBox="1"/>
          <p:nvPr/>
        </p:nvSpPr>
        <p:spPr>
          <a:xfrm>
            <a:off x="1143000" y="1633566"/>
            <a:ext cx="13847674" cy="859210"/>
          </a:xfrm>
          <a:prstGeom prst="rect">
            <a:avLst/>
          </a:prstGeom>
        </p:spPr>
        <p:txBody>
          <a:bodyPr wrap="square" lIns="0" tIns="0" rIns="0" bIns="0" rtlCol="0" anchor="t">
            <a:spAutoFit/>
          </a:bodyPr>
          <a:lstStyle/>
          <a:p>
            <a:pPr>
              <a:lnSpc>
                <a:spcPts val="6719"/>
              </a:lnSpc>
            </a:pPr>
            <a:r>
              <a:rPr lang="en-US" sz="5599" b="1" dirty="0">
                <a:solidFill>
                  <a:srgbClr val="46245A"/>
                </a:solidFill>
                <a:latin typeface="DM Sans" pitchFamily="2" charset="0"/>
              </a:rPr>
              <a:t>Discussion</a:t>
            </a:r>
            <a:endParaRPr lang="en-US" sz="5599" dirty="0">
              <a:solidFill>
                <a:srgbClr val="46245A"/>
              </a:solidFill>
              <a:latin typeface="DM Sans" pitchFamily="2" charset="0"/>
            </a:endParaRPr>
          </a:p>
        </p:txBody>
      </p:sp>
      <p:sp>
        <p:nvSpPr>
          <p:cNvPr id="3" name="TextBox 2">
            <a:extLst>
              <a:ext uri="{FF2B5EF4-FFF2-40B4-BE49-F238E27FC236}">
                <a16:creationId xmlns:a16="http://schemas.microsoft.com/office/drawing/2014/main" id="{A3B479FC-AD40-BA58-03FC-A6D48D34D9E0}"/>
              </a:ext>
            </a:extLst>
          </p:cNvPr>
          <p:cNvSpPr txBox="1"/>
          <p:nvPr/>
        </p:nvSpPr>
        <p:spPr>
          <a:xfrm>
            <a:off x="1143000" y="4243160"/>
            <a:ext cx="16669512" cy="5262979"/>
          </a:xfrm>
          <a:prstGeom prst="rect">
            <a:avLst/>
          </a:prstGeom>
          <a:noFill/>
        </p:spPr>
        <p:txBody>
          <a:bodyPr wrap="square" rtlCol="0">
            <a:spAutoFit/>
          </a:bodyPr>
          <a:lstStyle/>
          <a:p>
            <a:r>
              <a:rPr lang="en-US" sz="2800" b="1" dirty="0">
                <a:latin typeface="Calibri" panose="020F0502020204030204" pitchFamily="34" charset="0"/>
                <a:cs typeface="Calibri" panose="020F0502020204030204" pitchFamily="34" charset="0"/>
              </a:rPr>
              <a:t>You are advising the UK government:</a:t>
            </a:r>
            <a:br>
              <a:rPr lang="en-US" sz="2800" b="1" dirty="0">
                <a:latin typeface="Calibri" panose="020F0502020204030204" pitchFamily="34" charset="0"/>
                <a:cs typeface="Calibri" panose="020F0502020204030204" pitchFamily="34" charset="0"/>
              </a:rPr>
            </a:br>
            <a:endParaRPr lang="en-US" sz="2800" b="1" dirty="0">
              <a:latin typeface="Calibri" panose="020F0502020204030204" pitchFamily="34" charset="0"/>
              <a:cs typeface="Calibri" panose="020F0502020204030204" pitchFamily="34" charset="0"/>
            </a:endParaRPr>
          </a:p>
          <a:p>
            <a:r>
              <a:rPr lang="en-US" sz="2800" b="1" dirty="0">
                <a:latin typeface="Calibri" panose="020F0502020204030204" pitchFamily="34" charset="0"/>
                <a:cs typeface="Calibri" panose="020F0502020204030204" pitchFamily="34" charset="0"/>
              </a:rPr>
              <a:t>Which sector (energy, transport, industry, buildings, agriculture) should be </a:t>
            </a:r>
            <a:r>
              <a:rPr lang="en-US" sz="2800" b="1" dirty="0" err="1">
                <a:latin typeface="Calibri" panose="020F0502020204030204" pitchFamily="34" charset="0"/>
                <a:cs typeface="Calibri" panose="020F0502020204030204" pitchFamily="34" charset="0"/>
              </a:rPr>
              <a:t>prioritised</a:t>
            </a:r>
            <a:r>
              <a:rPr lang="en-US" sz="2800" b="1" dirty="0">
                <a:latin typeface="Calibri" panose="020F0502020204030204" pitchFamily="34" charset="0"/>
                <a:cs typeface="Calibri" panose="020F0502020204030204" pitchFamily="34" charset="0"/>
              </a:rPr>
              <a:t> for mitigation, and why?</a:t>
            </a:r>
          </a:p>
          <a:p>
            <a:br>
              <a:rPr lang="en-US" sz="2800" b="1" dirty="0">
                <a:latin typeface="Calibri" panose="020F0502020204030204" pitchFamily="34" charset="0"/>
                <a:cs typeface="Calibri" panose="020F0502020204030204" pitchFamily="34" charset="0"/>
              </a:rPr>
            </a:br>
            <a:r>
              <a:rPr lang="en-US" sz="2800" b="1" dirty="0">
                <a:latin typeface="Calibri" panose="020F0502020204030204" pitchFamily="34" charset="0"/>
                <a:cs typeface="Calibri" panose="020F0502020204030204" pitchFamily="34" charset="0"/>
              </a:rPr>
              <a:t>What evidence would you use to support your recommendation, and what trade-offs might you face?</a:t>
            </a:r>
          </a:p>
          <a:p>
            <a:endParaRPr lang="en-US" sz="2800" dirty="0">
              <a:latin typeface="Calibri" panose="020F0502020204030204" pitchFamily="34" charset="0"/>
              <a:cs typeface="Calibri" panose="020F0502020204030204" pitchFamily="34" charset="0"/>
            </a:endParaRPr>
          </a:p>
          <a:p>
            <a:endParaRPr lang="en-US" sz="2800" dirty="0">
              <a:latin typeface="Calibri" panose="020F0502020204030204" pitchFamily="34" charset="0"/>
              <a:cs typeface="Calibri" panose="020F0502020204030204" pitchFamily="34" charset="0"/>
            </a:endParaRPr>
          </a:p>
          <a:p>
            <a:endParaRPr lang="en-US" sz="2800" dirty="0">
              <a:latin typeface="Calibri" panose="020F0502020204030204" pitchFamily="34" charset="0"/>
              <a:cs typeface="Calibri" panose="020F0502020204030204" pitchFamily="34" charset="0"/>
            </a:endParaRPr>
          </a:p>
          <a:p>
            <a:endParaRPr lang="en-US" sz="2800" dirty="0">
              <a:latin typeface="Calibri" panose="020F0502020204030204" pitchFamily="34" charset="0"/>
              <a:cs typeface="Calibri" panose="020F0502020204030204" pitchFamily="34" charset="0"/>
            </a:endParaRPr>
          </a:p>
          <a:p>
            <a:endParaRPr lang="en-US" sz="2800" dirty="0">
              <a:latin typeface="Calibri" panose="020F0502020204030204" pitchFamily="34" charset="0"/>
              <a:cs typeface="Calibri" panose="020F0502020204030204" pitchFamily="34" charset="0"/>
            </a:endParaRPr>
          </a:p>
          <a:p>
            <a:endParaRPr lang="en-US" sz="2800" dirty="0">
              <a:latin typeface="Calibri" panose="020F0502020204030204" pitchFamily="34" charset="0"/>
              <a:cs typeface="Calibri" panose="020F0502020204030204" pitchFamily="34" charset="0"/>
            </a:endParaRPr>
          </a:p>
          <a:p>
            <a:r>
              <a:rPr lang="en-US" sz="2800" dirty="0">
                <a:latin typeface="Calibri" panose="020F0502020204030204" pitchFamily="34" charset="0"/>
                <a:cs typeface="Calibri" panose="020F0502020204030204" pitchFamily="34" charset="0"/>
              </a:rPr>
              <a:t>10 mins </a:t>
            </a:r>
          </a:p>
        </p:txBody>
      </p:sp>
    </p:spTree>
    <p:extLst>
      <p:ext uri="{BB962C8B-B14F-4D97-AF65-F5344CB8AC3E}">
        <p14:creationId xmlns:p14="http://schemas.microsoft.com/office/powerpoint/2010/main" val="1885819574"/>
      </p:ext>
    </p:extLst>
  </p:cSld>
  <p:clrMapOvr>
    <a:masterClrMapping/>
  </p:clrMapOvr>
  <mc:AlternateContent xmlns:mc="http://schemas.openxmlformats.org/markup-compatibility/2006" xmlns:p14="http://schemas.microsoft.com/office/powerpoint/2010/main">
    <mc:Choice Requires="p14">
      <p:transition spd="slow" p14:dur="2000" advTm="43575"/>
    </mc:Choice>
    <mc:Fallback xmlns="">
      <p:transition spd="slow" advTm="43575"/>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706526" y="1631073"/>
            <a:ext cx="13847674" cy="859210"/>
          </a:xfrm>
          <a:prstGeom prst="rect">
            <a:avLst/>
          </a:prstGeom>
        </p:spPr>
        <p:txBody>
          <a:bodyPr wrap="square" lIns="0" tIns="0" rIns="0" bIns="0" rtlCol="0" anchor="t">
            <a:spAutoFit/>
          </a:bodyPr>
          <a:lstStyle/>
          <a:p>
            <a:pPr>
              <a:lnSpc>
                <a:spcPts val="6719"/>
              </a:lnSpc>
            </a:pPr>
            <a:r>
              <a:rPr lang="en-US" sz="5599" b="1" dirty="0">
                <a:solidFill>
                  <a:srgbClr val="46245A"/>
                </a:solidFill>
                <a:latin typeface="DM Sans" pitchFamily="2" charset="0"/>
              </a:rPr>
              <a:t>IPCC and UNFCC</a:t>
            </a:r>
            <a:endParaRPr lang="en-US" sz="5599" dirty="0">
              <a:solidFill>
                <a:srgbClr val="46245A"/>
              </a:solidFill>
              <a:latin typeface="DM Sans" pitchFamily="2" charset="0"/>
            </a:endParaRPr>
          </a:p>
        </p:txBody>
      </p:sp>
      <p:pic>
        <p:nvPicPr>
          <p:cNvPr id="3" name="Picture 2" descr="Graphical user interface, text&#10;&#10;Description automatically generated">
            <a:extLst>
              <a:ext uri="{FF2B5EF4-FFF2-40B4-BE49-F238E27FC236}">
                <a16:creationId xmlns:a16="http://schemas.microsoft.com/office/drawing/2014/main" id="{4A207F4B-50C5-65E5-3F02-FECC05A7D1BF}"/>
              </a:ext>
            </a:extLst>
          </p:cNvPr>
          <p:cNvPicPr>
            <a:picLocks noChangeAspect="1"/>
          </p:cNvPicPr>
          <p:nvPr/>
        </p:nvPicPr>
        <p:blipFill rotWithShape="1">
          <a:blip r:embed="rId6">
            <a:extLst>
              <a:ext uri="{28A0092B-C50C-407E-A947-70E740481C1C}">
                <a14:useLocalDpi xmlns:a14="http://schemas.microsoft.com/office/drawing/2010/main" val="0"/>
              </a:ext>
            </a:extLst>
          </a:blip>
          <a:srcRect t="19345"/>
          <a:stretch/>
        </p:blipFill>
        <p:spPr>
          <a:xfrm>
            <a:off x="7630363" y="1192990"/>
            <a:ext cx="6725883" cy="1735375"/>
          </a:xfrm>
          <a:prstGeom prst="rect">
            <a:avLst/>
          </a:prstGeom>
        </p:spPr>
      </p:pic>
      <p:sp>
        <p:nvSpPr>
          <p:cNvPr id="7" name="TextBox 6">
            <a:extLst>
              <a:ext uri="{FF2B5EF4-FFF2-40B4-BE49-F238E27FC236}">
                <a16:creationId xmlns:a16="http://schemas.microsoft.com/office/drawing/2014/main" id="{2FA869ED-8DD1-1961-B7AA-F3D9C8A16CAC}"/>
              </a:ext>
            </a:extLst>
          </p:cNvPr>
          <p:cNvSpPr txBox="1"/>
          <p:nvPr/>
        </p:nvSpPr>
        <p:spPr>
          <a:xfrm>
            <a:off x="686216" y="3154406"/>
            <a:ext cx="17239475" cy="6301725"/>
          </a:xfrm>
          <a:prstGeom prst="rect">
            <a:avLst/>
          </a:prstGeom>
          <a:noFill/>
        </p:spPr>
        <p:txBody>
          <a:bodyPr wrap="square" rtlCol="0">
            <a:spAutoFit/>
          </a:bodyPr>
          <a:lstStyle/>
          <a:p>
            <a:pPr marL="514350" indent="-514350">
              <a:buFont typeface="Arial" panose="020B0604020202020204" pitchFamily="34" charset="0"/>
              <a:buChar char="•"/>
            </a:pPr>
            <a:r>
              <a:rPr lang="en-GB" sz="3300" dirty="0"/>
              <a:t>Near universal membership (196 countries + EU)</a:t>
            </a:r>
          </a:p>
          <a:p>
            <a:pPr marL="514350" indent="-514350">
              <a:buFont typeface="Arial" panose="020B0604020202020204" pitchFamily="34" charset="0"/>
              <a:buChar char="•"/>
            </a:pPr>
            <a:endParaRPr lang="en-GB" sz="3300" dirty="0"/>
          </a:p>
          <a:p>
            <a:pPr marL="514350" indent="-514350">
              <a:buFont typeface="Arial" panose="020B0604020202020204" pitchFamily="34" charset="0"/>
              <a:buChar char="•"/>
            </a:pPr>
            <a:r>
              <a:rPr lang="en-GB" sz="3300" dirty="0"/>
              <a:t>Ultimate objective: </a:t>
            </a:r>
          </a:p>
          <a:p>
            <a:pPr algn="ctr"/>
            <a:r>
              <a:rPr lang="en-GB" sz="3300" b="1" i="1" dirty="0"/>
              <a:t>“... stabilisation of greenhouse gas concentrations in the atmosphere at a level that would prevent dangerous anthropogenic interference with the climate system ...”</a:t>
            </a:r>
          </a:p>
          <a:p>
            <a:pPr algn="ctr"/>
            <a:endParaRPr lang="en-GB" sz="3300" b="1" i="1" dirty="0"/>
          </a:p>
          <a:p>
            <a:pPr marL="514350" indent="-514350">
              <a:buFont typeface="Arial" panose="020B0604020202020204" pitchFamily="34" charset="0"/>
              <a:buChar char="•"/>
            </a:pPr>
            <a:r>
              <a:rPr lang="en-GB" sz="3300" dirty="0"/>
              <a:t>Annual Conference of Parties (COP) where they monitor, assess, and create action</a:t>
            </a:r>
          </a:p>
          <a:p>
            <a:endParaRPr lang="en-GB" sz="3300" dirty="0"/>
          </a:p>
          <a:p>
            <a:pPr>
              <a:spcAft>
                <a:spcPts val="900"/>
              </a:spcAft>
            </a:pPr>
            <a:r>
              <a:rPr lang="en-GB" sz="3300" dirty="0"/>
              <a:t>1997 (COP 3) - Kyoto protocol: first binding GHG reduction targets for industrialised countries.</a:t>
            </a:r>
          </a:p>
          <a:p>
            <a:pPr>
              <a:spcAft>
                <a:spcPts val="900"/>
              </a:spcAft>
            </a:pPr>
            <a:r>
              <a:rPr lang="en-GB" sz="3300" dirty="0"/>
              <a:t>2015 (COP 21) – Paris agreement: Aim to keep temperatures “well below 2° C” and “pursue efforts to limit the temperature increase to 1.5° C”.</a:t>
            </a:r>
          </a:p>
        </p:txBody>
      </p:sp>
    </p:spTree>
    <p:custDataLst>
      <p:tags r:id="rId1"/>
    </p:custDataLst>
    <p:extLst>
      <p:ext uri="{BB962C8B-B14F-4D97-AF65-F5344CB8AC3E}">
        <p14:creationId xmlns:p14="http://schemas.microsoft.com/office/powerpoint/2010/main" val="2435183567"/>
      </p:ext>
    </p:extLst>
  </p:cSld>
  <p:clrMapOvr>
    <a:masterClrMapping/>
  </p:clrMapOvr>
  <mc:AlternateContent xmlns:mc="http://schemas.openxmlformats.org/markup-compatibility/2006" xmlns:p14="http://schemas.microsoft.com/office/powerpoint/2010/main">
    <mc:Choice Requires="p14">
      <p:transition spd="slow" p14:dur="2000" advTm="153455"/>
    </mc:Choice>
    <mc:Fallback xmlns="">
      <p:transition spd="slow" advTm="15345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59210"/>
          </a:xfrm>
          <a:prstGeom prst="rect">
            <a:avLst/>
          </a:prstGeom>
        </p:spPr>
        <p:txBody>
          <a:bodyPr wrap="square" lIns="0" tIns="0" rIns="0" bIns="0" rtlCol="0" anchor="t">
            <a:spAutoFit/>
          </a:bodyPr>
          <a:lstStyle/>
          <a:p>
            <a:pPr>
              <a:lnSpc>
                <a:spcPts val="6719"/>
              </a:lnSpc>
            </a:pPr>
            <a:r>
              <a:rPr lang="en-US" sz="5599" b="1" dirty="0">
                <a:solidFill>
                  <a:srgbClr val="46245A"/>
                </a:solidFill>
                <a:latin typeface="DM Sans" pitchFamily="2" charset="0"/>
              </a:rPr>
              <a:t>IPCC</a:t>
            </a:r>
            <a:endParaRPr lang="en-US" sz="5599" dirty="0">
              <a:solidFill>
                <a:srgbClr val="46245A"/>
              </a:solidFill>
              <a:latin typeface="DM Sans" pitchFamily="2" charset="0"/>
            </a:endParaRPr>
          </a:p>
        </p:txBody>
      </p:sp>
      <p:pic>
        <p:nvPicPr>
          <p:cNvPr id="14" name="Picture 2" descr="Explainer: what is the IPCC anyway, and how does it work?">
            <a:extLst>
              <a:ext uri="{FF2B5EF4-FFF2-40B4-BE49-F238E27FC236}">
                <a16:creationId xmlns:a16="http://schemas.microsoft.com/office/drawing/2014/main" id="{958B2E62-FE49-AA26-18C5-4C0D51386A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15903" y="4878575"/>
            <a:ext cx="5550650" cy="2775326"/>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4279B0D9-A79F-8358-F209-52967F44B897}"/>
              </a:ext>
            </a:extLst>
          </p:cNvPr>
          <p:cNvSpPr/>
          <p:nvPr/>
        </p:nvSpPr>
        <p:spPr>
          <a:xfrm>
            <a:off x="1400063" y="2865336"/>
            <a:ext cx="6967331" cy="1892826"/>
          </a:xfrm>
          <a:prstGeom prst="rect">
            <a:avLst/>
          </a:prstGeom>
        </p:spPr>
        <p:txBody>
          <a:bodyPr wrap="square">
            <a:spAutoFit/>
          </a:bodyPr>
          <a:lstStyle/>
          <a:p>
            <a:pPr algn="ctr"/>
            <a:r>
              <a:rPr lang="en-GB" sz="3900" b="1" dirty="0">
                <a:solidFill>
                  <a:schemeClr val="accent1">
                    <a:lumMod val="75000"/>
                  </a:schemeClr>
                </a:solidFill>
              </a:rPr>
              <a:t>Summary of science on climate change and its impacts</a:t>
            </a:r>
          </a:p>
        </p:txBody>
      </p:sp>
      <p:sp>
        <p:nvSpPr>
          <p:cNvPr id="18" name="Rectangle 17">
            <a:extLst>
              <a:ext uri="{FF2B5EF4-FFF2-40B4-BE49-F238E27FC236}">
                <a16:creationId xmlns:a16="http://schemas.microsoft.com/office/drawing/2014/main" id="{744140D5-5111-03E0-B7F4-D0BDFF82C92E}"/>
              </a:ext>
            </a:extLst>
          </p:cNvPr>
          <p:cNvSpPr/>
          <p:nvPr/>
        </p:nvSpPr>
        <p:spPr>
          <a:xfrm>
            <a:off x="1143000" y="2492776"/>
            <a:ext cx="7224393" cy="5835534"/>
          </a:xfrm>
          <a:prstGeom prst="rect">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700" dirty="0"/>
          </a:p>
        </p:txBody>
      </p:sp>
      <p:sp>
        <p:nvSpPr>
          <p:cNvPr id="19" name="TextBox 18">
            <a:extLst>
              <a:ext uri="{FF2B5EF4-FFF2-40B4-BE49-F238E27FC236}">
                <a16:creationId xmlns:a16="http://schemas.microsoft.com/office/drawing/2014/main" id="{968DAC15-5073-FF92-3736-3FD4474D7ABA}"/>
              </a:ext>
            </a:extLst>
          </p:cNvPr>
          <p:cNvSpPr txBox="1"/>
          <p:nvPr/>
        </p:nvSpPr>
        <p:spPr>
          <a:xfrm>
            <a:off x="1018668" y="8633522"/>
            <a:ext cx="15065188" cy="1107996"/>
          </a:xfrm>
          <a:prstGeom prst="rect">
            <a:avLst/>
          </a:prstGeom>
          <a:noFill/>
        </p:spPr>
        <p:txBody>
          <a:bodyPr wrap="square" rtlCol="0">
            <a:spAutoFit/>
          </a:bodyPr>
          <a:lstStyle/>
          <a:p>
            <a:r>
              <a:rPr lang="en-GB" sz="3300" b="1" dirty="0"/>
              <a:t>Temperature targets are not scientific targets, they are the result of a negotiated political process</a:t>
            </a:r>
          </a:p>
        </p:txBody>
      </p:sp>
    </p:spTree>
    <p:extLst>
      <p:ext uri="{BB962C8B-B14F-4D97-AF65-F5344CB8AC3E}">
        <p14:creationId xmlns:p14="http://schemas.microsoft.com/office/powerpoint/2010/main" val="3667476129"/>
      </p:ext>
    </p:extLst>
  </p:cSld>
  <p:clrMapOvr>
    <a:masterClrMapping/>
  </p:clrMapOvr>
  <mc:AlternateContent xmlns:mc="http://schemas.openxmlformats.org/markup-compatibility/2006" xmlns:p14="http://schemas.microsoft.com/office/powerpoint/2010/main">
    <mc:Choice Requires="p14">
      <p:transition spd="slow" p14:dur="2000" advTm="33341"/>
    </mc:Choice>
    <mc:Fallback xmlns="">
      <p:transition spd="slow" advTm="33341"/>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59210"/>
          </a:xfrm>
          <a:prstGeom prst="rect">
            <a:avLst/>
          </a:prstGeom>
        </p:spPr>
        <p:txBody>
          <a:bodyPr wrap="square" lIns="0" tIns="0" rIns="0" bIns="0" rtlCol="0" anchor="t">
            <a:spAutoFit/>
          </a:bodyPr>
          <a:lstStyle/>
          <a:p>
            <a:pPr>
              <a:lnSpc>
                <a:spcPts val="6719"/>
              </a:lnSpc>
            </a:pPr>
            <a:r>
              <a:rPr lang="en-US" sz="5599" b="1" dirty="0">
                <a:solidFill>
                  <a:srgbClr val="46245A"/>
                </a:solidFill>
                <a:latin typeface="DM Sans" pitchFamily="2" charset="0"/>
              </a:rPr>
              <a:t>Ongoing efforts….</a:t>
            </a:r>
            <a:endParaRPr lang="en-US" sz="5599" dirty="0">
              <a:solidFill>
                <a:srgbClr val="46245A"/>
              </a:solidFill>
              <a:latin typeface="DM Sans" pitchFamily="2" charset="0"/>
            </a:endParaRPr>
          </a:p>
        </p:txBody>
      </p:sp>
      <p:pic>
        <p:nvPicPr>
          <p:cNvPr id="3" name="Picture 2" descr="Chart&#10;&#10;Description automatically generated">
            <a:extLst>
              <a:ext uri="{FF2B5EF4-FFF2-40B4-BE49-F238E27FC236}">
                <a16:creationId xmlns:a16="http://schemas.microsoft.com/office/drawing/2014/main" id="{300161B9-42A5-1A49-6ABF-0C53BB23FC3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47800" y="4560696"/>
            <a:ext cx="6181339" cy="4941042"/>
          </a:xfrm>
          <a:prstGeom prst="rect">
            <a:avLst/>
          </a:prstGeom>
        </p:spPr>
      </p:pic>
      <p:sp>
        <p:nvSpPr>
          <p:cNvPr id="5" name="TextBox 4">
            <a:extLst>
              <a:ext uri="{FF2B5EF4-FFF2-40B4-BE49-F238E27FC236}">
                <a16:creationId xmlns:a16="http://schemas.microsoft.com/office/drawing/2014/main" id="{B9E36232-34BC-CC10-0652-67D9761A2F99}"/>
              </a:ext>
            </a:extLst>
          </p:cNvPr>
          <p:cNvSpPr txBox="1"/>
          <p:nvPr/>
        </p:nvSpPr>
        <p:spPr>
          <a:xfrm>
            <a:off x="1143000" y="2741906"/>
            <a:ext cx="8639894" cy="1569660"/>
          </a:xfrm>
          <a:prstGeom prst="rect">
            <a:avLst/>
          </a:prstGeom>
          <a:noFill/>
        </p:spPr>
        <p:txBody>
          <a:bodyPr wrap="square" rtlCol="0">
            <a:spAutoFit/>
          </a:bodyPr>
          <a:lstStyle/>
          <a:p>
            <a:r>
              <a:rPr lang="en-GB" sz="3200" dirty="0"/>
              <a:t>Aim to keep temperature increases well below 2°C and pursue efforts to limit the temperature increase to 1.5°C</a:t>
            </a:r>
            <a:endParaRPr lang="en-GB" sz="2800" dirty="0"/>
          </a:p>
        </p:txBody>
      </p:sp>
      <p:pic>
        <p:nvPicPr>
          <p:cNvPr id="6" name="Picture 5">
            <a:extLst>
              <a:ext uri="{FF2B5EF4-FFF2-40B4-BE49-F238E27FC236}">
                <a16:creationId xmlns:a16="http://schemas.microsoft.com/office/drawing/2014/main" id="{4287D4A6-B95C-1454-A5FA-8C995B76021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14382" y="2317898"/>
            <a:ext cx="7204949" cy="7183841"/>
          </a:xfrm>
          <a:prstGeom prst="rect">
            <a:avLst/>
          </a:prstGeom>
        </p:spPr>
      </p:pic>
    </p:spTree>
    <p:custDataLst>
      <p:tags r:id="rId1"/>
    </p:custDataLst>
    <p:extLst>
      <p:ext uri="{BB962C8B-B14F-4D97-AF65-F5344CB8AC3E}">
        <p14:creationId xmlns:p14="http://schemas.microsoft.com/office/powerpoint/2010/main" val="4278338328"/>
      </p:ext>
    </p:extLst>
  </p:cSld>
  <p:clrMapOvr>
    <a:masterClrMapping/>
  </p:clrMapOvr>
  <mc:AlternateContent xmlns:mc="http://schemas.openxmlformats.org/markup-compatibility/2006" xmlns:p14="http://schemas.microsoft.com/office/powerpoint/2010/main">
    <mc:Choice Requires="p14">
      <p:transition spd="slow" p14:dur="2000" advTm="14309"/>
    </mc:Choice>
    <mc:Fallback xmlns="">
      <p:transition spd="slow" advTm="1430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A886C041-43D6-03BC-ED6A-6EAD71C3B93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02617061-8C04-FB34-6A09-B5A8B09EFA9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n-GB">
              <a:latin typeface="Calibri" panose="020F0502020204030204" pitchFamily="34" charset="0"/>
              <a:cs typeface="Calibri" panose="020F0502020204030204" pitchFamily="34" charset="0"/>
            </a:endParaRPr>
          </a:p>
        </p:txBody>
      </p:sp>
      <p:sp>
        <p:nvSpPr>
          <p:cNvPr id="2" name="TextBox 5">
            <a:extLst>
              <a:ext uri="{FF2B5EF4-FFF2-40B4-BE49-F238E27FC236}">
                <a16:creationId xmlns:a16="http://schemas.microsoft.com/office/drawing/2014/main" id="{7F04C60B-67F5-5919-CA46-21BEBAF682D2}"/>
              </a:ext>
            </a:extLst>
          </p:cNvPr>
          <p:cNvSpPr txBox="1"/>
          <p:nvPr/>
        </p:nvSpPr>
        <p:spPr>
          <a:xfrm>
            <a:off x="1143000" y="1633566"/>
            <a:ext cx="13847674" cy="859210"/>
          </a:xfrm>
          <a:prstGeom prst="rect">
            <a:avLst/>
          </a:prstGeom>
        </p:spPr>
        <p:txBody>
          <a:bodyPr wrap="square" lIns="0" tIns="0" rIns="0" bIns="0" rtlCol="0" anchor="t">
            <a:spAutoFit/>
          </a:bodyPr>
          <a:lstStyle/>
          <a:p>
            <a:pPr>
              <a:lnSpc>
                <a:spcPts val="6719"/>
              </a:lnSpc>
            </a:pPr>
            <a:r>
              <a:rPr lang="en-US" sz="5599" b="1" dirty="0">
                <a:solidFill>
                  <a:srgbClr val="46245A"/>
                </a:solidFill>
                <a:latin typeface="DM Sans" pitchFamily="2" charset="0"/>
              </a:rPr>
              <a:t>Ongoing efforts….</a:t>
            </a:r>
            <a:endParaRPr lang="en-US" sz="5599" dirty="0">
              <a:solidFill>
                <a:srgbClr val="46245A"/>
              </a:solidFill>
              <a:latin typeface="DM Sans" pitchFamily="2" charset="0"/>
            </a:endParaRPr>
          </a:p>
        </p:txBody>
      </p:sp>
      <p:pic>
        <p:nvPicPr>
          <p:cNvPr id="6" name="Picture 5">
            <a:extLst>
              <a:ext uri="{FF2B5EF4-FFF2-40B4-BE49-F238E27FC236}">
                <a16:creationId xmlns:a16="http://schemas.microsoft.com/office/drawing/2014/main" id="{C21E904C-2EAA-022C-900B-58BBF5F7BBB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3000" y="2492776"/>
            <a:ext cx="7204949" cy="7183841"/>
          </a:xfrm>
          <a:prstGeom prst="rect">
            <a:avLst/>
          </a:prstGeom>
        </p:spPr>
      </p:pic>
      <p:sp>
        <p:nvSpPr>
          <p:cNvPr id="7" name="TextBox 6">
            <a:extLst>
              <a:ext uri="{FF2B5EF4-FFF2-40B4-BE49-F238E27FC236}">
                <a16:creationId xmlns:a16="http://schemas.microsoft.com/office/drawing/2014/main" id="{5B29A383-C6CC-5281-6AA7-7A6BA1A60625}"/>
              </a:ext>
            </a:extLst>
          </p:cNvPr>
          <p:cNvSpPr txBox="1"/>
          <p:nvPr/>
        </p:nvSpPr>
        <p:spPr>
          <a:xfrm>
            <a:off x="9168037" y="1981806"/>
            <a:ext cx="9144000" cy="2616101"/>
          </a:xfrm>
          <a:prstGeom prst="rect">
            <a:avLst/>
          </a:prstGeom>
          <a:noFill/>
        </p:spPr>
        <p:txBody>
          <a:bodyPr wrap="square">
            <a:spAutoFit/>
          </a:bodyPr>
          <a:lstStyle/>
          <a:p>
            <a:pPr>
              <a:buNone/>
            </a:pPr>
            <a:r>
              <a:rPr lang="en-GB" sz="2400" dirty="0">
                <a:effectLst/>
                <a:latin typeface="Calibri" panose="020F0502020204030204" pitchFamily="34" charset="0"/>
                <a:cs typeface="Calibri" panose="020F0502020204030204" pitchFamily="34" charset="0"/>
              </a:rPr>
              <a:t>There has been a consistent expansion of policies and laws addressing mitigation since this agreement. </a:t>
            </a:r>
          </a:p>
          <a:p>
            <a:pPr>
              <a:buNone/>
            </a:pPr>
            <a:endParaRPr lang="en-GB" sz="2400" dirty="0">
              <a:latin typeface="Calibri" panose="020F0502020204030204" pitchFamily="34" charset="0"/>
              <a:cs typeface="Calibri" panose="020F0502020204030204" pitchFamily="34" charset="0"/>
            </a:endParaRPr>
          </a:p>
          <a:p>
            <a:pPr>
              <a:buNone/>
            </a:pPr>
            <a:r>
              <a:rPr lang="en-GB" sz="2400" dirty="0">
                <a:effectLst/>
                <a:latin typeface="Calibri" panose="020F0502020204030204" pitchFamily="34" charset="0"/>
                <a:cs typeface="Calibri" panose="020F0502020204030204" pitchFamily="34" charset="0"/>
              </a:rPr>
              <a:t>This has led to the avoidance of emissions that would otherwise have occurred and increased investment in low-GHG technologies and infrastructure. </a:t>
            </a:r>
          </a:p>
          <a:p>
            <a:pPr>
              <a:buNone/>
            </a:pPr>
            <a:endParaRPr lang="en-GB" dirty="0">
              <a:solidFill>
                <a:srgbClr val="022244"/>
              </a:solidFill>
              <a:latin typeface="Calibri" panose="020F0502020204030204" pitchFamily="34" charset="0"/>
              <a:cs typeface="Calibri" panose="020F0502020204030204" pitchFamily="34" charset="0"/>
            </a:endParaRPr>
          </a:p>
        </p:txBody>
      </p:sp>
      <p:pic>
        <p:nvPicPr>
          <p:cNvPr id="4" name="Picture 3" descr="A graph of different types of energy&#10;&#10;AI-generated content may be incorrect.">
            <a:extLst>
              <a:ext uri="{FF2B5EF4-FFF2-40B4-BE49-F238E27FC236}">
                <a16:creationId xmlns:a16="http://schemas.microsoft.com/office/drawing/2014/main" id="{481583CD-E530-069C-57B4-7AF49C3AFDA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44000" y="4768758"/>
            <a:ext cx="8298611" cy="5351346"/>
          </a:xfrm>
          <a:prstGeom prst="rect">
            <a:avLst/>
          </a:prstGeom>
        </p:spPr>
      </p:pic>
      <p:sp>
        <p:nvSpPr>
          <p:cNvPr id="11" name="TextBox 10">
            <a:extLst>
              <a:ext uri="{FF2B5EF4-FFF2-40B4-BE49-F238E27FC236}">
                <a16:creationId xmlns:a16="http://schemas.microsoft.com/office/drawing/2014/main" id="{74C103C3-FCA5-03D9-9270-C309E5C1249A}"/>
              </a:ext>
            </a:extLst>
          </p:cNvPr>
          <p:cNvSpPr txBox="1"/>
          <p:nvPr/>
        </p:nvSpPr>
        <p:spPr>
          <a:xfrm>
            <a:off x="9168037" y="4399426"/>
            <a:ext cx="9144000" cy="369332"/>
          </a:xfrm>
          <a:prstGeom prst="rect">
            <a:avLst/>
          </a:prstGeom>
          <a:noFill/>
        </p:spPr>
        <p:txBody>
          <a:bodyPr wrap="square">
            <a:spAutoFit/>
          </a:bodyPr>
          <a:lstStyle/>
          <a:p>
            <a:r>
              <a:rPr lang="en-GB" dirty="0">
                <a:solidFill>
                  <a:srgbClr val="FF0000"/>
                </a:solidFill>
                <a:effectLst/>
                <a:latin typeface="Calibri" panose="020F0502020204030204" pitchFamily="34" charset="0"/>
                <a:cs typeface="Calibri" panose="020F0502020204030204" pitchFamily="34" charset="0"/>
              </a:rPr>
              <a:t>Unit cost reductions and use in some rapidly changing mitigation technologies</a:t>
            </a:r>
          </a:p>
        </p:txBody>
      </p:sp>
    </p:spTree>
    <p:custDataLst>
      <p:tags r:id="rId1"/>
    </p:custDataLst>
    <p:extLst>
      <p:ext uri="{BB962C8B-B14F-4D97-AF65-F5344CB8AC3E}">
        <p14:creationId xmlns:p14="http://schemas.microsoft.com/office/powerpoint/2010/main" val="1296296382"/>
      </p:ext>
    </p:extLst>
  </p:cSld>
  <p:clrMapOvr>
    <a:masterClrMapping/>
  </p:clrMapOvr>
  <mc:AlternateContent xmlns:mc="http://schemas.openxmlformats.org/markup-compatibility/2006" xmlns:p14="http://schemas.microsoft.com/office/powerpoint/2010/main">
    <mc:Choice Requires="p14">
      <p:transition spd="slow" p14:dur="2000" advTm="14309"/>
    </mc:Choice>
    <mc:Fallback xmlns="">
      <p:transition spd="slow" advTm="1430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F43F599E-A8B7-682D-B49B-DF69B4B73187}"/>
              </a:ext>
            </a:extLst>
          </p:cNvPr>
          <p:cNvSpPr txBox="1"/>
          <p:nvPr/>
        </p:nvSpPr>
        <p:spPr>
          <a:xfrm>
            <a:off x="1143000" y="1736548"/>
            <a:ext cx="13847674" cy="842282"/>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46245A"/>
                </a:solidFill>
                <a:effectLst/>
                <a:uLnTx/>
                <a:uFillTx/>
                <a:latin typeface="DM Sans" pitchFamily="2" charset="0"/>
                <a:ea typeface="+mn-ea"/>
                <a:cs typeface="+mn-cs"/>
              </a:rPr>
              <a:t>Representative Concentration Pathways</a:t>
            </a:r>
            <a:endParaRPr kumimoji="0" lang="en-US" sz="5400"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Rectangle 3">
            <a:extLst>
              <a:ext uri="{FF2B5EF4-FFF2-40B4-BE49-F238E27FC236}">
                <a16:creationId xmlns:a16="http://schemas.microsoft.com/office/drawing/2014/main" id="{2B83318A-71F4-3ED6-17FB-FBD2D9C5532A}"/>
              </a:ext>
            </a:extLst>
          </p:cNvPr>
          <p:cNvSpPr txBox="1">
            <a:spLocks noChangeArrowheads="1"/>
          </p:cNvSpPr>
          <p:nvPr/>
        </p:nvSpPr>
        <p:spPr>
          <a:xfrm>
            <a:off x="962027" y="2736202"/>
            <a:ext cx="8229600" cy="4525963"/>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kumimoji="0" lang="en-US" altLang="en-US"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pic>
        <p:nvPicPr>
          <p:cNvPr id="18" name="Picture 17" descr="A graph showing the number of emissions&#10;&#10;Description automatically generated">
            <a:extLst>
              <a:ext uri="{FF2B5EF4-FFF2-40B4-BE49-F238E27FC236}">
                <a16:creationId xmlns:a16="http://schemas.microsoft.com/office/drawing/2014/main" id="{0EB74FD6-EDFF-1476-E8FC-512E76D0AD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0696" y="2875977"/>
            <a:ext cx="8183304" cy="5674475"/>
          </a:xfrm>
          <a:prstGeom prst="rect">
            <a:avLst/>
          </a:prstGeom>
        </p:spPr>
      </p:pic>
      <p:sp>
        <p:nvSpPr>
          <p:cNvPr id="21" name="TextBox 20">
            <a:extLst>
              <a:ext uri="{FF2B5EF4-FFF2-40B4-BE49-F238E27FC236}">
                <a16:creationId xmlns:a16="http://schemas.microsoft.com/office/drawing/2014/main" id="{E6E7BE3F-7CA2-B012-7924-B7FF5AF18333}"/>
              </a:ext>
            </a:extLst>
          </p:cNvPr>
          <p:cNvSpPr txBox="1"/>
          <p:nvPr/>
        </p:nvSpPr>
        <p:spPr>
          <a:xfrm>
            <a:off x="9144000" y="3422155"/>
            <a:ext cx="8964118" cy="489364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Anthropogenic GHG emissions are mainly driven by population size, economic activity, lifestyle, energy use, land use patterns, technology and climate policy.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The RCPs include a stringent mitigation scenario (RCP2.6)</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two intermediate scenarios (RCP4.5 and RCP6.0)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very high GHG emissions (RCP8.5).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Scenarios without additional efforts to constrain emissions (’baseline scenarios’) lead to pathways ranging between RCP6.0 and RCP8.5.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RCP2.6 is representative of a scenario that aims to keep global warming likely below 2°C above pre-industrial temperatures. </a:t>
            </a:r>
            <a:endParaRPr kumimoji="0" lang="en-US" sz="2400" b="0" i="0" u="none" strike="noStrike" kern="1200" cap="none" spc="0" normalizeH="0" baseline="0" noProof="0" dirty="0">
              <a:ln>
                <a:noFill/>
              </a:ln>
              <a:solidFill>
                <a:prstClr val="black"/>
              </a:solidFill>
              <a:effectLst/>
              <a:uLnTx/>
              <a:uFillTx/>
              <a:latin typeface="DM Sans"/>
              <a:ea typeface="+mn-ea"/>
              <a:cs typeface="+mn-cs"/>
            </a:endParaRPr>
          </a:p>
        </p:txBody>
      </p:sp>
    </p:spTree>
    <p:extLst>
      <p:ext uri="{BB962C8B-B14F-4D97-AF65-F5344CB8AC3E}">
        <p14:creationId xmlns:p14="http://schemas.microsoft.com/office/powerpoint/2010/main" val="1226205038"/>
      </p:ext>
    </p:extLst>
  </p:cSld>
  <p:clrMapOvr>
    <a:masterClrMapping/>
  </p:clrMapOvr>
  <mc:AlternateContent xmlns:mc="http://schemas.openxmlformats.org/markup-compatibility/2006" xmlns:p14="http://schemas.microsoft.com/office/powerpoint/2010/main">
    <mc:Choice Requires="p14">
      <p:transition spd="slow" p14:dur="2000" advTm="117752"/>
    </mc:Choice>
    <mc:Fallback xmlns="">
      <p:transition spd="slow" advTm="117752"/>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20289"/>
          </a:xfrm>
          <a:prstGeom prst="rect">
            <a:avLst/>
          </a:prstGeom>
        </p:spPr>
        <p:txBody>
          <a:bodyPr wrap="square" lIns="0" tIns="0" rIns="0" bIns="0" rtlCol="0" anchor="t">
            <a:spAutoFit/>
          </a:bodyPr>
          <a:lstStyle/>
          <a:p>
            <a:pPr>
              <a:lnSpc>
                <a:spcPts val="6719"/>
              </a:lnSpc>
            </a:pPr>
            <a:r>
              <a:rPr lang="en-US" sz="4400" b="1" dirty="0">
                <a:solidFill>
                  <a:srgbClr val="46245A"/>
                </a:solidFill>
                <a:latin typeface="DM Sans" pitchFamily="2" charset="0"/>
              </a:rPr>
              <a:t>Emission Pathways with &lt;2</a:t>
            </a:r>
            <a:r>
              <a:rPr lang="en-US" sz="4400" b="1" baseline="30000" dirty="0">
                <a:solidFill>
                  <a:srgbClr val="46245A"/>
                </a:solidFill>
                <a:latin typeface="DM Sans" pitchFamily="2" charset="0"/>
              </a:rPr>
              <a:t>o</a:t>
            </a:r>
            <a:r>
              <a:rPr lang="en-US" sz="4400" b="1" dirty="0">
                <a:solidFill>
                  <a:srgbClr val="46245A"/>
                </a:solidFill>
                <a:latin typeface="DM Sans" pitchFamily="2" charset="0"/>
              </a:rPr>
              <a:t>C warming in 2100</a:t>
            </a:r>
            <a:endParaRPr lang="en-US" sz="4400" dirty="0">
              <a:solidFill>
                <a:srgbClr val="46245A"/>
              </a:solidFill>
              <a:latin typeface="DM Sans" pitchFamily="2" charset="0"/>
            </a:endParaRPr>
          </a:p>
        </p:txBody>
      </p:sp>
      <p:pic>
        <p:nvPicPr>
          <p:cNvPr id="4" name="Picture 3">
            <a:extLst>
              <a:ext uri="{FF2B5EF4-FFF2-40B4-BE49-F238E27FC236}">
                <a16:creationId xmlns:a16="http://schemas.microsoft.com/office/drawing/2014/main" id="{56D7E5C5-260A-318B-4F25-F6D2CFC593B0}"/>
              </a:ext>
            </a:extLst>
          </p:cNvPr>
          <p:cNvPicPr>
            <a:picLocks noChangeAspect="1"/>
          </p:cNvPicPr>
          <p:nvPr/>
        </p:nvPicPr>
        <p:blipFill>
          <a:blip r:embed="rId5">
            <a:extLst>
              <a:ext uri="{28A0092B-C50C-407E-A947-70E740481C1C}">
                <a14:useLocalDpi xmlns:a14="http://schemas.microsoft.com/office/drawing/2010/main" val="0"/>
              </a:ext>
            </a:extLst>
          </a:blip>
          <a:srcRect l="-730" t="1887" r="1392" b="3866"/>
          <a:stretch>
            <a:fillRect/>
          </a:stretch>
        </p:blipFill>
        <p:spPr>
          <a:xfrm>
            <a:off x="5808593" y="2816845"/>
            <a:ext cx="10364858" cy="6555755"/>
          </a:xfrm>
          <a:prstGeom prst="rect">
            <a:avLst/>
          </a:prstGeom>
        </p:spPr>
      </p:pic>
      <p:sp>
        <p:nvSpPr>
          <p:cNvPr id="3" name="TextBox 2">
            <a:extLst>
              <a:ext uri="{FF2B5EF4-FFF2-40B4-BE49-F238E27FC236}">
                <a16:creationId xmlns:a16="http://schemas.microsoft.com/office/drawing/2014/main" id="{6EDBDDA6-4149-27BE-1DE8-67AFCCC35FA2}"/>
              </a:ext>
            </a:extLst>
          </p:cNvPr>
          <p:cNvSpPr txBox="1"/>
          <p:nvPr/>
        </p:nvSpPr>
        <p:spPr>
          <a:xfrm>
            <a:off x="7911693" y="6827277"/>
            <a:ext cx="5395855" cy="1569660"/>
          </a:xfrm>
          <a:prstGeom prst="rect">
            <a:avLst/>
          </a:prstGeom>
          <a:noFill/>
        </p:spPr>
        <p:txBody>
          <a:bodyPr wrap="square" rtlCol="0">
            <a:spAutoFit/>
          </a:bodyPr>
          <a:lstStyle/>
          <a:p>
            <a:r>
              <a:rPr lang="en-US" sz="2400" dirty="0">
                <a:latin typeface="Aptos" panose="020B0004020202020204" pitchFamily="34" charset="0"/>
              </a:rPr>
              <a:t>This plot shows all the model simulations from the AR5 report, that are below 2 degrees warming, and the pathway that was used to get there</a:t>
            </a:r>
          </a:p>
        </p:txBody>
      </p:sp>
      <p:pic>
        <p:nvPicPr>
          <p:cNvPr id="7" name="Picture 6">
            <a:extLst>
              <a:ext uri="{FF2B5EF4-FFF2-40B4-BE49-F238E27FC236}">
                <a16:creationId xmlns:a16="http://schemas.microsoft.com/office/drawing/2014/main" id="{41188311-9C18-C01D-2C7B-7EEDDE64376C}"/>
              </a:ext>
            </a:extLst>
          </p:cNvPr>
          <p:cNvPicPr>
            <a:picLocks noChangeAspect="1"/>
          </p:cNvPicPr>
          <p:nvPr/>
        </p:nvPicPr>
        <p:blipFill>
          <a:blip r:embed="rId6">
            <a:extLst>
              <a:ext uri="{28A0092B-C50C-407E-A947-70E740481C1C}">
                <a14:useLocalDpi xmlns:a14="http://schemas.microsoft.com/office/drawing/2010/main" val="0"/>
              </a:ext>
            </a:extLst>
          </a:blip>
          <a:srcRect l="10441" t="4975" r="8593" b="1494"/>
          <a:stretch>
            <a:fillRect/>
          </a:stretch>
        </p:blipFill>
        <p:spPr>
          <a:xfrm>
            <a:off x="1249450" y="2453855"/>
            <a:ext cx="4392803" cy="6843941"/>
          </a:xfrm>
          <a:prstGeom prst="rect">
            <a:avLst/>
          </a:prstGeom>
        </p:spPr>
      </p:pic>
      <p:sp>
        <p:nvSpPr>
          <p:cNvPr id="8" name="Rectangle 7">
            <a:extLst>
              <a:ext uri="{FF2B5EF4-FFF2-40B4-BE49-F238E27FC236}">
                <a16:creationId xmlns:a16="http://schemas.microsoft.com/office/drawing/2014/main" id="{F79C8926-CD6C-1A4B-12CF-60303C2CBA03}"/>
              </a:ext>
            </a:extLst>
          </p:cNvPr>
          <p:cNvSpPr/>
          <p:nvPr/>
        </p:nvSpPr>
        <p:spPr>
          <a:xfrm>
            <a:off x="7624683" y="5984475"/>
            <a:ext cx="8049718" cy="45719"/>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8846960"/>
      </p:ext>
    </p:extLst>
  </p:cSld>
  <p:clrMapOvr>
    <a:masterClrMapping/>
  </p:clrMapOvr>
  <mc:AlternateContent xmlns:mc="http://schemas.openxmlformats.org/markup-compatibility/2006" xmlns:p14="http://schemas.microsoft.com/office/powerpoint/2010/main">
    <mc:Choice Requires="p14">
      <p:transition spd="slow" p14:dur="2000" advTm="75453"/>
    </mc:Choice>
    <mc:Fallback xmlns="">
      <p:transition spd="slow" advTm="7545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20289"/>
          </a:xfrm>
          <a:prstGeom prst="rect">
            <a:avLst/>
          </a:prstGeom>
        </p:spPr>
        <p:txBody>
          <a:bodyPr wrap="square" lIns="0" tIns="0" rIns="0" bIns="0" rtlCol="0" anchor="t">
            <a:spAutoFit/>
          </a:bodyPr>
          <a:lstStyle/>
          <a:p>
            <a:pPr>
              <a:lnSpc>
                <a:spcPts val="6719"/>
              </a:lnSpc>
            </a:pPr>
            <a:r>
              <a:rPr lang="en-US" sz="4400" b="1" dirty="0">
                <a:solidFill>
                  <a:srgbClr val="46245A"/>
                </a:solidFill>
                <a:latin typeface="DM Sans" pitchFamily="2" charset="0"/>
              </a:rPr>
              <a:t>Emission Pathways and Peak Emissions</a:t>
            </a:r>
            <a:endParaRPr lang="en-US" sz="4400" dirty="0">
              <a:solidFill>
                <a:srgbClr val="46245A"/>
              </a:solidFill>
              <a:latin typeface="DM Sans" pitchFamily="2" charset="0"/>
            </a:endParaRPr>
          </a:p>
        </p:txBody>
      </p:sp>
      <p:pic>
        <p:nvPicPr>
          <p:cNvPr id="3" name="Picture 6" descr="https://www.carbonbrief.org/wp-content/uploads/2017/06/Figueres-final-3.jpg">
            <a:extLst>
              <a:ext uri="{FF2B5EF4-FFF2-40B4-BE49-F238E27FC236}">
                <a16:creationId xmlns:a16="http://schemas.microsoft.com/office/drawing/2014/main" id="{D1FB78E1-C597-BE95-3A51-311A9C3A8A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2602142"/>
            <a:ext cx="11536914" cy="699164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6374A68-D82F-DD0D-F7E8-2E40DE713F90}"/>
              </a:ext>
            </a:extLst>
          </p:cNvPr>
          <p:cNvSpPr txBox="1"/>
          <p:nvPr/>
        </p:nvSpPr>
        <p:spPr>
          <a:xfrm>
            <a:off x="5495403" y="9871502"/>
            <a:ext cx="14939141" cy="415498"/>
          </a:xfrm>
          <a:prstGeom prst="rect">
            <a:avLst/>
          </a:prstGeom>
          <a:noFill/>
        </p:spPr>
        <p:txBody>
          <a:bodyPr wrap="square">
            <a:spAutoFit/>
          </a:bodyPr>
          <a:lstStyle/>
          <a:p>
            <a:r>
              <a:rPr lang="en-GB" sz="2100" dirty="0"/>
              <a:t>https://www.carbonbrief.org/mission-2020-new-global-strategy-rapidly-reduce-carbon-emissions</a:t>
            </a:r>
          </a:p>
        </p:txBody>
      </p:sp>
      <p:pic>
        <p:nvPicPr>
          <p:cNvPr id="4" name="Picture 3" descr="Chart&#10;&#10;Description automatically generated">
            <a:extLst>
              <a:ext uri="{FF2B5EF4-FFF2-40B4-BE49-F238E27FC236}">
                <a16:creationId xmlns:a16="http://schemas.microsoft.com/office/drawing/2014/main" id="{4100E447-3FA6-E2B9-041A-DBB7F00CEE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964973" y="2602142"/>
            <a:ext cx="4977970" cy="3979130"/>
          </a:xfrm>
          <a:prstGeom prst="rect">
            <a:avLst/>
          </a:prstGeom>
        </p:spPr>
      </p:pic>
    </p:spTree>
    <p:extLst>
      <p:ext uri="{BB962C8B-B14F-4D97-AF65-F5344CB8AC3E}">
        <p14:creationId xmlns:p14="http://schemas.microsoft.com/office/powerpoint/2010/main" val="933914106"/>
      </p:ext>
    </p:extLst>
  </p:cSld>
  <p:clrMapOvr>
    <a:masterClrMapping/>
  </p:clrMapOvr>
  <mc:AlternateContent xmlns:mc="http://schemas.openxmlformats.org/markup-compatibility/2006" xmlns:p14="http://schemas.microsoft.com/office/powerpoint/2010/main">
    <mc:Choice Requires="p14">
      <p:transition spd="slow" p14:dur="2000" advTm="36809"/>
    </mc:Choice>
    <mc:Fallback xmlns="">
      <p:transition spd="slow" advTm="36809"/>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13">
            <a:extLst>
              <a:ext uri="{FF2B5EF4-FFF2-40B4-BE49-F238E27FC236}">
                <a16:creationId xmlns:a16="http://schemas.microsoft.com/office/drawing/2014/main" id="{C71D23AC-250F-72D7-91B9-B8EB7374550C}"/>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pic>
        <p:nvPicPr>
          <p:cNvPr id="2" name="Picture 1" descr="Chart&#10;&#10;Description automatically generated">
            <a:extLst>
              <a:ext uri="{FF2B5EF4-FFF2-40B4-BE49-F238E27FC236}">
                <a16:creationId xmlns:a16="http://schemas.microsoft.com/office/drawing/2014/main" id="{CFF0571B-9DE5-0A08-776C-A1F96FA3B20E}"/>
              </a:ext>
            </a:extLst>
          </p:cNvPr>
          <p:cNvPicPr>
            <a:picLocks noChangeAspect="1"/>
          </p:cNvPicPr>
          <p:nvPr/>
        </p:nvPicPr>
        <p:blipFill>
          <a:blip r:embed="rId4">
            <a:extLst>
              <a:ext uri="{28A0092B-C50C-407E-A947-70E740481C1C}">
                <a14:useLocalDpi xmlns:a14="http://schemas.microsoft.com/office/drawing/2010/main" val="0"/>
              </a:ext>
            </a:extLst>
          </a:blip>
          <a:srcRect t="13590" b="5781"/>
          <a:stretch/>
        </p:blipFill>
        <p:spPr>
          <a:xfrm>
            <a:off x="803654" y="2181829"/>
            <a:ext cx="13273293" cy="7380375"/>
          </a:xfrm>
          <a:prstGeom prst="rect">
            <a:avLst/>
          </a:prstGeom>
        </p:spPr>
      </p:pic>
      <p:sp>
        <p:nvSpPr>
          <p:cNvPr id="3" name="TextBox 14">
            <a:extLst>
              <a:ext uri="{FF2B5EF4-FFF2-40B4-BE49-F238E27FC236}">
                <a16:creationId xmlns:a16="http://schemas.microsoft.com/office/drawing/2014/main" id="{AC1C61E3-A769-59D6-A4BD-C06985D94A6F}"/>
              </a:ext>
            </a:extLst>
          </p:cNvPr>
          <p:cNvSpPr txBox="1"/>
          <p:nvPr/>
        </p:nvSpPr>
        <p:spPr>
          <a:xfrm>
            <a:off x="817428" y="1328408"/>
            <a:ext cx="15746987" cy="839525"/>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4800" b="1" i="1" u="none" strike="noStrike" kern="1200" cap="none" spc="-413" normalizeH="0" baseline="0" noProof="0" dirty="0">
                <a:ln>
                  <a:noFill/>
                </a:ln>
                <a:solidFill>
                  <a:srgbClr val="46245A"/>
                </a:solidFill>
                <a:effectLst/>
                <a:uLnTx/>
                <a:uFillTx/>
                <a:latin typeface="DM Sans Bold"/>
                <a:ea typeface="MS PGothic" panose="020B0600070205080204" pitchFamily="34" charset="-128"/>
                <a:cs typeface="+mn-cs"/>
              </a:rPr>
              <a:t>Future projections </a:t>
            </a:r>
          </a:p>
        </p:txBody>
      </p:sp>
    </p:spTree>
    <p:extLst>
      <p:ext uri="{BB962C8B-B14F-4D97-AF65-F5344CB8AC3E}">
        <p14:creationId xmlns:p14="http://schemas.microsoft.com/office/powerpoint/2010/main" val="14157269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72623" y="1090705"/>
            <a:ext cx="13847674" cy="820289"/>
          </a:xfrm>
          <a:prstGeom prst="rect">
            <a:avLst/>
          </a:prstGeom>
        </p:spPr>
        <p:txBody>
          <a:bodyPr wrap="square" lIns="0" tIns="0" rIns="0" bIns="0" rtlCol="0" anchor="t">
            <a:spAutoFit/>
          </a:bodyPr>
          <a:lstStyle/>
          <a:p>
            <a:pPr>
              <a:lnSpc>
                <a:spcPts val="6719"/>
              </a:lnSpc>
            </a:pPr>
            <a:r>
              <a:rPr lang="en-US" sz="4400" b="1" dirty="0">
                <a:solidFill>
                  <a:srgbClr val="46245A"/>
                </a:solidFill>
                <a:latin typeface="DM Sans" pitchFamily="2" charset="0"/>
              </a:rPr>
              <a:t>How do we reduce emissions?</a:t>
            </a:r>
            <a:endParaRPr lang="en-US" sz="4400" dirty="0">
              <a:solidFill>
                <a:srgbClr val="46245A"/>
              </a:solidFill>
              <a:latin typeface="DM Sans" pitchFamily="2" charset="0"/>
            </a:endParaRPr>
          </a:p>
        </p:txBody>
      </p:sp>
      <p:sp>
        <p:nvSpPr>
          <p:cNvPr id="4" name="Rectangle 2">
            <a:extLst>
              <a:ext uri="{FF2B5EF4-FFF2-40B4-BE49-F238E27FC236}">
                <a16:creationId xmlns:a16="http://schemas.microsoft.com/office/drawing/2014/main" id="{C7A7FD86-AF1F-30A9-3A7C-682F8710EF04}"/>
              </a:ext>
            </a:extLst>
          </p:cNvPr>
          <p:cNvSpPr txBox="1">
            <a:spLocks noChangeArrowheads="1"/>
          </p:cNvSpPr>
          <p:nvPr/>
        </p:nvSpPr>
        <p:spPr>
          <a:xfrm>
            <a:off x="1172623" y="2443718"/>
            <a:ext cx="13000577" cy="7275164"/>
          </a:xfrm>
          <a:prstGeom prst="rect">
            <a:avLst/>
          </a:prstGeom>
        </p:spPr>
        <p:txBody>
          <a:bodyPr>
            <a:normAutofit fontScale="62500" lnSpcReduction="20000"/>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defTabSz="1175598"/>
            <a:r>
              <a:rPr lang="en-GB" sz="4500" b="1" dirty="0">
                <a:latin typeface="Calibri" panose="020F0502020204030204" pitchFamily="34" charset="0"/>
                <a:cs typeface="Calibri" panose="020F0502020204030204" pitchFamily="34" charset="0"/>
              </a:rPr>
              <a:t>Reduce demand for energy</a:t>
            </a:r>
          </a:p>
          <a:p>
            <a:pPr lvl="1" defTabSz="1175598"/>
            <a:r>
              <a:rPr lang="en-GB" sz="3800" dirty="0">
                <a:latin typeface="Calibri" panose="020F0502020204030204" pitchFamily="34" charset="0"/>
                <a:cs typeface="Calibri" panose="020F0502020204030204" pitchFamily="34" charset="0"/>
              </a:rPr>
              <a:t>Less consumption</a:t>
            </a:r>
          </a:p>
          <a:p>
            <a:pPr lvl="1" defTabSz="1175598"/>
            <a:r>
              <a:rPr lang="en-GB" sz="3800" dirty="0">
                <a:latin typeface="Calibri" panose="020F0502020204030204" pitchFamily="34" charset="0"/>
                <a:cs typeface="Calibri" panose="020F0502020204030204" pitchFamily="34" charset="0"/>
              </a:rPr>
              <a:t>Less travel</a:t>
            </a:r>
          </a:p>
          <a:p>
            <a:pPr lvl="1" defTabSz="1175598"/>
            <a:r>
              <a:rPr lang="en-GB" sz="3800" dirty="0">
                <a:latin typeface="Calibri" panose="020F0502020204030204" pitchFamily="34" charset="0"/>
                <a:cs typeface="Calibri" panose="020F0502020204030204" pitchFamily="34" charset="0"/>
              </a:rPr>
              <a:t>Behavioural change in buildings</a:t>
            </a:r>
          </a:p>
          <a:p>
            <a:pPr lvl="1" defTabSz="1175598"/>
            <a:r>
              <a:rPr lang="en-GB" sz="3800" dirty="0">
                <a:latin typeface="Calibri" panose="020F0502020204030204" pitchFamily="34" charset="0"/>
                <a:cs typeface="Calibri" panose="020F0502020204030204" pitchFamily="34" charset="0"/>
              </a:rPr>
              <a:t>Reduce food waste or eat less meat</a:t>
            </a:r>
          </a:p>
          <a:p>
            <a:pPr marL="0" indent="0" defTabSz="1175598">
              <a:buNone/>
            </a:pPr>
            <a:endParaRPr lang="en-GB" sz="4500" dirty="0">
              <a:latin typeface="Calibri" panose="020F0502020204030204" pitchFamily="34" charset="0"/>
              <a:cs typeface="Calibri" panose="020F0502020204030204" pitchFamily="34" charset="0"/>
            </a:endParaRPr>
          </a:p>
          <a:p>
            <a:pPr defTabSz="1175598"/>
            <a:r>
              <a:rPr lang="en-GB" sz="4500" b="1" dirty="0">
                <a:latin typeface="Calibri" panose="020F0502020204030204" pitchFamily="34" charset="0"/>
                <a:cs typeface="Calibri" panose="020F0502020204030204" pitchFamily="34" charset="0"/>
              </a:rPr>
              <a:t>Reduce carbon emissions associated with existing demand</a:t>
            </a:r>
          </a:p>
          <a:p>
            <a:pPr lvl="1" defTabSz="1175598"/>
            <a:r>
              <a:rPr lang="en-GB" sz="3800" dirty="0">
                <a:latin typeface="Calibri" panose="020F0502020204030204" pitchFamily="34" charset="0"/>
                <a:cs typeface="Calibri" panose="020F0502020204030204" pitchFamily="34" charset="0"/>
              </a:rPr>
              <a:t>Low/zero-carbon energy and fuels</a:t>
            </a:r>
          </a:p>
          <a:p>
            <a:pPr lvl="1" defTabSz="1175598"/>
            <a:r>
              <a:rPr lang="en-GB" sz="3800" dirty="0">
                <a:latin typeface="Calibri" panose="020F0502020204030204" pitchFamily="34" charset="0"/>
                <a:cs typeface="Calibri" panose="020F0502020204030204" pitchFamily="34" charset="0"/>
              </a:rPr>
              <a:t>Efficiency improvements </a:t>
            </a:r>
            <a:r>
              <a:rPr lang="en-GB" sz="3200" dirty="0">
                <a:latin typeface="Calibri" panose="020F0502020204030204" pitchFamily="34" charset="0"/>
                <a:cs typeface="Calibri" panose="020F0502020204030204" pitchFamily="34" charset="0"/>
              </a:rPr>
              <a:t>(less energy, less use of materials, more use of products)</a:t>
            </a:r>
          </a:p>
          <a:p>
            <a:pPr lvl="1" defTabSz="1175598"/>
            <a:r>
              <a:rPr lang="en-GB" sz="3800" dirty="0">
                <a:latin typeface="Calibri" panose="020F0502020204030204" pitchFamily="34" charset="0"/>
                <a:cs typeface="Calibri" panose="020F0502020204030204" pitchFamily="34" charset="0"/>
              </a:rPr>
              <a:t>Insulation</a:t>
            </a:r>
          </a:p>
          <a:p>
            <a:pPr lvl="1" defTabSz="1175598"/>
            <a:r>
              <a:rPr lang="en-GB" sz="3800" dirty="0">
                <a:latin typeface="Calibri" panose="020F0502020204030204" pitchFamily="34" charset="0"/>
                <a:cs typeface="Calibri" panose="020F0502020204030204" pitchFamily="34" charset="0"/>
              </a:rPr>
              <a:t>Food additives or more productive breeds in livestock</a:t>
            </a:r>
          </a:p>
          <a:p>
            <a:pPr defTabSz="1175598"/>
            <a:endParaRPr lang="en-GB" sz="4500" dirty="0">
              <a:latin typeface="Calibri" panose="020F0502020204030204" pitchFamily="34" charset="0"/>
              <a:cs typeface="Calibri" panose="020F0502020204030204" pitchFamily="34" charset="0"/>
            </a:endParaRPr>
          </a:p>
          <a:p>
            <a:pPr defTabSz="1175598"/>
            <a:r>
              <a:rPr lang="en-GB" sz="4500" b="1" dirty="0">
                <a:latin typeface="Calibri" panose="020F0502020204030204" pitchFamily="34" charset="0"/>
                <a:cs typeface="Calibri" panose="020F0502020204030204" pitchFamily="34" charset="0"/>
              </a:rPr>
              <a:t>Negative emission technologies</a:t>
            </a:r>
          </a:p>
          <a:p>
            <a:pPr lvl="1" defTabSz="1175598"/>
            <a:r>
              <a:rPr lang="en-GB" sz="3800" dirty="0">
                <a:latin typeface="Calibri" panose="020F0502020204030204" pitchFamily="34" charset="0"/>
                <a:cs typeface="Calibri" panose="020F0502020204030204" pitchFamily="34" charset="0"/>
              </a:rPr>
              <a:t>Increased land uptake of carbon</a:t>
            </a:r>
          </a:p>
          <a:p>
            <a:pPr lvl="1" defTabSz="1175598"/>
            <a:r>
              <a:rPr lang="en-GB" sz="3800" dirty="0">
                <a:latin typeface="Calibri" panose="020F0502020204030204" pitchFamily="34" charset="0"/>
                <a:cs typeface="Calibri" panose="020F0502020204030204" pitchFamily="34" charset="0"/>
              </a:rPr>
              <a:t>Bioenergy with CCS</a:t>
            </a:r>
          </a:p>
          <a:p>
            <a:pPr lvl="1" defTabSz="1175598"/>
            <a:r>
              <a:rPr lang="en-GB" sz="3800" dirty="0">
                <a:latin typeface="Calibri" panose="020F0502020204030204" pitchFamily="34" charset="0"/>
                <a:cs typeface="Calibri" panose="020F0502020204030204" pitchFamily="34" charset="0"/>
              </a:rPr>
              <a:t>Increased ocean uptake of carbon</a:t>
            </a:r>
          </a:p>
          <a:p>
            <a:pPr lvl="1" defTabSz="1175598"/>
            <a:r>
              <a:rPr lang="en-GB" sz="3800" dirty="0">
                <a:latin typeface="Calibri" panose="020F0502020204030204" pitchFamily="34" charset="0"/>
                <a:cs typeface="Calibri" panose="020F0502020204030204" pitchFamily="34" charset="0"/>
              </a:rPr>
              <a:t>Direct air capture and storage</a:t>
            </a:r>
          </a:p>
          <a:p>
            <a:pPr lvl="1" defTabSz="1175598"/>
            <a:r>
              <a:rPr lang="en-GB" sz="3800" dirty="0">
                <a:latin typeface="Calibri" panose="020F0502020204030204" pitchFamily="34" charset="0"/>
                <a:cs typeface="Calibri" panose="020F0502020204030204" pitchFamily="34" charset="0"/>
              </a:rPr>
              <a:t>Storing carbon in the built environment</a:t>
            </a:r>
          </a:p>
          <a:p>
            <a:pPr marL="0" indent="0" defTabSz="1175598">
              <a:buNone/>
            </a:pPr>
            <a:endParaRPr lang="en-GB" sz="3900" dirty="0"/>
          </a:p>
        </p:txBody>
      </p:sp>
      <p:pic>
        <p:nvPicPr>
          <p:cNvPr id="5" name="Picture 4">
            <a:extLst>
              <a:ext uri="{FF2B5EF4-FFF2-40B4-BE49-F238E27FC236}">
                <a16:creationId xmlns:a16="http://schemas.microsoft.com/office/drawing/2014/main" id="{E5EA8349-7FBD-A0A0-5572-4237C3D479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49810" y="2865855"/>
            <a:ext cx="7772400" cy="5178361"/>
          </a:xfrm>
          <a:prstGeom prst="rect">
            <a:avLst/>
          </a:prstGeom>
        </p:spPr>
      </p:pic>
    </p:spTree>
    <p:extLst>
      <p:ext uri="{BB962C8B-B14F-4D97-AF65-F5344CB8AC3E}">
        <p14:creationId xmlns:p14="http://schemas.microsoft.com/office/powerpoint/2010/main" val="2555523018"/>
      </p:ext>
    </p:extLst>
  </p:cSld>
  <p:clrMapOvr>
    <a:masterClrMapping/>
  </p:clrMapOvr>
  <mc:AlternateContent xmlns:mc="http://schemas.openxmlformats.org/markup-compatibility/2006" xmlns:p14="http://schemas.microsoft.com/office/powerpoint/2010/main">
    <mc:Choice Requires="p14">
      <p:transition spd="slow" p14:dur="2000" advTm="21043"/>
    </mc:Choice>
    <mc:Fallback xmlns="">
      <p:transition spd="slow" advTm="2104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3" end="1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6" end="1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D8B84A0-8579-A30E-DD75-A51F4C7F318C}"/>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2757A643-5EB6-ED25-AE8E-4B3B4DFC95D3}"/>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492ADA7-7FAA-FF11-E823-4D983A8AE178}"/>
              </a:ext>
            </a:extLst>
          </p:cNvPr>
          <p:cNvSpPr txBox="1"/>
          <p:nvPr/>
        </p:nvSpPr>
        <p:spPr>
          <a:xfrm>
            <a:off x="1143000" y="1633566"/>
            <a:ext cx="13847674" cy="820289"/>
          </a:xfrm>
          <a:prstGeom prst="rect">
            <a:avLst/>
          </a:prstGeom>
        </p:spPr>
        <p:txBody>
          <a:bodyPr wrap="square" lIns="0" tIns="0" rIns="0" bIns="0" rtlCol="0" anchor="t">
            <a:spAutoFit/>
          </a:bodyPr>
          <a:lstStyle/>
          <a:p>
            <a:pPr>
              <a:lnSpc>
                <a:spcPts val="6719"/>
              </a:lnSpc>
            </a:pPr>
            <a:r>
              <a:rPr lang="en-US" sz="4400" b="1" dirty="0">
                <a:solidFill>
                  <a:srgbClr val="46245A"/>
                </a:solidFill>
                <a:latin typeface="DM Sans" pitchFamily="2" charset="0"/>
              </a:rPr>
              <a:t>Global GHG emissions by sector </a:t>
            </a:r>
            <a:endParaRPr lang="en-US" sz="4400" dirty="0">
              <a:solidFill>
                <a:srgbClr val="46245A"/>
              </a:solidFill>
              <a:latin typeface="DM Sans" pitchFamily="2" charset="0"/>
            </a:endParaRPr>
          </a:p>
        </p:txBody>
      </p:sp>
      <p:pic>
        <p:nvPicPr>
          <p:cNvPr id="3" name="Picture 4" descr="https://www.ipcc.ch/site/assets/uploads/2018/02/02_figure_SPM_2-1024x638.png">
            <a:extLst>
              <a:ext uri="{FF2B5EF4-FFF2-40B4-BE49-F238E27FC236}">
                <a16:creationId xmlns:a16="http://schemas.microsoft.com/office/drawing/2014/main" id="{33901069-EBDE-8BB2-6E81-317C5573497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a:stretch/>
        </p:blipFill>
        <p:spPr bwMode="auto">
          <a:xfrm>
            <a:off x="1143001" y="2453856"/>
            <a:ext cx="8668858" cy="715797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F126F3E-958E-518C-6CF1-ED1763898956}"/>
              </a:ext>
            </a:extLst>
          </p:cNvPr>
          <p:cNvSpPr txBox="1"/>
          <p:nvPr/>
        </p:nvSpPr>
        <p:spPr>
          <a:xfrm>
            <a:off x="13519785" y="9695408"/>
            <a:ext cx="4576894" cy="461665"/>
          </a:xfrm>
          <a:prstGeom prst="rect">
            <a:avLst/>
          </a:prstGeom>
          <a:solidFill>
            <a:schemeClr val="bg1"/>
          </a:solidFill>
        </p:spPr>
        <p:txBody>
          <a:bodyPr wrap="none" rtlCol="0">
            <a:spAutoFit/>
          </a:bodyPr>
          <a:lstStyle/>
          <a:p>
            <a:r>
              <a:rPr lang="en-GB" sz="2400" dirty="0"/>
              <a:t>Figure 1.7, AR5 synthesis report</a:t>
            </a:r>
          </a:p>
        </p:txBody>
      </p:sp>
      <p:sp>
        <p:nvSpPr>
          <p:cNvPr id="4" name="TextBox 3">
            <a:extLst>
              <a:ext uri="{FF2B5EF4-FFF2-40B4-BE49-F238E27FC236}">
                <a16:creationId xmlns:a16="http://schemas.microsoft.com/office/drawing/2014/main" id="{71594A98-2AB6-97AB-6B70-D65542768EDB}"/>
              </a:ext>
            </a:extLst>
          </p:cNvPr>
          <p:cNvSpPr txBox="1"/>
          <p:nvPr/>
        </p:nvSpPr>
        <p:spPr>
          <a:xfrm>
            <a:off x="10077673" y="4464373"/>
            <a:ext cx="7764905" cy="2677656"/>
          </a:xfrm>
          <a:prstGeom prst="rect">
            <a:avLst/>
          </a:prstGeom>
          <a:noFill/>
        </p:spPr>
        <p:txBody>
          <a:bodyPr wrap="square" rtlCol="0">
            <a:spAutoFit/>
          </a:bodyPr>
          <a:lstStyle/>
          <a:p>
            <a:r>
              <a:rPr lang="en-US" sz="2400" dirty="0">
                <a:latin typeface="Calibri" panose="020F0502020204030204" pitchFamily="34" charset="0"/>
                <a:cs typeface="Calibri" panose="020F0502020204030204" pitchFamily="34" charset="0"/>
              </a:rPr>
              <a:t>In order to better understand where we need to place our efforts, we need to know where the emissions are coming from</a:t>
            </a:r>
          </a:p>
          <a:p>
            <a:endParaRPr lang="en-US" sz="2400" dirty="0">
              <a:latin typeface="Calibri" panose="020F0502020204030204" pitchFamily="34" charset="0"/>
              <a:cs typeface="Calibri" panose="020F0502020204030204" pitchFamily="34" charset="0"/>
            </a:endParaRPr>
          </a:p>
          <a:p>
            <a:pPr>
              <a:buNone/>
            </a:pPr>
            <a:r>
              <a:rPr lang="en-GB" sz="2400" dirty="0">
                <a:effectLst/>
                <a:latin typeface="Calibri" panose="020F0502020204030204" pitchFamily="34" charset="0"/>
                <a:cs typeface="Calibri" panose="020F0502020204030204" pitchFamily="34" charset="0"/>
              </a:rPr>
              <a:t>All global modelled pathways that limit warming to 2°C, involve rapid and deep and in most cases immediate GHG emission reductions in all sectors. </a:t>
            </a:r>
          </a:p>
        </p:txBody>
      </p:sp>
    </p:spTree>
    <p:extLst>
      <p:ext uri="{BB962C8B-B14F-4D97-AF65-F5344CB8AC3E}">
        <p14:creationId xmlns:p14="http://schemas.microsoft.com/office/powerpoint/2010/main" val="3736085173"/>
      </p:ext>
    </p:extLst>
  </p:cSld>
  <p:clrMapOvr>
    <a:masterClrMapping/>
  </p:clrMapOvr>
  <mc:AlternateContent xmlns:mc="http://schemas.openxmlformats.org/markup-compatibility/2006" xmlns:p14="http://schemas.microsoft.com/office/powerpoint/2010/main">
    <mc:Choice Requires="p14">
      <p:transition spd="slow" p14:dur="2000" advTm="55934"/>
    </mc:Choice>
    <mc:Fallback xmlns="">
      <p:transition spd="slow" advTm="5593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DE24C97-423B-7A3C-DBC7-0F801527D13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D6A6C864-AC8C-A5BF-D7EC-0B59C523BCA7}"/>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51913FD2-9D2C-3DC1-F248-04F76C60720B}"/>
              </a:ext>
            </a:extLst>
          </p:cNvPr>
          <p:cNvSpPr txBox="1"/>
          <p:nvPr/>
        </p:nvSpPr>
        <p:spPr>
          <a:xfrm>
            <a:off x="1143000" y="1633566"/>
            <a:ext cx="13847674" cy="820289"/>
          </a:xfrm>
          <a:prstGeom prst="rect">
            <a:avLst/>
          </a:prstGeom>
        </p:spPr>
        <p:txBody>
          <a:bodyPr wrap="square" lIns="0" tIns="0" rIns="0" bIns="0" rtlCol="0" anchor="t">
            <a:spAutoFit/>
          </a:bodyPr>
          <a:lstStyle/>
          <a:p>
            <a:pPr>
              <a:lnSpc>
                <a:spcPts val="6719"/>
              </a:lnSpc>
            </a:pPr>
            <a:r>
              <a:rPr lang="en-US" sz="4400" b="1" dirty="0">
                <a:solidFill>
                  <a:srgbClr val="46245A"/>
                </a:solidFill>
                <a:latin typeface="DM Sans" pitchFamily="2" charset="0"/>
              </a:rPr>
              <a:t>Global GHG emissions by sector - Energy </a:t>
            </a:r>
            <a:endParaRPr lang="en-US" sz="4400" dirty="0">
              <a:solidFill>
                <a:srgbClr val="46245A"/>
              </a:solidFill>
              <a:latin typeface="DM Sans" pitchFamily="2" charset="0"/>
            </a:endParaRPr>
          </a:p>
        </p:txBody>
      </p:sp>
      <p:sp>
        <p:nvSpPr>
          <p:cNvPr id="5" name="TextBox 4">
            <a:extLst>
              <a:ext uri="{FF2B5EF4-FFF2-40B4-BE49-F238E27FC236}">
                <a16:creationId xmlns:a16="http://schemas.microsoft.com/office/drawing/2014/main" id="{6CCF5F88-60B0-7CCC-E9F8-8C6529C930A4}"/>
              </a:ext>
            </a:extLst>
          </p:cNvPr>
          <p:cNvSpPr txBox="1"/>
          <p:nvPr/>
        </p:nvSpPr>
        <p:spPr>
          <a:xfrm>
            <a:off x="12413656" y="9611834"/>
            <a:ext cx="5671745" cy="553998"/>
          </a:xfrm>
          <a:prstGeom prst="rect">
            <a:avLst/>
          </a:prstGeom>
          <a:solidFill>
            <a:schemeClr val="bg1"/>
          </a:solidFill>
        </p:spPr>
        <p:txBody>
          <a:bodyPr wrap="none" rtlCol="0">
            <a:spAutoFit/>
          </a:bodyPr>
          <a:lstStyle/>
          <a:p>
            <a:r>
              <a:rPr lang="en-GB" sz="3000" dirty="0"/>
              <a:t>Figure 1.7, AR5 synthesis report</a:t>
            </a:r>
          </a:p>
        </p:txBody>
      </p:sp>
      <p:pic>
        <p:nvPicPr>
          <p:cNvPr id="6" name="Content Placeholder 8" descr="Graphical user interface, chart, line chart&#10;&#10;Description automatically generated">
            <a:extLst>
              <a:ext uri="{FF2B5EF4-FFF2-40B4-BE49-F238E27FC236}">
                <a16:creationId xmlns:a16="http://schemas.microsoft.com/office/drawing/2014/main" id="{770932C8-3359-A8F7-0604-49E3ECD6AD0F}"/>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617742" y="3160456"/>
            <a:ext cx="16995770" cy="5201916"/>
          </a:xfrm>
          <a:prstGeom prst="rect">
            <a:avLst/>
          </a:prstGeom>
        </p:spPr>
      </p:pic>
    </p:spTree>
    <p:extLst>
      <p:ext uri="{BB962C8B-B14F-4D97-AF65-F5344CB8AC3E}">
        <p14:creationId xmlns:p14="http://schemas.microsoft.com/office/powerpoint/2010/main" val="305567969"/>
      </p:ext>
    </p:extLst>
  </p:cSld>
  <p:clrMapOvr>
    <a:masterClrMapping/>
  </p:clrMapOvr>
  <mc:AlternateContent xmlns:mc="http://schemas.openxmlformats.org/markup-compatibility/2006" xmlns:p14="http://schemas.microsoft.com/office/powerpoint/2010/main">
    <mc:Choice Requires="p14">
      <p:transition spd="slow" p14:dur="2000" advTm="55934"/>
    </mc:Choice>
    <mc:Fallback xmlns="">
      <p:transition spd="slow" advTm="55934"/>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20289"/>
          </a:xfrm>
          <a:prstGeom prst="rect">
            <a:avLst/>
          </a:prstGeom>
        </p:spPr>
        <p:txBody>
          <a:bodyPr wrap="square" lIns="0" tIns="0" rIns="0" bIns="0" rtlCol="0" anchor="t">
            <a:spAutoFit/>
          </a:bodyPr>
          <a:lstStyle/>
          <a:p>
            <a:pPr>
              <a:lnSpc>
                <a:spcPts val="6719"/>
              </a:lnSpc>
            </a:pPr>
            <a:r>
              <a:rPr lang="en-US" sz="4400" b="1" dirty="0">
                <a:solidFill>
                  <a:srgbClr val="46245A"/>
                </a:solidFill>
                <a:latin typeface="DM Sans" pitchFamily="2" charset="0"/>
              </a:rPr>
              <a:t>Energy Mitigation Options </a:t>
            </a:r>
            <a:endParaRPr lang="en-US" sz="4400" dirty="0">
              <a:solidFill>
                <a:srgbClr val="46245A"/>
              </a:solidFill>
              <a:latin typeface="DM Sans" pitchFamily="2" charset="0"/>
            </a:endParaRPr>
          </a:p>
        </p:txBody>
      </p:sp>
      <p:sp>
        <p:nvSpPr>
          <p:cNvPr id="4" name="Rounded Rectangle 3">
            <a:extLst>
              <a:ext uri="{FF2B5EF4-FFF2-40B4-BE49-F238E27FC236}">
                <a16:creationId xmlns:a16="http://schemas.microsoft.com/office/drawing/2014/main" id="{707EB8B6-AD47-042A-E720-71AB7E4EBB92}"/>
              </a:ext>
            </a:extLst>
          </p:cNvPr>
          <p:cNvSpPr/>
          <p:nvPr/>
        </p:nvSpPr>
        <p:spPr>
          <a:xfrm>
            <a:off x="511343" y="2786744"/>
            <a:ext cx="4156911" cy="69107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3600" dirty="0"/>
              <a:t>Low-carbon electricity supply</a:t>
            </a:r>
          </a:p>
          <a:p>
            <a:endParaRPr lang="en-GB" sz="2700" dirty="0"/>
          </a:p>
          <a:p>
            <a:pPr marL="428625" indent="-428625">
              <a:buFont typeface="Arial" panose="020B0604020202020204" pitchFamily="34" charset="0"/>
              <a:buChar char="•"/>
            </a:pPr>
            <a:r>
              <a:rPr lang="en-GB" sz="3000" dirty="0"/>
              <a:t>Renewable energy</a:t>
            </a:r>
          </a:p>
          <a:p>
            <a:pPr marL="428625" indent="-428625">
              <a:buFont typeface="Arial" panose="020B0604020202020204" pitchFamily="34" charset="0"/>
              <a:buChar char="•"/>
            </a:pPr>
            <a:r>
              <a:rPr lang="en-GB" sz="3000" dirty="0"/>
              <a:t>Nuclear</a:t>
            </a:r>
          </a:p>
          <a:p>
            <a:pPr marL="428625" indent="-428625">
              <a:buFont typeface="Arial" panose="020B0604020202020204" pitchFamily="34" charset="0"/>
              <a:buChar char="•"/>
            </a:pPr>
            <a:r>
              <a:rPr lang="en-GB" sz="3000" dirty="0"/>
              <a:t>Often cost effective </a:t>
            </a:r>
          </a:p>
          <a:p>
            <a:pPr marL="428625" indent="-428625">
              <a:buFont typeface="Arial" panose="020B0604020202020204" pitchFamily="34" charset="0"/>
              <a:buChar char="•"/>
            </a:pPr>
            <a:endParaRPr lang="en-GB" sz="3000" dirty="0"/>
          </a:p>
        </p:txBody>
      </p:sp>
      <p:sp>
        <p:nvSpPr>
          <p:cNvPr id="5" name="Rounded Rectangle 4">
            <a:extLst>
              <a:ext uri="{FF2B5EF4-FFF2-40B4-BE49-F238E27FC236}">
                <a16:creationId xmlns:a16="http://schemas.microsoft.com/office/drawing/2014/main" id="{05877215-4DD2-77F3-20BD-EBFF998D9917}"/>
              </a:ext>
            </a:extLst>
          </p:cNvPr>
          <p:cNvSpPr/>
          <p:nvPr/>
        </p:nvSpPr>
        <p:spPr>
          <a:xfrm>
            <a:off x="4854743" y="2786741"/>
            <a:ext cx="4156911" cy="69107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3600" dirty="0"/>
              <a:t>Coal phaseout</a:t>
            </a:r>
          </a:p>
          <a:p>
            <a:endParaRPr lang="en-GB" sz="2700" dirty="0"/>
          </a:p>
          <a:p>
            <a:pPr marL="514350" indent="-514350">
              <a:buFont typeface="Arial" panose="020B0604020202020204" pitchFamily="34" charset="0"/>
              <a:buChar char="•"/>
              <a:defRPr/>
            </a:pPr>
            <a:r>
              <a:rPr lang="en-GB" sz="3000" dirty="0"/>
              <a:t>Replacing coal with natural gas as a bridge technology.</a:t>
            </a:r>
          </a:p>
          <a:p>
            <a:pPr marL="514350" indent="-514350">
              <a:buFont typeface="Arial" panose="020B0604020202020204" pitchFamily="34" charset="0"/>
              <a:buChar char="•"/>
              <a:defRPr/>
            </a:pPr>
            <a:r>
              <a:rPr lang="en-GB" sz="3000" dirty="0"/>
              <a:t>Big switch to electrification, inducing cooking, transport and heating. </a:t>
            </a:r>
          </a:p>
        </p:txBody>
      </p:sp>
      <p:sp>
        <p:nvSpPr>
          <p:cNvPr id="6" name="Rounded Rectangle 5">
            <a:extLst>
              <a:ext uri="{FF2B5EF4-FFF2-40B4-BE49-F238E27FC236}">
                <a16:creationId xmlns:a16="http://schemas.microsoft.com/office/drawing/2014/main" id="{E53CEBC8-8C8E-EB8C-4EF3-0788A12A5D67}"/>
              </a:ext>
            </a:extLst>
          </p:cNvPr>
          <p:cNvSpPr/>
          <p:nvPr/>
        </p:nvSpPr>
        <p:spPr>
          <a:xfrm>
            <a:off x="9198143" y="2786741"/>
            <a:ext cx="4156911" cy="69107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3600" dirty="0"/>
              <a:t>Carbon capture and storage</a:t>
            </a:r>
          </a:p>
          <a:p>
            <a:endParaRPr lang="en-GB" sz="2700" dirty="0"/>
          </a:p>
          <a:p>
            <a:pPr marL="428625" indent="-428625">
              <a:buFont typeface="Arial" panose="020B0604020202020204" pitchFamily="34" charset="0"/>
              <a:buChar char="•"/>
            </a:pPr>
            <a:r>
              <a:rPr lang="en-GB" sz="3000" dirty="0"/>
              <a:t>Would enable continued use of fossil fuels.</a:t>
            </a:r>
          </a:p>
          <a:p>
            <a:pPr marL="428625" indent="-428625">
              <a:buFont typeface="Arial" panose="020B0604020202020204" pitchFamily="34" charset="0"/>
              <a:buChar char="•"/>
            </a:pPr>
            <a:r>
              <a:rPr lang="en-GB" sz="3000" dirty="0"/>
              <a:t>Questions on economic feasibility – more later</a:t>
            </a:r>
          </a:p>
        </p:txBody>
      </p:sp>
      <p:sp>
        <p:nvSpPr>
          <p:cNvPr id="7" name="Rounded Rectangle 6">
            <a:extLst>
              <a:ext uri="{FF2B5EF4-FFF2-40B4-BE49-F238E27FC236}">
                <a16:creationId xmlns:a16="http://schemas.microsoft.com/office/drawing/2014/main" id="{F50E2668-F347-3ECF-A0F8-B43F2F02C441}"/>
              </a:ext>
            </a:extLst>
          </p:cNvPr>
          <p:cNvSpPr/>
          <p:nvPr/>
        </p:nvSpPr>
        <p:spPr>
          <a:xfrm>
            <a:off x="13541543" y="2786742"/>
            <a:ext cx="4156911" cy="69540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3600" dirty="0"/>
              <a:t>Demand reduction</a:t>
            </a:r>
          </a:p>
          <a:p>
            <a:endParaRPr lang="en-GB" sz="3000" dirty="0"/>
          </a:p>
          <a:p>
            <a:pPr marL="514350" indent="-514350">
              <a:buFont typeface="Arial" panose="020B0604020202020204" pitchFamily="34" charset="0"/>
              <a:buChar char="•"/>
              <a:defRPr/>
            </a:pPr>
            <a:r>
              <a:rPr lang="en-GB" sz="3000" dirty="0"/>
              <a:t>Behavioural or lifestyle changes – see different sectors below.</a:t>
            </a:r>
          </a:p>
        </p:txBody>
      </p:sp>
    </p:spTree>
    <p:custDataLst>
      <p:tags r:id="rId1"/>
    </p:custDataLst>
    <p:extLst>
      <p:ext uri="{BB962C8B-B14F-4D97-AF65-F5344CB8AC3E}">
        <p14:creationId xmlns:p14="http://schemas.microsoft.com/office/powerpoint/2010/main" val="1591618334"/>
      </p:ext>
    </p:extLst>
  </p:cSld>
  <p:clrMapOvr>
    <a:masterClrMapping/>
  </p:clrMapOvr>
  <mc:AlternateContent xmlns:mc="http://schemas.openxmlformats.org/markup-compatibility/2006" xmlns:p14="http://schemas.microsoft.com/office/powerpoint/2010/main">
    <mc:Choice Requires="p14">
      <p:transition spd="slow" p14:dur="2000" advTm="148396"/>
    </mc:Choice>
    <mc:Fallback xmlns="">
      <p:transition spd="slow" advTm="14839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20289"/>
          </a:xfrm>
          <a:prstGeom prst="rect">
            <a:avLst/>
          </a:prstGeom>
        </p:spPr>
        <p:txBody>
          <a:bodyPr wrap="square" lIns="0" tIns="0" rIns="0" bIns="0" rtlCol="0" anchor="t">
            <a:spAutoFit/>
          </a:bodyPr>
          <a:lstStyle/>
          <a:p>
            <a:pPr>
              <a:lnSpc>
                <a:spcPts val="6719"/>
              </a:lnSpc>
            </a:pPr>
            <a:r>
              <a:rPr lang="en-US" sz="4400" b="1" dirty="0">
                <a:solidFill>
                  <a:srgbClr val="46245A"/>
                </a:solidFill>
                <a:latin typeface="DM Sans" pitchFamily="2" charset="0"/>
              </a:rPr>
              <a:t>Global GHG, Emissions from transport (14%)</a:t>
            </a:r>
            <a:endParaRPr lang="en-US" sz="4400" dirty="0">
              <a:solidFill>
                <a:srgbClr val="46245A"/>
              </a:solidFill>
              <a:latin typeface="DM Sans" pitchFamily="2" charset="0"/>
            </a:endParaRPr>
          </a:p>
        </p:txBody>
      </p:sp>
      <p:sp>
        <p:nvSpPr>
          <p:cNvPr id="5" name="TextBox 4">
            <a:extLst>
              <a:ext uri="{FF2B5EF4-FFF2-40B4-BE49-F238E27FC236}">
                <a16:creationId xmlns:a16="http://schemas.microsoft.com/office/drawing/2014/main" id="{1E7EECCD-8D25-FF94-F453-BC4D680AFF17}"/>
              </a:ext>
            </a:extLst>
          </p:cNvPr>
          <p:cNvSpPr txBox="1"/>
          <p:nvPr/>
        </p:nvSpPr>
        <p:spPr>
          <a:xfrm>
            <a:off x="15445010" y="9686835"/>
            <a:ext cx="3114955" cy="553998"/>
          </a:xfrm>
          <a:prstGeom prst="rect">
            <a:avLst/>
          </a:prstGeom>
          <a:noFill/>
        </p:spPr>
        <p:txBody>
          <a:bodyPr wrap="none" rtlCol="0">
            <a:spAutoFit/>
          </a:bodyPr>
          <a:lstStyle/>
          <a:p>
            <a:r>
              <a:rPr lang="en-GB" sz="3000" dirty="0"/>
              <a:t>AR5 WG3 report</a:t>
            </a:r>
          </a:p>
        </p:txBody>
      </p:sp>
      <p:pic>
        <p:nvPicPr>
          <p:cNvPr id="3" name="Picture 2" descr="https://www.ipcc.ch/site/assets/uploads/2018/02/01_figure_8.1-1024x644.png">
            <a:extLst>
              <a:ext uri="{FF2B5EF4-FFF2-40B4-BE49-F238E27FC236}">
                <a16:creationId xmlns:a16="http://schemas.microsoft.com/office/drawing/2014/main" id="{46985D57-F78F-1542-CE98-B93AEB81EB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2659785"/>
            <a:ext cx="11173443" cy="7027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709084"/>
      </p:ext>
    </p:extLst>
  </p:cSld>
  <p:clrMapOvr>
    <a:masterClrMapping/>
  </p:clrMapOvr>
  <mc:AlternateContent xmlns:mc="http://schemas.openxmlformats.org/markup-compatibility/2006" xmlns:p14="http://schemas.microsoft.com/office/powerpoint/2010/main">
    <mc:Choice Requires="p14">
      <p:transition spd="slow" p14:dur="2000" advTm="15113"/>
    </mc:Choice>
    <mc:Fallback xmlns="">
      <p:transition spd="slow" advTm="15113"/>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20289"/>
          </a:xfrm>
          <a:prstGeom prst="rect">
            <a:avLst/>
          </a:prstGeom>
        </p:spPr>
        <p:txBody>
          <a:bodyPr wrap="square" lIns="0" tIns="0" rIns="0" bIns="0" rtlCol="0" anchor="t">
            <a:spAutoFit/>
          </a:bodyPr>
          <a:lstStyle/>
          <a:p>
            <a:pPr>
              <a:lnSpc>
                <a:spcPts val="6719"/>
              </a:lnSpc>
            </a:pPr>
            <a:r>
              <a:rPr lang="en-US" sz="4400" b="1" dirty="0">
                <a:solidFill>
                  <a:srgbClr val="46245A"/>
                </a:solidFill>
                <a:latin typeface="DM Sans" pitchFamily="2" charset="0"/>
              </a:rPr>
              <a:t>Transport Mitigation Options </a:t>
            </a:r>
            <a:endParaRPr lang="en-US" sz="4400" dirty="0">
              <a:solidFill>
                <a:srgbClr val="46245A"/>
              </a:solidFill>
              <a:latin typeface="DM Sans" pitchFamily="2" charset="0"/>
            </a:endParaRPr>
          </a:p>
        </p:txBody>
      </p:sp>
      <p:sp>
        <p:nvSpPr>
          <p:cNvPr id="4" name="Rounded Rectangle 3">
            <a:extLst>
              <a:ext uri="{FF2B5EF4-FFF2-40B4-BE49-F238E27FC236}">
                <a16:creationId xmlns:a16="http://schemas.microsoft.com/office/drawing/2014/main" id="{0717B30E-B324-A8FA-5AFE-046724D08BF4}"/>
              </a:ext>
            </a:extLst>
          </p:cNvPr>
          <p:cNvSpPr/>
          <p:nvPr/>
        </p:nvSpPr>
        <p:spPr>
          <a:xfrm>
            <a:off x="511343" y="2786745"/>
            <a:ext cx="4156911" cy="691071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3600" dirty="0"/>
              <a:t>Avoided journeys</a:t>
            </a:r>
          </a:p>
          <a:p>
            <a:endParaRPr lang="en-GB" sz="2700" dirty="0"/>
          </a:p>
          <a:p>
            <a:pPr marL="428625" indent="-428625">
              <a:buFont typeface="Arial" panose="020B0604020202020204" pitchFamily="34" charset="0"/>
              <a:buChar char="•"/>
            </a:pPr>
            <a:r>
              <a:rPr lang="en-GB" sz="3000" dirty="0"/>
              <a:t>More compact urban form</a:t>
            </a:r>
          </a:p>
          <a:p>
            <a:pPr marL="428625" indent="-428625">
              <a:buFont typeface="Arial" panose="020B0604020202020204" pitchFamily="34" charset="0"/>
              <a:buChar char="•"/>
            </a:pPr>
            <a:r>
              <a:rPr lang="en-GB" sz="3000" dirty="0"/>
              <a:t>Sourcing localised products</a:t>
            </a:r>
          </a:p>
          <a:p>
            <a:pPr marL="428625" indent="-428625">
              <a:buFont typeface="Arial" panose="020B0604020202020204" pitchFamily="34" charset="0"/>
              <a:buChar char="•"/>
            </a:pPr>
            <a:r>
              <a:rPr lang="en-GB" sz="3000" dirty="0"/>
              <a:t>Restructuring freight logistics systems</a:t>
            </a:r>
          </a:p>
          <a:p>
            <a:pPr marL="428625" indent="-428625">
              <a:buFont typeface="Arial" panose="020B0604020202020204" pitchFamily="34" charset="0"/>
              <a:buChar char="•"/>
            </a:pPr>
            <a:r>
              <a:rPr lang="en-GB" sz="3000" dirty="0"/>
              <a:t>Virtual conferences</a:t>
            </a:r>
          </a:p>
        </p:txBody>
      </p:sp>
      <p:sp>
        <p:nvSpPr>
          <p:cNvPr id="5" name="Rounded Rectangle 4">
            <a:extLst>
              <a:ext uri="{FF2B5EF4-FFF2-40B4-BE49-F238E27FC236}">
                <a16:creationId xmlns:a16="http://schemas.microsoft.com/office/drawing/2014/main" id="{D6C99C92-9E0C-0065-750F-C4EEECD9C688}"/>
              </a:ext>
            </a:extLst>
          </p:cNvPr>
          <p:cNvSpPr/>
          <p:nvPr/>
        </p:nvSpPr>
        <p:spPr>
          <a:xfrm>
            <a:off x="4854743" y="2786744"/>
            <a:ext cx="4156911" cy="69107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3600" dirty="0"/>
              <a:t>Model shift</a:t>
            </a:r>
          </a:p>
          <a:p>
            <a:endParaRPr lang="en-GB" sz="2700" dirty="0"/>
          </a:p>
          <a:p>
            <a:pPr marL="514350" indent="-514350">
              <a:buFont typeface="Arial" panose="020B0604020202020204" pitchFamily="34" charset="0"/>
              <a:buChar char="•"/>
              <a:defRPr/>
            </a:pPr>
            <a:r>
              <a:rPr lang="en-GB" sz="3000" dirty="0"/>
              <a:t>Increasing investment in public transport, walking &amp; cycling infrastructure</a:t>
            </a:r>
          </a:p>
          <a:p>
            <a:pPr marL="514350" indent="-514350">
              <a:buFont typeface="Arial" panose="020B0604020202020204" pitchFamily="34" charset="0"/>
              <a:buChar char="•"/>
              <a:defRPr/>
            </a:pPr>
            <a:r>
              <a:rPr lang="en-GB" sz="3000" dirty="0"/>
              <a:t>Modifying roads, airports, ports and railways</a:t>
            </a:r>
          </a:p>
        </p:txBody>
      </p:sp>
      <p:sp>
        <p:nvSpPr>
          <p:cNvPr id="6" name="Rounded Rectangle 5">
            <a:extLst>
              <a:ext uri="{FF2B5EF4-FFF2-40B4-BE49-F238E27FC236}">
                <a16:creationId xmlns:a16="http://schemas.microsoft.com/office/drawing/2014/main" id="{68202E59-5A32-C30A-7C4A-8073CE301F7E}"/>
              </a:ext>
            </a:extLst>
          </p:cNvPr>
          <p:cNvSpPr/>
          <p:nvPr/>
        </p:nvSpPr>
        <p:spPr>
          <a:xfrm>
            <a:off x="9198143" y="2786744"/>
            <a:ext cx="4156911" cy="69107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3600" dirty="0"/>
              <a:t>Lowering energy intensity</a:t>
            </a:r>
          </a:p>
          <a:p>
            <a:endParaRPr lang="en-GB" sz="2700" dirty="0"/>
          </a:p>
          <a:p>
            <a:pPr marL="428625" indent="-428625">
              <a:buFont typeface="Arial" panose="020B0604020202020204" pitchFamily="34" charset="0"/>
              <a:buChar char="•"/>
            </a:pPr>
            <a:r>
              <a:rPr lang="en-GB" sz="3000" dirty="0"/>
              <a:t>Enhancing vehicle &amp; engine performance</a:t>
            </a:r>
          </a:p>
          <a:p>
            <a:pPr marL="428625" indent="-428625">
              <a:buFont typeface="Arial" panose="020B0604020202020204" pitchFamily="34" charset="0"/>
              <a:buChar char="•"/>
            </a:pPr>
            <a:r>
              <a:rPr lang="en-GB" sz="3000" dirty="0"/>
              <a:t>Use lightweight materials</a:t>
            </a:r>
          </a:p>
          <a:p>
            <a:pPr marL="428625" indent="-428625">
              <a:buFont typeface="Arial" panose="020B0604020202020204" pitchFamily="34" charset="0"/>
              <a:buChar char="•"/>
            </a:pPr>
            <a:r>
              <a:rPr lang="en-GB" sz="3000" dirty="0"/>
              <a:t>Increasing freight load factors &amp; passenger occupancy rates</a:t>
            </a:r>
          </a:p>
          <a:p>
            <a:pPr marL="428625" indent="-428625">
              <a:buFont typeface="Arial" panose="020B0604020202020204" pitchFamily="34" charset="0"/>
              <a:buChar char="•"/>
            </a:pPr>
            <a:r>
              <a:rPr lang="en-GB" sz="3000" dirty="0"/>
              <a:t>Deploying new technologies</a:t>
            </a:r>
          </a:p>
        </p:txBody>
      </p:sp>
      <p:sp>
        <p:nvSpPr>
          <p:cNvPr id="7" name="Rounded Rectangle 6">
            <a:extLst>
              <a:ext uri="{FF2B5EF4-FFF2-40B4-BE49-F238E27FC236}">
                <a16:creationId xmlns:a16="http://schemas.microsoft.com/office/drawing/2014/main" id="{8723AC7A-1785-CCC5-4B08-CBA840E5E595}"/>
              </a:ext>
            </a:extLst>
          </p:cNvPr>
          <p:cNvSpPr/>
          <p:nvPr/>
        </p:nvSpPr>
        <p:spPr>
          <a:xfrm>
            <a:off x="13541543" y="2786744"/>
            <a:ext cx="4156911" cy="6954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3600" dirty="0"/>
              <a:t>Reducing carbon intensity of fuels</a:t>
            </a:r>
          </a:p>
          <a:p>
            <a:endParaRPr lang="en-GB" sz="2700" dirty="0"/>
          </a:p>
          <a:p>
            <a:pPr marL="428625" indent="-428625">
              <a:buFont typeface="Arial" panose="020B0604020202020204" pitchFamily="34" charset="0"/>
              <a:buChar char="•"/>
            </a:pPr>
            <a:r>
              <a:rPr lang="en-GB" sz="3000" dirty="0"/>
              <a:t>Substituting oil based products with lower carbon alternatives e.g. biofuels, electricity (EVs) or hydrogen produced from low GHG sources</a:t>
            </a:r>
          </a:p>
        </p:txBody>
      </p:sp>
    </p:spTree>
    <p:custDataLst>
      <p:tags r:id="rId1"/>
    </p:custDataLst>
    <p:extLst>
      <p:ext uri="{BB962C8B-B14F-4D97-AF65-F5344CB8AC3E}">
        <p14:creationId xmlns:p14="http://schemas.microsoft.com/office/powerpoint/2010/main" val="1512737966"/>
      </p:ext>
    </p:extLst>
  </p:cSld>
  <p:clrMapOvr>
    <a:masterClrMapping/>
  </p:clrMapOvr>
  <mc:AlternateContent xmlns:mc="http://schemas.openxmlformats.org/markup-compatibility/2006" xmlns:p14="http://schemas.microsoft.com/office/powerpoint/2010/main">
    <mc:Choice Requires="p14">
      <p:transition spd="slow" p14:dur="2000" advTm="148378"/>
    </mc:Choice>
    <mc:Fallback xmlns="">
      <p:transition spd="slow" advTm="14837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20289"/>
          </a:xfrm>
          <a:prstGeom prst="rect">
            <a:avLst/>
          </a:prstGeom>
        </p:spPr>
        <p:txBody>
          <a:bodyPr wrap="square" lIns="0" tIns="0" rIns="0" bIns="0" rtlCol="0" anchor="t">
            <a:spAutoFit/>
          </a:bodyPr>
          <a:lstStyle/>
          <a:p>
            <a:pPr>
              <a:lnSpc>
                <a:spcPts val="6719"/>
              </a:lnSpc>
            </a:pPr>
            <a:r>
              <a:rPr lang="en-US" sz="4400" b="1" dirty="0">
                <a:solidFill>
                  <a:srgbClr val="46245A"/>
                </a:solidFill>
                <a:latin typeface="DM Sans" pitchFamily="2" charset="0"/>
              </a:rPr>
              <a:t>Global GHG, Emissions from buildings (19%)</a:t>
            </a:r>
            <a:endParaRPr lang="en-US" sz="4400" dirty="0">
              <a:solidFill>
                <a:srgbClr val="46245A"/>
              </a:solidFill>
              <a:latin typeface="DM Sans" pitchFamily="2" charset="0"/>
            </a:endParaRPr>
          </a:p>
        </p:txBody>
      </p:sp>
      <p:sp>
        <p:nvSpPr>
          <p:cNvPr id="5" name="TextBox 4">
            <a:extLst>
              <a:ext uri="{FF2B5EF4-FFF2-40B4-BE49-F238E27FC236}">
                <a16:creationId xmlns:a16="http://schemas.microsoft.com/office/drawing/2014/main" id="{1E7EECCD-8D25-FF94-F453-BC4D680AFF17}"/>
              </a:ext>
            </a:extLst>
          </p:cNvPr>
          <p:cNvSpPr txBox="1"/>
          <p:nvPr/>
        </p:nvSpPr>
        <p:spPr>
          <a:xfrm>
            <a:off x="15445010" y="9686835"/>
            <a:ext cx="3114955" cy="553998"/>
          </a:xfrm>
          <a:prstGeom prst="rect">
            <a:avLst/>
          </a:prstGeom>
          <a:noFill/>
        </p:spPr>
        <p:txBody>
          <a:bodyPr wrap="none" rtlCol="0">
            <a:spAutoFit/>
          </a:bodyPr>
          <a:lstStyle/>
          <a:p>
            <a:r>
              <a:rPr lang="en-GB" sz="3000" dirty="0"/>
              <a:t>AR5 WG3 report</a:t>
            </a:r>
          </a:p>
        </p:txBody>
      </p:sp>
      <p:pic>
        <p:nvPicPr>
          <p:cNvPr id="4" name="Picture 2" descr="https://www.ipcc.ch/site/assets/uploads/2018/02/01_figure_9.1-1024x492.png">
            <a:extLst>
              <a:ext uri="{FF2B5EF4-FFF2-40B4-BE49-F238E27FC236}">
                <a16:creationId xmlns:a16="http://schemas.microsoft.com/office/drawing/2014/main" id="{26E4CDAE-E730-384E-39FF-214CEDDB42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2453855"/>
            <a:ext cx="14465595" cy="6950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5217037"/>
      </p:ext>
    </p:extLst>
  </p:cSld>
  <p:clrMapOvr>
    <a:masterClrMapping/>
  </p:clrMapOvr>
  <mc:AlternateContent xmlns:mc="http://schemas.openxmlformats.org/markup-compatibility/2006" xmlns:p14="http://schemas.microsoft.com/office/powerpoint/2010/main">
    <mc:Choice Requires="p14">
      <p:transition spd="slow" p14:dur="2000" advTm="19361"/>
    </mc:Choice>
    <mc:Fallback xmlns="">
      <p:transition spd="slow" advTm="19361"/>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20289"/>
          </a:xfrm>
          <a:prstGeom prst="rect">
            <a:avLst/>
          </a:prstGeom>
        </p:spPr>
        <p:txBody>
          <a:bodyPr wrap="square" lIns="0" tIns="0" rIns="0" bIns="0" rtlCol="0" anchor="t">
            <a:spAutoFit/>
          </a:bodyPr>
          <a:lstStyle/>
          <a:p>
            <a:pPr>
              <a:lnSpc>
                <a:spcPts val="6719"/>
              </a:lnSpc>
            </a:pPr>
            <a:r>
              <a:rPr lang="en-US" sz="4400" b="1" dirty="0">
                <a:solidFill>
                  <a:srgbClr val="46245A"/>
                </a:solidFill>
                <a:latin typeface="DM Sans" pitchFamily="2" charset="0"/>
              </a:rPr>
              <a:t>Global GHG, Emissions from buildings (19%)</a:t>
            </a:r>
            <a:endParaRPr lang="en-US" sz="4400" dirty="0">
              <a:solidFill>
                <a:srgbClr val="46245A"/>
              </a:solidFill>
              <a:latin typeface="DM Sans" pitchFamily="2" charset="0"/>
            </a:endParaRPr>
          </a:p>
        </p:txBody>
      </p:sp>
      <p:pic>
        <p:nvPicPr>
          <p:cNvPr id="3" name="Picture 4" descr="https://www.ipcc.ch/site/assets/uploads/2018/02/04_figure_9.4-1024x578.png">
            <a:extLst>
              <a:ext uri="{FF2B5EF4-FFF2-40B4-BE49-F238E27FC236}">
                <a16:creationId xmlns:a16="http://schemas.microsoft.com/office/drawing/2014/main" id="{5E6B0DBA-4253-E3E0-7E09-2B46C11B64B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7630" y="2849526"/>
            <a:ext cx="12263480" cy="687949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2C38174-DEE2-6A4F-3D6E-1B096D1DD0D4}"/>
              </a:ext>
            </a:extLst>
          </p:cNvPr>
          <p:cNvSpPr txBox="1"/>
          <p:nvPr/>
        </p:nvSpPr>
        <p:spPr>
          <a:xfrm>
            <a:off x="8338234" y="2443429"/>
            <a:ext cx="2920970" cy="1200329"/>
          </a:xfrm>
          <a:prstGeom prst="rect">
            <a:avLst/>
          </a:prstGeom>
          <a:noFill/>
        </p:spPr>
        <p:txBody>
          <a:bodyPr wrap="square" rtlCol="0">
            <a:spAutoFit/>
          </a:bodyPr>
          <a:lstStyle/>
          <a:p>
            <a:r>
              <a:rPr lang="en-GB" sz="3600" b="1" dirty="0">
                <a:solidFill>
                  <a:schemeClr val="accent4"/>
                </a:solidFill>
              </a:rPr>
              <a:t>Space heating</a:t>
            </a:r>
          </a:p>
        </p:txBody>
      </p:sp>
      <p:cxnSp>
        <p:nvCxnSpPr>
          <p:cNvPr id="7" name="Straight Arrow Connector 6">
            <a:extLst>
              <a:ext uri="{FF2B5EF4-FFF2-40B4-BE49-F238E27FC236}">
                <a16:creationId xmlns:a16="http://schemas.microsoft.com/office/drawing/2014/main" id="{B5B58697-C987-37C3-19D4-208730E92DA9}"/>
              </a:ext>
            </a:extLst>
          </p:cNvPr>
          <p:cNvCxnSpPr>
            <a:cxnSpLocks/>
          </p:cNvCxnSpPr>
          <p:nvPr/>
        </p:nvCxnSpPr>
        <p:spPr>
          <a:xfrm flipH="1">
            <a:off x="7065659" y="3536863"/>
            <a:ext cx="1169894" cy="91548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9DEECEA-90A8-9C02-3935-BDFEC60DFD0C}"/>
              </a:ext>
            </a:extLst>
          </p:cNvPr>
          <p:cNvCxnSpPr>
            <a:cxnSpLocks/>
          </p:cNvCxnSpPr>
          <p:nvPr/>
        </p:nvCxnSpPr>
        <p:spPr>
          <a:xfrm>
            <a:off x="9250417" y="3623981"/>
            <a:ext cx="2486405" cy="155460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59D1B9D-50BD-0CDF-E60E-719696D2E5F1}"/>
              </a:ext>
            </a:extLst>
          </p:cNvPr>
          <p:cNvSpPr txBox="1"/>
          <p:nvPr/>
        </p:nvSpPr>
        <p:spPr>
          <a:xfrm>
            <a:off x="496892" y="2521975"/>
            <a:ext cx="2828008" cy="2308324"/>
          </a:xfrm>
          <a:prstGeom prst="rect">
            <a:avLst/>
          </a:prstGeom>
          <a:noFill/>
        </p:spPr>
        <p:txBody>
          <a:bodyPr wrap="square" rtlCol="0">
            <a:spAutoFit/>
          </a:bodyPr>
          <a:lstStyle/>
          <a:p>
            <a:pPr algn="ctr"/>
            <a:r>
              <a:rPr lang="en-GB" sz="3600" b="1" dirty="0">
                <a:solidFill>
                  <a:srgbClr val="FF0000"/>
                </a:solidFill>
              </a:rPr>
              <a:t>Cooking</a:t>
            </a:r>
            <a:r>
              <a:rPr lang="en-GB" sz="3600" b="1" dirty="0"/>
              <a:t> and</a:t>
            </a:r>
          </a:p>
          <a:p>
            <a:pPr algn="ctr"/>
            <a:r>
              <a:rPr lang="en-GB" sz="3600" b="1" dirty="0">
                <a:solidFill>
                  <a:schemeClr val="accent1"/>
                </a:solidFill>
              </a:rPr>
              <a:t>water heating</a:t>
            </a:r>
          </a:p>
        </p:txBody>
      </p:sp>
      <p:cxnSp>
        <p:nvCxnSpPr>
          <p:cNvPr id="11" name="Straight Arrow Connector 10">
            <a:extLst>
              <a:ext uri="{FF2B5EF4-FFF2-40B4-BE49-F238E27FC236}">
                <a16:creationId xmlns:a16="http://schemas.microsoft.com/office/drawing/2014/main" id="{B5DFA07A-FB1F-FCDA-253A-A613142DCB08}"/>
              </a:ext>
            </a:extLst>
          </p:cNvPr>
          <p:cNvCxnSpPr>
            <a:cxnSpLocks/>
          </p:cNvCxnSpPr>
          <p:nvPr/>
        </p:nvCxnSpPr>
        <p:spPr>
          <a:xfrm>
            <a:off x="2558427" y="3623981"/>
            <a:ext cx="884567" cy="96747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30B607C-FDA3-6784-DC77-A281BCBB9FE4}"/>
              </a:ext>
            </a:extLst>
          </p:cNvPr>
          <p:cNvCxnSpPr>
            <a:cxnSpLocks/>
          </p:cNvCxnSpPr>
          <p:nvPr/>
        </p:nvCxnSpPr>
        <p:spPr>
          <a:xfrm>
            <a:off x="3132591" y="3588894"/>
            <a:ext cx="4334433" cy="40759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0E909-D2BA-6873-EC07-7B4C86EE7287}"/>
              </a:ext>
            </a:extLst>
          </p:cNvPr>
          <p:cNvSpPr txBox="1"/>
          <p:nvPr/>
        </p:nvSpPr>
        <p:spPr>
          <a:xfrm>
            <a:off x="12531779" y="2732285"/>
            <a:ext cx="2431178" cy="646331"/>
          </a:xfrm>
          <a:prstGeom prst="rect">
            <a:avLst/>
          </a:prstGeom>
          <a:noFill/>
        </p:spPr>
        <p:txBody>
          <a:bodyPr wrap="square" rtlCol="0">
            <a:spAutoFit/>
          </a:bodyPr>
          <a:lstStyle/>
          <a:p>
            <a:r>
              <a:rPr lang="en-GB" sz="3600" b="1" dirty="0">
                <a:solidFill>
                  <a:srgbClr val="92D050"/>
                </a:solidFill>
              </a:rPr>
              <a:t>Cooling</a:t>
            </a:r>
          </a:p>
        </p:txBody>
      </p:sp>
      <p:cxnSp>
        <p:nvCxnSpPr>
          <p:cNvPr id="14" name="Straight Arrow Connector 13">
            <a:extLst>
              <a:ext uri="{FF2B5EF4-FFF2-40B4-BE49-F238E27FC236}">
                <a16:creationId xmlns:a16="http://schemas.microsoft.com/office/drawing/2014/main" id="{82910324-5E92-0D80-34D0-071971CC726A}"/>
              </a:ext>
            </a:extLst>
          </p:cNvPr>
          <p:cNvCxnSpPr>
            <a:cxnSpLocks/>
          </p:cNvCxnSpPr>
          <p:nvPr/>
        </p:nvCxnSpPr>
        <p:spPr>
          <a:xfrm flipH="1">
            <a:off x="10493619" y="3887049"/>
            <a:ext cx="1912710" cy="129153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216833287"/>
      </p:ext>
    </p:extLst>
  </p:cSld>
  <p:clrMapOvr>
    <a:masterClrMapping/>
  </p:clrMapOvr>
  <mc:AlternateContent xmlns:mc="http://schemas.openxmlformats.org/markup-compatibility/2006" xmlns:p14="http://schemas.microsoft.com/office/powerpoint/2010/main">
    <mc:Choice Requires="p14">
      <p:transition spd="slow" p14:dur="2000" advTm="10388"/>
    </mc:Choice>
    <mc:Fallback xmlns="">
      <p:transition spd="slow" advTm="1038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3"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20289"/>
          </a:xfrm>
          <a:prstGeom prst="rect">
            <a:avLst/>
          </a:prstGeom>
        </p:spPr>
        <p:txBody>
          <a:bodyPr wrap="square" lIns="0" tIns="0" rIns="0" bIns="0" rtlCol="0" anchor="t">
            <a:spAutoFit/>
          </a:bodyPr>
          <a:lstStyle/>
          <a:p>
            <a:pPr>
              <a:lnSpc>
                <a:spcPts val="6719"/>
              </a:lnSpc>
            </a:pPr>
            <a:r>
              <a:rPr lang="en-US" sz="4400" b="1" dirty="0">
                <a:solidFill>
                  <a:srgbClr val="46245A"/>
                </a:solidFill>
                <a:latin typeface="DM Sans" pitchFamily="2" charset="0"/>
              </a:rPr>
              <a:t>Building Mitigation Options </a:t>
            </a:r>
            <a:endParaRPr lang="en-US" sz="4400" dirty="0">
              <a:solidFill>
                <a:srgbClr val="46245A"/>
              </a:solidFill>
              <a:latin typeface="DM Sans" pitchFamily="2" charset="0"/>
            </a:endParaRPr>
          </a:p>
        </p:txBody>
      </p:sp>
      <p:sp>
        <p:nvSpPr>
          <p:cNvPr id="12" name="Rounded Rectangle 11">
            <a:extLst>
              <a:ext uri="{FF2B5EF4-FFF2-40B4-BE49-F238E27FC236}">
                <a16:creationId xmlns:a16="http://schemas.microsoft.com/office/drawing/2014/main" id="{3D92AA0E-33C8-4B9A-1EDC-24BC41F6A875}"/>
              </a:ext>
            </a:extLst>
          </p:cNvPr>
          <p:cNvSpPr/>
          <p:nvPr/>
        </p:nvSpPr>
        <p:spPr>
          <a:xfrm>
            <a:off x="511343" y="2764972"/>
            <a:ext cx="4156911" cy="69324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3600" dirty="0"/>
              <a:t>Carbon efficiency</a:t>
            </a:r>
          </a:p>
          <a:p>
            <a:endParaRPr lang="en-GB" sz="2700" dirty="0"/>
          </a:p>
          <a:p>
            <a:pPr marL="428625" indent="-428625">
              <a:buFont typeface="Arial" panose="020B0604020202020204" pitchFamily="34" charset="0"/>
              <a:buChar char="•"/>
            </a:pPr>
            <a:r>
              <a:rPr lang="en-GB" sz="3000" dirty="0"/>
              <a:t>Building integrated renewable energy solutions</a:t>
            </a:r>
          </a:p>
          <a:p>
            <a:pPr marL="428625" indent="-428625">
              <a:buFont typeface="Arial" panose="020B0604020202020204" pitchFamily="34" charset="0"/>
              <a:buChar char="•"/>
            </a:pPr>
            <a:r>
              <a:rPr lang="en-GB" sz="3000" dirty="0"/>
              <a:t>Switching to low carbon fuels </a:t>
            </a:r>
          </a:p>
          <a:p>
            <a:pPr marL="428625" indent="-428625">
              <a:buFont typeface="Arial" panose="020B0604020202020204" pitchFamily="34" charset="0"/>
              <a:buChar char="•"/>
            </a:pPr>
            <a:r>
              <a:rPr lang="en-GB" sz="3000" dirty="0"/>
              <a:t>Advanced biomass stoves</a:t>
            </a:r>
          </a:p>
          <a:p>
            <a:pPr marL="428625" indent="-428625">
              <a:buFont typeface="Arial" panose="020B0604020202020204" pitchFamily="34" charset="0"/>
              <a:buChar char="•"/>
            </a:pPr>
            <a:endParaRPr lang="en-GB" sz="3000" dirty="0"/>
          </a:p>
        </p:txBody>
      </p:sp>
      <p:sp>
        <p:nvSpPr>
          <p:cNvPr id="13" name="Rounded Rectangle 12">
            <a:extLst>
              <a:ext uri="{FF2B5EF4-FFF2-40B4-BE49-F238E27FC236}">
                <a16:creationId xmlns:a16="http://schemas.microsoft.com/office/drawing/2014/main" id="{C834ABD9-9119-546A-99D6-8861E3E5B337}"/>
              </a:ext>
            </a:extLst>
          </p:cNvPr>
          <p:cNvSpPr/>
          <p:nvPr/>
        </p:nvSpPr>
        <p:spPr>
          <a:xfrm>
            <a:off x="4854743" y="2764969"/>
            <a:ext cx="4156911" cy="69324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3600" dirty="0"/>
              <a:t>Energy efficiency</a:t>
            </a:r>
          </a:p>
          <a:p>
            <a:endParaRPr lang="en-GB" sz="3600" dirty="0"/>
          </a:p>
          <a:p>
            <a:pPr marL="514350" indent="-514350">
              <a:buFont typeface="Arial" panose="020B0604020202020204" pitchFamily="34" charset="0"/>
              <a:buChar char="•"/>
            </a:pPr>
            <a:r>
              <a:rPr lang="en-GB" sz="3000" dirty="0"/>
              <a:t>Insulation</a:t>
            </a:r>
          </a:p>
          <a:p>
            <a:pPr marL="514350" indent="-514350">
              <a:buFont typeface="Arial" panose="020B0604020202020204" pitchFamily="34" charset="0"/>
              <a:buChar char="•"/>
            </a:pPr>
            <a:r>
              <a:rPr lang="en-GB" sz="3000" dirty="0"/>
              <a:t>Efficient heating and cooling systems</a:t>
            </a:r>
          </a:p>
          <a:p>
            <a:pPr marL="514350" indent="-514350">
              <a:buFont typeface="Arial" panose="020B0604020202020204" pitchFamily="34" charset="0"/>
              <a:buChar char="•"/>
            </a:pPr>
            <a:r>
              <a:rPr lang="en-GB" sz="3000" dirty="0"/>
              <a:t>Efficient appliances</a:t>
            </a:r>
          </a:p>
          <a:p>
            <a:pPr marL="514350" indent="-514350">
              <a:buFont typeface="Arial" panose="020B0604020202020204" pitchFamily="34" charset="0"/>
              <a:buChar char="•"/>
            </a:pPr>
            <a:r>
              <a:rPr lang="en-GB" sz="3000" dirty="0"/>
              <a:t>Smart meters and grids</a:t>
            </a:r>
          </a:p>
          <a:p>
            <a:pPr marL="514350" indent="-514350">
              <a:buFont typeface="Arial" panose="020B0604020202020204" pitchFamily="34" charset="0"/>
              <a:buChar char="•"/>
            </a:pPr>
            <a:endParaRPr lang="en-GB" sz="3000" dirty="0"/>
          </a:p>
          <a:p>
            <a:endParaRPr lang="en-GB" sz="3600" dirty="0"/>
          </a:p>
          <a:p>
            <a:pPr marL="514350" indent="-514350">
              <a:buFont typeface="Arial" panose="020B0604020202020204" pitchFamily="34" charset="0"/>
              <a:buChar char="•"/>
            </a:pPr>
            <a:endParaRPr lang="en-GB" sz="3600" dirty="0"/>
          </a:p>
          <a:p>
            <a:endParaRPr lang="en-GB" sz="2700" dirty="0"/>
          </a:p>
        </p:txBody>
      </p:sp>
      <p:sp>
        <p:nvSpPr>
          <p:cNvPr id="14" name="Rounded Rectangle 13">
            <a:extLst>
              <a:ext uri="{FF2B5EF4-FFF2-40B4-BE49-F238E27FC236}">
                <a16:creationId xmlns:a16="http://schemas.microsoft.com/office/drawing/2014/main" id="{906E500D-07C8-72DB-FC05-C53062BF99F1}"/>
              </a:ext>
            </a:extLst>
          </p:cNvPr>
          <p:cNvSpPr/>
          <p:nvPr/>
        </p:nvSpPr>
        <p:spPr>
          <a:xfrm>
            <a:off x="9198143" y="2764968"/>
            <a:ext cx="4156911" cy="69324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3600" dirty="0"/>
              <a:t>System efficiency</a:t>
            </a:r>
          </a:p>
          <a:p>
            <a:endParaRPr lang="en-GB" sz="2700" dirty="0"/>
          </a:p>
          <a:p>
            <a:pPr marL="428625" indent="-428625">
              <a:buFont typeface="Arial" panose="020B0604020202020204" pitchFamily="34" charset="0"/>
              <a:buChar char="•"/>
            </a:pPr>
            <a:r>
              <a:rPr lang="en-GB" sz="3000" dirty="0"/>
              <a:t>Urban planning</a:t>
            </a:r>
          </a:p>
          <a:p>
            <a:pPr marL="428625" indent="-428625">
              <a:buFont typeface="Arial" panose="020B0604020202020204" pitchFamily="34" charset="0"/>
              <a:buChar char="•"/>
            </a:pPr>
            <a:r>
              <a:rPr lang="en-GB" sz="3000" dirty="0"/>
              <a:t>District heating/ cooling</a:t>
            </a:r>
          </a:p>
          <a:p>
            <a:pPr marL="428625" indent="-428625">
              <a:buFont typeface="Arial" panose="020B0604020202020204" pitchFamily="34" charset="0"/>
              <a:buChar char="•"/>
            </a:pPr>
            <a:r>
              <a:rPr lang="en-GB" sz="3000" dirty="0"/>
              <a:t>Utilisation of waste heat</a:t>
            </a:r>
          </a:p>
          <a:p>
            <a:pPr marL="428625" indent="-428625">
              <a:buFont typeface="Arial" panose="020B0604020202020204" pitchFamily="34" charset="0"/>
              <a:buChar char="•"/>
            </a:pPr>
            <a:r>
              <a:rPr lang="en-GB" sz="3000" dirty="0"/>
              <a:t>Passive housing standards</a:t>
            </a:r>
          </a:p>
          <a:p>
            <a:pPr marL="428625" indent="-428625">
              <a:buFont typeface="Arial" panose="020B0604020202020204" pitchFamily="34" charset="0"/>
              <a:buChar char="•"/>
            </a:pPr>
            <a:r>
              <a:rPr lang="en-GB" sz="3000" dirty="0"/>
              <a:t>Net zero energy buildings</a:t>
            </a:r>
          </a:p>
          <a:p>
            <a:pPr marL="428625" indent="-428625">
              <a:buFont typeface="Arial" panose="020B0604020202020204" pitchFamily="34" charset="0"/>
              <a:buChar char="•"/>
            </a:pPr>
            <a:endParaRPr lang="en-GB" sz="3000" dirty="0"/>
          </a:p>
        </p:txBody>
      </p:sp>
      <p:sp>
        <p:nvSpPr>
          <p:cNvPr id="15" name="Rounded Rectangle 14">
            <a:extLst>
              <a:ext uri="{FF2B5EF4-FFF2-40B4-BE49-F238E27FC236}">
                <a16:creationId xmlns:a16="http://schemas.microsoft.com/office/drawing/2014/main" id="{4F6208C8-CA73-FE27-77CF-2DEEBD159A06}"/>
              </a:ext>
            </a:extLst>
          </p:cNvPr>
          <p:cNvSpPr/>
          <p:nvPr/>
        </p:nvSpPr>
        <p:spPr>
          <a:xfrm>
            <a:off x="13541543" y="2764967"/>
            <a:ext cx="4156911" cy="69758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3600" dirty="0"/>
              <a:t>Service demand reduction</a:t>
            </a:r>
          </a:p>
          <a:p>
            <a:endParaRPr lang="en-GB" sz="2700" dirty="0"/>
          </a:p>
          <a:p>
            <a:pPr marL="428625" indent="-428625">
              <a:buFont typeface="Arial" panose="020B0604020202020204" pitchFamily="34" charset="0"/>
              <a:buChar char="•"/>
            </a:pPr>
            <a:r>
              <a:rPr lang="en-GB" sz="3000" dirty="0"/>
              <a:t>Behaviour change</a:t>
            </a:r>
          </a:p>
          <a:p>
            <a:pPr marL="428625" indent="-428625">
              <a:buFont typeface="Arial" panose="020B0604020202020204" pitchFamily="34" charset="0"/>
              <a:buChar char="•"/>
            </a:pPr>
            <a:r>
              <a:rPr lang="en-GB" sz="3000" dirty="0"/>
              <a:t>Lifestyles change</a:t>
            </a:r>
          </a:p>
          <a:p>
            <a:pPr marL="428625" indent="-428625">
              <a:buFont typeface="Arial" panose="020B0604020202020204" pitchFamily="34" charset="0"/>
              <a:buChar char="•"/>
            </a:pPr>
            <a:r>
              <a:rPr lang="en-GB" sz="3000" dirty="0"/>
              <a:t>Smart metering</a:t>
            </a:r>
          </a:p>
        </p:txBody>
      </p:sp>
    </p:spTree>
    <p:custDataLst>
      <p:tags r:id="rId1"/>
    </p:custDataLst>
    <p:extLst>
      <p:ext uri="{BB962C8B-B14F-4D97-AF65-F5344CB8AC3E}">
        <p14:creationId xmlns:p14="http://schemas.microsoft.com/office/powerpoint/2010/main" val="1109477582"/>
      </p:ext>
    </p:extLst>
  </p:cSld>
  <p:clrMapOvr>
    <a:masterClrMapping/>
  </p:clrMapOvr>
  <mc:AlternateContent xmlns:mc="http://schemas.openxmlformats.org/markup-compatibility/2006" xmlns:p14="http://schemas.microsoft.com/office/powerpoint/2010/main">
    <mc:Choice Requires="p14">
      <p:transition spd="slow" p14:dur="2000" advTm="46857"/>
    </mc:Choice>
    <mc:Fallback xmlns="">
      <p:transition spd="slow" advTm="4685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20289"/>
          </a:xfrm>
          <a:prstGeom prst="rect">
            <a:avLst/>
          </a:prstGeom>
        </p:spPr>
        <p:txBody>
          <a:bodyPr wrap="square" lIns="0" tIns="0" rIns="0" bIns="0" rtlCol="0" anchor="t">
            <a:spAutoFit/>
          </a:bodyPr>
          <a:lstStyle/>
          <a:p>
            <a:pPr>
              <a:lnSpc>
                <a:spcPts val="6719"/>
              </a:lnSpc>
            </a:pPr>
            <a:r>
              <a:rPr lang="en-US" sz="4400" b="1" dirty="0">
                <a:solidFill>
                  <a:srgbClr val="46245A"/>
                </a:solidFill>
                <a:latin typeface="DM Sans" pitchFamily="2" charset="0"/>
              </a:rPr>
              <a:t>Global GHG, Emissions from industry (33%)</a:t>
            </a:r>
            <a:endParaRPr lang="en-US" sz="4400" dirty="0">
              <a:solidFill>
                <a:srgbClr val="46245A"/>
              </a:solidFill>
              <a:latin typeface="DM Sans" pitchFamily="2" charset="0"/>
            </a:endParaRPr>
          </a:p>
        </p:txBody>
      </p:sp>
      <p:pic>
        <p:nvPicPr>
          <p:cNvPr id="4" name="Picture 2" descr="https://www.ipcc.ch/site/assets/uploads/2018/02/04_figure_10.4-1024x924.png">
            <a:extLst>
              <a:ext uri="{FF2B5EF4-FFF2-40B4-BE49-F238E27FC236}">
                <a16:creationId xmlns:a16="http://schemas.microsoft.com/office/drawing/2014/main" id="{0261ACE5-C373-1D9D-9071-C941457D21B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a:stretch/>
        </p:blipFill>
        <p:spPr bwMode="auto">
          <a:xfrm>
            <a:off x="1143000" y="2453855"/>
            <a:ext cx="11817160" cy="718879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E7EECCD-8D25-FF94-F453-BC4D680AFF17}"/>
              </a:ext>
            </a:extLst>
          </p:cNvPr>
          <p:cNvSpPr txBox="1"/>
          <p:nvPr/>
        </p:nvSpPr>
        <p:spPr>
          <a:xfrm>
            <a:off x="15445010" y="9686835"/>
            <a:ext cx="3114955" cy="553998"/>
          </a:xfrm>
          <a:prstGeom prst="rect">
            <a:avLst/>
          </a:prstGeom>
          <a:noFill/>
        </p:spPr>
        <p:txBody>
          <a:bodyPr wrap="none" rtlCol="0">
            <a:spAutoFit/>
          </a:bodyPr>
          <a:lstStyle/>
          <a:p>
            <a:r>
              <a:rPr lang="en-GB" sz="3000" dirty="0"/>
              <a:t>AR5 WG3 report</a:t>
            </a:r>
          </a:p>
        </p:txBody>
      </p:sp>
    </p:spTree>
    <p:extLst>
      <p:ext uri="{BB962C8B-B14F-4D97-AF65-F5344CB8AC3E}">
        <p14:creationId xmlns:p14="http://schemas.microsoft.com/office/powerpoint/2010/main" val="1114158403"/>
      </p:ext>
    </p:extLst>
  </p:cSld>
  <p:clrMapOvr>
    <a:masterClrMapping/>
  </p:clrMapOvr>
  <mc:AlternateContent xmlns:mc="http://schemas.openxmlformats.org/markup-compatibility/2006" xmlns:p14="http://schemas.microsoft.com/office/powerpoint/2010/main">
    <mc:Choice Requires="p14">
      <p:transition spd="slow" p14:dur="2000" advTm="18622"/>
    </mc:Choice>
    <mc:Fallback xmlns="">
      <p:transition spd="slow" advTm="18622"/>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20289"/>
          </a:xfrm>
          <a:prstGeom prst="rect">
            <a:avLst/>
          </a:prstGeom>
        </p:spPr>
        <p:txBody>
          <a:bodyPr wrap="square" lIns="0" tIns="0" rIns="0" bIns="0" rtlCol="0" anchor="t">
            <a:spAutoFit/>
          </a:bodyPr>
          <a:lstStyle/>
          <a:p>
            <a:pPr>
              <a:lnSpc>
                <a:spcPts val="6719"/>
              </a:lnSpc>
            </a:pPr>
            <a:r>
              <a:rPr lang="en-US" sz="4400" b="1" dirty="0">
                <a:solidFill>
                  <a:srgbClr val="46245A"/>
                </a:solidFill>
                <a:latin typeface="DM Sans" pitchFamily="2" charset="0"/>
              </a:rPr>
              <a:t>Industry Mitigation Options </a:t>
            </a:r>
            <a:endParaRPr lang="en-US" sz="4400" dirty="0">
              <a:solidFill>
                <a:srgbClr val="46245A"/>
              </a:solidFill>
              <a:latin typeface="DM Sans" pitchFamily="2" charset="0"/>
            </a:endParaRPr>
          </a:p>
        </p:txBody>
      </p:sp>
      <p:sp>
        <p:nvSpPr>
          <p:cNvPr id="3" name="Rounded Rectangle 2">
            <a:extLst>
              <a:ext uri="{FF2B5EF4-FFF2-40B4-BE49-F238E27FC236}">
                <a16:creationId xmlns:a16="http://schemas.microsoft.com/office/drawing/2014/main" id="{D36236F7-9F70-8F55-E560-BA7D9681359D}"/>
              </a:ext>
            </a:extLst>
          </p:cNvPr>
          <p:cNvSpPr/>
          <p:nvPr/>
        </p:nvSpPr>
        <p:spPr>
          <a:xfrm>
            <a:off x="511343" y="2764800"/>
            <a:ext cx="4156911" cy="6933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3600" dirty="0"/>
              <a:t>Energy efficiency of industrial processes</a:t>
            </a:r>
          </a:p>
          <a:p>
            <a:endParaRPr lang="en-GB" sz="2700" dirty="0"/>
          </a:p>
          <a:p>
            <a:pPr marL="428625" indent="-428625">
              <a:buFont typeface="Arial" panose="020B0604020202020204" pitchFamily="34" charset="0"/>
              <a:buChar char="•"/>
            </a:pPr>
            <a:r>
              <a:rPr lang="en-GB" sz="2800" dirty="0"/>
              <a:t>Furnace insulation</a:t>
            </a:r>
          </a:p>
          <a:p>
            <a:pPr marL="428625" indent="-428625">
              <a:buFont typeface="Arial" panose="020B0604020202020204" pitchFamily="34" charset="0"/>
              <a:buChar char="•"/>
            </a:pPr>
            <a:r>
              <a:rPr lang="en-GB" sz="2800" dirty="0"/>
              <a:t>Using outputs of one process to be used in another (e.g. material recycling)</a:t>
            </a:r>
          </a:p>
          <a:p>
            <a:pPr marL="428625" indent="-428625">
              <a:buFont typeface="Arial" panose="020B0604020202020204" pitchFamily="34" charset="0"/>
              <a:buChar char="•"/>
            </a:pPr>
            <a:r>
              <a:rPr lang="en-GB" sz="2800" dirty="0"/>
              <a:t>Using low-carbon energy sources</a:t>
            </a:r>
          </a:p>
          <a:p>
            <a:pPr marL="428625" indent="-428625">
              <a:buFont typeface="Arial" panose="020B0604020202020204" pitchFamily="34" charset="0"/>
              <a:buChar char="•"/>
            </a:pPr>
            <a:endParaRPr lang="en-GB" sz="3000" dirty="0"/>
          </a:p>
          <a:p>
            <a:pPr marL="428625" indent="-428625">
              <a:buFont typeface="Arial" panose="020B0604020202020204" pitchFamily="34" charset="0"/>
              <a:buChar char="•"/>
            </a:pPr>
            <a:endParaRPr lang="en-GB" sz="3000" dirty="0"/>
          </a:p>
          <a:p>
            <a:pPr marL="428625" indent="-428625">
              <a:buFont typeface="Arial" panose="020B0604020202020204" pitchFamily="34" charset="0"/>
              <a:buChar char="•"/>
            </a:pPr>
            <a:endParaRPr lang="en-GB" sz="3000" dirty="0"/>
          </a:p>
        </p:txBody>
      </p:sp>
      <p:sp>
        <p:nvSpPr>
          <p:cNvPr id="8" name="Rounded Rectangle 7">
            <a:extLst>
              <a:ext uri="{FF2B5EF4-FFF2-40B4-BE49-F238E27FC236}">
                <a16:creationId xmlns:a16="http://schemas.microsoft.com/office/drawing/2014/main" id="{226B5050-66C5-7CE5-FE92-D9B410AE2C82}"/>
              </a:ext>
            </a:extLst>
          </p:cNvPr>
          <p:cNvSpPr/>
          <p:nvPr/>
        </p:nvSpPr>
        <p:spPr>
          <a:xfrm>
            <a:off x="4854743" y="2764798"/>
            <a:ext cx="4156911" cy="69336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3600" dirty="0"/>
              <a:t>Material efficiency</a:t>
            </a:r>
          </a:p>
          <a:p>
            <a:endParaRPr lang="en-GB" sz="3600" dirty="0"/>
          </a:p>
          <a:p>
            <a:pPr marL="514350" indent="-514350">
              <a:buFont typeface="Arial" panose="020B0604020202020204" pitchFamily="34" charset="0"/>
              <a:buChar char="•"/>
            </a:pPr>
            <a:r>
              <a:rPr lang="en-GB" sz="3000" dirty="0"/>
              <a:t>Reducing yield losses</a:t>
            </a:r>
          </a:p>
          <a:p>
            <a:pPr marL="514350" indent="-514350">
              <a:buFont typeface="Arial" panose="020B0604020202020204" pitchFamily="34" charset="0"/>
              <a:buChar char="•"/>
            </a:pPr>
            <a:r>
              <a:rPr lang="en-GB" sz="3000" dirty="0"/>
              <a:t>Light-weight designs</a:t>
            </a:r>
          </a:p>
          <a:p>
            <a:pPr marL="514350" indent="-514350">
              <a:buFont typeface="Arial" panose="020B0604020202020204" pitchFamily="34" charset="0"/>
              <a:buChar char="•"/>
            </a:pPr>
            <a:r>
              <a:rPr lang="en-GB" sz="3000" dirty="0"/>
              <a:t>Extended product life</a:t>
            </a:r>
          </a:p>
          <a:p>
            <a:pPr marL="514350" indent="-514350">
              <a:buFont typeface="Arial" panose="020B0604020202020204" pitchFamily="34" charset="0"/>
              <a:buChar char="•"/>
            </a:pPr>
            <a:endParaRPr lang="en-GB" sz="3000" dirty="0"/>
          </a:p>
          <a:p>
            <a:pPr marL="514350" indent="-514350">
              <a:buFont typeface="Arial" panose="020B0604020202020204" pitchFamily="34" charset="0"/>
              <a:buChar char="•"/>
            </a:pPr>
            <a:endParaRPr lang="en-GB" sz="3000" dirty="0"/>
          </a:p>
          <a:p>
            <a:endParaRPr lang="en-GB" sz="3600" dirty="0"/>
          </a:p>
          <a:p>
            <a:pPr marL="514350" indent="-514350">
              <a:buFont typeface="Arial" panose="020B0604020202020204" pitchFamily="34" charset="0"/>
              <a:buChar char="•"/>
            </a:pPr>
            <a:endParaRPr lang="en-GB" sz="3600" dirty="0"/>
          </a:p>
          <a:p>
            <a:endParaRPr lang="en-GB" sz="2700" dirty="0"/>
          </a:p>
        </p:txBody>
      </p:sp>
      <p:sp>
        <p:nvSpPr>
          <p:cNvPr id="9" name="Rounded Rectangle 8">
            <a:extLst>
              <a:ext uri="{FF2B5EF4-FFF2-40B4-BE49-F238E27FC236}">
                <a16:creationId xmlns:a16="http://schemas.microsoft.com/office/drawing/2014/main" id="{FC01E934-B3BB-3C25-9552-D63EA82E8884}"/>
              </a:ext>
            </a:extLst>
          </p:cNvPr>
          <p:cNvSpPr/>
          <p:nvPr/>
        </p:nvSpPr>
        <p:spPr>
          <a:xfrm>
            <a:off x="9198143" y="2764797"/>
            <a:ext cx="4156911" cy="69336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3600" dirty="0"/>
              <a:t>Use products more intensively</a:t>
            </a:r>
          </a:p>
          <a:p>
            <a:endParaRPr lang="en-GB" sz="2700" dirty="0"/>
          </a:p>
          <a:p>
            <a:pPr marL="428625" indent="-428625">
              <a:buFont typeface="Arial" panose="020B0604020202020204" pitchFamily="34" charset="0"/>
              <a:buChar char="•"/>
            </a:pPr>
            <a:r>
              <a:rPr lang="en-GB" sz="3000" dirty="0"/>
              <a:t>Higher building occupancy</a:t>
            </a:r>
          </a:p>
          <a:p>
            <a:pPr marL="428625" indent="-428625">
              <a:buFont typeface="Arial" panose="020B0604020202020204" pitchFamily="34" charset="0"/>
              <a:buChar char="•"/>
            </a:pPr>
            <a:r>
              <a:rPr lang="en-GB" sz="3000" dirty="0"/>
              <a:t>Car sharing</a:t>
            </a:r>
          </a:p>
          <a:p>
            <a:pPr marL="428625" indent="-428625">
              <a:buFont typeface="Arial" panose="020B0604020202020204" pitchFamily="34" charset="0"/>
              <a:buChar char="•"/>
            </a:pPr>
            <a:r>
              <a:rPr lang="en-GB" sz="3000" dirty="0"/>
              <a:t>Reducing food waste</a:t>
            </a:r>
          </a:p>
          <a:p>
            <a:pPr marL="428625" indent="-428625">
              <a:buFont typeface="Arial" panose="020B0604020202020204" pitchFamily="34" charset="0"/>
              <a:buChar char="•"/>
            </a:pPr>
            <a:endParaRPr lang="en-GB" sz="3000" dirty="0"/>
          </a:p>
        </p:txBody>
      </p:sp>
      <p:sp>
        <p:nvSpPr>
          <p:cNvPr id="11" name="Rounded Rectangle 10">
            <a:extLst>
              <a:ext uri="{FF2B5EF4-FFF2-40B4-BE49-F238E27FC236}">
                <a16:creationId xmlns:a16="http://schemas.microsoft.com/office/drawing/2014/main" id="{EF52969A-3570-AC1E-59F6-CFE542E5A816}"/>
              </a:ext>
            </a:extLst>
          </p:cNvPr>
          <p:cNvSpPr/>
          <p:nvPr/>
        </p:nvSpPr>
        <p:spPr>
          <a:xfrm>
            <a:off x="13541543" y="2764797"/>
            <a:ext cx="4156911" cy="69336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3600" dirty="0"/>
              <a:t>Demand </a:t>
            </a:r>
          </a:p>
          <a:p>
            <a:endParaRPr lang="en-GB" sz="2700" dirty="0"/>
          </a:p>
          <a:p>
            <a:pPr marL="428625" indent="-428625">
              <a:buFont typeface="Arial" panose="020B0604020202020204" pitchFamily="34" charset="0"/>
              <a:buChar char="•"/>
            </a:pPr>
            <a:r>
              <a:rPr lang="en-GB" sz="3000" dirty="0"/>
              <a:t>Reduce unnecessary consumption (e.g. fast fashion)</a:t>
            </a:r>
          </a:p>
          <a:p>
            <a:pPr marL="428625" indent="-428625">
              <a:buFont typeface="Arial" panose="020B0604020202020204" pitchFamily="34" charset="0"/>
              <a:buChar char="•"/>
            </a:pPr>
            <a:r>
              <a:rPr lang="en-GB" sz="3000" dirty="0"/>
              <a:t>Travel less</a:t>
            </a:r>
          </a:p>
        </p:txBody>
      </p:sp>
    </p:spTree>
    <p:custDataLst>
      <p:tags r:id="rId1"/>
    </p:custDataLst>
    <p:extLst>
      <p:ext uri="{BB962C8B-B14F-4D97-AF65-F5344CB8AC3E}">
        <p14:creationId xmlns:p14="http://schemas.microsoft.com/office/powerpoint/2010/main" val="1195547080"/>
      </p:ext>
    </p:extLst>
  </p:cSld>
  <p:clrMapOvr>
    <a:masterClrMapping/>
  </p:clrMapOvr>
  <mc:AlternateContent xmlns:mc="http://schemas.openxmlformats.org/markup-compatibility/2006" xmlns:p14="http://schemas.microsoft.com/office/powerpoint/2010/main">
    <mc:Choice Requires="p14">
      <p:transition spd="slow" p14:dur="2000" advTm="41454"/>
    </mc:Choice>
    <mc:Fallback xmlns="">
      <p:transition spd="slow" advTm="4145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20289"/>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46245A"/>
                </a:solidFill>
                <a:effectLst/>
                <a:uLnTx/>
                <a:uFillTx/>
                <a:latin typeface="DM Sans" pitchFamily="2" charset="0"/>
                <a:ea typeface="+mn-ea"/>
                <a:cs typeface="+mn-cs"/>
              </a:rPr>
              <a:t>How do we reduce emissions?</a:t>
            </a:r>
            <a:endParaRPr kumimoji="0" lang="en-US" sz="4400"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4" name="Rectangle 2">
            <a:extLst>
              <a:ext uri="{FF2B5EF4-FFF2-40B4-BE49-F238E27FC236}">
                <a16:creationId xmlns:a16="http://schemas.microsoft.com/office/drawing/2014/main" id="{C7A7FD86-AF1F-30A9-3A7C-682F8710EF04}"/>
              </a:ext>
            </a:extLst>
          </p:cNvPr>
          <p:cNvSpPr txBox="1">
            <a:spLocks noChangeArrowheads="1"/>
          </p:cNvSpPr>
          <p:nvPr/>
        </p:nvSpPr>
        <p:spPr>
          <a:xfrm>
            <a:off x="1172623" y="3060412"/>
            <a:ext cx="16065053" cy="6362557"/>
          </a:xfrm>
          <a:prstGeom prst="rect">
            <a:avLst/>
          </a:prstGeom>
        </p:spPr>
        <p:txBody>
          <a:bodyPr>
            <a:normAutofit/>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342900" marR="0" lvl="0" indent="-342900" algn="l" defTabSz="1175598" rtl="0" eaLnBrk="1" fontAlgn="auto" latinLnBrk="0" hangingPunct="1">
              <a:lnSpc>
                <a:spcPct val="100000"/>
              </a:lnSpc>
              <a:spcBef>
                <a:spcPct val="20000"/>
              </a:spcBef>
              <a:spcAft>
                <a:spcPts val="0"/>
              </a:spcAft>
              <a:buClrTx/>
              <a:buSzTx/>
              <a:buFont typeface="DM Sans" pitchFamily="34" charset="0"/>
              <a:buChar char="•"/>
              <a:tabLst/>
              <a:defRPr/>
            </a:pPr>
            <a:r>
              <a:rPr kumimoji="0" lang="en-GB" sz="3900" b="0" i="0" u="none" strike="noStrike" kern="1200" cap="none" spc="0" normalizeH="0" baseline="0" noProof="0" dirty="0">
                <a:ln>
                  <a:noFill/>
                </a:ln>
                <a:solidFill>
                  <a:prstClr val="black"/>
                </a:solidFill>
                <a:effectLst/>
                <a:uLnTx/>
                <a:uFillTx/>
                <a:latin typeface="DM Sans" pitchFamily="2" charset="0"/>
                <a:ea typeface="+mn-ea"/>
                <a:cs typeface="+mn-cs"/>
              </a:rPr>
              <a:t>Reduce demand for energy</a:t>
            </a:r>
          </a:p>
          <a:p>
            <a:pPr marL="342900" marR="0" lvl="0" indent="-342900" algn="l" defTabSz="1175598" rtl="0" eaLnBrk="1" fontAlgn="auto" latinLnBrk="0" hangingPunct="1">
              <a:lnSpc>
                <a:spcPct val="100000"/>
              </a:lnSpc>
              <a:spcBef>
                <a:spcPct val="20000"/>
              </a:spcBef>
              <a:spcAft>
                <a:spcPts val="0"/>
              </a:spcAft>
              <a:buClrTx/>
              <a:buSzTx/>
              <a:buFont typeface="DM Sans" pitchFamily="34" charset="0"/>
              <a:buChar char="•"/>
              <a:tabLst/>
              <a:defRPr/>
            </a:pPr>
            <a:r>
              <a:rPr kumimoji="0" lang="en-GB" sz="3900" b="0" i="0" u="none" strike="noStrike" kern="1200" cap="none" spc="0" normalizeH="0" baseline="0" noProof="0" dirty="0">
                <a:ln>
                  <a:noFill/>
                </a:ln>
                <a:solidFill>
                  <a:prstClr val="black"/>
                </a:solidFill>
                <a:effectLst/>
                <a:uLnTx/>
                <a:uFillTx/>
                <a:latin typeface="DM Sans" pitchFamily="2" charset="0"/>
                <a:ea typeface="+mn-ea"/>
                <a:cs typeface="+mn-cs"/>
              </a:rPr>
              <a:t>Reduce carbon emissions associated with existing demand</a:t>
            </a:r>
          </a:p>
          <a:p>
            <a:pPr marL="342900" marR="0" lvl="0" indent="-342900" algn="l" defTabSz="1175598" rtl="0" eaLnBrk="1" fontAlgn="auto" latinLnBrk="0" hangingPunct="1">
              <a:lnSpc>
                <a:spcPct val="100000"/>
              </a:lnSpc>
              <a:spcBef>
                <a:spcPct val="20000"/>
              </a:spcBef>
              <a:spcAft>
                <a:spcPts val="0"/>
              </a:spcAft>
              <a:buClrTx/>
              <a:buSzTx/>
              <a:buFont typeface="DM Sans" pitchFamily="34" charset="0"/>
              <a:buChar char="•"/>
              <a:tabLst/>
              <a:defRPr/>
            </a:pPr>
            <a:r>
              <a:rPr kumimoji="0" lang="en-GB" sz="3900" b="1" i="0" u="none" strike="noStrike" kern="1200" cap="none" spc="0" normalizeH="0" baseline="0" noProof="0" dirty="0">
                <a:ln>
                  <a:noFill/>
                </a:ln>
                <a:solidFill>
                  <a:srgbClr val="FF0000"/>
                </a:solidFill>
                <a:effectLst/>
                <a:uLnTx/>
                <a:uFillTx/>
                <a:latin typeface="DM Sans" pitchFamily="2" charset="0"/>
                <a:ea typeface="+mn-ea"/>
                <a:cs typeface="+mn-cs"/>
              </a:rPr>
              <a:t>Negative emission technologies</a:t>
            </a:r>
          </a:p>
          <a:p>
            <a:pPr lvl="1" defTabSz="1175598"/>
            <a:r>
              <a:rPr lang="en-GB" sz="3200" dirty="0"/>
              <a:t>Increased land uptake of carbon</a:t>
            </a:r>
          </a:p>
          <a:p>
            <a:pPr lvl="1" defTabSz="1175598"/>
            <a:r>
              <a:rPr lang="en-GB" sz="3200" dirty="0"/>
              <a:t>Bioenergy with CCS</a:t>
            </a:r>
          </a:p>
          <a:p>
            <a:pPr lvl="1" defTabSz="1175598"/>
            <a:r>
              <a:rPr lang="en-GB" sz="3200" dirty="0"/>
              <a:t>Increased ocean uptake of carbon</a:t>
            </a:r>
          </a:p>
          <a:p>
            <a:pPr lvl="1" defTabSz="1175598"/>
            <a:r>
              <a:rPr lang="en-GB" sz="3200" dirty="0"/>
              <a:t>Direct air capture and storage</a:t>
            </a:r>
          </a:p>
          <a:p>
            <a:pPr lvl="1" defTabSz="1175598"/>
            <a:r>
              <a:rPr lang="en-GB" sz="3200" dirty="0"/>
              <a:t>Storing carbon in the built environment</a:t>
            </a:r>
          </a:p>
          <a:p>
            <a:pPr marL="342900" marR="0" lvl="0" indent="-342900" algn="l" defTabSz="1175598" rtl="0" eaLnBrk="1" fontAlgn="auto" latinLnBrk="0" hangingPunct="1">
              <a:lnSpc>
                <a:spcPct val="100000"/>
              </a:lnSpc>
              <a:spcBef>
                <a:spcPct val="20000"/>
              </a:spcBef>
              <a:spcAft>
                <a:spcPts val="0"/>
              </a:spcAft>
              <a:buClrTx/>
              <a:buSzTx/>
              <a:buFont typeface="DM Sans" pitchFamily="34" charset="0"/>
              <a:buChar char="•"/>
              <a:tabLst/>
              <a:defRPr/>
            </a:pPr>
            <a:endParaRPr kumimoji="0" lang="en-GB" sz="3900" b="1" i="0" u="none" strike="noStrike" kern="1200" cap="none" spc="0" normalizeH="0" baseline="0" noProof="0" dirty="0">
              <a:ln>
                <a:noFill/>
              </a:ln>
              <a:solidFill>
                <a:srgbClr val="FF0000"/>
              </a:solidFill>
              <a:effectLst/>
              <a:uLnTx/>
              <a:uFillTx/>
              <a:latin typeface="DM Sans" pitchFamily="2" charset="0"/>
              <a:ea typeface="+mn-ea"/>
              <a:cs typeface="+mn-cs"/>
            </a:endParaRPr>
          </a:p>
        </p:txBody>
      </p:sp>
    </p:spTree>
    <p:extLst>
      <p:ext uri="{BB962C8B-B14F-4D97-AF65-F5344CB8AC3E}">
        <p14:creationId xmlns:p14="http://schemas.microsoft.com/office/powerpoint/2010/main" val="3958918356"/>
      </p:ext>
    </p:extLst>
  </p:cSld>
  <p:clrMapOvr>
    <a:masterClrMapping/>
  </p:clrMapOvr>
  <mc:AlternateContent xmlns:mc="http://schemas.openxmlformats.org/markup-compatibility/2006" xmlns:p14="http://schemas.microsoft.com/office/powerpoint/2010/main">
    <mc:Choice Requires="p14">
      <p:transition spd="slow" p14:dur="2000" advTm="16308"/>
    </mc:Choice>
    <mc:Fallback xmlns="">
      <p:transition spd="slow" advTm="16308"/>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20289"/>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46245A"/>
                </a:solidFill>
                <a:effectLst/>
                <a:uLnTx/>
                <a:uFillTx/>
                <a:latin typeface="DM Sans" pitchFamily="2" charset="0"/>
                <a:ea typeface="+mn-ea"/>
                <a:cs typeface="+mn-cs"/>
              </a:rPr>
              <a:t>Role of NET’s in Mitigation Policy </a:t>
            </a:r>
            <a:endParaRPr kumimoji="0" lang="en-US" sz="4400" b="0" i="0" u="none" strike="noStrike" kern="1200" cap="none" spc="0" normalizeH="0" baseline="0" noProof="0" dirty="0">
              <a:ln>
                <a:noFill/>
              </a:ln>
              <a:solidFill>
                <a:srgbClr val="46245A"/>
              </a:solidFill>
              <a:effectLst/>
              <a:uLnTx/>
              <a:uFillTx/>
              <a:latin typeface="DM Sans" pitchFamily="2" charset="0"/>
              <a:ea typeface="+mn-ea"/>
              <a:cs typeface="+mn-cs"/>
            </a:endParaRPr>
          </a:p>
        </p:txBody>
      </p:sp>
      <p:pic>
        <p:nvPicPr>
          <p:cNvPr id="4" name="Picture 3">
            <a:extLst>
              <a:ext uri="{FF2B5EF4-FFF2-40B4-BE49-F238E27FC236}">
                <a16:creationId xmlns:a16="http://schemas.microsoft.com/office/drawing/2014/main" id="{DA4DA6CE-9CAF-2F1D-1833-02345729A5B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634235" y="3688215"/>
            <a:ext cx="8467561" cy="5645040"/>
          </a:xfrm>
          <a:prstGeom prst="rect">
            <a:avLst/>
          </a:prstGeom>
        </p:spPr>
      </p:pic>
      <p:sp>
        <p:nvSpPr>
          <p:cNvPr id="7" name="Title 1">
            <a:extLst>
              <a:ext uri="{FF2B5EF4-FFF2-40B4-BE49-F238E27FC236}">
                <a16:creationId xmlns:a16="http://schemas.microsoft.com/office/drawing/2014/main" id="{18483C36-760E-7BFD-A83B-B015C699F7DC}"/>
              </a:ext>
            </a:extLst>
          </p:cNvPr>
          <p:cNvSpPr txBox="1">
            <a:spLocks/>
          </p:cNvSpPr>
          <p:nvPr/>
        </p:nvSpPr>
        <p:spPr>
          <a:xfrm>
            <a:off x="880365" y="2878213"/>
            <a:ext cx="15773400" cy="898053"/>
          </a:xfrm>
          <a:prstGeom prst="rect">
            <a:avLst/>
          </a:prstGeom>
        </p:spPr>
        <p:txBody>
          <a:bodyPr vert="horz" lIns="91440" tIns="45720" rIns="91440" bIns="45720" rtlCol="0" anchor="ctr">
            <a:normAutofit fontScale="82500" lnSpcReduction="10000"/>
          </a:bodyPr>
          <a:lstStyle>
            <a:lvl1pPr algn="ctr" defTabSz="914400" rtl="0" eaLnBrk="1" latinLnBrk="0" hangingPunct="1">
              <a:spcBef>
                <a:spcPct val="0"/>
              </a:spcBef>
              <a:buNone/>
              <a:defRPr sz="4400" kern="1200">
                <a:solidFill>
                  <a:schemeClr val="tx1"/>
                </a:solidFill>
                <a:latin typeface="DM Sans" pitchFamily="2" charset="0"/>
                <a:ea typeface="+mj-ea"/>
                <a:cs typeface="+mj-cs"/>
              </a:defRPr>
            </a:lvl1pPr>
          </a:lstStyle>
          <a:p>
            <a:r>
              <a:rPr lang="en-GB" sz="4200"/>
              <a:t>Shape of pathway depends on the timing and mix of mitigation policies</a:t>
            </a:r>
            <a:endParaRPr lang="en-GB" sz="4200" dirty="0"/>
          </a:p>
        </p:txBody>
      </p:sp>
    </p:spTree>
    <p:extLst>
      <p:ext uri="{BB962C8B-B14F-4D97-AF65-F5344CB8AC3E}">
        <p14:creationId xmlns:p14="http://schemas.microsoft.com/office/powerpoint/2010/main" val="174681532"/>
      </p:ext>
    </p:extLst>
  </p:cSld>
  <p:clrMapOvr>
    <a:masterClrMapping/>
  </p:clrMapOvr>
  <mc:AlternateContent xmlns:mc="http://schemas.openxmlformats.org/markup-compatibility/2006" xmlns:p14="http://schemas.microsoft.com/office/powerpoint/2010/main">
    <mc:Choice Requires="p14">
      <p:transition spd="slow" p14:dur="2000" advTm="12052"/>
    </mc:Choice>
    <mc:Fallback xmlns="">
      <p:transition spd="slow" advTm="12052"/>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976581" y="1362135"/>
            <a:ext cx="13847674" cy="820289"/>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46245A"/>
                </a:solidFill>
                <a:effectLst/>
                <a:uLnTx/>
                <a:uFillTx/>
                <a:latin typeface="DM Sans" pitchFamily="2" charset="0"/>
                <a:ea typeface="+mn-ea"/>
                <a:cs typeface="+mn-cs"/>
              </a:rPr>
              <a:t>Role of NET’s in Mitigation Policy </a:t>
            </a:r>
            <a:endParaRPr kumimoji="0" lang="en-US" sz="4400"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3" name="TextBox 2">
            <a:extLst>
              <a:ext uri="{FF2B5EF4-FFF2-40B4-BE49-F238E27FC236}">
                <a16:creationId xmlns:a16="http://schemas.microsoft.com/office/drawing/2014/main" id="{ED7EB188-9720-A376-4F93-58A0E7ADB2C1}"/>
              </a:ext>
            </a:extLst>
          </p:cNvPr>
          <p:cNvSpPr txBox="1"/>
          <p:nvPr/>
        </p:nvSpPr>
        <p:spPr>
          <a:xfrm>
            <a:off x="976581" y="2296215"/>
            <a:ext cx="17096266" cy="7432804"/>
          </a:xfrm>
          <a:prstGeom prst="rect">
            <a:avLst/>
          </a:prstGeom>
          <a:noFill/>
        </p:spPr>
        <p:txBody>
          <a:bodyPr wrap="square" rtlCol="0">
            <a:spAutoFit/>
          </a:bodyPr>
          <a:lstStyle/>
          <a:p>
            <a:r>
              <a:rPr lang="en-GB" sz="3600" dirty="0"/>
              <a:t>Need for NETs to:</a:t>
            </a:r>
          </a:p>
          <a:p>
            <a:pPr marL="428625" indent="-428625">
              <a:buFont typeface="Arial" panose="020B0604020202020204" pitchFamily="34" charset="0"/>
              <a:buChar char="•"/>
            </a:pPr>
            <a:r>
              <a:rPr lang="en-GB" sz="3600" dirty="0"/>
              <a:t>Offset emissions that cannot be reduced to zero.</a:t>
            </a:r>
          </a:p>
          <a:p>
            <a:pPr marL="428625" indent="-428625">
              <a:buFont typeface="Arial" panose="020B0604020202020204" pitchFamily="34" charset="0"/>
              <a:buChar char="•"/>
            </a:pPr>
            <a:r>
              <a:rPr lang="en-GB" sz="3600" dirty="0"/>
              <a:t>Undo the effects of past emissions.</a:t>
            </a:r>
          </a:p>
          <a:p>
            <a:pPr marL="428625" indent="-428625">
              <a:buFont typeface="Arial" panose="020B0604020202020204" pitchFamily="34" charset="0"/>
              <a:buChar char="•"/>
            </a:pPr>
            <a:endParaRPr lang="en-GB" sz="3600" dirty="0"/>
          </a:p>
          <a:p>
            <a:r>
              <a:rPr lang="en-GB" sz="3600" b="1" dirty="0"/>
              <a:t>But there are huge risks in thinking they are the solution:</a:t>
            </a:r>
          </a:p>
          <a:p>
            <a:pPr marL="428625" indent="-428625">
              <a:buFont typeface="Arial" panose="020B0604020202020204" pitchFamily="34" charset="0"/>
              <a:buChar char="•"/>
            </a:pPr>
            <a:r>
              <a:rPr lang="en-GB" sz="3600" dirty="0"/>
              <a:t>Never implemented at scale.</a:t>
            </a:r>
          </a:p>
          <a:p>
            <a:pPr marL="428625" indent="-428625">
              <a:buFont typeface="Arial" panose="020B0604020202020204" pitchFamily="34" charset="0"/>
              <a:buChar char="•"/>
            </a:pPr>
            <a:r>
              <a:rPr lang="en-GB" sz="3600" dirty="0"/>
              <a:t>Research or deployment of NETs can delay or deter action to reduce GHG emissions.</a:t>
            </a:r>
          </a:p>
          <a:p>
            <a:pPr marL="428625" indent="-428625">
              <a:buFont typeface="Arial" panose="020B0604020202020204" pitchFamily="34" charset="0"/>
              <a:buChar char="•"/>
            </a:pPr>
            <a:r>
              <a:rPr lang="en-GB" sz="3600" dirty="0"/>
              <a:t>Use of ‘net zero’ as a target often hides excessive reliance on NETs.</a:t>
            </a:r>
          </a:p>
          <a:p>
            <a:endParaRPr lang="en-GB" sz="3600" dirty="0"/>
          </a:p>
          <a:p>
            <a:r>
              <a:rPr lang="en-GB" sz="3900" dirty="0"/>
              <a:t>Promises of future carbon removal later </a:t>
            </a:r>
            <a:r>
              <a:rPr lang="en-GB" sz="3900" b="1" dirty="0"/>
              <a:t>instead of </a:t>
            </a:r>
            <a:r>
              <a:rPr lang="en-GB" sz="3900" dirty="0"/>
              <a:t>reducing emissions now are essentially a huge gamble with future generations paying the cost</a:t>
            </a:r>
          </a:p>
        </p:txBody>
      </p:sp>
    </p:spTree>
    <p:custDataLst>
      <p:tags r:id="rId1"/>
    </p:custDataLst>
    <p:extLst>
      <p:ext uri="{BB962C8B-B14F-4D97-AF65-F5344CB8AC3E}">
        <p14:creationId xmlns:p14="http://schemas.microsoft.com/office/powerpoint/2010/main" val="3466397925"/>
      </p:ext>
    </p:extLst>
  </p:cSld>
  <p:clrMapOvr>
    <a:masterClrMapping/>
  </p:clrMapOvr>
  <mc:AlternateContent xmlns:mc="http://schemas.openxmlformats.org/markup-compatibility/2006" xmlns:p14="http://schemas.microsoft.com/office/powerpoint/2010/main">
    <mc:Choice Requires="p14">
      <p:transition spd="slow" p14:dur="2000" advTm="94298"/>
    </mc:Choice>
    <mc:Fallback xmlns="">
      <p:transition spd="slow" advTm="9429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A443D-8183-0D34-7B60-4F4FD69A1542}"/>
            </a:ext>
          </a:extLst>
        </p:cNvPr>
        <p:cNvGrpSpPr/>
        <p:nvPr/>
      </p:nvGrpSpPr>
      <p:grpSpPr>
        <a:xfrm>
          <a:off x="0" y="0"/>
          <a:ext cx="0" cy="0"/>
          <a:chOff x="0" y="0"/>
          <a:chExt cx="0" cy="0"/>
        </a:xfrm>
      </p:grpSpPr>
      <p:sp>
        <p:nvSpPr>
          <p:cNvPr id="7" name="Freeform 13">
            <a:extLst>
              <a:ext uri="{FF2B5EF4-FFF2-40B4-BE49-F238E27FC236}">
                <a16:creationId xmlns:a16="http://schemas.microsoft.com/office/drawing/2014/main" id="{ED7BB8E6-D635-2433-75AC-38813C4B842E}"/>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3" name="TextBox 14">
            <a:extLst>
              <a:ext uri="{FF2B5EF4-FFF2-40B4-BE49-F238E27FC236}">
                <a16:creationId xmlns:a16="http://schemas.microsoft.com/office/drawing/2014/main" id="{2992C45F-F615-9B62-8842-65DFD765A85C}"/>
              </a:ext>
            </a:extLst>
          </p:cNvPr>
          <p:cNvSpPr txBox="1"/>
          <p:nvPr/>
        </p:nvSpPr>
        <p:spPr>
          <a:xfrm>
            <a:off x="817428" y="1260123"/>
            <a:ext cx="15746987" cy="86151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5400" b="1" i="1" u="none" strike="noStrike" kern="1200" cap="none" spc="-413" normalizeH="0" baseline="0" noProof="0" dirty="0">
                <a:ln>
                  <a:noFill/>
                </a:ln>
                <a:solidFill>
                  <a:srgbClr val="46245A"/>
                </a:solidFill>
                <a:effectLst/>
                <a:uLnTx/>
                <a:uFillTx/>
                <a:latin typeface="DM Sans Bold"/>
                <a:ea typeface="MS PGothic" panose="020B0600070205080204" pitchFamily="34" charset="-128"/>
                <a:cs typeface="+mn-cs"/>
              </a:rPr>
              <a:t>Could we do something about it?</a:t>
            </a:r>
          </a:p>
        </p:txBody>
      </p:sp>
      <p:pic>
        <p:nvPicPr>
          <p:cNvPr id="6" name="Picture 5">
            <a:extLst>
              <a:ext uri="{FF2B5EF4-FFF2-40B4-BE49-F238E27FC236}">
                <a16:creationId xmlns:a16="http://schemas.microsoft.com/office/drawing/2014/main" id="{6B25DF1A-FFF9-BC17-8625-203A67593228}"/>
              </a:ext>
            </a:extLst>
          </p:cNvPr>
          <p:cNvPicPr>
            <a:picLocks noChangeAspect="1"/>
          </p:cNvPicPr>
          <p:nvPr/>
        </p:nvPicPr>
        <p:blipFill>
          <a:blip r:embed="rId4"/>
          <a:stretch>
            <a:fillRect/>
          </a:stretch>
        </p:blipFill>
        <p:spPr>
          <a:xfrm>
            <a:off x="7848600" y="2475280"/>
            <a:ext cx="9621972" cy="7033605"/>
          </a:xfrm>
          <a:prstGeom prst="rect">
            <a:avLst/>
          </a:prstGeom>
        </p:spPr>
      </p:pic>
      <p:graphicFrame>
        <p:nvGraphicFramePr>
          <p:cNvPr id="9" name="TextBox 4">
            <a:extLst>
              <a:ext uri="{FF2B5EF4-FFF2-40B4-BE49-F238E27FC236}">
                <a16:creationId xmlns:a16="http://schemas.microsoft.com/office/drawing/2014/main" id="{856C8011-7F39-1E72-DC1E-1BADEC9608E5}"/>
              </a:ext>
            </a:extLst>
          </p:cNvPr>
          <p:cNvGraphicFramePr/>
          <p:nvPr/>
        </p:nvGraphicFramePr>
        <p:xfrm>
          <a:off x="817428" y="2475281"/>
          <a:ext cx="6783522" cy="703360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8" name="TextBox 7">
            <a:extLst>
              <a:ext uri="{FF2B5EF4-FFF2-40B4-BE49-F238E27FC236}">
                <a16:creationId xmlns:a16="http://schemas.microsoft.com/office/drawing/2014/main" id="{A23A94AD-C8AC-5E26-5687-1D448B15E429}"/>
              </a:ext>
            </a:extLst>
          </p:cNvPr>
          <p:cNvSpPr txBox="1"/>
          <p:nvPr/>
        </p:nvSpPr>
        <p:spPr>
          <a:xfrm>
            <a:off x="12522200" y="9862524"/>
            <a:ext cx="5486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DM Sans"/>
                <a:ea typeface="+mn-ea"/>
                <a:cs typeface="+mn-cs"/>
              </a:rPr>
              <a:t>Lawrence et al., 2018, Nature Communications</a:t>
            </a:r>
          </a:p>
        </p:txBody>
      </p:sp>
    </p:spTree>
    <p:extLst>
      <p:ext uri="{BB962C8B-B14F-4D97-AF65-F5344CB8AC3E}">
        <p14:creationId xmlns:p14="http://schemas.microsoft.com/office/powerpoint/2010/main" val="23949144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1291E-B584-FD23-5409-AD4E8DF9D15D}"/>
            </a:ext>
          </a:extLst>
        </p:cNvPr>
        <p:cNvGrpSpPr/>
        <p:nvPr/>
      </p:nvGrpSpPr>
      <p:grpSpPr>
        <a:xfrm>
          <a:off x="0" y="0"/>
          <a:ext cx="0" cy="0"/>
          <a:chOff x="0" y="0"/>
          <a:chExt cx="0" cy="0"/>
        </a:xfrm>
      </p:grpSpPr>
      <p:sp>
        <p:nvSpPr>
          <p:cNvPr id="3" name="TextBox 14">
            <a:extLst>
              <a:ext uri="{FF2B5EF4-FFF2-40B4-BE49-F238E27FC236}">
                <a16:creationId xmlns:a16="http://schemas.microsoft.com/office/drawing/2014/main" id="{AF68D400-DEB6-92F7-3EDB-5A9701421D5E}"/>
              </a:ext>
            </a:extLst>
          </p:cNvPr>
          <p:cNvSpPr txBox="1"/>
          <p:nvPr/>
        </p:nvSpPr>
        <p:spPr>
          <a:xfrm>
            <a:off x="584198" y="1026137"/>
            <a:ext cx="11004828" cy="86151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54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Lecture Summary</a:t>
            </a:r>
          </a:p>
        </p:txBody>
      </p:sp>
      <p:pic>
        <p:nvPicPr>
          <p:cNvPr id="10" name="Picture 2" descr="Places of Climate Change">
            <a:extLst>
              <a:ext uri="{FF2B5EF4-FFF2-40B4-BE49-F238E27FC236}">
                <a16:creationId xmlns:a16="http://schemas.microsoft.com/office/drawing/2014/main" id="{C0628126-DB9E-9414-769A-F262ECA340E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490" r="45547"/>
          <a:stretch>
            <a:fillRect/>
          </a:stretch>
        </p:blipFill>
        <p:spPr bwMode="auto">
          <a:xfrm>
            <a:off x="11345325" y="0"/>
            <a:ext cx="6942676" cy="10286985"/>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11" name="Freeform 13">
            <a:extLst>
              <a:ext uri="{FF2B5EF4-FFF2-40B4-BE49-F238E27FC236}">
                <a16:creationId xmlns:a16="http://schemas.microsoft.com/office/drawing/2014/main" id="{2F94EEC3-9338-4679-F02E-0F944C2AB3BA}"/>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4" name="TextBox 3">
            <a:extLst>
              <a:ext uri="{FF2B5EF4-FFF2-40B4-BE49-F238E27FC236}">
                <a16:creationId xmlns:a16="http://schemas.microsoft.com/office/drawing/2014/main" id="{E70AA273-C7C1-A010-4271-E171ED172E87}"/>
              </a:ext>
            </a:extLst>
          </p:cNvPr>
          <p:cNvSpPr txBox="1"/>
          <p:nvPr/>
        </p:nvSpPr>
        <p:spPr>
          <a:xfrm>
            <a:off x="584198" y="2118050"/>
            <a:ext cx="10189819" cy="781752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Climate change mitigation aims to limit future warming by reducing greenhouse gas emissions and enhancing carbon sinks.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Achieving these targets depends on cumulative emissions</a:t>
            </a:r>
          </a:p>
          <a:p>
            <a:pPr marR="0" lvl="0" algn="l" defTabSz="914400" rtl="0" eaLnBrk="1" fontAlgn="auto" latinLnBrk="0" hangingPunct="1">
              <a:lnSpc>
                <a:spcPct val="100000"/>
              </a:lnSpc>
              <a:spcBef>
                <a:spcPts val="0"/>
              </a:spcBef>
              <a:spcAft>
                <a:spcPts val="0"/>
              </a:spcAft>
              <a:buClrTx/>
              <a:buSzTx/>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Mitigation strategies include reducing energy demand, improving efficiency, transitioning to low- or zero-carbon energy sources, and changing behaviours.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Different sectors require different approaches, and prioritisation depends on factors such as emission magnitude, feasibility, and cost.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Negative Emission Technologies (NETs) will be needed meet climate targets, but they are uncertain, costly, and not yet deployed at scale.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Overreliance on NETs presents significant risks and may delay immediate mitigation efforts.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Effective mitigation requires coordinated global action, informed decision-making, and consideration of trade-offs between technological, economic, and societal factors.</a:t>
            </a:r>
          </a:p>
          <a:p>
            <a:pPr marR="0" lvl="0" algn="l" defTabSz="914400" rtl="0" eaLnBrk="1" fontAlgn="auto" latinLnBrk="0" hangingPunct="1">
              <a:lnSpc>
                <a:spcPct val="100000"/>
              </a:lnSpc>
              <a:spcBef>
                <a:spcPts val="0"/>
              </a:spcBef>
              <a:spcAft>
                <a:spcPts val="0"/>
              </a:spcAft>
              <a:buClrTx/>
              <a:buSzTx/>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38700898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05591-0C6C-C1B9-7994-FC3AF4862C54}"/>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B02C04EA-4F21-92E0-71CD-0A84C5430463}"/>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6" name="Picture 5" descr="A qr code with a black and white background&#10;&#10;AI-generated content may be incorrect.">
            <a:extLst>
              <a:ext uri="{FF2B5EF4-FFF2-40B4-BE49-F238E27FC236}">
                <a16:creationId xmlns:a16="http://schemas.microsoft.com/office/drawing/2014/main" id="{CBEB779C-52FA-AD6F-A84D-7FDC73690F7D}"/>
              </a:ext>
            </a:extLst>
          </p:cNvPr>
          <p:cNvPicPr>
            <a:picLocks noChangeAspect="1"/>
          </p:cNvPicPr>
          <p:nvPr/>
        </p:nvPicPr>
        <p:blipFill>
          <a:blip r:embed="rId4"/>
          <a:stretch>
            <a:fillRect/>
          </a:stretch>
        </p:blipFill>
        <p:spPr>
          <a:xfrm>
            <a:off x="584199" y="2465147"/>
            <a:ext cx="5289063" cy="5289063"/>
          </a:xfrm>
          <a:prstGeom prst="rect">
            <a:avLst/>
          </a:prstGeom>
        </p:spPr>
      </p:pic>
      <p:sp>
        <p:nvSpPr>
          <p:cNvPr id="7" name="TextBox 6">
            <a:extLst>
              <a:ext uri="{FF2B5EF4-FFF2-40B4-BE49-F238E27FC236}">
                <a16:creationId xmlns:a16="http://schemas.microsoft.com/office/drawing/2014/main" id="{930B9941-E867-94DC-CA64-F6812FA14809}"/>
              </a:ext>
            </a:extLst>
          </p:cNvPr>
          <p:cNvSpPr txBox="1"/>
          <p:nvPr/>
        </p:nvSpPr>
        <p:spPr>
          <a:xfrm>
            <a:off x="584199" y="8026163"/>
            <a:ext cx="5289063" cy="5078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2700" b="0" i="0" u="none" strike="noStrike" kern="1200" cap="none" spc="0" normalizeH="0" baseline="0" noProof="0" dirty="0">
                <a:ln>
                  <a:noFill/>
                </a:ln>
                <a:solidFill>
                  <a:prstClr val="black"/>
                </a:solidFill>
                <a:effectLst/>
                <a:uLnTx/>
                <a:uFillTx/>
                <a:latin typeface="DM Sans"/>
                <a:ea typeface="+mn-ea"/>
                <a:cs typeface="+mn-cs"/>
              </a:rPr>
              <a:t>Comments/Questions/Revision</a:t>
            </a:r>
          </a:p>
        </p:txBody>
      </p:sp>
    </p:spTree>
    <p:extLst>
      <p:ext uri="{BB962C8B-B14F-4D97-AF65-F5344CB8AC3E}">
        <p14:creationId xmlns:p14="http://schemas.microsoft.com/office/powerpoint/2010/main" val="12684027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351D686-1DE4-1396-2A19-D718507EDCC0}"/>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0ABAAB73-8633-9C4C-A0E5-3E44FEF9664E}"/>
              </a:ext>
            </a:extLst>
          </p:cNvPr>
          <p:cNvSpPr txBox="1"/>
          <p:nvPr/>
        </p:nvSpPr>
        <p:spPr>
          <a:xfrm>
            <a:off x="1143000" y="1515501"/>
            <a:ext cx="14649450" cy="805605"/>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46245A"/>
                </a:solidFill>
                <a:effectLst/>
                <a:uLnTx/>
                <a:uFillTx/>
                <a:latin typeface="DM Sans" pitchFamily="2" charset="0"/>
                <a:ea typeface="+mn-ea"/>
                <a:cs typeface="+mn-cs"/>
              </a:rPr>
              <a:t>Example Exam Themes</a:t>
            </a:r>
            <a:endParaRPr kumimoji="0" lang="en-US" sz="4400"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10" name="Freeform 13">
            <a:extLst>
              <a:ext uri="{FF2B5EF4-FFF2-40B4-BE49-F238E27FC236}">
                <a16:creationId xmlns:a16="http://schemas.microsoft.com/office/drawing/2014/main" id="{63658212-4D3A-E72D-14FE-2F4158D3DC64}"/>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Content Placeholder 2">
            <a:extLst>
              <a:ext uri="{FF2B5EF4-FFF2-40B4-BE49-F238E27FC236}">
                <a16:creationId xmlns:a16="http://schemas.microsoft.com/office/drawing/2014/main" id="{B2530D13-C98C-CD4D-9898-7CEA2A67113D}"/>
              </a:ext>
            </a:extLst>
          </p:cNvPr>
          <p:cNvSpPr txBox="1">
            <a:spLocks/>
          </p:cNvSpPr>
          <p:nvPr/>
        </p:nvSpPr>
        <p:spPr>
          <a:xfrm>
            <a:off x="1143000" y="3166209"/>
            <a:ext cx="15795171" cy="4525963"/>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r>
              <a:rPr kumimoji="0" lang="en-GB" altLang="en-US" sz="3200" b="0" i="0" u="none" strike="noStrike" kern="1200" cap="none" spc="0" normalizeH="0" baseline="0" noProof="0" dirty="0">
                <a:ln>
                  <a:noFill/>
                </a:ln>
                <a:solidFill>
                  <a:prstClr val="black"/>
                </a:solidFill>
                <a:effectLst/>
                <a:uLnTx/>
                <a:uFillTx/>
                <a:latin typeface="DM Sans" pitchFamily="2"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kumimoji="0" lang="en-GB" altLang="en-US"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sp>
        <p:nvSpPr>
          <p:cNvPr id="2" name="TextBox 1">
            <a:extLst>
              <a:ext uri="{FF2B5EF4-FFF2-40B4-BE49-F238E27FC236}">
                <a16:creationId xmlns:a16="http://schemas.microsoft.com/office/drawing/2014/main" id="{BE5CF940-4C79-8107-69DF-37D602D2E31A}"/>
              </a:ext>
            </a:extLst>
          </p:cNvPr>
          <p:cNvSpPr txBox="1"/>
          <p:nvPr/>
        </p:nvSpPr>
        <p:spPr>
          <a:xfrm>
            <a:off x="1143000" y="2783586"/>
            <a:ext cx="16002000" cy="7061613"/>
          </a:xfrm>
          <a:prstGeom prst="rect">
            <a:avLst/>
          </a:prstGeom>
          <a:noFill/>
        </p:spPr>
        <p:txBody>
          <a:bodyPr wrap="square" rtlCol="0">
            <a:spAutoFit/>
          </a:bodyPr>
          <a:lstStyle/>
          <a:p>
            <a:pPr marL="342900" marR="0" lvl="0" indent="-342900" algn="l" defTabSz="914400" rtl="0" eaLnBrk="1" fontAlgn="auto" latinLnBrk="0" hangingPunct="1">
              <a:lnSpc>
                <a:spcPct val="107000"/>
              </a:lnSpc>
              <a:spcBef>
                <a:spcPts val="0"/>
              </a:spcBef>
              <a:spcAft>
                <a:spcPts val="800"/>
              </a:spcAft>
              <a:buClrTx/>
              <a:buSzTx/>
              <a:buFont typeface="+mj-lt"/>
              <a:buAutoNum type="arabicPeriod"/>
              <a:tabLst/>
              <a:defRPr/>
            </a:pPr>
            <a:r>
              <a:rPr kumimoji="0" lang="en-US" sz="26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Describe the difference between adaptation and mitigation </a:t>
            </a:r>
          </a:p>
          <a:p>
            <a:pPr marL="342900" marR="0" lvl="0" indent="-342900" algn="l" defTabSz="914400" rtl="0" eaLnBrk="1" fontAlgn="auto" latinLnBrk="0" hangingPunct="1">
              <a:lnSpc>
                <a:spcPct val="107000"/>
              </a:lnSpc>
              <a:spcBef>
                <a:spcPts val="0"/>
              </a:spcBef>
              <a:spcAft>
                <a:spcPts val="800"/>
              </a:spcAft>
              <a:buClrTx/>
              <a:buSzTx/>
              <a:buFont typeface="+mj-lt"/>
              <a:buAutoNum type="arabicPeriod"/>
              <a:tabLst/>
              <a:defRPr/>
            </a:pPr>
            <a:r>
              <a:rPr kumimoji="0" lang="en-US" sz="26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Give an example of where a positive change to mitigate against climate change could also have air quality co-benefits </a:t>
            </a:r>
          </a:p>
          <a:p>
            <a:pPr marL="342900" marR="0" lvl="0" indent="-342900" algn="l" defTabSz="914400" rtl="0" eaLnBrk="1" fontAlgn="auto" latinLnBrk="0" hangingPunct="1">
              <a:lnSpc>
                <a:spcPct val="107000"/>
              </a:lnSpc>
              <a:spcBef>
                <a:spcPts val="0"/>
              </a:spcBef>
              <a:spcAft>
                <a:spcPts val="800"/>
              </a:spcAft>
              <a:buClrTx/>
              <a:buSzTx/>
              <a:buFont typeface="+mj-lt"/>
              <a:buAutoNum type="arabicPeriod"/>
              <a:tabLst/>
              <a:defRPr/>
            </a:pPr>
            <a:r>
              <a:rPr kumimoji="0" lang="en-US" sz="26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Give an example of where a positive change to mitigate against climate change could also have air quality disbenefits </a:t>
            </a:r>
          </a:p>
          <a:p>
            <a:pPr marL="342900" indent="-342900">
              <a:lnSpc>
                <a:spcPct val="107000"/>
              </a:lnSpc>
              <a:spcAft>
                <a:spcPts val="800"/>
              </a:spcAft>
              <a:buFont typeface="+mj-lt"/>
              <a:buAutoNum type="arabicPeriod"/>
              <a:defRPr/>
            </a:pPr>
            <a:r>
              <a:rPr lang="en-GB" sz="2600" dirty="0">
                <a:latin typeface="Calibri" panose="020F0502020204030204" pitchFamily="34" charset="0"/>
                <a:cs typeface="Calibri" panose="020F0502020204030204" pitchFamily="34" charset="0"/>
              </a:rPr>
              <a:t>Discuss the role of different sectors (e.g. energy, transport, industry, buildings) in contributing to global greenhouse gas emissions, and evaluate which sector offers the greatest mitigation potential.</a:t>
            </a:r>
          </a:p>
          <a:p>
            <a:pPr marL="342900" indent="-342900">
              <a:lnSpc>
                <a:spcPct val="107000"/>
              </a:lnSpc>
              <a:spcAft>
                <a:spcPts val="800"/>
              </a:spcAft>
              <a:buFont typeface="+mj-lt"/>
              <a:buAutoNum type="arabicPeriod"/>
              <a:defRPr/>
            </a:pPr>
            <a:r>
              <a:rPr lang="en-GB" sz="2600" dirty="0">
                <a:latin typeface="Calibri" panose="020F0502020204030204" pitchFamily="34" charset="0"/>
                <a:cs typeface="Calibri" panose="020F0502020204030204" pitchFamily="34" charset="0"/>
              </a:rPr>
              <a:t>Evaluate the advantages and limitations of renewable energy as a mitigation strategy.</a:t>
            </a:r>
          </a:p>
          <a:p>
            <a:pPr marL="342900" indent="-342900">
              <a:lnSpc>
                <a:spcPct val="107000"/>
              </a:lnSpc>
              <a:spcAft>
                <a:spcPts val="800"/>
              </a:spcAft>
              <a:buFont typeface="+mj-lt"/>
              <a:buAutoNum type="arabicPeriod"/>
              <a:defRPr/>
            </a:pPr>
            <a:r>
              <a:rPr lang="en-GB" sz="2600" dirty="0">
                <a:latin typeface="Calibri" panose="020F0502020204030204" pitchFamily="34" charset="0"/>
                <a:cs typeface="Calibri" panose="020F0502020204030204" pitchFamily="34" charset="0"/>
              </a:rPr>
              <a:t>Discuss the challenges associated with transitioning to a low-carbon energy system.</a:t>
            </a:r>
          </a:p>
          <a:p>
            <a:pPr marL="342900" indent="-342900">
              <a:lnSpc>
                <a:spcPct val="107000"/>
              </a:lnSpc>
              <a:spcAft>
                <a:spcPts val="800"/>
              </a:spcAft>
              <a:buFont typeface="+mj-lt"/>
              <a:buAutoNum type="arabicPeriod"/>
              <a:defRPr/>
            </a:pPr>
            <a:r>
              <a:rPr lang="en-GB" sz="2600" dirty="0">
                <a:latin typeface="Calibri" panose="020F0502020204030204" pitchFamily="34" charset="0"/>
                <a:cs typeface="Calibri" panose="020F0502020204030204" pitchFamily="34" charset="0"/>
              </a:rPr>
              <a:t>Explain the concept of emissions pathways (e.g. RCPs) and describe how they are used to inform climate policy.</a:t>
            </a:r>
          </a:p>
          <a:p>
            <a:pPr marL="342900" indent="-342900">
              <a:lnSpc>
                <a:spcPct val="107000"/>
              </a:lnSpc>
              <a:spcAft>
                <a:spcPts val="800"/>
              </a:spcAft>
              <a:buFont typeface="+mj-lt"/>
              <a:buAutoNum type="arabicPeriod"/>
              <a:defRPr/>
            </a:pPr>
            <a:r>
              <a:rPr lang="en-GB" sz="2600" dirty="0">
                <a:latin typeface="Calibri" panose="020F0502020204030204" pitchFamily="34" charset="0"/>
                <a:cs typeface="Calibri" panose="020F0502020204030204" pitchFamily="34" charset="0"/>
              </a:rPr>
              <a:t>Assess the role of behavioural change in reducing greenhouse gas emissions. Provide examples.</a:t>
            </a:r>
          </a:p>
          <a:p>
            <a:pPr marL="342900" indent="-342900">
              <a:lnSpc>
                <a:spcPct val="107000"/>
              </a:lnSpc>
              <a:spcAft>
                <a:spcPts val="800"/>
              </a:spcAft>
              <a:buFont typeface="+mj-lt"/>
              <a:buAutoNum type="arabicPeriod"/>
              <a:defRPr/>
            </a:pPr>
            <a:r>
              <a:rPr lang="en-GB" sz="2600" dirty="0">
                <a:latin typeface="Calibri" panose="020F0502020204030204" pitchFamily="34" charset="0"/>
                <a:cs typeface="Calibri" panose="020F0502020204030204" pitchFamily="34" charset="0"/>
              </a:rPr>
              <a:t>Discuss the potential benefits and drawbacks of carbon capture and storage (CCS) as a mitigation strategy.</a:t>
            </a:r>
          </a:p>
          <a:p>
            <a:pPr marL="342900" indent="-342900">
              <a:lnSpc>
                <a:spcPct val="107000"/>
              </a:lnSpc>
              <a:spcAft>
                <a:spcPts val="800"/>
              </a:spcAft>
              <a:buFont typeface="+mj-lt"/>
              <a:buAutoNum type="arabicPeriod"/>
              <a:defRPr/>
            </a:pPr>
            <a:r>
              <a:rPr lang="en-GB" sz="2600" dirty="0">
                <a:latin typeface="Calibri" panose="020F0502020204030204" pitchFamily="34" charset="0"/>
                <a:cs typeface="Calibri" panose="020F0502020204030204" pitchFamily="34" charset="0"/>
              </a:rPr>
              <a:t>Evaluate the role of international agreements (e.g. the Paris Agreement) in achieving global mitigation targets.</a:t>
            </a:r>
          </a:p>
          <a:p>
            <a:pPr marL="342900" marR="0" lvl="0" indent="-342900" algn="l" defTabSz="914400" rtl="0" eaLnBrk="1" fontAlgn="auto" latinLnBrk="0" hangingPunct="1">
              <a:lnSpc>
                <a:spcPct val="107000"/>
              </a:lnSpc>
              <a:spcBef>
                <a:spcPts val="0"/>
              </a:spcBef>
              <a:spcAft>
                <a:spcPts val="800"/>
              </a:spcAft>
              <a:buClrTx/>
              <a:buSzTx/>
              <a:buFont typeface="+mj-lt"/>
              <a:buAutoNum type="arabicPeriod"/>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30526267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2455D-9EF2-494D-209E-9E109C0A74BB}"/>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9F81932-4E4F-2E80-921C-DAC2EC93067E}"/>
              </a:ext>
            </a:extLst>
          </p:cNvPr>
          <p:cNvSpPr>
            <a:spLocks noGrp="1"/>
          </p:cNvSpPr>
          <p:nvPr>
            <p:ph idx="1"/>
          </p:nvPr>
        </p:nvSpPr>
        <p:spPr>
          <a:xfrm>
            <a:off x="440806" y="6172538"/>
            <a:ext cx="16766307" cy="2994651"/>
          </a:xfrm>
        </p:spPr>
        <p:txBody>
          <a:bodyPr rtlCol="0">
            <a:normAutofit/>
          </a:bodyPr>
          <a:lstStyle/>
          <a:p>
            <a:r>
              <a:rPr lang="en-GB" sz="2800" dirty="0">
                <a:latin typeface="Calibri" panose="020F0502020204030204" pitchFamily="34" charset="0"/>
                <a:cs typeface="Calibri" panose="020F0502020204030204" pitchFamily="34" charset="0"/>
              </a:rPr>
              <a:t>Agricultural practices and climate change (impacts, adaptation, mitigation)</a:t>
            </a:r>
          </a:p>
          <a:p>
            <a:r>
              <a:rPr lang="en-GB" sz="2800" dirty="0">
                <a:latin typeface="Calibri" panose="020F0502020204030204" pitchFamily="34" charset="0"/>
                <a:cs typeface="Calibri" panose="020F0502020204030204" pitchFamily="34" charset="0"/>
              </a:rPr>
              <a:t>Marine cloud brightening as a climate intervention strategy</a:t>
            </a:r>
          </a:p>
          <a:p>
            <a:r>
              <a:rPr lang="en-GB" sz="2800" dirty="0">
                <a:latin typeface="Calibri" panose="020F0502020204030204" pitchFamily="34" charset="0"/>
                <a:cs typeface="Calibri" panose="020F0502020204030204" pitchFamily="34" charset="0"/>
              </a:rPr>
              <a:t>Focus on real-world applications and implications of both approaches</a:t>
            </a:r>
          </a:p>
          <a:p>
            <a:r>
              <a:rPr lang="en-GB" sz="2800" dirty="0">
                <a:latin typeface="Calibri" panose="020F0502020204030204" pitchFamily="34" charset="0"/>
                <a:cs typeface="Calibri" panose="020F0502020204030204" pitchFamily="34" charset="0"/>
              </a:rPr>
              <a:t>Evaluation of benefits, risks, and potential unintended consequences</a:t>
            </a:r>
          </a:p>
          <a:p>
            <a:r>
              <a:rPr lang="en-GB" sz="2800" dirty="0">
                <a:latin typeface="Calibri" panose="020F0502020204030204" pitchFamily="34" charset="0"/>
                <a:cs typeface="Calibri" panose="020F0502020204030204" pitchFamily="34" charset="0"/>
              </a:rPr>
              <a:t>Links to policy, sustainability, and future climate solutions</a:t>
            </a:r>
            <a:endParaRPr lang="en-GB" altLang="en-US" sz="2800" dirty="0">
              <a:latin typeface="Calibri" panose="020F0502020204030204" pitchFamily="34" charset="0"/>
              <a:cs typeface="Calibri" panose="020F0502020204030204" pitchFamily="34" charset="0"/>
            </a:endParaRPr>
          </a:p>
        </p:txBody>
      </p:sp>
      <p:pic>
        <p:nvPicPr>
          <p:cNvPr id="5" name="Picture 2" descr="Places of Climate Change">
            <a:extLst>
              <a:ext uri="{FF2B5EF4-FFF2-40B4-BE49-F238E27FC236}">
                <a16:creationId xmlns:a16="http://schemas.microsoft.com/office/drawing/2014/main" id="{0E7323DA-2CFD-2387-B3D7-FFC7A6D8C79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 t="31098" r="-26" b="18919"/>
          <a:stretch>
            <a:fillRect/>
          </a:stretch>
        </p:blipFill>
        <p:spPr bwMode="auto">
          <a:xfrm>
            <a:off x="0" y="0"/>
            <a:ext cx="18288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4">
            <a:extLst>
              <a:ext uri="{FF2B5EF4-FFF2-40B4-BE49-F238E27FC236}">
                <a16:creationId xmlns:a16="http://schemas.microsoft.com/office/drawing/2014/main" id="{92EE434B-BF54-0D2B-1C60-07296D916036}"/>
              </a:ext>
            </a:extLst>
          </p:cNvPr>
          <p:cNvSpPr txBox="1"/>
          <p:nvPr/>
        </p:nvSpPr>
        <p:spPr>
          <a:xfrm>
            <a:off x="440806" y="4023689"/>
            <a:ext cx="18287999" cy="1769715"/>
          </a:xfrm>
          <a:prstGeom prst="rect">
            <a:avLst/>
          </a:prstGeom>
        </p:spPr>
        <p:txBody>
          <a:bodyPr wrap="square" lIns="0" tIns="0" rIns="0" bIns="0" rtlCol="0" anchor="t">
            <a:spAutoFit/>
          </a:bodyPr>
          <a:lstStyle/>
          <a:p>
            <a:pPr marL="0" marR="0" lvl="0" indent="0" algn="l" defTabSz="914490" rtl="0" eaLnBrk="1" fontAlgn="auto" latinLnBrk="0" hangingPunct="1">
              <a:lnSpc>
                <a:spcPts val="6861"/>
              </a:lnSpc>
              <a:spcBef>
                <a:spcPts val="0"/>
              </a:spcBef>
              <a:spcAft>
                <a:spcPts val="0"/>
              </a:spcAft>
              <a:buClrTx/>
              <a:buSzTx/>
              <a:buFontTx/>
              <a:buNone/>
              <a:tabLst/>
              <a:defRPr/>
            </a:pPr>
            <a:r>
              <a:rPr kumimoji="0" lang="en-US" sz="4800" b="0" i="1" u="none" strike="noStrike" kern="1200" cap="none" spc="-413" normalizeH="0" baseline="0" noProof="0" dirty="0">
                <a:ln>
                  <a:noFill/>
                </a:ln>
                <a:solidFill>
                  <a:prstClr val="white"/>
                </a:solidFill>
                <a:effectLst/>
                <a:uLnTx/>
                <a:uFillTx/>
                <a:latin typeface="DM Sans Bold"/>
                <a:ea typeface="+mn-ea"/>
                <a:cs typeface="+mn-cs"/>
              </a:rPr>
              <a:t>Week 10: Climate Change Case Studies</a:t>
            </a:r>
          </a:p>
          <a:p>
            <a:pPr marL="0" marR="0" lvl="0" indent="0" algn="l" defTabSz="914490" rtl="0" eaLnBrk="1" fontAlgn="auto" latinLnBrk="0" hangingPunct="1">
              <a:lnSpc>
                <a:spcPts val="6861"/>
              </a:lnSpc>
              <a:spcBef>
                <a:spcPts val="0"/>
              </a:spcBef>
              <a:spcAft>
                <a:spcPts val="0"/>
              </a:spcAft>
              <a:buClrTx/>
              <a:buSzTx/>
              <a:buFontTx/>
              <a:buNone/>
              <a:tabLst/>
              <a:defRPr/>
            </a:pPr>
            <a:endParaRPr kumimoji="0" lang="en-US" sz="6000" b="0" i="1" u="none" strike="noStrike" kern="1200" cap="none" spc="-413" normalizeH="0" baseline="0" noProof="0" dirty="0">
              <a:ln>
                <a:noFill/>
              </a:ln>
              <a:solidFill>
                <a:prstClr val="white"/>
              </a:solidFill>
              <a:effectLst/>
              <a:uLnTx/>
              <a:uFillTx/>
              <a:latin typeface="DM Sans Bold"/>
              <a:ea typeface="+mn-ea"/>
              <a:cs typeface="+mn-cs"/>
            </a:endParaRPr>
          </a:p>
        </p:txBody>
      </p:sp>
      <p:sp>
        <p:nvSpPr>
          <p:cNvPr id="8" name="Freeform 13">
            <a:extLst>
              <a:ext uri="{FF2B5EF4-FFF2-40B4-BE49-F238E27FC236}">
                <a16:creationId xmlns:a16="http://schemas.microsoft.com/office/drawing/2014/main" id="{3AFD2C1F-0CE2-C515-F07D-A179C1F1DDED}"/>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9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9905022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D4ED785F-CE62-82CB-F996-0E665B36E0E7}"/>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02AC8828-C975-6D5D-820F-78E1B8CC22FE}"/>
              </a:ext>
            </a:extLst>
          </p:cNvPr>
          <p:cNvSpPr/>
          <p:nvPr/>
        </p:nvSpPr>
        <p:spPr>
          <a:xfrm>
            <a:off x="2106217" y="3973726"/>
            <a:ext cx="5289972" cy="2339545"/>
          </a:xfrm>
          <a:custGeom>
            <a:avLst/>
            <a:gdLst/>
            <a:ahLst/>
            <a:cxnLst/>
            <a:rect l="l" t="t" r="r" b="b"/>
            <a:pathLst>
              <a:path w="6608213" h="2922551">
                <a:moveTo>
                  <a:pt x="0" y="0"/>
                </a:moveTo>
                <a:lnTo>
                  <a:pt x="6608212" y="0"/>
                </a:lnTo>
                <a:lnTo>
                  <a:pt x="6608212" y="2922552"/>
                </a:lnTo>
                <a:lnTo>
                  <a:pt x="0" y="2922552"/>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11" name="TextBox 11">
            <a:extLst>
              <a:ext uri="{FF2B5EF4-FFF2-40B4-BE49-F238E27FC236}">
                <a16:creationId xmlns:a16="http://schemas.microsoft.com/office/drawing/2014/main" id="{4C3DE186-561B-2390-96D5-63833B499408}"/>
              </a:ext>
            </a:extLst>
          </p:cNvPr>
          <p:cNvSpPr txBox="1"/>
          <p:nvPr/>
        </p:nvSpPr>
        <p:spPr>
          <a:xfrm>
            <a:off x="10348544" y="4674749"/>
            <a:ext cx="6816043" cy="937501"/>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8000" b="0" i="0" u="none" strike="noStrike" kern="1200" cap="none" spc="0" normalizeH="0" baseline="0" noProof="0">
                <a:ln>
                  <a:noFill/>
                </a:ln>
                <a:solidFill>
                  <a:srgbClr val="F8F8F8"/>
                </a:solidFill>
                <a:effectLst/>
                <a:uLnTx/>
                <a:uFillTx/>
                <a:latin typeface="DM Sans Bold"/>
                <a:ea typeface="+mn-ea"/>
                <a:cs typeface="+mn-cs"/>
              </a:rPr>
              <a:t>Thank you</a:t>
            </a:r>
          </a:p>
        </p:txBody>
      </p:sp>
      <p:sp>
        <p:nvSpPr>
          <p:cNvPr id="2" name="TextBox 15">
            <a:extLst>
              <a:ext uri="{FF2B5EF4-FFF2-40B4-BE49-F238E27FC236}">
                <a16:creationId xmlns:a16="http://schemas.microsoft.com/office/drawing/2014/main" id="{7FEBE903-FCF1-495E-DB96-B5A94CA829B0}"/>
              </a:ext>
            </a:extLst>
          </p:cNvPr>
          <p:cNvSpPr txBox="1"/>
          <p:nvPr/>
        </p:nvSpPr>
        <p:spPr>
          <a:xfrm>
            <a:off x="6166883" y="8646395"/>
            <a:ext cx="11252885" cy="612796"/>
          </a:xfrm>
          <a:prstGeom prst="rect">
            <a:avLst/>
          </a:prstGeom>
        </p:spPr>
        <p:txBody>
          <a:bodyPr wrap="square" lIns="0" tIns="0" rIns="0" bIns="0" rtlCol="0" anchor="t">
            <a:spAutoFit/>
          </a:bodyPr>
          <a:lstStyle/>
          <a:p>
            <a:pPr marL="0" marR="0" lvl="0" indent="0" algn="l" defTabSz="914400" rtl="0" eaLnBrk="1" fontAlgn="auto" latinLnBrk="0" hangingPunct="1">
              <a:lnSpc>
                <a:spcPts val="5040"/>
              </a:lnSpc>
              <a:spcBef>
                <a:spcPts val="0"/>
              </a:spcBef>
              <a:spcAft>
                <a:spcPts val="0"/>
              </a:spcAft>
              <a:buClrTx/>
              <a:buSzTx/>
              <a:buFontTx/>
              <a:buNone/>
              <a:tabLst/>
              <a:defRPr/>
            </a:pPr>
            <a:r>
              <a:rPr lang="en-US" sz="3600" b="1" spc="478" dirty="0" err="1">
                <a:solidFill>
                  <a:srgbClr val="FAB700"/>
                </a:solidFill>
                <a:latin typeface="DM Sans"/>
              </a:rPr>
              <a:t>Thomas.Bannan@Manchester.ac.uk</a:t>
            </a:r>
            <a:endParaRPr kumimoji="0" lang="en-US" sz="3600" b="1" i="0" u="none" strike="noStrike" kern="1200" cap="none" spc="478" normalizeH="0" baseline="0" noProof="0" dirty="0">
              <a:ln>
                <a:noFill/>
              </a:ln>
              <a:solidFill>
                <a:srgbClr val="FAB700"/>
              </a:solidFill>
              <a:effectLst/>
              <a:uLnTx/>
              <a:uFillTx/>
              <a:latin typeface="DM Sans"/>
              <a:ea typeface="+mn-ea"/>
              <a:cs typeface="+mn-cs"/>
            </a:endParaRPr>
          </a:p>
        </p:txBody>
      </p:sp>
    </p:spTree>
    <p:extLst>
      <p:ext uri="{BB962C8B-B14F-4D97-AF65-F5344CB8AC3E}">
        <p14:creationId xmlns:p14="http://schemas.microsoft.com/office/powerpoint/2010/main" val="2357172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82D3E-A7C2-D4CE-6000-D69ABF52E0A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EE16A5-7C45-015F-8A98-91B324DAAE94}"/>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CDF94BBB-12EF-E975-6BC5-CB4840BAD385}"/>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Q1. </a:t>
            </a:r>
          </a:p>
        </p:txBody>
      </p:sp>
      <p:sp>
        <p:nvSpPr>
          <p:cNvPr id="2" name="TextBox 1">
            <a:extLst>
              <a:ext uri="{FF2B5EF4-FFF2-40B4-BE49-F238E27FC236}">
                <a16:creationId xmlns:a16="http://schemas.microsoft.com/office/drawing/2014/main" id="{B6B4BD0F-8FE4-63C8-843F-CA220171C15F}"/>
              </a:ext>
            </a:extLst>
          </p:cNvPr>
          <p:cNvSpPr txBox="1"/>
          <p:nvPr/>
        </p:nvSpPr>
        <p:spPr>
          <a:xfrm>
            <a:off x="584198" y="2135706"/>
            <a:ext cx="13572069" cy="523348"/>
          </a:xfrm>
          <a:prstGeom prst="rect">
            <a:avLst/>
          </a:prstGeom>
          <a:noFill/>
        </p:spPr>
        <p:txBody>
          <a:bodyPr wrap="square">
            <a:spAutoFit/>
          </a:bodyPr>
          <a:lstStyle/>
          <a:p>
            <a:pPr defTabSz="914445">
              <a:defRPr/>
            </a:pPr>
            <a:r>
              <a:rPr lang="en-GB" sz="2801" b="1" dirty="0">
                <a:solidFill>
                  <a:prstClr val="black"/>
                </a:solidFill>
                <a:latin typeface="DM Sans"/>
              </a:rPr>
              <a:t>Who Should Pay for Global Mitigation: Polluters Past, Present or Future?</a:t>
            </a:r>
          </a:p>
        </p:txBody>
      </p:sp>
    </p:spTree>
    <p:extLst>
      <p:ext uri="{BB962C8B-B14F-4D97-AF65-F5344CB8AC3E}">
        <p14:creationId xmlns:p14="http://schemas.microsoft.com/office/powerpoint/2010/main" val="23963186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28136-7365-247B-4D98-465541AEBF9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8A1C65E-FB86-0C5C-F587-A10D11C142F0}"/>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1E42987F-7B0F-8D13-4A5A-FC72FAE1BC61}"/>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Q2. </a:t>
            </a:r>
          </a:p>
        </p:txBody>
      </p:sp>
      <p:sp>
        <p:nvSpPr>
          <p:cNvPr id="2" name="TextBox 1">
            <a:extLst>
              <a:ext uri="{FF2B5EF4-FFF2-40B4-BE49-F238E27FC236}">
                <a16:creationId xmlns:a16="http://schemas.microsoft.com/office/drawing/2014/main" id="{ABD61998-BC57-2389-2360-2D2DC47A99FA}"/>
              </a:ext>
            </a:extLst>
          </p:cNvPr>
          <p:cNvSpPr txBox="1"/>
          <p:nvPr/>
        </p:nvSpPr>
        <p:spPr>
          <a:xfrm>
            <a:off x="575732" y="2149994"/>
            <a:ext cx="13572069" cy="523348"/>
          </a:xfrm>
          <a:prstGeom prst="rect">
            <a:avLst/>
          </a:prstGeom>
          <a:noFill/>
        </p:spPr>
        <p:txBody>
          <a:bodyPr wrap="square">
            <a:spAutoFit/>
          </a:bodyPr>
          <a:lstStyle/>
          <a:p>
            <a:pPr defTabSz="914445">
              <a:defRPr/>
            </a:pPr>
            <a:r>
              <a:rPr lang="en-GB" sz="2801" b="1" dirty="0">
                <a:solidFill>
                  <a:prstClr val="black"/>
                </a:solidFill>
                <a:latin typeface="DM Sans"/>
              </a:rPr>
              <a:t>Should adaptation be prioritised over mitigation?</a:t>
            </a:r>
          </a:p>
        </p:txBody>
      </p:sp>
    </p:spTree>
    <p:extLst>
      <p:ext uri="{BB962C8B-B14F-4D97-AF65-F5344CB8AC3E}">
        <p14:creationId xmlns:p14="http://schemas.microsoft.com/office/powerpoint/2010/main" val="30930786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77419-C617-6D59-EC48-A13C520CBA6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4E266E70-898B-4C49-5B17-E0C72185061A}"/>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4D5004AD-41BF-9D74-0D04-FC635CA020D7}"/>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Q3. </a:t>
            </a:r>
          </a:p>
        </p:txBody>
      </p:sp>
      <p:sp>
        <p:nvSpPr>
          <p:cNvPr id="2" name="TextBox 1">
            <a:extLst>
              <a:ext uri="{FF2B5EF4-FFF2-40B4-BE49-F238E27FC236}">
                <a16:creationId xmlns:a16="http://schemas.microsoft.com/office/drawing/2014/main" id="{6C77AF1F-6A87-CF46-20ED-8448F4814FC8}"/>
              </a:ext>
            </a:extLst>
          </p:cNvPr>
          <p:cNvSpPr txBox="1"/>
          <p:nvPr/>
        </p:nvSpPr>
        <p:spPr>
          <a:xfrm>
            <a:off x="575732" y="2149994"/>
            <a:ext cx="13572069" cy="954364"/>
          </a:xfrm>
          <a:prstGeom prst="rect">
            <a:avLst/>
          </a:prstGeom>
          <a:noFill/>
        </p:spPr>
        <p:txBody>
          <a:bodyPr wrap="square">
            <a:spAutoFit/>
          </a:bodyPr>
          <a:lstStyle/>
          <a:p>
            <a:pPr defTabSz="914445">
              <a:defRPr/>
            </a:pPr>
            <a:r>
              <a:rPr lang="en-GB" sz="2801" b="1" dirty="0">
                <a:solidFill>
                  <a:prstClr val="black"/>
                </a:solidFill>
                <a:latin typeface="DM Sans"/>
              </a:rPr>
              <a:t>How can education empower individuals and communities to adapt to climate change?</a:t>
            </a:r>
          </a:p>
        </p:txBody>
      </p:sp>
    </p:spTree>
    <p:extLst>
      <p:ext uri="{BB962C8B-B14F-4D97-AF65-F5344CB8AC3E}">
        <p14:creationId xmlns:p14="http://schemas.microsoft.com/office/powerpoint/2010/main" val="27895559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EC935-1BFB-46ED-3AA7-6ADBC1BC4C89}"/>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29468F8D-DAA4-B63E-F47F-6FAE1C583532}"/>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8AC1C375-A319-390F-9BBE-AD438D2F88E6}"/>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Q4. </a:t>
            </a:r>
          </a:p>
        </p:txBody>
      </p:sp>
      <p:sp>
        <p:nvSpPr>
          <p:cNvPr id="2" name="TextBox 1">
            <a:extLst>
              <a:ext uri="{FF2B5EF4-FFF2-40B4-BE49-F238E27FC236}">
                <a16:creationId xmlns:a16="http://schemas.microsoft.com/office/drawing/2014/main" id="{6D44BA63-570E-DE38-4616-1C1CE5D2AAB3}"/>
              </a:ext>
            </a:extLst>
          </p:cNvPr>
          <p:cNvSpPr txBox="1"/>
          <p:nvPr/>
        </p:nvSpPr>
        <p:spPr>
          <a:xfrm>
            <a:off x="575732" y="2149994"/>
            <a:ext cx="13572069" cy="954364"/>
          </a:xfrm>
          <a:prstGeom prst="rect">
            <a:avLst/>
          </a:prstGeom>
          <a:noFill/>
        </p:spPr>
        <p:txBody>
          <a:bodyPr wrap="square">
            <a:spAutoFit/>
          </a:bodyPr>
          <a:lstStyle/>
          <a:p>
            <a:pPr defTabSz="914445">
              <a:defRPr/>
            </a:pPr>
            <a:r>
              <a:rPr lang="en-GB" sz="2801" b="1" dirty="0">
                <a:solidFill>
                  <a:prstClr val="black"/>
                </a:solidFill>
                <a:latin typeface="DM Sans"/>
              </a:rPr>
              <a:t>Compare emissions and mitigation potential from key sectors: energy, transport, agriculture, industry, and buildings.</a:t>
            </a:r>
          </a:p>
        </p:txBody>
      </p:sp>
    </p:spTree>
    <p:extLst>
      <p:ext uri="{BB962C8B-B14F-4D97-AF65-F5344CB8AC3E}">
        <p14:creationId xmlns:p14="http://schemas.microsoft.com/office/powerpoint/2010/main" val="22808843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75891-CD99-C930-941B-97CCB2E88344}"/>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72A31336-CE94-3A4F-589D-F6EB39D67685}"/>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07F9945A-10A8-A4E4-9DDF-F536C96BF3AF}"/>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Q5. </a:t>
            </a:r>
          </a:p>
        </p:txBody>
      </p:sp>
      <p:sp>
        <p:nvSpPr>
          <p:cNvPr id="2" name="TextBox 1">
            <a:extLst>
              <a:ext uri="{FF2B5EF4-FFF2-40B4-BE49-F238E27FC236}">
                <a16:creationId xmlns:a16="http://schemas.microsoft.com/office/drawing/2014/main" id="{A145C69B-5174-A2D3-2B21-0E9F2800185D}"/>
              </a:ext>
            </a:extLst>
          </p:cNvPr>
          <p:cNvSpPr txBox="1"/>
          <p:nvPr/>
        </p:nvSpPr>
        <p:spPr>
          <a:xfrm>
            <a:off x="575732" y="2149994"/>
            <a:ext cx="13572069" cy="954364"/>
          </a:xfrm>
          <a:prstGeom prst="rect">
            <a:avLst/>
          </a:prstGeom>
          <a:noFill/>
        </p:spPr>
        <p:txBody>
          <a:bodyPr wrap="square">
            <a:spAutoFit/>
          </a:bodyPr>
          <a:lstStyle/>
          <a:p>
            <a:pPr defTabSz="914445">
              <a:defRPr/>
            </a:pPr>
            <a:r>
              <a:rPr lang="en-GB" sz="2801" b="1" dirty="0"/>
              <a:t>How can urban areas be redesigned to cope with floods, heatwaves, and storms?</a:t>
            </a:r>
          </a:p>
        </p:txBody>
      </p:sp>
    </p:spTree>
    <p:extLst>
      <p:ext uri="{BB962C8B-B14F-4D97-AF65-F5344CB8AC3E}">
        <p14:creationId xmlns:p14="http://schemas.microsoft.com/office/powerpoint/2010/main" val="42687422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A9F1A-6FDE-4C44-E39C-2C51B773AEC7}"/>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0764BEFF-9C5A-7D1F-57BF-6826306A68EF}"/>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3DC81070-3BFA-6D4B-DAD1-7C13A5EF6F78}"/>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Q6. </a:t>
            </a:r>
          </a:p>
        </p:txBody>
      </p:sp>
      <p:sp>
        <p:nvSpPr>
          <p:cNvPr id="2" name="TextBox 1">
            <a:extLst>
              <a:ext uri="{FF2B5EF4-FFF2-40B4-BE49-F238E27FC236}">
                <a16:creationId xmlns:a16="http://schemas.microsoft.com/office/drawing/2014/main" id="{82CDC777-E055-E46B-6858-0C73897429AF}"/>
              </a:ext>
            </a:extLst>
          </p:cNvPr>
          <p:cNvSpPr txBox="1"/>
          <p:nvPr/>
        </p:nvSpPr>
        <p:spPr>
          <a:xfrm>
            <a:off x="575732" y="2149994"/>
            <a:ext cx="15397694" cy="954364"/>
          </a:xfrm>
          <a:prstGeom prst="rect">
            <a:avLst/>
          </a:prstGeom>
          <a:noFill/>
        </p:spPr>
        <p:txBody>
          <a:bodyPr wrap="square">
            <a:spAutoFit/>
          </a:bodyPr>
          <a:lstStyle/>
          <a:p>
            <a:pPr defTabSz="914445">
              <a:defRPr/>
            </a:pPr>
            <a:r>
              <a:rPr lang="en-GB" sz="2801" b="1" dirty="0">
                <a:solidFill>
                  <a:prstClr val="black"/>
                </a:solidFill>
                <a:latin typeface="DM Sans"/>
              </a:rPr>
              <a:t>Is individual action (e.g. flying less, eating less meat) meaningful, or is it a distraction from wider larger change?</a:t>
            </a:r>
          </a:p>
        </p:txBody>
      </p:sp>
    </p:spTree>
    <p:extLst>
      <p:ext uri="{BB962C8B-B14F-4D97-AF65-F5344CB8AC3E}">
        <p14:creationId xmlns:p14="http://schemas.microsoft.com/office/powerpoint/2010/main" val="9745779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B57BD-7171-BB72-A0F3-C59063D6830E}"/>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290C8535-30C8-017B-2AC7-8A4DF2774C7A}"/>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22E6D976-4FA0-A837-FEC7-B9F2D7CC1EE8}"/>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Q7. </a:t>
            </a:r>
          </a:p>
        </p:txBody>
      </p:sp>
      <p:sp>
        <p:nvSpPr>
          <p:cNvPr id="2" name="TextBox 1">
            <a:extLst>
              <a:ext uri="{FF2B5EF4-FFF2-40B4-BE49-F238E27FC236}">
                <a16:creationId xmlns:a16="http://schemas.microsoft.com/office/drawing/2014/main" id="{EF790655-0D0A-A777-1509-E6DE272BD7EE}"/>
              </a:ext>
            </a:extLst>
          </p:cNvPr>
          <p:cNvSpPr txBox="1"/>
          <p:nvPr/>
        </p:nvSpPr>
        <p:spPr>
          <a:xfrm>
            <a:off x="575732" y="2149994"/>
            <a:ext cx="15397694" cy="523348"/>
          </a:xfrm>
          <a:prstGeom prst="rect">
            <a:avLst/>
          </a:prstGeom>
          <a:noFill/>
        </p:spPr>
        <p:txBody>
          <a:bodyPr wrap="square">
            <a:spAutoFit/>
          </a:bodyPr>
          <a:lstStyle/>
          <a:p>
            <a:pPr defTabSz="914445">
              <a:defRPr/>
            </a:pPr>
            <a:r>
              <a:rPr lang="en-GB" sz="2801" b="1" dirty="0">
                <a:solidFill>
                  <a:srgbClr val="000000"/>
                </a:solidFill>
                <a:latin typeface="DM Sans"/>
              </a:rPr>
              <a:t>Why Do We Need Negative Emission Strategies?</a:t>
            </a:r>
            <a:endParaRPr lang="en-GB" sz="2801" b="1" dirty="0">
              <a:solidFill>
                <a:prstClr val="black"/>
              </a:solidFill>
              <a:latin typeface="DM Sans"/>
            </a:endParaRPr>
          </a:p>
        </p:txBody>
      </p:sp>
    </p:spTree>
    <p:extLst>
      <p:ext uri="{BB962C8B-B14F-4D97-AF65-F5344CB8AC3E}">
        <p14:creationId xmlns:p14="http://schemas.microsoft.com/office/powerpoint/2010/main" val="695253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1630C-DA6E-D233-72C0-B1A1B0B8A922}"/>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02BA719E-55A5-247C-C0A7-1224AF4EAECD}"/>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89642FBA-E071-A75B-0188-18D7784B8CB8}"/>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Q8. </a:t>
            </a:r>
          </a:p>
        </p:txBody>
      </p:sp>
      <p:sp>
        <p:nvSpPr>
          <p:cNvPr id="2" name="TextBox 1">
            <a:extLst>
              <a:ext uri="{FF2B5EF4-FFF2-40B4-BE49-F238E27FC236}">
                <a16:creationId xmlns:a16="http://schemas.microsoft.com/office/drawing/2014/main" id="{B136DA83-1D10-B840-E517-5C436F696018}"/>
              </a:ext>
            </a:extLst>
          </p:cNvPr>
          <p:cNvSpPr txBox="1"/>
          <p:nvPr/>
        </p:nvSpPr>
        <p:spPr>
          <a:xfrm>
            <a:off x="575732" y="2149994"/>
            <a:ext cx="15397694" cy="523220"/>
          </a:xfrm>
          <a:prstGeom prst="rect">
            <a:avLst/>
          </a:prstGeom>
          <a:noFill/>
        </p:spPr>
        <p:txBody>
          <a:bodyPr wrap="square">
            <a:spAutoFit/>
          </a:bodyPr>
          <a:lstStyle/>
          <a:p>
            <a:r>
              <a:rPr lang="en-GB" sz="2800" dirty="0">
                <a:latin typeface="Calibri" panose="020F0502020204030204" pitchFamily="34" charset="0"/>
                <a:cs typeface="Calibri" panose="020F0502020204030204" pitchFamily="34" charset="0"/>
              </a:rPr>
              <a:t>What information would you need to decide whether a mitigation strategy is “worth it”?</a:t>
            </a:r>
          </a:p>
        </p:txBody>
      </p:sp>
    </p:spTree>
    <p:extLst>
      <p:ext uri="{BB962C8B-B14F-4D97-AF65-F5344CB8AC3E}">
        <p14:creationId xmlns:p14="http://schemas.microsoft.com/office/powerpoint/2010/main" val="13663505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DFCF4-B09F-8A9F-9910-510379043066}"/>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C3399181-E687-8632-59A0-16DB45B0D8D2}"/>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DFDEC19A-4BF9-CB1A-01AB-BAA3192C5E68}"/>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Q9. </a:t>
            </a:r>
          </a:p>
        </p:txBody>
      </p:sp>
      <p:sp>
        <p:nvSpPr>
          <p:cNvPr id="2" name="TextBox 1">
            <a:extLst>
              <a:ext uri="{FF2B5EF4-FFF2-40B4-BE49-F238E27FC236}">
                <a16:creationId xmlns:a16="http://schemas.microsoft.com/office/drawing/2014/main" id="{E52C3BC8-68DE-6B84-7965-006B44BC8EFE}"/>
              </a:ext>
            </a:extLst>
          </p:cNvPr>
          <p:cNvSpPr txBox="1"/>
          <p:nvPr/>
        </p:nvSpPr>
        <p:spPr>
          <a:xfrm>
            <a:off x="575732" y="2149994"/>
            <a:ext cx="15397694" cy="523220"/>
          </a:xfrm>
          <a:prstGeom prst="rect">
            <a:avLst/>
          </a:prstGeom>
          <a:noFill/>
        </p:spPr>
        <p:txBody>
          <a:bodyPr wrap="square">
            <a:spAutoFit/>
          </a:bodyPr>
          <a:lstStyle/>
          <a:p>
            <a:r>
              <a:rPr lang="en-GB" sz="2800" dirty="0">
                <a:latin typeface="Calibri" panose="020F0502020204030204" pitchFamily="34" charset="0"/>
                <a:cs typeface="Calibri" panose="020F0502020204030204" pitchFamily="34" charset="0"/>
              </a:rPr>
              <a:t>Can you think of any real-world examples of successful mitigation strategies? What made them work?</a:t>
            </a:r>
          </a:p>
        </p:txBody>
      </p:sp>
    </p:spTree>
    <p:extLst>
      <p:ext uri="{BB962C8B-B14F-4D97-AF65-F5344CB8AC3E}">
        <p14:creationId xmlns:p14="http://schemas.microsoft.com/office/powerpoint/2010/main" val="3720613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4BF5D-7D1C-3951-EAF2-4146741C99B2}"/>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2C1690E7-F875-4A23-8558-EC331029EA95}"/>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22EBB4BB-E4DD-1288-93C6-A848DAA2AFC2}"/>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Q10. </a:t>
            </a:r>
          </a:p>
        </p:txBody>
      </p:sp>
      <p:sp>
        <p:nvSpPr>
          <p:cNvPr id="2" name="TextBox 1">
            <a:extLst>
              <a:ext uri="{FF2B5EF4-FFF2-40B4-BE49-F238E27FC236}">
                <a16:creationId xmlns:a16="http://schemas.microsoft.com/office/drawing/2014/main" id="{9AD1C9D6-39BA-75D1-CA28-832E267E0188}"/>
              </a:ext>
            </a:extLst>
          </p:cNvPr>
          <p:cNvSpPr txBox="1"/>
          <p:nvPr/>
        </p:nvSpPr>
        <p:spPr>
          <a:xfrm>
            <a:off x="575732" y="2149994"/>
            <a:ext cx="15397694" cy="523220"/>
          </a:xfrm>
          <a:prstGeom prst="rect">
            <a:avLst/>
          </a:prstGeom>
          <a:noFill/>
        </p:spPr>
        <p:txBody>
          <a:bodyPr wrap="square">
            <a:spAutoFit/>
          </a:bodyPr>
          <a:lstStyle/>
          <a:p>
            <a:r>
              <a:rPr lang="en-GB" sz="2800" dirty="0">
                <a:latin typeface="Calibri" panose="020F0502020204030204" pitchFamily="34" charset="0"/>
                <a:cs typeface="Calibri" panose="020F0502020204030204" pitchFamily="34" charset="0"/>
              </a:rPr>
              <a:t>Is it realistic to achieve global net zero by 2050? What are the biggest barriers?</a:t>
            </a:r>
          </a:p>
        </p:txBody>
      </p:sp>
    </p:spTree>
    <p:extLst>
      <p:ext uri="{BB962C8B-B14F-4D97-AF65-F5344CB8AC3E}">
        <p14:creationId xmlns:p14="http://schemas.microsoft.com/office/powerpoint/2010/main" val="24816595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38FAA-E79D-A155-0CF2-32D1D92444B3}"/>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DB2386A6-A2C9-AEB9-45F3-DA13260350B7}"/>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7A369DFE-E96E-EEE8-C126-B29DC2A93DEE}"/>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Q11. </a:t>
            </a:r>
          </a:p>
        </p:txBody>
      </p:sp>
      <p:sp>
        <p:nvSpPr>
          <p:cNvPr id="2" name="TextBox 1">
            <a:extLst>
              <a:ext uri="{FF2B5EF4-FFF2-40B4-BE49-F238E27FC236}">
                <a16:creationId xmlns:a16="http://schemas.microsoft.com/office/drawing/2014/main" id="{464304A1-51FD-2610-C705-4FF29CEA1329}"/>
              </a:ext>
            </a:extLst>
          </p:cNvPr>
          <p:cNvSpPr txBox="1"/>
          <p:nvPr/>
        </p:nvSpPr>
        <p:spPr>
          <a:xfrm>
            <a:off x="575732" y="2149994"/>
            <a:ext cx="15397694" cy="523220"/>
          </a:xfrm>
          <a:prstGeom prst="rect">
            <a:avLst/>
          </a:prstGeom>
          <a:noFill/>
        </p:spPr>
        <p:txBody>
          <a:bodyPr wrap="square">
            <a:spAutoFit/>
          </a:bodyPr>
          <a:lstStyle/>
          <a:p>
            <a:r>
              <a:rPr lang="en-GB" sz="2800" dirty="0">
                <a:latin typeface="Calibri" panose="020F0502020204030204" pitchFamily="34" charset="0"/>
                <a:cs typeface="Calibri" panose="020F0502020204030204" pitchFamily="34" charset="0"/>
              </a:rPr>
              <a:t>Which is more effective for reducing emissions: technological innovation or behavioural change?</a:t>
            </a:r>
          </a:p>
        </p:txBody>
      </p:sp>
    </p:spTree>
    <p:extLst>
      <p:ext uri="{BB962C8B-B14F-4D97-AF65-F5344CB8AC3E}">
        <p14:creationId xmlns:p14="http://schemas.microsoft.com/office/powerpoint/2010/main" val="28851978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AA97D-F9B6-3C43-0889-578CE43B5760}"/>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D9BC9AB3-DF29-7A9B-22B9-CE0E28AF5B08}"/>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90">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ED290CB7-AB1C-8E9A-DA97-EFA6882B8333}"/>
              </a:ext>
            </a:extLst>
          </p:cNvPr>
          <p:cNvSpPr txBox="1"/>
          <p:nvPr/>
        </p:nvSpPr>
        <p:spPr>
          <a:xfrm>
            <a:off x="584198" y="1026138"/>
            <a:ext cx="11004828" cy="884858"/>
          </a:xfrm>
          <a:prstGeom prst="rect">
            <a:avLst/>
          </a:prstGeom>
        </p:spPr>
        <p:txBody>
          <a:bodyPr wrap="square" lIns="0" tIns="0" rIns="0" bIns="0" rtlCol="0" anchor="t">
            <a:spAutoFit/>
          </a:bodyPr>
          <a:lstStyle/>
          <a:p>
            <a:pPr defTabSz="914490">
              <a:lnSpc>
                <a:spcPts val="6861"/>
              </a:lnSpc>
              <a:defRPr/>
            </a:pPr>
            <a:r>
              <a:rPr lang="en-US" sz="6000" i="1" spc="-413" dirty="0">
                <a:solidFill>
                  <a:srgbClr val="46245A"/>
                </a:solidFill>
                <a:latin typeface="DM Sans Bold"/>
                <a:ea typeface="ＭＳ Ｐゴシック" panose="020B0600070205080204" pitchFamily="34" charset="-128"/>
              </a:rPr>
              <a:t>Q12.  </a:t>
            </a:r>
          </a:p>
        </p:txBody>
      </p:sp>
      <p:sp>
        <p:nvSpPr>
          <p:cNvPr id="2" name="TextBox 1">
            <a:extLst>
              <a:ext uri="{FF2B5EF4-FFF2-40B4-BE49-F238E27FC236}">
                <a16:creationId xmlns:a16="http://schemas.microsoft.com/office/drawing/2014/main" id="{501843B7-3C68-2F71-E739-9C5A8BB74547}"/>
              </a:ext>
            </a:extLst>
          </p:cNvPr>
          <p:cNvSpPr txBox="1"/>
          <p:nvPr/>
        </p:nvSpPr>
        <p:spPr>
          <a:xfrm>
            <a:off x="575732" y="2149994"/>
            <a:ext cx="15397694" cy="954107"/>
          </a:xfrm>
          <a:prstGeom prst="rect">
            <a:avLst/>
          </a:prstGeom>
          <a:noFill/>
        </p:spPr>
        <p:txBody>
          <a:bodyPr wrap="square">
            <a:spAutoFit/>
          </a:bodyPr>
          <a:lstStyle/>
          <a:p>
            <a:r>
              <a:rPr lang="en-GB" sz="2800" dirty="0">
                <a:latin typeface="Calibri" panose="020F0502020204030204" pitchFamily="34" charset="0"/>
                <a:cs typeface="Calibri" panose="020F0502020204030204" pitchFamily="34" charset="0"/>
              </a:rPr>
              <a:t>Should governments prioritise short-term emission reductions or long-term technological solutions? Discuss the trade-offs.</a:t>
            </a:r>
          </a:p>
        </p:txBody>
      </p:sp>
    </p:spTree>
    <p:extLst>
      <p:ext uri="{BB962C8B-B14F-4D97-AF65-F5344CB8AC3E}">
        <p14:creationId xmlns:p14="http://schemas.microsoft.com/office/powerpoint/2010/main" val="25320479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2|4.3|19.5|45.6|17.3"/>
</p:tagLst>
</file>

<file path=ppt/tags/tag2.xml><?xml version="1.0" encoding="utf-8"?>
<p:tagLst xmlns:a="http://schemas.openxmlformats.org/drawingml/2006/main" xmlns:r="http://schemas.openxmlformats.org/officeDocument/2006/relationships" xmlns:p="http://schemas.openxmlformats.org/presentationml/2006/main">
  <p:tag name="TIMING" val="|2.3|0.4"/>
</p:tagLst>
</file>

<file path=ppt/tags/tag3.xml><?xml version="1.0" encoding="utf-8"?>
<p:tagLst xmlns:a="http://schemas.openxmlformats.org/drawingml/2006/main" xmlns:r="http://schemas.openxmlformats.org/officeDocument/2006/relationships" xmlns:p="http://schemas.openxmlformats.org/presentationml/2006/main">
  <p:tag name="TIMING" val="|2.3|0.4"/>
</p:tagLst>
</file>

<file path=ppt/tags/tag4.xml><?xml version="1.0" encoding="utf-8"?>
<p:tagLst xmlns:a="http://schemas.openxmlformats.org/drawingml/2006/main" xmlns:r="http://schemas.openxmlformats.org/officeDocument/2006/relationships" xmlns:p="http://schemas.openxmlformats.org/presentationml/2006/main">
  <p:tag name="TIMING" val="|0.5|24.8|32.9|48.8"/>
</p:tagLst>
</file>

<file path=ppt/tags/tag5.xml><?xml version="1.0" encoding="utf-8"?>
<p:tagLst xmlns:a="http://schemas.openxmlformats.org/drawingml/2006/main" xmlns:r="http://schemas.openxmlformats.org/officeDocument/2006/relationships" xmlns:p="http://schemas.openxmlformats.org/presentationml/2006/main">
  <p:tag name="TIMING" val="|4.8|37.4|31.4|16.4"/>
</p:tagLst>
</file>

<file path=ppt/tags/tag6.xml><?xml version="1.0" encoding="utf-8"?>
<p:tagLst xmlns:a="http://schemas.openxmlformats.org/drawingml/2006/main" xmlns:r="http://schemas.openxmlformats.org/officeDocument/2006/relationships" xmlns:p="http://schemas.openxmlformats.org/presentationml/2006/main">
  <p:tag name="TIMING" val="|0.8|2.3|1.4"/>
</p:tagLst>
</file>

<file path=ppt/tags/tag7.xml><?xml version="1.0" encoding="utf-8"?>
<p:tagLst xmlns:a="http://schemas.openxmlformats.org/drawingml/2006/main" xmlns:r="http://schemas.openxmlformats.org/officeDocument/2006/relationships" xmlns:p="http://schemas.openxmlformats.org/presentationml/2006/main">
  <p:tag name="TIMING" val="|1.4|0.5|0.6|2"/>
</p:tagLst>
</file>

<file path=ppt/tags/tag8.xml><?xml version="1.0" encoding="utf-8"?>
<p:tagLst xmlns:a="http://schemas.openxmlformats.org/drawingml/2006/main" xmlns:r="http://schemas.openxmlformats.org/officeDocument/2006/relationships" xmlns:p="http://schemas.openxmlformats.org/presentationml/2006/main">
  <p:tag name="TIMING" val="|0.5|0.6|0.4|0.6"/>
</p:tagLst>
</file>

<file path=ppt/tags/tag9.xml><?xml version="1.0" encoding="utf-8"?>
<p:tagLst xmlns:a="http://schemas.openxmlformats.org/drawingml/2006/main" xmlns:r="http://schemas.openxmlformats.org/officeDocument/2006/relationships" xmlns:p="http://schemas.openxmlformats.org/presentationml/2006/main">
  <p:tag name="TIMING" val="|3.4|0.4|0.6|0.4|0.5|0.2|0.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M Sans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DM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panose="020F0502020204030204"/>
        <a:ea typeface=""/>
        <a:cs typeface=""/>
        <a:font script="Jpan" typeface="游ゴシック"/>
        <a:font script="Hang" typeface="맑은 고딕"/>
        <a:font script="Hans" typeface="等线"/>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font script="Geor" typeface="Sylfaen"/>
        <a:font script="Armn" typeface="DM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2d04b034-a6a6-4c18-a06a-c7f1475d22b7">
      <UserInfo>
        <DisplayName>James Evans</DisplayName>
        <AccountId>12</AccountId>
        <AccountType/>
      </UserInfo>
    </SharedWithUsers>
    <TaxCatchAll xmlns="2d04b034-a6a6-4c18-a06a-c7f1475d22b7" xsi:nil="true"/>
    <lcf76f155ced4ddcb4097134ff3c332f xmlns="ef2cdc88-2d9e-4cc1-9996-acd9d00229e7">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E28E7656B8F854EA3FBA2DC0FDE57D8" ma:contentTypeVersion="13" ma:contentTypeDescription="Create a new document." ma:contentTypeScope="" ma:versionID="2f55f3757423f8a9510e16e0485ceae4">
  <xsd:schema xmlns:xsd="http://www.w3.org/2001/XMLSchema" xmlns:xs="http://www.w3.org/2001/XMLSchema" xmlns:p="http://schemas.microsoft.com/office/2006/metadata/properties" xmlns:ns2="ef2cdc88-2d9e-4cc1-9996-acd9d00229e7" xmlns:ns3="2d04b034-a6a6-4c18-a06a-c7f1475d22b7" targetNamespace="http://schemas.microsoft.com/office/2006/metadata/properties" ma:root="true" ma:fieldsID="aad162b2229c38d96906976cd1e951d1" ns2:_="" ns3:_="">
    <xsd:import namespace="ef2cdc88-2d9e-4cc1-9996-acd9d00229e7"/>
    <xsd:import namespace="2d04b034-a6a6-4c18-a06a-c7f1475d22b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2cdc88-2d9e-4cc1-9996-acd9d00229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d84f0fb1-3ff4-4041-99c9-0ff0a116d579"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d04b034-a6a6-4c18-a06a-c7f1475d22b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c3033590-d564-48aa-a497-c6dbf64d132b}" ma:internalName="TaxCatchAll" ma:showField="CatchAllData" ma:web="2d04b034-a6a6-4c18-a06a-c7f1475d22b7">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4204787-5CC9-4B4C-895B-E2DD531E2E20}">
  <ds:schemaRefs>
    <ds:schemaRef ds:uri="2d04b034-a6a6-4c18-a06a-c7f1475d22b7"/>
    <ds:schemaRef ds:uri="ef2cdc88-2d9e-4cc1-9996-acd9d00229e7"/>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D75AF22D-E930-4A35-96C8-45C4552CEFD0}">
  <ds:schemaRefs>
    <ds:schemaRef ds:uri="2d04b034-a6a6-4c18-a06a-c7f1475d22b7"/>
    <ds:schemaRef ds:uri="ef2cdc88-2d9e-4cc1-9996-acd9d00229e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6E3B905-089B-4AAB-92C2-9145328F7EB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8974</TotalTime>
  <Words>2923</Words>
  <Application>Microsoft Macintosh PowerPoint</Application>
  <PresentationFormat>Custom</PresentationFormat>
  <Paragraphs>474</Paragraphs>
  <Slides>63</Slides>
  <Notes>61</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63</vt:i4>
      </vt:variant>
    </vt:vector>
  </HeadingPairs>
  <TitlesOfParts>
    <vt:vector size="74" baseType="lpstr">
      <vt:lpstr>DM Sans</vt:lpstr>
      <vt:lpstr>Aptos</vt:lpstr>
      <vt:lpstr>Calibri</vt:lpstr>
      <vt:lpstr>Tahoma</vt:lpstr>
      <vt:lpstr>Open Sans</vt:lpstr>
      <vt:lpstr>Times New Roman</vt:lpstr>
      <vt:lpstr>DM Sans Bold</vt:lpstr>
      <vt:lpstr>Arial</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360 Presentation Template</dc:title>
  <dc:creator>Rebecca Pinder</dc:creator>
  <cp:lastModifiedBy>Thomas Bannan</cp:lastModifiedBy>
  <cp:revision>60</cp:revision>
  <dcterms:created xsi:type="dcterms:W3CDTF">2006-08-16T00:00:00Z</dcterms:created>
  <dcterms:modified xsi:type="dcterms:W3CDTF">2026-04-22T12:58:41Z</dcterms:modified>
  <dc:identifier>DAFmF_MGmPY</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0x010100BE28E7656B8F854EA3FBA2DC0FDE57D8</vt:lpwstr>
  </property>
  <property fmtid="{D5CDD505-2E9C-101B-9397-08002B2CF9AE}" pid="3" name="MediaServiceImageTags">
    <vt:lpwstr/>
  </property>
</Properties>
</file>