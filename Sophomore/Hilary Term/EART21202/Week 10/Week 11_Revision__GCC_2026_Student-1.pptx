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1.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2.xml" ContentType="application/vnd.openxmlformats-officedocument.presentationml.tags+xml"/>
  <Override PartName="/ppt/notesSlides/notesSlide30.xml" ContentType="application/vnd.openxmlformats-officedocument.presentationml.notesSlide+xml"/>
  <Override PartName="/ppt/tags/tag3.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74" r:id="rId2"/>
    <p:sldMasterId id="2147483686" r:id="rId3"/>
  </p:sldMasterIdLst>
  <p:notesMasterIdLst>
    <p:notesMasterId r:id="rId75"/>
  </p:notesMasterIdLst>
  <p:sldIdLst>
    <p:sldId id="1442" r:id="rId4"/>
    <p:sldId id="1321" r:id="rId5"/>
    <p:sldId id="1347" r:id="rId6"/>
    <p:sldId id="662" r:id="rId7"/>
    <p:sldId id="1443" r:id="rId8"/>
    <p:sldId id="1332" r:id="rId9"/>
    <p:sldId id="1345" r:id="rId10"/>
    <p:sldId id="1440" r:id="rId11"/>
    <p:sldId id="1445" r:id="rId12"/>
    <p:sldId id="1425" r:id="rId13"/>
    <p:sldId id="1344" r:id="rId14"/>
    <p:sldId id="1446" r:id="rId15"/>
    <p:sldId id="1447" r:id="rId16"/>
    <p:sldId id="1448" r:id="rId17"/>
    <p:sldId id="1382" r:id="rId18"/>
    <p:sldId id="345" r:id="rId19"/>
    <p:sldId id="644" r:id="rId20"/>
    <p:sldId id="295" r:id="rId21"/>
    <p:sldId id="323" r:id="rId22"/>
    <p:sldId id="1455" r:id="rId23"/>
    <p:sldId id="1456" r:id="rId24"/>
    <p:sldId id="1453" r:id="rId25"/>
    <p:sldId id="870" r:id="rId26"/>
    <p:sldId id="261" r:id="rId27"/>
    <p:sldId id="1449" r:id="rId28"/>
    <p:sldId id="260" r:id="rId29"/>
    <p:sldId id="502" r:id="rId30"/>
    <p:sldId id="653" r:id="rId31"/>
    <p:sldId id="1454" r:id="rId32"/>
    <p:sldId id="628" r:id="rId33"/>
    <p:sldId id="1375" r:id="rId34"/>
    <p:sldId id="592" r:id="rId35"/>
    <p:sldId id="1749" r:id="rId36"/>
    <p:sldId id="1750" r:id="rId37"/>
    <p:sldId id="640" r:id="rId38"/>
    <p:sldId id="1763" r:id="rId39"/>
    <p:sldId id="1450" r:id="rId40"/>
    <p:sldId id="1751" r:id="rId41"/>
    <p:sldId id="1752" r:id="rId42"/>
    <p:sldId id="1373" r:id="rId43"/>
    <p:sldId id="500" r:id="rId44"/>
    <p:sldId id="594" r:id="rId45"/>
    <p:sldId id="337" r:id="rId46"/>
    <p:sldId id="1376" r:id="rId47"/>
    <p:sldId id="1451" r:id="rId48"/>
    <p:sldId id="1466" r:id="rId49"/>
    <p:sldId id="1467" r:id="rId50"/>
    <p:sldId id="1468" r:id="rId51"/>
    <p:sldId id="1469" r:id="rId52"/>
    <p:sldId id="1764" r:id="rId53"/>
    <p:sldId id="1471" r:id="rId54"/>
    <p:sldId id="1474" r:id="rId55"/>
    <p:sldId id="1452" r:id="rId56"/>
    <p:sldId id="1458" r:id="rId57"/>
    <p:sldId id="1460" r:id="rId58"/>
    <p:sldId id="1243" r:id="rId59"/>
    <p:sldId id="632" r:id="rId60"/>
    <p:sldId id="1244" r:id="rId61"/>
    <p:sldId id="1293" r:id="rId62"/>
    <p:sldId id="1295" r:id="rId63"/>
    <p:sldId id="634" r:id="rId64"/>
    <p:sldId id="1249" r:id="rId65"/>
    <p:sldId id="1461" r:id="rId66"/>
    <p:sldId id="1464" r:id="rId67"/>
    <p:sldId id="1462" r:id="rId68"/>
    <p:sldId id="1463" r:id="rId69"/>
    <p:sldId id="1762" r:id="rId70"/>
    <p:sldId id="1410" r:id="rId71"/>
    <p:sldId id="1444" r:id="rId72"/>
    <p:sldId id="723" r:id="rId73"/>
    <p:sldId id="529" r:id="rId7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686"/>
    <p:restoredTop sz="88350"/>
  </p:normalViewPr>
  <p:slideViewPr>
    <p:cSldViewPr snapToGrid="0">
      <p:cViewPr varScale="1">
        <p:scale>
          <a:sx n="185" d="100"/>
          <a:sy n="185" d="100"/>
        </p:scale>
        <p:origin x="1608" y="1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16" Type="http://schemas.openxmlformats.org/officeDocument/2006/relationships/slide" Target="slides/slide1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slide" Target="slides/slide71.xml"/><Relationship Id="rId79" Type="http://schemas.openxmlformats.org/officeDocument/2006/relationships/tableStyles" Target="tableStyles.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viewProps" Target="viewProps.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presProps" Target="presProps.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29"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D62FEC-7496-9A4B-AB74-4DF17F79CA69}" type="datetimeFigureOut">
              <a:rPr lang="en-US" smtClean="0"/>
              <a:t>5/7/26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32837E-64A6-4D47-ADC4-EA15D4D7567D}" type="slidenum">
              <a:rPr lang="en-US" smtClean="0"/>
              <a:t>‹#›</a:t>
            </a:fld>
            <a:endParaRPr lang="en-US"/>
          </a:p>
        </p:txBody>
      </p:sp>
    </p:spTree>
    <p:extLst>
      <p:ext uri="{BB962C8B-B14F-4D97-AF65-F5344CB8AC3E}">
        <p14:creationId xmlns:p14="http://schemas.microsoft.com/office/powerpoint/2010/main" val="13376243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latin typeface="DM Sans" pitchFamily="2"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35333203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EA4C-28D1-8EF6-3E65-CDD14205B1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E6B879-AC19-F865-2A0A-52ABE1186D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8570AE-715A-05BC-E06B-A42AC12EB5E1}"/>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5876FEED-E562-6B4E-8E47-28CD4592F64F}"/>
              </a:ext>
            </a:extLst>
          </p:cNvPr>
          <p:cNvSpPr>
            <a:spLocks noGrp="1"/>
          </p:cNvSpPr>
          <p:nvPr>
            <p:ph type="sldNum" sz="quarter" idx="5"/>
          </p:nvPr>
        </p:nvSpPr>
        <p:spPr/>
        <p:txBody>
          <a:bodyPr/>
          <a:lstStyle/>
          <a:p>
            <a:fld id="{C6B3559C-4BE5-4262-A2E7-0EADDD5F845B}" type="slidenum">
              <a:rPr lang="en-GB" smtClean="0"/>
              <a:t>2</a:t>
            </a:fld>
            <a:endParaRPr lang="en-GB"/>
          </a:p>
        </p:txBody>
      </p:sp>
    </p:spTree>
    <p:extLst>
      <p:ext uri="{BB962C8B-B14F-4D97-AF65-F5344CB8AC3E}">
        <p14:creationId xmlns:p14="http://schemas.microsoft.com/office/powerpoint/2010/main" val="31965690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7C574-AB02-2F51-10C5-617D9D44FC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F98679-6B57-4D53-389D-EA2A02ADA9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0B5051-56D1-735D-FE20-AF3DB8F0D5DA}"/>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765D7530-5066-8099-B716-193B03A48913}"/>
              </a:ext>
            </a:extLst>
          </p:cNvPr>
          <p:cNvSpPr>
            <a:spLocks noGrp="1"/>
          </p:cNvSpPr>
          <p:nvPr>
            <p:ph type="sldNum" sz="quarter" idx="5"/>
          </p:nvPr>
        </p:nvSpPr>
        <p:spPr/>
        <p:txBody>
          <a:bodyPr/>
          <a:lstStyle/>
          <a:p>
            <a:fld id="{C6B3559C-4BE5-4262-A2E7-0EADDD5F845B}" type="slidenum">
              <a:rPr lang="en-GB" smtClean="0"/>
              <a:t>3</a:t>
            </a:fld>
            <a:endParaRPr lang="en-GB"/>
          </a:p>
        </p:txBody>
      </p:sp>
    </p:spTree>
    <p:extLst>
      <p:ext uri="{BB962C8B-B14F-4D97-AF65-F5344CB8AC3E}">
        <p14:creationId xmlns:p14="http://schemas.microsoft.com/office/powerpoint/2010/main" val="24867871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cs typeface="DM Sans"/>
            </a:endParaRPr>
          </a:p>
        </p:txBody>
      </p:sp>
      <p:sp>
        <p:nvSpPr>
          <p:cNvPr id="4" name="Slide Number Placeholder 3"/>
          <p:cNvSpPr>
            <a:spLocks noGrp="1"/>
          </p:cNvSpPr>
          <p:nvPr>
            <p:ph type="sldNum" sz="quarter" idx="5"/>
          </p:nvPr>
        </p:nvSpPr>
        <p:spPr/>
        <p:txBody>
          <a:bodyPr/>
          <a:lstStyle/>
          <a:p>
            <a:fld id="{C6B3559C-4BE5-4262-A2E7-0EADDD5F845B}" type="slidenum">
              <a:rPr lang="en-GB" smtClean="0"/>
              <a:t>4</a:t>
            </a:fld>
            <a:endParaRPr lang="en-GB"/>
          </a:p>
        </p:txBody>
      </p:sp>
    </p:spTree>
    <p:extLst>
      <p:ext uri="{BB962C8B-B14F-4D97-AF65-F5344CB8AC3E}">
        <p14:creationId xmlns:p14="http://schemas.microsoft.com/office/powerpoint/2010/main" val="30857022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9FF0D-FAED-E8D9-53D0-57C6DA4F43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F76329-B336-B5D3-8B8C-998F1DF2B2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EDD0FB-5B37-DBC0-E6BF-9070FE05BD2E}"/>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73B98B31-5870-4CD5-E3A9-69387DE5AF8B}"/>
              </a:ext>
            </a:extLst>
          </p:cNvPr>
          <p:cNvSpPr>
            <a:spLocks noGrp="1"/>
          </p:cNvSpPr>
          <p:nvPr>
            <p:ph type="sldNum" sz="quarter" idx="5"/>
          </p:nvPr>
        </p:nvSpPr>
        <p:spPr/>
        <p:txBody>
          <a:bodyPr/>
          <a:lstStyle/>
          <a:p>
            <a:fld id="{C6B3559C-4BE5-4262-A2E7-0EADDD5F845B}" type="slidenum">
              <a:rPr lang="en-GB" smtClean="0"/>
              <a:t>5</a:t>
            </a:fld>
            <a:endParaRPr lang="en-GB"/>
          </a:p>
        </p:txBody>
      </p:sp>
    </p:spTree>
    <p:extLst>
      <p:ext uri="{BB962C8B-B14F-4D97-AF65-F5344CB8AC3E}">
        <p14:creationId xmlns:p14="http://schemas.microsoft.com/office/powerpoint/2010/main" val="8004380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DC290-84A3-7CA9-E276-81058D7A1B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AE738A-925A-F452-B152-B36B09B45F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B1A395-6BEB-ACCD-43E9-FF38637B77E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C03E03-6CBF-0569-0E8A-E042AF39F732}"/>
              </a:ext>
            </a:extLst>
          </p:cNvPr>
          <p:cNvSpPr>
            <a:spLocks noGrp="1"/>
          </p:cNvSpPr>
          <p:nvPr>
            <p:ph type="sldNum" sz="quarter" idx="5"/>
          </p:nvPr>
        </p:nvSpPr>
        <p:spPr/>
        <p:txBody>
          <a:bodyPr/>
          <a:lstStyle/>
          <a:p>
            <a:fld id="{C6B3559C-4BE5-4262-A2E7-0EADDD5F845B}" type="slidenum">
              <a:rPr lang="en-GB" smtClean="0"/>
              <a:pPr/>
              <a:t>6</a:t>
            </a:fld>
            <a:endParaRPr lang="en-GB"/>
          </a:p>
        </p:txBody>
      </p:sp>
    </p:spTree>
    <p:extLst>
      <p:ext uri="{BB962C8B-B14F-4D97-AF65-F5344CB8AC3E}">
        <p14:creationId xmlns:p14="http://schemas.microsoft.com/office/powerpoint/2010/main" val="37156609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33C9E-D958-D18D-FD06-BDAFE4C0AD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A31752-6B95-9445-FA1D-B7AF67A570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B15363-FD6C-7A6F-E1FD-00588B6CC74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F80844D-8234-0A7F-ACE5-9F2CBA98BE9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29250972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A8C84-5EB2-C82A-B49D-5F3FEE8DBB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033D3E-837D-3CD7-0CD2-DA6AA66F36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C2DD81-DDE7-5B15-0994-978F758FE85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B40F6CB1-BB03-B545-C9F9-21E1657FAC5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13838411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22E15-0E8F-C8A1-95D3-4ED1F286F0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2AC26C-9C73-22B1-76C9-485374E366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9D454F-AEFE-2256-538E-50694A920971}"/>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6AF4C614-3EA3-5B56-9066-9FF3A6A2C2E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37077262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632837E-64A6-4D47-ADC4-EA15D4D7567D}" type="slidenum">
              <a:rPr lang="en-US" smtClean="0"/>
              <a:t>11</a:t>
            </a:fld>
            <a:endParaRPr lang="en-US"/>
          </a:p>
        </p:txBody>
      </p:sp>
    </p:spTree>
    <p:extLst>
      <p:ext uri="{BB962C8B-B14F-4D97-AF65-F5344CB8AC3E}">
        <p14:creationId xmlns:p14="http://schemas.microsoft.com/office/powerpoint/2010/main" val="31842693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80FBC5-6BD2-0FC3-0499-648FABC60B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4CEB06-8FC4-F478-0904-687ED21E4F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17E609-BF33-ECA4-BEE6-676F19AE949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064FB46-9F57-D70D-1201-AF1C8A83BD1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30948801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97850-AF5D-B068-085F-3ECD5F8293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2BD29C-6602-B088-87BD-F762515333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B4BB72-087B-FEA8-064D-8A0C1E66C912}"/>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3681E63-9AB5-0549-8481-9805128F1B8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9807037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46C92-3D85-BE5A-4959-1F1D209A9D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E8153E-DB73-5A43-D2A7-F7D8993C26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57E7CF-2FDD-6C86-383F-E11B41FE5A78}"/>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85770EF-F694-7887-48B7-659FF6A953B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28828692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55FF0-DC1F-17D7-8196-35B6EFD32D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7036BA-D508-0A27-BDB8-C1F21DCA91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A14151-959F-3A86-E086-4B1412B9005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1E24299E-4336-6EAC-031B-187ABE41EF4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42095379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BDBDB3-6F44-4343-B982-74DC091B0E8D}" type="slidenum">
              <a:rPr lang="en-US" smtClean="0"/>
              <a:t>16</a:t>
            </a:fld>
            <a:endParaRPr lang="en-US"/>
          </a:p>
        </p:txBody>
      </p:sp>
    </p:spTree>
    <p:extLst>
      <p:ext uri="{BB962C8B-B14F-4D97-AF65-F5344CB8AC3E}">
        <p14:creationId xmlns:p14="http://schemas.microsoft.com/office/powerpoint/2010/main" val="27966768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9F76CA7F-9274-1C6D-7255-CCCF2D9862B6}"/>
              </a:ext>
            </a:extLst>
          </p:cNvPr>
          <p:cNvSpPr>
            <a:spLocks noGrp="1" noRot="1" noChangeAspect="1" noChangeArrowheads="1" noTextEdit="1"/>
          </p:cNvSpPr>
          <p:nvPr>
            <p:ph type="sldImg"/>
          </p:nvPr>
        </p:nvSpPr>
        <p:spPr>
          <a:ln/>
        </p:spPr>
      </p:sp>
      <p:sp>
        <p:nvSpPr>
          <p:cNvPr id="37891" name="Notes Placeholder 2">
            <a:extLst>
              <a:ext uri="{FF2B5EF4-FFF2-40B4-BE49-F238E27FC236}">
                <a16:creationId xmlns:a16="http://schemas.microsoft.com/office/drawing/2014/main" id="{F5A8C5A3-79EB-FE95-0E13-D052783E2C2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
        <p:nvSpPr>
          <p:cNvPr id="37892" name="Slide Number Placeholder 3">
            <a:extLst>
              <a:ext uri="{FF2B5EF4-FFF2-40B4-BE49-F238E27FC236}">
                <a16:creationId xmlns:a16="http://schemas.microsoft.com/office/drawing/2014/main" id="{3E8BF0B6-23CF-34DF-B472-A7FCD429B97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BE7C4141-DE72-1D4A-B61B-B1788BA85D94}" type="slidenum">
              <a:rPr lang="en-GB" altLang="en-US" sz="1200" smtClean="0"/>
              <a:pPr/>
              <a:t>17</a:t>
            </a:fld>
            <a:endParaRPr lang="en-GB" altLang="en-US"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FDD6FB75-8FBB-42D7-F74C-E64CE54DFE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EE9F177-896E-D448-8992-217554356BBE}" type="slidenum">
              <a:rPr lang="en-GB" altLang="en-US" smtClean="0"/>
              <a:pPr>
                <a:spcBef>
                  <a:spcPct val="0"/>
                </a:spcBef>
              </a:pPr>
              <a:t>18</a:t>
            </a:fld>
            <a:endParaRPr lang="en-GB" altLang="en-US"/>
          </a:p>
        </p:txBody>
      </p:sp>
      <p:sp>
        <p:nvSpPr>
          <p:cNvPr id="39939" name="Rectangle 2">
            <a:extLst>
              <a:ext uri="{FF2B5EF4-FFF2-40B4-BE49-F238E27FC236}">
                <a16:creationId xmlns:a16="http://schemas.microsoft.com/office/drawing/2014/main" id="{464D55BA-7992-FD24-A292-1B3C2281E5D4}"/>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2B36C210-5D66-BF68-7C21-681F28D5E5F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2A9FD9D5-A7DC-1E9A-2D0C-2BDFF3800B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D9DB417-6512-5A4A-8466-AE74B5413CDF}" type="slidenum">
              <a:rPr lang="en-GB" altLang="en-US" smtClean="0"/>
              <a:pPr>
                <a:spcBef>
                  <a:spcPct val="0"/>
                </a:spcBef>
              </a:pPr>
              <a:t>19</a:t>
            </a:fld>
            <a:endParaRPr lang="en-GB" altLang="en-US"/>
          </a:p>
        </p:txBody>
      </p:sp>
      <p:sp>
        <p:nvSpPr>
          <p:cNvPr id="22531" name="Rectangle 2">
            <a:extLst>
              <a:ext uri="{FF2B5EF4-FFF2-40B4-BE49-F238E27FC236}">
                <a16:creationId xmlns:a16="http://schemas.microsoft.com/office/drawing/2014/main" id="{CAF5CEB2-6BC7-7E2E-EB62-C8AED6320633}"/>
              </a:ext>
            </a:extLst>
          </p:cNvPr>
          <p:cNvSpPr>
            <a:spLocks noGrp="1" noRot="1" noChangeAspect="1" noChangeArrowheads="1" noTextEdit="1"/>
          </p:cNvSpPr>
          <p:nvPr>
            <p:ph type="sldImg"/>
          </p:nvPr>
        </p:nvSpPr>
        <p:spPr>
          <a:xfrm>
            <a:off x="469900" y="725488"/>
            <a:ext cx="6380163" cy="3589337"/>
          </a:xfrm>
          <a:ln/>
        </p:spPr>
      </p:sp>
      <p:sp>
        <p:nvSpPr>
          <p:cNvPr id="22532" name="Rectangle 3">
            <a:extLst>
              <a:ext uri="{FF2B5EF4-FFF2-40B4-BE49-F238E27FC236}">
                <a16:creationId xmlns:a16="http://schemas.microsoft.com/office/drawing/2014/main" id="{53538FA3-71AC-F0C3-5F78-6F6431FCED83}"/>
              </a:ext>
            </a:extLst>
          </p:cNvPr>
          <p:cNvSpPr>
            <a:spLocks noGrp="1" noChangeArrowheads="1"/>
          </p:cNvSpPr>
          <p:nvPr>
            <p:ph type="body" idx="1"/>
          </p:nvPr>
        </p:nvSpPr>
        <p:spPr>
          <a:xfrm>
            <a:off x="974725" y="4560888"/>
            <a:ext cx="5365750" cy="43211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307" tIns="48154" rIns="96307" bIns="48154"/>
          <a:lstStyle/>
          <a:p>
            <a:pPr eaLnBrk="1" hangingPunct="1"/>
            <a:endParaRPr lang="en-AU"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BC505-D5C3-5739-F779-8DBFB1224B37}"/>
            </a:ext>
          </a:extLst>
        </p:cNvPr>
        <p:cNvGrpSpPr/>
        <p:nvPr/>
      </p:nvGrpSpPr>
      <p:grpSpPr>
        <a:xfrm>
          <a:off x="0" y="0"/>
          <a:ext cx="0" cy="0"/>
          <a:chOff x="0" y="0"/>
          <a:chExt cx="0" cy="0"/>
        </a:xfrm>
      </p:grpSpPr>
      <p:sp>
        <p:nvSpPr>
          <p:cNvPr id="22530" name="Rectangle 7">
            <a:extLst>
              <a:ext uri="{FF2B5EF4-FFF2-40B4-BE49-F238E27FC236}">
                <a16:creationId xmlns:a16="http://schemas.microsoft.com/office/drawing/2014/main" id="{C60F44E1-7617-CF42-371E-498E7231D7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D9DB417-6512-5A4A-8466-AE74B5413CDF}" type="slidenum">
              <a:rPr lang="en-GB" altLang="en-US" smtClean="0"/>
              <a:pPr>
                <a:spcBef>
                  <a:spcPct val="0"/>
                </a:spcBef>
              </a:pPr>
              <a:t>20</a:t>
            </a:fld>
            <a:endParaRPr lang="en-GB" altLang="en-US"/>
          </a:p>
        </p:txBody>
      </p:sp>
      <p:sp>
        <p:nvSpPr>
          <p:cNvPr id="22531" name="Rectangle 2">
            <a:extLst>
              <a:ext uri="{FF2B5EF4-FFF2-40B4-BE49-F238E27FC236}">
                <a16:creationId xmlns:a16="http://schemas.microsoft.com/office/drawing/2014/main" id="{83FE400E-44B5-EAEB-1B6A-B220BCFF5DA2}"/>
              </a:ext>
            </a:extLst>
          </p:cNvPr>
          <p:cNvSpPr>
            <a:spLocks noGrp="1" noRot="1" noChangeAspect="1" noChangeArrowheads="1" noTextEdit="1"/>
          </p:cNvSpPr>
          <p:nvPr>
            <p:ph type="sldImg"/>
          </p:nvPr>
        </p:nvSpPr>
        <p:spPr>
          <a:xfrm>
            <a:off x="469900" y="725488"/>
            <a:ext cx="6380163" cy="3589337"/>
          </a:xfrm>
          <a:ln/>
        </p:spPr>
      </p:sp>
      <p:sp>
        <p:nvSpPr>
          <p:cNvPr id="22532" name="Rectangle 3">
            <a:extLst>
              <a:ext uri="{FF2B5EF4-FFF2-40B4-BE49-F238E27FC236}">
                <a16:creationId xmlns:a16="http://schemas.microsoft.com/office/drawing/2014/main" id="{AE8CA00F-CA3B-9BE3-FFF2-D99376030B70}"/>
              </a:ext>
            </a:extLst>
          </p:cNvPr>
          <p:cNvSpPr>
            <a:spLocks noGrp="1" noChangeArrowheads="1"/>
          </p:cNvSpPr>
          <p:nvPr>
            <p:ph type="body" idx="1"/>
          </p:nvPr>
        </p:nvSpPr>
        <p:spPr>
          <a:xfrm>
            <a:off x="974725" y="4560888"/>
            <a:ext cx="5365750" cy="43211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307" tIns="48154" rIns="96307" bIns="48154"/>
          <a:lstStyle/>
          <a:p>
            <a:pPr eaLnBrk="1" hangingPunct="1"/>
            <a:endParaRPr lang="en-AU" altLang="en-US" dirty="0"/>
          </a:p>
        </p:txBody>
      </p:sp>
    </p:spTree>
    <p:extLst>
      <p:ext uri="{BB962C8B-B14F-4D97-AF65-F5344CB8AC3E}">
        <p14:creationId xmlns:p14="http://schemas.microsoft.com/office/powerpoint/2010/main" val="34725151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AD14D-0DF0-EAE1-819E-D0E5297B0582}"/>
            </a:ext>
          </a:extLst>
        </p:cNvPr>
        <p:cNvGrpSpPr/>
        <p:nvPr/>
      </p:nvGrpSpPr>
      <p:grpSpPr>
        <a:xfrm>
          <a:off x="0" y="0"/>
          <a:ext cx="0" cy="0"/>
          <a:chOff x="0" y="0"/>
          <a:chExt cx="0" cy="0"/>
        </a:xfrm>
      </p:grpSpPr>
      <p:sp>
        <p:nvSpPr>
          <p:cNvPr id="22530" name="Rectangle 7">
            <a:extLst>
              <a:ext uri="{FF2B5EF4-FFF2-40B4-BE49-F238E27FC236}">
                <a16:creationId xmlns:a16="http://schemas.microsoft.com/office/drawing/2014/main" id="{4672C7E5-9D83-E4C1-075D-0908A6ECAA0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D9DB417-6512-5A4A-8466-AE74B5413CDF}" type="slidenum">
              <a:rPr lang="en-GB" altLang="en-US" smtClean="0"/>
              <a:pPr>
                <a:spcBef>
                  <a:spcPct val="0"/>
                </a:spcBef>
              </a:pPr>
              <a:t>21</a:t>
            </a:fld>
            <a:endParaRPr lang="en-GB" altLang="en-US"/>
          </a:p>
        </p:txBody>
      </p:sp>
      <p:sp>
        <p:nvSpPr>
          <p:cNvPr id="22531" name="Rectangle 2">
            <a:extLst>
              <a:ext uri="{FF2B5EF4-FFF2-40B4-BE49-F238E27FC236}">
                <a16:creationId xmlns:a16="http://schemas.microsoft.com/office/drawing/2014/main" id="{00192F0F-F12E-DB44-9A82-E856980EFF78}"/>
              </a:ext>
            </a:extLst>
          </p:cNvPr>
          <p:cNvSpPr>
            <a:spLocks noGrp="1" noRot="1" noChangeAspect="1" noChangeArrowheads="1" noTextEdit="1"/>
          </p:cNvSpPr>
          <p:nvPr>
            <p:ph type="sldImg"/>
          </p:nvPr>
        </p:nvSpPr>
        <p:spPr>
          <a:xfrm>
            <a:off x="469900" y="725488"/>
            <a:ext cx="6380163" cy="3589337"/>
          </a:xfrm>
          <a:ln/>
        </p:spPr>
      </p:sp>
      <p:sp>
        <p:nvSpPr>
          <p:cNvPr id="22532" name="Rectangle 3">
            <a:extLst>
              <a:ext uri="{FF2B5EF4-FFF2-40B4-BE49-F238E27FC236}">
                <a16:creationId xmlns:a16="http://schemas.microsoft.com/office/drawing/2014/main" id="{7798CD0E-E9B6-7B91-9A3D-5E0E41A17075}"/>
              </a:ext>
            </a:extLst>
          </p:cNvPr>
          <p:cNvSpPr>
            <a:spLocks noGrp="1" noChangeArrowheads="1"/>
          </p:cNvSpPr>
          <p:nvPr>
            <p:ph type="body" idx="1"/>
          </p:nvPr>
        </p:nvSpPr>
        <p:spPr>
          <a:xfrm>
            <a:off x="974725" y="4560888"/>
            <a:ext cx="5365750" cy="43211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307" tIns="48154" rIns="96307" bIns="48154"/>
          <a:lstStyle/>
          <a:p>
            <a:pPr eaLnBrk="1" hangingPunct="1"/>
            <a:endParaRPr lang="en-AU" altLang="en-US"/>
          </a:p>
        </p:txBody>
      </p:sp>
    </p:spTree>
    <p:extLst>
      <p:ext uri="{BB962C8B-B14F-4D97-AF65-F5344CB8AC3E}">
        <p14:creationId xmlns:p14="http://schemas.microsoft.com/office/powerpoint/2010/main" val="28306382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77D1D-7C23-28A3-7209-C1240E6A55D3}"/>
            </a:ext>
          </a:extLst>
        </p:cNvPr>
        <p:cNvGrpSpPr/>
        <p:nvPr/>
      </p:nvGrpSpPr>
      <p:grpSpPr>
        <a:xfrm>
          <a:off x="0" y="0"/>
          <a:ext cx="0" cy="0"/>
          <a:chOff x="0" y="0"/>
          <a:chExt cx="0" cy="0"/>
        </a:xfrm>
      </p:grpSpPr>
      <p:sp>
        <p:nvSpPr>
          <p:cNvPr id="22530" name="Rectangle 7">
            <a:extLst>
              <a:ext uri="{FF2B5EF4-FFF2-40B4-BE49-F238E27FC236}">
                <a16:creationId xmlns:a16="http://schemas.microsoft.com/office/drawing/2014/main" id="{ABBE121A-4E9D-37EF-9BCC-F3ECF11F2CB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D9DB417-6512-5A4A-8466-AE74B5413CDF}" type="slidenum">
              <a:rPr lang="en-GB" altLang="en-US" smtClean="0"/>
              <a:pPr>
                <a:spcBef>
                  <a:spcPct val="0"/>
                </a:spcBef>
              </a:pPr>
              <a:t>22</a:t>
            </a:fld>
            <a:endParaRPr lang="en-GB" altLang="en-US"/>
          </a:p>
        </p:txBody>
      </p:sp>
      <p:sp>
        <p:nvSpPr>
          <p:cNvPr id="22531" name="Rectangle 2">
            <a:extLst>
              <a:ext uri="{FF2B5EF4-FFF2-40B4-BE49-F238E27FC236}">
                <a16:creationId xmlns:a16="http://schemas.microsoft.com/office/drawing/2014/main" id="{2E24D609-6BBC-7A6A-DDFE-2B5070BE66EA}"/>
              </a:ext>
            </a:extLst>
          </p:cNvPr>
          <p:cNvSpPr>
            <a:spLocks noGrp="1" noRot="1" noChangeAspect="1" noChangeArrowheads="1" noTextEdit="1"/>
          </p:cNvSpPr>
          <p:nvPr>
            <p:ph type="sldImg"/>
          </p:nvPr>
        </p:nvSpPr>
        <p:spPr>
          <a:xfrm>
            <a:off x="469900" y="725488"/>
            <a:ext cx="6380163" cy="3589337"/>
          </a:xfrm>
          <a:ln/>
        </p:spPr>
      </p:sp>
      <p:sp>
        <p:nvSpPr>
          <p:cNvPr id="22532" name="Rectangle 3">
            <a:extLst>
              <a:ext uri="{FF2B5EF4-FFF2-40B4-BE49-F238E27FC236}">
                <a16:creationId xmlns:a16="http://schemas.microsoft.com/office/drawing/2014/main" id="{3390B6DF-B6CC-5E7D-3100-64CB0ED4090B}"/>
              </a:ext>
            </a:extLst>
          </p:cNvPr>
          <p:cNvSpPr>
            <a:spLocks noGrp="1" noChangeArrowheads="1"/>
          </p:cNvSpPr>
          <p:nvPr>
            <p:ph type="body" idx="1"/>
          </p:nvPr>
        </p:nvSpPr>
        <p:spPr>
          <a:xfrm>
            <a:off x="974725" y="4560888"/>
            <a:ext cx="5365750" cy="43211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307" tIns="48154" rIns="96307" bIns="48154"/>
          <a:lstStyle/>
          <a:p>
            <a:pPr eaLnBrk="1" hangingPunct="1"/>
            <a:endParaRPr lang="en-AU" altLang="en-US" dirty="0"/>
          </a:p>
        </p:txBody>
      </p:sp>
    </p:spTree>
    <p:extLst>
      <p:ext uri="{BB962C8B-B14F-4D97-AF65-F5344CB8AC3E}">
        <p14:creationId xmlns:p14="http://schemas.microsoft.com/office/powerpoint/2010/main" val="4798307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2AA78752-D03F-6803-2F03-E63F1972AD3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592457B-6316-A94F-A843-7963947B12AA}" type="slidenum">
              <a:rPr lang="en-GB" altLang="en-US" smtClean="0"/>
              <a:pPr>
                <a:spcBef>
                  <a:spcPct val="0"/>
                </a:spcBef>
              </a:pPr>
              <a:t>23</a:t>
            </a:fld>
            <a:endParaRPr lang="en-GB" altLang="en-US"/>
          </a:p>
        </p:txBody>
      </p:sp>
      <p:sp>
        <p:nvSpPr>
          <p:cNvPr id="28675" name="Rectangle 2">
            <a:extLst>
              <a:ext uri="{FF2B5EF4-FFF2-40B4-BE49-F238E27FC236}">
                <a16:creationId xmlns:a16="http://schemas.microsoft.com/office/drawing/2014/main" id="{86B5B07A-276A-7984-D905-B6ABDD14BE51}"/>
              </a:ext>
            </a:extLst>
          </p:cNvPr>
          <p:cNvSpPr>
            <a:spLocks noGrp="1" noRot="1" noChangeAspect="1" noChangeArrowheads="1" noTextEdit="1"/>
          </p:cNvSpPr>
          <p:nvPr>
            <p:ph type="sldImg"/>
          </p:nvPr>
        </p:nvSpPr>
        <p:spPr>
          <a:ln/>
        </p:spPr>
      </p:sp>
      <p:sp>
        <p:nvSpPr>
          <p:cNvPr id="28676" name="Rectangle 3">
            <a:extLst>
              <a:ext uri="{FF2B5EF4-FFF2-40B4-BE49-F238E27FC236}">
                <a16:creationId xmlns:a16="http://schemas.microsoft.com/office/drawing/2014/main" id="{C443F705-22E4-8CEF-BBC2-694F9BF7464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3809A13-91EA-4CEB-ABF3-B0CCDC3B8D6F}" type="slidenum">
              <a:rPr lang="en-GB" smtClean="0"/>
              <a:t>24</a:t>
            </a:fld>
            <a:endParaRPr lang="en-GB"/>
          </a:p>
        </p:txBody>
      </p:sp>
    </p:spTree>
    <p:extLst>
      <p:ext uri="{BB962C8B-B14F-4D97-AF65-F5344CB8AC3E}">
        <p14:creationId xmlns:p14="http://schemas.microsoft.com/office/powerpoint/2010/main" val="7608467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D8AA3-A695-BA0A-4284-42907BD818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BDD206-67D8-8F66-E32A-BC8A421514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20F3B7-87F8-4AF4-96EF-2027EFB5EB3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726646B-3D03-967E-5D70-BD9E23410F5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37341117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cs typeface="DM Sans"/>
            </a:endParaRPr>
          </a:p>
        </p:txBody>
      </p:sp>
      <p:sp>
        <p:nvSpPr>
          <p:cNvPr id="4" name="Slide Number Placeholder 3"/>
          <p:cNvSpPr>
            <a:spLocks noGrp="1"/>
          </p:cNvSpPr>
          <p:nvPr>
            <p:ph type="sldNum" sz="quarter" idx="5"/>
          </p:nvPr>
        </p:nvSpPr>
        <p:spPr/>
        <p:txBody>
          <a:bodyPr/>
          <a:lstStyle/>
          <a:p>
            <a:fld id="{C6B3559C-4BE5-4262-A2E7-0EADDD5F845B}" type="slidenum">
              <a:rPr lang="en-GB" smtClean="0"/>
              <a:t>26</a:t>
            </a:fld>
            <a:endParaRPr lang="en-GB"/>
          </a:p>
        </p:txBody>
      </p:sp>
    </p:spTree>
    <p:extLst>
      <p:ext uri="{BB962C8B-B14F-4D97-AF65-F5344CB8AC3E}">
        <p14:creationId xmlns:p14="http://schemas.microsoft.com/office/powerpoint/2010/main" val="23356219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AE43E-67CF-EFD5-100A-52815A1A9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FD551-9789-1547-0475-BA15B2735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4EB9FE-445A-4E85-CB86-A34D40CFFCB6}"/>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8AACB0D-D01B-9280-5869-5CB5F4C4B992}"/>
              </a:ext>
            </a:extLst>
          </p:cNvPr>
          <p:cNvSpPr>
            <a:spLocks noGrp="1"/>
          </p:cNvSpPr>
          <p:nvPr>
            <p:ph type="sldNum" sz="quarter" idx="5"/>
          </p:nvPr>
        </p:nvSpPr>
        <p:spPr/>
        <p:txBody>
          <a:bodyPr/>
          <a:lstStyle/>
          <a:p>
            <a:fld id="{C6B3559C-4BE5-4262-A2E7-0EADDD5F845B}" type="slidenum">
              <a:rPr lang="en-GB" smtClean="0"/>
              <a:t>27</a:t>
            </a:fld>
            <a:endParaRPr lang="en-GB"/>
          </a:p>
        </p:txBody>
      </p:sp>
    </p:spTree>
    <p:extLst>
      <p:ext uri="{BB962C8B-B14F-4D97-AF65-F5344CB8AC3E}">
        <p14:creationId xmlns:p14="http://schemas.microsoft.com/office/powerpoint/2010/main" val="20818975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C6B60-0723-07DA-5884-6E4F49DFB2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159EEC-0013-377A-9433-C3F4A3A17C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7BE5FF-B4D2-8E0F-9490-739CC41EA234}"/>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AFEAD3BE-9477-4EDA-78A4-4F353843ED97}"/>
              </a:ext>
            </a:extLst>
          </p:cNvPr>
          <p:cNvSpPr>
            <a:spLocks noGrp="1"/>
          </p:cNvSpPr>
          <p:nvPr>
            <p:ph type="sldNum" sz="quarter" idx="5"/>
          </p:nvPr>
        </p:nvSpPr>
        <p:spPr/>
        <p:txBody>
          <a:bodyPr/>
          <a:lstStyle/>
          <a:p>
            <a:fld id="{C6B3559C-4BE5-4262-A2E7-0EADDD5F845B}" type="slidenum">
              <a:rPr lang="en-GB" smtClean="0"/>
              <a:t>28</a:t>
            </a:fld>
            <a:endParaRPr lang="en-GB"/>
          </a:p>
        </p:txBody>
      </p:sp>
    </p:spTree>
    <p:extLst>
      <p:ext uri="{BB962C8B-B14F-4D97-AF65-F5344CB8AC3E}">
        <p14:creationId xmlns:p14="http://schemas.microsoft.com/office/powerpoint/2010/main" val="2897380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5448D-AA6A-BEF0-4FBB-3F9145193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12627F-861E-934F-BF11-17770DAF0E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7D0922-C362-5CFA-54CD-C1D87937C8E7}"/>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EB85F686-A62E-3961-D11D-7BDCE00DEDDE}"/>
              </a:ext>
            </a:extLst>
          </p:cNvPr>
          <p:cNvSpPr>
            <a:spLocks noGrp="1"/>
          </p:cNvSpPr>
          <p:nvPr>
            <p:ph type="sldNum" sz="quarter" idx="5"/>
          </p:nvPr>
        </p:nvSpPr>
        <p:spPr/>
        <p:txBody>
          <a:bodyPr/>
          <a:lstStyle/>
          <a:p>
            <a:fld id="{C6B3559C-4BE5-4262-A2E7-0EADDD5F845B}" type="slidenum">
              <a:rPr lang="en-GB" smtClean="0"/>
              <a:t>29</a:t>
            </a:fld>
            <a:endParaRPr lang="en-GB"/>
          </a:p>
        </p:txBody>
      </p:sp>
    </p:spTree>
    <p:extLst>
      <p:ext uri="{BB962C8B-B14F-4D97-AF65-F5344CB8AC3E}">
        <p14:creationId xmlns:p14="http://schemas.microsoft.com/office/powerpoint/2010/main" val="2733988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45538-2977-C423-1D40-2E00F5EF0A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33D1C4-34D1-B980-23C1-6DFAE39072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12E471-808A-EA2B-19F3-D34FE5D461A3}"/>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D53E4EE3-9EF9-B01B-BAB7-8E9ED4FE287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314362661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AF1FC-4786-6C0E-C4D8-62726C63ED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A2CF88-E6FB-5D85-A675-9B3F762465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8CFC8C-4615-7583-114C-DB9A30F651A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ea typeface="ＭＳ Ｐゴシック" panose="020B0600070205080204" pitchFamily="34" charset="-128"/>
            </a:endParaRPr>
          </a:p>
        </p:txBody>
      </p:sp>
      <p:sp>
        <p:nvSpPr>
          <p:cNvPr id="4" name="Slide Number Placeholder 3">
            <a:extLst>
              <a:ext uri="{FF2B5EF4-FFF2-40B4-BE49-F238E27FC236}">
                <a16:creationId xmlns:a16="http://schemas.microsoft.com/office/drawing/2014/main" id="{21FB9737-4BE6-F85C-0986-876841C8081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17873173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4DBCC-4C70-4270-29B9-AD60D36AC5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C3B181-C233-C064-30EE-65B9A3F90E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248C02-5B46-3BA2-E8B8-CFE6E03CBFF6}"/>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723F9EB-3686-5969-2159-3156A55C49A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384824081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632837E-64A6-4D47-ADC4-EA15D4D7567D}" type="slidenum">
              <a:rPr lang="en-US" smtClean="0"/>
              <a:t>33</a:t>
            </a:fld>
            <a:endParaRPr lang="en-US"/>
          </a:p>
        </p:txBody>
      </p:sp>
    </p:spTree>
    <p:extLst>
      <p:ext uri="{BB962C8B-B14F-4D97-AF65-F5344CB8AC3E}">
        <p14:creationId xmlns:p14="http://schemas.microsoft.com/office/powerpoint/2010/main" val="62460551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513EB-F47E-A502-9D3B-DC199AA1B0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1E265E-061D-A662-EE38-CD078A140B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12EB0-4D53-7A66-694E-FDE7B385068B}"/>
              </a:ext>
            </a:extLst>
          </p:cNvPr>
          <p:cNvSpPr>
            <a:spLocks noGrp="1"/>
          </p:cNvSpPr>
          <p:nvPr>
            <p:ph type="body" idx="1"/>
          </p:nvPr>
        </p:nvSpPr>
        <p:spPr/>
        <p:txBody>
          <a:bodyPr/>
          <a:lstStyle/>
          <a:p>
            <a:r>
              <a:rPr lang="en-GB" dirty="0">
                <a:cs typeface="DM Sans"/>
              </a:rPr>
              <a:t>https://</a:t>
            </a:r>
            <a:r>
              <a:rPr lang="en-GB" dirty="0" err="1">
                <a:cs typeface="DM Sans"/>
              </a:rPr>
              <a:t>www.youtube.com</a:t>
            </a:r>
            <a:r>
              <a:rPr lang="en-GB" dirty="0">
                <a:cs typeface="DM Sans"/>
              </a:rPr>
              <a:t>/</a:t>
            </a:r>
            <a:r>
              <a:rPr lang="en-GB" dirty="0" err="1">
                <a:cs typeface="DM Sans"/>
              </a:rPr>
              <a:t>watch?v</a:t>
            </a:r>
            <a:r>
              <a:rPr lang="en-GB" dirty="0">
                <a:cs typeface="DM Sans"/>
              </a:rPr>
              <a:t>=JIdwC1kipGo&amp;t=1187s</a:t>
            </a:r>
          </a:p>
          <a:p>
            <a:endParaRPr lang="en-GB" dirty="0">
              <a:cs typeface="DM Sans"/>
            </a:endParaRPr>
          </a:p>
        </p:txBody>
      </p:sp>
      <p:sp>
        <p:nvSpPr>
          <p:cNvPr id="4" name="Slide Number Placeholder 3">
            <a:extLst>
              <a:ext uri="{FF2B5EF4-FFF2-40B4-BE49-F238E27FC236}">
                <a16:creationId xmlns:a16="http://schemas.microsoft.com/office/drawing/2014/main" id="{086C01FE-8C89-045F-A0EA-D5D2DC7343B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103060602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412E5-B5C0-3664-E6CA-41D6F05C8A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BD4ABF-957D-6134-BF27-1D5FA5D9FF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E9A5F8-A333-E701-F242-0B61FF5692D4}"/>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BADB7F01-9807-65C0-9788-300F25E0A30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186918316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1B6DC-0831-9C56-EDF6-CE499E64C1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60FAAA-FF74-FD3F-9028-5ED690DEF3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C47D5C-679C-3C5B-08A5-39CD62CB4DA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F9F84911-F558-F7C2-C808-5D76CB53687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225371464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632837E-64A6-4D47-ADC4-EA15D4D7567D}" type="slidenum">
              <a:rPr lang="en-US" smtClean="0"/>
              <a:t>38</a:t>
            </a:fld>
            <a:endParaRPr lang="en-US"/>
          </a:p>
        </p:txBody>
      </p:sp>
    </p:spTree>
    <p:extLst>
      <p:ext uri="{BB962C8B-B14F-4D97-AF65-F5344CB8AC3E}">
        <p14:creationId xmlns:p14="http://schemas.microsoft.com/office/powerpoint/2010/main" val="165631557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6CC25-9FFA-C33E-25AC-F354E5E06F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75E001-0846-1628-3AEE-5CAEC45267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C990C0-4E5E-41FC-CD42-CA81C6E6AD8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a:extLst>
              <a:ext uri="{FF2B5EF4-FFF2-40B4-BE49-F238E27FC236}">
                <a16:creationId xmlns:a16="http://schemas.microsoft.com/office/drawing/2014/main" id="{5BB4D933-C6F5-79DF-C310-3A7B074C44E5}"/>
              </a:ext>
            </a:extLst>
          </p:cNvPr>
          <p:cNvSpPr>
            <a:spLocks noGrp="1"/>
          </p:cNvSpPr>
          <p:nvPr>
            <p:ph type="sldNum" sz="quarter" idx="5"/>
          </p:nvPr>
        </p:nvSpPr>
        <p:spPr/>
        <p:txBody>
          <a:bodyPr/>
          <a:lstStyle/>
          <a:p>
            <a:fld id="{8C935868-6F4D-4776-A3B4-B0F3E883BB92}" type="slidenum">
              <a:rPr lang="en-GB" smtClean="0"/>
              <a:t>40</a:t>
            </a:fld>
            <a:endParaRPr lang="en-GB"/>
          </a:p>
        </p:txBody>
      </p:sp>
    </p:spTree>
    <p:extLst>
      <p:ext uri="{BB962C8B-B14F-4D97-AF65-F5344CB8AC3E}">
        <p14:creationId xmlns:p14="http://schemas.microsoft.com/office/powerpoint/2010/main" val="385748174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DAB78-5C93-17C7-A1D7-8F7F34BAEE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E5F344-C79B-796C-B36C-7C8A3D0305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1DEAF9-391C-49CD-2202-BA56370A8123}"/>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E2AE00D5-E5C2-2840-461B-558C80D84ABA}"/>
              </a:ext>
            </a:extLst>
          </p:cNvPr>
          <p:cNvSpPr>
            <a:spLocks noGrp="1"/>
          </p:cNvSpPr>
          <p:nvPr>
            <p:ph type="sldNum" sz="quarter" idx="5"/>
          </p:nvPr>
        </p:nvSpPr>
        <p:spPr/>
        <p:txBody>
          <a:bodyPr/>
          <a:lstStyle/>
          <a:p>
            <a:fld id="{C6B3559C-4BE5-4262-A2E7-0EADDD5F845B}" type="slidenum">
              <a:rPr lang="en-GB" smtClean="0"/>
              <a:t>41</a:t>
            </a:fld>
            <a:endParaRPr lang="en-GB"/>
          </a:p>
        </p:txBody>
      </p:sp>
    </p:spTree>
    <p:extLst>
      <p:ext uri="{BB962C8B-B14F-4D97-AF65-F5344CB8AC3E}">
        <p14:creationId xmlns:p14="http://schemas.microsoft.com/office/powerpoint/2010/main" val="182813262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A09E7-F231-C326-A92E-5BAE2F57EB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BA7C2B-9531-543E-C4D7-CA59455235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362D7A-A307-497A-7ACD-FD0F5F918EB2}"/>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9E108947-A9E5-3938-2466-9367D14FB9AC}"/>
              </a:ext>
            </a:extLst>
          </p:cNvPr>
          <p:cNvSpPr>
            <a:spLocks noGrp="1"/>
          </p:cNvSpPr>
          <p:nvPr>
            <p:ph type="sldNum" sz="quarter" idx="5"/>
          </p:nvPr>
        </p:nvSpPr>
        <p:spPr/>
        <p:txBody>
          <a:bodyPr/>
          <a:lstStyle/>
          <a:p>
            <a:fld id="{C6B3559C-4BE5-4262-A2E7-0EADDD5F845B}" type="slidenum">
              <a:rPr lang="en-GB" smtClean="0"/>
              <a:t>42</a:t>
            </a:fld>
            <a:endParaRPr lang="en-GB"/>
          </a:p>
        </p:txBody>
      </p:sp>
    </p:spTree>
    <p:extLst>
      <p:ext uri="{BB962C8B-B14F-4D97-AF65-F5344CB8AC3E}">
        <p14:creationId xmlns:p14="http://schemas.microsoft.com/office/powerpoint/2010/main" val="220677941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85EAA9DB-3DCE-01AD-6509-0CEC9225EC8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375">
              <a:spcBef>
                <a:spcPct val="30000"/>
              </a:spcBef>
              <a:defRPr sz="1200">
                <a:solidFill>
                  <a:schemeClr val="tx1"/>
                </a:solidFill>
                <a:latin typeface="Times New Roman" panose="02020603050405020304" pitchFamily="18" charset="0"/>
              </a:defRPr>
            </a:lvl1pPr>
            <a:lvl2pPr marL="742950" indent="-285750" defTabSz="968375">
              <a:spcBef>
                <a:spcPct val="30000"/>
              </a:spcBef>
              <a:defRPr sz="1200">
                <a:solidFill>
                  <a:schemeClr val="tx1"/>
                </a:solidFill>
                <a:latin typeface="Times New Roman" panose="02020603050405020304" pitchFamily="18" charset="0"/>
              </a:defRPr>
            </a:lvl2pPr>
            <a:lvl3pPr marL="1143000" indent="-228600" defTabSz="968375">
              <a:spcBef>
                <a:spcPct val="30000"/>
              </a:spcBef>
              <a:defRPr sz="1200">
                <a:solidFill>
                  <a:schemeClr val="tx1"/>
                </a:solidFill>
                <a:latin typeface="Times New Roman" panose="02020603050405020304" pitchFamily="18" charset="0"/>
              </a:defRPr>
            </a:lvl3pPr>
            <a:lvl4pPr marL="1600200" indent="-228600" defTabSz="968375">
              <a:spcBef>
                <a:spcPct val="30000"/>
              </a:spcBef>
              <a:defRPr sz="1200">
                <a:solidFill>
                  <a:schemeClr val="tx1"/>
                </a:solidFill>
                <a:latin typeface="Times New Roman" panose="02020603050405020304" pitchFamily="18" charset="0"/>
              </a:defRPr>
            </a:lvl4pPr>
            <a:lvl5pPr marL="2057400" indent="-228600" defTabSz="968375">
              <a:spcBef>
                <a:spcPct val="30000"/>
              </a:spcBef>
              <a:defRPr sz="1200">
                <a:solidFill>
                  <a:schemeClr val="tx1"/>
                </a:solidFill>
                <a:latin typeface="Times New Roman" panose="02020603050405020304" pitchFamily="18" charset="0"/>
              </a:defRPr>
            </a:lvl5pPr>
            <a:lvl6pPr marL="2514600" indent="-228600" defTabSz="9683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83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83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837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8596217-71CF-9847-BC31-DDF5E4AE994E}" type="slidenum">
              <a:rPr lang="en-GB" altLang="en-US" sz="1300"/>
              <a:pPr>
                <a:spcBef>
                  <a:spcPct val="0"/>
                </a:spcBef>
              </a:pPr>
              <a:t>43</a:t>
            </a:fld>
            <a:endParaRPr lang="en-GB" altLang="en-US" sz="1300"/>
          </a:p>
        </p:txBody>
      </p:sp>
      <p:sp>
        <p:nvSpPr>
          <p:cNvPr id="21507" name="Rectangle 2">
            <a:extLst>
              <a:ext uri="{FF2B5EF4-FFF2-40B4-BE49-F238E27FC236}">
                <a16:creationId xmlns:a16="http://schemas.microsoft.com/office/drawing/2014/main" id="{F3BB62F4-63F9-DAB1-0243-31FD8D7A2855}"/>
              </a:ext>
            </a:extLst>
          </p:cNvPr>
          <p:cNvSpPr>
            <a:spLocks noGrp="1" noRot="1" noChangeAspect="1" noChangeArrowheads="1" noTextEdit="1"/>
          </p:cNvSpPr>
          <p:nvPr>
            <p:ph type="sldImg"/>
          </p:nvPr>
        </p:nvSpPr>
        <p:spPr>
          <a:ln/>
        </p:spPr>
      </p:sp>
      <p:sp>
        <p:nvSpPr>
          <p:cNvPr id="21508" name="Rectangle 3">
            <a:extLst>
              <a:ext uri="{FF2B5EF4-FFF2-40B4-BE49-F238E27FC236}">
                <a16:creationId xmlns:a16="http://schemas.microsoft.com/office/drawing/2014/main" id="{65385BD7-8DC8-8443-0BFC-014FAD1095F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alt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64D44-5B4A-8211-D1CA-FD11DE5C932C}"/>
            </a:ext>
          </a:extLst>
        </p:cNvPr>
        <p:cNvGrpSpPr/>
        <p:nvPr/>
      </p:nvGrpSpPr>
      <p:grpSpPr>
        <a:xfrm>
          <a:off x="0" y="0"/>
          <a:ext cx="0" cy="0"/>
          <a:chOff x="0" y="0"/>
          <a:chExt cx="0" cy="0"/>
        </a:xfrm>
      </p:grpSpPr>
      <p:sp>
        <p:nvSpPr>
          <p:cNvPr id="21506" name="Rectangle 7">
            <a:extLst>
              <a:ext uri="{FF2B5EF4-FFF2-40B4-BE49-F238E27FC236}">
                <a16:creationId xmlns:a16="http://schemas.microsoft.com/office/drawing/2014/main" id="{534EDAEC-09CB-A21C-B7BE-7B5B22638B1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375">
              <a:spcBef>
                <a:spcPct val="30000"/>
              </a:spcBef>
              <a:defRPr sz="1200">
                <a:solidFill>
                  <a:schemeClr val="tx1"/>
                </a:solidFill>
                <a:latin typeface="Times New Roman" panose="02020603050405020304" pitchFamily="18" charset="0"/>
              </a:defRPr>
            </a:lvl1pPr>
            <a:lvl2pPr marL="742950" indent="-285750" defTabSz="968375">
              <a:spcBef>
                <a:spcPct val="30000"/>
              </a:spcBef>
              <a:defRPr sz="1200">
                <a:solidFill>
                  <a:schemeClr val="tx1"/>
                </a:solidFill>
                <a:latin typeface="Times New Roman" panose="02020603050405020304" pitchFamily="18" charset="0"/>
              </a:defRPr>
            </a:lvl2pPr>
            <a:lvl3pPr marL="1143000" indent="-228600" defTabSz="968375">
              <a:spcBef>
                <a:spcPct val="30000"/>
              </a:spcBef>
              <a:defRPr sz="1200">
                <a:solidFill>
                  <a:schemeClr val="tx1"/>
                </a:solidFill>
                <a:latin typeface="Times New Roman" panose="02020603050405020304" pitchFamily="18" charset="0"/>
              </a:defRPr>
            </a:lvl3pPr>
            <a:lvl4pPr marL="1600200" indent="-228600" defTabSz="968375">
              <a:spcBef>
                <a:spcPct val="30000"/>
              </a:spcBef>
              <a:defRPr sz="1200">
                <a:solidFill>
                  <a:schemeClr val="tx1"/>
                </a:solidFill>
                <a:latin typeface="Times New Roman" panose="02020603050405020304" pitchFamily="18" charset="0"/>
              </a:defRPr>
            </a:lvl4pPr>
            <a:lvl5pPr marL="2057400" indent="-228600" defTabSz="968375">
              <a:spcBef>
                <a:spcPct val="30000"/>
              </a:spcBef>
              <a:defRPr sz="1200">
                <a:solidFill>
                  <a:schemeClr val="tx1"/>
                </a:solidFill>
                <a:latin typeface="Times New Roman" panose="02020603050405020304" pitchFamily="18" charset="0"/>
              </a:defRPr>
            </a:lvl5pPr>
            <a:lvl6pPr marL="2514600" indent="-228600" defTabSz="9683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83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83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837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8596217-71CF-9847-BC31-DDF5E4AE994E}" type="slidenum">
              <a:rPr lang="en-GB" altLang="en-US" sz="1300"/>
              <a:pPr>
                <a:spcBef>
                  <a:spcPct val="0"/>
                </a:spcBef>
              </a:pPr>
              <a:t>44</a:t>
            </a:fld>
            <a:endParaRPr lang="en-GB" altLang="en-US" sz="1300"/>
          </a:p>
        </p:txBody>
      </p:sp>
      <p:sp>
        <p:nvSpPr>
          <p:cNvPr id="21507" name="Rectangle 2">
            <a:extLst>
              <a:ext uri="{FF2B5EF4-FFF2-40B4-BE49-F238E27FC236}">
                <a16:creationId xmlns:a16="http://schemas.microsoft.com/office/drawing/2014/main" id="{4DA79BA7-E1A6-CCB1-F50C-9B1FC6E2DF61}"/>
              </a:ext>
            </a:extLst>
          </p:cNvPr>
          <p:cNvSpPr>
            <a:spLocks noGrp="1" noRot="1" noChangeAspect="1" noChangeArrowheads="1" noTextEdit="1"/>
          </p:cNvSpPr>
          <p:nvPr>
            <p:ph type="sldImg"/>
          </p:nvPr>
        </p:nvSpPr>
        <p:spPr>
          <a:ln/>
        </p:spPr>
      </p:sp>
      <p:sp>
        <p:nvSpPr>
          <p:cNvPr id="21508" name="Rectangle 3">
            <a:extLst>
              <a:ext uri="{FF2B5EF4-FFF2-40B4-BE49-F238E27FC236}">
                <a16:creationId xmlns:a16="http://schemas.microsoft.com/office/drawing/2014/main" id="{BD17FB86-4F06-900D-6BAF-A6DADCC276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altLang="en-US" dirty="0"/>
          </a:p>
        </p:txBody>
      </p:sp>
    </p:spTree>
    <p:extLst>
      <p:ext uri="{BB962C8B-B14F-4D97-AF65-F5344CB8AC3E}">
        <p14:creationId xmlns:p14="http://schemas.microsoft.com/office/powerpoint/2010/main" val="423027996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EA8D8-EBF7-DB22-9FF5-87373BA827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E81EE6-9EB7-C5F5-3AD6-7FDCDDEB72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4559E8-D822-F169-DBFF-BBE9611C497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7C1DAAB3-AD75-A8ED-BABE-6BC0E4C3118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410364109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632837E-64A6-4D47-ADC4-EA15D4D7567D}" type="slidenum">
              <a:rPr lang="en-US" smtClean="0"/>
              <a:t>52</a:t>
            </a:fld>
            <a:endParaRPr lang="en-US"/>
          </a:p>
        </p:txBody>
      </p:sp>
    </p:spTree>
    <p:extLst>
      <p:ext uri="{BB962C8B-B14F-4D97-AF65-F5344CB8AC3E}">
        <p14:creationId xmlns:p14="http://schemas.microsoft.com/office/powerpoint/2010/main" val="158239111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9F066-0608-73FF-FA76-38C2E88363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7EC885-AC6D-9162-F1F9-1C68731633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E1C7FE-BE29-FA1E-6146-832862722C6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B36A791-049D-D6BD-6BA4-F7D0921E459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421310842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a:extLst>
              <a:ext uri="{FF2B5EF4-FFF2-40B4-BE49-F238E27FC236}">
                <a16:creationId xmlns:a16="http://schemas.microsoft.com/office/drawing/2014/main" id="{F674FCE3-9658-7146-B0EE-3C40BEE1CF6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BE9A0C49-509C-5F46-9879-66CBB1041243}" type="slidenum">
              <a:rPr kumimoji="0" lang="en-GB"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auto" latinLnBrk="0" hangingPunct="1">
                <a:lnSpc>
                  <a:spcPct val="100000"/>
                </a:lnSpc>
                <a:spcBef>
                  <a:spcPct val="0"/>
                </a:spcBef>
                <a:spcAft>
                  <a:spcPts val="0"/>
                </a:spcAft>
                <a:buClrTx/>
                <a:buSzTx/>
                <a:buFontTx/>
                <a:buNone/>
                <a:tabLst/>
                <a:defRPr/>
              </a:pPr>
              <a:t>56</a:t>
            </a:fld>
            <a:endParaRPr kumimoji="0" lang="en-GB"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65538" name="Rectangle 2">
            <a:extLst>
              <a:ext uri="{FF2B5EF4-FFF2-40B4-BE49-F238E27FC236}">
                <a16:creationId xmlns:a16="http://schemas.microsoft.com/office/drawing/2014/main" id="{7F255ED0-AF38-5F4A-AEDF-3F0479128794}"/>
              </a:ext>
            </a:extLst>
          </p:cNvPr>
          <p:cNvSpPr>
            <a:spLocks noGrp="1" noRot="1" noChangeAspect="1" noChangeArrowheads="1" noTextEdit="1"/>
          </p:cNvSpPr>
          <p:nvPr>
            <p:ph type="sldImg"/>
          </p:nvPr>
        </p:nvSpPr>
        <p:spPr>
          <a:ln/>
        </p:spPr>
      </p:sp>
      <p:sp>
        <p:nvSpPr>
          <p:cNvPr id="65539" name="Rectangle 3">
            <a:extLst>
              <a:ext uri="{FF2B5EF4-FFF2-40B4-BE49-F238E27FC236}">
                <a16:creationId xmlns:a16="http://schemas.microsoft.com/office/drawing/2014/main" id="{BEFD6AD4-FA02-E345-83D4-A7A2B402F3DC}"/>
              </a:ext>
            </a:extLst>
          </p:cNvPr>
          <p:cNvSpPr>
            <a:spLocks noGrp="1" noChangeArrowheads="1"/>
          </p:cNvSpPr>
          <p:nvPr>
            <p:ph type="body" idx="1"/>
          </p:nvPr>
        </p:nvSpPr>
        <p:spPr>
          <a:xfrm>
            <a:off x="730250" y="4560888"/>
            <a:ext cx="5854700" cy="43195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80000"/>
              </a:lnSpc>
            </a:pPr>
            <a:endParaRPr lang="en-GB" altLang="en-US" sz="1200" dirty="0">
              <a:latin typeface="Times New Roman" panose="02020603050405020304" pitchFamily="18" charset="0"/>
            </a:endParaRPr>
          </a:p>
        </p:txBody>
      </p:sp>
    </p:spTree>
    <p:extLst>
      <p:ext uri="{BB962C8B-B14F-4D97-AF65-F5344CB8AC3E}">
        <p14:creationId xmlns:p14="http://schemas.microsoft.com/office/powerpoint/2010/main" val="123299167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a:extLst>
              <a:ext uri="{FF2B5EF4-FFF2-40B4-BE49-F238E27FC236}">
                <a16:creationId xmlns:a16="http://schemas.microsoft.com/office/drawing/2014/main" id="{F674FCE3-9658-7146-B0EE-3C40BEE1CF6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BE9A0C49-509C-5F46-9879-66CBB1041243}" type="slidenum">
              <a:rPr kumimoji="0" lang="en-GB"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auto" latinLnBrk="0" hangingPunct="1">
                <a:lnSpc>
                  <a:spcPct val="100000"/>
                </a:lnSpc>
                <a:spcBef>
                  <a:spcPct val="0"/>
                </a:spcBef>
                <a:spcAft>
                  <a:spcPts val="0"/>
                </a:spcAft>
                <a:buClrTx/>
                <a:buSzTx/>
                <a:buFontTx/>
                <a:buNone/>
                <a:tabLst/>
                <a:defRPr/>
              </a:pPr>
              <a:t>57</a:t>
            </a:fld>
            <a:endParaRPr kumimoji="0" lang="en-GB"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65538" name="Rectangle 2">
            <a:extLst>
              <a:ext uri="{FF2B5EF4-FFF2-40B4-BE49-F238E27FC236}">
                <a16:creationId xmlns:a16="http://schemas.microsoft.com/office/drawing/2014/main" id="{7F255ED0-AF38-5F4A-AEDF-3F0479128794}"/>
              </a:ext>
            </a:extLst>
          </p:cNvPr>
          <p:cNvSpPr>
            <a:spLocks noGrp="1" noRot="1" noChangeAspect="1" noChangeArrowheads="1" noTextEdit="1"/>
          </p:cNvSpPr>
          <p:nvPr>
            <p:ph type="sldImg"/>
          </p:nvPr>
        </p:nvSpPr>
        <p:spPr>
          <a:ln/>
        </p:spPr>
      </p:sp>
      <p:sp>
        <p:nvSpPr>
          <p:cNvPr id="65539" name="Rectangle 3">
            <a:extLst>
              <a:ext uri="{FF2B5EF4-FFF2-40B4-BE49-F238E27FC236}">
                <a16:creationId xmlns:a16="http://schemas.microsoft.com/office/drawing/2014/main" id="{BEFD6AD4-FA02-E345-83D4-A7A2B402F3DC}"/>
              </a:ext>
            </a:extLst>
          </p:cNvPr>
          <p:cNvSpPr>
            <a:spLocks noGrp="1" noChangeArrowheads="1"/>
          </p:cNvSpPr>
          <p:nvPr>
            <p:ph type="body" idx="1"/>
          </p:nvPr>
        </p:nvSpPr>
        <p:spPr>
          <a:xfrm>
            <a:off x="730250" y="4560888"/>
            <a:ext cx="5854700" cy="43195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dirty="0">
              <a:latin typeface="Times New Roman" panose="02020603050405020304" pitchFamily="18" charset="0"/>
            </a:endParaRPr>
          </a:p>
        </p:txBody>
      </p:sp>
    </p:spTree>
    <p:extLst>
      <p:ext uri="{BB962C8B-B14F-4D97-AF65-F5344CB8AC3E}">
        <p14:creationId xmlns:p14="http://schemas.microsoft.com/office/powerpoint/2010/main" val="91687140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a:extLst>
              <a:ext uri="{FF2B5EF4-FFF2-40B4-BE49-F238E27FC236}">
                <a16:creationId xmlns:a16="http://schemas.microsoft.com/office/drawing/2014/main" id="{F674FCE3-9658-7146-B0EE-3C40BEE1CF6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BE9A0C49-509C-5F46-9879-66CBB1041243}" type="slidenum">
              <a:rPr kumimoji="0" lang="en-GB"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auto" latinLnBrk="0" hangingPunct="1">
                <a:lnSpc>
                  <a:spcPct val="100000"/>
                </a:lnSpc>
                <a:spcBef>
                  <a:spcPct val="0"/>
                </a:spcBef>
                <a:spcAft>
                  <a:spcPts val="0"/>
                </a:spcAft>
                <a:buClrTx/>
                <a:buSzTx/>
                <a:buFontTx/>
                <a:buNone/>
                <a:tabLst/>
                <a:defRPr/>
              </a:pPr>
              <a:t>58</a:t>
            </a:fld>
            <a:endParaRPr kumimoji="0" lang="en-GB"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65538" name="Rectangle 2">
            <a:extLst>
              <a:ext uri="{FF2B5EF4-FFF2-40B4-BE49-F238E27FC236}">
                <a16:creationId xmlns:a16="http://schemas.microsoft.com/office/drawing/2014/main" id="{7F255ED0-AF38-5F4A-AEDF-3F0479128794}"/>
              </a:ext>
            </a:extLst>
          </p:cNvPr>
          <p:cNvSpPr>
            <a:spLocks noGrp="1" noRot="1" noChangeAspect="1" noChangeArrowheads="1" noTextEdit="1"/>
          </p:cNvSpPr>
          <p:nvPr>
            <p:ph type="sldImg"/>
          </p:nvPr>
        </p:nvSpPr>
        <p:spPr>
          <a:ln/>
        </p:spPr>
      </p:sp>
      <p:sp>
        <p:nvSpPr>
          <p:cNvPr id="65539" name="Rectangle 3">
            <a:extLst>
              <a:ext uri="{FF2B5EF4-FFF2-40B4-BE49-F238E27FC236}">
                <a16:creationId xmlns:a16="http://schemas.microsoft.com/office/drawing/2014/main" id="{BEFD6AD4-FA02-E345-83D4-A7A2B402F3DC}"/>
              </a:ext>
            </a:extLst>
          </p:cNvPr>
          <p:cNvSpPr>
            <a:spLocks noGrp="1" noChangeArrowheads="1"/>
          </p:cNvSpPr>
          <p:nvPr>
            <p:ph type="body" idx="1"/>
          </p:nvPr>
        </p:nvSpPr>
        <p:spPr>
          <a:xfrm>
            <a:off x="730250" y="4560888"/>
            <a:ext cx="5854700" cy="43195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dirty="0">
              <a:latin typeface="Times New Roman" panose="02020603050405020304" pitchFamily="18" charset="0"/>
            </a:endParaRPr>
          </a:p>
        </p:txBody>
      </p:sp>
    </p:spTree>
    <p:extLst>
      <p:ext uri="{BB962C8B-B14F-4D97-AF65-F5344CB8AC3E}">
        <p14:creationId xmlns:p14="http://schemas.microsoft.com/office/powerpoint/2010/main" val="78596186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E4A2B-3577-DD00-82DA-91A4FA519D38}"/>
            </a:ext>
          </a:extLst>
        </p:cNvPr>
        <p:cNvGrpSpPr/>
        <p:nvPr/>
      </p:nvGrpSpPr>
      <p:grpSpPr>
        <a:xfrm>
          <a:off x="0" y="0"/>
          <a:ext cx="0" cy="0"/>
          <a:chOff x="0" y="0"/>
          <a:chExt cx="0" cy="0"/>
        </a:xfrm>
      </p:grpSpPr>
      <p:sp>
        <p:nvSpPr>
          <p:cNvPr id="65537" name="Rectangle 7">
            <a:extLst>
              <a:ext uri="{FF2B5EF4-FFF2-40B4-BE49-F238E27FC236}">
                <a16:creationId xmlns:a16="http://schemas.microsoft.com/office/drawing/2014/main" id="{5881935C-46E6-451A-9779-3E5CE56012B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BE9A0C49-509C-5F46-9879-66CBB1041243}" type="slidenum">
              <a:rPr kumimoji="0" lang="en-GB"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auto" latinLnBrk="0" hangingPunct="1">
                <a:lnSpc>
                  <a:spcPct val="100000"/>
                </a:lnSpc>
                <a:spcBef>
                  <a:spcPct val="0"/>
                </a:spcBef>
                <a:spcAft>
                  <a:spcPts val="0"/>
                </a:spcAft>
                <a:buClrTx/>
                <a:buSzTx/>
                <a:buFontTx/>
                <a:buNone/>
                <a:tabLst/>
                <a:defRPr/>
              </a:pPr>
              <a:t>59</a:t>
            </a:fld>
            <a:endParaRPr kumimoji="0" lang="en-GB"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65538" name="Rectangle 2">
            <a:extLst>
              <a:ext uri="{FF2B5EF4-FFF2-40B4-BE49-F238E27FC236}">
                <a16:creationId xmlns:a16="http://schemas.microsoft.com/office/drawing/2014/main" id="{A8DAC562-6821-D9CC-04AC-F80FE7D389A5}"/>
              </a:ext>
            </a:extLst>
          </p:cNvPr>
          <p:cNvSpPr>
            <a:spLocks noGrp="1" noRot="1" noChangeAspect="1" noChangeArrowheads="1" noTextEdit="1"/>
          </p:cNvSpPr>
          <p:nvPr>
            <p:ph type="sldImg"/>
          </p:nvPr>
        </p:nvSpPr>
        <p:spPr>
          <a:ln/>
        </p:spPr>
      </p:sp>
      <p:sp>
        <p:nvSpPr>
          <p:cNvPr id="65539" name="Rectangle 3">
            <a:extLst>
              <a:ext uri="{FF2B5EF4-FFF2-40B4-BE49-F238E27FC236}">
                <a16:creationId xmlns:a16="http://schemas.microsoft.com/office/drawing/2014/main" id="{2C037F97-5956-D23D-1E56-E7F7D4A16CE4}"/>
              </a:ext>
            </a:extLst>
          </p:cNvPr>
          <p:cNvSpPr>
            <a:spLocks noGrp="1" noChangeArrowheads="1"/>
          </p:cNvSpPr>
          <p:nvPr>
            <p:ph type="body" idx="1"/>
          </p:nvPr>
        </p:nvSpPr>
        <p:spPr>
          <a:xfrm>
            <a:off x="730250" y="4560888"/>
            <a:ext cx="5854700" cy="43195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dirty="0">
              <a:latin typeface="Times New Roman" panose="02020603050405020304" pitchFamily="18" charset="0"/>
            </a:endParaRPr>
          </a:p>
        </p:txBody>
      </p:sp>
    </p:spTree>
    <p:extLst>
      <p:ext uri="{BB962C8B-B14F-4D97-AF65-F5344CB8AC3E}">
        <p14:creationId xmlns:p14="http://schemas.microsoft.com/office/powerpoint/2010/main" val="212789938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653A4-7A60-6101-C074-B8F40AB08886}"/>
            </a:ext>
          </a:extLst>
        </p:cNvPr>
        <p:cNvGrpSpPr/>
        <p:nvPr/>
      </p:nvGrpSpPr>
      <p:grpSpPr>
        <a:xfrm>
          <a:off x="0" y="0"/>
          <a:ext cx="0" cy="0"/>
          <a:chOff x="0" y="0"/>
          <a:chExt cx="0" cy="0"/>
        </a:xfrm>
      </p:grpSpPr>
      <p:sp>
        <p:nvSpPr>
          <p:cNvPr id="65537" name="Rectangle 7">
            <a:extLst>
              <a:ext uri="{FF2B5EF4-FFF2-40B4-BE49-F238E27FC236}">
                <a16:creationId xmlns:a16="http://schemas.microsoft.com/office/drawing/2014/main" id="{4DBE9ADA-67CB-EC7C-6063-7A7220DAA05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BE9A0C49-509C-5F46-9879-66CBB1041243}" type="slidenum">
              <a:rPr kumimoji="0" lang="en-GB"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auto" latinLnBrk="0" hangingPunct="1">
                <a:lnSpc>
                  <a:spcPct val="100000"/>
                </a:lnSpc>
                <a:spcBef>
                  <a:spcPct val="0"/>
                </a:spcBef>
                <a:spcAft>
                  <a:spcPts val="0"/>
                </a:spcAft>
                <a:buClrTx/>
                <a:buSzTx/>
                <a:buFontTx/>
                <a:buNone/>
                <a:tabLst/>
                <a:defRPr/>
              </a:pPr>
              <a:t>60</a:t>
            </a:fld>
            <a:endParaRPr kumimoji="0" lang="en-GB"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65538" name="Rectangle 2">
            <a:extLst>
              <a:ext uri="{FF2B5EF4-FFF2-40B4-BE49-F238E27FC236}">
                <a16:creationId xmlns:a16="http://schemas.microsoft.com/office/drawing/2014/main" id="{7140F84E-7DB9-1C7A-ECF4-0C28F939CA93}"/>
              </a:ext>
            </a:extLst>
          </p:cNvPr>
          <p:cNvSpPr>
            <a:spLocks noGrp="1" noRot="1" noChangeAspect="1" noChangeArrowheads="1" noTextEdit="1"/>
          </p:cNvSpPr>
          <p:nvPr>
            <p:ph type="sldImg"/>
          </p:nvPr>
        </p:nvSpPr>
        <p:spPr>
          <a:ln/>
        </p:spPr>
      </p:sp>
      <p:sp>
        <p:nvSpPr>
          <p:cNvPr id="65539" name="Rectangle 3">
            <a:extLst>
              <a:ext uri="{FF2B5EF4-FFF2-40B4-BE49-F238E27FC236}">
                <a16:creationId xmlns:a16="http://schemas.microsoft.com/office/drawing/2014/main" id="{EBD96293-700B-EC28-6D68-5211E60766B7}"/>
              </a:ext>
            </a:extLst>
          </p:cNvPr>
          <p:cNvSpPr>
            <a:spLocks noGrp="1" noChangeArrowheads="1"/>
          </p:cNvSpPr>
          <p:nvPr>
            <p:ph type="body" idx="1"/>
          </p:nvPr>
        </p:nvSpPr>
        <p:spPr>
          <a:xfrm>
            <a:off x="730250" y="4560888"/>
            <a:ext cx="5854700" cy="43195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dirty="0">
              <a:latin typeface="Times New Roman" panose="02020603050405020304" pitchFamily="18" charset="0"/>
            </a:endParaRPr>
          </a:p>
        </p:txBody>
      </p:sp>
    </p:spTree>
    <p:extLst>
      <p:ext uri="{BB962C8B-B14F-4D97-AF65-F5344CB8AC3E}">
        <p14:creationId xmlns:p14="http://schemas.microsoft.com/office/powerpoint/2010/main" val="7509546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a:extLst>
              <a:ext uri="{FF2B5EF4-FFF2-40B4-BE49-F238E27FC236}">
                <a16:creationId xmlns:a16="http://schemas.microsoft.com/office/drawing/2014/main" id="{F674FCE3-9658-7146-B0EE-3C40BEE1CF6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BE9A0C49-509C-5F46-9879-66CBB1041243}" type="slidenum">
              <a:rPr kumimoji="0" lang="en-GB"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auto" latinLnBrk="0" hangingPunct="1">
                <a:lnSpc>
                  <a:spcPct val="100000"/>
                </a:lnSpc>
                <a:spcBef>
                  <a:spcPct val="0"/>
                </a:spcBef>
                <a:spcAft>
                  <a:spcPts val="0"/>
                </a:spcAft>
                <a:buClrTx/>
                <a:buSzTx/>
                <a:buFontTx/>
                <a:buNone/>
                <a:tabLst/>
                <a:defRPr/>
              </a:pPr>
              <a:t>61</a:t>
            </a:fld>
            <a:endParaRPr kumimoji="0" lang="en-GB"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65538" name="Rectangle 2">
            <a:extLst>
              <a:ext uri="{FF2B5EF4-FFF2-40B4-BE49-F238E27FC236}">
                <a16:creationId xmlns:a16="http://schemas.microsoft.com/office/drawing/2014/main" id="{7F255ED0-AF38-5F4A-AEDF-3F0479128794}"/>
              </a:ext>
            </a:extLst>
          </p:cNvPr>
          <p:cNvSpPr>
            <a:spLocks noGrp="1" noRot="1" noChangeAspect="1" noChangeArrowheads="1" noTextEdit="1"/>
          </p:cNvSpPr>
          <p:nvPr>
            <p:ph type="sldImg"/>
          </p:nvPr>
        </p:nvSpPr>
        <p:spPr>
          <a:ln/>
        </p:spPr>
      </p:sp>
      <p:sp>
        <p:nvSpPr>
          <p:cNvPr id="65539" name="Rectangle 3">
            <a:extLst>
              <a:ext uri="{FF2B5EF4-FFF2-40B4-BE49-F238E27FC236}">
                <a16:creationId xmlns:a16="http://schemas.microsoft.com/office/drawing/2014/main" id="{BEFD6AD4-FA02-E345-83D4-A7A2B402F3DC}"/>
              </a:ext>
            </a:extLst>
          </p:cNvPr>
          <p:cNvSpPr>
            <a:spLocks noGrp="1" noChangeArrowheads="1"/>
          </p:cNvSpPr>
          <p:nvPr>
            <p:ph type="body" idx="1"/>
          </p:nvPr>
        </p:nvSpPr>
        <p:spPr>
          <a:xfrm>
            <a:off x="730250" y="4560888"/>
            <a:ext cx="5854700" cy="43195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dirty="0">
              <a:latin typeface="Times New Roman" panose="02020603050405020304" pitchFamily="18" charset="0"/>
            </a:endParaRPr>
          </a:p>
        </p:txBody>
      </p:sp>
    </p:spTree>
    <p:extLst>
      <p:ext uri="{BB962C8B-B14F-4D97-AF65-F5344CB8AC3E}">
        <p14:creationId xmlns:p14="http://schemas.microsoft.com/office/powerpoint/2010/main" val="325538227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1C705-3BF4-3443-2A30-F57EE69D85F2}"/>
            </a:ext>
          </a:extLst>
        </p:cNvPr>
        <p:cNvGrpSpPr/>
        <p:nvPr/>
      </p:nvGrpSpPr>
      <p:grpSpPr>
        <a:xfrm>
          <a:off x="0" y="0"/>
          <a:ext cx="0" cy="0"/>
          <a:chOff x="0" y="0"/>
          <a:chExt cx="0" cy="0"/>
        </a:xfrm>
      </p:grpSpPr>
      <p:sp>
        <p:nvSpPr>
          <p:cNvPr id="65537" name="Rectangle 7">
            <a:extLst>
              <a:ext uri="{FF2B5EF4-FFF2-40B4-BE49-F238E27FC236}">
                <a16:creationId xmlns:a16="http://schemas.microsoft.com/office/drawing/2014/main" id="{38BB10AA-84BB-7110-56D1-129C52B621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BE9A0C49-509C-5F46-9879-66CBB1041243}" type="slidenum">
              <a:rPr kumimoji="0" lang="en-GB"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auto" latinLnBrk="0" hangingPunct="1">
                <a:lnSpc>
                  <a:spcPct val="100000"/>
                </a:lnSpc>
                <a:spcBef>
                  <a:spcPct val="0"/>
                </a:spcBef>
                <a:spcAft>
                  <a:spcPts val="0"/>
                </a:spcAft>
                <a:buClrTx/>
                <a:buSzTx/>
                <a:buFontTx/>
                <a:buNone/>
                <a:tabLst/>
                <a:defRPr/>
              </a:pPr>
              <a:t>62</a:t>
            </a:fld>
            <a:endParaRPr kumimoji="0" lang="en-GB"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65538" name="Rectangle 2">
            <a:extLst>
              <a:ext uri="{FF2B5EF4-FFF2-40B4-BE49-F238E27FC236}">
                <a16:creationId xmlns:a16="http://schemas.microsoft.com/office/drawing/2014/main" id="{2DAF8394-95B5-AF30-6AAF-9A79A5F8CA03}"/>
              </a:ext>
            </a:extLst>
          </p:cNvPr>
          <p:cNvSpPr>
            <a:spLocks noGrp="1" noRot="1" noChangeAspect="1" noChangeArrowheads="1" noTextEdit="1"/>
          </p:cNvSpPr>
          <p:nvPr>
            <p:ph type="sldImg"/>
          </p:nvPr>
        </p:nvSpPr>
        <p:spPr>
          <a:ln/>
        </p:spPr>
      </p:sp>
      <p:sp>
        <p:nvSpPr>
          <p:cNvPr id="65539" name="Rectangle 3">
            <a:extLst>
              <a:ext uri="{FF2B5EF4-FFF2-40B4-BE49-F238E27FC236}">
                <a16:creationId xmlns:a16="http://schemas.microsoft.com/office/drawing/2014/main" id="{A373BA7B-1EBA-98AB-7AD8-917845BFC0DF}"/>
              </a:ext>
            </a:extLst>
          </p:cNvPr>
          <p:cNvSpPr>
            <a:spLocks noGrp="1" noChangeArrowheads="1"/>
          </p:cNvSpPr>
          <p:nvPr>
            <p:ph type="body" idx="1"/>
          </p:nvPr>
        </p:nvSpPr>
        <p:spPr>
          <a:xfrm>
            <a:off x="730250" y="4560888"/>
            <a:ext cx="5854700" cy="43195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dirty="0">
              <a:latin typeface="Times New Roman" panose="02020603050405020304" pitchFamily="18" charset="0"/>
            </a:endParaRPr>
          </a:p>
        </p:txBody>
      </p:sp>
    </p:spTree>
    <p:extLst>
      <p:ext uri="{BB962C8B-B14F-4D97-AF65-F5344CB8AC3E}">
        <p14:creationId xmlns:p14="http://schemas.microsoft.com/office/powerpoint/2010/main" val="315652159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4D6CF-12CB-6D3D-D04D-65497EE4C7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49B4CC-7E61-5416-D6B6-828F021D9B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21BFC4-4942-DCE9-0D21-9EF03DCB9FB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6C7B6B3D-6C29-695B-0D86-CCDE91C9DAD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289122715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DD563-E298-439E-9EB7-CBBF3FC8FB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437AA1-98D7-101F-8180-6F0A5717F8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5EB2BB-9DBB-1E02-931D-FBBBE74D7592}"/>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0C8A3C0-DA7C-90C3-64D3-11277C4C750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69</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271474356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31E4D-2DAB-4871-92D0-23CCBE3216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30D023-2691-83E4-AF0A-2EFCE909D3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BC22AD-45AE-AD2B-52FF-51C3BEDF0BF6}"/>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AADD95E-C9D2-C4A8-A40B-7103171A9CF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S PGothic"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en-GB" sz="12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Tree>
    <p:extLst>
      <p:ext uri="{BB962C8B-B14F-4D97-AF65-F5344CB8AC3E}">
        <p14:creationId xmlns:p14="http://schemas.microsoft.com/office/powerpoint/2010/main" val="38511864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228600" indent="0" algn="ctr">
              <a:buNone/>
              <a:defRPr>
                <a:solidFill>
                  <a:schemeClr val="tx1">
                    <a:tint val="75000"/>
                  </a:schemeClr>
                </a:solidFill>
              </a:defRPr>
            </a:lvl2pPr>
            <a:lvl3pPr marL="457200" indent="0" algn="ctr">
              <a:buNone/>
              <a:defRPr>
                <a:solidFill>
                  <a:schemeClr val="tx1">
                    <a:tint val="75000"/>
                  </a:schemeClr>
                </a:solidFill>
              </a:defRPr>
            </a:lvl3pPr>
            <a:lvl4pPr marL="685800" indent="0" algn="ctr">
              <a:buNone/>
              <a:defRPr>
                <a:solidFill>
                  <a:schemeClr val="tx1">
                    <a:tint val="75000"/>
                  </a:schemeClr>
                </a:solidFill>
              </a:defRPr>
            </a:lvl4pPr>
            <a:lvl5pPr marL="914400" indent="0" algn="ctr">
              <a:buNone/>
              <a:defRPr>
                <a:solidFill>
                  <a:schemeClr val="tx1">
                    <a:tint val="75000"/>
                  </a:schemeClr>
                </a:solidFill>
              </a:defRPr>
            </a:lvl5pPr>
            <a:lvl6pPr marL="1143000" indent="0" algn="ctr">
              <a:buNone/>
              <a:defRPr>
                <a:solidFill>
                  <a:schemeClr val="tx1">
                    <a:tint val="75000"/>
                  </a:schemeClr>
                </a:solidFill>
              </a:defRPr>
            </a:lvl6pPr>
            <a:lvl7pPr marL="1371600" indent="0" algn="ctr">
              <a:buNone/>
              <a:defRPr>
                <a:solidFill>
                  <a:schemeClr val="tx1">
                    <a:tint val="75000"/>
                  </a:schemeClr>
                </a:solidFill>
              </a:defRPr>
            </a:lvl7pPr>
            <a:lvl8pPr marL="1600200" indent="0" algn="ctr">
              <a:buNone/>
              <a:defRPr>
                <a:solidFill>
                  <a:schemeClr val="tx1">
                    <a:tint val="75000"/>
                  </a:schemeClr>
                </a:solidFill>
              </a:defRPr>
            </a:lvl8pPr>
            <a:lvl9pPr marL="18288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107812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72111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3" y="2937934"/>
            <a:ext cx="5181600" cy="908050"/>
          </a:xfrm>
        </p:spPr>
        <p:txBody>
          <a:bodyPr anchor="t"/>
          <a:lstStyle>
            <a:lvl1pPr algn="l">
              <a:defRPr sz="2000" b="1" cap="all"/>
            </a:lvl1pPr>
          </a:lstStyle>
          <a:p>
            <a:r>
              <a:rPr lang="en-US"/>
              <a:t>Click to edit Master title style</a:t>
            </a:r>
          </a:p>
        </p:txBody>
      </p:sp>
      <p:sp>
        <p:nvSpPr>
          <p:cNvPr id="3" name="Text Placeholder 2"/>
          <p:cNvSpPr>
            <a:spLocks noGrp="1"/>
          </p:cNvSpPr>
          <p:nvPr>
            <p:ph type="body" idx="1"/>
          </p:nvPr>
        </p:nvSpPr>
        <p:spPr>
          <a:xfrm>
            <a:off x="481543" y="1937809"/>
            <a:ext cx="5181600" cy="1000125"/>
          </a:xfrm>
        </p:spPr>
        <p:txBody>
          <a:bodyPr anchor="b"/>
          <a:lstStyle>
            <a:lvl1pPr marL="0" indent="0">
              <a:buNone/>
              <a:defRPr sz="1000">
                <a:solidFill>
                  <a:schemeClr val="tx1">
                    <a:tint val="75000"/>
                  </a:schemeClr>
                </a:solidFill>
              </a:defRPr>
            </a:lvl1pPr>
            <a:lvl2pPr marL="228600" indent="0">
              <a:buNone/>
              <a:defRPr sz="900">
                <a:solidFill>
                  <a:schemeClr val="tx1">
                    <a:tint val="75000"/>
                  </a:schemeClr>
                </a:solidFill>
              </a:defRPr>
            </a:lvl2pPr>
            <a:lvl3pPr marL="457200" indent="0">
              <a:buNone/>
              <a:defRPr sz="800">
                <a:solidFill>
                  <a:schemeClr val="tx1">
                    <a:tint val="75000"/>
                  </a:schemeClr>
                </a:solidFill>
              </a:defRPr>
            </a:lvl3pPr>
            <a:lvl4pPr marL="685800" indent="0">
              <a:buNone/>
              <a:defRPr sz="700">
                <a:solidFill>
                  <a:schemeClr val="tx1">
                    <a:tint val="75000"/>
                  </a:schemeClr>
                </a:solidFill>
              </a:defRPr>
            </a:lvl4pPr>
            <a:lvl5pPr marL="914400" indent="0">
              <a:buNone/>
              <a:defRPr sz="700">
                <a:solidFill>
                  <a:schemeClr val="tx1">
                    <a:tint val="75000"/>
                  </a:schemeClr>
                </a:solidFill>
              </a:defRPr>
            </a:lvl5pPr>
            <a:lvl6pPr marL="1143000" indent="0">
              <a:buNone/>
              <a:defRPr sz="700">
                <a:solidFill>
                  <a:schemeClr val="tx1">
                    <a:tint val="75000"/>
                  </a:schemeClr>
                </a:solidFill>
              </a:defRPr>
            </a:lvl6pPr>
            <a:lvl7pPr marL="1371600" indent="0">
              <a:buNone/>
              <a:defRPr sz="700">
                <a:solidFill>
                  <a:schemeClr val="tx1">
                    <a:tint val="75000"/>
                  </a:schemeClr>
                </a:solidFill>
              </a:defRPr>
            </a:lvl7pPr>
            <a:lvl8pPr marL="1600200" indent="0">
              <a:buNone/>
              <a:defRPr sz="700">
                <a:solidFill>
                  <a:schemeClr val="tx1">
                    <a:tint val="75000"/>
                  </a:schemeClr>
                </a:solidFill>
              </a:defRPr>
            </a:lvl8pPr>
            <a:lvl9pPr marL="1828800" indent="0">
              <a:buNone/>
              <a:defRPr sz="7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937557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1"/>
            <a:ext cx="2692400" cy="3017309"/>
          </a:xfrm>
        </p:spPr>
        <p:txBody>
          <a:bodyPr/>
          <a:lstStyle>
            <a:lvl1pPr>
              <a:defRPr sz="1400"/>
            </a:lvl1pPr>
            <a:lvl2pPr>
              <a:defRPr sz="1200"/>
            </a:lvl2pPr>
            <a:lvl3pPr>
              <a:defRPr sz="100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1"/>
            <a:ext cx="2692400" cy="3017309"/>
          </a:xfrm>
        </p:spPr>
        <p:txBody>
          <a:bodyPr/>
          <a:lstStyle>
            <a:lvl1pPr>
              <a:defRPr sz="1400"/>
            </a:lvl1pPr>
            <a:lvl2pPr>
              <a:defRPr sz="1200"/>
            </a:lvl2pPr>
            <a:lvl3pPr>
              <a:defRPr sz="100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125934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2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200"/>
            </a:lvl1pPr>
            <a:lvl2pPr>
              <a:defRPr sz="1000"/>
            </a:lvl2pPr>
            <a:lvl3pPr>
              <a:defRPr sz="900"/>
            </a:lvl3pPr>
            <a:lvl4pPr>
              <a:defRPr sz="800"/>
            </a:lvl4pPr>
            <a:lvl5pPr>
              <a:defRPr sz="800"/>
            </a:lvl5pPr>
            <a:lvl6pPr>
              <a:defRPr sz="800"/>
            </a:lvl6pPr>
            <a:lvl7pPr>
              <a:defRPr sz="800"/>
            </a:lvl7pPr>
            <a:lvl8pPr>
              <a:defRPr sz="800"/>
            </a:lvl8pPr>
            <a:lvl9pPr>
              <a:defRPr sz="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2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200"/>
            </a:lvl1pPr>
            <a:lvl2pPr>
              <a:defRPr sz="1000"/>
            </a:lvl2pPr>
            <a:lvl3pPr>
              <a:defRPr sz="900"/>
            </a:lvl3pPr>
            <a:lvl4pPr>
              <a:defRPr sz="800"/>
            </a:lvl4pPr>
            <a:lvl5pPr>
              <a:defRPr sz="800"/>
            </a:lvl5pPr>
            <a:lvl6pPr>
              <a:defRPr sz="800"/>
            </a:lvl6pPr>
            <a:lvl7pPr>
              <a:defRPr sz="800"/>
            </a:lvl7pPr>
            <a:lvl8pPr>
              <a:defRPr sz="800"/>
            </a:lvl8pPr>
            <a:lvl9pPr>
              <a:defRPr sz="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752703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329852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545957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182033"/>
            <a:ext cx="2005543" cy="774700"/>
          </a:xfrm>
        </p:spPr>
        <p:txBody>
          <a:bodyPr anchor="b"/>
          <a:lstStyle>
            <a:lvl1pPr algn="l">
              <a:defRPr sz="1000" b="1"/>
            </a:lvl1pPr>
          </a:lstStyle>
          <a:p>
            <a:r>
              <a:rPr lang="en-US"/>
              <a:t>Click to edit Master title style</a:t>
            </a:r>
          </a:p>
        </p:txBody>
      </p:sp>
      <p:sp>
        <p:nvSpPr>
          <p:cNvPr id="3" name="Content Placeholder 2"/>
          <p:cNvSpPr>
            <a:spLocks noGrp="1"/>
          </p:cNvSpPr>
          <p:nvPr>
            <p:ph idx="1"/>
          </p:nvPr>
        </p:nvSpPr>
        <p:spPr>
          <a:xfrm>
            <a:off x="2383368" y="182035"/>
            <a:ext cx="3407833" cy="3902075"/>
          </a:xfrm>
        </p:spPr>
        <p:txBody>
          <a:bodyPr/>
          <a:lstStyle>
            <a:lvl1pPr>
              <a:defRPr sz="1600"/>
            </a:lvl1pPr>
            <a:lvl2pPr>
              <a:defRPr sz="1400"/>
            </a:lvl2pPr>
            <a:lvl3pPr>
              <a:defRPr sz="1200"/>
            </a:lvl3pPr>
            <a:lvl4pPr>
              <a:defRPr sz="1000"/>
            </a:lvl4pPr>
            <a:lvl5pPr>
              <a:defRPr sz="1000"/>
            </a:lvl5pPr>
            <a:lvl6pPr>
              <a:defRPr sz="1000"/>
            </a:lvl6pPr>
            <a:lvl7pPr>
              <a:defRPr sz="1000"/>
            </a:lvl7pPr>
            <a:lvl8pPr>
              <a:defRPr sz="1000"/>
            </a:lvl8pPr>
            <a:lvl9pPr>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1" y="956735"/>
            <a:ext cx="2005543" cy="3127375"/>
          </a:xfrm>
        </p:spPr>
        <p:txBody>
          <a:bodyPr/>
          <a:lstStyle>
            <a:lvl1pPr marL="0" indent="0">
              <a:buNone/>
              <a:defRPr sz="700"/>
            </a:lvl1pPr>
            <a:lvl2pPr marL="228600" indent="0">
              <a:buNone/>
              <a:defRPr sz="600"/>
            </a:lvl2pPr>
            <a:lvl3pPr marL="457200" indent="0">
              <a:buNone/>
              <a:defRPr sz="500"/>
            </a:lvl3pPr>
            <a:lvl4pPr marL="685800" indent="0">
              <a:buNone/>
              <a:defRPr sz="450"/>
            </a:lvl4pPr>
            <a:lvl5pPr marL="914400" indent="0">
              <a:buNone/>
              <a:defRPr sz="450"/>
            </a:lvl5pPr>
            <a:lvl6pPr marL="1143000" indent="0">
              <a:buNone/>
              <a:defRPr sz="450"/>
            </a:lvl6pPr>
            <a:lvl7pPr marL="1371600" indent="0">
              <a:buNone/>
              <a:defRPr sz="450"/>
            </a:lvl7pPr>
            <a:lvl8pPr marL="1600200" indent="0">
              <a:buNone/>
              <a:defRPr sz="450"/>
            </a:lvl8pPr>
            <a:lvl9pPr marL="1828800" indent="0">
              <a:buNone/>
              <a:defRPr sz="4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157566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1"/>
            <a:ext cx="3657600" cy="377825"/>
          </a:xfrm>
        </p:spPr>
        <p:txBody>
          <a:bodyPr anchor="b"/>
          <a:lstStyle>
            <a:lvl1pPr algn="l">
              <a:defRPr sz="1000"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1600"/>
            </a:lvl1pPr>
            <a:lvl2pPr marL="228600" indent="0">
              <a:buNone/>
              <a:defRPr sz="1400"/>
            </a:lvl2pPr>
            <a:lvl3pPr marL="457200" indent="0">
              <a:buNone/>
              <a:defRPr sz="1200"/>
            </a:lvl3pPr>
            <a:lvl4pPr marL="685800" indent="0">
              <a:buNone/>
              <a:defRPr sz="1000"/>
            </a:lvl4pPr>
            <a:lvl5pPr marL="914400" indent="0">
              <a:buNone/>
              <a:defRPr sz="1000"/>
            </a:lvl5pPr>
            <a:lvl6pPr marL="1143000" indent="0">
              <a:buNone/>
              <a:defRPr sz="1000"/>
            </a:lvl6pPr>
            <a:lvl7pPr marL="1371600" indent="0">
              <a:buNone/>
              <a:defRPr sz="1000"/>
            </a:lvl7pPr>
            <a:lvl8pPr marL="1600200" indent="0">
              <a:buNone/>
              <a:defRPr sz="1000"/>
            </a:lvl8pPr>
            <a:lvl9pPr marL="1828800" indent="0">
              <a:buNone/>
              <a:defRPr sz="1000"/>
            </a:lvl9pPr>
          </a:lstStyle>
          <a:p>
            <a:endParaRPr lang="en-US"/>
          </a:p>
        </p:txBody>
      </p:sp>
      <p:sp>
        <p:nvSpPr>
          <p:cNvPr id="4" name="Text Placeholder 3"/>
          <p:cNvSpPr>
            <a:spLocks noGrp="1"/>
          </p:cNvSpPr>
          <p:nvPr>
            <p:ph type="body" sz="half" idx="2"/>
          </p:nvPr>
        </p:nvSpPr>
        <p:spPr>
          <a:xfrm>
            <a:off x="1194859" y="3578226"/>
            <a:ext cx="3657600" cy="536575"/>
          </a:xfrm>
        </p:spPr>
        <p:txBody>
          <a:bodyPr/>
          <a:lstStyle>
            <a:lvl1pPr marL="0" indent="0">
              <a:buNone/>
              <a:defRPr sz="700"/>
            </a:lvl1pPr>
            <a:lvl2pPr marL="228600" indent="0">
              <a:buNone/>
              <a:defRPr sz="600"/>
            </a:lvl2pPr>
            <a:lvl3pPr marL="457200" indent="0">
              <a:buNone/>
              <a:defRPr sz="500"/>
            </a:lvl3pPr>
            <a:lvl4pPr marL="685800" indent="0">
              <a:buNone/>
              <a:defRPr sz="450"/>
            </a:lvl4pPr>
            <a:lvl5pPr marL="914400" indent="0">
              <a:buNone/>
              <a:defRPr sz="450"/>
            </a:lvl5pPr>
            <a:lvl6pPr marL="1143000" indent="0">
              <a:buNone/>
              <a:defRPr sz="450"/>
            </a:lvl6pPr>
            <a:lvl7pPr marL="1371600" indent="0">
              <a:buNone/>
              <a:defRPr sz="450"/>
            </a:lvl7pPr>
            <a:lvl8pPr marL="1600200" indent="0">
              <a:buNone/>
              <a:defRPr sz="450"/>
            </a:lvl8pPr>
            <a:lvl9pPr marL="1828800" indent="0">
              <a:buNone/>
              <a:defRPr sz="4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574354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770405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549517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GB"/>
              <a:t>Click to edit Master title style</a:t>
            </a:r>
            <a:endParaRPr lang="en-US"/>
          </a:p>
        </p:txBody>
      </p:sp>
      <p:sp>
        <p:nvSpPr>
          <p:cNvPr id="3" name="Text Placeholder 2"/>
          <p:cNvSpPr>
            <a:spLocks noGrp="1"/>
          </p:cNvSpPr>
          <p:nvPr>
            <p:ph type="body" sz="half" idx="1"/>
          </p:nvPr>
        </p:nvSpPr>
        <p:spPr>
          <a:xfrm>
            <a:off x="609600" y="1600202"/>
            <a:ext cx="5384800" cy="45259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97600" y="1600202"/>
            <a:ext cx="5384800" cy="45259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Rectangle 4">
            <a:extLst>
              <a:ext uri="{FF2B5EF4-FFF2-40B4-BE49-F238E27FC236}">
                <a16:creationId xmlns:a16="http://schemas.microsoft.com/office/drawing/2014/main" id="{CA130A59-24D6-BF44-B4BD-970B6853FBF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282DA918-BA26-C842-8E1E-1ED32CE2744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92F81648-DEEE-D640-983E-74FC943C9CDF}"/>
              </a:ext>
            </a:extLst>
          </p:cNvPr>
          <p:cNvSpPr>
            <a:spLocks noGrp="1" noChangeArrowheads="1"/>
          </p:cNvSpPr>
          <p:nvPr>
            <p:ph type="sldNum" sz="quarter" idx="12"/>
          </p:nvPr>
        </p:nvSpPr>
        <p:spPr>
          <a:ln/>
        </p:spPr>
        <p:txBody>
          <a:bodyPr/>
          <a:lstStyle>
            <a:lvl1pPr>
              <a:defRPr/>
            </a:lvl1pPr>
          </a:lstStyle>
          <a:p>
            <a:fld id="{7F318B0F-B1AF-594B-AA89-D1C92B2445CC}" type="slidenum">
              <a:rPr lang="en-US" altLang="en-US"/>
              <a:pPr/>
              <a:t>‹#›</a:t>
            </a:fld>
            <a:endParaRPr lang="en-US" altLang="en-US"/>
          </a:p>
        </p:txBody>
      </p:sp>
    </p:spTree>
    <p:extLst>
      <p:ext uri="{BB962C8B-B14F-4D97-AF65-F5344CB8AC3E}">
        <p14:creationId xmlns:p14="http://schemas.microsoft.com/office/powerpoint/2010/main" val="27902429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09600" y="274639"/>
            <a:ext cx="10972800" cy="58515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 name="Rectangle 4">
            <a:extLst>
              <a:ext uri="{FF2B5EF4-FFF2-40B4-BE49-F238E27FC236}">
                <a16:creationId xmlns:a16="http://schemas.microsoft.com/office/drawing/2014/main" id="{A78232EC-B2A8-C143-ACB0-89F0E5D889BB}"/>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E5602903-C5EA-6C4C-B5F2-B86D2D565E1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2BF1A0A5-AD10-2340-BC89-9D16FDAD00D9}"/>
              </a:ext>
            </a:extLst>
          </p:cNvPr>
          <p:cNvSpPr>
            <a:spLocks noGrp="1" noChangeArrowheads="1"/>
          </p:cNvSpPr>
          <p:nvPr>
            <p:ph type="sldNum" sz="quarter" idx="12"/>
          </p:nvPr>
        </p:nvSpPr>
        <p:spPr>
          <a:ln/>
        </p:spPr>
        <p:txBody>
          <a:bodyPr/>
          <a:lstStyle>
            <a:lvl1pPr>
              <a:defRPr/>
            </a:lvl1pPr>
          </a:lstStyle>
          <a:p>
            <a:fld id="{96A68D32-FF93-834A-B58C-1FA432242830}" type="slidenum">
              <a:rPr lang="en-US" altLang="en-US"/>
              <a:pPr/>
              <a:t>‹#›</a:t>
            </a:fld>
            <a:endParaRPr lang="en-US" altLang="en-US"/>
          </a:p>
        </p:txBody>
      </p:sp>
    </p:spTree>
    <p:extLst>
      <p:ext uri="{BB962C8B-B14F-4D97-AF65-F5344CB8AC3E}">
        <p14:creationId xmlns:p14="http://schemas.microsoft.com/office/powerpoint/2010/main" val="41411102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77905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675036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613330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90491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361335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912480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221935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980447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0257455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7826760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229825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161683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5122691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2829516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2174654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218281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6243147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2137919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6697237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3016520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7558436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0472480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_Portfolio 2 Images">
    <p:spTree>
      <p:nvGrpSpPr>
        <p:cNvPr id="1" name=""/>
        <p:cNvGrpSpPr/>
        <p:nvPr/>
      </p:nvGrpSpPr>
      <p:grpSpPr>
        <a:xfrm>
          <a:off x="0" y="0"/>
          <a:ext cx="0" cy="0"/>
          <a:chOff x="0" y="0"/>
          <a:chExt cx="0" cy="0"/>
        </a:xfrm>
      </p:grpSpPr>
      <p:sp>
        <p:nvSpPr>
          <p:cNvPr id="6" name="Picture Placeholder 13"/>
          <p:cNvSpPr>
            <a:spLocks noGrp="1"/>
          </p:cNvSpPr>
          <p:nvPr>
            <p:ph type="pic" sz="quarter" idx="27"/>
          </p:nvPr>
        </p:nvSpPr>
        <p:spPr>
          <a:xfrm>
            <a:off x="0" y="0"/>
            <a:ext cx="12192000" cy="4360127"/>
          </a:xfrm>
          <a:solidFill>
            <a:schemeClr val="bg1">
              <a:lumMod val="95000"/>
            </a:schemeClr>
          </a:solidFill>
          <a:effectLst/>
        </p:spPr>
        <p:txBody>
          <a:bodyPr>
            <a:normAutofit/>
          </a:bodyPr>
          <a:lstStyle>
            <a:lvl1pPr marL="0" indent="0">
              <a:buNone/>
              <a:defRPr sz="1300" b="0" i="0">
                <a:ln>
                  <a:noFill/>
                </a:ln>
                <a:solidFill>
                  <a:schemeClr val="bg1">
                    <a:lumMod val="85000"/>
                  </a:schemeClr>
                </a:solidFill>
                <a:latin typeface="Open Sans" charset="0"/>
                <a:ea typeface="Open Sans" charset="0"/>
                <a:cs typeface="Open Sans" charset="0"/>
              </a:defRPr>
            </a:lvl1pPr>
          </a:lstStyle>
          <a:p>
            <a:endParaRPr lang="en-US" dirty="0"/>
          </a:p>
        </p:txBody>
      </p:sp>
    </p:spTree>
    <p:extLst>
      <p:ext uri="{BB962C8B-B14F-4D97-AF65-F5344CB8AC3E}">
        <p14:creationId xmlns:p14="http://schemas.microsoft.com/office/powerpoint/2010/main" val="3981917231"/>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1"/>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8"/>
            <a:ext cx="1422400" cy="243417"/>
          </a:xfrm>
          <a:prstGeom prst="rect">
            <a:avLst/>
          </a:prstGeom>
        </p:spPr>
        <p:txBody>
          <a:bodyPr vert="horz" lIns="91440" tIns="45720" rIns="91440" bIns="45720" rtlCol="0" anchor="ctr"/>
          <a:lstStyle>
            <a:lvl1pPr algn="l">
              <a:defRPr sz="600">
                <a:solidFill>
                  <a:schemeClr val="tx1">
                    <a:tint val="75000"/>
                  </a:schemeClr>
                </a:solidFill>
                <a:latin typeface="DM Sans" pitchFamily="2" charset="0"/>
              </a:defRPr>
            </a:lvl1pPr>
          </a:lstStyle>
          <a:p>
            <a:fld id="{1D8BD707-D9CF-40AE-B4C6-C98DA3205C09}" type="datetimeFigureOut">
              <a:rPr lang="en-US" smtClean="0"/>
              <a:pPr/>
              <a:t>5/7/26</a:t>
            </a:fld>
            <a:endParaRPr lang="en-US"/>
          </a:p>
        </p:txBody>
      </p:sp>
      <p:sp>
        <p:nvSpPr>
          <p:cNvPr id="5" name="Footer Placeholder 4"/>
          <p:cNvSpPr>
            <a:spLocks noGrp="1"/>
          </p:cNvSpPr>
          <p:nvPr>
            <p:ph type="ftr" sz="quarter" idx="3"/>
          </p:nvPr>
        </p:nvSpPr>
        <p:spPr>
          <a:xfrm>
            <a:off x="2082800" y="4237568"/>
            <a:ext cx="1930400" cy="243417"/>
          </a:xfrm>
          <a:prstGeom prst="rect">
            <a:avLst/>
          </a:prstGeom>
        </p:spPr>
        <p:txBody>
          <a:bodyPr vert="horz" lIns="91440" tIns="45720" rIns="91440" bIns="45720" rtlCol="0" anchor="ctr"/>
          <a:lstStyle>
            <a:lvl1pPr algn="ctr">
              <a:defRPr sz="600">
                <a:solidFill>
                  <a:schemeClr val="tx1">
                    <a:tint val="75000"/>
                  </a:schemeClr>
                </a:solidFill>
                <a:latin typeface="DM Sans" pitchFamily="2" charset="0"/>
              </a:defRPr>
            </a:lvl1pPr>
          </a:lstStyle>
          <a:p>
            <a:endParaRPr lang="en-US"/>
          </a:p>
        </p:txBody>
      </p:sp>
      <p:sp>
        <p:nvSpPr>
          <p:cNvPr id="6" name="Slide Number Placeholder 5"/>
          <p:cNvSpPr>
            <a:spLocks noGrp="1"/>
          </p:cNvSpPr>
          <p:nvPr>
            <p:ph type="sldNum" sz="quarter" idx="4"/>
          </p:nvPr>
        </p:nvSpPr>
        <p:spPr>
          <a:xfrm>
            <a:off x="4368800" y="4237568"/>
            <a:ext cx="1422400" cy="243417"/>
          </a:xfrm>
          <a:prstGeom prst="rect">
            <a:avLst/>
          </a:prstGeom>
        </p:spPr>
        <p:txBody>
          <a:bodyPr vert="horz" lIns="91440" tIns="45720" rIns="91440" bIns="45720" rtlCol="0" anchor="ctr"/>
          <a:lstStyle>
            <a:lvl1pPr algn="r">
              <a:defRPr sz="600">
                <a:solidFill>
                  <a:schemeClr val="tx1">
                    <a:tint val="75000"/>
                  </a:schemeClr>
                </a:solidFill>
                <a:latin typeface="DM Sans" pitchFamily="2" charset="0"/>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6486453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ctr" defTabSz="457200" rtl="0" eaLnBrk="1" latinLnBrk="0" hangingPunct="1">
        <a:spcBef>
          <a:spcPct val="0"/>
        </a:spcBef>
        <a:buNone/>
        <a:defRPr sz="2200" kern="1200">
          <a:solidFill>
            <a:schemeClr val="tx1"/>
          </a:solidFill>
          <a:latin typeface="DM Sans" pitchFamily="2" charset="0"/>
          <a:ea typeface="+mj-ea"/>
          <a:cs typeface="+mj-cs"/>
        </a:defRPr>
      </a:lvl1pPr>
    </p:titleStyle>
    <p:bodyStyle>
      <a:lvl1pPr marL="171450" indent="-171450" algn="l" defTabSz="457200" rtl="0" eaLnBrk="1" latinLnBrk="0" hangingPunct="1">
        <a:spcBef>
          <a:spcPct val="20000"/>
        </a:spcBef>
        <a:buFont typeface="DM Sans" pitchFamily="34" charset="0"/>
        <a:buChar char="•"/>
        <a:defRPr sz="1600" kern="1200">
          <a:solidFill>
            <a:schemeClr val="tx1"/>
          </a:solidFill>
          <a:latin typeface="DM Sans" pitchFamily="2" charset="0"/>
          <a:ea typeface="+mn-ea"/>
          <a:cs typeface="+mn-cs"/>
        </a:defRPr>
      </a:lvl1pPr>
      <a:lvl2pPr marL="371475" indent="-142875" algn="l" defTabSz="457200" rtl="0" eaLnBrk="1" latinLnBrk="0" hangingPunct="1">
        <a:spcBef>
          <a:spcPct val="20000"/>
        </a:spcBef>
        <a:buFont typeface="DM Sans" pitchFamily="34" charset="0"/>
        <a:buChar char="–"/>
        <a:defRPr sz="1400" kern="1200">
          <a:solidFill>
            <a:schemeClr val="tx1"/>
          </a:solidFill>
          <a:latin typeface="DM Sans" pitchFamily="2" charset="0"/>
          <a:ea typeface="+mn-ea"/>
          <a:cs typeface="+mn-cs"/>
        </a:defRPr>
      </a:lvl2pPr>
      <a:lvl3pPr marL="571500" indent="-114300" algn="l" defTabSz="457200" rtl="0" eaLnBrk="1" latinLnBrk="0" hangingPunct="1">
        <a:spcBef>
          <a:spcPct val="20000"/>
        </a:spcBef>
        <a:buFont typeface="DM Sans" pitchFamily="34" charset="0"/>
        <a:buChar char="•"/>
        <a:defRPr sz="1200" kern="1200">
          <a:solidFill>
            <a:schemeClr val="tx1"/>
          </a:solidFill>
          <a:latin typeface="DM Sans" pitchFamily="2" charset="0"/>
          <a:ea typeface="+mn-ea"/>
          <a:cs typeface="+mn-cs"/>
        </a:defRPr>
      </a:lvl3pPr>
      <a:lvl4pPr marL="800100" indent="-114300" algn="l" defTabSz="457200" rtl="0" eaLnBrk="1" latinLnBrk="0" hangingPunct="1">
        <a:spcBef>
          <a:spcPct val="20000"/>
        </a:spcBef>
        <a:buFont typeface="DM Sans" pitchFamily="34" charset="0"/>
        <a:buChar char="–"/>
        <a:defRPr sz="1000" kern="1200">
          <a:solidFill>
            <a:schemeClr val="tx1"/>
          </a:solidFill>
          <a:latin typeface="DM Sans" pitchFamily="2" charset="0"/>
          <a:ea typeface="+mn-ea"/>
          <a:cs typeface="+mn-cs"/>
        </a:defRPr>
      </a:lvl4pPr>
      <a:lvl5pPr marL="1028700" indent="-114300" algn="l" defTabSz="457200" rtl="0" eaLnBrk="1" latinLnBrk="0" hangingPunct="1">
        <a:spcBef>
          <a:spcPct val="20000"/>
        </a:spcBef>
        <a:buFont typeface="DM Sans" pitchFamily="34" charset="0"/>
        <a:buChar char="»"/>
        <a:defRPr sz="1000" kern="1200">
          <a:solidFill>
            <a:schemeClr val="tx1"/>
          </a:solidFill>
          <a:latin typeface="DM Sans" pitchFamily="2" charset="0"/>
          <a:ea typeface="+mn-ea"/>
          <a:cs typeface="+mn-cs"/>
        </a:defRPr>
      </a:lvl5pPr>
      <a:lvl6pPr marL="1257300" indent="-114300" algn="l" defTabSz="457200" rtl="0" eaLnBrk="1" latinLnBrk="0" hangingPunct="1">
        <a:spcBef>
          <a:spcPct val="20000"/>
        </a:spcBef>
        <a:buFont typeface="DM Sans" pitchFamily="34" charset="0"/>
        <a:buChar char="•"/>
        <a:defRPr sz="1000" kern="1200">
          <a:solidFill>
            <a:schemeClr val="tx1"/>
          </a:solidFill>
          <a:latin typeface="+mn-lt"/>
          <a:ea typeface="+mn-ea"/>
          <a:cs typeface="+mn-cs"/>
        </a:defRPr>
      </a:lvl6pPr>
      <a:lvl7pPr marL="1485900" indent="-114300" algn="l" defTabSz="457200" rtl="0" eaLnBrk="1" latinLnBrk="0" hangingPunct="1">
        <a:spcBef>
          <a:spcPct val="20000"/>
        </a:spcBef>
        <a:buFont typeface="DM Sans" pitchFamily="34" charset="0"/>
        <a:buChar char="•"/>
        <a:defRPr sz="1000" kern="1200">
          <a:solidFill>
            <a:schemeClr val="tx1"/>
          </a:solidFill>
          <a:latin typeface="+mn-lt"/>
          <a:ea typeface="+mn-ea"/>
          <a:cs typeface="+mn-cs"/>
        </a:defRPr>
      </a:lvl7pPr>
      <a:lvl8pPr marL="1714500" indent="-114300" algn="l" defTabSz="457200" rtl="0" eaLnBrk="1" latinLnBrk="0" hangingPunct="1">
        <a:spcBef>
          <a:spcPct val="20000"/>
        </a:spcBef>
        <a:buFont typeface="DM Sans" pitchFamily="34" charset="0"/>
        <a:buChar char="•"/>
        <a:defRPr sz="1000" kern="1200">
          <a:solidFill>
            <a:schemeClr val="tx1"/>
          </a:solidFill>
          <a:latin typeface="+mn-lt"/>
          <a:ea typeface="+mn-ea"/>
          <a:cs typeface="+mn-cs"/>
        </a:defRPr>
      </a:lvl8pPr>
      <a:lvl9pPr marL="1943100" indent="-114300" algn="l" defTabSz="457200" rtl="0" eaLnBrk="1" latinLnBrk="0" hangingPunct="1">
        <a:spcBef>
          <a:spcPct val="20000"/>
        </a:spcBef>
        <a:buFont typeface="DM Sans" pitchFamily="34" charset="0"/>
        <a:buChar char="•"/>
        <a:defRPr sz="1000" kern="1200">
          <a:solidFill>
            <a:schemeClr val="tx1"/>
          </a:solidFill>
          <a:latin typeface="+mn-lt"/>
          <a:ea typeface="+mn-ea"/>
          <a:cs typeface="+mn-cs"/>
        </a:defRPr>
      </a:lvl9pPr>
    </p:bodyStyle>
    <p:otherStyle>
      <a:defPPr>
        <a:defRPr lang="en-US"/>
      </a:defPPr>
      <a:lvl1pPr marL="0" algn="l" defTabSz="457200" rtl="0" eaLnBrk="1" latinLnBrk="0" hangingPunct="1">
        <a:defRPr sz="900" kern="1200">
          <a:solidFill>
            <a:schemeClr val="tx1"/>
          </a:solidFill>
          <a:latin typeface="+mn-lt"/>
          <a:ea typeface="+mn-ea"/>
          <a:cs typeface="+mn-cs"/>
        </a:defRPr>
      </a:lvl1pPr>
      <a:lvl2pPr marL="228600" algn="l" defTabSz="457200" rtl="0" eaLnBrk="1" latinLnBrk="0" hangingPunct="1">
        <a:defRPr sz="900" kern="1200">
          <a:solidFill>
            <a:schemeClr val="tx1"/>
          </a:solidFill>
          <a:latin typeface="+mn-lt"/>
          <a:ea typeface="+mn-ea"/>
          <a:cs typeface="+mn-cs"/>
        </a:defRPr>
      </a:lvl2pPr>
      <a:lvl3pPr marL="457200" algn="l" defTabSz="457200" rtl="0" eaLnBrk="1" latinLnBrk="0" hangingPunct="1">
        <a:defRPr sz="900" kern="1200">
          <a:solidFill>
            <a:schemeClr val="tx1"/>
          </a:solidFill>
          <a:latin typeface="+mn-lt"/>
          <a:ea typeface="+mn-ea"/>
          <a:cs typeface="+mn-cs"/>
        </a:defRPr>
      </a:lvl3pPr>
      <a:lvl4pPr marL="685800" algn="l" defTabSz="457200" rtl="0" eaLnBrk="1" latinLnBrk="0" hangingPunct="1">
        <a:defRPr sz="900" kern="1200">
          <a:solidFill>
            <a:schemeClr val="tx1"/>
          </a:solidFill>
          <a:latin typeface="+mn-lt"/>
          <a:ea typeface="+mn-ea"/>
          <a:cs typeface="+mn-cs"/>
        </a:defRPr>
      </a:lvl4pPr>
      <a:lvl5pPr marL="914400" algn="l" defTabSz="457200" rtl="0" eaLnBrk="1" latinLnBrk="0" hangingPunct="1">
        <a:defRPr sz="900" kern="1200">
          <a:solidFill>
            <a:schemeClr val="tx1"/>
          </a:solidFill>
          <a:latin typeface="+mn-lt"/>
          <a:ea typeface="+mn-ea"/>
          <a:cs typeface="+mn-cs"/>
        </a:defRPr>
      </a:lvl5pPr>
      <a:lvl6pPr marL="1143000" algn="l" defTabSz="457200" rtl="0" eaLnBrk="1" latinLnBrk="0" hangingPunct="1">
        <a:defRPr sz="900" kern="1200">
          <a:solidFill>
            <a:schemeClr val="tx1"/>
          </a:solidFill>
          <a:latin typeface="+mn-lt"/>
          <a:ea typeface="+mn-ea"/>
          <a:cs typeface="+mn-cs"/>
        </a:defRPr>
      </a:lvl6pPr>
      <a:lvl7pPr marL="1371600" algn="l" defTabSz="457200" rtl="0" eaLnBrk="1" latinLnBrk="0" hangingPunct="1">
        <a:defRPr sz="900" kern="1200">
          <a:solidFill>
            <a:schemeClr val="tx1"/>
          </a:solidFill>
          <a:latin typeface="+mn-lt"/>
          <a:ea typeface="+mn-ea"/>
          <a:cs typeface="+mn-cs"/>
        </a:defRPr>
      </a:lvl7pPr>
      <a:lvl8pPr marL="1600200" algn="l" defTabSz="457200" rtl="0" eaLnBrk="1" latinLnBrk="0" hangingPunct="1">
        <a:defRPr sz="900" kern="1200">
          <a:solidFill>
            <a:schemeClr val="tx1"/>
          </a:solidFill>
          <a:latin typeface="+mn-lt"/>
          <a:ea typeface="+mn-ea"/>
          <a:cs typeface="+mn-cs"/>
        </a:defRPr>
      </a:lvl8pPr>
      <a:lvl9pPr marL="1828800" algn="l" defTabSz="457200" rtl="0" eaLnBrk="1" latinLnBrk="0" hangingPunct="1">
        <a:defRPr sz="9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latin typeface="DM Sans" pitchFamily="2" charset="0"/>
              </a:defRPr>
            </a:lvl1pPr>
          </a:lstStyle>
          <a:p>
            <a:fld id="{1D8BD707-D9CF-40AE-B4C6-C98DA3205C09}" type="datetimeFigureOut">
              <a:rPr lang="en-US" smtClean="0"/>
              <a:pPr/>
              <a:t>5/7/26</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latin typeface="DM Sans" pitchFamily="2" charset="0"/>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latin typeface="DM Sans" pitchFamily="2" charset="0"/>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4121398740"/>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txStyles>
    <p:titleStyle>
      <a:lvl1pPr algn="ctr" defTabSz="609630" rtl="0" eaLnBrk="1" latinLnBrk="0" hangingPunct="1">
        <a:spcBef>
          <a:spcPct val="0"/>
        </a:spcBef>
        <a:buNone/>
        <a:defRPr sz="2933" kern="1200">
          <a:solidFill>
            <a:schemeClr val="tx1"/>
          </a:solidFill>
          <a:latin typeface="DM Sans" pitchFamily="2" charset="0"/>
          <a:ea typeface="+mj-ea"/>
          <a:cs typeface="+mj-cs"/>
        </a:defRPr>
      </a:lvl1pPr>
    </p:titleStyle>
    <p:bodyStyle>
      <a:lvl1pPr marL="228611" indent="-228611" algn="l" defTabSz="609630" rtl="0" eaLnBrk="1" latinLnBrk="0" hangingPunct="1">
        <a:spcBef>
          <a:spcPct val="20000"/>
        </a:spcBef>
        <a:buFont typeface="DM Sans" pitchFamily="34" charset="0"/>
        <a:buChar char="•"/>
        <a:defRPr sz="2133" kern="1200">
          <a:solidFill>
            <a:schemeClr val="tx1"/>
          </a:solidFill>
          <a:latin typeface="DM Sans" pitchFamily="2" charset="0"/>
          <a:ea typeface="+mn-ea"/>
          <a:cs typeface="+mn-cs"/>
        </a:defRPr>
      </a:lvl1pPr>
      <a:lvl2pPr marL="495325" indent="-190510" algn="l" defTabSz="609630" rtl="0" eaLnBrk="1" latinLnBrk="0" hangingPunct="1">
        <a:spcBef>
          <a:spcPct val="20000"/>
        </a:spcBef>
        <a:buFont typeface="DM Sans" pitchFamily="34" charset="0"/>
        <a:buChar char="–"/>
        <a:defRPr sz="1867" kern="1200">
          <a:solidFill>
            <a:schemeClr val="tx1"/>
          </a:solidFill>
          <a:latin typeface="DM Sans" pitchFamily="2" charset="0"/>
          <a:ea typeface="+mn-ea"/>
          <a:cs typeface="+mn-cs"/>
        </a:defRPr>
      </a:lvl2pPr>
      <a:lvl3pPr marL="762038" indent="-152408" algn="l" defTabSz="609630" rtl="0" eaLnBrk="1" latinLnBrk="0" hangingPunct="1">
        <a:spcBef>
          <a:spcPct val="20000"/>
        </a:spcBef>
        <a:buFont typeface="DM Sans" pitchFamily="34" charset="0"/>
        <a:buChar char="•"/>
        <a:defRPr sz="1600" kern="1200">
          <a:solidFill>
            <a:schemeClr val="tx1"/>
          </a:solidFill>
          <a:latin typeface="DM Sans" pitchFamily="2" charset="0"/>
          <a:ea typeface="+mn-ea"/>
          <a:cs typeface="+mn-cs"/>
        </a:defRPr>
      </a:lvl3pPr>
      <a:lvl4pPr marL="1066853" indent="-152408" algn="l" defTabSz="609630" rtl="0" eaLnBrk="1" latinLnBrk="0" hangingPunct="1">
        <a:spcBef>
          <a:spcPct val="20000"/>
        </a:spcBef>
        <a:buFont typeface="DM Sans" pitchFamily="34" charset="0"/>
        <a:buChar char="–"/>
        <a:defRPr sz="1333" kern="1200">
          <a:solidFill>
            <a:schemeClr val="tx1"/>
          </a:solidFill>
          <a:latin typeface="DM Sans" pitchFamily="2" charset="0"/>
          <a:ea typeface="+mn-ea"/>
          <a:cs typeface="+mn-cs"/>
        </a:defRPr>
      </a:lvl4pPr>
      <a:lvl5pPr marL="1371669" indent="-152408" algn="l" defTabSz="609630" rtl="0" eaLnBrk="1" latinLnBrk="0" hangingPunct="1">
        <a:spcBef>
          <a:spcPct val="20000"/>
        </a:spcBef>
        <a:buFont typeface="DM Sans" pitchFamily="34" charset="0"/>
        <a:buChar char="»"/>
        <a:defRPr sz="1333" kern="1200">
          <a:solidFill>
            <a:schemeClr val="tx1"/>
          </a:solidFill>
          <a:latin typeface="DM Sans" pitchFamily="2" charset="0"/>
          <a:ea typeface="+mn-ea"/>
          <a:cs typeface="+mn-cs"/>
        </a:defRPr>
      </a:lvl5pPr>
      <a:lvl6pPr marL="1676484"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latin typeface="DM Sans" pitchFamily="2" charset="0"/>
              </a:defRPr>
            </a:lvl1pPr>
          </a:lstStyle>
          <a:p>
            <a:fld id="{1D8BD707-D9CF-40AE-B4C6-C98DA3205C09}" type="datetimeFigureOut">
              <a:rPr lang="en-US" smtClean="0"/>
              <a:pPr/>
              <a:t>5/7/26</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latin typeface="DM Sans" pitchFamily="2" charset="0"/>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latin typeface="DM Sans" pitchFamily="2" charset="0"/>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391208189"/>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Lst>
  <p:txStyles>
    <p:titleStyle>
      <a:lvl1pPr algn="ctr" defTabSz="609630" rtl="0" eaLnBrk="1" latinLnBrk="0" hangingPunct="1">
        <a:spcBef>
          <a:spcPct val="0"/>
        </a:spcBef>
        <a:buNone/>
        <a:defRPr sz="2933" kern="1200">
          <a:solidFill>
            <a:schemeClr val="tx1"/>
          </a:solidFill>
          <a:latin typeface="DM Sans" pitchFamily="2" charset="0"/>
          <a:ea typeface="+mj-ea"/>
          <a:cs typeface="+mj-cs"/>
        </a:defRPr>
      </a:lvl1pPr>
    </p:titleStyle>
    <p:bodyStyle>
      <a:lvl1pPr marL="228611" indent="-228611" algn="l" defTabSz="609630" rtl="0" eaLnBrk="1" latinLnBrk="0" hangingPunct="1">
        <a:spcBef>
          <a:spcPct val="20000"/>
        </a:spcBef>
        <a:buFont typeface="DM Sans" pitchFamily="34" charset="0"/>
        <a:buChar char="•"/>
        <a:defRPr sz="2133" kern="1200">
          <a:solidFill>
            <a:schemeClr val="tx1"/>
          </a:solidFill>
          <a:latin typeface="DM Sans" pitchFamily="2" charset="0"/>
          <a:ea typeface="+mn-ea"/>
          <a:cs typeface="+mn-cs"/>
        </a:defRPr>
      </a:lvl1pPr>
      <a:lvl2pPr marL="495325" indent="-190510" algn="l" defTabSz="609630" rtl="0" eaLnBrk="1" latinLnBrk="0" hangingPunct="1">
        <a:spcBef>
          <a:spcPct val="20000"/>
        </a:spcBef>
        <a:buFont typeface="DM Sans" pitchFamily="34" charset="0"/>
        <a:buChar char="–"/>
        <a:defRPr sz="1867" kern="1200">
          <a:solidFill>
            <a:schemeClr val="tx1"/>
          </a:solidFill>
          <a:latin typeface="DM Sans" pitchFamily="2" charset="0"/>
          <a:ea typeface="+mn-ea"/>
          <a:cs typeface="+mn-cs"/>
        </a:defRPr>
      </a:lvl2pPr>
      <a:lvl3pPr marL="762038" indent="-152408" algn="l" defTabSz="609630" rtl="0" eaLnBrk="1" latinLnBrk="0" hangingPunct="1">
        <a:spcBef>
          <a:spcPct val="20000"/>
        </a:spcBef>
        <a:buFont typeface="DM Sans" pitchFamily="34" charset="0"/>
        <a:buChar char="•"/>
        <a:defRPr sz="1600" kern="1200">
          <a:solidFill>
            <a:schemeClr val="tx1"/>
          </a:solidFill>
          <a:latin typeface="DM Sans" pitchFamily="2" charset="0"/>
          <a:ea typeface="+mn-ea"/>
          <a:cs typeface="+mn-cs"/>
        </a:defRPr>
      </a:lvl3pPr>
      <a:lvl4pPr marL="1066853" indent="-152408" algn="l" defTabSz="609630" rtl="0" eaLnBrk="1" latinLnBrk="0" hangingPunct="1">
        <a:spcBef>
          <a:spcPct val="20000"/>
        </a:spcBef>
        <a:buFont typeface="DM Sans" pitchFamily="34" charset="0"/>
        <a:buChar char="–"/>
        <a:defRPr sz="1333" kern="1200">
          <a:solidFill>
            <a:schemeClr val="tx1"/>
          </a:solidFill>
          <a:latin typeface="DM Sans" pitchFamily="2" charset="0"/>
          <a:ea typeface="+mn-ea"/>
          <a:cs typeface="+mn-cs"/>
        </a:defRPr>
      </a:lvl4pPr>
      <a:lvl5pPr marL="1371669" indent="-152408" algn="l" defTabSz="609630" rtl="0" eaLnBrk="1" latinLnBrk="0" hangingPunct="1">
        <a:spcBef>
          <a:spcPct val="20000"/>
        </a:spcBef>
        <a:buFont typeface="DM Sans" pitchFamily="34" charset="0"/>
        <a:buChar char="»"/>
        <a:defRPr sz="1333" kern="1200">
          <a:solidFill>
            <a:schemeClr val="tx1"/>
          </a:solidFill>
          <a:latin typeface="DM Sans" pitchFamily="2" charset="0"/>
          <a:ea typeface="+mn-ea"/>
          <a:cs typeface="+mn-cs"/>
        </a:defRPr>
      </a:lvl5pPr>
      <a:lvl6pPr marL="1676484"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0.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9.jp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6.xml"/><Relationship Id="rId1" Type="http://schemas.openxmlformats.org/officeDocument/2006/relationships/tags" Target="../tags/tag1.xml"/><Relationship Id="rId5" Type="http://schemas.openxmlformats.org/officeDocument/2006/relationships/image" Target="../media/image3.png"/><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22.jpe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7.xml"/><Relationship Id="rId1" Type="http://schemas.openxmlformats.org/officeDocument/2006/relationships/tags" Target="../tags/tag2.xml"/><Relationship Id="rId6" Type="http://schemas.openxmlformats.org/officeDocument/2006/relationships/image" Target="../media/image27.png"/><Relationship Id="rId5" Type="http://schemas.openxmlformats.org/officeDocument/2006/relationships/image" Target="../media/image3.png"/><Relationship Id="rId4" Type="http://schemas.openxmlformats.org/officeDocument/2006/relationships/image" Target="../media/image26.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7.xml"/><Relationship Id="rId1" Type="http://schemas.openxmlformats.org/officeDocument/2006/relationships/tags" Target="../tags/tag3.xml"/><Relationship Id="rId5" Type="http://schemas.openxmlformats.org/officeDocument/2006/relationships/image" Target="../media/image28.jpe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29.jpeg"/></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4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8.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33.png"/></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1.xml"/><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5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3.jp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5.xml"/><Relationship Id="rId1" Type="http://schemas.openxmlformats.org/officeDocument/2006/relationships/slideLayout" Target="../slideLayouts/slideLayout7.xml"/><Relationship Id="rId4" Type="http://schemas.openxmlformats.org/officeDocument/2006/relationships/image" Target="../media/image44.jpeg"/></Relationships>
</file>

<file path=ppt/slides/_rels/slide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6.xml"/><Relationship Id="rId1" Type="http://schemas.openxmlformats.org/officeDocument/2006/relationships/slideLayout" Target="../slideLayouts/slideLayout7.xml"/><Relationship Id="rId4" Type="http://schemas.openxmlformats.org/officeDocument/2006/relationships/image" Target="../media/image45.png"/></Relationships>
</file>

<file path=ppt/slides/_rels/slide5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7.xml"/><Relationship Id="rId1" Type="http://schemas.openxmlformats.org/officeDocument/2006/relationships/slideLayout" Target="../slideLayouts/slideLayout7.xml"/><Relationship Id="rId4" Type="http://schemas.openxmlformats.org/officeDocument/2006/relationships/image" Target="../media/image44.jpeg"/></Relationships>
</file>

<file path=ppt/slides/_rels/slide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8.xml"/><Relationship Id="rId1" Type="http://schemas.openxmlformats.org/officeDocument/2006/relationships/slideLayout" Target="../slideLayouts/slideLayout7.xml"/><Relationship Id="rId5" Type="http://schemas.openxmlformats.org/officeDocument/2006/relationships/image" Target="../media/image47.jpeg"/><Relationship Id="rId4" Type="http://schemas.openxmlformats.org/officeDocument/2006/relationships/image" Target="../media/image46.jpeg"/></Relationships>
</file>

<file path=ppt/slides/_rels/slide6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9.xml"/><Relationship Id="rId1" Type="http://schemas.openxmlformats.org/officeDocument/2006/relationships/slideLayout" Target="../slideLayouts/slideLayout7.xml"/><Relationship Id="rId5" Type="http://schemas.openxmlformats.org/officeDocument/2006/relationships/image" Target="../media/image47.jpeg"/><Relationship Id="rId4" Type="http://schemas.openxmlformats.org/officeDocument/2006/relationships/image" Target="../media/image46.jpeg"/></Relationships>
</file>

<file path=ppt/slides/_rels/slide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9.jp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0.png"/><Relationship Id="rId1" Type="http://schemas.openxmlformats.org/officeDocument/2006/relationships/slideLayout" Target="../slideLayouts/slideLayout7.xml"/><Relationship Id="rId5" Type="http://schemas.openxmlformats.org/officeDocument/2006/relationships/image" Target="../media/image52.png"/><Relationship Id="rId4" Type="http://schemas.openxmlformats.org/officeDocument/2006/relationships/image" Target="../media/image51.png"/></Relationships>
</file>

<file path=ppt/slides/_rels/slide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3.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54.png"/></Relationships>
</file>

<file path=ppt/slides/_rels/slide7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5.jpeg"/><Relationship Id="rId1" Type="http://schemas.openxmlformats.org/officeDocument/2006/relationships/slideLayout" Target="../slideLayouts/slideLayout20.xml"/></Relationships>
</file>

<file path=ppt/slides/_rels/slide71.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4.xml"/><Relationship Id="rId1" Type="http://schemas.openxmlformats.org/officeDocument/2006/relationships/slideLayout" Target="../slideLayouts/slideLayout20.xml"/><Relationship Id="rId4" Type="http://schemas.openxmlformats.org/officeDocument/2006/relationships/image" Target="../media/image56.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3" name="Freeform 13"/>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2" name="TextBox 14">
            <a:extLst>
              <a:ext uri="{FF2B5EF4-FFF2-40B4-BE49-F238E27FC236}">
                <a16:creationId xmlns:a16="http://schemas.microsoft.com/office/drawing/2014/main" id="{F0DA2D17-C40D-DA25-624F-1D8A297B593A}"/>
              </a:ext>
            </a:extLst>
          </p:cNvPr>
          <p:cNvSpPr txBox="1"/>
          <p:nvPr/>
        </p:nvSpPr>
        <p:spPr>
          <a:xfrm>
            <a:off x="914400" y="3429001"/>
            <a:ext cx="9842923" cy="917111"/>
          </a:xfrm>
          <a:prstGeom prst="rect">
            <a:avLst/>
          </a:prstGeom>
        </p:spPr>
        <p:txBody>
          <a:bodyPr wrap="square" lIns="0" tIns="0" rIns="0" bIns="0" rtlCol="0" anchor="t">
            <a:spAutoFit/>
          </a:bodyPr>
          <a:lstStyle/>
          <a:p>
            <a:pPr defTabSz="609630">
              <a:lnSpc>
                <a:spcPts val="7333"/>
              </a:lnSpc>
              <a:defRPr/>
            </a:pPr>
            <a:r>
              <a:rPr lang="en-GB" altLang="en-US" sz="5867" b="1" dirty="0">
                <a:solidFill>
                  <a:prstClr val="white"/>
                </a:solidFill>
                <a:latin typeface="DM Sans"/>
              </a:rPr>
              <a:t>Global Climate Change</a:t>
            </a:r>
            <a:endParaRPr lang="en-US" sz="5866" b="1" dirty="0">
              <a:solidFill>
                <a:prstClr val="white"/>
              </a:solidFill>
              <a:latin typeface="DM Sans" pitchFamily="2" charset="0"/>
            </a:endParaRPr>
          </a:p>
        </p:txBody>
      </p:sp>
      <p:sp>
        <p:nvSpPr>
          <p:cNvPr id="3" name="TextBox 14">
            <a:extLst>
              <a:ext uri="{FF2B5EF4-FFF2-40B4-BE49-F238E27FC236}">
                <a16:creationId xmlns:a16="http://schemas.microsoft.com/office/drawing/2014/main" id="{4E4EAF08-B290-2C6A-BBCC-3221855F907B}"/>
              </a:ext>
            </a:extLst>
          </p:cNvPr>
          <p:cNvSpPr txBox="1"/>
          <p:nvPr/>
        </p:nvSpPr>
        <p:spPr>
          <a:xfrm>
            <a:off x="914400" y="4170916"/>
            <a:ext cx="5181600" cy="1716367"/>
          </a:xfrm>
          <a:prstGeom prst="rect">
            <a:avLst/>
          </a:prstGeom>
        </p:spPr>
        <p:txBody>
          <a:bodyPr wrap="square" lIns="0" tIns="0" rIns="0" bIns="0" rtlCol="0" anchor="t">
            <a:spAutoFit/>
          </a:bodyPr>
          <a:lstStyle/>
          <a:p>
            <a:pPr defTabSz="609630">
              <a:lnSpc>
                <a:spcPts val="7333"/>
              </a:lnSpc>
              <a:defRPr/>
            </a:pPr>
            <a:r>
              <a:rPr lang="en-US" sz="2133" b="1" dirty="0">
                <a:solidFill>
                  <a:srgbClr val="FAB700"/>
                </a:solidFill>
                <a:latin typeface="DM Sans" pitchFamily="2" charset="0"/>
              </a:rPr>
              <a:t>Week 11 - Revision</a:t>
            </a:r>
          </a:p>
          <a:p>
            <a:pPr defTabSz="609630">
              <a:lnSpc>
                <a:spcPts val="7333"/>
              </a:lnSpc>
              <a:defRPr/>
            </a:pPr>
            <a:r>
              <a:rPr lang="en-US" sz="2133" b="1" dirty="0">
                <a:solidFill>
                  <a:srgbClr val="FAB700"/>
                </a:solidFill>
                <a:latin typeface="DM Sans" pitchFamily="2" charset="0"/>
              </a:rPr>
              <a:t>Thomas Bannan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D2712-2BFD-F094-3997-ABC7F7B497CD}"/>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6B10CC8F-0B06-64D4-218C-99318433CED9}"/>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endParaRPr lang="en-GB" sz="1200">
              <a:latin typeface="DM Sans" pitchFamily="2" charset="0"/>
            </a:endParaRPr>
          </a:p>
        </p:txBody>
      </p:sp>
      <p:sp>
        <p:nvSpPr>
          <p:cNvPr id="5" name="TextBox 4">
            <a:extLst>
              <a:ext uri="{FF2B5EF4-FFF2-40B4-BE49-F238E27FC236}">
                <a16:creationId xmlns:a16="http://schemas.microsoft.com/office/drawing/2014/main" id="{A28D4FED-132A-6C1A-8FB6-8F824F7ECAA4}"/>
              </a:ext>
            </a:extLst>
          </p:cNvPr>
          <p:cNvSpPr txBox="1"/>
          <p:nvPr/>
        </p:nvSpPr>
        <p:spPr>
          <a:xfrm>
            <a:off x="6096000" y="1615785"/>
            <a:ext cx="4192857" cy="4278094"/>
          </a:xfrm>
          <a:prstGeom prst="rect">
            <a:avLst/>
          </a:prstGeom>
          <a:noFill/>
        </p:spPr>
        <p:txBody>
          <a:bodyPr wrap="square">
            <a:spAutoFit/>
          </a:bodyPr>
          <a:lstStyle/>
          <a:p>
            <a:pPr defTabSz="406440">
              <a:defRPr/>
            </a:pPr>
            <a:r>
              <a:rPr lang="en-GB" sz="1600" kern="100" dirty="0">
                <a:latin typeface="Calibri" panose="020F0502020204030204" pitchFamily="34" charset="0"/>
                <a:ea typeface="Calibri" panose="020F0502020204030204" pitchFamily="34" charset="0"/>
                <a:cs typeface="Calibri" panose="020F0502020204030204" pitchFamily="34" charset="0"/>
              </a:rPr>
              <a:t>Week 1 – C</a:t>
            </a:r>
            <a:r>
              <a:rPr lang="en-GB" sz="1600" dirty="0">
                <a:latin typeface="Calibri" panose="020F0502020204030204" pitchFamily="34" charset="0"/>
                <a:cs typeface="Calibri" panose="020F0502020204030204" pitchFamily="34" charset="0"/>
              </a:rPr>
              <a:t>limate Change and its Impacts </a:t>
            </a:r>
          </a:p>
          <a:p>
            <a:pPr defTabSz="406440">
              <a:defRPr/>
            </a:pPr>
            <a:endParaRPr lang="en-GB" sz="1600" kern="100" dirty="0">
              <a:latin typeface="Calibri" panose="020F0502020204030204" pitchFamily="34" charset="0"/>
              <a:cs typeface="Calibri" panose="020F0502020204030204" pitchFamily="34" charset="0"/>
            </a:endParaRPr>
          </a:p>
          <a:p>
            <a:pPr defTabSz="406440">
              <a:defRPr/>
            </a:pPr>
            <a:r>
              <a:rPr lang="en-GB" sz="1600" kern="100" dirty="0">
                <a:latin typeface="Calibri" panose="020F0502020204030204" pitchFamily="34" charset="0"/>
                <a:ea typeface="Calibri" panose="020F0502020204030204" pitchFamily="34" charset="0"/>
                <a:cs typeface="Calibri" panose="020F0502020204030204" pitchFamily="34" charset="0"/>
              </a:rPr>
              <a:t>Week 2 – </a:t>
            </a:r>
            <a:r>
              <a:rPr lang="en-GB" sz="1600" dirty="0">
                <a:latin typeface="Calibri" panose="020F0502020204030204" pitchFamily="34" charset="0"/>
                <a:cs typeface="Calibri" panose="020F0502020204030204" pitchFamily="34" charset="0"/>
              </a:rPr>
              <a:t>Natural Climate Variability</a:t>
            </a:r>
            <a:r>
              <a:rPr lang="en-GB" sz="1600" kern="100" dirty="0">
                <a:solidFill>
                  <a:prstClr val="black"/>
                </a:solidFill>
                <a:latin typeface="Calibri" panose="020F0502020204030204" pitchFamily="34" charset="0"/>
                <a:ea typeface="Calibri" panose="020F0502020204030204" pitchFamily="34" charset="0"/>
                <a:cs typeface="Calibri" panose="020F0502020204030204" pitchFamily="34" charset="0"/>
              </a:rPr>
              <a:t> </a:t>
            </a:r>
          </a:p>
          <a:p>
            <a:pPr defTabSz="406440">
              <a:defRPr/>
            </a:pPr>
            <a:endParaRPr lang="en-GB" sz="1600" kern="100" dirty="0">
              <a:solidFill>
                <a:prstClr val="black"/>
              </a:solidFill>
              <a:latin typeface="Calibri" panose="020F0502020204030204" pitchFamily="34" charset="0"/>
              <a:ea typeface="Calibri" panose="020F0502020204030204" pitchFamily="34" charset="0"/>
              <a:cs typeface="Calibri" panose="020F0502020204030204" pitchFamily="34" charset="0"/>
            </a:endParaRPr>
          </a:p>
          <a:p>
            <a:pPr defTabSz="406440">
              <a:defRPr/>
            </a:pPr>
            <a:r>
              <a:rPr lang="en-GB" sz="1600" kern="100" dirty="0">
                <a:latin typeface="Calibri" panose="020F0502020204030204" pitchFamily="34" charset="0"/>
                <a:ea typeface="Calibri" panose="020F0502020204030204" pitchFamily="34" charset="0"/>
                <a:cs typeface="Calibri" panose="020F0502020204030204" pitchFamily="34" charset="0"/>
              </a:rPr>
              <a:t>Week 3 – </a:t>
            </a:r>
            <a:r>
              <a:rPr lang="en-GB" sz="1600" dirty="0">
                <a:solidFill>
                  <a:srgbClr val="212121"/>
                </a:solidFill>
                <a:latin typeface="Calibri" panose="020F0502020204030204" pitchFamily="34" charset="0"/>
                <a:cs typeface="Calibri" panose="020F0502020204030204" pitchFamily="34" charset="0"/>
              </a:rPr>
              <a:t>Radiation Law/Greenhouse Effect</a:t>
            </a:r>
          </a:p>
          <a:p>
            <a:pPr defTabSz="406440">
              <a:defRPr/>
            </a:pPr>
            <a:endParaRPr lang="en-GB" sz="1600" dirty="0">
              <a:solidFill>
                <a:srgbClr val="212121"/>
              </a:solidFill>
              <a:latin typeface="Calibri" panose="020F0502020204030204" pitchFamily="34" charset="0"/>
              <a:cs typeface="Calibri" panose="020F0502020204030204" pitchFamily="34" charset="0"/>
            </a:endParaRPr>
          </a:p>
          <a:p>
            <a:pPr defTabSz="406440">
              <a:defRPr/>
            </a:pPr>
            <a:r>
              <a:rPr lang="en-GB" sz="1600" kern="100" dirty="0">
                <a:latin typeface="Calibri" panose="020F0502020204030204" pitchFamily="34" charset="0"/>
                <a:ea typeface="Calibri" panose="020F0502020204030204" pitchFamily="34" charset="0"/>
                <a:cs typeface="Calibri" panose="020F0502020204030204" pitchFamily="34" charset="0"/>
              </a:rPr>
              <a:t>Week 4 – </a:t>
            </a:r>
            <a:r>
              <a:rPr lang="en-GB" sz="1600" kern="100" dirty="0">
                <a:solidFill>
                  <a:srgbClr val="212121"/>
                </a:solidFill>
                <a:latin typeface="Calibri" panose="020F0502020204030204" pitchFamily="34" charset="0"/>
                <a:ea typeface="Calibri" panose="020F0502020204030204" pitchFamily="34" charset="0"/>
                <a:cs typeface="Calibri" panose="020F0502020204030204" pitchFamily="34" charset="0"/>
              </a:rPr>
              <a:t>A</a:t>
            </a:r>
            <a:r>
              <a:rPr lang="en-GB" sz="1600" dirty="0">
                <a:solidFill>
                  <a:srgbClr val="212121"/>
                </a:solidFill>
                <a:latin typeface="Calibri" panose="020F0502020204030204" pitchFamily="34" charset="0"/>
                <a:cs typeface="Calibri" panose="020F0502020204030204" pitchFamily="34" charset="0"/>
              </a:rPr>
              <a:t>nthropogenic Impacts </a:t>
            </a:r>
          </a:p>
          <a:p>
            <a:pPr defTabSz="406440">
              <a:defRPr/>
            </a:pPr>
            <a:endParaRPr lang="en-GB" sz="1600" dirty="0">
              <a:solidFill>
                <a:srgbClr val="212121"/>
              </a:solidFill>
              <a:latin typeface="Calibri" panose="020F0502020204030204" pitchFamily="34" charset="0"/>
              <a:cs typeface="Calibri" panose="020F0502020204030204" pitchFamily="34" charset="0"/>
            </a:endParaRPr>
          </a:p>
          <a:p>
            <a:pPr defTabSz="406440">
              <a:defRPr/>
            </a:pPr>
            <a:r>
              <a:rPr lang="en-GB" sz="1600" kern="100" dirty="0">
                <a:latin typeface="Calibri" panose="020F0502020204030204" pitchFamily="34" charset="0"/>
                <a:ea typeface="Calibri" panose="020F0502020204030204" pitchFamily="34" charset="0"/>
                <a:cs typeface="Calibri" panose="020F0502020204030204" pitchFamily="34" charset="0"/>
              </a:rPr>
              <a:t>Week 5 – </a:t>
            </a:r>
            <a:r>
              <a:rPr lang="en-GB" sz="1600" dirty="0">
                <a:latin typeface="Calibri" panose="020F0502020204030204" pitchFamily="34" charset="0"/>
                <a:cs typeface="Calibri" panose="020F0502020204030204" pitchFamily="34" charset="0"/>
              </a:rPr>
              <a:t>The Evidence Base </a:t>
            </a:r>
          </a:p>
          <a:p>
            <a:pPr defTabSz="406440">
              <a:defRPr/>
            </a:pPr>
            <a:endParaRPr lang="en-GB" sz="1600" dirty="0">
              <a:latin typeface="Calibri" panose="020F0502020204030204" pitchFamily="34" charset="0"/>
              <a:cs typeface="Calibri" panose="020F0502020204030204" pitchFamily="34" charset="0"/>
            </a:endParaRPr>
          </a:p>
          <a:p>
            <a:pPr defTabSz="406440">
              <a:defRPr/>
            </a:pPr>
            <a:r>
              <a:rPr lang="en-GB" sz="1600" kern="100" dirty="0">
                <a:solidFill>
                  <a:prstClr val="black"/>
                </a:solidFill>
                <a:latin typeface="Calibri" panose="020F0502020204030204" pitchFamily="34" charset="0"/>
                <a:ea typeface="Calibri" panose="020F0502020204030204" pitchFamily="34" charset="0"/>
                <a:cs typeface="Calibri" panose="020F0502020204030204" pitchFamily="34" charset="0"/>
              </a:rPr>
              <a:t>Week 7 – </a:t>
            </a:r>
            <a:r>
              <a:rPr lang="en-GB" sz="1600" dirty="0">
                <a:solidFill>
                  <a:srgbClr val="212121"/>
                </a:solidFill>
                <a:latin typeface="Calibri" panose="020F0502020204030204" pitchFamily="34" charset="0"/>
                <a:cs typeface="Calibri" panose="020F0502020204030204" pitchFamily="34" charset="0"/>
              </a:rPr>
              <a:t>Climate Models  </a:t>
            </a:r>
          </a:p>
          <a:p>
            <a:pPr defTabSz="406440">
              <a:defRPr/>
            </a:pPr>
            <a:endParaRPr lang="en-GB" sz="1600" dirty="0">
              <a:solidFill>
                <a:srgbClr val="212121"/>
              </a:solidFill>
              <a:latin typeface="Calibri" panose="020F0502020204030204" pitchFamily="34" charset="0"/>
              <a:cs typeface="Calibri" panose="020F0502020204030204" pitchFamily="34" charset="0"/>
            </a:endParaRPr>
          </a:p>
          <a:p>
            <a:pPr defTabSz="406440">
              <a:defRPr/>
            </a:pPr>
            <a:r>
              <a:rPr lang="en-GB" sz="1600" kern="100" dirty="0">
                <a:solidFill>
                  <a:prstClr val="black"/>
                </a:solidFill>
                <a:latin typeface="Calibri" panose="020F0502020204030204" pitchFamily="34" charset="0"/>
                <a:ea typeface="Calibri" panose="020F0502020204030204" pitchFamily="34" charset="0"/>
                <a:cs typeface="Calibri" panose="020F0502020204030204" pitchFamily="34" charset="0"/>
              </a:rPr>
              <a:t>Week 8 – Climate </a:t>
            </a:r>
            <a:r>
              <a:rPr lang="en-GB" sz="1600" dirty="0">
                <a:solidFill>
                  <a:srgbClr val="212121"/>
                </a:solidFill>
                <a:latin typeface="Calibri" panose="020F0502020204030204" pitchFamily="34" charset="0"/>
                <a:cs typeface="Calibri" panose="020F0502020204030204" pitchFamily="34" charset="0"/>
              </a:rPr>
              <a:t>Change Adaptation </a:t>
            </a:r>
          </a:p>
          <a:p>
            <a:pPr defTabSz="406440">
              <a:defRPr/>
            </a:pPr>
            <a:endParaRPr lang="en-GB" sz="1600" dirty="0">
              <a:solidFill>
                <a:srgbClr val="212121"/>
              </a:solidFill>
              <a:latin typeface="Calibri" panose="020F0502020204030204" pitchFamily="34" charset="0"/>
              <a:cs typeface="Calibri" panose="020F0502020204030204" pitchFamily="34" charset="0"/>
            </a:endParaRPr>
          </a:p>
          <a:p>
            <a:pPr defTabSz="406440">
              <a:defRPr/>
            </a:pPr>
            <a:r>
              <a:rPr lang="en-GB" sz="1600" kern="100" dirty="0">
                <a:solidFill>
                  <a:prstClr val="black"/>
                </a:solidFill>
                <a:latin typeface="Calibri" panose="020F0502020204030204" pitchFamily="34" charset="0"/>
                <a:ea typeface="Calibri" panose="020F0502020204030204" pitchFamily="34" charset="0"/>
                <a:cs typeface="Calibri" panose="020F0502020204030204" pitchFamily="34" charset="0"/>
              </a:rPr>
              <a:t>Week 9 – </a:t>
            </a:r>
            <a:r>
              <a:rPr lang="en-GB" sz="1600" dirty="0">
                <a:solidFill>
                  <a:srgbClr val="212121"/>
                </a:solidFill>
                <a:latin typeface="Calibri" panose="020F0502020204030204" pitchFamily="34" charset="0"/>
                <a:cs typeface="Calibri" panose="020F0502020204030204" pitchFamily="34" charset="0"/>
              </a:rPr>
              <a:t>Climate Change Mitigation </a:t>
            </a:r>
          </a:p>
          <a:p>
            <a:pPr defTabSz="406440">
              <a:defRPr/>
            </a:pPr>
            <a:endParaRPr lang="en-GB" sz="1600" kern="100" dirty="0">
              <a:solidFill>
                <a:prstClr val="black"/>
              </a:solidFill>
              <a:latin typeface="Calibri" panose="020F0502020204030204" pitchFamily="34" charset="0"/>
              <a:cs typeface="Calibri" panose="020F0502020204030204" pitchFamily="34" charset="0"/>
            </a:endParaRPr>
          </a:p>
          <a:p>
            <a:pPr defTabSz="406440">
              <a:defRPr/>
            </a:pPr>
            <a:r>
              <a:rPr lang="en-GB" sz="1600" kern="100" dirty="0">
                <a:solidFill>
                  <a:prstClr val="black"/>
                </a:solidFill>
                <a:latin typeface="Calibri" panose="020F0502020204030204" pitchFamily="34" charset="0"/>
                <a:ea typeface="Calibri" panose="020F0502020204030204" pitchFamily="34" charset="0"/>
                <a:cs typeface="Calibri" panose="020F0502020204030204" pitchFamily="34" charset="0"/>
              </a:rPr>
              <a:t>Week 10 – Climate Engineering</a:t>
            </a:r>
            <a:endParaRPr lang="en-GB" sz="1600" dirty="0">
              <a:solidFill>
                <a:srgbClr val="212121"/>
              </a:solidFill>
              <a:latin typeface="Calibri" panose="020F0502020204030204" pitchFamily="34" charset="0"/>
              <a:cs typeface="Calibri" panose="020F0502020204030204" pitchFamily="34" charset="0"/>
            </a:endParaRPr>
          </a:p>
        </p:txBody>
      </p:sp>
      <p:cxnSp>
        <p:nvCxnSpPr>
          <p:cNvPr id="6" name="Straight Arrow Connector 5">
            <a:extLst>
              <a:ext uri="{FF2B5EF4-FFF2-40B4-BE49-F238E27FC236}">
                <a16:creationId xmlns:a16="http://schemas.microsoft.com/office/drawing/2014/main" id="{F16271E1-4C5A-A66A-4AF9-CEB8B3B87DC7}"/>
              </a:ext>
            </a:extLst>
          </p:cNvPr>
          <p:cNvCxnSpPr>
            <a:cxnSpLocks/>
          </p:cNvCxnSpPr>
          <p:nvPr/>
        </p:nvCxnSpPr>
        <p:spPr>
          <a:xfrm>
            <a:off x="5689561" y="1615785"/>
            <a:ext cx="0" cy="4247317"/>
          </a:xfrm>
          <a:prstGeom prst="straightConnector1">
            <a:avLst/>
          </a:prstGeom>
          <a:ln w="762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8" name="Picture 7">
            <a:extLst>
              <a:ext uri="{FF2B5EF4-FFF2-40B4-BE49-F238E27FC236}">
                <a16:creationId xmlns:a16="http://schemas.microsoft.com/office/drawing/2014/main" id="{5F7645AF-FAF5-DB1B-DD7F-022F5F1DB658}"/>
              </a:ext>
            </a:extLst>
          </p:cNvPr>
          <p:cNvPicPr>
            <a:picLocks noChangeAspect="1"/>
          </p:cNvPicPr>
          <p:nvPr/>
        </p:nvPicPr>
        <p:blipFill>
          <a:blip r:embed="rId4"/>
          <a:srcRect t="2327"/>
          <a:stretch>
            <a:fillRect/>
          </a:stretch>
        </p:blipFill>
        <p:spPr>
          <a:xfrm>
            <a:off x="712364" y="531446"/>
            <a:ext cx="4820923" cy="5899549"/>
          </a:xfrm>
          <a:prstGeom prst="rect">
            <a:avLst/>
          </a:prstGeom>
        </p:spPr>
      </p:pic>
    </p:spTree>
    <p:extLst>
      <p:ext uri="{BB962C8B-B14F-4D97-AF65-F5344CB8AC3E}">
        <p14:creationId xmlns:p14="http://schemas.microsoft.com/office/powerpoint/2010/main" val="1205024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F68E4-8B12-A550-F773-D48C4B674ADC}"/>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5F4677C2-1511-CB06-D3F3-4ED19642810D}"/>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endParaRPr lang="en-GB" sz="1200">
              <a:latin typeface="DM Sans" pitchFamily="2" charset="0"/>
            </a:endParaRPr>
          </a:p>
        </p:txBody>
      </p:sp>
      <p:pic>
        <p:nvPicPr>
          <p:cNvPr id="8" name="Picture 7">
            <a:extLst>
              <a:ext uri="{FF2B5EF4-FFF2-40B4-BE49-F238E27FC236}">
                <a16:creationId xmlns:a16="http://schemas.microsoft.com/office/drawing/2014/main" id="{D0A89091-1907-04E9-6304-8B0B07A573DE}"/>
              </a:ext>
            </a:extLst>
          </p:cNvPr>
          <p:cNvPicPr>
            <a:picLocks noChangeAspect="1"/>
          </p:cNvPicPr>
          <p:nvPr/>
        </p:nvPicPr>
        <p:blipFill>
          <a:blip r:embed="rId4"/>
          <a:srcRect t="2327"/>
          <a:stretch>
            <a:fillRect/>
          </a:stretch>
        </p:blipFill>
        <p:spPr>
          <a:xfrm>
            <a:off x="712364" y="531446"/>
            <a:ext cx="4820923" cy="5899549"/>
          </a:xfrm>
          <a:prstGeom prst="rect">
            <a:avLst/>
          </a:prstGeom>
        </p:spPr>
      </p:pic>
      <p:pic>
        <p:nvPicPr>
          <p:cNvPr id="2" name="Content Placeholder 4" descr="A diagram of a global warming&#10;&#10;Description automatically generated">
            <a:extLst>
              <a:ext uri="{FF2B5EF4-FFF2-40B4-BE49-F238E27FC236}">
                <a16:creationId xmlns:a16="http://schemas.microsoft.com/office/drawing/2014/main" id="{F6FA8825-BA82-EE87-84B0-C28C9BB46C41}"/>
              </a:ext>
            </a:extLst>
          </p:cNvPr>
          <p:cNvPicPr>
            <a:picLocks noChangeAspect="1"/>
          </p:cNvPicPr>
          <p:nvPr/>
        </p:nvPicPr>
        <p:blipFill rotWithShape="1">
          <a:blip r:embed="rId5"/>
          <a:srcRect l="59323" t="10268" r="1200" b="3603"/>
          <a:stretch>
            <a:fillRect/>
          </a:stretch>
        </p:blipFill>
        <p:spPr>
          <a:xfrm>
            <a:off x="5456223" y="1438031"/>
            <a:ext cx="4390888" cy="4741335"/>
          </a:xfrm>
          <a:prstGeom prst="rect">
            <a:avLst/>
          </a:prstGeom>
        </p:spPr>
      </p:pic>
    </p:spTree>
    <p:extLst>
      <p:ext uri="{BB962C8B-B14F-4D97-AF65-F5344CB8AC3E}">
        <p14:creationId xmlns:p14="http://schemas.microsoft.com/office/powerpoint/2010/main" val="1551252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4" descr="s_earth%20from%20space">
            <a:extLst>
              <a:ext uri="{FF2B5EF4-FFF2-40B4-BE49-F238E27FC236}">
                <a16:creationId xmlns:a16="http://schemas.microsoft.com/office/drawing/2014/main" id="{42528534-D14E-21F0-A4D9-71E9B8714C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4952" y="2084354"/>
            <a:ext cx="3568833" cy="3568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Freeform 13">
            <a:extLst>
              <a:ext uri="{FF2B5EF4-FFF2-40B4-BE49-F238E27FC236}">
                <a16:creationId xmlns:a16="http://schemas.microsoft.com/office/drawing/2014/main" id="{A69E7A04-F54E-5105-05F6-AE6E979CAB5D}"/>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n-GB" sz="1200">
              <a:latin typeface="DM Sans" pitchFamily="2" charset="0"/>
            </a:endParaRPr>
          </a:p>
        </p:txBody>
      </p:sp>
      <p:pic>
        <p:nvPicPr>
          <p:cNvPr id="2" name="Picture 1" descr="A graph showing the growth of the stock market&#10;&#10;Description automatically generated">
            <a:extLst>
              <a:ext uri="{FF2B5EF4-FFF2-40B4-BE49-F238E27FC236}">
                <a16:creationId xmlns:a16="http://schemas.microsoft.com/office/drawing/2014/main" id="{EE9A539F-DEE9-BECF-5D79-646E7B291588}"/>
              </a:ext>
            </a:extLst>
          </p:cNvPr>
          <p:cNvPicPr>
            <a:picLocks noChangeAspect="1"/>
          </p:cNvPicPr>
          <p:nvPr/>
        </p:nvPicPr>
        <p:blipFill rotWithShape="1">
          <a:blip r:embed="rId5">
            <a:extLst>
              <a:ext uri="{28A0092B-C50C-407E-A947-70E740481C1C}">
                <a14:useLocalDpi xmlns:a14="http://schemas.microsoft.com/office/drawing/2010/main" val="0"/>
              </a:ext>
            </a:extLst>
          </a:blip>
          <a:srcRect l="5190" t="10621" r="6942"/>
          <a:stretch/>
        </p:blipFill>
        <p:spPr>
          <a:xfrm>
            <a:off x="4164295" y="2084354"/>
            <a:ext cx="7827843" cy="3766677"/>
          </a:xfrm>
          <a:prstGeom prst="rect">
            <a:avLst/>
          </a:prstGeom>
        </p:spPr>
      </p:pic>
      <p:sp>
        <p:nvSpPr>
          <p:cNvPr id="3" name="TextBox 14">
            <a:extLst>
              <a:ext uri="{FF2B5EF4-FFF2-40B4-BE49-F238E27FC236}">
                <a16:creationId xmlns:a16="http://schemas.microsoft.com/office/drawing/2014/main" id="{0DADF4FC-4380-4846-955A-568A4877E5AD}"/>
              </a:ext>
            </a:extLst>
          </p:cNvPr>
          <p:cNvSpPr txBox="1"/>
          <p:nvPr/>
        </p:nvSpPr>
        <p:spPr>
          <a:xfrm>
            <a:off x="544952" y="1089270"/>
            <a:ext cx="10497991" cy="589905"/>
          </a:xfrm>
          <a:prstGeom prst="rect">
            <a:avLst/>
          </a:prstGeom>
        </p:spPr>
        <p:txBody>
          <a:bodyPr wrap="square" lIns="0" tIns="0" rIns="0" bIns="0" rtlCol="0" anchor="t">
            <a:spAutoFit/>
          </a:bodyPr>
          <a:lstStyle/>
          <a:p>
            <a:pPr defTabSz="609660">
              <a:lnSpc>
                <a:spcPts val="4574"/>
              </a:lnSpc>
              <a:defRPr/>
            </a:pPr>
            <a:r>
              <a:rPr lang="en-US" sz="4000" b="1" i="1" spc="-275" dirty="0">
                <a:solidFill>
                  <a:srgbClr val="46245A"/>
                </a:solidFill>
                <a:latin typeface="DM Sans Bold"/>
                <a:ea typeface="MS PGothic" panose="020B0600070205080204" pitchFamily="34" charset="-128"/>
              </a:rPr>
              <a:t>Natural Variability In Climate </a:t>
            </a:r>
          </a:p>
        </p:txBody>
      </p:sp>
    </p:spTree>
    <p:extLst>
      <p:ext uri="{BB962C8B-B14F-4D97-AF65-F5344CB8AC3E}">
        <p14:creationId xmlns:p14="http://schemas.microsoft.com/office/powerpoint/2010/main" val="953047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98FF0-9938-5400-83B2-BB318123F15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4F5FBFD-7778-C284-67D7-41DFF77041C6}"/>
              </a:ext>
            </a:extLst>
          </p:cNvPr>
          <p:cNvPicPr>
            <a:picLocks noChangeAspect="1"/>
          </p:cNvPicPr>
          <p:nvPr/>
        </p:nvPicPr>
        <p:blipFill>
          <a:blip r:embed="rId3"/>
          <a:stretch>
            <a:fillRect/>
          </a:stretch>
        </p:blipFill>
        <p:spPr>
          <a:xfrm>
            <a:off x="0" y="0"/>
            <a:ext cx="12192000" cy="6858000"/>
          </a:xfrm>
          <a:prstGeom prst="rect">
            <a:avLst/>
          </a:prstGeom>
        </p:spPr>
      </p:pic>
      <p:sp>
        <p:nvSpPr>
          <p:cNvPr id="6" name="Freeform 13">
            <a:extLst>
              <a:ext uri="{FF2B5EF4-FFF2-40B4-BE49-F238E27FC236}">
                <a16:creationId xmlns:a16="http://schemas.microsoft.com/office/drawing/2014/main" id="{EEFF2CE1-E764-16D1-CE92-520BB9D019E4}"/>
              </a:ext>
            </a:extLst>
          </p:cNvPr>
          <p:cNvSpPr/>
          <p:nvPr/>
        </p:nvSpPr>
        <p:spPr>
          <a:xfrm>
            <a:off x="200581" y="580182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n-GB" sz="1200">
              <a:latin typeface="DM Sans" pitchFamily="2" charset="0"/>
            </a:endParaRPr>
          </a:p>
        </p:txBody>
      </p:sp>
    </p:spTree>
    <p:extLst>
      <p:ext uri="{BB962C8B-B14F-4D97-AF65-F5344CB8AC3E}">
        <p14:creationId xmlns:p14="http://schemas.microsoft.com/office/powerpoint/2010/main" val="28465336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A2B9A-1A16-CE0C-432B-81CAF8554831}"/>
            </a:ext>
          </a:extLst>
        </p:cNvPr>
        <p:cNvGrpSpPr/>
        <p:nvPr/>
      </p:nvGrpSpPr>
      <p:grpSpPr>
        <a:xfrm>
          <a:off x="0" y="0"/>
          <a:ext cx="0" cy="0"/>
          <a:chOff x="0" y="0"/>
          <a:chExt cx="0" cy="0"/>
        </a:xfrm>
      </p:grpSpPr>
      <p:sp>
        <p:nvSpPr>
          <p:cNvPr id="2" name="Freeform 13">
            <a:extLst>
              <a:ext uri="{FF2B5EF4-FFF2-40B4-BE49-F238E27FC236}">
                <a16:creationId xmlns:a16="http://schemas.microsoft.com/office/drawing/2014/main" id="{28C414B7-E485-84C1-07E0-F908FDBD362C}"/>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pic>
        <p:nvPicPr>
          <p:cNvPr id="7" name="Picture 6" descr="A diagram of different types of air pollution&#10;&#10;Description automatically generated">
            <a:extLst>
              <a:ext uri="{FF2B5EF4-FFF2-40B4-BE49-F238E27FC236}">
                <a16:creationId xmlns:a16="http://schemas.microsoft.com/office/drawing/2014/main" id="{4474FBDE-DAE1-F075-29A9-1B4A8696FD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8000" y="1452811"/>
            <a:ext cx="7280442" cy="4853627"/>
          </a:xfrm>
          <a:prstGeom prst="rect">
            <a:avLst/>
          </a:prstGeom>
        </p:spPr>
      </p:pic>
      <p:sp>
        <p:nvSpPr>
          <p:cNvPr id="3" name="TextBox 2">
            <a:extLst>
              <a:ext uri="{FF2B5EF4-FFF2-40B4-BE49-F238E27FC236}">
                <a16:creationId xmlns:a16="http://schemas.microsoft.com/office/drawing/2014/main" id="{3020856F-F7D4-EE60-9D6B-D9571935B944}"/>
              </a:ext>
            </a:extLst>
          </p:cNvPr>
          <p:cNvSpPr txBox="1"/>
          <p:nvPr/>
        </p:nvSpPr>
        <p:spPr>
          <a:xfrm>
            <a:off x="7991346" y="1787615"/>
            <a:ext cx="3977149" cy="4728089"/>
          </a:xfrm>
          <a:prstGeom prst="rect">
            <a:avLst/>
          </a:prstGeom>
          <a:noFill/>
        </p:spPr>
        <p:txBody>
          <a:bodyPr wrap="square" rtlCol="0">
            <a:spAutoFit/>
          </a:bodyPr>
          <a:lstStyle/>
          <a:p>
            <a:r>
              <a:rPr lang="en-GB" sz="1333" dirty="0">
                <a:latin typeface="Calibri" panose="020F0502020204030204" pitchFamily="34" charset="0"/>
                <a:cs typeface="Calibri" panose="020F0502020204030204" pitchFamily="34" charset="0"/>
              </a:rPr>
              <a:t>We know that air quality is important </a:t>
            </a:r>
          </a:p>
          <a:p>
            <a:endParaRPr lang="en-GB" sz="1333" dirty="0">
              <a:latin typeface="Calibri" panose="020F0502020204030204" pitchFamily="34" charset="0"/>
              <a:cs typeface="Calibri" panose="020F0502020204030204" pitchFamily="34" charset="0"/>
            </a:endParaRPr>
          </a:p>
          <a:p>
            <a:r>
              <a:rPr lang="en-GB" sz="1333" dirty="0">
                <a:latin typeface="Calibri" panose="020F0502020204030204" pitchFamily="34" charset="0"/>
                <a:cs typeface="Calibri" panose="020F0502020204030204" pitchFamily="34" charset="0"/>
              </a:rPr>
              <a:t>We know that climate change is important</a:t>
            </a:r>
          </a:p>
          <a:p>
            <a:endParaRPr lang="en-GB" sz="1333" dirty="0">
              <a:latin typeface="Calibri" panose="020F0502020204030204" pitchFamily="34" charset="0"/>
              <a:cs typeface="Calibri" panose="020F0502020204030204" pitchFamily="34" charset="0"/>
            </a:endParaRPr>
          </a:p>
          <a:p>
            <a:r>
              <a:rPr lang="en-GB" sz="1333" dirty="0">
                <a:latin typeface="Calibri" panose="020F0502020204030204" pitchFamily="34" charset="0"/>
                <a:cs typeface="Calibri" panose="020F0502020204030204" pitchFamily="34" charset="0"/>
              </a:rPr>
              <a:t>We know that these are largely talked about separately</a:t>
            </a:r>
          </a:p>
          <a:p>
            <a:endParaRPr lang="en-GB" sz="1333" dirty="0">
              <a:latin typeface="Calibri" panose="020F0502020204030204" pitchFamily="34" charset="0"/>
              <a:cs typeface="Calibri" panose="020F0502020204030204" pitchFamily="34" charset="0"/>
            </a:endParaRPr>
          </a:p>
          <a:p>
            <a:r>
              <a:rPr lang="en-GB" sz="1333" dirty="0">
                <a:latin typeface="Calibri" panose="020F0502020204030204" pitchFamily="34" charset="0"/>
                <a:cs typeface="Calibri" panose="020F0502020204030204" pitchFamily="34" charset="0"/>
              </a:rPr>
              <a:t>There are significant benefits from tackling poor air quality and climate change in parallel </a:t>
            </a:r>
          </a:p>
          <a:p>
            <a:endParaRPr lang="en-GB" sz="1333" dirty="0">
              <a:latin typeface="Calibri" panose="020F0502020204030204" pitchFamily="34" charset="0"/>
              <a:cs typeface="Calibri" panose="020F0502020204030204" pitchFamily="34" charset="0"/>
            </a:endParaRPr>
          </a:p>
          <a:p>
            <a:r>
              <a:rPr lang="en-GB" sz="1333" dirty="0">
                <a:latin typeface="Calibri" panose="020F0502020204030204" pitchFamily="34" charset="0"/>
                <a:cs typeface="Calibri" panose="020F0502020204030204" pitchFamily="34" charset="0"/>
              </a:rPr>
              <a:t>Like carbon dioxide (CO</a:t>
            </a:r>
            <a:r>
              <a:rPr lang="en-GB" sz="1333" baseline="-25000" dirty="0">
                <a:latin typeface="Calibri" panose="020F0502020204030204" pitchFamily="34" charset="0"/>
                <a:cs typeface="Calibri" panose="020F0502020204030204" pitchFamily="34" charset="0"/>
              </a:rPr>
              <a:t>2</a:t>
            </a:r>
            <a:r>
              <a:rPr lang="en-GB" sz="1333" dirty="0">
                <a:latin typeface="Calibri" panose="020F0502020204030204" pitchFamily="34" charset="0"/>
                <a:cs typeface="Calibri" panose="020F0502020204030204" pitchFamily="34" charset="0"/>
              </a:rPr>
              <a:t>) and methane, air pollutants come from burning fossil fuels, whether from driving cars, generating electricity, or operating industrial plants. </a:t>
            </a:r>
          </a:p>
          <a:p>
            <a:endParaRPr lang="en-GB" sz="1333" dirty="0">
              <a:latin typeface="Calibri" panose="020F0502020204030204" pitchFamily="34" charset="0"/>
              <a:cs typeface="Calibri" panose="020F0502020204030204" pitchFamily="34" charset="0"/>
            </a:endParaRPr>
          </a:p>
          <a:p>
            <a:r>
              <a:rPr lang="en-GB" sz="1333" dirty="0">
                <a:latin typeface="Calibri" panose="020F0502020204030204" pitchFamily="34" charset="0"/>
                <a:cs typeface="Calibri" panose="020F0502020204030204" pitchFamily="34" charset="0"/>
              </a:rPr>
              <a:t>The impacts of climate change exacerbate air pollution. For example, extreme heat increases the number of wildfires which, in turn, release more polluting gases and particulate matter into the atmosphere.</a:t>
            </a:r>
          </a:p>
          <a:p>
            <a:endParaRPr lang="en-GB" sz="1333" dirty="0">
              <a:latin typeface="Calibri" panose="020F0502020204030204" pitchFamily="34" charset="0"/>
              <a:cs typeface="Calibri" panose="020F0502020204030204" pitchFamily="34" charset="0"/>
            </a:endParaRPr>
          </a:p>
          <a:p>
            <a:r>
              <a:rPr lang="en-GB" sz="1333" dirty="0">
                <a:latin typeface="Calibri" panose="020F0502020204030204" pitchFamily="34" charset="0"/>
                <a:cs typeface="Calibri" panose="020F0502020204030204" pitchFamily="34" charset="0"/>
              </a:rPr>
              <a:t>Extreme heat can increase pollution levels and exacerbates the health effects of breathing polluted air. </a:t>
            </a:r>
            <a:endParaRPr lang="en-GB" sz="800" dirty="0"/>
          </a:p>
          <a:p>
            <a:r>
              <a:rPr lang="en-GB" sz="800" dirty="0"/>
              <a:t> </a:t>
            </a:r>
          </a:p>
        </p:txBody>
      </p:sp>
      <p:sp>
        <p:nvSpPr>
          <p:cNvPr id="4" name="TextBox 14">
            <a:extLst>
              <a:ext uri="{FF2B5EF4-FFF2-40B4-BE49-F238E27FC236}">
                <a16:creationId xmlns:a16="http://schemas.microsoft.com/office/drawing/2014/main" id="{CBA032A7-67C0-F10E-9AE2-B77E42258964}"/>
              </a:ext>
            </a:extLst>
          </p:cNvPr>
          <p:cNvSpPr txBox="1"/>
          <p:nvPr/>
        </p:nvSpPr>
        <p:spPr>
          <a:xfrm>
            <a:off x="544953" y="885605"/>
            <a:ext cx="10497991" cy="550792"/>
          </a:xfrm>
          <a:prstGeom prst="rect">
            <a:avLst/>
          </a:prstGeom>
        </p:spPr>
        <p:txBody>
          <a:bodyPr wrap="square" lIns="0" tIns="0" rIns="0" bIns="0" rtlCol="0" anchor="t">
            <a:spAutoFit/>
          </a:bodyPr>
          <a:lstStyle/>
          <a:p>
            <a:pPr defTabSz="609660">
              <a:lnSpc>
                <a:spcPts val="4574"/>
              </a:lnSpc>
              <a:defRPr/>
            </a:pPr>
            <a:r>
              <a:rPr lang="en-US" sz="3200" b="1" i="1" spc="-275" dirty="0">
                <a:solidFill>
                  <a:srgbClr val="46245A"/>
                </a:solidFill>
                <a:latin typeface="DM Sans Bold"/>
                <a:ea typeface="MS PGothic" panose="020B0600070205080204" pitchFamily="34" charset="-128"/>
              </a:rPr>
              <a:t>Climate Change Vs Air Quality  </a:t>
            </a:r>
          </a:p>
        </p:txBody>
      </p:sp>
    </p:spTree>
    <p:extLst>
      <p:ext uri="{BB962C8B-B14F-4D97-AF65-F5344CB8AC3E}">
        <p14:creationId xmlns:p14="http://schemas.microsoft.com/office/powerpoint/2010/main" val="114050179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0" end="1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2" end="1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93CE2-191B-CF17-DBCC-B40B5BC806CD}"/>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1F2A7427-2BC8-A348-9560-329FBA186A28}"/>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2"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pic>
        <p:nvPicPr>
          <p:cNvPr id="4" name="Picture 3">
            <a:extLst>
              <a:ext uri="{FF2B5EF4-FFF2-40B4-BE49-F238E27FC236}">
                <a16:creationId xmlns:a16="http://schemas.microsoft.com/office/drawing/2014/main" id="{FDE1E93D-55DA-0A65-6BFB-F6C46CE0E2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3314" y="495279"/>
            <a:ext cx="5073915" cy="5980565"/>
          </a:xfrm>
          <a:prstGeom prst="rect">
            <a:avLst/>
          </a:prstGeom>
        </p:spPr>
      </p:pic>
    </p:spTree>
    <p:extLst>
      <p:ext uri="{BB962C8B-B14F-4D97-AF65-F5344CB8AC3E}">
        <p14:creationId xmlns:p14="http://schemas.microsoft.com/office/powerpoint/2010/main" val="7443250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336A2-2521-3775-FAAF-7121E7B67EC4}"/>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A90C693C-4E8D-8603-7999-4D25119F4972}"/>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30" eaLnBrk="1" fontAlgn="auto" hangingPunct="1">
              <a:spcBef>
                <a:spcPts val="0"/>
              </a:spcBef>
              <a:spcAft>
                <a:spcPts val="0"/>
              </a:spcAft>
              <a:defRPr/>
            </a:pPr>
            <a:endParaRPr lang="en-GB" sz="1200">
              <a:solidFill>
                <a:prstClr val="black"/>
              </a:solidFill>
              <a:latin typeface="DM Sans" pitchFamily="2" charset="0"/>
              <a:ea typeface="+mn-ea"/>
            </a:endParaRPr>
          </a:p>
        </p:txBody>
      </p:sp>
      <p:sp>
        <p:nvSpPr>
          <p:cNvPr id="5" name="TextBox 14">
            <a:extLst>
              <a:ext uri="{FF2B5EF4-FFF2-40B4-BE49-F238E27FC236}">
                <a16:creationId xmlns:a16="http://schemas.microsoft.com/office/drawing/2014/main" id="{D6ECCCEF-F89E-6449-A4FA-2EC97A65B64D}"/>
              </a:ext>
            </a:extLst>
          </p:cNvPr>
          <p:cNvSpPr txBox="1"/>
          <p:nvPr/>
        </p:nvSpPr>
        <p:spPr>
          <a:xfrm>
            <a:off x="778085" y="959984"/>
            <a:ext cx="7336552" cy="589905"/>
          </a:xfrm>
          <a:prstGeom prst="rect">
            <a:avLst/>
          </a:prstGeom>
        </p:spPr>
        <p:txBody>
          <a:bodyPr wrap="square" lIns="0" tIns="0" rIns="0" bIns="0" rtlCol="0" anchor="t">
            <a:spAutoFit/>
          </a:bodyPr>
          <a:lstStyle/>
          <a:p>
            <a:pPr defTabSz="609630" eaLnBrk="1" fontAlgn="auto" hangingPunct="1">
              <a:lnSpc>
                <a:spcPts val="4573"/>
              </a:lnSpc>
              <a:spcBef>
                <a:spcPts val="0"/>
              </a:spcBef>
              <a:spcAft>
                <a:spcPts val="0"/>
              </a:spcAft>
              <a:defRPr/>
            </a:pPr>
            <a:r>
              <a:rPr lang="en-GB" sz="4000" i="1" spc="-275" dirty="0">
                <a:solidFill>
                  <a:srgbClr val="46245A"/>
                </a:solidFill>
                <a:latin typeface="DM Sans Bold"/>
                <a:ea typeface="+mn-ea"/>
              </a:rPr>
              <a:t>Last Year’s Paper</a:t>
            </a:r>
            <a:endParaRPr lang="en-US" sz="4000" i="1" spc="-275" dirty="0">
              <a:solidFill>
                <a:srgbClr val="46245A"/>
              </a:solidFill>
              <a:latin typeface="DM Sans Bold"/>
              <a:ea typeface="+mn-ea"/>
            </a:endParaRPr>
          </a:p>
        </p:txBody>
      </p:sp>
      <p:pic>
        <p:nvPicPr>
          <p:cNvPr id="4" name="Picture 3">
            <a:extLst>
              <a:ext uri="{FF2B5EF4-FFF2-40B4-BE49-F238E27FC236}">
                <a16:creationId xmlns:a16="http://schemas.microsoft.com/office/drawing/2014/main" id="{E6DF014D-FE94-B2A5-556B-16BDD1E9115D}"/>
              </a:ext>
            </a:extLst>
          </p:cNvPr>
          <p:cNvPicPr>
            <a:picLocks noChangeAspect="1"/>
          </p:cNvPicPr>
          <p:nvPr/>
        </p:nvPicPr>
        <p:blipFill>
          <a:blip r:embed="rId4"/>
          <a:stretch>
            <a:fillRect/>
          </a:stretch>
        </p:blipFill>
        <p:spPr>
          <a:xfrm>
            <a:off x="659435" y="2395134"/>
            <a:ext cx="10873129" cy="2089159"/>
          </a:xfrm>
          <a:prstGeom prst="rect">
            <a:avLst/>
          </a:prstGeom>
        </p:spPr>
      </p:pic>
    </p:spTree>
    <p:extLst>
      <p:ext uri="{BB962C8B-B14F-4D97-AF65-F5344CB8AC3E}">
        <p14:creationId xmlns:p14="http://schemas.microsoft.com/office/powerpoint/2010/main" val="18692343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C746C-1CC2-3BBC-6762-758EDDF68F08}"/>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45D78C39-6C11-FC49-14A7-60CB38F7D420}"/>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30" eaLnBrk="1" fontAlgn="auto" hangingPunct="1">
              <a:spcBef>
                <a:spcPts val="0"/>
              </a:spcBef>
              <a:spcAft>
                <a:spcPts val="0"/>
              </a:spcAft>
              <a:defRPr/>
            </a:pPr>
            <a:endParaRPr lang="en-GB" sz="1200">
              <a:solidFill>
                <a:prstClr val="black"/>
              </a:solidFill>
              <a:latin typeface="DM Sans" pitchFamily="2" charset="0"/>
              <a:ea typeface="+mn-ea"/>
            </a:endParaRPr>
          </a:p>
        </p:txBody>
      </p:sp>
      <p:sp>
        <p:nvSpPr>
          <p:cNvPr id="5" name="TextBox 14">
            <a:extLst>
              <a:ext uri="{FF2B5EF4-FFF2-40B4-BE49-F238E27FC236}">
                <a16:creationId xmlns:a16="http://schemas.microsoft.com/office/drawing/2014/main" id="{3E45D3AB-7469-4F23-9446-C781B82F55AC}"/>
              </a:ext>
            </a:extLst>
          </p:cNvPr>
          <p:cNvSpPr txBox="1"/>
          <p:nvPr/>
        </p:nvSpPr>
        <p:spPr>
          <a:xfrm>
            <a:off x="757989" y="1565399"/>
            <a:ext cx="8838188" cy="589905"/>
          </a:xfrm>
          <a:prstGeom prst="rect">
            <a:avLst/>
          </a:prstGeom>
        </p:spPr>
        <p:txBody>
          <a:bodyPr wrap="square" lIns="0" tIns="0" rIns="0" bIns="0" rtlCol="0" anchor="t">
            <a:spAutoFit/>
          </a:bodyPr>
          <a:lstStyle/>
          <a:p>
            <a:pPr defTabSz="609630" eaLnBrk="1" fontAlgn="auto" hangingPunct="1">
              <a:lnSpc>
                <a:spcPts val="4573"/>
              </a:lnSpc>
              <a:spcBef>
                <a:spcPts val="0"/>
              </a:spcBef>
              <a:spcAft>
                <a:spcPts val="0"/>
              </a:spcAft>
              <a:defRPr/>
            </a:pPr>
            <a:r>
              <a:rPr lang="en-GB" sz="4000" i="1" spc="-275" dirty="0">
                <a:solidFill>
                  <a:srgbClr val="46245A"/>
                </a:solidFill>
                <a:latin typeface="DM Sans Bold"/>
                <a:ea typeface="+mn-ea"/>
              </a:rPr>
              <a:t>Submitted Questions - Scientific </a:t>
            </a:r>
            <a:r>
              <a:rPr lang="en-GB" sz="4000" i="1" spc="-275" dirty="0">
                <a:solidFill>
                  <a:srgbClr val="46245A"/>
                </a:solidFill>
                <a:latin typeface="DM Sans Bold"/>
              </a:rPr>
              <a:t>grouped</a:t>
            </a:r>
            <a:r>
              <a:rPr lang="en-GB" sz="4000" i="1" spc="-275" dirty="0">
                <a:solidFill>
                  <a:srgbClr val="46245A"/>
                </a:solidFill>
                <a:latin typeface="DM Sans Bold"/>
                <a:ea typeface="+mn-ea"/>
              </a:rPr>
              <a:t> </a:t>
            </a:r>
            <a:endParaRPr lang="en-US" sz="4000" i="1" spc="-275" dirty="0">
              <a:solidFill>
                <a:srgbClr val="46245A"/>
              </a:solidFill>
              <a:latin typeface="DM Sans Bold"/>
              <a:ea typeface="+mn-ea"/>
            </a:endParaRPr>
          </a:p>
        </p:txBody>
      </p:sp>
      <p:sp>
        <p:nvSpPr>
          <p:cNvPr id="4" name="TextBox 3">
            <a:extLst>
              <a:ext uri="{FF2B5EF4-FFF2-40B4-BE49-F238E27FC236}">
                <a16:creationId xmlns:a16="http://schemas.microsoft.com/office/drawing/2014/main" id="{95725AB2-A33E-5A7F-ADBC-F18BC6AD70BD}"/>
              </a:ext>
            </a:extLst>
          </p:cNvPr>
          <p:cNvSpPr txBox="1"/>
          <p:nvPr/>
        </p:nvSpPr>
        <p:spPr>
          <a:xfrm>
            <a:off x="678264" y="2553510"/>
            <a:ext cx="6099348" cy="2585323"/>
          </a:xfrm>
          <a:prstGeom prst="rect">
            <a:avLst/>
          </a:prstGeom>
          <a:noFill/>
        </p:spPr>
        <p:txBody>
          <a:bodyPr wrap="square">
            <a:spAutoFit/>
          </a:bodyPr>
          <a:lstStyle/>
          <a:p>
            <a:pPr marL="342900" indent="-342900">
              <a:buFont typeface="+mj-lt"/>
              <a:buAutoNum type="arabicPeriod"/>
            </a:pPr>
            <a:r>
              <a:rPr lang="en-GB" sz="1800" b="1" kern="0" dirty="0">
                <a:solidFill>
                  <a:srgbClr val="1C2029"/>
                </a:solidFill>
                <a:effectLst/>
                <a:latin typeface="Aptos" panose="020B0004020202020204" pitchFamily="34" charset="0"/>
                <a:ea typeface="Times New Roman" panose="02020603050405020304" pitchFamily="18" charset="0"/>
                <a:cs typeface="Times New Roman" panose="02020603050405020304" pitchFamily="18" charset="0"/>
              </a:rPr>
              <a:t>Radiative Balance</a:t>
            </a:r>
          </a:p>
          <a:p>
            <a:pPr marL="342900" indent="-342900">
              <a:buFont typeface="+mj-lt"/>
              <a:buAutoNum type="arabicPeriod"/>
            </a:pPr>
            <a:endParaRPr lang="en-GB" b="1" kern="0" dirty="0">
              <a:solidFill>
                <a:srgbClr val="1C2029"/>
              </a:solidFill>
              <a:latin typeface="Aptos" panose="020B0004020202020204" pitchFamily="34" charset="0"/>
              <a:ea typeface="Aptos" panose="020B0004020202020204" pitchFamily="34" charset="0"/>
              <a:cs typeface="Times New Roman" panose="02020603050405020304" pitchFamily="18" charset="0"/>
            </a:endParaRPr>
          </a:p>
          <a:p>
            <a:pPr marL="342900" indent="-342900">
              <a:buFont typeface="+mj-lt"/>
              <a:buAutoNum type="arabicPeriod"/>
            </a:pPr>
            <a:r>
              <a:rPr lang="en-GB" b="1" dirty="0"/>
              <a:t>Natural Variability </a:t>
            </a:r>
            <a:endParaRPr lang="en-GB" dirty="0"/>
          </a:p>
          <a:p>
            <a:pPr marL="342900" indent="-342900">
              <a:buFont typeface="+mj-lt"/>
              <a:buAutoNum type="arabicPeriod"/>
            </a:pP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indent="-342900">
              <a:buFont typeface="+mj-lt"/>
              <a:buAutoNum type="arabicPeriod"/>
            </a:pPr>
            <a:r>
              <a:rPr lang="en-GB" b="1" dirty="0"/>
              <a:t>GCMs</a:t>
            </a:r>
            <a:endParaRPr lang="en-GB" dirty="0"/>
          </a:p>
          <a:p>
            <a:pPr marL="342900" indent="-342900">
              <a:buFont typeface="+mj-lt"/>
              <a:buAutoNum type="arabicPeriod"/>
            </a:pP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indent="-342900">
              <a:buFont typeface="+mj-lt"/>
              <a:buAutoNum type="arabicPeriod"/>
            </a:pPr>
            <a:r>
              <a:rPr lang="en-GB" b="1" dirty="0"/>
              <a:t>Adaptation and Mitigations </a:t>
            </a:r>
            <a:endParaRPr lang="en-GB" dirty="0"/>
          </a:p>
          <a:p>
            <a:pPr marL="342900" indent="-342900">
              <a:buFont typeface="+mj-lt"/>
              <a:buAutoNum type="arabicPeriod"/>
            </a:pP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indent="-342900">
              <a:buFont typeface="+mj-lt"/>
              <a:buAutoNum type="arabicPeriod"/>
            </a:pPr>
            <a:r>
              <a:rPr lang="en-GB" b="1" dirty="0"/>
              <a:t>Specific Questions </a:t>
            </a:r>
            <a:endParaRPr lang="en-GB" dirty="0"/>
          </a:p>
        </p:txBody>
      </p:sp>
    </p:spTree>
    <p:extLst>
      <p:ext uri="{BB962C8B-B14F-4D97-AF65-F5344CB8AC3E}">
        <p14:creationId xmlns:p14="http://schemas.microsoft.com/office/powerpoint/2010/main" val="5000628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50FD4-6C37-86C5-EDA6-B0F8F42EC6F9}"/>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4A1B5D04-A8DB-DB95-645E-40C93C3C6ABA}"/>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30" eaLnBrk="1" fontAlgn="auto" hangingPunct="1">
              <a:spcBef>
                <a:spcPts val="0"/>
              </a:spcBef>
              <a:spcAft>
                <a:spcPts val="0"/>
              </a:spcAft>
              <a:defRPr/>
            </a:pPr>
            <a:endParaRPr lang="en-GB" sz="1200">
              <a:solidFill>
                <a:prstClr val="black"/>
              </a:solidFill>
              <a:latin typeface="DM Sans" pitchFamily="2" charset="0"/>
              <a:ea typeface="+mn-ea"/>
            </a:endParaRPr>
          </a:p>
        </p:txBody>
      </p:sp>
      <p:sp>
        <p:nvSpPr>
          <p:cNvPr id="5" name="TextBox 14">
            <a:extLst>
              <a:ext uri="{FF2B5EF4-FFF2-40B4-BE49-F238E27FC236}">
                <a16:creationId xmlns:a16="http://schemas.microsoft.com/office/drawing/2014/main" id="{67D92C2E-F75E-2F0B-79B2-0BFBC048B17E}"/>
              </a:ext>
            </a:extLst>
          </p:cNvPr>
          <p:cNvSpPr txBox="1"/>
          <p:nvPr/>
        </p:nvSpPr>
        <p:spPr>
          <a:xfrm>
            <a:off x="778085" y="959984"/>
            <a:ext cx="7336552" cy="589905"/>
          </a:xfrm>
          <a:prstGeom prst="rect">
            <a:avLst/>
          </a:prstGeom>
        </p:spPr>
        <p:txBody>
          <a:bodyPr wrap="square" lIns="0" tIns="0" rIns="0" bIns="0" rtlCol="0" anchor="t">
            <a:spAutoFit/>
          </a:bodyPr>
          <a:lstStyle/>
          <a:p>
            <a:pPr defTabSz="609630" eaLnBrk="1" fontAlgn="auto" hangingPunct="1">
              <a:lnSpc>
                <a:spcPts val="4573"/>
              </a:lnSpc>
              <a:spcBef>
                <a:spcPts val="0"/>
              </a:spcBef>
              <a:spcAft>
                <a:spcPts val="0"/>
              </a:spcAft>
              <a:defRPr/>
            </a:pPr>
            <a:r>
              <a:rPr lang="en-GB" sz="4000" i="1" spc="-275" dirty="0">
                <a:solidFill>
                  <a:srgbClr val="46245A"/>
                </a:solidFill>
                <a:latin typeface="DM Sans Bold"/>
                <a:ea typeface="+mn-ea"/>
              </a:rPr>
              <a:t>Submitted Questions (practical</a:t>
            </a:r>
            <a:r>
              <a:rPr lang="en-GB" sz="4000" i="1" spc="-275" dirty="0">
                <a:solidFill>
                  <a:srgbClr val="46245A"/>
                </a:solidFill>
                <a:latin typeface="DM Sans Bold"/>
              </a:rPr>
              <a:t>) </a:t>
            </a:r>
            <a:r>
              <a:rPr lang="en-GB" sz="4000" i="1" spc="-275" dirty="0">
                <a:solidFill>
                  <a:srgbClr val="46245A"/>
                </a:solidFill>
                <a:latin typeface="DM Sans Bold"/>
                <a:ea typeface="+mn-ea"/>
              </a:rPr>
              <a:t> </a:t>
            </a:r>
            <a:endParaRPr lang="en-US" sz="4000" i="1" spc="-275" dirty="0">
              <a:solidFill>
                <a:srgbClr val="46245A"/>
              </a:solidFill>
              <a:latin typeface="DM Sans Bold"/>
              <a:ea typeface="+mn-ea"/>
            </a:endParaRPr>
          </a:p>
        </p:txBody>
      </p:sp>
      <p:sp>
        <p:nvSpPr>
          <p:cNvPr id="6" name="TextBox 5">
            <a:extLst>
              <a:ext uri="{FF2B5EF4-FFF2-40B4-BE49-F238E27FC236}">
                <a16:creationId xmlns:a16="http://schemas.microsoft.com/office/drawing/2014/main" id="{6D5EBCC1-2FCA-B4FB-04BB-AABB2EE0BD22}"/>
              </a:ext>
            </a:extLst>
          </p:cNvPr>
          <p:cNvSpPr txBox="1"/>
          <p:nvPr/>
        </p:nvSpPr>
        <p:spPr>
          <a:xfrm>
            <a:off x="778085" y="1941774"/>
            <a:ext cx="10255005" cy="4247317"/>
          </a:xfrm>
          <a:prstGeom prst="rect">
            <a:avLst/>
          </a:prstGeom>
          <a:noFill/>
        </p:spPr>
        <p:txBody>
          <a:bodyPr wrap="square">
            <a:spAutoFit/>
          </a:bodyPr>
          <a:lstStyle/>
          <a:p>
            <a:pPr>
              <a:buNone/>
            </a:pPr>
            <a:r>
              <a:rPr lang="en-GB" kern="100" dirty="0">
                <a:latin typeface="Calibri" panose="020F0502020204030204" pitchFamily="34" charset="0"/>
                <a:ea typeface="Aptos" panose="020B0004020202020204" pitchFamily="34" charset="0"/>
                <a:cs typeface="Calibri" panose="020F0502020204030204" pitchFamily="34" charset="0"/>
              </a:rPr>
              <a:t>H</a:t>
            </a:r>
            <a:r>
              <a:rPr lang="en-GB" sz="1800" kern="100" dirty="0">
                <a:effectLst/>
                <a:latin typeface="Calibri" panose="020F0502020204030204" pitchFamily="34" charset="0"/>
                <a:ea typeface="Aptos" panose="020B0004020202020204" pitchFamily="34" charset="0"/>
                <a:cs typeface="Calibri" panose="020F0502020204030204" pitchFamily="34" charset="0"/>
              </a:rPr>
              <a:t>ow you expect long answer questions to be structured/ how marks are distributed on these kinds of questions</a:t>
            </a:r>
          </a:p>
          <a:p>
            <a:pPr>
              <a:buNone/>
            </a:pPr>
            <a:r>
              <a:rPr lang="en-GB" sz="1800" kern="100" dirty="0">
                <a:effectLst/>
                <a:latin typeface="Calibri" panose="020F0502020204030204" pitchFamily="34" charset="0"/>
                <a:ea typeface="Aptos" panose="020B0004020202020204" pitchFamily="34" charset="0"/>
                <a:cs typeface="Calibri" panose="020F0502020204030204" pitchFamily="34" charset="0"/>
              </a:rPr>
              <a:t> </a:t>
            </a:r>
          </a:p>
          <a:p>
            <a:pPr>
              <a:buNone/>
            </a:pPr>
            <a:r>
              <a:rPr lang="en-GB" sz="1800" kern="100" dirty="0">
                <a:effectLst/>
                <a:latin typeface="Calibri" panose="020F0502020204030204" pitchFamily="34" charset="0"/>
                <a:ea typeface="Aptos" panose="020B0004020202020204" pitchFamily="34" charset="0"/>
                <a:cs typeface="Calibri" panose="020F0502020204030204" pitchFamily="34" charset="0"/>
              </a:rPr>
              <a:t>An example of a long form exam question and how you would expect it answered would be good</a:t>
            </a:r>
          </a:p>
          <a:p>
            <a:pPr>
              <a:buNone/>
            </a:pPr>
            <a:r>
              <a:rPr lang="en-GB" sz="1800" kern="100" dirty="0">
                <a:effectLst/>
                <a:latin typeface="Calibri" panose="020F0502020204030204" pitchFamily="34" charset="0"/>
                <a:ea typeface="Aptos" panose="020B0004020202020204" pitchFamily="34" charset="0"/>
                <a:cs typeface="Calibri" panose="020F0502020204030204" pitchFamily="34" charset="0"/>
              </a:rPr>
              <a:t> </a:t>
            </a:r>
          </a:p>
          <a:p>
            <a:pPr>
              <a:buNone/>
            </a:pPr>
            <a:r>
              <a:rPr lang="en-GB" sz="1800" kern="0" dirty="0">
                <a:solidFill>
                  <a:srgbClr val="1C2029"/>
                </a:solidFill>
                <a:effectLst/>
                <a:latin typeface="Calibri" panose="020F0502020204030204" pitchFamily="34" charset="0"/>
                <a:ea typeface="Times New Roman" panose="02020603050405020304" pitchFamily="18" charset="0"/>
                <a:cs typeface="Calibri" panose="020F0502020204030204" pitchFamily="34" charset="0"/>
              </a:rPr>
              <a:t>Do we need to memorise statistics?</a:t>
            </a:r>
            <a:endParaRPr lang="en-GB" sz="1800" kern="100" dirty="0">
              <a:effectLst/>
              <a:latin typeface="Calibri" panose="020F0502020204030204" pitchFamily="34" charset="0"/>
              <a:ea typeface="Aptos" panose="020B0004020202020204" pitchFamily="34" charset="0"/>
              <a:cs typeface="Calibri" panose="020F0502020204030204" pitchFamily="34" charset="0"/>
            </a:endParaRPr>
          </a:p>
          <a:p>
            <a:pPr>
              <a:buNone/>
            </a:pPr>
            <a:r>
              <a:rPr lang="en-GB" sz="1800" kern="0" dirty="0">
                <a:solidFill>
                  <a:srgbClr val="1C2029"/>
                </a:solidFill>
                <a:effectLst/>
                <a:latin typeface="Calibri" panose="020F0502020204030204" pitchFamily="34" charset="0"/>
                <a:ea typeface="Times New Roman" panose="02020603050405020304" pitchFamily="18" charset="0"/>
                <a:cs typeface="Calibri" panose="020F0502020204030204" pitchFamily="34" charset="0"/>
              </a:rPr>
              <a:t> </a:t>
            </a:r>
            <a:endParaRPr lang="en-GB" sz="1800" kern="100" dirty="0">
              <a:effectLst/>
              <a:latin typeface="Calibri" panose="020F0502020204030204" pitchFamily="34" charset="0"/>
              <a:ea typeface="Aptos" panose="020B0004020202020204" pitchFamily="34" charset="0"/>
              <a:cs typeface="Calibri" panose="020F0502020204030204" pitchFamily="34" charset="0"/>
            </a:endParaRPr>
          </a:p>
          <a:p>
            <a:pPr>
              <a:buNone/>
            </a:pPr>
            <a:r>
              <a:rPr lang="en-GB" sz="1800" kern="100" dirty="0">
                <a:effectLst/>
                <a:latin typeface="Calibri" panose="020F0502020204030204" pitchFamily="34" charset="0"/>
                <a:ea typeface="Aptos" panose="020B0004020202020204" pitchFamily="34" charset="0"/>
                <a:cs typeface="Calibri" panose="020F0502020204030204" pitchFamily="34" charset="0"/>
              </a:rPr>
              <a:t>Could we go through good exam answer structure and also how to appropriately reference IPCC data</a:t>
            </a:r>
          </a:p>
          <a:p>
            <a:pPr>
              <a:buNone/>
            </a:pPr>
            <a:r>
              <a:rPr lang="en-GB" sz="1800" kern="0" dirty="0">
                <a:solidFill>
                  <a:srgbClr val="1C2029"/>
                </a:solidFill>
                <a:effectLst/>
                <a:latin typeface="Calibri" panose="020F0502020204030204" pitchFamily="34" charset="0"/>
                <a:ea typeface="Times New Roman" panose="02020603050405020304" pitchFamily="18" charset="0"/>
                <a:cs typeface="Calibri" panose="020F0502020204030204" pitchFamily="34" charset="0"/>
              </a:rPr>
              <a:t> </a:t>
            </a:r>
            <a:endParaRPr lang="en-GB" sz="1800" kern="100" dirty="0">
              <a:effectLst/>
              <a:latin typeface="Calibri" panose="020F0502020204030204" pitchFamily="34" charset="0"/>
              <a:ea typeface="Aptos" panose="020B0004020202020204" pitchFamily="34" charset="0"/>
              <a:cs typeface="Calibri" panose="020F0502020204030204" pitchFamily="34" charset="0"/>
            </a:endParaRPr>
          </a:p>
          <a:p>
            <a:pPr>
              <a:buNone/>
            </a:pPr>
            <a:r>
              <a:rPr lang="en-GB" sz="1800" kern="100" dirty="0">
                <a:effectLst/>
                <a:latin typeface="Calibri" panose="020F0502020204030204" pitchFamily="34" charset="0"/>
                <a:ea typeface="Aptos" panose="020B0004020202020204" pitchFamily="34" charset="0"/>
                <a:cs typeface="Calibri" panose="020F0502020204030204" pitchFamily="34" charset="0"/>
              </a:rPr>
              <a:t>Are we expected to memorise statistics to provide evidence in our answers in the exam?</a:t>
            </a:r>
          </a:p>
          <a:p>
            <a:pPr>
              <a:buNone/>
            </a:pPr>
            <a:r>
              <a:rPr lang="en-GB" sz="1800" kern="100" dirty="0">
                <a:effectLst/>
                <a:latin typeface="Calibri" panose="020F0502020204030204" pitchFamily="34" charset="0"/>
                <a:ea typeface="Aptos" panose="020B0004020202020204" pitchFamily="34" charset="0"/>
                <a:cs typeface="Calibri" panose="020F0502020204030204" pitchFamily="34" charset="0"/>
              </a:rPr>
              <a:t> </a:t>
            </a:r>
          </a:p>
          <a:p>
            <a:pPr>
              <a:buNone/>
            </a:pPr>
            <a:r>
              <a:rPr lang="en-GB" sz="1800" kern="100" dirty="0">
                <a:effectLst/>
                <a:latin typeface="Calibri" panose="020F0502020204030204" pitchFamily="34" charset="0"/>
                <a:ea typeface="Aptos" panose="020B0004020202020204" pitchFamily="34" charset="0"/>
                <a:cs typeface="Calibri" panose="020F0502020204030204" pitchFamily="34" charset="0"/>
              </a:rPr>
              <a:t>Example long answer questions, specifically how to structure answers and what details to include.</a:t>
            </a:r>
          </a:p>
          <a:p>
            <a:pPr>
              <a:buNone/>
            </a:pPr>
            <a:r>
              <a:rPr lang="en-GB" sz="1800" kern="100" dirty="0">
                <a:effectLst/>
                <a:latin typeface="Calibri" panose="020F0502020204030204" pitchFamily="34" charset="0"/>
                <a:ea typeface="Aptos" panose="020B0004020202020204" pitchFamily="34" charset="0"/>
                <a:cs typeface="Calibri" panose="020F0502020204030204" pitchFamily="34" charset="0"/>
              </a:rPr>
              <a:t> </a:t>
            </a:r>
          </a:p>
          <a:p>
            <a:pPr>
              <a:buNone/>
            </a:pPr>
            <a:r>
              <a:rPr lang="en-GB" sz="1800" kern="0" dirty="0">
                <a:solidFill>
                  <a:srgbClr val="1C2029"/>
                </a:solidFill>
                <a:effectLst/>
                <a:latin typeface="Calibri" panose="020F0502020204030204" pitchFamily="34" charset="0"/>
                <a:ea typeface="Times New Roman" panose="02020603050405020304" pitchFamily="18" charset="0"/>
                <a:cs typeface="Calibri" panose="020F0502020204030204" pitchFamily="34" charset="0"/>
              </a:rPr>
              <a:t>Could you maybe go over some approaches for long answer questions &amp; what you expect to see/how much writing you expect for a sufficient answer?</a:t>
            </a:r>
            <a:endParaRPr lang="en-GB" sz="1800" kern="100" dirty="0">
              <a:effectLst/>
              <a:latin typeface="Calibri" panose="020F0502020204030204" pitchFamily="34" charset="0"/>
              <a:ea typeface="Aptos" panose="020B0004020202020204" pitchFamily="34" charset="0"/>
              <a:cs typeface="Calibri" panose="020F0502020204030204" pitchFamily="34" charset="0"/>
            </a:endParaRPr>
          </a:p>
        </p:txBody>
      </p:sp>
    </p:spTree>
    <p:extLst>
      <p:ext uri="{BB962C8B-B14F-4D97-AF65-F5344CB8AC3E}">
        <p14:creationId xmlns:p14="http://schemas.microsoft.com/office/powerpoint/2010/main" val="37301272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92CB8-F315-2F50-CF2A-2DF5986675A8}"/>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4CD9A96E-2AB2-2D64-5FCF-E39EDF88CA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6620" y="103323"/>
            <a:ext cx="5329650" cy="6343848"/>
          </a:xfrm>
          <a:prstGeom prst="rect">
            <a:avLst/>
          </a:prstGeom>
        </p:spPr>
      </p:pic>
      <p:pic>
        <p:nvPicPr>
          <p:cNvPr id="8" name="Picture 7">
            <a:extLst>
              <a:ext uri="{FF2B5EF4-FFF2-40B4-BE49-F238E27FC236}">
                <a16:creationId xmlns:a16="http://schemas.microsoft.com/office/drawing/2014/main" id="{3E05F743-6ECB-7A96-92A7-E8EB6AA4BFC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86270" y="103323"/>
            <a:ext cx="6227987" cy="1770252"/>
          </a:xfrm>
          <a:prstGeom prst="rect">
            <a:avLst/>
          </a:prstGeom>
        </p:spPr>
      </p:pic>
      <p:pic>
        <p:nvPicPr>
          <p:cNvPr id="4" name="Picture 3">
            <a:extLst>
              <a:ext uri="{FF2B5EF4-FFF2-40B4-BE49-F238E27FC236}">
                <a16:creationId xmlns:a16="http://schemas.microsoft.com/office/drawing/2014/main" id="{55A3A63E-AC0A-036D-B98D-9B6FD07CCDA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16158" y="1670848"/>
            <a:ext cx="6098099" cy="4749819"/>
          </a:xfrm>
          <a:prstGeom prst="rect">
            <a:avLst/>
          </a:prstGeom>
        </p:spPr>
      </p:pic>
      <p:sp>
        <p:nvSpPr>
          <p:cNvPr id="5" name="TextBox 4">
            <a:extLst>
              <a:ext uri="{FF2B5EF4-FFF2-40B4-BE49-F238E27FC236}">
                <a16:creationId xmlns:a16="http://schemas.microsoft.com/office/drawing/2014/main" id="{5CE2D58F-C650-0035-6AEF-7D122913F3DE}"/>
              </a:ext>
            </a:extLst>
          </p:cNvPr>
          <p:cNvSpPr txBox="1"/>
          <p:nvPr/>
        </p:nvSpPr>
        <p:spPr>
          <a:xfrm>
            <a:off x="602314" y="4253948"/>
            <a:ext cx="4638261" cy="276999"/>
          </a:xfrm>
          <a:prstGeom prst="rect">
            <a:avLst/>
          </a:prstGeom>
          <a:noFill/>
        </p:spPr>
        <p:style>
          <a:lnRef idx="2">
            <a:schemeClr val="accent2"/>
          </a:lnRef>
          <a:fillRef idx="1">
            <a:schemeClr val="lt1"/>
          </a:fillRef>
          <a:effectRef idx="0">
            <a:schemeClr val="accent2"/>
          </a:effectRef>
          <a:fontRef idx="minor">
            <a:schemeClr val="dk1"/>
          </a:fontRef>
        </p:style>
        <p:txBody>
          <a:bodyPr wrap="square" rtlCol="0">
            <a:spAutoFit/>
          </a:bodyPr>
          <a:lstStyle/>
          <a:p>
            <a:endParaRPr lang="en-US" sz="1200" dirty="0"/>
          </a:p>
        </p:txBody>
      </p:sp>
      <p:cxnSp>
        <p:nvCxnSpPr>
          <p:cNvPr id="9" name="Straight Arrow Connector 8">
            <a:extLst>
              <a:ext uri="{FF2B5EF4-FFF2-40B4-BE49-F238E27FC236}">
                <a16:creationId xmlns:a16="http://schemas.microsoft.com/office/drawing/2014/main" id="{718B09F4-2409-492F-8A80-07FEA922B2DE}"/>
              </a:ext>
            </a:extLst>
          </p:cNvPr>
          <p:cNvCxnSpPr>
            <a:stCxn id="5" idx="2"/>
          </p:cNvCxnSpPr>
          <p:nvPr/>
        </p:nvCxnSpPr>
        <p:spPr>
          <a:xfrm flipH="1">
            <a:off x="2637183" y="4530947"/>
            <a:ext cx="284262" cy="610896"/>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0" name="TextBox 9">
            <a:extLst>
              <a:ext uri="{FF2B5EF4-FFF2-40B4-BE49-F238E27FC236}">
                <a16:creationId xmlns:a16="http://schemas.microsoft.com/office/drawing/2014/main" id="{C00F1713-A58D-0C3E-35A3-E6ADFE6F0717}"/>
              </a:ext>
            </a:extLst>
          </p:cNvPr>
          <p:cNvSpPr txBox="1"/>
          <p:nvPr/>
        </p:nvSpPr>
        <p:spPr>
          <a:xfrm>
            <a:off x="1630017" y="5187169"/>
            <a:ext cx="1291427" cy="338554"/>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600" dirty="0">
                <a:latin typeface="Calibri" panose="020F0502020204030204" pitchFamily="34" charset="0"/>
                <a:cs typeface="Calibri" panose="020F0502020204030204" pitchFamily="34" charset="0"/>
              </a:rPr>
              <a:t>Not needed!</a:t>
            </a:r>
          </a:p>
        </p:txBody>
      </p:sp>
    </p:spTree>
    <p:extLst>
      <p:ext uri="{BB962C8B-B14F-4D97-AF65-F5344CB8AC3E}">
        <p14:creationId xmlns:p14="http://schemas.microsoft.com/office/powerpoint/2010/main" val="2341810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952AA-EA83-FA3B-B4BF-2E157274AD29}"/>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5A94FCCD-12AB-1E3C-8EC0-22E00F3C9B68}"/>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30" eaLnBrk="1" fontAlgn="auto" hangingPunct="1">
              <a:spcBef>
                <a:spcPts val="0"/>
              </a:spcBef>
              <a:spcAft>
                <a:spcPts val="0"/>
              </a:spcAft>
              <a:defRPr/>
            </a:pPr>
            <a:endParaRPr lang="en-GB" sz="1200">
              <a:solidFill>
                <a:prstClr val="black"/>
              </a:solidFill>
              <a:latin typeface="DM Sans" pitchFamily="2" charset="0"/>
              <a:ea typeface="+mn-ea"/>
            </a:endParaRPr>
          </a:p>
        </p:txBody>
      </p:sp>
      <p:sp>
        <p:nvSpPr>
          <p:cNvPr id="5" name="TextBox 14">
            <a:extLst>
              <a:ext uri="{FF2B5EF4-FFF2-40B4-BE49-F238E27FC236}">
                <a16:creationId xmlns:a16="http://schemas.microsoft.com/office/drawing/2014/main" id="{621D3A90-A256-19F8-6DC4-220AEE127833}"/>
              </a:ext>
            </a:extLst>
          </p:cNvPr>
          <p:cNvSpPr txBox="1"/>
          <p:nvPr/>
        </p:nvSpPr>
        <p:spPr>
          <a:xfrm>
            <a:off x="778085" y="959984"/>
            <a:ext cx="7336552" cy="1179810"/>
          </a:xfrm>
          <a:prstGeom prst="rect">
            <a:avLst/>
          </a:prstGeom>
        </p:spPr>
        <p:txBody>
          <a:bodyPr wrap="square" lIns="0" tIns="0" rIns="0" bIns="0" rtlCol="0" anchor="t">
            <a:spAutoFit/>
          </a:bodyPr>
          <a:lstStyle/>
          <a:p>
            <a:pPr lvl="0" defTabSz="609630">
              <a:lnSpc>
                <a:spcPts val="4573"/>
              </a:lnSpc>
              <a:defRPr/>
            </a:pPr>
            <a:r>
              <a:rPr lang="en-GB" sz="4000" i="1" spc="-275" dirty="0">
                <a:solidFill>
                  <a:srgbClr val="46245A"/>
                </a:solidFill>
                <a:latin typeface="DM Sans Bold"/>
              </a:rPr>
              <a:t>Do we need to memorise statistics?</a:t>
            </a:r>
          </a:p>
          <a:p>
            <a:pPr lvl="0" defTabSz="609630">
              <a:lnSpc>
                <a:spcPts val="4573"/>
              </a:lnSpc>
              <a:defRPr/>
            </a:pPr>
            <a:r>
              <a:rPr lang="en-GB" sz="4000" i="1" spc="-275" dirty="0">
                <a:solidFill>
                  <a:srgbClr val="46245A"/>
                </a:solidFill>
                <a:latin typeface="DM Sans Bold"/>
                <a:ea typeface="+mn-ea"/>
              </a:rPr>
              <a:t> </a:t>
            </a:r>
            <a:endParaRPr lang="en-US" sz="4000" i="1" spc="-275" dirty="0">
              <a:solidFill>
                <a:srgbClr val="46245A"/>
              </a:solidFill>
              <a:latin typeface="DM Sans Bold"/>
              <a:ea typeface="+mn-ea"/>
            </a:endParaRPr>
          </a:p>
        </p:txBody>
      </p:sp>
      <p:sp>
        <p:nvSpPr>
          <p:cNvPr id="6" name="TextBox 5">
            <a:extLst>
              <a:ext uri="{FF2B5EF4-FFF2-40B4-BE49-F238E27FC236}">
                <a16:creationId xmlns:a16="http://schemas.microsoft.com/office/drawing/2014/main" id="{5CD25425-E54D-8591-7699-C31190B9F5D3}"/>
              </a:ext>
            </a:extLst>
          </p:cNvPr>
          <p:cNvSpPr txBox="1"/>
          <p:nvPr/>
        </p:nvSpPr>
        <p:spPr>
          <a:xfrm>
            <a:off x="697699" y="1781000"/>
            <a:ext cx="5398302" cy="461665"/>
          </a:xfrm>
          <a:prstGeom prst="rect">
            <a:avLst/>
          </a:prstGeom>
          <a:noFill/>
        </p:spPr>
        <p:txBody>
          <a:bodyPr wrap="square">
            <a:spAutoFit/>
          </a:bodyPr>
          <a:lstStyle/>
          <a:p>
            <a:pPr>
              <a:buNone/>
            </a:pPr>
            <a:r>
              <a:rPr lang="en-GB" sz="2400" kern="100" dirty="0">
                <a:latin typeface="Calibri" panose="020F0502020204030204" pitchFamily="34" charset="0"/>
                <a:ea typeface="Aptos" panose="020B0004020202020204" pitchFamily="34" charset="0"/>
                <a:cs typeface="Calibri" panose="020F0502020204030204" pitchFamily="34" charset="0"/>
              </a:rPr>
              <a:t>No but it will improve your mark…….</a:t>
            </a:r>
            <a:endParaRPr lang="en-GB" sz="2400" kern="100" dirty="0">
              <a:effectLst/>
              <a:latin typeface="Calibri" panose="020F0502020204030204" pitchFamily="34" charset="0"/>
              <a:ea typeface="Aptos" panose="020B000402020202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C799475C-D6E4-4F23-A0E0-E6DB6C33FF47}"/>
              </a:ext>
            </a:extLst>
          </p:cNvPr>
          <p:cNvPicPr>
            <a:picLocks noChangeAspect="1"/>
          </p:cNvPicPr>
          <p:nvPr/>
        </p:nvPicPr>
        <p:blipFill>
          <a:blip r:embed="rId4"/>
          <a:stretch>
            <a:fillRect/>
          </a:stretch>
        </p:blipFill>
        <p:spPr>
          <a:xfrm>
            <a:off x="6668193" y="2375484"/>
            <a:ext cx="5051109" cy="3971766"/>
          </a:xfrm>
          <a:prstGeom prst="rect">
            <a:avLst/>
          </a:prstGeom>
        </p:spPr>
      </p:pic>
      <p:pic>
        <p:nvPicPr>
          <p:cNvPr id="7" name="Picture 10">
            <a:extLst>
              <a:ext uri="{FF2B5EF4-FFF2-40B4-BE49-F238E27FC236}">
                <a16:creationId xmlns:a16="http://schemas.microsoft.com/office/drawing/2014/main" id="{83403CAE-D81F-653E-9D78-670F53493983}"/>
              </a:ext>
            </a:extLst>
          </p:cNvPr>
          <p:cNvPicPr>
            <a:picLocks noChangeAspect="1"/>
          </p:cNvPicPr>
          <p:nvPr/>
        </p:nvPicPr>
        <p:blipFill rotWithShape="1">
          <a:blip r:embed="rId5">
            <a:extLst>
              <a:ext uri="{28A0092B-C50C-407E-A947-70E740481C1C}">
                <a14:useLocalDpi xmlns:a14="http://schemas.microsoft.com/office/drawing/2010/main" val="0"/>
              </a:ext>
            </a:extLst>
          </a:blip>
          <a:srcRect t="5820" r="2281"/>
          <a:stretch>
            <a:fillRect/>
          </a:stretch>
        </p:blipFill>
        <p:spPr bwMode="auto">
          <a:xfrm>
            <a:off x="661234" y="2466650"/>
            <a:ext cx="5503896" cy="3789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05110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8BEFC-3E0C-ECFF-C3AD-2D710781E0FF}"/>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81F10AF0-44F4-C156-B4A6-8AC263FB7CE7}"/>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30" eaLnBrk="1" fontAlgn="auto" hangingPunct="1">
              <a:spcBef>
                <a:spcPts val="0"/>
              </a:spcBef>
              <a:spcAft>
                <a:spcPts val="0"/>
              </a:spcAft>
              <a:defRPr/>
            </a:pPr>
            <a:endParaRPr lang="en-GB" sz="1200">
              <a:solidFill>
                <a:prstClr val="black"/>
              </a:solidFill>
              <a:latin typeface="DM Sans" pitchFamily="2" charset="0"/>
              <a:ea typeface="+mn-ea"/>
            </a:endParaRPr>
          </a:p>
        </p:txBody>
      </p:sp>
      <p:sp>
        <p:nvSpPr>
          <p:cNvPr id="5" name="TextBox 14">
            <a:extLst>
              <a:ext uri="{FF2B5EF4-FFF2-40B4-BE49-F238E27FC236}">
                <a16:creationId xmlns:a16="http://schemas.microsoft.com/office/drawing/2014/main" id="{992C57CC-B35C-0486-AF40-61B8C00B1159}"/>
              </a:ext>
            </a:extLst>
          </p:cNvPr>
          <p:cNvSpPr txBox="1"/>
          <p:nvPr/>
        </p:nvSpPr>
        <p:spPr>
          <a:xfrm>
            <a:off x="778084" y="822992"/>
            <a:ext cx="8653781" cy="1769715"/>
          </a:xfrm>
          <a:prstGeom prst="rect">
            <a:avLst/>
          </a:prstGeom>
        </p:spPr>
        <p:txBody>
          <a:bodyPr wrap="square" lIns="0" tIns="0" rIns="0" bIns="0" rtlCol="0" anchor="t">
            <a:spAutoFit/>
          </a:bodyPr>
          <a:lstStyle/>
          <a:p>
            <a:pPr defTabSz="609630">
              <a:lnSpc>
                <a:spcPts val="4573"/>
              </a:lnSpc>
              <a:defRPr/>
            </a:pPr>
            <a:r>
              <a:rPr lang="en-GB" sz="3600" i="1" spc="-275" dirty="0">
                <a:solidFill>
                  <a:srgbClr val="46245A"/>
                </a:solidFill>
                <a:latin typeface="DM Sans Bold"/>
              </a:rPr>
              <a:t>How to Approach Long Answer Questions</a:t>
            </a:r>
          </a:p>
          <a:p>
            <a:pPr defTabSz="609630">
              <a:lnSpc>
                <a:spcPts val="4573"/>
              </a:lnSpc>
              <a:defRPr/>
            </a:pPr>
            <a:endParaRPr lang="en-GB" sz="4000" i="1" spc="-275" dirty="0">
              <a:solidFill>
                <a:srgbClr val="46245A"/>
              </a:solidFill>
              <a:latin typeface="DM Sans Bold"/>
            </a:endParaRPr>
          </a:p>
          <a:p>
            <a:pPr lvl="0" defTabSz="609630">
              <a:lnSpc>
                <a:spcPts val="4573"/>
              </a:lnSpc>
              <a:defRPr/>
            </a:pPr>
            <a:r>
              <a:rPr lang="en-GB" sz="4000" i="1" spc="-275" dirty="0">
                <a:solidFill>
                  <a:srgbClr val="46245A"/>
                </a:solidFill>
                <a:latin typeface="DM Sans Bold"/>
                <a:ea typeface="+mn-ea"/>
              </a:rPr>
              <a:t> </a:t>
            </a:r>
            <a:endParaRPr lang="en-US" sz="4000" i="1" spc="-275" dirty="0">
              <a:solidFill>
                <a:srgbClr val="46245A"/>
              </a:solidFill>
              <a:latin typeface="DM Sans Bold"/>
              <a:ea typeface="+mn-ea"/>
            </a:endParaRPr>
          </a:p>
        </p:txBody>
      </p:sp>
      <p:sp>
        <p:nvSpPr>
          <p:cNvPr id="8" name="TextBox 7">
            <a:extLst>
              <a:ext uri="{FF2B5EF4-FFF2-40B4-BE49-F238E27FC236}">
                <a16:creationId xmlns:a16="http://schemas.microsoft.com/office/drawing/2014/main" id="{65536556-3E0E-5A29-EF4E-0B2F20F28A5F}"/>
              </a:ext>
            </a:extLst>
          </p:cNvPr>
          <p:cNvSpPr txBox="1"/>
          <p:nvPr/>
        </p:nvSpPr>
        <p:spPr>
          <a:xfrm>
            <a:off x="778083" y="1707849"/>
            <a:ext cx="7677758" cy="4247317"/>
          </a:xfrm>
          <a:prstGeom prst="rect">
            <a:avLst/>
          </a:prstGeom>
          <a:noFill/>
        </p:spPr>
        <p:txBody>
          <a:bodyPr wrap="square">
            <a:spAutoFit/>
          </a:bodyPr>
          <a:lstStyle/>
          <a:p>
            <a:pPr algn="l"/>
            <a:r>
              <a:rPr lang="en-GB" b="1" i="0" dirty="0">
                <a:solidFill>
                  <a:srgbClr val="000000"/>
                </a:solidFill>
                <a:effectLst/>
                <a:latin typeface="Calibri" panose="020F0502020204030204" pitchFamily="34" charset="0"/>
                <a:cs typeface="Calibri" panose="020F0502020204030204" pitchFamily="34" charset="0"/>
              </a:rPr>
              <a:t>Answer the specific question</a:t>
            </a:r>
            <a:endParaRPr lang="en-GB" b="0" i="0" dirty="0">
              <a:solidFill>
                <a:srgbClr val="000000"/>
              </a:solidFill>
              <a:effectLst/>
              <a:latin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r>
              <a:rPr lang="en-GB" b="0" i="0" dirty="0">
                <a:solidFill>
                  <a:srgbClr val="000000"/>
                </a:solidFill>
                <a:effectLst/>
                <a:latin typeface="Calibri" panose="020F0502020204030204" pitchFamily="34" charset="0"/>
                <a:cs typeface="Calibri" panose="020F0502020204030204" pitchFamily="34" charset="0"/>
              </a:rPr>
              <a:t>Don’t just write everything you know</a:t>
            </a:r>
          </a:p>
          <a:p>
            <a:pPr lvl="1" algn="l"/>
            <a:endParaRPr lang="en-GB" b="0" i="0" dirty="0">
              <a:solidFill>
                <a:srgbClr val="000000"/>
              </a:solidFill>
              <a:effectLst/>
              <a:latin typeface="Calibri" panose="020F0502020204030204" pitchFamily="34" charset="0"/>
              <a:cs typeface="Calibri" panose="020F0502020204030204" pitchFamily="34" charset="0"/>
            </a:endParaRPr>
          </a:p>
          <a:p>
            <a:pPr algn="l"/>
            <a:r>
              <a:rPr lang="en-GB" b="1" i="0" dirty="0">
                <a:solidFill>
                  <a:srgbClr val="000000"/>
                </a:solidFill>
                <a:effectLst/>
                <a:latin typeface="Calibri" panose="020F0502020204030204" pitchFamily="34" charset="0"/>
                <a:cs typeface="Calibri" panose="020F0502020204030204" pitchFamily="34" charset="0"/>
              </a:rPr>
              <a:t>Be clear and structured</a:t>
            </a:r>
            <a:endParaRPr lang="en-GB" b="0" i="0" dirty="0">
              <a:solidFill>
                <a:srgbClr val="000000"/>
              </a:solidFill>
              <a:effectLst/>
              <a:latin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r>
              <a:rPr lang="en-GB" b="0" i="0" dirty="0">
                <a:solidFill>
                  <a:srgbClr val="000000"/>
                </a:solidFill>
                <a:effectLst/>
                <a:latin typeface="Calibri" panose="020F0502020204030204" pitchFamily="34" charset="0"/>
                <a:cs typeface="Calibri" panose="020F0502020204030204" pitchFamily="34" charset="0"/>
              </a:rPr>
              <a:t>Intro: define key terms + outline answer</a:t>
            </a:r>
          </a:p>
          <a:p>
            <a:pPr marL="742950" lvl="1" indent="-285750" algn="l">
              <a:buFont typeface="Arial" panose="020B0604020202020204" pitchFamily="34" charset="0"/>
              <a:buChar char="•"/>
            </a:pPr>
            <a:r>
              <a:rPr lang="en-GB" b="0" i="0" dirty="0">
                <a:solidFill>
                  <a:srgbClr val="000000"/>
                </a:solidFill>
                <a:effectLst/>
                <a:latin typeface="Calibri" panose="020F0502020204030204" pitchFamily="34" charset="0"/>
                <a:cs typeface="Calibri" panose="020F0502020204030204" pitchFamily="34" charset="0"/>
              </a:rPr>
              <a:t>Main: explain processes/information step-by-step</a:t>
            </a:r>
          </a:p>
          <a:p>
            <a:pPr lvl="1" algn="l"/>
            <a:endParaRPr lang="en-GB" b="0" i="0" dirty="0">
              <a:solidFill>
                <a:srgbClr val="000000"/>
              </a:solidFill>
              <a:effectLst/>
              <a:latin typeface="Calibri" panose="020F0502020204030204" pitchFamily="34" charset="0"/>
              <a:cs typeface="Calibri" panose="020F0502020204030204" pitchFamily="34" charset="0"/>
            </a:endParaRPr>
          </a:p>
          <a:p>
            <a:pPr algn="l"/>
            <a:r>
              <a:rPr lang="en-GB" b="1" i="0" dirty="0">
                <a:solidFill>
                  <a:srgbClr val="000000"/>
                </a:solidFill>
                <a:effectLst/>
                <a:latin typeface="Calibri" panose="020F0502020204030204" pitchFamily="34" charset="0"/>
                <a:cs typeface="Calibri" panose="020F0502020204030204" pitchFamily="34" charset="0"/>
              </a:rPr>
              <a:t>Use relevant examples</a:t>
            </a:r>
            <a:endParaRPr lang="en-GB" b="0" i="0" dirty="0">
              <a:solidFill>
                <a:srgbClr val="000000"/>
              </a:solidFill>
              <a:effectLst/>
              <a:latin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r>
              <a:rPr lang="en-GB" b="0" i="0" dirty="0">
                <a:solidFill>
                  <a:srgbClr val="000000"/>
                </a:solidFill>
                <a:effectLst/>
                <a:latin typeface="Calibri" panose="020F0502020204030204" pitchFamily="34" charset="0"/>
                <a:cs typeface="Calibri" panose="020F0502020204030204" pitchFamily="34" charset="0"/>
              </a:rPr>
              <a:t>No need for memorised statistics but it can help in places if you wish</a:t>
            </a:r>
          </a:p>
          <a:p>
            <a:pPr lvl="1" algn="l"/>
            <a:r>
              <a:rPr lang="en-GB" b="0" i="0" dirty="0">
                <a:solidFill>
                  <a:srgbClr val="000000"/>
                </a:solidFill>
                <a:effectLst/>
                <a:latin typeface="Calibri" panose="020F0502020204030204" pitchFamily="34" charset="0"/>
                <a:cs typeface="Calibri" panose="020F0502020204030204" pitchFamily="34" charset="0"/>
              </a:rPr>
              <a:t> </a:t>
            </a:r>
          </a:p>
          <a:p>
            <a:pPr algn="l"/>
            <a:r>
              <a:rPr lang="en-GB" b="1" i="0" dirty="0">
                <a:solidFill>
                  <a:srgbClr val="000000"/>
                </a:solidFill>
                <a:effectLst/>
                <a:latin typeface="Calibri" panose="020F0502020204030204" pitchFamily="34" charset="0"/>
                <a:cs typeface="Calibri" panose="020F0502020204030204" pitchFamily="34" charset="0"/>
              </a:rPr>
              <a:t>Write clearly and legibly</a:t>
            </a:r>
            <a:endParaRPr lang="en-GB" b="0" i="0" dirty="0">
              <a:solidFill>
                <a:srgbClr val="000000"/>
              </a:solidFill>
              <a:effectLst/>
              <a:latin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r>
              <a:rPr lang="en-GB" b="1" i="0" dirty="0">
                <a:solidFill>
                  <a:srgbClr val="FF0000"/>
                </a:solidFill>
                <a:effectLst/>
                <a:latin typeface="Calibri" panose="020F0502020204030204" pitchFamily="34" charset="0"/>
                <a:cs typeface="Calibri" panose="020F0502020204030204" pitchFamily="34" charset="0"/>
              </a:rPr>
              <a:t>Easy to read = easier to award marks</a:t>
            </a:r>
          </a:p>
          <a:p>
            <a:pPr lvl="1" algn="l"/>
            <a:endParaRPr lang="en-GB" b="1" i="0" dirty="0">
              <a:solidFill>
                <a:srgbClr val="FF0000"/>
              </a:solidFill>
              <a:effectLst/>
              <a:latin typeface="Calibri" panose="020F0502020204030204" pitchFamily="34" charset="0"/>
              <a:cs typeface="Calibri" panose="020F0502020204030204" pitchFamily="34" charset="0"/>
            </a:endParaRPr>
          </a:p>
          <a:p>
            <a:pPr algn="l"/>
            <a:r>
              <a:rPr lang="en-GB" b="1" i="0" dirty="0">
                <a:solidFill>
                  <a:srgbClr val="000000"/>
                </a:solidFill>
                <a:effectLst/>
                <a:latin typeface="Calibri" panose="020F0502020204030204" pitchFamily="34" charset="0"/>
                <a:cs typeface="Calibri" panose="020F0502020204030204" pitchFamily="34" charset="0"/>
              </a:rPr>
              <a:t>Focus on quality over quantity</a:t>
            </a:r>
            <a:endParaRPr lang="en-GB" b="0" i="0" dirty="0">
              <a:solidFill>
                <a:srgbClr val="000000"/>
              </a:solidFill>
              <a:effectLst/>
              <a:latin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r>
              <a:rPr lang="en-GB" b="0" i="0" dirty="0">
                <a:solidFill>
                  <a:srgbClr val="000000"/>
                </a:solidFill>
                <a:effectLst/>
                <a:latin typeface="Calibri" panose="020F0502020204030204" pitchFamily="34" charset="0"/>
                <a:cs typeface="Calibri" panose="020F0502020204030204" pitchFamily="34" charset="0"/>
              </a:rPr>
              <a:t>Clear, relevant explanation matters more than length</a:t>
            </a:r>
          </a:p>
        </p:txBody>
      </p:sp>
    </p:spTree>
    <p:extLst>
      <p:ext uri="{BB962C8B-B14F-4D97-AF65-F5344CB8AC3E}">
        <p14:creationId xmlns:p14="http://schemas.microsoft.com/office/powerpoint/2010/main" val="7489561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4691E-F0EE-B4A0-ABD8-FFFD3F72895F}"/>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562266BF-6647-124C-7AE4-2DBED6F868C8}"/>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30" eaLnBrk="1" fontAlgn="auto" hangingPunct="1">
              <a:spcBef>
                <a:spcPts val="0"/>
              </a:spcBef>
              <a:spcAft>
                <a:spcPts val="0"/>
              </a:spcAft>
              <a:defRPr/>
            </a:pPr>
            <a:endParaRPr lang="en-GB" sz="1200">
              <a:solidFill>
                <a:prstClr val="black"/>
              </a:solidFill>
              <a:latin typeface="DM Sans" pitchFamily="2" charset="0"/>
              <a:ea typeface="+mn-ea"/>
            </a:endParaRPr>
          </a:p>
        </p:txBody>
      </p:sp>
      <p:sp>
        <p:nvSpPr>
          <p:cNvPr id="5" name="TextBox 14">
            <a:extLst>
              <a:ext uri="{FF2B5EF4-FFF2-40B4-BE49-F238E27FC236}">
                <a16:creationId xmlns:a16="http://schemas.microsoft.com/office/drawing/2014/main" id="{72C77B80-F076-D8D5-5D63-1482C9FD79F4}"/>
              </a:ext>
            </a:extLst>
          </p:cNvPr>
          <p:cNvSpPr txBox="1"/>
          <p:nvPr/>
        </p:nvSpPr>
        <p:spPr>
          <a:xfrm>
            <a:off x="757989" y="1565399"/>
            <a:ext cx="8838188" cy="589905"/>
          </a:xfrm>
          <a:prstGeom prst="rect">
            <a:avLst/>
          </a:prstGeom>
        </p:spPr>
        <p:txBody>
          <a:bodyPr wrap="square" lIns="0" tIns="0" rIns="0" bIns="0" rtlCol="0" anchor="t">
            <a:spAutoFit/>
          </a:bodyPr>
          <a:lstStyle/>
          <a:p>
            <a:pPr defTabSz="609630" eaLnBrk="1" fontAlgn="auto" hangingPunct="1">
              <a:lnSpc>
                <a:spcPts val="4573"/>
              </a:lnSpc>
              <a:spcBef>
                <a:spcPts val="0"/>
              </a:spcBef>
              <a:spcAft>
                <a:spcPts val="0"/>
              </a:spcAft>
              <a:defRPr/>
            </a:pPr>
            <a:r>
              <a:rPr lang="en-GB" sz="4000" i="1" spc="-275" dirty="0">
                <a:solidFill>
                  <a:srgbClr val="46245A"/>
                </a:solidFill>
                <a:latin typeface="DM Sans Bold"/>
                <a:ea typeface="+mn-ea"/>
              </a:rPr>
              <a:t>Submitted Questions - Scientific </a:t>
            </a:r>
            <a:r>
              <a:rPr lang="en-GB" sz="4000" i="1" spc="-275" dirty="0">
                <a:solidFill>
                  <a:srgbClr val="46245A"/>
                </a:solidFill>
                <a:latin typeface="DM Sans Bold"/>
              </a:rPr>
              <a:t>grouped</a:t>
            </a:r>
            <a:r>
              <a:rPr lang="en-GB" sz="4000" i="1" spc="-275" dirty="0">
                <a:solidFill>
                  <a:srgbClr val="46245A"/>
                </a:solidFill>
                <a:latin typeface="DM Sans Bold"/>
                <a:ea typeface="+mn-ea"/>
              </a:rPr>
              <a:t> </a:t>
            </a:r>
            <a:endParaRPr lang="en-US" sz="4000" i="1" spc="-275" dirty="0">
              <a:solidFill>
                <a:srgbClr val="46245A"/>
              </a:solidFill>
              <a:latin typeface="DM Sans Bold"/>
              <a:ea typeface="+mn-ea"/>
            </a:endParaRPr>
          </a:p>
        </p:txBody>
      </p:sp>
      <p:sp>
        <p:nvSpPr>
          <p:cNvPr id="4" name="TextBox 3">
            <a:extLst>
              <a:ext uri="{FF2B5EF4-FFF2-40B4-BE49-F238E27FC236}">
                <a16:creationId xmlns:a16="http://schemas.microsoft.com/office/drawing/2014/main" id="{DCEAA593-B2DA-AB76-D8EE-715D352B0C6D}"/>
              </a:ext>
            </a:extLst>
          </p:cNvPr>
          <p:cNvSpPr txBox="1"/>
          <p:nvPr/>
        </p:nvSpPr>
        <p:spPr>
          <a:xfrm>
            <a:off x="678264" y="2707278"/>
            <a:ext cx="6099348" cy="2585323"/>
          </a:xfrm>
          <a:prstGeom prst="rect">
            <a:avLst/>
          </a:prstGeom>
          <a:noFill/>
        </p:spPr>
        <p:txBody>
          <a:bodyPr wrap="square">
            <a:spAutoFit/>
          </a:bodyPr>
          <a:lstStyle/>
          <a:p>
            <a:pPr marL="342900" indent="-342900">
              <a:buFont typeface="+mj-lt"/>
              <a:buAutoNum type="arabicPeriod"/>
            </a:pPr>
            <a:r>
              <a:rPr lang="en-GB" sz="1800" b="1" kern="0" dirty="0">
                <a:solidFill>
                  <a:srgbClr val="1C2029"/>
                </a:solidFill>
                <a:effectLst/>
                <a:latin typeface="Calibri" panose="020F0502020204030204" pitchFamily="34" charset="0"/>
                <a:ea typeface="Times New Roman" panose="02020603050405020304" pitchFamily="18" charset="0"/>
                <a:cs typeface="Calibri" panose="020F0502020204030204" pitchFamily="34" charset="0"/>
              </a:rPr>
              <a:t>Radiative Balance</a:t>
            </a:r>
          </a:p>
          <a:p>
            <a:pPr marL="342900" indent="-342900">
              <a:buFont typeface="+mj-lt"/>
              <a:buAutoNum type="arabicPeriod"/>
            </a:pPr>
            <a:endParaRPr lang="en-GB" b="1" kern="0" dirty="0">
              <a:solidFill>
                <a:srgbClr val="1C2029"/>
              </a:solidFill>
              <a:latin typeface="Calibri" panose="020F0502020204030204" pitchFamily="34" charset="0"/>
              <a:ea typeface="Aptos" panose="020B0004020202020204" pitchFamily="34" charset="0"/>
              <a:cs typeface="Calibri" panose="020F0502020204030204" pitchFamily="34" charset="0"/>
            </a:endParaRPr>
          </a:p>
          <a:p>
            <a:pPr marL="342900" indent="-342900">
              <a:buFont typeface="+mj-lt"/>
              <a:buAutoNum type="arabicPeriod"/>
            </a:pPr>
            <a:r>
              <a:rPr lang="en-GB" b="1" dirty="0">
                <a:latin typeface="Calibri" panose="020F0502020204030204" pitchFamily="34" charset="0"/>
                <a:cs typeface="Calibri" panose="020F0502020204030204" pitchFamily="34" charset="0"/>
              </a:rPr>
              <a:t>Natural Variability </a:t>
            </a:r>
            <a:endParaRPr lang="en-GB" dirty="0">
              <a:latin typeface="Calibri" panose="020F0502020204030204" pitchFamily="34" charset="0"/>
              <a:cs typeface="Calibri" panose="020F0502020204030204" pitchFamily="34" charset="0"/>
            </a:endParaRPr>
          </a:p>
          <a:p>
            <a:pPr marL="342900" indent="-342900">
              <a:buFont typeface="+mj-lt"/>
              <a:buAutoNum type="arabicPeriod"/>
            </a:pPr>
            <a:endParaRPr lang="en-GB" sz="1800" kern="100" dirty="0">
              <a:effectLst/>
              <a:latin typeface="Calibri" panose="020F0502020204030204" pitchFamily="34" charset="0"/>
              <a:ea typeface="Aptos" panose="020B0004020202020204" pitchFamily="34" charset="0"/>
              <a:cs typeface="Calibri" panose="020F0502020204030204" pitchFamily="34" charset="0"/>
            </a:endParaRPr>
          </a:p>
          <a:p>
            <a:pPr marL="342900" indent="-342900">
              <a:buFont typeface="+mj-lt"/>
              <a:buAutoNum type="arabicPeriod"/>
            </a:pPr>
            <a:r>
              <a:rPr lang="en-GB" b="1" dirty="0">
                <a:latin typeface="Calibri" panose="020F0502020204030204" pitchFamily="34" charset="0"/>
                <a:cs typeface="Calibri" panose="020F0502020204030204" pitchFamily="34" charset="0"/>
              </a:rPr>
              <a:t>GCMs</a:t>
            </a:r>
            <a:endParaRPr lang="en-GB" dirty="0">
              <a:latin typeface="Calibri" panose="020F0502020204030204" pitchFamily="34" charset="0"/>
              <a:cs typeface="Calibri" panose="020F0502020204030204" pitchFamily="34" charset="0"/>
            </a:endParaRPr>
          </a:p>
          <a:p>
            <a:pPr marL="342900" indent="-342900">
              <a:buFont typeface="+mj-lt"/>
              <a:buAutoNum type="arabicPeriod"/>
            </a:pPr>
            <a:endParaRPr lang="en-GB" sz="1800" kern="100" dirty="0">
              <a:effectLst/>
              <a:latin typeface="Calibri" panose="020F0502020204030204" pitchFamily="34" charset="0"/>
              <a:ea typeface="Aptos" panose="020B0004020202020204" pitchFamily="34" charset="0"/>
              <a:cs typeface="Calibri" panose="020F0502020204030204" pitchFamily="34" charset="0"/>
            </a:endParaRPr>
          </a:p>
          <a:p>
            <a:pPr marL="342900" indent="-342900">
              <a:buFont typeface="+mj-lt"/>
              <a:buAutoNum type="arabicPeriod"/>
            </a:pPr>
            <a:r>
              <a:rPr lang="en-GB" b="1" dirty="0">
                <a:latin typeface="Calibri" panose="020F0502020204030204" pitchFamily="34" charset="0"/>
                <a:cs typeface="Calibri" panose="020F0502020204030204" pitchFamily="34" charset="0"/>
              </a:rPr>
              <a:t>Adaptation and Mitigations </a:t>
            </a:r>
            <a:endParaRPr lang="en-GB" dirty="0">
              <a:latin typeface="Calibri" panose="020F0502020204030204" pitchFamily="34" charset="0"/>
              <a:cs typeface="Calibri" panose="020F0502020204030204" pitchFamily="34" charset="0"/>
            </a:endParaRPr>
          </a:p>
          <a:p>
            <a:pPr marL="342900" indent="-342900">
              <a:buFont typeface="+mj-lt"/>
              <a:buAutoNum type="arabicPeriod"/>
            </a:pPr>
            <a:endParaRPr lang="en-GB" sz="1800" kern="100" dirty="0">
              <a:effectLst/>
              <a:latin typeface="Calibri" panose="020F0502020204030204" pitchFamily="34" charset="0"/>
              <a:ea typeface="Aptos" panose="020B0004020202020204" pitchFamily="34" charset="0"/>
              <a:cs typeface="Calibri" panose="020F0502020204030204" pitchFamily="34" charset="0"/>
            </a:endParaRPr>
          </a:p>
          <a:p>
            <a:pPr marL="342900" indent="-342900">
              <a:buFont typeface="+mj-lt"/>
              <a:buAutoNum type="arabicPeriod"/>
            </a:pPr>
            <a:r>
              <a:rPr lang="en-GB" b="1" dirty="0">
                <a:latin typeface="Calibri" panose="020F0502020204030204" pitchFamily="34" charset="0"/>
                <a:cs typeface="Calibri" panose="020F0502020204030204" pitchFamily="34" charset="0"/>
              </a:rPr>
              <a:t>Specific Questions </a:t>
            </a:r>
            <a:endParaRPr lang="en-GB"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737525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94FEF-9324-03F0-2AF5-B0D39E8BBBE8}"/>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09034AE2-0E14-0555-89B0-3B81B0413057}"/>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30" eaLnBrk="1" fontAlgn="auto" hangingPunct="1">
              <a:spcBef>
                <a:spcPts val="0"/>
              </a:spcBef>
              <a:spcAft>
                <a:spcPts val="0"/>
              </a:spcAft>
              <a:defRPr/>
            </a:pPr>
            <a:endParaRPr lang="en-GB" sz="1200">
              <a:solidFill>
                <a:prstClr val="black"/>
              </a:solidFill>
              <a:latin typeface="DM Sans" pitchFamily="2" charset="0"/>
              <a:ea typeface="+mn-ea"/>
            </a:endParaRPr>
          </a:p>
        </p:txBody>
      </p:sp>
      <p:sp>
        <p:nvSpPr>
          <p:cNvPr id="5" name="TextBox 14">
            <a:extLst>
              <a:ext uri="{FF2B5EF4-FFF2-40B4-BE49-F238E27FC236}">
                <a16:creationId xmlns:a16="http://schemas.microsoft.com/office/drawing/2014/main" id="{4880818D-B0C5-1C6C-ED0A-C73B8C5FCE0A}"/>
              </a:ext>
            </a:extLst>
          </p:cNvPr>
          <p:cNvSpPr txBox="1"/>
          <p:nvPr/>
        </p:nvSpPr>
        <p:spPr>
          <a:xfrm>
            <a:off x="778085" y="1273997"/>
            <a:ext cx="7336552" cy="589905"/>
          </a:xfrm>
          <a:prstGeom prst="rect">
            <a:avLst/>
          </a:prstGeom>
        </p:spPr>
        <p:txBody>
          <a:bodyPr wrap="square" lIns="0" tIns="0" rIns="0" bIns="0" rtlCol="0" anchor="t">
            <a:spAutoFit/>
          </a:bodyPr>
          <a:lstStyle/>
          <a:p>
            <a:pPr defTabSz="609630" eaLnBrk="1" fontAlgn="auto" hangingPunct="1">
              <a:lnSpc>
                <a:spcPts val="4573"/>
              </a:lnSpc>
              <a:spcBef>
                <a:spcPts val="0"/>
              </a:spcBef>
              <a:spcAft>
                <a:spcPts val="0"/>
              </a:spcAft>
              <a:defRPr/>
            </a:pPr>
            <a:r>
              <a:rPr lang="en-GB" sz="4000" i="1" spc="-275" dirty="0">
                <a:solidFill>
                  <a:srgbClr val="46245A"/>
                </a:solidFill>
                <a:latin typeface="DM Sans Bold"/>
                <a:ea typeface="+mn-ea"/>
              </a:rPr>
              <a:t>Submitted Questions - Scientific  </a:t>
            </a:r>
            <a:endParaRPr lang="en-US" sz="4000" i="1" spc="-275" dirty="0">
              <a:solidFill>
                <a:srgbClr val="46245A"/>
              </a:solidFill>
              <a:latin typeface="DM Sans Bold"/>
              <a:ea typeface="+mn-ea"/>
            </a:endParaRPr>
          </a:p>
        </p:txBody>
      </p:sp>
      <p:sp>
        <p:nvSpPr>
          <p:cNvPr id="2" name="TextBox 1">
            <a:extLst>
              <a:ext uri="{FF2B5EF4-FFF2-40B4-BE49-F238E27FC236}">
                <a16:creationId xmlns:a16="http://schemas.microsoft.com/office/drawing/2014/main" id="{2F4043D6-5F39-2740-37B1-0A7361AA356D}"/>
              </a:ext>
            </a:extLst>
          </p:cNvPr>
          <p:cNvSpPr txBox="1"/>
          <p:nvPr/>
        </p:nvSpPr>
        <p:spPr>
          <a:xfrm>
            <a:off x="778085" y="2506237"/>
            <a:ext cx="9493259" cy="3077766"/>
          </a:xfrm>
          <a:prstGeom prst="rect">
            <a:avLst/>
          </a:prstGeom>
          <a:noFill/>
        </p:spPr>
        <p:txBody>
          <a:bodyPr wrap="square">
            <a:spAutoFit/>
          </a:bodyPr>
          <a:lstStyle/>
          <a:p>
            <a:pPr marL="342900" indent="-342900">
              <a:buFont typeface="+mj-lt"/>
              <a:buAutoNum type="arabicPeriod"/>
            </a:pPr>
            <a:r>
              <a:rPr lang="en-GB" sz="1800" b="1" kern="0" dirty="0">
                <a:solidFill>
                  <a:srgbClr val="1C2029"/>
                </a:solidFill>
                <a:effectLst/>
                <a:latin typeface="Calibri" panose="020F0502020204030204" pitchFamily="34" charset="0"/>
                <a:ea typeface="Times New Roman" panose="02020603050405020304" pitchFamily="18" charset="0"/>
                <a:cs typeface="Calibri" panose="020F0502020204030204" pitchFamily="34" charset="0"/>
              </a:rPr>
              <a:t>Radiative Balance</a:t>
            </a:r>
          </a:p>
          <a:p>
            <a:endParaRPr lang="en-GB" sz="1600" b="1" kern="0" dirty="0">
              <a:solidFill>
                <a:srgbClr val="1C2029"/>
              </a:solidFill>
              <a:latin typeface="Calibri" panose="020F0502020204030204" pitchFamily="34" charset="0"/>
              <a:ea typeface="Aptos" panose="020B0004020202020204" pitchFamily="34" charset="0"/>
              <a:cs typeface="Calibri" panose="020F0502020204030204" pitchFamily="34" charset="0"/>
            </a:endParaRPr>
          </a:p>
          <a:p>
            <a:pPr marL="285750" indent="-285750">
              <a:buFont typeface="Arial" panose="020B0604020202020204" pitchFamily="34" charset="0"/>
              <a:buChar char="•"/>
            </a:pPr>
            <a:r>
              <a:rPr lang="en-GB" sz="1600" kern="0" dirty="0">
                <a:solidFill>
                  <a:srgbClr val="1C2029"/>
                </a:solidFill>
                <a:latin typeface="Calibri" panose="020F0502020204030204" pitchFamily="34" charset="0"/>
                <a:ea typeface="Aptos" panose="020B0004020202020204" pitchFamily="34" charset="0"/>
                <a:cs typeface="Calibri" panose="020F0502020204030204" pitchFamily="34" charset="0"/>
              </a:rPr>
              <a:t>Radiative forcing. </a:t>
            </a:r>
          </a:p>
          <a:p>
            <a:pPr marL="285750" indent="-285750">
              <a:buFont typeface="Arial" panose="020B0604020202020204" pitchFamily="34" charset="0"/>
              <a:buChar char="•"/>
            </a:pPr>
            <a:endParaRPr lang="en-GB" sz="1600" kern="0" dirty="0">
              <a:solidFill>
                <a:srgbClr val="1C2029"/>
              </a:solidFill>
              <a:latin typeface="Calibri" panose="020F0502020204030204" pitchFamily="34" charset="0"/>
              <a:ea typeface="Aptos" panose="020B0004020202020204" pitchFamily="34" charset="0"/>
              <a:cs typeface="Calibri" panose="020F0502020204030204" pitchFamily="34" charset="0"/>
            </a:endParaRPr>
          </a:p>
          <a:p>
            <a:pPr marL="285750" indent="-285750">
              <a:buFont typeface="Arial" panose="020B0604020202020204" pitchFamily="34" charset="0"/>
              <a:buChar char="•"/>
            </a:pPr>
            <a:r>
              <a:rPr lang="en-GB" sz="1600" kern="0" dirty="0">
                <a:solidFill>
                  <a:srgbClr val="1C2029"/>
                </a:solidFill>
                <a:latin typeface="Calibri" panose="020F0502020204030204" pitchFamily="34" charset="0"/>
                <a:ea typeface="Aptos" panose="020B0004020202020204" pitchFamily="34" charset="0"/>
                <a:cs typeface="Calibri" panose="020F0502020204030204" pitchFamily="34" charset="0"/>
              </a:rPr>
              <a:t>Please can we go over how we calculate radiative forcing</a:t>
            </a:r>
          </a:p>
          <a:p>
            <a:endParaRPr lang="en-GB" sz="1600" kern="0" dirty="0">
              <a:solidFill>
                <a:srgbClr val="1C2029"/>
              </a:solidFill>
              <a:latin typeface="Calibri" panose="020F0502020204030204" pitchFamily="34" charset="0"/>
              <a:ea typeface="Aptos" panose="020B0004020202020204" pitchFamily="34" charset="0"/>
              <a:cs typeface="Calibri" panose="020F0502020204030204" pitchFamily="34" charset="0"/>
            </a:endParaRPr>
          </a:p>
          <a:p>
            <a:pPr marL="285750" indent="-285750">
              <a:buFont typeface="Arial" panose="020B0604020202020204" pitchFamily="34" charset="0"/>
              <a:buChar char="•"/>
            </a:pPr>
            <a:r>
              <a:rPr lang="en-GB" sz="1600" kern="0" dirty="0">
                <a:solidFill>
                  <a:srgbClr val="1C2029"/>
                </a:solidFill>
                <a:latin typeface="Calibri" panose="020F0502020204030204" pitchFamily="34" charset="0"/>
                <a:ea typeface="Aptos" panose="020B0004020202020204" pitchFamily="34" charset="0"/>
                <a:cs typeface="Calibri" panose="020F0502020204030204" pitchFamily="34" charset="0"/>
              </a:rPr>
              <a:t>For the revision session: what radiation laws and equations do we need to remember? Revise Earths energy balance (why is there a gap)?</a:t>
            </a:r>
          </a:p>
          <a:p>
            <a:endParaRPr lang="en-GB" sz="1600" kern="0" dirty="0">
              <a:solidFill>
                <a:srgbClr val="1C2029"/>
              </a:solidFill>
              <a:latin typeface="Calibri" panose="020F0502020204030204" pitchFamily="34" charset="0"/>
              <a:ea typeface="Aptos" panose="020B0004020202020204" pitchFamily="34" charset="0"/>
              <a:cs typeface="Calibri" panose="020F0502020204030204" pitchFamily="34" charset="0"/>
            </a:endParaRPr>
          </a:p>
          <a:p>
            <a:pPr marL="285750" indent="-285750">
              <a:buFont typeface="Arial" panose="020B0604020202020204" pitchFamily="34" charset="0"/>
              <a:buChar char="•"/>
            </a:pPr>
            <a:r>
              <a:rPr lang="en-GB" sz="1600" kern="0" dirty="0">
                <a:solidFill>
                  <a:srgbClr val="1C2029"/>
                </a:solidFill>
                <a:latin typeface="Calibri" panose="020F0502020204030204" pitchFamily="34" charset="0"/>
                <a:ea typeface="Aptos" panose="020B0004020202020204" pitchFamily="34" charset="0"/>
                <a:cs typeface="Calibri" panose="020F0502020204030204" pitchFamily="34" charset="0"/>
              </a:rPr>
              <a:t>The radiative law and how to do the equations for the final lecture</a:t>
            </a:r>
          </a:p>
          <a:p>
            <a:endParaRPr lang="en-GB" sz="1600" kern="0" dirty="0">
              <a:solidFill>
                <a:srgbClr val="1C2029"/>
              </a:solidFill>
              <a:latin typeface="Calibri" panose="020F0502020204030204" pitchFamily="34" charset="0"/>
              <a:ea typeface="Aptos" panose="020B0004020202020204" pitchFamily="34" charset="0"/>
              <a:cs typeface="Calibri" panose="020F0502020204030204" pitchFamily="34" charset="0"/>
            </a:endParaRPr>
          </a:p>
          <a:p>
            <a:pPr marL="285750" indent="-285750">
              <a:buFont typeface="Arial" panose="020B0604020202020204" pitchFamily="34" charset="0"/>
              <a:buChar char="•"/>
            </a:pPr>
            <a:r>
              <a:rPr lang="en-GB" sz="1600" kern="0" dirty="0">
                <a:solidFill>
                  <a:srgbClr val="1C2029"/>
                </a:solidFill>
                <a:latin typeface="Calibri" panose="020F0502020204030204" pitchFamily="34" charset="0"/>
                <a:ea typeface="Aptos" panose="020B0004020202020204" pitchFamily="34" charset="0"/>
                <a:cs typeface="Calibri" panose="020F0502020204030204" pitchFamily="34" charset="0"/>
              </a:rPr>
              <a:t>Could you possibly go through the theory behind some of the maths components</a:t>
            </a:r>
          </a:p>
        </p:txBody>
      </p:sp>
    </p:spTree>
    <p:extLst>
      <p:ext uri="{BB962C8B-B14F-4D97-AF65-F5344CB8AC3E}">
        <p14:creationId xmlns:p14="http://schemas.microsoft.com/office/powerpoint/2010/main" val="26758247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8" name="Rectangle 4">
            <a:extLst>
              <a:ext uri="{FF2B5EF4-FFF2-40B4-BE49-F238E27FC236}">
                <a16:creationId xmlns:a16="http://schemas.microsoft.com/office/drawing/2014/main" id="{8E1CF2EB-1E26-00AC-2AB6-7D679D9015A4}"/>
              </a:ext>
            </a:extLst>
          </p:cNvPr>
          <p:cNvSpPr>
            <a:spLocks noGrp="1" noChangeArrowheads="1"/>
          </p:cNvSpPr>
          <p:nvPr>
            <p:ph type="body" idx="1"/>
          </p:nvPr>
        </p:nvSpPr>
        <p:spPr>
          <a:xfrm>
            <a:off x="361464" y="1657535"/>
            <a:ext cx="10659462" cy="4828477"/>
          </a:xfrm>
          <a:noFill/>
        </p:spPr>
        <p:txBody>
          <a:bodyPr vert="horz" wrap="square" lIns="91429" tIns="45715" rIns="91429" bIns="45715" numCol="1" anchor="t" anchorCtr="0" compatLnSpc="1">
            <a:prstTxWarp prst="textNoShape">
              <a:avLst/>
            </a:prstTxWarp>
            <a:normAutofit/>
          </a:bodyPr>
          <a:lstStyle/>
          <a:p>
            <a:pPr marL="0" indent="0" eaLnBrk="1" hangingPunct="1">
              <a:buNone/>
            </a:pPr>
            <a:r>
              <a:rPr lang="en-US" altLang="en-US" sz="2000" dirty="0">
                <a:latin typeface="Calibri" panose="020F0502020204030204" pitchFamily="34" charset="0"/>
                <a:cs typeface="Calibri" panose="020F0502020204030204" pitchFamily="34" charset="0"/>
              </a:rPr>
              <a:t>What emits radiation?</a:t>
            </a:r>
          </a:p>
          <a:p>
            <a:pPr marL="304815" lvl="1" indent="0" eaLnBrk="1" hangingPunct="1">
              <a:buNone/>
            </a:pPr>
            <a:r>
              <a:rPr lang="en-US" altLang="en-US" sz="2000" dirty="0">
                <a:latin typeface="Calibri" panose="020F0502020204030204" pitchFamily="34" charset="0"/>
                <a:cs typeface="Calibri" panose="020F0502020204030204" pitchFamily="34" charset="0"/>
              </a:rPr>
              <a:t>All objects with a temperature greater than 0 K emit some type of radiation (energy)</a:t>
            </a:r>
          </a:p>
          <a:p>
            <a:pPr marL="304815" lvl="1" indent="0" eaLnBrk="1" hangingPunct="1">
              <a:buNone/>
            </a:pPr>
            <a:r>
              <a:rPr lang="en-US" altLang="en-US" sz="2000" dirty="0">
                <a:latin typeface="Calibri" panose="020F0502020204030204" pitchFamily="34" charset="0"/>
                <a:cs typeface="Calibri" panose="020F0502020204030204" pitchFamily="34" charset="0"/>
              </a:rPr>
              <a:t>This is viewed as an energy spectrum </a:t>
            </a:r>
          </a:p>
          <a:p>
            <a:pPr marL="0" indent="0" eaLnBrk="1" hangingPunct="1">
              <a:buNone/>
            </a:pPr>
            <a:endParaRPr lang="en-US" altLang="en-US" sz="2000" dirty="0">
              <a:latin typeface="Calibri" panose="020F0502020204030204" pitchFamily="34" charset="0"/>
              <a:cs typeface="Calibri" panose="020F0502020204030204" pitchFamily="34" charset="0"/>
            </a:endParaRPr>
          </a:p>
          <a:p>
            <a:pPr marL="0" indent="0" eaLnBrk="1" hangingPunct="1">
              <a:buNone/>
            </a:pPr>
            <a:endParaRPr lang="en-US" altLang="en-US" sz="2000" dirty="0">
              <a:latin typeface="Calibri" panose="020F0502020204030204" pitchFamily="34" charset="0"/>
              <a:cs typeface="Calibri" panose="020F0502020204030204" pitchFamily="34" charset="0"/>
            </a:endParaRPr>
          </a:p>
          <a:p>
            <a:pPr marL="0" indent="0" eaLnBrk="1" hangingPunct="1">
              <a:buNone/>
            </a:pPr>
            <a:endParaRPr lang="en-US" altLang="en-US" sz="2000" dirty="0">
              <a:latin typeface="Calibri" panose="020F0502020204030204" pitchFamily="34" charset="0"/>
              <a:cs typeface="Calibri" panose="020F0502020204030204" pitchFamily="34" charset="0"/>
            </a:endParaRPr>
          </a:p>
          <a:p>
            <a:pPr marL="0" indent="0" eaLnBrk="1" hangingPunct="1">
              <a:buNone/>
            </a:pPr>
            <a:endParaRPr lang="en-US" altLang="en-US" sz="2000" dirty="0">
              <a:latin typeface="Calibri" panose="020F0502020204030204" pitchFamily="34" charset="0"/>
              <a:cs typeface="Calibri" panose="020F0502020204030204" pitchFamily="34" charset="0"/>
            </a:endParaRPr>
          </a:p>
          <a:p>
            <a:pPr marL="0" indent="0" eaLnBrk="1" hangingPunct="1">
              <a:buNone/>
            </a:pPr>
            <a:endParaRPr lang="en-US" altLang="en-US" sz="2000" dirty="0">
              <a:latin typeface="Calibri" panose="020F0502020204030204" pitchFamily="34" charset="0"/>
              <a:cs typeface="Calibri" panose="020F0502020204030204" pitchFamily="34" charset="0"/>
            </a:endParaRPr>
          </a:p>
          <a:p>
            <a:pPr marL="0" indent="0" eaLnBrk="1" hangingPunct="1">
              <a:buNone/>
            </a:pPr>
            <a:endParaRPr lang="en-US" altLang="en-US" sz="2000" dirty="0">
              <a:latin typeface="Calibri" panose="020F0502020204030204" pitchFamily="34" charset="0"/>
              <a:cs typeface="Calibri" panose="020F0502020204030204" pitchFamily="34" charset="0"/>
            </a:endParaRPr>
          </a:p>
          <a:p>
            <a:pPr marL="0" indent="0" eaLnBrk="1" hangingPunct="1">
              <a:buNone/>
            </a:pPr>
            <a:r>
              <a:rPr lang="en-US" altLang="en-US" sz="2000" dirty="0">
                <a:latin typeface="Calibri" panose="020F0502020204030204" pitchFamily="34" charset="0"/>
                <a:cs typeface="Calibri" panose="020F0502020204030204" pitchFamily="34" charset="0"/>
              </a:rPr>
              <a:t>Radiation laws:</a:t>
            </a:r>
          </a:p>
          <a:p>
            <a:pPr lvl="1">
              <a:buFont typeface="Arial" panose="020B0604020202020204" pitchFamily="34" charset="0"/>
              <a:buChar char="•"/>
            </a:pPr>
            <a:r>
              <a:rPr lang="en-US" altLang="en-US" sz="2000" dirty="0">
                <a:latin typeface="Calibri" panose="020F0502020204030204" pitchFamily="34" charset="0"/>
                <a:cs typeface="Calibri" panose="020F0502020204030204" pitchFamily="34" charset="0"/>
              </a:rPr>
              <a:t>Warmer objects emit more intensely than cold objects. (Stefan-Boltzmann Law)</a:t>
            </a:r>
          </a:p>
          <a:p>
            <a:pPr lvl="1">
              <a:buFont typeface="Arial" panose="020B0604020202020204" pitchFamily="34" charset="0"/>
              <a:buChar char="•"/>
            </a:pPr>
            <a:r>
              <a:rPr lang="en-US" altLang="en-US" sz="2000" dirty="0">
                <a:latin typeface="Calibri" panose="020F0502020204030204" pitchFamily="34" charset="0"/>
                <a:cs typeface="Calibri" panose="020F0502020204030204" pitchFamily="34" charset="0"/>
              </a:rPr>
              <a:t>Warmer objects emit a higher proportion of their energy at short wavelengths.  (Wien’s Law)</a:t>
            </a:r>
          </a:p>
        </p:txBody>
      </p:sp>
      <p:sp>
        <p:nvSpPr>
          <p:cNvPr id="2" name="Freeform 13">
            <a:extLst>
              <a:ext uri="{FF2B5EF4-FFF2-40B4-BE49-F238E27FC236}">
                <a16:creationId xmlns:a16="http://schemas.microsoft.com/office/drawing/2014/main" id="{69AD0F7B-F916-8405-540D-3318AA87B326}"/>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3" name="TextBox 14">
            <a:extLst>
              <a:ext uri="{FF2B5EF4-FFF2-40B4-BE49-F238E27FC236}">
                <a16:creationId xmlns:a16="http://schemas.microsoft.com/office/drawing/2014/main" id="{35C246E0-A80E-5FFA-62D9-12C46BE9997B}"/>
              </a:ext>
            </a:extLst>
          </p:cNvPr>
          <p:cNvSpPr txBox="1"/>
          <p:nvPr/>
        </p:nvSpPr>
        <p:spPr>
          <a:xfrm>
            <a:off x="389465" y="684091"/>
            <a:ext cx="7336552"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Electromagnetic Radiation</a:t>
            </a:r>
          </a:p>
        </p:txBody>
      </p:sp>
      <p:pic>
        <p:nvPicPr>
          <p:cNvPr id="6" name="Picture 5" descr="A diagram of a spectrum&#10;&#10;AI-generated content may be incorrect.">
            <a:extLst>
              <a:ext uri="{FF2B5EF4-FFF2-40B4-BE49-F238E27FC236}">
                <a16:creationId xmlns:a16="http://schemas.microsoft.com/office/drawing/2014/main" id="{8B6D12DD-A56F-2BD7-B09E-DF37A918DF74}"/>
              </a:ext>
            </a:extLst>
          </p:cNvPr>
          <p:cNvPicPr>
            <a:picLocks noChangeAspect="1"/>
          </p:cNvPicPr>
          <p:nvPr/>
        </p:nvPicPr>
        <p:blipFill>
          <a:blip r:embed="rId4"/>
          <a:stretch>
            <a:fillRect/>
          </a:stretch>
        </p:blipFill>
        <p:spPr>
          <a:xfrm>
            <a:off x="4868779" y="2506595"/>
            <a:ext cx="3738214" cy="269387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108548">
                                            <p:txEl>
                                              <p:pRg st="0" end="0"/>
                                            </p:txEl>
                                          </p:spTgt>
                                        </p:tgtEl>
                                        <p:attrNameLst>
                                          <p:attrName>style.visibility</p:attrName>
                                        </p:attrNameLst>
                                      </p:cBhvr>
                                      <p:to>
                                        <p:strVal val="visible"/>
                                      </p:to>
                                    </p:set>
                                    <p:animEffect transition="in" filter="wipe(left)">
                                      <p:cBhvr>
                                        <p:cTn id="7" dur="500"/>
                                        <p:tgtEl>
                                          <p:spTgt spid="10854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8548">
                                            <p:txEl>
                                              <p:pRg st="1" end="1"/>
                                            </p:txEl>
                                          </p:spTgt>
                                        </p:tgtEl>
                                        <p:attrNameLst>
                                          <p:attrName>style.visibility</p:attrName>
                                        </p:attrNameLst>
                                      </p:cBhvr>
                                      <p:to>
                                        <p:strVal val="visible"/>
                                      </p:to>
                                    </p:set>
                                    <p:animEffect transition="in" filter="wipe(left)">
                                      <p:cBhvr>
                                        <p:cTn id="12" dur="500"/>
                                        <p:tgtEl>
                                          <p:spTgt spid="10854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8548">
                                            <p:txEl>
                                              <p:pRg st="2" end="2"/>
                                            </p:txEl>
                                          </p:spTgt>
                                        </p:tgtEl>
                                        <p:attrNameLst>
                                          <p:attrName>style.visibility</p:attrName>
                                        </p:attrNameLst>
                                      </p:cBhvr>
                                      <p:to>
                                        <p:strVal val="visible"/>
                                      </p:to>
                                    </p:set>
                                    <p:animEffect transition="in" filter="wipe(left)">
                                      <p:cBhvr>
                                        <p:cTn id="17" dur="500"/>
                                        <p:tgtEl>
                                          <p:spTgt spid="10854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08548">
                                            <p:txEl>
                                              <p:pRg st="9" end="9"/>
                                            </p:txEl>
                                          </p:spTgt>
                                        </p:tgtEl>
                                        <p:attrNameLst>
                                          <p:attrName>style.visibility</p:attrName>
                                        </p:attrNameLst>
                                      </p:cBhvr>
                                      <p:to>
                                        <p:strVal val="visible"/>
                                      </p:to>
                                    </p:set>
                                    <p:animEffect transition="in" filter="wipe(left)">
                                      <p:cBhvr>
                                        <p:cTn id="26" dur="500"/>
                                        <p:tgtEl>
                                          <p:spTgt spid="108548">
                                            <p:txEl>
                                              <p:pRg st="9" end="9"/>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08548">
                                            <p:txEl>
                                              <p:pRg st="10" end="10"/>
                                            </p:txEl>
                                          </p:spTgt>
                                        </p:tgtEl>
                                        <p:attrNameLst>
                                          <p:attrName>style.visibility</p:attrName>
                                        </p:attrNameLst>
                                      </p:cBhvr>
                                      <p:to>
                                        <p:strVal val="visible"/>
                                      </p:to>
                                    </p:set>
                                    <p:animEffect transition="in" filter="wipe(left)">
                                      <p:cBhvr>
                                        <p:cTn id="31" dur="500"/>
                                        <p:tgtEl>
                                          <p:spTgt spid="108548">
                                            <p:txEl>
                                              <p:pRg st="10" end="1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08548">
                                            <p:txEl>
                                              <p:pRg st="11" end="11"/>
                                            </p:txEl>
                                          </p:spTgt>
                                        </p:tgtEl>
                                        <p:attrNameLst>
                                          <p:attrName>style.visibility</p:attrName>
                                        </p:attrNameLst>
                                      </p:cBhvr>
                                      <p:to>
                                        <p:strVal val="visible"/>
                                      </p:to>
                                    </p:set>
                                    <p:animEffect transition="in" filter="wipe(left)">
                                      <p:cBhvr>
                                        <p:cTn id="36" dur="500"/>
                                        <p:tgtEl>
                                          <p:spTgt spid="108548">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8"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4" descr="Chart, histogram&#10;&#10;Description automatically generated">
            <a:extLst>
              <a:ext uri="{FF2B5EF4-FFF2-40B4-BE49-F238E27FC236}">
                <a16:creationId xmlns:a16="http://schemas.microsoft.com/office/drawing/2014/main" id="{653448A1-75FA-0CCF-098A-71E0A97E74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9465" y="1463948"/>
            <a:ext cx="5877966" cy="4897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2">
            <a:extLst>
              <a:ext uri="{FF2B5EF4-FFF2-40B4-BE49-F238E27FC236}">
                <a16:creationId xmlns:a16="http://schemas.microsoft.com/office/drawing/2014/main" id="{B99F9141-8AE3-DB4B-AED8-09C7C1ECE776}"/>
              </a:ext>
            </a:extLst>
          </p:cNvPr>
          <p:cNvSpPr>
            <a:spLocks noGrp="1"/>
          </p:cNvSpPr>
          <p:nvPr>
            <p:ph idx="1"/>
          </p:nvPr>
        </p:nvSpPr>
        <p:spPr>
          <a:xfrm>
            <a:off x="6267431" y="1579857"/>
            <a:ext cx="5329237" cy="2089150"/>
          </a:xfrm>
        </p:spPr>
        <p:txBody>
          <a:bodyPr rtlCol="0">
            <a:noAutofit/>
          </a:bodyPr>
          <a:lstStyle/>
          <a:p>
            <a:pPr marL="0" indent="0" eaLnBrk="1" fontAlgn="auto" hangingPunct="1">
              <a:spcAft>
                <a:spcPts val="0"/>
              </a:spcAft>
              <a:buFont typeface="Arial" panose="020B0604020202020204" pitchFamily="34" charset="0"/>
              <a:buNone/>
              <a:defRPr/>
            </a:pPr>
            <a:r>
              <a:rPr lang="en-US" altLang="en-US" sz="2400" dirty="0">
                <a:latin typeface="Calibri" panose="020F0502020204030204" pitchFamily="34" charset="0"/>
                <a:cs typeface="Calibri" panose="020F0502020204030204" pitchFamily="34" charset="0"/>
              </a:rPr>
              <a:t>As temperature increases:</a:t>
            </a:r>
          </a:p>
          <a:p>
            <a:pPr>
              <a:defRPr/>
            </a:pPr>
            <a:r>
              <a:rPr lang="en-US" altLang="en-US" sz="2400" dirty="0">
                <a:latin typeface="Calibri" panose="020F0502020204030204" pitchFamily="34" charset="0"/>
                <a:cs typeface="Calibri" panose="020F0502020204030204" pitchFamily="34" charset="0"/>
              </a:rPr>
              <a:t>Total energy increases</a:t>
            </a:r>
          </a:p>
          <a:p>
            <a:pPr>
              <a:defRPr/>
            </a:pPr>
            <a:r>
              <a:rPr lang="en-US" altLang="en-US" sz="2400" dirty="0">
                <a:latin typeface="Calibri" panose="020F0502020204030204" pitchFamily="34" charset="0"/>
                <a:cs typeface="Calibri" panose="020F0502020204030204" pitchFamily="34" charset="0"/>
              </a:rPr>
              <a:t>Peak wavelength decreases</a:t>
            </a:r>
            <a:endParaRPr lang="en-US" sz="2400" b="1" dirty="0">
              <a:latin typeface="Calibri" panose="020F0502020204030204" pitchFamily="34" charset="0"/>
              <a:cs typeface="Calibri" panose="020F0502020204030204" pitchFamily="34" charset="0"/>
            </a:endParaRPr>
          </a:p>
        </p:txBody>
      </p:sp>
      <p:sp>
        <p:nvSpPr>
          <p:cNvPr id="2" name="Freeform 13">
            <a:extLst>
              <a:ext uri="{FF2B5EF4-FFF2-40B4-BE49-F238E27FC236}">
                <a16:creationId xmlns:a16="http://schemas.microsoft.com/office/drawing/2014/main" id="{6D567399-11DC-6CFD-830C-94752BF33B1E}"/>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3" name="TextBox 14">
            <a:extLst>
              <a:ext uri="{FF2B5EF4-FFF2-40B4-BE49-F238E27FC236}">
                <a16:creationId xmlns:a16="http://schemas.microsoft.com/office/drawing/2014/main" id="{96B1CD82-2BD3-C256-7CE3-617B02E2427E}"/>
              </a:ext>
            </a:extLst>
          </p:cNvPr>
          <p:cNvSpPr txBox="1"/>
          <p:nvPr/>
        </p:nvSpPr>
        <p:spPr>
          <a:xfrm>
            <a:off x="389465" y="684091"/>
            <a:ext cx="7336552"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Radiation Laws Combined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11" descr="solar_vs_terrestrial">
            <a:extLst>
              <a:ext uri="{FF2B5EF4-FFF2-40B4-BE49-F238E27FC236}">
                <a16:creationId xmlns:a16="http://schemas.microsoft.com/office/drawing/2014/main" id="{69222C9B-F060-36FF-4886-2FCC2E6683E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8076"/>
          <a:stretch>
            <a:fillRect/>
          </a:stretch>
        </p:blipFill>
        <p:spPr bwMode="auto">
          <a:xfrm>
            <a:off x="447316" y="1499333"/>
            <a:ext cx="6753337" cy="4797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6" name="TextBox 1">
            <a:extLst>
              <a:ext uri="{FF2B5EF4-FFF2-40B4-BE49-F238E27FC236}">
                <a16:creationId xmlns:a16="http://schemas.microsoft.com/office/drawing/2014/main" id="{1D1B1E6A-3ABB-9F53-BA6C-CCD3EA5C4176}"/>
              </a:ext>
            </a:extLst>
          </p:cNvPr>
          <p:cNvSpPr txBox="1">
            <a:spLocks noChangeArrowheads="1"/>
          </p:cNvSpPr>
          <p:nvPr/>
        </p:nvSpPr>
        <p:spPr bwMode="auto">
          <a:xfrm>
            <a:off x="3532679" y="4048290"/>
            <a:ext cx="5826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GB" altLang="en-US" sz="2000" b="1" dirty="0">
                <a:latin typeface="Times New Roman" panose="02020603050405020304" pitchFamily="18" charset="0"/>
              </a:rPr>
              <a:t>SW</a:t>
            </a:r>
          </a:p>
        </p:txBody>
      </p:sp>
      <p:sp>
        <p:nvSpPr>
          <p:cNvPr id="38917" name="TextBox 4">
            <a:extLst>
              <a:ext uri="{FF2B5EF4-FFF2-40B4-BE49-F238E27FC236}">
                <a16:creationId xmlns:a16="http://schemas.microsoft.com/office/drawing/2014/main" id="{9DF83966-7EBB-E80F-F5FE-BFCA0F046C20}"/>
              </a:ext>
            </a:extLst>
          </p:cNvPr>
          <p:cNvSpPr txBox="1">
            <a:spLocks noChangeArrowheads="1"/>
          </p:cNvSpPr>
          <p:nvPr/>
        </p:nvSpPr>
        <p:spPr bwMode="auto">
          <a:xfrm>
            <a:off x="5236670" y="4448340"/>
            <a:ext cx="5889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GB" altLang="en-US" sz="2000" b="1" dirty="0">
                <a:latin typeface="Times New Roman" panose="02020603050405020304" pitchFamily="18" charset="0"/>
              </a:rPr>
              <a:t>LW</a:t>
            </a:r>
          </a:p>
        </p:txBody>
      </p:sp>
      <p:sp>
        <p:nvSpPr>
          <p:cNvPr id="2" name="Freeform 13">
            <a:extLst>
              <a:ext uri="{FF2B5EF4-FFF2-40B4-BE49-F238E27FC236}">
                <a16:creationId xmlns:a16="http://schemas.microsoft.com/office/drawing/2014/main" id="{927B573B-BCF9-D335-F6B4-DC1BD5D28523}"/>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30">
              <a:defRPr/>
            </a:pPr>
            <a:endParaRPr lang="en-GB" sz="2000">
              <a:solidFill>
                <a:prstClr val="black"/>
              </a:solidFill>
              <a:latin typeface="Calibri" panose="020F0502020204030204" pitchFamily="34" charset="0"/>
              <a:cs typeface="Calibri" panose="020F0502020204030204" pitchFamily="34" charset="0"/>
            </a:endParaRPr>
          </a:p>
        </p:txBody>
      </p:sp>
      <p:sp>
        <p:nvSpPr>
          <p:cNvPr id="3" name="TextBox 14">
            <a:extLst>
              <a:ext uri="{FF2B5EF4-FFF2-40B4-BE49-F238E27FC236}">
                <a16:creationId xmlns:a16="http://schemas.microsoft.com/office/drawing/2014/main" id="{767F088A-FEFF-8D66-A0EF-BC2F1BB07903}"/>
              </a:ext>
            </a:extLst>
          </p:cNvPr>
          <p:cNvSpPr txBox="1"/>
          <p:nvPr/>
        </p:nvSpPr>
        <p:spPr>
          <a:xfrm>
            <a:off x="389465" y="684091"/>
            <a:ext cx="7336552" cy="1179810"/>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Solar and Earth Spectrums</a:t>
            </a:r>
          </a:p>
          <a:p>
            <a:pPr defTabSz="609630">
              <a:lnSpc>
                <a:spcPts val="4573"/>
              </a:lnSpc>
              <a:defRPr/>
            </a:pPr>
            <a:endParaRPr lang="en-US" sz="4000" i="1" spc="-275" dirty="0">
              <a:solidFill>
                <a:srgbClr val="46245A"/>
              </a:solidFill>
              <a:latin typeface="DM Sans Bold"/>
            </a:endParaRPr>
          </a:p>
        </p:txBody>
      </p:sp>
      <p:sp>
        <p:nvSpPr>
          <p:cNvPr id="4" name="Content Placeholder 2">
            <a:extLst>
              <a:ext uri="{FF2B5EF4-FFF2-40B4-BE49-F238E27FC236}">
                <a16:creationId xmlns:a16="http://schemas.microsoft.com/office/drawing/2014/main" id="{A467C5DA-A8DA-6EFB-6AE4-0469BCAF1101}"/>
              </a:ext>
            </a:extLst>
          </p:cNvPr>
          <p:cNvSpPr txBox="1">
            <a:spLocks/>
          </p:cNvSpPr>
          <p:nvPr/>
        </p:nvSpPr>
        <p:spPr>
          <a:xfrm>
            <a:off x="7465166" y="1627423"/>
            <a:ext cx="5329237" cy="2089150"/>
          </a:xfrm>
          <a:prstGeom prst="rect">
            <a:avLst/>
          </a:prstGeom>
        </p:spPr>
        <p:txBody>
          <a:bodyPr rtlCol="0">
            <a:noAutofit/>
          </a:bodyPr>
          <a:lstStyle>
            <a:lvl1pPr marL="228611" indent="-228611" algn="l" defTabSz="609630" rtl="0" eaLnBrk="1" latinLnBrk="0" hangingPunct="1">
              <a:spcBef>
                <a:spcPct val="20000"/>
              </a:spcBef>
              <a:buFont typeface="DM Sans" pitchFamily="34" charset="0"/>
              <a:buChar char="•"/>
              <a:defRPr sz="2133" kern="1200">
                <a:solidFill>
                  <a:schemeClr val="tx1"/>
                </a:solidFill>
                <a:latin typeface="DM Sans" pitchFamily="2" charset="0"/>
                <a:ea typeface="+mn-ea"/>
                <a:cs typeface="+mn-cs"/>
              </a:defRPr>
            </a:lvl1pPr>
            <a:lvl2pPr marL="495325" indent="-190510" algn="l" defTabSz="609630" rtl="0" eaLnBrk="1" latinLnBrk="0" hangingPunct="1">
              <a:spcBef>
                <a:spcPct val="20000"/>
              </a:spcBef>
              <a:buFont typeface="DM Sans" pitchFamily="34" charset="0"/>
              <a:buChar char="–"/>
              <a:defRPr sz="1867" kern="1200">
                <a:solidFill>
                  <a:schemeClr val="tx1"/>
                </a:solidFill>
                <a:latin typeface="DM Sans" pitchFamily="2" charset="0"/>
                <a:ea typeface="+mn-ea"/>
                <a:cs typeface="+mn-cs"/>
              </a:defRPr>
            </a:lvl2pPr>
            <a:lvl3pPr marL="762038" indent="-152408" algn="l" defTabSz="609630" rtl="0" eaLnBrk="1" latinLnBrk="0" hangingPunct="1">
              <a:spcBef>
                <a:spcPct val="20000"/>
              </a:spcBef>
              <a:buFont typeface="DM Sans" pitchFamily="34" charset="0"/>
              <a:buChar char="•"/>
              <a:defRPr sz="1600" kern="1200">
                <a:solidFill>
                  <a:schemeClr val="tx1"/>
                </a:solidFill>
                <a:latin typeface="DM Sans" pitchFamily="2" charset="0"/>
                <a:ea typeface="+mn-ea"/>
                <a:cs typeface="+mn-cs"/>
              </a:defRPr>
            </a:lvl3pPr>
            <a:lvl4pPr marL="1066853" indent="-152408" algn="l" defTabSz="609630" rtl="0" eaLnBrk="1" latinLnBrk="0" hangingPunct="1">
              <a:spcBef>
                <a:spcPct val="20000"/>
              </a:spcBef>
              <a:buFont typeface="DM Sans" pitchFamily="34" charset="0"/>
              <a:buChar char="–"/>
              <a:defRPr sz="1333" kern="1200">
                <a:solidFill>
                  <a:schemeClr val="tx1"/>
                </a:solidFill>
                <a:latin typeface="DM Sans" pitchFamily="2" charset="0"/>
                <a:ea typeface="+mn-ea"/>
                <a:cs typeface="+mn-cs"/>
              </a:defRPr>
            </a:lvl4pPr>
            <a:lvl5pPr marL="1371669" indent="-152408" algn="l" defTabSz="609630" rtl="0" eaLnBrk="1" latinLnBrk="0" hangingPunct="1">
              <a:spcBef>
                <a:spcPct val="20000"/>
              </a:spcBef>
              <a:buFont typeface="DM Sans" pitchFamily="34" charset="0"/>
              <a:buChar char="»"/>
              <a:defRPr sz="1333" kern="1200">
                <a:solidFill>
                  <a:schemeClr val="tx1"/>
                </a:solidFill>
                <a:latin typeface="DM Sans" pitchFamily="2" charset="0"/>
                <a:ea typeface="+mn-ea"/>
                <a:cs typeface="+mn-cs"/>
              </a:defRPr>
            </a:lvl5pPr>
            <a:lvl6pPr marL="1676484"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9pPr>
          </a:lstStyle>
          <a:p>
            <a:pPr marL="0" indent="0">
              <a:buFont typeface="Arial" panose="020B0604020202020204" pitchFamily="34" charset="0"/>
              <a:buNone/>
              <a:defRPr/>
            </a:pPr>
            <a:r>
              <a:rPr lang="en-US" altLang="en-US" sz="2000" dirty="0">
                <a:latin typeface="Calibri" panose="020F0502020204030204" pitchFamily="34" charset="0"/>
                <a:cs typeface="Calibri" panose="020F0502020204030204" pitchFamily="34" charset="0"/>
              </a:rPr>
              <a:t>As temperature increases:</a:t>
            </a:r>
          </a:p>
          <a:p>
            <a:pPr>
              <a:defRPr/>
            </a:pPr>
            <a:r>
              <a:rPr lang="en-US" altLang="en-US" sz="2000" dirty="0">
                <a:latin typeface="Calibri" panose="020F0502020204030204" pitchFamily="34" charset="0"/>
                <a:cs typeface="Calibri" panose="020F0502020204030204" pitchFamily="34" charset="0"/>
              </a:rPr>
              <a:t>Total energy increases</a:t>
            </a:r>
          </a:p>
          <a:p>
            <a:pPr>
              <a:defRPr/>
            </a:pPr>
            <a:r>
              <a:rPr lang="en-US" altLang="en-US" sz="2000" dirty="0">
                <a:latin typeface="Calibri" panose="020F0502020204030204" pitchFamily="34" charset="0"/>
                <a:cs typeface="Calibri" panose="020F0502020204030204" pitchFamily="34" charset="0"/>
              </a:rPr>
              <a:t>Peak wavelength decreases</a:t>
            </a:r>
            <a:endParaRPr lang="en-US" sz="2000" b="1" dirty="0">
              <a:latin typeface="Calibri" panose="020F0502020204030204" pitchFamily="34" charset="0"/>
              <a:cs typeface="Calibri" panose="020F0502020204030204" pitchFamily="34" charset="0"/>
            </a:endParaRPr>
          </a:p>
        </p:txBody>
      </p:sp>
      <p:sp>
        <p:nvSpPr>
          <p:cNvPr id="5" name="Rectangle 11">
            <a:extLst>
              <a:ext uri="{FF2B5EF4-FFF2-40B4-BE49-F238E27FC236}">
                <a16:creationId xmlns:a16="http://schemas.microsoft.com/office/drawing/2014/main" id="{4E7591A9-B14A-C995-DDFF-57471C29E129}"/>
              </a:ext>
            </a:extLst>
          </p:cNvPr>
          <p:cNvSpPr>
            <a:spLocks noChangeArrowheads="1"/>
          </p:cNvSpPr>
          <p:nvPr/>
        </p:nvSpPr>
        <p:spPr bwMode="auto">
          <a:xfrm>
            <a:off x="7410904" y="3709681"/>
            <a:ext cx="4524841" cy="1477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9" tIns="45715" rIns="91429" bIns="45715">
            <a:spAutoFit/>
          </a:bodyPr>
          <a:lstStyle>
            <a:lvl1pPr>
              <a:spcBef>
                <a:spcPct val="20000"/>
              </a:spcBef>
              <a:defRPr sz="3100">
                <a:solidFill>
                  <a:schemeClr val="tx1"/>
                </a:solidFill>
                <a:latin typeface="Arial" panose="020B0604020202020204" pitchFamily="34" charset="0"/>
              </a:defRPr>
            </a:lvl1pPr>
            <a:lvl2pPr marL="742950" indent="-285750">
              <a:spcBef>
                <a:spcPct val="20000"/>
              </a:spcBef>
              <a:buChar char="–"/>
              <a:defRPr sz="2700">
                <a:solidFill>
                  <a:schemeClr val="tx1"/>
                </a:solidFill>
                <a:latin typeface="Arial" panose="020B0604020202020204" pitchFamily="34" charset="0"/>
              </a:defRPr>
            </a:lvl2pPr>
            <a:lvl3pPr marL="1143000" indent="-228600">
              <a:spcBef>
                <a:spcPct val="20000"/>
              </a:spcBef>
              <a:buFont typeface="Wingdings" pitchFamily="2" charset="2"/>
              <a:buChar char="§"/>
              <a:defRPr sz="23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eaLnBrk="1" hangingPunct="1">
              <a:spcBef>
                <a:spcPct val="50000"/>
              </a:spcBef>
            </a:pPr>
            <a:r>
              <a:rPr lang="en-GB" altLang="en-US" sz="2000" dirty="0">
                <a:latin typeface="Calibri" panose="020F0502020204030204" pitchFamily="34" charset="0"/>
                <a:cs typeface="Calibri" panose="020F0502020204030204" pitchFamily="34" charset="0"/>
              </a:rPr>
              <a:t>Little overlap between the incoming solar radiation and the outgoing infra-red radiation from the Earth’s surface.  </a:t>
            </a:r>
          </a:p>
          <a:p>
            <a:pPr eaLnBrk="1" hangingPunct="1">
              <a:spcBef>
                <a:spcPct val="50000"/>
              </a:spcBef>
            </a:pPr>
            <a:r>
              <a:rPr lang="en-GB" altLang="en-US" sz="2000" dirty="0">
                <a:latin typeface="Calibri" panose="020F0502020204030204" pitchFamily="34" charset="0"/>
                <a:cs typeface="Calibri" panose="020F0502020204030204" pitchFamily="34" charset="0"/>
              </a:rPr>
              <a:t>Separated by a gap at around 4 </a:t>
            </a:r>
            <a:r>
              <a:rPr lang="en-GB" altLang="en-US" sz="2000" dirty="0">
                <a:latin typeface="Calibri" panose="020F0502020204030204" pitchFamily="34" charset="0"/>
                <a:cs typeface="Calibri" panose="020F0502020204030204" pitchFamily="34" charset="0"/>
                <a:sym typeface="Symbol" pitchFamily="2" charset="2"/>
              </a:rPr>
              <a:t></a:t>
            </a:r>
            <a:r>
              <a:rPr lang="en-GB" altLang="en-US" sz="2000" dirty="0">
                <a:latin typeface="Calibri" panose="020F0502020204030204" pitchFamily="34" charset="0"/>
                <a:cs typeface="Calibri" panose="020F0502020204030204" pitchFamily="34" charset="0"/>
              </a:rPr>
              <a:t>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7" name="Line 6">
            <a:extLst>
              <a:ext uri="{FF2B5EF4-FFF2-40B4-BE49-F238E27FC236}">
                <a16:creationId xmlns:a16="http://schemas.microsoft.com/office/drawing/2014/main" id="{A765FFC9-5111-A8FB-A35F-A1E8DE603749}"/>
              </a:ext>
            </a:extLst>
          </p:cNvPr>
          <p:cNvSpPr>
            <a:spLocks noChangeShapeType="1"/>
          </p:cNvSpPr>
          <p:nvPr/>
        </p:nvSpPr>
        <p:spPr bwMode="auto">
          <a:xfrm>
            <a:off x="1568976" y="5068087"/>
            <a:ext cx="51816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latin typeface="Calibri" panose="020F0502020204030204" pitchFamily="34" charset="0"/>
              <a:cs typeface="Calibri" panose="020F0502020204030204" pitchFamily="34" charset="0"/>
            </a:endParaRPr>
          </a:p>
        </p:txBody>
      </p:sp>
      <p:sp>
        <p:nvSpPr>
          <p:cNvPr id="21508" name="Line 7">
            <a:extLst>
              <a:ext uri="{FF2B5EF4-FFF2-40B4-BE49-F238E27FC236}">
                <a16:creationId xmlns:a16="http://schemas.microsoft.com/office/drawing/2014/main" id="{61703924-4CB0-8495-8718-773637701BCF}"/>
              </a:ext>
            </a:extLst>
          </p:cNvPr>
          <p:cNvSpPr>
            <a:spLocks noChangeShapeType="1"/>
          </p:cNvSpPr>
          <p:nvPr/>
        </p:nvSpPr>
        <p:spPr bwMode="auto">
          <a:xfrm>
            <a:off x="1973789" y="2599524"/>
            <a:ext cx="0" cy="2446338"/>
          </a:xfrm>
          <a:prstGeom prst="line">
            <a:avLst/>
          </a:prstGeom>
          <a:noFill/>
          <a:ln w="12700">
            <a:solidFill>
              <a:schemeClr val="tx1"/>
            </a:solidFill>
            <a:round/>
            <a:headEnd type="none" w="sm" len="sm"/>
            <a:tailEnd type="triangle" w="lg" len="lg"/>
          </a:ln>
          <a:extLst>
            <a:ext uri="{909E8E84-426E-40DD-AFC4-6F175D3DCCD1}">
              <a14:hiddenFill xmlns:a14="http://schemas.microsoft.com/office/drawing/2010/main">
                <a:noFill/>
              </a14:hiddenFill>
            </a:ext>
          </a:extLst>
        </p:spPr>
        <p:txBody>
          <a:bodyPr/>
          <a:lstStyle/>
          <a:p>
            <a:endParaRPr lang="en-US">
              <a:latin typeface="Calibri" panose="020F0502020204030204" pitchFamily="34" charset="0"/>
              <a:cs typeface="Calibri" panose="020F0502020204030204" pitchFamily="34" charset="0"/>
            </a:endParaRPr>
          </a:p>
        </p:txBody>
      </p:sp>
      <p:sp>
        <p:nvSpPr>
          <p:cNvPr id="21509" name="Text Box 4">
            <a:extLst>
              <a:ext uri="{FF2B5EF4-FFF2-40B4-BE49-F238E27FC236}">
                <a16:creationId xmlns:a16="http://schemas.microsoft.com/office/drawing/2014/main" id="{A48EE82D-079B-B802-F883-2EFF183CFCBB}"/>
              </a:ext>
            </a:extLst>
          </p:cNvPr>
          <p:cNvSpPr txBox="1">
            <a:spLocks noChangeArrowheads="1"/>
          </p:cNvSpPr>
          <p:nvPr/>
        </p:nvSpPr>
        <p:spPr bwMode="auto">
          <a:xfrm>
            <a:off x="389464" y="1518437"/>
            <a:ext cx="316865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1429" tIns="45715" rIns="91429" bIns="45715">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dirty="0">
                <a:cs typeface="Calibri" panose="020F0502020204030204" pitchFamily="34" charset="0"/>
              </a:rPr>
              <a:t>Energy entering top of atmosphere</a:t>
            </a:r>
          </a:p>
        </p:txBody>
      </p:sp>
      <p:sp>
        <p:nvSpPr>
          <p:cNvPr id="109573" name="Text Box 5">
            <a:extLst>
              <a:ext uri="{FF2B5EF4-FFF2-40B4-BE49-F238E27FC236}">
                <a16:creationId xmlns:a16="http://schemas.microsoft.com/office/drawing/2014/main" id="{91034F01-34BD-2F47-3016-DD7C17905589}"/>
              </a:ext>
            </a:extLst>
          </p:cNvPr>
          <p:cNvSpPr txBox="1">
            <a:spLocks noChangeArrowheads="1"/>
          </p:cNvSpPr>
          <p:nvPr/>
        </p:nvSpPr>
        <p:spPr bwMode="auto">
          <a:xfrm>
            <a:off x="4141143" y="1518437"/>
            <a:ext cx="2862262"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1429" tIns="45715" rIns="91429" bIns="45715">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dirty="0">
                <a:cs typeface="Calibri" panose="020F0502020204030204" pitchFamily="34" charset="0"/>
              </a:rPr>
              <a:t>Energy leaving Earth’s surface</a:t>
            </a:r>
          </a:p>
        </p:txBody>
      </p:sp>
      <p:sp>
        <p:nvSpPr>
          <p:cNvPr id="21511" name="Line 9">
            <a:extLst>
              <a:ext uri="{FF2B5EF4-FFF2-40B4-BE49-F238E27FC236}">
                <a16:creationId xmlns:a16="http://schemas.microsoft.com/office/drawing/2014/main" id="{469656CB-C536-6E65-16B7-8255438A50C8}"/>
              </a:ext>
            </a:extLst>
          </p:cNvPr>
          <p:cNvSpPr>
            <a:spLocks noChangeShapeType="1"/>
          </p:cNvSpPr>
          <p:nvPr/>
        </p:nvSpPr>
        <p:spPr bwMode="auto">
          <a:xfrm>
            <a:off x="5568721" y="2599524"/>
            <a:ext cx="3553" cy="2460625"/>
          </a:xfrm>
          <a:prstGeom prst="line">
            <a:avLst/>
          </a:prstGeom>
          <a:noFill/>
          <a:ln w="12700">
            <a:solidFill>
              <a:schemeClr val="tx1"/>
            </a:solidFill>
            <a:round/>
            <a:headEnd type="triangle" w="lg" len="lg"/>
            <a:tailEnd type="none" w="lg" len="lg"/>
          </a:ln>
          <a:extLst>
            <a:ext uri="{909E8E84-426E-40DD-AFC4-6F175D3DCCD1}">
              <a14:hiddenFill xmlns:a14="http://schemas.microsoft.com/office/drawing/2010/main">
                <a:noFill/>
              </a14:hiddenFill>
            </a:ext>
          </a:extLst>
        </p:spPr>
        <p:txBody>
          <a:bodyPr/>
          <a:lstStyle/>
          <a:p>
            <a:endParaRPr lang="en-US">
              <a:latin typeface="Calibri" panose="020F0502020204030204" pitchFamily="34" charset="0"/>
              <a:cs typeface="Calibri" panose="020F0502020204030204" pitchFamily="34" charset="0"/>
            </a:endParaRPr>
          </a:p>
        </p:txBody>
      </p:sp>
      <p:sp>
        <p:nvSpPr>
          <p:cNvPr id="109579" name="Text Box 11">
            <a:extLst>
              <a:ext uri="{FF2B5EF4-FFF2-40B4-BE49-F238E27FC236}">
                <a16:creationId xmlns:a16="http://schemas.microsoft.com/office/drawing/2014/main" id="{1043623A-B6F3-6981-4289-580352B186AD}"/>
              </a:ext>
            </a:extLst>
          </p:cNvPr>
          <p:cNvSpPr txBox="1">
            <a:spLocks noChangeArrowheads="1"/>
          </p:cNvSpPr>
          <p:nvPr/>
        </p:nvSpPr>
        <p:spPr bwMode="auto">
          <a:xfrm>
            <a:off x="7341959" y="1810819"/>
            <a:ext cx="4034224" cy="36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lIns="91429" tIns="45715" rIns="91429" bIns="45715">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1800" dirty="0">
                <a:solidFill>
                  <a:srgbClr val="FF0000"/>
                </a:solidFill>
                <a:cs typeface="Calibri" panose="020F0502020204030204" pitchFamily="34" charset="0"/>
              </a:rPr>
              <a:t>Temperature of surface remains constant</a:t>
            </a:r>
          </a:p>
        </p:txBody>
      </p:sp>
      <p:sp>
        <p:nvSpPr>
          <p:cNvPr id="3" name="TextBox 2">
            <a:extLst>
              <a:ext uri="{FF2B5EF4-FFF2-40B4-BE49-F238E27FC236}">
                <a16:creationId xmlns:a16="http://schemas.microsoft.com/office/drawing/2014/main" id="{7554F54E-4950-8E88-7970-153939653809}"/>
              </a:ext>
            </a:extLst>
          </p:cNvPr>
          <p:cNvSpPr txBox="1">
            <a:spLocks noChangeArrowheads="1"/>
          </p:cNvSpPr>
          <p:nvPr/>
        </p:nvSpPr>
        <p:spPr bwMode="auto">
          <a:xfrm>
            <a:off x="3802589" y="1816887"/>
            <a:ext cx="3385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GB" altLang="en-US" sz="2400" b="1">
                <a:cs typeface="Calibri" panose="020F0502020204030204" pitchFamily="34" charset="0"/>
              </a:rPr>
              <a:t>=</a:t>
            </a:r>
          </a:p>
        </p:txBody>
      </p:sp>
      <p:sp>
        <p:nvSpPr>
          <p:cNvPr id="2" name="Freeform 13">
            <a:extLst>
              <a:ext uri="{FF2B5EF4-FFF2-40B4-BE49-F238E27FC236}">
                <a16:creationId xmlns:a16="http://schemas.microsoft.com/office/drawing/2014/main" id="{D9814E43-36F6-BF32-5192-E06EC55E17F5}"/>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6" name="TextBox 14">
            <a:extLst>
              <a:ext uri="{FF2B5EF4-FFF2-40B4-BE49-F238E27FC236}">
                <a16:creationId xmlns:a16="http://schemas.microsoft.com/office/drawing/2014/main" id="{10C6B94F-43C1-0C80-7E71-AD170CB0BC3E}"/>
              </a:ext>
            </a:extLst>
          </p:cNvPr>
          <p:cNvSpPr txBox="1"/>
          <p:nvPr/>
        </p:nvSpPr>
        <p:spPr>
          <a:xfrm>
            <a:off x="389464" y="684091"/>
            <a:ext cx="8738769"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Earth’s Energy Balance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9579"/>
                                        </p:tgtEl>
                                        <p:attrNameLst>
                                          <p:attrName>style.visibility</p:attrName>
                                        </p:attrNameLst>
                                      </p:cBhvr>
                                      <p:to>
                                        <p:strVal val="visible"/>
                                      </p:to>
                                    </p:set>
                                  </p:childTnLst>
                                </p:cTn>
                              </p:par>
                              <p:par>
                                <p:cTn id="7" presetID="10"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9" grpId="0"/>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A6844F9F-877D-CDCD-1DDC-3342D325D5E3}"/>
            </a:ext>
          </a:extLst>
        </p:cNvPr>
        <p:cNvGrpSpPr/>
        <p:nvPr/>
      </p:nvGrpSpPr>
      <p:grpSpPr>
        <a:xfrm>
          <a:off x="0" y="0"/>
          <a:ext cx="0" cy="0"/>
          <a:chOff x="0" y="0"/>
          <a:chExt cx="0" cy="0"/>
        </a:xfrm>
      </p:grpSpPr>
      <p:sp>
        <p:nvSpPr>
          <p:cNvPr id="2" name="Freeform 13">
            <a:extLst>
              <a:ext uri="{FF2B5EF4-FFF2-40B4-BE49-F238E27FC236}">
                <a16:creationId xmlns:a16="http://schemas.microsoft.com/office/drawing/2014/main" id="{1F54049C-7149-DAAA-C551-876B4B473DBA}"/>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6" name="TextBox 14">
            <a:extLst>
              <a:ext uri="{FF2B5EF4-FFF2-40B4-BE49-F238E27FC236}">
                <a16:creationId xmlns:a16="http://schemas.microsoft.com/office/drawing/2014/main" id="{68A80D64-1271-DBB2-079A-0A26AA01928D}"/>
              </a:ext>
            </a:extLst>
          </p:cNvPr>
          <p:cNvSpPr txBox="1"/>
          <p:nvPr/>
        </p:nvSpPr>
        <p:spPr>
          <a:xfrm>
            <a:off x="389464" y="684091"/>
            <a:ext cx="8738769"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Earth’s Energy Balance</a:t>
            </a:r>
          </a:p>
        </p:txBody>
      </p:sp>
      <p:sp>
        <p:nvSpPr>
          <p:cNvPr id="5" name="TextBox 4">
            <a:extLst>
              <a:ext uri="{FF2B5EF4-FFF2-40B4-BE49-F238E27FC236}">
                <a16:creationId xmlns:a16="http://schemas.microsoft.com/office/drawing/2014/main" id="{9B054C67-D097-976B-3A23-1CA7B59FCA08}"/>
              </a:ext>
            </a:extLst>
          </p:cNvPr>
          <p:cNvSpPr txBox="1"/>
          <p:nvPr/>
        </p:nvSpPr>
        <p:spPr>
          <a:xfrm>
            <a:off x="311819" y="1415761"/>
            <a:ext cx="6097604" cy="4801314"/>
          </a:xfrm>
          <a:prstGeom prst="rect">
            <a:avLst/>
          </a:prstGeom>
          <a:noFill/>
        </p:spPr>
        <p:txBody>
          <a:bodyPr wrap="square">
            <a:spAutoFit/>
          </a:bodyPr>
          <a:lstStyle/>
          <a:p>
            <a:pPr algn="l">
              <a:buNone/>
            </a:pPr>
            <a:r>
              <a:rPr lang="en-GB" b="1" i="0" dirty="0">
                <a:solidFill>
                  <a:srgbClr val="000000"/>
                </a:solidFill>
                <a:effectLst/>
                <a:latin typeface="Calibri" panose="020F0502020204030204" pitchFamily="34" charset="0"/>
                <a:cs typeface="Calibri" panose="020F0502020204030204" pitchFamily="34" charset="0"/>
              </a:rPr>
              <a:t>What is Radiative Forcing?</a:t>
            </a:r>
          </a:p>
          <a:p>
            <a:pPr algn="l">
              <a:buNone/>
            </a:pPr>
            <a:endParaRPr lang="en-GB" b="1" i="0" dirty="0">
              <a:solidFill>
                <a:srgbClr val="000000"/>
              </a:solidFill>
              <a:effectLst/>
              <a:latin typeface="Calibri" panose="020F0502020204030204" pitchFamily="34" charset="0"/>
              <a:cs typeface="Calibri" panose="020F0502020204030204" pitchFamily="34" charset="0"/>
            </a:endParaRPr>
          </a:p>
          <a:p>
            <a:pPr algn="l"/>
            <a:r>
              <a:rPr lang="en-GB" i="0" dirty="0">
                <a:solidFill>
                  <a:srgbClr val="000000"/>
                </a:solidFill>
                <a:effectLst/>
                <a:latin typeface="Calibri" panose="020F0502020204030204" pitchFamily="34" charset="0"/>
                <a:cs typeface="Calibri" panose="020F0502020204030204" pitchFamily="34" charset="0"/>
              </a:rPr>
              <a:t>RF </a:t>
            </a:r>
            <a:r>
              <a:rPr lang="en-GB" b="0" i="0" dirty="0">
                <a:solidFill>
                  <a:srgbClr val="000000"/>
                </a:solidFill>
                <a:effectLst/>
                <a:latin typeface="Calibri" panose="020F0502020204030204" pitchFamily="34" charset="0"/>
                <a:cs typeface="Calibri" panose="020F0502020204030204" pitchFamily="34" charset="0"/>
              </a:rPr>
              <a:t>is the change in Earth’s energy balance</a:t>
            </a:r>
            <a:br>
              <a:rPr lang="en-GB" b="0" i="0" dirty="0">
                <a:solidFill>
                  <a:srgbClr val="000000"/>
                </a:solidFill>
                <a:effectLst/>
                <a:latin typeface="Calibri" panose="020F0502020204030204" pitchFamily="34" charset="0"/>
                <a:cs typeface="Calibri" panose="020F0502020204030204" pitchFamily="34" charset="0"/>
              </a:rPr>
            </a:br>
            <a:r>
              <a:rPr lang="en-GB" b="0" i="1" dirty="0">
                <a:solidFill>
                  <a:srgbClr val="000000"/>
                </a:solidFill>
                <a:effectLst/>
                <a:latin typeface="Calibri" panose="020F0502020204030204" pitchFamily="34" charset="0"/>
                <a:cs typeface="Calibri" panose="020F0502020204030204" pitchFamily="34" charset="0"/>
              </a:rPr>
              <a:t>(measured in W m⁻² at the top of the atmosphere)</a:t>
            </a:r>
            <a:endParaRPr lang="en-GB" b="0" i="0" dirty="0">
              <a:solidFill>
                <a:srgbClr val="000000"/>
              </a:solidFill>
              <a:effectLst/>
              <a:latin typeface="Calibri" panose="020F0502020204030204" pitchFamily="34" charset="0"/>
              <a:cs typeface="Calibri" panose="020F0502020204030204" pitchFamily="34" charset="0"/>
            </a:endParaRPr>
          </a:p>
          <a:p>
            <a:pPr algn="l"/>
            <a:endParaRPr lang="en-GB" b="0" i="0" dirty="0">
              <a:solidFill>
                <a:srgbClr val="000000"/>
              </a:solidFill>
              <a:effectLst/>
              <a:latin typeface="Calibri" panose="020F0502020204030204" pitchFamily="34" charset="0"/>
              <a:cs typeface="Calibri" panose="020F0502020204030204" pitchFamily="34" charset="0"/>
            </a:endParaRPr>
          </a:p>
          <a:p>
            <a:pPr algn="l"/>
            <a:r>
              <a:rPr lang="en-GB" b="0" i="0" dirty="0">
                <a:solidFill>
                  <a:srgbClr val="000000"/>
                </a:solidFill>
                <a:effectLst/>
                <a:latin typeface="Calibri" panose="020F0502020204030204" pitchFamily="34" charset="0"/>
                <a:cs typeface="Calibri" panose="020F0502020204030204" pitchFamily="34" charset="0"/>
              </a:rPr>
              <a:t>It represents the difference between: </a:t>
            </a:r>
          </a:p>
          <a:p>
            <a:pPr marL="742950" lvl="1" indent="-285750">
              <a:buFont typeface="Arial" panose="020B0604020202020204" pitchFamily="34" charset="0"/>
              <a:buChar char="•"/>
            </a:pPr>
            <a:r>
              <a:rPr lang="en-GB" b="0" i="0" dirty="0">
                <a:solidFill>
                  <a:srgbClr val="000000"/>
                </a:solidFill>
                <a:effectLst/>
                <a:latin typeface="Calibri" panose="020F0502020204030204" pitchFamily="34" charset="0"/>
                <a:cs typeface="Calibri" panose="020F0502020204030204" pitchFamily="34" charset="0"/>
              </a:rPr>
              <a:t>Incoming solar radiation</a:t>
            </a:r>
          </a:p>
          <a:p>
            <a:pPr marL="742950" lvl="1" indent="-285750" algn="l">
              <a:buFont typeface="Arial" panose="020B0604020202020204" pitchFamily="34" charset="0"/>
              <a:buChar char="•"/>
            </a:pPr>
            <a:r>
              <a:rPr lang="en-GB" b="0" i="0" dirty="0">
                <a:solidFill>
                  <a:srgbClr val="000000"/>
                </a:solidFill>
                <a:effectLst/>
                <a:latin typeface="Calibri" panose="020F0502020204030204" pitchFamily="34" charset="0"/>
                <a:cs typeface="Calibri" panose="020F0502020204030204" pitchFamily="34" charset="0"/>
              </a:rPr>
              <a:t>Outgoing infrared radiation</a:t>
            </a:r>
          </a:p>
          <a:p>
            <a:pPr lvl="1" algn="l"/>
            <a:endParaRPr lang="en-GB" b="0" i="0" dirty="0">
              <a:solidFill>
                <a:srgbClr val="000000"/>
              </a:solidFill>
              <a:effectLst/>
              <a:latin typeface="Calibri" panose="020F0502020204030204" pitchFamily="34" charset="0"/>
              <a:cs typeface="Calibri" panose="020F0502020204030204" pitchFamily="34" charset="0"/>
            </a:endParaRPr>
          </a:p>
          <a:p>
            <a:pPr algn="l"/>
            <a:r>
              <a:rPr lang="en-GB" b="1" i="0" dirty="0">
                <a:solidFill>
                  <a:srgbClr val="000000"/>
                </a:solidFill>
                <a:effectLst/>
                <a:latin typeface="Calibri" panose="020F0502020204030204" pitchFamily="34" charset="0"/>
                <a:cs typeface="Calibri" panose="020F0502020204030204" pitchFamily="34" charset="0"/>
              </a:rPr>
              <a:t>Positive forcing → warming</a:t>
            </a:r>
            <a:endParaRPr lang="en-GB" b="0" i="0" dirty="0">
              <a:solidFill>
                <a:srgbClr val="000000"/>
              </a:solidFill>
              <a:effectLst/>
              <a:latin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r>
              <a:rPr lang="en-GB" b="0" i="0" dirty="0">
                <a:solidFill>
                  <a:srgbClr val="000000"/>
                </a:solidFill>
                <a:effectLst/>
                <a:latin typeface="Calibri" panose="020F0502020204030204" pitchFamily="34" charset="0"/>
                <a:cs typeface="Calibri" panose="020F0502020204030204" pitchFamily="34" charset="0"/>
              </a:rPr>
              <a:t>e.g. CO₂, CH₄ (red bars in the figure)</a:t>
            </a:r>
          </a:p>
          <a:p>
            <a:pPr algn="l"/>
            <a:r>
              <a:rPr lang="en-GB" b="1" i="0" dirty="0">
                <a:solidFill>
                  <a:srgbClr val="000000"/>
                </a:solidFill>
                <a:effectLst/>
                <a:latin typeface="Calibri" panose="020F0502020204030204" pitchFamily="34" charset="0"/>
                <a:cs typeface="Calibri" panose="020F0502020204030204" pitchFamily="34" charset="0"/>
              </a:rPr>
              <a:t>Negative forcing → cooling</a:t>
            </a:r>
            <a:endParaRPr lang="en-GB" b="0" i="0" dirty="0">
              <a:solidFill>
                <a:srgbClr val="000000"/>
              </a:solidFill>
              <a:effectLst/>
              <a:latin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r>
              <a:rPr lang="en-GB" b="0" i="0" dirty="0">
                <a:solidFill>
                  <a:srgbClr val="000000"/>
                </a:solidFill>
                <a:effectLst/>
                <a:latin typeface="Calibri" panose="020F0502020204030204" pitchFamily="34" charset="0"/>
                <a:cs typeface="Calibri" panose="020F0502020204030204" pitchFamily="34" charset="0"/>
              </a:rPr>
              <a:t>e.g. aerosols reflecting sunlight (blue bars)</a:t>
            </a:r>
          </a:p>
          <a:p>
            <a:pPr marL="742950" lvl="1" indent="-285750" algn="l">
              <a:buFont typeface="Arial" panose="020B0604020202020204" pitchFamily="34" charset="0"/>
              <a:buChar char="•"/>
            </a:pPr>
            <a:endParaRPr lang="en-GB" b="0" i="0" dirty="0">
              <a:solidFill>
                <a:srgbClr val="000000"/>
              </a:solidFill>
              <a:effectLst/>
              <a:latin typeface="Calibri" panose="020F0502020204030204" pitchFamily="34" charset="0"/>
              <a:cs typeface="Calibri" panose="020F0502020204030204" pitchFamily="34" charset="0"/>
            </a:endParaRPr>
          </a:p>
          <a:p>
            <a:pPr algn="l"/>
            <a:r>
              <a:rPr lang="en-GB" i="0" dirty="0">
                <a:solidFill>
                  <a:srgbClr val="000000"/>
                </a:solidFill>
                <a:effectLst/>
                <a:latin typeface="Calibri" panose="020F0502020204030204" pitchFamily="34" charset="0"/>
                <a:cs typeface="Calibri" panose="020F0502020204030204" pitchFamily="34" charset="0"/>
              </a:rPr>
              <a:t>The figure shows:</a:t>
            </a:r>
          </a:p>
          <a:p>
            <a:pPr marL="742950" lvl="1" indent="-285750" algn="l">
              <a:buFont typeface="Arial" panose="020B0604020202020204" pitchFamily="34" charset="0"/>
              <a:buChar char="•"/>
            </a:pPr>
            <a:r>
              <a:rPr lang="en-GB" i="0" dirty="0">
                <a:solidFill>
                  <a:srgbClr val="000000"/>
                </a:solidFill>
                <a:effectLst/>
                <a:latin typeface="Calibri" panose="020F0502020204030204" pitchFamily="34" charset="0"/>
                <a:cs typeface="Calibri" panose="020F0502020204030204" pitchFamily="34" charset="0"/>
              </a:rPr>
              <a:t>Their magnitude and uncertainty</a:t>
            </a:r>
          </a:p>
          <a:p>
            <a:pPr marL="742950" lvl="1" indent="-285750" algn="l">
              <a:buFont typeface="Arial" panose="020B0604020202020204" pitchFamily="34" charset="0"/>
              <a:buChar char="•"/>
            </a:pPr>
            <a:r>
              <a:rPr lang="en-GB" i="0" dirty="0">
                <a:solidFill>
                  <a:srgbClr val="000000"/>
                </a:solidFill>
                <a:effectLst/>
                <a:latin typeface="Calibri" panose="020F0502020204030204" pitchFamily="34" charset="0"/>
                <a:cs typeface="Calibri" panose="020F0502020204030204" pitchFamily="34" charset="0"/>
              </a:rPr>
              <a:t>The net anthropogenic forcing is VERY positive</a:t>
            </a:r>
          </a:p>
        </p:txBody>
      </p:sp>
      <p:pic>
        <p:nvPicPr>
          <p:cNvPr id="7" name="Picture 10">
            <a:extLst>
              <a:ext uri="{FF2B5EF4-FFF2-40B4-BE49-F238E27FC236}">
                <a16:creationId xmlns:a16="http://schemas.microsoft.com/office/drawing/2014/main" id="{03DE5BB3-A6BF-C271-E0FB-FA6C1962F462}"/>
              </a:ext>
            </a:extLst>
          </p:cNvPr>
          <p:cNvPicPr>
            <a:picLocks noChangeAspect="1"/>
          </p:cNvPicPr>
          <p:nvPr/>
        </p:nvPicPr>
        <p:blipFill rotWithShape="1">
          <a:blip r:embed="rId4">
            <a:extLst>
              <a:ext uri="{28A0092B-C50C-407E-A947-70E740481C1C}">
                <a14:useLocalDpi xmlns:a14="http://schemas.microsoft.com/office/drawing/2010/main" val="0"/>
              </a:ext>
            </a:extLst>
          </a:blip>
          <a:srcRect t="5820" r="2281"/>
          <a:stretch>
            <a:fillRect/>
          </a:stretch>
        </p:blipFill>
        <p:spPr bwMode="auto">
          <a:xfrm>
            <a:off x="6376285" y="1950576"/>
            <a:ext cx="5503896" cy="3789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049518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A7ABDB82-6751-32B4-5528-9D3CD5D2C064}"/>
            </a:ext>
          </a:extLst>
        </p:cNvPr>
        <p:cNvGrpSpPr/>
        <p:nvPr/>
      </p:nvGrpSpPr>
      <p:grpSpPr>
        <a:xfrm>
          <a:off x="0" y="0"/>
          <a:ext cx="0" cy="0"/>
          <a:chOff x="0" y="0"/>
          <a:chExt cx="0" cy="0"/>
        </a:xfrm>
      </p:grpSpPr>
      <p:sp>
        <p:nvSpPr>
          <p:cNvPr id="21507" name="Line 6">
            <a:extLst>
              <a:ext uri="{FF2B5EF4-FFF2-40B4-BE49-F238E27FC236}">
                <a16:creationId xmlns:a16="http://schemas.microsoft.com/office/drawing/2014/main" id="{8AEB6209-7989-3960-5FF2-7B495AA97462}"/>
              </a:ext>
            </a:extLst>
          </p:cNvPr>
          <p:cNvSpPr>
            <a:spLocks noChangeShapeType="1"/>
          </p:cNvSpPr>
          <p:nvPr/>
        </p:nvSpPr>
        <p:spPr bwMode="auto">
          <a:xfrm>
            <a:off x="1568976" y="5068087"/>
            <a:ext cx="51816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latin typeface="Calibri" panose="020F0502020204030204" pitchFamily="34" charset="0"/>
              <a:cs typeface="Calibri" panose="020F0502020204030204" pitchFamily="34" charset="0"/>
            </a:endParaRPr>
          </a:p>
        </p:txBody>
      </p:sp>
      <p:sp>
        <p:nvSpPr>
          <p:cNvPr id="21508" name="Line 7">
            <a:extLst>
              <a:ext uri="{FF2B5EF4-FFF2-40B4-BE49-F238E27FC236}">
                <a16:creationId xmlns:a16="http://schemas.microsoft.com/office/drawing/2014/main" id="{72E857F7-BF92-BB6B-F2D7-D1CBD869F135}"/>
              </a:ext>
            </a:extLst>
          </p:cNvPr>
          <p:cNvSpPr>
            <a:spLocks noChangeShapeType="1"/>
          </p:cNvSpPr>
          <p:nvPr/>
        </p:nvSpPr>
        <p:spPr bwMode="auto">
          <a:xfrm>
            <a:off x="1973789" y="2599524"/>
            <a:ext cx="0" cy="2446338"/>
          </a:xfrm>
          <a:prstGeom prst="line">
            <a:avLst/>
          </a:prstGeom>
          <a:noFill/>
          <a:ln w="12700">
            <a:solidFill>
              <a:schemeClr val="tx1"/>
            </a:solidFill>
            <a:round/>
            <a:headEnd type="none" w="sm" len="sm"/>
            <a:tailEnd type="triangle" w="lg" len="lg"/>
          </a:ln>
          <a:extLst>
            <a:ext uri="{909E8E84-426E-40DD-AFC4-6F175D3DCCD1}">
              <a14:hiddenFill xmlns:a14="http://schemas.microsoft.com/office/drawing/2010/main">
                <a:noFill/>
              </a14:hiddenFill>
            </a:ext>
          </a:extLst>
        </p:spPr>
        <p:txBody>
          <a:bodyPr/>
          <a:lstStyle/>
          <a:p>
            <a:endParaRPr lang="en-US">
              <a:latin typeface="Calibri" panose="020F0502020204030204" pitchFamily="34" charset="0"/>
              <a:cs typeface="Calibri" panose="020F0502020204030204" pitchFamily="34" charset="0"/>
            </a:endParaRPr>
          </a:p>
        </p:txBody>
      </p:sp>
      <p:sp>
        <p:nvSpPr>
          <p:cNvPr id="21509" name="Text Box 4">
            <a:extLst>
              <a:ext uri="{FF2B5EF4-FFF2-40B4-BE49-F238E27FC236}">
                <a16:creationId xmlns:a16="http://schemas.microsoft.com/office/drawing/2014/main" id="{1E0AE7C1-380E-7BB8-7EC0-F9BC58539CE3}"/>
              </a:ext>
            </a:extLst>
          </p:cNvPr>
          <p:cNvSpPr txBox="1">
            <a:spLocks noChangeArrowheads="1"/>
          </p:cNvSpPr>
          <p:nvPr/>
        </p:nvSpPr>
        <p:spPr bwMode="auto">
          <a:xfrm>
            <a:off x="389464" y="1518437"/>
            <a:ext cx="316865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1429" tIns="45715" rIns="91429" bIns="45715">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dirty="0">
                <a:cs typeface="Calibri" panose="020F0502020204030204" pitchFamily="34" charset="0"/>
              </a:rPr>
              <a:t>Energy entering top of atmosphere</a:t>
            </a:r>
          </a:p>
        </p:txBody>
      </p:sp>
      <p:sp>
        <p:nvSpPr>
          <p:cNvPr id="109573" name="Text Box 5">
            <a:extLst>
              <a:ext uri="{FF2B5EF4-FFF2-40B4-BE49-F238E27FC236}">
                <a16:creationId xmlns:a16="http://schemas.microsoft.com/office/drawing/2014/main" id="{60214582-92CF-B0CA-40A4-61DFB7A4A0A4}"/>
              </a:ext>
            </a:extLst>
          </p:cNvPr>
          <p:cNvSpPr txBox="1">
            <a:spLocks noChangeArrowheads="1"/>
          </p:cNvSpPr>
          <p:nvPr/>
        </p:nvSpPr>
        <p:spPr bwMode="auto">
          <a:xfrm>
            <a:off x="4141143" y="1518437"/>
            <a:ext cx="2862262"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1429" tIns="45715" rIns="91429" bIns="45715">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dirty="0">
                <a:cs typeface="Calibri" panose="020F0502020204030204" pitchFamily="34" charset="0"/>
              </a:rPr>
              <a:t>Energy leaving Earth’s surface</a:t>
            </a:r>
          </a:p>
        </p:txBody>
      </p:sp>
      <p:sp>
        <p:nvSpPr>
          <p:cNvPr id="21511" name="Line 9">
            <a:extLst>
              <a:ext uri="{FF2B5EF4-FFF2-40B4-BE49-F238E27FC236}">
                <a16:creationId xmlns:a16="http://schemas.microsoft.com/office/drawing/2014/main" id="{F284520B-F99D-2D01-E4A2-C0E78E503138}"/>
              </a:ext>
            </a:extLst>
          </p:cNvPr>
          <p:cNvSpPr>
            <a:spLocks noChangeShapeType="1"/>
          </p:cNvSpPr>
          <p:nvPr/>
        </p:nvSpPr>
        <p:spPr bwMode="auto">
          <a:xfrm>
            <a:off x="5568721" y="2599524"/>
            <a:ext cx="3553" cy="2460625"/>
          </a:xfrm>
          <a:prstGeom prst="line">
            <a:avLst/>
          </a:prstGeom>
          <a:noFill/>
          <a:ln w="12700">
            <a:solidFill>
              <a:schemeClr val="tx1"/>
            </a:solidFill>
            <a:round/>
            <a:headEnd type="triangle" w="lg" len="lg"/>
            <a:tailEnd type="none" w="lg" len="lg"/>
          </a:ln>
          <a:extLst>
            <a:ext uri="{909E8E84-426E-40DD-AFC4-6F175D3DCCD1}">
              <a14:hiddenFill xmlns:a14="http://schemas.microsoft.com/office/drawing/2010/main">
                <a:noFill/>
              </a14:hiddenFill>
            </a:ext>
          </a:extLst>
        </p:spPr>
        <p:txBody>
          <a:bodyPr/>
          <a:lstStyle/>
          <a:p>
            <a:endParaRPr lang="en-US">
              <a:latin typeface="Calibri" panose="020F0502020204030204" pitchFamily="34" charset="0"/>
              <a:cs typeface="Calibri" panose="020F0502020204030204" pitchFamily="34" charset="0"/>
            </a:endParaRPr>
          </a:p>
        </p:txBody>
      </p:sp>
      <p:sp>
        <p:nvSpPr>
          <p:cNvPr id="109579" name="Text Box 11">
            <a:extLst>
              <a:ext uri="{FF2B5EF4-FFF2-40B4-BE49-F238E27FC236}">
                <a16:creationId xmlns:a16="http://schemas.microsoft.com/office/drawing/2014/main" id="{C877FC00-A57F-5518-FAED-948BB8726682}"/>
              </a:ext>
            </a:extLst>
          </p:cNvPr>
          <p:cNvSpPr txBox="1">
            <a:spLocks noChangeArrowheads="1"/>
          </p:cNvSpPr>
          <p:nvPr/>
        </p:nvSpPr>
        <p:spPr bwMode="auto">
          <a:xfrm>
            <a:off x="7341959" y="1810819"/>
            <a:ext cx="4034224" cy="36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lIns="91429" tIns="45715" rIns="91429" bIns="45715">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1800" dirty="0">
                <a:solidFill>
                  <a:srgbClr val="FF0000"/>
                </a:solidFill>
                <a:cs typeface="Calibri" panose="020F0502020204030204" pitchFamily="34" charset="0"/>
              </a:rPr>
              <a:t>Temperature of surface remains constant</a:t>
            </a:r>
          </a:p>
        </p:txBody>
      </p:sp>
      <p:sp>
        <p:nvSpPr>
          <p:cNvPr id="3" name="TextBox 2">
            <a:extLst>
              <a:ext uri="{FF2B5EF4-FFF2-40B4-BE49-F238E27FC236}">
                <a16:creationId xmlns:a16="http://schemas.microsoft.com/office/drawing/2014/main" id="{02F24759-2247-D265-07C1-B835907CC6F2}"/>
              </a:ext>
            </a:extLst>
          </p:cNvPr>
          <p:cNvSpPr txBox="1">
            <a:spLocks noChangeArrowheads="1"/>
          </p:cNvSpPr>
          <p:nvPr/>
        </p:nvSpPr>
        <p:spPr bwMode="auto">
          <a:xfrm>
            <a:off x="3802589" y="1816887"/>
            <a:ext cx="3385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GB" altLang="en-US" sz="2400" b="1">
                <a:cs typeface="Calibri" panose="020F0502020204030204" pitchFamily="34" charset="0"/>
              </a:rPr>
              <a:t>=</a:t>
            </a:r>
          </a:p>
        </p:txBody>
      </p:sp>
      <p:sp>
        <p:nvSpPr>
          <p:cNvPr id="2" name="Freeform 13">
            <a:extLst>
              <a:ext uri="{FF2B5EF4-FFF2-40B4-BE49-F238E27FC236}">
                <a16:creationId xmlns:a16="http://schemas.microsoft.com/office/drawing/2014/main" id="{BD4C2218-BC16-98F8-AD47-696AF77520BF}"/>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6" name="TextBox 14">
            <a:extLst>
              <a:ext uri="{FF2B5EF4-FFF2-40B4-BE49-F238E27FC236}">
                <a16:creationId xmlns:a16="http://schemas.microsoft.com/office/drawing/2014/main" id="{50057AC4-7C2E-A885-A83F-36F64DCEAECB}"/>
              </a:ext>
            </a:extLst>
          </p:cNvPr>
          <p:cNvSpPr txBox="1"/>
          <p:nvPr/>
        </p:nvSpPr>
        <p:spPr>
          <a:xfrm>
            <a:off x="389464" y="684091"/>
            <a:ext cx="8738769"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Earth’s Energy Balance</a:t>
            </a:r>
          </a:p>
        </p:txBody>
      </p:sp>
    </p:spTree>
    <p:extLst>
      <p:ext uri="{BB962C8B-B14F-4D97-AF65-F5344CB8AC3E}">
        <p14:creationId xmlns:p14="http://schemas.microsoft.com/office/powerpoint/2010/main" val="11522805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F11E2BD5-EB28-155D-BA05-450A5AEAA6AB}"/>
            </a:ext>
          </a:extLst>
        </p:cNvPr>
        <p:cNvGrpSpPr/>
        <p:nvPr/>
      </p:nvGrpSpPr>
      <p:grpSpPr>
        <a:xfrm>
          <a:off x="0" y="0"/>
          <a:ext cx="0" cy="0"/>
          <a:chOff x="0" y="0"/>
          <a:chExt cx="0" cy="0"/>
        </a:xfrm>
      </p:grpSpPr>
      <p:sp>
        <p:nvSpPr>
          <p:cNvPr id="21507" name="Line 6">
            <a:extLst>
              <a:ext uri="{FF2B5EF4-FFF2-40B4-BE49-F238E27FC236}">
                <a16:creationId xmlns:a16="http://schemas.microsoft.com/office/drawing/2014/main" id="{8435E8F1-DAF6-50F5-3A32-4AC2FEB14DFE}"/>
              </a:ext>
            </a:extLst>
          </p:cNvPr>
          <p:cNvSpPr>
            <a:spLocks noChangeShapeType="1"/>
          </p:cNvSpPr>
          <p:nvPr/>
        </p:nvSpPr>
        <p:spPr bwMode="auto">
          <a:xfrm>
            <a:off x="1568976" y="5068087"/>
            <a:ext cx="51816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latin typeface="Calibri" panose="020F0502020204030204" pitchFamily="34" charset="0"/>
              <a:cs typeface="Calibri" panose="020F0502020204030204" pitchFamily="34" charset="0"/>
            </a:endParaRPr>
          </a:p>
        </p:txBody>
      </p:sp>
      <p:sp>
        <p:nvSpPr>
          <p:cNvPr id="21508" name="Line 7">
            <a:extLst>
              <a:ext uri="{FF2B5EF4-FFF2-40B4-BE49-F238E27FC236}">
                <a16:creationId xmlns:a16="http://schemas.microsoft.com/office/drawing/2014/main" id="{0B20FA7D-AE6A-26CC-EE79-D32266611B5B}"/>
              </a:ext>
            </a:extLst>
          </p:cNvPr>
          <p:cNvSpPr>
            <a:spLocks noChangeShapeType="1"/>
          </p:cNvSpPr>
          <p:nvPr/>
        </p:nvSpPr>
        <p:spPr bwMode="auto">
          <a:xfrm>
            <a:off x="1973789" y="2599524"/>
            <a:ext cx="0" cy="2446338"/>
          </a:xfrm>
          <a:prstGeom prst="line">
            <a:avLst/>
          </a:prstGeom>
          <a:noFill/>
          <a:ln w="12700">
            <a:solidFill>
              <a:schemeClr val="tx1"/>
            </a:solidFill>
            <a:round/>
            <a:headEnd type="none" w="sm" len="sm"/>
            <a:tailEnd type="triangle" w="lg" len="lg"/>
          </a:ln>
          <a:extLst>
            <a:ext uri="{909E8E84-426E-40DD-AFC4-6F175D3DCCD1}">
              <a14:hiddenFill xmlns:a14="http://schemas.microsoft.com/office/drawing/2010/main">
                <a:noFill/>
              </a14:hiddenFill>
            </a:ext>
          </a:extLst>
        </p:spPr>
        <p:txBody>
          <a:bodyPr/>
          <a:lstStyle/>
          <a:p>
            <a:endParaRPr lang="en-US">
              <a:latin typeface="Calibri" panose="020F0502020204030204" pitchFamily="34" charset="0"/>
              <a:cs typeface="Calibri" panose="020F0502020204030204" pitchFamily="34" charset="0"/>
            </a:endParaRPr>
          </a:p>
        </p:txBody>
      </p:sp>
      <p:sp>
        <p:nvSpPr>
          <p:cNvPr id="21509" name="Text Box 4">
            <a:extLst>
              <a:ext uri="{FF2B5EF4-FFF2-40B4-BE49-F238E27FC236}">
                <a16:creationId xmlns:a16="http://schemas.microsoft.com/office/drawing/2014/main" id="{37DF30E2-1E2C-FD05-AF73-07A55B2422BD}"/>
              </a:ext>
            </a:extLst>
          </p:cNvPr>
          <p:cNvSpPr txBox="1">
            <a:spLocks noChangeArrowheads="1"/>
          </p:cNvSpPr>
          <p:nvPr/>
        </p:nvSpPr>
        <p:spPr bwMode="auto">
          <a:xfrm>
            <a:off x="389464" y="1518437"/>
            <a:ext cx="316865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1429" tIns="45715" rIns="91429" bIns="45715">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dirty="0">
                <a:cs typeface="Calibri" panose="020F0502020204030204" pitchFamily="34" charset="0"/>
              </a:rPr>
              <a:t>Energy entering top of atmosphere</a:t>
            </a:r>
          </a:p>
        </p:txBody>
      </p:sp>
      <p:sp>
        <p:nvSpPr>
          <p:cNvPr id="109573" name="Text Box 5">
            <a:extLst>
              <a:ext uri="{FF2B5EF4-FFF2-40B4-BE49-F238E27FC236}">
                <a16:creationId xmlns:a16="http://schemas.microsoft.com/office/drawing/2014/main" id="{C01FEB70-B45C-C845-BE0E-8CA49CA94BD9}"/>
              </a:ext>
            </a:extLst>
          </p:cNvPr>
          <p:cNvSpPr txBox="1">
            <a:spLocks noChangeArrowheads="1"/>
          </p:cNvSpPr>
          <p:nvPr/>
        </p:nvSpPr>
        <p:spPr bwMode="auto">
          <a:xfrm>
            <a:off x="4141143" y="1518437"/>
            <a:ext cx="2862262"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1429" tIns="45715" rIns="91429" bIns="45715">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dirty="0">
                <a:cs typeface="Calibri" panose="020F0502020204030204" pitchFamily="34" charset="0"/>
              </a:rPr>
              <a:t>Energy leaving Earth’s surface</a:t>
            </a:r>
          </a:p>
        </p:txBody>
      </p:sp>
      <p:sp>
        <p:nvSpPr>
          <p:cNvPr id="21511" name="Line 9">
            <a:extLst>
              <a:ext uri="{FF2B5EF4-FFF2-40B4-BE49-F238E27FC236}">
                <a16:creationId xmlns:a16="http://schemas.microsoft.com/office/drawing/2014/main" id="{186E5BA8-2E2B-673E-8D9B-59C104870C17}"/>
              </a:ext>
            </a:extLst>
          </p:cNvPr>
          <p:cNvSpPr>
            <a:spLocks noChangeShapeType="1"/>
          </p:cNvSpPr>
          <p:nvPr/>
        </p:nvSpPr>
        <p:spPr bwMode="auto">
          <a:xfrm>
            <a:off x="5568791" y="3869558"/>
            <a:ext cx="3483" cy="1190591"/>
          </a:xfrm>
          <a:prstGeom prst="line">
            <a:avLst/>
          </a:prstGeom>
          <a:noFill/>
          <a:ln w="12700">
            <a:solidFill>
              <a:schemeClr val="tx1"/>
            </a:solidFill>
            <a:round/>
            <a:headEnd type="triangle" w="lg" len="lg"/>
            <a:tailEnd type="none" w="lg" len="lg"/>
          </a:ln>
          <a:extLst>
            <a:ext uri="{909E8E84-426E-40DD-AFC4-6F175D3DCCD1}">
              <a14:hiddenFill xmlns:a14="http://schemas.microsoft.com/office/drawing/2010/main">
                <a:noFill/>
              </a14:hiddenFill>
            </a:ext>
          </a:extLst>
        </p:spPr>
        <p:txBody>
          <a:bodyPr/>
          <a:lstStyle/>
          <a:p>
            <a:endParaRPr lang="en-US">
              <a:latin typeface="Calibri" panose="020F0502020204030204" pitchFamily="34" charset="0"/>
              <a:cs typeface="Calibri" panose="020F0502020204030204" pitchFamily="34" charset="0"/>
            </a:endParaRPr>
          </a:p>
        </p:txBody>
      </p:sp>
      <p:sp>
        <p:nvSpPr>
          <p:cNvPr id="109579" name="Text Box 11">
            <a:extLst>
              <a:ext uri="{FF2B5EF4-FFF2-40B4-BE49-F238E27FC236}">
                <a16:creationId xmlns:a16="http://schemas.microsoft.com/office/drawing/2014/main" id="{E730AF9C-3027-C7E4-CD4D-B04BAB6ECB5A}"/>
              </a:ext>
            </a:extLst>
          </p:cNvPr>
          <p:cNvSpPr txBox="1">
            <a:spLocks noChangeArrowheads="1"/>
          </p:cNvSpPr>
          <p:nvPr/>
        </p:nvSpPr>
        <p:spPr bwMode="auto">
          <a:xfrm>
            <a:off x="5258460" y="3500236"/>
            <a:ext cx="620661" cy="36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lIns="91429" tIns="45715" rIns="91429" bIns="45715">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1800" dirty="0">
                <a:solidFill>
                  <a:srgbClr val="FF0000"/>
                </a:solidFill>
                <a:cs typeface="Calibri" panose="020F0502020204030204" pitchFamily="34" charset="0"/>
              </a:rPr>
              <a:t>GHG</a:t>
            </a:r>
          </a:p>
        </p:txBody>
      </p:sp>
      <p:sp>
        <p:nvSpPr>
          <p:cNvPr id="3" name="TextBox 2">
            <a:extLst>
              <a:ext uri="{FF2B5EF4-FFF2-40B4-BE49-F238E27FC236}">
                <a16:creationId xmlns:a16="http://schemas.microsoft.com/office/drawing/2014/main" id="{94BEA878-ED25-EFCE-C8A9-05D1CD55438F}"/>
              </a:ext>
            </a:extLst>
          </p:cNvPr>
          <p:cNvSpPr txBox="1">
            <a:spLocks noChangeArrowheads="1"/>
          </p:cNvSpPr>
          <p:nvPr/>
        </p:nvSpPr>
        <p:spPr bwMode="auto">
          <a:xfrm>
            <a:off x="3802589" y="1816887"/>
            <a:ext cx="3385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GB" altLang="en-US" sz="2400" b="1">
                <a:cs typeface="Calibri" panose="020F0502020204030204" pitchFamily="34" charset="0"/>
              </a:rPr>
              <a:t>=</a:t>
            </a:r>
          </a:p>
        </p:txBody>
      </p:sp>
      <p:sp>
        <p:nvSpPr>
          <p:cNvPr id="2" name="Freeform 13">
            <a:extLst>
              <a:ext uri="{FF2B5EF4-FFF2-40B4-BE49-F238E27FC236}">
                <a16:creationId xmlns:a16="http://schemas.microsoft.com/office/drawing/2014/main" id="{50FFA4C2-B010-6057-3CEE-C1F1FFE3997E}"/>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6" name="TextBox 14">
            <a:extLst>
              <a:ext uri="{FF2B5EF4-FFF2-40B4-BE49-F238E27FC236}">
                <a16:creationId xmlns:a16="http://schemas.microsoft.com/office/drawing/2014/main" id="{03C5F3E9-8EC3-ECF9-807D-BC9CD96DF916}"/>
              </a:ext>
            </a:extLst>
          </p:cNvPr>
          <p:cNvSpPr txBox="1"/>
          <p:nvPr/>
        </p:nvSpPr>
        <p:spPr>
          <a:xfrm>
            <a:off x="389464" y="684091"/>
            <a:ext cx="8738769"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Earth’s Energy Balance</a:t>
            </a:r>
          </a:p>
        </p:txBody>
      </p:sp>
      <p:sp>
        <p:nvSpPr>
          <p:cNvPr id="4" name="Content Placeholder 2">
            <a:extLst>
              <a:ext uri="{FF2B5EF4-FFF2-40B4-BE49-F238E27FC236}">
                <a16:creationId xmlns:a16="http://schemas.microsoft.com/office/drawing/2014/main" id="{46879FC2-1296-FF7E-0DF4-E38FF67810A0}"/>
              </a:ext>
            </a:extLst>
          </p:cNvPr>
          <p:cNvSpPr>
            <a:spLocks noGrp="1"/>
          </p:cNvSpPr>
          <p:nvPr>
            <p:ph idx="1"/>
          </p:nvPr>
        </p:nvSpPr>
        <p:spPr>
          <a:xfrm>
            <a:off x="545871" y="5309659"/>
            <a:ext cx="10045837" cy="1176353"/>
          </a:xfrm>
        </p:spPr>
        <p:txBody>
          <a:bodyPr>
            <a:normAutofit fontScale="92500" lnSpcReduction="10000"/>
          </a:bodyPr>
          <a:lstStyle/>
          <a:p>
            <a:pPr marL="0" indent="0">
              <a:buNone/>
            </a:pPr>
            <a:r>
              <a:rPr lang="en-GB" sz="2000" dirty="0">
                <a:latin typeface="Calibri" panose="020F0502020204030204" pitchFamily="34" charset="0"/>
                <a:cs typeface="Calibri" panose="020F0502020204030204" pitchFamily="34" charset="0"/>
              </a:rPr>
              <a:t>What is radiative forcing?</a:t>
            </a:r>
          </a:p>
          <a:p>
            <a:pPr lvl="1"/>
            <a:r>
              <a:rPr lang="en-GB" sz="1800" dirty="0">
                <a:latin typeface="Calibri" panose="020F0502020204030204" pitchFamily="34" charset="0"/>
                <a:cs typeface="Calibri" panose="020F0502020204030204" pitchFamily="34" charset="0"/>
              </a:rPr>
              <a:t>An effect on Earth’s radiation balance, more specifically:</a:t>
            </a:r>
          </a:p>
          <a:p>
            <a:pPr lvl="1"/>
            <a:r>
              <a:rPr lang="en-GB" sz="1800" dirty="0">
                <a:latin typeface="Calibri" panose="020F0502020204030204" pitchFamily="34" charset="0"/>
                <a:cs typeface="Calibri" panose="020F0502020204030204" pitchFamily="34" charset="0"/>
              </a:rPr>
              <a:t>The change in radiation balance at the tropopause between the incoming solar radiation and the outgoing earth’s radiation (net irradiance)</a:t>
            </a:r>
          </a:p>
        </p:txBody>
      </p:sp>
    </p:spTree>
    <p:extLst>
      <p:ext uri="{BB962C8B-B14F-4D97-AF65-F5344CB8AC3E}">
        <p14:creationId xmlns:p14="http://schemas.microsoft.com/office/powerpoint/2010/main" val="18482915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4" descr="A picture containing chart&#10;&#10;Description automatically generated">
            <a:extLst>
              <a:ext uri="{FF2B5EF4-FFF2-40B4-BE49-F238E27FC236}">
                <a16:creationId xmlns:a16="http://schemas.microsoft.com/office/drawing/2014/main" id="{DC8182D7-B86B-6E26-8604-0911EE618F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9464" y="1426396"/>
            <a:ext cx="7695718" cy="489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4">
            <a:extLst>
              <a:ext uri="{FF2B5EF4-FFF2-40B4-BE49-F238E27FC236}">
                <a16:creationId xmlns:a16="http://schemas.microsoft.com/office/drawing/2014/main" id="{CF6207CA-F980-7462-D193-0D061FF0EFED}"/>
              </a:ext>
            </a:extLst>
          </p:cNvPr>
          <p:cNvSpPr txBox="1"/>
          <p:nvPr/>
        </p:nvSpPr>
        <p:spPr>
          <a:xfrm>
            <a:off x="389464" y="684091"/>
            <a:ext cx="8738769"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Energy Balance</a:t>
            </a:r>
          </a:p>
        </p:txBody>
      </p:sp>
      <p:sp>
        <p:nvSpPr>
          <p:cNvPr id="3" name="Freeform 13">
            <a:extLst>
              <a:ext uri="{FF2B5EF4-FFF2-40B4-BE49-F238E27FC236}">
                <a16:creationId xmlns:a16="http://schemas.microsoft.com/office/drawing/2014/main" id="{94876D69-0B74-EFDF-5FA1-0A439776401C}"/>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35F211F-C106-B31D-3384-3E09FCD52352}"/>
              </a:ext>
            </a:extLst>
          </p:cNvPr>
          <p:cNvSpPr txBox="1"/>
          <p:nvPr/>
        </p:nvSpPr>
        <p:spPr>
          <a:xfrm>
            <a:off x="4380787" y="1684698"/>
            <a:ext cx="7162540" cy="4801314"/>
          </a:xfrm>
          <a:prstGeom prst="rect">
            <a:avLst/>
          </a:prstGeom>
          <a:noFill/>
        </p:spPr>
        <p:txBody>
          <a:bodyPr wrap="square" rtlCol="0">
            <a:spAutoFit/>
          </a:bodyPr>
          <a:lstStyle/>
          <a:p>
            <a:r>
              <a:rPr lang="en-GB" dirty="0">
                <a:latin typeface="Calibri" panose="020F0502020204030204" pitchFamily="34" charset="0"/>
                <a:cs typeface="Calibri" panose="020F0502020204030204" pitchFamily="34" charset="0"/>
              </a:rPr>
              <a:t>Radiative forcing is not measured directly it is estimated using models and observations</a:t>
            </a:r>
          </a:p>
          <a:p>
            <a:endParaRPr lang="en-GB" dirty="0">
              <a:latin typeface="Calibri" panose="020F0502020204030204" pitchFamily="34" charset="0"/>
              <a:cs typeface="Calibri" panose="020F0502020204030204" pitchFamily="34" charset="0"/>
            </a:endParaRPr>
          </a:p>
          <a:p>
            <a:r>
              <a:rPr lang="en-GB" b="1" dirty="0">
                <a:latin typeface="Calibri" panose="020F0502020204030204" pitchFamily="34" charset="0"/>
                <a:cs typeface="Calibri" panose="020F0502020204030204" pitchFamily="34" charset="0"/>
              </a:rPr>
              <a:t>Satellite measurements</a:t>
            </a:r>
            <a:endParaRPr lang="en-GB"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GB" dirty="0">
                <a:latin typeface="Calibri" panose="020F0502020204030204" pitchFamily="34" charset="0"/>
                <a:cs typeface="Calibri" panose="020F0502020204030204" pitchFamily="34" charset="0"/>
              </a:rPr>
              <a:t>Measure incoming solar radiation and outgoing infrared radiation</a:t>
            </a:r>
          </a:p>
          <a:p>
            <a:pPr marL="742950" lvl="1" indent="-285750">
              <a:buFont typeface="Arial" panose="020B0604020202020204" pitchFamily="34" charset="0"/>
              <a:buChar char="•"/>
            </a:pPr>
            <a:r>
              <a:rPr lang="en-GB" dirty="0">
                <a:latin typeface="Calibri" panose="020F0502020204030204" pitchFamily="34" charset="0"/>
                <a:cs typeface="Calibri" panose="020F0502020204030204" pitchFamily="34" charset="0"/>
              </a:rPr>
              <a:t>Show changes in Earth’s energy imbalance</a:t>
            </a:r>
          </a:p>
          <a:p>
            <a:r>
              <a:rPr lang="en-GB" b="1" dirty="0">
                <a:latin typeface="Calibri" panose="020F0502020204030204" pitchFamily="34" charset="0"/>
                <a:cs typeface="Calibri" panose="020F0502020204030204" pitchFamily="34" charset="0"/>
              </a:rPr>
              <a:t>Surface and atmospheric observations</a:t>
            </a:r>
            <a:endParaRPr lang="en-GB"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GB" dirty="0">
                <a:latin typeface="Calibri" panose="020F0502020204030204" pitchFamily="34" charset="0"/>
                <a:cs typeface="Calibri" panose="020F0502020204030204" pitchFamily="34" charset="0"/>
              </a:rPr>
              <a:t>Greenhouse gas concentrations (e.g. CO₂, CH₄)</a:t>
            </a:r>
          </a:p>
          <a:p>
            <a:pPr marL="742950" lvl="1" indent="-285750">
              <a:buFont typeface="Arial" panose="020B0604020202020204" pitchFamily="34" charset="0"/>
              <a:buChar char="•"/>
            </a:pPr>
            <a:r>
              <a:rPr lang="en-GB" dirty="0">
                <a:latin typeface="Calibri" panose="020F0502020204030204" pitchFamily="34" charset="0"/>
                <a:cs typeface="Calibri" panose="020F0502020204030204" pitchFamily="34" charset="0"/>
              </a:rPr>
              <a:t>Aerosols, clouds, and land-use changes</a:t>
            </a:r>
          </a:p>
          <a:p>
            <a:r>
              <a:rPr lang="en-GB" b="1" dirty="0">
                <a:latin typeface="Calibri" panose="020F0502020204030204" pitchFamily="34" charset="0"/>
                <a:cs typeface="Calibri" panose="020F0502020204030204" pitchFamily="34" charset="0"/>
              </a:rPr>
              <a:t>Radiative transfer models</a:t>
            </a:r>
            <a:endParaRPr lang="en-GB"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GB" dirty="0">
                <a:latin typeface="Calibri" panose="020F0502020204030204" pitchFamily="34" charset="0"/>
                <a:cs typeface="Calibri" panose="020F0502020204030204" pitchFamily="34" charset="0"/>
              </a:rPr>
              <a:t>Use physical laws to calculate how gases and particles affect radiation</a:t>
            </a:r>
          </a:p>
          <a:p>
            <a:pPr marL="742950" lvl="1" indent="-285750">
              <a:buFont typeface="Arial" panose="020B0604020202020204" pitchFamily="34" charset="0"/>
              <a:buChar char="•"/>
            </a:pPr>
            <a:r>
              <a:rPr lang="en-GB" dirty="0">
                <a:latin typeface="Calibri" panose="020F0502020204030204" pitchFamily="34" charset="0"/>
                <a:cs typeface="Calibri" panose="020F0502020204030204" pitchFamily="34" charset="0"/>
              </a:rPr>
              <a:t>Convert observed concentrations into W m⁻² forcing values</a:t>
            </a:r>
          </a:p>
          <a:p>
            <a:r>
              <a:rPr lang="en-GB" b="1" dirty="0">
                <a:latin typeface="Calibri" panose="020F0502020204030204" pitchFamily="34" charset="0"/>
                <a:cs typeface="Calibri" panose="020F0502020204030204" pitchFamily="34" charset="0"/>
              </a:rPr>
              <a:t>GCMs</a:t>
            </a:r>
            <a:endParaRPr lang="en-GB"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GB" dirty="0">
                <a:latin typeface="Calibri" panose="020F0502020204030204" pitchFamily="34" charset="0"/>
                <a:cs typeface="Calibri" panose="020F0502020204030204" pitchFamily="34" charset="0"/>
              </a:rPr>
              <a:t>Combine all components (GHGs, aerosols, clouds, etc.)</a:t>
            </a:r>
          </a:p>
          <a:p>
            <a:pPr marL="742950" lvl="1" indent="-285750">
              <a:buFont typeface="Arial" panose="020B0604020202020204" pitchFamily="34" charset="0"/>
              <a:buChar char="•"/>
            </a:pPr>
            <a:r>
              <a:rPr lang="en-GB" dirty="0">
                <a:latin typeface="Calibri" panose="020F0502020204030204" pitchFamily="34" charset="0"/>
                <a:cs typeface="Calibri" panose="020F0502020204030204" pitchFamily="34" charset="0"/>
              </a:rPr>
              <a:t>Estimate total and individual contributions to forcing</a:t>
            </a:r>
          </a:p>
          <a:p>
            <a:pPr marL="285750" indent="-285750">
              <a:buFont typeface="Arial" panose="020B0604020202020204" pitchFamily="34" charset="0"/>
              <a:buChar char="•"/>
            </a:pPr>
            <a:endParaRPr lang="en-GB" dirty="0"/>
          </a:p>
        </p:txBody>
      </p:sp>
      <p:pic>
        <p:nvPicPr>
          <p:cNvPr id="9" name="Picture 8" descr="A screenshot of a graph&#10;&#10;AI-generated content may be incorrect.">
            <a:extLst>
              <a:ext uri="{FF2B5EF4-FFF2-40B4-BE49-F238E27FC236}">
                <a16:creationId xmlns:a16="http://schemas.microsoft.com/office/drawing/2014/main" id="{42F584BC-1775-9050-E846-5FF7BC6B8D92}"/>
              </a:ext>
            </a:extLst>
          </p:cNvPr>
          <p:cNvPicPr>
            <a:picLocks noChangeAspect="1"/>
          </p:cNvPicPr>
          <p:nvPr/>
        </p:nvPicPr>
        <p:blipFill>
          <a:blip r:embed="rId4">
            <a:extLst>
              <a:ext uri="{28A0092B-C50C-407E-A947-70E740481C1C}">
                <a14:useLocalDpi xmlns:a14="http://schemas.microsoft.com/office/drawing/2010/main" val="0"/>
              </a:ext>
            </a:extLst>
          </a:blip>
          <a:srcRect l="1783" t="3320" r="3670"/>
          <a:stretch>
            <a:fillRect/>
          </a:stretch>
        </p:blipFill>
        <p:spPr>
          <a:xfrm>
            <a:off x="389465" y="1452813"/>
            <a:ext cx="3840480" cy="4888953"/>
          </a:xfrm>
          <a:prstGeom prst="rect">
            <a:avLst/>
          </a:prstGeom>
        </p:spPr>
      </p:pic>
      <p:sp>
        <p:nvSpPr>
          <p:cNvPr id="3" name="Freeform 13">
            <a:extLst>
              <a:ext uri="{FF2B5EF4-FFF2-40B4-BE49-F238E27FC236}">
                <a16:creationId xmlns:a16="http://schemas.microsoft.com/office/drawing/2014/main" id="{4B20CBA1-631B-1566-6ACC-D59D4DB3C08F}"/>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5"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8" name="TextBox 14">
            <a:extLst>
              <a:ext uri="{FF2B5EF4-FFF2-40B4-BE49-F238E27FC236}">
                <a16:creationId xmlns:a16="http://schemas.microsoft.com/office/drawing/2014/main" id="{38443429-E2F3-2C26-00C6-0A370024B4A2}"/>
              </a:ext>
            </a:extLst>
          </p:cNvPr>
          <p:cNvSpPr txBox="1"/>
          <p:nvPr/>
        </p:nvSpPr>
        <p:spPr>
          <a:xfrm>
            <a:off x="389465" y="714292"/>
            <a:ext cx="8687158" cy="559705"/>
          </a:xfrm>
          <a:prstGeom prst="rect">
            <a:avLst/>
          </a:prstGeom>
        </p:spPr>
        <p:txBody>
          <a:bodyPr wrap="square" lIns="0" tIns="0" rIns="0" bIns="0" rtlCol="0" anchor="t">
            <a:spAutoFit/>
          </a:bodyPr>
          <a:lstStyle/>
          <a:p>
            <a:pPr defTabSz="609630">
              <a:lnSpc>
                <a:spcPts val="4573"/>
              </a:lnSpc>
              <a:defRPr/>
            </a:pPr>
            <a:r>
              <a:rPr lang="en-US" sz="3200" i="1" spc="-275" dirty="0">
                <a:solidFill>
                  <a:srgbClr val="46245A"/>
                </a:solidFill>
                <a:latin typeface="DM Sans Bold"/>
              </a:rPr>
              <a:t>Radiative forcing – how do we know the answer? </a:t>
            </a:r>
          </a:p>
        </p:txBody>
      </p:sp>
    </p:spTree>
    <p:custDataLst>
      <p:tags r:id="rId1"/>
    </p:custDataLst>
    <p:extLst>
      <p:ext uri="{BB962C8B-B14F-4D97-AF65-F5344CB8AC3E}">
        <p14:creationId xmlns:p14="http://schemas.microsoft.com/office/powerpoint/2010/main" val="2313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DB5FA-14CF-80D1-233F-0D01F8650238}"/>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0DAA5702-12E5-BCDC-0237-C8A722A3C88A}"/>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30" eaLnBrk="1" fontAlgn="auto" hangingPunct="1">
              <a:spcBef>
                <a:spcPts val="0"/>
              </a:spcBef>
              <a:spcAft>
                <a:spcPts val="0"/>
              </a:spcAft>
              <a:defRPr/>
            </a:pPr>
            <a:endParaRPr lang="en-GB" sz="1200">
              <a:solidFill>
                <a:prstClr val="black"/>
              </a:solidFill>
              <a:latin typeface="DM Sans" pitchFamily="2" charset="0"/>
              <a:ea typeface="+mn-ea"/>
            </a:endParaRPr>
          </a:p>
        </p:txBody>
      </p:sp>
      <p:sp>
        <p:nvSpPr>
          <p:cNvPr id="5" name="TextBox 14">
            <a:extLst>
              <a:ext uri="{FF2B5EF4-FFF2-40B4-BE49-F238E27FC236}">
                <a16:creationId xmlns:a16="http://schemas.microsoft.com/office/drawing/2014/main" id="{22EBE552-4604-CFD6-54C2-0BE2B54ADE51}"/>
              </a:ext>
            </a:extLst>
          </p:cNvPr>
          <p:cNvSpPr txBox="1"/>
          <p:nvPr/>
        </p:nvSpPr>
        <p:spPr>
          <a:xfrm>
            <a:off x="778085" y="1273997"/>
            <a:ext cx="7336552" cy="589905"/>
          </a:xfrm>
          <a:prstGeom prst="rect">
            <a:avLst/>
          </a:prstGeom>
        </p:spPr>
        <p:txBody>
          <a:bodyPr wrap="square" lIns="0" tIns="0" rIns="0" bIns="0" rtlCol="0" anchor="t">
            <a:spAutoFit/>
          </a:bodyPr>
          <a:lstStyle/>
          <a:p>
            <a:pPr defTabSz="609630" eaLnBrk="1" fontAlgn="auto" hangingPunct="1">
              <a:lnSpc>
                <a:spcPts val="4573"/>
              </a:lnSpc>
              <a:spcBef>
                <a:spcPts val="0"/>
              </a:spcBef>
              <a:spcAft>
                <a:spcPts val="0"/>
              </a:spcAft>
              <a:defRPr/>
            </a:pPr>
            <a:r>
              <a:rPr lang="en-GB" sz="4000" i="1" spc="-275" dirty="0">
                <a:solidFill>
                  <a:srgbClr val="46245A"/>
                </a:solidFill>
                <a:latin typeface="DM Sans Bold"/>
                <a:ea typeface="+mn-ea"/>
              </a:rPr>
              <a:t>Submitted Questions - Scientific  </a:t>
            </a:r>
            <a:endParaRPr lang="en-US" sz="4000" i="1" spc="-275" dirty="0">
              <a:solidFill>
                <a:srgbClr val="46245A"/>
              </a:solidFill>
              <a:latin typeface="DM Sans Bold"/>
              <a:ea typeface="+mn-ea"/>
            </a:endParaRPr>
          </a:p>
        </p:txBody>
      </p:sp>
      <p:sp>
        <p:nvSpPr>
          <p:cNvPr id="2" name="TextBox 1">
            <a:extLst>
              <a:ext uri="{FF2B5EF4-FFF2-40B4-BE49-F238E27FC236}">
                <a16:creationId xmlns:a16="http://schemas.microsoft.com/office/drawing/2014/main" id="{C64FCAB3-BD3F-CFB7-BD95-4CC2FC1E2965}"/>
              </a:ext>
            </a:extLst>
          </p:cNvPr>
          <p:cNvSpPr txBox="1"/>
          <p:nvPr/>
        </p:nvSpPr>
        <p:spPr>
          <a:xfrm>
            <a:off x="778085" y="2541691"/>
            <a:ext cx="10944985" cy="2862322"/>
          </a:xfrm>
          <a:prstGeom prst="rect">
            <a:avLst/>
          </a:prstGeom>
          <a:noFill/>
        </p:spPr>
        <p:txBody>
          <a:bodyPr wrap="square">
            <a:spAutoFit/>
          </a:bodyPr>
          <a:lstStyle/>
          <a:p>
            <a:r>
              <a:rPr lang="en-GB" b="1" kern="0" dirty="0">
                <a:solidFill>
                  <a:srgbClr val="1C2029"/>
                </a:solidFill>
                <a:latin typeface="Calibri" panose="020F0502020204030204" pitchFamily="34" charset="0"/>
                <a:ea typeface="Aptos" panose="020B0004020202020204" pitchFamily="34" charset="0"/>
                <a:cs typeface="Calibri" panose="020F0502020204030204" pitchFamily="34" charset="0"/>
              </a:rPr>
              <a:t>2. Natural Variability </a:t>
            </a:r>
          </a:p>
          <a:p>
            <a:endParaRPr lang="en-GB" b="1" kern="0" dirty="0">
              <a:solidFill>
                <a:srgbClr val="1C2029"/>
              </a:solidFill>
              <a:latin typeface="Calibri" panose="020F0502020204030204" pitchFamily="34" charset="0"/>
              <a:ea typeface="Aptos" panose="020B0004020202020204" pitchFamily="34" charset="0"/>
              <a:cs typeface="Calibri" panose="020F0502020204030204" pitchFamily="34" charset="0"/>
            </a:endParaRPr>
          </a:p>
          <a:p>
            <a:pPr marL="285750" indent="-285750">
              <a:buFont typeface="Arial" panose="020B0604020202020204" pitchFamily="34" charset="0"/>
              <a:buChar char="•"/>
            </a:pPr>
            <a:r>
              <a:rPr lang="en-GB" dirty="0">
                <a:latin typeface="Calibri" panose="020F0502020204030204" pitchFamily="34" charset="0"/>
                <a:cs typeface="Calibri" panose="020F0502020204030204" pitchFamily="34" charset="0"/>
              </a:rPr>
              <a:t>natural variability recap</a:t>
            </a:r>
          </a:p>
          <a:p>
            <a:pPr marL="285750" indent="-285750">
              <a:buFont typeface="Arial" panose="020B0604020202020204" pitchFamily="34" charset="0"/>
              <a:buChar char="•"/>
            </a:pPr>
            <a:endParaRPr lang="en-GB"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dirty="0">
                <a:latin typeface="Calibri" panose="020F0502020204030204" pitchFamily="34" charset="0"/>
                <a:cs typeface="Calibri" panose="020F0502020204030204" pitchFamily="34" charset="0"/>
              </a:rPr>
              <a:t>Why is natural variability important? </a:t>
            </a:r>
          </a:p>
          <a:p>
            <a:pPr marL="285750" indent="-285750">
              <a:buFont typeface="Arial" panose="020B0604020202020204" pitchFamily="34" charset="0"/>
              <a:buChar char="•"/>
            </a:pPr>
            <a:endParaRPr lang="en-GB"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dirty="0">
                <a:latin typeface="Calibri" panose="020F0502020204030204" pitchFamily="34" charset="0"/>
                <a:cs typeface="Calibri" panose="020F0502020204030204" pitchFamily="34" charset="0"/>
              </a:rPr>
              <a:t>Could we please go over </a:t>
            </a:r>
            <a:r>
              <a:rPr lang="en-GB" dirty="0" err="1">
                <a:latin typeface="Calibri" panose="020F0502020204030204" pitchFamily="34" charset="0"/>
                <a:cs typeface="Calibri" panose="020F0502020204030204" pitchFamily="34" charset="0"/>
              </a:rPr>
              <a:t>el</a:t>
            </a:r>
            <a:r>
              <a:rPr lang="en-GB" dirty="0">
                <a:latin typeface="Calibri" panose="020F0502020204030204" pitchFamily="34" charset="0"/>
                <a:cs typeface="Calibri" panose="020F0502020204030204" pitchFamily="34" charset="0"/>
              </a:rPr>
              <a:t> </a:t>
            </a:r>
            <a:r>
              <a:rPr lang="en-GB" dirty="0" err="1">
                <a:latin typeface="Calibri" panose="020F0502020204030204" pitchFamily="34" charset="0"/>
                <a:cs typeface="Calibri" panose="020F0502020204030204" pitchFamily="34" charset="0"/>
              </a:rPr>
              <a:t>niño</a:t>
            </a:r>
            <a:r>
              <a:rPr lang="en-GB" dirty="0">
                <a:latin typeface="Calibri" panose="020F0502020204030204" pitchFamily="34" charset="0"/>
                <a:cs typeface="Calibri" panose="020F0502020204030204" pitchFamily="34" charset="0"/>
              </a:rPr>
              <a:t>/la </a:t>
            </a:r>
            <a:r>
              <a:rPr lang="en-GB" dirty="0" err="1">
                <a:latin typeface="Calibri" panose="020F0502020204030204" pitchFamily="34" charset="0"/>
                <a:cs typeface="Calibri" panose="020F0502020204030204" pitchFamily="34" charset="0"/>
              </a:rPr>
              <a:t>niña</a:t>
            </a:r>
            <a:r>
              <a:rPr lang="en-GB" dirty="0">
                <a:latin typeface="Calibri" panose="020F0502020204030204" pitchFamily="34" charset="0"/>
                <a:cs typeface="Calibri" panose="020F0502020204030204" pitchFamily="34" charset="0"/>
              </a:rPr>
              <a:t>?</a:t>
            </a:r>
          </a:p>
          <a:p>
            <a:pPr marL="285750" indent="-285750">
              <a:buFont typeface="Arial" panose="020B0604020202020204" pitchFamily="34" charset="0"/>
              <a:buChar char="•"/>
            </a:pPr>
            <a:endParaRPr lang="en-GB"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dirty="0">
                <a:latin typeface="Calibri" panose="020F0502020204030204" pitchFamily="34" charset="0"/>
                <a:cs typeface="Calibri" panose="020F0502020204030204" pitchFamily="34" charset="0"/>
              </a:rPr>
              <a:t>El Nino Southern Oscillation</a:t>
            </a:r>
          </a:p>
          <a:p>
            <a:endParaRPr lang="en-GB" b="1" kern="0" dirty="0">
              <a:solidFill>
                <a:srgbClr val="1C2029"/>
              </a:solidFill>
              <a:latin typeface="Calibri" panose="020F0502020204030204" pitchFamily="34" charset="0"/>
              <a:ea typeface="Aptos" panose="020B0004020202020204" pitchFamily="34" charset="0"/>
              <a:cs typeface="Calibri" panose="020F0502020204030204" pitchFamily="34" charset="0"/>
            </a:endParaRPr>
          </a:p>
        </p:txBody>
      </p:sp>
    </p:spTree>
    <p:extLst>
      <p:ext uri="{BB962C8B-B14F-4D97-AF65-F5344CB8AC3E}">
        <p14:creationId xmlns:p14="http://schemas.microsoft.com/office/powerpoint/2010/main" val="12462305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
          <p:cNvSpPr txBox="1"/>
          <p:nvPr/>
        </p:nvSpPr>
        <p:spPr>
          <a:xfrm>
            <a:off x="5513010" y="1354522"/>
            <a:ext cx="5827486" cy="1146661"/>
          </a:xfrm>
          <a:prstGeom prst="rect">
            <a:avLst/>
          </a:prstGeom>
        </p:spPr>
        <p:txBody>
          <a:bodyPr wrap="square" lIns="0" tIns="0" rIns="0" bIns="0" rtlCol="0" anchor="t">
            <a:spAutoFit/>
          </a:bodyPr>
          <a:lstStyle/>
          <a:p>
            <a:pPr>
              <a:lnSpc>
                <a:spcPts val="4480"/>
              </a:lnSpc>
            </a:pPr>
            <a:r>
              <a:rPr lang="en-US" sz="3733" i="1" dirty="0">
                <a:solidFill>
                  <a:srgbClr val="46245A"/>
                </a:solidFill>
                <a:latin typeface="DM Sans" pitchFamily="2" charset="0"/>
              </a:rPr>
              <a:t>What drives natural variability in climate?</a:t>
            </a:r>
          </a:p>
        </p:txBody>
      </p:sp>
      <p:sp>
        <p:nvSpPr>
          <p:cNvPr id="3" name="TextBox 2">
            <a:extLst>
              <a:ext uri="{FF2B5EF4-FFF2-40B4-BE49-F238E27FC236}">
                <a16:creationId xmlns:a16="http://schemas.microsoft.com/office/drawing/2014/main" id="{EDACA9A5-5513-D41C-74B5-764B2AE98B47}"/>
              </a:ext>
            </a:extLst>
          </p:cNvPr>
          <p:cNvSpPr txBox="1"/>
          <p:nvPr/>
        </p:nvSpPr>
        <p:spPr>
          <a:xfrm>
            <a:off x="5513010" y="2752222"/>
            <a:ext cx="6435805" cy="2965364"/>
          </a:xfrm>
          <a:prstGeom prst="rect">
            <a:avLst/>
          </a:prstGeom>
          <a:noFill/>
        </p:spPr>
        <p:txBody>
          <a:bodyPr wrap="square">
            <a:spAutoFit/>
          </a:bodyPr>
          <a:lstStyle/>
          <a:p>
            <a:pPr marL="228611" indent="-228611">
              <a:buFont typeface="+mj-lt"/>
              <a:buAutoNum type="arabicPeriod"/>
            </a:pPr>
            <a:r>
              <a:rPr lang="en-GB" sz="2667" b="1" dirty="0">
                <a:latin typeface="Calibri" panose="020F0502020204030204" pitchFamily="34" charset="0"/>
                <a:cs typeface="Calibri" panose="020F0502020204030204" pitchFamily="34" charset="0"/>
              </a:rPr>
              <a:t> Orbital Variations</a:t>
            </a:r>
          </a:p>
          <a:p>
            <a:pPr marL="228611" indent="-228611">
              <a:buFont typeface="+mj-lt"/>
              <a:buAutoNum type="arabicPeriod"/>
            </a:pPr>
            <a:endParaRPr lang="en-GB" sz="2667" b="1" dirty="0">
              <a:latin typeface="Calibri" panose="020F0502020204030204" pitchFamily="34" charset="0"/>
              <a:cs typeface="Calibri" panose="020F0502020204030204" pitchFamily="34" charset="0"/>
            </a:endParaRPr>
          </a:p>
          <a:p>
            <a:pPr marL="228611" indent="-228611">
              <a:buFont typeface="+mj-lt"/>
              <a:buAutoNum type="arabicPeriod"/>
            </a:pPr>
            <a:r>
              <a:rPr lang="en-GB" sz="2667" b="1" dirty="0">
                <a:latin typeface="Calibri" panose="020F0502020204030204" pitchFamily="34" charset="0"/>
                <a:cs typeface="Calibri" panose="020F0502020204030204" pitchFamily="34" charset="0"/>
              </a:rPr>
              <a:t> Solar Variability</a:t>
            </a:r>
          </a:p>
          <a:p>
            <a:pPr marL="228611" indent="-228611">
              <a:buFont typeface="+mj-lt"/>
              <a:buAutoNum type="arabicPeriod"/>
            </a:pPr>
            <a:endParaRPr lang="en-GB" sz="2667" dirty="0">
              <a:latin typeface="Calibri" panose="020F0502020204030204" pitchFamily="34" charset="0"/>
              <a:cs typeface="Calibri" panose="020F0502020204030204" pitchFamily="34" charset="0"/>
            </a:endParaRPr>
          </a:p>
          <a:p>
            <a:pPr marL="228611" indent="-228611">
              <a:buFont typeface="+mj-lt"/>
              <a:buAutoNum type="arabicPeriod"/>
            </a:pPr>
            <a:r>
              <a:rPr lang="en-GB" sz="2667" b="1" dirty="0">
                <a:latin typeface="Calibri" panose="020F0502020204030204" pitchFamily="34" charset="0"/>
                <a:cs typeface="Calibri" panose="020F0502020204030204" pitchFamily="34" charset="0"/>
              </a:rPr>
              <a:t> Volcanic Activity</a:t>
            </a:r>
          </a:p>
          <a:p>
            <a:pPr marL="228611" indent="-228611">
              <a:buFont typeface="+mj-lt"/>
              <a:buAutoNum type="arabicPeriod"/>
            </a:pPr>
            <a:endParaRPr lang="en-GB" sz="2667" dirty="0">
              <a:latin typeface="Calibri" panose="020F0502020204030204" pitchFamily="34" charset="0"/>
              <a:cs typeface="Calibri" panose="020F0502020204030204" pitchFamily="34" charset="0"/>
            </a:endParaRPr>
          </a:p>
          <a:p>
            <a:pPr marL="228611" indent="-228611">
              <a:buFont typeface="+mj-lt"/>
              <a:buAutoNum type="arabicPeriod"/>
            </a:pPr>
            <a:r>
              <a:rPr lang="en-GB" sz="2667" b="1" dirty="0">
                <a:latin typeface="Calibri" panose="020F0502020204030204" pitchFamily="34" charset="0"/>
                <a:cs typeface="Calibri" panose="020F0502020204030204" pitchFamily="34" charset="0"/>
              </a:rPr>
              <a:t> Ocean Circulation</a:t>
            </a:r>
            <a:endParaRPr lang="en-GB" altLang="en-US" sz="2667" b="1" dirty="0">
              <a:latin typeface="Calibri" panose="020F0502020204030204" pitchFamily="34" charset="0"/>
              <a:ea typeface="ＭＳ Ｐゴシック" panose="020B0600070205080204" pitchFamily="34" charset="-128"/>
              <a:cs typeface="Calibri" panose="020F0502020204030204" pitchFamily="34" charset="0"/>
            </a:endParaRPr>
          </a:p>
        </p:txBody>
      </p:sp>
      <p:pic>
        <p:nvPicPr>
          <p:cNvPr id="4" name="Picture 4" descr="s_earth%20from%20space">
            <a:extLst>
              <a:ext uri="{FF2B5EF4-FFF2-40B4-BE49-F238E27FC236}">
                <a16:creationId xmlns:a16="http://schemas.microsoft.com/office/drawing/2014/main" id="{1EEDF554-B428-44CD-1693-FA8F8F21FB2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1447" t="-2" r="2048"/>
          <a:stretch>
            <a:fillRect/>
          </a:stretch>
        </p:blipFill>
        <p:spPr bwMode="auto">
          <a:xfrm>
            <a:off x="0" y="0"/>
            <a:ext cx="5246676" cy="6857993"/>
          </a:xfrm>
          <a:custGeom>
            <a:avLst/>
            <a:gdLst/>
            <a:ahLst/>
            <a:cxnLst/>
            <a:rect l="l" t="t" r="r" b="b"/>
            <a:pathLst>
              <a:path w="6717456" h="6858000">
                <a:moveTo>
                  <a:pt x="0" y="0"/>
                </a:moveTo>
                <a:lnTo>
                  <a:pt x="6149468" y="0"/>
                </a:lnTo>
                <a:lnTo>
                  <a:pt x="6202448" y="162605"/>
                </a:lnTo>
                <a:cubicBezTo>
                  <a:pt x="6535625" y="1263763"/>
                  <a:pt x="6717456" y="2453207"/>
                  <a:pt x="6717456" y="3694043"/>
                </a:cubicBezTo>
                <a:cubicBezTo>
                  <a:pt x="6717456" y="4757617"/>
                  <a:pt x="6583866" y="5783433"/>
                  <a:pt x="6335883" y="6748259"/>
                </a:cubicBezTo>
                <a:lnTo>
                  <a:pt x="6305198" y="6858000"/>
                </a:lnTo>
                <a:lnTo>
                  <a:pt x="0" y="6858000"/>
                </a:lnTo>
                <a:close/>
              </a:path>
            </a:pathLst>
          </a:custGeom>
          <a:noFill/>
          <a:effectLst>
            <a:outerShdw blurRad="50800" dist="38100" algn="l" rotWithShape="0">
              <a:schemeClr val="bg1">
                <a:lumMod val="85000"/>
                <a:alpha val="30000"/>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reeform 13">
            <a:extLst>
              <a:ext uri="{FF2B5EF4-FFF2-40B4-BE49-F238E27FC236}">
                <a16:creationId xmlns:a16="http://schemas.microsoft.com/office/drawing/2014/main" id="{82A76B33-CF07-5480-519E-0D71C0FF5D3B}"/>
              </a:ext>
            </a:extLst>
          </p:cNvPr>
          <p:cNvSpPr/>
          <p:nvPr/>
        </p:nvSpPr>
        <p:spPr>
          <a:xfrm>
            <a:off x="160487" y="5831117"/>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n-GB" sz="1200">
              <a:latin typeface="DM Sans"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09E61-7178-D3EE-5E07-81A97B74B4A2}"/>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59F2281C-9648-EC6E-51B5-E3DD897AE28B}"/>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endParaRPr lang="en-GB" sz="1200">
              <a:latin typeface="DM Sans" pitchFamily="2" charset="0"/>
            </a:endParaRPr>
          </a:p>
        </p:txBody>
      </p:sp>
      <p:sp>
        <p:nvSpPr>
          <p:cNvPr id="2" name="TextBox 5">
            <a:extLst>
              <a:ext uri="{FF2B5EF4-FFF2-40B4-BE49-F238E27FC236}">
                <a16:creationId xmlns:a16="http://schemas.microsoft.com/office/drawing/2014/main" id="{36A992A3-AAD0-21B8-F0B8-19B11FC1141C}"/>
              </a:ext>
            </a:extLst>
          </p:cNvPr>
          <p:cNvSpPr txBox="1"/>
          <p:nvPr/>
        </p:nvSpPr>
        <p:spPr>
          <a:xfrm>
            <a:off x="762000" y="1089044"/>
            <a:ext cx="9231783" cy="569580"/>
          </a:xfrm>
          <a:prstGeom prst="rect">
            <a:avLst/>
          </a:prstGeom>
        </p:spPr>
        <p:txBody>
          <a:bodyPr wrap="square" lIns="0" tIns="0" rIns="0" bIns="0" rtlCol="0" anchor="t">
            <a:spAutoFit/>
          </a:bodyPr>
          <a:lstStyle/>
          <a:p>
            <a:pPr>
              <a:lnSpc>
                <a:spcPts val="4480"/>
              </a:lnSpc>
            </a:pPr>
            <a:r>
              <a:rPr lang="en-US" sz="3733" b="1" i="1" dirty="0">
                <a:solidFill>
                  <a:srgbClr val="46245A"/>
                </a:solidFill>
                <a:latin typeface="DM Sans" pitchFamily="2" charset="0"/>
              </a:rPr>
              <a:t>The Milankovitch Cycles</a:t>
            </a:r>
            <a:endParaRPr lang="en-US" sz="3733" i="1" dirty="0">
              <a:solidFill>
                <a:srgbClr val="46245A"/>
              </a:solidFill>
              <a:latin typeface="DM Sans" pitchFamily="2" charset="0"/>
            </a:endParaRPr>
          </a:p>
        </p:txBody>
      </p:sp>
      <p:sp>
        <p:nvSpPr>
          <p:cNvPr id="4" name="TextBox 3">
            <a:extLst>
              <a:ext uri="{FF2B5EF4-FFF2-40B4-BE49-F238E27FC236}">
                <a16:creationId xmlns:a16="http://schemas.microsoft.com/office/drawing/2014/main" id="{78765397-6456-525C-4EBE-1DD66DAAC59B}"/>
              </a:ext>
            </a:extLst>
          </p:cNvPr>
          <p:cNvSpPr txBox="1"/>
          <p:nvPr/>
        </p:nvSpPr>
        <p:spPr>
          <a:xfrm>
            <a:off x="758687" y="5279032"/>
            <a:ext cx="10674626" cy="1569853"/>
          </a:xfrm>
          <a:prstGeom prst="rect">
            <a:avLst/>
          </a:prstGeom>
          <a:noFill/>
        </p:spPr>
        <p:txBody>
          <a:bodyPr wrap="square">
            <a:spAutoFit/>
          </a:bodyPr>
          <a:lstStyle/>
          <a:p>
            <a:pPr marL="304815" indent="-304815">
              <a:buFont typeface="Arial" panose="020B0604020202020204" pitchFamily="34" charset="0"/>
              <a:buChar char="•"/>
            </a:pPr>
            <a:r>
              <a:rPr lang="en-GB" sz="1867" dirty="0">
                <a:solidFill>
                  <a:srgbClr val="0D0D0D"/>
                </a:solidFill>
                <a:latin typeface="Calibri" panose="020F0502020204030204" pitchFamily="34" charset="0"/>
                <a:cs typeface="Calibri" panose="020F0502020204030204" pitchFamily="34" charset="0"/>
              </a:rPr>
              <a:t>Milankovitch cycles interact to modulate the amount, distribution, and seasonality of solar radiation reaching Earth's surface, contributing to long-term climate variability</a:t>
            </a:r>
          </a:p>
          <a:p>
            <a:pPr marL="304815" indent="-304815">
              <a:buFont typeface="Arial" panose="020B0604020202020204" pitchFamily="34" charset="0"/>
              <a:buChar char="•"/>
            </a:pPr>
            <a:r>
              <a:rPr lang="en-GB" sz="1867" dirty="0">
                <a:solidFill>
                  <a:srgbClr val="1B1B1B"/>
                </a:solidFill>
                <a:latin typeface="Calibri" panose="020F0502020204030204" pitchFamily="34" charset="0"/>
              </a:rPr>
              <a:t>These cyclical orbital movements, cause variations of up to 25 percent in the amount of incoming insolation at Earth’s mid-latitudes</a:t>
            </a:r>
            <a:endParaRPr lang="en-US" sz="1867" dirty="0"/>
          </a:p>
          <a:p>
            <a:endParaRPr lang="en-GB" sz="2133" dirty="0">
              <a:latin typeface="Calibri" panose="020F0502020204030204" pitchFamily="34" charset="0"/>
              <a:cs typeface="Calibri" panose="020F0502020204030204" pitchFamily="34" charset="0"/>
            </a:endParaRPr>
          </a:p>
        </p:txBody>
      </p:sp>
      <p:pic>
        <p:nvPicPr>
          <p:cNvPr id="1026" name="Picture 2">
            <a:extLst>
              <a:ext uri="{FF2B5EF4-FFF2-40B4-BE49-F238E27FC236}">
                <a16:creationId xmlns:a16="http://schemas.microsoft.com/office/drawing/2014/main" id="{DC4456F6-01F6-8276-E0D2-3744CB6ED2D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8011" t="31751" r="61808" b="36465"/>
          <a:stretch/>
        </p:blipFill>
        <p:spPr bwMode="auto">
          <a:xfrm>
            <a:off x="1094197" y="2079447"/>
            <a:ext cx="2743200" cy="216901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392F48A2-C353-0DF9-FC3D-B41A40A6EF6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0193" t="25930" r="29120" b="33780"/>
          <a:stretch>
            <a:fillRect/>
          </a:stretch>
        </p:blipFill>
        <p:spPr bwMode="auto">
          <a:xfrm>
            <a:off x="4022125" y="1661851"/>
            <a:ext cx="2873639" cy="283268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54C6B015-0C91-969A-D881-B60575E5EA2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1231" t="26567" r="3604" b="31846"/>
          <a:stretch/>
        </p:blipFill>
        <p:spPr bwMode="auto">
          <a:xfrm>
            <a:off x="7930236" y="1699522"/>
            <a:ext cx="2255249" cy="279818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5">
            <a:extLst>
              <a:ext uri="{FF2B5EF4-FFF2-40B4-BE49-F238E27FC236}">
                <a16:creationId xmlns:a16="http://schemas.microsoft.com/office/drawing/2014/main" id="{E7BB769A-B29A-B50F-4B74-193570E6F6D2}"/>
              </a:ext>
            </a:extLst>
          </p:cNvPr>
          <p:cNvSpPr txBox="1"/>
          <p:nvPr/>
        </p:nvSpPr>
        <p:spPr>
          <a:xfrm>
            <a:off x="1135551" y="4538267"/>
            <a:ext cx="9231783" cy="540276"/>
          </a:xfrm>
          <a:prstGeom prst="rect">
            <a:avLst/>
          </a:prstGeom>
        </p:spPr>
        <p:txBody>
          <a:bodyPr wrap="square" lIns="0" tIns="0" rIns="0" bIns="0" rtlCol="0" anchor="t">
            <a:spAutoFit/>
          </a:bodyPr>
          <a:lstStyle/>
          <a:p>
            <a:pPr>
              <a:lnSpc>
                <a:spcPts val="4480"/>
              </a:lnSpc>
            </a:pPr>
            <a:r>
              <a:rPr lang="en-US" sz="2933" b="1" dirty="0">
                <a:solidFill>
                  <a:srgbClr val="46245A"/>
                </a:solidFill>
                <a:latin typeface="DM Sans" pitchFamily="2" charset="0"/>
              </a:rPr>
              <a:t>1. Eccentricity</a:t>
            </a:r>
            <a:endParaRPr lang="en-US" sz="2933" dirty="0">
              <a:solidFill>
                <a:srgbClr val="46245A"/>
              </a:solidFill>
              <a:latin typeface="DM Sans" pitchFamily="2" charset="0"/>
            </a:endParaRPr>
          </a:p>
        </p:txBody>
      </p:sp>
      <p:sp>
        <p:nvSpPr>
          <p:cNvPr id="8" name="TextBox 5">
            <a:extLst>
              <a:ext uri="{FF2B5EF4-FFF2-40B4-BE49-F238E27FC236}">
                <a16:creationId xmlns:a16="http://schemas.microsoft.com/office/drawing/2014/main" id="{A71A2B02-BD55-A4E7-6CBB-D1E5877E0D8C}"/>
              </a:ext>
            </a:extLst>
          </p:cNvPr>
          <p:cNvSpPr txBox="1"/>
          <p:nvPr/>
        </p:nvSpPr>
        <p:spPr>
          <a:xfrm>
            <a:off x="4743928" y="4538267"/>
            <a:ext cx="2282133" cy="540276"/>
          </a:xfrm>
          <a:prstGeom prst="rect">
            <a:avLst/>
          </a:prstGeom>
        </p:spPr>
        <p:txBody>
          <a:bodyPr wrap="square" lIns="0" tIns="0" rIns="0" bIns="0" rtlCol="0" anchor="t">
            <a:spAutoFit/>
          </a:bodyPr>
          <a:lstStyle/>
          <a:p>
            <a:pPr>
              <a:lnSpc>
                <a:spcPts val="4480"/>
              </a:lnSpc>
            </a:pPr>
            <a:r>
              <a:rPr lang="en-US" sz="2667" b="1" dirty="0">
                <a:solidFill>
                  <a:srgbClr val="46245A"/>
                </a:solidFill>
                <a:latin typeface="DM Sans" pitchFamily="2" charset="0"/>
              </a:rPr>
              <a:t>2. </a:t>
            </a:r>
            <a:r>
              <a:rPr lang="en-US" sz="2933" b="1" dirty="0">
                <a:solidFill>
                  <a:srgbClr val="46245A"/>
                </a:solidFill>
                <a:latin typeface="DM Sans" pitchFamily="2" charset="0"/>
              </a:rPr>
              <a:t>Obliquity</a:t>
            </a:r>
            <a:endParaRPr lang="en-US" sz="2667" dirty="0">
              <a:solidFill>
                <a:srgbClr val="46245A"/>
              </a:solidFill>
              <a:latin typeface="DM Sans" pitchFamily="2" charset="0"/>
            </a:endParaRPr>
          </a:p>
        </p:txBody>
      </p:sp>
      <p:sp>
        <p:nvSpPr>
          <p:cNvPr id="9" name="TextBox 5">
            <a:extLst>
              <a:ext uri="{FF2B5EF4-FFF2-40B4-BE49-F238E27FC236}">
                <a16:creationId xmlns:a16="http://schemas.microsoft.com/office/drawing/2014/main" id="{23D646FC-3DEC-1E2F-14D5-00C005D7CA4D}"/>
              </a:ext>
            </a:extLst>
          </p:cNvPr>
          <p:cNvSpPr txBox="1"/>
          <p:nvPr/>
        </p:nvSpPr>
        <p:spPr>
          <a:xfrm>
            <a:off x="7732275" y="4521251"/>
            <a:ext cx="2902163" cy="540276"/>
          </a:xfrm>
          <a:prstGeom prst="rect">
            <a:avLst/>
          </a:prstGeom>
        </p:spPr>
        <p:txBody>
          <a:bodyPr wrap="square" lIns="0" tIns="0" rIns="0" bIns="0" rtlCol="0" anchor="t">
            <a:spAutoFit/>
          </a:bodyPr>
          <a:lstStyle/>
          <a:p>
            <a:pPr>
              <a:lnSpc>
                <a:spcPts val="4480"/>
              </a:lnSpc>
            </a:pPr>
            <a:r>
              <a:rPr lang="en-US" sz="2933" b="1" dirty="0">
                <a:solidFill>
                  <a:srgbClr val="46245A"/>
                </a:solidFill>
                <a:latin typeface="DM Sans" pitchFamily="2" charset="0"/>
              </a:rPr>
              <a:t>3. Precession</a:t>
            </a:r>
            <a:endParaRPr lang="en-US" sz="2933" dirty="0">
              <a:solidFill>
                <a:srgbClr val="46245A"/>
              </a:solidFill>
              <a:latin typeface="DM Sans" pitchFamily="2" charset="0"/>
            </a:endParaRPr>
          </a:p>
        </p:txBody>
      </p:sp>
    </p:spTree>
    <p:extLst>
      <p:ext uri="{BB962C8B-B14F-4D97-AF65-F5344CB8AC3E}">
        <p14:creationId xmlns:p14="http://schemas.microsoft.com/office/powerpoint/2010/main" val="32423360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76A9B-1ADD-A7BB-F83F-034B3B58FD14}"/>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526AA8EC-C129-E56D-E128-0746B7AF326C}"/>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endParaRPr lang="en-GB" sz="1200">
              <a:latin typeface="DM Sans" pitchFamily="2" charset="0"/>
            </a:endParaRPr>
          </a:p>
        </p:txBody>
      </p:sp>
      <p:sp>
        <p:nvSpPr>
          <p:cNvPr id="3" name="Rectangle 3">
            <a:extLst>
              <a:ext uri="{FF2B5EF4-FFF2-40B4-BE49-F238E27FC236}">
                <a16:creationId xmlns:a16="http://schemas.microsoft.com/office/drawing/2014/main" id="{7A20A85D-FD8A-97EE-FECC-B383D8040554}"/>
              </a:ext>
            </a:extLst>
          </p:cNvPr>
          <p:cNvSpPr txBox="1">
            <a:spLocks noChangeArrowheads="1"/>
          </p:cNvSpPr>
          <p:nvPr/>
        </p:nvSpPr>
        <p:spPr>
          <a:xfrm>
            <a:off x="5822" y="-339748"/>
            <a:ext cx="11424178" cy="4525963"/>
          </a:xfrm>
          <a:prstGeom prst="rect">
            <a:avLst/>
          </a:prstGeom>
        </p:spPr>
        <p:txBody>
          <a:bodyPr/>
          <a:lst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a:lstStyle>
          <a:p>
            <a:pPr marL="457223" indent="-457223">
              <a:buFontTx/>
              <a:buChar char="•"/>
            </a:pPr>
            <a:endParaRPr lang="en-US" altLang="en-US" sz="1867" dirty="0">
              <a:ea typeface="ＭＳ Ｐゴシック" panose="020B0600070205080204" pitchFamily="34" charset="-128"/>
            </a:endParaRPr>
          </a:p>
        </p:txBody>
      </p:sp>
      <p:sp>
        <p:nvSpPr>
          <p:cNvPr id="4" name="TextBox 5">
            <a:extLst>
              <a:ext uri="{FF2B5EF4-FFF2-40B4-BE49-F238E27FC236}">
                <a16:creationId xmlns:a16="http://schemas.microsoft.com/office/drawing/2014/main" id="{A4513BAA-6CE4-06C6-C91B-9560DD0B7505}"/>
              </a:ext>
            </a:extLst>
          </p:cNvPr>
          <p:cNvSpPr txBox="1"/>
          <p:nvPr/>
        </p:nvSpPr>
        <p:spPr>
          <a:xfrm>
            <a:off x="762000" y="1089044"/>
            <a:ext cx="9231783" cy="569580"/>
          </a:xfrm>
          <a:prstGeom prst="rect">
            <a:avLst/>
          </a:prstGeom>
        </p:spPr>
        <p:txBody>
          <a:bodyPr wrap="square" lIns="0" tIns="0" rIns="0" bIns="0" rtlCol="0" anchor="t">
            <a:spAutoFit/>
          </a:bodyPr>
          <a:lstStyle/>
          <a:p>
            <a:pPr>
              <a:lnSpc>
                <a:spcPts val="4480"/>
              </a:lnSpc>
            </a:pPr>
            <a:r>
              <a:rPr lang="en-US" sz="3733" b="1" i="1" dirty="0">
                <a:solidFill>
                  <a:srgbClr val="46245A"/>
                </a:solidFill>
                <a:latin typeface="DM Sans" pitchFamily="2" charset="0"/>
              </a:rPr>
              <a:t>Milankovitch Cycles – The Theory</a:t>
            </a:r>
            <a:endParaRPr lang="en-US" sz="3733" i="1" dirty="0">
              <a:solidFill>
                <a:srgbClr val="46245A"/>
              </a:solidFill>
              <a:latin typeface="DM Sans" pitchFamily="2" charset="0"/>
            </a:endParaRPr>
          </a:p>
        </p:txBody>
      </p:sp>
      <p:pic>
        <p:nvPicPr>
          <p:cNvPr id="14" name="Picture 13" descr="A diagram of the sun and the earth&#10;&#10;AI-generated content may be incorrect.">
            <a:extLst>
              <a:ext uri="{FF2B5EF4-FFF2-40B4-BE49-F238E27FC236}">
                <a16:creationId xmlns:a16="http://schemas.microsoft.com/office/drawing/2014/main" id="{DC478886-8B70-432A-C7F8-A98C97369CE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2000" y="1891673"/>
            <a:ext cx="7832033" cy="4589083"/>
          </a:xfrm>
          <a:prstGeom prst="rect">
            <a:avLst/>
          </a:prstGeom>
        </p:spPr>
      </p:pic>
    </p:spTree>
    <p:extLst>
      <p:ext uri="{BB962C8B-B14F-4D97-AF65-F5344CB8AC3E}">
        <p14:creationId xmlns:p14="http://schemas.microsoft.com/office/powerpoint/2010/main" val="39244939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B2EE9-099A-43FB-91D5-27BC6F03551E}"/>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25ED65B2-E1F8-58F7-59C9-EDA900D843FC}"/>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endParaRPr lang="en-GB" sz="1200">
              <a:latin typeface="DM Sans" pitchFamily="2" charset="0"/>
            </a:endParaRPr>
          </a:p>
        </p:txBody>
      </p:sp>
      <p:sp>
        <p:nvSpPr>
          <p:cNvPr id="3" name="Rectangle 3">
            <a:extLst>
              <a:ext uri="{FF2B5EF4-FFF2-40B4-BE49-F238E27FC236}">
                <a16:creationId xmlns:a16="http://schemas.microsoft.com/office/drawing/2014/main" id="{D072E0BB-F27F-29CD-72C5-406D8C8D77C4}"/>
              </a:ext>
            </a:extLst>
          </p:cNvPr>
          <p:cNvSpPr txBox="1">
            <a:spLocks noChangeArrowheads="1"/>
          </p:cNvSpPr>
          <p:nvPr/>
        </p:nvSpPr>
        <p:spPr>
          <a:xfrm>
            <a:off x="5822" y="-339748"/>
            <a:ext cx="11424178" cy="4525963"/>
          </a:xfrm>
          <a:prstGeom prst="rect">
            <a:avLst/>
          </a:prstGeom>
        </p:spPr>
        <p:txBody>
          <a:bodyPr/>
          <a:lst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a:lstStyle>
          <a:p>
            <a:pPr marL="457223" indent="-457223">
              <a:buFontTx/>
              <a:buChar char="•"/>
            </a:pPr>
            <a:endParaRPr lang="en-US" altLang="en-US" sz="1867" dirty="0">
              <a:ea typeface="ＭＳ Ｐゴシック" panose="020B0600070205080204" pitchFamily="34" charset="-128"/>
            </a:endParaRPr>
          </a:p>
        </p:txBody>
      </p:sp>
      <p:sp>
        <p:nvSpPr>
          <p:cNvPr id="4" name="TextBox 5">
            <a:extLst>
              <a:ext uri="{FF2B5EF4-FFF2-40B4-BE49-F238E27FC236}">
                <a16:creationId xmlns:a16="http://schemas.microsoft.com/office/drawing/2014/main" id="{69BC8E26-DEF2-0B5A-0AC3-1D472FC7E89A}"/>
              </a:ext>
            </a:extLst>
          </p:cNvPr>
          <p:cNvSpPr txBox="1"/>
          <p:nvPr/>
        </p:nvSpPr>
        <p:spPr>
          <a:xfrm>
            <a:off x="762000" y="1089044"/>
            <a:ext cx="9231783" cy="569580"/>
          </a:xfrm>
          <a:prstGeom prst="rect">
            <a:avLst/>
          </a:prstGeom>
        </p:spPr>
        <p:txBody>
          <a:bodyPr wrap="square" lIns="0" tIns="0" rIns="0" bIns="0" rtlCol="0" anchor="t">
            <a:spAutoFit/>
          </a:bodyPr>
          <a:lstStyle/>
          <a:p>
            <a:pPr>
              <a:lnSpc>
                <a:spcPts val="4480"/>
              </a:lnSpc>
            </a:pPr>
            <a:r>
              <a:rPr lang="en-US" sz="3733" b="1" i="1" dirty="0">
                <a:solidFill>
                  <a:srgbClr val="46245A"/>
                </a:solidFill>
                <a:latin typeface="DM Sans" pitchFamily="2" charset="0"/>
              </a:rPr>
              <a:t>Milankovitch Cycles – Verification</a:t>
            </a:r>
            <a:endParaRPr lang="en-US" sz="3733" i="1" dirty="0">
              <a:solidFill>
                <a:srgbClr val="46245A"/>
              </a:solidFill>
              <a:latin typeface="DM Sans" pitchFamily="2" charset="0"/>
            </a:endParaRPr>
          </a:p>
        </p:txBody>
      </p:sp>
      <p:pic>
        <p:nvPicPr>
          <p:cNvPr id="2" name="Picture 1">
            <a:extLst>
              <a:ext uri="{FF2B5EF4-FFF2-40B4-BE49-F238E27FC236}">
                <a16:creationId xmlns:a16="http://schemas.microsoft.com/office/drawing/2014/main" id="{18FE06D4-7010-1882-8810-42A704407DC2}"/>
              </a:ext>
            </a:extLst>
          </p:cNvPr>
          <p:cNvPicPr>
            <a:picLocks noChangeAspect="1"/>
          </p:cNvPicPr>
          <p:nvPr/>
        </p:nvPicPr>
        <p:blipFill>
          <a:blip r:embed="rId4"/>
          <a:stretch>
            <a:fillRect/>
          </a:stretch>
        </p:blipFill>
        <p:spPr>
          <a:xfrm>
            <a:off x="6415061" y="2378908"/>
            <a:ext cx="5602941" cy="2967214"/>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12" name="TextBox 11">
            <a:extLst>
              <a:ext uri="{FF2B5EF4-FFF2-40B4-BE49-F238E27FC236}">
                <a16:creationId xmlns:a16="http://schemas.microsoft.com/office/drawing/2014/main" id="{E43044EC-6ED5-57B2-66EC-E6123F477A92}"/>
              </a:ext>
            </a:extLst>
          </p:cNvPr>
          <p:cNvSpPr txBox="1"/>
          <p:nvPr/>
        </p:nvSpPr>
        <p:spPr>
          <a:xfrm>
            <a:off x="348090" y="2106355"/>
            <a:ext cx="5906937" cy="3540200"/>
          </a:xfrm>
          <a:prstGeom prst="rect">
            <a:avLst/>
          </a:prstGeom>
          <a:noFill/>
        </p:spPr>
        <p:txBody>
          <a:bodyPr wrap="square">
            <a:spAutoFit/>
          </a:bodyPr>
          <a:lstStyle/>
          <a:p>
            <a:pPr marL="304815" indent="-304815">
              <a:buFont typeface="Arial" panose="020B0604020202020204" pitchFamily="34" charset="0"/>
              <a:buChar char="•"/>
            </a:pPr>
            <a:r>
              <a:rPr lang="en-GB" sz="1867" dirty="0">
                <a:latin typeface="Calibri" panose="020F0502020204030204" pitchFamily="34" charset="0"/>
                <a:cs typeface="Calibri" panose="020F0502020204030204" pitchFamily="34" charset="0"/>
              </a:rPr>
              <a:t>Initially overlooked, Milankovitch’s theory gained recognition after his death</a:t>
            </a:r>
          </a:p>
          <a:p>
            <a:pPr marL="304815" indent="-304815">
              <a:buFont typeface="Arial" panose="020B0604020202020204" pitchFamily="34" charset="0"/>
              <a:buChar char="•"/>
            </a:pPr>
            <a:r>
              <a:rPr lang="en-GB" sz="1867" b="1" dirty="0">
                <a:latin typeface="Calibri" panose="020F0502020204030204" pitchFamily="34" charset="0"/>
                <a:cs typeface="Calibri" panose="020F0502020204030204" pitchFamily="34" charset="0"/>
              </a:rPr>
              <a:t>1976 Science study (Hays et al.)</a:t>
            </a:r>
            <a:r>
              <a:rPr lang="en-GB" sz="1867" dirty="0">
                <a:latin typeface="Calibri" panose="020F0502020204030204" pitchFamily="34" charset="0"/>
                <a:cs typeface="Calibri" panose="020F0502020204030204" pitchFamily="34" charset="0"/>
              </a:rPr>
              <a:t> linked orbital cycles to climate change using deep-sea sediment cores</a:t>
            </a:r>
          </a:p>
          <a:p>
            <a:pPr marL="304815" indent="-304815">
              <a:buFont typeface="Arial" panose="020B0604020202020204" pitchFamily="34" charset="0"/>
              <a:buChar char="•"/>
            </a:pPr>
            <a:r>
              <a:rPr lang="en-GB" sz="1867" dirty="0">
                <a:latin typeface="Calibri" panose="020F0502020204030204" pitchFamily="34" charset="0"/>
                <a:cs typeface="Calibri" panose="020F0502020204030204" pitchFamily="34" charset="0"/>
              </a:rPr>
              <a:t>Temperature records reconstructed for the past </a:t>
            </a:r>
            <a:r>
              <a:rPr lang="en-GB" sz="1867" b="1" dirty="0">
                <a:latin typeface="Calibri" panose="020F0502020204030204" pitchFamily="34" charset="0"/>
                <a:cs typeface="Calibri" panose="020F0502020204030204" pitchFamily="34" charset="0"/>
              </a:rPr>
              <a:t>450,000 years</a:t>
            </a:r>
            <a:endParaRPr lang="en-GB" sz="1867" dirty="0">
              <a:latin typeface="Calibri" panose="020F0502020204030204" pitchFamily="34" charset="0"/>
              <a:cs typeface="Calibri" panose="020F0502020204030204" pitchFamily="34" charset="0"/>
            </a:endParaRPr>
          </a:p>
          <a:p>
            <a:pPr marL="304815" indent="-304815">
              <a:buFont typeface="Arial" panose="020B0604020202020204" pitchFamily="34" charset="0"/>
              <a:buChar char="•"/>
            </a:pPr>
            <a:r>
              <a:rPr lang="en-GB" sz="1867" dirty="0">
                <a:latin typeface="Calibri" panose="020F0502020204030204" pitchFamily="34" charset="0"/>
                <a:cs typeface="Calibri" panose="020F0502020204030204" pitchFamily="34" charset="0"/>
              </a:rPr>
              <a:t>Ice Ages coincided with specific stages of Earth’s orbital variation</a:t>
            </a:r>
          </a:p>
          <a:p>
            <a:pPr marL="304815" indent="-304815">
              <a:buFont typeface="Arial" panose="020B0604020202020204" pitchFamily="34" charset="0"/>
              <a:buChar char="•"/>
            </a:pPr>
            <a:r>
              <a:rPr lang="en-GB" sz="1867" dirty="0">
                <a:latin typeface="Calibri" panose="020F0502020204030204" pitchFamily="34" charset="0"/>
                <a:cs typeface="Calibri" panose="020F0502020204030204" pitchFamily="34" charset="0"/>
              </a:rPr>
              <a:t>Ice-core data from Greenland and Antarctica further confirmed the cycles</a:t>
            </a:r>
          </a:p>
          <a:p>
            <a:pPr marL="304815" indent="-304815">
              <a:buFont typeface="Arial" panose="020B0604020202020204" pitchFamily="34" charset="0"/>
              <a:buChar char="•"/>
            </a:pPr>
            <a:r>
              <a:rPr lang="en-GB" sz="1867" dirty="0">
                <a:latin typeface="Calibri" panose="020F0502020204030204" pitchFamily="34" charset="0"/>
                <a:cs typeface="Calibri" panose="020F0502020204030204" pitchFamily="34" charset="0"/>
              </a:rPr>
              <a:t>Milankovitch cycles are now widely accepted as drivers of glacial–interglacial timing</a:t>
            </a:r>
          </a:p>
        </p:txBody>
      </p:sp>
    </p:spTree>
    <p:extLst>
      <p:ext uri="{BB962C8B-B14F-4D97-AF65-F5344CB8AC3E}">
        <p14:creationId xmlns:p14="http://schemas.microsoft.com/office/powerpoint/2010/main" val="27143111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B10F75-FDFC-A6C2-EEBC-5FE435033C4B}"/>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8E9CD8A6-CDE8-C276-97E4-7FB317B5864D}"/>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3" name="TextBox 5">
            <a:extLst>
              <a:ext uri="{FF2B5EF4-FFF2-40B4-BE49-F238E27FC236}">
                <a16:creationId xmlns:a16="http://schemas.microsoft.com/office/drawing/2014/main" id="{C87BEC54-039B-F1FA-E076-962D75C83BAE}"/>
              </a:ext>
            </a:extLst>
          </p:cNvPr>
          <p:cNvSpPr txBox="1"/>
          <p:nvPr/>
        </p:nvSpPr>
        <p:spPr>
          <a:xfrm>
            <a:off x="762000" y="1089044"/>
            <a:ext cx="9231783" cy="569580"/>
          </a:xfrm>
          <a:prstGeom prst="rect">
            <a:avLst/>
          </a:prstGeom>
        </p:spPr>
        <p:txBody>
          <a:bodyPr wrap="square" lIns="0" tIns="0" rIns="0" bIns="0" rtlCol="0" anchor="t">
            <a:spAutoFit/>
          </a:bodyPr>
          <a:lstStyle/>
          <a:p>
            <a:pPr>
              <a:lnSpc>
                <a:spcPts val="4480"/>
              </a:lnSpc>
            </a:pPr>
            <a:r>
              <a:rPr lang="en-US" sz="3733" b="1" i="1" dirty="0">
                <a:solidFill>
                  <a:srgbClr val="46245A"/>
                </a:solidFill>
                <a:latin typeface="DM Sans" pitchFamily="2" charset="0"/>
              </a:rPr>
              <a:t>Is the sun causing global warming?</a:t>
            </a:r>
            <a:endParaRPr lang="en-US" sz="3733" i="1" dirty="0">
              <a:solidFill>
                <a:srgbClr val="46245A"/>
              </a:solidFill>
              <a:latin typeface="DM Sans" pitchFamily="2" charset="0"/>
            </a:endParaRPr>
          </a:p>
        </p:txBody>
      </p:sp>
      <p:pic>
        <p:nvPicPr>
          <p:cNvPr id="7" name="Picture 6" descr="A graph showing the temperature and the solar activity&#10;&#10;Description automatically generated">
            <a:extLst>
              <a:ext uri="{FF2B5EF4-FFF2-40B4-BE49-F238E27FC236}">
                <a16:creationId xmlns:a16="http://schemas.microsoft.com/office/drawing/2014/main" id="{0CB7007B-25FB-9109-26AD-1000A9CFCB5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2000" y="1894183"/>
            <a:ext cx="5548504" cy="4342307"/>
          </a:xfrm>
          <a:prstGeom prst="rect">
            <a:avLst/>
          </a:prstGeom>
        </p:spPr>
      </p:pic>
      <p:sp>
        <p:nvSpPr>
          <p:cNvPr id="8" name="TextBox 7">
            <a:extLst>
              <a:ext uri="{FF2B5EF4-FFF2-40B4-BE49-F238E27FC236}">
                <a16:creationId xmlns:a16="http://schemas.microsoft.com/office/drawing/2014/main" id="{8ABCE131-B5EF-D16A-804A-966B50FD9E9D}"/>
              </a:ext>
            </a:extLst>
          </p:cNvPr>
          <p:cNvSpPr txBox="1"/>
          <p:nvPr/>
        </p:nvSpPr>
        <p:spPr>
          <a:xfrm>
            <a:off x="6532663" y="1894182"/>
            <a:ext cx="5209679" cy="4524315"/>
          </a:xfrm>
          <a:prstGeom prst="rect">
            <a:avLst/>
          </a:prstGeom>
          <a:noFill/>
        </p:spPr>
        <p:txBody>
          <a:bodyPr wrap="square" rtlCol="0">
            <a:spAutoFit/>
          </a:bodyPr>
          <a:lstStyle/>
          <a:p>
            <a:pPr algn="l"/>
            <a:r>
              <a:rPr lang="en-GB" sz="1600" dirty="0">
                <a:solidFill>
                  <a:srgbClr val="2B2B2B"/>
                </a:solidFill>
                <a:latin typeface="Calibri" panose="020F0502020204030204" pitchFamily="34" charset="0"/>
                <a:cs typeface="Calibri" panose="020F0502020204030204" pitchFamily="34" charset="0"/>
              </a:rPr>
              <a:t>Since 1978, we have been tracking the amount of solar energy that hits the top of the atmosphere using sensors on satellites, which tell us that there has been no upward trend in the amount of solar energy reaching our planet.</a:t>
            </a:r>
          </a:p>
          <a:p>
            <a:pPr algn="l"/>
            <a:endParaRPr lang="en-GB" sz="1600" dirty="0">
              <a:solidFill>
                <a:srgbClr val="2B2B2B"/>
              </a:solidFill>
              <a:latin typeface="Calibri" panose="020F0502020204030204" pitchFamily="34" charset="0"/>
              <a:cs typeface="Calibri" panose="020F0502020204030204" pitchFamily="34" charset="0"/>
            </a:endParaRPr>
          </a:p>
          <a:p>
            <a:pPr algn="l"/>
            <a:r>
              <a:rPr lang="en-GB" sz="1600" dirty="0">
                <a:solidFill>
                  <a:srgbClr val="2B2B2B"/>
                </a:solidFill>
                <a:latin typeface="Calibri" panose="020F0502020204030204" pitchFamily="34" charset="0"/>
                <a:cs typeface="Calibri" panose="020F0502020204030204" pitchFamily="34" charset="0"/>
              </a:rPr>
              <a:t>If the Sun were responsible for global warming, we would expect to see warming throughout all layers of the atmosphere, from the surface to the upper atmosphere</a:t>
            </a:r>
          </a:p>
          <a:p>
            <a:pPr algn="l"/>
            <a:endParaRPr lang="en-GB" sz="1600" dirty="0">
              <a:solidFill>
                <a:srgbClr val="2B2B2B"/>
              </a:solidFill>
              <a:latin typeface="Calibri" panose="020F0502020204030204" pitchFamily="34" charset="0"/>
              <a:cs typeface="Calibri" panose="020F0502020204030204" pitchFamily="34" charset="0"/>
            </a:endParaRPr>
          </a:p>
          <a:p>
            <a:pPr algn="l"/>
            <a:r>
              <a:rPr lang="en-GB" sz="1600" dirty="0">
                <a:solidFill>
                  <a:srgbClr val="2B2B2B"/>
                </a:solidFill>
                <a:latin typeface="Calibri" panose="020F0502020204030204" pitchFamily="34" charset="0"/>
                <a:cs typeface="Calibri" panose="020F0502020204030204" pitchFamily="34" charset="0"/>
              </a:rPr>
              <a:t>But what we actually see is warming at the surface and cooling in the stratosphere. This is consistent with the warming being caused by an increase in GHG, and not by the Sun getting “hotter.”</a:t>
            </a:r>
          </a:p>
          <a:p>
            <a:pPr algn="l"/>
            <a:endParaRPr lang="en-GB" sz="1600" dirty="0">
              <a:solidFill>
                <a:srgbClr val="2B2B2B"/>
              </a:solidFill>
              <a:latin typeface="Calibri" panose="020F0502020204030204" pitchFamily="34" charset="0"/>
              <a:cs typeface="Calibri" panose="020F0502020204030204" pitchFamily="34" charset="0"/>
            </a:endParaRPr>
          </a:p>
          <a:p>
            <a:pPr algn="l"/>
            <a:r>
              <a:rPr lang="en-GB" sz="1600" dirty="0">
                <a:solidFill>
                  <a:srgbClr val="2B2B2B"/>
                </a:solidFill>
                <a:latin typeface="Calibri" panose="020F0502020204030204" pitchFamily="34" charset="0"/>
                <a:cs typeface="Calibri" panose="020F0502020204030204" pitchFamily="34" charset="0"/>
              </a:rPr>
              <a:t>Since 1750, the warming driven by greenhouse gases coming from the human burning of fossil fuels is over 270 times greater than the slight extra warming coming from the Sun itself over that same time interval.</a:t>
            </a:r>
          </a:p>
        </p:txBody>
      </p:sp>
    </p:spTree>
    <p:extLst>
      <p:ext uri="{BB962C8B-B14F-4D97-AF65-F5344CB8AC3E}">
        <p14:creationId xmlns:p14="http://schemas.microsoft.com/office/powerpoint/2010/main" val="20900099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1D40A-CDD4-A82B-285B-F8A1AD5521C9}"/>
            </a:ext>
          </a:extLst>
        </p:cNvPr>
        <p:cNvGrpSpPr/>
        <p:nvPr/>
      </p:nvGrpSpPr>
      <p:grpSpPr>
        <a:xfrm>
          <a:off x="0" y="0"/>
          <a:ext cx="0" cy="0"/>
          <a:chOff x="0" y="0"/>
          <a:chExt cx="0" cy="0"/>
        </a:xfrm>
      </p:grpSpPr>
      <p:pic>
        <p:nvPicPr>
          <p:cNvPr id="12" name="Picture 11" descr="A volcano erupting with a lava coming out of it with Krakatoa in the background&#10;&#10;AI-generated content may be incorrect.">
            <a:extLst>
              <a:ext uri="{FF2B5EF4-FFF2-40B4-BE49-F238E27FC236}">
                <a16:creationId xmlns:a16="http://schemas.microsoft.com/office/drawing/2014/main" id="{0A52D0F2-24C6-8072-327A-33A34AEF3D89}"/>
              </a:ext>
            </a:extLst>
          </p:cNvPr>
          <p:cNvPicPr>
            <a:picLocks noChangeAspect="1"/>
          </p:cNvPicPr>
          <p:nvPr/>
        </p:nvPicPr>
        <p:blipFill>
          <a:blip r:embed="rId4">
            <a:extLst>
              <a:ext uri="{28A0092B-C50C-407E-A947-70E740481C1C}">
                <a14:useLocalDpi xmlns:a14="http://schemas.microsoft.com/office/drawing/2010/main" val="0"/>
              </a:ext>
            </a:extLst>
          </a:blip>
          <a:srcRect l="21745" r="17582"/>
          <a:stretch>
            <a:fillRect/>
          </a:stretch>
        </p:blipFill>
        <p:spPr>
          <a:xfrm>
            <a:off x="0" y="7"/>
            <a:ext cx="6233574" cy="6857993"/>
          </a:xfrm>
          <a:custGeom>
            <a:avLst/>
            <a:gdLst/>
            <a:ahLst/>
            <a:cxnLst/>
            <a:rect l="l" t="t" r="r" b="b"/>
            <a:pathLst>
              <a:path w="6901731" h="6858000">
                <a:moveTo>
                  <a:pt x="0" y="0"/>
                </a:moveTo>
                <a:lnTo>
                  <a:pt x="6897896" y="5958"/>
                </a:lnTo>
                <a:lnTo>
                  <a:pt x="6866823" y="62592"/>
                </a:lnTo>
                <a:lnTo>
                  <a:pt x="6901731" y="89476"/>
                </a:lnTo>
                <a:lnTo>
                  <a:pt x="6901731" y="103833"/>
                </a:lnTo>
                <a:lnTo>
                  <a:pt x="6900034" y="110092"/>
                </a:lnTo>
                <a:lnTo>
                  <a:pt x="6901731" y="113679"/>
                </a:lnTo>
                <a:lnTo>
                  <a:pt x="6901731" y="405560"/>
                </a:lnTo>
                <a:lnTo>
                  <a:pt x="6900456" y="429509"/>
                </a:lnTo>
                <a:cubicBezTo>
                  <a:pt x="6892773" y="535647"/>
                  <a:pt x="6878314" y="537918"/>
                  <a:pt x="6886342" y="636808"/>
                </a:cubicBezTo>
                <a:cubicBezTo>
                  <a:pt x="6892506" y="756883"/>
                  <a:pt x="6864504" y="771443"/>
                  <a:pt x="6851784" y="839073"/>
                </a:cubicBezTo>
                <a:cubicBezTo>
                  <a:pt x="6838675" y="892655"/>
                  <a:pt x="6864124" y="961738"/>
                  <a:pt x="6845760" y="994930"/>
                </a:cubicBezTo>
                <a:cubicBezTo>
                  <a:pt x="6833572" y="1024166"/>
                  <a:pt x="6859282" y="1058905"/>
                  <a:pt x="6845601" y="1112932"/>
                </a:cubicBezTo>
                <a:cubicBezTo>
                  <a:pt x="6838700" y="1149910"/>
                  <a:pt x="6829138" y="1151035"/>
                  <a:pt x="6820235" y="1187433"/>
                </a:cubicBezTo>
                <a:cubicBezTo>
                  <a:pt x="6815504" y="1196464"/>
                  <a:pt x="6777707" y="1338549"/>
                  <a:pt x="6759643" y="1337010"/>
                </a:cubicBezTo>
                <a:cubicBezTo>
                  <a:pt x="6737660" y="1337296"/>
                  <a:pt x="6760650" y="1396341"/>
                  <a:pt x="6736375" y="1382272"/>
                </a:cubicBezTo>
                <a:cubicBezTo>
                  <a:pt x="6755741" y="1415836"/>
                  <a:pt x="6714675" y="1414567"/>
                  <a:pt x="6701292" y="1432111"/>
                </a:cubicBezTo>
                <a:cubicBezTo>
                  <a:pt x="6721110" y="1460185"/>
                  <a:pt x="6692106" y="1490815"/>
                  <a:pt x="6686578" y="1518624"/>
                </a:cubicBezTo>
                <a:cubicBezTo>
                  <a:pt x="6682512" y="1567002"/>
                  <a:pt x="6679579" y="1571443"/>
                  <a:pt x="6670824" y="1607743"/>
                </a:cubicBezTo>
                <a:cubicBezTo>
                  <a:pt x="6671133" y="1629590"/>
                  <a:pt x="6663161" y="1656870"/>
                  <a:pt x="6664392" y="1696405"/>
                </a:cubicBezTo>
                <a:cubicBezTo>
                  <a:pt x="6655686" y="1770486"/>
                  <a:pt x="6641938" y="1757082"/>
                  <a:pt x="6642880" y="1812372"/>
                </a:cubicBezTo>
                <a:cubicBezTo>
                  <a:pt x="6638579" y="1872475"/>
                  <a:pt x="6619231" y="1825476"/>
                  <a:pt x="6612547" y="1876437"/>
                </a:cubicBezTo>
                <a:cubicBezTo>
                  <a:pt x="6600695" y="1913834"/>
                  <a:pt x="6591061" y="1923231"/>
                  <a:pt x="6571760" y="1953331"/>
                </a:cubicBezTo>
                <a:cubicBezTo>
                  <a:pt x="6561039" y="1989021"/>
                  <a:pt x="6544090" y="2087896"/>
                  <a:pt x="6520213" y="2096455"/>
                </a:cubicBezTo>
                <a:lnTo>
                  <a:pt x="6492461" y="2188148"/>
                </a:lnTo>
                <a:cubicBezTo>
                  <a:pt x="6504372" y="2211333"/>
                  <a:pt x="6489131" y="2253220"/>
                  <a:pt x="6471854" y="2259117"/>
                </a:cubicBezTo>
                <a:cubicBezTo>
                  <a:pt x="6466151" y="2287829"/>
                  <a:pt x="6440452" y="2301346"/>
                  <a:pt x="6439832" y="2328334"/>
                </a:cubicBezTo>
                <a:cubicBezTo>
                  <a:pt x="6431013" y="2351201"/>
                  <a:pt x="6444250" y="2396409"/>
                  <a:pt x="6425162" y="2408211"/>
                </a:cubicBezTo>
                <a:lnTo>
                  <a:pt x="6417221" y="2427382"/>
                </a:lnTo>
                <a:lnTo>
                  <a:pt x="6425030" y="2464387"/>
                </a:lnTo>
                <a:lnTo>
                  <a:pt x="6406293" y="2472223"/>
                </a:lnTo>
                <a:cubicBezTo>
                  <a:pt x="6406862" y="2477277"/>
                  <a:pt x="6406486" y="2491723"/>
                  <a:pt x="6405400" y="2493547"/>
                </a:cubicBezTo>
                <a:lnTo>
                  <a:pt x="6374829" y="2532070"/>
                </a:lnTo>
                <a:cubicBezTo>
                  <a:pt x="6374597" y="2545374"/>
                  <a:pt x="6360976" y="2563797"/>
                  <a:pt x="6350864" y="2577422"/>
                </a:cubicBezTo>
                <a:cubicBezTo>
                  <a:pt x="6327056" y="2632768"/>
                  <a:pt x="6341262" y="2616275"/>
                  <a:pt x="6329174" y="2663854"/>
                </a:cubicBezTo>
                <a:cubicBezTo>
                  <a:pt x="6326303" y="2703642"/>
                  <a:pt x="6332854" y="2709643"/>
                  <a:pt x="6315095" y="2741507"/>
                </a:cubicBezTo>
                <a:cubicBezTo>
                  <a:pt x="6319921" y="2740191"/>
                  <a:pt x="6321925" y="2742004"/>
                  <a:pt x="6322463" y="2745641"/>
                </a:cubicBezTo>
                <a:cubicBezTo>
                  <a:pt x="6322245" y="2747982"/>
                  <a:pt x="6322027" y="2750323"/>
                  <a:pt x="6321808" y="2752663"/>
                </a:cubicBezTo>
                <a:lnTo>
                  <a:pt x="6314569" y="2756718"/>
                </a:lnTo>
                <a:cubicBezTo>
                  <a:pt x="6289324" y="2773686"/>
                  <a:pt x="6317551" y="2780051"/>
                  <a:pt x="6315211" y="2811618"/>
                </a:cubicBezTo>
                <a:cubicBezTo>
                  <a:pt x="6315620" y="2826627"/>
                  <a:pt x="6296047" y="2885298"/>
                  <a:pt x="6302211" y="2882314"/>
                </a:cubicBezTo>
                <a:lnTo>
                  <a:pt x="6286167" y="2949597"/>
                </a:lnTo>
                <a:cubicBezTo>
                  <a:pt x="6286401" y="2994618"/>
                  <a:pt x="6286615" y="2971464"/>
                  <a:pt x="6287037" y="3008578"/>
                </a:cubicBezTo>
                <a:cubicBezTo>
                  <a:pt x="6293795" y="3029535"/>
                  <a:pt x="6274405" y="3114154"/>
                  <a:pt x="6259150" y="3123139"/>
                </a:cubicBezTo>
                <a:cubicBezTo>
                  <a:pt x="6250085" y="3189063"/>
                  <a:pt x="6269067" y="3151280"/>
                  <a:pt x="6272249" y="3227854"/>
                </a:cubicBezTo>
                <a:cubicBezTo>
                  <a:pt x="6278775" y="3295842"/>
                  <a:pt x="6289216" y="3303765"/>
                  <a:pt x="6292288" y="3378383"/>
                </a:cubicBezTo>
                <a:cubicBezTo>
                  <a:pt x="6303894" y="3395995"/>
                  <a:pt x="6287498" y="3432581"/>
                  <a:pt x="6288328" y="3459618"/>
                </a:cubicBezTo>
                <a:cubicBezTo>
                  <a:pt x="6289158" y="3486653"/>
                  <a:pt x="6299937" y="3538735"/>
                  <a:pt x="6297272" y="3540603"/>
                </a:cubicBezTo>
                <a:cubicBezTo>
                  <a:pt x="6296849" y="3577379"/>
                  <a:pt x="6294184" y="3587943"/>
                  <a:pt x="6291001" y="3638374"/>
                </a:cubicBezTo>
                <a:cubicBezTo>
                  <a:pt x="6283026" y="3666794"/>
                  <a:pt x="6265833" y="3731744"/>
                  <a:pt x="6283592" y="3763609"/>
                </a:cubicBezTo>
                <a:cubicBezTo>
                  <a:pt x="6264286" y="3758340"/>
                  <a:pt x="6290177" y="3803150"/>
                  <a:pt x="6274068" y="3814506"/>
                </a:cubicBezTo>
                <a:cubicBezTo>
                  <a:pt x="6260645" y="3821643"/>
                  <a:pt x="6265372" y="3836902"/>
                  <a:pt x="6262850" y="3850454"/>
                </a:cubicBezTo>
                <a:cubicBezTo>
                  <a:pt x="6250418" y="3863479"/>
                  <a:pt x="6250660" y="3955243"/>
                  <a:pt x="6257357" y="3975474"/>
                </a:cubicBezTo>
                <a:cubicBezTo>
                  <a:pt x="6245091" y="4036737"/>
                  <a:pt x="6237535" y="4029237"/>
                  <a:pt x="6257889" y="4073155"/>
                </a:cubicBezTo>
                <a:cubicBezTo>
                  <a:pt x="6259272" y="4085906"/>
                  <a:pt x="6239882" y="4116397"/>
                  <a:pt x="6237441" y="4126638"/>
                </a:cubicBezTo>
                <a:lnTo>
                  <a:pt x="6245587" y="4172738"/>
                </a:lnTo>
                <a:lnTo>
                  <a:pt x="6235772" y="4176721"/>
                </a:lnTo>
                <a:lnTo>
                  <a:pt x="6233287" y="4195136"/>
                </a:lnTo>
                <a:lnTo>
                  <a:pt x="6234619" y="4280850"/>
                </a:lnTo>
                <a:cubicBezTo>
                  <a:pt x="6239453" y="4320763"/>
                  <a:pt x="6223309" y="4337596"/>
                  <a:pt x="6219318" y="4402526"/>
                </a:cubicBezTo>
                <a:cubicBezTo>
                  <a:pt x="6205466" y="4516209"/>
                  <a:pt x="6216183" y="4588729"/>
                  <a:pt x="6216810" y="4651172"/>
                </a:cubicBezTo>
                <a:cubicBezTo>
                  <a:pt x="6217673" y="4756959"/>
                  <a:pt x="6228654" y="4824005"/>
                  <a:pt x="6225945" y="4916779"/>
                </a:cubicBezTo>
                <a:cubicBezTo>
                  <a:pt x="6217032" y="4993010"/>
                  <a:pt x="6264271" y="4984591"/>
                  <a:pt x="6230174" y="5051379"/>
                </a:cubicBezTo>
                <a:cubicBezTo>
                  <a:pt x="6235713" y="5056951"/>
                  <a:pt x="6239420" y="5163714"/>
                  <a:pt x="6242600" y="5170879"/>
                </a:cubicBezTo>
                <a:lnTo>
                  <a:pt x="6235996" y="5216428"/>
                </a:lnTo>
                <a:lnTo>
                  <a:pt x="6214638" y="5285298"/>
                </a:lnTo>
                <a:cubicBezTo>
                  <a:pt x="6211392" y="5297492"/>
                  <a:pt x="6225576" y="5312063"/>
                  <a:pt x="6228432" y="5317696"/>
                </a:cubicBezTo>
                <a:lnTo>
                  <a:pt x="6246496" y="5398787"/>
                </a:lnTo>
                <a:lnTo>
                  <a:pt x="6244793" y="5399530"/>
                </a:lnTo>
                <a:lnTo>
                  <a:pt x="6241695" y="5406948"/>
                </a:lnTo>
                <a:lnTo>
                  <a:pt x="6267461" y="5499413"/>
                </a:lnTo>
                <a:cubicBezTo>
                  <a:pt x="6285387" y="5533848"/>
                  <a:pt x="6284888" y="5550029"/>
                  <a:pt x="6295987" y="5582659"/>
                </a:cubicBezTo>
                <a:cubicBezTo>
                  <a:pt x="6311253" y="5681724"/>
                  <a:pt x="6295439" y="5695558"/>
                  <a:pt x="6364803" y="5784263"/>
                </a:cubicBezTo>
                <a:cubicBezTo>
                  <a:pt x="6379348" y="5818651"/>
                  <a:pt x="6412475" y="5906802"/>
                  <a:pt x="6423050" y="5922637"/>
                </a:cubicBezTo>
                <a:cubicBezTo>
                  <a:pt x="6445210" y="5973612"/>
                  <a:pt x="6468179" y="6023873"/>
                  <a:pt x="6497767" y="6090108"/>
                </a:cubicBezTo>
                <a:cubicBezTo>
                  <a:pt x="6571895" y="6150548"/>
                  <a:pt x="6572491" y="6236583"/>
                  <a:pt x="6606710" y="6281543"/>
                </a:cubicBezTo>
                <a:cubicBezTo>
                  <a:pt x="6633675" y="6335892"/>
                  <a:pt x="6654357" y="6388782"/>
                  <a:pt x="6667540" y="6443715"/>
                </a:cubicBezTo>
                <a:cubicBezTo>
                  <a:pt x="6685192" y="6466826"/>
                  <a:pt x="6650500" y="6508701"/>
                  <a:pt x="6659722" y="6550105"/>
                </a:cubicBezTo>
                <a:cubicBezTo>
                  <a:pt x="6665926" y="6645044"/>
                  <a:pt x="6669126" y="6627536"/>
                  <a:pt x="6671805" y="6687397"/>
                </a:cubicBezTo>
                <a:cubicBezTo>
                  <a:pt x="6682671" y="6733683"/>
                  <a:pt x="6665210" y="6772117"/>
                  <a:pt x="6669658" y="6806602"/>
                </a:cubicBezTo>
                <a:cubicBezTo>
                  <a:pt x="6661174" y="6812658"/>
                  <a:pt x="6667097" y="6831470"/>
                  <a:pt x="6675783" y="6850325"/>
                </a:cubicBezTo>
                <a:lnTo>
                  <a:pt x="6679704" y="6858000"/>
                </a:lnTo>
                <a:lnTo>
                  <a:pt x="4532241" y="6858000"/>
                </a:lnTo>
                <a:lnTo>
                  <a:pt x="1208596" y="6858000"/>
                </a:lnTo>
                <a:lnTo>
                  <a:pt x="0" y="6858000"/>
                </a:lnTo>
                <a:close/>
              </a:path>
            </a:pathLst>
          </a:custGeom>
        </p:spPr>
      </p:pic>
      <p:sp>
        <p:nvSpPr>
          <p:cNvPr id="20" name="Freeform 13">
            <a:extLst>
              <a:ext uri="{FF2B5EF4-FFF2-40B4-BE49-F238E27FC236}">
                <a16:creationId xmlns:a16="http://schemas.microsoft.com/office/drawing/2014/main" id="{0EF316CA-883D-8FDA-FE7F-7350830B35B1}"/>
              </a:ext>
            </a:extLst>
          </p:cNvPr>
          <p:cNvSpPr/>
          <p:nvPr/>
        </p:nvSpPr>
        <p:spPr>
          <a:xfrm>
            <a:off x="262467" y="4735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5"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pic>
        <p:nvPicPr>
          <p:cNvPr id="2" name="Picture 1" descr="Diagram of a diagram of solar radiation&#10;&#10;AI-generated content may be incorrect.">
            <a:extLst>
              <a:ext uri="{FF2B5EF4-FFF2-40B4-BE49-F238E27FC236}">
                <a16:creationId xmlns:a16="http://schemas.microsoft.com/office/drawing/2014/main" id="{BAC7A226-8226-ABA5-73CA-D3486CEE9A08}"/>
              </a:ext>
            </a:extLst>
          </p:cNvPr>
          <p:cNvPicPr>
            <a:picLocks noChangeAspect="1"/>
          </p:cNvPicPr>
          <p:nvPr/>
        </p:nvPicPr>
        <p:blipFill>
          <a:blip r:embed="rId6">
            <a:extLst>
              <a:ext uri="{28A0092B-C50C-407E-A947-70E740481C1C}">
                <a14:useLocalDpi xmlns:a14="http://schemas.microsoft.com/office/drawing/2010/main" val="0"/>
              </a:ext>
            </a:extLst>
          </a:blip>
          <a:srcRect t="5131"/>
          <a:stretch>
            <a:fillRect/>
          </a:stretch>
        </p:blipFill>
        <p:spPr>
          <a:xfrm>
            <a:off x="6233574" y="2137310"/>
            <a:ext cx="5507065" cy="4111062"/>
          </a:xfrm>
          <a:prstGeom prst="rect">
            <a:avLst/>
          </a:prstGeom>
          <a:ln>
            <a:solidFill>
              <a:schemeClr val="accent1"/>
            </a:solidFill>
          </a:ln>
        </p:spPr>
      </p:pic>
      <p:sp>
        <p:nvSpPr>
          <p:cNvPr id="3" name="TextBox 5">
            <a:extLst>
              <a:ext uri="{FF2B5EF4-FFF2-40B4-BE49-F238E27FC236}">
                <a16:creationId xmlns:a16="http://schemas.microsoft.com/office/drawing/2014/main" id="{8472874B-C93C-8F8E-CCB8-C72FA7FF22D5}"/>
              </a:ext>
            </a:extLst>
          </p:cNvPr>
          <p:cNvSpPr txBox="1"/>
          <p:nvPr/>
        </p:nvSpPr>
        <p:spPr>
          <a:xfrm>
            <a:off x="6233574" y="1375596"/>
            <a:ext cx="5290087" cy="540276"/>
          </a:xfrm>
          <a:prstGeom prst="rect">
            <a:avLst/>
          </a:prstGeom>
        </p:spPr>
        <p:txBody>
          <a:bodyPr wrap="square" lIns="0" tIns="0" rIns="0" bIns="0" rtlCol="0" anchor="t">
            <a:spAutoFit/>
          </a:bodyPr>
          <a:lstStyle/>
          <a:p>
            <a:pPr>
              <a:lnSpc>
                <a:spcPts val="4480"/>
              </a:lnSpc>
            </a:pPr>
            <a:r>
              <a:rPr lang="en-US" sz="2933" b="1" i="1" dirty="0">
                <a:solidFill>
                  <a:srgbClr val="46245A"/>
                </a:solidFill>
                <a:latin typeface="DM Sans" pitchFamily="2" charset="0"/>
              </a:rPr>
              <a:t>Volcanic Climate Influence</a:t>
            </a:r>
            <a:endParaRPr lang="en-US" sz="2933" i="1" dirty="0">
              <a:solidFill>
                <a:srgbClr val="46245A"/>
              </a:solidFill>
              <a:latin typeface="DM Sans" pitchFamily="2" charset="0"/>
            </a:endParaRPr>
          </a:p>
        </p:txBody>
      </p:sp>
      <p:sp>
        <p:nvSpPr>
          <p:cNvPr id="4" name="Up Arrow 3">
            <a:extLst>
              <a:ext uri="{FF2B5EF4-FFF2-40B4-BE49-F238E27FC236}">
                <a16:creationId xmlns:a16="http://schemas.microsoft.com/office/drawing/2014/main" id="{D9F3FB43-6CAE-7E70-8D0D-826254615185}"/>
              </a:ext>
            </a:extLst>
          </p:cNvPr>
          <p:cNvSpPr/>
          <p:nvPr/>
        </p:nvSpPr>
        <p:spPr>
          <a:xfrm rot="1466637">
            <a:off x="10827840" y="3556620"/>
            <a:ext cx="474133" cy="1174165"/>
          </a:xfrm>
          <a:prstGeom prst="upArrow">
            <a:avLst/>
          </a:prstGeom>
          <a:solidFill>
            <a:srgbClr val="FF0000"/>
          </a:solidFill>
          <a:ln>
            <a:solidFill>
              <a:schemeClr val="bg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200"/>
          </a:p>
        </p:txBody>
      </p:sp>
    </p:spTree>
    <p:custDataLst>
      <p:tags r:id="rId1"/>
    </p:custDataLst>
    <p:extLst>
      <p:ext uri="{BB962C8B-B14F-4D97-AF65-F5344CB8AC3E}">
        <p14:creationId xmlns:p14="http://schemas.microsoft.com/office/powerpoint/2010/main" val="20074002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4B5FB-840B-84C4-9D28-BC744A3CD0B5}"/>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38A4DE3C-1534-D454-587B-012952C3FDD9}"/>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pic>
        <p:nvPicPr>
          <p:cNvPr id="2" name="Picture 5" descr="volcano temps.jpg">
            <a:extLst>
              <a:ext uri="{FF2B5EF4-FFF2-40B4-BE49-F238E27FC236}">
                <a16:creationId xmlns:a16="http://schemas.microsoft.com/office/drawing/2014/main" id="{C9371E45-5D86-5BC7-C5C3-0E47417364B6}"/>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031167" y="1661851"/>
            <a:ext cx="3937487" cy="4727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5">
            <a:extLst>
              <a:ext uri="{FF2B5EF4-FFF2-40B4-BE49-F238E27FC236}">
                <a16:creationId xmlns:a16="http://schemas.microsoft.com/office/drawing/2014/main" id="{161F7345-6F86-1C2C-8EEC-31ACDC3237DB}"/>
              </a:ext>
            </a:extLst>
          </p:cNvPr>
          <p:cNvSpPr txBox="1"/>
          <p:nvPr/>
        </p:nvSpPr>
        <p:spPr>
          <a:xfrm>
            <a:off x="762000" y="1089044"/>
            <a:ext cx="9231783" cy="569580"/>
          </a:xfrm>
          <a:prstGeom prst="rect">
            <a:avLst/>
          </a:prstGeom>
        </p:spPr>
        <p:txBody>
          <a:bodyPr wrap="square" lIns="0" tIns="0" rIns="0" bIns="0" rtlCol="0" anchor="t">
            <a:spAutoFit/>
          </a:bodyPr>
          <a:lstStyle/>
          <a:p>
            <a:pPr>
              <a:lnSpc>
                <a:spcPts val="4480"/>
              </a:lnSpc>
            </a:pPr>
            <a:r>
              <a:rPr lang="en-US" sz="3733" b="1" i="1" dirty="0">
                <a:solidFill>
                  <a:srgbClr val="46245A"/>
                </a:solidFill>
                <a:latin typeface="DM Sans" pitchFamily="2" charset="0"/>
              </a:rPr>
              <a:t>Volcanic Climate Influence</a:t>
            </a:r>
            <a:endParaRPr lang="en-US" sz="3733" i="1" dirty="0">
              <a:solidFill>
                <a:srgbClr val="46245A"/>
              </a:solidFill>
              <a:latin typeface="DM Sans" pitchFamily="2" charset="0"/>
            </a:endParaRPr>
          </a:p>
        </p:txBody>
      </p:sp>
      <p:sp>
        <p:nvSpPr>
          <p:cNvPr id="5" name="TextBox 4">
            <a:extLst>
              <a:ext uri="{FF2B5EF4-FFF2-40B4-BE49-F238E27FC236}">
                <a16:creationId xmlns:a16="http://schemas.microsoft.com/office/drawing/2014/main" id="{BEA0902A-B50A-6EB5-19E5-6BE8FCF96DE7}"/>
              </a:ext>
            </a:extLst>
          </p:cNvPr>
          <p:cNvSpPr txBox="1"/>
          <p:nvPr/>
        </p:nvSpPr>
        <p:spPr>
          <a:xfrm>
            <a:off x="5237819" y="2378908"/>
            <a:ext cx="6096000" cy="2965555"/>
          </a:xfrm>
          <a:prstGeom prst="rect">
            <a:avLst/>
          </a:prstGeom>
          <a:noFill/>
        </p:spPr>
        <p:txBody>
          <a:bodyPr wrap="square">
            <a:spAutoFit/>
          </a:bodyPr>
          <a:lstStyle/>
          <a:p>
            <a:r>
              <a:rPr lang="en-US" sz="1867" dirty="0">
                <a:latin typeface="Calibri" panose="020F0502020204030204" pitchFamily="34" charset="0"/>
                <a:cs typeface="Calibri" panose="020F0502020204030204" pitchFamily="34" charset="0"/>
              </a:rPr>
              <a:t>Global average temps reduced by several tenths of a degree following year</a:t>
            </a:r>
          </a:p>
          <a:p>
            <a:endParaRPr lang="en-US" sz="1867" dirty="0">
              <a:latin typeface="Calibri" panose="020F0502020204030204" pitchFamily="34" charset="0"/>
              <a:cs typeface="Calibri" panose="020F0502020204030204" pitchFamily="34" charset="0"/>
            </a:endParaRPr>
          </a:p>
          <a:p>
            <a:r>
              <a:rPr lang="en-US" sz="1867" dirty="0">
                <a:latin typeface="Calibri" panose="020F0502020204030204" pitchFamily="34" charset="0"/>
                <a:cs typeface="Calibri" panose="020F0502020204030204" pitchFamily="34" charset="0"/>
              </a:rPr>
              <a:t>Would require succession of eruptions to have a lasting impact. </a:t>
            </a:r>
          </a:p>
          <a:p>
            <a:r>
              <a:rPr lang="en-US" sz="1867" dirty="0">
                <a:latin typeface="Calibri" panose="020F0502020204030204" pitchFamily="34" charset="0"/>
                <a:cs typeface="Calibri" panose="020F0502020204030204" pitchFamily="34" charset="0"/>
              </a:rPr>
              <a:t>	</a:t>
            </a:r>
          </a:p>
          <a:p>
            <a:r>
              <a:rPr lang="en-US" sz="1867" dirty="0">
                <a:latin typeface="Calibri" panose="020F0502020204030204" pitchFamily="34" charset="0"/>
                <a:cs typeface="Calibri" panose="020F0502020204030204" pitchFamily="34" charset="0"/>
              </a:rPr>
              <a:t>The eruption of Mount Pinatubo on June 15, 1991, was one of the largest eruptions of the twentieth century and injected a 20-million ton sulfur dioxide cloud into the stratosphere at an altitude of more than 20 miles. </a:t>
            </a:r>
          </a:p>
        </p:txBody>
      </p:sp>
    </p:spTree>
    <p:custDataLst>
      <p:tags r:id="rId1"/>
    </p:custDataLst>
    <p:extLst>
      <p:ext uri="{BB962C8B-B14F-4D97-AF65-F5344CB8AC3E}">
        <p14:creationId xmlns:p14="http://schemas.microsoft.com/office/powerpoint/2010/main" val="17479936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777240" y="960120"/>
            <a:ext cx="7818120" cy="658368"/>
          </a:xfrm>
          <a:prstGeom prst="rect">
            <a:avLst/>
          </a:prstGeom>
          <a:noFill/>
        </p:spPr>
        <p:txBody>
          <a:bodyPr wrap="none" lIns="0" tIns="0" rIns="0" bIns="0">
            <a:spAutoFit/>
          </a:bodyPr>
          <a:lstStyle/>
          <a:p>
            <a:r>
              <a:rPr sz="4000" i="1" dirty="0">
                <a:solidFill>
                  <a:srgbClr val="46245A"/>
                </a:solidFill>
                <a:latin typeface="DM Sans Bold"/>
              </a:rPr>
              <a:t>Volcanic Climate Influence</a:t>
            </a:r>
          </a:p>
        </p:txBody>
      </p:sp>
      <p:sp>
        <p:nvSpPr>
          <p:cNvPr id="12" name="TextBox 11"/>
          <p:cNvSpPr txBox="1"/>
          <p:nvPr/>
        </p:nvSpPr>
        <p:spPr>
          <a:xfrm>
            <a:off x="777240" y="1719072"/>
            <a:ext cx="5486400" cy="365760"/>
          </a:xfrm>
          <a:prstGeom prst="rect">
            <a:avLst/>
          </a:prstGeom>
          <a:noFill/>
        </p:spPr>
        <p:txBody>
          <a:bodyPr wrap="none" lIns="0" tIns="0" rIns="0" bIns="0">
            <a:spAutoFit/>
          </a:bodyPr>
          <a:lstStyle/>
          <a:p>
            <a:r>
              <a:rPr sz="2000" b="1">
                <a:solidFill>
                  <a:srgbClr val="1C2029"/>
                </a:solidFill>
                <a:latin typeface="Calibri"/>
              </a:rPr>
              <a:t>Global effect needs stratospheric SO2</a:t>
            </a:r>
          </a:p>
        </p:txBody>
      </p:sp>
      <p:sp>
        <p:nvSpPr>
          <p:cNvPr id="13" name="Rectangle 12"/>
          <p:cNvSpPr/>
          <p:nvPr/>
        </p:nvSpPr>
        <p:spPr>
          <a:xfrm>
            <a:off x="777240" y="2258568"/>
            <a:ext cx="73152" cy="566928"/>
          </a:xfrm>
          <a:prstGeom prst="rect">
            <a:avLst/>
          </a:prstGeom>
          <a:solidFill>
            <a:srgbClr val="F5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32104" y="2277648"/>
            <a:ext cx="5257800" cy="566928"/>
          </a:xfrm>
          <a:prstGeom prst="rect">
            <a:avLst/>
          </a:prstGeom>
          <a:solidFill>
            <a:srgbClr val="F1ECF5"/>
          </a:solidFill>
          <a:ln>
            <a:solidFill>
              <a:srgbClr val="E3D8EA"/>
            </a:solidFill>
          </a:ln>
        </p:spPr>
        <p:style>
          <a:lnRef idx="1">
            <a:schemeClr val="accent1"/>
          </a:lnRef>
          <a:fillRef idx="3">
            <a:schemeClr val="accent1"/>
          </a:fillRef>
          <a:effectRef idx="2">
            <a:schemeClr val="accent1"/>
          </a:effectRef>
          <a:fontRef idx="minor">
            <a:schemeClr val="lt1"/>
          </a:fontRef>
        </p:style>
        <p:txBody>
          <a:bodyPr wrap="square" lIns="118872" tIns="36576" rIns="73152" bIns="36576" rtlCol="0" anchor="ctr"/>
          <a:lstStyle/>
          <a:p>
            <a:pPr algn="ctr"/>
            <a:r>
              <a:rPr sz="1750" b="1" dirty="0">
                <a:solidFill>
                  <a:srgbClr val="46245A"/>
                </a:solidFill>
                <a:latin typeface="Calibri"/>
              </a:rPr>
              <a:t>Key point: the climate-active product is sulfate aerosol</a:t>
            </a:r>
          </a:p>
        </p:txBody>
      </p:sp>
      <p:sp>
        <p:nvSpPr>
          <p:cNvPr id="15" name="TextBox 14"/>
          <p:cNvSpPr txBox="1"/>
          <p:nvPr/>
        </p:nvSpPr>
        <p:spPr>
          <a:xfrm>
            <a:off x="784132" y="3137184"/>
            <a:ext cx="5166360" cy="2231136"/>
          </a:xfrm>
          <a:prstGeom prst="rect">
            <a:avLst/>
          </a:prstGeom>
          <a:noFill/>
        </p:spPr>
        <p:txBody>
          <a:bodyPr wrap="square" lIns="0" tIns="0" rIns="0" bIns="0">
            <a:spAutoFit/>
          </a:bodyPr>
          <a:lstStyle/>
          <a:p>
            <a:pPr marL="285750" indent="-285750">
              <a:spcAft>
                <a:spcPts val="300"/>
              </a:spcAft>
              <a:buFont typeface="Arial" panose="020B0604020202020204" pitchFamily="34" charset="0"/>
              <a:buChar char="•"/>
            </a:pPr>
            <a:r>
              <a:rPr sz="1670" dirty="0">
                <a:solidFill>
                  <a:srgbClr val="1C2029"/>
                </a:solidFill>
                <a:latin typeface="Calibri"/>
              </a:rPr>
              <a:t>Explosive eruptions can inject sulfur dioxide (SO2) above the tropopause.</a:t>
            </a:r>
          </a:p>
          <a:p>
            <a:pPr marL="285750" indent="-285750">
              <a:spcAft>
                <a:spcPts val="300"/>
              </a:spcAft>
              <a:buFont typeface="Arial" panose="020B0604020202020204" pitchFamily="34" charset="0"/>
              <a:buChar char="•"/>
            </a:pPr>
            <a:r>
              <a:rPr sz="1670" dirty="0">
                <a:solidFill>
                  <a:srgbClr val="1C2029"/>
                </a:solidFill>
                <a:latin typeface="Calibri"/>
              </a:rPr>
              <a:t>In the stratosphere, SO2 </a:t>
            </a:r>
            <a:r>
              <a:rPr sz="1670" dirty="0" err="1">
                <a:solidFill>
                  <a:srgbClr val="1C2029"/>
                </a:solidFill>
                <a:latin typeface="Calibri"/>
              </a:rPr>
              <a:t>oxidises</a:t>
            </a:r>
            <a:r>
              <a:rPr sz="1670" dirty="0">
                <a:solidFill>
                  <a:srgbClr val="1C2029"/>
                </a:solidFill>
                <a:latin typeface="Calibri"/>
              </a:rPr>
              <a:t> to sulfuric-acid/water droplets.</a:t>
            </a:r>
          </a:p>
          <a:p>
            <a:pPr marL="285750" indent="-285750">
              <a:spcAft>
                <a:spcPts val="300"/>
              </a:spcAft>
              <a:buFont typeface="Arial" panose="020B0604020202020204" pitchFamily="34" charset="0"/>
              <a:buChar char="•"/>
            </a:pPr>
            <a:r>
              <a:rPr sz="1670" dirty="0">
                <a:solidFill>
                  <a:srgbClr val="1C2029"/>
                </a:solidFill>
                <a:latin typeface="Calibri"/>
              </a:rPr>
              <a:t>These sulfate aerosols scatter incoming solar radiation back to space.</a:t>
            </a:r>
          </a:p>
          <a:p>
            <a:pPr marL="285750" indent="-285750">
              <a:spcAft>
                <a:spcPts val="300"/>
              </a:spcAft>
              <a:buFont typeface="Arial" panose="020B0604020202020204" pitchFamily="34" charset="0"/>
              <a:buChar char="•"/>
            </a:pPr>
            <a:r>
              <a:rPr sz="1670" dirty="0">
                <a:solidFill>
                  <a:srgbClr val="1C2029"/>
                </a:solidFill>
                <a:latin typeface="Calibri"/>
              </a:rPr>
              <a:t>Result: negative radiative forcing -&gt; surface cooling, plus stratospheric heating.</a:t>
            </a:r>
          </a:p>
        </p:txBody>
      </p:sp>
      <p:sp>
        <p:nvSpPr>
          <p:cNvPr id="16" name="TextBox 15"/>
          <p:cNvSpPr txBox="1"/>
          <p:nvPr/>
        </p:nvSpPr>
        <p:spPr>
          <a:xfrm>
            <a:off x="823492" y="5608637"/>
            <a:ext cx="5257800" cy="492443"/>
          </a:xfrm>
          <a:prstGeom prst="rect">
            <a:avLst/>
          </a:prstGeom>
          <a:noFill/>
        </p:spPr>
        <p:txBody>
          <a:bodyPr wrap="square" lIns="0" tIns="0" rIns="0" bIns="0">
            <a:spAutoFit/>
          </a:bodyPr>
          <a:lstStyle/>
          <a:p>
            <a:r>
              <a:rPr lang="en-GB" sz="1600" b="1" dirty="0">
                <a:solidFill>
                  <a:srgbClr val="46245A"/>
                </a:solidFill>
                <a:latin typeface="Calibri"/>
              </a:rPr>
              <a:t>T</a:t>
            </a:r>
            <a:r>
              <a:rPr sz="1600" b="1" i="0" dirty="0" err="1">
                <a:solidFill>
                  <a:srgbClr val="46245A"/>
                </a:solidFill>
                <a:latin typeface="Calibri"/>
              </a:rPr>
              <a:t>ropospheric</a:t>
            </a:r>
            <a:r>
              <a:rPr sz="1600" b="1" i="0" dirty="0">
                <a:solidFill>
                  <a:srgbClr val="46245A"/>
                </a:solidFill>
                <a:latin typeface="Calibri"/>
              </a:rPr>
              <a:t> SO2 is mostly washed out; stratospheric sulfate spreads globally</a:t>
            </a:r>
            <a:r>
              <a:rPr lang="en-GB" sz="1600" b="1" i="0" dirty="0">
                <a:solidFill>
                  <a:srgbClr val="46245A"/>
                </a:solidFill>
                <a:latin typeface="Calibri"/>
              </a:rPr>
              <a:t> and can stay there for longer</a:t>
            </a:r>
            <a:endParaRPr sz="1600" b="1" i="0" dirty="0">
              <a:solidFill>
                <a:srgbClr val="46245A"/>
              </a:solidFill>
              <a:latin typeface="Calibri"/>
            </a:endParaRPr>
          </a:p>
        </p:txBody>
      </p:sp>
      <p:sp>
        <p:nvSpPr>
          <p:cNvPr id="17" name="Rectangle 16"/>
          <p:cNvSpPr/>
          <p:nvPr/>
        </p:nvSpPr>
        <p:spPr>
          <a:xfrm>
            <a:off x="6552934" y="2094768"/>
            <a:ext cx="5074920" cy="4133087"/>
          </a:xfrm>
          <a:prstGeom prst="rect">
            <a:avLst/>
          </a:prstGeom>
          <a:solidFill>
            <a:srgbClr val="FBFCFD"/>
          </a:solidFill>
          <a:ln>
            <a:solidFill>
              <a:srgbClr val="D8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image.png"/>
          <p:cNvPicPr>
            <a:picLocks noChangeAspect="1"/>
          </p:cNvPicPr>
          <p:nvPr/>
        </p:nvPicPr>
        <p:blipFill>
          <a:blip r:embed="rId3"/>
          <a:srcRect/>
          <a:stretch>
            <a:fillRect/>
          </a:stretch>
        </p:blipFill>
        <p:spPr>
          <a:xfrm>
            <a:off x="6644374" y="2204497"/>
            <a:ext cx="4892040" cy="3895344"/>
          </a:xfrm>
          <a:prstGeom prst="rect">
            <a:avLst/>
          </a:prstGeom>
          <a:ln>
            <a:solidFill>
              <a:srgbClr val="D0D0D0"/>
            </a:solidFill>
          </a:ln>
        </p:spPr>
      </p:pic>
      <p:sp>
        <p:nvSpPr>
          <p:cNvPr id="19" name="Rounded Rectangle 18"/>
          <p:cNvSpPr/>
          <p:nvPr/>
        </p:nvSpPr>
        <p:spPr>
          <a:xfrm>
            <a:off x="6891262" y="2388967"/>
            <a:ext cx="2972065" cy="237744"/>
          </a:xfrm>
          <a:prstGeom prst="roundRect">
            <a:avLst/>
          </a:prstGeom>
          <a:solidFill>
            <a:srgbClr val="46245A"/>
          </a:solidFill>
          <a:ln>
            <a:solidFill>
              <a:srgbClr val="46245A"/>
            </a:solidFill>
          </a:ln>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250" b="1">
                <a:solidFill>
                  <a:srgbClr val="FFFFFF"/>
                </a:solidFill>
                <a:latin typeface="Calibri"/>
              </a:rPr>
              <a:t>STRATOSPHERE: dry + slow removal</a:t>
            </a:r>
          </a:p>
        </p:txBody>
      </p:sp>
      <p:sp>
        <p:nvSpPr>
          <p:cNvPr id="20" name="Rounded Rectangle 19"/>
          <p:cNvSpPr/>
          <p:nvPr/>
        </p:nvSpPr>
        <p:spPr>
          <a:xfrm>
            <a:off x="9304748" y="4713530"/>
            <a:ext cx="2103120" cy="292608"/>
          </a:xfrm>
          <a:prstGeom prst="roundRect">
            <a:avLst/>
          </a:prstGeom>
          <a:solidFill>
            <a:srgbClr val="2F74B5"/>
          </a:solidFill>
          <a:ln>
            <a:solidFill>
              <a:srgbClr val="2F74B5"/>
            </a:solidFill>
          </a:ln>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250" b="1" dirty="0">
                <a:solidFill>
                  <a:srgbClr val="FFFFFF"/>
                </a:solidFill>
                <a:latin typeface="Calibri"/>
              </a:rPr>
              <a:t>TROPOSPHERE: rainout is fast</a:t>
            </a:r>
          </a:p>
        </p:txBody>
      </p:sp>
      <p:cxnSp>
        <p:nvCxnSpPr>
          <p:cNvPr id="21" name="Connector 20"/>
          <p:cNvCxnSpPr/>
          <p:nvPr/>
        </p:nvCxnSpPr>
        <p:spPr>
          <a:xfrm>
            <a:off x="6735814" y="4252752"/>
            <a:ext cx="4709160" cy="0"/>
          </a:xfrm>
          <a:prstGeom prst="line">
            <a:avLst/>
          </a:prstGeom>
          <a:ln w="30480">
            <a:solidFill>
              <a:srgbClr val="FFFFFF"/>
            </a:solidFill>
            <a:prstDash val="dash"/>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550948" y="4047607"/>
            <a:ext cx="896112" cy="237744"/>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050" b="1" dirty="0">
                <a:solidFill>
                  <a:srgbClr val="46245A"/>
                </a:solidFill>
                <a:latin typeface="Calibri"/>
              </a:rPr>
              <a:t>tropopause</a:t>
            </a:r>
          </a:p>
        </p:txBody>
      </p:sp>
      <p:sp>
        <p:nvSpPr>
          <p:cNvPr id="27" name="Left Arrow 26"/>
          <p:cNvSpPr/>
          <p:nvPr/>
        </p:nvSpPr>
        <p:spPr>
          <a:xfrm>
            <a:off x="9021814" y="2844576"/>
            <a:ext cx="1078992" cy="228600"/>
          </a:xfrm>
          <a:prstGeom prst="leftArrow">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10228822" y="2803428"/>
            <a:ext cx="1024128" cy="22860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950" b="1" dirty="0">
                <a:solidFill>
                  <a:srgbClr val="46245A"/>
                </a:solidFill>
                <a:latin typeface="Calibri"/>
              </a:rPr>
              <a:t>reflected SW</a:t>
            </a:r>
          </a:p>
        </p:txBody>
      </p:sp>
      <p:sp>
        <p:nvSpPr>
          <p:cNvPr id="29" name="Up Arrow 28"/>
          <p:cNvSpPr/>
          <p:nvPr/>
        </p:nvSpPr>
        <p:spPr>
          <a:xfrm>
            <a:off x="8125702" y="4056224"/>
            <a:ext cx="402336" cy="1188720"/>
          </a:xfrm>
          <a:prstGeom prst="upArrow">
            <a:avLst/>
          </a:prstGeom>
          <a:solidFill>
            <a:srgbClr val="E46C0A"/>
          </a:solidFill>
          <a:ln>
            <a:solidFill>
              <a:srgbClr val="E46C0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7673074" y="3722401"/>
            <a:ext cx="1307592" cy="274320"/>
          </a:xfrm>
          <a:prstGeom prst="roundRect">
            <a:avLst/>
          </a:prstGeom>
          <a:solidFill>
            <a:srgbClr val="E46C0A"/>
          </a:solidFill>
          <a:ln>
            <a:solidFill>
              <a:srgbClr val="E46C0A"/>
            </a:solidFill>
          </a:ln>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100" b="1" dirty="0">
                <a:solidFill>
                  <a:srgbClr val="FFFFFF"/>
                </a:solidFill>
                <a:latin typeface="Calibri"/>
              </a:rPr>
              <a:t>SO2 injection</a:t>
            </a:r>
          </a:p>
        </p:txBody>
      </p:sp>
      <p:sp>
        <p:nvSpPr>
          <p:cNvPr id="31" name="Rounded Rectangle 30"/>
          <p:cNvSpPr/>
          <p:nvPr/>
        </p:nvSpPr>
        <p:spPr>
          <a:xfrm>
            <a:off x="8464030" y="3227431"/>
            <a:ext cx="2788920" cy="347472"/>
          </a:xfrm>
          <a:prstGeom prst="roundRect">
            <a:avLst/>
          </a:prstGeom>
          <a:solidFill>
            <a:srgbClr val="46245A"/>
          </a:solidFill>
          <a:ln>
            <a:solidFill>
              <a:srgbClr val="46245A"/>
            </a:solidFill>
          </a:ln>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100" b="1" dirty="0">
                <a:solidFill>
                  <a:srgbClr val="FFFFFF"/>
                </a:solidFill>
                <a:latin typeface="Calibri"/>
              </a:rPr>
              <a:t>SO2 -&gt; H2SO4/H2O sulfate aerosol</a:t>
            </a:r>
          </a:p>
        </p:txBody>
      </p:sp>
      <p:sp>
        <p:nvSpPr>
          <p:cNvPr id="2" name="Freeform 13">
            <a:extLst>
              <a:ext uri="{FF2B5EF4-FFF2-40B4-BE49-F238E27FC236}">
                <a16:creationId xmlns:a16="http://schemas.microsoft.com/office/drawing/2014/main" id="{B7252D0E-A10B-6D7D-DC77-7CE08F1C58CC}"/>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777240" y="960120"/>
            <a:ext cx="7818120" cy="658368"/>
          </a:xfrm>
          <a:prstGeom prst="rect">
            <a:avLst/>
          </a:prstGeom>
          <a:noFill/>
        </p:spPr>
        <p:txBody>
          <a:bodyPr wrap="none" lIns="0" tIns="0" rIns="0" bIns="0">
            <a:spAutoFit/>
          </a:bodyPr>
          <a:lstStyle/>
          <a:p>
            <a:r>
              <a:rPr sz="4000" i="1">
                <a:solidFill>
                  <a:srgbClr val="46245A"/>
                </a:solidFill>
                <a:latin typeface="DM Sans Bold"/>
              </a:rPr>
              <a:t>Volcanic Climate Influence</a:t>
            </a:r>
          </a:p>
        </p:txBody>
      </p:sp>
      <p:sp>
        <p:nvSpPr>
          <p:cNvPr id="12" name="TextBox 11"/>
          <p:cNvSpPr txBox="1"/>
          <p:nvPr/>
        </p:nvSpPr>
        <p:spPr>
          <a:xfrm>
            <a:off x="777240" y="1719072"/>
            <a:ext cx="5486400" cy="365760"/>
          </a:xfrm>
          <a:prstGeom prst="rect">
            <a:avLst/>
          </a:prstGeom>
          <a:noFill/>
        </p:spPr>
        <p:txBody>
          <a:bodyPr wrap="none" lIns="0" tIns="0" rIns="0" bIns="0">
            <a:spAutoFit/>
          </a:bodyPr>
          <a:lstStyle/>
          <a:p>
            <a:r>
              <a:rPr sz="2000" b="1">
                <a:solidFill>
                  <a:srgbClr val="1C2029"/>
                </a:solidFill>
                <a:latin typeface="Calibri"/>
              </a:rPr>
              <a:t>Why can the cooling last for years?</a:t>
            </a:r>
          </a:p>
        </p:txBody>
      </p:sp>
      <p:sp>
        <p:nvSpPr>
          <p:cNvPr id="13" name="Rectangle 12"/>
          <p:cNvSpPr/>
          <p:nvPr/>
        </p:nvSpPr>
        <p:spPr>
          <a:xfrm>
            <a:off x="777240" y="2258568"/>
            <a:ext cx="73152" cy="566928"/>
          </a:xfrm>
          <a:prstGeom prst="rect">
            <a:avLst/>
          </a:prstGeom>
          <a:solidFill>
            <a:srgbClr val="F5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86968" y="2258568"/>
            <a:ext cx="5148072" cy="566928"/>
          </a:xfrm>
          <a:prstGeom prst="rect">
            <a:avLst/>
          </a:prstGeom>
          <a:solidFill>
            <a:srgbClr val="F1ECF5"/>
          </a:solidFill>
          <a:ln>
            <a:solidFill>
              <a:srgbClr val="E3D8EA"/>
            </a:solidFill>
          </a:ln>
        </p:spPr>
        <p:style>
          <a:lnRef idx="1">
            <a:schemeClr val="accent1"/>
          </a:lnRef>
          <a:fillRef idx="3">
            <a:schemeClr val="accent1"/>
          </a:fillRef>
          <a:effectRef idx="2">
            <a:schemeClr val="accent1"/>
          </a:effectRef>
          <a:fontRef idx="minor">
            <a:schemeClr val="lt1"/>
          </a:fontRef>
        </p:style>
        <p:txBody>
          <a:bodyPr wrap="square" lIns="118872" tIns="36576" rIns="73152" bIns="36576" rtlCol="0" anchor="ctr"/>
          <a:lstStyle/>
          <a:p>
            <a:pPr algn="ctr"/>
            <a:r>
              <a:rPr sz="1750" b="1">
                <a:solidFill>
                  <a:srgbClr val="46245A"/>
                </a:solidFill>
                <a:latin typeface="Calibri"/>
              </a:rPr>
              <a:t>SO2 disappears quickly, but sulfate aerosol persists in the dry, stable stratosphere.</a:t>
            </a:r>
          </a:p>
        </p:txBody>
      </p:sp>
      <p:sp>
        <p:nvSpPr>
          <p:cNvPr id="15" name="TextBox 14"/>
          <p:cNvSpPr txBox="1"/>
          <p:nvPr/>
        </p:nvSpPr>
        <p:spPr>
          <a:xfrm>
            <a:off x="777240" y="3110018"/>
            <a:ext cx="5166360" cy="2231136"/>
          </a:xfrm>
          <a:prstGeom prst="rect">
            <a:avLst/>
          </a:prstGeom>
          <a:noFill/>
        </p:spPr>
        <p:txBody>
          <a:bodyPr wrap="square" lIns="0" tIns="0" rIns="0" bIns="0">
            <a:spAutoFit/>
          </a:bodyPr>
          <a:lstStyle/>
          <a:p>
            <a:pPr marL="285750" indent="-285750">
              <a:spcAft>
                <a:spcPts val="300"/>
              </a:spcAft>
              <a:buFont typeface="Arial" panose="020B0604020202020204" pitchFamily="34" charset="0"/>
              <a:buChar char="•"/>
            </a:pPr>
            <a:r>
              <a:rPr sz="1670" dirty="0">
                <a:solidFill>
                  <a:srgbClr val="1C2029"/>
                </a:solidFill>
                <a:latin typeface="Calibri"/>
              </a:rPr>
              <a:t>The eruption may last days, but the aerosol layer can persist for months to a few years.</a:t>
            </a:r>
          </a:p>
          <a:p>
            <a:pPr marL="285750" indent="-285750">
              <a:spcAft>
                <a:spcPts val="300"/>
              </a:spcAft>
              <a:buFont typeface="Arial" panose="020B0604020202020204" pitchFamily="34" charset="0"/>
              <a:buChar char="•"/>
            </a:pPr>
            <a:r>
              <a:rPr sz="1670" dirty="0">
                <a:solidFill>
                  <a:srgbClr val="1C2029"/>
                </a:solidFill>
                <a:latin typeface="Calibri"/>
              </a:rPr>
              <a:t>There</a:t>
            </a:r>
            <a:r>
              <a:rPr lang="en-GB" sz="1670" dirty="0">
                <a:solidFill>
                  <a:srgbClr val="1C2029"/>
                </a:solidFill>
                <a:latin typeface="Calibri"/>
              </a:rPr>
              <a:t> is</a:t>
            </a:r>
            <a:r>
              <a:rPr sz="1670" dirty="0">
                <a:solidFill>
                  <a:srgbClr val="1C2029"/>
                </a:solidFill>
                <a:latin typeface="Calibri"/>
              </a:rPr>
              <a:t> </a:t>
            </a:r>
            <a:r>
              <a:rPr lang="en-GB" sz="1670" dirty="0">
                <a:solidFill>
                  <a:srgbClr val="1C2029"/>
                </a:solidFill>
                <a:latin typeface="Calibri"/>
              </a:rPr>
              <a:t>no </a:t>
            </a:r>
            <a:r>
              <a:rPr sz="1670" dirty="0">
                <a:solidFill>
                  <a:srgbClr val="1C2029"/>
                </a:solidFill>
                <a:latin typeface="Calibri"/>
              </a:rPr>
              <a:t>rain in the stratosphere, so particles are not washed out rapidly.</a:t>
            </a:r>
          </a:p>
          <a:p>
            <a:pPr marL="285750" indent="-285750">
              <a:spcAft>
                <a:spcPts val="300"/>
              </a:spcAft>
              <a:buFont typeface="Arial" panose="020B0604020202020204" pitchFamily="34" charset="0"/>
              <a:buChar char="•"/>
            </a:pPr>
            <a:r>
              <a:rPr sz="1670" dirty="0">
                <a:solidFill>
                  <a:srgbClr val="1C2029"/>
                </a:solidFill>
                <a:latin typeface="Calibri"/>
              </a:rPr>
              <a:t>Small droplets settle slowly and are transported by stratospheric winds around the globe.</a:t>
            </a:r>
          </a:p>
          <a:p>
            <a:pPr marL="285750" indent="-285750">
              <a:spcAft>
                <a:spcPts val="300"/>
              </a:spcAft>
              <a:buFont typeface="Arial" panose="020B0604020202020204" pitchFamily="34" charset="0"/>
              <a:buChar char="•"/>
            </a:pPr>
            <a:r>
              <a:rPr sz="1670" dirty="0">
                <a:solidFill>
                  <a:srgbClr val="1C2029"/>
                </a:solidFill>
                <a:latin typeface="Calibri"/>
              </a:rPr>
              <a:t>One eruption gives temporary cooling; a lasting climate impact would require repeated injections.</a:t>
            </a:r>
          </a:p>
        </p:txBody>
      </p:sp>
      <p:sp>
        <p:nvSpPr>
          <p:cNvPr id="16" name="TextBox 15"/>
          <p:cNvSpPr txBox="1"/>
          <p:nvPr/>
        </p:nvSpPr>
        <p:spPr>
          <a:xfrm>
            <a:off x="868679" y="5504688"/>
            <a:ext cx="5583857" cy="492443"/>
          </a:xfrm>
          <a:prstGeom prst="rect">
            <a:avLst/>
          </a:prstGeom>
          <a:noFill/>
        </p:spPr>
        <p:txBody>
          <a:bodyPr wrap="square" lIns="0" tIns="0" rIns="0" bIns="0">
            <a:spAutoFit/>
          </a:bodyPr>
          <a:lstStyle/>
          <a:p>
            <a:r>
              <a:rPr sz="1600" b="1" i="0" dirty="0">
                <a:solidFill>
                  <a:srgbClr val="46245A"/>
                </a:solidFill>
                <a:latin typeface="Calibri"/>
              </a:rPr>
              <a:t>Pinatubo example: about 17-20 Mt SO2 reached the stratosphere and produced global cooling for roughly 1-3 years.</a:t>
            </a:r>
          </a:p>
        </p:txBody>
      </p:sp>
      <p:sp>
        <p:nvSpPr>
          <p:cNvPr id="17" name="Rectangle 16"/>
          <p:cNvSpPr/>
          <p:nvPr/>
        </p:nvSpPr>
        <p:spPr>
          <a:xfrm>
            <a:off x="6667421" y="2082832"/>
            <a:ext cx="5074920" cy="4160520"/>
          </a:xfrm>
          <a:prstGeom prst="rect">
            <a:avLst/>
          </a:prstGeom>
          <a:solidFill>
            <a:srgbClr val="FBFCFD"/>
          </a:solidFill>
          <a:ln>
            <a:solidFill>
              <a:srgbClr val="D8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886877" y="2265713"/>
            <a:ext cx="4636008" cy="292608"/>
          </a:xfrm>
          <a:prstGeom prst="rect">
            <a:avLst/>
          </a:prstGeom>
          <a:noFill/>
        </p:spPr>
        <p:txBody>
          <a:bodyPr wrap="square" lIns="0" tIns="0" rIns="0" bIns="0">
            <a:spAutoFit/>
          </a:bodyPr>
          <a:lstStyle/>
          <a:p>
            <a:pPr algn="ctr"/>
            <a:r>
              <a:rPr sz="1400" b="1" i="0">
                <a:solidFill>
                  <a:srgbClr val="46245A"/>
                </a:solidFill>
                <a:latin typeface="Calibri"/>
              </a:rPr>
              <a:t>Residence time after a large stratospheric eruption</a:t>
            </a:r>
          </a:p>
        </p:txBody>
      </p:sp>
      <p:cxnSp>
        <p:nvCxnSpPr>
          <p:cNvPr id="19" name="Connector 18"/>
          <p:cNvCxnSpPr/>
          <p:nvPr/>
        </p:nvCxnSpPr>
        <p:spPr>
          <a:xfrm>
            <a:off x="7398941" y="5648993"/>
            <a:ext cx="3886200" cy="0"/>
          </a:xfrm>
          <a:prstGeom prst="line">
            <a:avLst/>
          </a:prstGeom>
          <a:ln w="17780">
            <a:solidFill>
              <a:srgbClr val="5F636B"/>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7398941" y="5594129"/>
            <a:ext cx="0" cy="109727"/>
          </a:xfrm>
          <a:prstGeom prst="line">
            <a:avLst/>
          </a:prstGeom>
          <a:ln w="15240">
            <a:solidFill>
              <a:srgbClr val="5F636B"/>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078901" y="5758721"/>
            <a:ext cx="685800" cy="228600"/>
          </a:xfrm>
          <a:prstGeom prst="rect">
            <a:avLst/>
          </a:prstGeom>
          <a:noFill/>
        </p:spPr>
        <p:txBody>
          <a:bodyPr wrap="square" lIns="0" tIns="0" rIns="0" bIns="0">
            <a:spAutoFit/>
          </a:bodyPr>
          <a:lstStyle/>
          <a:p>
            <a:pPr algn="ctr"/>
            <a:r>
              <a:rPr sz="1030" b="0" i="0">
                <a:solidFill>
                  <a:srgbClr val="5F636B"/>
                </a:solidFill>
                <a:latin typeface="Calibri"/>
              </a:rPr>
              <a:t>days</a:t>
            </a:r>
          </a:p>
        </p:txBody>
      </p:sp>
      <p:cxnSp>
        <p:nvCxnSpPr>
          <p:cNvPr id="22" name="Connector 21"/>
          <p:cNvCxnSpPr/>
          <p:nvPr/>
        </p:nvCxnSpPr>
        <p:spPr>
          <a:xfrm>
            <a:off x="8603663" y="5594129"/>
            <a:ext cx="0" cy="109727"/>
          </a:xfrm>
          <a:prstGeom prst="line">
            <a:avLst/>
          </a:prstGeom>
          <a:ln w="15240">
            <a:solidFill>
              <a:srgbClr val="5F636B"/>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8283623" y="5758721"/>
            <a:ext cx="685800" cy="228600"/>
          </a:xfrm>
          <a:prstGeom prst="rect">
            <a:avLst/>
          </a:prstGeom>
          <a:noFill/>
        </p:spPr>
        <p:txBody>
          <a:bodyPr wrap="square" lIns="0" tIns="0" rIns="0" bIns="0">
            <a:spAutoFit/>
          </a:bodyPr>
          <a:lstStyle/>
          <a:p>
            <a:pPr algn="ctr"/>
            <a:r>
              <a:rPr sz="1030" b="0" i="0">
                <a:solidFill>
                  <a:srgbClr val="5F636B"/>
                </a:solidFill>
                <a:latin typeface="Calibri"/>
              </a:rPr>
              <a:t>weeks</a:t>
            </a:r>
          </a:p>
        </p:txBody>
      </p:sp>
      <p:cxnSp>
        <p:nvCxnSpPr>
          <p:cNvPr id="24" name="Connector 23"/>
          <p:cNvCxnSpPr/>
          <p:nvPr/>
        </p:nvCxnSpPr>
        <p:spPr>
          <a:xfrm>
            <a:off x="9652937" y="5594129"/>
            <a:ext cx="0" cy="109727"/>
          </a:xfrm>
          <a:prstGeom prst="line">
            <a:avLst/>
          </a:prstGeom>
          <a:ln w="15240">
            <a:solidFill>
              <a:srgbClr val="5F636B"/>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9332897" y="5758721"/>
            <a:ext cx="685800" cy="228600"/>
          </a:xfrm>
          <a:prstGeom prst="rect">
            <a:avLst/>
          </a:prstGeom>
          <a:noFill/>
        </p:spPr>
        <p:txBody>
          <a:bodyPr wrap="square" lIns="0" tIns="0" rIns="0" bIns="0">
            <a:spAutoFit/>
          </a:bodyPr>
          <a:lstStyle/>
          <a:p>
            <a:pPr algn="ctr"/>
            <a:r>
              <a:rPr sz="1030" b="0" i="0">
                <a:solidFill>
                  <a:srgbClr val="5F636B"/>
                </a:solidFill>
                <a:latin typeface="Calibri"/>
              </a:rPr>
              <a:t>months</a:t>
            </a:r>
          </a:p>
        </p:txBody>
      </p:sp>
      <p:cxnSp>
        <p:nvCxnSpPr>
          <p:cNvPr id="26" name="Connector 25"/>
          <p:cNvCxnSpPr/>
          <p:nvPr/>
        </p:nvCxnSpPr>
        <p:spPr>
          <a:xfrm>
            <a:off x="11285141" y="5594129"/>
            <a:ext cx="0" cy="109727"/>
          </a:xfrm>
          <a:prstGeom prst="line">
            <a:avLst/>
          </a:prstGeom>
          <a:ln w="15240">
            <a:solidFill>
              <a:srgbClr val="5F636B"/>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0965101" y="5758721"/>
            <a:ext cx="685800" cy="228600"/>
          </a:xfrm>
          <a:prstGeom prst="rect">
            <a:avLst/>
          </a:prstGeom>
          <a:noFill/>
        </p:spPr>
        <p:txBody>
          <a:bodyPr wrap="square" lIns="0" tIns="0" rIns="0" bIns="0">
            <a:spAutoFit/>
          </a:bodyPr>
          <a:lstStyle/>
          <a:p>
            <a:pPr algn="ctr"/>
            <a:r>
              <a:rPr sz="1030" b="0" i="0">
                <a:solidFill>
                  <a:srgbClr val="5F636B"/>
                </a:solidFill>
                <a:latin typeface="Calibri"/>
              </a:rPr>
              <a:t>1-3 years</a:t>
            </a:r>
          </a:p>
        </p:txBody>
      </p:sp>
      <p:sp>
        <p:nvSpPr>
          <p:cNvPr id="28" name="TextBox 27"/>
          <p:cNvSpPr txBox="1"/>
          <p:nvPr/>
        </p:nvSpPr>
        <p:spPr>
          <a:xfrm>
            <a:off x="6850301" y="2905792"/>
            <a:ext cx="950976" cy="274320"/>
          </a:xfrm>
          <a:prstGeom prst="rect">
            <a:avLst/>
          </a:prstGeom>
          <a:noFill/>
        </p:spPr>
        <p:txBody>
          <a:bodyPr wrap="square" lIns="0" tIns="0" rIns="0" bIns="0">
            <a:spAutoFit/>
          </a:bodyPr>
          <a:lstStyle/>
          <a:p>
            <a:r>
              <a:rPr sz="1080" b="1" i="0">
                <a:solidFill>
                  <a:srgbClr val="1C2029"/>
                </a:solidFill>
                <a:latin typeface="Calibri"/>
              </a:rPr>
              <a:t>ash</a:t>
            </a:r>
          </a:p>
        </p:txBody>
      </p:sp>
      <p:sp>
        <p:nvSpPr>
          <p:cNvPr id="29" name="Rounded Rectangle 28"/>
          <p:cNvSpPr/>
          <p:nvPr/>
        </p:nvSpPr>
        <p:spPr>
          <a:xfrm>
            <a:off x="7398941" y="2924080"/>
            <a:ext cx="621791" cy="219456"/>
          </a:xfrm>
          <a:prstGeom prst="roundRect">
            <a:avLst/>
          </a:prstGeom>
          <a:solidFill>
            <a:srgbClr val="5F636B"/>
          </a:solidFill>
          <a:ln>
            <a:solidFill>
              <a:srgbClr val="5F63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093885" y="2914937"/>
            <a:ext cx="1143000" cy="237744"/>
          </a:xfrm>
          <a:prstGeom prst="rect">
            <a:avLst/>
          </a:prstGeom>
          <a:noFill/>
        </p:spPr>
        <p:txBody>
          <a:bodyPr wrap="square" lIns="0" tIns="0" rIns="0" bIns="0">
            <a:spAutoFit/>
          </a:bodyPr>
          <a:lstStyle/>
          <a:p>
            <a:r>
              <a:rPr sz="969" b="0" i="0">
                <a:solidFill>
                  <a:srgbClr val="5F636B"/>
                </a:solidFill>
                <a:latin typeface="Calibri"/>
              </a:rPr>
              <a:t>falls out quickly</a:t>
            </a:r>
          </a:p>
        </p:txBody>
      </p:sp>
      <p:sp>
        <p:nvSpPr>
          <p:cNvPr id="31" name="TextBox 30"/>
          <p:cNvSpPr txBox="1"/>
          <p:nvPr/>
        </p:nvSpPr>
        <p:spPr>
          <a:xfrm>
            <a:off x="6850301" y="3344704"/>
            <a:ext cx="950976" cy="274320"/>
          </a:xfrm>
          <a:prstGeom prst="rect">
            <a:avLst/>
          </a:prstGeom>
          <a:noFill/>
        </p:spPr>
        <p:txBody>
          <a:bodyPr wrap="square" lIns="0" tIns="0" rIns="0" bIns="0">
            <a:spAutoFit/>
          </a:bodyPr>
          <a:lstStyle/>
          <a:p>
            <a:r>
              <a:rPr sz="1080" b="1" i="0">
                <a:solidFill>
                  <a:srgbClr val="1C2029"/>
                </a:solidFill>
                <a:latin typeface="Calibri"/>
              </a:rPr>
              <a:t>SO2 gas</a:t>
            </a:r>
          </a:p>
        </p:txBody>
      </p:sp>
      <p:sp>
        <p:nvSpPr>
          <p:cNvPr id="32" name="Rounded Rectangle 31"/>
          <p:cNvSpPr/>
          <p:nvPr/>
        </p:nvSpPr>
        <p:spPr>
          <a:xfrm>
            <a:off x="7398941" y="3362992"/>
            <a:ext cx="1476755" cy="219456"/>
          </a:xfrm>
          <a:prstGeom prst="roundRect">
            <a:avLst/>
          </a:prstGeom>
          <a:solidFill>
            <a:srgbClr val="E46C0A"/>
          </a:solidFill>
          <a:ln>
            <a:solidFill>
              <a:srgbClr val="E46C0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948849" y="3353849"/>
            <a:ext cx="1143000" cy="237744"/>
          </a:xfrm>
          <a:prstGeom prst="rect">
            <a:avLst/>
          </a:prstGeom>
          <a:noFill/>
        </p:spPr>
        <p:txBody>
          <a:bodyPr wrap="square" lIns="0" tIns="0" rIns="0" bIns="0">
            <a:spAutoFit/>
          </a:bodyPr>
          <a:lstStyle/>
          <a:p>
            <a:r>
              <a:rPr sz="969" b="0" i="0">
                <a:solidFill>
                  <a:srgbClr val="5F636B"/>
                </a:solidFill>
                <a:latin typeface="Calibri"/>
              </a:rPr>
              <a:t>oxidises over weeks</a:t>
            </a:r>
          </a:p>
        </p:txBody>
      </p:sp>
      <p:sp>
        <p:nvSpPr>
          <p:cNvPr id="34" name="TextBox 33"/>
          <p:cNvSpPr txBox="1"/>
          <p:nvPr/>
        </p:nvSpPr>
        <p:spPr>
          <a:xfrm>
            <a:off x="6850301" y="3783616"/>
            <a:ext cx="950976" cy="274320"/>
          </a:xfrm>
          <a:prstGeom prst="rect">
            <a:avLst/>
          </a:prstGeom>
          <a:noFill/>
        </p:spPr>
        <p:txBody>
          <a:bodyPr wrap="square" lIns="0" tIns="0" rIns="0" bIns="0">
            <a:spAutoFit/>
          </a:bodyPr>
          <a:lstStyle/>
          <a:p>
            <a:r>
              <a:rPr sz="1080" b="1" i="0">
                <a:solidFill>
                  <a:srgbClr val="1C2029"/>
                </a:solidFill>
                <a:latin typeface="Calibri"/>
              </a:rPr>
              <a:t>sulfate aerosol</a:t>
            </a:r>
          </a:p>
        </p:txBody>
      </p:sp>
      <p:sp>
        <p:nvSpPr>
          <p:cNvPr id="35" name="Rounded Rectangle 34"/>
          <p:cNvSpPr/>
          <p:nvPr/>
        </p:nvSpPr>
        <p:spPr>
          <a:xfrm>
            <a:off x="8253905" y="3801904"/>
            <a:ext cx="2875787" cy="219456"/>
          </a:xfrm>
          <a:prstGeom prst="roundRect">
            <a:avLst/>
          </a:prstGeom>
          <a:solidFill>
            <a:srgbClr val="46245A"/>
          </a:solidFill>
          <a:ln>
            <a:solidFill>
              <a:srgbClr val="462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381921" y="3792761"/>
            <a:ext cx="2692907" cy="237744"/>
          </a:xfrm>
          <a:prstGeom prst="rect">
            <a:avLst/>
          </a:prstGeom>
          <a:noFill/>
        </p:spPr>
        <p:txBody>
          <a:bodyPr wrap="square" lIns="0" tIns="0" rIns="0" bIns="0">
            <a:spAutoFit/>
          </a:bodyPr>
          <a:lstStyle/>
          <a:p>
            <a:pPr algn="ctr"/>
            <a:r>
              <a:rPr sz="969" b="1" i="0">
                <a:solidFill>
                  <a:srgbClr val="FFFFFF"/>
                </a:solidFill>
                <a:latin typeface="Calibri"/>
              </a:rPr>
              <a:t>scatters sunlight</a:t>
            </a:r>
          </a:p>
        </p:txBody>
      </p:sp>
      <p:sp>
        <p:nvSpPr>
          <p:cNvPr id="37" name="TextBox 36"/>
          <p:cNvSpPr txBox="1"/>
          <p:nvPr/>
        </p:nvSpPr>
        <p:spPr>
          <a:xfrm>
            <a:off x="6850301" y="4222529"/>
            <a:ext cx="950976" cy="274320"/>
          </a:xfrm>
          <a:prstGeom prst="rect">
            <a:avLst/>
          </a:prstGeom>
          <a:noFill/>
        </p:spPr>
        <p:txBody>
          <a:bodyPr wrap="square" lIns="0" tIns="0" rIns="0" bIns="0">
            <a:spAutoFit/>
          </a:bodyPr>
          <a:lstStyle/>
          <a:p>
            <a:r>
              <a:rPr sz="1080" b="1" i="0">
                <a:solidFill>
                  <a:srgbClr val="1C2029"/>
                </a:solidFill>
                <a:latin typeface="Calibri"/>
              </a:rPr>
              <a:t>surface cooling</a:t>
            </a:r>
          </a:p>
        </p:txBody>
      </p:sp>
      <p:sp>
        <p:nvSpPr>
          <p:cNvPr id="38" name="Rounded Rectangle 37"/>
          <p:cNvSpPr/>
          <p:nvPr/>
        </p:nvSpPr>
        <p:spPr>
          <a:xfrm>
            <a:off x="8720249" y="4240816"/>
            <a:ext cx="2564891" cy="219456"/>
          </a:xfrm>
          <a:prstGeom prst="roundRect">
            <a:avLst/>
          </a:prstGeom>
          <a:solidFill>
            <a:srgbClr val="2F74B5"/>
          </a:solidFill>
          <a:ln>
            <a:solidFill>
              <a:srgbClr val="2F7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848265" y="4231673"/>
            <a:ext cx="2382011" cy="149143"/>
          </a:xfrm>
          <a:prstGeom prst="rect">
            <a:avLst/>
          </a:prstGeom>
          <a:noFill/>
        </p:spPr>
        <p:txBody>
          <a:bodyPr wrap="square" lIns="0" tIns="0" rIns="0" bIns="0">
            <a:spAutoFit/>
          </a:bodyPr>
          <a:lstStyle/>
          <a:p>
            <a:pPr algn="ctr"/>
            <a:r>
              <a:rPr lang="en-GB" sz="969" b="1" i="0" dirty="0">
                <a:solidFill>
                  <a:srgbClr val="FFFFFF"/>
                </a:solidFill>
                <a:latin typeface="Calibri"/>
              </a:rPr>
              <a:t>Long lived response </a:t>
            </a:r>
            <a:endParaRPr sz="969" b="1" i="0" dirty="0">
              <a:solidFill>
                <a:srgbClr val="FFFFFF"/>
              </a:solidFill>
              <a:latin typeface="Calibri"/>
            </a:endParaRPr>
          </a:p>
        </p:txBody>
      </p:sp>
      <p:sp>
        <p:nvSpPr>
          <p:cNvPr id="40" name="Rectangle 39"/>
          <p:cNvSpPr/>
          <p:nvPr/>
        </p:nvSpPr>
        <p:spPr>
          <a:xfrm>
            <a:off x="6960029" y="4899184"/>
            <a:ext cx="2103120" cy="475488"/>
          </a:xfrm>
          <a:prstGeom prst="rect">
            <a:avLst/>
          </a:prstGeom>
          <a:solidFill>
            <a:srgbClr val="E8F3FA"/>
          </a:solidFill>
          <a:ln>
            <a:solidFill>
              <a:srgbClr val="C9DFEF"/>
            </a:solidFill>
          </a:ln>
        </p:spPr>
        <p:style>
          <a:lnRef idx="1">
            <a:schemeClr val="accent1"/>
          </a:lnRef>
          <a:fillRef idx="3">
            <a:schemeClr val="accent1"/>
          </a:fillRef>
          <a:effectRef idx="2">
            <a:schemeClr val="accent1"/>
          </a:effectRef>
          <a:fontRef idx="minor">
            <a:schemeClr val="lt1"/>
          </a:fontRef>
        </p:style>
        <p:txBody>
          <a:bodyPr lIns="64008" tIns="36576" rIns="36576" bIns="18288" rtlCol="0" anchor="ctr"/>
          <a:lstStyle/>
          <a:p>
            <a:pPr algn="ctr"/>
            <a:r>
              <a:rPr sz="1080" b="1">
                <a:solidFill>
                  <a:srgbClr val="2F74B5"/>
                </a:solidFill>
                <a:latin typeface="Calibri"/>
              </a:rPr>
              <a:t>Above clouds: little rain scavenging</a:t>
            </a:r>
          </a:p>
        </p:txBody>
      </p:sp>
      <p:sp>
        <p:nvSpPr>
          <p:cNvPr id="41" name="Rectangle 40"/>
          <p:cNvSpPr/>
          <p:nvPr/>
        </p:nvSpPr>
        <p:spPr>
          <a:xfrm>
            <a:off x="9246029" y="4899184"/>
            <a:ext cx="2157984" cy="475488"/>
          </a:xfrm>
          <a:prstGeom prst="rect">
            <a:avLst/>
          </a:prstGeom>
          <a:solidFill>
            <a:srgbClr val="F1ECF5"/>
          </a:solidFill>
          <a:ln>
            <a:solidFill>
              <a:srgbClr val="E3D8EA"/>
            </a:solidFill>
          </a:ln>
        </p:spPr>
        <p:style>
          <a:lnRef idx="1">
            <a:schemeClr val="accent1"/>
          </a:lnRef>
          <a:fillRef idx="3">
            <a:schemeClr val="accent1"/>
          </a:fillRef>
          <a:effectRef idx="2">
            <a:schemeClr val="accent1"/>
          </a:effectRef>
          <a:fontRef idx="minor">
            <a:schemeClr val="lt1"/>
          </a:fontRef>
        </p:style>
        <p:txBody>
          <a:bodyPr lIns="64008" tIns="36576" rIns="36576" bIns="18288" rtlCol="0" anchor="ctr"/>
          <a:lstStyle/>
          <a:p>
            <a:pPr algn="ctr"/>
            <a:r>
              <a:rPr sz="1080" b="1">
                <a:solidFill>
                  <a:srgbClr val="46245A"/>
                </a:solidFill>
                <a:latin typeface="Calibri"/>
              </a:rPr>
              <a:t>Slow settling + global winds</a:t>
            </a:r>
          </a:p>
        </p:txBody>
      </p:sp>
      <p:sp>
        <p:nvSpPr>
          <p:cNvPr id="2" name="Freeform 13">
            <a:extLst>
              <a:ext uri="{FF2B5EF4-FFF2-40B4-BE49-F238E27FC236}">
                <a16:creationId xmlns:a16="http://schemas.microsoft.com/office/drawing/2014/main" id="{9EAB08D5-38A6-F0B2-6DE2-CB6222211A13}"/>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2"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FAE52-601F-7F8F-23C9-3F60E1A2ECF0}"/>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AF44EF1E-8FFB-16A2-EFF0-0451187E4BD3}"/>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7" name="TextBox 5">
            <a:extLst>
              <a:ext uri="{FF2B5EF4-FFF2-40B4-BE49-F238E27FC236}">
                <a16:creationId xmlns:a16="http://schemas.microsoft.com/office/drawing/2014/main" id="{76D8BE35-835F-84A4-1DF8-3AB941E77E17}"/>
              </a:ext>
            </a:extLst>
          </p:cNvPr>
          <p:cNvSpPr txBox="1"/>
          <p:nvPr/>
        </p:nvSpPr>
        <p:spPr>
          <a:xfrm>
            <a:off x="518837" y="1107332"/>
            <a:ext cx="9231783" cy="550087"/>
          </a:xfrm>
          <a:prstGeom prst="rect">
            <a:avLst/>
          </a:prstGeom>
        </p:spPr>
        <p:txBody>
          <a:bodyPr wrap="square" lIns="0" tIns="0" rIns="0" bIns="0" rtlCol="0" anchor="t">
            <a:spAutoFit/>
          </a:bodyPr>
          <a:lstStyle/>
          <a:p>
            <a:pPr>
              <a:lnSpc>
                <a:spcPts val="4480"/>
              </a:lnSpc>
            </a:pPr>
            <a:r>
              <a:rPr lang="en-US" sz="3200" b="1" i="1" dirty="0">
                <a:solidFill>
                  <a:srgbClr val="46245A"/>
                </a:solidFill>
                <a:latin typeface="DM Sans" pitchFamily="2" charset="0"/>
              </a:rPr>
              <a:t>The ENSO (El Nino/Southern Oscillation)</a:t>
            </a:r>
            <a:endParaRPr lang="en-US" sz="3200" i="1" dirty="0">
              <a:solidFill>
                <a:srgbClr val="46245A"/>
              </a:solidFill>
              <a:latin typeface="DM Sans" pitchFamily="2" charset="0"/>
            </a:endParaRPr>
          </a:p>
        </p:txBody>
      </p:sp>
      <p:sp>
        <p:nvSpPr>
          <p:cNvPr id="4" name="TextBox 3">
            <a:extLst>
              <a:ext uri="{FF2B5EF4-FFF2-40B4-BE49-F238E27FC236}">
                <a16:creationId xmlns:a16="http://schemas.microsoft.com/office/drawing/2014/main" id="{D7911F69-67B5-BB51-0BCD-8D7A1034D51F}"/>
              </a:ext>
            </a:extLst>
          </p:cNvPr>
          <p:cNvSpPr txBox="1"/>
          <p:nvPr/>
        </p:nvSpPr>
        <p:spPr>
          <a:xfrm>
            <a:off x="518837" y="1984956"/>
            <a:ext cx="5577163" cy="3989618"/>
          </a:xfrm>
          <a:prstGeom prst="rect">
            <a:avLst/>
          </a:prstGeom>
          <a:noFill/>
        </p:spPr>
        <p:txBody>
          <a:bodyPr wrap="square">
            <a:spAutoFit/>
          </a:bodyPr>
          <a:lstStyle/>
          <a:p>
            <a:pPr algn="l" fontAlgn="base"/>
            <a:r>
              <a:rPr lang="en-GB" sz="1333" dirty="0">
                <a:solidFill>
                  <a:srgbClr val="222222"/>
                </a:solidFill>
                <a:latin typeface="Calibri" panose="020F0502020204030204" pitchFamily="34" charset="0"/>
                <a:cs typeface="Calibri" panose="020F0502020204030204" pitchFamily="34" charset="0"/>
              </a:rPr>
              <a:t>The El Niño-Southern Oscillation (ENSO) is a recurring climate pattern involving changes in the temperature of waters in the central and eastern tropical Pacific Ocean. </a:t>
            </a:r>
          </a:p>
          <a:p>
            <a:pPr algn="l" fontAlgn="base"/>
            <a:endParaRPr lang="en-GB" sz="1333" dirty="0">
              <a:solidFill>
                <a:srgbClr val="222222"/>
              </a:solidFill>
              <a:latin typeface="Calibri" panose="020F0502020204030204" pitchFamily="34" charset="0"/>
              <a:cs typeface="Calibri" panose="020F0502020204030204" pitchFamily="34" charset="0"/>
            </a:endParaRPr>
          </a:p>
          <a:p>
            <a:pPr algn="l" fontAlgn="base"/>
            <a:r>
              <a:rPr lang="en-GB" sz="1333" dirty="0">
                <a:solidFill>
                  <a:srgbClr val="222222"/>
                </a:solidFill>
                <a:latin typeface="Calibri" panose="020F0502020204030204" pitchFamily="34" charset="0"/>
                <a:cs typeface="Calibri" panose="020F0502020204030204" pitchFamily="34" charset="0"/>
              </a:rPr>
              <a:t>On periods ranging from about three to seven years, the surface waters across the tropical Pacific Ocean warm or cool by anywhere from 1°C to 3°C, compared to normal.</a:t>
            </a:r>
          </a:p>
          <a:p>
            <a:pPr algn="l" fontAlgn="base"/>
            <a:endParaRPr lang="en-GB" sz="1333" dirty="0">
              <a:solidFill>
                <a:srgbClr val="222222"/>
              </a:solidFill>
              <a:latin typeface="Calibri" panose="020F0502020204030204" pitchFamily="34" charset="0"/>
              <a:cs typeface="Calibri" panose="020F0502020204030204" pitchFamily="34" charset="0"/>
            </a:endParaRPr>
          </a:p>
          <a:p>
            <a:pPr algn="l" fontAlgn="base"/>
            <a:r>
              <a:rPr lang="en-GB" sz="1333" dirty="0">
                <a:solidFill>
                  <a:srgbClr val="222222"/>
                </a:solidFill>
                <a:latin typeface="Calibri" panose="020F0502020204030204" pitchFamily="34" charset="0"/>
                <a:cs typeface="Calibri" panose="020F0502020204030204" pitchFamily="34" charset="0"/>
              </a:rPr>
              <a:t>This oscillating warming and cooling pattern, referred to as the ENSO cycle, directly affects rainfall distribution in the tropics and can have a strong influence on weather across the United States and other parts of the world. </a:t>
            </a:r>
          </a:p>
          <a:p>
            <a:pPr algn="l" fontAlgn="base"/>
            <a:endParaRPr lang="en-GB" sz="1333" dirty="0">
              <a:solidFill>
                <a:srgbClr val="222222"/>
              </a:solidFill>
              <a:latin typeface="Calibri" panose="020F0502020204030204" pitchFamily="34" charset="0"/>
              <a:cs typeface="Calibri" panose="020F0502020204030204" pitchFamily="34" charset="0"/>
            </a:endParaRPr>
          </a:p>
          <a:p>
            <a:pPr algn="l" fontAlgn="base"/>
            <a:r>
              <a:rPr lang="en-GB" sz="1333" dirty="0">
                <a:solidFill>
                  <a:srgbClr val="222222"/>
                </a:solidFill>
                <a:latin typeface="Calibri" panose="020F0502020204030204" pitchFamily="34" charset="0"/>
                <a:cs typeface="Calibri" panose="020F0502020204030204" pitchFamily="34" charset="0"/>
              </a:rPr>
              <a:t>El Niño and La Niña are the extreme phases of the ENSO cycle; between these two phases is a third phase called ENSO-neutral.</a:t>
            </a:r>
          </a:p>
          <a:p>
            <a:pPr algn="l" fontAlgn="base"/>
            <a:endParaRPr lang="en-GB" sz="1333" dirty="0">
              <a:solidFill>
                <a:srgbClr val="222222"/>
              </a:solidFill>
              <a:latin typeface="Calibri" panose="020F0502020204030204" pitchFamily="34" charset="0"/>
              <a:cs typeface="Calibri" panose="020F0502020204030204" pitchFamily="34" charset="0"/>
            </a:endParaRPr>
          </a:p>
          <a:p>
            <a:pPr fontAlgn="base"/>
            <a:r>
              <a:rPr lang="en-GB" altLang="en-US" sz="1333" dirty="0">
                <a:latin typeface="Calibri" panose="020F0502020204030204" pitchFamily="34" charset="0"/>
                <a:cs typeface="Calibri" panose="020F0502020204030204" pitchFamily="34" charset="0"/>
              </a:rPr>
              <a:t>The scale of these fluctuations is vast, changes in sea-surface temperatures often span a distance of more than one-quarter the circumference of the globe, and changes in tropical rainfall and winds span a distance of more than one-half the circumference of the earth.</a:t>
            </a:r>
            <a:endParaRPr lang="en-GB" sz="1333" dirty="0">
              <a:solidFill>
                <a:srgbClr val="222222"/>
              </a:solidFill>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C925D2D4-F816-00CB-0C3B-7C5D633FC6BF}"/>
              </a:ext>
            </a:extLst>
          </p:cNvPr>
          <p:cNvPicPr>
            <a:picLocks noChangeAspect="1"/>
          </p:cNvPicPr>
          <p:nvPr/>
        </p:nvPicPr>
        <p:blipFill>
          <a:blip r:embed="rId4"/>
          <a:stretch>
            <a:fillRect/>
          </a:stretch>
        </p:blipFill>
        <p:spPr>
          <a:xfrm>
            <a:off x="6232384" y="2174249"/>
            <a:ext cx="5801120" cy="3576419"/>
          </a:xfrm>
          <a:prstGeom prst="rect">
            <a:avLst/>
          </a:prstGeom>
          <a:ln>
            <a:solidFill>
              <a:schemeClr val="accent2"/>
            </a:solidFill>
          </a:ln>
        </p:spPr>
      </p:pic>
    </p:spTree>
    <p:extLst>
      <p:ext uri="{BB962C8B-B14F-4D97-AF65-F5344CB8AC3E}">
        <p14:creationId xmlns:p14="http://schemas.microsoft.com/office/powerpoint/2010/main" val="2551471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094B9-DAE4-5E54-8F11-CCC70F9AD72B}"/>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09973FAC-5968-316C-34A0-2FC34FB52180}"/>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7" name="TextBox 5">
            <a:extLst>
              <a:ext uri="{FF2B5EF4-FFF2-40B4-BE49-F238E27FC236}">
                <a16:creationId xmlns:a16="http://schemas.microsoft.com/office/drawing/2014/main" id="{7B53DF54-7A8E-E2BE-0EFE-9E928AE3C57A}"/>
              </a:ext>
            </a:extLst>
          </p:cNvPr>
          <p:cNvSpPr txBox="1"/>
          <p:nvPr/>
        </p:nvSpPr>
        <p:spPr>
          <a:xfrm>
            <a:off x="518837" y="1107332"/>
            <a:ext cx="9231783" cy="550087"/>
          </a:xfrm>
          <a:prstGeom prst="rect">
            <a:avLst/>
          </a:prstGeom>
        </p:spPr>
        <p:txBody>
          <a:bodyPr wrap="square" lIns="0" tIns="0" rIns="0" bIns="0" rtlCol="0" anchor="t">
            <a:spAutoFit/>
          </a:bodyPr>
          <a:lstStyle/>
          <a:p>
            <a:pPr>
              <a:lnSpc>
                <a:spcPts val="4480"/>
              </a:lnSpc>
            </a:pPr>
            <a:r>
              <a:rPr lang="en-US" sz="3200" b="1" i="1" dirty="0">
                <a:solidFill>
                  <a:srgbClr val="46245A"/>
                </a:solidFill>
                <a:latin typeface="DM Sans" pitchFamily="2" charset="0"/>
              </a:rPr>
              <a:t>Discussion </a:t>
            </a:r>
            <a:endParaRPr lang="en-US" sz="3200" i="1" dirty="0">
              <a:solidFill>
                <a:srgbClr val="46245A"/>
              </a:solidFill>
              <a:latin typeface="DM Sans" pitchFamily="2" charset="0"/>
            </a:endParaRPr>
          </a:p>
        </p:txBody>
      </p:sp>
      <p:sp>
        <p:nvSpPr>
          <p:cNvPr id="3" name="TextBox 2">
            <a:extLst>
              <a:ext uri="{FF2B5EF4-FFF2-40B4-BE49-F238E27FC236}">
                <a16:creationId xmlns:a16="http://schemas.microsoft.com/office/drawing/2014/main" id="{62B15CDD-5E68-8F30-293E-EE283EEF4079}"/>
              </a:ext>
            </a:extLst>
          </p:cNvPr>
          <p:cNvSpPr txBox="1"/>
          <p:nvPr/>
        </p:nvSpPr>
        <p:spPr>
          <a:xfrm>
            <a:off x="518837" y="2632841"/>
            <a:ext cx="11223504" cy="369332"/>
          </a:xfrm>
          <a:prstGeom prst="rect">
            <a:avLst/>
          </a:prstGeom>
          <a:noFill/>
        </p:spPr>
        <p:txBody>
          <a:bodyPr wrap="square" rtlCol="0">
            <a:spAutoFit/>
          </a:bodyPr>
          <a:lstStyle/>
          <a:p>
            <a:r>
              <a:rPr lang="en-US" b="1" dirty="0">
                <a:solidFill>
                  <a:srgbClr val="FF0000"/>
                </a:solidFill>
              </a:rPr>
              <a:t>“The climate has always varied, and it has been hotter than this before - climate change isn’t real”   </a:t>
            </a:r>
          </a:p>
        </p:txBody>
      </p:sp>
      <p:sp>
        <p:nvSpPr>
          <p:cNvPr id="5" name="TextBox 4">
            <a:extLst>
              <a:ext uri="{FF2B5EF4-FFF2-40B4-BE49-F238E27FC236}">
                <a16:creationId xmlns:a16="http://schemas.microsoft.com/office/drawing/2014/main" id="{DC3A5515-7FC8-97BC-9299-91F8842A9D5C}"/>
              </a:ext>
            </a:extLst>
          </p:cNvPr>
          <p:cNvSpPr txBox="1"/>
          <p:nvPr/>
        </p:nvSpPr>
        <p:spPr>
          <a:xfrm>
            <a:off x="574016" y="3699640"/>
            <a:ext cx="11265887" cy="1569660"/>
          </a:xfrm>
          <a:prstGeom prst="rect">
            <a:avLst/>
          </a:prstGeom>
          <a:noFill/>
        </p:spPr>
        <p:txBody>
          <a:bodyPr wrap="square" rtlCol="0">
            <a:spAutoFit/>
          </a:bodyPr>
          <a:lstStyle/>
          <a:p>
            <a:r>
              <a:rPr lang="en-US" sz="1600" dirty="0">
                <a:solidFill>
                  <a:schemeClr val="bg1">
                    <a:lumMod val="65000"/>
                  </a:schemeClr>
                </a:solidFill>
              </a:rPr>
              <a:t>How do we know this isn’t true – build an argument against this 				</a:t>
            </a:r>
          </a:p>
          <a:p>
            <a:endParaRPr lang="en-US" sz="1600" dirty="0">
              <a:solidFill>
                <a:schemeClr val="bg1">
                  <a:lumMod val="65000"/>
                </a:schemeClr>
              </a:solidFill>
            </a:endParaRPr>
          </a:p>
          <a:p>
            <a:endParaRPr lang="en-US" sz="1600" dirty="0">
              <a:solidFill>
                <a:schemeClr val="bg1">
                  <a:lumMod val="65000"/>
                </a:schemeClr>
              </a:solidFill>
            </a:endParaRPr>
          </a:p>
          <a:p>
            <a:endParaRPr lang="en-US" sz="1600" dirty="0">
              <a:solidFill>
                <a:schemeClr val="bg1">
                  <a:lumMod val="65000"/>
                </a:schemeClr>
              </a:solidFill>
            </a:endParaRPr>
          </a:p>
          <a:p>
            <a:endParaRPr lang="en-US" sz="1600" dirty="0">
              <a:solidFill>
                <a:schemeClr val="bg1">
                  <a:lumMod val="65000"/>
                </a:schemeClr>
              </a:solidFill>
            </a:endParaRPr>
          </a:p>
          <a:p>
            <a:r>
              <a:rPr lang="en-US" sz="1600" dirty="0">
                <a:solidFill>
                  <a:schemeClr val="bg1">
                    <a:lumMod val="65000"/>
                  </a:schemeClr>
                </a:solidFill>
              </a:rPr>
              <a:t>(10 mins)</a:t>
            </a:r>
          </a:p>
        </p:txBody>
      </p:sp>
    </p:spTree>
    <p:extLst>
      <p:ext uri="{BB962C8B-B14F-4D97-AF65-F5344CB8AC3E}">
        <p14:creationId xmlns:p14="http://schemas.microsoft.com/office/powerpoint/2010/main" val="19644230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BE94A-06AB-7364-4D56-9C224B319D6E}"/>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647E63E0-BE59-1B38-C508-B5A722FE48F4}"/>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30" eaLnBrk="1" fontAlgn="auto" hangingPunct="1">
              <a:spcBef>
                <a:spcPts val="0"/>
              </a:spcBef>
              <a:spcAft>
                <a:spcPts val="0"/>
              </a:spcAft>
              <a:defRPr/>
            </a:pPr>
            <a:endParaRPr lang="en-GB" sz="1200">
              <a:solidFill>
                <a:prstClr val="black"/>
              </a:solidFill>
              <a:latin typeface="DM Sans" pitchFamily="2" charset="0"/>
              <a:ea typeface="+mn-ea"/>
            </a:endParaRPr>
          </a:p>
        </p:txBody>
      </p:sp>
      <p:sp>
        <p:nvSpPr>
          <p:cNvPr id="5" name="TextBox 14">
            <a:extLst>
              <a:ext uri="{FF2B5EF4-FFF2-40B4-BE49-F238E27FC236}">
                <a16:creationId xmlns:a16="http://schemas.microsoft.com/office/drawing/2014/main" id="{9A627D29-3BE7-DD5A-AFDC-3E70C391D6F7}"/>
              </a:ext>
            </a:extLst>
          </p:cNvPr>
          <p:cNvSpPr txBox="1"/>
          <p:nvPr/>
        </p:nvSpPr>
        <p:spPr>
          <a:xfrm>
            <a:off x="778085" y="1273997"/>
            <a:ext cx="7336552" cy="589905"/>
          </a:xfrm>
          <a:prstGeom prst="rect">
            <a:avLst/>
          </a:prstGeom>
        </p:spPr>
        <p:txBody>
          <a:bodyPr wrap="square" lIns="0" tIns="0" rIns="0" bIns="0" rtlCol="0" anchor="t">
            <a:spAutoFit/>
          </a:bodyPr>
          <a:lstStyle/>
          <a:p>
            <a:pPr defTabSz="609630" eaLnBrk="1" fontAlgn="auto" hangingPunct="1">
              <a:lnSpc>
                <a:spcPts val="4573"/>
              </a:lnSpc>
              <a:spcBef>
                <a:spcPts val="0"/>
              </a:spcBef>
              <a:spcAft>
                <a:spcPts val="0"/>
              </a:spcAft>
              <a:defRPr/>
            </a:pPr>
            <a:r>
              <a:rPr lang="en-GB" sz="4000" i="1" spc="-275" dirty="0">
                <a:solidFill>
                  <a:srgbClr val="46245A"/>
                </a:solidFill>
                <a:latin typeface="DM Sans Bold"/>
                <a:ea typeface="+mn-ea"/>
              </a:rPr>
              <a:t>Submitted Questions - Scientific  </a:t>
            </a:r>
            <a:endParaRPr lang="en-US" sz="4000" i="1" spc="-275" dirty="0">
              <a:solidFill>
                <a:srgbClr val="46245A"/>
              </a:solidFill>
              <a:latin typeface="DM Sans Bold"/>
              <a:ea typeface="+mn-ea"/>
            </a:endParaRPr>
          </a:p>
        </p:txBody>
      </p:sp>
      <p:sp>
        <p:nvSpPr>
          <p:cNvPr id="2" name="TextBox 1">
            <a:extLst>
              <a:ext uri="{FF2B5EF4-FFF2-40B4-BE49-F238E27FC236}">
                <a16:creationId xmlns:a16="http://schemas.microsoft.com/office/drawing/2014/main" id="{3BE19965-10EF-93F8-540C-BF39C931E37F}"/>
              </a:ext>
            </a:extLst>
          </p:cNvPr>
          <p:cNvSpPr txBox="1"/>
          <p:nvPr/>
        </p:nvSpPr>
        <p:spPr>
          <a:xfrm>
            <a:off x="778085" y="2871629"/>
            <a:ext cx="10944985" cy="1754326"/>
          </a:xfrm>
          <a:prstGeom prst="rect">
            <a:avLst/>
          </a:prstGeom>
          <a:noFill/>
        </p:spPr>
        <p:txBody>
          <a:bodyPr wrap="square">
            <a:spAutoFit/>
          </a:bodyPr>
          <a:lstStyle/>
          <a:p>
            <a:r>
              <a:rPr lang="en-GB" b="1" kern="0" dirty="0">
                <a:solidFill>
                  <a:srgbClr val="1C2029"/>
                </a:solidFill>
                <a:latin typeface="Calibri" panose="020F0502020204030204" pitchFamily="34" charset="0"/>
                <a:ea typeface="Aptos" panose="020B0004020202020204" pitchFamily="34" charset="0"/>
                <a:cs typeface="Calibri" panose="020F0502020204030204" pitchFamily="34" charset="0"/>
              </a:rPr>
              <a:t>3. Global Climate Models </a:t>
            </a:r>
          </a:p>
          <a:p>
            <a:endParaRPr lang="en-GB" b="1" kern="0" dirty="0">
              <a:solidFill>
                <a:srgbClr val="1C2029"/>
              </a:solidFill>
              <a:latin typeface="Calibri" panose="020F0502020204030204" pitchFamily="34" charset="0"/>
              <a:ea typeface="Aptos" panose="020B0004020202020204" pitchFamily="34" charset="0"/>
              <a:cs typeface="Calibri" panose="020F0502020204030204" pitchFamily="34" charset="0"/>
            </a:endParaRPr>
          </a:p>
          <a:p>
            <a:pPr marL="285750" indent="-285750">
              <a:buFont typeface="Arial" panose="020B0604020202020204" pitchFamily="34" charset="0"/>
              <a:buChar char="•"/>
            </a:pPr>
            <a:r>
              <a:rPr lang="en-GB" dirty="0">
                <a:latin typeface="Calibri" panose="020F0502020204030204" pitchFamily="34" charset="0"/>
                <a:cs typeface="Calibri" panose="020F0502020204030204" pitchFamily="34" charset="0"/>
              </a:rPr>
              <a:t>GCMs coupling and uncertainties. </a:t>
            </a:r>
          </a:p>
          <a:p>
            <a:pPr marL="285750" indent="-285750">
              <a:buFont typeface="Arial" panose="020B0604020202020204" pitchFamily="34" charset="0"/>
              <a:buChar char="•"/>
            </a:pPr>
            <a:endParaRPr lang="en-GB"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dirty="0">
                <a:latin typeface="Calibri" panose="020F0502020204030204" pitchFamily="34" charset="0"/>
                <a:cs typeface="Calibri" panose="020F0502020204030204" pitchFamily="34" charset="0"/>
              </a:rPr>
              <a:t>How to talk about the climate change models in exam questions</a:t>
            </a:r>
          </a:p>
          <a:p>
            <a:endParaRPr lang="en-GB" b="1" kern="0" dirty="0">
              <a:solidFill>
                <a:srgbClr val="1C2029"/>
              </a:solidFill>
              <a:latin typeface="Calibri" panose="020F0502020204030204" pitchFamily="34" charset="0"/>
              <a:ea typeface="Aptos" panose="020B0004020202020204" pitchFamily="34" charset="0"/>
              <a:cs typeface="Calibri" panose="020F0502020204030204" pitchFamily="34" charset="0"/>
            </a:endParaRPr>
          </a:p>
        </p:txBody>
      </p:sp>
    </p:spTree>
    <p:extLst>
      <p:ext uri="{BB962C8B-B14F-4D97-AF65-F5344CB8AC3E}">
        <p14:creationId xmlns:p14="http://schemas.microsoft.com/office/powerpoint/2010/main" val="10464255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77240" y="960120"/>
            <a:ext cx="4825232" cy="615553"/>
          </a:xfrm>
          <a:prstGeom prst="rect">
            <a:avLst/>
          </a:prstGeom>
          <a:noFill/>
        </p:spPr>
        <p:txBody>
          <a:bodyPr wrap="none" lIns="0" tIns="0" rIns="0" bIns="0">
            <a:spAutoFit/>
          </a:bodyPr>
          <a:lstStyle/>
          <a:p>
            <a:r>
              <a:rPr lang="en-GB" sz="4000" b="1" i="1" dirty="0">
                <a:solidFill>
                  <a:srgbClr val="002060"/>
                </a:solidFill>
                <a:latin typeface="Calibri"/>
              </a:rPr>
              <a:t>Global Climate Models</a:t>
            </a:r>
            <a:endParaRPr sz="4000" i="1" dirty="0">
              <a:solidFill>
                <a:srgbClr val="002060"/>
              </a:solidFill>
              <a:latin typeface="DM Sans Bold"/>
            </a:endParaRPr>
          </a:p>
        </p:txBody>
      </p:sp>
      <p:sp>
        <p:nvSpPr>
          <p:cNvPr id="6" name="TextBox 5"/>
          <p:cNvSpPr txBox="1"/>
          <p:nvPr/>
        </p:nvSpPr>
        <p:spPr>
          <a:xfrm>
            <a:off x="784097" y="1969745"/>
            <a:ext cx="4097468" cy="276999"/>
          </a:xfrm>
          <a:prstGeom prst="rect">
            <a:avLst/>
          </a:prstGeom>
          <a:noFill/>
        </p:spPr>
        <p:txBody>
          <a:bodyPr wrap="none" lIns="0" tIns="0" rIns="0" bIns="0">
            <a:spAutoFit/>
          </a:bodyPr>
          <a:lstStyle/>
          <a:p>
            <a:r>
              <a:rPr dirty="0">
                <a:solidFill>
                  <a:srgbClr val="000000"/>
                </a:solidFill>
                <a:latin typeface="Calibri"/>
              </a:rPr>
              <a:t>Question: GCMs coupling and uncertainties</a:t>
            </a:r>
            <a:r>
              <a:rPr sz="1050" dirty="0">
                <a:solidFill>
                  <a:srgbClr val="000000"/>
                </a:solidFill>
                <a:latin typeface="Calibri"/>
              </a:rPr>
              <a:t>.</a:t>
            </a:r>
          </a:p>
        </p:txBody>
      </p:sp>
      <p:sp>
        <p:nvSpPr>
          <p:cNvPr id="7" name="Rectangle 6"/>
          <p:cNvSpPr/>
          <p:nvPr/>
        </p:nvSpPr>
        <p:spPr>
          <a:xfrm>
            <a:off x="784097" y="2569463"/>
            <a:ext cx="73152" cy="530352"/>
          </a:xfrm>
          <a:prstGeom prst="rect">
            <a:avLst/>
          </a:prstGeom>
          <a:solidFill>
            <a:srgbClr val="F5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93825" y="2569463"/>
            <a:ext cx="4869181" cy="530352"/>
          </a:xfrm>
          <a:prstGeom prst="rect">
            <a:avLst/>
          </a:prstGeom>
          <a:solidFill>
            <a:srgbClr val="F1ECF5"/>
          </a:solidFill>
          <a:ln>
            <a:solidFill>
              <a:srgbClr val="E3D8EA"/>
            </a:solidFill>
          </a:ln>
        </p:spPr>
        <p:style>
          <a:lnRef idx="1">
            <a:schemeClr val="accent1"/>
          </a:lnRef>
          <a:fillRef idx="3">
            <a:schemeClr val="accent1"/>
          </a:fillRef>
          <a:effectRef idx="2">
            <a:schemeClr val="accent1"/>
          </a:effectRef>
          <a:fontRef idx="minor">
            <a:schemeClr val="lt1"/>
          </a:fontRef>
        </p:style>
        <p:txBody>
          <a:bodyPr wrap="square" lIns="118872" tIns="36576" rIns="73152" bIns="36576" rtlCol="0" anchor="ctr"/>
          <a:lstStyle/>
          <a:p>
            <a:pPr algn="ctr"/>
            <a:r>
              <a:rPr sz="1680" b="1" dirty="0">
                <a:solidFill>
                  <a:srgbClr val="46245A"/>
                </a:solidFill>
                <a:latin typeface="Calibri"/>
              </a:rPr>
              <a:t>Coupling means model components exchange fluxes so feedbacks can evolve together.</a:t>
            </a:r>
          </a:p>
        </p:txBody>
      </p:sp>
      <p:sp>
        <p:nvSpPr>
          <p:cNvPr id="9" name="TextBox 8"/>
          <p:cNvSpPr txBox="1"/>
          <p:nvPr/>
        </p:nvSpPr>
        <p:spPr>
          <a:xfrm>
            <a:off x="868680" y="3468254"/>
            <a:ext cx="4965191" cy="2060564"/>
          </a:xfrm>
          <a:prstGeom prst="rect">
            <a:avLst/>
          </a:prstGeom>
          <a:noFill/>
        </p:spPr>
        <p:txBody>
          <a:bodyPr wrap="square" lIns="0" tIns="0" rIns="0" bIns="0">
            <a:spAutoFit/>
          </a:bodyPr>
          <a:lstStyle/>
          <a:p>
            <a:pPr marL="285750" indent="-285750">
              <a:spcAft>
                <a:spcPts val="300"/>
              </a:spcAft>
              <a:buFont typeface="Arial" panose="020B0604020202020204" pitchFamily="34" charset="0"/>
              <a:buChar char="•"/>
            </a:pPr>
            <a:r>
              <a:rPr sz="1580" dirty="0">
                <a:solidFill>
                  <a:srgbClr val="1C2029"/>
                </a:solidFill>
                <a:latin typeface="Calibri"/>
              </a:rPr>
              <a:t>A coupled GCM links atmosphere, ocean, land and sea ice modules on different grids/timesteps.</a:t>
            </a:r>
          </a:p>
          <a:p>
            <a:pPr marL="285750" indent="-285750">
              <a:spcAft>
                <a:spcPts val="300"/>
              </a:spcAft>
              <a:buFont typeface="Arial" panose="020B0604020202020204" pitchFamily="34" charset="0"/>
              <a:buChar char="•"/>
            </a:pPr>
            <a:r>
              <a:rPr sz="1580" dirty="0">
                <a:solidFill>
                  <a:srgbClr val="1C2029"/>
                </a:solidFill>
                <a:latin typeface="Calibri"/>
              </a:rPr>
              <a:t>The coupler passes energy, water, momentum and sometimes carbon between components.</a:t>
            </a:r>
          </a:p>
          <a:p>
            <a:pPr marL="285750" indent="-285750">
              <a:spcAft>
                <a:spcPts val="300"/>
              </a:spcAft>
              <a:buFont typeface="Arial" panose="020B0604020202020204" pitchFamily="34" charset="0"/>
              <a:buChar char="•"/>
            </a:pPr>
            <a:r>
              <a:rPr sz="1580" dirty="0">
                <a:solidFill>
                  <a:srgbClr val="1C2029"/>
                </a:solidFill>
                <a:latin typeface="Calibri"/>
              </a:rPr>
              <a:t>This captures feedbacks: ocean heat uptake, sea-ice albedo, clouds and land-surface changes.</a:t>
            </a:r>
          </a:p>
          <a:p>
            <a:pPr marL="285750" indent="-285750">
              <a:spcAft>
                <a:spcPts val="300"/>
              </a:spcAft>
              <a:buFont typeface="Arial" panose="020B0604020202020204" pitchFamily="34" charset="0"/>
              <a:buChar char="•"/>
            </a:pPr>
            <a:r>
              <a:rPr sz="1580" dirty="0">
                <a:solidFill>
                  <a:srgbClr val="1C2029"/>
                </a:solidFill>
                <a:latin typeface="Calibri"/>
              </a:rPr>
              <a:t>Trade-off: more realistic interactions, but more parameters and greater computing cost.</a:t>
            </a:r>
          </a:p>
        </p:txBody>
      </p:sp>
      <p:sp>
        <p:nvSpPr>
          <p:cNvPr id="11" name="Rectangle 10"/>
          <p:cNvSpPr/>
          <p:nvPr/>
        </p:nvSpPr>
        <p:spPr>
          <a:xfrm>
            <a:off x="6241543" y="1874518"/>
            <a:ext cx="5166360" cy="4187952"/>
          </a:xfrm>
          <a:prstGeom prst="rect">
            <a:avLst/>
          </a:prstGeom>
          <a:solidFill>
            <a:srgbClr val="FBFCFD"/>
          </a:solidFill>
          <a:ln>
            <a:solidFill>
              <a:srgbClr val="D8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70143" y="2039111"/>
            <a:ext cx="4709160" cy="274320"/>
          </a:xfrm>
          <a:prstGeom prst="rect">
            <a:avLst/>
          </a:prstGeom>
          <a:noFill/>
        </p:spPr>
        <p:txBody>
          <a:bodyPr wrap="square" lIns="0" tIns="0" rIns="0" bIns="0">
            <a:spAutoFit/>
          </a:bodyPr>
          <a:lstStyle/>
          <a:p>
            <a:pPr algn="ctr"/>
            <a:r>
              <a:rPr sz="1400" b="1" i="0">
                <a:solidFill>
                  <a:srgbClr val="46245A"/>
                </a:solidFill>
                <a:latin typeface="Calibri"/>
              </a:rPr>
              <a:t>What is coupled in a modern GCM?</a:t>
            </a:r>
          </a:p>
        </p:txBody>
      </p:sp>
      <p:cxnSp>
        <p:nvCxnSpPr>
          <p:cNvPr id="13" name="Connector 12"/>
          <p:cNvCxnSpPr/>
          <p:nvPr/>
        </p:nvCxnSpPr>
        <p:spPr>
          <a:xfrm flipV="1">
            <a:off x="8824722" y="2706623"/>
            <a:ext cx="0" cy="1243584"/>
          </a:xfrm>
          <a:prstGeom prst="line">
            <a:avLst/>
          </a:prstGeom>
          <a:ln w="21590">
            <a:solidFill>
              <a:srgbClr val="2F74B5"/>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824722" y="3950207"/>
            <a:ext cx="0" cy="1207008"/>
          </a:xfrm>
          <a:prstGeom prst="line">
            <a:avLst/>
          </a:prstGeom>
          <a:ln w="21590">
            <a:solidFill>
              <a:srgbClr val="2F74B5"/>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7251954" y="3950207"/>
            <a:ext cx="1572768" cy="64007"/>
          </a:xfrm>
          <a:prstGeom prst="line">
            <a:avLst/>
          </a:prstGeom>
          <a:ln w="21590">
            <a:solidFill>
              <a:srgbClr val="589443"/>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824722" y="3950207"/>
            <a:ext cx="1554481" cy="64007"/>
          </a:xfrm>
          <a:prstGeom prst="line">
            <a:avLst/>
          </a:prstGeom>
          <a:ln w="21590">
            <a:solidFill>
              <a:srgbClr val="2F969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flipV="1">
            <a:off x="7315963" y="2953510"/>
            <a:ext cx="1508759" cy="996697"/>
          </a:xfrm>
          <a:prstGeom prst="line">
            <a:avLst/>
          </a:prstGeom>
          <a:ln w="21590">
            <a:solidFill>
              <a:srgbClr val="46245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9487662" y="2587751"/>
            <a:ext cx="1143000" cy="914400"/>
          </a:xfrm>
          <a:prstGeom prst="line">
            <a:avLst/>
          </a:prstGeom>
          <a:ln w="22860">
            <a:solidFill>
              <a:srgbClr val="E46C0A"/>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9487662" y="2715767"/>
            <a:ext cx="1143000" cy="1170432"/>
          </a:xfrm>
          <a:prstGeom prst="line">
            <a:avLst/>
          </a:prstGeom>
          <a:ln w="22860">
            <a:solidFill>
              <a:srgbClr val="E46C0A"/>
            </a:solidFill>
            <a:prstDash val="dash"/>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116062" y="3575303"/>
            <a:ext cx="1417320" cy="749808"/>
          </a:xfrm>
          <a:prstGeom prst="roundRect">
            <a:avLst/>
          </a:prstGeom>
          <a:solidFill>
            <a:srgbClr val="46245A"/>
          </a:solidFill>
          <a:ln>
            <a:solidFill>
              <a:srgbClr val="46245A"/>
            </a:solidFill>
          </a:ln>
        </p:spPr>
        <p:style>
          <a:lnRef idx="1">
            <a:schemeClr val="accent1"/>
          </a:lnRef>
          <a:fillRef idx="3">
            <a:schemeClr val="accent1"/>
          </a:fillRef>
          <a:effectRef idx="2">
            <a:schemeClr val="accent1"/>
          </a:effectRef>
          <a:fontRef idx="minor">
            <a:schemeClr val="lt1"/>
          </a:fontRef>
        </p:style>
        <p:txBody>
          <a:bodyPr lIns="54864" tIns="36576" rIns="54864" bIns="27432" rtlCol="0" anchor="ctr"/>
          <a:lstStyle/>
          <a:p>
            <a:pPr algn="ctr"/>
            <a:r>
              <a:rPr sz="1110" b="1">
                <a:solidFill>
                  <a:srgbClr val="FFFFFF"/>
                </a:solidFill>
                <a:latin typeface="Calibri"/>
              </a:rPr>
              <a:t>COUPLER
exchanges fluxes
at each time step</a:t>
            </a:r>
          </a:p>
        </p:txBody>
      </p:sp>
      <p:sp>
        <p:nvSpPr>
          <p:cNvPr id="21" name="Rounded Rectangle 20"/>
          <p:cNvSpPr/>
          <p:nvPr/>
        </p:nvSpPr>
        <p:spPr>
          <a:xfrm>
            <a:off x="8116062" y="2441447"/>
            <a:ext cx="1417320" cy="530352"/>
          </a:xfrm>
          <a:prstGeom prst="roundRect">
            <a:avLst/>
          </a:prstGeom>
          <a:solidFill>
            <a:srgbClr val="E8F3FA"/>
          </a:solidFill>
          <a:ln>
            <a:solidFill>
              <a:srgbClr val="2F74B5"/>
            </a:solidFill>
          </a:ln>
        </p:spPr>
        <p:style>
          <a:lnRef idx="1">
            <a:schemeClr val="accent1"/>
          </a:lnRef>
          <a:fillRef idx="3">
            <a:schemeClr val="accent1"/>
          </a:fillRef>
          <a:effectRef idx="2">
            <a:schemeClr val="accent1"/>
          </a:effectRef>
          <a:fontRef idx="minor">
            <a:schemeClr val="lt1"/>
          </a:fontRef>
        </p:style>
        <p:txBody>
          <a:bodyPr lIns="54864" tIns="36576" rIns="54864" bIns="27432" rtlCol="0" anchor="ctr"/>
          <a:lstStyle/>
          <a:p>
            <a:pPr algn="ctr"/>
            <a:r>
              <a:rPr sz="1090" b="1">
                <a:solidFill>
                  <a:srgbClr val="1C2029"/>
                </a:solidFill>
                <a:latin typeface="Calibri"/>
              </a:rPr>
              <a:t>Atmosphere
clouds, winds</a:t>
            </a:r>
          </a:p>
        </p:txBody>
      </p:sp>
      <p:sp>
        <p:nvSpPr>
          <p:cNvPr id="22" name="Rounded Rectangle 21"/>
          <p:cNvSpPr/>
          <p:nvPr/>
        </p:nvSpPr>
        <p:spPr>
          <a:xfrm>
            <a:off x="8116062" y="4892039"/>
            <a:ext cx="1417320" cy="530352"/>
          </a:xfrm>
          <a:prstGeom prst="roundRect">
            <a:avLst/>
          </a:prstGeom>
          <a:solidFill>
            <a:srgbClr val="E2EEF8"/>
          </a:solidFill>
          <a:ln>
            <a:solidFill>
              <a:srgbClr val="2F74B5"/>
            </a:solidFill>
          </a:ln>
        </p:spPr>
        <p:style>
          <a:lnRef idx="1">
            <a:schemeClr val="accent1"/>
          </a:lnRef>
          <a:fillRef idx="3">
            <a:schemeClr val="accent1"/>
          </a:fillRef>
          <a:effectRef idx="2">
            <a:schemeClr val="accent1"/>
          </a:effectRef>
          <a:fontRef idx="minor">
            <a:schemeClr val="lt1"/>
          </a:fontRef>
        </p:style>
        <p:txBody>
          <a:bodyPr lIns="54864" tIns="36576" rIns="54864" bIns="27432" rtlCol="0" anchor="ctr"/>
          <a:lstStyle/>
          <a:p>
            <a:pPr algn="ctr"/>
            <a:r>
              <a:rPr sz="1090" b="1">
                <a:solidFill>
                  <a:srgbClr val="1C2029"/>
                </a:solidFill>
                <a:latin typeface="Calibri"/>
              </a:rPr>
              <a:t>Ocean
heat uptake</a:t>
            </a:r>
          </a:p>
        </p:txBody>
      </p:sp>
      <p:sp>
        <p:nvSpPr>
          <p:cNvPr id="23" name="Rounded Rectangle 22"/>
          <p:cNvSpPr/>
          <p:nvPr/>
        </p:nvSpPr>
        <p:spPr>
          <a:xfrm>
            <a:off x="6589015" y="3749038"/>
            <a:ext cx="1325880" cy="530352"/>
          </a:xfrm>
          <a:prstGeom prst="roundRect">
            <a:avLst/>
          </a:prstGeom>
          <a:solidFill>
            <a:srgbClr val="E7F1E3"/>
          </a:solidFill>
          <a:ln>
            <a:solidFill>
              <a:srgbClr val="589443"/>
            </a:solidFill>
          </a:ln>
        </p:spPr>
        <p:style>
          <a:lnRef idx="1">
            <a:schemeClr val="accent1"/>
          </a:lnRef>
          <a:fillRef idx="3">
            <a:schemeClr val="accent1"/>
          </a:fillRef>
          <a:effectRef idx="2">
            <a:schemeClr val="accent1"/>
          </a:effectRef>
          <a:fontRef idx="minor">
            <a:schemeClr val="lt1"/>
          </a:fontRef>
        </p:style>
        <p:txBody>
          <a:bodyPr lIns="54864" tIns="36576" rIns="54864" bIns="27432" rtlCol="0" anchor="ctr"/>
          <a:lstStyle/>
          <a:p>
            <a:pPr algn="ctr"/>
            <a:r>
              <a:rPr sz="1090" b="1">
                <a:solidFill>
                  <a:srgbClr val="1C2029"/>
                </a:solidFill>
                <a:latin typeface="Calibri"/>
              </a:rPr>
              <a:t>Land
soil + water</a:t>
            </a:r>
          </a:p>
        </p:txBody>
      </p:sp>
      <p:sp>
        <p:nvSpPr>
          <p:cNvPr id="24" name="Rounded Rectangle 23"/>
          <p:cNvSpPr/>
          <p:nvPr/>
        </p:nvSpPr>
        <p:spPr>
          <a:xfrm>
            <a:off x="9761983" y="3749038"/>
            <a:ext cx="1234440" cy="530352"/>
          </a:xfrm>
          <a:prstGeom prst="roundRect">
            <a:avLst/>
          </a:prstGeom>
          <a:solidFill>
            <a:srgbClr val="EFF6F8"/>
          </a:solidFill>
          <a:ln>
            <a:solidFill>
              <a:srgbClr val="2F969A"/>
            </a:solidFill>
          </a:ln>
        </p:spPr>
        <p:style>
          <a:lnRef idx="1">
            <a:schemeClr val="accent1"/>
          </a:lnRef>
          <a:fillRef idx="3">
            <a:schemeClr val="accent1"/>
          </a:fillRef>
          <a:effectRef idx="2">
            <a:schemeClr val="accent1"/>
          </a:effectRef>
          <a:fontRef idx="minor">
            <a:schemeClr val="lt1"/>
          </a:fontRef>
        </p:style>
        <p:txBody>
          <a:bodyPr lIns="54864" tIns="36576" rIns="54864" bIns="27432" rtlCol="0" anchor="ctr"/>
          <a:lstStyle/>
          <a:p>
            <a:pPr algn="ctr"/>
            <a:r>
              <a:rPr sz="1090" b="1">
                <a:solidFill>
                  <a:srgbClr val="1C2029"/>
                </a:solidFill>
                <a:latin typeface="Calibri"/>
              </a:rPr>
              <a:t>Sea ice
albedo</a:t>
            </a:r>
          </a:p>
        </p:txBody>
      </p:sp>
      <p:sp>
        <p:nvSpPr>
          <p:cNvPr id="25" name="Rounded Rectangle 24"/>
          <p:cNvSpPr/>
          <p:nvPr/>
        </p:nvSpPr>
        <p:spPr>
          <a:xfrm>
            <a:off x="6607303" y="2660902"/>
            <a:ext cx="1417320" cy="585216"/>
          </a:xfrm>
          <a:prstGeom prst="roundRect">
            <a:avLst/>
          </a:prstGeom>
          <a:solidFill>
            <a:srgbClr val="F1ECF5"/>
          </a:solidFill>
          <a:ln>
            <a:solidFill>
              <a:srgbClr val="46245A"/>
            </a:solidFill>
          </a:ln>
        </p:spPr>
        <p:style>
          <a:lnRef idx="1">
            <a:schemeClr val="accent1"/>
          </a:lnRef>
          <a:fillRef idx="3">
            <a:schemeClr val="accent1"/>
          </a:fillRef>
          <a:effectRef idx="2">
            <a:schemeClr val="accent1"/>
          </a:effectRef>
          <a:fontRef idx="minor">
            <a:schemeClr val="lt1"/>
          </a:fontRef>
        </p:style>
        <p:txBody>
          <a:bodyPr lIns="54864" tIns="36576" rIns="54864" bIns="27432" rtlCol="0" anchor="ctr"/>
          <a:lstStyle/>
          <a:p>
            <a:pPr algn="ctr"/>
            <a:r>
              <a:rPr sz="1090" b="1">
                <a:solidFill>
                  <a:srgbClr val="1C2029"/>
                </a:solidFill>
                <a:latin typeface="Calibri"/>
              </a:rPr>
              <a:t>Carbon / aerosols
optional in ESMs</a:t>
            </a:r>
          </a:p>
        </p:txBody>
      </p:sp>
      <p:sp>
        <p:nvSpPr>
          <p:cNvPr id="26" name="Rounded Rectangle 25"/>
          <p:cNvSpPr/>
          <p:nvPr/>
        </p:nvSpPr>
        <p:spPr>
          <a:xfrm>
            <a:off x="9899143" y="2285999"/>
            <a:ext cx="1143000" cy="585216"/>
          </a:xfrm>
          <a:prstGeom prst="roundRect">
            <a:avLst/>
          </a:prstGeom>
          <a:solidFill>
            <a:srgbClr val="FFEDDE"/>
          </a:solidFill>
          <a:ln>
            <a:solidFill>
              <a:srgbClr val="FFEDDE"/>
            </a:solidFill>
          </a:ln>
        </p:spPr>
        <p:style>
          <a:lnRef idx="1">
            <a:schemeClr val="accent1"/>
          </a:lnRef>
          <a:fillRef idx="3">
            <a:schemeClr val="accent1"/>
          </a:fillRef>
          <a:effectRef idx="2">
            <a:schemeClr val="accent1"/>
          </a:effectRef>
          <a:fontRef idx="minor">
            <a:schemeClr val="lt1"/>
          </a:fontRef>
        </p:style>
        <p:txBody>
          <a:bodyPr lIns="64008" tIns="18288" rIns="64008" bIns="18288" rtlCol="0" anchor="ctr"/>
          <a:lstStyle/>
          <a:p>
            <a:pPr algn="ctr"/>
            <a:r>
              <a:rPr sz="940" b="1">
                <a:solidFill>
                  <a:srgbClr val="E46C0A"/>
                </a:solidFill>
                <a:latin typeface="Calibri"/>
              </a:rPr>
              <a:t>external forcings
GHGs • solar • volcanoes</a:t>
            </a:r>
          </a:p>
        </p:txBody>
      </p:sp>
      <p:sp>
        <p:nvSpPr>
          <p:cNvPr id="27" name="Rounded Rectangle 26"/>
          <p:cNvSpPr/>
          <p:nvPr/>
        </p:nvSpPr>
        <p:spPr>
          <a:xfrm>
            <a:off x="8207501" y="3099814"/>
            <a:ext cx="502920" cy="21945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lIns="64008" tIns="18288" rIns="64008" bIns="18288" rtlCol="0" anchor="ctr"/>
          <a:lstStyle/>
          <a:p>
            <a:pPr algn="ctr"/>
            <a:r>
              <a:rPr sz="900" b="1">
                <a:solidFill>
                  <a:srgbClr val="2F74B5"/>
                </a:solidFill>
                <a:latin typeface="Calibri"/>
              </a:rPr>
              <a:t>heat</a:t>
            </a:r>
          </a:p>
        </p:txBody>
      </p:sp>
      <p:sp>
        <p:nvSpPr>
          <p:cNvPr id="28" name="Rounded Rectangle 27"/>
          <p:cNvSpPr/>
          <p:nvPr/>
        </p:nvSpPr>
        <p:spPr>
          <a:xfrm>
            <a:off x="8951214" y="3093826"/>
            <a:ext cx="536442" cy="201167"/>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lIns="64008" tIns="18288" rIns="64008" bIns="18288" rtlCol="0" anchor="ctr"/>
          <a:lstStyle/>
          <a:p>
            <a:pPr algn="ctr"/>
            <a:r>
              <a:rPr sz="900" b="1">
                <a:solidFill>
                  <a:srgbClr val="2F74B5"/>
                </a:solidFill>
                <a:latin typeface="Calibri"/>
              </a:rPr>
              <a:t>water</a:t>
            </a:r>
          </a:p>
        </p:txBody>
      </p:sp>
      <p:sp>
        <p:nvSpPr>
          <p:cNvPr id="29" name="Rounded Rectangle 28"/>
          <p:cNvSpPr/>
          <p:nvPr/>
        </p:nvSpPr>
        <p:spPr>
          <a:xfrm>
            <a:off x="7738319" y="4401102"/>
            <a:ext cx="841248" cy="21945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lIns="64008" tIns="18288" rIns="64008" bIns="18288" rtlCol="0" anchor="ctr"/>
          <a:lstStyle/>
          <a:p>
            <a:pPr algn="ctr"/>
            <a:r>
              <a:rPr sz="880" b="1">
                <a:solidFill>
                  <a:srgbClr val="5F636B"/>
                </a:solidFill>
                <a:latin typeface="Calibri"/>
              </a:rPr>
              <a:t>momentum</a:t>
            </a:r>
          </a:p>
        </p:txBody>
      </p:sp>
      <p:sp>
        <p:nvSpPr>
          <p:cNvPr id="30" name="Rounded Rectangle 29"/>
          <p:cNvSpPr/>
          <p:nvPr/>
        </p:nvSpPr>
        <p:spPr>
          <a:xfrm>
            <a:off x="9146496" y="4401102"/>
            <a:ext cx="502920" cy="21945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lIns="64008" tIns="18288" rIns="64008" bIns="18288" rtlCol="0" anchor="ctr"/>
          <a:lstStyle/>
          <a:p>
            <a:pPr algn="ctr"/>
            <a:r>
              <a:rPr sz="900" b="1">
                <a:solidFill>
                  <a:srgbClr val="589443"/>
                </a:solidFill>
                <a:latin typeface="Calibri"/>
              </a:rPr>
              <a:t>CO2</a:t>
            </a:r>
          </a:p>
        </p:txBody>
      </p:sp>
      <p:sp>
        <p:nvSpPr>
          <p:cNvPr id="31" name="Rectangle 30"/>
          <p:cNvSpPr/>
          <p:nvPr/>
        </p:nvSpPr>
        <p:spPr>
          <a:xfrm>
            <a:off x="6497575" y="5623558"/>
            <a:ext cx="4654296" cy="320040"/>
          </a:xfrm>
          <a:prstGeom prst="rect">
            <a:avLst/>
          </a:prstGeom>
          <a:solidFill>
            <a:srgbClr val="F1ECF5"/>
          </a:solidFill>
          <a:ln>
            <a:solidFill>
              <a:srgbClr val="E3D8EA"/>
            </a:solidFill>
          </a:ln>
        </p:spPr>
        <p:style>
          <a:lnRef idx="1">
            <a:schemeClr val="accent1"/>
          </a:lnRef>
          <a:fillRef idx="3">
            <a:schemeClr val="accent1"/>
          </a:fillRef>
          <a:effectRef idx="2">
            <a:schemeClr val="accent1"/>
          </a:effectRef>
          <a:fontRef idx="minor">
            <a:schemeClr val="lt1"/>
          </a:fontRef>
        </p:style>
        <p:txBody>
          <a:bodyPr lIns="54864" tIns="18288" rIns="54864" bIns="18288" rtlCol="0" anchor="ctr"/>
          <a:lstStyle/>
          <a:p>
            <a:pPr algn="ctr"/>
            <a:r>
              <a:rPr sz="980" b="1">
                <a:solidFill>
                  <a:srgbClr val="46245A"/>
                </a:solidFill>
                <a:latin typeface="Calibri"/>
              </a:rPr>
              <a:t>Coupling allows feedbacks: ocean heat uptake | ice-albedo | clouds/aerosols | carbon cycle</a:t>
            </a:r>
          </a:p>
        </p:txBody>
      </p:sp>
      <p:pic>
        <p:nvPicPr>
          <p:cNvPr id="33" name="Picture 32" descr="uom_logo_crop.png"/>
          <p:cNvPicPr>
            <a:picLocks noChangeAspect="1"/>
          </p:cNvPicPr>
          <p:nvPr/>
        </p:nvPicPr>
        <p:blipFill>
          <a:blip r:embed="rId3"/>
          <a:stretch>
            <a:fillRect/>
          </a:stretch>
        </p:blipFill>
        <p:spPr>
          <a:xfrm>
            <a:off x="9427464" y="374904"/>
            <a:ext cx="2039112" cy="77724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716404" y="1840580"/>
            <a:ext cx="5878540" cy="276999"/>
          </a:xfrm>
          <a:prstGeom prst="rect">
            <a:avLst/>
          </a:prstGeom>
          <a:noFill/>
        </p:spPr>
        <p:txBody>
          <a:bodyPr wrap="square" lIns="0" tIns="0" rIns="0" bIns="0">
            <a:spAutoFit/>
          </a:bodyPr>
          <a:lstStyle/>
          <a:p>
            <a:r>
              <a:rPr dirty="0">
                <a:solidFill>
                  <a:srgbClr val="000000"/>
                </a:solidFill>
                <a:latin typeface="Calibri"/>
              </a:rPr>
              <a:t>Question: where do climate model uncertainties come from?</a:t>
            </a:r>
          </a:p>
        </p:txBody>
      </p:sp>
      <p:sp>
        <p:nvSpPr>
          <p:cNvPr id="7" name="Rectangle 6"/>
          <p:cNvSpPr/>
          <p:nvPr/>
        </p:nvSpPr>
        <p:spPr>
          <a:xfrm>
            <a:off x="763988" y="2447944"/>
            <a:ext cx="73152" cy="530352"/>
          </a:xfrm>
          <a:prstGeom prst="rect">
            <a:avLst/>
          </a:prstGeom>
          <a:solidFill>
            <a:srgbClr val="F5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3716" y="2447944"/>
            <a:ext cx="5212080" cy="530352"/>
          </a:xfrm>
          <a:prstGeom prst="rect">
            <a:avLst/>
          </a:prstGeom>
          <a:solidFill>
            <a:srgbClr val="F1ECF5"/>
          </a:solidFill>
          <a:ln>
            <a:solidFill>
              <a:srgbClr val="E3D8EA"/>
            </a:solidFill>
          </a:ln>
        </p:spPr>
        <p:style>
          <a:lnRef idx="1">
            <a:schemeClr val="accent1"/>
          </a:lnRef>
          <a:fillRef idx="3">
            <a:schemeClr val="accent1"/>
          </a:fillRef>
          <a:effectRef idx="2">
            <a:schemeClr val="accent1"/>
          </a:effectRef>
          <a:fontRef idx="minor">
            <a:schemeClr val="lt1"/>
          </a:fontRef>
        </p:style>
        <p:txBody>
          <a:bodyPr wrap="square" lIns="118872" tIns="36576" rIns="73152" bIns="36576" rtlCol="0" anchor="ctr"/>
          <a:lstStyle/>
          <a:p>
            <a:pPr algn="ctr"/>
            <a:r>
              <a:rPr sz="1680" b="1" dirty="0">
                <a:solidFill>
                  <a:srgbClr val="46245A"/>
                </a:solidFill>
                <a:latin typeface="Calibri"/>
              </a:rPr>
              <a:t>Model uncertainty is a range of plausible answers</a:t>
            </a:r>
          </a:p>
        </p:txBody>
      </p:sp>
      <p:sp>
        <p:nvSpPr>
          <p:cNvPr id="9" name="TextBox 8"/>
          <p:cNvSpPr txBox="1"/>
          <p:nvPr/>
        </p:nvSpPr>
        <p:spPr>
          <a:xfrm>
            <a:off x="777240" y="3308661"/>
            <a:ext cx="5305640" cy="2029968"/>
          </a:xfrm>
          <a:prstGeom prst="rect">
            <a:avLst/>
          </a:prstGeom>
          <a:noFill/>
        </p:spPr>
        <p:txBody>
          <a:bodyPr wrap="square" lIns="0" tIns="0" rIns="0" bIns="0">
            <a:spAutoFit/>
          </a:bodyPr>
          <a:lstStyle/>
          <a:p>
            <a:pPr marL="285750" indent="-285750">
              <a:spcAft>
                <a:spcPts val="300"/>
              </a:spcAft>
              <a:buFont typeface="Arial" panose="020B0604020202020204" pitchFamily="34" charset="0"/>
              <a:buChar char="•"/>
            </a:pPr>
            <a:r>
              <a:rPr sz="1570" dirty="0">
                <a:solidFill>
                  <a:srgbClr val="1C2029"/>
                </a:solidFill>
                <a:latin typeface="Calibri"/>
              </a:rPr>
              <a:t>Internal variability: </a:t>
            </a:r>
            <a:r>
              <a:rPr lang="en-GB" sz="1570" dirty="0">
                <a:solidFill>
                  <a:srgbClr val="1C2029"/>
                </a:solidFill>
                <a:latin typeface="Calibri"/>
              </a:rPr>
              <a:t>large </a:t>
            </a:r>
            <a:r>
              <a:rPr sz="1570" dirty="0">
                <a:solidFill>
                  <a:srgbClr val="1C2029"/>
                </a:solidFill>
                <a:latin typeface="Calibri"/>
              </a:rPr>
              <a:t>atmosphere-ocean variability; important for short-term/regional changes.</a:t>
            </a:r>
          </a:p>
          <a:p>
            <a:pPr marL="285750" indent="-285750">
              <a:spcAft>
                <a:spcPts val="300"/>
              </a:spcAft>
              <a:buFont typeface="Arial" panose="020B0604020202020204" pitchFamily="34" charset="0"/>
              <a:buChar char="•"/>
            </a:pPr>
            <a:r>
              <a:rPr sz="1570" dirty="0">
                <a:solidFill>
                  <a:srgbClr val="1C2029"/>
                </a:solidFill>
                <a:latin typeface="Calibri"/>
              </a:rPr>
              <a:t>Model uncertainty: different representations of clouds, aerosols, convection, ocean mixing and ice.</a:t>
            </a:r>
          </a:p>
          <a:p>
            <a:pPr marL="285750" indent="-285750">
              <a:spcAft>
                <a:spcPts val="300"/>
              </a:spcAft>
              <a:buFont typeface="Arial" panose="020B0604020202020204" pitchFamily="34" charset="0"/>
              <a:buChar char="•"/>
            </a:pPr>
            <a:r>
              <a:rPr sz="1570" dirty="0">
                <a:solidFill>
                  <a:srgbClr val="1C2029"/>
                </a:solidFill>
                <a:latin typeface="Calibri"/>
              </a:rPr>
              <a:t>Scenario uncertainty: future emissions and land-use choices; grows through the century.</a:t>
            </a:r>
          </a:p>
          <a:p>
            <a:pPr marL="285750" indent="-285750">
              <a:spcAft>
                <a:spcPts val="300"/>
              </a:spcAft>
              <a:buFont typeface="Arial" panose="020B0604020202020204" pitchFamily="34" charset="0"/>
              <a:buChar char="•"/>
            </a:pPr>
            <a:r>
              <a:rPr sz="1570" dirty="0">
                <a:solidFill>
                  <a:srgbClr val="1C2029"/>
                </a:solidFill>
                <a:latin typeface="Calibri"/>
              </a:rPr>
              <a:t>Ensembles compare many models/runs to identify robust signals and quantify spread.</a:t>
            </a:r>
          </a:p>
        </p:txBody>
      </p:sp>
      <p:sp>
        <p:nvSpPr>
          <p:cNvPr id="10" name="TextBox 9"/>
          <p:cNvSpPr txBox="1"/>
          <p:nvPr/>
        </p:nvSpPr>
        <p:spPr>
          <a:xfrm>
            <a:off x="800564" y="5620881"/>
            <a:ext cx="5433656" cy="553998"/>
          </a:xfrm>
          <a:prstGeom prst="rect">
            <a:avLst/>
          </a:prstGeom>
          <a:noFill/>
        </p:spPr>
        <p:txBody>
          <a:bodyPr wrap="square" lIns="0" tIns="0" rIns="0" bIns="0">
            <a:spAutoFit/>
          </a:bodyPr>
          <a:lstStyle/>
          <a:p>
            <a:r>
              <a:rPr lang="en-GB" b="1" dirty="0">
                <a:solidFill>
                  <a:srgbClr val="46245A"/>
                </a:solidFill>
                <a:latin typeface="Calibri"/>
              </a:rPr>
              <a:t>H</a:t>
            </a:r>
            <a:r>
              <a:rPr b="1" i="0" dirty="0" err="1">
                <a:solidFill>
                  <a:srgbClr val="46245A"/>
                </a:solidFill>
                <a:latin typeface="Calibri"/>
              </a:rPr>
              <a:t>ighest</a:t>
            </a:r>
            <a:r>
              <a:rPr b="1" i="0" dirty="0">
                <a:solidFill>
                  <a:srgbClr val="46245A"/>
                </a:solidFill>
                <a:latin typeface="Calibri"/>
              </a:rPr>
              <a:t> confidence is in long-term global temperature; rainfall and regional extremes are harder.</a:t>
            </a:r>
          </a:p>
        </p:txBody>
      </p:sp>
      <p:sp>
        <p:nvSpPr>
          <p:cNvPr id="11" name="Rectangle 10"/>
          <p:cNvSpPr/>
          <p:nvPr/>
        </p:nvSpPr>
        <p:spPr>
          <a:xfrm>
            <a:off x="6594944" y="2060048"/>
            <a:ext cx="5166360" cy="4187952"/>
          </a:xfrm>
          <a:prstGeom prst="rect">
            <a:avLst/>
          </a:prstGeom>
          <a:solidFill>
            <a:srgbClr val="FBFCFD"/>
          </a:solidFill>
          <a:ln>
            <a:solidFill>
              <a:srgbClr val="D8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2" name="TextBox 11"/>
          <p:cNvSpPr txBox="1"/>
          <p:nvPr/>
        </p:nvSpPr>
        <p:spPr>
          <a:xfrm>
            <a:off x="6823544" y="2224641"/>
            <a:ext cx="4709160" cy="276999"/>
          </a:xfrm>
          <a:prstGeom prst="rect">
            <a:avLst/>
          </a:prstGeom>
          <a:noFill/>
        </p:spPr>
        <p:txBody>
          <a:bodyPr wrap="square" lIns="0" tIns="0" rIns="0" bIns="0">
            <a:spAutoFit/>
          </a:bodyPr>
          <a:lstStyle/>
          <a:p>
            <a:pPr algn="ctr"/>
            <a:r>
              <a:rPr b="1" i="0">
                <a:solidFill>
                  <a:srgbClr val="46245A"/>
                </a:solidFill>
                <a:latin typeface="Calibri"/>
              </a:rPr>
              <a:t>Why do projections come as ranges?</a:t>
            </a:r>
          </a:p>
        </p:txBody>
      </p:sp>
      <p:cxnSp>
        <p:nvCxnSpPr>
          <p:cNvPr id="13" name="Connector 12"/>
          <p:cNvCxnSpPr/>
          <p:nvPr/>
        </p:nvCxnSpPr>
        <p:spPr>
          <a:xfrm>
            <a:off x="7253311" y="5461617"/>
            <a:ext cx="4005073" cy="0"/>
          </a:xfrm>
          <a:prstGeom prst="line">
            <a:avLst/>
          </a:prstGeom>
          <a:ln w="15240">
            <a:solidFill>
              <a:srgbClr val="5F636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024711" y="5562201"/>
            <a:ext cx="731520" cy="161583"/>
          </a:xfrm>
          <a:prstGeom prst="rect">
            <a:avLst/>
          </a:prstGeom>
          <a:noFill/>
        </p:spPr>
        <p:txBody>
          <a:bodyPr wrap="square" lIns="0" tIns="0" rIns="0" bIns="0">
            <a:spAutoFit/>
          </a:bodyPr>
          <a:lstStyle/>
          <a:p>
            <a:pPr algn="ctr"/>
            <a:r>
              <a:rPr sz="1050" b="0" i="0">
                <a:solidFill>
                  <a:srgbClr val="5F636B"/>
                </a:solidFill>
                <a:latin typeface="Calibri"/>
              </a:rPr>
              <a:t>near term</a:t>
            </a:r>
          </a:p>
        </p:txBody>
      </p:sp>
      <p:cxnSp>
        <p:nvCxnSpPr>
          <p:cNvPr id="15" name="Connector 14"/>
          <p:cNvCxnSpPr/>
          <p:nvPr/>
        </p:nvCxnSpPr>
        <p:spPr>
          <a:xfrm>
            <a:off x="7390472" y="5406753"/>
            <a:ext cx="0" cy="109727"/>
          </a:xfrm>
          <a:prstGeom prst="line">
            <a:avLst/>
          </a:prstGeom>
          <a:ln w="12700">
            <a:solidFill>
              <a:srgbClr val="5F636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698064" y="5562201"/>
            <a:ext cx="731520" cy="161583"/>
          </a:xfrm>
          <a:prstGeom prst="rect">
            <a:avLst/>
          </a:prstGeom>
          <a:noFill/>
        </p:spPr>
        <p:txBody>
          <a:bodyPr wrap="square" lIns="0" tIns="0" rIns="0" bIns="0">
            <a:spAutoFit/>
          </a:bodyPr>
          <a:lstStyle/>
          <a:p>
            <a:pPr algn="ctr"/>
            <a:r>
              <a:rPr sz="1050" b="0" i="0">
                <a:solidFill>
                  <a:srgbClr val="5F636B"/>
                </a:solidFill>
                <a:latin typeface="Calibri"/>
              </a:rPr>
              <a:t>mid-century</a:t>
            </a:r>
          </a:p>
        </p:txBody>
      </p:sp>
      <p:cxnSp>
        <p:nvCxnSpPr>
          <p:cNvPr id="17" name="Connector 16"/>
          <p:cNvCxnSpPr/>
          <p:nvPr/>
        </p:nvCxnSpPr>
        <p:spPr>
          <a:xfrm>
            <a:off x="9063824" y="5406753"/>
            <a:ext cx="0" cy="109727"/>
          </a:xfrm>
          <a:prstGeom prst="line">
            <a:avLst/>
          </a:prstGeom>
          <a:ln w="12700">
            <a:solidFill>
              <a:srgbClr val="5F636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0581728" y="5562201"/>
            <a:ext cx="731520" cy="161583"/>
          </a:xfrm>
          <a:prstGeom prst="rect">
            <a:avLst/>
          </a:prstGeom>
          <a:noFill/>
        </p:spPr>
        <p:txBody>
          <a:bodyPr wrap="square" lIns="0" tIns="0" rIns="0" bIns="0">
            <a:spAutoFit/>
          </a:bodyPr>
          <a:lstStyle/>
          <a:p>
            <a:pPr algn="ctr"/>
            <a:r>
              <a:rPr sz="1050" b="0" i="0">
                <a:solidFill>
                  <a:srgbClr val="5F636B"/>
                </a:solidFill>
                <a:latin typeface="Calibri"/>
              </a:rPr>
              <a:t>late century</a:t>
            </a:r>
          </a:p>
        </p:txBody>
      </p:sp>
      <p:cxnSp>
        <p:nvCxnSpPr>
          <p:cNvPr id="19" name="Connector 18"/>
          <p:cNvCxnSpPr/>
          <p:nvPr/>
        </p:nvCxnSpPr>
        <p:spPr>
          <a:xfrm>
            <a:off x="10947488" y="5406753"/>
            <a:ext cx="0" cy="109727"/>
          </a:xfrm>
          <a:prstGeom prst="line">
            <a:avLst/>
          </a:prstGeom>
          <a:ln w="12700">
            <a:solidFill>
              <a:srgbClr val="5F636B"/>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097863" y="2590401"/>
            <a:ext cx="4343400" cy="161583"/>
          </a:xfrm>
          <a:prstGeom prst="rect">
            <a:avLst/>
          </a:prstGeom>
          <a:noFill/>
        </p:spPr>
        <p:txBody>
          <a:bodyPr wrap="square" lIns="0" tIns="0" rIns="0" bIns="0">
            <a:spAutoFit/>
          </a:bodyPr>
          <a:lstStyle/>
          <a:p>
            <a:pPr algn="ctr"/>
            <a:r>
              <a:rPr sz="1050" b="0" i="0">
                <a:solidFill>
                  <a:srgbClr val="5F636B"/>
                </a:solidFill>
                <a:latin typeface="Calibri"/>
              </a:rPr>
              <a:t>relative importance across a projection</a:t>
            </a:r>
          </a:p>
        </p:txBody>
      </p:sp>
      <p:sp>
        <p:nvSpPr>
          <p:cNvPr id="21" name="Right Arrow 20"/>
          <p:cNvSpPr/>
          <p:nvPr/>
        </p:nvSpPr>
        <p:spPr>
          <a:xfrm>
            <a:off x="7253311" y="3047601"/>
            <a:ext cx="1874519" cy="393192"/>
          </a:xfrm>
          <a:prstGeom prst="rightArrow">
            <a:avLst/>
          </a:prstGeom>
          <a:solidFill>
            <a:srgbClr val="2F74B5"/>
          </a:solidFill>
          <a:ln>
            <a:solidFill>
              <a:srgbClr val="2F74B5"/>
            </a:solidFill>
          </a:ln>
        </p:spPr>
        <p:style>
          <a:lnRef idx="1">
            <a:schemeClr val="accent1"/>
          </a:lnRef>
          <a:fillRef idx="3">
            <a:schemeClr val="accent1"/>
          </a:fillRef>
          <a:effectRef idx="2">
            <a:schemeClr val="accent1"/>
          </a:effectRef>
          <a:fontRef idx="minor">
            <a:schemeClr val="lt1"/>
          </a:fontRef>
        </p:style>
        <p:txBody>
          <a:bodyPr lIns="73152" tIns="18288" rIns="109728" bIns="18288" rtlCol="0" anchor="ctr"/>
          <a:lstStyle/>
          <a:p>
            <a:pPr algn="ctr"/>
            <a:r>
              <a:rPr sz="1400" b="1">
                <a:solidFill>
                  <a:srgbClr val="FFFFFF"/>
                </a:solidFill>
                <a:latin typeface="Calibri"/>
              </a:rPr>
              <a:t>internal variability</a:t>
            </a:r>
          </a:p>
        </p:txBody>
      </p:sp>
      <p:sp>
        <p:nvSpPr>
          <p:cNvPr id="22" name="TextBox 21"/>
          <p:cNvSpPr txBox="1"/>
          <p:nvPr/>
        </p:nvSpPr>
        <p:spPr>
          <a:xfrm>
            <a:off x="9315283" y="3120951"/>
            <a:ext cx="1961388" cy="307777"/>
          </a:xfrm>
          <a:prstGeom prst="rect">
            <a:avLst/>
          </a:prstGeom>
          <a:noFill/>
        </p:spPr>
        <p:txBody>
          <a:bodyPr wrap="square" lIns="0" tIns="0" rIns="0" bIns="0">
            <a:spAutoFit/>
          </a:bodyPr>
          <a:lstStyle/>
          <a:p>
            <a:r>
              <a:rPr sz="1000" b="0" i="0" dirty="0">
                <a:solidFill>
                  <a:srgbClr val="5F636B"/>
                </a:solidFill>
                <a:latin typeface="Calibri"/>
              </a:rPr>
              <a:t>weather + ocean</a:t>
            </a:r>
            <a:r>
              <a:rPr lang="en-GB" sz="1000" b="0" i="0" dirty="0">
                <a:solidFill>
                  <a:srgbClr val="5F636B"/>
                </a:solidFill>
                <a:latin typeface="Calibri"/>
              </a:rPr>
              <a:t>s</a:t>
            </a:r>
            <a:r>
              <a:rPr sz="1000" b="0" i="0" dirty="0">
                <a:solidFill>
                  <a:srgbClr val="5F636B"/>
                </a:solidFill>
                <a:latin typeface="Calibri"/>
              </a:rPr>
              <a:t>
matters most for regions/</a:t>
            </a:r>
            <a:r>
              <a:rPr lang="en-GB" sz="1000" b="0" i="0" dirty="0">
                <a:solidFill>
                  <a:srgbClr val="5F636B"/>
                </a:solidFill>
                <a:latin typeface="Calibri"/>
              </a:rPr>
              <a:t>years</a:t>
            </a:r>
            <a:endParaRPr sz="1000" b="0" i="0" dirty="0">
              <a:solidFill>
                <a:srgbClr val="5F636B"/>
              </a:solidFill>
              <a:latin typeface="Calibri"/>
            </a:endParaRPr>
          </a:p>
        </p:txBody>
      </p:sp>
      <p:sp>
        <p:nvSpPr>
          <p:cNvPr id="23" name="Right Arrow 22"/>
          <p:cNvSpPr/>
          <p:nvPr/>
        </p:nvSpPr>
        <p:spPr>
          <a:xfrm>
            <a:off x="7253311" y="3669392"/>
            <a:ext cx="2999232" cy="393192"/>
          </a:xfrm>
          <a:prstGeom prst="rightArrow">
            <a:avLst/>
          </a:prstGeom>
          <a:solidFill>
            <a:srgbClr val="46245A"/>
          </a:solidFill>
          <a:ln>
            <a:solidFill>
              <a:srgbClr val="46245A"/>
            </a:solidFill>
          </a:ln>
        </p:spPr>
        <p:style>
          <a:lnRef idx="1">
            <a:schemeClr val="accent1"/>
          </a:lnRef>
          <a:fillRef idx="3">
            <a:schemeClr val="accent1"/>
          </a:fillRef>
          <a:effectRef idx="2">
            <a:schemeClr val="accent1"/>
          </a:effectRef>
          <a:fontRef idx="minor">
            <a:schemeClr val="lt1"/>
          </a:fontRef>
        </p:style>
        <p:txBody>
          <a:bodyPr lIns="73152" tIns="18288" rIns="109728" bIns="18288" rtlCol="0" anchor="ctr"/>
          <a:lstStyle/>
          <a:p>
            <a:pPr algn="ctr"/>
            <a:r>
              <a:rPr sz="1400" b="1">
                <a:solidFill>
                  <a:srgbClr val="FFFFFF"/>
                </a:solidFill>
                <a:latin typeface="Calibri"/>
              </a:rPr>
              <a:t>model response</a:t>
            </a:r>
          </a:p>
        </p:txBody>
      </p:sp>
      <p:sp>
        <p:nvSpPr>
          <p:cNvPr id="24" name="TextBox 23"/>
          <p:cNvSpPr txBox="1"/>
          <p:nvPr/>
        </p:nvSpPr>
        <p:spPr>
          <a:xfrm>
            <a:off x="10362270" y="3687680"/>
            <a:ext cx="1576877" cy="307777"/>
          </a:xfrm>
          <a:prstGeom prst="rect">
            <a:avLst/>
          </a:prstGeom>
          <a:noFill/>
        </p:spPr>
        <p:txBody>
          <a:bodyPr wrap="square" lIns="0" tIns="0" rIns="0" bIns="0">
            <a:spAutoFit/>
          </a:bodyPr>
          <a:lstStyle/>
          <a:p>
            <a:r>
              <a:rPr sz="1000" b="0" i="0" dirty="0">
                <a:solidFill>
                  <a:srgbClr val="5F636B"/>
                </a:solidFill>
                <a:latin typeface="Calibri"/>
              </a:rPr>
              <a:t>clouds, aerosols, convection,
ocean mixing, ice</a:t>
            </a:r>
          </a:p>
        </p:txBody>
      </p:sp>
      <p:sp>
        <p:nvSpPr>
          <p:cNvPr id="25" name="Right Arrow 24"/>
          <p:cNvSpPr/>
          <p:nvPr/>
        </p:nvSpPr>
        <p:spPr>
          <a:xfrm>
            <a:off x="8560904" y="4291185"/>
            <a:ext cx="2606040" cy="393192"/>
          </a:xfrm>
          <a:prstGeom prst="rightArrow">
            <a:avLst/>
          </a:prstGeom>
          <a:solidFill>
            <a:srgbClr val="E46C0A"/>
          </a:solidFill>
          <a:ln>
            <a:solidFill>
              <a:srgbClr val="E46C0A"/>
            </a:solidFill>
          </a:ln>
        </p:spPr>
        <p:style>
          <a:lnRef idx="1">
            <a:schemeClr val="accent1"/>
          </a:lnRef>
          <a:fillRef idx="3">
            <a:schemeClr val="accent1"/>
          </a:fillRef>
          <a:effectRef idx="2">
            <a:schemeClr val="accent1"/>
          </a:effectRef>
          <a:fontRef idx="minor">
            <a:schemeClr val="lt1"/>
          </a:fontRef>
        </p:style>
        <p:txBody>
          <a:bodyPr lIns="73152" tIns="18288" rIns="109728" bIns="18288" rtlCol="0" anchor="ctr"/>
          <a:lstStyle/>
          <a:p>
            <a:pPr algn="ctr"/>
            <a:r>
              <a:rPr sz="1400" b="1">
                <a:solidFill>
                  <a:srgbClr val="FFFFFF"/>
                </a:solidFill>
                <a:latin typeface="Calibri"/>
              </a:rPr>
              <a:t>scenario choices</a:t>
            </a:r>
          </a:p>
        </p:txBody>
      </p:sp>
      <p:sp>
        <p:nvSpPr>
          <p:cNvPr id="26" name="TextBox 25"/>
          <p:cNvSpPr txBox="1"/>
          <p:nvPr/>
        </p:nvSpPr>
        <p:spPr>
          <a:xfrm>
            <a:off x="8314016" y="4083391"/>
            <a:ext cx="1755648" cy="307777"/>
          </a:xfrm>
          <a:prstGeom prst="rect">
            <a:avLst/>
          </a:prstGeom>
          <a:noFill/>
        </p:spPr>
        <p:txBody>
          <a:bodyPr wrap="square" lIns="0" tIns="0" rIns="0" bIns="0">
            <a:spAutoFit/>
          </a:bodyPr>
          <a:lstStyle/>
          <a:p>
            <a:r>
              <a:rPr sz="1000" b="0" i="0" dirty="0">
                <a:solidFill>
                  <a:srgbClr val="5F636B"/>
                </a:solidFill>
                <a:latin typeface="Calibri"/>
              </a:rPr>
              <a:t>future emissions + land use
grow in importance</a:t>
            </a:r>
          </a:p>
        </p:txBody>
      </p:sp>
      <p:cxnSp>
        <p:nvCxnSpPr>
          <p:cNvPr id="27" name="Connector 26"/>
          <p:cNvCxnSpPr/>
          <p:nvPr/>
        </p:nvCxnSpPr>
        <p:spPr>
          <a:xfrm flipV="1">
            <a:off x="7253311" y="4848969"/>
            <a:ext cx="4005073" cy="283464"/>
          </a:xfrm>
          <a:prstGeom prst="line">
            <a:avLst/>
          </a:prstGeom>
          <a:ln w="25400">
            <a:solidFill>
              <a:srgbClr val="E46C0A"/>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7253311" y="5031849"/>
            <a:ext cx="4005073" cy="100584"/>
          </a:xfrm>
          <a:prstGeom prst="line">
            <a:avLst/>
          </a:prstGeom>
          <a:ln w="25400">
            <a:solidFill>
              <a:srgbClr val="46245A"/>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253311" y="5132433"/>
            <a:ext cx="4005073" cy="64008"/>
          </a:xfrm>
          <a:prstGeom prst="line">
            <a:avLst/>
          </a:prstGeom>
          <a:ln w="25400">
            <a:solidFill>
              <a:srgbClr val="2F74B5"/>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0197680" y="4739241"/>
            <a:ext cx="1051560" cy="153888"/>
          </a:xfrm>
          <a:prstGeom prst="rect">
            <a:avLst/>
          </a:prstGeom>
          <a:noFill/>
        </p:spPr>
        <p:txBody>
          <a:bodyPr wrap="square" lIns="0" tIns="0" rIns="0" bIns="0">
            <a:spAutoFit/>
          </a:bodyPr>
          <a:lstStyle/>
          <a:p>
            <a:pPr algn="r"/>
            <a:r>
              <a:rPr sz="1000" b="0" i="0">
                <a:solidFill>
                  <a:srgbClr val="E46C0A"/>
                </a:solidFill>
                <a:latin typeface="Calibri"/>
              </a:rPr>
              <a:t>higher emissions</a:t>
            </a:r>
          </a:p>
        </p:txBody>
      </p:sp>
      <p:sp>
        <p:nvSpPr>
          <p:cNvPr id="31" name="TextBox 30"/>
          <p:cNvSpPr txBox="1"/>
          <p:nvPr/>
        </p:nvSpPr>
        <p:spPr>
          <a:xfrm>
            <a:off x="10234255" y="5196441"/>
            <a:ext cx="1051560" cy="153888"/>
          </a:xfrm>
          <a:prstGeom prst="rect">
            <a:avLst/>
          </a:prstGeom>
          <a:noFill/>
        </p:spPr>
        <p:txBody>
          <a:bodyPr wrap="square" lIns="0" tIns="0" rIns="0" bIns="0">
            <a:spAutoFit/>
          </a:bodyPr>
          <a:lstStyle/>
          <a:p>
            <a:pPr algn="r"/>
            <a:r>
              <a:rPr sz="1000" b="0" i="0" dirty="0">
                <a:solidFill>
                  <a:srgbClr val="2F74B5"/>
                </a:solidFill>
                <a:latin typeface="Calibri"/>
              </a:rPr>
              <a:t>lower emissions</a:t>
            </a:r>
          </a:p>
        </p:txBody>
      </p:sp>
      <p:sp>
        <p:nvSpPr>
          <p:cNvPr id="32" name="Rectangle 31"/>
          <p:cNvSpPr/>
          <p:nvPr/>
        </p:nvSpPr>
        <p:spPr>
          <a:xfrm>
            <a:off x="6887552" y="5900529"/>
            <a:ext cx="4581144" cy="274320"/>
          </a:xfrm>
          <a:prstGeom prst="rect">
            <a:avLst/>
          </a:prstGeom>
          <a:solidFill>
            <a:srgbClr val="F4F5F7"/>
          </a:solidFill>
          <a:ln>
            <a:solidFill>
              <a:srgbClr val="DFE2E6"/>
            </a:solidFill>
          </a:ln>
        </p:spPr>
        <p:style>
          <a:lnRef idx="1">
            <a:schemeClr val="accent1"/>
          </a:lnRef>
          <a:fillRef idx="3">
            <a:schemeClr val="accent1"/>
          </a:fillRef>
          <a:effectRef idx="2">
            <a:schemeClr val="accent1"/>
          </a:effectRef>
          <a:fontRef idx="minor">
            <a:schemeClr val="lt1"/>
          </a:fontRef>
        </p:style>
        <p:txBody>
          <a:bodyPr lIns="54864" tIns="18288" rIns="54864" bIns="18288" rtlCol="0" anchor="ctr"/>
          <a:lstStyle/>
          <a:p>
            <a:pPr algn="ctr"/>
            <a:r>
              <a:rPr sz="1050" b="1">
                <a:solidFill>
                  <a:srgbClr val="1C2029"/>
                </a:solidFill>
                <a:latin typeface="Calibri"/>
              </a:rPr>
              <a:t>Ensembles separate the robust climate signal from the spread.</a:t>
            </a:r>
          </a:p>
        </p:txBody>
      </p:sp>
      <p:sp>
        <p:nvSpPr>
          <p:cNvPr id="2" name="TextBox 1">
            <a:extLst>
              <a:ext uri="{FF2B5EF4-FFF2-40B4-BE49-F238E27FC236}">
                <a16:creationId xmlns:a16="http://schemas.microsoft.com/office/drawing/2014/main" id="{2D64ADFC-FCB0-27E3-6B5B-D9ED336EBAE4}"/>
              </a:ext>
            </a:extLst>
          </p:cNvPr>
          <p:cNvSpPr txBox="1"/>
          <p:nvPr/>
        </p:nvSpPr>
        <p:spPr>
          <a:xfrm>
            <a:off x="777240" y="960120"/>
            <a:ext cx="4825232" cy="615553"/>
          </a:xfrm>
          <a:prstGeom prst="rect">
            <a:avLst/>
          </a:prstGeom>
          <a:noFill/>
        </p:spPr>
        <p:txBody>
          <a:bodyPr wrap="none" lIns="0" tIns="0" rIns="0" bIns="0">
            <a:spAutoFit/>
          </a:bodyPr>
          <a:lstStyle/>
          <a:p>
            <a:r>
              <a:rPr lang="en-GB" sz="4000" b="1" i="1" dirty="0">
                <a:solidFill>
                  <a:srgbClr val="002060"/>
                </a:solidFill>
                <a:latin typeface="Calibri"/>
              </a:rPr>
              <a:t>Global Climate Models</a:t>
            </a:r>
            <a:endParaRPr sz="4000" i="1" dirty="0">
              <a:solidFill>
                <a:srgbClr val="002060"/>
              </a:solidFill>
              <a:latin typeface="DM Sans Bold"/>
            </a:endParaRPr>
          </a:p>
        </p:txBody>
      </p:sp>
      <p:sp>
        <p:nvSpPr>
          <p:cNvPr id="3" name="Freeform 13">
            <a:extLst>
              <a:ext uri="{FF2B5EF4-FFF2-40B4-BE49-F238E27FC236}">
                <a16:creationId xmlns:a16="http://schemas.microsoft.com/office/drawing/2014/main" id="{3062F61D-B168-10CB-D718-1D1283495CE0}"/>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2" cstate="email">
              <a:extLst>
                <a:ext uri="{28A0092B-C50C-407E-A947-70E740481C1C}">
                  <a14:useLocalDpi xmlns:a14="http://schemas.microsoft.com/office/drawing/2010/main"/>
                </a:ext>
              </a:extLst>
            </a:blip>
            <a:stretch>
              <a:fillRect/>
            </a:stretch>
          </a:blipFill>
        </p:spPr>
        <p:txBody>
          <a:bodyPr/>
          <a:lstStyle/>
          <a:p>
            <a:endParaRPr lang="en-GB" sz="1200">
              <a:latin typeface="DM Sans" pitchFamily="2"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D9515-FEA1-45E5-7A11-5CB2F760A2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8AF9C5-F89D-3D87-E151-6D6FB14F8600}"/>
              </a:ext>
            </a:extLst>
          </p:cNvPr>
          <p:cNvSpPr txBox="1">
            <a:spLocks/>
          </p:cNvSpPr>
          <p:nvPr/>
        </p:nvSpPr>
        <p:spPr>
          <a:xfrm>
            <a:off x="-962034" y="1022312"/>
            <a:ext cx="7886700" cy="511508"/>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GB" sz="2700" dirty="0"/>
          </a:p>
        </p:txBody>
      </p:sp>
      <p:sp>
        <p:nvSpPr>
          <p:cNvPr id="4" name="TextBox 14">
            <a:extLst>
              <a:ext uri="{FF2B5EF4-FFF2-40B4-BE49-F238E27FC236}">
                <a16:creationId xmlns:a16="http://schemas.microsoft.com/office/drawing/2014/main" id="{93BAAFB5-0AF4-6511-0D19-01F670C8E14D}"/>
              </a:ext>
            </a:extLst>
          </p:cNvPr>
          <p:cNvSpPr txBox="1"/>
          <p:nvPr/>
        </p:nvSpPr>
        <p:spPr>
          <a:xfrm>
            <a:off x="389465" y="684091"/>
            <a:ext cx="7336552" cy="574324"/>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Climate Models - Uncertainties</a:t>
            </a:r>
          </a:p>
        </p:txBody>
      </p:sp>
      <p:sp>
        <p:nvSpPr>
          <p:cNvPr id="5" name="Freeform 13">
            <a:extLst>
              <a:ext uri="{FF2B5EF4-FFF2-40B4-BE49-F238E27FC236}">
                <a16:creationId xmlns:a16="http://schemas.microsoft.com/office/drawing/2014/main" id="{495F4AE7-9316-34DA-CEBF-8DABD87BE43A}"/>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pic>
        <p:nvPicPr>
          <p:cNvPr id="6" name="Picture 5">
            <a:extLst>
              <a:ext uri="{FF2B5EF4-FFF2-40B4-BE49-F238E27FC236}">
                <a16:creationId xmlns:a16="http://schemas.microsoft.com/office/drawing/2014/main" id="{CDC8724D-4526-8E7C-D84E-8D1D6BD4BABE}"/>
              </a:ext>
            </a:extLst>
          </p:cNvPr>
          <p:cNvPicPr>
            <a:picLocks noChangeAspect="1"/>
          </p:cNvPicPr>
          <p:nvPr/>
        </p:nvPicPr>
        <p:blipFill>
          <a:blip r:embed="rId4"/>
          <a:srcRect t="9133"/>
          <a:stretch>
            <a:fillRect/>
          </a:stretch>
        </p:blipFill>
        <p:spPr>
          <a:xfrm>
            <a:off x="438342" y="1420794"/>
            <a:ext cx="5611294" cy="4819155"/>
          </a:xfrm>
          <a:prstGeom prst="rect">
            <a:avLst/>
          </a:prstGeom>
        </p:spPr>
      </p:pic>
      <p:sp>
        <p:nvSpPr>
          <p:cNvPr id="3" name="TextBox 2">
            <a:extLst>
              <a:ext uri="{FF2B5EF4-FFF2-40B4-BE49-F238E27FC236}">
                <a16:creationId xmlns:a16="http://schemas.microsoft.com/office/drawing/2014/main" id="{CCDF03BE-FAB9-C326-CE77-644037058345}"/>
              </a:ext>
            </a:extLst>
          </p:cNvPr>
          <p:cNvSpPr txBox="1"/>
          <p:nvPr/>
        </p:nvSpPr>
        <p:spPr>
          <a:xfrm>
            <a:off x="10921284" y="6396335"/>
            <a:ext cx="1442434" cy="461665"/>
          </a:xfrm>
          <a:prstGeom prst="rect">
            <a:avLst/>
          </a:prstGeom>
          <a:noFill/>
        </p:spPr>
        <p:txBody>
          <a:bodyPr wrap="square" rtlCol="0">
            <a:spAutoFit/>
          </a:bodyPr>
          <a:lstStyle/>
          <a:p>
            <a:r>
              <a:rPr lang="en-US" sz="2400" dirty="0">
                <a:solidFill>
                  <a:srgbClr val="FF0000"/>
                </a:solidFill>
              </a:rPr>
              <a:t>Week 7</a:t>
            </a:r>
          </a:p>
        </p:txBody>
      </p:sp>
    </p:spTree>
    <p:extLst>
      <p:ext uri="{BB962C8B-B14F-4D97-AF65-F5344CB8AC3E}">
        <p14:creationId xmlns:p14="http://schemas.microsoft.com/office/powerpoint/2010/main" val="35643030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07164-62F9-C770-F5D3-3CB16D2A88A7}"/>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A06E2DE1-BB7C-66AD-5194-C34B42D2E28B}"/>
              </a:ext>
            </a:extLst>
          </p:cNvPr>
          <p:cNvSpPr txBox="1"/>
          <p:nvPr/>
        </p:nvSpPr>
        <p:spPr>
          <a:xfrm>
            <a:off x="572125" y="950363"/>
            <a:ext cx="9231783" cy="569580"/>
          </a:xfrm>
          <a:prstGeom prst="rect">
            <a:avLst/>
          </a:prstGeom>
        </p:spPr>
        <p:txBody>
          <a:bodyPr wrap="square" lIns="0" tIns="0" rIns="0" bIns="0" rtlCol="0" anchor="t">
            <a:spAutoFit/>
          </a:bodyPr>
          <a:lstStyle/>
          <a:p>
            <a:pPr>
              <a:lnSpc>
                <a:spcPts val="4480"/>
              </a:lnSpc>
            </a:pPr>
            <a:r>
              <a:rPr lang="en-US" sz="3733" b="1" i="1" dirty="0">
                <a:solidFill>
                  <a:srgbClr val="46245A"/>
                </a:solidFill>
                <a:latin typeface="DM Sans" pitchFamily="2" charset="0"/>
              </a:rPr>
              <a:t>Performance of Global Climate Models</a:t>
            </a:r>
            <a:endParaRPr lang="en-US" sz="3733" i="1" dirty="0">
              <a:solidFill>
                <a:srgbClr val="46245A"/>
              </a:solidFill>
              <a:latin typeface="DM Sans" pitchFamily="2" charset="0"/>
            </a:endParaRPr>
          </a:p>
        </p:txBody>
      </p:sp>
      <p:sp>
        <p:nvSpPr>
          <p:cNvPr id="24" name="Rectangle 3">
            <a:extLst>
              <a:ext uri="{FF2B5EF4-FFF2-40B4-BE49-F238E27FC236}">
                <a16:creationId xmlns:a16="http://schemas.microsoft.com/office/drawing/2014/main" id="{C026A4FE-418D-FA18-1FB4-DF59A26C46DD}"/>
              </a:ext>
            </a:extLst>
          </p:cNvPr>
          <p:cNvSpPr txBox="1">
            <a:spLocks noChangeArrowheads="1"/>
          </p:cNvSpPr>
          <p:nvPr/>
        </p:nvSpPr>
        <p:spPr>
          <a:xfrm>
            <a:off x="520736" y="2171793"/>
            <a:ext cx="5557778" cy="2775823"/>
          </a:xfrm>
          <a:prstGeom prst="rect">
            <a:avLst/>
          </a:prstGeom>
        </p:spPr>
        <p:txBody>
          <a:bodyPr/>
          <a:lst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a:lstStyle>
          <a:p>
            <a:pPr marL="0" indent="0">
              <a:buNone/>
            </a:pPr>
            <a:r>
              <a:rPr lang="en-GB" altLang="en-US" sz="2133" dirty="0">
                <a:latin typeface="Calibri" panose="020F0502020204030204" pitchFamily="34" charset="0"/>
                <a:cs typeface="Calibri" panose="020F0502020204030204" pitchFamily="34" charset="0"/>
              </a:rPr>
              <a:t>Modern Coupled GCMs</a:t>
            </a:r>
          </a:p>
          <a:p>
            <a:pPr lvl="1">
              <a:buFontTx/>
              <a:buNone/>
            </a:pPr>
            <a:r>
              <a:rPr lang="en-GB" altLang="en-US" sz="1867" dirty="0">
                <a:solidFill>
                  <a:schemeClr val="hlink"/>
                </a:solidFill>
                <a:latin typeface="Calibri" panose="020F0502020204030204" pitchFamily="34" charset="0"/>
                <a:cs typeface="Calibri" panose="020F0502020204030204" pitchFamily="34" charset="0"/>
                <a:sym typeface="Wingdings 2" pitchFamily="2" charset="2"/>
              </a:rPr>
              <a:t> </a:t>
            </a:r>
            <a:r>
              <a:rPr lang="en-GB" altLang="en-US" sz="1867" dirty="0">
                <a:latin typeface="Calibri" panose="020F0502020204030204" pitchFamily="34" charset="0"/>
                <a:cs typeface="Calibri" panose="020F0502020204030204" pitchFamily="34" charset="0"/>
              </a:rPr>
              <a:t>Perform well at continental scales</a:t>
            </a:r>
          </a:p>
          <a:p>
            <a:pPr lvl="1">
              <a:buFontTx/>
              <a:buNone/>
            </a:pPr>
            <a:r>
              <a:rPr lang="en-GB" altLang="en-US" sz="1867" dirty="0">
                <a:solidFill>
                  <a:schemeClr val="hlink"/>
                </a:solidFill>
                <a:latin typeface="Calibri" panose="020F0502020204030204" pitchFamily="34" charset="0"/>
                <a:cs typeface="Calibri" panose="020F0502020204030204" pitchFamily="34" charset="0"/>
                <a:sym typeface="Wingdings 2" pitchFamily="2" charset="2"/>
              </a:rPr>
              <a:t></a:t>
            </a:r>
            <a:r>
              <a:rPr lang="en-GB" altLang="en-US" sz="1867" dirty="0">
                <a:latin typeface="Calibri" panose="020F0502020204030204" pitchFamily="34" charset="0"/>
                <a:cs typeface="Calibri" panose="020F0502020204030204" pitchFamily="34" charset="0"/>
              </a:rPr>
              <a:t> Perform well at multiannual -&gt; climatological scales (30 year)</a:t>
            </a:r>
          </a:p>
          <a:p>
            <a:pPr lvl="1">
              <a:buFontTx/>
              <a:buNone/>
            </a:pPr>
            <a:r>
              <a:rPr lang="en-GB" altLang="en-US" sz="1867" dirty="0">
                <a:solidFill>
                  <a:srgbClr val="FF0000"/>
                </a:solidFill>
                <a:latin typeface="Calibri" panose="020F0502020204030204" pitchFamily="34" charset="0"/>
                <a:cs typeface="Calibri" panose="020F0502020204030204" pitchFamily="34" charset="0"/>
                <a:sym typeface="Wingdings 2" pitchFamily="2" charset="2"/>
              </a:rPr>
              <a:t></a:t>
            </a:r>
            <a:r>
              <a:rPr lang="en-GB" altLang="en-US" sz="1867" dirty="0">
                <a:latin typeface="Calibri" panose="020F0502020204030204" pitchFamily="34" charset="0"/>
                <a:cs typeface="Calibri" panose="020F0502020204030204" pitchFamily="34" charset="0"/>
                <a:sym typeface="Wingdings 2" pitchFamily="2" charset="2"/>
              </a:rPr>
              <a:t> </a:t>
            </a:r>
            <a:r>
              <a:rPr lang="en-GB" altLang="en-US" sz="1867" dirty="0">
                <a:latin typeface="Calibri" panose="020F0502020204030204" pitchFamily="34" charset="0"/>
                <a:cs typeface="Calibri" panose="020F0502020204030204" pitchFamily="34" charset="0"/>
              </a:rPr>
              <a:t>Perform less well at short time scales</a:t>
            </a:r>
          </a:p>
          <a:p>
            <a:pPr lvl="1">
              <a:buFontTx/>
              <a:buNone/>
            </a:pPr>
            <a:r>
              <a:rPr lang="en-GB" altLang="en-US" sz="1867" dirty="0">
                <a:solidFill>
                  <a:srgbClr val="FF0000"/>
                </a:solidFill>
                <a:latin typeface="Calibri" panose="020F0502020204030204" pitchFamily="34" charset="0"/>
                <a:cs typeface="Calibri" panose="020F0502020204030204" pitchFamily="34" charset="0"/>
                <a:sym typeface="Wingdings 2" pitchFamily="2" charset="2"/>
              </a:rPr>
              <a:t></a:t>
            </a:r>
            <a:r>
              <a:rPr lang="en-GB" altLang="en-US" sz="1867" dirty="0">
                <a:latin typeface="Calibri" panose="020F0502020204030204" pitchFamily="34" charset="0"/>
                <a:cs typeface="Calibri" panose="020F0502020204030204" pitchFamily="34" charset="0"/>
              </a:rPr>
              <a:t> Perform less well at regional scales</a:t>
            </a:r>
          </a:p>
          <a:p>
            <a:pPr lvl="1"/>
            <a:endParaRPr lang="en-US" altLang="en-US" sz="1867" dirty="0">
              <a:latin typeface="Calibri" panose="020F0502020204030204" pitchFamily="34" charset="0"/>
              <a:cs typeface="Calibri" panose="020F0502020204030204" pitchFamily="34" charset="0"/>
            </a:endParaRPr>
          </a:p>
        </p:txBody>
      </p:sp>
      <p:pic>
        <p:nvPicPr>
          <p:cNvPr id="25" name="Picture 3" descr="Fig1">
            <a:extLst>
              <a:ext uri="{FF2B5EF4-FFF2-40B4-BE49-F238E27FC236}">
                <a16:creationId xmlns:a16="http://schemas.microsoft.com/office/drawing/2014/main" id="{46DFA519-3D60-DE54-A441-14847FD6666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577"/>
          <a:stretch/>
        </p:blipFill>
        <p:spPr bwMode="auto">
          <a:xfrm>
            <a:off x="7746416" y="1752635"/>
            <a:ext cx="3953644" cy="4553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TextBox 26">
            <a:extLst>
              <a:ext uri="{FF2B5EF4-FFF2-40B4-BE49-F238E27FC236}">
                <a16:creationId xmlns:a16="http://schemas.microsoft.com/office/drawing/2014/main" id="{CDD6C21C-6A3E-6405-247F-E4479021B480}"/>
              </a:ext>
            </a:extLst>
          </p:cNvPr>
          <p:cNvSpPr txBox="1"/>
          <p:nvPr/>
        </p:nvSpPr>
        <p:spPr>
          <a:xfrm>
            <a:off x="520735" y="4596924"/>
            <a:ext cx="4864100" cy="1077218"/>
          </a:xfrm>
          <a:prstGeom prst="rect">
            <a:avLst/>
          </a:prstGeom>
          <a:noFill/>
        </p:spPr>
        <p:txBody>
          <a:bodyPr wrap="square">
            <a:spAutoFit/>
          </a:bodyPr>
          <a:lstStyle/>
          <a:p>
            <a:pPr eaLnBrk="1" hangingPunct="1"/>
            <a:r>
              <a:rPr lang="en-US" altLang="en-US" sz="1600" dirty="0">
                <a:latin typeface="Calibri" panose="020F0502020204030204" pitchFamily="34" charset="0"/>
                <a:cs typeface="Calibri" panose="020F0502020204030204" pitchFamily="34" charset="0"/>
              </a:rPr>
              <a:t>The complexity of climate models has increased over the last few decades. The additional physics incorporated in the models are shown pictorially by the different features of the modelled world. </a:t>
            </a:r>
          </a:p>
        </p:txBody>
      </p:sp>
      <p:pic>
        <p:nvPicPr>
          <p:cNvPr id="2" name="Picture 3" descr="Fig1">
            <a:extLst>
              <a:ext uri="{FF2B5EF4-FFF2-40B4-BE49-F238E27FC236}">
                <a16:creationId xmlns:a16="http://schemas.microsoft.com/office/drawing/2014/main" id="{42161B58-A271-6DB6-DF10-9574C5B2B3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39225" y="2012021"/>
            <a:ext cx="1670403" cy="3939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Freeform 13">
            <a:extLst>
              <a:ext uri="{FF2B5EF4-FFF2-40B4-BE49-F238E27FC236}">
                <a16:creationId xmlns:a16="http://schemas.microsoft.com/office/drawing/2014/main" id="{92BD1D8C-829B-5608-5B70-543D2179F45D}"/>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5" cstate="email">
              <a:extLst>
                <a:ext uri="{28A0092B-C50C-407E-A947-70E740481C1C}">
                  <a14:useLocalDpi xmlns:a14="http://schemas.microsoft.com/office/drawing/2010/main"/>
                </a:ext>
              </a:extLst>
            </a:blip>
            <a:stretch>
              <a:fillRect/>
            </a:stretch>
          </a:blipFill>
        </p:spPr>
        <p:txBody>
          <a:bodyPr/>
          <a:lstStyle/>
          <a:p>
            <a:endParaRPr lang="en-GB" sz="1200">
              <a:latin typeface="DM Sans" pitchFamily="2" charset="0"/>
            </a:endParaRPr>
          </a:p>
        </p:txBody>
      </p:sp>
    </p:spTree>
    <p:extLst>
      <p:ext uri="{BB962C8B-B14F-4D97-AF65-F5344CB8AC3E}">
        <p14:creationId xmlns:p14="http://schemas.microsoft.com/office/powerpoint/2010/main" val="21818272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6C5E8-7833-4D29-9BDB-01B442FB5D13}"/>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E9B31423-0C4D-A948-A108-39DB992ED483}"/>
              </a:ext>
            </a:extLst>
          </p:cNvPr>
          <p:cNvSpPr txBox="1"/>
          <p:nvPr/>
        </p:nvSpPr>
        <p:spPr>
          <a:xfrm>
            <a:off x="762000" y="1157699"/>
            <a:ext cx="9231783" cy="569580"/>
          </a:xfrm>
          <a:prstGeom prst="rect">
            <a:avLst/>
          </a:prstGeom>
        </p:spPr>
        <p:txBody>
          <a:bodyPr wrap="square" lIns="0" tIns="0" rIns="0" bIns="0" rtlCol="0" anchor="t">
            <a:spAutoFit/>
          </a:bodyPr>
          <a:lstStyle/>
          <a:p>
            <a:pPr>
              <a:lnSpc>
                <a:spcPts val="4480"/>
              </a:lnSpc>
            </a:pPr>
            <a:r>
              <a:rPr lang="en-US" sz="3733" b="1" i="1" dirty="0">
                <a:solidFill>
                  <a:srgbClr val="46245A"/>
                </a:solidFill>
                <a:latin typeface="DM Sans" pitchFamily="2" charset="0"/>
              </a:rPr>
              <a:t>How did we do in 2004? </a:t>
            </a:r>
            <a:endParaRPr lang="en-US" sz="3733" i="1" dirty="0">
              <a:solidFill>
                <a:srgbClr val="46245A"/>
              </a:solidFill>
              <a:latin typeface="DM Sans" pitchFamily="2" charset="0"/>
            </a:endParaRPr>
          </a:p>
        </p:txBody>
      </p:sp>
      <p:sp>
        <p:nvSpPr>
          <p:cNvPr id="10" name="Freeform 13">
            <a:extLst>
              <a:ext uri="{FF2B5EF4-FFF2-40B4-BE49-F238E27FC236}">
                <a16:creationId xmlns:a16="http://schemas.microsoft.com/office/drawing/2014/main" id="{CE574C0C-2B76-5B6A-90BA-574BAB52244E}"/>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endParaRPr lang="en-GB" sz="1200">
              <a:latin typeface="DM Sans" pitchFamily="2" charset="0"/>
            </a:endParaRPr>
          </a:p>
        </p:txBody>
      </p:sp>
      <p:sp>
        <p:nvSpPr>
          <p:cNvPr id="2" name="Text Box 2">
            <a:extLst>
              <a:ext uri="{FF2B5EF4-FFF2-40B4-BE49-F238E27FC236}">
                <a16:creationId xmlns:a16="http://schemas.microsoft.com/office/drawing/2014/main" id="{E1CB9317-9D48-E9FA-BDA8-B43059EC16F8}"/>
              </a:ext>
            </a:extLst>
          </p:cNvPr>
          <p:cNvSpPr txBox="1">
            <a:spLocks noChangeArrowheads="1"/>
          </p:cNvSpPr>
          <p:nvPr/>
        </p:nvSpPr>
        <p:spPr bwMode="auto">
          <a:xfrm>
            <a:off x="6076013" y="2329224"/>
            <a:ext cx="5664200" cy="3285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defRPr sz="3100">
                <a:solidFill>
                  <a:schemeClr val="tx1"/>
                </a:solidFill>
                <a:latin typeface="Arial" panose="020B0604020202020204" pitchFamily="34" charset="0"/>
              </a:defRPr>
            </a:lvl1pPr>
            <a:lvl2pPr marL="742950" indent="-285750">
              <a:spcBef>
                <a:spcPct val="20000"/>
              </a:spcBef>
              <a:buChar char="–"/>
              <a:defRPr sz="2700">
                <a:solidFill>
                  <a:schemeClr val="tx1"/>
                </a:solidFill>
                <a:latin typeface="Arial" panose="020B0604020202020204" pitchFamily="34" charset="0"/>
              </a:defRPr>
            </a:lvl2pPr>
            <a:lvl3pPr marL="1143000" indent="-228600">
              <a:spcBef>
                <a:spcPct val="20000"/>
              </a:spcBef>
              <a:buFont typeface="Wingdings" pitchFamily="2" charset="2"/>
              <a:buChar char="§"/>
              <a:defRPr sz="23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a:spcBef>
                <a:spcPct val="30000"/>
              </a:spcBef>
              <a:buClr>
                <a:srgbClr val="F39FD1"/>
              </a:buClr>
            </a:pPr>
            <a:endParaRPr lang="en-GB" sz="1867" dirty="0">
              <a:solidFill>
                <a:srgbClr val="1B1B1B"/>
              </a:solidFill>
              <a:latin typeface="Calibri" panose="020F0502020204030204" pitchFamily="34" charset="0"/>
            </a:endParaRPr>
          </a:p>
          <a:p>
            <a:pPr>
              <a:spcBef>
                <a:spcPct val="30000"/>
              </a:spcBef>
              <a:buClr>
                <a:srgbClr val="F39FD1"/>
              </a:buClr>
            </a:pPr>
            <a:r>
              <a:rPr lang="en-GB" sz="1867" dirty="0">
                <a:solidFill>
                  <a:srgbClr val="1B1B1B"/>
                </a:solidFill>
                <a:latin typeface="Calibri" panose="020F0502020204030204" pitchFamily="34" charset="0"/>
              </a:rPr>
              <a:t>Observed changes in temperature and precipitation have generally been consistent with the changes projected by earlier models. </a:t>
            </a:r>
          </a:p>
          <a:p>
            <a:pPr>
              <a:spcBef>
                <a:spcPct val="30000"/>
              </a:spcBef>
              <a:buClr>
                <a:srgbClr val="F39FD1"/>
              </a:buClr>
            </a:pPr>
            <a:endParaRPr lang="en-GB" sz="1867" dirty="0">
              <a:solidFill>
                <a:srgbClr val="1B1B1B"/>
              </a:solidFill>
              <a:latin typeface="Calibri" panose="020F0502020204030204" pitchFamily="34" charset="0"/>
            </a:endParaRPr>
          </a:p>
          <a:p>
            <a:pPr>
              <a:spcBef>
                <a:spcPct val="30000"/>
              </a:spcBef>
              <a:buClr>
                <a:srgbClr val="F39FD1"/>
              </a:buClr>
            </a:pPr>
            <a:r>
              <a:rPr lang="en-GB" sz="1867" dirty="0">
                <a:solidFill>
                  <a:srgbClr val="1B1B1B"/>
                </a:solidFill>
                <a:latin typeface="Calibri" panose="020F0502020204030204" pitchFamily="34" charset="0"/>
              </a:rPr>
              <a:t>The accurate projections of future climate and hindcasting of past climate makes us confident that models can reliably project changes in the climate.</a:t>
            </a:r>
            <a:endParaRPr lang="en-GB" sz="1867" dirty="0"/>
          </a:p>
          <a:p>
            <a:pPr>
              <a:lnSpc>
                <a:spcPct val="160000"/>
              </a:lnSpc>
              <a:spcBef>
                <a:spcPct val="30000"/>
              </a:spcBef>
              <a:buClr>
                <a:srgbClr val="F39FD1"/>
              </a:buClr>
            </a:pPr>
            <a:endParaRPr lang="en-GB" altLang="en-US" sz="1333" dirty="0">
              <a:latin typeface="+mn-lt"/>
            </a:endParaRPr>
          </a:p>
          <a:p>
            <a:pPr eaLnBrk="1" hangingPunct="1">
              <a:spcBef>
                <a:spcPct val="0"/>
              </a:spcBef>
            </a:pPr>
            <a:endParaRPr lang="en-GB" altLang="en-US" sz="1600" dirty="0">
              <a:latin typeface="Times New Roman" panose="02020603050405020304" pitchFamily="18" charset="0"/>
            </a:endParaRPr>
          </a:p>
        </p:txBody>
      </p:sp>
      <p:pic>
        <p:nvPicPr>
          <p:cNvPr id="4" name="Picture 3" descr="A graph showing the average temperature&#10;&#10;Description automatically generated with medium confidence">
            <a:extLst>
              <a:ext uri="{FF2B5EF4-FFF2-40B4-BE49-F238E27FC236}">
                <a16:creationId xmlns:a16="http://schemas.microsoft.com/office/drawing/2014/main" id="{31E2ED28-2319-B7CD-40E6-19727F207DF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2013" y="2072627"/>
            <a:ext cx="5181600" cy="3510820"/>
          </a:xfrm>
          <a:prstGeom prst="rect">
            <a:avLst/>
          </a:prstGeom>
        </p:spPr>
      </p:pic>
    </p:spTree>
    <p:extLst>
      <p:ext uri="{BB962C8B-B14F-4D97-AF65-F5344CB8AC3E}">
        <p14:creationId xmlns:p14="http://schemas.microsoft.com/office/powerpoint/2010/main" val="4350058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3">
            <a:extLst>
              <a:ext uri="{FF2B5EF4-FFF2-40B4-BE49-F238E27FC236}">
                <a16:creationId xmlns:a16="http://schemas.microsoft.com/office/drawing/2014/main" id="{9F8A02AB-BF95-7E65-ABAA-7FD5BCB48127}"/>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3" name="TextBox 14">
            <a:extLst>
              <a:ext uri="{FF2B5EF4-FFF2-40B4-BE49-F238E27FC236}">
                <a16:creationId xmlns:a16="http://schemas.microsoft.com/office/drawing/2014/main" id="{54DF76F5-7F9F-54FB-6D40-B0B980F8A1E8}"/>
              </a:ext>
            </a:extLst>
          </p:cNvPr>
          <p:cNvSpPr txBox="1"/>
          <p:nvPr/>
        </p:nvSpPr>
        <p:spPr>
          <a:xfrm>
            <a:off x="389464" y="684091"/>
            <a:ext cx="9313335" cy="574324"/>
          </a:xfrm>
          <a:prstGeom prst="rect">
            <a:avLst/>
          </a:prstGeom>
        </p:spPr>
        <p:txBody>
          <a:bodyPr wrap="square" lIns="0" tIns="0" rIns="0" bIns="0" rtlCol="0" anchor="t">
            <a:spAutoFit/>
          </a:bodyPr>
          <a:lstStyle/>
          <a:p>
            <a:pPr defTabSz="609630">
              <a:lnSpc>
                <a:spcPts val="4573"/>
              </a:lnSpc>
              <a:defRPr/>
            </a:pP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Climate Feedback – Positive Examples</a:t>
            </a:r>
          </a:p>
        </p:txBody>
      </p:sp>
      <p:sp>
        <p:nvSpPr>
          <p:cNvPr id="6" name="TextBox 5">
            <a:extLst>
              <a:ext uri="{FF2B5EF4-FFF2-40B4-BE49-F238E27FC236}">
                <a16:creationId xmlns:a16="http://schemas.microsoft.com/office/drawing/2014/main" id="{8A50EFE4-285B-6363-D77F-0B0D27462C6A}"/>
              </a:ext>
            </a:extLst>
          </p:cNvPr>
          <p:cNvSpPr txBox="1"/>
          <p:nvPr/>
        </p:nvSpPr>
        <p:spPr>
          <a:xfrm>
            <a:off x="330726" y="1376563"/>
            <a:ext cx="6929120" cy="5632311"/>
          </a:xfrm>
          <a:prstGeom prst="rect">
            <a:avLst/>
          </a:prstGeom>
          <a:noFill/>
        </p:spPr>
        <p:txBody>
          <a:bodyPr wrap="square">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Calibri" panose="020F0502020204030204" pitchFamily="34" charset="0"/>
                <a:cs typeface="Calibri" panose="020F0502020204030204" pitchFamily="34" charset="0"/>
              </a:rPr>
              <a:t>Climate feedbacks describe how components of the Earth system respond to an initial forcing, either reinforcing or counteracting the resulting climate change.</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en-US" dirty="0">
              <a:latin typeface="Calibri" panose="020F0502020204030204" pitchFamily="34" charset="0"/>
              <a:cs typeface="Calibri" panose="020F0502020204030204" pitchFamily="34" charset="0"/>
            </a:endParaRPr>
          </a:p>
          <a:p>
            <a:r>
              <a:rPr lang="en-GB" i="1" dirty="0">
                <a:latin typeface="Calibri" panose="020F0502020204030204" pitchFamily="34" charset="0"/>
                <a:cs typeface="Calibri" panose="020F0502020204030204" pitchFamily="34" charset="0"/>
              </a:rPr>
              <a:t>(Processes that amplify an initial climate change)</a:t>
            </a:r>
          </a:p>
          <a:p>
            <a:endParaRPr lang="en-GB"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b="1" dirty="0">
                <a:latin typeface="Calibri" panose="020F0502020204030204" pitchFamily="34" charset="0"/>
                <a:cs typeface="Calibri" panose="020F0502020204030204" pitchFamily="34" charset="0"/>
              </a:rPr>
              <a:t>Ice–albedo feedback</a:t>
            </a:r>
            <a:br>
              <a:rPr lang="en-GB" dirty="0">
                <a:latin typeface="Calibri" panose="020F0502020204030204" pitchFamily="34" charset="0"/>
                <a:cs typeface="Calibri" panose="020F0502020204030204" pitchFamily="34" charset="0"/>
              </a:rPr>
            </a:br>
            <a:r>
              <a:rPr lang="en-GB" dirty="0">
                <a:latin typeface="Calibri" panose="020F0502020204030204" pitchFamily="34" charset="0"/>
                <a:cs typeface="Calibri" panose="020F0502020204030204" pitchFamily="34" charset="0"/>
              </a:rPr>
              <a:t>Melting ice and snow reduce surface albedo, causing more solar radiation to be absorbed and further warming.</a:t>
            </a:r>
          </a:p>
          <a:p>
            <a:pPr marL="285750" indent="-285750">
              <a:buFont typeface="Arial" panose="020B0604020202020204" pitchFamily="34" charset="0"/>
              <a:buChar char="•"/>
            </a:pPr>
            <a:r>
              <a:rPr lang="en-GB" b="1" dirty="0">
                <a:latin typeface="Calibri" panose="020F0502020204030204" pitchFamily="34" charset="0"/>
                <a:cs typeface="Calibri" panose="020F0502020204030204" pitchFamily="34" charset="0"/>
              </a:rPr>
              <a:t>Water vapour feedback</a:t>
            </a:r>
            <a:br>
              <a:rPr lang="en-GB" dirty="0">
                <a:latin typeface="Calibri" panose="020F0502020204030204" pitchFamily="34" charset="0"/>
                <a:cs typeface="Calibri" panose="020F0502020204030204" pitchFamily="34" charset="0"/>
              </a:rPr>
            </a:br>
            <a:r>
              <a:rPr lang="en-GB" dirty="0">
                <a:latin typeface="Calibri" panose="020F0502020204030204" pitchFamily="34" charset="0"/>
                <a:cs typeface="Calibri" panose="020F0502020204030204" pitchFamily="34" charset="0"/>
              </a:rPr>
              <a:t>Warmer air holds more water vapour, a powerful greenhouse gas, which enhances the greenhouse effect.</a:t>
            </a:r>
          </a:p>
          <a:p>
            <a:pPr marL="285750" indent="-285750">
              <a:buFont typeface="Arial" panose="020B0604020202020204" pitchFamily="34" charset="0"/>
              <a:buChar char="•"/>
            </a:pPr>
            <a:r>
              <a:rPr lang="en-GB" b="1" dirty="0">
                <a:latin typeface="Calibri" panose="020F0502020204030204" pitchFamily="34" charset="0"/>
                <a:cs typeface="Calibri" panose="020F0502020204030204" pitchFamily="34" charset="0"/>
              </a:rPr>
              <a:t>Ocean carbon feedback</a:t>
            </a:r>
            <a:br>
              <a:rPr lang="en-GB" dirty="0">
                <a:latin typeface="Calibri" panose="020F0502020204030204" pitchFamily="34" charset="0"/>
                <a:cs typeface="Calibri" panose="020F0502020204030204" pitchFamily="34" charset="0"/>
              </a:rPr>
            </a:br>
            <a:r>
              <a:rPr lang="en-GB" dirty="0">
                <a:latin typeface="Calibri" panose="020F0502020204030204" pitchFamily="34" charset="0"/>
                <a:cs typeface="Calibri" panose="020F0502020204030204" pitchFamily="34" charset="0"/>
              </a:rPr>
              <a:t>As seawater warms, the oceans’ capacity to dissolve CO₂ decreases, leaving more CO₂ in the atmosphere.</a:t>
            </a:r>
          </a:p>
          <a:p>
            <a:pPr marL="285750" indent="-285750">
              <a:buFont typeface="Arial" panose="020B0604020202020204" pitchFamily="34" charset="0"/>
              <a:buChar char="•"/>
            </a:pPr>
            <a:r>
              <a:rPr lang="en-GB" b="1" dirty="0">
                <a:latin typeface="Calibri" panose="020F0502020204030204" pitchFamily="34" charset="0"/>
                <a:cs typeface="Calibri" panose="020F0502020204030204" pitchFamily="34" charset="0"/>
              </a:rPr>
              <a:t>Vegetation–albedo feedback (regional)</a:t>
            </a:r>
            <a:br>
              <a:rPr lang="en-GB" dirty="0">
                <a:latin typeface="Calibri" panose="020F0502020204030204" pitchFamily="34" charset="0"/>
                <a:cs typeface="Calibri" panose="020F0502020204030204" pitchFamily="34" charset="0"/>
              </a:rPr>
            </a:br>
            <a:r>
              <a:rPr lang="en-GB" dirty="0">
                <a:latin typeface="Calibri" panose="020F0502020204030204" pitchFamily="34" charset="0"/>
                <a:cs typeface="Calibri" panose="020F0502020204030204" pitchFamily="34" charset="0"/>
              </a:rPr>
              <a:t>Expansion of darker vegetation (e.g. forests into high latitudes) lowers surface albedo, increasing heat absorption.</a:t>
            </a:r>
          </a:p>
          <a:p>
            <a:pPr>
              <a:defRPr/>
            </a:pPr>
            <a:endParaRPr lang="en-US" alt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en-US" dirty="0"/>
          </a:p>
        </p:txBody>
      </p:sp>
      <p:pic>
        <p:nvPicPr>
          <p:cNvPr id="8" name="Picture 7" descr="A circular arrow with arrows and crosses&#10;&#10;AI-generated content may be incorrect.">
            <a:extLst>
              <a:ext uri="{FF2B5EF4-FFF2-40B4-BE49-F238E27FC236}">
                <a16:creationId xmlns:a16="http://schemas.microsoft.com/office/drawing/2014/main" id="{DA2EEEB7-AD7E-5873-BEB7-58B9C8526BB4}"/>
              </a:ext>
            </a:extLst>
          </p:cNvPr>
          <p:cNvPicPr>
            <a:picLocks noChangeAspect="1"/>
          </p:cNvPicPr>
          <p:nvPr/>
        </p:nvPicPr>
        <p:blipFill>
          <a:blip r:embed="rId4"/>
          <a:stretch>
            <a:fillRect/>
          </a:stretch>
        </p:blipFill>
        <p:spPr>
          <a:xfrm>
            <a:off x="7628966" y="1645919"/>
            <a:ext cx="4113375" cy="4113375"/>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B1A67-05A5-8CCD-D518-77ABB90FDAB4}"/>
            </a:ext>
          </a:extLst>
        </p:cNvPr>
        <p:cNvGrpSpPr/>
        <p:nvPr/>
      </p:nvGrpSpPr>
      <p:grpSpPr>
        <a:xfrm>
          <a:off x="0" y="0"/>
          <a:ext cx="0" cy="0"/>
          <a:chOff x="0" y="0"/>
          <a:chExt cx="0" cy="0"/>
        </a:xfrm>
      </p:grpSpPr>
      <p:sp>
        <p:nvSpPr>
          <p:cNvPr id="2" name="Freeform 13">
            <a:extLst>
              <a:ext uri="{FF2B5EF4-FFF2-40B4-BE49-F238E27FC236}">
                <a16:creationId xmlns:a16="http://schemas.microsoft.com/office/drawing/2014/main" id="{5C7EDDB5-372A-E8C5-8F43-33B4A6842CD0}"/>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3" name="TextBox 14">
            <a:extLst>
              <a:ext uri="{FF2B5EF4-FFF2-40B4-BE49-F238E27FC236}">
                <a16:creationId xmlns:a16="http://schemas.microsoft.com/office/drawing/2014/main" id="{A271F20F-9239-9B07-E2F8-DC1035730234}"/>
              </a:ext>
            </a:extLst>
          </p:cNvPr>
          <p:cNvSpPr txBox="1"/>
          <p:nvPr/>
        </p:nvSpPr>
        <p:spPr>
          <a:xfrm>
            <a:off x="389465" y="684091"/>
            <a:ext cx="7336552" cy="574324"/>
          </a:xfrm>
          <a:prstGeom prst="rect">
            <a:avLst/>
          </a:prstGeom>
        </p:spPr>
        <p:txBody>
          <a:bodyPr wrap="square" lIns="0" tIns="0" rIns="0" bIns="0" rtlCol="0" anchor="t">
            <a:spAutoFit/>
          </a:bodyPr>
          <a:lstStyle/>
          <a:p>
            <a:pPr defTabSz="609630">
              <a:lnSpc>
                <a:spcPts val="4573"/>
              </a:lnSpc>
              <a:defRPr/>
            </a:pP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Climate Feedback – Negative Examples</a:t>
            </a:r>
          </a:p>
        </p:txBody>
      </p:sp>
      <p:sp>
        <p:nvSpPr>
          <p:cNvPr id="6" name="TextBox 5">
            <a:extLst>
              <a:ext uri="{FF2B5EF4-FFF2-40B4-BE49-F238E27FC236}">
                <a16:creationId xmlns:a16="http://schemas.microsoft.com/office/drawing/2014/main" id="{1310D0DF-84F7-ADDE-F895-3E7A5A58164D}"/>
              </a:ext>
            </a:extLst>
          </p:cNvPr>
          <p:cNvSpPr txBox="1"/>
          <p:nvPr/>
        </p:nvSpPr>
        <p:spPr>
          <a:xfrm>
            <a:off x="304800" y="1416596"/>
            <a:ext cx="6929120" cy="923330"/>
          </a:xfrm>
          <a:prstGeom prst="rect">
            <a:avLst/>
          </a:prstGeom>
          <a:noFill/>
        </p:spPr>
        <p:txBody>
          <a:bodyPr wrap="square">
            <a:spAutoFit/>
          </a:bodyPr>
          <a:lstStyle/>
          <a:p>
            <a:pPr>
              <a:defRPr/>
            </a:pPr>
            <a:endParaRPr lang="en-US" altLang="en-US" dirty="0"/>
          </a:p>
          <a:p>
            <a:pPr>
              <a:defRPr/>
            </a:pPr>
            <a:endParaRPr lang="en-US" alt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en-US" dirty="0"/>
          </a:p>
        </p:txBody>
      </p:sp>
      <p:pic>
        <p:nvPicPr>
          <p:cNvPr id="5" name="Picture 4" descr="A circular arrow with arrows and circles&#10;&#10;AI-generated content may be incorrect.">
            <a:extLst>
              <a:ext uri="{FF2B5EF4-FFF2-40B4-BE49-F238E27FC236}">
                <a16:creationId xmlns:a16="http://schemas.microsoft.com/office/drawing/2014/main" id="{8F1B3969-C5BA-B7CC-7CCC-15568D825BAC}"/>
              </a:ext>
            </a:extLst>
          </p:cNvPr>
          <p:cNvPicPr>
            <a:picLocks noChangeAspect="1"/>
          </p:cNvPicPr>
          <p:nvPr/>
        </p:nvPicPr>
        <p:blipFill>
          <a:blip r:embed="rId4"/>
          <a:srcRect l="6199" r="4970" b="5706"/>
          <a:stretch>
            <a:fillRect/>
          </a:stretch>
        </p:blipFill>
        <p:spPr>
          <a:xfrm>
            <a:off x="7444705" y="1525614"/>
            <a:ext cx="4213896" cy="4473096"/>
          </a:xfrm>
          <a:prstGeom prst="ellipse">
            <a:avLst/>
          </a:prstGeom>
        </p:spPr>
      </p:pic>
      <p:sp>
        <p:nvSpPr>
          <p:cNvPr id="12" name="TextBox 11">
            <a:extLst>
              <a:ext uri="{FF2B5EF4-FFF2-40B4-BE49-F238E27FC236}">
                <a16:creationId xmlns:a16="http://schemas.microsoft.com/office/drawing/2014/main" id="{DF87A69B-F1EB-8CEA-851C-9942ECB3C159}"/>
              </a:ext>
            </a:extLst>
          </p:cNvPr>
          <p:cNvSpPr txBox="1"/>
          <p:nvPr/>
        </p:nvSpPr>
        <p:spPr>
          <a:xfrm>
            <a:off x="314960" y="1502688"/>
            <a:ext cx="6929120" cy="5078313"/>
          </a:xfrm>
          <a:prstGeom prst="rect">
            <a:avLst/>
          </a:prstGeom>
          <a:noFill/>
        </p:spPr>
        <p:txBody>
          <a:bodyPr wrap="square">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Calibri" panose="020F0502020204030204" pitchFamily="34" charset="0"/>
                <a:cs typeface="Calibri" panose="020F0502020204030204" pitchFamily="34" charset="0"/>
              </a:rPr>
              <a:t>Climate feedbacks describe how components of the Earth system respond to an initial forcing, either reinforcing or counteracting the resulting climate change.</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en-US" dirty="0">
              <a:latin typeface="Calibri" panose="020F0502020204030204" pitchFamily="34" charset="0"/>
              <a:cs typeface="Calibri" panose="020F0502020204030204" pitchFamily="34" charset="0"/>
            </a:endParaRPr>
          </a:p>
          <a:p>
            <a:r>
              <a:rPr lang="en-GB" i="1" dirty="0">
                <a:latin typeface="Calibri" panose="020F0502020204030204" pitchFamily="34" charset="0"/>
                <a:cs typeface="Calibri" panose="020F0502020204030204" pitchFamily="34" charset="0"/>
              </a:rPr>
              <a:t>(Processes that counteract an imposed climate change)</a:t>
            </a:r>
            <a:endParaRPr lang="en-GB" dirty="0">
              <a:latin typeface="Calibri" panose="020F0502020204030204" pitchFamily="34" charset="0"/>
              <a:cs typeface="Calibri" panose="020F0502020204030204" pitchFamily="34" charset="0"/>
            </a:endParaRPr>
          </a:p>
          <a:p>
            <a:endParaRPr lang="en-GB" b="1"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b="1" dirty="0">
                <a:latin typeface="Calibri" panose="020F0502020204030204" pitchFamily="34" charset="0"/>
                <a:cs typeface="Calibri" panose="020F0502020204030204" pitchFamily="34" charset="0"/>
              </a:rPr>
              <a:t>CO₂ fertilisation effect</a:t>
            </a:r>
            <a:br>
              <a:rPr lang="en-GB" dirty="0">
                <a:latin typeface="Calibri" panose="020F0502020204030204" pitchFamily="34" charset="0"/>
                <a:cs typeface="Calibri" panose="020F0502020204030204" pitchFamily="34" charset="0"/>
              </a:rPr>
            </a:br>
            <a:r>
              <a:rPr lang="en-GB" dirty="0">
                <a:latin typeface="Calibri" panose="020F0502020204030204" pitchFamily="34" charset="0"/>
                <a:cs typeface="Calibri" panose="020F0502020204030204" pitchFamily="34" charset="0"/>
              </a:rPr>
              <a:t>Higher atmospheric CO₂ can enhance plant growth, increasing carbon uptake through photosynthesis.</a:t>
            </a:r>
          </a:p>
          <a:p>
            <a:pPr marL="285750" indent="-285750">
              <a:buFont typeface="Arial" panose="020B0604020202020204" pitchFamily="34" charset="0"/>
              <a:buChar char="•"/>
            </a:pPr>
            <a:r>
              <a:rPr lang="en-GB" b="1" dirty="0">
                <a:latin typeface="Calibri" panose="020F0502020204030204" pitchFamily="34" charset="0"/>
                <a:cs typeface="Calibri" panose="020F0502020204030204" pitchFamily="34" charset="0"/>
              </a:rPr>
              <a:t>Increased terrestrial carbon storage</a:t>
            </a:r>
            <a:br>
              <a:rPr lang="en-GB" dirty="0">
                <a:latin typeface="Calibri" panose="020F0502020204030204" pitchFamily="34" charset="0"/>
                <a:cs typeface="Calibri" panose="020F0502020204030204" pitchFamily="34" charset="0"/>
              </a:rPr>
            </a:br>
            <a:r>
              <a:rPr lang="en-GB" dirty="0">
                <a:latin typeface="Calibri" panose="020F0502020204030204" pitchFamily="34" charset="0"/>
                <a:cs typeface="Calibri" panose="020F0502020204030204" pitchFamily="34" charset="0"/>
              </a:rPr>
              <a:t>Warmer temperatures in some regions lengthen growing seasons, allowing greater carbon storage in soils and biomass.</a:t>
            </a:r>
          </a:p>
          <a:p>
            <a:pPr marL="285750" indent="-285750">
              <a:buFont typeface="Arial" panose="020B0604020202020204" pitchFamily="34" charset="0"/>
              <a:buChar char="•"/>
            </a:pPr>
            <a:r>
              <a:rPr lang="en-GB" b="1" dirty="0">
                <a:latin typeface="Calibri" panose="020F0502020204030204" pitchFamily="34" charset="0"/>
                <a:cs typeface="Calibri" panose="020F0502020204030204" pitchFamily="34" charset="0"/>
              </a:rPr>
              <a:t>Chemical weathering feedback</a:t>
            </a:r>
            <a:br>
              <a:rPr lang="en-GB" dirty="0">
                <a:latin typeface="Calibri" panose="020F0502020204030204" pitchFamily="34" charset="0"/>
                <a:cs typeface="Calibri" panose="020F0502020204030204" pitchFamily="34" charset="0"/>
              </a:rPr>
            </a:br>
            <a:r>
              <a:rPr lang="en-GB" dirty="0">
                <a:latin typeface="Calibri" panose="020F0502020204030204" pitchFamily="34" charset="0"/>
                <a:cs typeface="Calibri" panose="020F0502020204030204" pitchFamily="34" charset="0"/>
              </a:rPr>
              <a:t>Higher temperatures and increased rainfall enhance silicate rock weathering, which removes CO₂ from the atmosphere over long timescales.</a:t>
            </a:r>
          </a:p>
          <a:p>
            <a:pPr>
              <a:defRPr/>
            </a:pPr>
            <a:endParaRPr lang="en-US" alt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en-US" dirty="0"/>
          </a:p>
        </p:txBody>
      </p:sp>
    </p:spTree>
    <p:extLst>
      <p:ext uri="{BB962C8B-B14F-4D97-AF65-F5344CB8AC3E}">
        <p14:creationId xmlns:p14="http://schemas.microsoft.com/office/powerpoint/2010/main" val="11793887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56F90-F1C5-68BB-5901-84AA2A4A858B}"/>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76562CA9-B73E-D45E-D7C1-2A3D55C36117}"/>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30" eaLnBrk="1" fontAlgn="auto" hangingPunct="1">
              <a:spcBef>
                <a:spcPts val="0"/>
              </a:spcBef>
              <a:spcAft>
                <a:spcPts val="0"/>
              </a:spcAft>
              <a:defRPr/>
            </a:pPr>
            <a:endParaRPr lang="en-GB" sz="1200">
              <a:solidFill>
                <a:prstClr val="black"/>
              </a:solidFill>
              <a:latin typeface="DM Sans" pitchFamily="2" charset="0"/>
              <a:ea typeface="+mn-ea"/>
            </a:endParaRPr>
          </a:p>
        </p:txBody>
      </p:sp>
      <p:sp>
        <p:nvSpPr>
          <p:cNvPr id="5" name="TextBox 14">
            <a:extLst>
              <a:ext uri="{FF2B5EF4-FFF2-40B4-BE49-F238E27FC236}">
                <a16:creationId xmlns:a16="http://schemas.microsoft.com/office/drawing/2014/main" id="{74D5E461-5E91-E835-241E-4D772101B2A8}"/>
              </a:ext>
            </a:extLst>
          </p:cNvPr>
          <p:cNvSpPr txBox="1"/>
          <p:nvPr/>
        </p:nvSpPr>
        <p:spPr>
          <a:xfrm>
            <a:off x="778085" y="1273997"/>
            <a:ext cx="7336552" cy="589905"/>
          </a:xfrm>
          <a:prstGeom prst="rect">
            <a:avLst/>
          </a:prstGeom>
        </p:spPr>
        <p:txBody>
          <a:bodyPr wrap="square" lIns="0" tIns="0" rIns="0" bIns="0" rtlCol="0" anchor="t">
            <a:spAutoFit/>
          </a:bodyPr>
          <a:lstStyle/>
          <a:p>
            <a:pPr defTabSz="609630" eaLnBrk="1" fontAlgn="auto" hangingPunct="1">
              <a:lnSpc>
                <a:spcPts val="4573"/>
              </a:lnSpc>
              <a:spcBef>
                <a:spcPts val="0"/>
              </a:spcBef>
              <a:spcAft>
                <a:spcPts val="0"/>
              </a:spcAft>
              <a:defRPr/>
            </a:pPr>
            <a:r>
              <a:rPr lang="en-GB" sz="4000" i="1" spc="-275" dirty="0">
                <a:solidFill>
                  <a:srgbClr val="46245A"/>
                </a:solidFill>
                <a:latin typeface="DM Sans Bold"/>
                <a:ea typeface="+mn-ea"/>
              </a:rPr>
              <a:t>Submitted Questions - Scientific  </a:t>
            </a:r>
            <a:endParaRPr lang="en-US" sz="4000" i="1" spc="-275" dirty="0">
              <a:solidFill>
                <a:srgbClr val="46245A"/>
              </a:solidFill>
              <a:latin typeface="DM Sans Bold"/>
              <a:ea typeface="+mn-ea"/>
            </a:endParaRPr>
          </a:p>
        </p:txBody>
      </p:sp>
      <p:sp>
        <p:nvSpPr>
          <p:cNvPr id="2" name="TextBox 1">
            <a:extLst>
              <a:ext uri="{FF2B5EF4-FFF2-40B4-BE49-F238E27FC236}">
                <a16:creationId xmlns:a16="http://schemas.microsoft.com/office/drawing/2014/main" id="{C6C43B2B-3A59-62F9-C7E6-59B5DE483118}"/>
              </a:ext>
            </a:extLst>
          </p:cNvPr>
          <p:cNvSpPr txBox="1"/>
          <p:nvPr/>
        </p:nvSpPr>
        <p:spPr>
          <a:xfrm>
            <a:off x="778085" y="2145765"/>
            <a:ext cx="11203383" cy="4247317"/>
          </a:xfrm>
          <a:prstGeom prst="rect">
            <a:avLst/>
          </a:prstGeom>
          <a:noFill/>
        </p:spPr>
        <p:txBody>
          <a:bodyPr wrap="square">
            <a:spAutoFit/>
          </a:bodyPr>
          <a:lstStyle/>
          <a:p>
            <a:r>
              <a:rPr lang="en-GB" b="1" kern="0" dirty="0">
                <a:solidFill>
                  <a:srgbClr val="1C2029"/>
                </a:solidFill>
                <a:latin typeface="Calibri" panose="020F0502020204030204" pitchFamily="34" charset="0"/>
                <a:ea typeface="Aptos" panose="020B0004020202020204" pitchFamily="34" charset="0"/>
                <a:cs typeface="Calibri" panose="020F0502020204030204" pitchFamily="34" charset="0"/>
              </a:rPr>
              <a:t>4. </a:t>
            </a:r>
            <a:r>
              <a:rPr lang="en-GB" b="1" dirty="0">
                <a:latin typeface="Calibri" panose="020F0502020204030204" pitchFamily="34" charset="0"/>
                <a:cs typeface="Calibri" panose="020F0502020204030204" pitchFamily="34" charset="0"/>
              </a:rPr>
              <a:t>Adaptation and Mitigations </a:t>
            </a:r>
            <a:endParaRPr lang="en-GB" dirty="0">
              <a:latin typeface="Calibri" panose="020F0502020204030204" pitchFamily="34" charset="0"/>
              <a:cs typeface="Calibri" panose="020F0502020204030204" pitchFamily="34" charset="0"/>
            </a:endParaRPr>
          </a:p>
          <a:p>
            <a:endParaRPr lang="en-GB" b="1" kern="0" dirty="0">
              <a:solidFill>
                <a:srgbClr val="1C2029"/>
              </a:solidFill>
              <a:latin typeface="Calibri" panose="020F0502020204030204" pitchFamily="34" charset="0"/>
              <a:ea typeface="Aptos" panose="020B0004020202020204" pitchFamily="34" charset="0"/>
              <a:cs typeface="Calibri" panose="020F0502020204030204" pitchFamily="34" charset="0"/>
            </a:endParaRPr>
          </a:p>
          <a:p>
            <a:pPr marL="285750" indent="-285750">
              <a:buFont typeface="Arial" panose="020B0604020202020204" pitchFamily="34" charset="0"/>
              <a:buChar char="•"/>
            </a:pPr>
            <a:r>
              <a:rPr lang="en-GB" sz="1600" dirty="0">
                <a:latin typeface="Calibri" panose="020F0502020204030204" pitchFamily="34" charset="0"/>
                <a:cs typeface="Calibri" panose="020F0502020204030204" pitchFamily="34" charset="0"/>
              </a:rPr>
              <a:t>More examples/how to differentiate adaptation and mitigation </a:t>
            </a:r>
            <a:r>
              <a:rPr lang="en-GB" sz="1600" dirty="0" err="1">
                <a:latin typeface="Calibri" panose="020F0502020204030204" pitchFamily="34" charset="0"/>
                <a:cs typeface="Calibri" panose="020F0502020204030204" pitchFamily="34" charset="0"/>
              </a:rPr>
              <a:t>e.g</a:t>
            </a:r>
            <a:r>
              <a:rPr lang="en-GB" sz="1600" dirty="0">
                <a:latin typeface="Calibri" panose="020F0502020204030204" pitchFamily="34" charset="0"/>
                <a:cs typeface="Calibri" panose="020F0502020204030204" pitchFamily="34" charset="0"/>
              </a:rPr>
              <a:t> which would building sea walls in coastal areas be?</a:t>
            </a:r>
          </a:p>
          <a:p>
            <a:pPr marL="285750" indent="-285750">
              <a:buFont typeface="Arial" panose="020B0604020202020204" pitchFamily="34" charset="0"/>
              <a:buChar char="•"/>
            </a:pPr>
            <a:endParaRPr lang="en-GB" sz="160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sz="1600" dirty="0">
                <a:latin typeface="Calibri" panose="020F0502020204030204" pitchFamily="34" charset="0"/>
                <a:cs typeface="Calibri" panose="020F0502020204030204" pitchFamily="34" charset="0"/>
              </a:rPr>
              <a:t>Climate change adaptation</a:t>
            </a:r>
          </a:p>
          <a:p>
            <a:endParaRPr lang="en-GB" sz="160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sz="1600" dirty="0">
                <a:latin typeface="Calibri" panose="020F0502020204030204" pitchFamily="34" charset="0"/>
                <a:cs typeface="Calibri" panose="020F0502020204030204" pitchFamily="34" charset="0"/>
              </a:rPr>
              <a:t>Do you think any of the mitigation strategies will ever produce a real change to the CO2 levels?</a:t>
            </a:r>
          </a:p>
          <a:p>
            <a:endParaRPr lang="en-GB" sz="160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sz="1600" dirty="0">
                <a:latin typeface="Calibri" panose="020F0502020204030204" pitchFamily="34" charset="0"/>
                <a:cs typeface="Calibri" panose="020F0502020204030204" pitchFamily="34" charset="0"/>
              </a:rPr>
              <a:t>How well does the MCB over the great barrier reef really work? Can it be reproduced cheaply for use elsewhere</a:t>
            </a:r>
          </a:p>
          <a:p>
            <a:endParaRPr lang="en-GB" sz="160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sz="1600" dirty="0">
                <a:latin typeface="Calibri" panose="020F0502020204030204" pitchFamily="34" charset="0"/>
                <a:cs typeface="Calibri" panose="020F0502020204030204" pitchFamily="34" charset="0"/>
              </a:rPr>
              <a:t>There is an air carbon capture system in Iceland, do you know if it is successful and if so where would the best place in UK be?</a:t>
            </a:r>
          </a:p>
          <a:p>
            <a:endParaRPr lang="en-GB" sz="160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sz="1600" dirty="0">
                <a:latin typeface="Calibri" panose="020F0502020204030204" pitchFamily="34" charset="0"/>
                <a:cs typeface="Calibri" panose="020F0502020204030204" pitchFamily="34" charset="0"/>
              </a:rPr>
              <a:t>Is there no process to split the CO2 directly and store the carbon?</a:t>
            </a:r>
          </a:p>
          <a:p>
            <a:endParaRPr lang="en-GB" sz="160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sz="1600" dirty="0">
                <a:latin typeface="Calibri" panose="020F0502020204030204" pitchFamily="34" charset="0"/>
                <a:cs typeface="Calibri" panose="020F0502020204030204" pitchFamily="34" charset="0"/>
              </a:rPr>
              <a:t>What about painting building rooves in the tropics white to reduce a/c electricity usage?</a:t>
            </a:r>
          </a:p>
          <a:p>
            <a:endParaRPr lang="en-GB" b="1" kern="0" dirty="0">
              <a:solidFill>
                <a:srgbClr val="1C2029"/>
              </a:solidFill>
              <a:latin typeface="Calibri" panose="020F0502020204030204" pitchFamily="34" charset="0"/>
              <a:ea typeface="Aptos" panose="020B0004020202020204" pitchFamily="34" charset="0"/>
              <a:cs typeface="Calibri" panose="020F0502020204030204" pitchFamily="34" charset="0"/>
            </a:endParaRPr>
          </a:p>
        </p:txBody>
      </p:sp>
    </p:spTree>
    <p:extLst>
      <p:ext uri="{BB962C8B-B14F-4D97-AF65-F5344CB8AC3E}">
        <p14:creationId xmlns:p14="http://schemas.microsoft.com/office/powerpoint/2010/main" val="34109406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77240" y="987552"/>
            <a:ext cx="6434454" cy="584775"/>
          </a:xfrm>
          <a:prstGeom prst="rect">
            <a:avLst/>
          </a:prstGeom>
          <a:noFill/>
        </p:spPr>
        <p:txBody>
          <a:bodyPr wrap="none" lIns="0" tIns="0" rIns="0" bIns="0">
            <a:spAutoFit/>
          </a:bodyPr>
          <a:lstStyle/>
          <a:p>
            <a:r>
              <a:rPr lang="en-GB" sz="3800" b="1" i="1" dirty="0">
                <a:solidFill>
                  <a:srgbClr val="46245A"/>
                </a:solidFill>
                <a:latin typeface="DM Sans Bold"/>
              </a:rPr>
              <a:t>Adaptation and Mitigations</a:t>
            </a:r>
            <a:endParaRPr sz="3800" b="1" i="1" dirty="0">
              <a:solidFill>
                <a:srgbClr val="46245A"/>
              </a:solidFill>
              <a:latin typeface="DM Sans Bold"/>
            </a:endParaRPr>
          </a:p>
        </p:txBody>
      </p:sp>
      <p:sp>
        <p:nvSpPr>
          <p:cNvPr id="6" name="TextBox 5"/>
          <p:cNvSpPr txBox="1"/>
          <p:nvPr/>
        </p:nvSpPr>
        <p:spPr>
          <a:xfrm>
            <a:off x="777239" y="2103120"/>
            <a:ext cx="6570515" cy="276999"/>
          </a:xfrm>
          <a:prstGeom prst="rect">
            <a:avLst/>
          </a:prstGeom>
          <a:noFill/>
        </p:spPr>
        <p:txBody>
          <a:bodyPr wrap="square" lIns="0" tIns="0" rIns="0" bIns="0">
            <a:spAutoFit/>
          </a:bodyPr>
          <a:lstStyle/>
          <a:p>
            <a:r>
              <a:rPr b="1" dirty="0">
                <a:solidFill>
                  <a:srgbClr val="5F636B"/>
                </a:solidFill>
                <a:latin typeface="Calibri"/>
              </a:rPr>
              <a:t>Question: how do we differentiate adaptation and mitigation?</a:t>
            </a:r>
          </a:p>
        </p:txBody>
      </p:sp>
      <p:sp>
        <p:nvSpPr>
          <p:cNvPr id="7" name="Rectangle 6"/>
          <p:cNvSpPr/>
          <p:nvPr/>
        </p:nvSpPr>
        <p:spPr>
          <a:xfrm>
            <a:off x="777239" y="2633472"/>
            <a:ext cx="86171" cy="530352"/>
          </a:xfrm>
          <a:prstGeom prst="rect">
            <a:avLst/>
          </a:prstGeom>
          <a:solidFill>
            <a:srgbClr val="F5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 name="Rectangle 7"/>
          <p:cNvSpPr/>
          <p:nvPr/>
        </p:nvSpPr>
        <p:spPr>
          <a:xfrm>
            <a:off x="863410" y="2633472"/>
            <a:ext cx="9317206" cy="530352"/>
          </a:xfrm>
          <a:prstGeom prst="rect">
            <a:avLst/>
          </a:prstGeom>
          <a:solidFill>
            <a:srgbClr val="F1ECF5"/>
          </a:solidFill>
          <a:ln>
            <a:solidFill>
              <a:srgbClr val="E3D8EA"/>
            </a:solidFill>
          </a:ln>
        </p:spPr>
        <p:style>
          <a:lnRef idx="1">
            <a:schemeClr val="accent1"/>
          </a:lnRef>
          <a:fillRef idx="3">
            <a:schemeClr val="accent1"/>
          </a:fillRef>
          <a:effectRef idx="2">
            <a:schemeClr val="accent1"/>
          </a:effectRef>
          <a:fontRef idx="minor">
            <a:schemeClr val="lt1"/>
          </a:fontRef>
        </p:style>
        <p:txBody>
          <a:bodyPr lIns="118872" tIns="36576" rIns="73152" bIns="36576" rtlCol="0" anchor="ctr"/>
          <a:lstStyle/>
          <a:p>
            <a:pPr algn="ctr"/>
            <a:r>
              <a:rPr sz="2400" b="1" dirty="0">
                <a:solidFill>
                  <a:srgbClr val="46245A"/>
                </a:solidFill>
                <a:latin typeface="Calibri"/>
              </a:rPr>
              <a:t>Mitigation tackles the cause; adaptation tackles the consequences.</a:t>
            </a:r>
          </a:p>
        </p:txBody>
      </p:sp>
      <p:sp>
        <p:nvSpPr>
          <p:cNvPr id="9" name="TextBox 8"/>
          <p:cNvSpPr txBox="1"/>
          <p:nvPr/>
        </p:nvSpPr>
        <p:spPr>
          <a:xfrm>
            <a:off x="777239" y="3739594"/>
            <a:ext cx="10087156" cy="1308050"/>
          </a:xfrm>
          <a:prstGeom prst="rect">
            <a:avLst/>
          </a:prstGeom>
          <a:noFill/>
        </p:spPr>
        <p:txBody>
          <a:bodyPr wrap="square" lIns="0" tIns="0" rIns="0" bIns="0">
            <a:spAutoFit/>
          </a:bodyPr>
          <a:lstStyle/>
          <a:p>
            <a:pPr marL="285750" indent="-285750">
              <a:spcAft>
                <a:spcPts val="200"/>
              </a:spcAft>
              <a:buFont typeface="Arial" panose="020B0604020202020204" pitchFamily="34" charset="0"/>
              <a:buChar char="•"/>
            </a:pPr>
            <a:r>
              <a:rPr sz="2000" dirty="0">
                <a:solidFill>
                  <a:srgbClr val="1C2029"/>
                </a:solidFill>
                <a:latin typeface="Calibri"/>
              </a:rPr>
              <a:t>Mitigation: reduce greenhouse gas emissions or remove CO2, lowering future forcing.</a:t>
            </a:r>
          </a:p>
          <a:p>
            <a:pPr marL="285750" indent="-285750">
              <a:spcAft>
                <a:spcPts val="200"/>
              </a:spcAft>
              <a:buFont typeface="Arial" panose="020B0604020202020204" pitchFamily="34" charset="0"/>
              <a:buChar char="•"/>
            </a:pPr>
            <a:r>
              <a:rPr sz="2000" dirty="0">
                <a:solidFill>
                  <a:srgbClr val="1C2029"/>
                </a:solidFill>
                <a:latin typeface="Calibri"/>
              </a:rPr>
              <a:t>Adaptation: reduce exposure, vulnerability and damage from climate impacts.</a:t>
            </a:r>
          </a:p>
          <a:p>
            <a:pPr marL="285750" indent="-285750">
              <a:spcAft>
                <a:spcPts val="200"/>
              </a:spcAft>
              <a:buFont typeface="Arial" panose="020B0604020202020204" pitchFamily="34" charset="0"/>
              <a:buChar char="•"/>
            </a:pPr>
            <a:r>
              <a:rPr sz="2000" dirty="0">
                <a:solidFill>
                  <a:srgbClr val="1C2029"/>
                </a:solidFill>
                <a:latin typeface="Calibri"/>
              </a:rPr>
              <a:t>Building sea walls is adaptation: it protects against flooding but does not lower CO2.</a:t>
            </a:r>
          </a:p>
          <a:p>
            <a:pPr marL="285750" indent="-285750">
              <a:spcAft>
                <a:spcPts val="200"/>
              </a:spcAft>
              <a:buFont typeface="Arial" panose="020B0604020202020204" pitchFamily="34" charset="0"/>
              <a:buChar char="•"/>
            </a:pPr>
            <a:r>
              <a:rPr sz="2000" dirty="0">
                <a:solidFill>
                  <a:srgbClr val="1C2029"/>
                </a:solidFill>
                <a:latin typeface="Calibri"/>
              </a:rPr>
              <a:t>Some actions do both, such as mangrove restoration or efficient, shaded buildings.</a:t>
            </a:r>
          </a:p>
        </p:txBody>
      </p:sp>
      <p:sp>
        <p:nvSpPr>
          <p:cNvPr id="2" name="Freeform 13">
            <a:extLst>
              <a:ext uri="{FF2B5EF4-FFF2-40B4-BE49-F238E27FC236}">
                <a16:creationId xmlns:a16="http://schemas.microsoft.com/office/drawing/2014/main" id="{B0FC9522-7BFF-6C1C-0481-BB3256581219}"/>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2" cstate="email">
              <a:extLst>
                <a:ext uri="{28A0092B-C50C-407E-A947-70E740481C1C}">
                  <a14:useLocalDpi xmlns:a14="http://schemas.microsoft.com/office/drawing/2010/main"/>
                </a:ext>
              </a:extLst>
            </a:blip>
            <a:stretch>
              <a:fillRect/>
            </a:stretch>
          </a:blipFill>
        </p:spPr>
        <p:txBody>
          <a:bodyPr/>
          <a:lstStyle/>
          <a:p>
            <a:pPr defTabSz="609630" eaLnBrk="1" fontAlgn="auto" hangingPunct="1">
              <a:spcBef>
                <a:spcPts val="0"/>
              </a:spcBef>
              <a:spcAft>
                <a:spcPts val="0"/>
              </a:spcAft>
              <a:defRPr/>
            </a:pPr>
            <a:endParaRPr lang="en-GB" sz="1200">
              <a:solidFill>
                <a:prstClr val="black"/>
              </a:solidFill>
              <a:latin typeface="DM Sans" pitchFamily="2" charset="0"/>
              <a:ea typeface="+mn-e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800100" y="1795343"/>
            <a:ext cx="5486400" cy="307777"/>
          </a:xfrm>
          <a:prstGeom prst="rect">
            <a:avLst/>
          </a:prstGeom>
          <a:noFill/>
        </p:spPr>
        <p:txBody>
          <a:bodyPr wrap="square" lIns="0" tIns="0" rIns="0" bIns="0">
            <a:spAutoFit/>
          </a:bodyPr>
          <a:lstStyle/>
          <a:p>
            <a:r>
              <a:rPr sz="2000" b="1" dirty="0">
                <a:solidFill>
                  <a:srgbClr val="5F636B"/>
                </a:solidFill>
                <a:latin typeface="Calibri"/>
              </a:rPr>
              <a:t>Question: which category do examples fit into?</a:t>
            </a:r>
          </a:p>
        </p:txBody>
      </p:sp>
      <p:sp>
        <p:nvSpPr>
          <p:cNvPr id="7" name="Rectangle 6"/>
          <p:cNvSpPr/>
          <p:nvPr/>
        </p:nvSpPr>
        <p:spPr>
          <a:xfrm>
            <a:off x="777240" y="2421440"/>
            <a:ext cx="73152" cy="530352"/>
          </a:xfrm>
          <a:prstGeom prst="rect">
            <a:avLst/>
          </a:prstGeom>
          <a:solidFill>
            <a:srgbClr val="F5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86968" y="2421440"/>
            <a:ext cx="5422392" cy="530352"/>
          </a:xfrm>
          <a:prstGeom prst="rect">
            <a:avLst/>
          </a:prstGeom>
          <a:solidFill>
            <a:srgbClr val="F1ECF5"/>
          </a:solidFill>
          <a:ln>
            <a:solidFill>
              <a:srgbClr val="E3D8EA"/>
            </a:solidFill>
          </a:ln>
        </p:spPr>
        <p:style>
          <a:lnRef idx="1">
            <a:schemeClr val="accent1"/>
          </a:lnRef>
          <a:fillRef idx="3">
            <a:schemeClr val="accent1"/>
          </a:fillRef>
          <a:effectRef idx="2">
            <a:schemeClr val="accent1"/>
          </a:effectRef>
          <a:fontRef idx="minor">
            <a:schemeClr val="lt1"/>
          </a:fontRef>
        </p:style>
        <p:txBody>
          <a:bodyPr lIns="118872" tIns="36576" rIns="73152" bIns="36576" rtlCol="0" anchor="ctr"/>
          <a:lstStyle/>
          <a:p>
            <a:pPr algn="ctr"/>
            <a:r>
              <a:rPr sz="1700" b="1">
                <a:solidFill>
                  <a:srgbClr val="46245A"/>
                </a:solidFill>
                <a:latin typeface="Calibri"/>
              </a:rPr>
              <a:t>Use two checks: does it cut emissions, and does it reduce climate risk?</a:t>
            </a:r>
          </a:p>
        </p:txBody>
      </p:sp>
      <p:sp>
        <p:nvSpPr>
          <p:cNvPr id="9" name="TextBox 8"/>
          <p:cNvSpPr txBox="1"/>
          <p:nvPr/>
        </p:nvSpPr>
        <p:spPr>
          <a:xfrm>
            <a:off x="777240" y="3429000"/>
            <a:ext cx="5349240" cy="2094932"/>
          </a:xfrm>
          <a:prstGeom prst="rect">
            <a:avLst/>
          </a:prstGeom>
          <a:noFill/>
        </p:spPr>
        <p:txBody>
          <a:bodyPr wrap="square" lIns="0" tIns="0" rIns="0" bIns="0">
            <a:spAutoFit/>
          </a:bodyPr>
          <a:lstStyle/>
          <a:p>
            <a:pPr marL="285750" indent="-285750">
              <a:spcAft>
                <a:spcPts val="200"/>
              </a:spcAft>
              <a:buFont typeface="Arial" panose="020B0604020202020204" pitchFamily="34" charset="0"/>
              <a:buChar char="•"/>
            </a:pPr>
            <a:r>
              <a:rPr lang="en-GB" sz="1639" dirty="0">
                <a:solidFill>
                  <a:srgbClr val="1C2029"/>
                </a:solidFill>
                <a:latin typeface="Calibri"/>
              </a:rPr>
              <a:t>S</a:t>
            </a:r>
            <a:r>
              <a:rPr sz="1639" dirty="0" err="1">
                <a:solidFill>
                  <a:srgbClr val="1C2029"/>
                </a:solidFill>
                <a:latin typeface="Calibri"/>
              </a:rPr>
              <a:t>ea</a:t>
            </a:r>
            <a:r>
              <a:rPr sz="1639" dirty="0">
                <a:solidFill>
                  <a:srgbClr val="1C2029"/>
                </a:solidFill>
                <a:latin typeface="Calibri"/>
              </a:rPr>
              <a:t> wall: adaptation only - coastal protection from sea-level rise/storm surge.</a:t>
            </a:r>
          </a:p>
          <a:p>
            <a:pPr marL="285750" indent="-285750">
              <a:spcAft>
                <a:spcPts val="200"/>
              </a:spcAft>
              <a:buFont typeface="Arial" panose="020B0604020202020204" pitchFamily="34" charset="0"/>
              <a:buChar char="•"/>
            </a:pPr>
            <a:r>
              <a:rPr sz="1639" dirty="0">
                <a:solidFill>
                  <a:srgbClr val="1C2029"/>
                </a:solidFill>
                <a:latin typeface="Calibri"/>
              </a:rPr>
              <a:t>Renewables, energy efficiency and methane capture: mitigation only.</a:t>
            </a:r>
          </a:p>
          <a:p>
            <a:pPr marL="285750" indent="-285750">
              <a:spcAft>
                <a:spcPts val="200"/>
              </a:spcAft>
              <a:buFont typeface="Arial" panose="020B0604020202020204" pitchFamily="34" charset="0"/>
              <a:buChar char="•"/>
            </a:pPr>
            <a:r>
              <a:rPr sz="1639" dirty="0">
                <a:solidFill>
                  <a:srgbClr val="1C2029"/>
                </a:solidFill>
                <a:latin typeface="Calibri"/>
              </a:rPr>
              <a:t>Mangroves, peatland protection and urban trees can be both, if carbon is durable.</a:t>
            </a:r>
          </a:p>
          <a:p>
            <a:pPr marL="285750" indent="-285750">
              <a:spcAft>
                <a:spcPts val="200"/>
              </a:spcAft>
              <a:buFont typeface="Arial" panose="020B0604020202020204" pitchFamily="34" charset="0"/>
              <a:buChar char="•"/>
            </a:pPr>
            <a:r>
              <a:rPr sz="1639" dirty="0">
                <a:solidFill>
                  <a:srgbClr val="1C2029"/>
                </a:solidFill>
                <a:latin typeface="Calibri"/>
              </a:rPr>
              <a:t>Air conditioning can be adaptation, but may increase emissions if powered by fossil fuels.</a:t>
            </a:r>
          </a:p>
        </p:txBody>
      </p:sp>
      <p:pic>
        <p:nvPicPr>
          <p:cNvPr id="10" name="Picture 9" descr="strategy_quadrant.png"/>
          <p:cNvPicPr>
            <a:picLocks noChangeAspect="1"/>
          </p:cNvPicPr>
          <p:nvPr/>
        </p:nvPicPr>
        <p:blipFill>
          <a:blip r:embed="rId2"/>
          <a:srcRect t="7931"/>
          <a:stretch>
            <a:fillRect/>
          </a:stretch>
        </p:blipFill>
        <p:spPr>
          <a:xfrm>
            <a:off x="6446520" y="2103120"/>
            <a:ext cx="5505812" cy="3557512"/>
          </a:xfrm>
          <a:prstGeom prst="rect">
            <a:avLst/>
          </a:prstGeom>
          <a:ln>
            <a:solidFill>
              <a:srgbClr val="D0D0D0"/>
            </a:solidFill>
          </a:ln>
        </p:spPr>
      </p:pic>
      <p:sp>
        <p:nvSpPr>
          <p:cNvPr id="2" name="Freeform 13">
            <a:extLst>
              <a:ext uri="{FF2B5EF4-FFF2-40B4-BE49-F238E27FC236}">
                <a16:creationId xmlns:a16="http://schemas.microsoft.com/office/drawing/2014/main" id="{99BC3294-321C-FF83-1638-D75F57F072AE}"/>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30" eaLnBrk="1" fontAlgn="auto" hangingPunct="1">
              <a:spcBef>
                <a:spcPts val="0"/>
              </a:spcBef>
              <a:spcAft>
                <a:spcPts val="0"/>
              </a:spcAft>
              <a:defRPr/>
            </a:pPr>
            <a:endParaRPr lang="en-GB" sz="1200">
              <a:solidFill>
                <a:prstClr val="black"/>
              </a:solidFill>
              <a:latin typeface="DM Sans" pitchFamily="2" charset="0"/>
              <a:ea typeface="+mn-ea"/>
            </a:endParaRPr>
          </a:p>
        </p:txBody>
      </p:sp>
      <p:sp>
        <p:nvSpPr>
          <p:cNvPr id="3" name="TextBox 2">
            <a:extLst>
              <a:ext uri="{FF2B5EF4-FFF2-40B4-BE49-F238E27FC236}">
                <a16:creationId xmlns:a16="http://schemas.microsoft.com/office/drawing/2014/main" id="{A5E0ACFE-6157-E228-29F3-BC5A802F0905}"/>
              </a:ext>
            </a:extLst>
          </p:cNvPr>
          <p:cNvSpPr txBox="1"/>
          <p:nvPr/>
        </p:nvSpPr>
        <p:spPr>
          <a:xfrm>
            <a:off x="777240" y="987552"/>
            <a:ext cx="6434454" cy="584775"/>
          </a:xfrm>
          <a:prstGeom prst="rect">
            <a:avLst/>
          </a:prstGeom>
          <a:noFill/>
        </p:spPr>
        <p:txBody>
          <a:bodyPr wrap="none" lIns="0" tIns="0" rIns="0" bIns="0">
            <a:spAutoFit/>
          </a:bodyPr>
          <a:lstStyle/>
          <a:p>
            <a:r>
              <a:rPr lang="en-GB" sz="3800" b="1" i="1" dirty="0">
                <a:solidFill>
                  <a:srgbClr val="46245A"/>
                </a:solidFill>
                <a:latin typeface="DM Sans Bold"/>
              </a:rPr>
              <a:t>Adaptation and Mitigations</a:t>
            </a:r>
            <a:endParaRPr sz="3800" b="1" i="1" dirty="0">
              <a:solidFill>
                <a:srgbClr val="46245A"/>
              </a:solidFill>
              <a:latin typeface="DM Sans Bold"/>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777240" y="1645180"/>
            <a:ext cx="5120640" cy="384048"/>
          </a:xfrm>
          <a:prstGeom prst="rect">
            <a:avLst/>
          </a:prstGeom>
          <a:noFill/>
        </p:spPr>
        <p:txBody>
          <a:bodyPr wrap="square" lIns="0" tIns="0" rIns="0" bIns="0">
            <a:spAutoFit/>
          </a:bodyPr>
          <a:lstStyle/>
          <a:p>
            <a:r>
              <a:rPr sz="1420" b="1">
                <a:solidFill>
                  <a:srgbClr val="5F636B"/>
                </a:solidFill>
                <a:latin typeface="Calibri"/>
              </a:rPr>
              <a:t>Question: climate change adaptation.</a:t>
            </a:r>
          </a:p>
        </p:txBody>
      </p:sp>
      <p:sp>
        <p:nvSpPr>
          <p:cNvPr id="7" name="Rectangle 6"/>
          <p:cNvSpPr/>
          <p:nvPr/>
        </p:nvSpPr>
        <p:spPr>
          <a:xfrm>
            <a:off x="803159" y="2035959"/>
            <a:ext cx="73152" cy="530352"/>
          </a:xfrm>
          <a:prstGeom prst="rect">
            <a:avLst/>
          </a:prstGeom>
          <a:solidFill>
            <a:srgbClr val="F5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6311" y="2035959"/>
            <a:ext cx="7565324" cy="530352"/>
          </a:xfrm>
          <a:prstGeom prst="rect">
            <a:avLst/>
          </a:prstGeom>
          <a:solidFill>
            <a:srgbClr val="F1ECF5"/>
          </a:solidFill>
          <a:ln>
            <a:solidFill>
              <a:srgbClr val="E3D8EA"/>
            </a:solidFill>
          </a:ln>
        </p:spPr>
        <p:style>
          <a:lnRef idx="1">
            <a:schemeClr val="accent1"/>
          </a:lnRef>
          <a:fillRef idx="3">
            <a:schemeClr val="accent1"/>
          </a:fillRef>
          <a:effectRef idx="2">
            <a:schemeClr val="accent1"/>
          </a:effectRef>
          <a:fontRef idx="minor">
            <a:schemeClr val="lt1"/>
          </a:fontRef>
        </p:style>
        <p:txBody>
          <a:bodyPr lIns="118872" tIns="36576" rIns="73152" bIns="36576" rtlCol="0" anchor="ctr"/>
          <a:lstStyle/>
          <a:p>
            <a:pPr algn="ctr"/>
            <a:r>
              <a:rPr sz="1800" b="1" dirty="0">
                <a:solidFill>
                  <a:srgbClr val="46245A"/>
                </a:solidFill>
                <a:latin typeface="Calibri"/>
              </a:rPr>
              <a:t>Adaptation is a portfolio - protection, planning and behavioral change.</a:t>
            </a:r>
          </a:p>
        </p:txBody>
      </p:sp>
      <p:pic>
        <p:nvPicPr>
          <p:cNvPr id="10" name="Picture 9" descr="coastal_portfolio.png"/>
          <p:cNvPicPr>
            <a:picLocks noChangeAspect="1"/>
          </p:cNvPicPr>
          <p:nvPr/>
        </p:nvPicPr>
        <p:blipFill>
          <a:blip r:embed="rId2"/>
          <a:srcRect b="13861"/>
          <a:stretch>
            <a:fillRect/>
          </a:stretch>
        </p:blipFill>
        <p:spPr>
          <a:xfrm>
            <a:off x="803159" y="2670280"/>
            <a:ext cx="7638476" cy="3829514"/>
          </a:xfrm>
          <a:prstGeom prst="rect">
            <a:avLst/>
          </a:prstGeom>
          <a:ln>
            <a:solidFill>
              <a:srgbClr val="D0D0D0"/>
            </a:solidFill>
          </a:ln>
        </p:spPr>
      </p:pic>
      <p:sp>
        <p:nvSpPr>
          <p:cNvPr id="2" name="Freeform 13">
            <a:extLst>
              <a:ext uri="{FF2B5EF4-FFF2-40B4-BE49-F238E27FC236}">
                <a16:creationId xmlns:a16="http://schemas.microsoft.com/office/drawing/2014/main" id="{FB5A22A2-05FB-AF91-7358-DDA811E56EE4}"/>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30" eaLnBrk="1" fontAlgn="auto" hangingPunct="1">
              <a:spcBef>
                <a:spcPts val="0"/>
              </a:spcBef>
              <a:spcAft>
                <a:spcPts val="0"/>
              </a:spcAft>
              <a:defRPr/>
            </a:pPr>
            <a:endParaRPr lang="en-GB" sz="1200">
              <a:solidFill>
                <a:prstClr val="black"/>
              </a:solidFill>
              <a:latin typeface="DM Sans" pitchFamily="2" charset="0"/>
              <a:ea typeface="+mn-ea"/>
            </a:endParaRPr>
          </a:p>
        </p:txBody>
      </p:sp>
      <p:sp>
        <p:nvSpPr>
          <p:cNvPr id="3" name="TextBox 2">
            <a:extLst>
              <a:ext uri="{FF2B5EF4-FFF2-40B4-BE49-F238E27FC236}">
                <a16:creationId xmlns:a16="http://schemas.microsoft.com/office/drawing/2014/main" id="{AE8BFD47-0175-F7E2-B8C9-09F8EA450472}"/>
              </a:ext>
            </a:extLst>
          </p:cNvPr>
          <p:cNvSpPr txBox="1"/>
          <p:nvPr/>
        </p:nvSpPr>
        <p:spPr>
          <a:xfrm>
            <a:off x="777240" y="987552"/>
            <a:ext cx="6434454" cy="584775"/>
          </a:xfrm>
          <a:prstGeom prst="rect">
            <a:avLst/>
          </a:prstGeom>
          <a:noFill/>
        </p:spPr>
        <p:txBody>
          <a:bodyPr wrap="none" lIns="0" tIns="0" rIns="0" bIns="0">
            <a:spAutoFit/>
          </a:bodyPr>
          <a:lstStyle/>
          <a:p>
            <a:r>
              <a:rPr lang="en-GB" sz="3800" b="1" i="1" dirty="0">
                <a:solidFill>
                  <a:srgbClr val="46245A"/>
                </a:solidFill>
                <a:latin typeface="DM Sans Bold"/>
              </a:rPr>
              <a:t>Adaptation and Mitigations</a:t>
            </a:r>
            <a:endParaRPr sz="3800" b="1" i="1" dirty="0">
              <a:solidFill>
                <a:srgbClr val="46245A"/>
              </a:solidFill>
              <a:latin typeface="DM Sans Bold"/>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777240" y="1826253"/>
            <a:ext cx="7392460" cy="307777"/>
          </a:xfrm>
          <a:prstGeom prst="rect">
            <a:avLst/>
          </a:prstGeom>
          <a:noFill/>
        </p:spPr>
        <p:txBody>
          <a:bodyPr wrap="square" lIns="0" tIns="0" rIns="0" bIns="0">
            <a:spAutoFit/>
          </a:bodyPr>
          <a:lstStyle/>
          <a:p>
            <a:r>
              <a:rPr sz="2000" b="1" dirty="0">
                <a:solidFill>
                  <a:srgbClr val="5F636B"/>
                </a:solidFill>
                <a:latin typeface="Calibri"/>
              </a:rPr>
              <a:t>Question: will mitigation ever produce a real change in CO2 levels?</a:t>
            </a:r>
          </a:p>
        </p:txBody>
      </p:sp>
      <p:sp>
        <p:nvSpPr>
          <p:cNvPr id="7" name="Rectangle 6"/>
          <p:cNvSpPr/>
          <p:nvPr/>
        </p:nvSpPr>
        <p:spPr>
          <a:xfrm>
            <a:off x="786384" y="2288650"/>
            <a:ext cx="73152" cy="530352"/>
          </a:xfrm>
          <a:prstGeom prst="rect">
            <a:avLst/>
          </a:prstGeom>
          <a:solidFill>
            <a:srgbClr val="F5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59536" y="2288650"/>
            <a:ext cx="6634303" cy="530352"/>
          </a:xfrm>
          <a:prstGeom prst="rect">
            <a:avLst/>
          </a:prstGeom>
          <a:solidFill>
            <a:srgbClr val="F1ECF5"/>
          </a:solidFill>
          <a:ln>
            <a:solidFill>
              <a:srgbClr val="E3D8EA"/>
            </a:solidFill>
          </a:ln>
        </p:spPr>
        <p:style>
          <a:lnRef idx="1">
            <a:schemeClr val="accent1"/>
          </a:lnRef>
          <a:fillRef idx="3">
            <a:schemeClr val="accent1"/>
          </a:fillRef>
          <a:effectRef idx="2">
            <a:schemeClr val="accent1"/>
          </a:effectRef>
          <a:fontRef idx="minor">
            <a:schemeClr val="lt1"/>
          </a:fontRef>
        </p:style>
        <p:txBody>
          <a:bodyPr lIns="118872" tIns="36576" rIns="73152" bIns="36576" rtlCol="0" anchor="ctr"/>
          <a:lstStyle/>
          <a:p>
            <a:pPr algn="ctr"/>
            <a:r>
              <a:rPr sz="1800" b="1" dirty="0">
                <a:solidFill>
                  <a:srgbClr val="46245A"/>
                </a:solidFill>
                <a:latin typeface="Calibri"/>
              </a:rPr>
              <a:t>Yes - but CO2 levels fall only when net emissions become negative.</a:t>
            </a:r>
          </a:p>
        </p:txBody>
      </p:sp>
      <p:sp>
        <p:nvSpPr>
          <p:cNvPr id="9" name="TextBox 8"/>
          <p:cNvSpPr txBox="1"/>
          <p:nvPr/>
        </p:nvSpPr>
        <p:spPr>
          <a:xfrm>
            <a:off x="859535" y="3270372"/>
            <a:ext cx="6634303" cy="1842684"/>
          </a:xfrm>
          <a:prstGeom prst="rect">
            <a:avLst/>
          </a:prstGeom>
          <a:noFill/>
        </p:spPr>
        <p:txBody>
          <a:bodyPr wrap="square" lIns="0" tIns="0" rIns="0" bIns="0">
            <a:spAutoFit/>
          </a:bodyPr>
          <a:lstStyle/>
          <a:p>
            <a:pPr marL="285750" indent="-285750">
              <a:spcAft>
                <a:spcPts val="200"/>
              </a:spcAft>
              <a:buFont typeface="Arial" panose="020B0604020202020204" pitchFamily="34" charset="0"/>
              <a:buChar char="•"/>
            </a:pPr>
            <a:r>
              <a:rPr sz="1639" dirty="0">
                <a:solidFill>
                  <a:srgbClr val="1C2029"/>
                </a:solidFill>
                <a:latin typeface="Calibri"/>
              </a:rPr>
              <a:t>Emissions reductions slow the growth rate of atmospheric CO2 first.</a:t>
            </a:r>
          </a:p>
          <a:p>
            <a:pPr marL="285750" indent="-285750">
              <a:spcAft>
                <a:spcPts val="200"/>
              </a:spcAft>
              <a:buFont typeface="Arial" panose="020B0604020202020204" pitchFamily="34" charset="0"/>
              <a:buChar char="•"/>
            </a:pPr>
            <a:r>
              <a:rPr sz="1639" dirty="0">
                <a:solidFill>
                  <a:srgbClr val="1C2029"/>
                </a:solidFill>
                <a:latin typeface="Calibri"/>
              </a:rPr>
              <a:t>Net zero CO2 </a:t>
            </a:r>
            <a:r>
              <a:rPr sz="1639" dirty="0" err="1">
                <a:solidFill>
                  <a:srgbClr val="1C2029"/>
                </a:solidFill>
                <a:latin typeface="Calibri"/>
              </a:rPr>
              <a:t>stabilises</a:t>
            </a:r>
            <a:r>
              <a:rPr sz="1639" dirty="0">
                <a:solidFill>
                  <a:srgbClr val="1C2029"/>
                </a:solidFill>
                <a:latin typeface="Calibri"/>
              </a:rPr>
              <a:t> CO2-induced warming; it does not instantly remove past CO2.</a:t>
            </a:r>
          </a:p>
          <a:p>
            <a:pPr marL="285750" indent="-285750">
              <a:spcAft>
                <a:spcPts val="200"/>
              </a:spcAft>
              <a:buFont typeface="Arial" panose="020B0604020202020204" pitchFamily="34" charset="0"/>
              <a:buChar char="•"/>
            </a:pPr>
            <a:r>
              <a:rPr sz="1639" dirty="0">
                <a:solidFill>
                  <a:srgbClr val="1C2029"/>
                </a:solidFill>
                <a:latin typeface="Calibri"/>
              </a:rPr>
              <a:t>Net negative CO2 removals can gradually reduce concentrations and temperatures.</a:t>
            </a:r>
          </a:p>
          <a:p>
            <a:pPr marL="285750" indent="-285750">
              <a:spcAft>
                <a:spcPts val="200"/>
              </a:spcAft>
              <a:buFont typeface="Arial" panose="020B0604020202020204" pitchFamily="34" charset="0"/>
              <a:buChar char="•"/>
            </a:pPr>
            <a:r>
              <a:rPr sz="1639" dirty="0">
                <a:solidFill>
                  <a:srgbClr val="1C2029"/>
                </a:solidFill>
                <a:latin typeface="Calibri"/>
              </a:rPr>
              <a:t>Therefore: mitigation matters because warming depends on cumulative CO2 emissions.</a:t>
            </a:r>
          </a:p>
        </p:txBody>
      </p:sp>
      <p:sp>
        <p:nvSpPr>
          <p:cNvPr id="2" name="Freeform 13">
            <a:extLst>
              <a:ext uri="{FF2B5EF4-FFF2-40B4-BE49-F238E27FC236}">
                <a16:creationId xmlns:a16="http://schemas.microsoft.com/office/drawing/2014/main" id="{DA7C61B8-D11F-83C3-2820-59749E5665F5}"/>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2" cstate="email">
              <a:extLst>
                <a:ext uri="{28A0092B-C50C-407E-A947-70E740481C1C}">
                  <a14:useLocalDpi xmlns:a14="http://schemas.microsoft.com/office/drawing/2010/main"/>
                </a:ext>
              </a:extLst>
            </a:blip>
            <a:stretch>
              <a:fillRect/>
            </a:stretch>
          </a:blipFill>
        </p:spPr>
        <p:txBody>
          <a:bodyPr/>
          <a:lstStyle/>
          <a:p>
            <a:pPr defTabSz="609630" eaLnBrk="1" fontAlgn="auto" hangingPunct="1">
              <a:spcBef>
                <a:spcPts val="0"/>
              </a:spcBef>
              <a:spcAft>
                <a:spcPts val="0"/>
              </a:spcAft>
              <a:defRPr/>
            </a:pPr>
            <a:endParaRPr lang="en-GB" sz="1200">
              <a:solidFill>
                <a:prstClr val="black"/>
              </a:solidFill>
              <a:latin typeface="DM Sans" pitchFamily="2" charset="0"/>
              <a:ea typeface="+mn-ea"/>
            </a:endParaRPr>
          </a:p>
        </p:txBody>
      </p:sp>
      <p:sp>
        <p:nvSpPr>
          <p:cNvPr id="3" name="TextBox 2">
            <a:extLst>
              <a:ext uri="{FF2B5EF4-FFF2-40B4-BE49-F238E27FC236}">
                <a16:creationId xmlns:a16="http://schemas.microsoft.com/office/drawing/2014/main" id="{8E197E21-58F8-CF6C-68DD-75F2FE0BDD6C}"/>
              </a:ext>
            </a:extLst>
          </p:cNvPr>
          <p:cNvSpPr txBox="1"/>
          <p:nvPr/>
        </p:nvSpPr>
        <p:spPr>
          <a:xfrm>
            <a:off x="777240" y="987552"/>
            <a:ext cx="6434454" cy="584775"/>
          </a:xfrm>
          <a:prstGeom prst="rect">
            <a:avLst/>
          </a:prstGeom>
          <a:noFill/>
        </p:spPr>
        <p:txBody>
          <a:bodyPr wrap="none" lIns="0" tIns="0" rIns="0" bIns="0">
            <a:spAutoFit/>
          </a:bodyPr>
          <a:lstStyle/>
          <a:p>
            <a:r>
              <a:rPr lang="en-GB" sz="3800" b="1" i="1" dirty="0">
                <a:solidFill>
                  <a:srgbClr val="46245A"/>
                </a:solidFill>
                <a:latin typeface="DM Sans Bold"/>
              </a:rPr>
              <a:t>Adaptation and Mitigations</a:t>
            </a:r>
            <a:endParaRPr sz="3800" b="1" i="1" dirty="0">
              <a:solidFill>
                <a:srgbClr val="46245A"/>
              </a:solidFill>
              <a:latin typeface="DM Sans Bold"/>
            </a:endParaRPr>
          </a:p>
        </p:txBody>
      </p:sp>
      <p:pic>
        <p:nvPicPr>
          <p:cNvPr id="13" name="Picture 12">
            <a:extLst>
              <a:ext uri="{FF2B5EF4-FFF2-40B4-BE49-F238E27FC236}">
                <a16:creationId xmlns:a16="http://schemas.microsoft.com/office/drawing/2014/main" id="{A97F5F68-5545-85E5-037E-A2187434C3CE}"/>
              </a:ext>
            </a:extLst>
          </p:cNvPr>
          <p:cNvPicPr>
            <a:picLocks noChangeAspect="1"/>
          </p:cNvPicPr>
          <p:nvPr/>
        </p:nvPicPr>
        <p:blipFill>
          <a:blip r:embed="rId3"/>
          <a:stretch>
            <a:fillRect/>
          </a:stretch>
        </p:blipFill>
        <p:spPr>
          <a:xfrm>
            <a:off x="7876327" y="1826253"/>
            <a:ext cx="3545220" cy="4678228"/>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3280A-AA86-F4B0-A498-CB0932539A3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1DA9381C-F97F-B0F5-C404-58608CDABEC8}"/>
              </a:ext>
            </a:extLst>
          </p:cNvPr>
          <p:cNvSpPr txBox="1"/>
          <p:nvPr/>
        </p:nvSpPr>
        <p:spPr>
          <a:xfrm>
            <a:off x="777240" y="1910875"/>
            <a:ext cx="7061156" cy="307777"/>
          </a:xfrm>
          <a:prstGeom prst="rect">
            <a:avLst/>
          </a:prstGeom>
          <a:noFill/>
        </p:spPr>
        <p:txBody>
          <a:bodyPr wrap="square" lIns="0" tIns="0" rIns="0" bIns="0">
            <a:spAutoFit/>
          </a:bodyPr>
          <a:lstStyle/>
          <a:p>
            <a:r>
              <a:rPr sz="2000" b="1" dirty="0">
                <a:solidFill>
                  <a:srgbClr val="5F636B"/>
                </a:solidFill>
                <a:latin typeface="Calibri"/>
              </a:rPr>
              <a:t>Question: can MCB be reproduced cheaply elsewhere?</a:t>
            </a:r>
          </a:p>
        </p:txBody>
      </p:sp>
      <p:sp>
        <p:nvSpPr>
          <p:cNvPr id="2" name="Freeform 13">
            <a:extLst>
              <a:ext uri="{FF2B5EF4-FFF2-40B4-BE49-F238E27FC236}">
                <a16:creationId xmlns:a16="http://schemas.microsoft.com/office/drawing/2014/main" id="{71306CD7-027C-C2EF-7FBB-79E7914A11FC}"/>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2" cstate="email">
              <a:extLst>
                <a:ext uri="{28A0092B-C50C-407E-A947-70E740481C1C}">
                  <a14:useLocalDpi xmlns:a14="http://schemas.microsoft.com/office/drawing/2010/main"/>
                </a:ext>
              </a:extLst>
            </a:blip>
            <a:stretch>
              <a:fillRect/>
            </a:stretch>
          </a:blipFill>
        </p:spPr>
        <p:txBody>
          <a:bodyPr/>
          <a:lstStyle/>
          <a:p>
            <a:pPr defTabSz="609630" eaLnBrk="1" fontAlgn="auto" hangingPunct="1">
              <a:spcBef>
                <a:spcPts val="0"/>
              </a:spcBef>
              <a:spcAft>
                <a:spcPts val="0"/>
              </a:spcAft>
              <a:defRPr/>
            </a:pPr>
            <a:endParaRPr lang="en-GB" sz="1200">
              <a:solidFill>
                <a:prstClr val="black"/>
              </a:solidFill>
              <a:latin typeface="DM Sans" pitchFamily="2" charset="0"/>
              <a:ea typeface="+mn-ea"/>
            </a:endParaRPr>
          </a:p>
        </p:txBody>
      </p:sp>
      <p:sp>
        <p:nvSpPr>
          <p:cNvPr id="3" name="TextBox 2">
            <a:extLst>
              <a:ext uri="{FF2B5EF4-FFF2-40B4-BE49-F238E27FC236}">
                <a16:creationId xmlns:a16="http://schemas.microsoft.com/office/drawing/2014/main" id="{ACE188CF-43A5-E514-5EBE-B344B6980E05}"/>
              </a:ext>
            </a:extLst>
          </p:cNvPr>
          <p:cNvSpPr txBox="1"/>
          <p:nvPr/>
        </p:nvSpPr>
        <p:spPr>
          <a:xfrm>
            <a:off x="777240" y="987552"/>
            <a:ext cx="6434454" cy="584775"/>
          </a:xfrm>
          <a:prstGeom prst="rect">
            <a:avLst/>
          </a:prstGeom>
          <a:noFill/>
        </p:spPr>
        <p:txBody>
          <a:bodyPr wrap="none" lIns="0" tIns="0" rIns="0" bIns="0">
            <a:spAutoFit/>
          </a:bodyPr>
          <a:lstStyle/>
          <a:p>
            <a:r>
              <a:rPr lang="en-GB" sz="3800" b="1" i="1" dirty="0">
                <a:solidFill>
                  <a:srgbClr val="46245A"/>
                </a:solidFill>
                <a:latin typeface="DM Sans Bold"/>
              </a:rPr>
              <a:t>Adaptation and Mitigations</a:t>
            </a:r>
            <a:endParaRPr sz="3800" b="1" i="1" dirty="0">
              <a:solidFill>
                <a:srgbClr val="46245A"/>
              </a:solidFill>
              <a:latin typeface="DM Sans Bold"/>
            </a:endParaRPr>
          </a:p>
        </p:txBody>
      </p:sp>
      <p:pic>
        <p:nvPicPr>
          <p:cNvPr id="10" name="Picture 9">
            <a:extLst>
              <a:ext uri="{FF2B5EF4-FFF2-40B4-BE49-F238E27FC236}">
                <a16:creationId xmlns:a16="http://schemas.microsoft.com/office/drawing/2014/main" id="{0DBD6943-9999-6197-3EB7-5927BA58E845}"/>
              </a:ext>
            </a:extLst>
          </p:cNvPr>
          <p:cNvPicPr>
            <a:picLocks noChangeAspect="1"/>
          </p:cNvPicPr>
          <p:nvPr/>
        </p:nvPicPr>
        <p:blipFill>
          <a:blip r:embed="rId3"/>
          <a:stretch>
            <a:fillRect/>
          </a:stretch>
        </p:blipFill>
        <p:spPr>
          <a:xfrm>
            <a:off x="5699235" y="2232074"/>
            <a:ext cx="6317593" cy="4160952"/>
          </a:xfrm>
          <a:prstGeom prst="rect">
            <a:avLst/>
          </a:prstGeom>
        </p:spPr>
      </p:pic>
      <p:pic>
        <p:nvPicPr>
          <p:cNvPr id="11" name="Picture 10" descr="mcb_schematic.png">
            <a:extLst>
              <a:ext uri="{FF2B5EF4-FFF2-40B4-BE49-F238E27FC236}">
                <a16:creationId xmlns:a16="http://schemas.microsoft.com/office/drawing/2014/main" id="{D37E48D4-8FCF-E34B-9E99-AA3D8CFA9C9A}"/>
              </a:ext>
            </a:extLst>
          </p:cNvPr>
          <p:cNvPicPr>
            <a:picLocks noChangeAspect="1"/>
          </p:cNvPicPr>
          <p:nvPr/>
        </p:nvPicPr>
        <p:blipFill>
          <a:blip r:embed="rId4"/>
          <a:stretch>
            <a:fillRect/>
          </a:stretch>
        </p:blipFill>
        <p:spPr>
          <a:xfrm>
            <a:off x="532875" y="2877079"/>
            <a:ext cx="5166360" cy="2870943"/>
          </a:xfrm>
          <a:prstGeom prst="rect">
            <a:avLst/>
          </a:prstGeom>
          <a:ln>
            <a:solidFill>
              <a:srgbClr val="D0D0D0"/>
            </a:solidFill>
          </a:ln>
        </p:spPr>
      </p:pic>
    </p:spTree>
    <p:extLst>
      <p:ext uri="{BB962C8B-B14F-4D97-AF65-F5344CB8AC3E}">
        <p14:creationId xmlns:p14="http://schemas.microsoft.com/office/powerpoint/2010/main" val="22799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777240" y="1910875"/>
            <a:ext cx="7061156" cy="307777"/>
          </a:xfrm>
          <a:prstGeom prst="rect">
            <a:avLst/>
          </a:prstGeom>
          <a:noFill/>
        </p:spPr>
        <p:txBody>
          <a:bodyPr wrap="square" lIns="0" tIns="0" rIns="0" bIns="0">
            <a:spAutoFit/>
          </a:bodyPr>
          <a:lstStyle/>
          <a:p>
            <a:r>
              <a:rPr sz="2000" b="1" dirty="0">
                <a:solidFill>
                  <a:srgbClr val="5F636B"/>
                </a:solidFill>
                <a:latin typeface="Calibri"/>
              </a:rPr>
              <a:t>Question: can MCB be reproduced cheaply elsewhere?</a:t>
            </a:r>
          </a:p>
        </p:txBody>
      </p:sp>
      <p:sp>
        <p:nvSpPr>
          <p:cNvPr id="7" name="Rectangle 6"/>
          <p:cNvSpPr/>
          <p:nvPr/>
        </p:nvSpPr>
        <p:spPr>
          <a:xfrm>
            <a:off x="777240" y="2633472"/>
            <a:ext cx="73152" cy="530352"/>
          </a:xfrm>
          <a:prstGeom prst="rect">
            <a:avLst/>
          </a:prstGeom>
          <a:solidFill>
            <a:srgbClr val="F5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86967" y="2633472"/>
            <a:ext cx="8151015" cy="530352"/>
          </a:xfrm>
          <a:prstGeom prst="rect">
            <a:avLst/>
          </a:prstGeom>
          <a:solidFill>
            <a:srgbClr val="F1ECF5"/>
          </a:solidFill>
          <a:ln>
            <a:solidFill>
              <a:srgbClr val="E3D8EA"/>
            </a:solidFill>
          </a:ln>
        </p:spPr>
        <p:style>
          <a:lnRef idx="1">
            <a:schemeClr val="accent1"/>
          </a:lnRef>
          <a:fillRef idx="3">
            <a:schemeClr val="accent1"/>
          </a:fillRef>
          <a:effectRef idx="2">
            <a:schemeClr val="accent1"/>
          </a:effectRef>
          <a:fontRef idx="minor">
            <a:schemeClr val="lt1"/>
          </a:fontRef>
        </p:style>
        <p:txBody>
          <a:bodyPr lIns="118872" tIns="36576" rIns="73152" bIns="36576" rtlCol="0" anchor="ctr"/>
          <a:lstStyle/>
          <a:p>
            <a:pPr algn="ctr"/>
            <a:r>
              <a:rPr sz="1700" b="1" dirty="0">
                <a:solidFill>
                  <a:srgbClr val="46245A"/>
                </a:solidFill>
                <a:latin typeface="Calibri"/>
              </a:rPr>
              <a:t>The ingredients are simple; reliable deployment is site-specific and unproven at scale.</a:t>
            </a:r>
          </a:p>
        </p:txBody>
      </p:sp>
      <p:sp>
        <p:nvSpPr>
          <p:cNvPr id="9" name="TextBox 8"/>
          <p:cNvSpPr txBox="1"/>
          <p:nvPr/>
        </p:nvSpPr>
        <p:spPr>
          <a:xfrm>
            <a:off x="813816" y="3799112"/>
            <a:ext cx="5161315" cy="1547090"/>
          </a:xfrm>
          <a:prstGeom prst="rect">
            <a:avLst/>
          </a:prstGeom>
          <a:noFill/>
        </p:spPr>
        <p:txBody>
          <a:bodyPr wrap="square" lIns="0" tIns="0" rIns="0" bIns="0">
            <a:spAutoFit/>
          </a:bodyPr>
          <a:lstStyle/>
          <a:p>
            <a:pPr marL="285750" indent="-285750">
              <a:spcAft>
                <a:spcPts val="200"/>
              </a:spcAft>
              <a:buFont typeface="Arial" panose="020B0604020202020204" pitchFamily="34" charset="0"/>
              <a:buChar char="•"/>
            </a:pPr>
            <a:r>
              <a:rPr sz="1620" dirty="0">
                <a:solidFill>
                  <a:srgbClr val="1C2029"/>
                </a:solidFill>
                <a:latin typeface="Calibri"/>
              </a:rPr>
              <a:t>Cheap parts: seawater is abundant and the concept uses natural sea-salt particles.</a:t>
            </a:r>
          </a:p>
          <a:p>
            <a:pPr marL="285750" indent="-285750">
              <a:spcAft>
                <a:spcPts val="200"/>
              </a:spcAft>
              <a:buFont typeface="Arial" panose="020B0604020202020204" pitchFamily="34" charset="0"/>
              <a:buChar char="•"/>
            </a:pPr>
            <a:r>
              <a:rPr sz="1620" dirty="0">
                <a:solidFill>
                  <a:srgbClr val="1C2029"/>
                </a:solidFill>
                <a:latin typeface="Calibri"/>
              </a:rPr>
              <a:t>Expensive parts: sprayers, vessels, power, forecasting, monitoring, maintenance and permissions.</a:t>
            </a:r>
          </a:p>
          <a:p>
            <a:pPr marL="285750" indent="-285750">
              <a:spcAft>
                <a:spcPts val="200"/>
              </a:spcAft>
              <a:buFont typeface="Arial" panose="020B0604020202020204" pitchFamily="34" charset="0"/>
              <a:buChar char="•"/>
            </a:pPr>
            <a:r>
              <a:rPr lang="en-GB" sz="1620" dirty="0">
                <a:solidFill>
                  <a:srgbClr val="1C2029"/>
                </a:solidFill>
                <a:latin typeface="Calibri"/>
              </a:rPr>
              <a:t>T</a:t>
            </a:r>
            <a:r>
              <a:rPr sz="1620" dirty="0" err="1">
                <a:solidFill>
                  <a:srgbClr val="1C2029"/>
                </a:solidFill>
                <a:latin typeface="Calibri"/>
              </a:rPr>
              <a:t>ransferability</a:t>
            </a:r>
            <a:r>
              <a:rPr sz="1620" dirty="0">
                <a:solidFill>
                  <a:srgbClr val="1C2029"/>
                </a:solidFill>
                <a:latin typeface="Calibri"/>
              </a:rPr>
              <a:t> depends on low marine clouds, wind, target ecosystem and governance.</a:t>
            </a:r>
          </a:p>
        </p:txBody>
      </p:sp>
      <p:sp>
        <p:nvSpPr>
          <p:cNvPr id="2" name="Freeform 13">
            <a:extLst>
              <a:ext uri="{FF2B5EF4-FFF2-40B4-BE49-F238E27FC236}">
                <a16:creationId xmlns:a16="http://schemas.microsoft.com/office/drawing/2014/main" id="{65E16342-6577-6DE5-0B1D-D8EE94671FFE}"/>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2" cstate="email">
              <a:extLst>
                <a:ext uri="{28A0092B-C50C-407E-A947-70E740481C1C}">
                  <a14:useLocalDpi xmlns:a14="http://schemas.microsoft.com/office/drawing/2010/main"/>
                </a:ext>
              </a:extLst>
            </a:blip>
            <a:stretch>
              <a:fillRect/>
            </a:stretch>
          </a:blipFill>
        </p:spPr>
        <p:txBody>
          <a:bodyPr/>
          <a:lstStyle/>
          <a:p>
            <a:pPr defTabSz="609630" eaLnBrk="1" fontAlgn="auto" hangingPunct="1">
              <a:spcBef>
                <a:spcPts val="0"/>
              </a:spcBef>
              <a:spcAft>
                <a:spcPts val="0"/>
              </a:spcAft>
              <a:defRPr/>
            </a:pPr>
            <a:endParaRPr lang="en-GB" sz="1200">
              <a:solidFill>
                <a:prstClr val="black"/>
              </a:solidFill>
              <a:latin typeface="DM Sans" pitchFamily="2" charset="0"/>
              <a:ea typeface="+mn-ea"/>
            </a:endParaRPr>
          </a:p>
        </p:txBody>
      </p:sp>
      <p:sp>
        <p:nvSpPr>
          <p:cNvPr id="3" name="TextBox 2">
            <a:extLst>
              <a:ext uri="{FF2B5EF4-FFF2-40B4-BE49-F238E27FC236}">
                <a16:creationId xmlns:a16="http://schemas.microsoft.com/office/drawing/2014/main" id="{7E49744A-1140-E9E9-872E-7691D5463DAA}"/>
              </a:ext>
            </a:extLst>
          </p:cNvPr>
          <p:cNvSpPr txBox="1"/>
          <p:nvPr/>
        </p:nvSpPr>
        <p:spPr>
          <a:xfrm>
            <a:off x="777240" y="987552"/>
            <a:ext cx="6434454" cy="584775"/>
          </a:xfrm>
          <a:prstGeom prst="rect">
            <a:avLst/>
          </a:prstGeom>
          <a:noFill/>
        </p:spPr>
        <p:txBody>
          <a:bodyPr wrap="none" lIns="0" tIns="0" rIns="0" bIns="0">
            <a:spAutoFit/>
          </a:bodyPr>
          <a:lstStyle/>
          <a:p>
            <a:r>
              <a:rPr lang="en-GB" sz="3800" b="1" i="1" dirty="0">
                <a:solidFill>
                  <a:srgbClr val="46245A"/>
                </a:solidFill>
                <a:latin typeface="DM Sans Bold"/>
              </a:rPr>
              <a:t>Adaptation and Mitigations</a:t>
            </a:r>
            <a:endParaRPr sz="3800" b="1" i="1" dirty="0">
              <a:solidFill>
                <a:srgbClr val="46245A"/>
              </a:solidFill>
              <a:latin typeface="DM Sans Bold"/>
            </a:endParaRPr>
          </a:p>
        </p:txBody>
      </p:sp>
      <p:pic>
        <p:nvPicPr>
          <p:cNvPr id="4" name="Picture 3" descr="mcb_schematic.png">
            <a:extLst>
              <a:ext uri="{FF2B5EF4-FFF2-40B4-BE49-F238E27FC236}">
                <a16:creationId xmlns:a16="http://schemas.microsoft.com/office/drawing/2014/main" id="{C218B5F7-9574-175E-D1F4-E755BF3FB7A0}"/>
              </a:ext>
            </a:extLst>
          </p:cNvPr>
          <p:cNvPicPr>
            <a:picLocks noChangeAspect="1"/>
          </p:cNvPicPr>
          <p:nvPr/>
        </p:nvPicPr>
        <p:blipFill>
          <a:blip r:embed="rId3"/>
          <a:stretch>
            <a:fillRect/>
          </a:stretch>
        </p:blipFill>
        <p:spPr>
          <a:xfrm>
            <a:off x="6563185" y="3578644"/>
            <a:ext cx="5166360" cy="2870943"/>
          </a:xfrm>
          <a:prstGeom prst="rect">
            <a:avLst/>
          </a:prstGeom>
          <a:ln>
            <a:solidFill>
              <a:srgbClr val="D0D0D0"/>
            </a:solid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777239" y="1739721"/>
            <a:ext cx="8022203" cy="369332"/>
          </a:xfrm>
          <a:prstGeom prst="rect">
            <a:avLst/>
          </a:prstGeom>
          <a:noFill/>
        </p:spPr>
        <p:txBody>
          <a:bodyPr wrap="square" lIns="0" tIns="0" rIns="0" bIns="0">
            <a:spAutoFit/>
          </a:bodyPr>
          <a:lstStyle/>
          <a:p>
            <a:r>
              <a:rPr sz="2400" b="1" dirty="0">
                <a:solidFill>
                  <a:srgbClr val="5F636B"/>
                </a:solidFill>
                <a:latin typeface="Calibri"/>
              </a:rPr>
              <a:t>Question: what about painting roofs white in the tropics?</a:t>
            </a:r>
          </a:p>
        </p:txBody>
      </p:sp>
      <p:sp>
        <p:nvSpPr>
          <p:cNvPr id="7" name="Rectangle 6"/>
          <p:cNvSpPr/>
          <p:nvPr/>
        </p:nvSpPr>
        <p:spPr>
          <a:xfrm>
            <a:off x="777240" y="2633472"/>
            <a:ext cx="73152" cy="530352"/>
          </a:xfrm>
          <a:prstGeom prst="rect">
            <a:avLst/>
          </a:prstGeom>
          <a:solidFill>
            <a:srgbClr val="F5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86968" y="2633472"/>
            <a:ext cx="5422392" cy="530352"/>
          </a:xfrm>
          <a:prstGeom prst="rect">
            <a:avLst/>
          </a:prstGeom>
          <a:solidFill>
            <a:srgbClr val="F1ECF5"/>
          </a:solidFill>
          <a:ln>
            <a:solidFill>
              <a:srgbClr val="E3D8EA"/>
            </a:solidFill>
          </a:ln>
        </p:spPr>
        <p:style>
          <a:lnRef idx="1">
            <a:schemeClr val="accent1"/>
          </a:lnRef>
          <a:fillRef idx="3">
            <a:schemeClr val="accent1"/>
          </a:fillRef>
          <a:effectRef idx="2">
            <a:schemeClr val="accent1"/>
          </a:effectRef>
          <a:fontRef idx="minor">
            <a:schemeClr val="lt1"/>
          </a:fontRef>
        </p:style>
        <p:txBody>
          <a:bodyPr lIns="118872" tIns="36576" rIns="73152" bIns="36576" rtlCol="0" anchor="ctr"/>
          <a:lstStyle/>
          <a:p>
            <a:pPr algn="ctr"/>
            <a:r>
              <a:rPr sz="1700" b="1" dirty="0">
                <a:solidFill>
                  <a:srgbClr val="46245A"/>
                </a:solidFill>
                <a:latin typeface="Calibri"/>
              </a:rPr>
              <a:t>Good idea in hot climates: local adaptation with a small mitigation co-benefit.</a:t>
            </a:r>
          </a:p>
        </p:txBody>
      </p:sp>
      <p:sp>
        <p:nvSpPr>
          <p:cNvPr id="9" name="TextBox 8"/>
          <p:cNvSpPr txBox="1"/>
          <p:nvPr/>
        </p:nvSpPr>
        <p:spPr>
          <a:xfrm>
            <a:off x="868680" y="3310128"/>
            <a:ext cx="5321808" cy="2103120"/>
          </a:xfrm>
          <a:prstGeom prst="rect">
            <a:avLst/>
          </a:prstGeom>
          <a:noFill/>
        </p:spPr>
        <p:txBody>
          <a:bodyPr wrap="square" lIns="0" tIns="0" rIns="0" bIns="0">
            <a:spAutoFit/>
          </a:bodyPr>
          <a:lstStyle/>
          <a:p>
            <a:pPr marL="285750" indent="-285750">
              <a:spcAft>
                <a:spcPts val="200"/>
              </a:spcAft>
              <a:buFont typeface="Arial" panose="020B0604020202020204" pitchFamily="34" charset="0"/>
              <a:buChar char="•"/>
            </a:pPr>
            <a:r>
              <a:rPr sz="1620" dirty="0">
                <a:solidFill>
                  <a:srgbClr val="1C2029"/>
                </a:solidFill>
                <a:latin typeface="Calibri"/>
              </a:rPr>
              <a:t>Higher albedo roofs reflect more sunlight, so less heat enters the building.</a:t>
            </a:r>
          </a:p>
          <a:p>
            <a:pPr marL="285750" indent="-285750">
              <a:spcAft>
                <a:spcPts val="200"/>
              </a:spcAft>
              <a:buFont typeface="Arial" panose="020B0604020202020204" pitchFamily="34" charset="0"/>
              <a:buChar char="•"/>
            </a:pPr>
            <a:r>
              <a:rPr sz="1620" dirty="0">
                <a:solidFill>
                  <a:srgbClr val="1C2029"/>
                </a:solidFill>
                <a:latin typeface="Calibri"/>
              </a:rPr>
              <a:t>This can reduce air-conditioning energy use, peak demand and urban heat-island stress.</a:t>
            </a:r>
          </a:p>
          <a:p>
            <a:pPr marL="285750" indent="-285750">
              <a:spcAft>
                <a:spcPts val="200"/>
              </a:spcAft>
              <a:buFont typeface="Arial" panose="020B0604020202020204" pitchFamily="34" charset="0"/>
              <a:buChar char="•"/>
            </a:pPr>
            <a:r>
              <a:rPr sz="1620" dirty="0">
                <a:solidFill>
                  <a:srgbClr val="1C2029"/>
                </a:solidFill>
                <a:latin typeface="Calibri"/>
              </a:rPr>
              <a:t>Benefits are strongest in hot, sunny, air-conditioned buildings with suitable roof materials.</a:t>
            </a:r>
          </a:p>
          <a:p>
            <a:pPr marL="285750" indent="-285750">
              <a:spcAft>
                <a:spcPts val="200"/>
              </a:spcAft>
              <a:buFont typeface="Arial" panose="020B0604020202020204" pitchFamily="34" charset="0"/>
              <a:buChar char="•"/>
            </a:pPr>
            <a:r>
              <a:rPr sz="1620" dirty="0">
                <a:solidFill>
                  <a:srgbClr val="1C2029"/>
                </a:solidFill>
                <a:latin typeface="Calibri"/>
              </a:rPr>
              <a:t>Caveats: dirt/algae, glare, moisture, roof insulation and smaller global effect than cutting CO2.</a:t>
            </a:r>
          </a:p>
        </p:txBody>
      </p:sp>
      <p:pic>
        <p:nvPicPr>
          <p:cNvPr id="10" name="Picture 9" descr="cool_roofs.png"/>
          <p:cNvPicPr>
            <a:picLocks noChangeAspect="1"/>
          </p:cNvPicPr>
          <p:nvPr/>
        </p:nvPicPr>
        <p:blipFill>
          <a:blip r:embed="rId3"/>
          <a:stretch>
            <a:fillRect/>
          </a:stretch>
        </p:blipFill>
        <p:spPr>
          <a:xfrm>
            <a:off x="6647953" y="2633472"/>
            <a:ext cx="5166360" cy="2909079"/>
          </a:xfrm>
          <a:prstGeom prst="rect">
            <a:avLst/>
          </a:prstGeom>
          <a:ln>
            <a:solidFill>
              <a:srgbClr val="D0D0D0"/>
            </a:solidFill>
          </a:ln>
        </p:spPr>
      </p:pic>
      <p:sp>
        <p:nvSpPr>
          <p:cNvPr id="2" name="Freeform 13">
            <a:extLst>
              <a:ext uri="{FF2B5EF4-FFF2-40B4-BE49-F238E27FC236}">
                <a16:creationId xmlns:a16="http://schemas.microsoft.com/office/drawing/2014/main" id="{36B9C90F-8D0A-F015-3AA6-B28221447835}"/>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30" eaLnBrk="1" fontAlgn="auto" hangingPunct="1">
              <a:spcBef>
                <a:spcPts val="0"/>
              </a:spcBef>
              <a:spcAft>
                <a:spcPts val="0"/>
              </a:spcAft>
              <a:defRPr/>
            </a:pPr>
            <a:endParaRPr lang="en-GB" sz="1200">
              <a:solidFill>
                <a:prstClr val="black"/>
              </a:solidFill>
              <a:latin typeface="DM Sans" pitchFamily="2" charset="0"/>
              <a:ea typeface="+mn-ea"/>
            </a:endParaRPr>
          </a:p>
        </p:txBody>
      </p:sp>
      <p:sp>
        <p:nvSpPr>
          <p:cNvPr id="3" name="TextBox 2">
            <a:extLst>
              <a:ext uri="{FF2B5EF4-FFF2-40B4-BE49-F238E27FC236}">
                <a16:creationId xmlns:a16="http://schemas.microsoft.com/office/drawing/2014/main" id="{51D10838-57BD-6617-27EC-E91ED86AFB70}"/>
              </a:ext>
            </a:extLst>
          </p:cNvPr>
          <p:cNvSpPr txBox="1"/>
          <p:nvPr/>
        </p:nvSpPr>
        <p:spPr>
          <a:xfrm>
            <a:off x="777240" y="987552"/>
            <a:ext cx="6434454" cy="584775"/>
          </a:xfrm>
          <a:prstGeom prst="rect">
            <a:avLst/>
          </a:prstGeom>
          <a:noFill/>
        </p:spPr>
        <p:txBody>
          <a:bodyPr wrap="none" lIns="0" tIns="0" rIns="0" bIns="0">
            <a:spAutoFit/>
          </a:bodyPr>
          <a:lstStyle/>
          <a:p>
            <a:r>
              <a:rPr lang="en-GB" sz="3800" b="1" i="1" dirty="0">
                <a:solidFill>
                  <a:srgbClr val="46245A"/>
                </a:solidFill>
                <a:latin typeface="DM Sans Bold"/>
              </a:rPr>
              <a:t>Adaptation and Mitigations</a:t>
            </a:r>
            <a:endParaRPr sz="3800" b="1" i="1" dirty="0">
              <a:solidFill>
                <a:srgbClr val="46245A"/>
              </a:solidFill>
              <a:latin typeface="DM Sans Bold"/>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F4E01-D3A6-8C71-4184-FAD11D3D73AB}"/>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3B7C95D5-5DF5-EAF6-B130-37EFEEFCB65A}"/>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30" eaLnBrk="1" fontAlgn="auto" hangingPunct="1">
              <a:spcBef>
                <a:spcPts val="0"/>
              </a:spcBef>
              <a:spcAft>
                <a:spcPts val="0"/>
              </a:spcAft>
              <a:defRPr/>
            </a:pPr>
            <a:endParaRPr lang="en-GB" sz="1200">
              <a:solidFill>
                <a:prstClr val="black"/>
              </a:solidFill>
              <a:latin typeface="DM Sans" pitchFamily="2" charset="0"/>
              <a:ea typeface="+mn-ea"/>
            </a:endParaRPr>
          </a:p>
        </p:txBody>
      </p:sp>
      <p:sp>
        <p:nvSpPr>
          <p:cNvPr id="5" name="TextBox 14">
            <a:extLst>
              <a:ext uri="{FF2B5EF4-FFF2-40B4-BE49-F238E27FC236}">
                <a16:creationId xmlns:a16="http://schemas.microsoft.com/office/drawing/2014/main" id="{C52B9674-3174-7DC3-E2C3-32E16C7808B2}"/>
              </a:ext>
            </a:extLst>
          </p:cNvPr>
          <p:cNvSpPr txBox="1"/>
          <p:nvPr/>
        </p:nvSpPr>
        <p:spPr>
          <a:xfrm>
            <a:off x="778085" y="1171521"/>
            <a:ext cx="7336552" cy="589905"/>
          </a:xfrm>
          <a:prstGeom prst="rect">
            <a:avLst/>
          </a:prstGeom>
        </p:spPr>
        <p:txBody>
          <a:bodyPr wrap="square" lIns="0" tIns="0" rIns="0" bIns="0" rtlCol="0" anchor="t">
            <a:spAutoFit/>
          </a:bodyPr>
          <a:lstStyle/>
          <a:p>
            <a:pPr defTabSz="609630" eaLnBrk="1" fontAlgn="auto" hangingPunct="1">
              <a:lnSpc>
                <a:spcPts val="4573"/>
              </a:lnSpc>
              <a:spcBef>
                <a:spcPts val="0"/>
              </a:spcBef>
              <a:spcAft>
                <a:spcPts val="0"/>
              </a:spcAft>
              <a:defRPr/>
            </a:pPr>
            <a:r>
              <a:rPr lang="en-GB" sz="4000" i="1" spc="-275" dirty="0">
                <a:solidFill>
                  <a:srgbClr val="46245A"/>
                </a:solidFill>
                <a:latin typeface="DM Sans Bold"/>
                <a:ea typeface="+mn-ea"/>
              </a:rPr>
              <a:t>Submitted Questions - Scientific  </a:t>
            </a:r>
            <a:endParaRPr lang="en-US" sz="4000" i="1" spc="-275" dirty="0">
              <a:solidFill>
                <a:srgbClr val="46245A"/>
              </a:solidFill>
              <a:latin typeface="DM Sans Bold"/>
              <a:ea typeface="+mn-ea"/>
            </a:endParaRPr>
          </a:p>
        </p:txBody>
      </p:sp>
      <p:sp>
        <p:nvSpPr>
          <p:cNvPr id="2" name="TextBox 1">
            <a:extLst>
              <a:ext uri="{FF2B5EF4-FFF2-40B4-BE49-F238E27FC236}">
                <a16:creationId xmlns:a16="http://schemas.microsoft.com/office/drawing/2014/main" id="{E91D8404-F044-4564-68D1-64B501C4E40F}"/>
              </a:ext>
            </a:extLst>
          </p:cNvPr>
          <p:cNvSpPr txBox="1"/>
          <p:nvPr/>
        </p:nvSpPr>
        <p:spPr>
          <a:xfrm>
            <a:off x="778085" y="1930919"/>
            <a:ext cx="10944985" cy="4555093"/>
          </a:xfrm>
          <a:prstGeom prst="rect">
            <a:avLst/>
          </a:prstGeom>
          <a:noFill/>
        </p:spPr>
        <p:txBody>
          <a:bodyPr wrap="square">
            <a:spAutoFit/>
          </a:bodyPr>
          <a:lstStyle/>
          <a:p>
            <a:r>
              <a:rPr lang="en-GB" b="1" kern="0" dirty="0">
                <a:solidFill>
                  <a:srgbClr val="1C2029"/>
                </a:solidFill>
                <a:latin typeface="Calibri" panose="020F0502020204030204" pitchFamily="34" charset="0"/>
                <a:ea typeface="Aptos" panose="020B0004020202020204" pitchFamily="34" charset="0"/>
                <a:cs typeface="Calibri" panose="020F0502020204030204" pitchFamily="34" charset="0"/>
              </a:rPr>
              <a:t>5. </a:t>
            </a:r>
            <a:r>
              <a:rPr lang="en-GB" b="1" dirty="0">
                <a:latin typeface="Calibri" panose="020F0502020204030204" pitchFamily="34" charset="0"/>
                <a:cs typeface="Calibri" panose="020F0502020204030204" pitchFamily="34" charset="0"/>
              </a:rPr>
              <a:t>Specific Questions</a:t>
            </a:r>
            <a:endParaRPr lang="en-GB" dirty="0">
              <a:latin typeface="Calibri" panose="020F0502020204030204" pitchFamily="34" charset="0"/>
              <a:cs typeface="Calibri" panose="020F0502020204030204" pitchFamily="34" charset="0"/>
            </a:endParaRPr>
          </a:p>
          <a:p>
            <a:endParaRPr lang="en-GB" sz="1600" b="1" kern="0" dirty="0">
              <a:solidFill>
                <a:srgbClr val="1C2029"/>
              </a:solidFill>
              <a:latin typeface="Calibri" panose="020F0502020204030204" pitchFamily="34" charset="0"/>
              <a:ea typeface="Aptos" panose="020B0004020202020204" pitchFamily="34" charset="0"/>
              <a:cs typeface="Calibri" panose="020F0502020204030204" pitchFamily="34" charset="0"/>
            </a:endParaRPr>
          </a:p>
          <a:p>
            <a:pPr marL="285750" indent="-285750">
              <a:buFont typeface="Arial" panose="020B0604020202020204" pitchFamily="34" charset="0"/>
              <a:buChar char="•"/>
            </a:pPr>
            <a:r>
              <a:rPr lang="en-GB" sz="1600" dirty="0">
                <a:latin typeface="Calibri" panose="020F0502020204030204" pitchFamily="34" charset="0"/>
                <a:cs typeface="Calibri" panose="020F0502020204030204" pitchFamily="34" charset="0"/>
              </a:rPr>
              <a:t>Are there not other less dangerous particulates than SO2 that we can use.</a:t>
            </a:r>
          </a:p>
          <a:p>
            <a:endParaRPr lang="en-GB" sz="160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sz="1600" dirty="0">
                <a:latin typeface="Calibri" panose="020F0502020204030204" pitchFamily="34" charset="0"/>
                <a:cs typeface="Calibri" panose="020F0502020204030204" pitchFamily="34" charset="0"/>
              </a:rPr>
              <a:t>How does afforestation CO2 capture compare to albedo loss?</a:t>
            </a:r>
          </a:p>
          <a:p>
            <a:endParaRPr lang="en-GB" sz="160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sz="1600" dirty="0">
                <a:latin typeface="Calibri" panose="020F0502020204030204" pitchFamily="34" charset="0"/>
                <a:cs typeface="Calibri" panose="020F0502020204030204" pitchFamily="34" charset="0"/>
              </a:rPr>
              <a:t>The error bars on the aerosol cloud interactions are huge, what are the error sources/unknowns</a:t>
            </a:r>
          </a:p>
          <a:p>
            <a:endParaRPr lang="en-GB" sz="160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sz="1600" dirty="0">
                <a:latin typeface="Calibri" panose="020F0502020204030204" pitchFamily="34" charset="0"/>
                <a:cs typeface="Calibri" panose="020F0502020204030204" pitchFamily="34" charset="0"/>
              </a:rPr>
              <a:t>Are CFC / HCFC / HFC still a global problem, thought they were being phased out?</a:t>
            </a:r>
          </a:p>
          <a:p>
            <a:endParaRPr lang="en-GB" sz="160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sz="1600" dirty="0">
                <a:latin typeface="Calibri" panose="020F0502020204030204" pitchFamily="34" charset="0"/>
                <a:cs typeface="Calibri" panose="020F0502020204030204" pitchFamily="34" charset="0"/>
              </a:rPr>
              <a:t>Can you explain the methane cooling component associated with NOx warming</a:t>
            </a:r>
          </a:p>
          <a:p>
            <a:pPr marL="285750" indent="-285750">
              <a:buFont typeface="Arial" panose="020B0604020202020204" pitchFamily="34" charset="0"/>
              <a:buChar char="•"/>
            </a:pPr>
            <a:endParaRPr lang="en-GB" sz="160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sz="1600" dirty="0">
                <a:latin typeface="Calibri" panose="020F0502020204030204" pitchFamily="34" charset="0"/>
                <a:cs typeface="Calibri" panose="020F0502020204030204" pitchFamily="34" charset="0"/>
              </a:rPr>
              <a:t>please can you recap the annual anthropogenic co2 emission graph with all the RCP scenarios and (maybe) explain what the scenarios are again and what the graph shows</a:t>
            </a:r>
          </a:p>
          <a:p>
            <a:pPr marL="285750" indent="-285750">
              <a:buFont typeface="Arial" panose="020B0604020202020204" pitchFamily="34" charset="0"/>
              <a:buChar char="•"/>
            </a:pPr>
            <a:endParaRPr lang="en-GB" sz="160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sz="1600" kern="0" dirty="0">
                <a:solidFill>
                  <a:srgbClr val="1C2029"/>
                </a:solidFill>
                <a:latin typeface="Calibri" panose="020F0502020204030204" pitchFamily="34" charset="0"/>
                <a:ea typeface="Aptos" panose="020B0004020202020204" pitchFamily="34" charset="0"/>
                <a:cs typeface="Calibri" panose="020F0502020204030204" pitchFamily="34" charset="0"/>
              </a:rPr>
              <a:t>Black carbon has a warming effect, but the error bars go into the negative .2 Wm, can you explain please?</a:t>
            </a:r>
          </a:p>
          <a:p>
            <a:endParaRPr lang="en-GB" sz="1600" kern="0" dirty="0">
              <a:solidFill>
                <a:srgbClr val="1C2029"/>
              </a:solidFill>
              <a:latin typeface="Calibri" panose="020F0502020204030204" pitchFamily="34" charset="0"/>
              <a:ea typeface="Aptos" panose="020B0004020202020204" pitchFamily="34" charset="0"/>
              <a:cs typeface="Calibri" panose="020F0502020204030204" pitchFamily="34" charset="0"/>
            </a:endParaRPr>
          </a:p>
          <a:p>
            <a:pPr marL="285750" indent="-285750">
              <a:buFont typeface="Arial" panose="020B0604020202020204" pitchFamily="34" charset="0"/>
              <a:buChar char="•"/>
            </a:pPr>
            <a:r>
              <a:rPr lang="en-GB" sz="1600" kern="0" dirty="0">
                <a:solidFill>
                  <a:srgbClr val="1C2029"/>
                </a:solidFill>
                <a:latin typeface="Calibri" panose="020F0502020204030204" pitchFamily="34" charset="0"/>
                <a:ea typeface="Aptos" panose="020B0004020202020204" pitchFamily="34" charset="0"/>
                <a:cs typeface="Calibri" panose="020F0502020204030204" pitchFamily="34" charset="0"/>
              </a:rPr>
              <a:t>Aerosol cloud interactions. </a:t>
            </a:r>
          </a:p>
        </p:txBody>
      </p:sp>
    </p:spTree>
    <p:extLst>
      <p:ext uri="{BB962C8B-B14F-4D97-AF65-F5344CB8AC3E}">
        <p14:creationId xmlns:p14="http://schemas.microsoft.com/office/powerpoint/2010/main" val="279930830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75047" y="772780"/>
            <a:ext cx="4486806" cy="615553"/>
          </a:xfrm>
          <a:prstGeom prst="rect">
            <a:avLst/>
          </a:prstGeom>
          <a:noFill/>
        </p:spPr>
        <p:txBody>
          <a:bodyPr wrap="none" lIns="0" tIns="0" rIns="0" bIns="0">
            <a:spAutoFit/>
          </a:bodyPr>
          <a:lstStyle/>
          <a:p>
            <a:r>
              <a:rPr sz="4000" i="1" dirty="0">
                <a:solidFill>
                  <a:srgbClr val="46245A"/>
                </a:solidFill>
                <a:latin typeface="DM Sans Bold"/>
              </a:rPr>
              <a:t>Specific Questions</a:t>
            </a:r>
          </a:p>
        </p:txBody>
      </p:sp>
      <p:sp>
        <p:nvSpPr>
          <p:cNvPr id="5" name="TextBox 4"/>
          <p:cNvSpPr txBox="1"/>
          <p:nvPr/>
        </p:nvSpPr>
        <p:spPr>
          <a:xfrm>
            <a:off x="684474" y="1586550"/>
            <a:ext cx="5440680" cy="384048"/>
          </a:xfrm>
          <a:prstGeom prst="rect">
            <a:avLst/>
          </a:prstGeom>
          <a:noFill/>
        </p:spPr>
        <p:txBody>
          <a:bodyPr wrap="none" lIns="0" tIns="0" rIns="0" bIns="0">
            <a:spAutoFit/>
          </a:bodyPr>
          <a:lstStyle/>
          <a:p>
            <a:r>
              <a:rPr sz="2200" b="1" dirty="0">
                <a:solidFill>
                  <a:srgbClr val="1C2029"/>
                </a:solidFill>
                <a:latin typeface="Calibri"/>
              </a:rPr>
              <a:t>1. Safer particles than SO2?</a:t>
            </a:r>
          </a:p>
        </p:txBody>
      </p:sp>
      <p:sp>
        <p:nvSpPr>
          <p:cNvPr id="6" name="TextBox 5"/>
          <p:cNvSpPr txBox="1"/>
          <p:nvPr/>
        </p:nvSpPr>
        <p:spPr>
          <a:xfrm>
            <a:off x="684474" y="2007174"/>
            <a:ext cx="5440680" cy="548640"/>
          </a:xfrm>
          <a:prstGeom prst="rect">
            <a:avLst/>
          </a:prstGeom>
          <a:noFill/>
        </p:spPr>
        <p:txBody>
          <a:bodyPr wrap="none" lIns="0" tIns="0" rIns="0" bIns="0">
            <a:spAutoFit/>
          </a:bodyPr>
          <a:lstStyle/>
          <a:p>
            <a:r>
              <a:rPr sz="1500" b="1" dirty="0">
                <a:solidFill>
                  <a:srgbClr val="5F636B"/>
                </a:solidFill>
                <a:latin typeface="Calibri"/>
              </a:rPr>
              <a:t>Question: are there less dangerous particulates than SO2?</a:t>
            </a:r>
          </a:p>
        </p:txBody>
      </p:sp>
      <p:sp>
        <p:nvSpPr>
          <p:cNvPr id="7" name="Rectangle 6"/>
          <p:cNvSpPr/>
          <p:nvPr/>
        </p:nvSpPr>
        <p:spPr>
          <a:xfrm>
            <a:off x="675047" y="2488693"/>
            <a:ext cx="73152" cy="566928"/>
          </a:xfrm>
          <a:prstGeom prst="rect">
            <a:avLst/>
          </a:prstGeom>
          <a:solidFill>
            <a:srgbClr val="F5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52771" y="2488693"/>
            <a:ext cx="5330952" cy="566928"/>
          </a:xfrm>
          <a:prstGeom prst="rect">
            <a:avLst/>
          </a:prstGeom>
          <a:solidFill>
            <a:srgbClr val="F1ECF5"/>
          </a:solidFill>
          <a:ln>
            <a:solidFill>
              <a:srgbClr val="E3D8EA"/>
            </a:solidFill>
          </a:ln>
        </p:spPr>
        <p:style>
          <a:lnRef idx="1">
            <a:schemeClr val="accent1"/>
          </a:lnRef>
          <a:fillRef idx="3">
            <a:schemeClr val="accent1"/>
          </a:fillRef>
          <a:effectRef idx="2">
            <a:schemeClr val="accent1"/>
          </a:effectRef>
          <a:fontRef idx="minor">
            <a:schemeClr val="lt1"/>
          </a:fontRef>
        </p:style>
        <p:txBody>
          <a:bodyPr lIns="118872" tIns="54864" rIns="73152" bIns="36576" rtlCol="0" anchor="ctr"/>
          <a:lstStyle/>
          <a:p>
            <a:pPr algn="ctr"/>
            <a:r>
              <a:rPr sz="1800" b="1" dirty="0">
                <a:solidFill>
                  <a:srgbClr val="46245A"/>
                </a:solidFill>
                <a:latin typeface="Calibri"/>
              </a:rPr>
              <a:t>Possible - but no candidate is proven safe enough for deployment.</a:t>
            </a:r>
          </a:p>
        </p:txBody>
      </p:sp>
      <p:sp>
        <p:nvSpPr>
          <p:cNvPr id="9" name="TextBox 8"/>
          <p:cNvSpPr txBox="1"/>
          <p:nvPr/>
        </p:nvSpPr>
        <p:spPr>
          <a:xfrm>
            <a:off x="753054" y="3369584"/>
            <a:ext cx="5303520" cy="2431435"/>
          </a:xfrm>
          <a:prstGeom prst="rect">
            <a:avLst/>
          </a:prstGeom>
          <a:noFill/>
        </p:spPr>
        <p:txBody>
          <a:bodyPr wrap="square" lIns="0" tIns="0" rIns="0" bIns="0">
            <a:spAutoFit/>
          </a:bodyPr>
          <a:lstStyle/>
          <a:p>
            <a:pPr marL="285750" indent="-285750">
              <a:spcAft>
                <a:spcPts val="200"/>
              </a:spcAft>
              <a:buFont typeface="Arial" panose="020B0604020202020204" pitchFamily="34" charset="0"/>
              <a:buChar char="•"/>
            </a:pPr>
            <a:r>
              <a:rPr sz="1700" dirty="0">
                <a:solidFill>
                  <a:srgbClr val="1C2029"/>
                </a:solidFill>
                <a:latin typeface="Calibri"/>
              </a:rPr>
              <a:t>SO2 makes sulfate aerosols: it is studied because volcanoes give a natural analogue.</a:t>
            </a:r>
          </a:p>
          <a:p>
            <a:pPr marL="285750" indent="-285750">
              <a:spcAft>
                <a:spcPts val="200"/>
              </a:spcAft>
              <a:buFont typeface="Arial" panose="020B0604020202020204" pitchFamily="34" charset="0"/>
              <a:buChar char="•"/>
            </a:pPr>
            <a:r>
              <a:rPr sz="1700" dirty="0">
                <a:solidFill>
                  <a:srgbClr val="1C2029"/>
                </a:solidFill>
                <a:latin typeface="Calibri"/>
              </a:rPr>
              <a:t>Alternatives include calcite (CaCO3), alumina (Al2O3), silica, diamond or TiO2 particles.</a:t>
            </a:r>
          </a:p>
          <a:p>
            <a:pPr marL="285750" indent="-285750">
              <a:spcAft>
                <a:spcPts val="200"/>
              </a:spcAft>
              <a:buFont typeface="Arial" panose="020B0604020202020204" pitchFamily="34" charset="0"/>
              <a:buChar char="•"/>
            </a:pPr>
            <a:r>
              <a:rPr sz="1700" dirty="0">
                <a:solidFill>
                  <a:srgbClr val="1C2029"/>
                </a:solidFill>
                <a:latin typeface="Calibri"/>
              </a:rPr>
              <a:t>The issue shifts rather than disappears: ozone chemistry, particle growth, fallout, toxicity and governance remain uncertain.</a:t>
            </a:r>
          </a:p>
          <a:p>
            <a:pPr marL="285750" indent="-285750">
              <a:spcAft>
                <a:spcPts val="200"/>
              </a:spcAft>
              <a:buFont typeface="Arial" panose="020B0604020202020204" pitchFamily="34" charset="0"/>
              <a:buChar char="•"/>
            </a:pPr>
            <a:r>
              <a:rPr sz="1700" dirty="0">
                <a:solidFill>
                  <a:srgbClr val="1C2029"/>
                </a:solidFill>
                <a:latin typeface="Calibri"/>
              </a:rPr>
              <a:t>SAI masks warming; it does not remove CO2 or stop ocean acidification.</a:t>
            </a:r>
          </a:p>
        </p:txBody>
      </p:sp>
      <p:pic>
        <p:nvPicPr>
          <p:cNvPr id="10" name="Picture 9" descr="royal_society_srm.jpg"/>
          <p:cNvPicPr>
            <a:picLocks noChangeAspect="1"/>
          </p:cNvPicPr>
          <p:nvPr/>
        </p:nvPicPr>
        <p:blipFill>
          <a:blip r:embed="rId2"/>
          <a:stretch>
            <a:fillRect/>
          </a:stretch>
        </p:blipFill>
        <p:spPr>
          <a:xfrm>
            <a:off x="6543151" y="2123117"/>
            <a:ext cx="4937760" cy="4048963"/>
          </a:xfrm>
          <a:prstGeom prst="rect">
            <a:avLst/>
          </a:prstGeom>
          <a:ln>
            <a:solidFill>
              <a:srgbClr val="D0D0D0"/>
            </a:solidFill>
          </a:ln>
        </p:spPr>
      </p:pic>
      <p:sp>
        <p:nvSpPr>
          <p:cNvPr id="2" name="Freeform 13">
            <a:extLst>
              <a:ext uri="{FF2B5EF4-FFF2-40B4-BE49-F238E27FC236}">
                <a16:creationId xmlns:a16="http://schemas.microsoft.com/office/drawing/2014/main" id="{7B50323A-C2C9-76AE-1110-1D3BA576369A}"/>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77240" y="987552"/>
            <a:ext cx="7909560" cy="566928"/>
          </a:xfrm>
          <a:prstGeom prst="rect">
            <a:avLst/>
          </a:prstGeom>
          <a:noFill/>
        </p:spPr>
        <p:txBody>
          <a:bodyPr wrap="none" lIns="0" tIns="0" rIns="0" bIns="0">
            <a:spAutoFit/>
          </a:bodyPr>
          <a:lstStyle/>
          <a:p>
            <a:r>
              <a:rPr sz="4000" i="1">
                <a:solidFill>
                  <a:srgbClr val="46245A"/>
                </a:solidFill>
                <a:latin typeface="DM Sans Bold"/>
              </a:rPr>
              <a:t>Specific Questions - Scientific</a:t>
            </a:r>
          </a:p>
        </p:txBody>
      </p:sp>
      <p:sp>
        <p:nvSpPr>
          <p:cNvPr id="6" name="TextBox 5"/>
          <p:cNvSpPr txBox="1"/>
          <p:nvPr/>
        </p:nvSpPr>
        <p:spPr>
          <a:xfrm>
            <a:off x="777240" y="1767890"/>
            <a:ext cx="4721036" cy="369332"/>
          </a:xfrm>
          <a:prstGeom prst="rect">
            <a:avLst/>
          </a:prstGeom>
          <a:noFill/>
        </p:spPr>
        <p:txBody>
          <a:bodyPr wrap="none" lIns="0" tIns="0" rIns="0" bIns="0">
            <a:spAutoFit/>
          </a:bodyPr>
          <a:lstStyle/>
          <a:p>
            <a:r>
              <a:rPr sz="2400" b="1" dirty="0">
                <a:solidFill>
                  <a:srgbClr val="5F636B"/>
                </a:solidFill>
                <a:latin typeface="Calibri"/>
              </a:rPr>
              <a:t>Question: aerosol-cloud interactions.</a:t>
            </a:r>
          </a:p>
        </p:txBody>
      </p:sp>
      <p:sp>
        <p:nvSpPr>
          <p:cNvPr id="7" name="Rectangle 6"/>
          <p:cNvSpPr/>
          <p:nvPr/>
        </p:nvSpPr>
        <p:spPr>
          <a:xfrm>
            <a:off x="777240" y="2441448"/>
            <a:ext cx="73152" cy="566928"/>
          </a:xfrm>
          <a:prstGeom prst="rect">
            <a:avLst/>
          </a:prstGeom>
          <a:solidFill>
            <a:srgbClr val="F5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83920" y="2441448"/>
            <a:ext cx="5330952" cy="566928"/>
          </a:xfrm>
          <a:prstGeom prst="rect">
            <a:avLst/>
          </a:prstGeom>
          <a:solidFill>
            <a:srgbClr val="F1ECF5"/>
          </a:solidFill>
          <a:ln>
            <a:solidFill>
              <a:srgbClr val="E3D8EA"/>
            </a:solidFill>
          </a:ln>
        </p:spPr>
        <p:style>
          <a:lnRef idx="1">
            <a:schemeClr val="accent1"/>
          </a:lnRef>
          <a:fillRef idx="3">
            <a:schemeClr val="accent1"/>
          </a:fillRef>
          <a:effectRef idx="2">
            <a:schemeClr val="accent1"/>
          </a:effectRef>
          <a:fontRef idx="minor">
            <a:schemeClr val="lt1"/>
          </a:fontRef>
        </p:style>
        <p:txBody>
          <a:bodyPr lIns="118872" tIns="54864" rIns="73152" bIns="36576" rtlCol="0" anchor="ctr"/>
          <a:lstStyle/>
          <a:p>
            <a:pPr algn="ctr"/>
            <a:r>
              <a:rPr sz="1700" b="1" dirty="0">
                <a:solidFill>
                  <a:srgbClr val="46245A"/>
                </a:solidFill>
                <a:latin typeface="Calibri"/>
              </a:rPr>
              <a:t>Aerosols change cloud droplet number, brightness, lifetime and sometimes cloud amount.</a:t>
            </a:r>
          </a:p>
        </p:txBody>
      </p:sp>
      <p:sp>
        <p:nvSpPr>
          <p:cNvPr id="9" name="TextBox 8"/>
          <p:cNvSpPr txBox="1"/>
          <p:nvPr/>
        </p:nvSpPr>
        <p:spPr>
          <a:xfrm>
            <a:off x="883920" y="3429000"/>
            <a:ext cx="5212080" cy="1620957"/>
          </a:xfrm>
          <a:prstGeom prst="rect">
            <a:avLst/>
          </a:prstGeom>
          <a:noFill/>
        </p:spPr>
        <p:txBody>
          <a:bodyPr wrap="square" lIns="0" tIns="0" rIns="0" bIns="0">
            <a:spAutoFit/>
          </a:bodyPr>
          <a:lstStyle/>
          <a:p>
            <a:pPr marL="285750" indent="-285750">
              <a:spcAft>
                <a:spcPts val="200"/>
              </a:spcAft>
              <a:buFont typeface="Arial" panose="020B0604020202020204" pitchFamily="34" charset="0"/>
              <a:buChar char="•"/>
            </a:pPr>
            <a:r>
              <a:rPr sz="1700" dirty="0">
                <a:solidFill>
                  <a:srgbClr val="1C2029"/>
                </a:solidFill>
                <a:latin typeface="Calibri"/>
              </a:rPr>
              <a:t>More cloud condensation nuclei (CCN) can make more, smaller droplets.</a:t>
            </a:r>
          </a:p>
          <a:p>
            <a:pPr marL="285750" indent="-285750">
              <a:spcAft>
                <a:spcPts val="200"/>
              </a:spcAft>
              <a:buFont typeface="Arial" panose="020B0604020202020204" pitchFamily="34" charset="0"/>
              <a:buChar char="•"/>
            </a:pPr>
            <a:r>
              <a:rPr sz="1700" dirty="0">
                <a:solidFill>
                  <a:srgbClr val="1C2029"/>
                </a:solidFill>
                <a:latin typeface="Calibri"/>
              </a:rPr>
              <a:t>Smaller droplets increase cloud reflectivity and can suppress drizzle.</a:t>
            </a:r>
          </a:p>
          <a:p>
            <a:pPr marL="285750" indent="-285750">
              <a:spcAft>
                <a:spcPts val="200"/>
              </a:spcAft>
              <a:buFont typeface="Arial" panose="020B0604020202020204" pitchFamily="34" charset="0"/>
              <a:buChar char="•"/>
            </a:pPr>
            <a:r>
              <a:rPr sz="1700" dirty="0">
                <a:solidFill>
                  <a:srgbClr val="1C2029"/>
                </a:solidFill>
                <a:latin typeface="Calibri"/>
              </a:rPr>
              <a:t>Absorbing aerosols can heat air and change clouds in the opposite direction.</a:t>
            </a:r>
          </a:p>
        </p:txBody>
      </p:sp>
      <p:sp>
        <p:nvSpPr>
          <p:cNvPr id="2" name="Freeform 13">
            <a:extLst>
              <a:ext uri="{FF2B5EF4-FFF2-40B4-BE49-F238E27FC236}">
                <a16:creationId xmlns:a16="http://schemas.microsoft.com/office/drawing/2014/main" id="{579C930D-3BE9-1EF5-F963-94E4D3FA2034}"/>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2"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pic>
        <p:nvPicPr>
          <p:cNvPr id="3" name="Picture 2">
            <a:extLst>
              <a:ext uri="{FF2B5EF4-FFF2-40B4-BE49-F238E27FC236}">
                <a16:creationId xmlns:a16="http://schemas.microsoft.com/office/drawing/2014/main" id="{39FEF11C-62AC-0E9B-2081-B0C4CDFA0F09}"/>
              </a:ext>
            </a:extLst>
          </p:cNvPr>
          <p:cNvPicPr>
            <a:picLocks noChangeAspect="1"/>
          </p:cNvPicPr>
          <p:nvPr/>
        </p:nvPicPr>
        <p:blipFill>
          <a:blip r:embed="rId3"/>
          <a:srcRect r="8959"/>
          <a:stretch>
            <a:fillRect/>
          </a:stretch>
        </p:blipFill>
        <p:spPr>
          <a:xfrm>
            <a:off x="6292072" y="2137222"/>
            <a:ext cx="5516300" cy="399073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4">
            <a:extLst>
              <a:ext uri="{FF2B5EF4-FFF2-40B4-BE49-F238E27FC236}">
                <a16:creationId xmlns:a16="http://schemas.microsoft.com/office/drawing/2014/main" id="{734A4C51-5E53-A98D-6FF5-B95312EBA33B}"/>
              </a:ext>
            </a:extLst>
          </p:cNvPr>
          <p:cNvSpPr txBox="1"/>
          <p:nvPr/>
        </p:nvSpPr>
        <p:spPr>
          <a:xfrm>
            <a:off x="535769" y="720667"/>
            <a:ext cx="10497991" cy="564322"/>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3600" b="0" i="1" u="none" strike="noStrike" kern="1200" cap="none" spc="-275" normalizeH="0" baseline="0" noProof="0" dirty="0">
                <a:ln>
                  <a:noFill/>
                </a:ln>
                <a:solidFill>
                  <a:srgbClr val="46245A"/>
                </a:solidFill>
                <a:effectLst/>
                <a:uLnTx/>
                <a:uFillTx/>
                <a:latin typeface="DM Sans Bold"/>
                <a:ea typeface="MS PGothic" panose="020B0600070205080204" pitchFamily="34" charset="-128"/>
                <a:cs typeface="+mn-cs"/>
              </a:rPr>
              <a:t>Visibility/Radiative Effects</a:t>
            </a:r>
          </a:p>
        </p:txBody>
      </p:sp>
      <p:sp>
        <p:nvSpPr>
          <p:cNvPr id="7" name="Freeform 13">
            <a:extLst>
              <a:ext uri="{FF2B5EF4-FFF2-40B4-BE49-F238E27FC236}">
                <a16:creationId xmlns:a16="http://schemas.microsoft.com/office/drawing/2014/main" id="{C71D23AC-250F-72D7-91B9-B8EB7374550C}"/>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
        <p:nvSpPr>
          <p:cNvPr id="5" name="Text Box 3">
            <a:extLst>
              <a:ext uri="{FF2B5EF4-FFF2-40B4-BE49-F238E27FC236}">
                <a16:creationId xmlns:a16="http://schemas.microsoft.com/office/drawing/2014/main" id="{B60A22B9-042F-DBE0-0B3A-C97285891A1F}"/>
              </a:ext>
            </a:extLst>
          </p:cNvPr>
          <p:cNvSpPr txBox="1">
            <a:spLocks noChangeArrowheads="1"/>
          </p:cNvSpPr>
          <p:nvPr/>
        </p:nvSpPr>
        <p:spPr bwMode="auto">
          <a:xfrm>
            <a:off x="535768" y="1420051"/>
            <a:ext cx="6934415"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800100" indent="-34290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257300" indent="-3429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eaLnBrk="1" hangingPunct="1">
              <a:spcBef>
                <a:spcPct val="0"/>
              </a:spcBef>
              <a:buFontTx/>
              <a:buNone/>
            </a:pPr>
            <a:r>
              <a:rPr lang="en-GB" altLang="en-US" sz="1800" dirty="0">
                <a:latin typeface="Calibri" panose="020F0502020204030204" pitchFamily="34" charset="0"/>
                <a:cs typeface="Calibri" panose="020F0502020204030204" pitchFamily="34" charset="0"/>
              </a:rPr>
              <a:t>Aerosols influence climate:</a:t>
            </a:r>
          </a:p>
          <a:p>
            <a:pPr eaLnBrk="1" hangingPunct="1">
              <a:spcBef>
                <a:spcPct val="0"/>
              </a:spcBef>
              <a:buFontTx/>
              <a:buNone/>
            </a:pPr>
            <a:endParaRPr lang="en-GB" altLang="en-US" sz="1800" dirty="0">
              <a:latin typeface="Calibri" panose="020F0502020204030204" pitchFamily="34" charset="0"/>
              <a:cs typeface="Calibri" panose="020F0502020204030204" pitchFamily="34" charset="0"/>
            </a:endParaRPr>
          </a:p>
          <a:p>
            <a:pPr eaLnBrk="1" hangingPunct="1">
              <a:spcBef>
                <a:spcPct val="0"/>
              </a:spcBef>
              <a:buFontTx/>
              <a:buAutoNum type="arabicParenR"/>
            </a:pPr>
            <a:r>
              <a:rPr lang="en-GB" altLang="en-US" sz="1800" b="1" dirty="0">
                <a:latin typeface="Calibri" panose="020F0502020204030204" pitchFamily="34" charset="0"/>
                <a:cs typeface="Calibri" panose="020F0502020204030204" pitchFamily="34" charset="0"/>
              </a:rPr>
              <a:t>Directly</a:t>
            </a:r>
            <a:r>
              <a:rPr lang="en-GB" altLang="en-US" sz="1800" dirty="0">
                <a:latin typeface="Calibri" panose="020F0502020204030204" pitchFamily="34" charset="0"/>
                <a:cs typeface="Calibri" panose="020F0502020204030204" pitchFamily="34" charset="0"/>
              </a:rPr>
              <a:t> by the scattering and absorption of solar radiation </a:t>
            </a:r>
          </a:p>
          <a:p>
            <a:pPr lvl="1" eaLnBrk="1" hangingPunct="1">
              <a:spcBef>
                <a:spcPct val="0"/>
              </a:spcBef>
              <a:buFontTx/>
              <a:buChar char="•"/>
            </a:pPr>
            <a:r>
              <a:rPr lang="en-GB" altLang="en-US" sz="1800" dirty="0">
                <a:latin typeface="Calibri" panose="020F0502020204030204" pitchFamily="34" charset="0"/>
                <a:cs typeface="Calibri" panose="020F0502020204030204" pitchFamily="34" charset="0"/>
              </a:rPr>
              <a:t>The magnitude of the direct forcing of aerosols at a particular </a:t>
            </a:r>
            <a:r>
              <a:rPr lang="en-GB" altLang="en-US" sz="1800" dirty="0">
                <a:solidFill>
                  <a:srgbClr val="FF0000"/>
                </a:solidFill>
                <a:latin typeface="Calibri" panose="020F0502020204030204" pitchFamily="34" charset="0"/>
                <a:cs typeface="Calibri" panose="020F0502020204030204" pitchFamily="34" charset="0"/>
              </a:rPr>
              <a:t>time</a:t>
            </a:r>
            <a:r>
              <a:rPr lang="en-GB" altLang="en-US" sz="1800" dirty="0">
                <a:latin typeface="Calibri" panose="020F0502020204030204" pitchFamily="34" charset="0"/>
                <a:cs typeface="Calibri" panose="020F0502020204030204" pitchFamily="34" charset="0"/>
              </a:rPr>
              <a:t> and </a:t>
            </a:r>
            <a:r>
              <a:rPr lang="en-GB" altLang="en-US" sz="1800" dirty="0">
                <a:solidFill>
                  <a:srgbClr val="FF0000"/>
                </a:solidFill>
                <a:latin typeface="Calibri" panose="020F0502020204030204" pitchFamily="34" charset="0"/>
                <a:cs typeface="Calibri" panose="020F0502020204030204" pitchFamily="34" charset="0"/>
              </a:rPr>
              <a:t>location</a:t>
            </a:r>
            <a:r>
              <a:rPr lang="en-GB" altLang="en-US" sz="1800" dirty="0">
                <a:latin typeface="Calibri" panose="020F0502020204030204" pitchFamily="34" charset="0"/>
                <a:cs typeface="Calibri" panose="020F0502020204030204" pitchFamily="34" charset="0"/>
              </a:rPr>
              <a:t> depends on the amount of solar radiation scattered back to space, which itself depends on the size and optical properties of the particles, their abundance, and the solar zenith angle</a:t>
            </a:r>
          </a:p>
        </p:txBody>
      </p:sp>
      <p:pic>
        <p:nvPicPr>
          <p:cNvPr id="2" name="Picture 1">
            <a:extLst>
              <a:ext uri="{FF2B5EF4-FFF2-40B4-BE49-F238E27FC236}">
                <a16:creationId xmlns:a16="http://schemas.microsoft.com/office/drawing/2014/main" id="{87243177-3DDE-1948-6CEA-A2F3C86BCFA2}"/>
              </a:ext>
            </a:extLst>
          </p:cNvPr>
          <p:cNvPicPr>
            <a:picLocks noChangeAspect="1"/>
          </p:cNvPicPr>
          <p:nvPr/>
        </p:nvPicPr>
        <p:blipFill>
          <a:blip r:embed="rId4"/>
          <a:srcRect r="69083"/>
          <a:stretch/>
        </p:blipFill>
        <p:spPr>
          <a:xfrm>
            <a:off x="7812088" y="971481"/>
            <a:ext cx="1652181" cy="2987726"/>
          </a:xfrm>
          <a:prstGeom prst="rect">
            <a:avLst/>
          </a:prstGeom>
        </p:spPr>
      </p:pic>
    </p:spTree>
    <p:extLst>
      <p:ext uri="{BB962C8B-B14F-4D97-AF65-F5344CB8AC3E}">
        <p14:creationId xmlns:p14="http://schemas.microsoft.com/office/powerpoint/2010/main" val="409334323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13">
            <a:extLst>
              <a:ext uri="{FF2B5EF4-FFF2-40B4-BE49-F238E27FC236}">
                <a16:creationId xmlns:a16="http://schemas.microsoft.com/office/drawing/2014/main" id="{C71D23AC-250F-72D7-91B9-B8EB7374550C}"/>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
        <p:nvSpPr>
          <p:cNvPr id="5" name="Text Box 3">
            <a:extLst>
              <a:ext uri="{FF2B5EF4-FFF2-40B4-BE49-F238E27FC236}">
                <a16:creationId xmlns:a16="http://schemas.microsoft.com/office/drawing/2014/main" id="{92D73071-6A5A-E4D6-057D-D03D6E690E6D}"/>
              </a:ext>
            </a:extLst>
          </p:cNvPr>
          <p:cNvSpPr txBox="1">
            <a:spLocks noChangeArrowheads="1"/>
          </p:cNvSpPr>
          <p:nvPr/>
        </p:nvSpPr>
        <p:spPr bwMode="auto">
          <a:xfrm>
            <a:off x="6664658" y="2470396"/>
            <a:ext cx="5061858" cy="3139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lvl="0">
              <a:spcBef>
                <a:spcPct val="0"/>
              </a:spcBef>
              <a:buNone/>
            </a:pPr>
            <a:r>
              <a:rPr lang="en-US" altLang="en-US" sz="1800" dirty="0">
                <a:solidFill>
                  <a:srgbClr val="000000"/>
                </a:solidFill>
                <a:latin typeface="Calibri" panose="020F0502020204030204" pitchFamily="34" charset="0"/>
                <a:cs typeface="Calibri" panose="020F0502020204030204" pitchFamily="34" charset="0"/>
              </a:rPr>
              <a:t>Direct Effect of Aerosols</a:t>
            </a:r>
          </a:p>
          <a:p>
            <a:pPr lvl="0">
              <a:spcBef>
                <a:spcPct val="0"/>
              </a:spcBef>
              <a:buNone/>
            </a:pPr>
            <a:endParaRPr lang="en-US" altLang="en-US" sz="1800" dirty="0">
              <a:latin typeface="Calibri" panose="020F0502020204030204" pitchFamily="34" charset="0"/>
              <a:cs typeface="Calibri" panose="020F0502020204030204" pitchFamily="34" charset="0"/>
            </a:endParaRPr>
          </a:p>
          <a:p>
            <a:pPr marL="285750" indent="-285750">
              <a:spcBef>
                <a:spcPct val="0"/>
              </a:spcBef>
            </a:pPr>
            <a:r>
              <a:rPr lang="en-US" altLang="en-US" sz="1800" dirty="0">
                <a:solidFill>
                  <a:srgbClr val="000000"/>
                </a:solidFill>
                <a:latin typeface="Calibri" panose="020F0502020204030204" pitchFamily="34" charset="0"/>
                <a:cs typeface="Calibri" panose="020F0502020204030204" pitchFamily="34" charset="0"/>
              </a:rPr>
              <a:t>Seen as sunlight reflected from haze (from above, e.g. mountain/airplane)</a:t>
            </a:r>
          </a:p>
          <a:p>
            <a:pPr marL="285750" indent="-285750">
              <a:spcBef>
                <a:spcPct val="0"/>
              </a:spcBef>
            </a:pPr>
            <a:r>
              <a:rPr lang="en-US" altLang="en-US" sz="1800" dirty="0">
                <a:solidFill>
                  <a:srgbClr val="000000"/>
                </a:solidFill>
                <a:latin typeface="Calibri" panose="020F0502020204030204" pitchFamily="34" charset="0"/>
                <a:cs typeface="Calibri" panose="020F0502020204030204" pitchFamily="34" charset="0"/>
              </a:rPr>
              <a:t>Scattering increases planetary reflection (albedo)</a:t>
            </a:r>
          </a:p>
          <a:p>
            <a:pPr marL="285750" indent="-285750">
              <a:spcBef>
                <a:spcPct val="0"/>
              </a:spcBef>
            </a:pPr>
            <a:r>
              <a:rPr lang="en-US" altLang="en-US" sz="1800" dirty="0">
                <a:solidFill>
                  <a:srgbClr val="000000"/>
                </a:solidFill>
                <a:latin typeface="Calibri" panose="020F0502020204030204" pitchFamily="34" charset="0"/>
                <a:cs typeface="Calibri" panose="020F0502020204030204" pitchFamily="34" charset="0"/>
              </a:rPr>
              <a:t>Less solar radiation reaches the surface</a:t>
            </a:r>
          </a:p>
          <a:p>
            <a:pPr marL="285750" indent="-285750">
              <a:spcBef>
                <a:spcPct val="0"/>
              </a:spcBef>
            </a:pPr>
            <a:r>
              <a:rPr lang="en-US" altLang="en-US" sz="1800" dirty="0">
                <a:solidFill>
                  <a:srgbClr val="000000"/>
                </a:solidFill>
                <a:latin typeface="Calibri" panose="020F0502020204030204" pitchFamily="34" charset="0"/>
                <a:cs typeface="Calibri" panose="020F0502020204030204" pitchFamily="34" charset="0"/>
              </a:rPr>
              <a:t>Same physics as reduced visibility in polluted air masses</a:t>
            </a:r>
          </a:p>
          <a:p>
            <a:pPr marL="285750" indent="-285750">
              <a:spcBef>
                <a:spcPct val="0"/>
              </a:spcBef>
            </a:pPr>
            <a:r>
              <a:rPr lang="en-US" altLang="en-US" sz="1800" dirty="0">
                <a:solidFill>
                  <a:srgbClr val="000000"/>
                </a:solidFill>
                <a:latin typeface="Calibri" panose="020F0502020204030204" pitchFamily="34" charset="0"/>
                <a:cs typeface="Calibri" panose="020F0502020204030204" pitchFamily="34" charset="0"/>
              </a:rPr>
              <a:t>Key difference: climate effect arises only from upward-scattered radiation (back to space)</a:t>
            </a:r>
          </a:p>
          <a:p>
            <a:pPr lvl="0">
              <a:spcBef>
                <a:spcPct val="0"/>
              </a:spcBef>
              <a:buNone/>
            </a:pPr>
            <a:endParaRPr lang="en-US" altLang="en-US" sz="1800" dirty="0">
              <a:latin typeface="Arial" panose="020B0604020202020204" pitchFamily="34" charset="0"/>
            </a:endParaRPr>
          </a:p>
        </p:txBody>
      </p:sp>
      <p:sp>
        <p:nvSpPr>
          <p:cNvPr id="3" name="TextBox 14">
            <a:extLst>
              <a:ext uri="{FF2B5EF4-FFF2-40B4-BE49-F238E27FC236}">
                <a16:creationId xmlns:a16="http://schemas.microsoft.com/office/drawing/2014/main" id="{DACDAB35-8600-A9FA-0E5D-59594A9216A5}"/>
              </a:ext>
            </a:extLst>
          </p:cNvPr>
          <p:cNvSpPr txBox="1"/>
          <p:nvPr/>
        </p:nvSpPr>
        <p:spPr>
          <a:xfrm>
            <a:off x="535769" y="720667"/>
            <a:ext cx="10497991" cy="564322"/>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lang="en-US" sz="3600" i="1" spc="-275" dirty="0">
                <a:solidFill>
                  <a:srgbClr val="46245A"/>
                </a:solidFill>
                <a:latin typeface="DM Sans Bold"/>
              </a:rPr>
              <a:t>Direct Radiative Forcing…</a:t>
            </a:r>
            <a:endParaRPr kumimoji="0" lang="en-US" sz="3600" b="0" i="1" u="none" strike="noStrike" kern="1200" cap="none" spc="-275" normalizeH="0" baseline="0" noProof="0" dirty="0">
              <a:ln>
                <a:noFill/>
              </a:ln>
              <a:solidFill>
                <a:srgbClr val="46245A"/>
              </a:solidFill>
              <a:effectLst/>
              <a:uLnTx/>
              <a:uFillTx/>
              <a:latin typeface="DM Sans Bold"/>
              <a:ea typeface="MS PGothic" panose="020B0600070205080204" pitchFamily="34" charset="-128"/>
              <a:cs typeface="+mn-cs"/>
            </a:endParaRPr>
          </a:p>
        </p:txBody>
      </p:sp>
      <p:sp>
        <p:nvSpPr>
          <p:cNvPr id="4" name="Text Box 3">
            <a:extLst>
              <a:ext uri="{FF2B5EF4-FFF2-40B4-BE49-F238E27FC236}">
                <a16:creationId xmlns:a16="http://schemas.microsoft.com/office/drawing/2014/main" id="{EF0010AE-F683-A372-01C0-4F9C89741139}"/>
              </a:ext>
            </a:extLst>
          </p:cNvPr>
          <p:cNvSpPr txBox="1">
            <a:spLocks noChangeArrowheads="1"/>
          </p:cNvSpPr>
          <p:nvPr/>
        </p:nvSpPr>
        <p:spPr bwMode="auto">
          <a:xfrm>
            <a:off x="535769" y="1544817"/>
            <a:ext cx="532389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eaLnBrk="1" hangingPunct="1">
              <a:spcBef>
                <a:spcPct val="0"/>
              </a:spcBef>
              <a:buFontTx/>
              <a:buNone/>
            </a:pPr>
            <a:r>
              <a:rPr lang="en-GB" altLang="en-US" sz="1600" dirty="0">
                <a:latin typeface="Trebuchet MS" panose="020B0603020202020204" pitchFamily="34" charset="0"/>
              </a:rPr>
              <a:t>How particles interact with electromagnetic radiation…</a:t>
            </a:r>
          </a:p>
        </p:txBody>
      </p:sp>
      <p:pic>
        <p:nvPicPr>
          <p:cNvPr id="9" name="Picture 8" descr="Diagram of a diagram of a refraction process&#10;&#10;AI-generated content may be incorrect.">
            <a:extLst>
              <a:ext uri="{FF2B5EF4-FFF2-40B4-BE49-F238E27FC236}">
                <a16:creationId xmlns:a16="http://schemas.microsoft.com/office/drawing/2014/main" id="{8BDAD1A6-C108-3EAD-B402-C283876E0B58}"/>
              </a:ext>
            </a:extLst>
          </p:cNvPr>
          <p:cNvPicPr>
            <a:picLocks noChangeAspect="1"/>
          </p:cNvPicPr>
          <p:nvPr/>
        </p:nvPicPr>
        <p:blipFill>
          <a:blip r:embed="rId4"/>
          <a:stretch>
            <a:fillRect/>
          </a:stretch>
        </p:blipFill>
        <p:spPr>
          <a:xfrm>
            <a:off x="535769" y="2143199"/>
            <a:ext cx="5960368" cy="4047452"/>
          </a:xfrm>
          <a:prstGeom prst="rect">
            <a:avLst/>
          </a:prstGeom>
        </p:spPr>
      </p:pic>
    </p:spTree>
    <p:extLst>
      <p:ext uri="{BB962C8B-B14F-4D97-AF65-F5344CB8AC3E}">
        <p14:creationId xmlns:p14="http://schemas.microsoft.com/office/powerpoint/2010/main" val="67156640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4">
            <a:extLst>
              <a:ext uri="{FF2B5EF4-FFF2-40B4-BE49-F238E27FC236}">
                <a16:creationId xmlns:a16="http://schemas.microsoft.com/office/drawing/2014/main" id="{734A4C51-5E53-A98D-6FF5-B95312EBA33B}"/>
              </a:ext>
            </a:extLst>
          </p:cNvPr>
          <p:cNvSpPr txBox="1"/>
          <p:nvPr/>
        </p:nvSpPr>
        <p:spPr>
          <a:xfrm>
            <a:off x="535769" y="720667"/>
            <a:ext cx="10497991" cy="564322"/>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3600" b="0" i="1" u="none" strike="noStrike" kern="1200" cap="none" spc="-275" normalizeH="0" baseline="0" noProof="0" dirty="0">
                <a:ln>
                  <a:noFill/>
                </a:ln>
                <a:solidFill>
                  <a:srgbClr val="46245A"/>
                </a:solidFill>
                <a:effectLst/>
                <a:uLnTx/>
                <a:uFillTx/>
                <a:latin typeface="DM Sans Bold"/>
                <a:ea typeface="MS PGothic" panose="020B0600070205080204" pitchFamily="34" charset="-128"/>
                <a:cs typeface="+mn-cs"/>
              </a:rPr>
              <a:t>Visibility/Radiative Effects</a:t>
            </a:r>
          </a:p>
        </p:txBody>
      </p:sp>
      <p:sp>
        <p:nvSpPr>
          <p:cNvPr id="7" name="Freeform 13">
            <a:extLst>
              <a:ext uri="{FF2B5EF4-FFF2-40B4-BE49-F238E27FC236}">
                <a16:creationId xmlns:a16="http://schemas.microsoft.com/office/drawing/2014/main" id="{C71D23AC-250F-72D7-91B9-B8EB7374550C}"/>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
        <p:nvSpPr>
          <p:cNvPr id="5" name="Text Box 3">
            <a:extLst>
              <a:ext uri="{FF2B5EF4-FFF2-40B4-BE49-F238E27FC236}">
                <a16:creationId xmlns:a16="http://schemas.microsoft.com/office/drawing/2014/main" id="{B60A22B9-042F-DBE0-0B3A-C97285891A1F}"/>
              </a:ext>
            </a:extLst>
          </p:cNvPr>
          <p:cNvSpPr txBox="1">
            <a:spLocks noChangeArrowheads="1"/>
          </p:cNvSpPr>
          <p:nvPr/>
        </p:nvSpPr>
        <p:spPr bwMode="auto">
          <a:xfrm>
            <a:off x="535768" y="1420051"/>
            <a:ext cx="6934415" cy="4801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800100" indent="-34290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257300" indent="-3429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eaLnBrk="1" hangingPunct="1">
              <a:spcBef>
                <a:spcPct val="0"/>
              </a:spcBef>
              <a:buFontTx/>
              <a:buNone/>
            </a:pPr>
            <a:r>
              <a:rPr lang="en-GB" altLang="en-US" sz="1800" dirty="0">
                <a:solidFill>
                  <a:schemeClr val="bg1">
                    <a:lumMod val="65000"/>
                  </a:schemeClr>
                </a:solidFill>
                <a:latin typeface="Calibri" panose="020F0502020204030204" pitchFamily="34" charset="0"/>
                <a:cs typeface="Calibri" panose="020F0502020204030204" pitchFamily="34" charset="0"/>
              </a:rPr>
              <a:t>Aerosols influence climate:</a:t>
            </a:r>
          </a:p>
          <a:p>
            <a:pPr eaLnBrk="1" hangingPunct="1">
              <a:spcBef>
                <a:spcPct val="0"/>
              </a:spcBef>
              <a:buFontTx/>
              <a:buNone/>
            </a:pPr>
            <a:endParaRPr lang="en-GB" altLang="en-US" sz="1800" dirty="0">
              <a:solidFill>
                <a:schemeClr val="bg1">
                  <a:lumMod val="65000"/>
                </a:schemeClr>
              </a:solidFill>
              <a:latin typeface="Calibri" panose="020F0502020204030204" pitchFamily="34" charset="0"/>
              <a:cs typeface="Calibri" panose="020F0502020204030204" pitchFamily="34" charset="0"/>
            </a:endParaRPr>
          </a:p>
          <a:p>
            <a:pPr eaLnBrk="1" hangingPunct="1">
              <a:spcBef>
                <a:spcPct val="0"/>
              </a:spcBef>
              <a:buFontTx/>
              <a:buAutoNum type="arabicParenR"/>
            </a:pPr>
            <a:r>
              <a:rPr lang="en-GB" altLang="en-US" sz="1800" b="1" dirty="0">
                <a:solidFill>
                  <a:schemeClr val="bg1">
                    <a:lumMod val="65000"/>
                  </a:schemeClr>
                </a:solidFill>
                <a:latin typeface="Calibri" panose="020F0502020204030204" pitchFamily="34" charset="0"/>
                <a:cs typeface="Calibri" panose="020F0502020204030204" pitchFamily="34" charset="0"/>
              </a:rPr>
              <a:t>Directly</a:t>
            </a:r>
            <a:r>
              <a:rPr lang="en-GB" altLang="en-US" sz="1800" dirty="0">
                <a:solidFill>
                  <a:schemeClr val="bg1">
                    <a:lumMod val="65000"/>
                  </a:schemeClr>
                </a:solidFill>
                <a:latin typeface="Calibri" panose="020F0502020204030204" pitchFamily="34" charset="0"/>
                <a:cs typeface="Calibri" panose="020F0502020204030204" pitchFamily="34" charset="0"/>
              </a:rPr>
              <a:t> by the scattering and absorption of solar radiation </a:t>
            </a:r>
          </a:p>
          <a:p>
            <a:pPr lvl="1" eaLnBrk="1" hangingPunct="1">
              <a:spcBef>
                <a:spcPct val="0"/>
              </a:spcBef>
              <a:buFontTx/>
              <a:buChar char="•"/>
            </a:pPr>
            <a:r>
              <a:rPr lang="en-GB" altLang="en-US" sz="1800" dirty="0">
                <a:solidFill>
                  <a:schemeClr val="bg1">
                    <a:lumMod val="65000"/>
                  </a:schemeClr>
                </a:solidFill>
                <a:latin typeface="Calibri" panose="020F0502020204030204" pitchFamily="34" charset="0"/>
                <a:cs typeface="Calibri" panose="020F0502020204030204" pitchFamily="34" charset="0"/>
              </a:rPr>
              <a:t>The magnitude of the direct forcing of aerosols at a particular time and location depends on the amount of solar radiation scattered back to space, which itself depends on the size and optical properties of the particles, their abundance, and the solar zenith angle</a:t>
            </a:r>
          </a:p>
          <a:p>
            <a:pPr eaLnBrk="1" hangingPunct="1">
              <a:spcBef>
                <a:spcPct val="0"/>
              </a:spcBef>
              <a:buFontTx/>
              <a:buAutoNum type="arabicParenR"/>
            </a:pPr>
            <a:endParaRPr lang="en-GB" altLang="en-US" sz="1800" dirty="0">
              <a:latin typeface="Calibri" panose="020F0502020204030204" pitchFamily="34" charset="0"/>
              <a:cs typeface="Calibri" panose="020F0502020204030204" pitchFamily="34" charset="0"/>
            </a:endParaRPr>
          </a:p>
          <a:p>
            <a:pPr eaLnBrk="1" hangingPunct="1">
              <a:spcBef>
                <a:spcPct val="0"/>
              </a:spcBef>
              <a:buFontTx/>
              <a:buAutoNum type="arabicParenR"/>
            </a:pPr>
            <a:r>
              <a:rPr lang="en-GB" altLang="en-US" sz="1800" b="1" dirty="0">
                <a:latin typeface="Calibri" panose="020F0502020204030204" pitchFamily="34" charset="0"/>
                <a:cs typeface="Calibri" panose="020F0502020204030204" pitchFamily="34" charset="0"/>
              </a:rPr>
              <a:t>Indirectly</a:t>
            </a:r>
            <a:r>
              <a:rPr lang="en-GB" altLang="en-US" sz="1800" dirty="0">
                <a:latin typeface="Calibri" panose="020F0502020204030204" pitchFamily="34" charset="0"/>
                <a:cs typeface="Calibri" panose="020F0502020204030204" pitchFamily="34" charset="0"/>
              </a:rPr>
              <a:t> through their role as cloud condensation nuclei. </a:t>
            </a:r>
          </a:p>
          <a:p>
            <a:pPr lvl="1" eaLnBrk="1" hangingPunct="1">
              <a:spcBef>
                <a:spcPct val="0"/>
              </a:spcBef>
              <a:buFontTx/>
              <a:buChar char="•"/>
            </a:pPr>
            <a:r>
              <a:rPr lang="en-GB" altLang="en-US" sz="1800" dirty="0">
                <a:latin typeface="Calibri" panose="020F0502020204030204" pitchFamily="34" charset="0"/>
                <a:cs typeface="Calibri" panose="020F0502020204030204" pitchFamily="34" charset="0"/>
              </a:rPr>
              <a:t>The indirect effect arises if increases in aerosol number concentrations from anthropogenic sources lead to increased concentrations of cloud condensation nuclei, which, in turn, lead to higher cloud albedo.</a:t>
            </a:r>
          </a:p>
          <a:p>
            <a:pPr lvl="1" eaLnBrk="1" hangingPunct="1">
              <a:spcBef>
                <a:spcPct val="0"/>
              </a:spcBef>
              <a:buFontTx/>
              <a:buChar char="•"/>
            </a:pPr>
            <a:endParaRPr lang="en-GB" altLang="en-US" sz="1800" i="1" dirty="0">
              <a:latin typeface="Calibri" panose="020F0502020204030204" pitchFamily="34" charset="0"/>
              <a:cs typeface="Calibri" panose="020F0502020204030204" pitchFamily="34" charset="0"/>
            </a:endParaRPr>
          </a:p>
          <a:p>
            <a:pPr marL="0" indent="0" eaLnBrk="1" hangingPunct="1">
              <a:spcBef>
                <a:spcPct val="0"/>
              </a:spcBef>
              <a:buNone/>
            </a:pPr>
            <a:r>
              <a:rPr lang="en-GB" altLang="en-US" sz="1800" i="1" dirty="0">
                <a:latin typeface="Calibri" panose="020F0502020204030204" pitchFamily="34" charset="0"/>
                <a:cs typeface="Calibri" panose="020F0502020204030204" pitchFamily="34" charset="0"/>
              </a:rPr>
              <a:t>The </a:t>
            </a:r>
            <a:r>
              <a:rPr lang="en-GB" altLang="en-US" sz="1800" b="1" i="1" dirty="0">
                <a:solidFill>
                  <a:srgbClr val="FF0000"/>
                </a:solidFill>
                <a:latin typeface="Calibri" panose="020F0502020204030204" pitchFamily="34" charset="0"/>
                <a:cs typeface="Calibri" panose="020F0502020204030204" pitchFamily="34" charset="0"/>
              </a:rPr>
              <a:t>albedo</a:t>
            </a:r>
            <a:r>
              <a:rPr lang="en-GB" altLang="en-US" sz="1800" i="1" dirty="0">
                <a:latin typeface="Calibri" panose="020F0502020204030204" pitchFamily="34" charset="0"/>
                <a:cs typeface="Calibri" panose="020F0502020204030204" pitchFamily="34" charset="0"/>
              </a:rPr>
              <a:t> is a measure of reflectivity of a surface or body. It is the ratio of electromagnetic radiation reflected to the amount incident upon it.</a:t>
            </a:r>
            <a:r>
              <a:rPr lang="en-GB" altLang="en-US" sz="1800" dirty="0">
                <a:latin typeface="Calibri" panose="020F0502020204030204" pitchFamily="34" charset="0"/>
                <a:cs typeface="Calibri" panose="020F0502020204030204" pitchFamily="34" charset="0"/>
              </a:rPr>
              <a:t> </a:t>
            </a:r>
          </a:p>
        </p:txBody>
      </p:sp>
      <p:pic>
        <p:nvPicPr>
          <p:cNvPr id="2" name="Picture 1">
            <a:extLst>
              <a:ext uri="{FF2B5EF4-FFF2-40B4-BE49-F238E27FC236}">
                <a16:creationId xmlns:a16="http://schemas.microsoft.com/office/drawing/2014/main" id="{87243177-3DDE-1948-6CEA-A2F3C86BCFA2}"/>
              </a:ext>
            </a:extLst>
          </p:cNvPr>
          <p:cNvPicPr>
            <a:picLocks noChangeAspect="1"/>
          </p:cNvPicPr>
          <p:nvPr/>
        </p:nvPicPr>
        <p:blipFill>
          <a:blip r:embed="rId4"/>
          <a:srcRect r="69083"/>
          <a:stretch/>
        </p:blipFill>
        <p:spPr>
          <a:xfrm>
            <a:off x="7812088" y="971481"/>
            <a:ext cx="1652181" cy="2987726"/>
          </a:xfrm>
          <a:prstGeom prst="rect">
            <a:avLst/>
          </a:prstGeom>
        </p:spPr>
      </p:pic>
      <p:pic>
        <p:nvPicPr>
          <p:cNvPr id="3" name="Picture 2">
            <a:extLst>
              <a:ext uri="{FF2B5EF4-FFF2-40B4-BE49-F238E27FC236}">
                <a16:creationId xmlns:a16="http://schemas.microsoft.com/office/drawing/2014/main" id="{50BA3719-8021-A5D4-8A69-3C9EB9F9BEA7}"/>
              </a:ext>
            </a:extLst>
          </p:cNvPr>
          <p:cNvPicPr>
            <a:picLocks noChangeAspect="1"/>
          </p:cNvPicPr>
          <p:nvPr/>
        </p:nvPicPr>
        <p:blipFill>
          <a:blip r:embed="rId4"/>
          <a:srcRect l="31039" t="9530"/>
          <a:stretch/>
        </p:blipFill>
        <p:spPr>
          <a:xfrm>
            <a:off x="7860206" y="3959207"/>
            <a:ext cx="3685187" cy="2703004"/>
          </a:xfrm>
          <a:prstGeom prst="rect">
            <a:avLst/>
          </a:prstGeom>
        </p:spPr>
      </p:pic>
    </p:spTree>
    <p:extLst>
      <p:ext uri="{BB962C8B-B14F-4D97-AF65-F5344CB8AC3E}">
        <p14:creationId xmlns:p14="http://schemas.microsoft.com/office/powerpoint/2010/main" val="343156678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55A8A-345D-D43A-7038-74A9CEA0AB82}"/>
            </a:ext>
          </a:extLst>
        </p:cNvPr>
        <p:cNvGrpSpPr/>
        <p:nvPr/>
      </p:nvGrpSpPr>
      <p:grpSpPr>
        <a:xfrm>
          <a:off x="0" y="0"/>
          <a:ext cx="0" cy="0"/>
          <a:chOff x="0" y="0"/>
          <a:chExt cx="0" cy="0"/>
        </a:xfrm>
      </p:grpSpPr>
      <p:sp>
        <p:nvSpPr>
          <p:cNvPr id="6" name="TextBox 14">
            <a:extLst>
              <a:ext uri="{FF2B5EF4-FFF2-40B4-BE49-F238E27FC236}">
                <a16:creationId xmlns:a16="http://schemas.microsoft.com/office/drawing/2014/main" id="{F27BA367-898D-6E32-21F0-9ABB3642B119}"/>
              </a:ext>
            </a:extLst>
          </p:cNvPr>
          <p:cNvSpPr txBox="1"/>
          <p:nvPr/>
        </p:nvSpPr>
        <p:spPr>
          <a:xfrm>
            <a:off x="630037" y="716175"/>
            <a:ext cx="10497991" cy="574324"/>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3600" b="0" i="1" u="none" strike="noStrike" kern="1200" cap="none" spc="-275" normalizeH="0" baseline="0" noProof="0" dirty="0">
                <a:ln>
                  <a:noFill/>
                </a:ln>
                <a:solidFill>
                  <a:srgbClr val="46245A"/>
                </a:solidFill>
                <a:effectLst/>
                <a:uLnTx/>
                <a:uFillTx/>
                <a:latin typeface="DM Sans Bold"/>
                <a:ea typeface="MS PGothic" panose="020B0600070205080204" pitchFamily="34" charset="-128"/>
                <a:cs typeface="+mn-cs"/>
              </a:rPr>
              <a:t>Aerosol Indirect Forcing</a:t>
            </a:r>
          </a:p>
        </p:txBody>
      </p:sp>
      <p:sp>
        <p:nvSpPr>
          <p:cNvPr id="7" name="Freeform 13">
            <a:extLst>
              <a:ext uri="{FF2B5EF4-FFF2-40B4-BE49-F238E27FC236}">
                <a16:creationId xmlns:a16="http://schemas.microsoft.com/office/drawing/2014/main" id="{9659E11A-5B3C-D7E3-D94C-A0B358B5B1BF}"/>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pic>
        <p:nvPicPr>
          <p:cNvPr id="8" name="Picture 4" descr="dark_cloud">
            <a:extLst>
              <a:ext uri="{FF2B5EF4-FFF2-40B4-BE49-F238E27FC236}">
                <a16:creationId xmlns:a16="http://schemas.microsoft.com/office/drawing/2014/main" id="{3C6D07CE-987E-7861-F0AA-42E9BCAB30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66627" y="1166146"/>
            <a:ext cx="2765150" cy="2552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5" descr="light_cloud">
            <a:extLst>
              <a:ext uri="{FF2B5EF4-FFF2-40B4-BE49-F238E27FC236}">
                <a16:creationId xmlns:a16="http://schemas.microsoft.com/office/drawing/2014/main" id="{7F45EDF3-0418-C141-0DE1-3A414239BDD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66627" y="3797118"/>
            <a:ext cx="2765150" cy="2552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FBDAF4CE-7153-7DA6-5EFD-02A57C342C07}"/>
              </a:ext>
            </a:extLst>
          </p:cNvPr>
          <p:cNvSpPr txBox="1"/>
          <p:nvPr/>
        </p:nvSpPr>
        <p:spPr>
          <a:xfrm>
            <a:off x="9702800" y="3100813"/>
            <a:ext cx="2434442" cy="584775"/>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Fewer and Larger Droplets</a:t>
            </a:r>
          </a:p>
          <a:p>
            <a:r>
              <a:rPr lang="en-US" sz="1600" dirty="0">
                <a:latin typeface="Calibri" panose="020F0502020204030204" pitchFamily="34" charset="0"/>
                <a:cs typeface="Calibri" panose="020F0502020204030204" pitchFamily="34" charset="0"/>
              </a:rPr>
              <a:t>Lower Albedo</a:t>
            </a:r>
          </a:p>
        </p:txBody>
      </p:sp>
      <p:sp>
        <p:nvSpPr>
          <p:cNvPr id="5" name="TextBox 4">
            <a:extLst>
              <a:ext uri="{FF2B5EF4-FFF2-40B4-BE49-F238E27FC236}">
                <a16:creationId xmlns:a16="http://schemas.microsoft.com/office/drawing/2014/main" id="{AF380245-2389-92D6-F41F-53BD5799F47C}"/>
              </a:ext>
            </a:extLst>
          </p:cNvPr>
          <p:cNvSpPr txBox="1"/>
          <p:nvPr/>
        </p:nvSpPr>
        <p:spPr>
          <a:xfrm>
            <a:off x="9702800" y="5691854"/>
            <a:ext cx="2434442" cy="584775"/>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More small droplets</a:t>
            </a:r>
          </a:p>
          <a:p>
            <a:r>
              <a:rPr lang="en-US" sz="1600" dirty="0">
                <a:latin typeface="Calibri" panose="020F0502020204030204" pitchFamily="34" charset="0"/>
                <a:cs typeface="Calibri" panose="020F0502020204030204" pitchFamily="34" charset="0"/>
              </a:rPr>
              <a:t>Higher Albedo</a:t>
            </a:r>
          </a:p>
        </p:txBody>
      </p:sp>
      <p:sp>
        <p:nvSpPr>
          <p:cNvPr id="10" name="TextBox 9">
            <a:extLst>
              <a:ext uri="{FF2B5EF4-FFF2-40B4-BE49-F238E27FC236}">
                <a16:creationId xmlns:a16="http://schemas.microsoft.com/office/drawing/2014/main" id="{DCAF8246-9F52-F7A0-6A59-79200E95DF9E}"/>
              </a:ext>
            </a:extLst>
          </p:cNvPr>
          <p:cNvSpPr txBox="1"/>
          <p:nvPr/>
        </p:nvSpPr>
        <p:spPr>
          <a:xfrm>
            <a:off x="535769" y="1421251"/>
            <a:ext cx="6099142" cy="5016758"/>
          </a:xfrm>
          <a:prstGeom prst="rect">
            <a:avLst/>
          </a:prstGeom>
          <a:noFill/>
        </p:spPr>
        <p:txBody>
          <a:bodyPr wrap="square">
            <a:spAutoFit/>
          </a:bodyPr>
          <a:lstStyle/>
          <a:p>
            <a:r>
              <a:rPr lang="en-GB" sz="1600" b="1" dirty="0">
                <a:solidFill>
                  <a:schemeClr val="bg1">
                    <a:lumMod val="75000"/>
                  </a:schemeClr>
                </a:solidFill>
                <a:latin typeface="Calibri" panose="020F0502020204030204" pitchFamily="34" charset="0"/>
                <a:cs typeface="Calibri" panose="020F0502020204030204" pitchFamily="34" charset="0"/>
              </a:rPr>
              <a:t>Indirect effects</a:t>
            </a:r>
            <a:r>
              <a:rPr lang="en-GB" sz="1600" dirty="0">
                <a:solidFill>
                  <a:schemeClr val="bg1">
                    <a:lumMod val="75000"/>
                  </a:schemeClr>
                </a:solidFill>
                <a:latin typeface="Calibri" panose="020F0502020204030204" pitchFamily="34" charset="0"/>
                <a:cs typeface="Calibri" panose="020F0502020204030204" pitchFamily="34" charset="0"/>
              </a:rPr>
              <a:t> refer to how aerosols influence cloud properties, particularly their optical characteristics and lifetime.</a:t>
            </a:r>
          </a:p>
          <a:p>
            <a:endParaRPr lang="en-GB" sz="1600" dirty="0">
              <a:solidFill>
                <a:schemeClr val="bg1">
                  <a:lumMod val="75000"/>
                </a:schemeClr>
              </a:solidFill>
              <a:latin typeface="Calibri" panose="020F0502020204030204" pitchFamily="34" charset="0"/>
              <a:cs typeface="Calibri" panose="020F0502020204030204" pitchFamily="34" charset="0"/>
            </a:endParaRPr>
          </a:p>
          <a:p>
            <a:r>
              <a:rPr lang="en-GB" sz="1600" dirty="0">
                <a:solidFill>
                  <a:schemeClr val="bg1">
                    <a:lumMod val="75000"/>
                  </a:schemeClr>
                </a:solidFill>
                <a:latin typeface="Calibri" panose="020F0502020204030204" pitchFamily="34" charset="0"/>
                <a:cs typeface="Calibri" panose="020F0502020204030204" pitchFamily="34" charset="0"/>
              </a:rPr>
              <a:t>Much more complicated than the direct effect and there are two processes important here. </a:t>
            </a:r>
          </a:p>
          <a:p>
            <a:endParaRPr lang="en-GB" sz="1600" dirty="0">
              <a:latin typeface="Calibri" panose="020F0502020204030204" pitchFamily="34" charset="0"/>
              <a:cs typeface="Calibri" panose="020F0502020204030204" pitchFamily="34" charset="0"/>
            </a:endParaRPr>
          </a:p>
          <a:p>
            <a:r>
              <a:rPr lang="en-GB" sz="1600" dirty="0">
                <a:latin typeface="Calibri" panose="020F0502020204030204" pitchFamily="34" charset="0"/>
                <a:cs typeface="Calibri" panose="020F0502020204030204" pitchFamily="34" charset="0"/>
              </a:rPr>
              <a:t>The </a:t>
            </a:r>
            <a:r>
              <a:rPr lang="en-GB" sz="1600" b="1" dirty="0">
                <a:latin typeface="Calibri" panose="020F0502020204030204" pitchFamily="34" charset="0"/>
                <a:cs typeface="Calibri" panose="020F0502020204030204" pitchFamily="34" charset="0"/>
              </a:rPr>
              <a:t>first indirect effect</a:t>
            </a:r>
            <a:r>
              <a:rPr lang="en-GB" sz="1600" dirty="0">
                <a:latin typeface="Calibri" panose="020F0502020204030204" pitchFamily="34" charset="0"/>
                <a:cs typeface="Calibri" panose="020F0502020204030204" pitchFamily="34" charset="0"/>
              </a:rPr>
              <a:t> or </a:t>
            </a:r>
            <a:r>
              <a:rPr lang="en-GB" sz="1600" b="1" dirty="0">
                <a:latin typeface="Calibri" panose="020F0502020204030204" pitchFamily="34" charset="0"/>
                <a:cs typeface="Calibri" panose="020F0502020204030204" pitchFamily="34" charset="0"/>
              </a:rPr>
              <a:t>Twomey effect</a:t>
            </a:r>
            <a:r>
              <a:rPr lang="en-GB" sz="1600" dirty="0">
                <a:latin typeface="Calibri" panose="020F0502020204030204" pitchFamily="34" charset="0"/>
                <a:cs typeface="Calibri" panose="020F0502020204030204" pitchFamily="34" charset="0"/>
              </a:rPr>
              <a:t> describes how </a:t>
            </a:r>
            <a:r>
              <a:rPr lang="en-GB" sz="1600" b="1" dirty="0">
                <a:latin typeface="Calibri" panose="020F0502020204030204" pitchFamily="34" charset="0"/>
                <a:cs typeface="Calibri" panose="020F0502020204030204" pitchFamily="34" charset="0"/>
              </a:rPr>
              <a:t>an increase in aerosol concentration</a:t>
            </a:r>
            <a:r>
              <a:rPr lang="en-GB" sz="1600" dirty="0">
                <a:latin typeface="Calibri" panose="020F0502020204030204" pitchFamily="34" charset="0"/>
                <a:cs typeface="Calibri" panose="020F0502020204030204" pitchFamily="34" charset="0"/>
              </a:rPr>
              <a:t> leads to changes in cloud microphysics:</a:t>
            </a:r>
          </a:p>
          <a:p>
            <a:endParaRPr lang="en-GB" sz="1600" dirty="0">
              <a:latin typeface="Calibri" panose="020F0502020204030204" pitchFamily="34" charset="0"/>
              <a:cs typeface="Calibri" panose="020F0502020204030204" pitchFamily="34" charset="0"/>
            </a:endParaRPr>
          </a:p>
          <a:p>
            <a:r>
              <a:rPr lang="en-GB" sz="1600" b="1" dirty="0">
                <a:latin typeface="Calibri" panose="020F0502020204030204" pitchFamily="34" charset="0"/>
                <a:cs typeface="Calibri" panose="020F0502020204030204" pitchFamily="34" charset="0"/>
              </a:rPr>
              <a:t>Increased aerosol concentration</a:t>
            </a:r>
            <a:r>
              <a:rPr lang="en-GB" sz="1600" dirty="0">
                <a:latin typeface="Calibri" panose="020F0502020204030204" pitchFamily="34" charset="0"/>
                <a:cs typeface="Calibri" panose="020F0502020204030204" pitchFamily="34" charset="0"/>
              </a:rPr>
              <a:t> means there are more particles available to act as cloud condensation nuclei (CCN), the "seeds" on which cloud droplets form.</a:t>
            </a:r>
          </a:p>
          <a:p>
            <a:endParaRPr lang="en-GB" sz="1600" dirty="0">
              <a:latin typeface="Calibri" panose="020F0502020204030204" pitchFamily="34" charset="0"/>
              <a:cs typeface="Calibri" panose="020F0502020204030204" pitchFamily="34" charset="0"/>
            </a:endParaRPr>
          </a:p>
          <a:p>
            <a:r>
              <a:rPr lang="en-GB" sz="1600" dirty="0">
                <a:latin typeface="Calibri" panose="020F0502020204030204" pitchFamily="34" charset="0"/>
                <a:cs typeface="Calibri" panose="020F0502020204030204" pitchFamily="34" charset="0"/>
              </a:rPr>
              <a:t>More CCN leads to a </a:t>
            </a:r>
            <a:r>
              <a:rPr lang="en-GB" sz="1600" b="1" dirty="0">
                <a:latin typeface="Calibri" panose="020F0502020204030204" pitchFamily="34" charset="0"/>
                <a:cs typeface="Calibri" panose="020F0502020204030204" pitchFamily="34" charset="0"/>
              </a:rPr>
              <a:t>larger number of smaller cloud droplets</a:t>
            </a:r>
            <a:r>
              <a:rPr lang="en-GB" sz="1600" dirty="0">
                <a:latin typeface="Calibri" panose="020F0502020204030204" pitchFamily="34" charset="0"/>
                <a:cs typeface="Calibri" panose="020F0502020204030204" pitchFamily="34" charset="0"/>
              </a:rPr>
              <a:t>. Since the available water vapor is distributed among more droplets, each individual droplet remains smaller than it would otherwise be.</a:t>
            </a:r>
          </a:p>
          <a:p>
            <a:endParaRPr lang="en-GB" sz="1600" dirty="0">
              <a:latin typeface="Calibri" panose="020F0502020204030204" pitchFamily="34" charset="0"/>
              <a:cs typeface="Calibri" panose="020F0502020204030204" pitchFamily="34" charset="0"/>
            </a:endParaRPr>
          </a:p>
          <a:p>
            <a:r>
              <a:rPr lang="en-GB" sz="1600" b="1" dirty="0">
                <a:latin typeface="Calibri" panose="020F0502020204030204" pitchFamily="34" charset="0"/>
                <a:cs typeface="Calibri" panose="020F0502020204030204" pitchFamily="34" charset="0"/>
              </a:rPr>
              <a:t>Smaller droplets</a:t>
            </a:r>
            <a:r>
              <a:rPr lang="en-GB" sz="1600" dirty="0">
                <a:latin typeface="Calibri" panose="020F0502020204030204" pitchFamily="34" charset="0"/>
                <a:cs typeface="Calibri" panose="020F0502020204030204" pitchFamily="34" charset="0"/>
              </a:rPr>
              <a:t> increase the </a:t>
            </a:r>
            <a:r>
              <a:rPr lang="en-GB" sz="1600" b="1" dirty="0">
                <a:latin typeface="Calibri" panose="020F0502020204030204" pitchFamily="34" charset="0"/>
                <a:cs typeface="Calibri" panose="020F0502020204030204" pitchFamily="34" charset="0"/>
              </a:rPr>
              <a:t>cloud's reflectivity</a:t>
            </a:r>
            <a:r>
              <a:rPr lang="en-GB" sz="1600" dirty="0">
                <a:latin typeface="Calibri" panose="020F0502020204030204" pitchFamily="34" charset="0"/>
                <a:cs typeface="Calibri" panose="020F0502020204030204" pitchFamily="34" charset="0"/>
              </a:rPr>
              <a:t> or </a:t>
            </a:r>
            <a:r>
              <a:rPr lang="en-GB" sz="1600" b="1" dirty="0">
                <a:latin typeface="Calibri" panose="020F0502020204030204" pitchFamily="34" charset="0"/>
                <a:cs typeface="Calibri" panose="020F0502020204030204" pitchFamily="34" charset="0"/>
              </a:rPr>
              <a:t>albedo</a:t>
            </a:r>
            <a:r>
              <a:rPr lang="en-GB" sz="1600" dirty="0">
                <a:latin typeface="Calibri" panose="020F0502020204030204" pitchFamily="34" charset="0"/>
                <a:cs typeface="Calibri" panose="020F0502020204030204" pitchFamily="34" charset="0"/>
              </a:rPr>
              <a:t> (i.e., the amount of sunlight reflected by the cloud back into space) because smaller droplets scatter sunlight more effectively than larger ones.</a:t>
            </a:r>
          </a:p>
        </p:txBody>
      </p:sp>
    </p:spTree>
    <p:extLst>
      <p:ext uri="{BB962C8B-B14F-4D97-AF65-F5344CB8AC3E}">
        <p14:creationId xmlns:p14="http://schemas.microsoft.com/office/powerpoint/2010/main" val="402945128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F8785-0948-8798-4E84-F04D04BA7F22}"/>
            </a:ext>
          </a:extLst>
        </p:cNvPr>
        <p:cNvGrpSpPr/>
        <p:nvPr/>
      </p:nvGrpSpPr>
      <p:grpSpPr>
        <a:xfrm>
          <a:off x="0" y="0"/>
          <a:ext cx="0" cy="0"/>
          <a:chOff x="0" y="0"/>
          <a:chExt cx="0" cy="0"/>
        </a:xfrm>
      </p:grpSpPr>
      <p:sp>
        <p:nvSpPr>
          <p:cNvPr id="6" name="TextBox 14">
            <a:extLst>
              <a:ext uri="{FF2B5EF4-FFF2-40B4-BE49-F238E27FC236}">
                <a16:creationId xmlns:a16="http://schemas.microsoft.com/office/drawing/2014/main" id="{60366E5A-C540-C260-F7D9-D13AE2DFAFC5}"/>
              </a:ext>
            </a:extLst>
          </p:cNvPr>
          <p:cNvSpPr txBox="1"/>
          <p:nvPr/>
        </p:nvSpPr>
        <p:spPr>
          <a:xfrm>
            <a:off x="630037" y="716175"/>
            <a:ext cx="10497991" cy="574324"/>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3600" b="0" i="1" u="none" strike="noStrike" kern="1200" cap="none" spc="-275" normalizeH="0" baseline="0" noProof="0" dirty="0">
                <a:ln>
                  <a:noFill/>
                </a:ln>
                <a:solidFill>
                  <a:srgbClr val="46245A"/>
                </a:solidFill>
                <a:effectLst/>
                <a:uLnTx/>
                <a:uFillTx/>
                <a:latin typeface="DM Sans Bold"/>
                <a:ea typeface="MS PGothic" panose="020B0600070205080204" pitchFamily="34" charset="-128"/>
                <a:cs typeface="+mn-cs"/>
              </a:rPr>
              <a:t>Aerosol Indirect Forcing</a:t>
            </a:r>
          </a:p>
        </p:txBody>
      </p:sp>
      <p:sp>
        <p:nvSpPr>
          <p:cNvPr id="7" name="Freeform 13">
            <a:extLst>
              <a:ext uri="{FF2B5EF4-FFF2-40B4-BE49-F238E27FC236}">
                <a16:creationId xmlns:a16="http://schemas.microsoft.com/office/drawing/2014/main" id="{B1BDBDAA-4BD0-AC9D-F7F0-46C412CB7DD7}"/>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pic>
        <p:nvPicPr>
          <p:cNvPr id="8" name="Picture 4" descr="dark_cloud">
            <a:extLst>
              <a:ext uri="{FF2B5EF4-FFF2-40B4-BE49-F238E27FC236}">
                <a16:creationId xmlns:a16="http://schemas.microsoft.com/office/drawing/2014/main" id="{0A5F132E-FC88-C55D-9162-DA6019F46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66627" y="1166146"/>
            <a:ext cx="2765150" cy="2552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5" descr="light_cloud">
            <a:extLst>
              <a:ext uri="{FF2B5EF4-FFF2-40B4-BE49-F238E27FC236}">
                <a16:creationId xmlns:a16="http://schemas.microsoft.com/office/drawing/2014/main" id="{7FEC3C98-762E-FDFC-DBB6-2D70638650D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66627" y="3797118"/>
            <a:ext cx="2765150" cy="2552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35966FDC-C75C-DD25-AF10-9DAC8F7BD861}"/>
              </a:ext>
            </a:extLst>
          </p:cNvPr>
          <p:cNvSpPr txBox="1"/>
          <p:nvPr/>
        </p:nvSpPr>
        <p:spPr>
          <a:xfrm>
            <a:off x="9702800" y="3100813"/>
            <a:ext cx="2434442" cy="584775"/>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Fewer and Larger Droplets</a:t>
            </a:r>
          </a:p>
          <a:p>
            <a:r>
              <a:rPr lang="en-US" sz="1600" dirty="0">
                <a:latin typeface="Calibri" panose="020F0502020204030204" pitchFamily="34" charset="0"/>
                <a:cs typeface="Calibri" panose="020F0502020204030204" pitchFamily="34" charset="0"/>
              </a:rPr>
              <a:t>Lower Albedo</a:t>
            </a:r>
          </a:p>
        </p:txBody>
      </p:sp>
      <p:sp>
        <p:nvSpPr>
          <p:cNvPr id="5" name="TextBox 4">
            <a:extLst>
              <a:ext uri="{FF2B5EF4-FFF2-40B4-BE49-F238E27FC236}">
                <a16:creationId xmlns:a16="http://schemas.microsoft.com/office/drawing/2014/main" id="{1913937D-F472-42BF-50F3-698214161A86}"/>
              </a:ext>
            </a:extLst>
          </p:cNvPr>
          <p:cNvSpPr txBox="1"/>
          <p:nvPr/>
        </p:nvSpPr>
        <p:spPr>
          <a:xfrm>
            <a:off x="9702800" y="5691854"/>
            <a:ext cx="2434442" cy="584775"/>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More small droplets</a:t>
            </a:r>
          </a:p>
          <a:p>
            <a:r>
              <a:rPr lang="en-US" sz="1600" dirty="0">
                <a:latin typeface="Calibri" panose="020F0502020204030204" pitchFamily="34" charset="0"/>
                <a:cs typeface="Calibri" panose="020F0502020204030204" pitchFamily="34" charset="0"/>
              </a:rPr>
              <a:t>Higher Albedo</a:t>
            </a:r>
          </a:p>
        </p:txBody>
      </p:sp>
      <p:sp>
        <p:nvSpPr>
          <p:cNvPr id="10" name="TextBox 9">
            <a:extLst>
              <a:ext uri="{FF2B5EF4-FFF2-40B4-BE49-F238E27FC236}">
                <a16:creationId xmlns:a16="http://schemas.microsoft.com/office/drawing/2014/main" id="{A17CC319-695F-DE8A-7481-A3D81961E6B9}"/>
              </a:ext>
            </a:extLst>
          </p:cNvPr>
          <p:cNvSpPr txBox="1"/>
          <p:nvPr/>
        </p:nvSpPr>
        <p:spPr>
          <a:xfrm>
            <a:off x="535769" y="1421251"/>
            <a:ext cx="6326944" cy="5262979"/>
          </a:xfrm>
          <a:prstGeom prst="rect">
            <a:avLst/>
          </a:prstGeom>
          <a:noFill/>
        </p:spPr>
        <p:txBody>
          <a:bodyPr wrap="square">
            <a:spAutoFit/>
          </a:bodyPr>
          <a:lstStyle/>
          <a:p>
            <a:r>
              <a:rPr lang="en-GB" sz="1600" b="1" dirty="0">
                <a:solidFill>
                  <a:schemeClr val="bg1">
                    <a:lumMod val="75000"/>
                  </a:schemeClr>
                </a:solidFill>
                <a:latin typeface="Calibri" panose="020F0502020204030204" pitchFamily="34" charset="0"/>
                <a:cs typeface="Calibri" panose="020F0502020204030204" pitchFamily="34" charset="0"/>
              </a:rPr>
              <a:t>Indirect effects</a:t>
            </a:r>
            <a:r>
              <a:rPr lang="en-GB" sz="1600" dirty="0">
                <a:solidFill>
                  <a:schemeClr val="bg1">
                    <a:lumMod val="75000"/>
                  </a:schemeClr>
                </a:solidFill>
                <a:latin typeface="Calibri" panose="020F0502020204030204" pitchFamily="34" charset="0"/>
                <a:cs typeface="Calibri" panose="020F0502020204030204" pitchFamily="34" charset="0"/>
              </a:rPr>
              <a:t> refer to how aerosols influence cloud properties, particularly their optical characteristics and lifetime.</a:t>
            </a:r>
          </a:p>
          <a:p>
            <a:endParaRPr lang="en-GB" sz="1600" dirty="0">
              <a:solidFill>
                <a:schemeClr val="bg1">
                  <a:lumMod val="75000"/>
                </a:schemeClr>
              </a:solidFill>
              <a:latin typeface="Calibri" panose="020F0502020204030204" pitchFamily="34" charset="0"/>
              <a:cs typeface="Calibri" panose="020F0502020204030204" pitchFamily="34" charset="0"/>
            </a:endParaRPr>
          </a:p>
          <a:p>
            <a:r>
              <a:rPr lang="en-GB" sz="1600" dirty="0">
                <a:solidFill>
                  <a:schemeClr val="bg1">
                    <a:lumMod val="75000"/>
                  </a:schemeClr>
                </a:solidFill>
                <a:latin typeface="Calibri" panose="020F0502020204030204" pitchFamily="34" charset="0"/>
                <a:cs typeface="Calibri" panose="020F0502020204030204" pitchFamily="34" charset="0"/>
              </a:rPr>
              <a:t>Much more complicated than the direct effect and there are two processes important here. </a:t>
            </a:r>
          </a:p>
          <a:p>
            <a:endParaRPr lang="en-GB" sz="1600" dirty="0">
              <a:latin typeface="Calibri" panose="020F0502020204030204" pitchFamily="34" charset="0"/>
              <a:cs typeface="Calibri" panose="020F0502020204030204" pitchFamily="34" charset="0"/>
            </a:endParaRPr>
          </a:p>
          <a:p>
            <a:pPr algn="l"/>
            <a:r>
              <a:rPr lang="en-GB" sz="1600" b="1" i="0" u="none" strike="noStrike" dirty="0">
                <a:solidFill>
                  <a:srgbClr val="000000"/>
                </a:solidFill>
                <a:effectLst/>
                <a:latin typeface="Calibri" panose="020F0502020204030204" pitchFamily="34" charset="0"/>
                <a:cs typeface="Calibri" panose="020F0502020204030204" pitchFamily="34" charset="0"/>
              </a:rPr>
              <a:t>Second Indirect Effect (Cloud Lifetime Effect):</a:t>
            </a:r>
          </a:p>
          <a:p>
            <a:pPr algn="l"/>
            <a:endParaRPr lang="en-GB" sz="1600" b="1" i="0" u="none" strike="noStrike" dirty="0">
              <a:solidFill>
                <a:srgbClr val="000000"/>
              </a:solidFill>
              <a:effectLst/>
              <a:latin typeface="Calibri" panose="020F0502020204030204" pitchFamily="34" charset="0"/>
              <a:cs typeface="Calibri" panose="020F0502020204030204" pitchFamily="34" charset="0"/>
            </a:endParaRPr>
          </a:p>
          <a:p>
            <a:pPr algn="l"/>
            <a:r>
              <a:rPr lang="en-GB" sz="1600" b="1" i="0" u="none" strike="noStrike" dirty="0">
                <a:solidFill>
                  <a:srgbClr val="000000"/>
                </a:solidFill>
                <a:effectLst/>
                <a:latin typeface="Calibri" panose="020F0502020204030204" pitchFamily="34" charset="0"/>
                <a:cs typeface="Calibri" panose="020F0502020204030204" pitchFamily="34" charset="0"/>
              </a:rPr>
              <a:t>Increased aerosol concentration</a:t>
            </a:r>
            <a:r>
              <a:rPr lang="en-GB" sz="1600" b="0" i="0" u="none" strike="noStrike" dirty="0">
                <a:solidFill>
                  <a:srgbClr val="000000"/>
                </a:solidFill>
                <a:effectLst/>
                <a:latin typeface="Calibri" panose="020F0502020204030204" pitchFamily="34" charset="0"/>
                <a:cs typeface="Calibri" panose="020F0502020204030204" pitchFamily="34" charset="0"/>
              </a:rPr>
              <a:t> leads to smaller cloud droplets (Twomey effect)</a:t>
            </a:r>
          </a:p>
          <a:p>
            <a:pPr algn="l"/>
            <a:endParaRPr lang="en-GB" sz="1600" b="0" i="0" u="none" strike="noStrike" dirty="0">
              <a:solidFill>
                <a:srgbClr val="000000"/>
              </a:solidFill>
              <a:effectLst/>
              <a:latin typeface="Calibri" panose="020F0502020204030204" pitchFamily="34" charset="0"/>
              <a:cs typeface="Calibri" panose="020F0502020204030204" pitchFamily="34" charset="0"/>
            </a:endParaRPr>
          </a:p>
          <a:p>
            <a:pPr algn="l"/>
            <a:r>
              <a:rPr lang="en-GB" sz="1600" b="1" i="0" u="none" strike="noStrike" dirty="0">
                <a:solidFill>
                  <a:srgbClr val="000000"/>
                </a:solidFill>
                <a:effectLst/>
                <a:latin typeface="Calibri" panose="020F0502020204030204" pitchFamily="34" charset="0"/>
                <a:cs typeface="Calibri" panose="020F0502020204030204" pitchFamily="34" charset="0"/>
              </a:rPr>
              <a:t>Smaller droplets</a:t>
            </a:r>
            <a:r>
              <a:rPr lang="en-GB" sz="1600" b="0" i="0" u="none" strike="noStrike" dirty="0">
                <a:solidFill>
                  <a:srgbClr val="000000"/>
                </a:solidFill>
                <a:effectLst/>
                <a:latin typeface="Calibri" panose="020F0502020204030204" pitchFamily="34" charset="0"/>
                <a:cs typeface="Calibri" panose="020F0502020204030204" pitchFamily="34" charset="0"/>
              </a:rPr>
              <a:t> are less efficient at coalescing into larger droplets, which are necessary for the formation of rain.</a:t>
            </a:r>
          </a:p>
          <a:p>
            <a:pPr algn="l"/>
            <a:endParaRPr lang="en-GB" sz="1600" b="0" i="0" u="none" strike="noStrike" dirty="0">
              <a:solidFill>
                <a:srgbClr val="000000"/>
              </a:solidFill>
              <a:effectLst/>
              <a:latin typeface="Calibri" panose="020F0502020204030204" pitchFamily="34" charset="0"/>
              <a:cs typeface="Calibri" panose="020F0502020204030204" pitchFamily="34" charset="0"/>
            </a:endParaRPr>
          </a:p>
          <a:p>
            <a:pPr algn="l"/>
            <a:r>
              <a:rPr lang="en-GB" sz="1600" b="0" i="0" u="none" strike="noStrike" dirty="0">
                <a:solidFill>
                  <a:srgbClr val="000000"/>
                </a:solidFill>
                <a:effectLst/>
                <a:latin typeface="Calibri" panose="020F0502020204030204" pitchFamily="34" charset="0"/>
                <a:cs typeface="Calibri" panose="020F0502020204030204" pitchFamily="34" charset="0"/>
              </a:rPr>
              <a:t>As a result, </a:t>
            </a:r>
            <a:r>
              <a:rPr lang="en-GB" sz="1600" b="1" i="0" u="none" strike="noStrike" dirty="0">
                <a:solidFill>
                  <a:srgbClr val="000000"/>
                </a:solidFill>
                <a:effectLst/>
                <a:latin typeface="Calibri" panose="020F0502020204030204" pitchFamily="34" charset="0"/>
                <a:cs typeface="Calibri" panose="020F0502020204030204" pitchFamily="34" charset="0"/>
              </a:rPr>
              <a:t>clouds with more aerosols</a:t>
            </a:r>
            <a:r>
              <a:rPr lang="en-GB" sz="1600" b="0" i="0" u="none" strike="noStrike" dirty="0">
                <a:solidFill>
                  <a:srgbClr val="000000"/>
                </a:solidFill>
                <a:effectLst/>
                <a:latin typeface="Calibri" panose="020F0502020204030204" pitchFamily="34" charset="0"/>
                <a:cs typeface="Calibri" panose="020F0502020204030204" pitchFamily="34" charset="0"/>
              </a:rPr>
              <a:t> have smaller droplets that remain suspended in the atmosphere longer, delaying or reducing rainfall.</a:t>
            </a:r>
          </a:p>
          <a:p>
            <a:pPr algn="l"/>
            <a:endParaRPr lang="en-GB" sz="1600" b="0" i="0" u="none" strike="noStrike" dirty="0">
              <a:solidFill>
                <a:srgbClr val="000000"/>
              </a:solidFill>
              <a:effectLst/>
              <a:latin typeface="Calibri" panose="020F0502020204030204" pitchFamily="34" charset="0"/>
              <a:cs typeface="Calibri" panose="020F0502020204030204" pitchFamily="34" charset="0"/>
            </a:endParaRPr>
          </a:p>
          <a:p>
            <a:pPr algn="l"/>
            <a:r>
              <a:rPr lang="en-GB" sz="1600" b="1" i="0" u="none" strike="noStrike" dirty="0">
                <a:solidFill>
                  <a:srgbClr val="000000"/>
                </a:solidFill>
                <a:effectLst/>
                <a:latin typeface="Calibri" panose="020F0502020204030204" pitchFamily="34" charset="0"/>
                <a:cs typeface="Calibri" panose="020F0502020204030204" pitchFamily="34" charset="0"/>
              </a:rPr>
              <a:t>Longer Cloud Lifetime</a:t>
            </a:r>
            <a:endParaRPr lang="en-GB" sz="1600" b="0" i="0" u="none" strike="noStrike" dirty="0">
              <a:solidFill>
                <a:srgbClr val="000000"/>
              </a:solidFill>
              <a:effectLst/>
              <a:latin typeface="Calibri" panose="020F0502020204030204" pitchFamily="34" charset="0"/>
              <a:cs typeface="Calibri" panose="020F0502020204030204" pitchFamily="34" charset="0"/>
            </a:endParaRPr>
          </a:p>
          <a:p>
            <a:pPr algn="l"/>
            <a:r>
              <a:rPr lang="en-GB" sz="1600" b="1" i="0" u="none" strike="noStrike" dirty="0">
                <a:solidFill>
                  <a:srgbClr val="000000"/>
                </a:solidFill>
                <a:effectLst/>
                <a:latin typeface="Calibri" panose="020F0502020204030204" pitchFamily="34" charset="0"/>
                <a:cs typeface="Calibri" panose="020F0502020204030204" pitchFamily="34" charset="0"/>
              </a:rPr>
              <a:t>Increased Cloud Coverage</a:t>
            </a:r>
            <a:endParaRPr lang="en-GB" sz="1600" b="0" i="0" u="none" strike="noStrike" dirty="0">
              <a:solidFill>
                <a:srgbClr val="000000"/>
              </a:solidFill>
              <a:effectLst/>
              <a:latin typeface="Calibri" panose="020F0502020204030204" pitchFamily="34" charset="0"/>
              <a:cs typeface="Calibri" panose="020F0502020204030204" pitchFamily="34" charset="0"/>
            </a:endParaRPr>
          </a:p>
          <a:p>
            <a:pPr algn="l"/>
            <a:r>
              <a:rPr lang="en-GB" sz="1600" b="1" i="0" u="none" strike="noStrike" dirty="0">
                <a:solidFill>
                  <a:srgbClr val="000000"/>
                </a:solidFill>
                <a:effectLst/>
                <a:latin typeface="Calibri" panose="020F0502020204030204" pitchFamily="34" charset="0"/>
                <a:cs typeface="Calibri" panose="020F0502020204030204" pitchFamily="34" charset="0"/>
              </a:rPr>
              <a:t>Reduced Precipitation</a:t>
            </a:r>
            <a:endParaRPr lang="en-GB" sz="1600" b="0" i="0" u="none" strike="noStrike" dirty="0">
              <a:solidFill>
                <a:srgbClr val="000000"/>
              </a:solidFill>
              <a:effectLst/>
              <a:latin typeface="Calibri" panose="020F0502020204030204" pitchFamily="34" charset="0"/>
              <a:cs typeface="Calibri" panose="020F0502020204030204" pitchFamily="34" charset="0"/>
            </a:endParaRPr>
          </a:p>
          <a:p>
            <a:endParaRPr lang="en-GB" sz="16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5316447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4">
            <a:extLst>
              <a:ext uri="{FF2B5EF4-FFF2-40B4-BE49-F238E27FC236}">
                <a16:creationId xmlns:a16="http://schemas.microsoft.com/office/drawing/2014/main" id="{734A4C51-5E53-A98D-6FF5-B95312EBA33B}"/>
              </a:ext>
            </a:extLst>
          </p:cNvPr>
          <p:cNvSpPr txBox="1"/>
          <p:nvPr/>
        </p:nvSpPr>
        <p:spPr>
          <a:xfrm>
            <a:off x="535769" y="720667"/>
            <a:ext cx="10497991" cy="564322"/>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3600" b="0" i="1" u="none" strike="noStrike" kern="1200" cap="none" spc="-275" normalizeH="0" baseline="0" noProof="0" dirty="0">
                <a:ln>
                  <a:noFill/>
                </a:ln>
                <a:solidFill>
                  <a:srgbClr val="46245A"/>
                </a:solidFill>
                <a:effectLst/>
                <a:uLnTx/>
                <a:uFillTx/>
                <a:latin typeface="DM Sans Bold"/>
                <a:ea typeface="MS PGothic" panose="020B0600070205080204" pitchFamily="34" charset="-128"/>
                <a:cs typeface="+mn-cs"/>
              </a:rPr>
              <a:t>Surface Albedo…</a:t>
            </a:r>
          </a:p>
        </p:txBody>
      </p:sp>
      <p:sp>
        <p:nvSpPr>
          <p:cNvPr id="7" name="Freeform 13">
            <a:extLst>
              <a:ext uri="{FF2B5EF4-FFF2-40B4-BE49-F238E27FC236}">
                <a16:creationId xmlns:a16="http://schemas.microsoft.com/office/drawing/2014/main" id="{C71D23AC-250F-72D7-91B9-B8EB7374550C}"/>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
        <p:nvSpPr>
          <p:cNvPr id="2" name="Text Box 4">
            <a:extLst>
              <a:ext uri="{FF2B5EF4-FFF2-40B4-BE49-F238E27FC236}">
                <a16:creationId xmlns:a16="http://schemas.microsoft.com/office/drawing/2014/main" id="{549F9500-9A7F-90E2-19EE-87D34459B1E0}"/>
              </a:ext>
            </a:extLst>
          </p:cNvPr>
          <p:cNvSpPr txBox="1">
            <a:spLocks noChangeArrowheads="1"/>
          </p:cNvSpPr>
          <p:nvPr/>
        </p:nvSpPr>
        <p:spPr bwMode="auto">
          <a:xfrm>
            <a:off x="646130" y="2351679"/>
            <a:ext cx="94107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eaLnBrk="1" hangingPunct="1">
              <a:spcBef>
                <a:spcPct val="50000"/>
              </a:spcBef>
              <a:buFontTx/>
              <a:buNone/>
            </a:pPr>
            <a:r>
              <a:rPr lang="en-GB" altLang="en-US" sz="1800" b="1">
                <a:latin typeface="Trebuchet MS" panose="020B0603020202020204" pitchFamily="34" charset="0"/>
              </a:rPr>
              <a:t>Dark</a:t>
            </a:r>
            <a:r>
              <a:rPr lang="en-GB" altLang="en-US" sz="2000" b="1">
                <a:latin typeface="Trebuchet MS" panose="020B0603020202020204" pitchFamily="34" charset="0"/>
              </a:rPr>
              <a:t>, low albedo ocean		Light, high albedo ice</a:t>
            </a:r>
            <a:endParaRPr lang="el-GR" altLang="en-US" sz="1600">
              <a:latin typeface="Trebuchet MS" panose="020B0603020202020204" pitchFamily="34" charset="0"/>
            </a:endParaRPr>
          </a:p>
        </p:txBody>
      </p:sp>
      <p:sp>
        <p:nvSpPr>
          <p:cNvPr id="5" name="Rectangle 5">
            <a:extLst>
              <a:ext uri="{FF2B5EF4-FFF2-40B4-BE49-F238E27FC236}">
                <a16:creationId xmlns:a16="http://schemas.microsoft.com/office/drawing/2014/main" id="{CAED5271-89DD-5543-AA02-2F8E99201FAA}"/>
              </a:ext>
            </a:extLst>
          </p:cNvPr>
          <p:cNvSpPr>
            <a:spLocks noChangeArrowheads="1"/>
          </p:cNvSpPr>
          <p:nvPr/>
        </p:nvSpPr>
        <p:spPr bwMode="auto">
          <a:xfrm>
            <a:off x="1739137" y="2924636"/>
            <a:ext cx="3962400" cy="3170099"/>
          </a:xfrm>
          <a:prstGeom prst="rect">
            <a:avLst/>
          </a:prstGeom>
          <a:solidFill>
            <a:srgbClr val="000080"/>
          </a:solidFill>
          <a:ln w="38100">
            <a:solidFill>
              <a:schemeClr val="tx1"/>
            </a:solidFill>
            <a:miter lim="800000"/>
            <a:headEnd/>
            <a:tailEnd/>
          </a:ln>
        </p:spPr>
        <p:txBody>
          <a:bodyPr anchor="ctr">
            <a:spAutoFit/>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eaLnBrk="1" hangingPunct="1">
              <a:spcBef>
                <a:spcPct val="0"/>
              </a:spcBef>
              <a:buFontTx/>
              <a:buNone/>
            </a:pPr>
            <a:endParaRPr lang="en-US" altLang="en-US" sz="2000" dirty="0">
              <a:latin typeface="Tahoma" panose="020B0604030504040204" pitchFamily="34" charset="0"/>
            </a:endParaRPr>
          </a:p>
          <a:p>
            <a:pPr eaLnBrk="1" hangingPunct="1">
              <a:spcBef>
                <a:spcPct val="0"/>
              </a:spcBef>
              <a:buFontTx/>
              <a:buNone/>
            </a:pPr>
            <a:endParaRPr lang="en-US" altLang="en-US" sz="2000" dirty="0">
              <a:latin typeface="Tahoma" panose="020B0604030504040204" pitchFamily="34" charset="0"/>
            </a:endParaRPr>
          </a:p>
          <a:p>
            <a:pPr eaLnBrk="1" hangingPunct="1">
              <a:spcBef>
                <a:spcPct val="0"/>
              </a:spcBef>
              <a:buFontTx/>
              <a:buNone/>
            </a:pPr>
            <a:endParaRPr lang="en-US" altLang="en-US" sz="2000" dirty="0">
              <a:latin typeface="Tahoma" panose="020B0604030504040204" pitchFamily="34" charset="0"/>
            </a:endParaRPr>
          </a:p>
          <a:p>
            <a:pPr eaLnBrk="1" hangingPunct="1">
              <a:spcBef>
                <a:spcPct val="0"/>
              </a:spcBef>
              <a:buFontTx/>
              <a:buNone/>
            </a:pPr>
            <a:endParaRPr lang="en-US" altLang="en-US" sz="2000" dirty="0">
              <a:latin typeface="Tahoma" panose="020B0604030504040204" pitchFamily="34" charset="0"/>
            </a:endParaRPr>
          </a:p>
          <a:p>
            <a:pPr eaLnBrk="1" hangingPunct="1">
              <a:spcBef>
                <a:spcPct val="0"/>
              </a:spcBef>
              <a:buFontTx/>
              <a:buNone/>
            </a:pPr>
            <a:endParaRPr lang="en-US" altLang="en-US" sz="2000" dirty="0">
              <a:latin typeface="Tahoma" panose="020B0604030504040204" pitchFamily="34" charset="0"/>
            </a:endParaRPr>
          </a:p>
          <a:p>
            <a:pPr eaLnBrk="1" hangingPunct="1">
              <a:spcBef>
                <a:spcPct val="0"/>
              </a:spcBef>
              <a:buFontTx/>
              <a:buNone/>
            </a:pPr>
            <a:endParaRPr lang="en-US" altLang="en-US" sz="2000" dirty="0">
              <a:latin typeface="Tahoma" panose="020B0604030504040204" pitchFamily="34" charset="0"/>
            </a:endParaRPr>
          </a:p>
          <a:p>
            <a:pPr eaLnBrk="1" hangingPunct="1">
              <a:spcBef>
                <a:spcPct val="0"/>
              </a:spcBef>
              <a:buFontTx/>
              <a:buNone/>
            </a:pPr>
            <a:endParaRPr lang="en-US" altLang="en-US" sz="2000" dirty="0">
              <a:latin typeface="Tahoma" panose="020B0604030504040204" pitchFamily="34" charset="0"/>
            </a:endParaRPr>
          </a:p>
          <a:p>
            <a:pPr eaLnBrk="1" hangingPunct="1">
              <a:spcBef>
                <a:spcPct val="0"/>
              </a:spcBef>
              <a:buFontTx/>
              <a:buNone/>
            </a:pPr>
            <a:endParaRPr lang="en-US" altLang="en-US" sz="2000" dirty="0">
              <a:latin typeface="Tahoma" panose="020B0604030504040204" pitchFamily="34" charset="0"/>
            </a:endParaRPr>
          </a:p>
          <a:p>
            <a:pPr eaLnBrk="1" hangingPunct="1">
              <a:spcBef>
                <a:spcPct val="0"/>
              </a:spcBef>
              <a:buFontTx/>
              <a:buNone/>
            </a:pPr>
            <a:endParaRPr lang="en-US" altLang="en-US" sz="2000" dirty="0">
              <a:latin typeface="Tahoma" panose="020B0604030504040204" pitchFamily="34" charset="0"/>
            </a:endParaRPr>
          </a:p>
          <a:p>
            <a:pPr eaLnBrk="1" hangingPunct="1">
              <a:spcBef>
                <a:spcPct val="0"/>
              </a:spcBef>
              <a:buFontTx/>
              <a:buNone/>
            </a:pPr>
            <a:endParaRPr lang="en-US" altLang="en-US" sz="2000" dirty="0">
              <a:latin typeface="Tahoma" panose="020B0604030504040204" pitchFamily="34" charset="0"/>
            </a:endParaRPr>
          </a:p>
        </p:txBody>
      </p:sp>
      <p:sp>
        <p:nvSpPr>
          <p:cNvPr id="10" name="Rectangle 6">
            <a:extLst>
              <a:ext uri="{FF2B5EF4-FFF2-40B4-BE49-F238E27FC236}">
                <a16:creationId xmlns:a16="http://schemas.microsoft.com/office/drawing/2014/main" id="{BD481CF7-8F5B-1CE2-0154-965924E79493}"/>
              </a:ext>
            </a:extLst>
          </p:cNvPr>
          <p:cNvSpPr>
            <a:spLocks noChangeArrowheads="1"/>
          </p:cNvSpPr>
          <p:nvPr/>
        </p:nvSpPr>
        <p:spPr bwMode="auto">
          <a:xfrm>
            <a:off x="5715031" y="2924636"/>
            <a:ext cx="3962400" cy="3170099"/>
          </a:xfrm>
          <a:prstGeom prst="rect">
            <a:avLst/>
          </a:prstGeom>
          <a:solidFill>
            <a:schemeClr val="bg1"/>
          </a:solidFill>
          <a:ln w="38100">
            <a:solidFill>
              <a:schemeClr val="tx1"/>
            </a:solidFill>
            <a:miter lim="800000"/>
            <a:headEnd/>
            <a:tailEnd/>
          </a:ln>
        </p:spPr>
        <p:txBody>
          <a:bodyPr anchor="ctr">
            <a:spAutoFit/>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eaLnBrk="1" hangingPunct="1">
              <a:spcBef>
                <a:spcPct val="0"/>
              </a:spcBef>
              <a:buFontTx/>
              <a:buNone/>
            </a:pPr>
            <a:endParaRPr lang="en-US" altLang="en-US" sz="2000" dirty="0">
              <a:latin typeface="Tahoma" panose="020B0604030504040204" pitchFamily="34" charset="0"/>
            </a:endParaRPr>
          </a:p>
          <a:p>
            <a:pPr eaLnBrk="1" hangingPunct="1">
              <a:spcBef>
                <a:spcPct val="0"/>
              </a:spcBef>
              <a:buFontTx/>
              <a:buNone/>
            </a:pPr>
            <a:endParaRPr lang="en-US" altLang="en-US" sz="2000" dirty="0">
              <a:latin typeface="Tahoma" panose="020B0604030504040204" pitchFamily="34" charset="0"/>
            </a:endParaRPr>
          </a:p>
          <a:p>
            <a:pPr eaLnBrk="1" hangingPunct="1">
              <a:spcBef>
                <a:spcPct val="0"/>
              </a:spcBef>
              <a:buFontTx/>
              <a:buNone/>
            </a:pPr>
            <a:endParaRPr lang="en-US" altLang="en-US" sz="2000" dirty="0">
              <a:latin typeface="Tahoma" panose="020B0604030504040204" pitchFamily="34" charset="0"/>
            </a:endParaRPr>
          </a:p>
          <a:p>
            <a:pPr eaLnBrk="1" hangingPunct="1">
              <a:spcBef>
                <a:spcPct val="0"/>
              </a:spcBef>
              <a:buFontTx/>
              <a:buNone/>
            </a:pPr>
            <a:endParaRPr lang="en-US" altLang="en-US" sz="2000" dirty="0">
              <a:latin typeface="Tahoma" panose="020B0604030504040204" pitchFamily="34" charset="0"/>
            </a:endParaRPr>
          </a:p>
          <a:p>
            <a:pPr eaLnBrk="1" hangingPunct="1">
              <a:spcBef>
                <a:spcPct val="0"/>
              </a:spcBef>
              <a:buFontTx/>
              <a:buNone/>
            </a:pPr>
            <a:endParaRPr lang="en-US" altLang="en-US" sz="2000" dirty="0">
              <a:latin typeface="Tahoma" panose="020B0604030504040204" pitchFamily="34" charset="0"/>
            </a:endParaRPr>
          </a:p>
          <a:p>
            <a:pPr eaLnBrk="1" hangingPunct="1">
              <a:spcBef>
                <a:spcPct val="0"/>
              </a:spcBef>
              <a:buFontTx/>
              <a:buNone/>
            </a:pPr>
            <a:endParaRPr lang="en-US" altLang="en-US" sz="2000" dirty="0">
              <a:latin typeface="Tahoma" panose="020B0604030504040204" pitchFamily="34" charset="0"/>
            </a:endParaRPr>
          </a:p>
          <a:p>
            <a:pPr eaLnBrk="1" hangingPunct="1">
              <a:spcBef>
                <a:spcPct val="0"/>
              </a:spcBef>
              <a:buFontTx/>
              <a:buNone/>
            </a:pPr>
            <a:endParaRPr lang="en-US" altLang="en-US" sz="2000" dirty="0">
              <a:latin typeface="Tahoma" panose="020B0604030504040204" pitchFamily="34" charset="0"/>
            </a:endParaRPr>
          </a:p>
          <a:p>
            <a:pPr eaLnBrk="1" hangingPunct="1">
              <a:spcBef>
                <a:spcPct val="0"/>
              </a:spcBef>
              <a:buFontTx/>
              <a:buNone/>
            </a:pPr>
            <a:endParaRPr lang="en-US" altLang="en-US" sz="2000" dirty="0">
              <a:latin typeface="Tahoma" panose="020B0604030504040204" pitchFamily="34" charset="0"/>
            </a:endParaRPr>
          </a:p>
          <a:p>
            <a:pPr eaLnBrk="1" hangingPunct="1">
              <a:spcBef>
                <a:spcPct val="0"/>
              </a:spcBef>
              <a:buFontTx/>
              <a:buNone/>
            </a:pPr>
            <a:endParaRPr lang="en-US" altLang="en-US" sz="2000" dirty="0">
              <a:latin typeface="Tahoma" panose="020B0604030504040204" pitchFamily="34" charset="0"/>
            </a:endParaRPr>
          </a:p>
          <a:p>
            <a:pPr eaLnBrk="1" hangingPunct="1">
              <a:spcBef>
                <a:spcPct val="0"/>
              </a:spcBef>
              <a:buFontTx/>
              <a:buNone/>
            </a:pPr>
            <a:endParaRPr lang="en-US" altLang="en-US" sz="2000" dirty="0">
              <a:latin typeface="Tahoma" panose="020B0604030504040204" pitchFamily="34" charset="0"/>
            </a:endParaRPr>
          </a:p>
        </p:txBody>
      </p:sp>
      <p:sp>
        <p:nvSpPr>
          <p:cNvPr id="12" name="Text Box 8">
            <a:extLst>
              <a:ext uri="{FF2B5EF4-FFF2-40B4-BE49-F238E27FC236}">
                <a16:creationId xmlns:a16="http://schemas.microsoft.com/office/drawing/2014/main" id="{603409AC-B885-C504-CC2B-A66515E9B4BC}"/>
              </a:ext>
            </a:extLst>
          </p:cNvPr>
          <p:cNvSpPr txBox="1">
            <a:spLocks noChangeArrowheads="1"/>
          </p:cNvSpPr>
          <p:nvPr/>
        </p:nvSpPr>
        <p:spPr bwMode="auto">
          <a:xfrm>
            <a:off x="535769" y="1633668"/>
            <a:ext cx="98504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eaLnBrk="1" hangingPunct="1">
              <a:spcBef>
                <a:spcPct val="0"/>
              </a:spcBef>
              <a:buFontTx/>
              <a:buNone/>
            </a:pPr>
            <a:r>
              <a:rPr lang="en-GB" altLang="en-US" sz="1800" b="1" dirty="0">
                <a:solidFill>
                  <a:srgbClr val="FF0000"/>
                </a:solidFill>
                <a:latin typeface="Trebuchet MS" panose="020B0603020202020204" pitchFamily="34" charset="0"/>
              </a:rPr>
              <a:t>NB the sign of the aerosol forcing depends on the underlying surface albedo</a:t>
            </a:r>
            <a:endParaRPr lang="en-US" altLang="en-US" sz="1800" b="1" dirty="0">
              <a:solidFill>
                <a:srgbClr val="FF0000"/>
              </a:solidFill>
              <a:latin typeface="Trebuchet MS" panose="020B0603020202020204" pitchFamily="34" charset="0"/>
            </a:endParaRPr>
          </a:p>
        </p:txBody>
      </p:sp>
    </p:spTree>
    <p:extLst>
      <p:ext uri="{BB962C8B-B14F-4D97-AF65-F5344CB8AC3E}">
        <p14:creationId xmlns:p14="http://schemas.microsoft.com/office/powerpoint/2010/main" val="17636346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EB8C6-C7A0-83AB-73AD-E9610E3A0048}"/>
            </a:ext>
          </a:extLst>
        </p:cNvPr>
        <p:cNvGrpSpPr/>
        <p:nvPr/>
      </p:nvGrpSpPr>
      <p:grpSpPr>
        <a:xfrm>
          <a:off x="0" y="0"/>
          <a:ext cx="0" cy="0"/>
          <a:chOff x="0" y="0"/>
          <a:chExt cx="0" cy="0"/>
        </a:xfrm>
      </p:grpSpPr>
      <p:sp>
        <p:nvSpPr>
          <p:cNvPr id="6" name="TextBox 14">
            <a:extLst>
              <a:ext uri="{FF2B5EF4-FFF2-40B4-BE49-F238E27FC236}">
                <a16:creationId xmlns:a16="http://schemas.microsoft.com/office/drawing/2014/main" id="{57A96BFD-6E66-50C9-B7D4-320A59FF8507}"/>
              </a:ext>
            </a:extLst>
          </p:cNvPr>
          <p:cNvSpPr txBox="1"/>
          <p:nvPr/>
        </p:nvSpPr>
        <p:spPr>
          <a:xfrm>
            <a:off x="535769" y="720667"/>
            <a:ext cx="10497991" cy="564322"/>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3600" b="0" i="1" u="none" strike="noStrike" kern="1200" cap="none" spc="-275" normalizeH="0" baseline="0" noProof="0" dirty="0">
                <a:ln>
                  <a:noFill/>
                </a:ln>
                <a:solidFill>
                  <a:srgbClr val="46245A"/>
                </a:solidFill>
                <a:effectLst/>
                <a:uLnTx/>
                <a:uFillTx/>
                <a:latin typeface="DM Sans Bold"/>
                <a:ea typeface="MS PGothic" panose="020B0600070205080204" pitchFamily="34" charset="-128"/>
                <a:cs typeface="+mn-cs"/>
              </a:rPr>
              <a:t>Surface Albedo…</a:t>
            </a:r>
          </a:p>
        </p:txBody>
      </p:sp>
      <p:sp>
        <p:nvSpPr>
          <p:cNvPr id="7" name="Freeform 13">
            <a:extLst>
              <a:ext uri="{FF2B5EF4-FFF2-40B4-BE49-F238E27FC236}">
                <a16:creationId xmlns:a16="http://schemas.microsoft.com/office/drawing/2014/main" id="{FD644BD4-2FCC-1BBC-F6AA-B6DCEFC1F55F}"/>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
        <p:nvSpPr>
          <p:cNvPr id="2" name="Text Box 4">
            <a:extLst>
              <a:ext uri="{FF2B5EF4-FFF2-40B4-BE49-F238E27FC236}">
                <a16:creationId xmlns:a16="http://schemas.microsoft.com/office/drawing/2014/main" id="{D7C67D2E-A2B1-023E-3753-F1AFB7D7B697}"/>
              </a:ext>
            </a:extLst>
          </p:cNvPr>
          <p:cNvSpPr txBox="1">
            <a:spLocks noChangeArrowheads="1"/>
          </p:cNvSpPr>
          <p:nvPr/>
        </p:nvSpPr>
        <p:spPr bwMode="auto">
          <a:xfrm>
            <a:off x="646130" y="2351679"/>
            <a:ext cx="94107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eaLnBrk="1" hangingPunct="1">
              <a:spcBef>
                <a:spcPct val="50000"/>
              </a:spcBef>
              <a:buFontTx/>
              <a:buNone/>
            </a:pPr>
            <a:r>
              <a:rPr lang="en-GB" altLang="en-US" sz="1800" b="1" dirty="0">
                <a:latin typeface="Trebuchet MS" panose="020B0603020202020204" pitchFamily="34" charset="0"/>
              </a:rPr>
              <a:t>Dark</a:t>
            </a:r>
            <a:r>
              <a:rPr lang="en-GB" altLang="en-US" sz="2000" b="1" dirty="0">
                <a:latin typeface="Trebuchet MS" panose="020B0603020202020204" pitchFamily="34" charset="0"/>
              </a:rPr>
              <a:t>, low albedo ocean		Light, high albedo ice</a:t>
            </a:r>
            <a:endParaRPr lang="el-GR" altLang="en-US" sz="1600" dirty="0">
              <a:latin typeface="Trebuchet MS" panose="020B0603020202020204" pitchFamily="34" charset="0"/>
            </a:endParaRPr>
          </a:p>
        </p:txBody>
      </p:sp>
      <p:sp>
        <p:nvSpPr>
          <p:cNvPr id="5" name="Rectangle 5">
            <a:extLst>
              <a:ext uri="{FF2B5EF4-FFF2-40B4-BE49-F238E27FC236}">
                <a16:creationId xmlns:a16="http://schemas.microsoft.com/office/drawing/2014/main" id="{23F38F6F-656E-AD77-9EFA-2B0667B75DA0}"/>
              </a:ext>
            </a:extLst>
          </p:cNvPr>
          <p:cNvSpPr>
            <a:spLocks noChangeArrowheads="1"/>
          </p:cNvSpPr>
          <p:nvPr/>
        </p:nvSpPr>
        <p:spPr bwMode="auto">
          <a:xfrm>
            <a:off x="1739137" y="2924636"/>
            <a:ext cx="3962400" cy="3170099"/>
          </a:xfrm>
          <a:prstGeom prst="rect">
            <a:avLst/>
          </a:prstGeom>
          <a:solidFill>
            <a:srgbClr val="000080"/>
          </a:solidFill>
          <a:ln w="38100">
            <a:solidFill>
              <a:schemeClr val="tx1"/>
            </a:solidFill>
            <a:miter lim="800000"/>
            <a:headEnd/>
            <a:tailEnd/>
          </a:ln>
        </p:spPr>
        <p:txBody>
          <a:bodyPr anchor="ctr">
            <a:spAutoFit/>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eaLnBrk="1" hangingPunct="1">
              <a:spcBef>
                <a:spcPct val="0"/>
              </a:spcBef>
              <a:buFontTx/>
              <a:buNone/>
            </a:pPr>
            <a:endParaRPr lang="en-US" altLang="en-US" sz="2000" dirty="0">
              <a:latin typeface="Tahoma" panose="020B0604030504040204" pitchFamily="34" charset="0"/>
            </a:endParaRPr>
          </a:p>
          <a:p>
            <a:pPr eaLnBrk="1" hangingPunct="1">
              <a:spcBef>
                <a:spcPct val="0"/>
              </a:spcBef>
              <a:buFontTx/>
              <a:buNone/>
            </a:pPr>
            <a:endParaRPr lang="en-US" altLang="en-US" sz="2000" dirty="0">
              <a:latin typeface="Tahoma" panose="020B0604030504040204" pitchFamily="34" charset="0"/>
            </a:endParaRPr>
          </a:p>
          <a:p>
            <a:pPr eaLnBrk="1" hangingPunct="1">
              <a:spcBef>
                <a:spcPct val="0"/>
              </a:spcBef>
              <a:buFontTx/>
              <a:buNone/>
            </a:pPr>
            <a:endParaRPr lang="en-US" altLang="en-US" sz="2000" dirty="0">
              <a:latin typeface="Tahoma" panose="020B0604030504040204" pitchFamily="34" charset="0"/>
            </a:endParaRPr>
          </a:p>
          <a:p>
            <a:pPr eaLnBrk="1" hangingPunct="1">
              <a:spcBef>
                <a:spcPct val="0"/>
              </a:spcBef>
              <a:buFontTx/>
              <a:buNone/>
            </a:pPr>
            <a:endParaRPr lang="en-US" altLang="en-US" sz="2000" dirty="0">
              <a:latin typeface="Tahoma" panose="020B0604030504040204" pitchFamily="34" charset="0"/>
            </a:endParaRPr>
          </a:p>
          <a:p>
            <a:pPr eaLnBrk="1" hangingPunct="1">
              <a:spcBef>
                <a:spcPct val="0"/>
              </a:spcBef>
              <a:buFontTx/>
              <a:buNone/>
            </a:pPr>
            <a:endParaRPr lang="en-US" altLang="en-US" sz="2000" dirty="0">
              <a:latin typeface="Tahoma" panose="020B0604030504040204" pitchFamily="34" charset="0"/>
            </a:endParaRPr>
          </a:p>
          <a:p>
            <a:pPr eaLnBrk="1" hangingPunct="1">
              <a:spcBef>
                <a:spcPct val="0"/>
              </a:spcBef>
              <a:buFontTx/>
              <a:buNone/>
            </a:pPr>
            <a:endParaRPr lang="en-US" altLang="en-US" sz="2000" dirty="0">
              <a:latin typeface="Tahoma" panose="020B0604030504040204" pitchFamily="34" charset="0"/>
            </a:endParaRPr>
          </a:p>
          <a:p>
            <a:pPr eaLnBrk="1" hangingPunct="1">
              <a:spcBef>
                <a:spcPct val="0"/>
              </a:spcBef>
              <a:buFontTx/>
              <a:buNone/>
            </a:pPr>
            <a:endParaRPr lang="en-US" altLang="en-US" sz="2000" dirty="0">
              <a:latin typeface="Tahoma" panose="020B0604030504040204" pitchFamily="34" charset="0"/>
            </a:endParaRPr>
          </a:p>
          <a:p>
            <a:pPr eaLnBrk="1" hangingPunct="1">
              <a:spcBef>
                <a:spcPct val="0"/>
              </a:spcBef>
              <a:buFontTx/>
              <a:buNone/>
            </a:pPr>
            <a:endParaRPr lang="en-US" altLang="en-US" sz="2000" dirty="0">
              <a:latin typeface="Tahoma" panose="020B0604030504040204" pitchFamily="34" charset="0"/>
            </a:endParaRPr>
          </a:p>
          <a:p>
            <a:pPr eaLnBrk="1" hangingPunct="1">
              <a:spcBef>
                <a:spcPct val="0"/>
              </a:spcBef>
              <a:buFontTx/>
              <a:buNone/>
            </a:pPr>
            <a:endParaRPr lang="en-US" altLang="en-US" sz="2000" dirty="0">
              <a:latin typeface="Tahoma" panose="020B0604030504040204" pitchFamily="34" charset="0"/>
            </a:endParaRPr>
          </a:p>
          <a:p>
            <a:pPr eaLnBrk="1" hangingPunct="1">
              <a:spcBef>
                <a:spcPct val="0"/>
              </a:spcBef>
              <a:buFontTx/>
              <a:buNone/>
            </a:pPr>
            <a:endParaRPr lang="en-US" altLang="en-US" sz="2000" dirty="0">
              <a:latin typeface="Tahoma" panose="020B0604030504040204" pitchFamily="34" charset="0"/>
            </a:endParaRPr>
          </a:p>
        </p:txBody>
      </p:sp>
      <p:sp>
        <p:nvSpPr>
          <p:cNvPr id="10" name="Rectangle 6">
            <a:extLst>
              <a:ext uri="{FF2B5EF4-FFF2-40B4-BE49-F238E27FC236}">
                <a16:creationId xmlns:a16="http://schemas.microsoft.com/office/drawing/2014/main" id="{3150CD4A-E9C6-E09B-96DF-0514ECD02CD7}"/>
              </a:ext>
            </a:extLst>
          </p:cNvPr>
          <p:cNvSpPr>
            <a:spLocks noChangeArrowheads="1"/>
          </p:cNvSpPr>
          <p:nvPr/>
        </p:nvSpPr>
        <p:spPr bwMode="auto">
          <a:xfrm>
            <a:off x="5715031" y="2924636"/>
            <a:ext cx="3962400" cy="3170099"/>
          </a:xfrm>
          <a:prstGeom prst="rect">
            <a:avLst/>
          </a:prstGeom>
          <a:solidFill>
            <a:schemeClr val="bg1"/>
          </a:solidFill>
          <a:ln w="38100">
            <a:solidFill>
              <a:schemeClr val="tx1"/>
            </a:solidFill>
            <a:miter lim="800000"/>
            <a:headEnd/>
            <a:tailEnd/>
          </a:ln>
        </p:spPr>
        <p:txBody>
          <a:bodyPr anchor="ctr">
            <a:spAutoFit/>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eaLnBrk="1" hangingPunct="1">
              <a:spcBef>
                <a:spcPct val="0"/>
              </a:spcBef>
              <a:buFontTx/>
              <a:buNone/>
            </a:pPr>
            <a:endParaRPr lang="en-US" altLang="en-US" sz="2000" dirty="0">
              <a:latin typeface="Tahoma" panose="020B0604030504040204" pitchFamily="34" charset="0"/>
            </a:endParaRPr>
          </a:p>
          <a:p>
            <a:pPr eaLnBrk="1" hangingPunct="1">
              <a:spcBef>
                <a:spcPct val="0"/>
              </a:spcBef>
              <a:buFontTx/>
              <a:buNone/>
            </a:pPr>
            <a:endParaRPr lang="en-US" altLang="en-US" sz="2000" dirty="0">
              <a:latin typeface="Tahoma" panose="020B0604030504040204" pitchFamily="34" charset="0"/>
            </a:endParaRPr>
          </a:p>
          <a:p>
            <a:pPr eaLnBrk="1" hangingPunct="1">
              <a:spcBef>
                <a:spcPct val="0"/>
              </a:spcBef>
              <a:buFontTx/>
              <a:buNone/>
            </a:pPr>
            <a:endParaRPr lang="en-US" altLang="en-US" sz="2000" dirty="0">
              <a:latin typeface="Tahoma" panose="020B0604030504040204" pitchFamily="34" charset="0"/>
            </a:endParaRPr>
          </a:p>
          <a:p>
            <a:pPr eaLnBrk="1" hangingPunct="1">
              <a:spcBef>
                <a:spcPct val="0"/>
              </a:spcBef>
              <a:buFontTx/>
              <a:buNone/>
            </a:pPr>
            <a:endParaRPr lang="en-US" altLang="en-US" sz="2000" dirty="0">
              <a:latin typeface="Tahoma" panose="020B0604030504040204" pitchFamily="34" charset="0"/>
            </a:endParaRPr>
          </a:p>
          <a:p>
            <a:pPr eaLnBrk="1" hangingPunct="1">
              <a:spcBef>
                <a:spcPct val="0"/>
              </a:spcBef>
              <a:buFontTx/>
              <a:buNone/>
            </a:pPr>
            <a:endParaRPr lang="en-US" altLang="en-US" sz="2000" dirty="0">
              <a:latin typeface="Tahoma" panose="020B0604030504040204" pitchFamily="34" charset="0"/>
            </a:endParaRPr>
          </a:p>
          <a:p>
            <a:pPr eaLnBrk="1" hangingPunct="1">
              <a:spcBef>
                <a:spcPct val="0"/>
              </a:spcBef>
              <a:buFontTx/>
              <a:buNone/>
            </a:pPr>
            <a:endParaRPr lang="en-US" altLang="en-US" sz="2000" dirty="0">
              <a:latin typeface="Tahoma" panose="020B0604030504040204" pitchFamily="34" charset="0"/>
            </a:endParaRPr>
          </a:p>
          <a:p>
            <a:pPr eaLnBrk="1" hangingPunct="1">
              <a:spcBef>
                <a:spcPct val="0"/>
              </a:spcBef>
              <a:buFontTx/>
              <a:buNone/>
            </a:pPr>
            <a:endParaRPr lang="en-US" altLang="en-US" sz="2000" dirty="0">
              <a:latin typeface="Tahoma" panose="020B0604030504040204" pitchFamily="34" charset="0"/>
            </a:endParaRPr>
          </a:p>
          <a:p>
            <a:pPr eaLnBrk="1" hangingPunct="1">
              <a:spcBef>
                <a:spcPct val="0"/>
              </a:spcBef>
              <a:buFontTx/>
              <a:buNone/>
            </a:pPr>
            <a:endParaRPr lang="en-US" altLang="en-US" sz="2000" dirty="0">
              <a:latin typeface="Tahoma" panose="020B0604030504040204" pitchFamily="34" charset="0"/>
            </a:endParaRPr>
          </a:p>
          <a:p>
            <a:pPr eaLnBrk="1" hangingPunct="1">
              <a:spcBef>
                <a:spcPct val="0"/>
              </a:spcBef>
              <a:buFontTx/>
              <a:buNone/>
            </a:pPr>
            <a:endParaRPr lang="en-US" altLang="en-US" sz="2000" dirty="0">
              <a:latin typeface="Tahoma" panose="020B0604030504040204" pitchFamily="34" charset="0"/>
            </a:endParaRPr>
          </a:p>
          <a:p>
            <a:pPr eaLnBrk="1" hangingPunct="1">
              <a:spcBef>
                <a:spcPct val="0"/>
              </a:spcBef>
              <a:buFontTx/>
              <a:buNone/>
            </a:pPr>
            <a:endParaRPr lang="en-US" altLang="en-US" sz="2000" dirty="0">
              <a:latin typeface="Tahoma" panose="020B0604030504040204" pitchFamily="34" charset="0"/>
            </a:endParaRPr>
          </a:p>
        </p:txBody>
      </p:sp>
      <p:sp>
        <p:nvSpPr>
          <p:cNvPr id="11" name="Rectangle 7">
            <a:extLst>
              <a:ext uri="{FF2B5EF4-FFF2-40B4-BE49-F238E27FC236}">
                <a16:creationId xmlns:a16="http://schemas.microsoft.com/office/drawing/2014/main" id="{35830C5F-721D-F81B-9657-371FA8BC8F92}"/>
              </a:ext>
            </a:extLst>
          </p:cNvPr>
          <p:cNvSpPr>
            <a:spLocks noChangeArrowheads="1"/>
          </p:cNvSpPr>
          <p:nvPr/>
        </p:nvSpPr>
        <p:spPr bwMode="auto">
          <a:xfrm>
            <a:off x="1739137" y="2886022"/>
            <a:ext cx="7951788" cy="1323439"/>
          </a:xfrm>
          <a:prstGeom prst="rect">
            <a:avLst/>
          </a:prstGeom>
          <a:solidFill>
            <a:schemeClr val="bg2">
              <a:alpha val="34901"/>
            </a:schemeClr>
          </a:solidFill>
          <a:ln w="38100">
            <a:solidFill>
              <a:schemeClr val="tx1"/>
            </a:solidFill>
            <a:miter lim="800000"/>
            <a:headEnd/>
            <a:tailEnd/>
          </a:ln>
        </p:spPr>
        <p:txBody>
          <a:bodyPr anchor="ctr">
            <a:spAutoFit/>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eaLnBrk="1" hangingPunct="1">
              <a:spcBef>
                <a:spcPct val="0"/>
              </a:spcBef>
              <a:buFontTx/>
              <a:buNone/>
            </a:pPr>
            <a:endParaRPr lang="en-US" altLang="en-US" sz="2000" dirty="0">
              <a:latin typeface="Tahoma" panose="020B0604030504040204" pitchFamily="34" charset="0"/>
            </a:endParaRPr>
          </a:p>
          <a:p>
            <a:pPr eaLnBrk="1" hangingPunct="1">
              <a:spcBef>
                <a:spcPct val="0"/>
              </a:spcBef>
              <a:buFontTx/>
              <a:buNone/>
            </a:pPr>
            <a:endParaRPr lang="en-US" altLang="en-US" sz="2000" dirty="0">
              <a:latin typeface="Tahoma" panose="020B0604030504040204" pitchFamily="34" charset="0"/>
            </a:endParaRPr>
          </a:p>
          <a:p>
            <a:pPr eaLnBrk="1" hangingPunct="1">
              <a:spcBef>
                <a:spcPct val="0"/>
              </a:spcBef>
              <a:buFontTx/>
              <a:buNone/>
            </a:pPr>
            <a:endParaRPr lang="en-US" altLang="en-US" sz="2000" dirty="0">
              <a:latin typeface="Tahoma" panose="020B0604030504040204" pitchFamily="34" charset="0"/>
            </a:endParaRPr>
          </a:p>
          <a:p>
            <a:pPr eaLnBrk="1" hangingPunct="1">
              <a:spcBef>
                <a:spcPct val="0"/>
              </a:spcBef>
              <a:buFontTx/>
              <a:buNone/>
            </a:pPr>
            <a:endParaRPr lang="en-US" altLang="en-US" sz="2000" dirty="0">
              <a:latin typeface="Tahoma" panose="020B0604030504040204" pitchFamily="34" charset="0"/>
            </a:endParaRPr>
          </a:p>
        </p:txBody>
      </p:sp>
      <p:sp>
        <p:nvSpPr>
          <p:cNvPr id="12" name="Text Box 8">
            <a:extLst>
              <a:ext uri="{FF2B5EF4-FFF2-40B4-BE49-F238E27FC236}">
                <a16:creationId xmlns:a16="http://schemas.microsoft.com/office/drawing/2014/main" id="{C74A8524-7B9D-62A4-5228-BDA8DB99493F}"/>
              </a:ext>
            </a:extLst>
          </p:cNvPr>
          <p:cNvSpPr txBox="1">
            <a:spLocks noChangeArrowheads="1"/>
          </p:cNvSpPr>
          <p:nvPr/>
        </p:nvSpPr>
        <p:spPr bwMode="auto">
          <a:xfrm>
            <a:off x="535769" y="1633668"/>
            <a:ext cx="98504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eaLnBrk="1" hangingPunct="1">
              <a:spcBef>
                <a:spcPct val="0"/>
              </a:spcBef>
              <a:buFontTx/>
              <a:buNone/>
            </a:pPr>
            <a:r>
              <a:rPr lang="en-GB" altLang="en-US" sz="1800" b="1">
                <a:solidFill>
                  <a:srgbClr val="FF0000"/>
                </a:solidFill>
                <a:latin typeface="Trebuchet MS" panose="020B0603020202020204" pitchFamily="34" charset="0"/>
              </a:rPr>
              <a:t>NB the sign of the aerosol direct forcing depends on the underlying surface albedo</a:t>
            </a:r>
            <a:endParaRPr lang="en-US" altLang="en-US" sz="1800" b="1">
              <a:solidFill>
                <a:srgbClr val="FF0000"/>
              </a:solidFill>
              <a:latin typeface="Trebuchet MS" panose="020B0603020202020204" pitchFamily="34" charset="0"/>
            </a:endParaRPr>
          </a:p>
        </p:txBody>
      </p:sp>
      <p:sp>
        <p:nvSpPr>
          <p:cNvPr id="3" name="Text Box 4">
            <a:extLst>
              <a:ext uri="{FF2B5EF4-FFF2-40B4-BE49-F238E27FC236}">
                <a16:creationId xmlns:a16="http://schemas.microsoft.com/office/drawing/2014/main" id="{F22E2485-B9E0-E802-1419-F1A0EA59F590}"/>
              </a:ext>
            </a:extLst>
          </p:cNvPr>
          <p:cNvSpPr txBox="1">
            <a:spLocks noChangeArrowheads="1"/>
          </p:cNvSpPr>
          <p:nvPr/>
        </p:nvSpPr>
        <p:spPr bwMode="auto">
          <a:xfrm>
            <a:off x="646130" y="3437906"/>
            <a:ext cx="9410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eaLnBrk="1" hangingPunct="1">
              <a:spcBef>
                <a:spcPct val="50000"/>
              </a:spcBef>
              <a:buFontTx/>
              <a:buNone/>
            </a:pPr>
            <a:r>
              <a:rPr lang="en-GB" altLang="en-US" sz="1800" b="1" dirty="0">
                <a:latin typeface="Trebuchet MS" panose="020B0603020202020204" pitchFamily="34" charset="0"/>
              </a:rPr>
              <a:t>Cloud</a:t>
            </a:r>
            <a:endParaRPr lang="el-GR" altLang="en-US" sz="1600" dirty="0">
              <a:latin typeface="Trebuchet MS" panose="020B0603020202020204" pitchFamily="34" charset="0"/>
            </a:endParaRPr>
          </a:p>
        </p:txBody>
      </p:sp>
      <p:sp>
        <p:nvSpPr>
          <p:cNvPr id="4" name="TextBox 3">
            <a:extLst>
              <a:ext uri="{FF2B5EF4-FFF2-40B4-BE49-F238E27FC236}">
                <a16:creationId xmlns:a16="http://schemas.microsoft.com/office/drawing/2014/main" id="{783611BB-8025-6C41-447C-440AF7B3FDDC}"/>
              </a:ext>
            </a:extLst>
          </p:cNvPr>
          <p:cNvSpPr txBox="1"/>
          <p:nvPr/>
        </p:nvSpPr>
        <p:spPr>
          <a:xfrm>
            <a:off x="1941921" y="3054285"/>
            <a:ext cx="1376313" cy="400110"/>
          </a:xfrm>
          <a:prstGeom prst="rect">
            <a:avLst/>
          </a:prstGeom>
          <a:noFill/>
        </p:spPr>
        <p:txBody>
          <a:bodyPr wrap="square" rtlCol="0">
            <a:spAutoFit/>
          </a:bodyPr>
          <a:lstStyle/>
          <a:p>
            <a:r>
              <a:rPr lang="en-US" dirty="0"/>
              <a:t>Increase</a:t>
            </a:r>
          </a:p>
        </p:txBody>
      </p:sp>
      <p:sp>
        <p:nvSpPr>
          <p:cNvPr id="8" name="TextBox 7">
            <a:extLst>
              <a:ext uri="{FF2B5EF4-FFF2-40B4-BE49-F238E27FC236}">
                <a16:creationId xmlns:a16="http://schemas.microsoft.com/office/drawing/2014/main" id="{17C1B746-CAB9-4789-E363-FE860011B95B}"/>
              </a:ext>
            </a:extLst>
          </p:cNvPr>
          <p:cNvSpPr txBox="1"/>
          <p:nvPr/>
        </p:nvSpPr>
        <p:spPr>
          <a:xfrm>
            <a:off x="5813043" y="3018489"/>
            <a:ext cx="1376313" cy="400110"/>
          </a:xfrm>
          <a:prstGeom prst="rect">
            <a:avLst/>
          </a:prstGeom>
          <a:noFill/>
        </p:spPr>
        <p:txBody>
          <a:bodyPr wrap="square" rtlCol="0">
            <a:spAutoFit/>
          </a:bodyPr>
          <a:lstStyle/>
          <a:p>
            <a:r>
              <a:rPr lang="en-US" dirty="0"/>
              <a:t>Reduction</a:t>
            </a:r>
          </a:p>
        </p:txBody>
      </p:sp>
    </p:spTree>
    <p:extLst>
      <p:ext uri="{BB962C8B-B14F-4D97-AF65-F5344CB8AC3E}">
        <p14:creationId xmlns:p14="http://schemas.microsoft.com/office/powerpoint/2010/main" val="146596281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77240" y="987552"/>
            <a:ext cx="7909560" cy="566928"/>
          </a:xfrm>
          <a:prstGeom prst="rect">
            <a:avLst/>
          </a:prstGeom>
          <a:noFill/>
        </p:spPr>
        <p:txBody>
          <a:bodyPr wrap="none" lIns="0" tIns="0" rIns="0" bIns="0">
            <a:spAutoFit/>
          </a:bodyPr>
          <a:lstStyle/>
          <a:p>
            <a:r>
              <a:rPr sz="4000" i="1">
                <a:solidFill>
                  <a:srgbClr val="46245A"/>
                </a:solidFill>
                <a:latin typeface="DM Sans Bold"/>
              </a:rPr>
              <a:t>Specific Questions - Scientific</a:t>
            </a:r>
          </a:p>
        </p:txBody>
      </p:sp>
      <p:sp>
        <p:nvSpPr>
          <p:cNvPr id="5" name="TextBox 4"/>
          <p:cNvSpPr txBox="1"/>
          <p:nvPr/>
        </p:nvSpPr>
        <p:spPr>
          <a:xfrm>
            <a:off x="777240" y="1911096"/>
            <a:ext cx="4961999" cy="338554"/>
          </a:xfrm>
          <a:prstGeom prst="rect">
            <a:avLst/>
          </a:prstGeom>
          <a:noFill/>
        </p:spPr>
        <p:txBody>
          <a:bodyPr wrap="none" lIns="0" tIns="0" rIns="0" bIns="0">
            <a:spAutoFit/>
          </a:bodyPr>
          <a:lstStyle/>
          <a:p>
            <a:r>
              <a:rPr sz="2200" b="1" dirty="0">
                <a:solidFill>
                  <a:srgbClr val="1C2029"/>
                </a:solidFill>
                <a:latin typeface="Calibri"/>
              </a:rPr>
              <a:t>Why are aerosol-cloud error bars so large?</a:t>
            </a:r>
          </a:p>
        </p:txBody>
      </p:sp>
      <p:sp>
        <p:nvSpPr>
          <p:cNvPr id="6" name="TextBox 5"/>
          <p:cNvSpPr txBox="1"/>
          <p:nvPr/>
        </p:nvSpPr>
        <p:spPr>
          <a:xfrm>
            <a:off x="777240" y="2331720"/>
            <a:ext cx="5120640" cy="548640"/>
          </a:xfrm>
          <a:prstGeom prst="rect">
            <a:avLst/>
          </a:prstGeom>
          <a:noFill/>
        </p:spPr>
        <p:txBody>
          <a:bodyPr wrap="none" lIns="0" tIns="0" rIns="0" bIns="0">
            <a:spAutoFit/>
          </a:bodyPr>
          <a:lstStyle/>
          <a:p>
            <a:r>
              <a:rPr sz="1500" b="1">
                <a:solidFill>
                  <a:srgbClr val="5F636B"/>
                </a:solidFill>
                <a:latin typeface="Calibri"/>
              </a:rPr>
              <a:t>Question: what are the error sources / unknowns?</a:t>
            </a:r>
          </a:p>
        </p:txBody>
      </p:sp>
      <p:sp>
        <p:nvSpPr>
          <p:cNvPr id="7" name="Rectangle 6"/>
          <p:cNvSpPr/>
          <p:nvPr/>
        </p:nvSpPr>
        <p:spPr>
          <a:xfrm>
            <a:off x="777240" y="2916936"/>
            <a:ext cx="73152" cy="566928"/>
          </a:xfrm>
          <a:prstGeom prst="rect">
            <a:avLst/>
          </a:prstGeom>
          <a:solidFill>
            <a:srgbClr val="F5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86968" y="2916936"/>
            <a:ext cx="5559552" cy="566928"/>
          </a:xfrm>
          <a:prstGeom prst="rect">
            <a:avLst/>
          </a:prstGeom>
          <a:solidFill>
            <a:srgbClr val="F1ECF5"/>
          </a:solidFill>
          <a:ln>
            <a:solidFill>
              <a:srgbClr val="E3D8EA"/>
            </a:solidFill>
          </a:ln>
        </p:spPr>
        <p:style>
          <a:lnRef idx="1">
            <a:schemeClr val="accent1"/>
          </a:lnRef>
          <a:fillRef idx="3">
            <a:schemeClr val="accent1"/>
          </a:fillRef>
          <a:effectRef idx="2">
            <a:schemeClr val="accent1"/>
          </a:effectRef>
          <a:fontRef idx="minor">
            <a:schemeClr val="lt1"/>
          </a:fontRef>
        </p:style>
        <p:txBody>
          <a:bodyPr lIns="118872" tIns="54864" rIns="73152" bIns="36576" rtlCol="0" anchor="ctr"/>
          <a:lstStyle/>
          <a:p>
            <a:pPr algn="ctr"/>
            <a:r>
              <a:rPr sz="1800" b="1">
                <a:solidFill>
                  <a:srgbClr val="46245A"/>
                </a:solidFill>
                <a:latin typeface="Calibri"/>
              </a:rPr>
              <a:t>The sign is cooling, but the strength is hard to pin down.</a:t>
            </a:r>
          </a:p>
        </p:txBody>
      </p:sp>
      <p:sp>
        <p:nvSpPr>
          <p:cNvPr id="9" name="TextBox 8"/>
          <p:cNvSpPr txBox="1"/>
          <p:nvPr/>
        </p:nvSpPr>
        <p:spPr>
          <a:xfrm>
            <a:off x="813816" y="3748583"/>
            <a:ext cx="5632704" cy="2195473"/>
          </a:xfrm>
          <a:prstGeom prst="rect">
            <a:avLst/>
          </a:prstGeom>
          <a:noFill/>
        </p:spPr>
        <p:txBody>
          <a:bodyPr wrap="square" lIns="0" tIns="0" rIns="0" bIns="0">
            <a:spAutoFit/>
          </a:bodyPr>
          <a:lstStyle/>
          <a:p>
            <a:pPr marL="285750" indent="-285750">
              <a:spcAft>
                <a:spcPts val="200"/>
              </a:spcAft>
              <a:buFont typeface="Arial" panose="020B0604020202020204" pitchFamily="34" charset="0"/>
              <a:buChar char="•"/>
            </a:pPr>
            <a:r>
              <a:rPr sz="1700" dirty="0">
                <a:solidFill>
                  <a:srgbClr val="1C2029"/>
                </a:solidFill>
                <a:latin typeface="Calibri"/>
              </a:rPr>
              <a:t>Aerosols are short-lived and patchy, unlike well-mixed CO2.</a:t>
            </a:r>
          </a:p>
          <a:p>
            <a:pPr marL="285750" indent="-285750">
              <a:spcAft>
                <a:spcPts val="200"/>
              </a:spcAft>
              <a:buFont typeface="Arial" panose="020B0604020202020204" pitchFamily="34" charset="0"/>
              <a:buChar char="•"/>
            </a:pPr>
            <a:r>
              <a:rPr sz="1700" dirty="0">
                <a:solidFill>
                  <a:srgbClr val="1C2029"/>
                </a:solidFill>
                <a:latin typeface="Calibri"/>
              </a:rPr>
              <a:t>The pre-industrial aerosol baseline is uncertain.</a:t>
            </a:r>
          </a:p>
          <a:p>
            <a:pPr marL="285750" indent="-285750">
              <a:spcAft>
                <a:spcPts val="200"/>
              </a:spcAft>
              <a:buFont typeface="Arial" panose="020B0604020202020204" pitchFamily="34" charset="0"/>
              <a:buChar char="•"/>
            </a:pPr>
            <a:r>
              <a:rPr sz="1700" dirty="0">
                <a:solidFill>
                  <a:srgbClr val="1C2029"/>
                </a:solidFill>
                <a:latin typeface="Calibri"/>
              </a:rPr>
              <a:t>Cloud droplet number, liquid water, precipitation and meteorology are coupled.</a:t>
            </a:r>
          </a:p>
          <a:p>
            <a:pPr marL="285750" indent="-285750">
              <a:spcAft>
                <a:spcPts val="200"/>
              </a:spcAft>
              <a:buFont typeface="Arial" panose="020B0604020202020204" pitchFamily="34" charset="0"/>
              <a:buChar char="•"/>
            </a:pPr>
            <a:r>
              <a:rPr sz="1700" dirty="0">
                <a:solidFill>
                  <a:srgbClr val="1C2029"/>
                </a:solidFill>
                <a:latin typeface="Calibri"/>
              </a:rPr>
              <a:t>Satellites struggle with aerosol-cloud vertical overlap and causality.</a:t>
            </a:r>
          </a:p>
          <a:p>
            <a:pPr marL="285750" indent="-285750">
              <a:spcAft>
                <a:spcPts val="200"/>
              </a:spcAft>
              <a:buFont typeface="Arial" panose="020B0604020202020204" pitchFamily="34" charset="0"/>
              <a:buChar char="•"/>
            </a:pPr>
            <a:r>
              <a:rPr sz="1700" dirty="0">
                <a:solidFill>
                  <a:srgbClr val="1C2029"/>
                </a:solidFill>
                <a:latin typeface="Calibri"/>
              </a:rPr>
              <a:t>Models use different aerosol sizes, compositions and cloud microphysics.</a:t>
            </a:r>
          </a:p>
        </p:txBody>
      </p:sp>
      <p:pic>
        <p:nvPicPr>
          <p:cNvPr id="10" name="Picture 9" descr="ipcc_ar6_fig7_5_aerosol_erf.png"/>
          <p:cNvPicPr>
            <a:picLocks noChangeAspect="1"/>
          </p:cNvPicPr>
          <p:nvPr/>
        </p:nvPicPr>
        <p:blipFill>
          <a:blip r:embed="rId2"/>
          <a:stretch>
            <a:fillRect/>
          </a:stretch>
        </p:blipFill>
        <p:spPr>
          <a:xfrm>
            <a:off x="7040218" y="1911096"/>
            <a:ext cx="4480560" cy="4480560"/>
          </a:xfrm>
          <a:prstGeom prst="rect">
            <a:avLst/>
          </a:prstGeom>
          <a:ln>
            <a:solidFill>
              <a:srgbClr val="D0D0D0"/>
            </a:solidFill>
          </a:ln>
        </p:spPr>
      </p:pic>
      <p:sp>
        <p:nvSpPr>
          <p:cNvPr id="2" name="Freeform 13">
            <a:extLst>
              <a:ext uri="{FF2B5EF4-FFF2-40B4-BE49-F238E27FC236}">
                <a16:creationId xmlns:a16="http://schemas.microsoft.com/office/drawing/2014/main" id="{F70E4726-8A49-0585-35E0-F19BE40825E1}"/>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77240" y="987552"/>
            <a:ext cx="4792979" cy="615553"/>
          </a:xfrm>
          <a:prstGeom prst="rect">
            <a:avLst/>
          </a:prstGeom>
          <a:noFill/>
        </p:spPr>
        <p:txBody>
          <a:bodyPr wrap="none" lIns="0" tIns="0" rIns="0" bIns="0">
            <a:spAutoFit/>
          </a:bodyPr>
          <a:lstStyle/>
          <a:p>
            <a:r>
              <a:rPr lang="en-GB" sz="4000" b="1" i="1" dirty="0">
                <a:solidFill>
                  <a:srgbClr val="46245A"/>
                </a:solidFill>
                <a:latin typeface="DM Sans Bold"/>
              </a:rPr>
              <a:t>RCP CO2 scenarios</a:t>
            </a:r>
            <a:endParaRPr sz="4000" b="1" i="1" dirty="0">
              <a:solidFill>
                <a:srgbClr val="46245A"/>
              </a:solidFill>
              <a:latin typeface="DM Sans Bold"/>
            </a:endParaRPr>
          </a:p>
        </p:txBody>
      </p:sp>
      <p:sp>
        <p:nvSpPr>
          <p:cNvPr id="7" name="Rectangle 6"/>
          <p:cNvSpPr/>
          <p:nvPr/>
        </p:nvSpPr>
        <p:spPr>
          <a:xfrm>
            <a:off x="777240" y="2194825"/>
            <a:ext cx="73152" cy="530352"/>
          </a:xfrm>
          <a:prstGeom prst="rect">
            <a:avLst/>
          </a:prstGeom>
          <a:solidFill>
            <a:srgbClr val="F5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86968" y="2194825"/>
            <a:ext cx="5376672" cy="530352"/>
          </a:xfrm>
          <a:prstGeom prst="rect">
            <a:avLst/>
          </a:prstGeom>
          <a:solidFill>
            <a:srgbClr val="F1ECF5"/>
          </a:solidFill>
          <a:ln>
            <a:solidFill>
              <a:srgbClr val="E3D8EA"/>
            </a:solidFill>
          </a:ln>
        </p:spPr>
        <p:style>
          <a:lnRef idx="1">
            <a:schemeClr val="accent1"/>
          </a:lnRef>
          <a:fillRef idx="3">
            <a:schemeClr val="accent1"/>
          </a:fillRef>
          <a:effectRef idx="2">
            <a:schemeClr val="accent1"/>
          </a:effectRef>
          <a:fontRef idx="minor">
            <a:schemeClr val="lt1"/>
          </a:fontRef>
        </p:style>
        <p:txBody>
          <a:bodyPr lIns="118872" tIns="54864" rIns="73152" bIns="36576" rtlCol="0" anchor="ctr"/>
          <a:lstStyle/>
          <a:p>
            <a:pPr algn="ctr"/>
            <a:r>
              <a:rPr sz="1800" b="1">
                <a:solidFill>
                  <a:srgbClr val="46245A"/>
                </a:solidFill>
                <a:latin typeface="Calibri"/>
              </a:rPr>
              <a:t>RCP labels are 2100 radiative forcing targets/pathways, not predictions.</a:t>
            </a:r>
          </a:p>
        </p:txBody>
      </p:sp>
      <p:sp>
        <p:nvSpPr>
          <p:cNvPr id="9" name="TextBox 8"/>
          <p:cNvSpPr txBox="1"/>
          <p:nvPr/>
        </p:nvSpPr>
        <p:spPr>
          <a:xfrm>
            <a:off x="868680" y="2889769"/>
            <a:ext cx="5166360" cy="2011680"/>
          </a:xfrm>
          <a:prstGeom prst="rect">
            <a:avLst/>
          </a:prstGeom>
          <a:noFill/>
        </p:spPr>
        <p:txBody>
          <a:bodyPr wrap="square" lIns="0" tIns="0" rIns="0" bIns="0">
            <a:spAutoFit/>
          </a:bodyPr>
          <a:lstStyle/>
          <a:p>
            <a:pPr>
              <a:spcAft>
                <a:spcPts val="200"/>
              </a:spcAft>
            </a:pPr>
            <a:r>
              <a:rPr sz="1650" dirty="0">
                <a:solidFill>
                  <a:srgbClr val="1C2029"/>
                </a:solidFill>
                <a:latin typeface="Calibri"/>
              </a:rPr>
              <a:t>• RCP2.6: strong mitigation; emissions fall rapidly and approach net zero / net negative.</a:t>
            </a:r>
          </a:p>
          <a:p>
            <a:pPr>
              <a:spcAft>
                <a:spcPts val="200"/>
              </a:spcAft>
            </a:pPr>
            <a:r>
              <a:rPr sz="1650" dirty="0">
                <a:solidFill>
                  <a:srgbClr val="1C2029"/>
                </a:solidFill>
                <a:latin typeface="Calibri"/>
              </a:rPr>
              <a:t>• RCP4.5 and RCP6.0: </a:t>
            </a:r>
            <a:r>
              <a:rPr sz="1650" dirty="0" err="1">
                <a:solidFill>
                  <a:srgbClr val="1C2029"/>
                </a:solidFill>
                <a:latin typeface="Calibri"/>
              </a:rPr>
              <a:t>stabilisation</a:t>
            </a:r>
            <a:r>
              <a:rPr sz="1650" dirty="0">
                <a:solidFill>
                  <a:srgbClr val="1C2029"/>
                </a:solidFill>
                <a:latin typeface="Calibri"/>
              </a:rPr>
              <a:t> pathways with later or weaker mitigation.</a:t>
            </a:r>
          </a:p>
          <a:p>
            <a:pPr>
              <a:spcAft>
                <a:spcPts val="200"/>
              </a:spcAft>
            </a:pPr>
            <a:r>
              <a:rPr sz="1650" dirty="0">
                <a:solidFill>
                  <a:srgbClr val="1C2029"/>
                </a:solidFill>
                <a:latin typeface="Calibri"/>
              </a:rPr>
              <a:t>• RCP8.5: high-end pathway with emissions continuing to rise through much of the century.</a:t>
            </a:r>
          </a:p>
          <a:p>
            <a:pPr>
              <a:spcAft>
                <a:spcPts val="200"/>
              </a:spcAft>
            </a:pPr>
            <a:r>
              <a:rPr sz="1650" dirty="0">
                <a:solidFill>
                  <a:srgbClr val="1C2029"/>
                </a:solidFill>
                <a:latin typeface="Calibri"/>
              </a:rPr>
              <a:t>• The graph shows divergence: choices about emissions now shape CO2 concentration and forcing later.</a:t>
            </a:r>
          </a:p>
        </p:txBody>
      </p:sp>
      <p:pic>
        <p:nvPicPr>
          <p:cNvPr id="10" name="Picture 9" descr="usgs_rcp_co2_concentrations_emissions.jpg"/>
          <p:cNvPicPr>
            <a:picLocks noChangeAspect="1"/>
          </p:cNvPicPr>
          <p:nvPr/>
        </p:nvPicPr>
        <p:blipFill>
          <a:blip r:embed="rId2"/>
          <a:stretch>
            <a:fillRect/>
          </a:stretch>
        </p:blipFill>
        <p:spPr>
          <a:xfrm>
            <a:off x="6484541" y="2904214"/>
            <a:ext cx="5257800" cy="1997235"/>
          </a:xfrm>
          <a:prstGeom prst="rect">
            <a:avLst/>
          </a:prstGeom>
          <a:ln>
            <a:solidFill>
              <a:srgbClr val="D0D0D0"/>
            </a:solidFill>
          </a:ln>
        </p:spPr>
      </p:pic>
      <p:sp>
        <p:nvSpPr>
          <p:cNvPr id="12" name="TextBox 11"/>
          <p:cNvSpPr txBox="1"/>
          <p:nvPr/>
        </p:nvSpPr>
        <p:spPr>
          <a:xfrm>
            <a:off x="850392" y="5367528"/>
            <a:ext cx="5349240" cy="502920"/>
          </a:xfrm>
          <a:prstGeom prst="rect">
            <a:avLst/>
          </a:prstGeom>
          <a:noFill/>
        </p:spPr>
        <p:txBody>
          <a:bodyPr wrap="square" lIns="0" tIns="0" rIns="0" bIns="0">
            <a:spAutoFit/>
          </a:bodyPr>
          <a:lstStyle/>
          <a:p>
            <a:r>
              <a:rPr sz="1600" b="1" i="0" dirty="0">
                <a:solidFill>
                  <a:srgbClr val="46245A"/>
                </a:solidFill>
                <a:latin typeface="Calibri"/>
              </a:rPr>
              <a:t>Remember: RCP8.5 is useful as a high-end sensitivity case, not a guaranteed future.</a:t>
            </a:r>
          </a:p>
        </p:txBody>
      </p:sp>
      <p:sp>
        <p:nvSpPr>
          <p:cNvPr id="2" name="Freeform 13">
            <a:extLst>
              <a:ext uri="{FF2B5EF4-FFF2-40B4-BE49-F238E27FC236}">
                <a16:creationId xmlns:a16="http://schemas.microsoft.com/office/drawing/2014/main" id="{4B916C35-B437-E017-0DD0-93CAB255AF48}"/>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77240" y="987552"/>
            <a:ext cx="6309420" cy="615553"/>
          </a:xfrm>
          <a:prstGeom prst="rect">
            <a:avLst/>
          </a:prstGeom>
          <a:noFill/>
        </p:spPr>
        <p:txBody>
          <a:bodyPr wrap="none" lIns="0" tIns="0" rIns="0" bIns="0">
            <a:spAutoFit/>
          </a:bodyPr>
          <a:lstStyle/>
          <a:p>
            <a:r>
              <a:rPr lang="en-GB" sz="4000" i="1" dirty="0">
                <a:solidFill>
                  <a:srgbClr val="46245A"/>
                </a:solidFill>
                <a:latin typeface="DM Sans Bold"/>
              </a:rPr>
              <a:t>Methane Cooling with NOx</a:t>
            </a:r>
            <a:endParaRPr sz="4000" i="1" dirty="0">
              <a:solidFill>
                <a:srgbClr val="46245A"/>
              </a:solidFill>
              <a:latin typeface="DM Sans Bold"/>
            </a:endParaRPr>
          </a:p>
        </p:txBody>
      </p:sp>
      <p:sp>
        <p:nvSpPr>
          <p:cNvPr id="6" name="TextBox 5"/>
          <p:cNvSpPr txBox="1"/>
          <p:nvPr/>
        </p:nvSpPr>
        <p:spPr>
          <a:xfrm>
            <a:off x="777240" y="1603105"/>
            <a:ext cx="4843121" cy="369332"/>
          </a:xfrm>
          <a:prstGeom prst="rect">
            <a:avLst/>
          </a:prstGeom>
          <a:noFill/>
        </p:spPr>
        <p:txBody>
          <a:bodyPr wrap="none" lIns="0" tIns="0" rIns="0" bIns="0">
            <a:spAutoFit/>
          </a:bodyPr>
          <a:lstStyle/>
          <a:p>
            <a:r>
              <a:rPr sz="2400" b="1" dirty="0">
                <a:solidFill>
                  <a:srgbClr val="5F636B"/>
                </a:solidFill>
                <a:latin typeface="Calibri"/>
              </a:rPr>
              <a:t>Questions: methane cooling with NOx</a:t>
            </a:r>
          </a:p>
        </p:txBody>
      </p:sp>
      <p:pic>
        <p:nvPicPr>
          <p:cNvPr id="10" name="Picture 9" descr="ipcc_ar6_fig6_12_slcf_erf_gsat.png"/>
          <p:cNvPicPr>
            <a:picLocks noChangeAspect="1"/>
          </p:cNvPicPr>
          <p:nvPr/>
        </p:nvPicPr>
        <p:blipFill>
          <a:blip r:embed="rId2"/>
          <a:srcRect t="3000" r="53000" b="5000"/>
          <a:stretch>
            <a:fillRect/>
          </a:stretch>
        </p:blipFill>
        <p:spPr>
          <a:xfrm>
            <a:off x="6419088" y="2395728"/>
            <a:ext cx="4983480" cy="3154680"/>
          </a:xfrm>
          <a:prstGeom prst="rect">
            <a:avLst/>
          </a:prstGeom>
          <a:ln>
            <a:solidFill>
              <a:srgbClr val="D0D0D0"/>
            </a:solidFill>
          </a:ln>
        </p:spPr>
      </p:pic>
      <p:sp>
        <p:nvSpPr>
          <p:cNvPr id="11" name="TextBox 10"/>
          <p:cNvSpPr txBox="1"/>
          <p:nvPr/>
        </p:nvSpPr>
        <p:spPr>
          <a:xfrm>
            <a:off x="6537960" y="5596128"/>
            <a:ext cx="4297680" cy="228600"/>
          </a:xfrm>
          <a:prstGeom prst="rect">
            <a:avLst/>
          </a:prstGeom>
          <a:noFill/>
        </p:spPr>
        <p:txBody>
          <a:bodyPr wrap="square" lIns="0" tIns="0" rIns="0" bIns="0">
            <a:spAutoFit/>
          </a:bodyPr>
          <a:lstStyle/>
          <a:p>
            <a:r>
              <a:rPr sz="1250" b="1" i="0">
                <a:solidFill>
                  <a:srgbClr val="46245A"/>
                </a:solidFill>
                <a:latin typeface="Calibri"/>
              </a:rPr>
              <a:t>NOx row: O3 warming + CH4 cooling</a:t>
            </a:r>
          </a:p>
        </p:txBody>
      </p:sp>
      <p:sp>
        <p:nvSpPr>
          <p:cNvPr id="2" name="Freeform 13">
            <a:extLst>
              <a:ext uri="{FF2B5EF4-FFF2-40B4-BE49-F238E27FC236}">
                <a16:creationId xmlns:a16="http://schemas.microsoft.com/office/drawing/2014/main" id="{8485129B-8302-A5C1-B4AF-524A21B7AA0B}"/>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pic>
        <p:nvPicPr>
          <p:cNvPr id="3" name="Picture 3">
            <a:extLst>
              <a:ext uri="{FF2B5EF4-FFF2-40B4-BE49-F238E27FC236}">
                <a16:creationId xmlns:a16="http://schemas.microsoft.com/office/drawing/2014/main" id="{905B6D63-FBCC-83D1-F935-AE19DCD76CE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08192" y="3664875"/>
            <a:ext cx="1694975" cy="1995261"/>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DC2B53B4-0CBF-00F8-8CAA-DD90243FD56E}"/>
                  </a:ext>
                </a:extLst>
              </p:cNvPr>
              <p:cNvSpPr txBox="1"/>
              <p:nvPr/>
            </p:nvSpPr>
            <p:spPr>
              <a:xfrm>
                <a:off x="707060" y="2411087"/>
                <a:ext cx="4983480" cy="3139321"/>
              </a:xfrm>
              <a:prstGeom prst="rect">
                <a:avLst/>
              </a:prstGeom>
              <a:noFill/>
            </p:spPr>
            <p:txBody>
              <a:bodyPr wrap="square">
                <a:spAutoFit/>
              </a:bodyPr>
              <a:lstStyle/>
              <a:p>
                <a:pPr algn="l">
                  <a:buNone/>
                </a:pPr>
                <a:r>
                  <a:rPr lang="en-GB" b="1" i="0" dirty="0">
                    <a:solidFill>
                      <a:srgbClr val="000000"/>
                    </a:solidFill>
                    <a:effectLst/>
                    <a:latin typeface="Calibri" panose="020F0502020204030204" pitchFamily="34" charset="0"/>
                    <a:cs typeface="Calibri" panose="020F0502020204030204" pitchFamily="34" charset="0"/>
                  </a:rPr>
                  <a:t>Cooling effect: shorter methane lifetime</a:t>
                </a:r>
              </a:p>
              <a:p>
                <a:pPr algn="l">
                  <a:buNone/>
                </a:pPr>
                <a:endParaRPr lang="en-GB" b="1" i="0" dirty="0">
                  <a:solidFill>
                    <a:srgbClr val="000000"/>
                  </a:solidFill>
                  <a:effectLst/>
                  <a:latin typeface="Calibri" panose="020F0502020204030204" pitchFamily="34" charset="0"/>
                  <a:cs typeface="Calibri" panose="020F0502020204030204" pitchFamily="34" charset="0"/>
                </a:endParaRPr>
              </a:p>
              <a:p>
                <a:pPr algn="l">
                  <a:buNone/>
                </a:pPr>
                <a:r>
                  <a:rPr lang="en-GB" b="0" i="0" dirty="0">
                    <a:solidFill>
                      <a:srgbClr val="000000"/>
                    </a:solidFill>
                    <a:effectLst/>
                    <a:latin typeface="Calibri" panose="020F0502020204030204" pitchFamily="34" charset="0"/>
                    <a:cs typeface="Calibri" panose="020F0502020204030204" pitchFamily="34" charset="0"/>
                  </a:rPr>
                  <a:t>NOₓ increases the amount of the hydroxyl radical OH in the atmosphere.</a:t>
                </a:r>
              </a:p>
              <a:p>
                <a:pPr algn="l">
                  <a:buNone/>
                </a:pPr>
                <a:endParaRPr lang="en-GB" b="0" i="0" dirty="0">
                  <a:solidFill>
                    <a:srgbClr val="000000"/>
                  </a:solidFill>
                  <a:effectLst/>
                  <a:latin typeface="Calibri" panose="020F0502020204030204" pitchFamily="34" charset="0"/>
                  <a:cs typeface="Calibri" panose="020F0502020204030204" pitchFamily="34" charset="0"/>
                </a:endParaRPr>
              </a:p>
              <a:p>
                <a:pPr algn="l">
                  <a:buNone/>
                </a:pPr>
                <a:r>
                  <a:rPr lang="en-GB" b="0" i="0" dirty="0">
                    <a:solidFill>
                      <a:srgbClr val="000000"/>
                    </a:solidFill>
                    <a:effectLst/>
                    <a:latin typeface="Calibri" panose="020F0502020204030204" pitchFamily="34" charset="0"/>
                    <a:cs typeface="Calibri" panose="020F0502020204030204" pitchFamily="34" charset="0"/>
                  </a:rPr>
                  <a:t>OH destroys methane:</a:t>
                </a:r>
              </a:p>
              <a:p>
                <a:pPr>
                  <a:buNone/>
                </a:pPr>
                <a14:m>
                  <m:oMathPara xmlns:m="http://schemas.openxmlformats.org/officeDocument/2006/math">
                    <m:oMathParaPr>
                      <m:jc m:val="centerGroup"/>
                    </m:oMathParaPr>
                    <m:oMath xmlns:m="http://schemas.openxmlformats.org/officeDocument/2006/math">
                      <m:r>
                        <m:rPr>
                          <m:sty m:val="p"/>
                        </m:rPr>
                        <a:rPr lang="en-GB">
                          <a:latin typeface="Cambria Math" panose="02040503050406030204" pitchFamily="18" charset="0"/>
                        </a:rPr>
                        <m:t>C</m:t>
                      </m:r>
                      <m:sSub>
                        <m:sSubPr>
                          <m:ctrlPr>
                            <a:rPr lang="ar-AE" i="1">
                              <a:latin typeface="Cambria Math" panose="02040503050406030204" pitchFamily="18" charset="0"/>
                            </a:rPr>
                          </m:ctrlPr>
                        </m:sSubPr>
                        <m:e>
                          <m:r>
                            <m:rPr>
                              <m:sty m:val="p"/>
                            </m:rPr>
                            <a:rPr lang="en-GB" i="0">
                              <a:latin typeface="Cambria Math" panose="02040503050406030204" pitchFamily="18" charset="0"/>
                            </a:rPr>
                            <m:t>H</m:t>
                          </m:r>
                        </m:e>
                        <m:sub>
                          <m:r>
                            <a:rPr lang="ar-AE" i="0">
                              <a:latin typeface="Cambria Math" panose="02040503050406030204" pitchFamily="18" charset="0"/>
                            </a:rPr>
                            <m:t>4</m:t>
                          </m:r>
                        </m:sub>
                      </m:sSub>
                      <m:r>
                        <a:rPr lang="ar-AE" i="0">
                          <a:latin typeface="Cambria Math" panose="02040503050406030204" pitchFamily="18" charset="0"/>
                        </a:rPr>
                        <m:t>+</m:t>
                      </m:r>
                      <m:r>
                        <m:rPr>
                          <m:sty m:val="p"/>
                        </m:rPr>
                        <a:rPr lang="en-GB" i="0">
                          <a:latin typeface="Cambria Math" panose="02040503050406030204" pitchFamily="18" charset="0"/>
                        </a:rPr>
                        <m:t>OH</m:t>
                      </m:r>
                      <m:r>
                        <a:rPr lang="en-GB" i="0">
                          <a:latin typeface="Cambria Math" panose="02040503050406030204" pitchFamily="18" charset="0"/>
                        </a:rPr>
                        <m:t>→</m:t>
                      </m:r>
                      <m:r>
                        <m:rPr>
                          <m:sty m:val="p"/>
                        </m:rPr>
                        <a:rPr lang="en-GB" i="0">
                          <a:latin typeface="Cambria Math" panose="02040503050406030204" pitchFamily="18" charset="0"/>
                        </a:rPr>
                        <m:t>products</m:t>
                      </m:r>
                    </m:oMath>
                  </m:oMathPara>
                </a14:m>
                <a:endParaRPr lang="en-GB" dirty="0">
                  <a:latin typeface="Calibri" panose="020F0502020204030204" pitchFamily="34" charset="0"/>
                  <a:cs typeface="Calibri" panose="020F0502020204030204" pitchFamily="34" charset="0"/>
                </a:endParaRPr>
              </a:p>
              <a:p>
                <a:pPr algn="l">
                  <a:buNone/>
                </a:pPr>
                <a:r>
                  <a:rPr lang="en-GB" b="0" i="0" dirty="0">
                    <a:solidFill>
                      <a:srgbClr val="000000"/>
                    </a:solidFill>
                    <a:effectLst/>
                    <a:latin typeface="Calibri" panose="020F0502020204030204" pitchFamily="34" charset="0"/>
                    <a:cs typeface="Calibri" panose="020F0502020204030204" pitchFamily="34" charset="0"/>
                  </a:rPr>
                  <a:t>So:</a:t>
                </a:r>
              </a:p>
              <a:p>
                <a:pPr marL="285750" indent="-285750" algn="l">
                  <a:buFont typeface="Arial" panose="020B0604020202020204" pitchFamily="34" charset="0"/>
                  <a:buChar char="•"/>
                </a:pPr>
                <a:r>
                  <a:rPr lang="en-GB" b="0" i="0" dirty="0">
                    <a:solidFill>
                      <a:srgbClr val="000000"/>
                    </a:solidFill>
                    <a:effectLst/>
                    <a:latin typeface="Calibri" panose="020F0502020204030204" pitchFamily="34" charset="0"/>
                    <a:cs typeface="Calibri" panose="020F0502020204030204" pitchFamily="34" charset="0"/>
                  </a:rPr>
                  <a:t>more NOₓ → more OH</a:t>
                </a:r>
              </a:p>
              <a:p>
                <a:pPr marL="285750" indent="-285750" algn="l">
                  <a:buFont typeface="Arial" panose="020B0604020202020204" pitchFamily="34" charset="0"/>
                  <a:buChar char="•"/>
                </a:pPr>
                <a:r>
                  <a:rPr lang="en-GB" b="0" i="0" dirty="0">
                    <a:solidFill>
                      <a:srgbClr val="000000"/>
                    </a:solidFill>
                    <a:effectLst/>
                    <a:latin typeface="Calibri" panose="020F0502020204030204" pitchFamily="34" charset="0"/>
                    <a:cs typeface="Calibri" panose="020F0502020204030204" pitchFamily="34" charset="0"/>
                  </a:rPr>
                  <a:t>more OH → methane removed faster</a:t>
                </a:r>
              </a:p>
              <a:p>
                <a:pPr marL="285750" indent="-285750" algn="l">
                  <a:buFont typeface="Arial" panose="020B0604020202020204" pitchFamily="34" charset="0"/>
                  <a:buChar char="•"/>
                </a:pPr>
                <a:r>
                  <a:rPr lang="en-GB" b="0" i="0" dirty="0">
                    <a:solidFill>
                      <a:srgbClr val="000000"/>
                    </a:solidFill>
                    <a:effectLst/>
                    <a:latin typeface="Calibri" panose="020F0502020204030204" pitchFamily="34" charset="0"/>
                    <a:cs typeface="Calibri" panose="020F0502020204030204" pitchFamily="34" charset="0"/>
                  </a:rPr>
                  <a:t>less methane → cooling</a:t>
                </a:r>
              </a:p>
            </p:txBody>
          </p:sp>
        </mc:Choice>
        <mc:Fallback>
          <p:sp>
            <p:nvSpPr>
              <p:cNvPr id="15" name="TextBox 14">
                <a:extLst>
                  <a:ext uri="{FF2B5EF4-FFF2-40B4-BE49-F238E27FC236}">
                    <a16:creationId xmlns:a16="http://schemas.microsoft.com/office/drawing/2014/main" id="{DC2B53B4-0CBF-00F8-8CAA-DD90243FD56E}"/>
                  </a:ext>
                </a:extLst>
              </p:cNvPr>
              <p:cNvSpPr txBox="1">
                <a:spLocks noRot="1" noChangeAspect="1" noMove="1" noResize="1" noEditPoints="1" noAdjustHandles="1" noChangeArrowheads="1" noChangeShapeType="1" noTextEdit="1"/>
              </p:cNvSpPr>
              <p:nvPr/>
            </p:nvSpPr>
            <p:spPr>
              <a:xfrm>
                <a:off x="707060" y="2411087"/>
                <a:ext cx="4983480" cy="3139321"/>
              </a:xfrm>
              <a:prstGeom prst="rect">
                <a:avLst/>
              </a:prstGeom>
              <a:blipFill>
                <a:blip r:embed="rId5"/>
                <a:stretch>
                  <a:fillRect l="-1018" t="-1210" b="-2016"/>
                </a:stretch>
              </a:blipFill>
            </p:spPr>
            <p:txBody>
              <a:bodyPr/>
              <a:lstStyle/>
              <a:p>
                <a:r>
                  <a:rPr lang="en-US">
                    <a:noFill/>
                  </a:rPr>
                  <a:t> </a:t>
                </a:r>
              </a:p>
            </p:txBody>
          </p:sp>
        </mc:Fallback>
      </mc:AlternateContent>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77240" y="987552"/>
            <a:ext cx="7909560" cy="566928"/>
          </a:xfrm>
          <a:prstGeom prst="rect">
            <a:avLst/>
          </a:prstGeom>
          <a:noFill/>
        </p:spPr>
        <p:txBody>
          <a:bodyPr wrap="none" lIns="0" tIns="0" rIns="0" bIns="0">
            <a:spAutoFit/>
          </a:bodyPr>
          <a:lstStyle/>
          <a:p>
            <a:r>
              <a:rPr sz="4000" i="1">
                <a:solidFill>
                  <a:srgbClr val="46245A"/>
                </a:solidFill>
                <a:latin typeface="DM Sans Bold"/>
              </a:rPr>
              <a:t>Specific Questions - Scientific</a:t>
            </a:r>
          </a:p>
        </p:txBody>
      </p:sp>
      <p:sp>
        <p:nvSpPr>
          <p:cNvPr id="5" name="TextBox 4"/>
          <p:cNvSpPr txBox="1"/>
          <p:nvPr/>
        </p:nvSpPr>
        <p:spPr>
          <a:xfrm>
            <a:off x="777240" y="1719072"/>
            <a:ext cx="5440680" cy="384048"/>
          </a:xfrm>
          <a:prstGeom prst="rect">
            <a:avLst/>
          </a:prstGeom>
          <a:noFill/>
        </p:spPr>
        <p:txBody>
          <a:bodyPr wrap="none" lIns="0" tIns="0" rIns="0" bIns="0">
            <a:spAutoFit/>
          </a:bodyPr>
          <a:lstStyle/>
          <a:p>
            <a:r>
              <a:rPr sz="2200" b="1">
                <a:solidFill>
                  <a:srgbClr val="1C2029"/>
                </a:solidFill>
                <a:latin typeface="Calibri"/>
              </a:rPr>
              <a:t>6. CFC / HCFC / HFC: phased out, but not gone</a:t>
            </a:r>
          </a:p>
        </p:txBody>
      </p:sp>
      <p:sp>
        <p:nvSpPr>
          <p:cNvPr id="6" name="TextBox 5"/>
          <p:cNvSpPr txBox="1"/>
          <p:nvPr/>
        </p:nvSpPr>
        <p:spPr>
          <a:xfrm>
            <a:off x="777240" y="2139696"/>
            <a:ext cx="5120640" cy="548640"/>
          </a:xfrm>
          <a:prstGeom prst="rect">
            <a:avLst/>
          </a:prstGeom>
          <a:noFill/>
        </p:spPr>
        <p:txBody>
          <a:bodyPr wrap="none" lIns="0" tIns="0" rIns="0" bIns="0">
            <a:spAutoFit/>
          </a:bodyPr>
          <a:lstStyle/>
          <a:p>
            <a:r>
              <a:rPr sz="1500" b="1">
                <a:solidFill>
                  <a:srgbClr val="5F636B"/>
                </a:solidFill>
                <a:latin typeface="Calibri"/>
              </a:rPr>
              <a:t>Question: are they still a global problem?</a:t>
            </a:r>
          </a:p>
        </p:txBody>
      </p:sp>
      <p:sp>
        <p:nvSpPr>
          <p:cNvPr id="7" name="Rectangle 6"/>
          <p:cNvSpPr/>
          <p:nvPr/>
        </p:nvSpPr>
        <p:spPr>
          <a:xfrm>
            <a:off x="777240" y="2724912"/>
            <a:ext cx="73152" cy="585216"/>
          </a:xfrm>
          <a:prstGeom prst="rect">
            <a:avLst/>
          </a:prstGeom>
          <a:solidFill>
            <a:srgbClr val="F5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86968" y="2724912"/>
            <a:ext cx="5148072" cy="585216"/>
          </a:xfrm>
          <a:prstGeom prst="rect">
            <a:avLst/>
          </a:prstGeom>
          <a:solidFill>
            <a:srgbClr val="F1ECF5"/>
          </a:solidFill>
          <a:ln>
            <a:solidFill>
              <a:srgbClr val="E3D8EA"/>
            </a:solidFill>
          </a:ln>
        </p:spPr>
        <p:style>
          <a:lnRef idx="1">
            <a:schemeClr val="accent1"/>
          </a:lnRef>
          <a:fillRef idx="3">
            <a:schemeClr val="accent1"/>
          </a:fillRef>
          <a:effectRef idx="2">
            <a:schemeClr val="accent1"/>
          </a:effectRef>
          <a:fontRef idx="minor">
            <a:schemeClr val="lt1"/>
          </a:fontRef>
        </p:style>
        <p:txBody>
          <a:bodyPr lIns="118872" tIns="54864" rIns="73152" bIns="36576" rtlCol="0" anchor="ctr"/>
          <a:lstStyle/>
          <a:p>
            <a:pPr algn="ctr"/>
            <a:r>
              <a:rPr sz="1700" b="1" dirty="0">
                <a:solidFill>
                  <a:srgbClr val="46245A"/>
                </a:solidFill>
                <a:latin typeface="Calibri"/>
              </a:rPr>
              <a:t>Yes - controlled successfully, but long-lived gases</a:t>
            </a:r>
          </a:p>
        </p:txBody>
      </p:sp>
      <p:sp>
        <p:nvSpPr>
          <p:cNvPr id="9" name="TextBox 8"/>
          <p:cNvSpPr txBox="1"/>
          <p:nvPr/>
        </p:nvSpPr>
        <p:spPr>
          <a:xfrm>
            <a:off x="813816" y="3700623"/>
            <a:ext cx="5166360" cy="2169825"/>
          </a:xfrm>
          <a:prstGeom prst="rect">
            <a:avLst/>
          </a:prstGeom>
          <a:noFill/>
        </p:spPr>
        <p:txBody>
          <a:bodyPr wrap="square" lIns="0" tIns="0" rIns="0" bIns="0">
            <a:spAutoFit/>
          </a:bodyPr>
          <a:lstStyle/>
          <a:p>
            <a:pPr marL="285750" indent="-285750">
              <a:spcAft>
                <a:spcPts val="200"/>
              </a:spcAft>
              <a:buFont typeface="Arial" panose="020B0604020202020204" pitchFamily="34" charset="0"/>
              <a:buChar char="•"/>
            </a:pPr>
            <a:r>
              <a:rPr sz="1700" dirty="0">
                <a:solidFill>
                  <a:srgbClr val="1C2029"/>
                </a:solidFill>
                <a:latin typeface="Calibri"/>
              </a:rPr>
              <a:t>CFCs: production phased out; atmospheric levels are declining but they persist for decades.</a:t>
            </a:r>
          </a:p>
          <a:p>
            <a:pPr marL="285750" indent="-285750">
              <a:spcAft>
                <a:spcPts val="200"/>
              </a:spcAft>
              <a:buFont typeface="Arial" panose="020B0604020202020204" pitchFamily="34" charset="0"/>
              <a:buChar char="•"/>
            </a:pPr>
            <a:r>
              <a:rPr sz="1700" dirty="0">
                <a:solidFill>
                  <a:srgbClr val="1C2029"/>
                </a:solidFill>
                <a:latin typeface="Calibri"/>
              </a:rPr>
              <a:t>HCFCs: transitional substitutes; many have peaked or are now declining under controls.</a:t>
            </a:r>
          </a:p>
          <a:p>
            <a:pPr marL="285750" indent="-285750">
              <a:spcAft>
                <a:spcPts val="200"/>
              </a:spcAft>
              <a:buFont typeface="Arial" panose="020B0604020202020204" pitchFamily="34" charset="0"/>
              <a:buChar char="•"/>
            </a:pPr>
            <a:r>
              <a:rPr sz="1700" dirty="0">
                <a:solidFill>
                  <a:srgbClr val="1C2029"/>
                </a:solidFill>
                <a:latin typeface="Calibri"/>
              </a:rPr>
              <a:t>HFCs: do not destroy ozone, but many are strong greenhouse gases</a:t>
            </a:r>
            <a:endParaRPr lang="en-GB" sz="1700" dirty="0">
              <a:solidFill>
                <a:srgbClr val="1C2029"/>
              </a:solidFill>
              <a:latin typeface="Calibri"/>
            </a:endParaRPr>
          </a:p>
          <a:p>
            <a:pPr marL="285750" indent="-285750">
              <a:spcAft>
                <a:spcPts val="200"/>
              </a:spcAft>
              <a:buFont typeface="Arial" panose="020B0604020202020204" pitchFamily="34" charset="0"/>
              <a:buChar char="•"/>
            </a:pPr>
            <a:r>
              <a:rPr sz="1700" dirty="0">
                <a:solidFill>
                  <a:srgbClr val="1C2029"/>
                </a:solidFill>
                <a:latin typeface="Calibri"/>
              </a:rPr>
              <a:t>Montreal Protocol worked, but the climate legacy has not vanished</a:t>
            </a:r>
            <a:r>
              <a:rPr lang="en-GB" sz="1700" dirty="0">
                <a:solidFill>
                  <a:srgbClr val="1C2029"/>
                </a:solidFill>
                <a:latin typeface="Calibri"/>
              </a:rPr>
              <a:t>, much like the GHGs</a:t>
            </a:r>
            <a:endParaRPr sz="1700" dirty="0">
              <a:solidFill>
                <a:srgbClr val="1C2029"/>
              </a:solidFill>
              <a:latin typeface="Calibri"/>
            </a:endParaRPr>
          </a:p>
        </p:txBody>
      </p:sp>
      <p:pic>
        <p:nvPicPr>
          <p:cNvPr id="10" name="Picture 9" descr="noaa_aggi_fig2_abundance.png"/>
          <p:cNvPicPr>
            <a:picLocks noChangeAspect="1"/>
          </p:cNvPicPr>
          <p:nvPr/>
        </p:nvPicPr>
        <p:blipFill>
          <a:blip r:embed="rId2"/>
          <a:stretch>
            <a:fillRect/>
          </a:stretch>
        </p:blipFill>
        <p:spPr>
          <a:xfrm>
            <a:off x="6394836" y="2496085"/>
            <a:ext cx="4800600" cy="3709554"/>
          </a:xfrm>
          <a:prstGeom prst="rect">
            <a:avLst/>
          </a:prstGeom>
          <a:ln>
            <a:solidFill>
              <a:srgbClr val="D0D0D0"/>
            </a:solidFill>
          </a:ln>
        </p:spPr>
      </p:pic>
      <p:sp>
        <p:nvSpPr>
          <p:cNvPr id="2" name="Freeform 13">
            <a:extLst>
              <a:ext uri="{FF2B5EF4-FFF2-40B4-BE49-F238E27FC236}">
                <a16:creationId xmlns:a16="http://schemas.microsoft.com/office/drawing/2014/main" id="{C6DF8DB8-CAD2-7310-E80D-74422DEDB3CB}"/>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Freeform 13">
            <a:extLst>
              <a:ext uri="{FF2B5EF4-FFF2-40B4-BE49-F238E27FC236}">
                <a16:creationId xmlns:a16="http://schemas.microsoft.com/office/drawing/2014/main" id="{BB8E45FD-BCDE-C74D-6B4C-703FC486FD44}"/>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2" cstate="email">
              <a:extLst>
                <a:ext uri="{28A0092B-C50C-407E-A947-70E740481C1C}">
                  <a14:useLocalDpi xmlns:a14="http://schemas.microsoft.com/office/drawing/2010/main"/>
                </a:ext>
              </a:extLst>
            </a:blip>
            <a:stretch>
              <a:fillRect/>
            </a:stretch>
          </a:blipFill>
        </p:spPr>
        <p:txBody>
          <a:bodyPr/>
          <a:lstStyle/>
          <a:p>
            <a:endParaRPr lang="en-GB" sz="1200">
              <a:latin typeface="DM Sans" pitchFamily="2" charset="0"/>
            </a:endParaRPr>
          </a:p>
        </p:txBody>
      </p:sp>
      <p:sp>
        <p:nvSpPr>
          <p:cNvPr id="34" name="TextBox 33">
            <a:extLst>
              <a:ext uri="{FF2B5EF4-FFF2-40B4-BE49-F238E27FC236}">
                <a16:creationId xmlns:a16="http://schemas.microsoft.com/office/drawing/2014/main" id="{F5748955-338A-5DFB-597D-7BBB897B32D7}"/>
              </a:ext>
            </a:extLst>
          </p:cNvPr>
          <p:cNvSpPr txBox="1"/>
          <p:nvPr/>
        </p:nvSpPr>
        <p:spPr>
          <a:xfrm>
            <a:off x="6096000" y="1812652"/>
            <a:ext cx="4192857" cy="4278094"/>
          </a:xfrm>
          <a:prstGeom prst="rect">
            <a:avLst/>
          </a:prstGeom>
          <a:noFill/>
        </p:spPr>
        <p:txBody>
          <a:bodyPr wrap="square">
            <a:spAutoFit/>
          </a:bodyPr>
          <a:lstStyle/>
          <a:p>
            <a:pPr defTabSz="406440">
              <a:defRPr/>
            </a:pPr>
            <a:r>
              <a:rPr lang="en-GB" sz="1600" kern="100" dirty="0">
                <a:latin typeface="Calibri" panose="020F0502020204030204" pitchFamily="34" charset="0"/>
                <a:ea typeface="Calibri" panose="020F0502020204030204" pitchFamily="34" charset="0"/>
                <a:cs typeface="Calibri" panose="020F0502020204030204" pitchFamily="34" charset="0"/>
              </a:rPr>
              <a:t>Week 1 – C</a:t>
            </a:r>
            <a:r>
              <a:rPr lang="en-GB" sz="1600" dirty="0">
                <a:latin typeface="Calibri" panose="020F0502020204030204" pitchFamily="34" charset="0"/>
                <a:cs typeface="Calibri" panose="020F0502020204030204" pitchFamily="34" charset="0"/>
              </a:rPr>
              <a:t>limate Change and its Impacts </a:t>
            </a:r>
          </a:p>
          <a:p>
            <a:pPr defTabSz="406440">
              <a:defRPr/>
            </a:pPr>
            <a:endParaRPr lang="en-GB" sz="1600" kern="100" dirty="0">
              <a:latin typeface="Calibri" panose="020F0502020204030204" pitchFamily="34" charset="0"/>
              <a:cs typeface="Calibri" panose="020F0502020204030204" pitchFamily="34" charset="0"/>
            </a:endParaRPr>
          </a:p>
          <a:p>
            <a:pPr defTabSz="406440">
              <a:defRPr/>
            </a:pPr>
            <a:r>
              <a:rPr lang="en-GB" sz="1600" kern="100" dirty="0">
                <a:latin typeface="Calibri" panose="020F0502020204030204" pitchFamily="34" charset="0"/>
                <a:ea typeface="Calibri" panose="020F0502020204030204" pitchFamily="34" charset="0"/>
                <a:cs typeface="Calibri" panose="020F0502020204030204" pitchFamily="34" charset="0"/>
              </a:rPr>
              <a:t>Week 2 – </a:t>
            </a:r>
            <a:r>
              <a:rPr lang="en-GB" sz="1600" dirty="0">
                <a:latin typeface="Calibri" panose="020F0502020204030204" pitchFamily="34" charset="0"/>
                <a:cs typeface="Calibri" panose="020F0502020204030204" pitchFamily="34" charset="0"/>
              </a:rPr>
              <a:t>Natural Climate Variability</a:t>
            </a:r>
            <a:r>
              <a:rPr lang="en-GB" sz="1600" kern="100" dirty="0">
                <a:solidFill>
                  <a:prstClr val="black"/>
                </a:solidFill>
                <a:latin typeface="Calibri" panose="020F0502020204030204" pitchFamily="34" charset="0"/>
                <a:ea typeface="Calibri" panose="020F0502020204030204" pitchFamily="34" charset="0"/>
                <a:cs typeface="Calibri" panose="020F0502020204030204" pitchFamily="34" charset="0"/>
              </a:rPr>
              <a:t> </a:t>
            </a:r>
          </a:p>
          <a:p>
            <a:pPr defTabSz="406440">
              <a:defRPr/>
            </a:pPr>
            <a:endParaRPr lang="en-GB" sz="1600" kern="100" dirty="0">
              <a:solidFill>
                <a:prstClr val="black"/>
              </a:solidFill>
              <a:latin typeface="Calibri" panose="020F0502020204030204" pitchFamily="34" charset="0"/>
              <a:ea typeface="Calibri" panose="020F0502020204030204" pitchFamily="34" charset="0"/>
              <a:cs typeface="Calibri" panose="020F0502020204030204" pitchFamily="34" charset="0"/>
            </a:endParaRPr>
          </a:p>
          <a:p>
            <a:pPr defTabSz="406440">
              <a:defRPr/>
            </a:pPr>
            <a:r>
              <a:rPr lang="en-GB" sz="1600" kern="100" dirty="0">
                <a:latin typeface="Calibri" panose="020F0502020204030204" pitchFamily="34" charset="0"/>
                <a:ea typeface="Calibri" panose="020F0502020204030204" pitchFamily="34" charset="0"/>
                <a:cs typeface="Calibri" panose="020F0502020204030204" pitchFamily="34" charset="0"/>
              </a:rPr>
              <a:t>Week 3 – </a:t>
            </a:r>
            <a:r>
              <a:rPr lang="en-GB" sz="1600" dirty="0">
                <a:solidFill>
                  <a:srgbClr val="212121"/>
                </a:solidFill>
                <a:latin typeface="Calibri" panose="020F0502020204030204" pitchFamily="34" charset="0"/>
                <a:cs typeface="Calibri" panose="020F0502020204030204" pitchFamily="34" charset="0"/>
              </a:rPr>
              <a:t>Radiation Law/Greenhouse Effect</a:t>
            </a:r>
          </a:p>
          <a:p>
            <a:pPr defTabSz="406440">
              <a:defRPr/>
            </a:pPr>
            <a:endParaRPr lang="en-GB" sz="1600" dirty="0">
              <a:solidFill>
                <a:srgbClr val="212121"/>
              </a:solidFill>
              <a:latin typeface="Calibri" panose="020F0502020204030204" pitchFamily="34" charset="0"/>
              <a:cs typeface="Calibri" panose="020F0502020204030204" pitchFamily="34" charset="0"/>
            </a:endParaRPr>
          </a:p>
          <a:p>
            <a:pPr defTabSz="406440">
              <a:defRPr/>
            </a:pPr>
            <a:r>
              <a:rPr lang="en-GB" sz="1600" kern="100" dirty="0">
                <a:latin typeface="Calibri" panose="020F0502020204030204" pitchFamily="34" charset="0"/>
                <a:ea typeface="Calibri" panose="020F0502020204030204" pitchFamily="34" charset="0"/>
                <a:cs typeface="Calibri" panose="020F0502020204030204" pitchFamily="34" charset="0"/>
              </a:rPr>
              <a:t>Week 4 – </a:t>
            </a:r>
            <a:r>
              <a:rPr lang="en-GB" sz="1600" kern="100" dirty="0">
                <a:solidFill>
                  <a:srgbClr val="212121"/>
                </a:solidFill>
                <a:latin typeface="Calibri" panose="020F0502020204030204" pitchFamily="34" charset="0"/>
                <a:ea typeface="Calibri" panose="020F0502020204030204" pitchFamily="34" charset="0"/>
                <a:cs typeface="Calibri" panose="020F0502020204030204" pitchFamily="34" charset="0"/>
              </a:rPr>
              <a:t>A</a:t>
            </a:r>
            <a:r>
              <a:rPr lang="en-GB" sz="1600" dirty="0">
                <a:solidFill>
                  <a:srgbClr val="212121"/>
                </a:solidFill>
                <a:latin typeface="Calibri" panose="020F0502020204030204" pitchFamily="34" charset="0"/>
                <a:cs typeface="Calibri" panose="020F0502020204030204" pitchFamily="34" charset="0"/>
              </a:rPr>
              <a:t>nthropogenic Impacts </a:t>
            </a:r>
          </a:p>
          <a:p>
            <a:pPr defTabSz="406440">
              <a:defRPr/>
            </a:pPr>
            <a:endParaRPr lang="en-GB" sz="1600" dirty="0">
              <a:solidFill>
                <a:srgbClr val="212121"/>
              </a:solidFill>
              <a:latin typeface="Calibri" panose="020F0502020204030204" pitchFamily="34" charset="0"/>
              <a:cs typeface="Calibri" panose="020F0502020204030204" pitchFamily="34" charset="0"/>
            </a:endParaRPr>
          </a:p>
          <a:p>
            <a:pPr defTabSz="406440">
              <a:defRPr/>
            </a:pPr>
            <a:r>
              <a:rPr lang="en-GB" sz="1600" kern="100" dirty="0">
                <a:latin typeface="Calibri" panose="020F0502020204030204" pitchFamily="34" charset="0"/>
                <a:ea typeface="Calibri" panose="020F0502020204030204" pitchFamily="34" charset="0"/>
                <a:cs typeface="Calibri" panose="020F0502020204030204" pitchFamily="34" charset="0"/>
              </a:rPr>
              <a:t>Week 5 – </a:t>
            </a:r>
            <a:r>
              <a:rPr lang="en-GB" sz="1600" dirty="0">
                <a:latin typeface="Calibri" panose="020F0502020204030204" pitchFamily="34" charset="0"/>
                <a:cs typeface="Calibri" panose="020F0502020204030204" pitchFamily="34" charset="0"/>
              </a:rPr>
              <a:t>The Evidence Base </a:t>
            </a:r>
          </a:p>
          <a:p>
            <a:pPr defTabSz="406440">
              <a:defRPr/>
            </a:pPr>
            <a:endParaRPr lang="en-GB" sz="1600" dirty="0">
              <a:latin typeface="Calibri" panose="020F0502020204030204" pitchFamily="34" charset="0"/>
              <a:cs typeface="Calibri" panose="020F0502020204030204" pitchFamily="34" charset="0"/>
            </a:endParaRPr>
          </a:p>
          <a:p>
            <a:pPr defTabSz="406440">
              <a:defRPr/>
            </a:pPr>
            <a:r>
              <a:rPr lang="en-GB" sz="1600" kern="100" dirty="0">
                <a:solidFill>
                  <a:prstClr val="black"/>
                </a:solidFill>
                <a:latin typeface="Calibri" panose="020F0502020204030204" pitchFamily="34" charset="0"/>
                <a:ea typeface="Calibri" panose="020F0502020204030204" pitchFamily="34" charset="0"/>
                <a:cs typeface="Calibri" panose="020F0502020204030204" pitchFamily="34" charset="0"/>
              </a:rPr>
              <a:t>Week 7 – </a:t>
            </a:r>
            <a:r>
              <a:rPr lang="en-GB" sz="1600" dirty="0">
                <a:solidFill>
                  <a:srgbClr val="212121"/>
                </a:solidFill>
                <a:latin typeface="Calibri" panose="020F0502020204030204" pitchFamily="34" charset="0"/>
                <a:cs typeface="Calibri" panose="020F0502020204030204" pitchFamily="34" charset="0"/>
              </a:rPr>
              <a:t>Climate Models  </a:t>
            </a:r>
          </a:p>
          <a:p>
            <a:pPr defTabSz="406440">
              <a:defRPr/>
            </a:pPr>
            <a:endParaRPr lang="en-GB" sz="1600" dirty="0">
              <a:solidFill>
                <a:srgbClr val="212121"/>
              </a:solidFill>
              <a:latin typeface="Calibri" panose="020F0502020204030204" pitchFamily="34" charset="0"/>
              <a:cs typeface="Calibri" panose="020F0502020204030204" pitchFamily="34" charset="0"/>
            </a:endParaRPr>
          </a:p>
          <a:p>
            <a:pPr defTabSz="406440">
              <a:defRPr/>
            </a:pPr>
            <a:r>
              <a:rPr lang="en-GB" sz="1600" kern="100" dirty="0">
                <a:solidFill>
                  <a:prstClr val="black"/>
                </a:solidFill>
                <a:latin typeface="Calibri" panose="020F0502020204030204" pitchFamily="34" charset="0"/>
                <a:ea typeface="Calibri" panose="020F0502020204030204" pitchFamily="34" charset="0"/>
                <a:cs typeface="Calibri" panose="020F0502020204030204" pitchFamily="34" charset="0"/>
              </a:rPr>
              <a:t>Week 8 – Climate </a:t>
            </a:r>
            <a:r>
              <a:rPr lang="en-GB" sz="1600" dirty="0">
                <a:solidFill>
                  <a:srgbClr val="212121"/>
                </a:solidFill>
                <a:latin typeface="Calibri" panose="020F0502020204030204" pitchFamily="34" charset="0"/>
                <a:cs typeface="Calibri" panose="020F0502020204030204" pitchFamily="34" charset="0"/>
              </a:rPr>
              <a:t>Change Adaptation </a:t>
            </a:r>
          </a:p>
          <a:p>
            <a:pPr defTabSz="406440">
              <a:defRPr/>
            </a:pPr>
            <a:endParaRPr lang="en-GB" sz="1600" dirty="0">
              <a:solidFill>
                <a:srgbClr val="212121"/>
              </a:solidFill>
              <a:latin typeface="Calibri" panose="020F0502020204030204" pitchFamily="34" charset="0"/>
              <a:cs typeface="Calibri" panose="020F0502020204030204" pitchFamily="34" charset="0"/>
            </a:endParaRPr>
          </a:p>
          <a:p>
            <a:pPr defTabSz="406440">
              <a:defRPr/>
            </a:pPr>
            <a:r>
              <a:rPr lang="en-GB" sz="1600" kern="100" dirty="0">
                <a:solidFill>
                  <a:prstClr val="black"/>
                </a:solidFill>
                <a:latin typeface="Calibri" panose="020F0502020204030204" pitchFamily="34" charset="0"/>
                <a:ea typeface="Calibri" panose="020F0502020204030204" pitchFamily="34" charset="0"/>
                <a:cs typeface="Calibri" panose="020F0502020204030204" pitchFamily="34" charset="0"/>
              </a:rPr>
              <a:t>Week 9 – </a:t>
            </a:r>
            <a:r>
              <a:rPr lang="en-GB" sz="1600" dirty="0">
                <a:solidFill>
                  <a:srgbClr val="212121"/>
                </a:solidFill>
                <a:latin typeface="Calibri" panose="020F0502020204030204" pitchFamily="34" charset="0"/>
                <a:cs typeface="Calibri" panose="020F0502020204030204" pitchFamily="34" charset="0"/>
              </a:rPr>
              <a:t>Climate Change Mitigation </a:t>
            </a:r>
          </a:p>
          <a:p>
            <a:pPr defTabSz="406440">
              <a:defRPr/>
            </a:pPr>
            <a:endParaRPr lang="en-GB" sz="1600" kern="100" dirty="0">
              <a:solidFill>
                <a:prstClr val="black"/>
              </a:solidFill>
              <a:latin typeface="Calibri" panose="020F0502020204030204" pitchFamily="34" charset="0"/>
              <a:cs typeface="Calibri" panose="020F0502020204030204" pitchFamily="34" charset="0"/>
            </a:endParaRPr>
          </a:p>
          <a:p>
            <a:pPr defTabSz="406440">
              <a:defRPr/>
            </a:pPr>
            <a:r>
              <a:rPr lang="en-GB" sz="1600" kern="100" dirty="0">
                <a:solidFill>
                  <a:prstClr val="black"/>
                </a:solidFill>
                <a:latin typeface="Calibri" panose="020F0502020204030204" pitchFamily="34" charset="0"/>
                <a:ea typeface="Calibri" panose="020F0502020204030204" pitchFamily="34" charset="0"/>
                <a:cs typeface="Calibri" panose="020F0502020204030204" pitchFamily="34" charset="0"/>
              </a:rPr>
              <a:t>Week 10 – Climate Engineering</a:t>
            </a:r>
            <a:endParaRPr lang="en-GB" sz="1600" dirty="0">
              <a:solidFill>
                <a:srgbClr val="212121"/>
              </a:solidFill>
              <a:latin typeface="Calibri" panose="020F0502020204030204" pitchFamily="34" charset="0"/>
              <a:cs typeface="Calibri" panose="020F0502020204030204" pitchFamily="34" charset="0"/>
            </a:endParaRPr>
          </a:p>
        </p:txBody>
      </p:sp>
      <p:cxnSp>
        <p:nvCxnSpPr>
          <p:cNvPr id="35" name="Straight Arrow Connector 34">
            <a:extLst>
              <a:ext uri="{FF2B5EF4-FFF2-40B4-BE49-F238E27FC236}">
                <a16:creationId xmlns:a16="http://schemas.microsoft.com/office/drawing/2014/main" id="{9E05390F-BF55-0DBF-D84B-1FE6CF75BF5B}"/>
              </a:ext>
            </a:extLst>
          </p:cNvPr>
          <p:cNvCxnSpPr>
            <a:cxnSpLocks/>
          </p:cNvCxnSpPr>
          <p:nvPr/>
        </p:nvCxnSpPr>
        <p:spPr>
          <a:xfrm>
            <a:off x="5451022" y="1812652"/>
            <a:ext cx="0" cy="4247317"/>
          </a:xfrm>
          <a:prstGeom prst="straightConnector1">
            <a:avLst/>
          </a:prstGeom>
          <a:ln w="762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36" name="Picture 35">
            <a:extLst>
              <a:ext uri="{FF2B5EF4-FFF2-40B4-BE49-F238E27FC236}">
                <a16:creationId xmlns:a16="http://schemas.microsoft.com/office/drawing/2014/main" id="{D0887058-DBCC-F873-09EC-C92CFD6924EF}"/>
              </a:ext>
            </a:extLst>
          </p:cNvPr>
          <p:cNvPicPr>
            <a:picLocks noChangeAspect="1"/>
          </p:cNvPicPr>
          <p:nvPr/>
        </p:nvPicPr>
        <p:blipFill>
          <a:blip r:embed="rId3"/>
          <a:srcRect t="2327"/>
          <a:stretch>
            <a:fillRect/>
          </a:stretch>
        </p:blipFill>
        <p:spPr>
          <a:xfrm>
            <a:off x="877397" y="1593770"/>
            <a:ext cx="3928648" cy="4807638"/>
          </a:xfrm>
          <a:prstGeom prst="rect">
            <a:avLst/>
          </a:prstGeom>
        </p:spPr>
      </p:pic>
      <p:sp>
        <p:nvSpPr>
          <p:cNvPr id="2" name="TextBox 14">
            <a:extLst>
              <a:ext uri="{FF2B5EF4-FFF2-40B4-BE49-F238E27FC236}">
                <a16:creationId xmlns:a16="http://schemas.microsoft.com/office/drawing/2014/main" id="{84C3D3DD-73B0-9F77-86AD-0536EA06EF55}"/>
              </a:ext>
            </a:extLst>
          </p:cNvPr>
          <p:cNvSpPr txBox="1"/>
          <p:nvPr/>
        </p:nvSpPr>
        <p:spPr>
          <a:xfrm>
            <a:off x="558967" y="1003865"/>
            <a:ext cx="7336552" cy="589905"/>
          </a:xfrm>
          <a:prstGeom prst="rect">
            <a:avLst/>
          </a:prstGeom>
        </p:spPr>
        <p:txBody>
          <a:bodyPr wrap="square" lIns="0" tIns="0" rIns="0" bIns="0" rtlCol="0" anchor="t">
            <a:spAutoFit/>
          </a:bodyPr>
          <a:lstStyle/>
          <a:p>
            <a:pPr defTabSz="609630" eaLnBrk="1" fontAlgn="auto" hangingPunct="1">
              <a:lnSpc>
                <a:spcPts val="4573"/>
              </a:lnSpc>
              <a:spcBef>
                <a:spcPts val="0"/>
              </a:spcBef>
              <a:spcAft>
                <a:spcPts val="0"/>
              </a:spcAft>
              <a:defRPr/>
            </a:pPr>
            <a:r>
              <a:rPr lang="en-US" sz="3600" i="1" spc="-275" dirty="0">
                <a:solidFill>
                  <a:srgbClr val="46245A"/>
                </a:solidFill>
                <a:latin typeface="DM Sans Bold"/>
                <a:ea typeface="+mn-ea"/>
              </a:rPr>
              <a:t>Some </a:t>
            </a:r>
            <a:r>
              <a:rPr lang="en-US" sz="3600" i="1" spc="-275" dirty="0">
                <a:solidFill>
                  <a:srgbClr val="46245A"/>
                </a:solidFill>
                <a:latin typeface="DM Sans Bold"/>
              </a:rPr>
              <a:t>e</a:t>
            </a:r>
            <a:r>
              <a:rPr lang="en-US" sz="3600" i="1" spc="-275" dirty="0">
                <a:solidFill>
                  <a:srgbClr val="46245A"/>
                </a:solidFill>
                <a:latin typeface="DM Sans Bold"/>
                <a:ea typeface="+mn-ea"/>
              </a:rPr>
              <a:t>xam </a:t>
            </a:r>
            <a:r>
              <a:rPr lang="en-US" sz="3600" i="1" spc="-275" dirty="0">
                <a:solidFill>
                  <a:srgbClr val="46245A"/>
                </a:solidFill>
                <a:latin typeface="DM Sans Bold"/>
              </a:rPr>
              <a:t>a</a:t>
            </a:r>
            <a:r>
              <a:rPr lang="en-US" sz="3600" i="1" spc="-275" dirty="0">
                <a:solidFill>
                  <a:srgbClr val="46245A"/>
                </a:solidFill>
                <a:latin typeface="DM Sans Bold"/>
                <a:ea typeface="+mn-ea"/>
              </a:rPr>
              <a:t>dvice….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C2801-4D15-EF93-223F-680F1A12854A}"/>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9FA866F9-F543-EE3E-0327-B5986B94E66B}"/>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30" eaLnBrk="1" fontAlgn="auto" hangingPunct="1">
              <a:spcBef>
                <a:spcPts val="0"/>
              </a:spcBef>
              <a:spcAft>
                <a:spcPts val="0"/>
              </a:spcAft>
              <a:defRPr/>
            </a:pPr>
            <a:endParaRPr lang="en-GB" sz="1200">
              <a:solidFill>
                <a:prstClr val="black"/>
              </a:solidFill>
              <a:latin typeface="DM Sans" pitchFamily="2" charset="0"/>
              <a:ea typeface="+mn-ea"/>
            </a:endParaRPr>
          </a:p>
        </p:txBody>
      </p:sp>
      <p:sp>
        <p:nvSpPr>
          <p:cNvPr id="5" name="TextBox 14">
            <a:extLst>
              <a:ext uri="{FF2B5EF4-FFF2-40B4-BE49-F238E27FC236}">
                <a16:creationId xmlns:a16="http://schemas.microsoft.com/office/drawing/2014/main" id="{E200D1B9-6902-A277-C091-8168F358EF04}"/>
              </a:ext>
            </a:extLst>
          </p:cNvPr>
          <p:cNvSpPr txBox="1"/>
          <p:nvPr/>
        </p:nvSpPr>
        <p:spPr>
          <a:xfrm>
            <a:off x="558967" y="1003865"/>
            <a:ext cx="7336552" cy="589905"/>
          </a:xfrm>
          <a:prstGeom prst="rect">
            <a:avLst/>
          </a:prstGeom>
        </p:spPr>
        <p:txBody>
          <a:bodyPr wrap="square" lIns="0" tIns="0" rIns="0" bIns="0" rtlCol="0" anchor="t">
            <a:spAutoFit/>
          </a:bodyPr>
          <a:lstStyle/>
          <a:p>
            <a:pPr defTabSz="609630" eaLnBrk="1" fontAlgn="auto" hangingPunct="1">
              <a:lnSpc>
                <a:spcPts val="4573"/>
              </a:lnSpc>
              <a:spcBef>
                <a:spcPts val="0"/>
              </a:spcBef>
              <a:spcAft>
                <a:spcPts val="0"/>
              </a:spcAft>
              <a:defRPr/>
            </a:pPr>
            <a:r>
              <a:rPr lang="en-US" sz="3600" i="1" spc="-275" dirty="0">
                <a:solidFill>
                  <a:srgbClr val="46245A"/>
                </a:solidFill>
                <a:latin typeface="DM Sans Bold"/>
                <a:ea typeface="+mn-ea"/>
              </a:rPr>
              <a:t>Some </a:t>
            </a:r>
            <a:r>
              <a:rPr lang="en-US" sz="3600" i="1" spc="-275" dirty="0">
                <a:solidFill>
                  <a:srgbClr val="46245A"/>
                </a:solidFill>
                <a:latin typeface="DM Sans Bold"/>
              </a:rPr>
              <a:t>e</a:t>
            </a:r>
            <a:r>
              <a:rPr lang="en-US" sz="3600" i="1" spc="-275" dirty="0">
                <a:solidFill>
                  <a:srgbClr val="46245A"/>
                </a:solidFill>
                <a:latin typeface="DM Sans Bold"/>
                <a:ea typeface="+mn-ea"/>
              </a:rPr>
              <a:t>xam </a:t>
            </a:r>
            <a:r>
              <a:rPr lang="en-US" sz="3600" i="1" spc="-275" dirty="0">
                <a:solidFill>
                  <a:srgbClr val="46245A"/>
                </a:solidFill>
                <a:latin typeface="DM Sans Bold"/>
              </a:rPr>
              <a:t>a</a:t>
            </a:r>
            <a:r>
              <a:rPr lang="en-US" sz="3600" i="1" spc="-275" dirty="0">
                <a:solidFill>
                  <a:srgbClr val="46245A"/>
                </a:solidFill>
                <a:latin typeface="DM Sans Bold"/>
                <a:ea typeface="+mn-ea"/>
              </a:rPr>
              <a:t>dvice….</a:t>
            </a:r>
          </a:p>
        </p:txBody>
      </p:sp>
      <p:sp>
        <p:nvSpPr>
          <p:cNvPr id="4" name="TextBox 3">
            <a:extLst>
              <a:ext uri="{FF2B5EF4-FFF2-40B4-BE49-F238E27FC236}">
                <a16:creationId xmlns:a16="http://schemas.microsoft.com/office/drawing/2014/main" id="{FBC30748-B091-2C9C-1FB5-E2F334B7EC2D}"/>
              </a:ext>
            </a:extLst>
          </p:cNvPr>
          <p:cNvSpPr txBox="1"/>
          <p:nvPr/>
        </p:nvSpPr>
        <p:spPr>
          <a:xfrm>
            <a:off x="436418" y="1913543"/>
            <a:ext cx="11034989" cy="3693319"/>
          </a:xfrm>
          <a:prstGeom prst="rect">
            <a:avLst/>
          </a:prstGeom>
          <a:noFill/>
        </p:spPr>
        <p:txBody>
          <a:bodyPr wrap="square">
            <a:spAutoFit/>
          </a:bodyPr>
          <a:lstStyle/>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Write Clearly: Ensure your handwriting is legible. If I can’t read your answer, I can’t give you marks!</a:t>
            </a:r>
          </a:p>
          <a:p>
            <a:endParaRPr lang="en-US"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Read the Questions Carefully: Take your time to understand what each question is asking. </a:t>
            </a:r>
          </a:p>
          <a:p>
            <a:pPr marL="285750" indent="-285750">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Use Example Questions and Workshop Questions: Practice using the example and workshop questions provided in class. </a:t>
            </a:r>
          </a:p>
          <a:p>
            <a:pPr marL="285750" indent="-285750">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Manage Your Time: Allocate enough time to each question. There are 5. Total 75 marks</a:t>
            </a:r>
          </a:p>
          <a:p>
            <a:pPr marL="285750" indent="-285750">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Use Units Properly: Always check that you are using the correct units</a:t>
            </a:r>
          </a:p>
          <a:p>
            <a:pPr marL="285750" indent="-285750">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If You Need Help, Email Me: If you have any last-minute questions or need clarification on anything, don’t hesitate to reach out via email. I’m happy to help.</a:t>
            </a:r>
          </a:p>
        </p:txBody>
      </p:sp>
    </p:spTree>
    <p:extLst>
      <p:ext uri="{BB962C8B-B14F-4D97-AF65-F5344CB8AC3E}">
        <p14:creationId xmlns:p14="http://schemas.microsoft.com/office/powerpoint/2010/main" val="352474670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3330F-3E01-4ABD-66F0-E5912D6443A7}"/>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0F00FE18-0767-24CA-B5F4-600CDE1B5EA8}"/>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30" eaLnBrk="1" fontAlgn="auto" hangingPunct="1">
              <a:spcBef>
                <a:spcPts val="0"/>
              </a:spcBef>
              <a:spcAft>
                <a:spcPts val="0"/>
              </a:spcAft>
              <a:defRPr/>
            </a:pPr>
            <a:endParaRPr lang="en-GB" sz="1200">
              <a:solidFill>
                <a:prstClr val="black"/>
              </a:solidFill>
              <a:latin typeface="DM Sans" pitchFamily="2" charset="0"/>
              <a:ea typeface="+mn-ea"/>
            </a:endParaRPr>
          </a:p>
        </p:txBody>
      </p:sp>
      <p:pic>
        <p:nvPicPr>
          <p:cNvPr id="6" name="Picture 5">
            <a:extLst>
              <a:ext uri="{FF2B5EF4-FFF2-40B4-BE49-F238E27FC236}">
                <a16:creationId xmlns:a16="http://schemas.microsoft.com/office/drawing/2014/main" id="{21573D19-E39F-78FB-A176-94A16AAB1EF1}"/>
              </a:ext>
            </a:extLst>
          </p:cNvPr>
          <p:cNvPicPr>
            <a:picLocks noChangeAspect="1"/>
          </p:cNvPicPr>
          <p:nvPr/>
        </p:nvPicPr>
        <p:blipFill>
          <a:blip r:embed="rId4"/>
          <a:srcRect r="10357"/>
          <a:stretch>
            <a:fillRect/>
          </a:stretch>
        </p:blipFill>
        <p:spPr>
          <a:xfrm>
            <a:off x="750120" y="2234366"/>
            <a:ext cx="4597783" cy="3909175"/>
          </a:xfrm>
          <a:prstGeom prst="rect">
            <a:avLst/>
          </a:prstGeom>
        </p:spPr>
      </p:pic>
      <p:sp>
        <p:nvSpPr>
          <p:cNvPr id="7" name="TextBox 14">
            <a:extLst>
              <a:ext uri="{FF2B5EF4-FFF2-40B4-BE49-F238E27FC236}">
                <a16:creationId xmlns:a16="http://schemas.microsoft.com/office/drawing/2014/main" id="{299E280A-7D91-8D13-CC13-B3D2CF560C65}"/>
              </a:ext>
            </a:extLst>
          </p:cNvPr>
          <p:cNvSpPr txBox="1"/>
          <p:nvPr/>
        </p:nvSpPr>
        <p:spPr>
          <a:xfrm>
            <a:off x="778085" y="1582982"/>
            <a:ext cx="5512183" cy="530338"/>
          </a:xfrm>
          <a:prstGeom prst="rect">
            <a:avLst/>
          </a:prstGeom>
        </p:spPr>
        <p:txBody>
          <a:bodyPr wrap="square" lIns="0" tIns="0" rIns="0" bIns="0" rtlCol="0" anchor="t">
            <a:spAutoFit/>
          </a:bodyPr>
          <a:lstStyle/>
          <a:p>
            <a:pPr defTabSz="609630" eaLnBrk="1" fontAlgn="auto" hangingPunct="1">
              <a:lnSpc>
                <a:spcPts val="4573"/>
              </a:lnSpc>
              <a:spcBef>
                <a:spcPts val="0"/>
              </a:spcBef>
              <a:spcAft>
                <a:spcPts val="0"/>
              </a:spcAft>
              <a:defRPr/>
            </a:pPr>
            <a:r>
              <a:rPr lang="en-GB" sz="2400" i="1" spc="-275" dirty="0">
                <a:solidFill>
                  <a:srgbClr val="46245A"/>
                </a:solidFill>
                <a:latin typeface="DM Sans Bold"/>
              </a:rPr>
              <a:t>EART35001: Atmospheric Composition</a:t>
            </a:r>
            <a:endParaRPr lang="en-US" sz="2400" i="1" spc="-275" dirty="0">
              <a:solidFill>
                <a:srgbClr val="46245A"/>
              </a:solidFill>
              <a:latin typeface="DM Sans Bold"/>
              <a:ea typeface="+mn-ea"/>
            </a:endParaRPr>
          </a:p>
        </p:txBody>
      </p:sp>
      <p:pic>
        <p:nvPicPr>
          <p:cNvPr id="8" name="Picture 7">
            <a:extLst>
              <a:ext uri="{FF2B5EF4-FFF2-40B4-BE49-F238E27FC236}">
                <a16:creationId xmlns:a16="http://schemas.microsoft.com/office/drawing/2014/main" id="{BB307E8C-A5BC-D1E0-0B77-40887D4AB320}"/>
              </a:ext>
            </a:extLst>
          </p:cNvPr>
          <p:cNvPicPr>
            <a:picLocks noChangeAspect="1"/>
          </p:cNvPicPr>
          <p:nvPr/>
        </p:nvPicPr>
        <p:blipFill>
          <a:blip r:embed="rId5"/>
          <a:stretch>
            <a:fillRect/>
          </a:stretch>
        </p:blipFill>
        <p:spPr>
          <a:xfrm>
            <a:off x="6255547" y="2552460"/>
            <a:ext cx="4963886" cy="3272985"/>
          </a:xfrm>
          <a:prstGeom prst="rect">
            <a:avLst/>
          </a:prstGeom>
        </p:spPr>
      </p:pic>
      <p:sp>
        <p:nvSpPr>
          <p:cNvPr id="9" name="TextBox 14">
            <a:extLst>
              <a:ext uri="{FF2B5EF4-FFF2-40B4-BE49-F238E27FC236}">
                <a16:creationId xmlns:a16="http://schemas.microsoft.com/office/drawing/2014/main" id="{D1F8AEE4-EF29-E930-A16A-765B28288423}"/>
              </a:ext>
            </a:extLst>
          </p:cNvPr>
          <p:cNvSpPr txBox="1"/>
          <p:nvPr/>
        </p:nvSpPr>
        <p:spPr>
          <a:xfrm>
            <a:off x="6255547" y="1582982"/>
            <a:ext cx="5512183" cy="1120243"/>
          </a:xfrm>
          <a:prstGeom prst="rect">
            <a:avLst/>
          </a:prstGeom>
        </p:spPr>
        <p:txBody>
          <a:bodyPr wrap="square" lIns="0" tIns="0" rIns="0" bIns="0" rtlCol="0" anchor="t">
            <a:spAutoFit/>
          </a:bodyPr>
          <a:lstStyle/>
          <a:p>
            <a:pPr defTabSz="609630">
              <a:lnSpc>
                <a:spcPts val="4573"/>
              </a:lnSpc>
              <a:defRPr/>
            </a:pPr>
            <a:r>
              <a:rPr lang="en-GB" sz="2400" i="1" spc="-275" dirty="0">
                <a:solidFill>
                  <a:srgbClr val="46245A"/>
                </a:solidFill>
                <a:latin typeface="DM Sans Bold"/>
              </a:rPr>
              <a:t>EART36002: Climate and Energy</a:t>
            </a:r>
          </a:p>
          <a:p>
            <a:pPr defTabSz="609630">
              <a:lnSpc>
                <a:spcPts val="4573"/>
              </a:lnSpc>
              <a:defRPr/>
            </a:pPr>
            <a:endParaRPr lang="en-US" sz="2400" i="1" spc="-275" dirty="0">
              <a:solidFill>
                <a:srgbClr val="46245A"/>
              </a:solidFill>
              <a:latin typeface="DM Sans Bold"/>
              <a:ea typeface="+mn-ea"/>
            </a:endParaRPr>
          </a:p>
        </p:txBody>
      </p:sp>
      <p:sp>
        <p:nvSpPr>
          <p:cNvPr id="10" name="TextBox 14">
            <a:extLst>
              <a:ext uri="{FF2B5EF4-FFF2-40B4-BE49-F238E27FC236}">
                <a16:creationId xmlns:a16="http://schemas.microsoft.com/office/drawing/2014/main" id="{194F7EDF-BF6F-032E-9B2A-05066158D730}"/>
              </a:ext>
            </a:extLst>
          </p:cNvPr>
          <p:cNvSpPr txBox="1"/>
          <p:nvPr/>
        </p:nvSpPr>
        <p:spPr>
          <a:xfrm>
            <a:off x="720593" y="848889"/>
            <a:ext cx="7336552" cy="589905"/>
          </a:xfrm>
          <a:prstGeom prst="rect">
            <a:avLst/>
          </a:prstGeom>
        </p:spPr>
        <p:txBody>
          <a:bodyPr wrap="square" lIns="0" tIns="0" rIns="0" bIns="0" rtlCol="0" anchor="t">
            <a:spAutoFit/>
          </a:bodyPr>
          <a:lstStyle/>
          <a:p>
            <a:pPr defTabSz="609630" eaLnBrk="1" fontAlgn="auto" hangingPunct="1">
              <a:lnSpc>
                <a:spcPts val="4573"/>
              </a:lnSpc>
              <a:spcBef>
                <a:spcPts val="0"/>
              </a:spcBef>
              <a:spcAft>
                <a:spcPts val="0"/>
              </a:spcAft>
              <a:defRPr/>
            </a:pPr>
            <a:r>
              <a:rPr lang="en-US" sz="4000" i="1" spc="-275" dirty="0">
                <a:solidFill>
                  <a:srgbClr val="46245A"/>
                </a:solidFill>
                <a:latin typeface="DM Sans Bold"/>
                <a:ea typeface="+mn-ea"/>
              </a:rPr>
              <a:t>Finally, 3</a:t>
            </a:r>
            <a:r>
              <a:rPr lang="en-US" sz="4000" i="1" spc="-275" baseline="30000" dirty="0">
                <a:solidFill>
                  <a:srgbClr val="46245A"/>
                </a:solidFill>
                <a:latin typeface="DM Sans Bold"/>
                <a:ea typeface="+mn-ea"/>
              </a:rPr>
              <a:t>rd</a:t>
            </a:r>
            <a:r>
              <a:rPr lang="en-US" sz="4000" i="1" spc="-275" dirty="0">
                <a:solidFill>
                  <a:srgbClr val="46245A"/>
                </a:solidFill>
                <a:latin typeface="DM Sans Bold"/>
                <a:ea typeface="+mn-ea"/>
              </a:rPr>
              <a:t> year options:</a:t>
            </a:r>
          </a:p>
        </p:txBody>
      </p:sp>
    </p:spTree>
    <p:extLst>
      <p:ext uri="{BB962C8B-B14F-4D97-AF65-F5344CB8AC3E}">
        <p14:creationId xmlns:p14="http://schemas.microsoft.com/office/powerpoint/2010/main" val="244344653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0FD39F18-9092-6B46-5F44-8920DE86A55B}"/>
            </a:ext>
          </a:extLst>
        </p:cNvPr>
        <p:cNvGrpSpPr/>
        <p:nvPr/>
      </p:nvGrpSpPr>
      <p:grpSpPr>
        <a:xfrm>
          <a:off x="0" y="0"/>
          <a:ext cx="0" cy="0"/>
          <a:chOff x="0" y="0"/>
          <a:chExt cx="0" cy="0"/>
        </a:xfrm>
      </p:grpSpPr>
      <p:sp>
        <p:nvSpPr>
          <p:cNvPr id="11" name="TextBox 11">
            <a:extLst>
              <a:ext uri="{FF2B5EF4-FFF2-40B4-BE49-F238E27FC236}">
                <a16:creationId xmlns:a16="http://schemas.microsoft.com/office/drawing/2014/main" id="{9861AB78-A746-AF2D-BF41-B7A32B7E7914}"/>
              </a:ext>
            </a:extLst>
          </p:cNvPr>
          <p:cNvSpPr txBox="1"/>
          <p:nvPr/>
        </p:nvSpPr>
        <p:spPr>
          <a:xfrm>
            <a:off x="0" y="3335554"/>
            <a:ext cx="12192000" cy="608693"/>
          </a:xfrm>
          <a:prstGeom prst="rect">
            <a:avLst/>
          </a:prstGeom>
        </p:spPr>
        <p:txBody>
          <a:bodyPr wrap="square" lIns="0" tIns="0" rIns="0" bIns="0" rtlCol="0" anchor="ctr">
            <a:spAutoFit/>
          </a:bodyPr>
          <a:lstStyle/>
          <a:p>
            <a:pPr marL="0" marR="0" lvl="0" indent="0" algn="ctr" defTabSz="609630" rtl="0" eaLnBrk="1" fontAlgn="auto" latinLnBrk="0" hangingPunct="1">
              <a:lnSpc>
                <a:spcPts val="4480"/>
              </a:lnSpc>
              <a:spcBef>
                <a:spcPts val="0"/>
              </a:spcBef>
              <a:spcAft>
                <a:spcPts val="0"/>
              </a:spcAft>
              <a:buClrTx/>
              <a:buSzTx/>
              <a:buFontTx/>
              <a:buNone/>
              <a:tabLst/>
              <a:defRPr/>
            </a:pPr>
            <a:r>
              <a:rPr kumimoji="0" lang="en-US" sz="4800" b="0" i="0" u="none" strike="noStrike" kern="1200" cap="none" spc="0" normalizeH="0" baseline="0" noProof="0" dirty="0">
                <a:ln>
                  <a:noFill/>
                </a:ln>
                <a:solidFill>
                  <a:srgbClr val="F8F8F8"/>
                </a:solidFill>
                <a:effectLst/>
                <a:uLnTx/>
                <a:uFillTx/>
                <a:latin typeface="DM Sans Bold"/>
                <a:ea typeface="MS PGothic" panose="020B0600070205080204" pitchFamily="34" charset="-128"/>
                <a:cs typeface="+mn-cs"/>
              </a:rPr>
              <a:t>Q&amp;A</a:t>
            </a:r>
          </a:p>
        </p:txBody>
      </p:sp>
      <p:sp>
        <p:nvSpPr>
          <p:cNvPr id="3" name="Freeform 13">
            <a:extLst>
              <a:ext uri="{FF2B5EF4-FFF2-40B4-BE49-F238E27FC236}">
                <a16:creationId xmlns:a16="http://schemas.microsoft.com/office/drawing/2014/main" id="{268038F9-BDF9-928D-95D3-E7C1AE997699}"/>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Tree>
    <p:extLst>
      <p:ext uri="{BB962C8B-B14F-4D97-AF65-F5344CB8AC3E}">
        <p14:creationId xmlns:p14="http://schemas.microsoft.com/office/powerpoint/2010/main" val="2843723110"/>
      </p:ext>
    </p:extLst>
  </p:cSld>
  <p:clrMapOvr>
    <a:masterClrMapping/>
  </p:clrMapOvr>
  <mc:AlternateContent xmlns:mc="http://schemas.openxmlformats.org/markup-compatibility/2006" xmlns:p14="http://schemas.microsoft.com/office/powerpoint/2010/main">
    <mc:Choice Requires="p14">
      <p:transition spd="slow" p14:dur="2000" advTm="12715"/>
    </mc:Choice>
    <mc:Fallback xmlns="">
      <p:transition spd="slow" advTm="12715"/>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D4ED785F-CE62-82CB-F996-0E665B36E0E7}"/>
            </a:ext>
          </a:extLst>
        </p:cNvPr>
        <p:cNvGrpSpPr/>
        <p:nvPr/>
      </p:nvGrpSpPr>
      <p:grpSpPr>
        <a:xfrm>
          <a:off x="0" y="0"/>
          <a:ext cx="0" cy="0"/>
          <a:chOff x="0" y="0"/>
          <a:chExt cx="0" cy="0"/>
        </a:xfrm>
      </p:grpSpPr>
      <p:sp>
        <p:nvSpPr>
          <p:cNvPr id="5" name="Freeform 5">
            <a:extLst>
              <a:ext uri="{FF2B5EF4-FFF2-40B4-BE49-F238E27FC236}">
                <a16:creationId xmlns:a16="http://schemas.microsoft.com/office/drawing/2014/main" id="{02AC8828-C975-6D5D-820F-78E1B8CC22FE}"/>
              </a:ext>
            </a:extLst>
          </p:cNvPr>
          <p:cNvSpPr/>
          <p:nvPr/>
        </p:nvSpPr>
        <p:spPr>
          <a:xfrm>
            <a:off x="1404145" y="2649151"/>
            <a:ext cx="3526648" cy="1559697"/>
          </a:xfrm>
          <a:custGeom>
            <a:avLst/>
            <a:gdLst/>
            <a:ahLst/>
            <a:cxnLst/>
            <a:rect l="l" t="t" r="r" b="b"/>
            <a:pathLst>
              <a:path w="6608213" h="2922551">
                <a:moveTo>
                  <a:pt x="0" y="0"/>
                </a:moveTo>
                <a:lnTo>
                  <a:pt x="6608212" y="0"/>
                </a:lnTo>
                <a:lnTo>
                  <a:pt x="6608212" y="2922552"/>
                </a:lnTo>
                <a:lnTo>
                  <a:pt x="0" y="2922552"/>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
        <p:nvSpPr>
          <p:cNvPr id="11" name="TextBox 11">
            <a:extLst>
              <a:ext uri="{FF2B5EF4-FFF2-40B4-BE49-F238E27FC236}">
                <a16:creationId xmlns:a16="http://schemas.microsoft.com/office/drawing/2014/main" id="{4C3DE186-561B-2390-96D5-63833B499408}"/>
              </a:ext>
            </a:extLst>
          </p:cNvPr>
          <p:cNvSpPr txBox="1"/>
          <p:nvPr/>
        </p:nvSpPr>
        <p:spPr>
          <a:xfrm>
            <a:off x="6899030" y="3116500"/>
            <a:ext cx="4544029" cy="613373"/>
          </a:xfrm>
          <a:prstGeom prst="rect">
            <a:avLst/>
          </a:prstGeom>
        </p:spPr>
        <p:txBody>
          <a:bodyPr wrap="square" lIns="0" tIns="0" rIns="0" bIns="0" rtlCol="0" anchor="t">
            <a:spAutoFit/>
          </a:bodyPr>
          <a:lstStyle/>
          <a:p>
            <a:pPr marL="0" marR="0" lvl="0" indent="0" algn="l" defTabSz="609630" rtl="0" eaLnBrk="1" fontAlgn="auto" latinLnBrk="0" hangingPunct="1">
              <a:lnSpc>
                <a:spcPts val="4480"/>
              </a:lnSpc>
              <a:spcBef>
                <a:spcPts val="0"/>
              </a:spcBef>
              <a:spcAft>
                <a:spcPts val="0"/>
              </a:spcAft>
              <a:buClrTx/>
              <a:buSzTx/>
              <a:buFontTx/>
              <a:buNone/>
              <a:tabLst/>
              <a:defRPr/>
            </a:pPr>
            <a:r>
              <a:rPr kumimoji="0" lang="en-US" sz="5334" b="0" i="0" u="none" strike="noStrike" kern="1200" cap="none" spc="0" normalizeH="0" baseline="0" noProof="0">
                <a:ln>
                  <a:noFill/>
                </a:ln>
                <a:solidFill>
                  <a:srgbClr val="F8F8F8"/>
                </a:solidFill>
                <a:effectLst/>
                <a:uLnTx/>
                <a:uFillTx/>
                <a:latin typeface="DM Sans Bold"/>
                <a:ea typeface="MS PGothic" panose="020B0600070205080204" pitchFamily="34" charset="-128"/>
                <a:cs typeface="+mn-cs"/>
              </a:rPr>
              <a:t>Thank you</a:t>
            </a:r>
          </a:p>
        </p:txBody>
      </p:sp>
    </p:spTree>
    <p:extLst>
      <p:ext uri="{BB962C8B-B14F-4D97-AF65-F5344CB8AC3E}">
        <p14:creationId xmlns:p14="http://schemas.microsoft.com/office/powerpoint/2010/main" val="23571720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45.5"/>
</p:tagLst>
</file>

<file path=ppt/tags/tag2.xml><?xml version="1.0" encoding="utf-8"?>
<p:tagLst xmlns:a="http://schemas.openxmlformats.org/drawingml/2006/main" xmlns:r="http://schemas.openxmlformats.org/officeDocument/2006/relationships" xmlns:p="http://schemas.openxmlformats.org/presentationml/2006/main">
  <p:tag name="TIMING" val="|1.3|1.2|3.7|124.2|0.7|22.1"/>
</p:tagLst>
</file>

<file path=ppt/tags/tag3.xml><?xml version="1.0" encoding="utf-8"?>
<p:tagLst xmlns:a="http://schemas.openxmlformats.org/drawingml/2006/main" xmlns:r="http://schemas.openxmlformats.org/officeDocument/2006/relationships" xmlns:p="http://schemas.openxmlformats.org/presentationml/2006/main">
  <p:tag name="TIMING" val="|75.1|3.2|12.5|1.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DM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DM Sans"/>
        <a:ea typeface=""/>
        <a:cs typeface=""/>
        <a:font script="Jpan" typeface="ＭＳ Ｐゴシック"/>
        <a:font script="Hang" typeface="맑은 고딕"/>
        <a:font script="Hans" typeface="宋体"/>
        <a:font script="Hant" typeface="新細明體"/>
        <a:font script="Arab" typeface="DM Sans"/>
        <a:font script="Hebr" typeface="DM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DM Sans"/>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DM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DM Sans"/>
        <a:ea typeface=""/>
        <a:cs typeface=""/>
        <a:font script="Jpan" typeface="ＭＳ Ｐゴシック"/>
        <a:font script="Hang" typeface="맑은 고딕"/>
        <a:font script="Hans" typeface="宋体"/>
        <a:font script="Hant" typeface="新細明體"/>
        <a:font script="Arab" typeface="DM Sans"/>
        <a:font script="Hebr" typeface="DM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DM Sans"/>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DM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DM Sans"/>
        <a:ea typeface=""/>
        <a:cs typeface=""/>
        <a:font script="Jpan" typeface="ＭＳ Ｐゴシック"/>
        <a:font script="Hang" typeface="맑은 고딕"/>
        <a:font script="Hans" typeface="宋体"/>
        <a:font script="Hant" typeface="新細明體"/>
        <a:font script="Arab" typeface="DM Sans"/>
        <a:font script="Hebr" typeface="DM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DM Sans"/>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5196</TotalTime>
  <Words>4645</Words>
  <Application>Microsoft Macintosh PowerPoint</Application>
  <PresentationFormat>Widescreen</PresentationFormat>
  <Paragraphs>680</Paragraphs>
  <Slides>71</Slides>
  <Notes>54</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71</vt:i4>
      </vt:variant>
    </vt:vector>
  </HeadingPairs>
  <TitlesOfParts>
    <vt:vector size="85" baseType="lpstr">
      <vt:lpstr>ＭＳ Ｐゴシック</vt:lpstr>
      <vt:lpstr>Aptos</vt:lpstr>
      <vt:lpstr>Arial</vt:lpstr>
      <vt:lpstr>Calibri</vt:lpstr>
      <vt:lpstr>Cambria Math</vt:lpstr>
      <vt:lpstr>DM Sans</vt:lpstr>
      <vt:lpstr>DM Sans Bold</vt:lpstr>
      <vt:lpstr>Open Sans</vt:lpstr>
      <vt:lpstr>Tahoma</vt:lpstr>
      <vt:lpstr>Times New Roman</vt:lpstr>
      <vt:lpstr>Trebuchet MS</vt:lpstr>
      <vt:lpstr>1_Office Theme</vt:lpstr>
      <vt:lpstr>2_Office Theme</vt:lpstr>
      <vt:lpstr>3_Office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Bannan</dc:creator>
  <cp:lastModifiedBy>Thomas Bannan</cp:lastModifiedBy>
  <cp:revision>69</cp:revision>
  <dcterms:created xsi:type="dcterms:W3CDTF">2024-11-06T10:37:17Z</dcterms:created>
  <dcterms:modified xsi:type="dcterms:W3CDTF">2026-05-07T12:31:28Z</dcterms:modified>
</cp:coreProperties>
</file>