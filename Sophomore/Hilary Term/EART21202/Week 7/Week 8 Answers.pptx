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  <p:sldMasterId id="2147483660" r:id="rId5"/>
  </p:sldMasterIdLst>
  <p:notesMasterIdLst>
    <p:notesMasterId r:id="rId21"/>
  </p:notesMasterIdLst>
  <p:sldIdLst>
    <p:sldId id="257" r:id="rId6"/>
    <p:sldId id="1229" r:id="rId7"/>
    <p:sldId id="1359" r:id="rId8"/>
    <p:sldId id="1352" r:id="rId9"/>
    <p:sldId id="1343" r:id="rId10"/>
    <p:sldId id="1353" r:id="rId11"/>
    <p:sldId id="1344" r:id="rId12"/>
    <p:sldId id="1354" r:id="rId13"/>
    <p:sldId id="1345" r:id="rId14"/>
    <p:sldId id="1355" r:id="rId15"/>
    <p:sldId id="1346" r:id="rId16"/>
    <p:sldId id="1356" r:id="rId17"/>
    <p:sldId id="1347" r:id="rId18"/>
    <p:sldId id="1357" r:id="rId19"/>
    <p:sldId id="1348" r:id="rId20"/>
  </p:sldIdLst>
  <p:sldSz cx="18288000" cy="10287000"/>
  <p:notesSz cx="6858000" cy="9144000"/>
  <p:embeddedFontLst>
    <p:embeddedFont>
      <p:font typeface="DM Sans" pitchFamily="2" charset="77"/>
      <p:regular r:id="rId22"/>
      <p:bold r:id="rId23"/>
      <p:italic r:id="rId24"/>
      <p:boldItalic r:id="rId25"/>
    </p:embeddedFont>
    <p:embeddedFont>
      <p:font typeface="DM Sans Bold" panose="020B0806030504020204" pitchFamily="34" charset="0"/>
      <p:regular r:id="rId26"/>
      <p:bold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46245A"/>
    <a:srgbClr val="FAB700"/>
    <a:srgbClr val="0E173B"/>
    <a:srgbClr val="545454"/>
    <a:srgbClr val="DEA400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D083AE6-46FA-4A59-8FB0-9F97EB10719F}" styleName="Light Style 3 –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81"/>
    <p:restoredTop sz="87260"/>
  </p:normalViewPr>
  <p:slideViewPr>
    <p:cSldViewPr snapToGrid="0">
      <p:cViewPr varScale="1">
        <p:scale>
          <a:sx n="73" d="100"/>
          <a:sy n="73" d="100"/>
        </p:scale>
        <p:origin x="1328" y="2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font" Target="fonts/font5.fntdata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font" Target="fonts/font4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3.fntdata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font" Target="fonts/font2.fntdata"/><Relationship Id="rId28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font" Target="fonts/font1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DM Sans" pitchFamily="2" charset="0"/>
              </a:defRPr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DM Sans" pitchFamily="2" charset="0"/>
              </a:defRPr>
            </a:lvl1pPr>
          </a:lstStyle>
          <a:p>
            <a:fld id="{62D80C2D-EE18-43D6-B2C1-C03B0D42E456}" type="datetimeFigureOut">
              <a:rPr lang="en-GB" smtClean="0"/>
              <a:pPr/>
              <a:t>29/04/2026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DM Sans" pitchFamily="2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DM Sans" pitchFamily="2" charset="0"/>
              </a:defRPr>
            </a:lvl1pPr>
          </a:lstStyle>
          <a:p>
            <a:fld id="{C6B3559C-4BE5-4262-A2E7-0EADDD5F845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3940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DM Sans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DM Sans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DM Sans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DM Sans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DM Sans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>
              <a:latin typeface="DM Sans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559C-4BE5-4262-A2E7-0EADDD5F845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33203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B3559C-4BE5-4262-A2E7-0EADDD5F845B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M Sans" pitchFamily="2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M Sans" pitchFamily="2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00707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75A35-1295-2AF9-046D-7F9A02AB1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B8ADCC-1249-AD6B-9DBA-200E42EB0D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901DB2-24C5-0FDB-C6F6-A0D4440444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8DBAD1-78CE-E44D-43BB-2816EB39A0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E40F24B-5F1B-CA4E-9B5E-D0AD9655A5AF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22331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02C80-16AC-1680-ECCC-19D5F859D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00A923-C2B6-3422-466E-929D6D32CF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853DBB-7AE8-5A61-A46D-E485E8395E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2E124F-F88C-B94F-A288-611A9B3B02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B3559C-4BE5-4262-A2E7-0EADDD5F845B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M Sans" pitchFamily="2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M Sans" pitchFamily="2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27875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5481E-14CD-9A59-68A8-A45B1E0EA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140A95-86F0-0FAB-9963-2BD47C9BC8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F6741D-5E2A-0E7C-1A44-1FFB3585DF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BA8CAD-F4CA-E32B-86D5-4E8DCAEB87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E40F24B-5F1B-CA4E-9B5E-D0AD9655A5AF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95027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E13F9-510A-F210-E69A-EACD11D2A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B03928-CAC5-5D25-FDB3-ED84697C51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C67F7E-B262-161C-773B-70046B64FD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6ED869-4F33-DCD7-90EF-5B49F5C949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B3559C-4BE5-4262-A2E7-0EADDD5F845B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M Sans" pitchFamily="2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M Sans" pitchFamily="2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48461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92ACC-9EFE-5B0E-EA53-37BC322CF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9881E1-13DB-785B-D61B-2DAB64ED9C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B90172-74AE-2564-9820-F8989393A3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75B365-9508-971E-CE87-A4BFFA0217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E40F24B-5F1B-CA4E-9B5E-D0AD9655A5AF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97996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63C9F-9C83-002B-F24E-ACA26AA9A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71080D-0177-AFE4-769B-AC4938E2F5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F4D853-C8A1-5A35-F834-E26D7F43EE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8F65F6-6F74-99C0-3862-AB89F3585A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B3559C-4BE5-4262-A2E7-0EADDD5F845B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M Sans" pitchFamily="2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M Sans" pitchFamily="2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43458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F121C-05C4-5A6F-3E63-CBC598451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B44932-37A5-8829-188B-1B716DD5AA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D6FCE2-3AC2-95A5-307D-45E8128C1B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287F16-283C-6A02-1457-29BA4FEBA1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E40F24B-5F1B-CA4E-9B5E-D0AD9655A5AF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2620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8867F-CB1D-7391-7E3C-CA1D8F9D0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C87176-0B83-6A4D-FC52-3129BC0D3F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BFB68B-73ED-FEC5-42D4-5B1FBEB03A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8CCC43-8CFE-6072-78F1-5DB7D8CD4C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B3559C-4BE5-4262-A2E7-0EADDD5F845B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M Sans" pitchFamily="2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M Sans" pitchFamily="2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71545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2D59F-EAA9-899B-9D36-CACCD1B21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46094B-E571-1588-BB46-189B1CB3B2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6D96EB-68DC-DDC8-6F5C-B87ABCA5B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290746-E9E9-8674-1CDD-98C16B45D3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E40F24B-5F1B-CA4E-9B5E-D0AD9655A5AF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60823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F1118-61B5-1BB5-5E00-70FF04452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DB0DB5-B65C-CED0-0474-1F218D4FBD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DFC866-76C1-AC4A-81C2-232207D46B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4859C9-7EA7-F4EB-DAE0-1A82549A85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B3559C-4BE5-4262-A2E7-0EADDD5F845B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M Sans" pitchFamily="2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M Sans" pitchFamily="2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97595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2BCEE-F084-4195-BA15-51BAFE466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DBA1FE-D4F3-DD0F-7CEF-DAFEB19C53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495885-560D-B771-D10C-CC24A4FC46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03E3BA-8E1E-41E1-A11A-63AAC06424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E40F24B-5F1B-CA4E-9B5E-D0AD9655A5AF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01663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2F443-8AB0-6230-663B-6B0F684EB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DF0200-8E53-DC4F-C36E-6D599487B7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ADF4D8-579A-8ADB-FF61-7FB27D584A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2A866-9A38-5DE7-D091-3E709FAD93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B3559C-4BE5-4262-A2E7-0EADDD5F845B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M Sans" pitchFamily="2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M Sans" pitchFamily="2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20674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D253D-9EAF-DEC5-06C5-B709226D5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196A9E-61CF-9B2A-233F-F8966877B9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F2FF4A-FDCC-7768-329E-CE49931AD6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F61042-551F-3ED2-A030-CDFBD3E35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E40F24B-5F1B-CA4E-9B5E-D0AD9655A5AF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6920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5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4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3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9144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8047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5" y="4406901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5" y="2906714"/>
            <a:ext cx="7772400" cy="1500188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17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3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53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69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86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502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42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338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6655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3"/>
            <a:ext cx="4038600" cy="4525964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3"/>
            <a:ext cx="4038600" cy="4525964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351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1535114"/>
            <a:ext cx="4040189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17" indent="0">
              <a:buNone/>
              <a:defRPr sz="1500" b="1"/>
            </a:lvl2pPr>
            <a:lvl3pPr marL="685835" indent="0">
              <a:buNone/>
              <a:defRPr sz="1350" b="1"/>
            </a:lvl3pPr>
            <a:lvl4pPr marL="1028753" indent="0">
              <a:buNone/>
              <a:defRPr sz="1200" b="1"/>
            </a:lvl4pPr>
            <a:lvl5pPr marL="1371669" indent="0">
              <a:buNone/>
              <a:defRPr sz="1200" b="1"/>
            </a:lvl5pPr>
            <a:lvl6pPr marL="1714586" indent="0">
              <a:buNone/>
              <a:defRPr sz="1200" b="1"/>
            </a:lvl6pPr>
            <a:lvl7pPr marL="2057502" indent="0">
              <a:buNone/>
              <a:defRPr sz="1200" b="1"/>
            </a:lvl7pPr>
            <a:lvl8pPr marL="2400420" indent="0">
              <a:buNone/>
              <a:defRPr sz="1200" b="1"/>
            </a:lvl8pPr>
            <a:lvl9pPr marL="2743338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2" y="2174876"/>
            <a:ext cx="4040189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4"/>
            <a:ext cx="4041776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17" indent="0">
              <a:buNone/>
              <a:defRPr sz="1500" b="1"/>
            </a:lvl2pPr>
            <a:lvl3pPr marL="685835" indent="0">
              <a:buNone/>
              <a:defRPr sz="1350" b="1"/>
            </a:lvl3pPr>
            <a:lvl4pPr marL="1028753" indent="0">
              <a:buNone/>
              <a:defRPr sz="1200" b="1"/>
            </a:lvl4pPr>
            <a:lvl5pPr marL="1371669" indent="0">
              <a:buNone/>
              <a:defRPr sz="1200" b="1"/>
            </a:lvl5pPr>
            <a:lvl6pPr marL="1714586" indent="0">
              <a:buNone/>
              <a:defRPr sz="1200" b="1"/>
            </a:lvl6pPr>
            <a:lvl7pPr marL="2057502" indent="0">
              <a:buNone/>
              <a:defRPr sz="1200" b="1"/>
            </a:lvl7pPr>
            <a:lvl8pPr marL="2400420" indent="0">
              <a:buNone/>
              <a:defRPr sz="1200" b="1"/>
            </a:lvl8pPr>
            <a:lvl9pPr marL="2743338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6"/>
            <a:ext cx="4041776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5862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851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5852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5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4" y="273055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4"/>
            <a:ext cx="3008315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17" indent="0">
              <a:buNone/>
              <a:defRPr sz="900"/>
            </a:lvl2pPr>
            <a:lvl3pPr marL="685835" indent="0">
              <a:buNone/>
              <a:defRPr sz="750"/>
            </a:lvl3pPr>
            <a:lvl4pPr marL="1028753" indent="0">
              <a:buNone/>
              <a:defRPr sz="675"/>
            </a:lvl4pPr>
            <a:lvl5pPr marL="1371669" indent="0">
              <a:buNone/>
              <a:defRPr sz="675"/>
            </a:lvl5pPr>
            <a:lvl6pPr marL="1714586" indent="0">
              <a:buNone/>
              <a:defRPr sz="675"/>
            </a:lvl6pPr>
            <a:lvl7pPr marL="2057502" indent="0">
              <a:buNone/>
              <a:defRPr sz="675"/>
            </a:lvl7pPr>
            <a:lvl8pPr marL="2400420" indent="0">
              <a:buNone/>
              <a:defRPr sz="675"/>
            </a:lvl8pPr>
            <a:lvl9pPr marL="2743338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1185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4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6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17" indent="0">
              <a:buNone/>
              <a:defRPr sz="2100"/>
            </a:lvl2pPr>
            <a:lvl3pPr marL="685835" indent="0">
              <a:buNone/>
              <a:defRPr sz="1800"/>
            </a:lvl3pPr>
            <a:lvl4pPr marL="1028753" indent="0">
              <a:buNone/>
              <a:defRPr sz="1500"/>
            </a:lvl4pPr>
            <a:lvl5pPr marL="1371669" indent="0">
              <a:buNone/>
              <a:defRPr sz="1500"/>
            </a:lvl5pPr>
            <a:lvl6pPr marL="1714586" indent="0">
              <a:buNone/>
              <a:defRPr sz="1500"/>
            </a:lvl6pPr>
            <a:lvl7pPr marL="2057502" indent="0">
              <a:buNone/>
              <a:defRPr sz="1500"/>
            </a:lvl7pPr>
            <a:lvl8pPr marL="2400420" indent="0">
              <a:buNone/>
              <a:defRPr sz="1500"/>
            </a:lvl8pPr>
            <a:lvl9pPr marL="2743338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41"/>
            <a:ext cx="5486400" cy="804863"/>
          </a:xfrm>
        </p:spPr>
        <p:txBody>
          <a:bodyPr/>
          <a:lstStyle>
            <a:lvl1pPr marL="0" indent="0">
              <a:buNone/>
              <a:defRPr sz="1050"/>
            </a:lvl1pPr>
            <a:lvl2pPr marL="342917" indent="0">
              <a:buNone/>
              <a:defRPr sz="900"/>
            </a:lvl2pPr>
            <a:lvl3pPr marL="685835" indent="0">
              <a:buNone/>
              <a:defRPr sz="750"/>
            </a:lvl3pPr>
            <a:lvl4pPr marL="1028753" indent="0">
              <a:buNone/>
              <a:defRPr sz="675"/>
            </a:lvl4pPr>
            <a:lvl5pPr marL="1371669" indent="0">
              <a:buNone/>
              <a:defRPr sz="675"/>
            </a:lvl5pPr>
            <a:lvl6pPr marL="1714586" indent="0">
              <a:buNone/>
              <a:defRPr sz="675"/>
            </a:lvl6pPr>
            <a:lvl7pPr marL="2057502" indent="0">
              <a:buNone/>
              <a:defRPr sz="675"/>
            </a:lvl7pPr>
            <a:lvl8pPr marL="2400420" indent="0">
              <a:buNone/>
              <a:defRPr sz="675"/>
            </a:lvl8pPr>
            <a:lvl9pPr marL="2743338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3468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1953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6861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11957"/>
            <a:ext cx="16459200" cy="17145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2400305"/>
            <a:ext cx="8077200" cy="678894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6400" y="2400305"/>
            <a:ext cx="8077200" cy="678894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130A59-24D6-BF44-B4BD-970B6853FBF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2DA918-BA26-C842-8E1E-1ED32CE274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F81648-DEEE-D640-983E-74FC943C9C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F318B0F-B1AF-594B-AA89-D1C92B2445C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82775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914400" y="411959"/>
            <a:ext cx="16459200" cy="87772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78232EC-B2A8-C143-ACB0-89F0E5D889B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5602903-C5EA-6C4C-B5F2-B86D2D565E1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BF1A0A5-AD10-2340-BC89-9D16FDAD00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A68D32-FF93-834A-B58C-1FA43224283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1860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M Sans" pitchFamily="2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M Sans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M Sans" pitchFamily="2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DM Sans" pitchFamily="2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DM Sans" pitchFamily="34" charset="0"/>
        <a:buChar char="•"/>
        <a:defRPr sz="3200" kern="1200">
          <a:solidFill>
            <a:schemeClr val="tx1"/>
          </a:solidFill>
          <a:latin typeface="DM Sans" pitchFamily="2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DM Sans" pitchFamily="34" charset="0"/>
        <a:buChar char="–"/>
        <a:defRPr sz="2800" kern="1200">
          <a:solidFill>
            <a:schemeClr val="tx1"/>
          </a:solidFill>
          <a:latin typeface="DM Sans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DM Sans" pitchFamily="34" charset="0"/>
        <a:buChar char="•"/>
        <a:defRPr sz="2400" kern="1200">
          <a:solidFill>
            <a:schemeClr val="tx1"/>
          </a:solidFill>
          <a:latin typeface="DM Sans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DM Sans" pitchFamily="34" charset="0"/>
        <a:buChar char="–"/>
        <a:defRPr sz="2000" kern="1200">
          <a:solidFill>
            <a:schemeClr val="tx1"/>
          </a:solidFill>
          <a:latin typeface="DM Sans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DM Sans" pitchFamily="34" charset="0"/>
        <a:buChar char="»"/>
        <a:defRPr sz="2000" kern="1200">
          <a:solidFill>
            <a:schemeClr val="tx1"/>
          </a:solidFill>
          <a:latin typeface="DM Sans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DM Sans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DM Sans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DM Sans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DM Sans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3"/>
            <a:ext cx="8229600" cy="4525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4"/>
            <a:ext cx="21336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DM Sans" pitchFamily="2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DM Sans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4"/>
            <a:ext cx="21336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DM Sans" pitchFamily="2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89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ctr" defTabSz="685835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DM Sans" pitchFamily="2" charset="0"/>
          <a:ea typeface="+mj-ea"/>
          <a:cs typeface="+mj-cs"/>
        </a:defRPr>
      </a:lvl1pPr>
    </p:titleStyle>
    <p:bodyStyle>
      <a:lvl1pPr marL="257187" indent="-257187" algn="l" defTabSz="685835" rtl="0" eaLnBrk="1" latinLnBrk="0" hangingPunct="1">
        <a:spcBef>
          <a:spcPct val="20000"/>
        </a:spcBef>
        <a:buFont typeface="DM Sans" pitchFamily="34" charset="0"/>
        <a:buChar char="•"/>
        <a:defRPr sz="2400" kern="1200">
          <a:solidFill>
            <a:schemeClr val="tx1"/>
          </a:solidFill>
          <a:latin typeface="DM Sans" pitchFamily="2" charset="0"/>
          <a:ea typeface="+mn-ea"/>
          <a:cs typeface="+mn-cs"/>
        </a:defRPr>
      </a:lvl1pPr>
      <a:lvl2pPr marL="557241" indent="-214325" algn="l" defTabSz="685835" rtl="0" eaLnBrk="1" latinLnBrk="0" hangingPunct="1">
        <a:spcBef>
          <a:spcPct val="20000"/>
        </a:spcBef>
        <a:buFont typeface="DM Sans" pitchFamily="34" charset="0"/>
        <a:buChar char="–"/>
        <a:defRPr sz="2100" kern="1200">
          <a:solidFill>
            <a:schemeClr val="tx1"/>
          </a:solidFill>
          <a:latin typeface="DM Sans" pitchFamily="2" charset="0"/>
          <a:ea typeface="+mn-ea"/>
          <a:cs typeface="+mn-cs"/>
        </a:defRPr>
      </a:lvl2pPr>
      <a:lvl3pPr marL="857294" indent="-171459" algn="l" defTabSz="685835" rtl="0" eaLnBrk="1" latinLnBrk="0" hangingPunct="1">
        <a:spcBef>
          <a:spcPct val="20000"/>
        </a:spcBef>
        <a:buFont typeface="DM Sans" pitchFamily="34" charset="0"/>
        <a:buChar char="•"/>
        <a:defRPr sz="1800" kern="1200">
          <a:solidFill>
            <a:schemeClr val="tx1"/>
          </a:solidFill>
          <a:latin typeface="DM Sans" pitchFamily="2" charset="0"/>
          <a:ea typeface="+mn-ea"/>
          <a:cs typeface="+mn-cs"/>
        </a:defRPr>
      </a:lvl3pPr>
      <a:lvl4pPr marL="1200210" indent="-171459" algn="l" defTabSz="685835" rtl="0" eaLnBrk="1" latinLnBrk="0" hangingPunct="1">
        <a:spcBef>
          <a:spcPct val="20000"/>
        </a:spcBef>
        <a:buFont typeface="DM Sans" pitchFamily="34" charset="0"/>
        <a:buChar char="–"/>
        <a:defRPr sz="1500" kern="1200">
          <a:solidFill>
            <a:schemeClr val="tx1"/>
          </a:solidFill>
          <a:latin typeface="DM Sans" pitchFamily="2" charset="0"/>
          <a:ea typeface="+mn-ea"/>
          <a:cs typeface="+mn-cs"/>
        </a:defRPr>
      </a:lvl4pPr>
      <a:lvl5pPr marL="1543128" indent="-171459" algn="l" defTabSz="685835" rtl="0" eaLnBrk="1" latinLnBrk="0" hangingPunct="1">
        <a:spcBef>
          <a:spcPct val="20000"/>
        </a:spcBef>
        <a:buFont typeface="DM Sans" pitchFamily="34" charset="0"/>
        <a:buChar char="»"/>
        <a:defRPr sz="1500" kern="1200">
          <a:solidFill>
            <a:schemeClr val="tx1"/>
          </a:solidFill>
          <a:latin typeface="DM Sans" pitchFamily="2" charset="0"/>
          <a:ea typeface="+mn-ea"/>
          <a:cs typeface="+mn-cs"/>
        </a:defRPr>
      </a:lvl5pPr>
      <a:lvl6pPr marL="1886045" indent="-171459" algn="l" defTabSz="685835" rtl="0" eaLnBrk="1" latinLnBrk="0" hangingPunct="1">
        <a:spcBef>
          <a:spcPct val="20000"/>
        </a:spcBef>
        <a:buFont typeface="DM Sans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961" indent="-171459" algn="l" defTabSz="685835" rtl="0" eaLnBrk="1" latinLnBrk="0" hangingPunct="1">
        <a:spcBef>
          <a:spcPct val="20000"/>
        </a:spcBef>
        <a:buFont typeface="DM Sans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879" indent="-171459" algn="l" defTabSz="685835" rtl="0" eaLnBrk="1" latinLnBrk="0" hangingPunct="1">
        <a:spcBef>
          <a:spcPct val="20000"/>
        </a:spcBef>
        <a:buFont typeface="DM Sans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797" indent="-171459" algn="l" defTabSz="685835" rtl="0" eaLnBrk="1" latinLnBrk="0" hangingPunct="1">
        <a:spcBef>
          <a:spcPct val="20000"/>
        </a:spcBef>
        <a:buFont typeface="DM Sans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3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17" algn="l" defTabSz="68583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35" algn="l" defTabSz="68583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53" algn="l" defTabSz="68583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algn="l" defTabSz="68583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86" algn="l" defTabSz="68583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502" algn="l" defTabSz="68583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420" algn="l" defTabSz="68583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338" algn="l" defTabSz="68583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emf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3"/>
          <p:cNvSpPr/>
          <p:nvPr/>
        </p:nvSpPr>
        <p:spPr>
          <a:xfrm>
            <a:off x="14554200" y="557981"/>
            <a:ext cx="3059312" cy="1353013"/>
          </a:xfrm>
          <a:custGeom>
            <a:avLst/>
            <a:gdLst/>
            <a:ahLst/>
            <a:cxnLst/>
            <a:rect l="l" t="t" r="r" b="b"/>
            <a:pathLst>
              <a:path w="5346866" h="2364707">
                <a:moveTo>
                  <a:pt x="0" y="0"/>
                </a:moveTo>
                <a:lnTo>
                  <a:pt x="5346866" y="0"/>
                </a:lnTo>
                <a:lnTo>
                  <a:pt x="5346866" y="2364707"/>
                </a:lnTo>
                <a:lnTo>
                  <a:pt x="0" y="2364707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>
              <a:latin typeface="DM Sans" pitchFamily="2" charset="0"/>
            </a:endParaRPr>
          </a:p>
        </p:txBody>
      </p:sp>
      <p:sp>
        <p:nvSpPr>
          <p:cNvPr id="2" name="TextBox 14">
            <a:extLst>
              <a:ext uri="{FF2B5EF4-FFF2-40B4-BE49-F238E27FC236}">
                <a16:creationId xmlns:a16="http://schemas.microsoft.com/office/drawing/2014/main" id="{F0DA2D17-C40D-DA25-624F-1D8A297B593A}"/>
              </a:ext>
            </a:extLst>
          </p:cNvPr>
          <p:cNvSpPr txBox="1"/>
          <p:nvPr/>
        </p:nvSpPr>
        <p:spPr>
          <a:xfrm>
            <a:off x="1319472" y="3199688"/>
            <a:ext cx="14764384" cy="41723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999"/>
              </a:lnSpc>
            </a:pPr>
            <a:r>
              <a:rPr lang="en-GB" altLang="en-US" sz="8000" b="1" dirty="0">
                <a:solidFill>
                  <a:schemeClr val="bg1"/>
                </a:solidFill>
              </a:rPr>
              <a:t>Climate Change Impacts</a:t>
            </a:r>
          </a:p>
          <a:p>
            <a:pPr>
              <a:lnSpc>
                <a:spcPts val="10999"/>
              </a:lnSpc>
            </a:pPr>
            <a:r>
              <a:rPr lang="en-GB" altLang="en-US" sz="8000" b="1" dirty="0">
                <a:solidFill>
                  <a:schemeClr val="bg1"/>
                </a:solidFill>
              </a:rPr>
              <a:t>Adapting to Climate Change</a:t>
            </a:r>
            <a:br>
              <a:rPr lang="en-GB" altLang="en-US" sz="8000" b="1" dirty="0">
                <a:solidFill>
                  <a:schemeClr val="bg1"/>
                </a:solidFill>
              </a:rPr>
            </a:br>
            <a:endParaRPr lang="en-US" sz="8000" b="1" dirty="0">
              <a:solidFill>
                <a:schemeClr val="bg1"/>
              </a:solidFill>
              <a:latin typeface="DM Sans" pitchFamily="2" charset="0"/>
            </a:endParaRPr>
          </a:p>
        </p:txBody>
      </p:sp>
      <p:sp>
        <p:nvSpPr>
          <p:cNvPr id="3" name="TextBox 14">
            <a:extLst>
              <a:ext uri="{FF2B5EF4-FFF2-40B4-BE49-F238E27FC236}">
                <a16:creationId xmlns:a16="http://schemas.microsoft.com/office/drawing/2014/main" id="{4E4EAF08-B290-2C6A-BBCC-3221855F907B}"/>
              </a:ext>
            </a:extLst>
          </p:cNvPr>
          <p:cNvSpPr txBox="1"/>
          <p:nvPr/>
        </p:nvSpPr>
        <p:spPr>
          <a:xfrm>
            <a:off x="1371599" y="6256374"/>
            <a:ext cx="9787467" cy="2585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999"/>
              </a:lnSpc>
            </a:pPr>
            <a:r>
              <a:rPr lang="en-US" sz="3200" b="1" dirty="0">
                <a:solidFill>
                  <a:srgbClr val="FAB700"/>
                </a:solidFill>
                <a:latin typeface="DM Sans" pitchFamily="2" charset="0"/>
              </a:rPr>
              <a:t>Global Climate Change EART21202 – Week 8</a:t>
            </a:r>
          </a:p>
          <a:p>
            <a:pPr>
              <a:lnSpc>
                <a:spcPts val="10999"/>
              </a:lnSpc>
            </a:pPr>
            <a:r>
              <a:rPr lang="en-US" sz="3200" b="1" dirty="0">
                <a:solidFill>
                  <a:srgbClr val="FAB700"/>
                </a:solidFill>
                <a:latin typeface="DM Sans" pitchFamily="2" charset="0"/>
              </a:rPr>
              <a:t>Dr Thomas </a:t>
            </a:r>
            <a:r>
              <a:rPr lang="en-US" sz="3200" b="1" dirty="0" err="1">
                <a:solidFill>
                  <a:srgbClr val="FAB700"/>
                </a:solidFill>
                <a:latin typeface="DM Sans" pitchFamily="2" charset="0"/>
              </a:rPr>
              <a:t>Bannan</a:t>
            </a:r>
            <a:r>
              <a:rPr lang="en-US" sz="3200" b="1" dirty="0">
                <a:solidFill>
                  <a:srgbClr val="FAB700"/>
                </a:solidFill>
                <a:latin typeface="DM Sans" pitchFamily="2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89A0A8-15D6-C5A0-517B-A5C87EE4AF42}"/>
              </a:ext>
            </a:extLst>
          </p:cNvPr>
          <p:cNvSpPr txBox="1"/>
          <p:nvPr/>
        </p:nvSpPr>
        <p:spPr>
          <a:xfrm>
            <a:off x="1371600" y="9077406"/>
            <a:ext cx="9047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chemeClr val="bg1"/>
                </a:solidFill>
              </a:rPr>
              <a:t>Thomas.Bannan@Manchester.ac.uk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188"/>
    </mc:Choice>
    <mc:Fallback xmlns="">
      <p:transition spd="slow" advTm="4218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82D3E-A7C2-D4CE-6000-D69ABF52E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3">
            <a:extLst>
              <a:ext uri="{FF2B5EF4-FFF2-40B4-BE49-F238E27FC236}">
                <a16:creationId xmlns:a16="http://schemas.microsoft.com/office/drawing/2014/main" id="{5BEE16A5-7C45-015F-8A98-91B324DAAE94}"/>
              </a:ext>
            </a:extLst>
          </p:cNvPr>
          <p:cNvSpPr/>
          <p:nvPr/>
        </p:nvSpPr>
        <p:spPr>
          <a:xfrm>
            <a:off x="14147800" y="557983"/>
            <a:ext cx="3059312" cy="1353014"/>
          </a:xfrm>
          <a:custGeom>
            <a:avLst/>
            <a:gdLst/>
            <a:ahLst/>
            <a:cxnLst/>
            <a:rect l="l" t="t" r="r" b="b"/>
            <a:pathLst>
              <a:path w="5346866" h="2364707">
                <a:moveTo>
                  <a:pt x="0" y="0"/>
                </a:moveTo>
                <a:lnTo>
                  <a:pt x="5346866" y="0"/>
                </a:lnTo>
                <a:lnTo>
                  <a:pt x="5346866" y="2364707"/>
                </a:lnTo>
                <a:lnTo>
                  <a:pt x="0" y="2364707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M Sans" pitchFamily="2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TextBox 14">
            <a:extLst>
              <a:ext uri="{FF2B5EF4-FFF2-40B4-BE49-F238E27FC236}">
                <a16:creationId xmlns:a16="http://schemas.microsoft.com/office/drawing/2014/main" id="{CDF94BBB-12EF-E975-6BC5-CB4840BAD385}"/>
              </a:ext>
            </a:extLst>
          </p:cNvPr>
          <p:cNvSpPr txBox="1"/>
          <p:nvPr/>
        </p:nvSpPr>
        <p:spPr>
          <a:xfrm>
            <a:off x="584198" y="1026137"/>
            <a:ext cx="11004828" cy="884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45" rtl="0" eaLnBrk="1" fontAlgn="auto" latinLnBrk="0" hangingPunct="1">
              <a:lnSpc>
                <a:spcPts val="68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1" u="none" strike="noStrike" kern="1200" cap="none" spc="-413" normalizeH="0" baseline="0" noProof="0" dirty="0">
                <a:ln>
                  <a:noFill/>
                </a:ln>
                <a:solidFill>
                  <a:srgbClr val="46245A"/>
                </a:solidFill>
                <a:effectLst/>
                <a:uLnTx/>
                <a:uFillTx/>
                <a:latin typeface="DM Sans Bold"/>
                <a:ea typeface="ＭＳ Ｐゴシック" panose="020B0600070205080204" pitchFamily="34" charset="-128"/>
                <a:cs typeface="+mn-cs"/>
              </a:rPr>
              <a:t>Q1.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B4BD0F-8FE4-63C8-843F-CA220171C15F}"/>
              </a:ext>
            </a:extLst>
          </p:cNvPr>
          <p:cNvSpPr txBox="1"/>
          <p:nvPr/>
        </p:nvSpPr>
        <p:spPr>
          <a:xfrm>
            <a:off x="584197" y="2135706"/>
            <a:ext cx="1357206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DM Sans"/>
                <a:ea typeface="+mn-ea"/>
                <a:cs typeface="+mn-cs"/>
              </a:rPr>
              <a:t>How does climate change impact human health? Which populations are most vulnerable?</a:t>
            </a:r>
          </a:p>
        </p:txBody>
      </p:sp>
    </p:spTree>
    <p:extLst>
      <p:ext uri="{BB962C8B-B14F-4D97-AF65-F5344CB8AC3E}">
        <p14:creationId xmlns:p14="http://schemas.microsoft.com/office/powerpoint/2010/main" val="2396318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9E4E4A-77F1-A103-DFA8-98837D729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3">
            <a:extLst>
              <a:ext uri="{FF2B5EF4-FFF2-40B4-BE49-F238E27FC236}">
                <a16:creationId xmlns:a16="http://schemas.microsoft.com/office/drawing/2014/main" id="{56348745-BC54-889A-5C5A-8B5AA81CC0E7}"/>
              </a:ext>
            </a:extLst>
          </p:cNvPr>
          <p:cNvSpPr/>
          <p:nvPr/>
        </p:nvSpPr>
        <p:spPr>
          <a:xfrm>
            <a:off x="14554202" y="557984"/>
            <a:ext cx="3059312" cy="1353014"/>
          </a:xfrm>
          <a:custGeom>
            <a:avLst/>
            <a:gdLst/>
            <a:ahLst/>
            <a:cxnLst/>
            <a:rect l="l" t="t" r="r" b="b"/>
            <a:pathLst>
              <a:path w="5346866" h="2364707">
                <a:moveTo>
                  <a:pt x="0" y="0"/>
                </a:moveTo>
                <a:lnTo>
                  <a:pt x="5346866" y="0"/>
                </a:lnTo>
                <a:lnTo>
                  <a:pt x="5346866" y="2364707"/>
                </a:lnTo>
                <a:lnTo>
                  <a:pt x="0" y="2364707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914490">
              <a:defRPr/>
            </a:pPr>
            <a:endParaRPr lang="en-GB">
              <a:solidFill>
                <a:prstClr val="black"/>
              </a:solidFill>
              <a:latin typeface="DM Sans" pitchFamily="2" charset="0"/>
              <a:ea typeface="MS PGothic" panose="020B0600070205080204" pitchFamily="34" charset="-128"/>
            </a:endParaRPr>
          </a:p>
        </p:txBody>
      </p:sp>
      <p:sp>
        <p:nvSpPr>
          <p:cNvPr id="2" name="TextBox 14">
            <a:extLst>
              <a:ext uri="{FF2B5EF4-FFF2-40B4-BE49-F238E27FC236}">
                <a16:creationId xmlns:a16="http://schemas.microsoft.com/office/drawing/2014/main" id="{475983DD-C588-3ED2-288B-CEDF44687659}"/>
              </a:ext>
            </a:extLst>
          </p:cNvPr>
          <p:cNvSpPr txBox="1"/>
          <p:nvPr/>
        </p:nvSpPr>
        <p:spPr>
          <a:xfrm>
            <a:off x="584198" y="1026138"/>
            <a:ext cx="11004828" cy="884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914490">
              <a:lnSpc>
                <a:spcPts val="6861"/>
              </a:lnSpc>
              <a:defRPr/>
            </a:pPr>
            <a:r>
              <a:rPr lang="en-US" sz="6000" i="1" spc="-413" dirty="0">
                <a:solidFill>
                  <a:prstClr val="white"/>
                </a:solidFill>
                <a:latin typeface="DM Sans Bold"/>
                <a:ea typeface="ＭＳ Ｐゴシック" panose="020B0600070205080204" pitchFamily="34" charset="-128"/>
              </a:rPr>
              <a:t>Q1. </a:t>
            </a:r>
            <a:r>
              <a:rPr lang="en-US" sz="6000" i="1" spc="-413" dirty="0">
                <a:solidFill>
                  <a:srgbClr val="FF0000"/>
                </a:solidFill>
                <a:latin typeface="DM Sans Bold"/>
                <a:ea typeface="ＭＳ Ｐゴシック" panose="020B0600070205080204" pitchFamily="34" charset="-128"/>
              </a:rPr>
              <a:t>Answer </a:t>
            </a:r>
            <a:r>
              <a:rPr lang="en-US" sz="6000" i="1" spc="-413" dirty="0">
                <a:solidFill>
                  <a:prstClr val="white"/>
                </a:solidFill>
                <a:latin typeface="DM Sans Bold"/>
                <a:ea typeface="ＭＳ Ｐゴシック" panose="020B0600070205080204" pitchFamily="34" charset="-128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BBED8B-FFB8-1E54-F3E3-8565EC5D9DFB}"/>
              </a:ext>
            </a:extLst>
          </p:cNvPr>
          <p:cNvSpPr txBox="1"/>
          <p:nvPr/>
        </p:nvSpPr>
        <p:spPr>
          <a:xfrm>
            <a:off x="584200" y="4333897"/>
            <a:ext cx="106595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45">
              <a:defRPr/>
            </a:pPr>
            <a:br>
              <a:rPr lang="en-GB" dirty="0">
                <a:solidFill>
                  <a:srgbClr val="000000"/>
                </a:solidFill>
                <a:latin typeface="DM Sans"/>
              </a:rPr>
            </a:br>
            <a:endParaRPr lang="en-GB" dirty="0">
              <a:solidFill>
                <a:srgbClr val="000000"/>
              </a:solidFill>
              <a:latin typeface="DM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FA34BC-F529-A2B7-50B8-130C63098FDF}"/>
              </a:ext>
            </a:extLst>
          </p:cNvPr>
          <p:cNvSpPr txBox="1"/>
          <p:nvPr/>
        </p:nvSpPr>
        <p:spPr>
          <a:xfrm>
            <a:off x="584198" y="2135706"/>
            <a:ext cx="13572069" cy="954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45">
              <a:defRPr/>
            </a:pPr>
            <a:r>
              <a:rPr lang="en-GB" sz="2801" b="1" dirty="0">
                <a:solidFill>
                  <a:prstClr val="white"/>
                </a:solidFill>
                <a:latin typeface="DM Sans"/>
              </a:rPr>
              <a:t>How does climate change impact human health? Which populations are most vulnerable?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3B71CE-EF4C-99C0-91BE-E8CE817F38BD}"/>
              </a:ext>
            </a:extLst>
          </p:cNvPr>
          <p:cNvSpPr txBox="1"/>
          <p:nvPr/>
        </p:nvSpPr>
        <p:spPr>
          <a:xfrm>
            <a:off x="629345" y="3610660"/>
            <a:ext cx="15866928" cy="34163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17" indent="-342917" defTabSz="914445">
              <a:buFont typeface="Arial" panose="020B0604020202020204" pitchFamily="34" charset="0"/>
              <a:buChar char="•"/>
              <a:defRPr/>
            </a:pPr>
            <a:r>
              <a:rPr lang="en-GB" sz="2400" dirty="0">
                <a:solidFill>
                  <a:srgbClr val="FF0000"/>
                </a:solidFill>
                <a:latin typeface="DM Sans"/>
              </a:rPr>
              <a:t>Heat-related illnesses: for example, more heatwaves can increase deaths among older people and outdoor workers.</a:t>
            </a:r>
          </a:p>
          <a:p>
            <a:pPr marL="342917" indent="-342917" defTabSz="914445">
              <a:buFont typeface="Arial" panose="020B0604020202020204" pitchFamily="34" charset="0"/>
              <a:buChar char="•"/>
              <a:defRPr/>
            </a:pPr>
            <a:r>
              <a:rPr lang="en-GB" sz="2400" dirty="0">
                <a:solidFill>
                  <a:srgbClr val="FF0000"/>
                </a:solidFill>
                <a:latin typeface="DM Sans"/>
              </a:rPr>
              <a:t>Diseases spread by insects: Climate change contributes to the spread of insect borne diseases; for instance, rising temperatures expand mosquito habitats, increasing the transmission of illnesses like malaria.</a:t>
            </a:r>
          </a:p>
          <a:p>
            <a:pPr marL="342917" indent="-342917" defTabSz="914445">
              <a:buFont typeface="Arial" panose="020B0604020202020204" pitchFamily="34" charset="0"/>
              <a:buChar char="•"/>
              <a:defRPr/>
            </a:pPr>
            <a:r>
              <a:rPr lang="en-GB" sz="2400" dirty="0">
                <a:solidFill>
                  <a:srgbClr val="FF0000"/>
                </a:solidFill>
                <a:latin typeface="DM Sans"/>
              </a:rPr>
              <a:t>Air pollution: Smoke from wildfires and ozone pollution can make respiratory problems worse.</a:t>
            </a:r>
          </a:p>
          <a:p>
            <a:pPr marL="342917" indent="-342917" defTabSz="914445">
              <a:buFont typeface="Arial" panose="020B0604020202020204" pitchFamily="34" charset="0"/>
              <a:buChar char="•"/>
              <a:defRPr/>
            </a:pPr>
            <a:r>
              <a:rPr lang="en-GB" sz="2400" dirty="0">
                <a:solidFill>
                  <a:srgbClr val="FF0000"/>
                </a:solidFill>
                <a:latin typeface="DM Sans"/>
              </a:rPr>
              <a:t>Mental health:  Climate change impacts mental health by increasing anxiety and stress, especially for those facing displacement due to rising sea levels, extreme weather, or environmental change.</a:t>
            </a:r>
          </a:p>
          <a:p>
            <a:pPr marL="342917" indent="-342917" defTabSz="914445">
              <a:buFont typeface="Arial" panose="020B0604020202020204" pitchFamily="34" charset="0"/>
              <a:buChar char="•"/>
              <a:defRPr/>
            </a:pPr>
            <a:r>
              <a:rPr lang="en-GB" sz="2400" dirty="0">
                <a:solidFill>
                  <a:srgbClr val="FF0000"/>
                </a:solidFill>
                <a:latin typeface="DM Sans"/>
              </a:rPr>
              <a:t>Most at risk: Those most vulnerable to climate change include low-income households and populations in developing countries, who often face greater exposure and fewer resources to adapt.</a:t>
            </a:r>
          </a:p>
        </p:txBody>
      </p:sp>
    </p:spTree>
    <p:extLst>
      <p:ext uri="{BB962C8B-B14F-4D97-AF65-F5344CB8AC3E}">
        <p14:creationId xmlns:p14="http://schemas.microsoft.com/office/powerpoint/2010/main" val="2484304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715"/>
    </mc:Choice>
    <mc:Fallback xmlns="">
      <p:transition spd="slow" advTm="12715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DBD16-3EF8-8238-74E1-B2A9B38CB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3">
            <a:extLst>
              <a:ext uri="{FF2B5EF4-FFF2-40B4-BE49-F238E27FC236}">
                <a16:creationId xmlns:a16="http://schemas.microsoft.com/office/drawing/2014/main" id="{D6EB7346-BA1F-6C45-5470-C67A6B564289}"/>
              </a:ext>
            </a:extLst>
          </p:cNvPr>
          <p:cNvSpPr/>
          <p:nvPr/>
        </p:nvSpPr>
        <p:spPr>
          <a:xfrm>
            <a:off x="14147800" y="557983"/>
            <a:ext cx="3059312" cy="1353014"/>
          </a:xfrm>
          <a:custGeom>
            <a:avLst/>
            <a:gdLst/>
            <a:ahLst/>
            <a:cxnLst/>
            <a:rect l="l" t="t" r="r" b="b"/>
            <a:pathLst>
              <a:path w="5346866" h="2364707">
                <a:moveTo>
                  <a:pt x="0" y="0"/>
                </a:moveTo>
                <a:lnTo>
                  <a:pt x="5346866" y="0"/>
                </a:lnTo>
                <a:lnTo>
                  <a:pt x="5346866" y="2364707"/>
                </a:lnTo>
                <a:lnTo>
                  <a:pt x="0" y="2364707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M Sans" pitchFamily="2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TextBox 14">
            <a:extLst>
              <a:ext uri="{FF2B5EF4-FFF2-40B4-BE49-F238E27FC236}">
                <a16:creationId xmlns:a16="http://schemas.microsoft.com/office/drawing/2014/main" id="{062E9BCD-7037-17BE-8CEA-6BD31E0765CF}"/>
              </a:ext>
            </a:extLst>
          </p:cNvPr>
          <p:cNvSpPr txBox="1"/>
          <p:nvPr/>
        </p:nvSpPr>
        <p:spPr>
          <a:xfrm>
            <a:off x="584198" y="1026137"/>
            <a:ext cx="11004828" cy="884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45" rtl="0" eaLnBrk="1" fontAlgn="auto" latinLnBrk="0" hangingPunct="1">
              <a:lnSpc>
                <a:spcPts val="68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1" u="none" strike="noStrike" kern="1200" cap="none" spc="-413" normalizeH="0" baseline="0" noProof="0" dirty="0">
                <a:ln>
                  <a:noFill/>
                </a:ln>
                <a:solidFill>
                  <a:srgbClr val="46245A"/>
                </a:solidFill>
                <a:effectLst/>
                <a:uLnTx/>
                <a:uFillTx/>
                <a:latin typeface="DM Sans Bold"/>
                <a:ea typeface="ＭＳ Ｐゴシック" panose="020B0600070205080204" pitchFamily="34" charset="-128"/>
                <a:cs typeface="+mn-cs"/>
              </a:rPr>
              <a:t>Q2.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CDFF84-1DEF-3FA9-8481-7B4B488E4FE9}"/>
              </a:ext>
            </a:extLst>
          </p:cNvPr>
          <p:cNvSpPr txBox="1"/>
          <p:nvPr/>
        </p:nvSpPr>
        <p:spPr>
          <a:xfrm>
            <a:off x="584197" y="2135706"/>
            <a:ext cx="135720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800" b="0" i="0" u="none" strike="noStrike" dirty="0">
                <a:effectLst/>
              </a:rPr>
              <a:t>What are the key climate risks facing the UK? How should policymakers adapt?</a:t>
            </a:r>
          </a:p>
        </p:txBody>
      </p:sp>
    </p:spTree>
    <p:extLst>
      <p:ext uri="{BB962C8B-B14F-4D97-AF65-F5344CB8AC3E}">
        <p14:creationId xmlns:p14="http://schemas.microsoft.com/office/powerpoint/2010/main" val="1941591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31FDA2-3108-00FF-8C35-A5039936A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3">
            <a:extLst>
              <a:ext uri="{FF2B5EF4-FFF2-40B4-BE49-F238E27FC236}">
                <a16:creationId xmlns:a16="http://schemas.microsoft.com/office/drawing/2014/main" id="{4A382149-C04C-7707-2913-4F21D2D48D57}"/>
              </a:ext>
            </a:extLst>
          </p:cNvPr>
          <p:cNvSpPr/>
          <p:nvPr/>
        </p:nvSpPr>
        <p:spPr>
          <a:xfrm>
            <a:off x="14554202" y="557984"/>
            <a:ext cx="3059312" cy="1353014"/>
          </a:xfrm>
          <a:custGeom>
            <a:avLst/>
            <a:gdLst/>
            <a:ahLst/>
            <a:cxnLst/>
            <a:rect l="l" t="t" r="r" b="b"/>
            <a:pathLst>
              <a:path w="5346866" h="2364707">
                <a:moveTo>
                  <a:pt x="0" y="0"/>
                </a:moveTo>
                <a:lnTo>
                  <a:pt x="5346866" y="0"/>
                </a:lnTo>
                <a:lnTo>
                  <a:pt x="5346866" y="2364707"/>
                </a:lnTo>
                <a:lnTo>
                  <a:pt x="0" y="2364707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914490">
              <a:defRPr/>
            </a:pPr>
            <a:endParaRPr lang="en-GB">
              <a:solidFill>
                <a:prstClr val="black"/>
              </a:solidFill>
              <a:latin typeface="DM Sans" pitchFamily="2" charset="0"/>
              <a:ea typeface="MS PGothic" panose="020B0600070205080204" pitchFamily="34" charset="-128"/>
            </a:endParaRPr>
          </a:p>
        </p:txBody>
      </p:sp>
      <p:sp>
        <p:nvSpPr>
          <p:cNvPr id="2" name="TextBox 14">
            <a:extLst>
              <a:ext uri="{FF2B5EF4-FFF2-40B4-BE49-F238E27FC236}">
                <a16:creationId xmlns:a16="http://schemas.microsoft.com/office/drawing/2014/main" id="{51FCC9EA-AB94-6AED-799F-6ECA56623095}"/>
              </a:ext>
            </a:extLst>
          </p:cNvPr>
          <p:cNvSpPr txBox="1"/>
          <p:nvPr/>
        </p:nvSpPr>
        <p:spPr>
          <a:xfrm>
            <a:off x="584198" y="1026138"/>
            <a:ext cx="11004828" cy="884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914490">
              <a:lnSpc>
                <a:spcPts val="6861"/>
              </a:lnSpc>
              <a:defRPr/>
            </a:pPr>
            <a:r>
              <a:rPr lang="en-US" sz="6000" i="1" spc="-413" dirty="0">
                <a:solidFill>
                  <a:prstClr val="white"/>
                </a:solidFill>
                <a:latin typeface="DM Sans Bold"/>
                <a:ea typeface="ＭＳ Ｐゴシック" panose="020B0600070205080204" pitchFamily="34" charset="-128"/>
              </a:rPr>
              <a:t>Q2. </a:t>
            </a:r>
            <a:r>
              <a:rPr lang="en-US" sz="6000" i="1" spc="-413" dirty="0">
                <a:solidFill>
                  <a:srgbClr val="FF0000"/>
                </a:solidFill>
                <a:latin typeface="DM Sans Bold"/>
                <a:ea typeface="ＭＳ Ｐゴシック" panose="020B0600070205080204" pitchFamily="34" charset="-128"/>
              </a:rPr>
              <a:t>Answer </a:t>
            </a:r>
            <a:r>
              <a:rPr lang="en-US" sz="6000" i="1" spc="-413" dirty="0">
                <a:solidFill>
                  <a:prstClr val="white"/>
                </a:solidFill>
                <a:latin typeface="DM Sans Bold"/>
                <a:ea typeface="ＭＳ Ｐゴシック" panose="020B0600070205080204" pitchFamily="34" charset="-128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639E97-BA98-0969-9A80-19E462C203B7}"/>
              </a:ext>
            </a:extLst>
          </p:cNvPr>
          <p:cNvSpPr txBox="1"/>
          <p:nvPr/>
        </p:nvSpPr>
        <p:spPr>
          <a:xfrm>
            <a:off x="584200" y="4333897"/>
            <a:ext cx="106595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45">
              <a:defRPr/>
            </a:pPr>
            <a:br>
              <a:rPr lang="en-GB" dirty="0">
                <a:solidFill>
                  <a:srgbClr val="000000"/>
                </a:solidFill>
                <a:latin typeface="DM Sans"/>
              </a:rPr>
            </a:br>
            <a:endParaRPr lang="en-GB" dirty="0">
              <a:solidFill>
                <a:srgbClr val="000000"/>
              </a:solidFill>
              <a:latin typeface="DM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8FC7B5-6C7B-53F8-DFE0-9D8B4DAD88D6}"/>
              </a:ext>
            </a:extLst>
          </p:cNvPr>
          <p:cNvSpPr txBox="1"/>
          <p:nvPr/>
        </p:nvSpPr>
        <p:spPr>
          <a:xfrm>
            <a:off x="584198" y="2135706"/>
            <a:ext cx="13572069" cy="523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45"/>
            <a:r>
              <a:rPr lang="en-GB" sz="2801" dirty="0">
                <a:solidFill>
                  <a:prstClr val="white"/>
                </a:solidFill>
                <a:latin typeface="DM Sans"/>
              </a:rPr>
              <a:t>What are the key climate risks facing the UK? How should policymakers adapt?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4E18CC-1319-A828-C55D-357950C5C88F}"/>
              </a:ext>
            </a:extLst>
          </p:cNvPr>
          <p:cNvSpPr txBox="1"/>
          <p:nvPr/>
        </p:nvSpPr>
        <p:spPr>
          <a:xfrm>
            <a:off x="584198" y="2883638"/>
            <a:ext cx="17029316" cy="489364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defTabSz="914445"/>
            <a:r>
              <a:rPr lang="en-GB" sz="2400" dirty="0">
                <a:solidFill>
                  <a:srgbClr val="FF0000"/>
                </a:solidFill>
                <a:latin typeface="DM Sans"/>
              </a:rPr>
              <a:t>This can be found in the IPCC worldwide adaptation slide. </a:t>
            </a:r>
          </a:p>
          <a:p>
            <a:pPr defTabSz="914445"/>
            <a:endParaRPr lang="en-GB" sz="2400" dirty="0">
              <a:solidFill>
                <a:srgbClr val="FF0000"/>
              </a:solidFill>
              <a:latin typeface="DM Sans"/>
            </a:endParaRPr>
          </a:p>
          <a:p>
            <a:pPr marL="342917" indent="-342917" defTabSz="914445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0000"/>
                </a:solidFill>
                <a:latin typeface="DM Sans"/>
              </a:rPr>
              <a:t>Flooding: </a:t>
            </a:r>
            <a:r>
              <a:rPr lang="en-GB" sz="2400" dirty="0">
                <a:solidFill>
                  <a:srgbClr val="FF0000"/>
                </a:solidFill>
                <a:latin typeface="DM Sans"/>
              </a:rPr>
              <a:t>Rising sea levels and heavier rainfall increase flood risks. </a:t>
            </a:r>
          </a:p>
          <a:p>
            <a:pPr marL="800141" lvl="1" indent="-342917" defTabSz="914445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FF0000"/>
                </a:solidFill>
                <a:latin typeface="DM Sans"/>
              </a:rPr>
              <a:t>Adaptation: Strengthen flood defences, improve drainage systems, and implement natural flood management (e.g., wetland restoration).</a:t>
            </a:r>
          </a:p>
          <a:p>
            <a:pPr marL="342917" indent="-342917" defTabSz="914445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0000"/>
                </a:solidFill>
                <a:latin typeface="DM Sans"/>
              </a:rPr>
              <a:t>Heatwaves: </a:t>
            </a:r>
            <a:r>
              <a:rPr lang="en-GB" sz="2400" dirty="0">
                <a:solidFill>
                  <a:srgbClr val="FF0000"/>
                </a:solidFill>
                <a:latin typeface="DM Sans"/>
              </a:rPr>
              <a:t>More frequent extreme heat events (think about the UK stats I showed in the lecture as examples)</a:t>
            </a:r>
          </a:p>
          <a:p>
            <a:pPr marL="800141" lvl="1" indent="-342917" defTabSz="914445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FF0000"/>
                </a:solidFill>
                <a:latin typeface="DM Sans"/>
              </a:rPr>
              <a:t>Adaptation: Increase tree cover, improve building insulation, and develop heatwave emergency plans.</a:t>
            </a:r>
          </a:p>
          <a:p>
            <a:pPr marL="342917" indent="-342917" defTabSz="914445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0000"/>
                </a:solidFill>
                <a:latin typeface="DM Sans"/>
              </a:rPr>
              <a:t>Agriculture: </a:t>
            </a:r>
            <a:r>
              <a:rPr lang="en-GB" sz="2400" dirty="0">
                <a:solidFill>
                  <a:srgbClr val="FF0000"/>
                </a:solidFill>
                <a:latin typeface="DM Sans"/>
              </a:rPr>
              <a:t>Droughts threaten crops and food production. </a:t>
            </a:r>
          </a:p>
          <a:p>
            <a:pPr marL="800141" lvl="1" indent="-342917" defTabSz="914445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FF0000"/>
                </a:solidFill>
                <a:latin typeface="DM Sans"/>
              </a:rPr>
              <a:t>Adaptation: Invest in drought-resistant crops, improve water management, change in fertiliser use, and support sustainable farming techniques.</a:t>
            </a:r>
          </a:p>
          <a:p>
            <a:pPr marL="342917" indent="-342917" defTabSz="914445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0000"/>
                </a:solidFill>
                <a:latin typeface="DM Sans"/>
              </a:rPr>
              <a:t>Policy measures: </a:t>
            </a:r>
            <a:r>
              <a:rPr lang="en-GB" sz="2400" dirty="0">
                <a:solidFill>
                  <a:srgbClr val="FF0000"/>
                </a:solidFill>
                <a:latin typeface="DM Sans"/>
              </a:rPr>
              <a:t>Urban areas face rising climate risks in many cases. </a:t>
            </a:r>
          </a:p>
          <a:p>
            <a:pPr marL="800141" lvl="1" indent="-342917" defTabSz="914445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FF0000"/>
                </a:solidFill>
                <a:latin typeface="DM Sans"/>
              </a:rPr>
              <a:t>Adaptation: Expand green spaces, enforce climate-resilient building practices, and invest in early warning systems for extreme weather.</a:t>
            </a:r>
          </a:p>
        </p:txBody>
      </p:sp>
    </p:spTree>
    <p:extLst>
      <p:ext uri="{BB962C8B-B14F-4D97-AF65-F5344CB8AC3E}">
        <p14:creationId xmlns:p14="http://schemas.microsoft.com/office/powerpoint/2010/main" val="1124049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715"/>
    </mc:Choice>
    <mc:Fallback xmlns="">
      <p:transition spd="slow" advTm="12715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E2F57-B849-99E5-58A3-C4EE48EA9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3">
            <a:extLst>
              <a:ext uri="{FF2B5EF4-FFF2-40B4-BE49-F238E27FC236}">
                <a16:creationId xmlns:a16="http://schemas.microsoft.com/office/drawing/2014/main" id="{C9207CCF-5C13-7B0C-4434-B6C1228A8068}"/>
              </a:ext>
            </a:extLst>
          </p:cNvPr>
          <p:cNvSpPr/>
          <p:nvPr/>
        </p:nvSpPr>
        <p:spPr>
          <a:xfrm>
            <a:off x="14147800" y="557983"/>
            <a:ext cx="3059312" cy="1353014"/>
          </a:xfrm>
          <a:custGeom>
            <a:avLst/>
            <a:gdLst/>
            <a:ahLst/>
            <a:cxnLst/>
            <a:rect l="l" t="t" r="r" b="b"/>
            <a:pathLst>
              <a:path w="5346866" h="2364707">
                <a:moveTo>
                  <a:pt x="0" y="0"/>
                </a:moveTo>
                <a:lnTo>
                  <a:pt x="5346866" y="0"/>
                </a:lnTo>
                <a:lnTo>
                  <a:pt x="5346866" y="2364707"/>
                </a:lnTo>
                <a:lnTo>
                  <a:pt x="0" y="2364707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M Sans" pitchFamily="2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TextBox 14">
            <a:extLst>
              <a:ext uri="{FF2B5EF4-FFF2-40B4-BE49-F238E27FC236}">
                <a16:creationId xmlns:a16="http://schemas.microsoft.com/office/drawing/2014/main" id="{A38CD79A-85AB-2137-DFC9-0B7157290482}"/>
              </a:ext>
            </a:extLst>
          </p:cNvPr>
          <p:cNvSpPr txBox="1"/>
          <p:nvPr/>
        </p:nvSpPr>
        <p:spPr>
          <a:xfrm>
            <a:off x="584198" y="1026137"/>
            <a:ext cx="11004828" cy="884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45" rtl="0" eaLnBrk="1" fontAlgn="auto" latinLnBrk="0" hangingPunct="1">
              <a:lnSpc>
                <a:spcPts val="68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1" u="none" strike="noStrike" kern="1200" cap="none" spc="-413" normalizeH="0" baseline="0" noProof="0" dirty="0">
                <a:ln>
                  <a:noFill/>
                </a:ln>
                <a:solidFill>
                  <a:srgbClr val="46245A"/>
                </a:solidFill>
                <a:effectLst/>
                <a:uLnTx/>
                <a:uFillTx/>
                <a:latin typeface="DM Sans Bold"/>
                <a:ea typeface="ＭＳ Ｐゴシック" panose="020B0600070205080204" pitchFamily="34" charset="-128"/>
                <a:cs typeface="+mn-cs"/>
              </a:rPr>
              <a:t>Q3.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B72719-945D-FA52-6351-9DA9B1F8F955}"/>
              </a:ext>
            </a:extLst>
          </p:cNvPr>
          <p:cNvSpPr txBox="1"/>
          <p:nvPr/>
        </p:nvSpPr>
        <p:spPr>
          <a:xfrm>
            <a:off x="584197" y="2135706"/>
            <a:ext cx="1357206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800" b="0" i="0" u="none" strike="noStrike" dirty="0">
                <a:effectLst/>
              </a:rPr>
              <a:t>How might changes in temperature, precipitation, and extreme weather affect food availability and global agricultural productivity?</a:t>
            </a:r>
          </a:p>
        </p:txBody>
      </p:sp>
    </p:spTree>
    <p:extLst>
      <p:ext uri="{BB962C8B-B14F-4D97-AF65-F5344CB8AC3E}">
        <p14:creationId xmlns:p14="http://schemas.microsoft.com/office/powerpoint/2010/main" val="3836625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B48FC2-AD29-5D02-F850-6D0516FE1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3">
            <a:extLst>
              <a:ext uri="{FF2B5EF4-FFF2-40B4-BE49-F238E27FC236}">
                <a16:creationId xmlns:a16="http://schemas.microsoft.com/office/drawing/2014/main" id="{30EC1C92-D6B0-E158-4205-91FF919A87C3}"/>
              </a:ext>
            </a:extLst>
          </p:cNvPr>
          <p:cNvSpPr/>
          <p:nvPr/>
        </p:nvSpPr>
        <p:spPr>
          <a:xfrm>
            <a:off x="14554202" y="557984"/>
            <a:ext cx="3059312" cy="1353014"/>
          </a:xfrm>
          <a:custGeom>
            <a:avLst/>
            <a:gdLst/>
            <a:ahLst/>
            <a:cxnLst/>
            <a:rect l="l" t="t" r="r" b="b"/>
            <a:pathLst>
              <a:path w="5346866" h="2364707">
                <a:moveTo>
                  <a:pt x="0" y="0"/>
                </a:moveTo>
                <a:lnTo>
                  <a:pt x="5346866" y="0"/>
                </a:lnTo>
                <a:lnTo>
                  <a:pt x="5346866" y="2364707"/>
                </a:lnTo>
                <a:lnTo>
                  <a:pt x="0" y="2364707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914490">
              <a:defRPr/>
            </a:pPr>
            <a:endParaRPr lang="en-GB">
              <a:solidFill>
                <a:prstClr val="black"/>
              </a:solidFill>
              <a:latin typeface="DM Sans" pitchFamily="2" charset="0"/>
              <a:ea typeface="MS PGothic" panose="020B0600070205080204" pitchFamily="34" charset="-128"/>
            </a:endParaRPr>
          </a:p>
        </p:txBody>
      </p:sp>
      <p:sp>
        <p:nvSpPr>
          <p:cNvPr id="2" name="TextBox 14">
            <a:extLst>
              <a:ext uri="{FF2B5EF4-FFF2-40B4-BE49-F238E27FC236}">
                <a16:creationId xmlns:a16="http://schemas.microsoft.com/office/drawing/2014/main" id="{B350664D-A186-F81A-E77F-212C0B093E58}"/>
              </a:ext>
            </a:extLst>
          </p:cNvPr>
          <p:cNvSpPr txBox="1"/>
          <p:nvPr/>
        </p:nvSpPr>
        <p:spPr>
          <a:xfrm>
            <a:off x="584198" y="1026138"/>
            <a:ext cx="11004828" cy="884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914490">
              <a:lnSpc>
                <a:spcPts val="6861"/>
              </a:lnSpc>
              <a:defRPr/>
            </a:pPr>
            <a:r>
              <a:rPr lang="en-US" sz="6000" i="1" spc="-413" dirty="0">
                <a:solidFill>
                  <a:prstClr val="white"/>
                </a:solidFill>
                <a:latin typeface="DM Sans Bold"/>
                <a:ea typeface="ＭＳ Ｐゴシック" panose="020B0600070205080204" pitchFamily="34" charset="-128"/>
              </a:rPr>
              <a:t>Q3. </a:t>
            </a:r>
            <a:r>
              <a:rPr lang="en-US" sz="6000" i="1" spc="-413" dirty="0">
                <a:solidFill>
                  <a:srgbClr val="FF0000"/>
                </a:solidFill>
                <a:latin typeface="DM Sans Bold"/>
                <a:ea typeface="ＭＳ Ｐゴシック" panose="020B0600070205080204" pitchFamily="34" charset="-128"/>
              </a:rPr>
              <a:t>Answer </a:t>
            </a:r>
            <a:r>
              <a:rPr lang="en-US" sz="6000" i="1" spc="-413" dirty="0">
                <a:solidFill>
                  <a:prstClr val="white"/>
                </a:solidFill>
                <a:latin typeface="DM Sans Bold"/>
                <a:ea typeface="ＭＳ Ｐゴシック" panose="020B0600070205080204" pitchFamily="34" charset="-128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9F9495-F1FF-0539-4283-E2BBBAADC8D0}"/>
              </a:ext>
            </a:extLst>
          </p:cNvPr>
          <p:cNvSpPr txBox="1"/>
          <p:nvPr/>
        </p:nvSpPr>
        <p:spPr>
          <a:xfrm>
            <a:off x="584200" y="4333897"/>
            <a:ext cx="106595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45">
              <a:defRPr/>
            </a:pPr>
            <a:br>
              <a:rPr lang="en-GB" dirty="0">
                <a:solidFill>
                  <a:srgbClr val="000000"/>
                </a:solidFill>
                <a:latin typeface="DM Sans"/>
              </a:rPr>
            </a:br>
            <a:endParaRPr lang="en-GB" dirty="0">
              <a:solidFill>
                <a:srgbClr val="000000"/>
              </a:solidFill>
              <a:latin typeface="DM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DC69FD-33A9-1201-3CA8-7E593DAD3864}"/>
              </a:ext>
            </a:extLst>
          </p:cNvPr>
          <p:cNvSpPr txBox="1"/>
          <p:nvPr/>
        </p:nvSpPr>
        <p:spPr>
          <a:xfrm>
            <a:off x="584198" y="2135708"/>
            <a:ext cx="13572069" cy="954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45"/>
            <a:r>
              <a:rPr lang="en-GB" sz="2801" dirty="0">
                <a:solidFill>
                  <a:prstClr val="white"/>
                </a:solidFill>
                <a:latin typeface="DM Sans"/>
              </a:rPr>
              <a:t>How might changes in temperature, precipitation, and extreme weather affect food availability and global agricultural productivity?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A3496E-652D-B497-21BB-969A12D1923A}"/>
              </a:ext>
            </a:extLst>
          </p:cNvPr>
          <p:cNvSpPr txBox="1"/>
          <p:nvPr/>
        </p:nvSpPr>
        <p:spPr>
          <a:xfrm>
            <a:off x="584198" y="3596923"/>
            <a:ext cx="17029316" cy="34163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defTabSz="914445"/>
            <a:r>
              <a:rPr lang="en-GB" sz="2400" b="1" dirty="0">
                <a:solidFill>
                  <a:srgbClr val="FF0000"/>
                </a:solidFill>
                <a:latin typeface="DM Sans"/>
              </a:rPr>
              <a:t>Examples from the lectures: </a:t>
            </a:r>
          </a:p>
          <a:p>
            <a:pPr marL="342917" indent="-342917" defTabSz="914445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0000"/>
              </a:solidFill>
              <a:latin typeface="DM Sans"/>
            </a:endParaRPr>
          </a:p>
          <a:p>
            <a:pPr marL="342917" indent="-342917" defTabSz="914445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0000"/>
                </a:solidFill>
                <a:latin typeface="DM Sans"/>
              </a:rPr>
              <a:t>Crop yields:</a:t>
            </a:r>
            <a:r>
              <a:rPr lang="en-GB" sz="2400" dirty="0">
                <a:solidFill>
                  <a:srgbClr val="FF0000"/>
                </a:solidFill>
                <a:latin typeface="DM Sans"/>
              </a:rPr>
              <a:t> Decreased in heat sensitive regions (e.g., maize and wheat losses in South Asia). Not all areas will see yield reductions, some may see increases. </a:t>
            </a:r>
          </a:p>
          <a:p>
            <a:pPr marL="342917" indent="-342917" defTabSz="914445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0000"/>
                </a:solidFill>
                <a:latin typeface="DM Sans"/>
              </a:rPr>
              <a:t>Drought &amp; flooding:</a:t>
            </a:r>
            <a:r>
              <a:rPr lang="en-GB" sz="2400" dirty="0">
                <a:solidFill>
                  <a:srgbClr val="FF0000"/>
                </a:solidFill>
                <a:latin typeface="DM Sans"/>
              </a:rPr>
              <a:t> Affect planting cycles, farming practices and soil quality.</a:t>
            </a:r>
          </a:p>
          <a:p>
            <a:pPr marL="342917" indent="-342917" defTabSz="914445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0000"/>
                </a:solidFill>
                <a:latin typeface="DM Sans"/>
              </a:rPr>
              <a:t>Food security:</a:t>
            </a:r>
            <a:r>
              <a:rPr lang="en-GB" sz="2400" dirty="0">
                <a:solidFill>
                  <a:srgbClr val="FF0000"/>
                </a:solidFill>
                <a:latin typeface="DM Sans"/>
              </a:rPr>
              <a:t> Increased food prices, malnutrition risks in particularly affected areas</a:t>
            </a:r>
          </a:p>
          <a:p>
            <a:pPr marL="342917" indent="-342917" defTabSz="914445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0000"/>
                </a:solidFill>
                <a:latin typeface="DM Sans"/>
              </a:rPr>
              <a:t>Adaptation strategies:</a:t>
            </a:r>
            <a:r>
              <a:rPr lang="en-GB" sz="2400" dirty="0">
                <a:solidFill>
                  <a:srgbClr val="FF0000"/>
                </a:solidFill>
                <a:latin typeface="DM Sans"/>
              </a:rPr>
              <a:t> Climate-resilient farming, crop diversification, agroforestry. Lots covered in week 10. </a:t>
            </a:r>
          </a:p>
          <a:p>
            <a:pPr marL="342917" indent="-342917" defTabSz="914445">
              <a:buFont typeface="Arial" panose="020B0604020202020204" pitchFamily="34" charset="0"/>
              <a:buChar char="•"/>
            </a:pPr>
            <a:endParaRPr lang="en-GB" sz="2400" dirty="0">
              <a:solidFill>
                <a:srgbClr val="FF0000"/>
              </a:solidFill>
              <a:latin typeface="DM Sans"/>
            </a:endParaRPr>
          </a:p>
          <a:p>
            <a:pPr defTabSz="914445"/>
            <a:r>
              <a:rPr lang="en-GB" sz="2400" dirty="0">
                <a:solidFill>
                  <a:srgbClr val="FF0000"/>
                </a:solidFill>
                <a:latin typeface="DM Sans"/>
              </a:rPr>
              <a:t>Can any more be added?</a:t>
            </a:r>
          </a:p>
        </p:txBody>
      </p:sp>
    </p:spTree>
    <p:extLst>
      <p:ext uri="{BB962C8B-B14F-4D97-AF65-F5344CB8AC3E}">
        <p14:creationId xmlns:p14="http://schemas.microsoft.com/office/powerpoint/2010/main" val="2912650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715"/>
    </mc:Choice>
    <mc:Fallback xmlns="">
      <p:transition spd="slow" advTm="12715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D3133-0D27-AEEE-952E-92714AEF6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3">
            <a:extLst>
              <a:ext uri="{FF2B5EF4-FFF2-40B4-BE49-F238E27FC236}">
                <a16:creationId xmlns:a16="http://schemas.microsoft.com/office/drawing/2014/main" id="{7E2F0F82-983B-BA72-43D6-A3284D0FFF42}"/>
              </a:ext>
            </a:extLst>
          </p:cNvPr>
          <p:cNvSpPr/>
          <p:nvPr/>
        </p:nvSpPr>
        <p:spPr>
          <a:xfrm>
            <a:off x="14147800" y="557983"/>
            <a:ext cx="3059312" cy="1353014"/>
          </a:xfrm>
          <a:custGeom>
            <a:avLst/>
            <a:gdLst/>
            <a:ahLst/>
            <a:cxnLst/>
            <a:rect l="l" t="t" r="r" b="b"/>
            <a:pathLst>
              <a:path w="5346866" h="2364707">
                <a:moveTo>
                  <a:pt x="0" y="0"/>
                </a:moveTo>
                <a:lnTo>
                  <a:pt x="5346866" y="0"/>
                </a:lnTo>
                <a:lnTo>
                  <a:pt x="5346866" y="2364707"/>
                </a:lnTo>
                <a:lnTo>
                  <a:pt x="0" y="2364707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M Sans" pitchFamily="2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TextBox 14">
            <a:extLst>
              <a:ext uri="{FF2B5EF4-FFF2-40B4-BE49-F238E27FC236}">
                <a16:creationId xmlns:a16="http://schemas.microsoft.com/office/drawing/2014/main" id="{617B0C40-BBDA-43F8-15A0-A9281D5D239C}"/>
              </a:ext>
            </a:extLst>
          </p:cNvPr>
          <p:cNvSpPr txBox="1"/>
          <p:nvPr/>
        </p:nvSpPr>
        <p:spPr>
          <a:xfrm>
            <a:off x="584198" y="1026137"/>
            <a:ext cx="11004828" cy="884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45" rtl="0" eaLnBrk="1" fontAlgn="auto" latinLnBrk="0" hangingPunct="1">
              <a:lnSpc>
                <a:spcPts val="68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1" u="none" strike="noStrike" kern="1200" cap="none" spc="-413" normalizeH="0" baseline="0" noProof="0" dirty="0">
                <a:ln>
                  <a:noFill/>
                </a:ln>
                <a:solidFill>
                  <a:srgbClr val="46245A"/>
                </a:solidFill>
                <a:effectLst/>
                <a:uLnTx/>
                <a:uFillTx/>
                <a:latin typeface="DM Sans Bold"/>
                <a:ea typeface="ＭＳ Ｐゴシック" panose="020B0600070205080204" pitchFamily="34" charset="-128"/>
                <a:cs typeface="+mn-cs"/>
              </a:rPr>
              <a:t>Q4.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17026C-CA8B-C122-DC92-1ED24B28661B}"/>
              </a:ext>
            </a:extLst>
          </p:cNvPr>
          <p:cNvSpPr txBox="1"/>
          <p:nvPr/>
        </p:nvSpPr>
        <p:spPr>
          <a:xfrm>
            <a:off x="584197" y="2135706"/>
            <a:ext cx="1357206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800" b="0" i="0" u="none" strike="noStrike" dirty="0">
                <a:effectLst/>
              </a:rPr>
              <a:t>How does climate change disproportionately affect vulnerable populations, such as Indigenous communities, low-income households, and developing nations?</a:t>
            </a:r>
          </a:p>
        </p:txBody>
      </p:sp>
    </p:spTree>
    <p:extLst>
      <p:ext uri="{BB962C8B-B14F-4D97-AF65-F5344CB8AC3E}">
        <p14:creationId xmlns:p14="http://schemas.microsoft.com/office/powerpoint/2010/main" val="4037872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90D987-4E2A-D12D-26AF-9279B5057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3">
            <a:extLst>
              <a:ext uri="{FF2B5EF4-FFF2-40B4-BE49-F238E27FC236}">
                <a16:creationId xmlns:a16="http://schemas.microsoft.com/office/drawing/2014/main" id="{3CD48D6B-3C3D-825D-21E5-C51A3A2C2CFD}"/>
              </a:ext>
            </a:extLst>
          </p:cNvPr>
          <p:cNvSpPr/>
          <p:nvPr/>
        </p:nvSpPr>
        <p:spPr>
          <a:xfrm>
            <a:off x="14554202" y="557984"/>
            <a:ext cx="3059312" cy="1353014"/>
          </a:xfrm>
          <a:custGeom>
            <a:avLst/>
            <a:gdLst/>
            <a:ahLst/>
            <a:cxnLst/>
            <a:rect l="l" t="t" r="r" b="b"/>
            <a:pathLst>
              <a:path w="5346866" h="2364707">
                <a:moveTo>
                  <a:pt x="0" y="0"/>
                </a:moveTo>
                <a:lnTo>
                  <a:pt x="5346866" y="0"/>
                </a:lnTo>
                <a:lnTo>
                  <a:pt x="5346866" y="2364707"/>
                </a:lnTo>
                <a:lnTo>
                  <a:pt x="0" y="2364707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914490">
              <a:defRPr/>
            </a:pPr>
            <a:endParaRPr lang="en-GB">
              <a:solidFill>
                <a:prstClr val="black"/>
              </a:solidFill>
              <a:latin typeface="DM Sans" pitchFamily="2" charset="0"/>
              <a:ea typeface="MS PGothic" panose="020B0600070205080204" pitchFamily="34" charset="-128"/>
            </a:endParaRPr>
          </a:p>
        </p:txBody>
      </p:sp>
      <p:sp>
        <p:nvSpPr>
          <p:cNvPr id="2" name="TextBox 14">
            <a:extLst>
              <a:ext uri="{FF2B5EF4-FFF2-40B4-BE49-F238E27FC236}">
                <a16:creationId xmlns:a16="http://schemas.microsoft.com/office/drawing/2014/main" id="{A44BBFEC-E0FC-CC7F-C5F4-DA4309B5A26F}"/>
              </a:ext>
            </a:extLst>
          </p:cNvPr>
          <p:cNvSpPr txBox="1"/>
          <p:nvPr/>
        </p:nvSpPr>
        <p:spPr>
          <a:xfrm>
            <a:off x="584198" y="1026138"/>
            <a:ext cx="11004828" cy="884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914490">
              <a:lnSpc>
                <a:spcPts val="6861"/>
              </a:lnSpc>
              <a:defRPr/>
            </a:pPr>
            <a:r>
              <a:rPr lang="en-US" sz="6000" i="1" spc="-413" dirty="0">
                <a:solidFill>
                  <a:prstClr val="white"/>
                </a:solidFill>
                <a:latin typeface="DM Sans Bold"/>
                <a:ea typeface="ＭＳ Ｐゴシック" panose="020B0600070205080204" pitchFamily="34" charset="-128"/>
              </a:rPr>
              <a:t>Q4. </a:t>
            </a:r>
            <a:r>
              <a:rPr lang="en-US" sz="6000" i="1" spc="-413" dirty="0">
                <a:solidFill>
                  <a:srgbClr val="FF0000"/>
                </a:solidFill>
                <a:latin typeface="DM Sans Bold"/>
                <a:ea typeface="ＭＳ Ｐゴシック" panose="020B0600070205080204" pitchFamily="34" charset="-128"/>
              </a:rPr>
              <a:t>Answer </a:t>
            </a:r>
            <a:r>
              <a:rPr lang="en-US" sz="6000" i="1" spc="-413" dirty="0">
                <a:solidFill>
                  <a:prstClr val="white"/>
                </a:solidFill>
                <a:latin typeface="DM Sans Bold"/>
                <a:ea typeface="ＭＳ Ｐゴシック" panose="020B0600070205080204" pitchFamily="34" charset="-128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97C484-E8CB-8C31-C10D-C1342CF75982}"/>
              </a:ext>
            </a:extLst>
          </p:cNvPr>
          <p:cNvSpPr txBox="1"/>
          <p:nvPr/>
        </p:nvSpPr>
        <p:spPr>
          <a:xfrm>
            <a:off x="584200" y="4333897"/>
            <a:ext cx="106595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45">
              <a:defRPr/>
            </a:pPr>
            <a:br>
              <a:rPr lang="en-GB" dirty="0">
                <a:solidFill>
                  <a:srgbClr val="000000"/>
                </a:solidFill>
                <a:latin typeface="DM Sans"/>
              </a:rPr>
            </a:br>
            <a:endParaRPr lang="en-GB" dirty="0">
              <a:solidFill>
                <a:srgbClr val="000000"/>
              </a:solidFill>
              <a:latin typeface="DM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D21EE2-4A9B-4D45-A7FF-A5605C69F451}"/>
              </a:ext>
            </a:extLst>
          </p:cNvPr>
          <p:cNvSpPr txBox="1"/>
          <p:nvPr/>
        </p:nvSpPr>
        <p:spPr>
          <a:xfrm>
            <a:off x="584198" y="2135708"/>
            <a:ext cx="13572069" cy="954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45"/>
            <a:r>
              <a:rPr lang="en-GB" sz="2801" dirty="0">
                <a:solidFill>
                  <a:prstClr val="white"/>
                </a:solidFill>
                <a:latin typeface="DM Sans"/>
              </a:rPr>
              <a:t>How does climate change disproportionately affect vulnerable populations, such as Indigenous communities, low-income households, and developing nations?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529E9-3F9A-2F03-FF65-3C23E731AFE6}"/>
              </a:ext>
            </a:extLst>
          </p:cNvPr>
          <p:cNvSpPr txBox="1"/>
          <p:nvPr/>
        </p:nvSpPr>
        <p:spPr>
          <a:xfrm>
            <a:off x="584198" y="3549066"/>
            <a:ext cx="17029316" cy="230832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17" indent="-342917" defTabSz="914445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0000"/>
                </a:solidFill>
                <a:latin typeface="DM Sans"/>
              </a:rPr>
              <a:t>Financial burden: </a:t>
            </a:r>
            <a:r>
              <a:rPr lang="en-GB" sz="2400" dirty="0">
                <a:solidFill>
                  <a:srgbClr val="FF0000"/>
                </a:solidFill>
                <a:latin typeface="DM Sans"/>
              </a:rPr>
              <a:t>Poorer communities have fewer resources to recover from climate disasters and often least well able to adapt</a:t>
            </a:r>
          </a:p>
          <a:p>
            <a:pPr marL="342917" indent="-342917" defTabSz="914445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0000"/>
                </a:solidFill>
                <a:latin typeface="DM Sans"/>
              </a:rPr>
              <a:t>Relocation risks: </a:t>
            </a:r>
            <a:r>
              <a:rPr lang="en-GB" sz="2400" dirty="0">
                <a:solidFill>
                  <a:srgbClr val="FF0000"/>
                </a:solidFill>
                <a:latin typeface="DM Sans"/>
              </a:rPr>
              <a:t>Coastal and island communities face displacement. This could also be due to economics (e.g. water quality affecting fishing productivity) </a:t>
            </a:r>
          </a:p>
          <a:p>
            <a:pPr marL="342917" indent="-342917" defTabSz="914445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0000"/>
                </a:solidFill>
                <a:latin typeface="DM Sans"/>
              </a:rPr>
              <a:t>Health disparities: </a:t>
            </a:r>
            <a:r>
              <a:rPr lang="en-GB" sz="2400" dirty="0">
                <a:solidFill>
                  <a:srgbClr val="FF0000"/>
                </a:solidFill>
                <a:latin typeface="DM Sans"/>
              </a:rPr>
              <a:t>Poor air quality and extreme heat disproportionately affect low-income urban populations.</a:t>
            </a:r>
          </a:p>
          <a:p>
            <a:pPr marL="342917" indent="-342917" defTabSz="914445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0000"/>
                </a:solidFill>
                <a:latin typeface="DM Sans"/>
              </a:rPr>
              <a:t>Policy solutions: </a:t>
            </a:r>
            <a:r>
              <a:rPr lang="en-GB" sz="2400" dirty="0">
                <a:solidFill>
                  <a:srgbClr val="FF0000"/>
                </a:solidFill>
                <a:latin typeface="DM Sans"/>
              </a:rPr>
              <a:t>Climate frameworks, equitable adaptation funding (see the Paris Agreement for more details) </a:t>
            </a:r>
          </a:p>
        </p:txBody>
      </p:sp>
    </p:spTree>
    <p:extLst>
      <p:ext uri="{BB962C8B-B14F-4D97-AF65-F5344CB8AC3E}">
        <p14:creationId xmlns:p14="http://schemas.microsoft.com/office/powerpoint/2010/main" val="2988392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715"/>
    </mc:Choice>
    <mc:Fallback xmlns="">
      <p:transition spd="slow" advTm="12715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E2C90-1E78-7D7F-2321-2334D0D40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3">
            <a:extLst>
              <a:ext uri="{FF2B5EF4-FFF2-40B4-BE49-F238E27FC236}">
                <a16:creationId xmlns:a16="http://schemas.microsoft.com/office/drawing/2014/main" id="{AA2664EB-7C17-48F3-AC8E-5E52C807AEE0}"/>
              </a:ext>
            </a:extLst>
          </p:cNvPr>
          <p:cNvSpPr/>
          <p:nvPr/>
        </p:nvSpPr>
        <p:spPr>
          <a:xfrm>
            <a:off x="14147800" y="557983"/>
            <a:ext cx="3059312" cy="1353014"/>
          </a:xfrm>
          <a:custGeom>
            <a:avLst/>
            <a:gdLst/>
            <a:ahLst/>
            <a:cxnLst/>
            <a:rect l="l" t="t" r="r" b="b"/>
            <a:pathLst>
              <a:path w="5346866" h="2364707">
                <a:moveTo>
                  <a:pt x="0" y="0"/>
                </a:moveTo>
                <a:lnTo>
                  <a:pt x="5346866" y="0"/>
                </a:lnTo>
                <a:lnTo>
                  <a:pt x="5346866" y="2364707"/>
                </a:lnTo>
                <a:lnTo>
                  <a:pt x="0" y="2364707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M Sans" pitchFamily="2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TextBox 14">
            <a:extLst>
              <a:ext uri="{FF2B5EF4-FFF2-40B4-BE49-F238E27FC236}">
                <a16:creationId xmlns:a16="http://schemas.microsoft.com/office/drawing/2014/main" id="{2A1AF2F7-58C0-D540-883F-6912D1B79829}"/>
              </a:ext>
            </a:extLst>
          </p:cNvPr>
          <p:cNvSpPr txBox="1"/>
          <p:nvPr/>
        </p:nvSpPr>
        <p:spPr>
          <a:xfrm>
            <a:off x="584198" y="1026137"/>
            <a:ext cx="11004828" cy="884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45" rtl="0" eaLnBrk="1" fontAlgn="auto" latinLnBrk="0" hangingPunct="1">
              <a:lnSpc>
                <a:spcPts val="68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1" u="none" strike="noStrike" kern="1200" cap="none" spc="-413" normalizeH="0" baseline="0" noProof="0" dirty="0">
                <a:ln>
                  <a:noFill/>
                </a:ln>
                <a:solidFill>
                  <a:srgbClr val="46245A"/>
                </a:solidFill>
                <a:effectLst/>
                <a:uLnTx/>
                <a:uFillTx/>
                <a:latin typeface="DM Sans Bold"/>
                <a:ea typeface="ＭＳ Ｐゴシック" panose="020B0600070205080204" pitchFamily="34" charset="-128"/>
                <a:cs typeface="+mn-cs"/>
              </a:rPr>
              <a:t>Q5.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047CB6-15DA-69BD-DEA1-8F94237CE107}"/>
              </a:ext>
            </a:extLst>
          </p:cNvPr>
          <p:cNvSpPr txBox="1"/>
          <p:nvPr/>
        </p:nvSpPr>
        <p:spPr>
          <a:xfrm>
            <a:off x="584197" y="2135706"/>
            <a:ext cx="1357206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800" b="0" i="0" u="none" strike="noStrike" dirty="0">
                <a:effectLst/>
              </a:rPr>
              <a:t>What are the key differences between RCP2.6, RCP4.5, RCP6.0, and RCP8.5? What policy choices can push us toward the lower emissions scenarios?</a:t>
            </a:r>
          </a:p>
        </p:txBody>
      </p:sp>
    </p:spTree>
    <p:extLst>
      <p:ext uri="{BB962C8B-B14F-4D97-AF65-F5344CB8AC3E}">
        <p14:creationId xmlns:p14="http://schemas.microsoft.com/office/powerpoint/2010/main" val="4160396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B9B241-B217-C113-27E6-782A8096C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3">
            <a:extLst>
              <a:ext uri="{FF2B5EF4-FFF2-40B4-BE49-F238E27FC236}">
                <a16:creationId xmlns:a16="http://schemas.microsoft.com/office/drawing/2014/main" id="{E8531B47-BD5E-14B9-4005-D5F428BA3DD0}"/>
              </a:ext>
            </a:extLst>
          </p:cNvPr>
          <p:cNvSpPr/>
          <p:nvPr/>
        </p:nvSpPr>
        <p:spPr>
          <a:xfrm>
            <a:off x="14554202" y="557984"/>
            <a:ext cx="3059312" cy="1353014"/>
          </a:xfrm>
          <a:custGeom>
            <a:avLst/>
            <a:gdLst/>
            <a:ahLst/>
            <a:cxnLst/>
            <a:rect l="l" t="t" r="r" b="b"/>
            <a:pathLst>
              <a:path w="5346866" h="2364707">
                <a:moveTo>
                  <a:pt x="0" y="0"/>
                </a:moveTo>
                <a:lnTo>
                  <a:pt x="5346866" y="0"/>
                </a:lnTo>
                <a:lnTo>
                  <a:pt x="5346866" y="2364707"/>
                </a:lnTo>
                <a:lnTo>
                  <a:pt x="0" y="2364707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914490">
              <a:defRPr/>
            </a:pPr>
            <a:endParaRPr lang="en-GB">
              <a:solidFill>
                <a:prstClr val="black"/>
              </a:solidFill>
              <a:latin typeface="DM Sans" pitchFamily="2" charset="0"/>
              <a:ea typeface="MS PGothic" panose="020B0600070205080204" pitchFamily="34" charset="-128"/>
            </a:endParaRPr>
          </a:p>
        </p:txBody>
      </p:sp>
      <p:sp>
        <p:nvSpPr>
          <p:cNvPr id="2" name="TextBox 14">
            <a:extLst>
              <a:ext uri="{FF2B5EF4-FFF2-40B4-BE49-F238E27FC236}">
                <a16:creationId xmlns:a16="http://schemas.microsoft.com/office/drawing/2014/main" id="{D53E6490-929D-52D5-E4E6-233BD497C51B}"/>
              </a:ext>
            </a:extLst>
          </p:cNvPr>
          <p:cNvSpPr txBox="1"/>
          <p:nvPr/>
        </p:nvSpPr>
        <p:spPr>
          <a:xfrm>
            <a:off x="584198" y="1026138"/>
            <a:ext cx="11004828" cy="884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914490">
              <a:lnSpc>
                <a:spcPts val="6861"/>
              </a:lnSpc>
              <a:defRPr/>
            </a:pPr>
            <a:r>
              <a:rPr lang="en-US" sz="6000" i="1" spc="-413" dirty="0">
                <a:solidFill>
                  <a:prstClr val="white"/>
                </a:solidFill>
                <a:latin typeface="DM Sans Bold"/>
                <a:ea typeface="ＭＳ Ｐゴシック" panose="020B0600070205080204" pitchFamily="34" charset="-128"/>
              </a:rPr>
              <a:t>Q5. </a:t>
            </a:r>
            <a:r>
              <a:rPr lang="en-US" sz="6000" i="1" spc="-413" dirty="0">
                <a:solidFill>
                  <a:srgbClr val="FF0000"/>
                </a:solidFill>
                <a:latin typeface="DM Sans Bold"/>
                <a:ea typeface="ＭＳ Ｐゴシック" panose="020B0600070205080204" pitchFamily="34" charset="-128"/>
              </a:rPr>
              <a:t>Answer </a:t>
            </a:r>
            <a:r>
              <a:rPr lang="en-US" sz="6000" i="1" spc="-413" dirty="0">
                <a:solidFill>
                  <a:prstClr val="white"/>
                </a:solidFill>
                <a:latin typeface="DM Sans Bold"/>
                <a:ea typeface="ＭＳ Ｐゴシック" panose="020B0600070205080204" pitchFamily="34" charset="-128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3389FF-BF50-82CA-D791-B7488DC4400A}"/>
              </a:ext>
            </a:extLst>
          </p:cNvPr>
          <p:cNvSpPr txBox="1"/>
          <p:nvPr/>
        </p:nvSpPr>
        <p:spPr>
          <a:xfrm>
            <a:off x="584200" y="4333897"/>
            <a:ext cx="106595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45">
              <a:defRPr/>
            </a:pPr>
            <a:br>
              <a:rPr lang="en-GB" dirty="0">
                <a:solidFill>
                  <a:srgbClr val="000000"/>
                </a:solidFill>
                <a:latin typeface="DM Sans"/>
              </a:rPr>
            </a:br>
            <a:endParaRPr lang="en-GB" dirty="0">
              <a:solidFill>
                <a:srgbClr val="000000"/>
              </a:solidFill>
              <a:latin typeface="DM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041F74-96D1-A247-0104-F878F34494E0}"/>
              </a:ext>
            </a:extLst>
          </p:cNvPr>
          <p:cNvSpPr txBox="1"/>
          <p:nvPr/>
        </p:nvSpPr>
        <p:spPr>
          <a:xfrm>
            <a:off x="584198" y="2135708"/>
            <a:ext cx="13572069" cy="954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45"/>
            <a:r>
              <a:rPr lang="en-GB" sz="2801" dirty="0">
                <a:solidFill>
                  <a:prstClr val="white"/>
                </a:solidFill>
                <a:latin typeface="DM Sans"/>
              </a:rPr>
              <a:t>What are the key differences between RCP2.6, RCP4.5, RCP6.0, and RCP8.5? What policy choices can push us toward the lower emissions scenarios?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37626F-B371-1432-00FF-30F801F181D7}"/>
              </a:ext>
            </a:extLst>
          </p:cNvPr>
          <p:cNvSpPr txBox="1"/>
          <p:nvPr/>
        </p:nvSpPr>
        <p:spPr>
          <a:xfrm>
            <a:off x="584198" y="3549066"/>
            <a:ext cx="17029316" cy="267765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17" indent="-342917" defTabSz="914445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0000"/>
                </a:solidFill>
                <a:latin typeface="DM Sans"/>
              </a:rPr>
              <a:t>RCP2.6:</a:t>
            </a:r>
            <a:r>
              <a:rPr lang="en-GB" sz="2400" dirty="0">
                <a:solidFill>
                  <a:srgbClr val="FF0000"/>
                </a:solidFill>
                <a:latin typeface="DM Sans"/>
              </a:rPr>
              <a:t> Requires drastic emission cuts, net-zero targets, aggressive mitigation (Paris Agreement goal), but note there is now an RCP1.9 as mentioned in the lecture</a:t>
            </a:r>
          </a:p>
          <a:p>
            <a:pPr marL="342917" indent="-342917" defTabSz="914445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0000"/>
                </a:solidFill>
                <a:latin typeface="DM Sans"/>
              </a:rPr>
              <a:t>RCP4.5 &amp; RCP6.0:</a:t>
            </a:r>
            <a:r>
              <a:rPr lang="en-GB" sz="2400" dirty="0">
                <a:solidFill>
                  <a:srgbClr val="FF0000"/>
                </a:solidFill>
                <a:latin typeface="DM Sans"/>
              </a:rPr>
              <a:t> Intermediate scenarios with partial mitigation; likely warming of 2-3°C.</a:t>
            </a:r>
          </a:p>
          <a:p>
            <a:pPr marL="342917" indent="-342917" defTabSz="914445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0000"/>
                </a:solidFill>
                <a:latin typeface="DM Sans"/>
              </a:rPr>
              <a:t>RCP8.5:</a:t>
            </a:r>
            <a:r>
              <a:rPr lang="en-GB" sz="2400" dirty="0">
                <a:solidFill>
                  <a:srgbClr val="FF0000"/>
                </a:solidFill>
                <a:latin typeface="DM Sans"/>
              </a:rPr>
              <a:t> High emissions, worst-case/business as normal scenario (warming &gt;4°C).</a:t>
            </a:r>
          </a:p>
          <a:p>
            <a:pPr marL="342917" indent="-342917" defTabSz="914445">
              <a:buFont typeface="Arial" panose="020B0604020202020204" pitchFamily="34" charset="0"/>
              <a:buChar char="•"/>
            </a:pPr>
            <a:endParaRPr lang="en-GB" sz="2400" dirty="0">
              <a:solidFill>
                <a:srgbClr val="FF0000"/>
              </a:solidFill>
              <a:latin typeface="DM Sans"/>
            </a:endParaRPr>
          </a:p>
          <a:p>
            <a:pPr marL="342917" indent="-342917" defTabSz="914445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0000"/>
                </a:solidFill>
                <a:latin typeface="DM Sans"/>
              </a:rPr>
              <a:t>Policy solutions:</a:t>
            </a:r>
            <a:r>
              <a:rPr lang="en-GB" sz="2400" dirty="0">
                <a:solidFill>
                  <a:srgbClr val="FF0000"/>
                </a:solidFill>
                <a:latin typeface="DM Sans"/>
              </a:rPr>
              <a:t> Renewable energy adoption, energy production, reforestation (see lecture 9 for mitigations for a range of economic sectors) </a:t>
            </a:r>
            <a:endParaRPr lang="en-US" sz="2400" dirty="0">
              <a:solidFill>
                <a:srgbClr val="FF0000"/>
              </a:solidFill>
              <a:latin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2062460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715"/>
    </mc:Choice>
    <mc:Fallback xmlns="">
      <p:transition spd="slow" advTm="12715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A707C-10D4-1472-4766-F7B907E4C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3">
            <a:extLst>
              <a:ext uri="{FF2B5EF4-FFF2-40B4-BE49-F238E27FC236}">
                <a16:creationId xmlns:a16="http://schemas.microsoft.com/office/drawing/2014/main" id="{9B1587C1-515F-A6A7-77C0-85C2B1E25A45}"/>
              </a:ext>
            </a:extLst>
          </p:cNvPr>
          <p:cNvSpPr/>
          <p:nvPr/>
        </p:nvSpPr>
        <p:spPr>
          <a:xfrm>
            <a:off x="14147800" y="557983"/>
            <a:ext cx="3059312" cy="1353014"/>
          </a:xfrm>
          <a:custGeom>
            <a:avLst/>
            <a:gdLst/>
            <a:ahLst/>
            <a:cxnLst/>
            <a:rect l="l" t="t" r="r" b="b"/>
            <a:pathLst>
              <a:path w="5346866" h="2364707">
                <a:moveTo>
                  <a:pt x="0" y="0"/>
                </a:moveTo>
                <a:lnTo>
                  <a:pt x="5346866" y="0"/>
                </a:lnTo>
                <a:lnTo>
                  <a:pt x="5346866" y="2364707"/>
                </a:lnTo>
                <a:lnTo>
                  <a:pt x="0" y="2364707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M Sans" pitchFamily="2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TextBox 14">
            <a:extLst>
              <a:ext uri="{FF2B5EF4-FFF2-40B4-BE49-F238E27FC236}">
                <a16:creationId xmlns:a16="http://schemas.microsoft.com/office/drawing/2014/main" id="{4DACAE3F-3AD9-567D-391F-86C3A9704C24}"/>
              </a:ext>
            </a:extLst>
          </p:cNvPr>
          <p:cNvSpPr txBox="1"/>
          <p:nvPr/>
        </p:nvSpPr>
        <p:spPr>
          <a:xfrm>
            <a:off x="584198" y="1026137"/>
            <a:ext cx="11004828" cy="884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45" rtl="0" eaLnBrk="1" fontAlgn="auto" latinLnBrk="0" hangingPunct="1">
              <a:lnSpc>
                <a:spcPts val="68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1" u="none" strike="noStrike" kern="1200" cap="none" spc="-413" normalizeH="0" baseline="0" noProof="0" dirty="0">
                <a:ln>
                  <a:noFill/>
                </a:ln>
                <a:solidFill>
                  <a:srgbClr val="46245A"/>
                </a:solidFill>
                <a:effectLst/>
                <a:uLnTx/>
                <a:uFillTx/>
                <a:latin typeface="DM Sans Bold"/>
                <a:ea typeface="ＭＳ Ｐゴシック" panose="020B0600070205080204" pitchFamily="34" charset="-128"/>
                <a:cs typeface="+mn-cs"/>
              </a:rPr>
              <a:t>Q6.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F874F5-5843-BF94-A384-D6D7F0CBD73E}"/>
              </a:ext>
            </a:extLst>
          </p:cNvPr>
          <p:cNvSpPr txBox="1"/>
          <p:nvPr/>
        </p:nvSpPr>
        <p:spPr>
          <a:xfrm>
            <a:off x="584197" y="2135706"/>
            <a:ext cx="1357206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800" b="0" i="0" u="none" strike="noStrike" dirty="0">
                <a:effectLst/>
              </a:rPr>
              <a:t>How do increasing global temperatures contribute to extreme weather events such as hurricanes, heatwaves, and flooding? Give specific examples.</a:t>
            </a:r>
          </a:p>
        </p:txBody>
      </p:sp>
    </p:spTree>
    <p:extLst>
      <p:ext uri="{BB962C8B-B14F-4D97-AF65-F5344CB8AC3E}">
        <p14:creationId xmlns:p14="http://schemas.microsoft.com/office/powerpoint/2010/main" val="23111559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4431EE-9514-A3A0-4932-97AA952F1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3">
            <a:extLst>
              <a:ext uri="{FF2B5EF4-FFF2-40B4-BE49-F238E27FC236}">
                <a16:creationId xmlns:a16="http://schemas.microsoft.com/office/drawing/2014/main" id="{21731A3A-7D0E-7200-EBFC-0E819146FA05}"/>
              </a:ext>
            </a:extLst>
          </p:cNvPr>
          <p:cNvSpPr/>
          <p:nvPr/>
        </p:nvSpPr>
        <p:spPr>
          <a:xfrm>
            <a:off x="14554202" y="557984"/>
            <a:ext cx="3059312" cy="1353014"/>
          </a:xfrm>
          <a:custGeom>
            <a:avLst/>
            <a:gdLst/>
            <a:ahLst/>
            <a:cxnLst/>
            <a:rect l="l" t="t" r="r" b="b"/>
            <a:pathLst>
              <a:path w="5346866" h="2364707">
                <a:moveTo>
                  <a:pt x="0" y="0"/>
                </a:moveTo>
                <a:lnTo>
                  <a:pt x="5346866" y="0"/>
                </a:lnTo>
                <a:lnTo>
                  <a:pt x="5346866" y="2364707"/>
                </a:lnTo>
                <a:lnTo>
                  <a:pt x="0" y="2364707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914490">
              <a:defRPr/>
            </a:pPr>
            <a:endParaRPr lang="en-GB">
              <a:solidFill>
                <a:prstClr val="black"/>
              </a:solidFill>
              <a:latin typeface="DM Sans" pitchFamily="2" charset="0"/>
              <a:ea typeface="MS PGothic" panose="020B0600070205080204" pitchFamily="34" charset="-128"/>
            </a:endParaRPr>
          </a:p>
        </p:txBody>
      </p:sp>
      <p:sp>
        <p:nvSpPr>
          <p:cNvPr id="2" name="TextBox 14">
            <a:extLst>
              <a:ext uri="{FF2B5EF4-FFF2-40B4-BE49-F238E27FC236}">
                <a16:creationId xmlns:a16="http://schemas.microsoft.com/office/drawing/2014/main" id="{16E55AA7-7CE5-579B-A841-5B24508C089E}"/>
              </a:ext>
            </a:extLst>
          </p:cNvPr>
          <p:cNvSpPr txBox="1"/>
          <p:nvPr/>
        </p:nvSpPr>
        <p:spPr>
          <a:xfrm>
            <a:off x="584198" y="1026138"/>
            <a:ext cx="11004828" cy="884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914490">
              <a:lnSpc>
                <a:spcPts val="6861"/>
              </a:lnSpc>
              <a:defRPr/>
            </a:pPr>
            <a:r>
              <a:rPr lang="en-US" sz="6000" i="1" spc="-413" dirty="0">
                <a:solidFill>
                  <a:prstClr val="white"/>
                </a:solidFill>
                <a:latin typeface="DM Sans Bold"/>
                <a:ea typeface="ＭＳ Ｐゴシック" panose="020B0600070205080204" pitchFamily="34" charset="-128"/>
              </a:rPr>
              <a:t>Q6. </a:t>
            </a:r>
            <a:r>
              <a:rPr lang="en-US" sz="6000" i="1" spc="-413" dirty="0">
                <a:solidFill>
                  <a:srgbClr val="FF0000"/>
                </a:solidFill>
                <a:latin typeface="DM Sans Bold"/>
                <a:ea typeface="ＭＳ Ｐゴシック" panose="020B0600070205080204" pitchFamily="34" charset="-128"/>
              </a:rPr>
              <a:t>Answer </a:t>
            </a:r>
            <a:r>
              <a:rPr lang="en-US" sz="6000" i="1" spc="-413" dirty="0">
                <a:solidFill>
                  <a:prstClr val="white"/>
                </a:solidFill>
                <a:latin typeface="DM Sans Bold"/>
                <a:ea typeface="ＭＳ Ｐゴシック" panose="020B0600070205080204" pitchFamily="34" charset="-128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DC5863-F56A-F625-CB7D-28E9CCA978D6}"/>
              </a:ext>
            </a:extLst>
          </p:cNvPr>
          <p:cNvSpPr txBox="1"/>
          <p:nvPr/>
        </p:nvSpPr>
        <p:spPr>
          <a:xfrm>
            <a:off x="584200" y="4333897"/>
            <a:ext cx="106595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45">
              <a:defRPr/>
            </a:pPr>
            <a:br>
              <a:rPr lang="en-GB" dirty="0">
                <a:solidFill>
                  <a:srgbClr val="000000"/>
                </a:solidFill>
                <a:latin typeface="DM Sans"/>
              </a:rPr>
            </a:br>
            <a:endParaRPr lang="en-GB" dirty="0">
              <a:solidFill>
                <a:srgbClr val="000000"/>
              </a:solidFill>
              <a:latin typeface="DM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F0117D-C99D-202F-94A9-D8BF2709D40F}"/>
              </a:ext>
            </a:extLst>
          </p:cNvPr>
          <p:cNvSpPr txBox="1"/>
          <p:nvPr/>
        </p:nvSpPr>
        <p:spPr>
          <a:xfrm>
            <a:off x="584198" y="2135708"/>
            <a:ext cx="13572069" cy="954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45"/>
            <a:r>
              <a:rPr lang="en-GB" sz="2801" dirty="0">
                <a:solidFill>
                  <a:prstClr val="white"/>
                </a:solidFill>
                <a:latin typeface="DM Sans"/>
              </a:rPr>
              <a:t>How do increasing global temperatures contribute to extreme weather events such as hurricanes, heatwaves, and flooding? Give specific examples.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3397AC-D0A3-E6D9-D334-BA2547BE52BB}"/>
              </a:ext>
            </a:extLst>
          </p:cNvPr>
          <p:cNvSpPr txBox="1"/>
          <p:nvPr/>
        </p:nvSpPr>
        <p:spPr>
          <a:xfrm>
            <a:off x="584198" y="3549066"/>
            <a:ext cx="17119602" cy="267765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17" indent="-342917" defTabSz="914445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0000"/>
                </a:solidFill>
                <a:latin typeface="DM Sans"/>
              </a:rPr>
              <a:t>Heatwaves: </a:t>
            </a:r>
            <a:r>
              <a:rPr lang="en-GB" sz="2400" dirty="0">
                <a:solidFill>
                  <a:srgbClr val="FF0000"/>
                </a:solidFill>
                <a:latin typeface="DM Sans"/>
              </a:rPr>
              <a:t>More frequent and intense due to rising average temperatures </a:t>
            </a:r>
          </a:p>
          <a:p>
            <a:pPr marL="342917" indent="-342917" defTabSz="914445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0000"/>
                </a:solidFill>
                <a:latin typeface="DM Sans"/>
              </a:rPr>
              <a:t>Hurricanes &amp; Storms: </a:t>
            </a:r>
            <a:r>
              <a:rPr lang="en-GB" sz="2400" dirty="0">
                <a:solidFill>
                  <a:srgbClr val="FF0000"/>
                </a:solidFill>
                <a:latin typeface="DM Sans"/>
              </a:rPr>
              <a:t>Warmer oceans provide more energy for storms</a:t>
            </a:r>
          </a:p>
          <a:p>
            <a:pPr marL="342917" indent="-342917" defTabSz="914445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0000"/>
                </a:solidFill>
                <a:latin typeface="DM Sans"/>
              </a:rPr>
              <a:t>Flooding: </a:t>
            </a:r>
            <a:r>
              <a:rPr lang="en-GB" sz="2400" dirty="0">
                <a:solidFill>
                  <a:srgbClr val="FF0000"/>
                </a:solidFill>
                <a:latin typeface="DM Sans"/>
              </a:rPr>
              <a:t>Increased precipitation intensity leads to flash floods </a:t>
            </a:r>
          </a:p>
          <a:p>
            <a:pPr defTabSz="914445"/>
            <a:endParaRPr lang="en-GB" sz="2400" dirty="0">
              <a:solidFill>
                <a:srgbClr val="FF0000"/>
              </a:solidFill>
              <a:latin typeface="DM Sans"/>
            </a:endParaRPr>
          </a:p>
          <a:p>
            <a:pPr defTabSz="914445"/>
            <a:r>
              <a:rPr lang="en-GB" sz="2400" dirty="0">
                <a:solidFill>
                  <a:srgbClr val="FF0000"/>
                </a:solidFill>
                <a:latin typeface="DM Sans"/>
              </a:rPr>
              <a:t>Overall, climate change amplifies extreme events, necessitating better forecasting and resilience planning.</a:t>
            </a:r>
          </a:p>
          <a:p>
            <a:pPr marL="342917" indent="-342917" defTabSz="914445">
              <a:buFont typeface="Arial" panose="020B0604020202020204" pitchFamily="34" charset="0"/>
              <a:buChar char="•"/>
            </a:pPr>
            <a:endParaRPr lang="en-GB" sz="2400" dirty="0">
              <a:solidFill>
                <a:srgbClr val="FF0000"/>
              </a:solidFill>
              <a:latin typeface="DM Sans"/>
            </a:endParaRPr>
          </a:p>
          <a:p>
            <a:pPr defTabSz="914445"/>
            <a:r>
              <a:rPr lang="en-GB" sz="2400" dirty="0">
                <a:solidFill>
                  <a:srgbClr val="FF0000"/>
                </a:solidFill>
                <a:latin typeface="DM Sans"/>
              </a:rPr>
              <a:t>Can you find examples of this?</a:t>
            </a:r>
          </a:p>
        </p:txBody>
      </p:sp>
    </p:spTree>
    <p:extLst>
      <p:ext uri="{BB962C8B-B14F-4D97-AF65-F5344CB8AC3E}">
        <p14:creationId xmlns:p14="http://schemas.microsoft.com/office/powerpoint/2010/main" val="2993322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715"/>
    </mc:Choice>
    <mc:Fallback xmlns="">
      <p:transition spd="slow" advTm="12715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E365D-5BDF-AD30-93B5-CC469EB79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3">
            <a:extLst>
              <a:ext uri="{FF2B5EF4-FFF2-40B4-BE49-F238E27FC236}">
                <a16:creationId xmlns:a16="http://schemas.microsoft.com/office/drawing/2014/main" id="{02AECAC9-D401-F822-9F02-083ECC43FCF3}"/>
              </a:ext>
            </a:extLst>
          </p:cNvPr>
          <p:cNvSpPr/>
          <p:nvPr/>
        </p:nvSpPr>
        <p:spPr>
          <a:xfrm>
            <a:off x="14147800" y="557983"/>
            <a:ext cx="3059312" cy="1353014"/>
          </a:xfrm>
          <a:custGeom>
            <a:avLst/>
            <a:gdLst/>
            <a:ahLst/>
            <a:cxnLst/>
            <a:rect l="l" t="t" r="r" b="b"/>
            <a:pathLst>
              <a:path w="5346866" h="2364707">
                <a:moveTo>
                  <a:pt x="0" y="0"/>
                </a:moveTo>
                <a:lnTo>
                  <a:pt x="5346866" y="0"/>
                </a:lnTo>
                <a:lnTo>
                  <a:pt x="5346866" y="2364707"/>
                </a:lnTo>
                <a:lnTo>
                  <a:pt x="0" y="2364707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M Sans" pitchFamily="2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TextBox 14">
            <a:extLst>
              <a:ext uri="{FF2B5EF4-FFF2-40B4-BE49-F238E27FC236}">
                <a16:creationId xmlns:a16="http://schemas.microsoft.com/office/drawing/2014/main" id="{B627EBD3-8FBD-383A-C449-9CDCA613E1AB}"/>
              </a:ext>
            </a:extLst>
          </p:cNvPr>
          <p:cNvSpPr txBox="1"/>
          <p:nvPr/>
        </p:nvSpPr>
        <p:spPr>
          <a:xfrm>
            <a:off x="584198" y="1026137"/>
            <a:ext cx="11004828" cy="884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45" rtl="0" eaLnBrk="1" fontAlgn="auto" latinLnBrk="0" hangingPunct="1">
              <a:lnSpc>
                <a:spcPts val="68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1" u="none" strike="noStrike" kern="1200" cap="none" spc="-413" normalizeH="0" baseline="0" noProof="0" dirty="0">
                <a:ln>
                  <a:noFill/>
                </a:ln>
                <a:solidFill>
                  <a:srgbClr val="46245A"/>
                </a:solidFill>
                <a:effectLst/>
                <a:uLnTx/>
                <a:uFillTx/>
                <a:latin typeface="DM Sans Bold"/>
                <a:ea typeface="ＭＳ Ｐゴシック" panose="020B0600070205080204" pitchFamily="34" charset="-128"/>
                <a:cs typeface="+mn-cs"/>
              </a:rPr>
              <a:t>Q7.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42FF6C-F18E-E9B3-65C4-AD912DA100B2}"/>
              </a:ext>
            </a:extLst>
          </p:cNvPr>
          <p:cNvSpPr txBox="1"/>
          <p:nvPr/>
        </p:nvSpPr>
        <p:spPr>
          <a:xfrm>
            <a:off x="584197" y="2135706"/>
            <a:ext cx="1357206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800" b="0" i="0" u="none" strike="noStrike" dirty="0">
                <a:effectLst/>
              </a:rPr>
              <a:t>Provide some possible examples of adaptation strategies relating to each category…. </a:t>
            </a:r>
          </a:p>
        </p:txBody>
      </p:sp>
      <p:pic>
        <p:nvPicPr>
          <p:cNvPr id="17" name="Picture 16" descr="A list of information on a table&#10;&#10;AI-generated content may be incorrect.">
            <a:extLst>
              <a:ext uri="{FF2B5EF4-FFF2-40B4-BE49-F238E27FC236}">
                <a16:creationId xmlns:a16="http://schemas.microsoft.com/office/drawing/2014/main" id="{3B4456BF-4FC6-17B3-1EE0-F76EBA1C09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196" y="3142424"/>
            <a:ext cx="12449051" cy="6410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9706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A69EB1-9CE6-8856-44BE-771CC575F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3">
            <a:extLst>
              <a:ext uri="{FF2B5EF4-FFF2-40B4-BE49-F238E27FC236}">
                <a16:creationId xmlns:a16="http://schemas.microsoft.com/office/drawing/2014/main" id="{87216079-BA67-FA11-7A72-7403E6CAFED1}"/>
              </a:ext>
            </a:extLst>
          </p:cNvPr>
          <p:cNvSpPr/>
          <p:nvPr/>
        </p:nvSpPr>
        <p:spPr>
          <a:xfrm>
            <a:off x="14554202" y="557984"/>
            <a:ext cx="3059312" cy="1353014"/>
          </a:xfrm>
          <a:custGeom>
            <a:avLst/>
            <a:gdLst/>
            <a:ahLst/>
            <a:cxnLst/>
            <a:rect l="l" t="t" r="r" b="b"/>
            <a:pathLst>
              <a:path w="5346866" h="2364707">
                <a:moveTo>
                  <a:pt x="0" y="0"/>
                </a:moveTo>
                <a:lnTo>
                  <a:pt x="5346866" y="0"/>
                </a:lnTo>
                <a:lnTo>
                  <a:pt x="5346866" y="2364707"/>
                </a:lnTo>
                <a:lnTo>
                  <a:pt x="0" y="2364707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914490">
              <a:defRPr/>
            </a:pPr>
            <a:endParaRPr lang="en-GB">
              <a:solidFill>
                <a:prstClr val="black"/>
              </a:solidFill>
              <a:latin typeface="DM Sans" pitchFamily="2" charset="0"/>
              <a:ea typeface="MS PGothic" panose="020B0600070205080204" pitchFamily="34" charset="-128"/>
            </a:endParaRPr>
          </a:p>
        </p:txBody>
      </p:sp>
      <p:sp>
        <p:nvSpPr>
          <p:cNvPr id="2" name="TextBox 14">
            <a:extLst>
              <a:ext uri="{FF2B5EF4-FFF2-40B4-BE49-F238E27FC236}">
                <a16:creationId xmlns:a16="http://schemas.microsoft.com/office/drawing/2014/main" id="{E2EBD0B1-2952-03DE-EE95-FDA0D1C961CE}"/>
              </a:ext>
            </a:extLst>
          </p:cNvPr>
          <p:cNvSpPr txBox="1"/>
          <p:nvPr/>
        </p:nvSpPr>
        <p:spPr>
          <a:xfrm>
            <a:off x="584198" y="1026138"/>
            <a:ext cx="11004828" cy="884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914490">
              <a:lnSpc>
                <a:spcPts val="6861"/>
              </a:lnSpc>
              <a:defRPr/>
            </a:pPr>
            <a:r>
              <a:rPr lang="en-US" sz="6000" i="1" spc="-413" dirty="0">
                <a:solidFill>
                  <a:prstClr val="white"/>
                </a:solidFill>
                <a:latin typeface="DM Sans Bold"/>
                <a:ea typeface="ＭＳ Ｐゴシック" panose="020B0600070205080204" pitchFamily="34" charset="-128"/>
              </a:rPr>
              <a:t>Q7. </a:t>
            </a:r>
            <a:r>
              <a:rPr lang="en-US" sz="6000" i="1" spc="-413" dirty="0">
                <a:solidFill>
                  <a:srgbClr val="FF0000"/>
                </a:solidFill>
                <a:latin typeface="DM Sans Bold"/>
                <a:ea typeface="ＭＳ Ｐゴシック" panose="020B0600070205080204" pitchFamily="34" charset="-128"/>
              </a:rPr>
              <a:t>Answer </a:t>
            </a:r>
            <a:r>
              <a:rPr lang="en-US" sz="6000" i="1" spc="-413" dirty="0">
                <a:solidFill>
                  <a:prstClr val="white"/>
                </a:solidFill>
                <a:latin typeface="DM Sans Bold"/>
                <a:ea typeface="ＭＳ Ｐゴシック" panose="020B0600070205080204" pitchFamily="34" charset="-128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81B7AA-676E-92DD-394B-A8CD5E08CAD6}"/>
              </a:ext>
            </a:extLst>
          </p:cNvPr>
          <p:cNvSpPr txBox="1"/>
          <p:nvPr/>
        </p:nvSpPr>
        <p:spPr>
          <a:xfrm>
            <a:off x="584200" y="4333897"/>
            <a:ext cx="106595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45">
              <a:defRPr/>
            </a:pPr>
            <a:br>
              <a:rPr lang="en-GB" dirty="0">
                <a:solidFill>
                  <a:srgbClr val="000000"/>
                </a:solidFill>
                <a:latin typeface="DM Sans"/>
              </a:rPr>
            </a:br>
            <a:endParaRPr lang="en-GB" dirty="0">
              <a:solidFill>
                <a:srgbClr val="000000"/>
              </a:solidFill>
              <a:latin typeface="DM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58E67C-E727-5BEB-FED8-FCE00C439B84}"/>
              </a:ext>
            </a:extLst>
          </p:cNvPr>
          <p:cNvSpPr txBox="1"/>
          <p:nvPr/>
        </p:nvSpPr>
        <p:spPr>
          <a:xfrm>
            <a:off x="584198" y="2135706"/>
            <a:ext cx="15350747" cy="523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45"/>
            <a:r>
              <a:rPr lang="en-GB" sz="2801" dirty="0">
                <a:solidFill>
                  <a:prstClr val="white"/>
                </a:solidFill>
                <a:latin typeface="DM Sans"/>
              </a:rPr>
              <a:t>Provide some possible examples of adaptation strategies relating to each category….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F0789F-9AE7-0936-8794-F58FAB58F41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869" t="13650" r="3982"/>
          <a:stretch/>
        </p:blipFill>
        <p:spPr bwMode="auto">
          <a:xfrm>
            <a:off x="670560" y="2883635"/>
            <a:ext cx="13264896" cy="677162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553559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715"/>
    </mc:Choice>
    <mc:Fallback xmlns="">
      <p:transition spd="slow" advTm="12715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DM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DM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DM Sans"/>
        <a:font script="Hebr" typeface="DM San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DM Sans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DM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DM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DM Sans"/>
        <a:font script="Hebr" typeface="DM San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DM Sans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M Sans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DM Sans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DM Sans"/>
        <a:font script="Hebr" typeface="DM San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DM Sans"/>
        <a:font script="Uigh" typeface="Microsoft Uighur"/>
        <a:font script="Geor" typeface="Sylfaen"/>
        <a:font script="Armn" typeface="DM Sans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2d04b034-a6a6-4c18-a06a-c7f1475d22b7">
      <UserInfo>
        <DisplayName>James Evans</DisplayName>
        <AccountId>12</AccountId>
        <AccountType/>
      </UserInfo>
    </SharedWithUsers>
    <TaxCatchAll xmlns="2d04b034-a6a6-4c18-a06a-c7f1475d22b7" xsi:nil="true"/>
    <lcf76f155ced4ddcb4097134ff3c332f xmlns="ef2cdc88-2d9e-4cc1-9996-acd9d00229e7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28E7656B8F854EA3FBA2DC0FDE57D8" ma:contentTypeVersion="13" ma:contentTypeDescription="Create a new document." ma:contentTypeScope="" ma:versionID="2f55f3757423f8a9510e16e0485ceae4">
  <xsd:schema xmlns:xsd="http://www.w3.org/2001/XMLSchema" xmlns:xs="http://www.w3.org/2001/XMLSchema" xmlns:p="http://schemas.microsoft.com/office/2006/metadata/properties" xmlns:ns2="ef2cdc88-2d9e-4cc1-9996-acd9d00229e7" xmlns:ns3="2d04b034-a6a6-4c18-a06a-c7f1475d22b7" targetNamespace="http://schemas.microsoft.com/office/2006/metadata/properties" ma:root="true" ma:fieldsID="aad162b2229c38d96906976cd1e951d1" ns2:_="" ns3:_="">
    <xsd:import namespace="ef2cdc88-2d9e-4cc1-9996-acd9d00229e7"/>
    <xsd:import namespace="2d04b034-a6a6-4c18-a06a-c7f1475d22b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2cdc88-2d9e-4cc1-9996-acd9d00229e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d84f0fb1-3ff4-4041-99c9-0ff0a116d57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04b034-a6a6-4c18-a06a-c7f1475d22b7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c3033590-d564-48aa-a497-c6dbf64d132b}" ma:internalName="TaxCatchAll" ma:showField="CatchAllData" ma:web="2d04b034-a6a6-4c18-a06a-c7f1475d22b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6E3B905-089B-4AAB-92C2-9145328F7EB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4204787-5CC9-4B4C-895B-E2DD531E2E20}">
  <ds:schemaRefs>
    <ds:schemaRef ds:uri="2d04b034-a6a6-4c18-a06a-c7f1475d22b7"/>
    <ds:schemaRef ds:uri="ef2cdc88-2d9e-4cc1-9996-acd9d00229e7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D75AF22D-E930-4A35-96C8-45C4552CEFD0}">
  <ds:schemaRefs>
    <ds:schemaRef ds:uri="2d04b034-a6a6-4c18-a06a-c7f1475d22b7"/>
    <ds:schemaRef ds:uri="ef2cdc88-2d9e-4cc1-9996-acd9d00229e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8453</TotalTime>
  <Words>933</Words>
  <Application>Microsoft Macintosh PowerPoint</Application>
  <PresentationFormat>Custom</PresentationFormat>
  <Paragraphs>94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DM Sans</vt:lpstr>
      <vt:lpstr>Arial</vt:lpstr>
      <vt:lpstr>DM Sans Bold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Urban 360 Presentation Template</dc:title>
  <dc:creator>Rebecca Pinder</dc:creator>
  <cp:lastModifiedBy>Thomas Bannan</cp:lastModifiedBy>
  <cp:revision>67</cp:revision>
  <dcterms:created xsi:type="dcterms:W3CDTF">2006-08-16T00:00:00Z</dcterms:created>
  <dcterms:modified xsi:type="dcterms:W3CDTF">2026-04-29T11:41:43Z</dcterms:modified>
  <dc:identifier>DAFmF_MGmPY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0x010100BE28E7656B8F854EA3FBA2DC0FDE57D8</vt:lpwstr>
  </property>
  <property fmtid="{D5CDD505-2E9C-101B-9397-08002B2CF9AE}" pid="3" name="MediaServiceImageTags">
    <vt:lpwstr/>
  </property>
</Properties>
</file>