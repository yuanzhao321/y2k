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 id="2147483660" r:id="rId5"/>
    <p:sldMasterId id="2147483674" r:id="rId6"/>
  </p:sldMasterIdLst>
  <p:notesMasterIdLst>
    <p:notesMasterId r:id="rId75"/>
  </p:notesMasterIdLst>
  <p:sldIdLst>
    <p:sldId id="257" r:id="rId7"/>
    <p:sldId id="602" r:id="rId8"/>
    <p:sldId id="258" r:id="rId9"/>
    <p:sldId id="896" r:id="rId10"/>
    <p:sldId id="737" r:id="rId11"/>
    <p:sldId id="729" r:id="rId12"/>
    <p:sldId id="804" r:id="rId13"/>
    <p:sldId id="810" r:id="rId14"/>
    <p:sldId id="805" r:id="rId15"/>
    <p:sldId id="819" r:id="rId16"/>
    <p:sldId id="820" r:id="rId17"/>
    <p:sldId id="785" r:id="rId18"/>
    <p:sldId id="807" r:id="rId19"/>
    <p:sldId id="806" r:id="rId20"/>
    <p:sldId id="787" r:id="rId21"/>
    <p:sldId id="740" r:id="rId22"/>
    <p:sldId id="741" r:id="rId23"/>
    <p:sldId id="817" r:id="rId24"/>
    <p:sldId id="743" r:id="rId25"/>
    <p:sldId id="744" r:id="rId26"/>
    <p:sldId id="745" r:id="rId27"/>
    <p:sldId id="606" r:id="rId28"/>
    <p:sldId id="747" r:id="rId29"/>
    <p:sldId id="811" r:id="rId30"/>
    <p:sldId id="748" r:id="rId31"/>
    <p:sldId id="808" r:id="rId32"/>
    <p:sldId id="746" r:id="rId33"/>
    <p:sldId id="809" r:id="rId34"/>
    <p:sldId id="757" r:id="rId35"/>
    <p:sldId id="758" r:id="rId36"/>
    <p:sldId id="759" r:id="rId37"/>
    <p:sldId id="760" r:id="rId38"/>
    <p:sldId id="756" r:id="rId39"/>
    <p:sldId id="1382" r:id="rId40"/>
    <p:sldId id="761" r:id="rId41"/>
    <p:sldId id="789" r:id="rId42"/>
    <p:sldId id="763" r:id="rId43"/>
    <p:sldId id="762" r:id="rId44"/>
    <p:sldId id="802" r:id="rId45"/>
    <p:sldId id="796" r:id="rId46"/>
    <p:sldId id="797" r:id="rId47"/>
    <p:sldId id="766" r:id="rId48"/>
    <p:sldId id="750" r:id="rId49"/>
    <p:sldId id="753" r:id="rId50"/>
    <p:sldId id="816" r:id="rId51"/>
    <p:sldId id="767" r:id="rId52"/>
    <p:sldId id="768" r:id="rId53"/>
    <p:sldId id="1349" r:id="rId54"/>
    <p:sldId id="793" r:id="rId55"/>
    <p:sldId id="799" r:id="rId56"/>
    <p:sldId id="771" r:id="rId57"/>
    <p:sldId id="1351" r:id="rId58"/>
    <p:sldId id="778" r:id="rId59"/>
    <p:sldId id="1400" r:id="rId60"/>
    <p:sldId id="779" r:id="rId61"/>
    <p:sldId id="780" r:id="rId62"/>
    <p:sldId id="1392" r:id="rId63"/>
    <p:sldId id="511" r:id="rId64"/>
    <p:sldId id="1390" r:id="rId65"/>
    <p:sldId id="1399" r:id="rId66"/>
    <p:sldId id="529" r:id="rId67"/>
    <p:sldId id="1229" r:id="rId68"/>
    <p:sldId id="1352" r:id="rId69"/>
    <p:sldId id="1353" r:id="rId70"/>
    <p:sldId id="1354" r:id="rId71"/>
    <p:sldId id="1355" r:id="rId72"/>
    <p:sldId id="1356" r:id="rId73"/>
    <p:sldId id="1357" r:id="rId74"/>
  </p:sldIdLst>
  <p:sldSz cx="18288000" cy="10287000"/>
  <p:notesSz cx="6858000" cy="9144000"/>
  <p:embeddedFontLst>
    <p:embeddedFont>
      <p:font typeface="DM Sans" pitchFamily="2" charset="77"/>
      <p:regular r:id="rId76"/>
      <p:bold r:id="rId77"/>
      <p:italic r:id="rId78"/>
      <p:boldItalic r:id="rId79"/>
    </p:embeddedFont>
    <p:embeddedFont>
      <p:font typeface="DM Sans Bold"/>
      <p:regular r:id=""/>
      <p:bold r:id=""/>
    </p:embeddedFont>
    <p:embeddedFont>
      <p:font typeface="Open Sans" panose="020B0606030504020204" pitchFamily="34" charset="0"/>
      <p:regular r:id="rId80"/>
      <p:bold r:id="rId81"/>
      <p:italic r:id="rId82"/>
      <p:boldItalic r:id="rId8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6245A"/>
    <a:srgbClr val="FAB700"/>
    <a:srgbClr val="0E173B"/>
    <a:srgbClr val="545454"/>
    <a:srgbClr val="DEA40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83"/>
    <p:restoredTop sz="87338"/>
  </p:normalViewPr>
  <p:slideViewPr>
    <p:cSldViewPr snapToGrid="0">
      <p:cViewPr>
        <p:scale>
          <a:sx n="92" d="100"/>
          <a:sy n="92" d="100"/>
        </p:scale>
        <p:origin x="232" y="-104"/>
      </p:cViewPr>
      <p:guideLst>
        <p:guide orient="horz" pos="2160"/>
        <p:guide pos="288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presProps" Target="presProp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font" Target="fonts/font4.fntdata"/><Relationship Id="rId5" Type="http://schemas.openxmlformats.org/officeDocument/2006/relationships/slideMaster" Target="slideMasters/slideMaster2.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font" Target="fonts/font2.fntdata"/><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font" Target="fonts/font5.fntdata"/><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notesMaster" Target="notesMasters/notesMaster1.xml"/><Relationship Id="rId83"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font" Target="fonts/font1.fntdata"/><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tableStyles" Target="tableStyles.xml"/><Relationship Id="rId61" Type="http://schemas.openxmlformats.org/officeDocument/2006/relationships/slide" Target="slides/slide55.xml"/><Relationship Id="rId8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DM Sans" pitchFamily="2"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DM Sans" pitchFamily="2" charset="0"/>
              </a:defRPr>
            </a:lvl1pPr>
          </a:lstStyle>
          <a:p>
            <a:fld id="{62D80C2D-EE18-43D6-B2C1-C03B0D42E456}" type="datetimeFigureOut">
              <a:rPr lang="en-GB" smtClean="0"/>
              <a:pPr/>
              <a:t>22/03/2026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DM Sans" pitchFamily="2"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DM Sans" pitchFamily="2" charset="0"/>
              </a:defRPr>
            </a:lvl1pPr>
          </a:lstStyle>
          <a:p>
            <a:fld id="{C6B3559C-4BE5-4262-A2E7-0EADDD5F845B}" type="slidenum">
              <a:rPr lang="en-GB" smtClean="0"/>
              <a:pPr/>
              <a:t>‹#›</a:t>
            </a:fld>
            <a:endParaRPr lang="en-GB"/>
          </a:p>
        </p:txBody>
      </p:sp>
    </p:spTree>
    <p:extLst>
      <p:ext uri="{BB962C8B-B14F-4D97-AF65-F5344CB8AC3E}">
        <p14:creationId xmlns:p14="http://schemas.microsoft.com/office/powerpoint/2010/main" val="2063940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DM Sans" pitchFamily="2" charset="0"/>
        <a:ea typeface="+mn-ea"/>
        <a:cs typeface="+mn-cs"/>
      </a:defRPr>
    </a:lvl1pPr>
    <a:lvl2pPr marL="457200" algn="l" defTabSz="914400" rtl="0" eaLnBrk="1" latinLnBrk="0" hangingPunct="1">
      <a:defRPr sz="1200" kern="1200">
        <a:solidFill>
          <a:schemeClr val="tx1"/>
        </a:solidFill>
        <a:latin typeface="DM Sans" pitchFamily="2" charset="0"/>
        <a:ea typeface="+mn-ea"/>
        <a:cs typeface="+mn-cs"/>
      </a:defRPr>
    </a:lvl2pPr>
    <a:lvl3pPr marL="914400" algn="l" defTabSz="914400" rtl="0" eaLnBrk="1" latinLnBrk="0" hangingPunct="1">
      <a:defRPr sz="1200" kern="1200">
        <a:solidFill>
          <a:schemeClr val="tx1"/>
        </a:solidFill>
        <a:latin typeface="DM Sans" pitchFamily="2" charset="0"/>
        <a:ea typeface="+mn-ea"/>
        <a:cs typeface="+mn-cs"/>
      </a:defRPr>
    </a:lvl3pPr>
    <a:lvl4pPr marL="1371600" algn="l" defTabSz="914400" rtl="0" eaLnBrk="1" latinLnBrk="0" hangingPunct="1">
      <a:defRPr sz="1200" kern="1200">
        <a:solidFill>
          <a:schemeClr val="tx1"/>
        </a:solidFill>
        <a:latin typeface="DM Sans" pitchFamily="2" charset="0"/>
        <a:ea typeface="+mn-ea"/>
        <a:cs typeface="+mn-cs"/>
      </a:defRPr>
    </a:lvl4pPr>
    <a:lvl5pPr marL="1828800" algn="l" defTabSz="914400" rtl="0" eaLnBrk="1" latinLnBrk="0" hangingPunct="1">
      <a:defRPr sz="1200" kern="1200">
        <a:solidFill>
          <a:schemeClr val="tx1"/>
        </a:solidFill>
        <a:latin typeface="DM San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latin typeface="DM Sans" pitchFamily="2" charset="0"/>
            </a:endParaRPr>
          </a:p>
        </p:txBody>
      </p:sp>
      <p:sp>
        <p:nvSpPr>
          <p:cNvPr id="4" name="Slide Number Placeholder 3"/>
          <p:cNvSpPr>
            <a:spLocks noGrp="1"/>
          </p:cNvSpPr>
          <p:nvPr>
            <p:ph type="sldNum" sz="quarter" idx="5"/>
          </p:nvPr>
        </p:nvSpPr>
        <p:spPr/>
        <p:txBody>
          <a:bodyPr/>
          <a:lstStyle/>
          <a:p>
            <a:fld id="{C6B3559C-4BE5-4262-A2E7-0EADDD5F845B}" type="slidenum">
              <a:rPr lang="en-GB" smtClean="0"/>
              <a:t>1</a:t>
            </a:fld>
            <a:endParaRPr lang="en-GB"/>
          </a:p>
        </p:txBody>
      </p:sp>
    </p:spTree>
    <p:extLst>
      <p:ext uri="{BB962C8B-B14F-4D97-AF65-F5344CB8AC3E}">
        <p14:creationId xmlns:p14="http://schemas.microsoft.com/office/powerpoint/2010/main" val="3533320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231491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44274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6BD3B0F-0611-95B6-4662-18418EBCA14F}"/>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70BC343B-2E55-040C-F068-498DFB0283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CBA2E49B-EF06-C991-EEDC-1905AC4CD5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fld id="{C6B3559C-4BE5-4262-A2E7-0EADDD5F845B}" type="slidenum">
              <a:rPr lang="en-GB" smtClean="0"/>
              <a:t>5</a:t>
            </a:fld>
            <a:endParaRPr lang="en-GB"/>
          </a:p>
        </p:txBody>
      </p:sp>
    </p:spTree>
    <p:extLst>
      <p:ext uri="{BB962C8B-B14F-4D97-AF65-F5344CB8AC3E}">
        <p14:creationId xmlns:p14="http://schemas.microsoft.com/office/powerpoint/2010/main" val="2525364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520117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14723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518277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707613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440905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043126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52364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9818546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0202580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7624077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773075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0932455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0172411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330545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947493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9685894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3582964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9939454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9426794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0249792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r>
              <a:rPr lang="en-GB"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rPr>
              <a:t>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6482468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308758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1774210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7574270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5135176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9480883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8782499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6805205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8886F-DB72-51A5-345E-7335A9258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F61AE-1E4B-2E22-B070-869ECDD97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316AA-EA01-4595-1101-D37C4F16AE5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785CF23-4833-3C52-6AA6-B3322A643D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2871947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6301636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9356524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4873027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4052542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36185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2646817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E43E-67CF-EFD5-100A-52815A1A9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FD551-9789-1547-0475-BA15B2735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EB9FE-445A-4E85-CB86-A34D40CFFCB6}"/>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8AACB0D-D01B-9280-5869-5CB5F4C4B9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5253640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9859421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6954969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BB35E-7DB0-D189-044F-BDC5F2F57E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1D05E-BD77-E646-6F70-FE497D31F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6B41F1-7B9E-1F6C-CE31-80B473FA251E}"/>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14DA177D-1FEA-D89D-49F4-1DF55912BE6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31715258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2581685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7323680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1987948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3875D-2682-F718-E4E5-AEA91FE2D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3E067-9A8B-25BC-E897-4E33FBA573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8CD77-9208-3136-CD8F-8FC73D55800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16BB1C0-671E-99E0-8770-F1EC4E35CFE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8234633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6537558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334602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B481D-D47C-DE9F-8D28-87D700EB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75AC9-1814-AC28-D512-8B199E0C9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EAF4-6650-6070-76EA-47865DD8AD13}"/>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E64911D1-08B2-AB0C-F885-01B06E3AEC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29989115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A28A7-72BD-9052-C29C-21E06C9CC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8D188-FB6E-01AB-3C3B-F75F9B35A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061A7-10B2-CA72-BC2D-25B367D36408}"/>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3B4655F-74B2-70B3-448C-8D2D66C814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7656079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055297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43482-86AE-583F-8814-54D4F49A97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612487-8944-A85A-684D-AA8841DED6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945281-B136-201B-E79D-1303D6883E2C}"/>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227192E7-043D-2271-C3FA-6E537F00D8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8158875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0436143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4A9DA-F345-4C5B-F514-5E5931B66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D4C8E-089B-49BB-BA70-FD6BA52B9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9232E-13B6-A699-BC7B-61C0B8E1384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8B08529E-0B46-EE51-C323-454943F59A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6033233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6FB5A-E1A9-FC8A-2118-5C6A8C5E0047}"/>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F3AB7384-3B4A-A0CE-77FA-AB7D4BE8991C}"/>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9E752A68-FF6F-8FC5-D52D-C41CABC398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8FDC3139-D055-4EE5-BA8D-9C72836D53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GB" alt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895840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78529-677C-C7CB-7969-1BC2AAD7D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9DCE7-6FFB-B799-CD17-70226423B2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F377F-7CF9-4B7C-3454-EEDCC5CCBDE0}"/>
              </a:ext>
            </a:extLst>
          </p:cNvPr>
          <p:cNvSpPr>
            <a:spLocks noGrp="1"/>
          </p:cNvSpPr>
          <p:nvPr>
            <p:ph type="body" idx="1"/>
          </p:nvPr>
        </p:nvSpPr>
        <p:spPr/>
        <p:txBody>
          <a:bodyPr/>
          <a:lstStyle/>
          <a:p>
            <a:endParaRPr lang="en-GB" dirty="0">
              <a:cs typeface="DM Sans"/>
            </a:endParaRPr>
          </a:p>
        </p:txBody>
      </p:sp>
      <p:sp>
        <p:nvSpPr>
          <p:cNvPr id="4" name="Slide Number Placeholder 3">
            <a:extLst>
              <a:ext uri="{FF2B5EF4-FFF2-40B4-BE49-F238E27FC236}">
                <a16:creationId xmlns:a16="http://schemas.microsoft.com/office/drawing/2014/main" id="{77C2368A-2688-3081-DC3D-6F84D781C5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13952762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A3CE4-8C0B-3DFC-5FB8-B2EA7A6BEE08}"/>
            </a:ext>
          </a:extLst>
        </p:cNvPr>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B2E32859-4956-0E43-CA86-D7F1E7B1A123}"/>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04656766-9178-76BB-1992-D5ECA6AC2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
        <p:nvSpPr>
          <p:cNvPr id="21508" name="Slide Number Placeholder 3">
            <a:extLst>
              <a:ext uri="{FF2B5EF4-FFF2-40B4-BE49-F238E27FC236}">
                <a16:creationId xmlns:a16="http://schemas.microsoft.com/office/drawing/2014/main" id="{F69C0F02-F4F1-D1E5-5751-6BEC404B9F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9B20F9-B0C9-4C43-AA44-6686FCE3390A}" type="slidenum">
              <a:rPr kumimoji="0" lang="en-GB" alt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GB" alt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501829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D7764-18B3-5F4A-DE05-8C731B9F24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F09A5-0E01-4B49-2865-F522309227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E0A775-027A-57E3-DE0A-938F2E40141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7794878-4127-681A-227F-EB8BC8FA10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2907743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31E4D-2DAB-4871-92D0-23CCBE321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0D023-2691-83E4-AF0A-2EFCE909D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C22AD-45AE-AD2B-52FF-51C3BEDF0BF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AADD95E-C9D2-C4A8-A40B-7103171A9C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GB"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8511864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7200707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02C80-16AC-1680-ECCC-19D5F859DD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0A923-C2B6-3422-466E-929D6D32CF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853DBB-7AE8-5A61-A46D-E485E8395E6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E2E124F-F88C-B94F-A288-611A9B3B02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38427875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E13F9-510A-F210-E69A-EACD11D2A3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B03928-CAC5-5D25-FDB3-ED84697C51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C67F7E-B262-161C-773B-70046B64FDE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D6ED869-4F33-DCD7-90EF-5B49F5C949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36484618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63C9F-9C83-002B-F24E-ACA26AA9A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71080D-0177-AFE4-769B-AC4938E2F5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4D853-C8A1-5A35-F834-E26D7F43EE1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28F65F6-6F74-99C0-3862-AB89F3585A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4143458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8867F-CB1D-7391-7E3C-CA1D8F9D0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87176-0B83-6A4D-FC52-3129BC0D3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BFB68B-73ED-FEC5-42D4-5B1FBEB03AF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38CCC43-8CFE-6072-78F1-5DB7D8CD4C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259715452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F1118-61B5-1BB5-5E00-70FF04452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DB0DB5-B65C-CED0-0474-1F218D4FBD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DFC866-76C1-AC4A-81C2-232207D46B9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D4859C9-7EA7-F4EB-DAE0-1A82549A85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55975954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2F443-8AB0-6230-663B-6B0F684EB8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F0200-8E53-DC4F-C36E-6D599487B7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ADF4D8-579A-8ADB-FF61-7FB27D584AC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192A866-9A38-5DE7-D091-3E709FAD93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B3559C-4BE5-4262-A2E7-0EADDD5F845B}" type="slidenum">
              <a:rPr kumimoji="0" lang="en-GB" sz="1200" b="0" i="0" u="none" strike="noStrike" kern="1200" cap="none" spc="0" normalizeH="0" baseline="0" noProof="0" smtClean="0">
                <a:ln>
                  <a:noFill/>
                </a:ln>
                <a:solidFill>
                  <a:prstClr val="black"/>
                </a:solidFill>
                <a:effectLst/>
                <a:uLnTx/>
                <a:uFillTx/>
                <a:latin typeface="DM Sans" pitchFamily="2"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GB" sz="12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Tree>
    <p:extLst>
      <p:ext uri="{BB962C8B-B14F-4D97-AF65-F5344CB8AC3E}">
        <p14:creationId xmlns:p14="http://schemas.microsoft.com/office/powerpoint/2010/main" val="1922067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6"/>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17" indent="0" algn="ctr">
              <a:buNone/>
              <a:defRPr>
                <a:solidFill>
                  <a:schemeClr val="tx1">
                    <a:tint val="75000"/>
                  </a:schemeClr>
                </a:solidFill>
              </a:defRPr>
            </a:lvl2pPr>
            <a:lvl3pPr marL="685835" indent="0" algn="ctr">
              <a:buNone/>
              <a:defRPr>
                <a:solidFill>
                  <a:schemeClr val="tx1">
                    <a:tint val="75000"/>
                  </a:schemeClr>
                </a:solidFill>
              </a:defRPr>
            </a:lvl3pPr>
            <a:lvl4pPr marL="1028753" indent="0" algn="ctr">
              <a:buNone/>
              <a:defRPr>
                <a:solidFill>
                  <a:schemeClr val="tx1">
                    <a:tint val="75000"/>
                  </a:schemeClr>
                </a:solidFill>
              </a:defRPr>
            </a:lvl4pPr>
            <a:lvl5pPr marL="1371669" indent="0" algn="ctr">
              <a:buNone/>
              <a:defRPr>
                <a:solidFill>
                  <a:schemeClr val="tx1">
                    <a:tint val="75000"/>
                  </a:schemeClr>
                </a:solidFill>
              </a:defRPr>
            </a:lvl5pPr>
            <a:lvl6pPr marL="1714586" indent="0" algn="ctr">
              <a:buNone/>
              <a:defRPr>
                <a:solidFill>
                  <a:schemeClr val="tx1">
                    <a:tint val="75000"/>
                  </a:schemeClr>
                </a:solidFill>
              </a:defRPr>
            </a:lvl6pPr>
            <a:lvl7pPr marL="2057502" indent="0" algn="ctr">
              <a:buNone/>
              <a:defRPr>
                <a:solidFill>
                  <a:schemeClr val="tx1">
                    <a:tint val="75000"/>
                  </a:schemeClr>
                </a:solidFill>
              </a:defRPr>
            </a:lvl7pPr>
            <a:lvl8pPr marL="2400420" indent="0" algn="ctr">
              <a:buNone/>
              <a:defRPr>
                <a:solidFill>
                  <a:schemeClr val="tx1">
                    <a:tint val="75000"/>
                  </a:schemeClr>
                </a:solidFill>
              </a:defRPr>
            </a:lvl8pPr>
            <a:lvl9pPr marL="274333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49914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608047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5" y="2906714"/>
            <a:ext cx="7772400" cy="1500188"/>
          </a:xfrm>
        </p:spPr>
        <p:txBody>
          <a:bodyPr anchor="b"/>
          <a:lstStyle>
            <a:lvl1pPr marL="0" indent="0">
              <a:buNone/>
              <a:defRPr sz="1500">
                <a:solidFill>
                  <a:schemeClr val="tx1">
                    <a:tint val="75000"/>
                  </a:schemeClr>
                </a:solidFill>
              </a:defRPr>
            </a:lvl1pPr>
            <a:lvl2pPr marL="342917" indent="0">
              <a:buNone/>
              <a:defRPr sz="1350">
                <a:solidFill>
                  <a:schemeClr val="tx1">
                    <a:tint val="75000"/>
                  </a:schemeClr>
                </a:solidFill>
              </a:defRPr>
            </a:lvl2pPr>
            <a:lvl3pPr marL="685835" indent="0">
              <a:buNone/>
              <a:defRPr sz="1200">
                <a:solidFill>
                  <a:schemeClr val="tx1">
                    <a:tint val="75000"/>
                  </a:schemeClr>
                </a:solidFill>
              </a:defRPr>
            </a:lvl3pPr>
            <a:lvl4pPr marL="1028753" indent="0">
              <a:buNone/>
              <a:defRPr sz="1050">
                <a:solidFill>
                  <a:schemeClr val="tx1">
                    <a:tint val="75000"/>
                  </a:schemeClr>
                </a:solidFill>
              </a:defRPr>
            </a:lvl4pPr>
            <a:lvl5pPr marL="1371669" indent="0">
              <a:buNone/>
              <a:defRPr sz="1050">
                <a:solidFill>
                  <a:schemeClr val="tx1">
                    <a:tint val="75000"/>
                  </a:schemeClr>
                </a:solidFill>
              </a:defRPr>
            </a:lvl5pPr>
            <a:lvl6pPr marL="1714586" indent="0">
              <a:buNone/>
              <a:defRPr sz="1050">
                <a:solidFill>
                  <a:schemeClr val="tx1">
                    <a:tint val="75000"/>
                  </a:schemeClr>
                </a:solidFill>
              </a:defRPr>
            </a:lvl6pPr>
            <a:lvl7pPr marL="2057502" indent="0">
              <a:buNone/>
              <a:defRPr sz="1050">
                <a:solidFill>
                  <a:schemeClr val="tx1">
                    <a:tint val="75000"/>
                  </a:schemeClr>
                </a:solidFill>
              </a:defRPr>
            </a:lvl7pPr>
            <a:lvl8pPr marL="2400420" indent="0">
              <a:buNone/>
              <a:defRPr sz="1050">
                <a:solidFill>
                  <a:schemeClr val="tx1">
                    <a:tint val="75000"/>
                  </a:schemeClr>
                </a:solidFill>
              </a:defRPr>
            </a:lvl8pPr>
            <a:lvl9pPr marL="274333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39665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3"/>
            <a:ext cx="4038600" cy="452596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3"/>
            <a:ext cx="4038600" cy="452596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298351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4"/>
            <a:ext cx="4040189" cy="639762"/>
          </a:xfrm>
        </p:spPr>
        <p:txBody>
          <a:bodyPr anchor="b"/>
          <a:lstStyle>
            <a:lvl1pPr marL="0" indent="0">
              <a:buNone/>
              <a:defRPr sz="1800" b="1"/>
            </a:lvl1pPr>
            <a:lvl2pPr marL="342917" indent="0">
              <a:buNone/>
              <a:defRPr sz="1500" b="1"/>
            </a:lvl2pPr>
            <a:lvl3pPr marL="685835" indent="0">
              <a:buNone/>
              <a:defRPr sz="1350" b="1"/>
            </a:lvl3pPr>
            <a:lvl4pPr marL="1028753" indent="0">
              <a:buNone/>
              <a:defRPr sz="1200" b="1"/>
            </a:lvl4pPr>
            <a:lvl5pPr marL="1371669" indent="0">
              <a:buNone/>
              <a:defRPr sz="1200" b="1"/>
            </a:lvl5pPr>
            <a:lvl6pPr marL="1714586" indent="0">
              <a:buNone/>
              <a:defRPr sz="1200" b="1"/>
            </a:lvl6pPr>
            <a:lvl7pPr marL="2057502" indent="0">
              <a:buNone/>
              <a:defRPr sz="1200" b="1"/>
            </a:lvl7pPr>
            <a:lvl8pPr marL="2400420" indent="0">
              <a:buNone/>
              <a:defRPr sz="1200" b="1"/>
            </a:lvl8pPr>
            <a:lvl9pPr marL="2743338"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2" y="2174876"/>
            <a:ext cx="4040189"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4"/>
            <a:ext cx="4041776" cy="639762"/>
          </a:xfrm>
        </p:spPr>
        <p:txBody>
          <a:bodyPr anchor="b"/>
          <a:lstStyle>
            <a:lvl1pPr marL="0" indent="0">
              <a:buNone/>
              <a:defRPr sz="1800" b="1"/>
            </a:lvl1pPr>
            <a:lvl2pPr marL="342917" indent="0">
              <a:buNone/>
              <a:defRPr sz="1500" b="1"/>
            </a:lvl2pPr>
            <a:lvl3pPr marL="685835" indent="0">
              <a:buNone/>
              <a:defRPr sz="1350" b="1"/>
            </a:lvl3pPr>
            <a:lvl4pPr marL="1028753" indent="0">
              <a:buNone/>
              <a:defRPr sz="1200" b="1"/>
            </a:lvl4pPr>
            <a:lvl5pPr marL="1371669" indent="0">
              <a:buNone/>
              <a:defRPr sz="1200" b="1"/>
            </a:lvl5pPr>
            <a:lvl6pPr marL="1714586" indent="0">
              <a:buNone/>
              <a:defRPr sz="1200" b="1"/>
            </a:lvl6pPr>
            <a:lvl7pPr marL="2057502" indent="0">
              <a:buNone/>
              <a:defRPr sz="1200" b="1"/>
            </a:lvl7pPr>
            <a:lvl8pPr marL="2400420" indent="0">
              <a:buNone/>
              <a:defRPr sz="1200" b="1"/>
            </a:lvl8pPr>
            <a:lvl9pPr marL="274333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7" y="2174876"/>
            <a:ext cx="4041776"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155862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85851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48585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4" y="273055"/>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4"/>
            <a:ext cx="3008315" cy="4691063"/>
          </a:xfrm>
        </p:spPr>
        <p:txBody>
          <a:bodyPr/>
          <a:lstStyle>
            <a:lvl1pPr marL="0" indent="0">
              <a:buNone/>
              <a:defRPr sz="1050"/>
            </a:lvl1pPr>
            <a:lvl2pPr marL="342917" indent="0">
              <a:buNone/>
              <a:defRPr sz="900"/>
            </a:lvl2pPr>
            <a:lvl3pPr marL="685835" indent="0">
              <a:buNone/>
              <a:defRPr sz="750"/>
            </a:lvl3pPr>
            <a:lvl4pPr marL="1028753" indent="0">
              <a:buNone/>
              <a:defRPr sz="675"/>
            </a:lvl4pPr>
            <a:lvl5pPr marL="1371669" indent="0">
              <a:buNone/>
              <a:defRPr sz="675"/>
            </a:lvl5pPr>
            <a:lvl6pPr marL="1714586" indent="0">
              <a:buNone/>
              <a:defRPr sz="675"/>
            </a:lvl6pPr>
            <a:lvl7pPr marL="2057502" indent="0">
              <a:buNone/>
              <a:defRPr sz="675"/>
            </a:lvl7pPr>
            <a:lvl8pPr marL="2400420" indent="0">
              <a:buNone/>
              <a:defRPr sz="675"/>
            </a:lvl8pPr>
            <a:lvl9pPr marL="274333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061185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4"/>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6"/>
            <a:ext cx="5486400" cy="4114800"/>
          </a:xfrm>
        </p:spPr>
        <p:txBody>
          <a:bodyPr/>
          <a:lstStyle>
            <a:lvl1pPr marL="0" indent="0">
              <a:buNone/>
              <a:defRPr sz="2400"/>
            </a:lvl1pPr>
            <a:lvl2pPr marL="342917" indent="0">
              <a:buNone/>
              <a:defRPr sz="2100"/>
            </a:lvl2pPr>
            <a:lvl3pPr marL="685835" indent="0">
              <a:buNone/>
              <a:defRPr sz="1800"/>
            </a:lvl3pPr>
            <a:lvl4pPr marL="1028753" indent="0">
              <a:buNone/>
              <a:defRPr sz="1500"/>
            </a:lvl4pPr>
            <a:lvl5pPr marL="1371669" indent="0">
              <a:buNone/>
              <a:defRPr sz="1500"/>
            </a:lvl5pPr>
            <a:lvl6pPr marL="1714586" indent="0">
              <a:buNone/>
              <a:defRPr sz="1500"/>
            </a:lvl6pPr>
            <a:lvl7pPr marL="2057502" indent="0">
              <a:buNone/>
              <a:defRPr sz="1500"/>
            </a:lvl7pPr>
            <a:lvl8pPr marL="2400420" indent="0">
              <a:buNone/>
              <a:defRPr sz="1500"/>
            </a:lvl8pPr>
            <a:lvl9pPr marL="2743338" indent="0">
              <a:buNone/>
              <a:defRPr sz="1500"/>
            </a:lvl9pPr>
          </a:lstStyle>
          <a:p>
            <a:endParaRPr lang="en-US"/>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050"/>
            </a:lvl1pPr>
            <a:lvl2pPr marL="342917" indent="0">
              <a:buNone/>
              <a:defRPr sz="900"/>
            </a:lvl2pPr>
            <a:lvl3pPr marL="685835" indent="0">
              <a:buNone/>
              <a:defRPr sz="750"/>
            </a:lvl3pPr>
            <a:lvl4pPr marL="1028753" indent="0">
              <a:buNone/>
              <a:defRPr sz="675"/>
            </a:lvl4pPr>
            <a:lvl5pPr marL="1371669" indent="0">
              <a:buNone/>
              <a:defRPr sz="675"/>
            </a:lvl5pPr>
            <a:lvl6pPr marL="1714586" indent="0">
              <a:buNone/>
              <a:defRPr sz="675"/>
            </a:lvl6pPr>
            <a:lvl7pPr marL="2057502" indent="0">
              <a:buNone/>
              <a:defRPr sz="675"/>
            </a:lvl7pPr>
            <a:lvl8pPr marL="2400420" indent="0">
              <a:buNone/>
              <a:defRPr sz="675"/>
            </a:lvl8pPr>
            <a:lvl9pPr marL="274333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383468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971953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936861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411957"/>
            <a:ext cx="16459200" cy="17145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914400" y="2400305"/>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9296400" y="2400305"/>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18482775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411959"/>
            <a:ext cx="16459200" cy="8777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Rectangle 4">
            <a:extLst>
              <a:ext uri="{FF2B5EF4-FFF2-40B4-BE49-F238E27FC236}">
                <a16:creationId xmlns:a16="http://schemas.microsoft.com/office/drawing/2014/main" id="{A78232EC-B2A8-C143-ACB0-89F0E5D889B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E5602903-C5EA-6C4C-B5F2-B86D2D565E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F1A0A5-AD10-2340-BC89-9D16FDAD00D9}"/>
              </a:ext>
            </a:extLst>
          </p:cNvPr>
          <p:cNvSpPr>
            <a:spLocks noGrp="1" noChangeArrowheads="1"/>
          </p:cNvSpPr>
          <p:nvPr>
            <p:ph type="sldNum" sz="quarter" idx="12"/>
          </p:nvPr>
        </p:nvSpPr>
        <p:spPr>
          <a:ln/>
        </p:spPr>
        <p:txBody>
          <a:bodyPr/>
          <a:lstStyle>
            <a:lvl1pPr>
              <a:defRPr/>
            </a:lvl1pPr>
          </a:lstStyle>
          <a:p>
            <a:fld id="{96A68D32-FF93-834A-B58C-1FA432242830}" type="slidenum">
              <a:rPr lang="en-US" altLang="en-US"/>
              <a:pPr/>
              <a:t>‹#›</a:t>
            </a:fld>
            <a:endParaRPr lang="en-US" altLang="en-US"/>
          </a:p>
        </p:txBody>
      </p:sp>
    </p:spTree>
    <p:extLst>
      <p:ext uri="{BB962C8B-B14F-4D97-AF65-F5344CB8AC3E}">
        <p14:creationId xmlns:p14="http://schemas.microsoft.com/office/powerpoint/2010/main" val="7818606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070623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648259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611474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55371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026208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133520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280201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235653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623626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325417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875971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411957"/>
            <a:ext cx="16459200" cy="17145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914400" y="2400301"/>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9296400" y="2400301"/>
            <a:ext cx="8077200" cy="67889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CA130A59-24D6-BF44-B4BD-970B6853FB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2DA918-BA26-C842-8E1E-1ED32CE274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2F81648-DEEE-D640-983E-74FC943C9CDF}"/>
              </a:ext>
            </a:extLst>
          </p:cNvPr>
          <p:cNvSpPr>
            <a:spLocks noGrp="1" noChangeArrowheads="1"/>
          </p:cNvSpPr>
          <p:nvPr>
            <p:ph type="sldNum" sz="quarter" idx="12"/>
          </p:nvPr>
        </p:nvSpPr>
        <p:spPr>
          <a:ln/>
        </p:spPr>
        <p:txBody>
          <a:bodyPr/>
          <a:lstStyle>
            <a:lvl1pPr>
              <a:defRPr/>
            </a:lvl1pPr>
          </a:lstStyle>
          <a:p>
            <a:fld id="{7F318B0F-B1AF-594B-AA89-D1C92B2445CC}" type="slidenum">
              <a:rPr lang="en-US" altLang="en-US"/>
              <a:pPr/>
              <a:t>‹#›</a:t>
            </a:fld>
            <a:endParaRPr lang="en-US" altLang="en-US"/>
          </a:p>
        </p:txBody>
      </p:sp>
    </p:spTree>
    <p:extLst>
      <p:ext uri="{BB962C8B-B14F-4D97-AF65-F5344CB8AC3E}">
        <p14:creationId xmlns:p14="http://schemas.microsoft.com/office/powerpoint/2010/main" val="14846010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Portfolio 2 Images">
    <p:spTree>
      <p:nvGrpSpPr>
        <p:cNvPr id="1" name=""/>
        <p:cNvGrpSpPr/>
        <p:nvPr/>
      </p:nvGrpSpPr>
      <p:grpSpPr>
        <a:xfrm>
          <a:off x="0" y="0"/>
          <a:ext cx="0" cy="0"/>
          <a:chOff x="0" y="0"/>
          <a:chExt cx="0" cy="0"/>
        </a:xfrm>
      </p:grpSpPr>
      <p:sp>
        <p:nvSpPr>
          <p:cNvPr id="6" name="Picture Placeholder 13"/>
          <p:cNvSpPr>
            <a:spLocks noGrp="1"/>
          </p:cNvSpPr>
          <p:nvPr>
            <p:ph type="pic" sz="quarter" idx="27"/>
          </p:nvPr>
        </p:nvSpPr>
        <p:spPr>
          <a:xfrm>
            <a:off x="0" y="0"/>
            <a:ext cx="18288000" cy="6540191"/>
          </a:xfrm>
          <a:solidFill>
            <a:schemeClr val="bg1">
              <a:lumMod val="95000"/>
            </a:schemeClr>
          </a:solidFill>
          <a:effectLst/>
        </p:spPr>
        <p:txBody>
          <a:bodyPr>
            <a:normAutofit/>
          </a:bodyPr>
          <a:lstStyle>
            <a:lvl1pPr marL="0" indent="0">
              <a:buNone/>
              <a:defRPr sz="1950" b="0" i="0">
                <a:ln>
                  <a:noFill/>
                </a:ln>
                <a:solidFill>
                  <a:schemeClr val="bg1">
                    <a:lumMod val="85000"/>
                  </a:schemeClr>
                </a:solidFill>
                <a:latin typeface="Open Sans" charset="0"/>
                <a:ea typeface="Open Sans" charset="0"/>
                <a:cs typeface="Open Sans" charset="0"/>
              </a:defRPr>
            </a:lvl1pPr>
          </a:lstStyle>
          <a:p>
            <a:endParaRPr lang="en-US" dirty="0"/>
          </a:p>
        </p:txBody>
      </p:sp>
    </p:spTree>
    <p:extLst>
      <p:ext uri="{BB962C8B-B14F-4D97-AF65-F5344CB8AC3E}">
        <p14:creationId xmlns:p14="http://schemas.microsoft.com/office/powerpoint/2010/main" val="58020414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jpe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0"/>
              </a:defRPr>
            </a:lvl1pPr>
          </a:lstStyle>
          <a:p>
            <a:fld id="{1D8BD707-D9CF-40AE-B4C6-C98DA3205C09}" type="datetimeFigureOut">
              <a:rPr lang="en-US" smtClean="0"/>
              <a:pPr/>
              <a:t>3/22/26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DM Sans" pitchFamily="2" charset="0"/>
          <a:ea typeface="+mj-ea"/>
          <a:cs typeface="+mj-cs"/>
        </a:defRPr>
      </a:lvl1pPr>
    </p:titleStyle>
    <p:body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3"/>
            <a:ext cx="8229600" cy="452596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4"/>
            <a:ext cx="2133600" cy="365126"/>
          </a:xfrm>
          <a:prstGeom prst="rect">
            <a:avLst/>
          </a:prstGeom>
        </p:spPr>
        <p:txBody>
          <a:bodyPr vert="horz" lIns="91440" tIns="45720" rIns="91440" bIns="45720" rtlCol="0" anchor="ctr"/>
          <a:lstStyle>
            <a:lvl1pPr algn="l">
              <a:defRPr sz="900">
                <a:solidFill>
                  <a:schemeClr val="tx1">
                    <a:tint val="75000"/>
                  </a:schemeClr>
                </a:solidFill>
                <a:latin typeface="DM Sans" pitchFamily="2" charset="0"/>
              </a:defRPr>
            </a:lvl1pPr>
          </a:lstStyle>
          <a:p>
            <a:fld id="{1D8BD707-D9CF-40AE-B4C6-C98DA3205C09}" type="datetimeFigureOut">
              <a:rPr lang="en-US" smtClean="0"/>
              <a:pPr/>
              <a:t>3/22/26</a:t>
            </a:fld>
            <a:endParaRPr lang="en-US"/>
          </a:p>
        </p:txBody>
      </p:sp>
      <p:sp>
        <p:nvSpPr>
          <p:cNvPr id="5" name="Footer Placeholder 4"/>
          <p:cNvSpPr>
            <a:spLocks noGrp="1"/>
          </p:cNvSpPr>
          <p:nvPr>
            <p:ph type="ftr" sz="quarter" idx="3"/>
          </p:nvPr>
        </p:nvSpPr>
        <p:spPr>
          <a:xfrm>
            <a:off x="3124200" y="6356354"/>
            <a:ext cx="2895600" cy="365126"/>
          </a:xfrm>
          <a:prstGeom prst="rect">
            <a:avLst/>
          </a:prstGeom>
        </p:spPr>
        <p:txBody>
          <a:bodyPr vert="horz" lIns="91440" tIns="45720" rIns="91440" bIns="45720" rtlCol="0" anchor="ctr"/>
          <a:lstStyle>
            <a:lvl1pPr algn="ctr">
              <a:defRPr sz="9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4"/>
            <a:ext cx="2133600" cy="365126"/>
          </a:xfrm>
          <a:prstGeom prst="rect">
            <a:avLst/>
          </a:prstGeom>
        </p:spPr>
        <p:txBody>
          <a:bodyPr vert="horz" lIns="91440" tIns="45720" rIns="91440" bIns="45720" rtlCol="0" anchor="ctr"/>
          <a:lstStyle>
            <a:lvl1pPr algn="r">
              <a:defRPr sz="9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7998890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685835" rtl="0" eaLnBrk="1" latinLnBrk="0" hangingPunct="1">
        <a:spcBef>
          <a:spcPct val="0"/>
        </a:spcBef>
        <a:buNone/>
        <a:defRPr sz="3300" kern="1200">
          <a:solidFill>
            <a:schemeClr val="tx1"/>
          </a:solidFill>
          <a:latin typeface="DM Sans" pitchFamily="2" charset="0"/>
          <a:ea typeface="+mj-ea"/>
          <a:cs typeface="+mj-cs"/>
        </a:defRPr>
      </a:lvl1pPr>
    </p:titleStyle>
    <p:bodyStyle>
      <a:lvl1pPr marL="257187" indent="-257187" algn="l" defTabSz="685835"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1pPr>
      <a:lvl2pPr marL="557241" indent="-214325" algn="l" defTabSz="685835" rtl="0" eaLnBrk="1" latinLnBrk="0" hangingPunct="1">
        <a:spcBef>
          <a:spcPct val="20000"/>
        </a:spcBef>
        <a:buFont typeface="DM Sans" pitchFamily="34" charset="0"/>
        <a:buChar char="–"/>
        <a:defRPr sz="2100" kern="1200">
          <a:solidFill>
            <a:schemeClr val="tx1"/>
          </a:solidFill>
          <a:latin typeface="DM Sans" pitchFamily="2" charset="0"/>
          <a:ea typeface="+mn-ea"/>
          <a:cs typeface="+mn-cs"/>
        </a:defRPr>
      </a:lvl2pPr>
      <a:lvl3pPr marL="857294" indent="-171459" algn="l" defTabSz="685835" rtl="0" eaLnBrk="1" latinLnBrk="0" hangingPunct="1">
        <a:spcBef>
          <a:spcPct val="20000"/>
        </a:spcBef>
        <a:buFont typeface="DM Sans" pitchFamily="34" charset="0"/>
        <a:buChar char="•"/>
        <a:defRPr sz="1800" kern="1200">
          <a:solidFill>
            <a:schemeClr val="tx1"/>
          </a:solidFill>
          <a:latin typeface="DM Sans" pitchFamily="2" charset="0"/>
          <a:ea typeface="+mn-ea"/>
          <a:cs typeface="+mn-cs"/>
        </a:defRPr>
      </a:lvl3pPr>
      <a:lvl4pPr marL="1200210" indent="-171459" algn="l" defTabSz="685835" rtl="0" eaLnBrk="1" latinLnBrk="0" hangingPunct="1">
        <a:spcBef>
          <a:spcPct val="20000"/>
        </a:spcBef>
        <a:buFont typeface="DM Sans" pitchFamily="34" charset="0"/>
        <a:buChar char="–"/>
        <a:defRPr sz="1500" kern="1200">
          <a:solidFill>
            <a:schemeClr val="tx1"/>
          </a:solidFill>
          <a:latin typeface="DM Sans" pitchFamily="2" charset="0"/>
          <a:ea typeface="+mn-ea"/>
          <a:cs typeface="+mn-cs"/>
        </a:defRPr>
      </a:lvl4pPr>
      <a:lvl5pPr marL="1543128" indent="-171459" algn="l" defTabSz="685835" rtl="0" eaLnBrk="1" latinLnBrk="0" hangingPunct="1">
        <a:spcBef>
          <a:spcPct val="20000"/>
        </a:spcBef>
        <a:buFont typeface="DM Sans" pitchFamily="34" charset="0"/>
        <a:buChar char="»"/>
        <a:defRPr sz="1500" kern="1200">
          <a:solidFill>
            <a:schemeClr val="tx1"/>
          </a:solidFill>
          <a:latin typeface="DM Sans" pitchFamily="2" charset="0"/>
          <a:ea typeface="+mn-ea"/>
          <a:cs typeface="+mn-cs"/>
        </a:defRPr>
      </a:lvl5pPr>
      <a:lvl6pPr marL="1886045"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6pPr>
      <a:lvl7pPr marL="2228961"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7pPr>
      <a:lvl8pPr marL="2571879"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8pPr>
      <a:lvl9pPr marL="2914797" indent="-171459" algn="l" defTabSz="685835" rtl="0" eaLnBrk="1" latinLnBrk="0" hangingPunct="1">
        <a:spcBef>
          <a:spcPct val="20000"/>
        </a:spcBef>
        <a:buFont typeface="DM Sans" pitchFamily="34" charset="0"/>
        <a:buChar char="•"/>
        <a:defRPr sz="1500" kern="1200">
          <a:solidFill>
            <a:schemeClr val="tx1"/>
          </a:solidFill>
          <a:latin typeface="+mn-lt"/>
          <a:ea typeface="+mn-ea"/>
          <a:cs typeface="+mn-cs"/>
        </a:defRPr>
      </a:lvl9pPr>
    </p:bodyStyle>
    <p:otherStyle>
      <a:defPPr>
        <a:defRPr lang="en-US"/>
      </a:defPPr>
      <a:lvl1pPr marL="0" algn="l" defTabSz="685835" rtl="0" eaLnBrk="1" latinLnBrk="0" hangingPunct="1">
        <a:defRPr sz="1350" kern="1200">
          <a:solidFill>
            <a:schemeClr val="tx1"/>
          </a:solidFill>
          <a:latin typeface="+mn-lt"/>
          <a:ea typeface="+mn-ea"/>
          <a:cs typeface="+mn-cs"/>
        </a:defRPr>
      </a:lvl1pPr>
      <a:lvl2pPr marL="342917" algn="l" defTabSz="685835" rtl="0" eaLnBrk="1" latinLnBrk="0" hangingPunct="1">
        <a:defRPr sz="1350" kern="1200">
          <a:solidFill>
            <a:schemeClr val="tx1"/>
          </a:solidFill>
          <a:latin typeface="+mn-lt"/>
          <a:ea typeface="+mn-ea"/>
          <a:cs typeface="+mn-cs"/>
        </a:defRPr>
      </a:lvl2pPr>
      <a:lvl3pPr marL="685835" algn="l" defTabSz="685835" rtl="0" eaLnBrk="1" latinLnBrk="0" hangingPunct="1">
        <a:defRPr sz="1350" kern="1200">
          <a:solidFill>
            <a:schemeClr val="tx1"/>
          </a:solidFill>
          <a:latin typeface="+mn-lt"/>
          <a:ea typeface="+mn-ea"/>
          <a:cs typeface="+mn-cs"/>
        </a:defRPr>
      </a:lvl3pPr>
      <a:lvl4pPr marL="1028753" algn="l" defTabSz="685835" rtl="0" eaLnBrk="1" latinLnBrk="0" hangingPunct="1">
        <a:defRPr sz="1350" kern="1200">
          <a:solidFill>
            <a:schemeClr val="tx1"/>
          </a:solidFill>
          <a:latin typeface="+mn-lt"/>
          <a:ea typeface="+mn-ea"/>
          <a:cs typeface="+mn-cs"/>
        </a:defRPr>
      </a:lvl4pPr>
      <a:lvl5pPr marL="1371669" algn="l" defTabSz="685835" rtl="0" eaLnBrk="1" latinLnBrk="0" hangingPunct="1">
        <a:defRPr sz="1350" kern="1200">
          <a:solidFill>
            <a:schemeClr val="tx1"/>
          </a:solidFill>
          <a:latin typeface="+mn-lt"/>
          <a:ea typeface="+mn-ea"/>
          <a:cs typeface="+mn-cs"/>
        </a:defRPr>
      </a:lvl5pPr>
      <a:lvl6pPr marL="1714586" algn="l" defTabSz="685835" rtl="0" eaLnBrk="1" latinLnBrk="0" hangingPunct="1">
        <a:defRPr sz="1350" kern="1200">
          <a:solidFill>
            <a:schemeClr val="tx1"/>
          </a:solidFill>
          <a:latin typeface="+mn-lt"/>
          <a:ea typeface="+mn-ea"/>
          <a:cs typeface="+mn-cs"/>
        </a:defRPr>
      </a:lvl6pPr>
      <a:lvl7pPr marL="2057502" algn="l" defTabSz="685835" rtl="0" eaLnBrk="1" latinLnBrk="0" hangingPunct="1">
        <a:defRPr sz="1350" kern="1200">
          <a:solidFill>
            <a:schemeClr val="tx1"/>
          </a:solidFill>
          <a:latin typeface="+mn-lt"/>
          <a:ea typeface="+mn-ea"/>
          <a:cs typeface="+mn-cs"/>
        </a:defRPr>
      </a:lvl7pPr>
      <a:lvl8pPr marL="2400420" algn="l" defTabSz="685835" rtl="0" eaLnBrk="1" latinLnBrk="0" hangingPunct="1">
        <a:defRPr sz="1350" kern="1200">
          <a:solidFill>
            <a:schemeClr val="tx1"/>
          </a:solidFill>
          <a:latin typeface="+mn-lt"/>
          <a:ea typeface="+mn-ea"/>
          <a:cs typeface="+mn-cs"/>
        </a:defRPr>
      </a:lvl8pPr>
      <a:lvl9pPr marL="2743338" algn="l" defTabSz="685835"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0"/>
              </a:defRPr>
            </a:lvl1pPr>
          </a:lstStyle>
          <a:p>
            <a:fld id="{1D8BD707-D9CF-40AE-B4C6-C98DA3205C09}" type="datetimeFigureOut">
              <a:rPr lang="en-US" smtClean="0"/>
              <a:pPr/>
              <a:t>3/22/26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0"/>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5538897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ctr" defTabSz="914400" rtl="0" eaLnBrk="1" latinLnBrk="0" hangingPunct="1">
        <a:spcBef>
          <a:spcPct val="0"/>
        </a:spcBef>
        <a:buNone/>
        <a:defRPr sz="4400" kern="1200">
          <a:solidFill>
            <a:schemeClr val="tx1"/>
          </a:solidFill>
          <a:latin typeface="DM Sans" pitchFamily="2" charset="0"/>
          <a:ea typeface="+mj-ea"/>
          <a:cs typeface="+mj-cs"/>
        </a:defRPr>
      </a:lvl1pPr>
    </p:titleStyle>
    <p:body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6.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2.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2.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2.jp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0.emf"/><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0.emf"/><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22.emf"/><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31.jp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33.jpe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35.jpg"/><Relationship Id="rId5" Type="http://schemas.openxmlformats.org/officeDocument/2006/relationships/image" Target="../media/image34.jp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19.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22.emf"/><Relationship Id="rId5" Type="http://schemas.openxmlformats.org/officeDocument/2006/relationships/image" Target="../media/image19.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7.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41.jpe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9.xml"/><Relationship Id="rId1" Type="http://schemas.openxmlformats.org/officeDocument/2006/relationships/slideLayout" Target="../slideLayouts/slideLayout7.xml"/><Relationship Id="rId5" Type="http://schemas.openxmlformats.org/officeDocument/2006/relationships/image" Target="../media/image41.jpe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0.xml"/><Relationship Id="rId1" Type="http://schemas.openxmlformats.org/officeDocument/2006/relationships/slideLayout" Target="../slideLayouts/slideLayout7.xml"/><Relationship Id="rId6" Type="http://schemas.openxmlformats.org/officeDocument/2006/relationships/image" Target="../media/image41.jpeg"/><Relationship Id="rId5" Type="http://schemas.openxmlformats.org/officeDocument/2006/relationships/image" Target="../media/image42.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2.xml"/><Relationship Id="rId1" Type="http://schemas.openxmlformats.org/officeDocument/2006/relationships/slideLayout" Target="../slideLayouts/slideLayout7.xml"/><Relationship Id="rId5" Type="http://schemas.openxmlformats.org/officeDocument/2006/relationships/image" Target="../media/image43.emf"/><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44.jpg"/></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5.jpeg"/></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image" Target="../media/image46.jpe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7.xml"/><Relationship Id="rId1" Type="http://schemas.openxmlformats.org/officeDocument/2006/relationships/slideLayout" Target="../slideLayouts/slideLayout26.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9.xml"/><Relationship Id="rId1" Type="http://schemas.openxmlformats.org/officeDocument/2006/relationships/slideLayout" Target="../slideLayouts/slideLayout26.xml"/><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31.xml"/><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8.xml"/><Relationship Id="rId1" Type="http://schemas.openxmlformats.org/officeDocument/2006/relationships/slideLayout" Target="../slideLayouts/slideLayout18.xml"/><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3" name="Freeform 13"/>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14">
            <a:extLst>
              <a:ext uri="{FF2B5EF4-FFF2-40B4-BE49-F238E27FC236}">
                <a16:creationId xmlns:a16="http://schemas.microsoft.com/office/drawing/2014/main" id="{F0DA2D17-C40D-DA25-624F-1D8A297B593A}"/>
              </a:ext>
            </a:extLst>
          </p:cNvPr>
          <p:cNvSpPr txBox="1"/>
          <p:nvPr/>
        </p:nvSpPr>
        <p:spPr>
          <a:xfrm>
            <a:off x="1319472" y="3199688"/>
            <a:ext cx="14764384" cy="4172361"/>
          </a:xfrm>
          <a:prstGeom prst="rect">
            <a:avLst/>
          </a:prstGeom>
        </p:spPr>
        <p:txBody>
          <a:bodyPr wrap="square" lIns="0" tIns="0" rIns="0" bIns="0" rtlCol="0" anchor="t">
            <a:spAutoFit/>
          </a:bodyPr>
          <a:lstStyle/>
          <a:p>
            <a:pPr>
              <a:lnSpc>
                <a:spcPts val="10999"/>
              </a:lnSpc>
            </a:pPr>
            <a:r>
              <a:rPr lang="en-GB" altLang="en-US" sz="8000" b="1" dirty="0">
                <a:solidFill>
                  <a:schemeClr val="bg1"/>
                </a:solidFill>
              </a:rPr>
              <a:t>Climate Change Impacts</a:t>
            </a:r>
          </a:p>
          <a:p>
            <a:pPr>
              <a:lnSpc>
                <a:spcPts val="10999"/>
              </a:lnSpc>
            </a:pPr>
            <a:r>
              <a:rPr lang="en-GB" altLang="en-US" sz="8000" b="1" dirty="0">
                <a:solidFill>
                  <a:schemeClr val="bg1"/>
                </a:solidFill>
              </a:rPr>
              <a:t>Adapting to Climate Change</a:t>
            </a:r>
            <a:br>
              <a:rPr lang="en-GB" altLang="en-US" sz="8000" b="1" dirty="0">
                <a:solidFill>
                  <a:schemeClr val="bg1"/>
                </a:solidFill>
              </a:rPr>
            </a:br>
            <a:endParaRPr lang="en-US" sz="8000" b="1" dirty="0">
              <a:solidFill>
                <a:schemeClr val="bg1"/>
              </a:solidFill>
              <a:latin typeface="DM Sans" pitchFamily="2" charset="0"/>
            </a:endParaRPr>
          </a:p>
        </p:txBody>
      </p:sp>
      <p:sp>
        <p:nvSpPr>
          <p:cNvPr id="3" name="TextBox 14">
            <a:extLst>
              <a:ext uri="{FF2B5EF4-FFF2-40B4-BE49-F238E27FC236}">
                <a16:creationId xmlns:a16="http://schemas.microsoft.com/office/drawing/2014/main" id="{4E4EAF08-B290-2C6A-BBCC-3221855F907B}"/>
              </a:ext>
            </a:extLst>
          </p:cNvPr>
          <p:cNvSpPr txBox="1"/>
          <p:nvPr/>
        </p:nvSpPr>
        <p:spPr>
          <a:xfrm>
            <a:off x="1371599" y="6256374"/>
            <a:ext cx="9787467" cy="2585901"/>
          </a:xfrm>
          <a:prstGeom prst="rect">
            <a:avLst/>
          </a:prstGeom>
        </p:spPr>
        <p:txBody>
          <a:bodyPr wrap="square" lIns="0" tIns="0" rIns="0" bIns="0" rtlCol="0" anchor="t">
            <a:spAutoFit/>
          </a:bodyPr>
          <a:lstStyle/>
          <a:p>
            <a:pPr>
              <a:lnSpc>
                <a:spcPts val="10999"/>
              </a:lnSpc>
            </a:pPr>
            <a:r>
              <a:rPr lang="en-US" sz="3200" b="1" dirty="0">
                <a:solidFill>
                  <a:srgbClr val="FAB700"/>
                </a:solidFill>
                <a:latin typeface="DM Sans" pitchFamily="2" charset="0"/>
              </a:rPr>
              <a:t>Global Climate Change EART21202 – Week 8</a:t>
            </a:r>
          </a:p>
          <a:p>
            <a:pPr>
              <a:lnSpc>
                <a:spcPts val="10999"/>
              </a:lnSpc>
            </a:pPr>
            <a:r>
              <a:rPr lang="en-US" sz="3200" b="1" dirty="0">
                <a:solidFill>
                  <a:srgbClr val="FAB700"/>
                </a:solidFill>
                <a:latin typeface="DM Sans" pitchFamily="2" charset="0"/>
              </a:rPr>
              <a:t>Dr Thomas </a:t>
            </a:r>
            <a:r>
              <a:rPr lang="en-US" sz="3200" b="1" dirty="0" err="1">
                <a:solidFill>
                  <a:srgbClr val="FAB700"/>
                </a:solidFill>
                <a:latin typeface="DM Sans" pitchFamily="2" charset="0"/>
              </a:rPr>
              <a:t>Bannan</a:t>
            </a:r>
            <a:r>
              <a:rPr lang="en-US" sz="3200" b="1" dirty="0">
                <a:solidFill>
                  <a:srgbClr val="FAB700"/>
                </a:solidFill>
                <a:latin typeface="DM Sans" pitchFamily="2" charset="0"/>
              </a:rPr>
              <a:t> </a:t>
            </a:r>
          </a:p>
        </p:txBody>
      </p:sp>
      <p:sp>
        <p:nvSpPr>
          <p:cNvPr id="4" name="TextBox 3">
            <a:extLst>
              <a:ext uri="{FF2B5EF4-FFF2-40B4-BE49-F238E27FC236}">
                <a16:creationId xmlns:a16="http://schemas.microsoft.com/office/drawing/2014/main" id="{5889A0A8-15D6-C5A0-517B-A5C87EE4AF42}"/>
              </a:ext>
            </a:extLst>
          </p:cNvPr>
          <p:cNvSpPr txBox="1"/>
          <p:nvPr/>
        </p:nvSpPr>
        <p:spPr>
          <a:xfrm>
            <a:off x="1371600" y="9077406"/>
            <a:ext cx="9047747" cy="461665"/>
          </a:xfrm>
          <a:prstGeom prst="rect">
            <a:avLst/>
          </a:prstGeom>
          <a:noFill/>
        </p:spPr>
        <p:txBody>
          <a:bodyPr wrap="square" rtlCol="0">
            <a:spAutoFit/>
          </a:bodyPr>
          <a:lstStyle/>
          <a:p>
            <a:r>
              <a:rPr lang="en-US" sz="2400" dirty="0" err="1">
                <a:solidFill>
                  <a:schemeClr val="bg1"/>
                </a:solidFill>
              </a:rPr>
              <a:t>Thomas.Bannan@Manchester.ac.uk</a:t>
            </a:r>
            <a:endParaRPr lang="en-US" sz="24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42188"/>
    </mc:Choice>
    <mc:Fallback xmlns="">
      <p:transition spd="slow" advTm="4218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9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mn-ea"/>
                <a:cs typeface="+mn-cs"/>
              </a:rPr>
              <a:t>Global Climate Change - 2026</a:t>
            </a:r>
          </a:p>
        </p:txBody>
      </p:sp>
      <p:sp>
        <p:nvSpPr>
          <p:cNvPr id="2" name="TextBox 1">
            <a:extLst>
              <a:ext uri="{FF2B5EF4-FFF2-40B4-BE49-F238E27FC236}">
                <a16:creationId xmlns:a16="http://schemas.microsoft.com/office/drawing/2014/main" id="{80BD60C8-019A-F807-75A8-73ADCA403375}"/>
              </a:ext>
            </a:extLst>
          </p:cNvPr>
          <p:cNvSpPr txBox="1"/>
          <p:nvPr/>
        </p:nvSpPr>
        <p:spPr>
          <a:xfrm>
            <a:off x="584198" y="2192954"/>
            <a:ext cx="17081234" cy="7294305"/>
          </a:xfrm>
          <a:prstGeom prst="rect">
            <a:avLst/>
          </a:prstGeom>
          <a:noFill/>
        </p:spPr>
        <p:txBody>
          <a:bodyPr wrap="square">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1 – </a:t>
            </a:r>
            <a:r>
              <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rPr>
              <a:t>Introduction to climate change and its impacts </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(5</a:t>
            </a:r>
            <a:r>
              <a:rPr kumimoji="0" lang="en-GB" sz="36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Feb)</a:t>
            </a: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2 – </a:t>
            </a:r>
            <a:r>
              <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rPr>
              <a:t>Natural climate variability</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(12</a:t>
            </a:r>
            <a:r>
              <a:rPr kumimoji="0" lang="en-GB" sz="36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Feb)</a:t>
            </a:r>
            <a:endPar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endParaRP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3 – </a:t>
            </a:r>
            <a:r>
              <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rPr>
              <a:t>Radiation Law/Greenhouse Effect/Radiative forcing/feedbacks</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(19</a:t>
            </a:r>
            <a:r>
              <a:rPr kumimoji="0" lang="en-GB" sz="36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Feb)</a:t>
            </a:r>
            <a:endPar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endParaRP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4 – A</a:t>
            </a:r>
            <a:r>
              <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rPr>
              <a:t>nthropogenic impacts </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(26</a:t>
            </a:r>
            <a:r>
              <a:rPr kumimoji="0" lang="en-GB" sz="36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Feb)</a:t>
            </a: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5 – </a:t>
            </a:r>
            <a:r>
              <a:rPr kumimoji="0" lang="en-GB" sz="3600" b="0" i="0" u="none" strike="noStrike" kern="1200" cap="none" spc="0" normalizeH="0" baseline="0" noProof="0" dirty="0">
                <a:ln>
                  <a:noFill/>
                </a:ln>
                <a:solidFill>
                  <a:prstClr val="white">
                    <a:lumMod val="65000"/>
                  </a:prstClr>
                </a:solidFill>
                <a:effectLst/>
                <a:uLnTx/>
                <a:uFillTx/>
                <a:latin typeface="Calibri" panose="020F0502020204030204" pitchFamily="34" charset="0"/>
                <a:ea typeface="+mn-ea"/>
                <a:cs typeface="Calibri" panose="020F0502020204030204" pitchFamily="34" charset="0"/>
              </a:rPr>
              <a:t>The Evidence Base for Climate Change </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(5</a:t>
            </a:r>
            <a:r>
              <a:rPr kumimoji="0" lang="en-GB" sz="36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March)</a:t>
            </a: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Week 6 – Mid Unit Test (10</a:t>
            </a:r>
            <a:r>
              <a:rPr kumimoji="0" lang="en-GB" sz="3600" b="0" i="0" u="none" strike="noStrike" kern="100" cap="none" spc="0" normalizeH="0" baseline="3000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 March) </a:t>
            </a:r>
          </a:p>
          <a:p>
            <a:pPr marL="0" marR="0" lvl="0" indent="0" algn="l" defTabSz="914445" rtl="0" eaLnBrk="1" fontAlgn="auto" latinLnBrk="0" hangingPunct="1">
              <a:lnSpc>
                <a:spcPct val="100000"/>
              </a:lnSpc>
              <a:spcBef>
                <a:spcPts val="0"/>
              </a:spcBef>
              <a:spcAft>
                <a:spcPts val="0"/>
              </a:spcAft>
              <a:buClrTx/>
              <a:buSzTx/>
              <a:buFontTx/>
              <a:buNone/>
              <a:tabLst/>
              <a:defRPr/>
            </a:pPr>
            <a:r>
              <a:rPr kumimoji="0" lang="en-GB" sz="36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Week 7 – </a:t>
            </a:r>
            <a:r>
              <a:rPr kumimoji="0" lang="en-GB" sz="3600" i="0" u="none" strike="noStrike" kern="1200" cap="none" spc="0" normalizeH="0" baseline="0" noProof="0" dirty="0">
                <a:ln>
                  <a:noFill/>
                </a:ln>
                <a:solidFill>
                  <a:schemeClr val="bg1">
                    <a:lumMod val="65000"/>
                  </a:schemeClr>
                </a:solidFill>
                <a:effectLst/>
                <a:uLnTx/>
                <a:uFillTx/>
                <a:latin typeface="Calibri" panose="020F0502020204030204" pitchFamily="34" charset="0"/>
                <a:ea typeface="+mn-ea"/>
                <a:cs typeface="Calibri" panose="020F0502020204030204" pitchFamily="34" charset="0"/>
              </a:rPr>
              <a:t>Climate Models  </a:t>
            </a:r>
            <a:r>
              <a:rPr kumimoji="0" lang="en-GB" sz="36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(19</a:t>
            </a:r>
            <a:r>
              <a:rPr kumimoji="0" lang="en-GB" sz="3600" i="0" u="none" strike="noStrike" kern="100" cap="none" spc="0" normalizeH="0" baseline="3000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i="0" u="none" strike="noStrike" kern="100" cap="none" spc="0" normalizeH="0" baseline="0" noProof="0" dirty="0">
                <a:ln>
                  <a:noFill/>
                </a:ln>
                <a:solidFill>
                  <a:schemeClr val="bg1">
                    <a:lumMod val="65000"/>
                  </a:schemeClr>
                </a:solidFill>
                <a:effectLst/>
                <a:uLnTx/>
                <a:uFillTx/>
                <a:latin typeface="Calibri" panose="020F0502020204030204" pitchFamily="34" charset="0"/>
                <a:ea typeface="Calibri" panose="020F0502020204030204" pitchFamily="34" charset="0"/>
                <a:cs typeface="Calibri" panose="020F0502020204030204" pitchFamily="34" charset="0"/>
              </a:rPr>
              <a:t> March)</a:t>
            </a:r>
          </a:p>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3600" b="1" i="0" u="none" strike="noStrike" kern="1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45" rtl="0" eaLnBrk="1" fontAlgn="auto" latinLnBrk="0" hangingPunct="1">
              <a:lnSpc>
                <a:spcPct val="100000"/>
              </a:lnSpc>
              <a:spcBef>
                <a:spcPts val="0"/>
              </a:spcBef>
              <a:spcAft>
                <a:spcPts val="0"/>
              </a:spcAft>
              <a:buClrTx/>
              <a:buSzTx/>
              <a:buFontTx/>
              <a:buNone/>
              <a:tabLst/>
              <a:defRPr/>
            </a:pPr>
            <a:r>
              <a:rPr kumimoji="0" lang="en-GB" sz="3600" b="1" i="0" u="none" strike="noStrike" kern="1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Week 8 – Climate C</a:t>
            </a:r>
            <a:r>
              <a:rPr kumimoji="0" lang="en-GB" sz="3600" b="1" i="0" u="none" strike="noStrike" kern="1200" cap="none" spc="0" normalizeH="0" baseline="0" noProof="0" dirty="0">
                <a:ln>
                  <a:noFill/>
                </a:ln>
                <a:solidFill>
                  <a:srgbClr val="FF0000"/>
                </a:solidFill>
                <a:effectLst/>
                <a:uLnTx/>
                <a:uFillTx/>
                <a:latin typeface="Calibri" panose="020F0502020204030204" pitchFamily="34" charset="0"/>
                <a:ea typeface="+mn-ea"/>
                <a:cs typeface="Calibri" panose="020F0502020204030204" pitchFamily="34" charset="0"/>
              </a:rPr>
              <a:t>hange Adaptation </a:t>
            </a:r>
            <a:r>
              <a:rPr kumimoji="0" lang="en-GB" sz="3600" b="1" i="0" u="none" strike="noStrike" kern="1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(26</a:t>
            </a:r>
            <a:r>
              <a:rPr kumimoji="0" lang="en-GB" sz="3600" b="1" i="0" u="none" strike="noStrike" kern="100" cap="none" spc="0" normalizeH="0" baseline="3000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1" i="0" u="none" strike="noStrike" kern="1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Calibri" panose="020F0502020204030204" pitchFamily="34" charset="0"/>
              </a:rPr>
              <a:t> March)</a:t>
            </a:r>
          </a:p>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3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45"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Week 9 – </a:t>
            </a:r>
            <a:r>
              <a:rPr kumimoji="0" lang="en-GB" sz="3600" b="0" i="0" u="none" strike="noStrike" kern="1200" cap="none" spc="0" normalizeH="0" baseline="0" noProof="0" dirty="0">
                <a:ln>
                  <a:noFill/>
                </a:ln>
                <a:solidFill>
                  <a:srgbClr val="212121"/>
                </a:solidFill>
                <a:effectLst/>
                <a:uLnTx/>
                <a:uFillTx/>
                <a:latin typeface="Calibri" panose="020F0502020204030204" pitchFamily="34" charset="0"/>
                <a:ea typeface="+mn-ea"/>
                <a:cs typeface="Calibri" panose="020F0502020204030204" pitchFamily="34" charset="0"/>
              </a:rPr>
              <a:t>Effects of Climate Change: </a:t>
            </a:r>
            <a:r>
              <a:rPr kumimoji="0" lang="en-GB" sz="3600" b="0" i="1" u="none" strike="noStrike" kern="1200" cap="none" spc="0" normalizeH="0" baseline="0" noProof="0" dirty="0">
                <a:ln>
                  <a:noFill/>
                </a:ln>
                <a:solidFill>
                  <a:srgbClr val="212121"/>
                </a:solidFill>
                <a:effectLst/>
                <a:uLnTx/>
                <a:uFillTx/>
                <a:latin typeface="Calibri" panose="020F0502020204030204" pitchFamily="34" charset="0"/>
                <a:ea typeface="+mn-ea"/>
                <a:cs typeface="Calibri" panose="020F0502020204030204" pitchFamily="34" charset="0"/>
              </a:rPr>
              <a:t>Case Studies </a:t>
            </a:r>
            <a:r>
              <a:rPr kumimoji="0" lang="en-GB" sz="3600" b="0" i="1"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(23</a:t>
            </a:r>
            <a:r>
              <a:rPr kumimoji="0" lang="en-GB" sz="3600" b="0" i="1" u="none" strike="noStrike" kern="100" cap="none" spc="0" normalizeH="0" baseline="3000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rd</a:t>
            </a:r>
            <a:r>
              <a:rPr kumimoji="0" lang="en-GB" sz="3600" b="0" i="1"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April)</a:t>
            </a:r>
          </a:p>
          <a:p>
            <a:pPr marL="0" marR="0" lvl="0" indent="0" algn="l" defTabSz="914445"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Week 10 – </a:t>
            </a:r>
            <a:r>
              <a:rPr kumimoji="0" lang="en-GB" sz="3600" b="0" i="0" u="none" strike="noStrike" kern="1200" cap="none" spc="0" normalizeH="0" baseline="0" noProof="0" dirty="0">
                <a:ln>
                  <a:noFill/>
                </a:ln>
                <a:solidFill>
                  <a:srgbClr val="212121"/>
                </a:solidFill>
                <a:effectLst/>
                <a:uLnTx/>
                <a:uFillTx/>
                <a:latin typeface="Calibri" panose="020F0502020204030204" pitchFamily="34" charset="0"/>
                <a:ea typeface="+mn-ea"/>
                <a:cs typeface="Calibri" panose="020F0502020204030204" pitchFamily="34" charset="0"/>
              </a:rPr>
              <a:t>Climate Change Mitigation </a:t>
            </a:r>
            <a:r>
              <a:rPr kumimoji="0" lang="en-GB" sz="3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(30</a:t>
            </a:r>
            <a:r>
              <a:rPr kumimoji="0" lang="en-GB" sz="3600" b="0" i="0" u="none" strike="noStrike" kern="100" cap="none" spc="0" normalizeH="0" baseline="3000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April)</a:t>
            </a:r>
          </a:p>
          <a:p>
            <a:pPr marL="0" marR="0" lvl="0" indent="0" algn="l" defTabSz="914445" rtl="0" eaLnBrk="1" fontAlgn="auto" latinLnBrk="0" hangingPunct="1">
              <a:lnSpc>
                <a:spcPct val="100000"/>
              </a:lnSpc>
              <a:spcBef>
                <a:spcPts val="0"/>
              </a:spcBef>
              <a:spcAft>
                <a:spcPts val="0"/>
              </a:spcAft>
              <a:buClrTx/>
              <a:buSzTx/>
              <a:buFontTx/>
              <a:buNone/>
              <a:tabLst/>
              <a:defRPr/>
            </a:pPr>
            <a:r>
              <a:rPr kumimoji="0" lang="en-GB" sz="3600" b="0" i="0" u="none" strike="noStrike" kern="100" cap="none" spc="0" normalizeH="0" baseline="0" noProof="0" dirty="0">
                <a:ln>
                  <a:noFill/>
                </a:ln>
                <a:solidFill>
                  <a:srgbClr val="1F497D">
                    <a:lumMod val="60000"/>
                    <a:lumOff val="40000"/>
                  </a:srgbClr>
                </a:solidFill>
                <a:effectLst/>
                <a:uLnTx/>
                <a:uFillTx/>
                <a:latin typeface="Calibri" panose="020F0502020204030204" pitchFamily="34" charset="0"/>
                <a:ea typeface="Calibri" panose="020F0502020204030204" pitchFamily="34" charset="0"/>
                <a:cs typeface="Calibri" panose="020F0502020204030204" pitchFamily="34" charset="0"/>
              </a:rPr>
              <a:t>Week 11 – Revision Lecture (7</a:t>
            </a:r>
            <a:r>
              <a:rPr kumimoji="0" lang="en-GB" sz="3600" b="0" i="0" u="none" strike="noStrike" kern="100" cap="none" spc="0" normalizeH="0" baseline="30000" noProof="0" dirty="0">
                <a:ln>
                  <a:noFill/>
                </a:ln>
                <a:solidFill>
                  <a:srgbClr val="1F497D">
                    <a:lumMod val="60000"/>
                    <a:lumOff val="40000"/>
                  </a:srgbClr>
                </a:solidFill>
                <a:effectLst/>
                <a:uLnTx/>
                <a:uFillTx/>
                <a:latin typeface="Calibri" panose="020F0502020204030204" pitchFamily="34" charset="0"/>
                <a:ea typeface="Calibri" panose="020F0502020204030204" pitchFamily="34" charset="0"/>
                <a:cs typeface="Calibri" panose="020F0502020204030204" pitchFamily="34" charset="0"/>
              </a:rPr>
              <a:t>th</a:t>
            </a:r>
            <a:r>
              <a:rPr kumimoji="0" lang="en-GB" sz="3600" b="0" i="0" u="none" strike="noStrike" kern="100" cap="none" spc="0" normalizeH="0" baseline="0" noProof="0" dirty="0">
                <a:ln>
                  <a:noFill/>
                </a:ln>
                <a:solidFill>
                  <a:srgbClr val="1F497D">
                    <a:lumMod val="60000"/>
                    <a:lumOff val="40000"/>
                  </a:srgbClr>
                </a:solidFill>
                <a:effectLst/>
                <a:uLnTx/>
                <a:uFillTx/>
                <a:latin typeface="Calibri" panose="020F0502020204030204" pitchFamily="34" charset="0"/>
                <a:ea typeface="Calibri" panose="020F0502020204030204" pitchFamily="34" charset="0"/>
                <a:cs typeface="Calibri" panose="020F0502020204030204" pitchFamily="34" charset="0"/>
              </a:rPr>
              <a:t> May)</a:t>
            </a:r>
          </a:p>
        </p:txBody>
      </p:sp>
      <p:pic>
        <p:nvPicPr>
          <p:cNvPr id="6" name="Picture 5" descr="A qr code with a black and white background&#10;&#10;AI-generated content may be incorrect.">
            <a:extLst>
              <a:ext uri="{FF2B5EF4-FFF2-40B4-BE49-F238E27FC236}">
                <a16:creationId xmlns:a16="http://schemas.microsoft.com/office/drawing/2014/main" id="{112BB3D5-FC58-710F-489D-C975E1C5EDA4}"/>
              </a:ext>
            </a:extLst>
          </p:cNvPr>
          <p:cNvPicPr>
            <a:picLocks noChangeAspect="1"/>
          </p:cNvPicPr>
          <p:nvPr/>
        </p:nvPicPr>
        <p:blipFill>
          <a:blip r:embed="rId5"/>
          <a:stretch>
            <a:fillRect/>
          </a:stretch>
        </p:blipFill>
        <p:spPr>
          <a:xfrm>
            <a:off x="13576699" y="5143501"/>
            <a:ext cx="4201511" cy="4201511"/>
          </a:xfrm>
          <a:prstGeom prst="rect">
            <a:avLst/>
          </a:prstGeom>
        </p:spPr>
      </p:pic>
      <p:sp>
        <p:nvSpPr>
          <p:cNvPr id="7" name="TextBox 6">
            <a:extLst>
              <a:ext uri="{FF2B5EF4-FFF2-40B4-BE49-F238E27FC236}">
                <a16:creationId xmlns:a16="http://schemas.microsoft.com/office/drawing/2014/main" id="{F327CCA7-4299-796F-6F60-9D7FE40386D5}"/>
              </a:ext>
            </a:extLst>
          </p:cNvPr>
          <p:cNvSpPr txBox="1"/>
          <p:nvPr/>
        </p:nvSpPr>
        <p:spPr>
          <a:xfrm>
            <a:off x="13576700" y="9616965"/>
            <a:ext cx="4201509" cy="5078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2700" b="0" i="0" u="none" strike="noStrike" kern="1200" cap="none" spc="0" normalizeH="0" baseline="0" noProof="0" dirty="0">
                <a:ln>
                  <a:noFill/>
                </a:ln>
                <a:solidFill>
                  <a:prstClr val="black"/>
                </a:solidFill>
                <a:effectLst/>
                <a:uLnTx/>
                <a:uFillTx/>
                <a:latin typeface="DM Sans"/>
                <a:ea typeface="+mn-ea"/>
                <a:cs typeface="+mn-cs"/>
              </a:rPr>
              <a:t>Comments/Questions</a:t>
            </a:r>
          </a:p>
        </p:txBody>
      </p:sp>
    </p:spTree>
    <p:extLst>
      <p:ext uri="{BB962C8B-B14F-4D97-AF65-F5344CB8AC3E}">
        <p14:creationId xmlns:p14="http://schemas.microsoft.com/office/powerpoint/2010/main" val="1796596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4" name="TextBox 14"/>
          <p:cNvSpPr txBox="1"/>
          <p:nvPr/>
        </p:nvSpPr>
        <p:spPr>
          <a:xfrm>
            <a:off x="990600" y="2171700"/>
            <a:ext cx="7994305" cy="919480"/>
          </a:xfrm>
          <a:prstGeom prst="rect">
            <a:avLst/>
          </a:prstGeom>
        </p:spPr>
        <p:txBody>
          <a:bodyPr lIns="0" tIns="0" rIns="0" bIns="0" rtlCol="0" anchor="t">
            <a:spAutoFit/>
          </a:bodyPr>
          <a:lstStyle/>
          <a:p>
            <a:pPr marL="0" marR="0" lvl="0" indent="0" algn="l" defTabSz="914400" rtl="0" eaLnBrk="1" fontAlgn="auto" latinLnBrk="0" hangingPunct="1">
              <a:lnSpc>
                <a:spcPts val="6859"/>
              </a:lnSpc>
              <a:spcBef>
                <a:spcPts val="0"/>
              </a:spcBef>
              <a:spcAft>
                <a:spcPts val="0"/>
              </a:spcAft>
              <a:buClrTx/>
              <a:buSzTx/>
              <a:buFontTx/>
              <a:buNone/>
              <a:tabLst/>
              <a:defRPr/>
            </a:pPr>
            <a:r>
              <a:rPr kumimoji="0" lang="en-US" sz="6000" b="0" i="0" u="none" strike="noStrike" kern="1200" cap="none" spc="-412" normalizeH="0" baseline="0" noProof="0" dirty="0">
                <a:ln>
                  <a:noFill/>
                </a:ln>
                <a:solidFill>
                  <a:srgbClr val="46245A"/>
                </a:solidFill>
                <a:effectLst/>
                <a:uLnTx/>
                <a:uFillTx/>
                <a:latin typeface="DM Sans Bold"/>
                <a:ea typeface="+mn-ea"/>
                <a:cs typeface="+mn-cs"/>
              </a:rPr>
              <a:t>Today’s session</a:t>
            </a:r>
          </a:p>
        </p:txBody>
      </p:sp>
      <p:sp>
        <p:nvSpPr>
          <p:cNvPr id="15" name="TextBox 15"/>
          <p:cNvSpPr txBox="1"/>
          <p:nvPr/>
        </p:nvSpPr>
        <p:spPr>
          <a:xfrm>
            <a:off x="824022" y="4585291"/>
            <a:ext cx="10078439" cy="2492414"/>
          </a:xfrm>
          <a:prstGeom prst="rect">
            <a:avLst/>
          </a:prstGeom>
        </p:spPr>
        <p:txBody>
          <a:bodyPr wrap="square" lIns="0" tIns="0" rIns="0" bIns="0" rtlCol="0" anchor="t">
            <a:spAutoFit/>
          </a:bodyPr>
          <a:lstStyle/>
          <a:p>
            <a:pPr marL="269240" marR="0" lvl="1" indent="0" algn="l" defTabSz="914400" rtl="0" eaLnBrk="1" fontAlgn="auto" latinLnBrk="0" hangingPunct="1">
              <a:lnSpc>
                <a:spcPts val="4999"/>
              </a:lnSpc>
              <a:spcBef>
                <a:spcPts val="0"/>
              </a:spcBef>
              <a:spcAft>
                <a:spcPts val="0"/>
              </a:spcAft>
              <a:buClrTx/>
              <a:buSzTx/>
              <a:buFontTx/>
              <a:buNone/>
              <a:tabLst/>
              <a:defRPr/>
            </a:pPr>
            <a:r>
              <a:rPr kumimoji="0" lang="en-US" sz="2400" b="1" i="0" u="none" strike="noStrike" kern="1200" cap="none" spc="49" normalizeH="0" baseline="0" noProof="0" dirty="0">
                <a:ln>
                  <a:noFill/>
                </a:ln>
                <a:solidFill>
                  <a:srgbClr val="FAB700"/>
                </a:solidFill>
                <a:effectLst/>
                <a:uLnTx/>
                <a:uFillTx/>
                <a:latin typeface="DM Sans"/>
                <a:ea typeface="+mn-ea"/>
                <a:cs typeface="+mn-cs"/>
              </a:rPr>
              <a:t>Part 1: </a:t>
            </a:r>
            <a:r>
              <a:rPr kumimoji="0" lang="en-US" sz="2400" b="1" i="0" u="none" strike="noStrike" kern="1200" cap="none" spc="49" normalizeH="0" baseline="0" noProof="0" dirty="0">
                <a:ln>
                  <a:noFill/>
                </a:ln>
                <a:solidFill>
                  <a:srgbClr val="FFFFFF"/>
                </a:solidFill>
                <a:effectLst/>
                <a:uLnTx/>
                <a:uFillTx/>
                <a:latin typeface="DM Sans"/>
                <a:ea typeface="+mn-ea"/>
                <a:cs typeface="+mn-cs"/>
              </a:rPr>
              <a:t>Key points on climate change impacts (20 mins) </a:t>
            </a:r>
          </a:p>
          <a:p>
            <a:pPr marL="269240" lvl="1">
              <a:lnSpc>
                <a:spcPts val="4999"/>
              </a:lnSpc>
              <a:defRPr/>
            </a:pPr>
            <a:r>
              <a:rPr kumimoji="0" lang="en-US" sz="2400" b="1" i="0" u="none" strike="noStrike" kern="1200" cap="none" spc="49" normalizeH="0" baseline="0" noProof="0" dirty="0">
                <a:ln>
                  <a:noFill/>
                </a:ln>
                <a:solidFill>
                  <a:srgbClr val="FAB700"/>
                </a:solidFill>
                <a:effectLst/>
                <a:uLnTx/>
                <a:uFillTx/>
                <a:latin typeface="DM Sans"/>
                <a:ea typeface="+mn-ea"/>
                <a:cs typeface="+mn-cs"/>
              </a:rPr>
              <a:t>Part 2: </a:t>
            </a:r>
            <a:r>
              <a:rPr lang="en-US" sz="2400" b="1" spc="49" dirty="0">
                <a:solidFill>
                  <a:srgbClr val="FFFFFF"/>
                </a:solidFill>
                <a:latin typeface="DM Sans"/>
              </a:rPr>
              <a:t>C</a:t>
            </a:r>
            <a:r>
              <a:rPr kumimoji="0" lang="en-US" sz="2400" b="1" i="0" u="none" strike="noStrike" kern="1200" cap="none" spc="49" normalizeH="0" baseline="0" noProof="0" dirty="0" err="1">
                <a:ln>
                  <a:noFill/>
                </a:ln>
                <a:solidFill>
                  <a:srgbClr val="FFFFFF"/>
                </a:solidFill>
                <a:effectLst/>
                <a:uLnTx/>
                <a:uFillTx/>
                <a:latin typeface="DM Sans"/>
                <a:ea typeface="+mn-ea"/>
                <a:cs typeface="+mn-cs"/>
              </a:rPr>
              <a:t>limate</a:t>
            </a:r>
            <a:r>
              <a:rPr kumimoji="0" lang="en-US" sz="2400" b="1" i="0" u="none" strike="noStrike" kern="1200" cap="none" spc="49" normalizeH="0" baseline="0" noProof="0" dirty="0">
                <a:ln>
                  <a:noFill/>
                </a:ln>
                <a:solidFill>
                  <a:srgbClr val="FFFFFF"/>
                </a:solidFill>
                <a:effectLst/>
                <a:uLnTx/>
                <a:uFillTx/>
                <a:latin typeface="DM Sans"/>
                <a:ea typeface="+mn-ea"/>
                <a:cs typeface="+mn-cs"/>
              </a:rPr>
              <a:t> change adaptations (30 mins) </a:t>
            </a:r>
          </a:p>
          <a:p>
            <a:pPr marL="269240" marR="0" lvl="1" indent="0" algn="l" defTabSz="914400" rtl="0" eaLnBrk="1" fontAlgn="auto" latinLnBrk="0" hangingPunct="1">
              <a:lnSpc>
                <a:spcPts val="4999"/>
              </a:lnSpc>
              <a:spcBef>
                <a:spcPts val="0"/>
              </a:spcBef>
              <a:spcAft>
                <a:spcPts val="0"/>
              </a:spcAft>
              <a:buClrTx/>
              <a:buSzTx/>
              <a:buFontTx/>
              <a:buNone/>
              <a:tabLst/>
              <a:defRPr/>
            </a:pPr>
            <a:r>
              <a:rPr kumimoji="0" lang="en-US" sz="2400" b="1" i="0" u="none" strike="noStrike" kern="1200" cap="none" spc="49" normalizeH="0" baseline="0" noProof="0" dirty="0">
                <a:ln>
                  <a:noFill/>
                </a:ln>
                <a:solidFill>
                  <a:srgbClr val="FAB700"/>
                </a:solidFill>
                <a:effectLst/>
                <a:uLnTx/>
                <a:uFillTx/>
                <a:latin typeface="DM Sans"/>
                <a:ea typeface="+mn-ea"/>
                <a:cs typeface="+mn-cs"/>
              </a:rPr>
              <a:t>Part 3: </a:t>
            </a:r>
            <a:r>
              <a:rPr kumimoji="0" lang="en-US" sz="2400" b="1" i="0" u="none" strike="noStrike" kern="1200" cap="none" spc="49" normalizeH="0" baseline="0" noProof="0" dirty="0">
                <a:ln>
                  <a:noFill/>
                </a:ln>
                <a:solidFill>
                  <a:srgbClr val="FFFFFF"/>
                </a:solidFill>
                <a:effectLst/>
                <a:uLnTx/>
                <a:uFillTx/>
                <a:latin typeface="DM Sans"/>
                <a:ea typeface="+mn-ea"/>
                <a:cs typeface="+mn-cs"/>
              </a:rPr>
              <a:t>Q/A and Break (10 mins) </a:t>
            </a:r>
          </a:p>
          <a:p>
            <a:pPr marL="269240" marR="0" lvl="1" indent="0" algn="l" defTabSz="914400" rtl="0" eaLnBrk="1" fontAlgn="auto" latinLnBrk="0" hangingPunct="1">
              <a:lnSpc>
                <a:spcPts val="4999"/>
              </a:lnSpc>
              <a:spcBef>
                <a:spcPts val="0"/>
              </a:spcBef>
              <a:spcAft>
                <a:spcPts val="0"/>
              </a:spcAft>
              <a:buClrTx/>
              <a:buSzTx/>
              <a:buFontTx/>
              <a:buNone/>
              <a:tabLst/>
              <a:defRPr/>
            </a:pPr>
            <a:r>
              <a:rPr kumimoji="0" lang="en-US" sz="2400" b="1" i="0" u="none" strike="noStrike" kern="1200" cap="none" spc="49" normalizeH="0" baseline="0" noProof="0" dirty="0">
                <a:ln>
                  <a:noFill/>
                </a:ln>
                <a:solidFill>
                  <a:srgbClr val="FAB700"/>
                </a:solidFill>
                <a:effectLst/>
                <a:uLnTx/>
                <a:uFillTx/>
                <a:latin typeface="DM Sans"/>
                <a:ea typeface="+mn-ea"/>
                <a:cs typeface="+mn-cs"/>
              </a:rPr>
              <a:t>Part 4: </a:t>
            </a:r>
            <a:r>
              <a:rPr kumimoji="0" lang="en-US" sz="2400" b="1" i="0" u="none" strike="noStrike" kern="1200" cap="none" spc="49" normalizeH="0" baseline="0" noProof="0" dirty="0">
                <a:ln>
                  <a:noFill/>
                </a:ln>
                <a:solidFill>
                  <a:srgbClr val="FFFFFF"/>
                </a:solidFill>
                <a:effectLst/>
                <a:uLnTx/>
                <a:uFillTx/>
                <a:latin typeface="DM Sans"/>
                <a:ea typeface="+mn-ea"/>
                <a:cs typeface="+mn-cs"/>
              </a:rPr>
              <a:t>Workshop (50 mins)</a:t>
            </a:r>
          </a:p>
        </p:txBody>
      </p:sp>
      <p:sp>
        <p:nvSpPr>
          <p:cNvPr id="3" name="Freeform 13">
            <a:extLst>
              <a:ext uri="{FF2B5EF4-FFF2-40B4-BE49-F238E27FC236}">
                <a16:creationId xmlns:a16="http://schemas.microsoft.com/office/drawing/2014/main" id="{110E8D5E-37F5-D004-AA80-8A76901C57F9}"/>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Places of Climate Change">
            <a:extLst>
              <a:ext uri="{FF2B5EF4-FFF2-40B4-BE49-F238E27FC236}">
                <a16:creationId xmlns:a16="http://schemas.microsoft.com/office/drawing/2014/main" id="{7581CA3A-6578-3D4E-90D5-FA5777EE45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828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49BB5E81-1DCC-286E-DD74-F3B53623F288}"/>
              </a:ext>
            </a:extLst>
          </p:cNvPr>
          <p:cNvSpPr txBox="1"/>
          <p:nvPr/>
        </p:nvSpPr>
        <p:spPr>
          <a:xfrm>
            <a:off x="440805" y="4023689"/>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prstClr val="white"/>
                </a:solidFill>
                <a:effectLst/>
                <a:uLnTx/>
                <a:uFillTx/>
                <a:latin typeface="DM Sans Bold"/>
                <a:ea typeface="+mn-ea"/>
                <a:cs typeface="+mn-cs"/>
              </a:rPr>
              <a:t>Intended Learning Outcomes</a:t>
            </a:r>
          </a:p>
        </p:txBody>
      </p:sp>
      <p:sp>
        <p:nvSpPr>
          <p:cNvPr id="8" name="Freeform 13">
            <a:extLst>
              <a:ext uri="{FF2B5EF4-FFF2-40B4-BE49-F238E27FC236}">
                <a16:creationId xmlns:a16="http://schemas.microsoft.com/office/drawing/2014/main" id="{C6335595-B71A-3F7E-3031-B5690D697278}"/>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2">
            <a:extLst>
              <a:ext uri="{FF2B5EF4-FFF2-40B4-BE49-F238E27FC236}">
                <a16:creationId xmlns:a16="http://schemas.microsoft.com/office/drawing/2014/main" id="{DDB4D602-0E49-2A1B-B490-ADA317C8939B}"/>
              </a:ext>
            </a:extLst>
          </p:cNvPr>
          <p:cNvSpPr txBox="1"/>
          <p:nvPr/>
        </p:nvSpPr>
        <p:spPr>
          <a:xfrm>
            <a:off x="440807" y="5797035"/>
            <a:ext cx="15619674" cy="3508653"/>
          </a:xfrm>
          <a:prstGeom prst="rect">
            <a:avLst/>
          </a:prstGeom>
          <a:noFill/>
        </p:spPr>
        <p:txBody>
          <a:bodyPr wrap="square">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kumimoji="0" lang="en-GB" sz="30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By the end of the week you will be able to:</a:t>
            </a:r>
          </a:p>
          <a:p>
            <a:pPr marL="457200" indent="-457200">
              <a:buFont typeface="Arial" panose="020B0604020202020204" pitchFamily="34" charset="0"/>
              <a:buChar char="•"/>
            </a:pPr>
            <a:r>
              <a:rPr lang="en-GB" sz="3200" dirty="0">
                <a:latin typeface="Calibri" panose="020F0502020204030204" pitchFamily="34" charset="0"/>
                <a:cs typeface="Calibri" panose="020F0502020204030204" pitchFamily="34" charset="0"/>
              </a:rPr>
              <a:t>Provide examples of climate-change driven impacts and explain how these vary across the globe.</a:t>
            </a:r>
          </a:p>
          <a:p>
            <a:pPr marL="457200" indent="-457200">
              <a:buFont typeface="Arial" panose="020B0604020202020204" pitchFamily="34" charset="0"/>
              <a:buChar char="•"/>
            </a:pPr>
            <a:r>
              <a:rPr lang="en-GB" sz="3200" dirty="0">
                <a:latin typeface="Calibri" panose="020F0502020204030204" pitchFamily="34" charset="0"/>
                <a:cs typeface="Calibri" panose="020F0502020204030204" pitchFamily="34" charset="0"/>
              </a:rPr>
              <a:t>Describe the difference between adaptation and mitigation.</a:t>
            </a:r>
          </a:p>
          <a:p>
            <a:pPr marL="457200" indent="-457200">
              <a:buFont typeface="Arial" panose="020B0604020202020204" pitchFamily="34" charset="0"/>
              <a:buChar char="•"/>
            </a:pPr>
            <a:r>
              <a:rPr lang="en-GB" sz="3200" dirty="0">
                <a:latin typeface="Calibri" panose="020F0502020204030204" pitchFamily="34" charset="0"/>
                <a:cs typeface="Calibri" panose="020F0502020204030204" pitchFamily="34" charset="0"/>
              </a:rPr>
              <a:t>Discuss differences in information needed for adaptation and mitigation planning.</a:t>
            </a:r>
          </a:p>
          <a:p>
            <a:pPr marL="457200" indent="-457200">
              <a:buFont typeface="Arial" panose="020B0604020202020204" pitchFamily="34" charset="0"/>
              <a:buChar char="•"/>
            </a:pPr>
            <a:r>
              <a:rPr lang="en-GB" sz="3200" dirty="0">
                <a:latin typeface="Calibri" panose="020F0502020204030204" pitchFamily="34" charset="0"/>
                <a:cs typeface="Calibri" panose="020F0502020204030204" pitchFamily="34" charset="0"/>
              </a:rPr>
              <a:t>Outline different climate adaptation strategies and discuss their suitability in different regions.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n-GB">
              <a:latin typeface="DM Sans" pitchFamily="2" charset="0"/>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59210"/>
          </a:xfrm>
          <a:prstGeom prst="rect">
            <a:avLst/>
          </a:prstGeom>
        </p:spPr>
        <p:txBody>
          <a:bodyPr wrap="square" lIns="0" tIns="0" rIns="0" bIns="0" rtlCol="0" anchor="t">
            <a:spAutoFit/>
          </a:bodyPr>
          <a:lstStyle/>
          <a:p>
            <a:pPr>
              <a:lnSpc>
                <a:spcPts val="6719"/>
              </a:lnSpc>
            </a:pPr>
            <a:r>
              <a:rPr lang="en-US" sz="5599" b="1" dirty="0">
                <a:solidFill>
                  <a:srgbClr val="46245A"/>
                </a:solidFill>
                <a:latin typeface="DM Sans" pitchFamily="2" charset="0"/>
              </a:rPr>
              <a:t>Climate Change</a:t>
            </a:r>
            <a:endParaRPr lang="en-US" sz="5599" dirty="0">
              <a:solidFill>
                <a:srgbClr val="46245A"/>
              </a:solidFill>
              <a:latin typeface="DM Sans" pitchFamily="2" charset="0"/>
            </a:endParaRPr>
          </a:p>
        </p:txBody>
      </p:sp>
      <p:sp>
        <p:nvSpPr>
          <p:cNvPr id="3" name="Content Placeholder 2">
            <a:extLst>
              <a:ext uri="{FF2B5EF4-FFF2-40B4-BE49-F238E27FC236}">
                <a16:creationId xmlns:a16="http://schemas.microsoft.com/office/drawing/2014/main" id="{7C368D6C-F9C4-59FA-AD50-DE8DA0972EE6}"/>
              </a:ext>
            </a:extLst>
          </p:cNvPr>
          <p:cNvSpPr txBox="1">
            <a:spLocks/>
          </p:cNvSpPr>
          <p:nvPr/>
        </p:nvSpPr>
        <p:spPr>
          <a:xfrm>
            <a:off x="9144000" y="2986579"/>
            <a:ext cx="8857628" cy="6077556"/>
          </a:xfrm>
          <a:prstGeom prst="rect">
            <a:avLst/>
          </a:prstGeom>
        </p:spPr>
        <p:txBody>
          <a:bodyPr>
            <a:normAutofit lnSpcReduction="10000"/>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r>
              <a:rPr lang="en-GB" sz="2800" b="0" i="0" u="none" strike="noStrike" dirty="0">
                <a:solidFill>
                  <a:srgbClr val="2B2B2B"/>
                </a:solidFill>
                <a:effectLst/>
                <a:latin typeface="Calibri" panose="020F0502020204030204" pitchFamily="34" charset="0"/>
                <a:cs typeface="Calibri" panose="020F0502020204030204" pitchFamily="34" charset="0"/>
              </a:rPr>
              <a:t>Climate change is one of the most complex issues facing us today. </a:t>
            </a:r>
          </a:p>
          <a:p>
            <a:r>
              <a:rPr lang="en-GB" sz="2800" b="0" i="0" u="none" strike="noStrike" dirty="0">
                <a:solidFill>
                  <a:srgbClr val="2B2B2B"/>
                </a:solidFill>
                <a:effectLst/>
                <a:latin typeface="Calibri" panose="020F0502020204030204" pitchFamily="34" charset="0"/>
                <a:cs typeface="Calibri" panose="020F0502020204030204" pitchFamily="34" charset="0"/>
              </a:rPr>
              <a:t>We have so far focused on the environmental impact </a:t>
            </a:r>
          </a:p>
          <a:p>
            <a:r>
              <a:rPr lang="en-GB" sz="2800" b="0" i="0" u="none" strike="noStrike" dirty="0">
                <a:solidFill>
                  <a:srgbClr val="2B2B2B"/>
                </a:solidFill>
                <a:effectLst/>
                <a:latin typeface="Calibri" panose="020F0502020204030204" pitchFamily="34" charset="0"/>
                <a:cs typeface="Calibri" panose="020F0502020204030204" pitchFamily="34" charset="0"/>
              </a:rPr>
              <a:t>It involves many dimensions – science, economics, society, politics, and moral and ethical questions – and is a global problem, felt on local scales</a:t>
            </a:r>
          </a:p>
          <a:p>
            <a:r>
              <a:rPr lang="en-GB" sz="2800" b="0" i="0" u="none" strike="noStrike" dirty="0">
                <a:solidFill>
                  <a:srgbClr val="2B2B2B"/>
                </a:solidFill>
                <a:effectLst/>
                <a:latin typeface="Calibri" panose="020F0502020204030204" pitchFamily="34" charset="0"/>
                <a:cs typeface="Calibri" panose="020F0502020204030204" pitchFamily="34" charset="0"/>
              </a:rPr>
              <a:t>Carbon dioxide has a </a:t>
            </a:r>
            <a:r>
              <a:rPr lang="en-GB" sz="2800" dirty="0">
                <a:solidFill>
                  <a:srgbClr val="2B2B2B"/>
                </a:solidFill>
                <a:latin typeface="Calibri" panose="020F0502020204030204" pitchFamily="34" charset="0"/>
                <a:cs typeface="Calibri" panose="020F0502020204030204" pitchFamily="34" charset="0"/>
              </a:rPr>
              <a:t>lifetime of </a:t>
            </a:r>
            <a:r>
              <a:rPr lang="en-GB" sz="2800" b="0" i="0" u="none" strike="noStrike" dirty="0">
                <a:solidFill>
                  <a:srgbClr val="2B2B2B"/>
                </a:solidFill>
                <a:effectLst/>
                <a:latin typeface="Calibri" panose="020F0502020204030204" pitchFamily="34" charset="0"/>
                <a:cs typeface="Calibri" panose="020F0502020204030204" pitchFamily="34" charset="0"/>
              </a:rPr>
              <a:t>hundreds of years, so the planet (especially the ocean) takes a while to respond to warming. </a:t>
            </a:r>
          </a:p>
          <a:p>
            <a:r>
              <a:rPr lang="en-GB" sz="2800" b="0" i="0" u="none" strike="noStrike" dirty="0">
                <a:solidFill>
                  <a:srgbClr val="2B2B2B"/>
                </a:solidFill>
                <a:effectLst/>
                <a:latin typeface="Calibri" panose="020F0502020204030204" pitchFamily="34" charset="0"/>
                <a:cs typeface="Calibri" panose="020F0502020204030204" pitchFamily="34" charset="0"/>
              </a:rPr>
              <a:t>So even if we stopped emitting all greenhouse gases today, global warming and climate change will continue to affect future generations. </a:t>
            </a:r>
          </a:p>
          <a:p>
            <a:r>
              <a:rPr lang="en-GB" sz="2800" b="0" i="0" u="none" strike="noStrike" dirty="0">
                <a:solidFill>
                  <a:srgbClr val="2B2B2B"/>
                </a:solidFill>
                <a:effectLst/>
                <a:latin typeface="Calibri" panose="020F0502020204030204" pitchFamily="34" charset="0"/>
                <a:cs typeface="Calibri" panose="020F0502020204030204" pitchFamily="34" charset="0"/>
              </a:rPr>
              <a:t>In this way, humanity is “committed” to some level of climate change.</a:t>
            </a:r>
            <a:endParaRPr lang="en-GB" sz="3600" dirty="0">
              <a:latin typeface="Calibri" panose="020F0502020204030204" pitchFamily="34" charset="0"/>
              <a:cs typeface="Calibri" panose="020F0502020204030204" pitchFamily="34" charset="0"/>
            </a:endParaRPr>
          </a:p>
          <a:p>
            <a:endParaRPr lang="en-GB" dirty="0"/>
          </a:p>
        </p:txBody>
      </p:sp>
      <p:pic>
        <p:nvPicPr>
          <p:cNvPr id="4" name="Picture 3" descr="A planet earth with smoke coming out of the top of a factory&#10;&#10;Description automatically generated">
            <a:extLst>
              <a:ext uri="{FF2B5EF4-FFF2-40B4-BE49-F238E27FC236}">
                <a16:creationId xmlns:a16="http://schemas.microsoft.com/office/drawing/2014/main" id="{F3EF454D-8A0B-D9D7-3721-331064DBEA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00" y="2953674"/>
            <a:ext cx="7772400" cy="5699760"/>
          </a:xfrm>
          <a:prstGeom prst="rect">
            <a:avLst/>
          </a:prstGeom>
        </p:spPr>
      </p:pic>
    </p:spTree>
    <p:extLst>
      <p:ext uri="{BB962C8B-B14F-4D97-AF65-F5344CB8AC3E}">
        <p14:creationId xmlns:p14="http://schemas.microsoft.com/office/powerpoint/2010/main" val="3990817526"/>
      </p:ext>
    </p:extLst>
  </p:cSld>
  <p:clrMapOvr>
    <a:masterClrMapping/>
  </p:clrMapOvr>
  <mc:AlternateContent xmlns:mc="http://schemas.openxmlformats.org/markup-compatibility/2006" xmlns:p14="http://schemas.microsoft.com/office/powerpoint/2010/main">
    <mc:Choice Requires="p14">
      <p:transition spd="slow" p14:dur="2000" advTm="91408"/>
    </mc:Choice>
    <mc:Fallback xmlns="">
      <p:transition spd="slow" advTm="9140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sp>
        <p:nvSpPr>
          <p:cNvPr id="5" name="TextBox 5">
            <a:extLst>
              <a:ext uri="{FF2B5EF4-FFF2-40B4-BE49-F238E27FC236}">
                <a16:creationId xmlns:a16="http://schemas.microsoft.com/office/drawing/2014/main" id="{779588C8-99B4-0066-A29B-472B6CF20D8B}"/>
              </a:ext>
            </a:extLst>
          </p:cNvPr>
          <p:cNvSpPr txBox="1"/>
          <p:nvPr/>
        </p:nvSpPr>
        <p:spPr>
          <a:xfrm>
            <a:off x="1143000" y="1334388"/>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How much climate change?</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7" name="TextBox 6">
            <a:extLst>
              <a:ext uri="{FF2B5EF4-FFF2-40B4-BE49-F238E27FC236}">
                <a16:creationId xmlns:a16="http://schemas.microsoft.com/office/drawing/2014/main" id="{18C727CE-3E21-F6C9-0970-F01FE11AB416}"/>
              </a:ext>
            </a:extLst>
          </p:cNvPr>
          <p:cNvSpPr txBox="1"/>
          <p:nvPr/>
        </p:nvSpPr>
        <p:spPr>
          <a:xfrm>
            <a:off x="974558" y="2289738"/>
            <a:ext cx="15592245" cy="2554545"/>
          </a:xfrm>
          <a:prstGeom prst="rect">
            <a:avLst/>
          </a:prstGeom>
          <a:noFill/>
        </p:spPr>
        <p:txBody>
          <a:bodyPr wrap="square">
            <a:spAutoFit/>
          </a:bodyPr>
          <a:lstStyle/>
          <a:p>
            <a:pPr marL="342900" indent="-342900" algn="l">
              <a:buFont typeface="Arial" panose="020B0604020202020204" pitchFamily="34" charset="0"/>
              <a:buChar char="•"/>
            </a:pPr>
            <a:r>
              <a:rPr lang="en-GB" sz="2800" b="0" i="0" u="none" strike="noStrike" dirty="0">
                <a:solidFill>
                  <a:srgbClr val="2B2B2B"/>
                </a:solidFill>
                <a:effectLst/>
                <a:latin typeface="Calibri" panose="020F0502020204030204" pitchFamily="34" charset="0"/>
                <a:cs typeface="Calibri" panose="020F0502020204030204" pitchFamily="34" charset="0"/>
              </a:rPr>
              <a:t>That will be determined by how our emissions continue and exactly how our climate responds to those emissions. </a:t>
            </a:r>
          </a:p>
          <a:p>
            <a:pPr marL="342900" indent="-342900" algn="l">
              <a:buFont typeface="Arial" panose="020B0604020202020204" pitchFamily="34" charset="0"/>
              <a:buChar char="•"/>
            </a:pPr>
            <a:r>
              <a:rPr lang="en-GB" sz="2800" b="0" i="0" u="none" strike="noStrike" dirty="0">
                <a:solidFill>
                  <a:srgbClr val="2B2B2B"/>
                </a:solidFill>
                <a:effectLst/>
                <a:latin typeface="Calibri" panose="020F0502020204030204" pitchFamily="34" charset="0"/>
                <a:cs typeface="Calibri" panose="020F0502020204030204" pitchFamily="34" charset="0"/>
              </a:rPr>
              <a:t>Despite increasing awareness of climate change, our emissions of greenhouse gases continue to rise</a:t>
            </a:r>
          </a:p>
          <a:p>
            <a:pPr marL="342900" indent="-342900" algn="l">
              <a:buFont typeface="Arial" panose="020B0604020202020204" pitchFamily="34" charset="0"/>
              <a:buChar char="•"/>
            </a:pPr>
            <a:r>
              <a:rPr lang="en-GB" sz="2800" b="0" i="0" u="none" strike="noStrike" dirty="0">
                <a:solidFill>
                  <a:srgbClr val="2B2B2B"/>
                </a:solidFill>
                <a:effectLst/>
                <a:latin typeface="Calibri" panose="020F0502020204030204" pitchFamily="34" charset="0"/>
                <a:cs typeface="Calibri" panose="020F0502020204030204" pitchFamily="34" charset="0"/>
              </a:rPr>
              <a:t>In 2013, the daily </a:t>
            </a:r>
            <a:r>
              <a:rPr lang="en-GB" sz="2800" b="0" i="0" u="none" strike="noStrike" dirty="0">
                <a:effectLst/>
                <a:latin typeface="Calibri" panose="020F0502020204030204" pitchFamily="34" charset="0"/>
                <a:cs typeface="Calibri" panose="020F0502020204030204" pitchFamily="34" charset="0"/>
              </a:rPr>
              <a:t>level of carbon dioxide in the atmosphere </a:t>
            </a:r>
            <a:r>
              <a:rPr lang="en-GB" sz="2800" b="0" i="0" strike="noStrike" dirty="0">
                <a:effectLst/>
                <a:latin typeface="Calibri" panose="020F0502020204030204" pitchFamily="34" charset="0"/>
                <a:cs typeface="Calibri" panose="020F0502020204030204" pitchFamily="34" charset="0"/>
              </a:rPr>
              <a:t>surpassed 400 parts per million for the first time in human history. </a:t>
            </a:r>
            <a:br>
              <a:rPr lang="en-GB" sz="2000" dirty="0"/>
            </a:br>
            <a:endParaRPr lang="en-GB" sz="2000" dirty="0"/>
          </a:p>
        </p:txBody>
      </p:sp>
      <p:pic>
        <p:nvPicPr>
          <p:cNvPr id="4" name="Picture 3" descr="A graph with orange lines&#10;&#10;Description automatically generated">
            <a:extLst>
              <a:ext uri="{FF2B5EF4-FFF2-40B4-BE49-F238E27FC236}">
                <a16:creationId xmlns:a16="http://schemas.microsoft.com/office/drawing/2014/main" id="{EEE877E2-480F-5D9A-83EA-D184ADFEF0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9661" y="4561679"/>
            <a:ext cx="9228838" cy="5086482"/>
          </a:xfrm>
          <a:prstGeom prst="rect">
            <a:avLst/>
          </a:prstGeom>
        </p:spPr>
      </p:pic>
      <p:pic>
        <p:nvPicPr>
          <p:cNvPr id="8" name="Picture 7" descr="A graph showing the growth of the season&#10;&#10;Description automatically generated">
            <a:extLst>
              <a:ext uri="{FF2B5EF4-FFF2-40B4-BE49-F238E27FC236}">
                <a16:creationId xmlns:a16="http://schemas.microsoft.com/office/drawing/2014/main" id="{31E73919-871B-FEC7-EA96-8E1C6D052AD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68499" y="4561679"/>
            <a:ext cx="7672181" cy="5247000"/>
          </a:xfrm>
          <a:prstGeom prst="rect">
            <a:avLst/>
          </a:prstGeom>
        </p:spPr>
      </p:pic>
    </p:spTree>
    <p:extLst>
      <p:ext uri="{BB962C8B-B14F-4D97-AF65-F5344CB8AC3E}">
        <p14:creationId xmlns:p14="http://schemas.microsoft.com/office/powerpoint/2010/main" val="296588957"/>
      </p:ext>
    </p:extLst>
  </p:cSld>
  <p:clrMapOvr>
    <a:masterClrMapping/>
  </p:clrMapOvr>
  <mc:AlternateContent xmlns:mc="http://schemas.openxmlformats.org/markup-compatibility/2006" xmlns:p14="http://schemas.microsoft.com/office/powerpoint/2010/main">
    <mc:Choice Requires="p14">
      <p:transition spd="slow" p14:dur="2000" advTm="152425"/>
    </mc:Choice>
    <mc:Fallback xmlns="">
      <p:transition spd="slow" advTm="15242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F43F599E-A8B7-682D-B49B-DF69B4B73187}"/>
              </a:ext>
            </a:extLst>
          </p:cNvPr>
          <p:cNvSpPr txBox="1"/>
          <p:nvPr/>
        </p:nvSpPr>
        <p:spPr>
          <a:xfrm>
            <a:off x="1143000" y="1736548"/>
            <a:ext cx="13847674" cy="842282"/>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46245A"/>
                </a:solidFill>
                <a:effectLst/>
                <a:uLnTx/>
                <a:uFillTx/>
                <a:latin typeface="DM Sans" pitchFamily="2" charset="0"/>
                <a:ea typeface="+mn-ea"/>
                <a:cs typeface="+mn-cs"/>
              </a:rPr>
              <a:t>Representative Concentration Pathways</a:t>
            </a:r>
            <a:endParaRPr kumimoji="0" lang="en-US" sz="5400"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Rectangle 3">
            <a:extLst>
              <a:ext uri="{FF2B5EF4-FFF2-40B4-BE49-F238E27FC236}">
                <a16:creationId xmlns:a16="http://schemas.microsoft.com/office/drawing/2014/main" id="{2B83318A-71F4-3ED6-17FB-FBD2D9C5532A}"/>
              </a:ext>
            </a:extLst>
          </p:cNvPr>
          <p:cNvSpPr txBox="1">
            <a:spLocks noChangeArrowheads="1"/>
          </p:cNvSpPr>
          <p:nvPr/>
        </p:nvSpPr>
        <p:spPr>
          <a:xfrm>
            <a:off x="962027" y="2736202"/>
            <a:ext cx="8229600"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US" altLang="en-US"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18" name="Picture 17" descr="A graph showing the number of emissions&#10;&#10;Description automatically generated">
            <a:extLst>
              <a:ext uri="{FF2B5EF4-FFF2-40B4-BE49-F238E27FC236}">
                <a16:creationId xmlns:a16="http://schemas.microsoft.com/office/drawing/2014/main" id="{0EB74FD6-EDFF-1476-E8FC-512E76D0AD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25304" y="2960113"/>
            <a:ext cx="8183304" cy="5674475"/>
          </a:xfrm>
          <a:prstGeom prst="rect">
            <a:avLst/>
          </a:prstGeom>
        </p:spPr>
      </p:pic>
      <p:sp>
        <p:nvSpPr>
          <p:cNvPr id="21" name="TextBox 20">
            <a:extLst>
              <a:ext uri="{FF2B5EF4-FFF2-40B4-BE49-F238E27FC236}">
                <a16:creationId xmlns:a16="http://schemas.microsoft.com/office/drawing/2014/main" id="{E6E7BE3F-7CA2-B012-7924-B7FF5AF18333}"/>
              </a:ext>
            </a:extLst>
          </p:cNvPr>
          <p:cNvSpPr txBox="1"/>
          <p:nvPr/>
        </p:nvSpPr>
        <p:spPr>
          <a:xfrm>
            <a:off x="9313589" y="3479305"/>
            <a:ext cx="8794529" cy="4893647"/>
          </a:xfrm>
          <a:prstGeom prst="rect">
            <a:avLst/>
          </a:prstGeom>
          <a:noFill/>
        </p:spPr>
        <p:txBody>
          <a:bodyPr wrap="square" rtlCol="0">
            <a:spAutoFit/>
          </a:bodyPr>
          <a:lstStyle/>
          <a:p>
            <a:r>
              <a:rPr lang="en-GB" sz="2400" dirty="0">
                <a:effectLst/>
                <a:latin typeface="Calibri" panose="020F0502020204030204" pitchFamily="34" charset="0"/>
              </a:rPr>
              <a:t>Anthropogenic GHG emissions are mainly driven by population size, economic activity, lifestyle, energy use, land use patterns, technology and climate policy. </a:t>
            </a:r>
          </a:p>
          <a:p>
            <a:endParaRPr lang="en-GB" sz="2400" dirty="0">
              <a:latin typeface="Calibri" panose="020F0502020204030204" pitchFamily="34" charset="0"/>
            </a:endParaRPr>
          </a:p>
          <a:p>
            <a:pPr marL="342900" indent="-342900">
              <a:buFont typeface="Arial" panose="020B0604020202020204" pitchFamily="34" charset="0"/>
              <a:buChar char="•"/>
            </a:pPr>
            <a:r>
              <a:rPr lang="en-GB" sz="2400" dirty="0">
                <a:effectLst/>
                <a:latin typeface="Calibri" panose="020F0502020204030204" pitchFamily="34" charset="0"/>
              </a:rPr>
              <a:t>The RCPs include a stringent mitigation scenario (RCP2.6)</a:t>
            </a:r>
          </a:p>
          <a:p>
            <a:pPr marL="342900" indent="-342900">
              <a:buFont typeface="Arial" panose="020B0604020202020204" pitchFamily="34" charset="0"/>
              <a:buChar char="•"/>
            </a:pPr>
            <a:r>
              <a:rPr lang="en-GB" sz="2400" dirty="0">
                <a:effectLst/>
                <a:latin typeface="Calibri" panose="020F0502020204030204" pitchFamily="34" charset="0"/>
              </a:rPr>
              <a:t>two intermediate scenarios (RCP4.5 and RCP6.0) </a:t>
            </a:r>
          </a:p>
          <a:p>
            <a:pPr marL="342900" indent="-342900">
              <a:buFont typeface="Arial" panose="020B0604020202020204" pitchFamily="34" charset="0"/>
              <a:buChar char="•"/>
            </a:pPr>
            <a:r>
              <a:rPr lang="en-GB" sz="2400" dirty="0">
                <a:effectLst/>
                <a:latin typeface="Calibri" panose="020F0502020204030204" pitchFamily="34" charset="0"/>
              </a:rPr>
              <a:t>very high GHG emissions (RCP8.5). </a:t>
            </a:r>
          </a:p>
          <a:p>
            <a:endParaRPr lang="en-GB" sz="2400" dirty="0">
              <a:latin typeface="Calibri" panose="020F0502020204030204" pitchFamily="34" charset="0"/>
            </a:endParaRPr>
          </a:p>
          <a:p>
            <a:r>
              <a:rPr lang="en-GB" sz="2400" dirty="0">
                <a:effectLst/>
                <a:latin typeface="Calibri" panose="020F0502020204030204" pitchFamily="34" charset="0"/>
              </a:rPr>
              <a:t>Scenarios without additional efforts to constrain emissions (’baseline scenarios’) lead to pathways ranging between RCP6.0 and RCP8.5. </a:t>
            </a:r>
          </a:p>
          <a:p>
            <a:endParaRPr lang="en-GB" sz="2400" dirty="0">
              <a:latin typeface="Calibri" panose="020F0502020204030204" pitchFamily="34" charset="0"/>
            </a:endParaRPr>
          </a:p>
          <a:p>
            <a:r>
              <a:rPr lang="en-GB" sz="2400" dirty="0">
                <a:effectLst/>
                <a:latin typeface="Calibri" panose="020F0502020204030204" pitchFamily="34" charset="0"/>
              </a:rPr>
              <a:t>RCP2.6 is representative of a scenario that aims to keep global warming likely below 2°C above pre-industrial temperatures. </a:t>
            </a:r>
            <a:endParaRPr lang="en-US" sz="2400" dirty="0"/>
          </a:p>
        </p:txBody>
      </p:sp>
    </p:spTree>
    <p:extLst>
      <p:ext uri="{BB962C8B-B14F-4D97-AF65-F5344CB8AC3E}">
        <p14:creationId xmlns:p14="http://schemas.microsoft.com/office/powerpoint/2010/main" val="2021961064"/>
      </p:ext>
    </p:extLst>
  </p:cSld>
  <p:clrMapOvr>
    <a:masterClrMapping/>
  </p:clrMapOvr>
  <mc:AlternateContent xmlns:mc="http://schemas.openxmlformats.org/markup-compatibility/2006" xmlns:p14="http://schemas.microsoft.com/office/powerpoint/2010/main">
    <mc:Choice Requires="p14">
      <p:transition spd="slow" p14:dur="2000" advTm="117752"/>
    </mc:Choice>
    <mc:Fallback xmlns="">
      <p:transition spd="slow" advTm="11775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095395" y="1587829"/>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Climate Sensitivity </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pic>
        <p:nvPicPr>
          <p:cNvPr id="12" name="Picture 11" descr="Chart&#10;&#10;Description automatically generated">
            <a:extLst>
              <a:ext uri="{FF2B5EF4-FFF2-40B4-BE49-F238E27FC236}">
                <a16:creationId xmlns:a16="http://schemas.microsoft.com/office/drawing/2014/main" id="{071A2858-D8E6-BE3D-75FD-D7E7521ACB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415" y="3275076"/>
            <a:ext cx="7844994" cy="6270881"/>
          </a:xfrm>
          <a:prstGeom prst="rect">
            <a:avLst/>
          </a:prstGeom>
        </p:spPr>
      </p:pic>
      <p:sp>
        <p:nvSpPr>
          <p:cNvPr id="14" name="TextBox 13">
            <a:extLst>
              <a:ext uri="{FF2B5EF4-FFF2-40B4-BE49-F238E27FC236}">
                <a16:creationId xmlns:a16="http://schemas.microsoft.com/office/drawing/2014/main" id="{739366C6-F3E8-8311-114C-7A32BECF3A2D}"/>
              </a:ext>
            </a:extLst>
          </p:cNvPr>
          <p:cNvSpPr txBox="1"/>
          <p:nvPr/>
        </p:nvSpPr>
        <p:spPr>
          <a:xfrm>
            <a:off x="12995794" y="9823513"/>
            <a:ext cx="507542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DM Sans"/>
                <a:ea typeface="+mn-ea"/>
                <a:cs typeface="+mn-cs"/>
              </a:rPr>
              <a:t>adapted from Figure 2.3, AR5 synthesis report</a:t>
            </a:r>
          </a:p>
        </p:txBody>
      </p:sp>
      <p:sp>
        <p:nvSpPr>
          <p:cNvPr id="4" name="TextBox 3">
            <a:extLst>
              <a:ext uri="{FF2B5EF4-FFF2-40B4-BE49-F238E27FC236}">
                <a16:creationId xmlns:a16="http://schemas.microsoft.com/office/drawing/2014/main" id="{EB0E6D14-0A3E-16A4-4175-B038F60BA711}"/>
              </a:ext>
            </a:extLst>
          </p:cNvPr>
          <p:cNvSpPr txBox="1"/>
          <p:nvPr/>
        </p:nvSpPr>
        <p:spPr>
          <a:xfrm>
            <a:off x="7786126" y="1694268"/>
            <a:ext cx="914400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1" u="none" strike="noStrike" kern="1200" cap="none" spc="0" normalizeH="0" baseline="0" noProof="0" dirty="0">
                <a:ln>
                  <a:noFill/>
                </a:ln>
                <a:solidFill>
                  <a:prstClr val="black"/>
                </a:solidFill>
                <a:effectLst/>
                <a:uLnTx/>
                <a:uFillTx/>
                <a:latin typeface="DM Sans"/>
                <a:ea typeface="+mn-ea"/>
                <a:cs typeface="+mn-cs"/>
              </a:rPr>
              <a:t>Good for long term change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1" u="none" strike="noStrike" kern="1200" cap="none" spc="0" normalizeH="0" baseline="0" noProof="0" dirty="0">
                <a:ln>
                  <a:noFill/>
                </a:ln>
                <a:solidFill>
                  <a:prstClr val="black"/>
                </a:solidFill>
                <a:effectLst/>
                <a:uLnTx/>
                <a:uFillTx/>
                <a:latin typeface="DM Sans"/>
                <a:ea typeface="+mn-ea"/>
                <a:cs typeface="+mn-cs"/>
              </a:rPr>
              <a:t>Less helpful to steady increases</a:t>
            </a:r>
          </a:p>
        </p:txBody>
      </p:sp>
      <p:sp>
        <p:nvSpPr>
          <p:cNvPr id="7" name="TextBox 6">
            <a:extLst>
              <a:ext uri="{FF2B5EF4-FFF2-40B4-BE49-F238E27FC236}">
                <a16:creationId xmlns:a16="http://schemas.microsoft.com/office/drawing/2014/main" id="{65D428A2-2630-459D-9CB2-BF87A711FDBE}"/>
              </a:ext>
            </a:extLst>
          </p:cNvPr>
          <p:cNvSpPr txBox="1"/>
          <p:nvPr/>
        </p:nvSpPr>
        <p:spPr>
          <a:xfrm>
            <a:off x="1095394" y="2506718"/>
            <a:ext cx="1190039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How do we calculate long term climate change from GHG emissions?</a:t>
            </a:r>
          </a:p>
        </p:txBody>
      </p:sp>
    </p:spTree>
    <p:extLst>
      <p:ext uri="{BB962C8B-B14F-4D97-AF65-F5344CB8AC3E}">
        <p14:creationId xmlns:p14="http://schemas.microsoft.com/office/powerpoint/2010/main" val="1556896749"/>
      </p:ext>
    </p:extLst>
  </p:cSld>
  <p:clrMapOvr>
    <a:masterClrMapping/>
  </p:clrMapOvr>
  <mc:AlternateContent xmlns:mc="http://schemas.openxmlformats.org/markup-compatibility/2006" xmlns:p14="http://schemas.microsoft.com/office/powerpoint/2010/main">
    <mc:Choice Requires="p14">
      <p:transition spd="slow" p14:dur="2000" advTm="152187"/>
    </mc:Choice>
    <mc:Fallback xmlns="">
      <p:transition spd="slow" advTm="15218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Rectangle 3">
            <a:extLst>
              <a:ext uri="{FF2B5EF4-FFF2-40B4-BE49-F238E27FC236}">
                <a16:creationId xmlns:a16="http://schemas.microsoft.com/office/drawing/2014/main" id="{2B83318A-71F4-3ED6-17FB-FBD2D9C5532A}"/>
              </a:ext>
            </a:extLst>
          </p:cNvPr>
          <p:cNvSpPr txBox="1">
            <a:spLocks noChangeArrowheads="1"/>
          </p:cNvSpPr>
          <p:nvPr/>
        </p:nvSpPr>
        <p:spPr>
          <a:xfrm>
            <a:off x="962027" y="2736202"/>
            <a:ext cx="8229600"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US" altLang="en-US"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18" name="Picture 17" descr="A graph showing the number of emissions&#10;&#10;Description automatically generated">
            <a:extLst>
              <a:ext uri="{FF2B5EF4-FFF2-40B4-BE49-F238E27FC236}">
                <a16:creationId xmlns:a16="http://schemas.microsoft.com/office/drawing/2014/main" id="{0EB74FD6-EDFF-1476-E8FC-512E76D0AD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95395" y="3669332"/>
            <a:ext cx="5966849" cy="4137538"/>
          </a:xfrm>
          <a:prstGeom prst="rect">
            <a:avLst/>
          </a:prstGeom>
        </p:spPr>
      </p:pic>
      <p:pic>
        <p:nvPicPr>
          <p:cNvPr id="20" name="Picture 19" descr="A graph showing the difference between co2 emissions&#10;&#10;Description automatically generated">
            <a:extLst>
              <a:ext uri="{FF2B5EF4-FFF2-40B4-BE49-F238E27FC236}">
                <a16:creationId xmlns:a16="http://schemas.microsoft.com/office/drawing/2014/main" id="{E81DE833-B7F9-B880-7B0B-5C13035953F2}"/>
              </a:ext>
            </a:extLst>
          </p:cNvPr>
          <p:cNvPicPr>
            <a:picLocks noChangeAspect="1"/>
          </p:cNvPicPr>
          <p:nvPr/>
        </p:nvPicPr>
        <p:blipFill rotWithShape="1">
          <a:blip r:embed="rId6">
            <a:extLst>
              <a:ext uri="{28A0092B-C50C-407E-A947-70E740481C1C}">
                <a14:useLocalDpi xmlns:a14="http://schemas.microsoft.com/office/drawing/2010/main" val="0"/>
              </a:ext>
            </a:extLst>
          </a:blip>
          <a:srcRect r="17698"/>
          <a:stretch/>
        </p:blipFill>
        <p:spPr>
          <a:xfrm>
            <a:off x="6627165" y="1910994"/>
            <a:ext cx="9816661" cy="7654214"/>
          </a:xfrm>
          <a:prstGeom prst="rect">
            <a:avLst/>
          </a:prstGeom>
        </p:spPr>
      </p:pic>
      <p:sp>
        <p:nvSpPr>
          <p:cNvPr id="3" name="TextBox 5">
            <a:extLst>
              <a:ext uri="{FF2B5EF4-FFF2-40B4-BE49-F238E27FC236}">
                <a16:creationId xmlns:a16="http://schemas.microsoft.com/office/drawing/2014/main" id="{872937FC-A857-0C3F-D0C4-F2749E536DC3}"/>
              </a:ext>
            </a:extLst>
          </p:cNvPr>
          <p:cNvSpPr txBox="1"/>
          <p:nvPr/>
        </p:nvSpPr>
        <p:spPr>
          <a:xfrm>
            <a:off x="1095395" y="1587829"/>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Climate Sensitivity </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Tree>
    <p:extLst>
      <p:ext uri="{BB962C8B-B14F-4D97-AF65-F5344CB8AC3E}">
        <p14:creationId xmlns:p14="http://schemas.microsoft.com/office/powerpoint/2010/main" val="440240959"/>
      </p:ext>
    </p:extLst>
  </p:cSld>
  <p:clrMapOvr>
    <a:masterClrMapping/>
  </p:clrMapOvr>
  <mc:AlternateContent xmlns:mc="http://schemas.openxmlformats.org/markup-compatibility/2006" xmlns:p14="http://schemas.microsoft.com/office/powerpoint/2010/main">
    <mc:Choice Requires="p14">
      <p:transition spd="slow" p14:dur="2000" advTm="42107"/>
    </mc:Choice>
    <mc:Fallback xmlns="">
      <p:transition spd="slow" advTm="4210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270415" y="1675139"/>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Climate Sensitivity </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5" name="TextBox 4">
            <a:extLst>
              <a:ext uri="{FF2B5EF4-FFF2-40B4-BE49-F238E27FC236}">
                <a16:creationId xmlns:a16="http://schemas.microsoft.com/office/drawing/2014/main" id="{C0F25F85-22EE-68B8-B08D-E7C6900274ED}"/>
              </a:ext>
            </a:extLst>
          </p:cNvPr>
          <p:cNvSpPr txBox="1"/>
          <p:nvPr/>
        </p:nvSpPr>
        <p:spPr>
          <a:xfrm>
            <a:off x="9764912" y="3275076"/>
            <a:ext cx="5257401" cy="16158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Every 1000 </a:t>
            </a:r>
            <a:r>
              <a:rPr kumimoji="0" lang="en-GB" sz="33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GtC</a:t>
            </a: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sym typeface="Wingdings" panose="05000000000000000000" pitchFamily="2" charset="2"/>
              </a:rPr>
              <a:t> 1.5 – 2.5°C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6" name="Arrow: Down 14">
            <a:extLst>
              <a:ext uri="{FF2B5EF4-FFF2-40B4-BE49-F238E27FC236}">
                <a16:creationId xmlns:a16="http://schemas.microsoft.com/office/drawing/2014/main" id="{E0FFCE8F-A1D8-9028-4765-3BC4819E091A}"/>
              </a:ext>
            </a:extLst>
          </p:cNvPr>
          <p:cNvSpPr/>
          <p:nvPr/>
        </p:nvSpPr>
        <p:spPr>
          <a:xfrm>
            <a:off x="11465140" y="4058675"/>
            <a:ext cx="554000" cy="1018376"/>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700" b="0" i="0" u="none" strike="noStrike" kern="1200" cap="none" spc="0" normalizeH="0" baseline="0" noProof="0" dirty="0">
              <a:ln>
                <a:noFill/>
              </a:ln>
              <a:solidFill>
                <a:prstClr val="white"/>
              </a:solidFill>
              <a:effectLst/>
              <a:uLnTx/>
              <a:uFillTx/>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18D481E5-EBEE-4154-9924-DC0441B907E0}"/>
              </a:ext>
            </a:extLst>
          </p:cNvPr>
          <p:cNvSpPr txBox="1"/>
          <p:nvPr/>
        </p:nvSpPr>
        <p:spPr>
          <a:xfrm>
            <a:off x="9764912" y="5197162"/>
            <a:ext cx="7848600" cy="47089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Approximate ‘budget’ to limit warming to 2°C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~20 </a:t>
            </a:r>
            <a:r>
              <a:rPr kumimoji="0" lang="en-GB" sz="33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GtC</a:t>
            </a: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emitted each year</a:t>
            </a:r>
          </a:p>
          <a:p>
            <a:pPr marL="514350" marR="0" lvl="0" indent="-5143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500 </a:t>
            </a:r>
            <a:r>
              <a:rPr kumimoji="0" lang="en-GB" sz="33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GtC</a:t>
            </a:r>
            <a:r>
              <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already emitted up to today.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NOTE: 1 </a:t>
            </a:r>
            <a:r>
              <a:rPr kumimoji="0" lang="en-GB" sz="36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GtC</a:t>
            </a:r>
            <a:r>
              <a:rPr kumimoji="0" lang="en-GB" sz="36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 3.66 GtCO</a:t>
            </a:r>
            <a:r>
              <a:rPr kumimoji="0" lang="en-GB" sz="3600" b="0" i="0" u="none" strike="noStrike" kern="1200" cap="none" spc="0" normalizeH="0" baseline="-25000" noProof="0" dirty="0">
                <a:ln>
                  <a:noFill/>
                </a:ln>
                <a:solidFill>
                  <a:prstClr val="black"/>
                </a:solidFill>
                <a:effectLst/>
                <a:uLnTx/>
                <a:uFillTx/>
                <a:latin typeface="Calibri" panose="020F0502020204030204" pitchFamily="34" charset="0"/>
                <a:cs typeface="Calibri" panose="020F0502020204030204" pitchFamily="34" charset="0"/>
              </a:rPr>
              <a:t>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3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1" name="Oval 10">
            <a:extLst>
              <a:ext uri="{FF2B5EF4-FFF2-40B4-BE49-F238E27FC236}">
                <a16:creationId xmlns:a16="http://schemas.microsoft.com/office/drawing/2014/main" id="{D71E9676-5C17-A305-1835-D30812751D39}"/>
              </a:ext>
            </a:extLst>
          </p:cNvPr>
          <p:cNvSpPr/>
          <p:nvPr/>
        </p:nvSpPr>
        <p:spPr>
          <a:xfrm>
            <a:off x="10903540" y="3216470"/>
            <a:ext cx="1910444" cy="74640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700" b="0" i="0" u="none" strike="noStrike" kern="120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pic>
        <p:nvPicPr>
          <p:cNvPr id="12" name="Picture 11" descr="Chart&#10;&#10;Description automatically generated">
            <a:extLst>
              <a:ext uri="{FF2B5EF4-FFF2-40B4-BE49-F238E27FC236}">
                <a16:creationId xmlns:a16="http://schemas.microsoft.com/office/drawing/2014/main" id="{071A2858-D8E6-BE3D-75FD-D7E7521ACB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415" y="3275076"/>
            <a:ext cx="7844994" cy="6270881"/>
          </a:xfrm>
          <a:prstGeom prst="rect">
            <a:avLst/>
          </a:prstGeom>
        </p:spPr>
      </p:pic>
      <p:sp>
        <p:nvSpPr>
          <p:cNvPr id="14" name="TextBox 13">
            <a:extLst>
              <a:ext uri="{FF2B5EF4-FFF2-40B4-BE49-F238E27FC236}">
                <a16:creationId xmlns:a16="http://schemas.microsoft.com/office/drawing/2014/main" id="{739366C6-F3E8-8311-114C-7A32BECF3A2D}"/>
              </a:ext>
            </a:extLst>
          </p:cNvPr>
          <p:cNvSpPr txBox="1"/>
          <p:nvPr/>
        </p:nvSpPr>
        <p:spPr>
          <a:xfrm>
            <a:off x="12995794" y="9823513"/>
            <a:ext cx="507542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DM Sans"/>
                <a:ea typeface="+mn-ea"/>
                <a:cs typeface="+mn-cs"/>
              </a:rPr>
              <a:t>adapted from Figure 2.3, AR5 synthesis report</a:t>
            </a:r>
          </a:p>
        </p:txBody>
      </p:sp>
      <p:sp>
        <p:nvSpPr>
          <p:cNvPr id="3" name="TextBox 2">
            <a:extLst>
              <a:ext uri="{FF2B5EF4-FFF2-40B4-BE49-F238E27FC236}">
                <a16:creationId xmlns:a16="http://schemas.microsoft.com/office/drawing/2014/main" id="{73618ED6-A02A-6B52-0538-FAC5F6BA2D38}"/>
              </a:ext>
            </a:extLst>
          </p:cNvPr>
          <p:cNvSpPr txBox="1"/>
          <p:nvPr/>
        </p:nvSpPr>
        <p:spPr>
          <a:xfrm>
            <a:off x="1095394" y="2506718"/>
            <a:ext cx="1190039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black"/>
                </a:solidFill>
                <a:effectLst/>
                <a:uLnTx/>
                <a:uFillTx/>
                <a:latin typeface="DM Sans"/>
                <a:ea typeface="+mn-ea"/>
                <a:cs typeface="+mn-cs"/>
              </a:rPr>
              <a:t>How do we calculate long term climate change from GHG emissions?</a:t>
            </a:r>
          </a:p>
        </p:txBody>
      </p:sp>
    </p:spTree>
    <p:extLst>
      <p:ext uri="{BB962C8B-B14F-4D97-AF65-F5344CB8AC3E}">
        <p14:creationId xmlns:p14="http://schemas.microsoft.com/office/powerpoint/2010/main" val="2141876996"/>
      </p:ext>
    </p:extLst>
  </p:cSld>
  <p:clrMapOvr>
    <a:masterClrMapping/>
  </p:clrMapOvr>
  <mc:AlternateContent xmlns:mc="http://schemas.openxmlformats.org/markup-compatibility/2006" xmlns:p14="http://schemas.microsoft.com/office/powerpoint/2010/main">
    <mc:Choice Requires="p14">
      <p:transition spd="slow" p14:dur="2000" advTm="102003"/>
    </mc:Choice>
    <mc:Fallback xmlns="">
      <p:transition spd="slow" advTm="10200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270415" y="1675139"/>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Climate Sensitivity </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pic>
        <p:nvPicPr>
          <p:cNvPr id="12" name="Picture 11" descr="Chart&#10;&#10;Description automatically generated">
            <a:extLst>
              <a:ext uri="{FF2B5EF4-FFF2-40B4-BE49-F238E27FC236}">
                <a16:creationId xmlns:a16="http://schemas.microsoft.com/office/drawing/2014/main" id="{071A2858-D8E6-BE3D-75FD-D7E7521ACB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415" y="3275076"/>
            <a:ext cx="7844994" cy="6270881"/>
          </a:xfrm>
          <a:prstGeom prst="rect">
            <a:avLst/>
          </a:prstGeom>
        </p:spPr>
      </p:pic>
      <p:sp>
        <p:nvSpPr>
          <p:cNvPr id="14" name="TextBox 13">
            <a:extLst>
              <a:ext uri="{FF2B5EF4-FFF2-40B4-BE49-F238E27FC236}">
                <a16:creationId xmlns:a16="http://schemas.microsoft.com/office/drawing/2014/main" id="{739366C6-F3E8-8311-114C-7A32BECF3A2D}"/>
              </a:ext>
            </a:extLst>
          </p:cNvPr>
          <p:cNvSpPr txBox="1"/>
          <p:nvPr/>
        </p:nvSpPr>
        <p:spPr>
          <a:xfrm>
            <a:off x="12995794" y="9823513"/>
            <a:ext cx="507542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DM Sans"/>
                <a:ea typeface="+mn-ea"/>
                <a:cs typeface="+mn-cs"/>
              </a:rPr>
              <a:t>adapted from Figure 2.3, AR5 synthesis report</a:t>
            </a:r>
          </a:p>
        </p:txBody>
      </p:sp>
      <p:pic>
        <p:nvPicPr>
          <p:cNvPr id="3" name="Picture 2" descr="A graph with different colored lines&#10;&#10;Description automatically generated">
            <a:extLst>
              <a:ext uri="{FF2B5EF4-FFF2-40B4-BE49-F238E27FC236}">
                <a16:creationId xmlns:a16="http://schemas.microsoft.com/office/drawing/2014/main" id="{41ABC8A1-CB0D-0A11-D3ED-7E064FD0278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503" r="16027" b="16188"/>
          <a:stretch/>
        </p:blipFill>
        <p:spPr bwMode="auto">
          <a:xfrm>
            <a:off x="9407315" y="3653664"/>
            <a:ext cx="8663907" cy="59260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908EA73-399B-41F4-10C6-D481FD2D97F6}"/>
              </a:ext>
            </a:extLst>
          </p:cNvPr>
          <p:cNvSpPr txBox="1"/>
          <p:nvPr/>
        </p:nvSpPr>
        <p:spPr>
          <a:xfrm>
            <a:off x="1095394" y="2506718"/>
            <a:ext cx="1190039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black"/>
                </a:solidFill>
                <a:effectLst/>
                <a:uLnTx/>
                <a:uFillTx/>
                <a:latin typeface="DM Sans"/>
                <a:ea typeface="+mn-ea"/>
                <a:cs typeface="+mn-cs"/>
              </a:rPr>
              <a:t>How do we calculate long term climate change from GHG emissions?</a:t>
            </a:r>
          </a:p>
        </p:txBody>
      </p:sp>
    </p:spTree>
    <p:extLst>
      <p:ext uri="{BB962C8B-B14F-4D97-AF65-F5344CB8AC3E}">
        <p14:creationId xmlns:p14="http://schemas.microsoft.com/office/powerpoint/2010/main" val="2853429206"/>
      </p:ext>
    </p:extLst>
  </p:cSld>
  <p:clrMapOvr>
    <a:masterClrMapping/>
  </p:clrMapOvr>
  <mc:AlternateContent xmlns:mc="http://schemas.openxmlformats.org/markup-compatibility/2006" xmlns:p14="http://schemas.microsoft.com/office/powerpoint/2010/main">
    <mc:Choice Requires="p14">
      <p:transition spd="slow" p14:dur="2000" advTm="76254"/>
    </mc:Choice>
    <mc:Fallback xmlns="">
      <p:transition spd="slow" advTm="7625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sp>
        <p:nvSpPr>
          <p:cNvPr id="5" name="TextBox 5">
            <a:extLst>
              <a:ext uri="{FF2B5EF4-FFF2-40B4-BE49-F238E27FC236}">
                <a16:creationId xmlns:a16="http://schemas.microsoft.com/office/drawing/2014/main" id="{779588C8-99B4-0066-A29B-472B6CF20D8B}"/>
              </a:ext>
            </a:extLst>
          </p:cNvPr>
          <p:cNvSpPr txBox="1"/>
          <p:nvPr/>
        </p:nvSpPr>
        <p:spPr>
          <a:xfrm>
            <a:off x="1143000" y="1736548"/>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What impact will this have?</a:t>
            </a:r>
          </a:p>
        </p:txBody>
      </p:sp>
      <p:sp>
        <p:nvSpPr>
          <p:cNvPr id="7" name="TextBox 6">
            <a:extLst>
              <a:ext uri="{FF2B5EF4-FFF2-40B4-BE49-F238E27FC236}">
                <a16:creationId xmlns:a16="http://schemas.microsoft.com/office/drawing/2014/main" id="{18C727CE-3E21-F6C9-0970-F01FE11AB416}"/>
              </a:ext>
            </a:extLst>
          </p:cNvPr>
          <p:cNvSpPr txBox="1"/>
          <p:nvPr/>
        </p:nvSpPr>
        <p:spPr>
          <a:xfrm>
            <a:off x="1143000" y="2747664"/>
            <a:ext cx="8779933" cy="3662541"/>
          </a:xfrm>
          <a:prstGeom prst="rect">
            <a:avLst/>
          </a:prstGeom>
          <a:noFill/>
        </p:spPr>
        <p:txBody>
          <a:bodyPr wrap="square">
            <a:spAutoFit/>
          </a:bodyPr>
          <a:lstStyle/>
          <a:p>
            <a:pPr marL="457200" indent="-457200" algn="l">
              <a:buFont typeface="Arial" panose="020B0604020202020204" pitchFamily="34" charset="0"/>
              <a:buChar char="•"/>
            </a:pPr>
            <a:r>
              <a:rPr lang="en-GB" sz="2400" strike="noStrike" dirty="0">
                <a:effectLst/>
                <a:latin typeface="Calibri" panose="020F0502020204030204" pitchFamily="34" charset="0"/>
              </a:rPr>
              <a:t>Increase Earth's average temperature</a:t>
            </a:r>
          </a:p>
          <a:p>
            <a:pPr marL="457200" indent="-457200" algn="l">
              <a:buFont typeface="Arial" panose="020B0604020202020204" pitchFamily="34" charset="0"/>
              <a:buChar char="•"/>
            </a:pPr>
            <a:r>
              <a:rPr lang="en-GB" sz="2400" strike="noStrike" dirty="0">
                <a:effectLst/>
                <a:latin typeface="Calibri" panose="020F0502020204030204" pitchFamily="34" charset="0"/>
              </a:rPr>
              <a:t>Influence the patterns and amounts of precipitation</a:t>
            </a:r>
          </a:p>
          <a:p>
            <a:pPr marL="457200" indent="-457200" algn="l">
              <a:buFont typeface="Arial" panose="020B0604020202020204" pitchFamily="34" charset="0"/>
              <a:buChar char="•"/>
            </a:pPr>
            <a:r>
              <a:rPr lang="en-GB" sz="2400" strike="noStrike" dirty="0">
                <a:effectLst/>
                <a:latin typeface="Calibri" panose="020F0502020204030204" pitchFamily="34" charset="0"/>
              </a:rPr>
              <a:t>Reduce ice and snow cover, as well as permafrost</a:t>
            </a:r>
          </a:p>
          <a:p>
            <a:pPr marL="457200" indent="-457200" algn="l">
              <a:buFont typeface="Arial" panose="020B0604020202020204" pitchFamily="34" charset="0"/>
              <a:buChar char="•"/>
            </a:pPr>
            <a:r>
              <a:rPr lang="en-GB" sz="2400" strike="noStrike" dirty="0">
                <a:effectLst/>
                <a:latin typeface="Calibri" panose="020F0502020204030204" pitchFamily="34" charset="0"/>
              </a:rPr>
              <a:t>Raise sea level</a:t>
            </a:r>
          </a:p>
          <a:p>
            <a:pPr marL="457200" indent="-457200" algn="l">
              <a:buFont typeface="Arial" panose="020B0604020202020204" pitchFamily="34" charset="0"/>
              <a:buChar char="•"/>
            </a:pPr>
            <a:r>
              <a:rPr lang="en-GB" sz="2400" strike="noStrike" dirty="0">
                <a:effectLst/>
                <a:latin typeface="Calibri" panose="020F0502020204030204" pitchFamily="34" charset="0"/>
              </a:rPr>
              <a:t>Increase the acidity of the oceans</a:t>
            </a:r>
          </a:p>
          <a:p>
            <a:pPr marL="457200" indent="-457200" algn="l">
              <a:buFont typeface="Arial" panose="020B0604020202020204" pitchFamily="34" charset="0"/>
              <a:buChar char="•"/>
            </a:pPr>
            <a:r>
              <a:rPr lang="en-GB" sz="2400" strike="noStrike" dirty="0">
                <a:effectLst/>
                <a:latin typeface="Calibri" panose="020F0502020204030204" pitchFamily="34" charset="0"/>
              </a:rPr>
              <a:t>Increase the frequency, intensity of extreme events</a:t>
            </a:r>
          </a:p>
          <a:p>
            <a:pPr marL="457200" indent="-457200" algn="l">
              <a:buFont typeface="Arial" panose="020B0604020202020204" pitchFamily="34" charset="0"/>
              <a:buChar char="•"/>
            </a:pPr>
            <a:r>
              <a:rPr lang="en-GB" sz="2400" strike="noStrike" dirty="0">
                <a:effectLst/>
                <a:latin typeface="Calibri" panose="020F0502020204030204" pitchFamily="34" charset="0"/>
              </a:rPr>
              <a:t>Shift ecosystem characteristics</a:t>
            </a:r>
          </a:p>
          <a:p>
            <a:pPr marL="457200" indent="-457200" algn="l">
              <a:buFont typeface="Arial" panose="020B0604020202020204" pitchFamily="34" charset="0"/>
              <a:buChar char="•"/>
            </a:pPr>
            <a:r>
              <a:rPr lang="en-GB" sz="2400" strike="noStrike" dirty="0">
                <a:effectLst/>
                <a:latin typeface="Calibri" panose="020F0502020204030204" pitchFamily="34" charset="0"/>
              </a:rPr>
              <a:t>Increase threats to human health</a:t>
            </a:r>
          </a:p>
          <a:p>
            <a:br>
              <a:rPr lang="en-GB" sz="2000" dirty="0"/>
            </a:br>
            <a:endParaRPr lang="en-GB" sz="2000" dirty="0"/>
          </a:p>
        </p:txBody>
      </p:sp>
      <p:sp>
        <p:nvSpPr>
          <p:cNvPr id="3" name="TextBox 5">
            <a:extLst>
              <a:ext uri="{FF2B5EF4-FFF2-40B4-BE49-F238E27FC236}">
                <a16:creationId xmlns:a16="http://schemas.microsoft.com/office/drawing/2014/main" id="{0E6C3B07-7701-3AD6-49CD-4A3B3659E0AA}"/>
              </a:ext>
            </a:extLst>
          </p:cNvPr>
          <p:cNvSpPr txBox="1"/>
          <p:nvPr/>
        </p:nvSpPr>
        <p:spPr>
          <a:xfrm>
            <a:off x="1143000" y="6000060"/>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What will this depend on?</a:t>
            </a:r>
            <a:endParaRPr kumimoji="0" lang="en-US" sz="4800"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4" name="TextBox 3">
            <a:extLst>
              <a:ext uri="{FF2B5EF4-FFF2-40B4-BE49-F238E27FC236}">
                <a16:creationId xmlns:a16="http://schemas.microsoft.com/office/drawing/2014/main" id="{1A7087AE-3019-A578-FBE7-6E42BD8ECEA8}"/>
              </a:ext>
            </a:extLst>
          </p:cNvPr>
          <p:cNvSpPr txBox="1"/>
          <p:nvPr/>
        </p:nvSpPr>
        <p:spPr>
          <a:xfrm>
            <a:off x="1143001" y="6892493"/>
            <a:ext cx="8610600" cy="2616101"/>
          </a:xfrm>
          <a:prstGeom prst="rect">
            <a:avLst/>
          </a:prstGeom>
          <a:noFill/>
        </p:spPr>
        <p:txBody>
          <a:bodyPr wrap="square">
            <a:spAutoFit/>
          </a:bodyPr>
          <a:lstStyle/>
          <a:p>
            <a:pPr marL="342900" indent="-342900" algn="l">
              <a:buFont typeface="Arial" panose="020B0604020202020204" pitchFamily="34" charset="0"/>
              <a:buChar char="•"/>
            </a:pPr>
            <a:r>
              <a:rPr lang="en-GB" sz="2400" dirty="0">
                <a:solidFill>
                  <a:srgbClr val="212121"/>
                </a:solidFill>
                <a:latin typeface="Calibri" panose="020F0502020204030204" pitchFamily="34" charset="0"/>
              </a:rPr>
              <a:t>I</a:t>
            </a:r>
            <a:r>
              <a:rPr lang="en-GB" sz="2400" u="none" strike="noStrike" dirty="0">
                <a:solidFill>
                  <a:srgbClr val="212121"/>
                </a:solidFill>
                <a:effectLst/>
                <a:latin typeface="Calibri" panose="020F0502020204030204" pitchFamily="34" charset="0"/>
              </a:rPr>
              <a:t>ncrease in greenhouse gas concentrations </a:t>
            </a:r>
          </a:p>
          <a:p>
            <a:pPr marL="342900" indent="-342900" algn="l">
              <a:buFont typeface="Arial" panose="020B0604020202020204" pitchFamily="34" charset="0"/>
              <a:buChar char="•"/>
            </a:pPr>
            <a:r>
              <a:rPr lang="en-GB" sz="2400" u="none" strike="noStrike" dirty="0">
                <a:solidFill>
                  <a:srgbClr val="212121"/>
                </a:solidFill>
                <a:effectLst/>
                <a:latin typeface="Calibri" panose="020F0502020204030204" pitchFamily="34" charset="0"/>
              </a:rPr>
              <a:t>Other Anthropogenic radiative forcing effects </a:t>
            </a:r>
          </a:p>
          <a:p>
            <a:pPr marL="342900" indent="-342900" algn="l">
              <a:buFont typeface="Arial" panose="020B0604020202020204" pitchFamily="34" charset="0"/>
              <a:buChar char="•"/>
            </a:pPr>
            <a:r>
              <a:rPr lang="en-GB" sz="2400" u="none" strike="noStrike" dirty="0">
                <a:solidFill>
                  <a:srgbClr val="212121"/>
                </a:solidFill>
                <a:effectLst/>
                <a:latin typeface="Calibri" panose="020F0502020204030204" pitchFamily="34" charset="0"/>
              </a:rPr>
              <a:t>Natural influences on climate </a:t>
            </a:r>
          </a:p>
          <a:p>
            <a:pPr marL="342900" indent="-342900" algn="l">
              <a:buFont typeface="Arial" panose="020B0604020202020204" pitchFamily="34" charset="0"/>
              <a:buChar char="•"/>
            </a:pPr>
            <a:r>
              <a:rPr lang="en-GB" sz="2400" dirty="0">
                <a:solidFill>
                  <a:srgbClr val="212121"/>
                </a:solidFill>
                <a:latin typeface="Calibri" panose="020F0502020204030204" pitchFamily="34" charset="0"/>
              </a:rPr>
              <a:t>Mitigations </a:t>
            </a:r>
          </a:p>
          <a:p>
            <a:pPr marL="342900" indent="-342900" algn="l">
              <a:buFont typeface="Arial" panose="020B0604020202020204" pitchFamily="34" charset="0"/>
              <a:buChar char="•"/>
            </a:pPr>
            <a:r>
              <a:rPr lang="en-GB" sz="2400" u="none" strike="noStrike" dirty="0">
                <a:solidFill>
                  <a:srgbClr val="212121"/>
                </a:solidFill>
                <a:effectLst/>
                <a:latin typeface="Calibri" panose="020F0502020204030204" pitchFamily="34" charset="0"/>
              </a:rPr>
              <a:t>Models of the climate system to better understand these issues and project future climate changes</a:t>
            </a:r>
            <a:br>
              <a:rPr lang="en-GB" sz="2000" dirty="0"/>
            </a:br>
            <a:endParaRPr lang="en-GB" sz="2000" dirty="0"/>
          </a:p>
        </p:txBody>
      </p:sp>
      <p:pic>
        <p:nvPicPr>
          <p:cNvPr id="8" name="Picture 7" descr="A city and grass with a city in the background&#10;&#10;Description automatically generated">
            <a:extLst>
              <a:ext uri="{FF2B5EF4-FFF2-40B4-BE49-F238E27FC236}">
                <a16:creationId xmlns:a16="http://schemas.microsoft.com/office/drawing/2014/main" id="{C4920D5A-4C3B-E8F7-0D8E-7F35A0B532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75333" y="2556837"/>
            <a:ext cx="7222470" cy="6195274"/>
          </a:xfrm>
          <a:prstGeom prst="rect">
            <a:avLst/>
          </a:prstGeom>
        </p:spPr>
      </p:pic>
    </p:spTree>
    <p:extLst>
      <p:ext uri="{BB962C8B-B14F-4D97-AF65-F5344CB8AC3E}">
        <p14:creationId xmlns:p14="http://schemas.microsoft.com/office/powerpoint/2010/main" val="160660511"/>
      </p:ext>
    </p:extLst>
  </p:cSld>
  <p:clrMapOvr>
    <a:masterClrMapping/>
  </p:clrMapOvr>
  <mc:AlternateContent xmlns:mc="http://schemas.openxmlformats.org/markup-compatibility/2006" xmlns:p14="http://schemas.microsoft.com/office/powerpoint/2010/main">
    <mc:Choice Requires="p14">
      <p:transition spd="slow" p14:dur="2000" advTm="92781"/>
    </mc:Choice>
    <mc:Fallback xmlns="">
      <p:transition spd="slow" advTm="9278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sp>
        <p:nvSpPr>
          <p:cNvPr id="5" name="TextBox 5">
            <a:extLst>
              <a:ext uri="{FF2B5EF4-FFF2-40B4-BE49-F238E27FC236}">
                <a16:creationId xmlns:a16="http://schemas.microsoft.com/office/drawing/2014/main" id="{779588C8-99B4-0066-A29B-472B6CF20D8B}"/>
              </a:ext>
            </a:extLst>
          </p:cNvPr>
          <p:cNvSpPr txBox="1"/>
          <p:nvPr/>
        </p:nvSpPr>
        <p:spPr>
          <a:xfrm>
            <a:off x="1143000" y="1736548"/>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What impact will this have?</a:t>
            </a:r>
          </a:p>
        </p:txBody>
      </p:sp>
      <p:sp>
        <p:nvSpPr>
          <p:cNvPr id="7" name="TextBox 6">
            <a:extLst>
              <a:ext uri="{FF2B5EF4-FFF2-40B4-BE49-F238E27FC236}">
                <a16:creationId xmlns:a16="http://schemas.microsoft.com/office/drawing/2014/main" id="{18C727CE-3E21-F6C9-0970-F01FE11AB416}"/>
              </a:ext>
            </a:extLst>
          </p:cNvPr>
          <p:cNvSpPr txBox="1"/>
          <p:nvPr/>
        </p:nvSpPr>
        <p:spPr>
          <a:xfrm>
            <a:off x="1143000" y="2747664"/>
            <a:ext cx="8779933" cy="3662541"/>
          </a:xfrm>
          <a:prstGeom prst="rect">
            <a:avLst/>
          </a:prstGeom>
          <a:noFill/>
        </p:spPr>
        <p:txBody>
          <a:bodyPr wrap="square">
            <a:spAutoFit/>
          </a:bodyPr>
          <a:lstStyle/>
          <a:p>
            <a:pPr marL="457200" indent="-457200" algn="l">
              <a:buFont typeface="Arial" panose="020B0604020202020204" pitchFamily="34" charset="0"/>
              <a:buChar char="•"/>
            </a:pPr>
            <a:r>
              <a:rPr lang="en-GB" sz="2400" strike="noStrike" dirty="0">
                <a:effectLst/>
                <a:latin typeface="Calibri" panose="020F0502020204030204" pitchFamily="34" charset="0"/>
              </a:rPr>
              <a:t>Increase Earth's average temperature</a:t>
            </a:r>
          </a:p>
          <a:p>
            <a:pPr marL="457200" indent="-457200" algn="l">
              <a:buFont typeface="Arial" panose="020B0604020202020204" pitchFamily="34" charset="0"/>
              <a:buChar char="•"/>
            </a:pPr>
            <a:r>
              <a:rPr lang="en-GB" sz="2400" strike="noStrike" dirty="0">
                <a:effectLst/>
                <a:latin typeface="Calibri" panose="020F0502020204030204" pitchFamily="34" charset="0"/>
              </a:rPr>
              <a:t>Influence the patterns and amounts of precipitation</a:t>
            </a:r>
          </a:p>
          <a:p>
            <a:pPr marL="457200" indent="-457200" algn="l">
              <a:buFont typeface="Arial" panose="020B0604020202020204" pitchFamily="34" charset="0"/>
              <a:buChar char="•"/>
            </a:pPr>
            <a:r>
              <a:rPr lang="en-GB" sz="2400" strike="noStrike" dirty="0">
                <a:effectLst/>
                <a:latin typeface="Calibri" panose="020F0502020204030204" pitchFamily="34" charset="0"/>
              </a:rPr>
              <a:t>Reduce ice and snow cover, as well as permafrost</a:t>
            </a:r>
          </a:p>
          <a:p>
            <a:pPr marL="457200" indent="-457200" algn="l">
              <a:buFont typeface="Arial" panose="020B0604020202020204" pitchFamily="34" charset="0"/>
              <a:buChar char="•"/>
            </a:pPr>
            <a:r>
              <a:rPr lang="en-GB" sz="2400" strike="noStrike" dirty="0">
                <a:effectLst/>
                <a:latin typeface="Calibri" panose="020F0502020204030204" pitchFamily="34" charset="0"/>
              </a:rPr>
              <a:t>Raise sea level</a:t>
            </a:r>
          </a:p>
          <a:p>
            <a:pPr marL="457200" indent="-457200" algn="l">
              <a:buFont typeface="Arial" panose="020B0604020202020204" pitchFamily="34" charset="0"/>
              <a:buChar char="•"/>
            </a:pPr>
            <a:r>
              <a:rPr lang="en-GB" sz="2400" strike="noStrike" dirty="0">
                <a:effectLst/>
                <a:latin typeface="Calibri" panose="020F0502020204030204" pitchFamily="34" charset="0"/>
              </a:rPr>
              <a:t>Increase the acidity of the oceans</a:t>
            </a:r>
          </a:p>
          <a:p>
            <a:pPr marL="457200" indent="-457200" algn="l">
              <a:buFont typeface="Arial" panose="020B0604020202020204" pitchFamily="34" charset="0"/>
              <a:buChar char="•"/>
            </a:pPr>
            <a:r>
              <a:rPr lang="en-GB" sz="2400" strike="noStrike" dirty="0">
                <a:effectLst/>
                <a:latin typeface="Calibri" panose="020F0502020204030204" pitchFamily="34" charset="0"/>
              </a:rPr>
              <a:t>Increase the frequency, intensity of extreme events</a:t>
            </a:r>
          </a:p>
          <a:p>
            <a:pPr marL="457200" indent="-457200" algn="l">
              <a:buFont typeface="Arial" panose="020B0604020202020204" pitchFamily="34" charset="0"/>
              <a:buChar char="•"/>
            </a:pPr>
            <a:r>
              <a:rPr lang="en-GB" sz="2400" strike="noStrike" dirty="0">
                <a:effectLst/>
                <a:latin typeface="Calibri" panose="020F0502020204030204" pitchFamily="34" charset="0"/>
              </a:rPr>
              <a:t>Shift ecosystem characteristics</a:t>
            </a:r>
          </a:p>
          <a:p>
            <a:pPr marL="457200" indent="-457200" algn="l">
              <a:buFont typeface="Arial" panose="020B0604020202020204" pitchFamily="34" charset="0"/>
              <a:buChar char="•"/>
            </a:pPr>
            <a:r>
              <a:rPr lang="en-GB" sz="2400" strike="noStrike" dirty="0">
                <a:effectLst/>
                <a:latin typeface="Calibri" panose="020F0502020204030204" pitchFamily="34" charset="0"/>
              </a:rPr>
              <a:t>Increase threats to human health</a:t>
            </a:r>
          </a:p>
          <a:p>
            <a:br>
              <a:rPr lang="en-GB" sz="2000" dirty="0"/>
            </a:br>
            <a:endParaRPr lang="en-GB" sz="2000" dirty="0"/>
          </a:p>
        </p:txBody>
      </p:sp>
      <p:sp>
        <p:nvSpPr>
          <p:cNvPr id="3" name="TextBox 5">
            <a:extLst>
              <a:ext uri="{FF2B5EF4-FFF2-40B4-BE49-F238E27FC236}">
                <a16:creationId xmlns:a16="http://schemas.microsoft.com/office/drawing/2014/main" id="{0E6C3B07-7701-3AD6-49CD-4A3B3659E0AA}"/>
              </a:ext>
            </a:extLst>
          </p:cNvPr>
          <p:cNvSpPr txBox="1"/>
          <p:nvPr/>
        </p:nvSpPr>
        <p:spPr>
          <a:xfrm>
            <a:off x="1143000" y="6000060"/>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What will this depend on?</a:t>
            </a:r>
            <a:endParaRPr kumimoji="0" lang="en-US" sz="4800"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4" name="TextBox 3">
            <a:extLst>
              <a:ext uri="{FF2B5EF4-FFF2-40B4-BE49-F238E27FC236}">
                <a16:creationId xmlns:a16="http://schemas.microsoft.com/office/drawing/2014/main" id="{1A7087AE-3019-A578-FBE7-6E42BD8ECEA8}"/>
              </a:ext>
            </a:extLst>
          </p:cNvPr>
          <p:cNvSpPr txBox="1"/>
          <p:nvPr/>
        </p:nvSpPr>
        <p:spPr>
          <a:xfrm>
            <a:off x="1143001" y="6892493"/>
            <a:ext cx="8610600" cy="2923877"/>
          </a:xfrm>
          <a:prstGeom prst="rect">
            <a:avLst/>
          </a:prstGeom>
          <a:noFill/>
        </p:spPr>
        <p:txBody>
          <a:bodyPr wrap="square">
            <a:spAutoFit/>
          </a:bodyPr>
          <a:lstStyle/>
          <a:p>
            <a:pPr marL="342900" indent="-342900" algn="l">
              <a:buFont typeface="Arial" panose="020B0604020202020204" pitchFamily="34" charset="0"/>
              <a:buChar char="•"/>
            </a:pPr>
            <a:r>
              <a:rPr lang="en-GB" sz="2400" dirty="0">
                <a:solidFill>
                  <a:srgbClr val="212121"/>
                </a:solidFill>
                <a:latin typeface="Calibri" panose="020F0502020204030204" pitchFamily="34" charset="0"/>
              </a:rPr>
              <a:t>I</a:t>
            </a:r>
            <a:r>
              <a:rPr lang="en-GB" sz="2400" u="none" strike="noStrike" dirty="0">
                <a:solidFill>
                  <a:srgbClr val="212121"/>
                </a:solidFill>
                <a:effectLst/>
                <a:latin typeface="Calibri" panose="020F0502020204030204" pitchFamily="34" charset="0"/>
              </a:rPr>
              <a:t>ncrease in greenhouse gas concentrations </a:t>
            </a:r>
            <a:r>
              <a:rPr lang="en-GB" sz="2400" u="none" strike="noStrike" dirty="0">
                <a:solidFill>
                  <a:srgbClr val="FF0000"/>
                </a:solidFill>
                <a:effectLst/>
                <a:latin typeface="Calibri" panose="020F0502020204030204" pitchFamily="34" charset="0"/>
              </a:rPr>
              <a:t>(weeks 1-5)</a:t>
            </a:r>
          </a:p>
          <a:p>
            <a:pPr marL="342900" indent="-342900">
              <a:buFont typeface="Arial" panose="020B0604020202020204" pitchFamily="34" charset="0"/>
              <a:buChar char="•"/>
            </a:pPr>
            <a:r>
              <a:rPr lang="en-GB" sz="2400" u="none" strike="noStrike" dirty="0">
                <a:solidFill>
                  <a:srgbClr val="212121"/>
                </a:solidFill>
                <a:effectLst/>
                <a:latin typeface="Calibri" panose="020F0502020204030204" pitchFamily="34" charset="0"/>
              </a:rPr>
              <a:t>Other Anthropogenic radiative forcing effects </a:t>
            </a:r>
            <a:r>
              <a:rPr lang="en-GB" sz="2400" u="none" strike="noStrike" dirty="0">
                <a:solidFill>
                  <a:srgbClr val="FF0000"/>
                </a:solidFill>
                <a:effectLst/>
                <a:latin typeface="Calibri" panose="020F0502020204030204" pitchFamily="34" charset="0"/>
              </a:rPr>
              <a:t>(weeks 4)</a:t>
            </a:r>
          </a:p>
          <a:p>
            <a:pPr marL="342900" indent="-342900" algn="l">
              <a:buFont typeface="Arial" panose="020B0604020202020204" pitchFamily="34" charset="0"/>
              <a:buChar char="•"/>
            </a:pPr>
            <a:r>
              <a:rPr lang="en-GB" sz="2400" u="none" strike="noStrike" dirty="0">
                <a:solidFill>
                  <a:srgbClr val="212121"/>
                </a:solidFill>
                <a:effectLst/>
                <a:latin typeface="Calibri" panose="020F0502020204030204" pitchFamily="34" charset="0"/>
              </a:rPr>
              <a:t>Natural influences on climate </a:t>
            </a:r>
            <a:r>
              <a:rPr lang="en-GB" sz="2400" u="none" strike="noStrike" dirty="0">
                <a:solidFill>
                  <a:srgbClr val="FF0000"/>
                </a:solidFill>
                <a:effectLst/>
                <a:latin typeface="Calibri" panose="020F0502020204030204" pitchFamily="34" charset="0"/>
              </a:rPr>
              <a:t>(week 2) </a:t>
            </a:r>
          </a:p>
          <a:p>
            <a:pPr marL="342900" indent="-342900" algn="l">
              <a:buFont typeface="Arial" panose="020B0604020202020204" pitchFamily="34" charset="0"/>
              <a:buChar char="•"/>
            </a:pPr>
            <a:r>
              <a:rPr lang="en-GB" sz="2400" dirty="0">
                <a:solidFill>
                  <a:srgbClr val="212121"/>
                </a:solidFill>
                <a:latin typeface="Calibri" panose="020F0502020204030204" pitchFamily="34" charset="0"/>
              </a:rPr>
              <a:t>Mitigations </a:t>
            </a:r>
            <a:r>
              <a:rPr lang="en-GB" sz="2400" dirty="0">
                <a:solidFill>
                  <a:srgbClr val="FF0000"/>
                </a:solidFill>
                <a:latin typeface="Calibri" panose="020F0502020204030204" pitchFamily="34" charset="0"/>
              </a:rPr>
              <a:t>(week 9)</a:t>
            </a:r>
            <a:endParaRPr lang="en-GB" sz="2400" u="none" strike="noStrike" dirty="0">
              <a:solidFill>
                <a:srgbClr val="FF0000"/>
              </a:solidFill>
              <a:effectLst/>
              <a:latin typeface="Calibri" panose="020F0502020204030204" pitchFamily="34" charset="0"/>
            </a:endParaRPr>
          </a:p>
          <a:p>
            <a:pPr marL="342900" indent="-342900" algn="l">
              <a:buFont typeface="Arial" panose="020B0604020202020204" pitchFamily="34" charset="0"/>
              <a:buChar char="•"/>
            </a:pPr>
            <a:r>
              <a:rPr lang="en-GB" sz="2400" u="none" strike="noStrike" dirty="0">
                <a:solidFill>
                  <a:srgbClr val="212121"/>
                </a:solidFill>
                <a:effectLst/>
                <a:latin typeface="Calibri" panose="020F0502020204030204" pitchFamily="34" charset="0"/>
              </a:rPr>
              <a:t>Models of the climate system to better understand these issues and project future climate changes </a:t>
            </a:r>
            <a:r>
              <a:rPr lang="en-GB" sz="2400" u="none" strike="noStrike" dirty="0">
                <a:solidFill>
                  <a:srgbClr val="FF0000"/>
                </a:solidFill>
                <a:effectLst/>
                <a:latin typeface="Calibri" panose="020F0502020204030204" pitchFamily="34" charset="0"/>
              </a:rPr>
              <a:t>(week 7).</a:t>
            </a:r>
          </a:p>
          <a:p>
            <a:br>
              <a:rPr lang="en-GB" sz="2000" dirty="0"/>
            </a:br>
            <a:endParaRPr lang="en-GB" sz="2000" dirty="0"/>
          </a:p>
        </p:txBody>
      </p:sp>
      <p:pic>
        <p:nvPicPr>
          <p:cNvPr id="8" name="Picture 7" descr="A city and grass with a city in the background&#10;&#10;Description automatically generated">
            <a:extLst>
              <a:ext uri="{FF2B5EF4-FFF2-40B4-BE49-F238E27FC236}">
                <a16:creationId xmlns:a16="http://schemas.microsoft.com/office/drawing/2014/main" id="{C4920D5A-4C3B-E8F7-0D8E-7F35A0B532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75333" y="2556837"/>
            <a:ext cx="7222470" cy="6195274"/>
          </a:xfrm>
          <a:prstGeom prst="rect">
            <a:avLst/>
          </a:prstGeom>
        </p:spPr>
      </p:pic>
    </p:spTree>
    <p:extLst>
      <p:ext uri="{BB962C8B-B14F-4D97-AF65-F5344CB8AC3E}">
        <p14:creationId xmlns:p14="http://schemas.microsoft.com/office/powerpoint/2010/main" val="2941518393"/>
      </p:ext>
    </p:extLst>
  </p:cSld>
  <p:clrMapOvr>
    <a:masterClrMapping/>
  </p:clrMapOvr>
  <mc:AlternateContent xmlns:mc="http://schemas.openxmlformats.org/markup-compatibility/2006" xmlns:p14="http://schemas.microsoft.com/office/powerpoint/2010/main">
    <mc:Choice Requires="p14">
      <p:transition spd="slow" p14:dur="2000" advTm="41341"/>
    </mc:Choice>
    <mc:Fallback xmlns="">
      <p:transition spd="slow" advTm="4134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9" name="Picture 8" descr="A diagram of climate change&#10;&#10;Description automatically generated">
            <a:extLst>
              <a:ext uri="{FF2B5EF4-FFF2-40B4-BE49-F238E27FC236}">
                <a16:creationId xmlns:a16="http://schemas.microsoft.com/office/drawing/2014/main" id="{EF2460A9-513D-215E-3939-29BAEF1BB5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00" y="824662"/>
            <a:ext cx="11976652" cy="8923536"/>
          </a:xfrm>
          <a:prstGeom prst="rect">
            <a:avLst/>
          </a:prstGeom>
        </p:spPr>
      </p:pic>
    </p:spTree>
    <p:extLst>
      <p:ext uri="{BB962C8B-B14F-4D97-AF65-F5344CB8AC3E}">
        <p14:creationId xmlns:p14="http://schemas.microsoft.com/office/powerpoint/2010/main" val="4169010033"/>
      </p:ext>
    </p:extLst>
  </p:cSld>
  <p:clrMapOvr>
    <a:masterClrMapping/>
  </p:clrMapOvr>
  <mc:AlternateContent xmlns:mc="http://schemas.openxmlformats.org/markup-compatibility/2006" xmlns:p14="http://schemas.microsoft.com/office/powerpoint/2010/main">
    <mc:Choice Requires="p14">
      <p:transition spd="slow" p14:dur="2000" advTm="145708"/>
    </mc:Choice>
    <mc:Fallback xmlns="">
      <p:transition spd="slow" advTm="145708"/>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sp>
        <p:nvSpPr>
          <p:cNvPr id="5" name="TextBox 5">
            <a:extLst>
              <a:ext uri="{FF2B5EF4-FFF2-40B4-BE49-F238E27FC236}">
                <a16:creationId xmlns:a16="http://schemas.microsoft.com/office/drawing/2014/main" id="{779588C8-99B4-0066-A29B-472B6CF20D8B}"/>
              </a:ext>
            </a:extLst>
          </p:cNvPr>
          <p:cNvSpPr txBox="1"/>
          <p:nvPr/>
        </p:nvSpPr>
        <p:spPr>
          <a:xfrm>
            <a:off x="1143000" y="1736548"/>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What impact will this have?</a:t>
            </a:r>
          </a:p>
        </p:txBody>
      </p:sp>
      <p:pic>
        <p:nvPicPr>
          <p:cNvPr id="4" name="Picture 3" descr="A diagram of different types of symbols&#10;&#10;Description automatically generated with medium confidence">
            <a:extLst>
              <a:ext uri="{FF2B5EF4-FFF2-40B4-BE49-F238E27FC236}">
                <a16:creationId xmlns:a16="http://schemas.microsoft.com/office/drawing/2014/main" id="{FB16867A-2BEB-7AF4-E6AE-CED97056C7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71600" y="2687924"/>
            <a:ext cx="12149528" cy="6820991"/>
          </a:xfrm>
          <a:prstGeom prst="rect">
            <a:avLst/>
          </a:prstGeom>
        </p:spPr>
      </p:pic>
    </p:spTree>
    <p:extLst>
      <p:ext uri="{BB962C8B-B14F-4D97-AF65-F5344CB8AC3E}">
        <p14:creationId xmlns:p14="http://schemas.microsoft.com/office/powerpoint/2010/main" val="3685740908"/>
      </p:ext>
    </p:extLst>
  </p:cSld>
  <p:clrMapOvr>
    <a:masterClrMapping/>
  </p:clrMapOvr>
  <mc:AlternateContent xmlns:mc="http://schemas.openxmlformats.org/markup-compatibility/2006" xmlns:p14="http://schemas.microsoft.com/office/powerpoint/2010/main">
    <mc:Choice Requires="p14">
      <p:transition spd="slow" p14:dur="2000" advTm="87081"/>
    </mc:Choice>
    <mc:Fallback xmlns="">
      <p:transition spd="slow" advTm="8708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4" name="Picture 4" descr="http://www.ipcc.ch/report/graphics/images/Assessment%20Reports/AR5%20-%20Synthesis%20Report/SPM/SPM.06-01.png">
            <a:extLst>
              <a:ext uri="{FF2B5EF4-FFF2-40B4-BE49-F238E27FC236}">
                <a16:creationId xmlns:a16="http://schemas.microsoft.com/office/drawing/2014/main" id="{37B419CB-1308-5D38-BBE3-35BF8A17A85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b="50000"/>
          <a:stretch/>
        </p:blipFill>
        <p:spPr bwMode="auto">
          <a:xfrm>
            <a:off x="1568307" y="3275950"/>
            <a:ext cx="6883940" cy="3955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www.ipcc.ch/report/graphics/images/Assessment%20Reports/AR5%20-%20Synthesis%20Report/SPM/SPM.06-01.png">
            <a:extLst>
              <a:ext uri="{FF2B5EF4-FFF2-40B4-BE49-F238E27FC236}">
                <a16:creationId xmlns:a16="http://schemas.microsoft.com/office/drawing/2014/main" id="{5DA9C5ED-C14D-9F01-3338-5FBDF56A16E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50000"/>
          <a:stretch/>
        </p:blipFill>
        <p:spPr bwMode="auto">
          <a:xfrm>
            <a:off x="8994703" y="3150828"/>
            <a:ext cx="7561140" cy="434406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C001100-6CF3-14BD-7B12-DF729CD622DC}"/>
              </a:ext>
            </a:extLst>
          </p:cNvPr>
          <p:cNvSpPr txBox="1"/>
          <p:nvPr/>
        </p:nvSpPr>
        <p:spPr>
          <a:xfrm>
            <a:off x="692979" y="7779609"/>
            <a:ext cx="5735399" cy="692497"/>
          </a:xfrm>
          <a:prstGeom prst="rect">
            <a:avLst/>
          </a:prstGeom>
          <a:noFill/>
        </p:spPr>
        <p:txBody>
          <a:bodyPr wrap="square" rtlCol="0">
            <a:spAutoFit/>
          </a:bodyPr>
          <a:lstStyle/>
          <a:p>
            <a:pPr algn="ctr"/>
            <a:r>
              <a:rPr lang="en-GB" sz="3900" b="1" dirty="0">
                <a:solidFill>
                  <a:srgbClr val="0070C0"/>
                </a:solidFill>
              </a:rPr>
              <a:t>Low future emissions</a:t>
            </a:r>
          </a:p>
        </p:txBody>
      </p:sp>
      <p:sp>
        <p:nvSpPr>
          <p:cNvPr id="9" name="TextBox 8">
            <a:extLst>
              <a:ext uri="{FF2B5EF4-FFF2-40B4-BE49-F238E27FC236}">
                <a16:creationId xmlns:a16="http://schemas.microsoft.com/office/drawing/2014/main" id="{AC256B02-ED8C-20D6-B9A1-220A95CE0922}"/>
              </a:ext>
            </a:extLst>
          </p:cNvPr>
          <p:cNvSpPr txBox="1"/>
          <p:nvPr/>
        </p:nvSpPr>
        <p:spPr>
          <a:xfrm>
            <a:off x="6199391" y="7794035"/>
            <a:ext cx="5519911" cy="692497"/>
          </a:xfrm>
          <a:prstGeom prst="rect">
            <a:avLst/>
          </a:prstGeom>
          <a:noFill/>
        </p:spPr>
        <p:txBody>
          <a:bodyPr wrap="square" rtlCol="0">
            <a:spAutoFit/>
          </a:bodyPr>
          <a:lstStyle/>
          <a:p>
            <a:pPr algn="ctr"/>
            <a:r>
              <a:rPr lang="en-GB" sz="3900" b="1" dirty="0">
                <a:solidFill>
                  <a:schemeClr val="accent2"/>
                </a:solidFill>
              </a:rPr>
              <a:t>High future emissions</a:t>
            </a:r>
          </a:p>
        </p:txBody>
      </p:sp>
      <p:cxnSp>
        <p:nvCxnSpPr>
          <p:cNvPr id="11" name="Straight Arrow Connector 10">
            <a:extLst>
              <a:ext uri="{FF2B5EF4-FFF2-40B4-BE49-F238E27FC236}">
                <a16:creationId xmlns:a16="http://schemas.microsoft.com/office/drawing/2014/main" id="{C0E907BE-F7D0-D92D-5D55-85D8CECA9CD9}"/>
              </a:ext>
            </a:extLst>
          </p:cNvPr>
          <p:cNvCxnSpPr>
            <a:cxnSpLocks/>
          </p:cNvCxnSpPr>
          <p:nvPr/>
        </p:nvCxnSpPr>
        <p:spPr>
          <a:xfrm flipV="1">
            <a:off x="4480980" y="5554556"/>
            <a:ext cx="946229" cy="22559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BE27903-0C95-AAED-4E20-A25301166254}"/>
              </a:ext>
            </a:extLst>
          </p:cNvPr>
          <p:cNvCxnSpPr>
            <a:cxnSpLocks/>
          </p:cNvCxnSpPr>
          <p:nvPr/>
        </p:nvCxnSpPr>
        <p:spPr>
          <a:xfrm flipH="1" flipV="1">
            <a:off x="6657366" y="4853011"/>
            <a:ext cx="466041" cy="2957477"/>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0F10D57-147E-25E5-CC03-6D4E08CEAB48}"/>
              </a:ext>
            </a:extLst>
          </p:cNvPr>
          <p:cNvSpPr txBox="1"/>
          <p:nvPr/>
        </p:nvSpPr>
        <p:spPr>
          <a:xfrm>
            <a:off x="13986823" y="9729019"/>
            <a:ext cx="4301177" cy="400110"/>
          </a:xfrm>
          <a:prstGeom prst="rect">
            <a:avLst/>
          </a:prstGeom>
          <a:noFill/>
        </p:spPr>
        <p:txBody>
          <a:bodyPr wrap="none" rtlCol="0">
            <a:spAutoFit/>
          </a:bodyPr>
          <a:lstStyle/>
          <a:p>
            <a:r>
              <a:rPr lang="en-GB" sz="2000" dirty="0"/>
              <a:t>Figure SPM.6, AR5 synthesis report</a:t>
            </a:r>
          </a:p>
        </p:txBody>
      </p:sp>
      <p:sp>
        <p:nvSpPr>
          <p:cNvPr id="15" name="TextBox 5">
            <a:extLst>
              <a:ext uri="{FF2B5EF4-FFF2-40B4-BE49-F238E27FC236}">
                <a16:creationId xmlns:a16="http://schemas.microsoft.com/office/drawing/2014/main" id="{AF57A873-597E-D3DF-F736-717CF59ACA2F}"/>
              </a:ext>
            </a:extLst>
          </p:cNvPr>
          <p:cNvSpPr txBox="1"/>
          <p:nvPr/>
        </p:nvSpPr>
        <p:spPr>
          <a:xfrm>
            <a:off x="1143000" y="1736548"/>
            <a:ext cx="13847674" cy="842282"/>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Projections of Future Change: Temperature</a:t>
            </a:r>
          </a:p>
        </p:txBody>
      </p:sp>
    </p:spTree>
    <p:extLst>
      <p:ext uri="{BB962C8B-B14F-4D97-AF65-F5344CB8AC3E}">
        <p14:creationId xmlns:p14="http://schemas.microsoft.com/office/powerpoint/2010/main" val="1665029197"/>
      </p:ext>
    </p:extLst>
  </p:cSld>
  <p:clrMapOvr>
    <a:masterClrMapping/>
  </p:clrMapOvr>
  <mc:AlternateContent xmlns:mc="http://schemas.openxmlformats.org/markup-compatibility/2006" xmlns:p14="http://schemas.microsoft.com/office/powerpoint/2010/main">
    <mc:Choice Requires="p14">
      <p:transition spd="slow" p14:dur="2000" advTm="60587"/>
    </mc:Choice>
    <mc:Fallback xmlns="">
      <p:transition spd="slow" advTm="60587"/>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sp>
        <p:nvSpPr>
          <p:cNvPr id="5" name="TextBox 5">
            <a:extLst>
              <a:ext uri="{FF2B5EF4-FFF2-40B4-BE49-F238E27FC236}">
                <a16:creationId xmlns:a16="http://schemas.microsoft.com/office/drawing/2014/main" id="{779588C8-99B4-0066-A29B-472B6CF20D8B}"/>
              </a:ext>
            </a:extLst>
          </p:cNvPr>
          <p:cNvSpPr txBox="1"/>
          <p:nvPr/>
        </p:nvSpPr>
        <p:spPr>
          <a:xfrm>
            <a:off x="1140888" y="1373832"/>
            <a:ext cx="13847674" cy="842282"/>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Projections of Future Change: Temperature</a:t>
            </a:r>
          </a:p>
        </p:txBody>
      </p:sp>
      <p:pic>
        <p:nvPicPr>
          <p:cNvPr id="15" name="Picture 2" descr="http://www.ipcc.ch/report/graphics/images/Assessment%20Reports/AR5%20-%20Synthesis%20Report/SPM/SPM.07_rev1-01.png">
            <a:extLst>
              <a:ext uri="{FF2B5EF4-FFF2-40B4-BE49-F238E27FC236}">
                <a16:creationId xmlns:a16="http://schemas.microsoft.com/office/drawing/2014/main" id="{A9A917A4-2385-1ECD-51FA-FC04256E1AD4}"/>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b="48363"/>
          <a:stretch/>
        </p:blipFill>
        <p:spPr bwMode="auto">
          <a:xfrm>
            <a:off x="3089877" y="4853689"/>
            <a:ext cx="11680217" cy="4586574"/>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57FE9740-8282-F747-970F-6E92EE3566E5}"/>
              </a:ext>
            </a:extLst>
          </p:cNvPr>
          <p:cNvSpPr txBox="1"/>
          <p:nvPr/>
        </p:nvSpPr>
        <p:spPr>
          <a:xfrm>
            <a:off x="598566" y="6891680"/>
            <a:ext cx="2675188" cy="1615827"/>
          </a:xfrm>
          <a:prstGeom prst="rect">
            <a:avLst/>
          </a:prstGeom>
          <a:noFill/>
        </p:spPr>
        <p:txBody>
          <a:bodyPr wrap="square" rtlCol="0">
            <a:spAutoFit/>
          </a:bodyPr>
          <a:lstStyle/>
          <a:p>
            <a:pPr algn="ctr"/>
            <a:r>
              <a:rPr lang="en-GB" sz="3300" b="1" dirty="0"/>
              <a:t>Low emission scenario</a:t>
            </a:r>
          </a:p>
        </p:txBody>
      </p:sp>
      <p:sp>
        <p:nvSpPr>
          <p:cNvPr id="17" name="TextBox 16">
            <a:extLst>
              <a:ext uri="{FF2B5EF4-FFF2-40B4-BE49-F238E27FC236}">
                <a16:creationId xmlns:a16="http://schemas.microsoft.com/office/drawing/2014/main" id="{60D675C0-C061-E733-8782-F083A8AFCD3A}"/>
              </a:ext>
            </a:extLst>
          </p:cNvPr>
          <p:cNvSpPr txBox="1"/>
          <p:nvPr/>
        </p:nvSpPr>
        <p:spPr>
          <a:xfrm>
            <a:off x="15740255" y="6927993"/>
            <a:ext cx="2248337" cy="1615827"/>
          </a:xfrm>
          <a:prstGeom prst="rect">
            <a:avLst/>
          </a:prstGeom>
          <a:noFill/>
        </p:spPr>
        <p:txBody>
          <a:bodyPr wrap="square" rtlCol="0">
            <a:spAutoFit/>
          </a:bodyPr>
          <a:lstStyle/>
          <a:p>
            <a:pPr algn="ctr"/>
            <a:r>
              <a:rPr lang="en-GB" sz="3300" b="1" dirty="0"/>
              <a:t>High emission scenario</a:t>
            </a:r>
          </a:p>
        </p:txBody>
      </p:sp>
      <p:sp>
        <p:nvSpPr>
          <p:cNvPr id="18" name="Left Brace 17">
            <a:extLst>
              <a:ext uri="{FF2B5EF4-FFF2-40B4-BE49-F238E27FC236}">
                <a16:creationId xmlns:a16="http://schemas.microsoft.com/office/drawing/2014/main" id="{816B0F8B-CF55-2DEF-5840-253E98AEFDA0}"/>
              </a:ext>
            </a:extLst>
          </p:cNvPr>
          <p:cNvSpPr/>
          <p:nvPr/>
        </p:nvSpPr>
        <p:spPr>
          <a:xfrm>
            <a:off x="2733217" y="5635583"/>
            <a:ext cx="580158" cy="384612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sz="2700"/>
          </a:p>
        </p:txBody>
      </p:sp>
      <p:sp>
        <p:nvSpPr>
          <p:cNvPr id="19" name="Left Brace 18">
            <a:extLst>
              <a:ext uri="{FF2B5EF4-FFF2-40B4-BE49-F238E27FC236}">
                <a16:creationId xmlns:a16="http://schemas.microsoft.com/office/drawing/2014/main" id="{978C9EEF-3FAE-D1A5-431D-F3A55C35FC1C}"/>
              </a:ext>
            </a:extLst>
          </p:cNvPr>
          <p:cNvSpPr/>
          <p:nvPr/>
        </p:nvSpPr>
        <p:spPr>
          <a:xfrm flipH="1">
            <a:off x="14903257" y="5512420"/>
            <a:ext cx="757848" cy="384612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sz="2700"/>
          </a:p>
        </p:txBody>
      </p:sp>
      <p:sp>
        <p:nvSpPr>
          <p:cNvPr id="20" name="TextBox 19">
            <a:extLst>
              <a:ext uri="{FF2B5EF4-FFF2-40B4-BE49-F238E27FC236}">
                <a16:creationId xmlns:a16="http://schemas.microsoft.com/office/drawing/2014/main" id="{C983625C-5C68-17AD-23C4-87CD190A1E8D}"/>
              </a:ext>
            </a:extLst>
          </p:cNvPr>
          <p:cNvSpPr txBox="1"/>
          <p:nvPr/>
        </p:nvSpPr>
        <p:spPr>
          <a:xfrm>
            <a:off x="13374062" y="9524888"/>
            <a:ext cx="4732386" cy="400110"/>
          </a:xfrm>
          <a:prstGeom prst="rect">
            <a:avLst/>
          </a:prstGeom>
          <a:noFill/>
        </p:spPr>
        <p:txBody>
          <a:bodyPr wrap="none" rtlCol="0">
            <a:spAutoFit/>
          </a:bodyPr>
          <a:lstStyle/>
          <a:p>
            <a:r>
              <a:rPr lang="en-GB" sz="2000" dirty="0"/>
              <a:t>Figure SPM.7, 2.2, AR5 synthesis report</a:t>
            </a:r>
          </a:p>
        </p:txBody>
      </p:sp>
      <p:sp>
        <p:nvSpPr>
          <p:cNvPr id="22" name="TextBox 21">
            <a:extLst>
              <a:ext uri="{FF2B5EF4-FFF2-40B4-BE49-F238E27FC236}">
                <a16:creationId xmlns:a16="http://schemas.microsoft.com/office/drawing/2014/main" id="{F1A07231-5348-3572-89EE-2ED0B873EB18}"/>
              </a:ext>
            </a:extLst>
          </p:cNvPr>
          <p:cNvSpPr txBox="1"/>
          <p:nvPr/>
        </p:nvSpPr>
        <p:spPr>
          <a:xfrm>
            <a:off x="1140888" y="2380739"/>
            <a:ext cx="15723535" cy="2308324"/>
          </a:xfrm>
          <a:prstGeom prst="rect">
            <a:avLst/>
          </a:prstGeom>
          <a:noFill/>
        </p:spPr>
        <p:txBody>
          <a:bodyPr wrap="square">
            <a:spAutoFit/>
          </a:bodyPr>
          <a:lstStyle/>
          <a:p>
            <a:pPr marL="285750" indent="-285750" algn="l">
              <a:buFont typeface="Arial" panose="020B0604020202020204" pitchFamily="34" charset="0"/>
              <a:buChar char="•"/>
            </a:pPr>
            <a:r>
              <a:rPr lang="en-GB" sz="2400" u="none" strike="noStrike" dirty="0">
                <a:solidFill>
                  <a:srgbClr val="212121"/>
                </a:solidFill>
                <a:effectLst/>
                <a:latin typeface="Calibri" panose="020F0502020204030204" pitchFamily="34" charset="0"/>
              </a:rPr>
              <a:t>Warming will continue to be different around the globe, being stronger over the land compared to over the ocean and strongest in the Arctic. </a:t>
            </a:r>
          </a:p>
          <a:p>
            <a:pPr marL="285750" indent="-285750" algn="l">
              <a:buFont typeface="Arial" panose="020B0604020202020204" pitchFamily="34" charset="0"/>
              <a:buChar char="•"/>
            </a:pPr>
            <a:r>
              <a:rPr lang="en-GB" sz="2400" u="none" strike="noStrike" dirty="0">
                <a:solidFill>
                  <a:srgbClr val="212121"/>
                </a:solidFill>
                <a:effectLst/>
                <a:latin typeface="Calibri" panose="020F0502020204030204" pitchFamily="34" charset="0"/>
              </a:rPr>
              <a:t>Except under the most aggressive mitigation scenario studied, global average temperature is expected to warm at least twice as much in the next 100 years as it has during the last 100 years.</a:t>
            </a:r>
            <a:r>
              <a:rPr lang="en-GB" sz="2400" u="none" strike="noStrike" baseline="30000" dirty="0">
                <a:solidFill>
                  <a:srgbClr val="4C2C92"/>
                </a:solidFill>
                <a:effectLst/>
                <a:latin typeface="Calibri" panose="020F0502020204030204" pitchFamily="34" charset="0"/>
              </a:rPr>
              <a:t> </a:t>
            </a:r>
          </a:p>
          <a:p>
            <a:pPr marL="285750" indent="-285750" algn="l">
              <a:buFont typeface="Arial" panose="020B0604020202020204" pitchFamily="34" charset="0"/>
              <a:buChar char="•"/>
            </a:pPr>
            <a:r>
              <a:rPr lang="en-GB" sz="2400" u="none" strike="noStrike" dirty="0">
                <a:solidFill>
                  <a:srgbClr val="212121"/>
                </a:solidFill>
                <a:effectLst/>
                <a:latin typeface="Calibri" panose="020F0502020204030204" pitchFamily="34" charset="0"/>
              </a:rPr>
              <a:t>Ground-level air temperatures are expected to continue to warm more rapidly over land than oceans.</a:t>
            </a:r>
            <a:endParaRPr lang="en-GB" sz="2400" baseline="30000" dirty="0">
              <a:solidFill>
                <a:srgbClr val="4C2C92"/>
              </a:solidFill>
              <a:latin typeface="Calibri" panose="020F0502020204030204" pitchFamily="34" charset="0"/>
            </a:endParaRPr>
          </a:p>
          <a:p>
            <a:pPr marL="285750" indent="-285750">
              <a:buFont typeface="Arial" panose="020B0604020202020204" pitchFamily="34" charset="0"/>
              <a:buChar char="•"/>
            </a:pPr>
            <a:r>
              <a:rPr lang="en-GB" sz="2400" u="none" strike="noStrike" dirty="0">
                <a:solidFill>
                  <a:srgbClr val="212121"/>
                </a:solidFill>
                <a:effectLst/>
                <a:latin typeface="Calibri" panose="020F0502020204030204" pitchFamily="34" charset="0"/>
              </a:rPr>
              <a:t>Each region is unique and affected by climate change in its own way. </a:t>
            </a:r>
          </a:p>
        </p:txBody>
      </p:sp>
    </p:spTree>
    <p:extLst>
      <p:ext uri="{BB962C8B-B14F-4D97-AF65-F5344CB8AC3E}">
        <p14:creationId xmlns:p14="http://schemas.microsoft.com/office/powerpoint/2010/main" val="1983715406"/>
      </p:ext>
    </p:extLst>
  </p:cSld>
  <p:clrMapOvr>
    <a:masterClrMapping/>
  </p:clrMapOvr>
  <mc:AlternateContent xmlns:mc="http://schemas.openxmlformats.org/markup-compatibility/2006" xmlns:p14="http://schemas.microsoft.com/office/powerpoint/2010/main">
    <mc:Choice Requires="p14">
      <p:transition spd="slow" p14:dur="2000" advTm="82878"/>
    </mc:Choice>
    <mc:Fallback xmlns="">
      <p:transition spd="slow" advTm="8287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3" name="Picture 2">
            <a:extLst>
              <a:ext uri="{FF2B5EF4-FFF2-40B4-BE49-F238E27FC236}">
                <a16:creationId xmlns:a16="http://schemas.microsoft.com/office/drawing/2014/main" id="{9C95713E-8330-6C28-1F27-3064AAB367A2}"/>
              </a:ext>
            </a:extLst>
          </p:cNvPr>
          <p:cNvPicPr>
            <a:picLocks noChangeAspect="1"/>
          </p:cNvPicPr>
          <p:nvPr/>
        </p:nvPicPr>
        <p:blipFill>
          <a:blip r:embed="rId5"/>
          <a:stretch>
            <a:fillRect/>
          </a:stretch>
        </p:blipFill>
        <p:spPr>
          <a:xfrm>
            <a:off x="7082701" y="3126326"/>
            <a:ext cx="10224681" cy="6317092"/>
          </a:xfrm>
          <a:prstGeom prst="rect">
            <a:avLst/>
          </a:prstGeom>
        </p:spPr>
      </p:pic>
      <p:sp>
        <p:nvSpPr>
          <p:cNvPr id="4" name="Oval 3">
            <a:extLst>
              <a:ext uri="{FF2B5EF4-FFF2-40B4-BE49-F238E27FC236}">
                <a16:creationId xmlns:a16="http://schemas.microsoft.com/office/drawing/2014/main" id="{BCBE9EF3-1672-69A2-D150-3A34243B08BA}"/>
              </a:ext>
            </a:extLst>
          </p:cNvPr>
          <p:cNvSpPr/>
          <p:nvPr/>
        </p:nvSpPr>
        <p:spPr>
          <a:xfrm>
            <a:off x="7814134" y="3757397"/>
            <a:ext cx="2178308" cy="125447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700" dirty="0"/>
          </a:p>
        </p:txBody>
      </p:sp>
      <p:sp>
        <p:nvSpPr>
          <p:cNvPr id="6" name="TextBox 5">
            <a:extLst>
              <a:ext uri="{FF2B5EF4-FFF2-40B4-BE49-F238E27FC236}">
                <a16:creationId xmlns:a16="http://schemas.microsoft.com/office/drawing/2014/main" id="{966CCB1D-6D98-725E-44BF-2ED94710B873}"/>
              </a:ext>
            </a:extLst>
          </p:cNvPr>
          <p:cNvSpPr txBox="1"/>
          <p:nvPr/>
        </p:nvSpPr>
        <p:spPr>
          <a:xfrm>
            <a:off x="1143000" y="4072191"/>
            <a:ext cx="5831162" cy="2862322"/>
          </a:xfrm>
          <a:prstGeom prst="rect">
            <a:avLst/>
          </a:prstGeom>
          <a:noFill/>
        </p:spPr>
        <p:txBody>
          <a:bodyPr wrap="square" rtlCol="0">
            <a:spAutoFit/>
          </a:bodyPr>
          <a:lstStyle/>
          <a:p>
            <a:r>
              <a:rPr lang="en-GB" sz="3600" b="1" dirty="0">
                <a:latin typeface="Calibri" panose="020F0502020204030204" pitchFamily="34" charset="0"/>
                <a:cs typeface="Calibri" panose="020F0502020204030204" pitchFamily="34" charset="0"/>
              </a:rPr>
              <a:t>Hot spells become more frequent</a:t>
            </a:r>
          </a:p>
          <a:p>
            <a:endParaRPr lang="en-GB" sz="2700" b="1" dirty="0">
              <a:latin typeface="Calibri" panose="020F0502020204030204" pitchFamily="34" charset="0"/>
              <a:cs typeface="Calibri" panose="020F0502020204030204" pitchFamily="34" charset="0"/>
            </a:endParaRPr>
          </a:p>
          <a:p>
            <a:r>
              <a:rPr lang="en-GB" sz="2700" dirty="0">
                <a:latin typeface="Calibri" panose="020F0502020204030204" pitchFamily="34" charset="0"/>
                <a:cs typeface="Calibri" panose="020F0502020204030204" pitchFamily="34" charset="0"/>
              </a:rPr>
              <a:t>Exceeding 30ºC for ≥ 2 days rises from typically once every 5 years now, to about four times every year by 2070s.</a:t>
            </a:r>
          </a:p>
        </p:txBody>
      </p:sp>
      <p:sp>
        <p:nvSpPr>
          <p:cNvPr id="7" name="TextBox 5">
            <a:extLst>
              <a:ext uri="{FF2B5EF4-FFF2-40B4-BE49-F238E27FC236}">
                <a16:creationId xmlns:a16="http://schemas.microsoft.com/office/drawing/2014/main" id="{F1295FC9-45FE-5B1F-5D0B-4E263A965B0D}"/>
              </a:ext>
            </a:extLst>
          </p:cNvPr>
          <p:cNvSpPr txBox="1"/>
          <p:nvPr/>
        </p:nvSpPr>
        <p:spPr>
          <a:xfrm>
            <a:off x="1143000" y="1736548"/>
            <a:ext cx="13847674" cy="842282"/>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Projections of Future Change: Temperature, UK</a:t>
            </a:r>
          </a:p>
        </p:txBody>
      </p:sp>
    </p:spTree>
    <p:extLst>
      <p:ext uri="{BB962C8B-B14F-4D97-AF65-F5344CB8AC3E}">
        <p14:creationId xmlns:p14="http://schemas.microsoft.com/office/powerpoint/2010/main" val="1792247513"/>
      </p:ext>
    </p:extLst>
  </p:cSld>
  <p:clrMapOvr>
    <a:masterClrMapping/>
  </p:clrMapOvr>
  <mc:AlternateContent xmlns:mc="http://schemas.openxmlformats.org/markup-compatibility/2006" xmlns:p14="http://schemas.microsoft.com/office/powerpoint/2010/main">
    <mc:Choice Requires="p14">
      <p:transition spd="slow" p14:dur="2000" advTm="50471"/>
    </mc:Choice>
    <mc:Fallback xmlns="">
      <p:transition spd="slow" advTm="5047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3" name="Picture 2">
            <a:extLst>
              <a:ext uri="{FF2B5EF4-FFF2-40B4-BE49-F238E27FC236}">
                <a16:creationId xmlns:a16="http://schemas.microsoft.com/office/drawing/2014/main" id="{9C95713E-8330-6C28-1F27-3064AAB367A2}"/>
              </a:ext>
            </a:extLst>
          </p:cNvPr>
          <p:cNvPicPr>
            <a:picLocks noChangeAspect="1"/>
          </p:cNvPicPr>
          <p:nvPr/>
        </p:nvPicPr>
        <p:blipFill>
          <a:blip r:embed="rId5"/>
          <a:stretch>
            <a:fillRect/>
          </a:stretch>
        </p:blipFill>
        <p:spPr>
          <a:xfrm>
            <a:off x="7112681" y="3089561"/>
            <a:ext cx="10224681" cy="6317092"/>
          </a:xfrm>
          <a:prstGeom prst="rect">
            <a:avLst/>
          </a:prstGeom>
        </p:spPr>
      </p:pic>
      <p:sp>
        <p:nvSpPr>
          <p:cNvPr id="4" name="Oval 3">
            <a:extLst>
              <a:ext uri="{FF2B5EF4-FFF2-40B4-BE49-F238E27FC236}">
                <a16:creationId xmlns:a16="http://schemas.microsoft.com/office/drawing/2014/main" id="{BCBE9EF3-1672-69A2-D150-3A34243B08BA}"/>
              </a:ext>
            </a:extLst>
          </p:cNvPr>
          <p:cNvSpPr/>
          <p:nvPr/>
        </p:nvSpPr>
        <p:spPr>
          <a:xfrm>
            <a:off x="11584172" y="3757397"/>
            <a:ext cx="2178308" cy="1254470"/>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700" dirty="0"/>
          </a:p>
        </p:txBody>
      </p:sp>
      <p:sp>
        <p:nvSpPr>
          <p:cNvPr id="6" name="TextBox 5">
            <a:extLst>
              <a:ext uri="{FF2B5EF4-FFF2-40B4-BE49-F238E27FC236}">
                <a16:creationId xmlns:a16="http://schemas.microsoft.com/office/drawing/2014/main" id="{966CCB1D-6D98-725E-44BF-2ED94710B873}"/>
              </a:ext>
            </a:extLst>
          </p:cNvPr>
          <p:cNvSpPr txBox="1"/>
          <p:nvPr/>
        </p:nvSpPr>
        <p:spPr>
          <a:xfrm>
            <a:off x="1143000" y="3757397"/>
            <a:ext cx="5542613" cy="3539430"/>
          </a:xfrm>
          <a:prstGeom prst="rect">
            <a:avLst/>
          </a:prstGeom>
          <a:noFill/>
        </p:spPr>
        <p:txBody>
          <a:bodyPr wrap="square" rtlCol="0">
            <a:spAutoFit/>
          </a:bodyPr>
          <a:lstStyle/>
          <a:p>
            <a:r>
              <a:rPr lang="en-GB" sz="3200" b="1" dirty="0">
                <a:latin typeface="Calibri" panose="020F0502020204030204" pitchFamily="34" charset="0"/>
                <a:cs typeface="Calibri" panose="020F0502020204030204" pitchFamily="34" charset="0"/>
              </a:rPr>
              <a:t>Hot spells become more frequent</a:t>
            </a:r>
          </a:p>
          <a:p>
            <a:endParaRPr lang="en-GB" sz="3200" b="1" dirty="0">
              <a:latin typeface="Calibri" panose="020F0502020204030204" pitchFamily="34" charset="0"/>
              <a:cs typeface="Calibri" panose="020F0502020204030204" pitchFamily="34" charset="0"/>
            </a:endParaRPr>
          </a:p>
          <a:p>
            <a:r>
              <a:rPr lang="en-GB" sz="3200" dirty="0">
                <a:latin typeface="Calibri" panose="020F0502020204030204" pitchFamily="34" charset="0"/>
                <a:cs typeface="Calibri" panose="020F0502020204030204" pitchFamily="34" charset="0"/>
              </a:rPr>
              <a:t>Exceeding 30ºC for &gt;5 days will typically happen at least once every year, while they very rarely happen now.</a:t>
            </a:r>
          </a:p>
        </p:txBody>
      </p:sp>
      <p:sp>
        <p:nvSpPr>
          <p:cNvPr id="7" name="TextBox 5">
            <a:extLst>
              <a:ext uri="{FF2B5EF4-FFF2-40B4-BE49-F238E27FC236}">
                <a16:creationId xmlns:a16="http://schemas.microsoft.com/office/drawing/2014/main" id="{49ADA8D6-123B-D00C-B09C-BC5CA6275388}"/>
              </a:ext>
            </a:extLst>
          </p:cNvPr>
          <p:cNvSpPr txBox="1"/>
          <p:nvPr/>
        </p:nvSpPr>
        <p:spPr>
          <a:xfrm>
            <a:off x="1143000" y="1736548"/>
            <a:ext cx="13847674" cy="842282"/>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Projections of Future Change: Temperature, UK</a:t>
            </a:r>
          </a:p>
        </p:txBody>
      </p:sp>
    </p:spTree>
    <p:extLst>
      <p:ext uri="{BB962C8B-B14F-4D97-AF65-F5344CB8AC3E}">
        <p14:creationId xmlns:p14="http://schemas.microsoft.com/office/powerpoint/2010/main" val="3054660537"/>
      </p:ext>
    </p:extLst>
  </p:cSld>
  <p:clrMapOvr>
    <a:masterClrMapping/>
  </p:clrMapOvr>
  <mc:AlternateContent xmlns:mc="http://schemas.openxmlformats.org/markup-compatibility/2006" xmlns:p14="http://schemas.microsoft.com/office/powerpoint/2010/main">
    <mc:Choice Requires="p14">
      <p:transition spd="slow" p14:dur="2000" advTm="90440"/>
    </mc:Choice>
    <mc:Fallback xmlns="">
      <p:transition spd="slow" advTm="9044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sp>
        <p:nvSpPr>
          <p:cNvPr id="5" name="TextBox 5">
            <a:extLst>
              <a:ext uri="{FF2B5EF4-FFF2-40B4-BE49-F238E27FC236}">
                <a16:creationId xmlns:a16="http://schemas.microsoft.com/office/drawing/2014/main" id="{779588C8-99B4-0066-A29B-472B6CF20D8B}"/>
              </a:ext>
            </a:extLst>
          </p:cNvPr>
          <p:cNvSpPr txBox="1"/>
          <p:nvPr/>
        </p:nvSpPr>
        <p:spPr>
          <a:xfrm>
            <a:off x="1143000" y="1736548"/>
            <a:ext cx="13847674" cy="842282"/>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Projections of Future Change: Precipitation</a:t>
            </a:r>
          </a:p>
        </p:txBody>
      </p:sp>
      <p:sp>
        <p:nvSpPr>
          <p:cNvPr id="16" name="TextBox 15">
            <a:extLst>
              <a:ext uri="{FF2B5EF4-FFF2-40B4-BE49-F238E27FC236}">
                <a16:creationId xmlns:a16="http://schemas.microsoft.com/office/drawing/2014/main" id="{57FE9740-8282-F747-970F-6E92EE3566E5}"/>
              </a:ext>
            </a:extLst>
          </p:cNvPr>
          <p:cNvSpPr txBox="1"/>
          <p:nvPr/>
        </p:nvSpPr>
        <p:spPr>
          <a:xfrm>
            <a:off x="598566" y="6891680"/>
            <a:ext cx="2675188" cy="1615827"/>
          </a:xfrm>
          <a:prstGeom prst="rect">
            <a:avLst/>
          </a:prstGeom>
          <a:noFill/>
        </p:spPr>
        <p:txBody>
          <a:bodyPr wrap="square" rtlCol="0">
            <a:spAutoFit/>
          </a:bodyPr>
          <a:lstStyle/>
          <a:p>
            <a:pPr algn="ctr"/>
            <a:r>
              <a:rPr lang="en-GB" sz="3300" b="1" dirty="0"/>
              <a:t>Low emission scenario</a:t>
            </a:r>
          </a:p>
        </p:txBody>
      </p:sp>
      <p:sp>
        <p:nvSpPr>
          <p:cNvPr id="17" name="TextBox 16">
            <a:extLst>
              <a:ext uri="{FF2B5EF4-FFF2-40B4-BE49-F238E27FC236}">
                <a16:creationId xmlns:a16="http://schemas.microsoft.com/office/drawing/2014/main" id="{60D675C0-C061-E733-8782-F083A8AFCD3A}"/>
              </a:ext>
            </a:extLst>
          </p:cNvPr>
          <p:cNvSpPr txBox="1"/>
          <p:nvPr/>
        </p:nvSpPr>
        <p:spPr>
          <a:xfrm>
            <a:off x="15740255" y="6927993"/>
            <a:ext cx="2248337" cy="1615827"/>
          </a:xfrm>
          <a:prstGeom prst="rect">
            <a:avLst/>
          </a:prstGeom>
          <a:noFill/>
        </p:spPr>
        <p:txBody>
          <a:bodyPr wrap="square" rtlCol="0">
            <a:spAutoFit/>
          </a:bodyPr>
          <a:lstStyle/>
          <a:p>
            <a:pPr algn="ctr"/>
            <a:r>
              <a:rPr lang="en-GB" sz="3300" b="1" dirty="0"/>
              <a:t>High emission scenario</a:t>
            </a:r>
          </a:p>
        </p:txBody>
      </p:sp>
      <p:sp>
        <p:nvSpPr>
          <p:cNvPr id="18" name="Left Brace 17">
            <a:extLst>
              <a:ext uri="{FF2B5EF4-FFF2-40B4-BE49-F238E27FC236}">
                <a16:creationId xmlns:a16="http://schemas.microsoft.com/office/drawing/2014/main" id="{816B0F8B-CF55-2DEF-5840-253E98AEFDA0}"/>
              </a:ext>
            </a:extLst>
          </p:cNvPr>
          <p:cNvSpPr/>
          <p:nvPr/>
        </p:nvSpPr>
        <p:spPr>
          <a:xfrm>
            <a:off x="2733217" y="5635583"/>
            <a:ext cx="580158" cy="384612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sz="2700"/>
          </a:p>
        </p:txBody>
      </p:sp>
      <p:sp>
        <p:nvSpPr>
          <p:cNvPr id="19" name="Left Brace 18">
            <a:extLst>
              <a:ext uri="{FF2B5EF4-FFF2-40B4-BE49-F238E27FC236}">
                <a16:creationId xmlns:a16="http://schemas.microsoft.com/office/drawing/2014/main" id="{978C9EEF-3FAE-D1A5-431D-F3A55C35FC1C}"/>
              </a:ext>
            </a:extLst>
          </p:cNvPr>
          <p:cNvSpPr/>
          <p:nvPr/>
        </p:nvSpPr>
        <p:spPr>
          <a:xfrm flipH="1">
            <a:off x="14903257" y="5512420"/>
            <a:ext cx="757848" cy="384612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sz="2700"/>
          </a:p>
        </p:txBody>
      </p:sp>
      <p:sp>
        <p:nvSpPr>
          <p:cNvPr id="20" name="TextBox 19">
            <a:extLst>
              <a:ext uri="{FF2B5EF4-FFF2-40B4-BE49-F238E27FC236}">
                <a16:creationId xmlns:a16="http://schemas.microsoft.com/office/drawing/2014/main" id="{C983625C-5C68-17AD-23C4-87CD190A1E8D}"/>
              </a:ext>
            </a:extLst>
          </p:cNvPr>
          <p:cNvSpPr txBox="1"/>
          <p:nvPr/>
        </p:nvSpPr>
        <p:spPr>
          <a:xfrm>
            <a:off x="13374062" y="9524888"/>
            <a:ext cx="4732386" cy="400110"/>
          </a:xfrm>
          <a:prstGeom prst="rect">
            <a:avLst/>
          </a:prstGeom>
          <a:noFill/>
        </p:spPr>
        <p:txBody>
          <a:bodyPr wrap="none" rtlCol="0">
            <a:spAutoFit/>
          </a:bodyPr>
          <a:lstStyle/>
          <a:p>
            <a:r>
              <a:rPr lang="en-GB" sz="2000" dirty="0"/>
              <a:t>Figure SPM.7, 2.2, AR5 synthesis report</a:t>
            </a:r>
          </a:p>
        </p:txBody>
      </p:sp>
      <p:sp>
        <p:nvSpPr>
          <p:cNvPr id="22" name="TextBox 21">
            <a:extLst>
              <a:ext uri="{FF2B5EF4-FFF2-40B4-BE49-F238E27FC236}">
                <a16:creationId xmlns:a16="http://schemas.microsoft.com/office/drawing/2014/main" id="{F1A07231-5348-3572-89EE-2ED0B873EB18}"/>
              </a:ext>
            </a:extLst>
          </p:cNvPr>
          <p:cNvSpPr txBox="1"/>
          <p:nvPr/>
        </p:nvSpPr>
        <p:spPr>
          <a:xfrm>
            <a:off x="1120675" y="2800041"/>
            <a:ext cx="15723535" cy="1938992"/>
          </a:xfrm>
          <a:prstGeom prst="rect">
            <a:avLst/>
          </a:prstGeom>
          <a:noFill/>
        </p:spPr>
        <p:txBody>
          <a:bodyPr wrap="square">
            <a:spAutoFit/>
          </a:bodyPr>
          <a:lstStyle/>
          <a:p>
            <a:pPr marL="342900" lvl="0" indent="-342900">
              <a:buFont typeface="Arial" panose="020B0604020202020204" pitchFamily="34" charset="0"/>
              <a:buChar char="•"/>
              <a:tabLst>
                <a:tab pos="457200" algn="l"/>
              </a:tabLst>
            </a:pPr>
            <a:r>
              <a:rPr lang="en-GB" sz="2400" kern="100" dirty="0">
                <a:effectLst/>
                <a:highlight>
                  <a:srgbClr val="FFFFFF"/>
                </a:highlight>
                <a:latin typeface="Calibri" panose="020F0502020204030204" pitchFamily="34" charset="0"/>
                <a:ea typeface="Aptos" panose="020B0004020202020204" pitchFamily="34" charset="0"/>
                <a:cs typeface="Calibri" panose="020F0502020204030204" pitchFamily="34" charset="0"/>
              </a:rPr>
              <a:t>These changes are </a:t>
            </a:r>
            <a:r>
              <a:rPr lang="en-GB" sz="2400" kern="100" dirty="0">
                <a:effectLst/>
                <a:latin typeface="Calibri" panose="020F0502020204030204" pitchFamily="34" charset="0"/>
                <a:ea typeface="Aptos" panose="020B0004020202020204" pitchFamily="34" charset="0"/>
                <a:cs typeface="Calibri" panose="020F0502020204030204" pitchFamily="34" charset="0"/>
              </a:rPr>
              <a:t>less certain</a:t>
            </a:r>
            <a:r>
              <a:rPr lang="en-GB" sz="2400" kern="100" dirty="0">
                <a:effectLst/>
                <a:highlight>
                  <a:srgbClr val="FFFFFF"/>
                </a:highlight>
                <a:latin typeface="Calibri" panose="020F0502020204030204" pitchFamily="34" charset="0"/>
                <a:ea typeface="Aptos" panose="020B0004020202020204" pitchFamily="34" charset="0"/>
                <a:cs typeface="Calibri" panose="020F0502020204030204" pitchFamily="34" charset="0"/>
              </a:rPr>
              <a:t> than the changes associated with temperature. </a:t>
            </a:r>
          </a:p>
          <a:p>
            <a:pPr marL="342900" lvl="0" indent="-342900">
              <a:buFont typeface="Arial" panose="020B0604020202020204" pitchFamily="34" charset="0"/>
              <a:buChar char="•"/>
              <a:tabLst>
                <a:tab pos="457200" algn="l"/>
              </a:tabLst>
            </a:pPr>
            <a:r>
              <a:rPr lang="en-GB" sz="2400" kern="100" dirty="0">
                <a:effectLst/>
                <a:highlight>
                  <a:srgbClr val="FFFFFF"/>
                </a:highlight>
                <a:latin typeface="Calibri" panose="020F0502020204030204" pitchFamily="34" charset="0"/>
                <a:ea typeface="Aptos" panose="020B0004020202020204" pitchFamily="34" charset="0"/>
                <a:cs typeface="Calibri" panose="020F0502020204030204" pitchFamily="34" charset="0"/>
              </a:rPr>
              <a:t>Some regions may have less precipitation, some may have more precipitation, and some may have little or no change. </a:t>
            </a:r>
            <a:endParaRPr lang="en-GB" sz="2400" kern="100" dirty="0">
              <a:effectLst/>
              <a:latin typeface="Calibri" panose="020F0502020204030204" pitchFamily="34" charset="0"/>
              <a:ea typeface="Aptos" panose="020B0004020202020204" pitchFamily="34" charset="0"/>
              <a:cs typeface="Calibri" panose="020F0502020204030204" pitchFamily="34" charset="0"/>
            </a:endParaRPr>
          </a:p>
          <a:p>
            <a:pPr marL="342900" lvl="0" indent="-342900">
              <a:buFont typeface="Arial" panose="020B0604020202020204" pitchFamily="34" charset="0"/>
              <a:buChar char="•"/>
              <a:tabLst>
                <a:tab pos="457200" algn="l"/>
              </a:tabLst>
            </a:pPr>
            <a:r>
              <a:rPr lang="en-GB" sz="2400" kern="100" dirty="0">
                <a:effectLst/>
                <a:highlight>
                  <a:srgbClr val="FFFFFF"/>
                </a:highlight>
                <a:latin typeface="Calibri" panose="020F0502020204030204" pitchFamily="34" charset="0"/>
                <a:ea typeface="Aptos" panose="020B0004020202020204" pitchFamily="34" charset="0"/>
                <a:cs typeface="Calibri" panose="020F0502020204030204" pitchFamily="34" charset="0"/>
              </a:rPr>
              <a:t>The amount of rain falling in heavy precipitation events is likely to increase in most regions, </a:t>
            </a:r>
            <a:r>
              <a:rPr lang="en-GB" sz="2400" kern="100" dirty="0">
                <a:effectLst/>
                <a:latin typeface="Calibri" panose="020F0502020204030204" pitchFamily="34" charset="0"/>
                <a:ea typeface="Aptos" panose="020B0004020202020204" pitchFamily="34" charset="0"/>
                <a:cs typeface="Calibri" panose="020F0502020204030204" pitchFamily="34" charset="0"/>
              </a:rPr>
              <a:t>this will be particularly pronounced in tropical and high-latitude regions, which are also expected to experience overall increases in precipitation. </a:t>
            </a:r>
          </a:p>
          <a:p>
            <a:pPr marL="342900" lvl="0" indent="-342900">
              <a:buFont typeface="Arial" panose="020B0604020202020204" pitchFamily="34" charset="0"/>
              <a:buChar char="•"/>
              <a:tabLst>
                <a:tab pos="457200" algn="l"/>
              </a:tabLst>
            </a:pPr>
            <a:r>
              <a:rPr lang="en-GB" sz="2400" kern="100" dirty="0">
                <a:effectLst/>
                <a:latin typeface="Calibri" panose="020F0502020204030204" pitchFamily="34" charset="0"/>
                <a:ea typeface="Aptos" panose="020B0004020202020204" pitchFamily="34" charset="0"/>
                <a:cs typeface="Calibri" panose="020F0502020204030204" pitchFamily="34" charset="0"/>
              </a:rPr>
              <a:t>The amount of precipitation falling in tropical storms is also likely to increase.</a:t>
            </a:r>
          </a:p>
        </p:txBody>
      </p:sp>
      <p:pic>
        <p:nvPicPr>
          <p:cNvPr id="3" name="Picture 2" descr="http://www.ipcc.ch/report/graphics/images/Assessment%20Reports/AR5%20-%20Synthesis%20Report/SPM/SPM.07_rev1-01.png">
            <a:extLst>
              <a:ext uri="{FF2B5EF4-FFF2-40B4-BE49-F238E27FC236}">
                <a16:creationId xmlns:a16="http://schemas.microsoft.com/office/drawing/2014/main" id="{A7EA8710-3487-CBE5-7540-40053075CF7A}"/>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53960"/>
          <a:stretch/>
        </p:blipFill>
        <p:spPr bwMode="auto">
          <a:xfrm>
            <a:off x="3352904" y="5352357"/>
            <a:ext cx="11680217" cy="4089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425713"/>
      </p:ext>
    </p:extLst>
  </p:cSld>
  <p:clrMapOvr>
    <a:masterClrMapping/>
  </p:clrMapOvr>
  <mc:AlternateContent xmlns:mc="http://schemas.openxmlformats.org/markup-compatibility/2006" xmlns:p14="http://schemas.microsoft.com/office/powerpoint/2010/main">
    <mc:Choice Requires="p14">
      <p:transition spd="slow" p14:dur="2000" advTm="71412"/>
    </mc:Choice>
    <mc:Fallback xmlns="">
      <p:transition spd="slow" advTm="71412"/>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sp>
        <p:nvSpPr>
          <p:cNvPr id="5" name="TextBox 5">
            <a:extLst>
              <a:ext uri="{FF2B5EF4-FFF2-40B4-BE49-F238E27FC236}">
                <a16:creationId xmlns:a16="http://schemas.microsoft.com/office/drawing/2014/main" id="{779588C8-99B4-0066-A29B-472B6CF20D8B}"/>
              </a:ext>
            </a:extLst>
          </p:cNvPr>
          <p:cNvSpPr txBox="1"/>
          <p:nvPr/>
        </p:nvSpPr>
        <p:spPr>
          <a:xfrm>
            <a:off x="1143000" y="1736548"/>
            <a:ext cx="13847674" cy="842282"/>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Projections of Future Change: Precipitation</a:t>
            </a:r>
          </a:p>
        </p:txBody>
      </p:sp>
      <p:pic>
        <p:nvPicPr>
          <p:cNvPr id="4" name="Picture 3">
            <a:extLst>
              <a:ext uri="{FF2B5EF4-FFF2-40B4-BE49-F238E27FC236}">
                <a16:creationId xmlns:a16="http://schemas.microsoft.com/office/drawing/2014/main" id="{45A58C6B-127D-CE39-2203-84A86A3E9C52}"/>
              </a:ext>
            </a:extLst>
          </p:cNvPr>
          <p:cNvPicPr>
            <a:picLocks noChangeAspect="1" noChangeArrowheads="1"/>
          </p:cNvPicPr>
          <p:nvPr/>
        </p:nvPicPr>
        <p:blipFill>
          <a:blip r:embed="rId5" cstate="print"/>
          <a:srcRect/>
          <a:stretch>
            <a:fillRect/>
          </a:stretch>
        </p:blipFill>
        <p:spPr>
          <a:xfrm>
            <a:off x="1023079" y="2731796"/>
            <a:ext cx="13751244" cy="6864150"/>
          </a:xfrm>
          <a:prstGeom prst="rect">
            <a:avLst/>
          </a:prstGeom>
        </p:spPr>
      </p:pic>
      <p:sp>
        <p:nvSpPr>
          <p:cNvPr id="6" name="TextBox 5">
            <a:extLst>
              <a:ext uri="{FF2B5EF4-FFF2-40B4-BE49-F238E27FC236}">
                <a16:creationId xmlns:a16="http://schemas.microsoft.com/office/drawing/2014/main" id="{9F2B7C6A-C7C6-6501-A2E2-4E27A11E808B}"/>
              </a:ext>
            </a:extLst>
          </p:cNvPr>
          <p:cNvSpPr txBox="1"/>
          <p:nvPr/>
        </p:nvSpPr>
        <p:spPr>
          <a:xfrm>
            <a:off x="11011478" y="9748913"/>
            <a:ext cx="5568037" cy="400110"/>
          </a:xfrm>
          <a:prstGeom prst="rect">
            <a:avLst/>
          </a:prstGeom>
          <a:noFill/>
        </p:spPr>
        <p:txBody>
          <a:bodyPr wrap="square" rtlCol="0">
            <a:spAutoFit/>
          </a:bodyPr>
          <a:lstStyle/>
          <a:p>
            <a:r>
              <a:rPr lang="en-GB" sz="2000" dirty="0"/>
              <a:t>Figure 10.18, AR5 full report</a:t>
            </a:r>
          </a:p>
        </p:txBody>
      </p:sp>
    </p:spTree>
    <p:extLst>
      <p:ext uri="{BB962C8B-B14F-4D97-AF65-F5344CB8AC3E}">
        <p14:creationId xmlns:p14="http://schemas.microsoft.com/office/powerpoint/2010/main" val="2413270182"/>
      </p:ext>
    </p:extLst>
  </p:cSld>
  <p:clrMapOvr>
    <a:masterClrMapping/>
  </p:clrMapOvr>
  <mc:AlternateContent xmlns:mc="http://schemas.openxmlformats.org/markup-compatibility/2006" xmlns:p14="http://schemas.microsoft.com/office/powerpoint/2010/main">
    <mc:Choice Requires="p14">
      <p:transition spd="slow" p14:dur="2000" advTm="86185"/>
    </mc:Choice>
    <mc:Fallback xmlns="">
      <p:transition spd="slow" advTm="86185"/>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pic>
        <p:nvPicPr>
          <p:cNvPr id="6" name="Picture 5">
            <a:extLst>
              <a:ext uri="{FF2B5EF4-FFF2-40B4-BE49-F238E27FC236}">
                <a16:creationId xmlns:a16="http://schemas.microsoft.com/office/drawing/2014/main" id="{FCB658E7-1E36-57CF-D0B9-1910C88CE4B9}"/>
              </a:ext>
            </a:extLst>
          </p:cNvPr>
          <p:cNvPicPr>
            <a:picLocks noChangeAspect="1"/>
          </p:cNvPicPr>
          <p:nvPr/>
        </p:nvPicPr>
        <p:blipFill>
          <a:blip r:embed="rId5"/>
          <a:stretch>
            <a:fillRect/>
          </a:stretch>
        </p:blipFill>
        <p:spPr>
          <a:xfrm>
            <a:off x="5169021" y="2861991"/>
            <a:ext cx="10960619" cy="6867028"/>
          </a:xfrm>
          <a:prstGeom prst="rect">
            <a:avLst/>
          </a:prstGeom>
        </p:spPr>
      </p:pic>
      <p:sp>
        <p:nvSpPr>
          <p:cNvPr id="8" name="TextBox 7">
            <a:extLst>
              <a:ext uri="{FF2B5EF4-FFF2-40B4-BE49-F238E27FC236}">
                <a16:creationId xmlns:a16="http://schemas.microsoft.com/office/drawing/2014/main" id="{99E6364C-5449-DEAD-BC0B-5C3A203DB5BB}"/>
              </a:ext>
            </a:extLst>
          </p:cNvPr>
          <p:cNvSpPr txBox="1"/>
          <p:nvPr/>
        </p:nvSpPr>
        <p:spPr>
          <a:xfrm>
            <a:off x="1025979" y="3229782"/>
            <a:ext cx="3844773" cy="30469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black"/>
                </a:solidFill>
                <a:effectLst/>
                <a:uLnTx/>
                <a:uFillTx/>
                <a:latin typeface="DM Sans"/>
                <a:ea typeface="+mn-ea"/>
                <a:cs typeface="+mn-cs"/>
              </a:rPr>
              <a:t>UK ‘local’ climate projections: summer rainfall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700" b="0" i="0" u="none" strike="noStrike" kern="1200" cap="none" spc="0" normalizeH="0" baseline="0" noProof="0" dirty="0">
              <a:ln>
                <a:noFill/>
              </a:ln>
              <a:solidFill>
                <a:prstClr val="black"/>
              </a:solidFill>
              <a:effectLst/>
              <a:uLnTx/>
              <a:uFillTx/>
              <a:latin typeface="DM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700" b="0" i="0" u="none" strike="noStrike" kern="1200" cap="none" spc="0" normalizeH="0" baseline="0" noProof="0" dirty="0">
                <a:ln>
                  <a:noFill/>
                </a:ln>
                <a:solidFill>
                  <a:prstClr val="black"/>
                </a:solidFill>
                <a:effectLst/>
                <a:uLnTx/>
                <a:uFillTx/>
                <a:latin typeface="DM Sans"/>
                <a:ea typeface="+mn-ea"/>
                <a:cs typeface="+mn-cs"/>
              </a:rPr>
              <a:t>Summer rainfall is less frequent but more intense</a:t>
            </a:r>
          </a:p>
        </p:txBody>
      </p:sp>
      <p:sp>
        <p:nvSpPr>
          <p:cNvPr id="2" name="TextBox 1">
            <a:extLst>
              <a:ext uri="{FF2B5EF4-FFF2-40B4-BE49-F238E27FC236}">
                <a16:creationId xmlns:a16="http://schemas.microsoft.com/office/drawing/2014/main" id="{068C8A12-BBC4-5045-5F91-0E131E5E8151}"/>
              </a:ext>
            </a:extLst>
          </p:cNvPr>
          <p:cNvSpPr txBox="1"/>
          <p:nvPr/>
        </p:nvSpPr>
        <p:spPr>
          <a:xfrm>
            <a:off x="5424104" y="2931932"/>
            <a:ext cx="6675649" cy="646753"/>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DM Sans"/>
              <a:ea typeface="+mn-ea"/>
              <a:cs typeface="+mn-cs"/>
            </a:endParaRPr>
          </a:p>
        </p:txBody>
      </p:sp>
      <p:sp>
        <p:nvSpPr>
          <p:cNvPr id="4" name="TextBox 3">
            <a:extLst>
              <a:ext uri="{FF2B5EF4-FFF2-40B4-BE49-F238E27FC236}">
                <a16:creationId xmlns:a16="http://schemas.microsoft.com/office/drawing/2014/main" id="{36584F2A-940D-5F9F-1412-F09DCE885A38}"/>
              </a:ext>
            </a:extLst>
          </p:cNvPr>
          <p:cNvSpPr txBox="1"/>
          <p:nvPr/>
        </p:nvSpPr>
        <p:spPr>
          <a:xfrm>
            <a:off x="5424103" y="6276770"/>
            <a:ext cx="6675649" cy="646753"/>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DM Sans"/>
              <a:ea typeface="+mn-ea"/>
              <a:cs typeface="+mn-cs"/>
            </a:endParaRPr>
          </a:p>
        </p:txBody>
      </p:sp>
      <p:sp>
        <p:nvSpPr>
          <p:cNvPr id="7" name="TextBox 5">
            <a:extLst>
              <a:ext uri="{FF2B5EF4-FFF2-40B4-BE49-F238E27FC236}">
                <a16:creationId xmlns:a16="http://schemas.microsoft.com/office/drawing/2014/main" id="{BF7F62C6-8022-424A-B99F-4E0B8D5AE66F}"/>
              </a:ext>
            </a:extLst>
          </p:cNvPr>
          <p:cNvSpPr txBox="1"/>
          <p:nvPr/>
        </p:nvSpPr>
        <p:spPr>
          <a:xfrm>
            <a:off x="1143000" y="1736548"/>
            <a:ext cx="13847674" cy="842282"/>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Projections of Future Change: Precipitation, UK</a:t>
            </a:r>
          </a:p>
        </p:txBody>
      </p:sp>
    </p:spTree>
    <p:extLst>
      <p:ext uri="{BB962C8B-B14F-4D97-AF65-F5344CB8AC3E}">
        <p14:creationId xmlns:p14="http://schemas.microsoft.com/office/powerpoint/2010/main" val="4210390528"/>
      </p:ext>
    </p:extLst>
  </p:cSld>
  <p:clrMapOvr>
    <a:masterClrMapping/>
  </p:clrMapOvr>
  <mc:AlternateContent xmlns:mc="http://schemas.openxmlformats.org/markup-compatibility/2006" xmlns:p14="http://schemas.microsoft.com/office/powerpoint/2010/main">
    <mc:Choice Requires="p14">
      <p:transition spd="slow" p14:dur="2000" advTm="63454"/>
    </mc:Choice>
    <mc:Fallback xmlns="">
      <p:transition spd="slow" advTm="6345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sp>
        <p:nvSpPr>
          <p:cNvPr id="7" name="TextBox 5">
            <a:extLst>
              <a:ext uri="{FF2B5EF4-FFF2-40B4-BE49-F238E27FC236}">
                <a16:creationId xmlns:a16="http://schemas.microsoft.com/office/drawing/2014/main" id="{BF7F62C6-8022-424A-B99F-4E0B8D5AE66F}"/>
              </a:ext>
            </a:extLst>
          </p:cNvPr>
          <p:cNvSpPr txBox="1"/>
          <p:nvPr/>
        </p:nvSpPr>
        <p:spPr>
          <a:xfrm>
            <a:off x="1143000" y="1499819"/>
            <a:ext cx="13847674" cy="1679499"/>
          </a:xfrm>
          <a:prstGeom prst="rect">
            <a:avLst/>
          </a:prstGeom>
        </p:spPr>
        <p:txBody>
          <a:bodyPr wrap="square" lIns="0" tIns="0" rIns="0" bIns="0" rtlCol="0" anchor="t">
            <a:spAutoFit/>
          </a:bodyPr>
          <a:lstStyle/>
          <a:p>
            <a:pPr>
              <a:lnSpc>
                <a:spcPts val="6719"/>
              </a:lnSpc>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Projections of Future Change: Sea Level</a:t>
            </a:r>
          </a:p>
          <a:p>
            <a:pPr>
              <a:lnSpc>
                <a:spcPts val="6719"/>
              </a:lnSpc>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12" name="TextBox 11">
            <a:extLst>
              <a:ext uri="{FF2B5EF4-FFF2-40B4-BE49-F238E27FC236}">
                <a16:creationId xmlns:a16="http://schemas.microsoft.com/office/drawing/2014/main" id="{4DDA90A2-0719-6746-C0C0-C7F7C36BBA2C}"/>
              </a:ext>
            </a:extLst>
          </p:cNvPr>
          <p:cNvSpPr txBox="1"/>
          <p:nvPr/>
        </p:nvSpPr>
        <p:spPr>
          <a:xfrm>
            <a:off x="9144000" y="2695203"/>
            <a:ext cx="8662737" cy="6801862"/>
          </a:xfrm>
          <a:prstGeom prst="rect">
            <a:avLst/>
          </a:prstGeom>
          <a:noFill/>
        </p:spPr>
        <p:txBody>
          <a:bodyPr wrap="square" rtlCol="0">
            <a:spAutoFit/>
          </a:bodyPr>
          <a:lstStyle/>
          <a:p>
            <a:r>
              <a:rPr lang="en-GB" sz="2200" kern="100" dirty="0">
                <a:effectLst/>
                <a:latin typeface="Calibri" panose="020F0502020204030204" pitchFamily="34" charset="0"/>
                <a:ea typeface="Aptos" panose="020B0004020202020204" pitchFamily="34" charset="0"/>
                <a:cs typeface="Calibri" panose="020F0502020204030204" pitchFamily="34" charset="0"/>
              </a:rPr>
              <a:t>Warming temperatures contribute to sea level rise by: </a:t>
            </a:r>
          </a:p>
          <a:p>
            <a:pPr marL="742950" lvl="1" indent="-285750">
              <a:buFont typeface="Arial" panose="020B0604020202020204" pitchFamily="34" charset="0"/>
              <a:buChar char="•"/>
            </a:pPr>
            <a:r>
              <a:rPr lang="en-GB" sz="2200" kern="100" dirty="0">
                <a:effectLst/>
                <a:latin typeface="Calibri" panose="020F0502020204030204" pitchFamily="34" charset="0"/>
                <a:ea typeface="Aptos" panose="020B0004020202020204" pitchFamily="34" charset="0"/>
                <a:cs typeface="Calibri" panose="020F0502020204030204" pitchFamily="34" charset="0"/>
              </a:rPr>
              <a:t>expanding ocean water (well understood)</a:t>
            </a:r>
          </a:p>
          <a:p>
            <a:pPr marL="742950" lvl="1" indent="-285750">
              <a:buFont typeface="Arial" panose="020B0604020202020204" pitchFamily="34" charset="0"/>
              <a:buChar char="•"/>
            </a:pPr>
            <a:r>
              <a:rPr lang="en-GB" sz="2200" kern="100" dirty="0">
                <a:effectLst/>
                <a:latin typeface="Calibri" panose="020F0502020204030204" pitchFamily="34" charset="0"/>
                <a:ea typeface="Aptos" panose="020B0004020202020204" pitchFamily="34" charset="0"/>
                <a:cs typeface="Calibri" panose="020F0502020204030204" pitchFamily="34" charset="0"/>
              </a:rPr>
              <a:t>melting mountain glaciers and ice caps (well understood)</a:t>
            </a:r>
          </a:p>
          <a:p>
            <a:pPr marL="742950" lvl="1" indent="-285750">
              <a:buFont typeface="Arial" panose="020B0604020202020204" pitchFamily="34" charset="0"/>
              <a:buChar char="•"/>
            </a:pPr>
            <a:r>
              <a:rPr lang="en-GB" sz="2200" kern="100" dirty="0">
                <a:effectLst/>
                <a:latin typeface="Calibri" panose="020F0502020204030204" pitchFamily="34" charset="0"/>
                <a:ea typeface="Aptos" panose="020B0004020202020204" pitchFamily="34" charset="0"/>
                <a:cs typeface="Calibri" panose="020F0502020204030204" pitchFamily="34" charset="0"/>
              </a:rPr>
              <a:t>the Greenland and Antarctic ice sheets to melt or flow into the ocean (less well understood, account for 1.2 to 8 inches of sea level rise)</a:t>
            </a:r>
          </a:p>
          <a:p>
            <a:pPr marL="285750" indent="-285750">
              <a:buFont typeface="Arial" panose="020B0604020202020204" pitchFamily="34" charset="0"/>
              <a:buChar char="•"/>
            </a:pPr>
            <a:endParaRPr lang="en-GB" sz="2200" kern="1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2200" kern="100" dirty="0">
                <a:effectLst/>
                <a:latin typeface="Calibri" panose="020F0502020204030204" pitchFamily="34" charset="0"/>
                <a:ea typeface="Aptos" panose="020B0004020202020204" pitchFamily="34" charset="0"/>
                <a:cs typeface="Calibri" panose="020F0502020204030204" pitchFamily="34" charset="0"/>
              </a:rPr>
              <a:t>Since 1870, global sea level has risen by about 7.5 inches</a:t>
            </a:r>
          </a:p>
          <a:p>
            <a:pPr marL="285750" indent="-285750">
              <a:buFont typeface="Arial" panose="020B0604020202020204" pitchFamily="34" charset="0"/>
              <a:buChar char="•"/>
            </a:pPr>
            <a:r>
              <a:rPr lang="en-GB" sz="2200" kern="100" dirty="0">
                <a:latin typeface="Calibri" panose="020F0502020204030204" pitchFamily="34" charset="0"/>
                <a:ea typeface="Aptos" panose="020B0004020202020204" pitchFamily="34" charset="0"/>
                <a:cs typeface="Calibri" panose="020F0502020204030204" pitchFamily="34" charset="0"/>
              </a:rPr>
              <a:t>G</a:t>
            </a:r>
            <a:r>
              <a:rPr lang="en-GB" sz="2200" kern="100" dirty="0">
                <a:effectLst/>
                <a:latin typeface="Calibri" panose="020F0502020204030204" pitchFamily="34" charset="0"/>
                <a:ea typeface="Aptos" panose="020B0004020202020204" pitchFamily="34" charset="0"/>
                <a:cs typeface="Calibri" panose="020F0502020204030204" pitchFamily="34" charset="0"/>
              </a:rPr>
              <a:t>lobal sea level for the next century is expected to rise at a greater rate than during the past 50 years.</a:t>
            </a:r>
          </a:p>
          <a:p>
            <a:pPr marL="285750" indent="-285750">
              <a:buFont typeface="Arial" panose="020B0604020202020204" pitchFamily="34" charset="0"/>
              <a:buChar char="•"/>
            </a:pPr>
            <a:r>
              <a:rPr lang="en-GB" sz="2200" kern="100" dirty="0">
                <a:effectLst/>
                <a:latin typeface="Calibri" panose="020F0502020204030204" pitchFamily="34" charset="0"/>
                <a:ea typeface="Aptos" panose="020B0004020202020204" pitchFamily="34" charset="0"/>
                <a:cs typeface="Calibri" panose="020F0502020204030204" pitchFamily="34" charset="0"/>
              </a:rPr>
              <a:t>Studies project global sea level to rise by another 1 to 4 feet by 2100</a:t>
            </a:r>
          </a:p>
          <a:p>
            <a:pPr marL="285750" indent="-285750">
              <a:buFont typeface="Arial" panose="020B0604020202020204" pitchFamily="34" charset="0"/>
              <a:buChar char="•"/>
            </a:pPr>
            <a:r>
              <a:rPr lang="en-GB" sz="2200" kern="100" dirty="0">
                <a:effectLst/>
                <a:latin typeface="Calibri" panose="020F0502020204030204" pitchFamily="34" charset="0"/>
                <a:ea typeface="Aptos" panose="020B0004020202020204" pitchFamily="34" charset="0"/>
                <a:cs typeface="Calibri" panose="020F0502020204030204" pitchFamily="34" charset="0"/>
              </a:rPr>
              <a:t>Large uncertainty about how glaciers and ice sheets will react to climate change</a:t>
            </a:r>
          </a:p>
          <a:p>
            <a:endParaRPr lang="en-GB" sz="2200" kern="1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2200" kern="100" dirty="0">
                <a:effectLst/>
                <a:latin typeface="Calibri" panose="020F0502020204030204" pitchFamily="34" charset="0"/>
                <a:ea typeface="Aptos" panose="020B0004020202020204" pitchFamily="34" charset="0"/>
                <a:cs typeface="Calibri" panose="020F0502020204030204" pitchFamily="34" charset="0"/>
              </a:rPr>
              <a:t>Regional and local factors will influence future relative sea level rise for specific coastlines around the world. </a:t>
            </a:r>
          </a:p>
          <a:p>
            <a:pPr marL="285750" indent="-285750">
              <a:buFont typeface="Arial" panose="020B0604020202020204" pitchFamily="34" charset="0"/>
              <a:buChar char="•"/>
            </a:pPr>
            <a:r>
              <a:rPr lang="en-GB" sz="2200" kern="100" dirty="0">
                <a:effectLst/>
                <a:latin typeface="Calibri" panose="020F0502020204030204" pitchFamily="34" charset="0"/>
                <a:ea typeface="Aptos" panose="020B0004020202020204" pitchFamily="34" charset="0"/>
                <a:cs typeface="Calibri" panose="020F0502020204030204" pitchFamily="34" charset="0"/>
              </a:rPr>
              <a:t>Relative sea level rise also depends on local changes in currents, winds, salinity, and water temperatures, as well as proximity to thinning ice sheets.</a:t>
            </a:r>
          </a:p>
          <a:p>
            <a:endParaRPr lang="en-GB" dirty="0"/>
          </a:p>
        </p:txBody>
      </p:sp>
      <p:pic>
        <p:nvPicPr>
          <p:cNvPr id="4" name="Picture 3" descr="A graph showing the time of a sea level&#10;&#10;Description automatically generated">
            <a:extLst>
              <a:ext uri="{FF2B5EF4-FFF2-40B4-BE49-F238E27FC236}">
                <a16:creationId xmlns:a16="http://schemas.microsoft.com/office/drawing/2014/main" id="{9F734100-6E72-3586-9541-1B10A15699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9529" y="2931932"/>
            <a:ext cx="7772400" cy="5735656"/>
          </a:xfrm>
          <a:prstGeom prst="rect">
            <a:avLst/>
          </a:prstGeom>
        </p:spPr>
      </p:pic>
    </p:spTree>
    <p:extLst>
      <p:ext uri="{BB962C8B-B14F-4D97-AF65-F5344CB8AC3E}">
        <p14:creationId xmlns:p14="http://schemas.microsoft.com/office/powerpoint/2010/main" val="2296867282"/>
      </p:ext>
    </p:extLst>
  </p:cSld>
  <p:clrMapOvr>
    <a:masterClrMapping/>
  </p:clrMapOvr>
  <mc:AlternateContent xmlns:mc="http://schemas.openxmlformats.org/markup-compatibility/2006" xmlns:p14="http://schemas.microsoft.com/office/powerpoint/2010/main">
    <mc:Choice Requires="p14">
      <p:transition spd="slow" p14:dur="2000" advTm="105278"/>
    </mc:Choice>
    <mc:Fallback xmlns="">
      <p:transition spd="slow" advTm="105278"/>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sp>
        <p:nvSpPr>
          <p:cNvPr id="7" name="TextBox 5">
            <a:extLst>
              <a:ext uri="{FF2B5EF4-FFF2-40B4-BE49-F238E27FC236}">
                <a16:creationId xmlns:a16="http://schemas.microsoft.com/office/drawing/2014/main" id="{BF7F62C6-8022-424A-B99F-4E0B8D5AE66F}"/>
              </a:ext>
            </a:extLst>
          </p:cNvPr>
          <p:cNvSpPr txBox="1"/>
          <p:nvPr/>
        </p:nvSpPr>
        <p:spPr>
          <a:xfrm>
            <a:off x="1143000" y="1499819"/>
            <a:ext cx="13847674" cy="1679499"/>
          </a:xfrm>
          <a:prstGeom prst="rect">
            <a:avLst/>
          </a:prstGeom>
        </p:spPr>
        <p:txBody>
          <a:bodyPr wrap="square" lIns="0" tIns="0" rIns="0" bIns="0" rtlCol="0" anchor="t">
            <a:spAutoFit/>
          </a:bodyPr>
          <a:lstStyle/>
          <a:p>
            <a:pPr>
              <a:lnSpc>
                <a:spcPts val="6719"/>
              </a:lnSpc>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Projections of Future Change: Sea Level</a:t>
            </a:r>
          </a:p>
          <a:p>
            <a:pPr>
              <a:lnSpc>
                <a:spcPts val="6719"/>
              </a:lnSpc>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5" name="TextBox 4">
            <a:extLst>
              <a:ext uri="{FF2B5EF4-FFF2-40B4-BE49-F238E27FC236}">
                <a16:creationId xmlns:a16="http://schemas.microsoft.com/office/drawing/2014/main" id="{2EC79473-8AAE-635D-293B-434DA057C975}"/>
              </a:ext>
            </a:extLst>
          </p:cNvPr>
          <p:cNvSpPr txBox="1"/>
          <p:nvPr/>
        </p:nvSpPr>
        <p:spPr>
          <a:xfrm>
            <a:off x="8845827" y="3378961"/>
            <a:ext cx="9144000" cy="5262979"/>
          </a:xfrm>
          <a:prstGeom prst="rect">
            <a:avLst/>
          </a:prstGeom>
          <a:noFill/>
        </p:spPr>
        <p:txBody>
          <a:bodyPr wrap="square">
            <a:spAutoFit/>
          </a:bodyPr>
          <a:lstStyle/>
          <a:p>
            <a:pPr algn="l"/>
            <a:r>
              <a:rPr lang="en-GB" sz="2400" u="none" strike="noStrike" dirty="0">
                <a:solidFill>
                  <a:srgbClr val="333333"/>
                </a:solidFill>
                <a:effectLst/>
                <a:latin typeface="Calibri" panose="020F0502020204030204" pitchFamily="34" charset="0"/>
              </a:rPr>
              <a:t>Sea level rise is the dominant driver of increased coastal flood risk, both historically and in future projections of climate change. </a:t>
            </a:r>
          </a:p>
          <a:p>
            <a:pPr algn="l"/>
            <a:endParaRPr lang="en-GB" sz="2400" dirty="0">
              <a:solidFill>
                <a:srgbClr val="333333"/>
              </a:solidFill>
              <a:latin typeface="Calibri" panose="020F0502020204030204" pitchFamily="34" charset="0"/>
            </a:endParaRPr>
          </a:p>
          <a:p>
            <a:pPr algn="l"/>
            <a:r>
              <a:rPr lang="en-GB" sz="2400" u="none" strike="noStrike" dirty="0">
                <a:solidFill>
                  <a:srgbClr val="333333"/>
                </a:solidFill>
                <a:effectLst/>
                <a:latin typeface="Calibri" panose="020F0502020204030204" pitchFamily="34" charset="0"/>
              </a:rPr>
              <a:t>Individual UK flood events are usually associated with extreme weather conditions, particularly the generation of storm surges, which can be compounded by the action of wind-generated surface waves. </a:t>
            </a:r>
          </a:p>
          <a:p>
            <a:pPr algn="l"/>
            <a:endParaRPr lang="en-GB" sz="2400" dirty="0">
              <a:solidFill>
                <a:srgbClr val="333333"/>
              </a:solidFill>
              <a:latin typeface="Calibri" panose="020F0502020204030204" pitchFamily="34" charset="0"/>
            </a:endParaRPr>
          </a:p>
          <a:p>
            <a:pPr algn="l"/>
            <a:r>
              <a:rPr lang="en-GB" sz="2400" u="none" strike="noStrike" dirty="0">
                <a:solidFill>
                  <a:srgbClr val="333333"/>
                </a:solidFill>
                <a:effectLst/>
                <a:latin typeface="Calibri" panose="020F0502020204030204" pitchFamily="34" charset="0"/>
              </a:rPr>
              <a:t>However, projections of changes in frequency and severity of future coastal extreme water levels are dominated by the long-term increase in coastal water levels associated with climate change</a:t>
            </a:r>
          </a:p>
          <a:p>
            <a:pPr algn="l"/>
            <a:endParaRPr lang="en-GB" sz="2400" dirty="0">
              <a:solidFill>
                <a:srgbClr val="333333"/>
              </a:solidFill>
              <a:latin typeface="Calibri" panose="020F0502020204030204" pitchFamily="34" charset="0"/>
            </a:endParaRPr>
          </a:p>
          <a:p>
            <a:r>
              <a:rPr lang="en-GB" sz="2400" u="none" strike="noStrike" dirty="0">
                <a:solidFill>
                  <a:srgbClr val="333333"/>
                </a:solidFill>
                <a:effectLst/>
                <a:latin typeface="Calibri" panose="020F0502020204030204" pitchFamily="34" charset="0"/>
              </a:rPr>
              <a:t>One of the main outcomes of the research was the demonstration that UK sea levels will continue to rise well beyond 2100 under all future emissions scenarios</a:t>
            </a:r>
            <a:endParaRPr lang="en-GB" dirty="0">
              <a:solidFill>
                <a:srgbClr val="333333"/>
              </a:solidFill>
              <a:latin typeface="Calibri" panose="020F0502020204030204" pitchFamily="34" charset="0"/>
            </a:endParaRPr>
          </a:p>
        </p:txBody>
      </p:sp>
      <p:pic>
        <p:nvPicPr>
          <p:cNvPr id="8" name="Picture 7" descr="A group of graphs showing different types of sea level change&#10;&#10;Description automatically generated">
            <a:extLst>
              <a:ext uri="{FF2B5EF4-FFF2-40B4-BE49-F238E27FC236}">
                <a16:creationId xmlns:a16="http://schemas.microsoft.com/office/drawing/2014/main" id="{39BB360B-B652-0059-602D-FF9C220E5B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3427" y="2339568"/>
            <a:ext cx="7772400" cy="7341767"/>
          </a:xfrm>
          <a:prstGeom prst="rect">
            <a:avLst/>
          </a:prstGeom>
        </p:spPr>
      </p:pic>
    </p:spTree>
    <p:extLst>
      <p:ext uri="{BB962C8B-B14F-4D97-AF65-F5344CB8AC3E}">
        <p14:creationId xmlns:p14="http://schemas.microsoft.com/office/powerpoint/2010/main" val="4007236535"/>
      </p:ext>
    </p:extLst>
  </p:cSld>
  <p:clrMapOvr>
    <a:masterClrMapping/>
  </p:clrMapOvr>
  <mc:AlternateContent xmlns:mc="http://schemas.openxmlformats.org/markup-compatibility/2006" xmlns:p14="http://schemas.microsoft.com/office/powerpoint/2010/main">
    <mc:Choice Requires="p14">
      <p:transition spd="slow" p14:dur="2000" advTm="41385"/>
    </mc:Choice>
    <mc:Fallback xmlns="">
      <p:transition spd="slow" advTm="41385"/>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5008467" y="151185"/>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sp>
        <p:nvSpPr>
          <p:cNvPr id="7" name="TextBox 5">
            <a:extLst>
              <a:ext uri="{FF2B5EF4-FFF2-40B4-BE49-F238E27FC236}">
                <a16:creationId xmlns:a16="http://schemas.microsoft.com/office/drawing/2014/main" id="{BF7F62C6-8022-424A-B99F-4E0B8D5AE66F}"/>
              </a:ext>
            </a:extLst>
          </p:cNvPr>
          <p:cNvSpPr txBox="1"/>
          <p:nvPr/>
        </p:nvSpPr>
        <p:spPr>
          <a:xfrm>
            <a:off x="1143000" y="1499819"/>
            <a:ext cx="15725274" cy="1679499"/>
          </a:xfrm>
          <a:prstGeom prst="rect">
            <a:avLst/>
          </a:prstGeom>
        </p:spPr>
        <p:txBody>
          <a:bodyPr wrap="square" lIns="0" tIns="0" rIns="0" bIns="0" rtlCol="0" anchor="t">
            <a:spAutoFit/>
          </a:bodyPr>
          <a:lstStyle/>
          <a:p>
            <a:pPr>
              <a:lnSpc>
                <a:spcPts val="6719"/>
              </a:lnSpc>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Projections of Future Change: Ocean Acidification</a:t>
            </a:r>
          </a:p>
          <a:p>
            <a:pPr>
              <a:lnSpc>
                <a:spcPts val="6719"/>
              </a:lnSpc>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p:txBody>
      </p:sp>
      <p:pic>
        <p:nvPicPr>
          <p:cNvPr id="5" name="Picture 4" descr="A diagram of the earth's surface ph&#10;&#10;Description automatically generated">
            <a:extLst>
              <a:ext uri="{FF2B5EF4-FFF2-40B4-BE49-F238E27FC236}">
                <a16:creationId xmlns:a16="http://schemas.microsoft.com/office/drawing/2014/main" id="{054E2147-67F8-A7F4-6311-28DACA07D0FE}"/>
              </a:ext>
            </a:extLst>
          </p:cNvPr>
          <p:cNvPicPr>
            <a:picLocks noChangeAspect="1"/>
          </p:cNvPicPr>
          <p:nvPr/>
        </p:nvPicPr>
        <p:blipFill rotWithShape="1">
          <a:blip r:embed="rId5">
            <a:extLst>
              <a:ext uri="{28A0092B-C50C-407E-A947-70E740481C1C}">
                <a14:useLocalDpi xmlns:a14="http://schemas.microsoft.com/office/drawing/2010/main" val="0"/>
              </a:ext>
            </a:extLst>
          </a:blip>
          <a:srcRect t="6524" r="13312" b="50747"/>
          <a:stretch/>
        </p:blipFill>
        <p:spPr>
          <a:xfrm>
            <a:off x="415077" y="6214120"/>
            <a:ext cx="7342423" cy="3379305"/>
          </a:xfrm>
          <a:prstGeom prst="rect">
            <a:avLst/>
          </a:prstGeom>
        </p:spPr>
      </p:pic>
      <p:sp>
        <p:nvSpPr>
          <p:cNvPr id="8" name="TextBox 7">
            <a:extLst>
              <a:ext uri="{FF2B5EF4-FFF2-40B4-BE49-F238E27FC236}">
                <a16:creationId xmlns:a16="http://schemas.microsoft.com/office/drawing/2014/main" id="{33D6031A-D820-EA93-5CFE-47BC29549AC4}"/>
              </a:ext>
            </a:extLst>
          </p:cNvPr>
          <p:cNvSpPr txBox="1"/>
          <p:nvPr/>
        </p:nvSpPr>
        <p:spPr>
          <a:xfrm>
            <a:off x="7916511" y="2880234"/>
            <a:ext cx="9144000" cy="5909310"/>
          </a:xfrm>
          <a:prstGeom prst="rect">
            <a:avLst/>
          </a:prstGeom>
          <a:noFill/>
        </p:spPr>
        <p:txBody>
          <a:bodyPr wrap="square">
            <a:spAutoFit/>
          </a:bodyPr>
          <a:lstStyle/>
          <a:p>
            <a:pPr marL="285750" indent="-285750">
              <a:buFont typeface="Arial" panose="020B0604020202020204" pitchFamily="34" charset="0"/>
              <a:buChar char="•"/>
            </a:pPr>
            <a:r>
              <a:rPr lang="en-GB" sz="2100" kern="100" dirty="0">
                <a:effectLst/>
                <a:latin typeface="Calibri" panose="020F0502020204030204" pitchFamily="34" charset="0"/>
                <a:ea typeface="Aptos" panose="020B0004020202020204" pitchFamily="34" charset="0"/>
                <a:cs typeface="Calibri" panose="020F0502020204030204" pitchFamily="34" charset="0"/>
              </a:rPr>
              <a:t>Ocean acidification is a consequence of increasing carbon dioxide (CO</a:t>
            </a:r>
            <a:r>
              <a:rPr lang="en-GB" sz="2100" kern="100" baseline="-25000" dirty="0">
                <a:effectLst/>
                <a:latin typeface="Calibri" panose="020F0502020204030204" pitchFamily="34" charset="0"/>
                <a:ea typeface="Aptos" panose="020B0004020202020204" pitchFamily="34" charset="0"/>
                <a:cs typeface="Calibri" panose="020F0502020204030204" pitchFamily="34" charset="0"/>
              </a:rPr>
              <a:t>2</a:t>
            </a:r>
            <a:r>
              <a:rPr lang="en-GB" sz="2100" kern="100" dirty="0">
                <a:effectLst/>
                <a:latin typeface="Calibri" panose="020F0502020204030204" pitchFamily="34" charset="0"/>
                <a:ea typeface="Aptos" panose="020B0004020202020204" pitchFamily="34" charset="0"/>
                <a:cs typeface="Calibri" panose="020F0502020204030204" pitchFamily="34" charset="0"/>
              </a:rPr>
              <a:t>) emissions</a:t>
            </a:r>
          </a:p>
          <a:p>
            <a:pPr marL="285750" indent="-285750">
              <a:buFont typeface="Arial" panose="020B0604020202020204" pitchFamily="34" charset="0"/>
              <a:buChar char="•"/>
            </a:pPr>
            <a:r>
              <a:rPr lang="en-GB" sz="2100" kern="100" dirty="0">
                <a:effectLst/>
                <a:latin typeface="Calibri" panose="020F0502020204030204" pitchFamily="34" charset="0"/>
                <a:ea typeface="Aptos" panose="020B0004020202020204" pitchFamily="34" charset="0"/>
                <a:cs typeface="Calibri" panose="020F0502020204030204" pitchFamily="34" charset="0"/>
              </a:rPr>
              <a:t>When CO</a:t>
            </a:r>
            <a:r>
              <a:rPr lang="en-GB" sz="2100" kern="100" baseline="-25000" dirty="0">
                <a:effectLst/>
                <a:latin typeface="Calibri" panose="020F0502020204030204" pitchFamily="34" charset="0"/>
                <a:ea typeface="Aptos" panose="020B0004020202020204" pitchFamily="34" charset="0"/>
                <a:cs typeface="Calibri" panose="020F0502020204030204" pitchFamily="34" charset="0"/>
              </a:rPr>
              <a:t>2</a:t>
            </a:r>
            <a:r>
              <a:rPr lang="en-GB" sz="2100" kern="100" dirty="0">
                <a:solidFill>
                  <a:srgbClr val="333333"/>
                </a:solidFill>
                <a:effectLst/>
                <a:latin typeface="Calibri" panose="020F0502020204030204" pitchFamily="34" charset="0"/>
                <a:ea typeface="Aptos" panose="020B0004020202020204" pitchFamily="34" charset="0"/>
                <a:cs typeface="Calibri" panose="020F0502020204030204" pitchFamily="34" charset="0"/>
              </a:rPr>
              <a:t> </a:t>
            </a:r>
            <a:r>
              <a:rPr lang="en-GB" sz="2100" kern="100" dirty="0">
                <a:effectLst/>
                <a:latin typeface="Calibri" panose="020F0502020204030204" pitchFamily="34" charset="0"/>
                <a:ea typeface="Aptos" panose="020B0004020202020204" pitchFamily="34" charset="0"/>
                <a:cs typeface="Calibri" panose="020F0502020204030204" pitchFamily="34" charset="0"/>
              </a:rPr>
              <a:t>dissolves in seawater, it forms carbonic acid (H</a:t>
            </a:r>
            <a:r>
              <a:rPr lang="en-GB" sz="2100" kern="100" baseline="-25000" dirty="0">
                <a:effectLst/>
                <a:latin typeface="Calibri" panose="020F0502020204030204" pitchFamily="34" charset="0"/>
                <a:ea typeface="Aptos" panose="020B0004020202020204" pitchFamily="34" charset="0"/>
                <a:cs typeface="Calibri" panose="020F0502020204030204" pitchFamily="34" charset="0"/>
              </a:rPr>
              <a:t>2</a:t>
            </a:r>
            <a:r>
              <a:rPr lang="en-GB" sz="2100" kern="100" dirty="0">
                <a:effectLst/>
                <a:latin typeface="Calibri" panose="020F0502020204030204" pitchFamily="34" charset="0"/>
                <a:ea typeface="Aptos" panose="020B0004020202020204" pitchFamily="34" charset="0"/>
                <a:cs typeface="Calibri" panose="020F0502020204030204" pitchFamily="34" charset="0"/>
              </a:rPr>
              <a:t>CO</a:t>
            </a:r>
            <a:r>
              <a:rPr lang="en-GB" sz="2100" kern="100" baseline="-25000" dirty="0">
                <a:effectLst/>
                <a:latin typeface="Calibri" panose="020F0502020204030204" pitchFamily="34" charset="0"/>
                <a:ea typeface="Aptos" panose="020B0004020202020204" pitchFamily="34" charset="0"/>
                <a:cs typeface="Calibri" panose="020F0502020204030204" pitchFamily="34" charset="0"/>
              </a:rPr>
              <a:t>3</a:t>
            </a:r>
            <a:r>
              <a:rPr lang="en-GB" sz="2100" kern="100" dirty="0">
                <a:effectLst/>
                <a:latin typeface="Calibri" panose="020F0502020204030204" pitchFamily="34" charset="0"/>
                <a:ea typeface="Aptos" panose="020B0004020202020204" pitchFamily="34" charset="0"/>
                <a:cs typeface="Calibri" panose="020F0502020204030204" pitchFamily="34" charset="0"/>
              </a:rPr>
              <a:t>) </a:t>
            </a:r>
          </a:p>
          <a:p>
            <a:pPr marL="285750" indent="-285750">
              <a:buFont typeface="Arial" panose="020B0604020202020204" pitchFamily="34" charset="0"/>
              <a:buChar char="•"/>
            </a:pPr>
            <a:r>
              <a:rPr lang="en-GB" sz="2100" kern="100" dirty="0">
                <a:effectLst/>
                <a:latin typeface="Calibri" panose="020F0502020204030204" pitchFamily="34" charset="0"/>
                <a:ea typeface="Aptos" panose="020B0004020202020204" pitchFamily="34" charset="0"/>
                <a:cs typeface="Calibri" panose="020F0502020204030204" pitchFamily="34" charset="0"/>
              </a:rPr>
              <a:t>Acidity plays a key role in many biological mechanisms, including calcification.</a:t>
            </a:r>
          </a:p>
          <a:p>
            <a:pPr marL="285750" indent="-285750">
              <a:buFont typeface="Arial" panose="020B0604020202020204" pitchFamily="34" charset="0"/>
              <a:buChar char="•"/>
            </a:pPr>
            <a:r>
              <a:rPr lang="en-GB" sz="2100" kern="100" dirty="0">
                <a:effectLst/>
                <a:latin typeface="Calibri" panose="020F0502020204030204" pitchFamily="34" charset="0"/>
                <a:ea typeface="Aptos" panose="020B0004020202020204" pitchFamily="34" charset="0"/>
                <a:cs typeface="Calibri" panose="020F0502020204030204" pitchFamily="34" charset="0"/>
              </a:rPr>
              <a:t>Calcium carbonate (CaCO</a:t>
            </a:r>
            <a:r>
              <a:rPr lang="en-GB" sz="2100" kern="100" baseline="-25000" dirty="0">
                <a:effectLst/>
                <a:latin typeface="Calibri" panose="020F0502020204030204" pitchFamily="34" charset="0"/>
                <a:ea typeface="Aptos" panose="020B0004020202020204" pitchFamily="34" charset="0"/>
                <a:cs typeface="Calibri" panose="020F0502020204030204" pitchFamily="34" charset="0"/>
              </a:rPr>
              <a:t>3</a:t>
            </a:r>
            <a:r>
              <a:rPr lang="en-GB" sz="2100" kern="100" dirty="0">
                <a:effectLst/>
                <a:latin typeface="Calibri" panose="020F0502020204030204" pitchFamily="34" charset="0"/>
                <a:ea typeface="Aptos" panose="020B0004020202020204" pitchFamily="34" charset="0"/>
                <a:cs typeface="Calibri" panose="020F0502020204030204" pitchFamily="34" charset="0"/>
              </a:rPr>
              <a:t>) is crucial for organisms which need calcium to develop, build and maintain their shells and skeletons, such as certain types of plankton, oysters, crabs, sea urchins, shrimps and lobsters.</a:t>
            </a:r>
          </a:p>
          <a:p>
            <a:pPr marL="285750" indent="-285750">
              <a:buFont typeface="Arial" panose="020B0604020202020204" pitchFamily="34" charset="0"/>
              <a:buChar char="•"/>
            </a:pPr>
            <a:r>
              <a:rPr lang="en-GB" sz="2100" kern="100" dirty="0">
                <a:effectLst/>
                <a:latin typeface="Calibri" panose="020F0502020204030204" pitchFamily="34" charset="0"/>
                <a:ea typeface="Aptos" panose="020B0004020202020204" pitchFamily="34" charset="0"/>
                <a:cs typeface="Calibri" panose="020F0502020204030204" pitchFamily="34" charset="0"/>
              </a:rPr>
              <a:t>Ocean acidification makes it harder for them to maintain these calcified structures. This can cause disruptions within food chains.</a:t>
            </a:r>
          </a:p>
          <a:p>
            <a:pPr marL="285750" indent="-285750">
              <a:buFont typeface="Arial" panose="020B0604020202020204" pitchFamily="34" charset="0"/>
              <a:buChar char="•"/>
            </a:pPr>
            <a:r>
              <a:rPr lang="en-GB" sz="2100" kern="100" dirty="0">
                <a:effectLst/>
                <a:latin typeface="Calibri" panose="020F0502020204030204" pitchFamily="34" charset="0"/>
                <a:ea typeface="Aptos" panose="020B0004020202020204" pitchFamily="34" charset="0"/>
                <a:cs typeface="Calibri" panose="020F0502020204030204" pitchFamily="34" charset="0"/>
              </a:rPr>
              <a:t>Ocean acidification can also impact the ability of coral reefs to recover from warming and other stressors, by making it harder for corals to build their calcium-based skeletons.</a:t>
            </a:r>
          </a:p>
          <a:p>
            <a:pPr marL="285750" indent="-285750">
              <a:buFont typeface="Arial" panose="020B0604020202020204" pitchFamily="34" charset="0"/>
              <a:buChar char="•"/>
            </a:pPr>
            <a:r>
              <a:rPr lang="en-GB" sz="2100" kern="0" dirty="0">
                <a:effectLst/>
                <a:latin typeface="Calibri" panose="020F0502020204030204" pitchFamily="34" charset="0"/>
                <a:ea typeface="Times New Roman" panose="02020603050405020304" pitchFamily="18" charset="0"/>
                <a:cs typeface="Calibri" panose="020F0502020204030204" pitchFamily="34" charset="0"/>
              </a:rPr>
              <a:t>If CO</a:t>
            </a:r>
            <a:r>
              <a:rPr lang="en-GB" sz="2100" kern="0" baseline="-25000" dirty="0">
                <a:effectLst/>
                <a:latin typeface="Calibri" panose="020F0502020204030204" pitchFamily="34" charset="0"/>
                <a:ea typeface="Times New Roman" panose="02020603050405020304" pitchFamily="18" charset="0"/>
                <a:cs typeface="Calibri" panose="020F0502020204030204" pitchFamily="34" charset="0"/>
              </a:rPr>
              <a:t>2</a:t>
            </a:r>
            <a:r>
              <a:rPr lang="en-GB" sz="2100" kern="0" dirty="0">
                <a:effectLst/>
                <a:latin typeface="Calibri" panose="020F0502020204030204" pitchFamily="34" charset="0"/>
                <a:ea typeface="Times New Roman" panose="02020603050405020304" pitchFamily="18" charset="0"/>
                <a:cs typeface="Calibri" panose="020F0502020204030204" pitchFamily="34" charset="0"/>
              </a:rPr>
              <a:t> concentrations continue to rise at their current rate, the combination of climate warming and ocean acidification could slow coral growth by nearly 50% by 2050.</a:t>
            </a:r>
            <a:endParaRPr lang="en-GB" sz="2100" kern="1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2100" kern="100" dirty="0">
                <a:effectLst/>
                <a:latin typeface="Calibri" panose="020F0502020204030204" pitchFamily="34" charset="0"/>
                <a:ea typeface="Aptos" panose="020B0004020202020204" pitchFamily="34" charset="0"/>
                <a:cs typeface="Calibri" panose="020F0502020204030204" pitchFamily="34" charset="0"/>
              </a:rPr>
              <a:t>Ocean acidification impacts both small coastal communities and big industries. By harming aquaculture and tourism, communities that rely on the ocean as a source of food and income will be particularly affected.</a:t>
            </a:r>
          </a:p>
        </p:txBody>
      </p:sp>
      <p:pic>
        <p:nvPicPr>
          <p:cNvPr id="4" name="Picture 3" descr="A diagram of a river with water and buildings&#10;&#10;Description automatically generated with medium confidence">
            <a:extLst>
              <a:ext uri="{FF2B5EF4-FFF2-40B4-BE49-F238E27FC236}">
                <a16:creationId xmlns:a16="http://schemas.microsoft.com/office/drawing/2014/main" id="{52FA7F1A-946F-1DBB-31BD-A2CA742F6B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000" y="2333888"/>
            <a:ext cx="6168859" cy="3574479"/>
          </a:xfrm>
          <a:prstGeom prst="rect">
            <a:avLst/>
          </a:prstGeom>
        </p:spPr>
      </p:pic>
    </p:spTree>
    <p:extLst>
      <p:ext uri="{BB962C8B-B14F-4D97-AF65-F5344CB8AC3E}">
        <p14:creationId xmlns:p14="http://schemas.microsoft.com/office/powerpoint/2010/main" val="643700477"/>
      </p:ext>
    </p:extLst>
  </p:cSld>
  <p:clrMapOvr>
    <a:masterClrMapping/>
  </p:clrMapOvr>
  <mc:AlternateContent xmlns:mc="http://schemas.openxmlformats.org/markup-compatibility/2006" xmlns:p14="http://schemas.microsoft.com/office/powerpoint/2010/main">
    <mc:Choice Requires="p14">
      <p:transition spd="slow" p14:dur="2000" advTm="52245"/>
    </mc:Choice>
    <mc:Fallback xmlns="">
      <p:transition spd="slow" advTm="52245"/>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sp>
        <p:nvSpPr>
          <p:cNvPr id="7" name="TextBox 5">
            <a:extLst>
              <a:ext uri="{FF2B5EF4-FFF2-40B4-BE49-F238E27FC236}">
                <a16:creationId xmlns:a16="http://schemas.microsoft.com/office/drawing/2014/main" id="{BF7F62C6-8022-424A-B99F-4E0B8D5AE66F}"/>
              </a:ext>
            </a:extLst>
          </p:cNvPr>
          <p:cNvSpPr txBox="1"/>
          <p:nvPr/>
        </p:nvSpPr>
        <p:spPr>
          <a:xfrm>
            <a:off x="1143000" y="1070214"/>
            <a:ext cx="13847674" cy="820289"/>
          </a:xfrm>
          <a:prstGeom prst="rect">
            <a:avLst/>
          </a:prstGeom>
        </p:spPr>
        <p:txBody>
          <a:bodyPr wrap="square" lIns="0" tIns="0" rIns="0" bIns="0" rtlCol="0" anchor="t">
            <a:spAutoFit/>
          </a:bodyPr>
          <a:lstStyle/>
          <a:p>
            <a:pPr>
              <a:lnSpc>
                <a:spcPts val="6719"/>
              </a:lnSpc>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Projections of Future Change: Sea Ice</a:t>
            </a:r>
          </a:p>
        </p:txBody>
      </p:sp>
      <p:pic>
        <p:nvPicPr>
          <p:cNvPr id="11" name="Picture 10" descr="A screenshot of a graph showing the weather&#10;&#10;Description automatically generated">
            <a:extLst>
              <a:ext uri="{FF2B5EF4-FFF2-40B4-BE49-F238E27FC236}">
                <a16:creationId xmlns:a16="http://schemas.microsoft.com/office/drawing/2014/main" id="{3561C0C4-E5BE-34D6-898E-4EC80C2959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35678" y="2828557"/>
            <a:ext cx="6346326" cy="6661493"/>
          </a:xfrm>
          <a:prstGeom prst="rect">
            <a:avLst/>
          </a:prstGeom>
        </p:spPr>
      </p:pic>
      <p:sp>
        <p:nvSpPr>
          <p:cNvPr id="12" name="TextBox 11">
            <a:extLst>
              <a:ext uri="{FF2B5EF4-FFF2-40B4-BE49-F238E27FC236}">
                <a16:creationId xmlns:a16="http://schemas.microsoft.com/office/drawing/2014/main" id="{4DDA90A2-0719-6746-C0C0-C7F7C36BBA2C}"/>
              </a:ext>
            </a:extLst>
          </p:cNvPr>
          <p:cNvSpPr txBox="1"/>
          <p:nvPr/>
        </p:nvSpPr>
        <p:spPr>
          <a:xfrm>
            <a:off x="8761929" y="3666313"/>
            <a:ext cx="8284655" cy="5447645"/>
          </a:xfrm>
          <a:prstGeom prst="rect">
            <a:avLst/>
          </a:prstGeom>
          <a:noFill/>
        </p:spPr>
        <p:txBody>
          <a:bodyPr wrap="square" rtlCol="0">
            <a:spAutoFit/>
          </a:bodyPr>
          <a:lstStyle/>
          <a:p>
            <a:pPr marL="285750" indent="-285750">
              <a:buFont typeface="Arial" panose="020B0604020202020204" pitchFamily="34" charset="0"/>
              <a:buChar char="•"/>
            </a:pPr>
            <a:r>
              <a:rPr lang="en-GB" sz="2200" kern="100" dirty="0">
                <a:effectLst/>
                <a:highlight>
                  <a:srgbClr val="FFFFFF"/>
                </a:highlight>
                <a:latin typeface="Calibri" panose="020F0502020204030204" pitchFamily="34" charset="0"/>
                <a:ea typeface="Aptos" panose="020B0004020202020204" pitchFamily="34" charset="0"/>
                <a:cs typeface="Calibri" panose="020F0502020204030204" pitchFamily="34" charset="0"/>
              </a:rPr>
              <a:t>Arctic sea ice is already declining.</a:t>
            </a:r>
            <a:endParaRPr lang="en-GB" sz="2200" kern="1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2200" kern="100" dirty="0">
                <a:effectLst/>
                <a:highlight>
                  <a:srgbClr val="FFFFFF"/>
                </a:highlight>
                <a:latin typeface="Calibri" panose="020F0502020204030204" pitchFamily="34" charset="0"/>
                <a:ea typeface="Aptos" panose="020B0004020202020204" pitchFamily="34" charset="0"/>
                <a:cs typeface="Calibri" panose="020F0502020204030204" pitchFamily="34" charset="0"/>
              </a:rPr>
              <a:t>The area of snow cover in the Northern Hemisphere has decreased since about 1970.</a:t>
            </a:r>
            <a:endParaRPr lang="en-GB" sz="2200" kern="1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2200" kern="100" dirty="0">
                <a:effectLst/>
                <a:highlight>
                  <a:srgbClr val="FFFFFF"/>
                </a:highlight>
                <a:latin typeface="Calibri" panose="020F0502020204030204" pitchFamily="34" charset="0"/>
                <a:ea typeface="Aptos" panose="020B0004020202020204" pitchFamily="34" charset="0"/>
                <a:cs typeface="Calibri" panose="020F0502020204030204" pitchFamily="34" charset="0"/>
              </a:rPr>
              <a:t>Permafrost temperatures in Alaska and much of the Arctic have increased over the last century.</a:t>
            </a:r>
            <a:endParaRPr lang="en-GB" sz="2200" kern="1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2200" kern="100" dirty="0">
                <a:effectLst/>
                <a:highlight>
                  <a:srgbClr val="FFFFFF"/>
                </a:highlight>
                <a:latin typeface="Calibri" panose="020F0502020204030204" pitchFamily="34" charset="0"/>
                <a:ea typeface="Aptos" panose="020B0004020202020204" pitchFamily="34" charset="0"/>
                <a:cs typeface="Calibri" panose="020F0502020204030204" pitchFamily="34" charset="0"/>
              </a:rPr>
              <a:t>It is expected that sea ice will continue to decline, glaciers will continue to shrink, snow cover will continue to decrease, and permafrost will continue to thaw. </a:t>
            </a:r>
            <a:endParaRPr lang="en-GB" sz="2200" kern="1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2200" kern="100" dirty="0">
                <a:effectLst/>
                <a:highlight>
                  <a:srgbClr val="FFFFFF"/>
                </a:highlight>
                <a:latin typeface="Calibri" panose="020F0502020204030204" pitchFamily="34" charset="0"/>
                <a:ea typeface="Aptos" panose="020B0004020202020204" pitchFamily="34" charset="0"/>
                <a:cs typeface="Calibri" panose="020F0502020204030204" pitchFamily="34" charset="0"/>
              </a:rPr>
              <a:t>The coastal sections of the Greenland and Antarctic ice sheets are expected to continue to melt or slide into the ocean. </a:t>
            </a:r>
            <a:endParaRPr lang="en-GB" sz="2200" kern="1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2200" kern="100" dirty="0">
                <a:effectLst/>
                <a:highlight>
                  <a:srgbClr val="FFFFFF"/>
                </a:highlight>
                <a:latin typeface="Calibri" panose="020F0502020204030204" pitchFamily="34" charset="0"/>
                <a:ea typeface="Aptos" panose="020B0004020202020204" pitchFamily="34" charset="0"/>
                <a:cs typeface="Calibri" panose="020F0502020204030204" pitchFamily="34" charset="0"/>
              </a:rPr>
              <a:t>If the rate of this ice melting increases in the 21st century, the ice sheets could add significantly to global sea level rise.</a:t>
            </a:r>
            <a:endParaRPr lang="en-GB" sz="2200" kern="100" dirty="0">
              <a:effectLst/>
              <a:latin typeface="Calibri" panose="020F0502020204030204" pitchFamily="34" charset="0"/>
              <a:ea typeface="Aptos" panose="020B0004020202020204" pitchFamily="34" charset="0"/>
              <a:cs typeface="Calibri" panose="020F0502020204030204" pitchFamily="34" charset="0"/>
            </a:endParaRPr>
          </a:p>
          <a:p>
            <a:pPr marL="285750" indent="-285750">
              <a:buFont typeface="Arial" panose="020B0604020202020204" pitchFamily="34" charset="0"/>
              <a:buChar char="•"/>
            </a:pPr>
            <a:r>
              <a:rPr lang="en-GB" sz="2200" kern="100" dirty="0">
                <a:effectLst/>
                <a:highlight>
                  <a:srgbClr val="FFFFFF"/>
                </a:highlight>
                <a:latin typeface="Calibri" panose="020F0502020204030204" pitchFamily="34" charset="0"/>
                <a:ea typeface="Aptos" panose="020B0004020202020204" pitchFamily="34" charset="0"/>
                <a:cs typeface="Calibri" panose="020F0502020204030204" pitchFamily="34" charset="0"/>
              </a:rPr>
              <a:t>Glaciers are expected to continue to decrease in size. The rate of melting is expected to continue to increase, which will contribute to sea level rise.</a:t>
            </a:r>
            <a:endParaRPr lang="en-GB" sz="2200" kern="100" dirty="0">
              <a:effectLst/>
              <a:latin typeface="Calibri" panose="020F0502020204030204" pitchFamily="34" charset="0"/>
              <a:ea typeface="Aptos" panose="020B0004020202020204" pitchFamily="34" charset="0"/>
              <a:cs typeface="Calibri" panose="020F0502020204030204" pitchFamily="34" charset="0"/>
            </a:endParaRPr>
          </a:p>
          <a:p>
            <a:endParaRPr lang="en-GB" dirty="0"/>
          </a:p>
        </p:txBody>
      </p:sp>
      <p:sp>
        <p:nvSpPr>
          <p:cNvPr id="2" name="TextBox 1">
            <a:extLst>
              <a:ext uri="{FF2B5EF4-FFF2-40B4-BE49-F238E27FC236}">
                <a16:creationId xmlns:a16="http://schemas.microsoft.com/office/drawing/2014/main" id="{31F9285C-EEBA-BF7D-FC12-FE07CBEF6FF5}"/>
              </a:ext>
            </a:extLst>
          </p:cNvPr>
          <p:cNvSpPr txBox="1"/>
          <p:nvPr/>
        </p:nvSpPr>
        <p:spPr>
          <a:xfrm>
            <a:off x="828233" y="5789973"/>
            <a:ext cx="1232434" cy="738664"/>
          </a:xfrm>
          <a:prstGeom prst="rect">
            <a:avLst/>
          </a:prstGeom>
          <a:noFill/>
        </p:spPr>
        <p:txBody>
          <a:bodyPr wrap="square" rtlCol="0">
            <a:spAutoFit/>
          </a:bodyPr>
          <a:lstStyle/>
          <a:p>
            <a:pPr algn="ctr"/>
            <a:r>
              <a:rPr lang="en-GB" sz="1400" b="1" dirty="0"/>
              <a:t>Low emission scenario</a:t>
            </a:r>
          </a:p>
        </p:txBody>
      </p:sp>
      <p:sp>
        <p:nvSpPr>
          <p:cNvPr id="4" name="Left Brace 3">
            <a:extLst>
              <a:ext uri="{FF2B5EF4-FFF2-40B4-BE49-F238E27FC236}">
                <a16:creationId xmlns:a16="http://schemas.microsoft.com/office/drawing/2014/main" id="{AEA326D9-C85E-9FEA-46B9-DF0B736F57E7}"/>
              </a:ext>
            </a:extLst>
          </p:cNvPr>
          <p:cNvSpPr/>
          <p:nvPr/>
        </p:nvSpPr>
        <p:spPr>
          <a:xfrm>
            <a:off x="1859136" y="5367266"/>
            <a:ext cx="339550" cy="133347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sz="2700"/>
          </a:p>
        </p:txBody>
      </p:sp>
      <p:sp>
        <p:nvSpPr>
          <p:cNvPr id="5" name="TextBox 4">
            <a:extLst>
              <a:ext uri="{FF2B5EF4-FFF2-40B4-BE49-F238E27FC236}">
                <a16:creationId xmlns:a16="http://schemas.microsoft.com/office/drawing/2014/main" id="{657B6AAD-636B-D599-607F-3A308F7D1337}"/>
              </a:ext>
            </a:extLst>
          </p:cNvPr>
          <p:cNvSpPr txBox="1"/>
          <p:nvPr/>
        </p:nvSpPr>
        <p:spPr>
          <a:xfrm>
            <a:off x="828233" y="7720421"/>
            <a:ext cx="1232434" cy="738664"/>
          </a:xfrm>
          <a:prstGeom prst="rect">
            <a:avLst/>
          </a:prstGeom>
          <a:noFill/>
        </p:spPr>
        <p:txBody>
          <a:bodyPr wrap="square" rtlCol="0">
            <a:spAutoFit/>
          </a:bodyPr>
          <a:lstStyle/>
          <a:p>
            <a:pPr algn="ctr"/>
            <a:r>
              <a:rPr lang="en-GB" sz="1400" b="1" dirty="0"/>
              <a:t>High emission scenario</a:t>
            </a:r>
          </a:p>
        </p:txBody>
      </p:sp>
      <p:sp>
        <p:nvSpPr>
          <p:cNvPr id="6" name="Left Brace 5">
            <a:extLst>
              <a:ext uri="{FF2B5EF4-FFF2-40B4-BE49-F238E27FC236}">
                <a16:creationId xmlns:a16="http://schemas.microsoft.com/office/drawing/2014/main" id="{F7A622E8-B576-AD3D-DDEE-08CB6539463F}"/>
              </a:ext>
            </a:extLst>
          </p:cNvPr>
          <p:cNvSpPr/>
          <p:nvPr/>
        </p:nvSpPr>
        <p:spPr>
          <a:xfrm>
            <a:off x="1859136" y="7297714"/>
            <a:ext cx="339550" cy="133347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sz="2700"/>
          </a:p>
        </p:txBody>
      </p:sp>
    </p:spTree>
    <p:extLst>
      <p:ext uri="{BB962C8B-B14F-4D97-AF65-F5344CB8AC3E}">
        <p14:creationId xmlns:p14="http://schemas.microsoft.com/office/powerpoint/2010/main" val="3262983360"/>
      </p:ext>
    </p:extLst>
  </p:cSld>
  <p:clrMapOvr>
    <a:masterClrMapping/>
  </p:clrMapOvr>
  <mc:AlternateContent xmlns:mc="http://schemas.openxmlformats.org/markup-compatibility/2006" xmlns:p14="http://schemas.microsoft.com/office/powerpoint/2010/main">
    <mc:Choice Requires="p14">
      <p:transition spd="slow" p14:dur="2000" advTm="62718"/>
    </mc:Choice>
    <mc:Fallback xmlns="">
      <p:transition spd="slow" advTm="62718"/>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sp>
        <p:nvSpPr>
          <p:cNvPr id="7" name="TextBox 5">
            <a:extLst>
              <a:ext uri="{FF2B5EF4-FFF2-40B4-BE49-F238E27FC236}">
                <a16:creationId xmlns:a16="http://schemas.microsoft.com/office/drawing/2014/main" id="{BF7F62C6-8022-424A-B99F-4E0B8D5AE66F}"/>
              </a:ext>
            </a:extLst>
          </p:cNvPr>
          <p:cNvSpPr txBox="1"/>
          <p:nvPr/>
        </p:nvSpPr>
        <p:spPr>
          <a:xfrm>
            <a:off x="1143000" y="1070214"/>
            <a:ext cx="13847674" cy="820289"/>
          </a:xfrm>
          <a:prstGeom prst="rect">
            <a:avLst/>
          </a:prstGeom>
        </p:spPr>
        <p:txBody>
          <a:bodyPr wrap="square" lIns="0" tIns="0" rIns="0" bIns="0" rtlCol="0" anchor="t">
            <a:spAutoFit/>
          </a:bodyPr>
          <a:lstStyle/>
          <a:p>
            <a:pPr>
              <a:lnSpc>
                <a:spcPts val="6719"/>
              </a:lnSpc>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Projections of Future Change: Sea Ice</a:t>
            </a:r>
          </a:p>
        </p:txBody>
      </p:sp>
      <p:pic>
        <p:nvPicPr>
          <p:cNvPr id="11" name="Picture 10" descr="A screenshot of a graph showing the weather&#10;&#10;Description automatically generated">
            <a:extLst>
              <a:ext uri="{FF2B5EF4-FFF2-40B4-BE49-F238E27FC236}">
                <a16:creationId xmlns:a16="http://schemas.microsoft.com/office/drawing/2014/main" id="{3561C0C4-E5BE-34D6-898E-4EC80C2959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35678" y="2828557"/>
            <a:ext cx="6346326" cy="6661493"/>
          </a:xfrm>
          <a:prstGeom prst="rect">
            <a:avLst/>
          </a:prstGeom>
        </p:spPr>
      </p:pic>
      <p:sp>
        <p:nvSpPr>
          <p:cNvPr id="2" name="TextBox 1">
            <a:extLst>
              <a:ext uri="{FF2B5EF4-FFF2-40B4-BE49-F238E27FC236}">
                <a16:creationId xmlns:a16="http://schemas.microsoft.com/office/drawing/2014/main" id="{31F9285C-EEBA-BF7D-FC12-FE07CBEF6FF5}"/>
              </a:ext>
            </a:extLst>
          </p:cNvPr>
          <p:cNvSpPr txBox="1"/>
          <p:nvPr/>
        </p:nvSpPr>
        <p:spPr>
          <a:xfrm>
            <a:off x="828233" y="5789973"/>
            <a:ext cx="1232434" cy="738664"/>
          </a:xfrm>
          <a:prstGeom prst="rect">
            <a:avLst/>
          </a:prstGeom>
          <a:noFill/>
        </p:spPr>
        <p:txBody>
          <a:bodyPr wrap="square" rtlCol="0">
            <a:spAutoFit/>
          </a:bodyPr>
          <a:lstStyle/>
          <a:p>
            <a:pPr algn="ctr"/>
            <a:r>
              <a:rPr lang="en-GB" sz="1400" b="1" dirty="0"/>
              <a:t>Low emission scenario</a:t>
            </a:r>
          </a:p>
        </p:txBody>
      </p:sp>
      <p:sp>
        <p:nvSpPr>
          <p:cNvPr id="4" name="Left Brace 3">
            <a:extLst>
              <a:ext uri="{FF2B5EF4-FFF2-40B4-BE49-F238E27FC236}">
                <a16:creationId xmlns:a16="http://schemas.microsoft.com/office/drawing/2014/main" id="{AEA326D9-C85E-9FEA-46B9-DF0B736F57E7}"/>
              </a:ext>
            </a:extLst>
          </p:cNvPr>
          <p:cNvSpPr/>
          <p:nvPr/>
        </p:nvSpPr>
        <p:spPr>
          <a:xfrm>
            <a:off x="1859136" y="5367266"/>
            <a:ext cx="339550" cy="133347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sz="2700"/>
          </a:p>
        </p:txBody>
      </p:sp>
      <p:sp>
        <p:nvSpPr>
          <p:cNvPr id="5" name="TextBox 4">
            <a:extLst>
              <a:ext uri="{FF2B5EF4-FFF2-40B4-BE49-F238E27FC236}">
                <a16:creationId xmlns:a16="http://schemas.microsoft.com/office/drawing/2014/main" id="{657B6AAD-636B-D599-607F-3A308F7D1337}"/>
              </a:ext>
            </a:extLst>
          </p:cNvPr>
          <p:cNvSpPr txBox="1"/>
          <p:nvPr/>
        </p:nvSpPr>
        <p:spPr>
          <a:xfrm>
            <a:off x="828233" y="7720421"/>
            <a:ext cx="1232434" cy="738664"/>
          </a:xfrm>
          <a:prstGeom prst="rect">
            <a:avLst/>
          </a:prstGeom>
          <a:noFill/>
        </p:spPr>
        <p:txBody>
          <a:bodyPr wrap="square" rtlCol="0">
            <a:spAutoFit/>
          </a:bodyPr>
          <a:lstStyle/>
          <a:p>
            <a:pPr algn="ctr"/>
            <a:r>
              <a:rPr lang="en-GB" sz="1400" b="1" dirty="0"/>
              <a:t>High emission scenario</a:t>
            </a:r>
          </a:p>
        </p:txBody>
      </p:sp>
      <p:sp>
        <p:nvSpPr>
          <p:cNvPr id="6" name="Left Brace 5">
            <a:extLst>
              <a:ext uri="{FF2B5EF4-FFF2-40B4-BE49-F238E27FC236}">
                <a16:creationId xmlns:a16="http://schemas.microsoft.com/office/drawing/2014/main" id="{F7A622E8-B576-AD3D-DDEE-08CB6539463F}"/>
              </a:ext>
            </a:extLst>
          </p:cNvPr>
          <p:cNvSpPr/>
          <p:nvPr/>
        </p:nvSpPr>
        <p:spPr>
          <a:xfrm>
            <a:off x="1859136" y="7297714"/>
            <a:ext cx="339550" cy="1333475"/>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GB" sz="2700"/>
          </a:p>
        </p:txBody>
      </p:sp>
      <p:pic>
        <p:nvPicPr>
          <p:cNvPr id="9" name="Picture 8" descr="A crack in ice with text overlay&#10;&#10;Description automatically generated">
            <a:extLst>
              <a:ext uri="{FF2B5EF4-FFF2-40B4-BE49-F238E27FC236}">
                <a16:creationId xmlns:a16="http://schemas.microsoft.com/office/drawing/2014/main" id="{5710152E-83FE-82E8-B3C2-E55C71A613F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50764" y="3793367"/>
            <a:ext cx="6778100" cy="3993211"/>
          </a:xfrm>
          <a:prstGeom prst="rect">
            <a:avLst/>
          </a:prstGeom>
        </p:spPr>
      </p:pic>
    </p:spTree>
    <p:extLst>
      <p:ext uri="{BB962C8B-B14F-4D97-AF65-F5344CB8AC3E}">
        <p14:creationId xmlns:p14="http://schemas.microsoft.com/office/powerpoint/2010/main" val="366339922"/>
      </p:ext>
    </p:extLst>
  </p:cSld>
  <p:clrMapOvr>
    <a:masterClrMapping/>
  </p:clrMapOvr>
  <mc:AlternateContent xmlns:mc="http://schemas.openxmlformats.org/markup-compatibility/2006" xmlns:p14="http://schemas.microsoft.com/office/powerpoint/2010/main">
    <mc:Choice Requires="p14">
      <p:transition spd="slow" p14:dur="2000" advTm="24777"/>
    </mc:Choice>
    <mc:Fallback xmlns="">
      <p:transition spd="slow" advTm="24777"/>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Subtitle 2">
            <a:extLst>
              <a:ext uri="{FF2B5EF4-FFF2-40B4-BE49-F238E27FC236}">
                <a16:creationId xmlns:a16="http://schemas.microsoft.com/office/drawing/2014/main" id="{8B1AFAA2-F449-EC56-C3FB-0656BCBB6745}"/>
              </a:ext>
            </a:extLst>
          </p:cNvPr>
          <p:cNvSpPr txBox="1">
            <a:spLocks/>
          </p:cNvSpPr>
          <p:nvPr/>
        </p:nvSpPr>
        <p:spPr>
          <a:xfrm>
            <a:off x="1982972" y="3794162"/>
            <a:ext cx="9601200" cy="7350920"/>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6" name="Picture 5" descr="A graph of events and weather forecast&#10;&#10;Description automatically generated">
            <a:extLst>
              <a:ext uri="{FF2B5EF4-FFF2-40B4-BE49-F238E27FC236}">
                <a16:creationId xmlns:a16="http://schemas.microsoft.com/office/drawing/2014/main" id="{116A3479-47A2-3B66-74E0-90FB2A13E2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00" y="2556837"/>
            <a:ext cx="14338359" cy="6825702"/>
          </a:xfrm>
          <a:prstGeom prst="rect">
            <a:avLst/>
          </a:prstGeom>
        </p:spPr>
      </p:pic>
      <p:sp>
        <p:nvSpPr>
          <p:cNvPr id="4" name="TextBox 5">
            <a:extLst>
              <a:ext uri="{FF2B5EF4-FFF2-40B4-BE49-F238E27FC236}">
                <a16:creationId xmlns:a16="http://schemas.microsoft.com/office/drawing/2014/main" id="{DE4E9BD5-516F-098F-669B-24323BF17F09}"/>
              </a:ext>
            </a:extLst>
          </p:cNvPr>
          <p:cNvSpPr txBox="1"/>
          <p:nvPr/>
        </p:nvSpPr>
        <p:spPr>
          <a:xfrm>
            <a:off x="1143000" y="1736548"/>
            <a:ext cx="13847674" cy="820289"/>
          </a:xfrm>
          <a:prstGeom prst="rect">
            <a:avLst/>
          </a:prstGeom>
        </p:spPr>
        <p:txBody>
          <a:bodyPr wrap="square" lIns="0" tIns="0" rIns="0" bIns="0" rtlCol="0" anchor="t">
            <a:spAutoFit/>
          </a:bodyPr>
          <a:lstStyle/>
          <a:p>
            <a:pPr>
              <a:lnSpc>
                <a:spcPts val="6719"/>
              </a:lnSpc>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Projections of Future Change: Extreme Events</a:t>
            </a:r>
          </a:p>
        </p:txBody>
      </p:sp>
    </p:spTree>
    <p:extLst>
      <p:ext uri="{BB962C8B-B14F-4D97-AF65-F5344CB8AC3E}">
        <p14:creationId xmlns:p14="http://schemas.microsoft.com/office/powerpoint/2010/main" val="2198032749"/>
      </p:ext>
    </p:extLst>
  </p:cSld>
  <p:clrMapOvr>
    <a:masterClrMapping/>
  </p:clrMapOvr>
  <mc:AlternateContent xmlns:mc="http://schemas.openxmlformats.org/markup-compatibility/2006" xmlns:p14="http://schemas.microsoft.com/office/powerpoint/2010/main">
    <mc:Choice Requires="p14">
      <p:transition spd="slow" p14:dur="2000" advTm="34729"/>
    </mc:Choice>
    <mc:Fallback xmlns="">
      <p:transition spd="slow" advTm="34729"/>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sp>
        <p:nvSpPr>
          <p:cNvPr id="7" name="TextBox 5">
            <a:extLst>
              <a:ext uri="{FF2B5EF4-FFF2-40B4-BE49-F238E27FC236}">
                <a16:creationId xmlns:a16="http://schemas.microsoft.com/office/drawing/2014/main" id="{BF7F62C6-8022-424A-B99F-4E0B8D5AE66F}"/>
              </a:ext>
            </a:extLst>
          </p:cNvPr>
          <p:cNvSpPr txBox="1"/>
          <p:nvPr/>
        </p:nvSpPr>
        <p:spPr>
          <a:xfrm>
            <a:off x="899292" y="1338215"/>
            <a:ext cx="15725274" cy="1679499"/>
          </a:xfrm>
          <a:prstGeom prst="rect">
            <a:avLst/>
          </a:prstGeom>
        </p:spPr>
        <p:txBody>
          <a:bodyPr wrap="square" lIns="0" tIns="0" rIns="0" bIns="0" rtlCol="0" anchor="t">
            <a:spAutoFit/>
          </a:bodyPr>
          <a:lstStyle/>
          <a:p>
            <a:pPr>
              <a:lnSpc>
                <a:spcPts val="6719"/>
              </a:lnSpc>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Climate Change Impacts – Health </a:t>
            </a:r>
          </a:p>
          <a:p>
            <a:pPr>
              <a:lnSpc>
                <a:spcPts val="6719"/>
              </a:lnSpc>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2" name="TextBox 1">
            <a:extLst>
              <a:ext uri="{FF2B5EF4-FFF2-40B4-BE49-F238E27FC236}">
                <a16:creationId xmlns:a16="http://schemas.microsoft.com/office/drawing/2014/main" id="{99EE8803-8DCE-9E73-A07F-6B449FC69AC0}"/>
              </a:ext>
            </a:extLst>
          </p:cNvPr>
          <p:cNvSpPr txBox="1"/>
          <p:nvPr/>
        </p:nvSpPr>
        <p:spPr>
          <a:xfrm>
            <a:off x="889251" y="2466969"/>
            <a:ext cx="9035321" cy="7478970"/>
          </a:xfrm>
          <a:prstGeom prst="rect">
            <a:avLst/>
          </a:prstGeom>
          <a:noFill/>
        </p:spPr>
        <p:txBody>
          <a:bodyPr wrap="square" rtlCol="0">
            <a:spAutoFit/>
          </a:bodyPr>
          <a:lstStyle/>
          <a:p>
            <a:r>
              <a:rPr lang="en-GB" sz="2200" dirty="0">
                <a:latin typeface="Calibri" panose="020F0502020204030204" pitchFamily="34" charset="0"/>
                <a:cs typeface="Calibri" panose="020F0502020204030204" pitchFamily="34" charset="0"/>
              </a:rPr>
              <a:t>Increased heat-related mortality, decreased cold-related mortality </a:t>
            </a:r>
          </a:p>
          <a:p>
            <a:r>
              <a:rPr lang="en-GB" sz="2200" dirty="0">
                <a:latin typeface="Calibri" panose="020F0502020204030204" pitchFamily="34" charset="0"/>
                <a:cs typeface="Calibri" panose="020F0502020204030204" pitchFamily="34" charset="0"/>
              </a:rPr>
              <a:t>Altered distribution of water-borne illnesses and disease vectors </a:t>
            </a:r>
          </a:p>
          <a:p>
            <a:pPr marL="285750" indent="-285750">
              <a:buFont typeface="Arial" panose="020B0604020202020204" pitchFamily="34" charset="0"/>
              <a:buChar char="•"/>
            </a:pPr>
            <a:endParaRPr lang="en-GB" sz="2200" dirty="0">
              <a:latin typeface="Calibri" panose="020F0502020204030204" pitchFamily="34" charset="0"/>
              <a:cs typeface="Calibri" panose="020F0502020204030204" pitchFamily="34" charset="0"/>
            </a:endParaRPr>
          </a:p>
          <a:p>
            <a:r>
              <a:rPr lang="en-GB" sz="2200" dirty="0">
                <a:latin typeface="Calibri" panose="020F0502020204030204" pitchFamily="34" charset="0"/>
                <a:cs typeface="Calibri" panose="020F0502020204030204" pitchFamily="34" charset="0"/>
              </a:rPr>
              <a:t>Vulnerable populations: Higher risks for those lacking essential infrastructure, services, and quality housing.</a:t>
            </a:r>
          </a:p>
          <a:p>
            <a:pPr marL="285750" indent="-285750">
              <a:buFont typeface="Arial" panose="020B0604020202020204" pitchFamily="34" charset="0"/>
              <a:buChar char="•"/>
            </a:pPr>
            <a:endParaRPr lang="en-GB" sz="2200" dirty="0">
              <a:latin typeface="Calibri" panose="020F0502020204030204" pitchFamily="34" charset="0"/>
              <a:cs typeface="Calibri" panose="020F0502020204030204" pitchFamily="34" charset="0"/>
            </a:endParaRPr>
          </a:p>
          <a:p>
            <a:r>
              <a:rPr lang="en-GB" sz="2200" b="1" dirty="0">
                <a:latin typeface="Calibri" panose="020F0502020204030204" pitchFamily="34" charset="0"/>
                <a:cs typeface="Calibri" panose="020F0502020204030204" pitchFamily="34" charset="0"/>
              </a:rPr>
              <a:t>Projected risks</a:t>
            </a:r>
            <a:r>
              <a:rPr lang="en-GB" sz="2200" dirty="0">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GB" sz="2200" dirty="0">
                <a:latin typeface="Calibri" panose="020F0502020204030204" pitchFamily="34" charset="0"/>
                <a:cs typeface="Calibri" panose="020F0502020204030204" pitchFamily="34" charset="0"/>
              </a:rPr>
              <a:t>More heatwaves &amp; wildfires → injury, disease, death</a:t>
            </a:r>
          </a:p>
          <a:p>
            <a:pPr marL="285750" indent="-285750">
              <a:buFont typeface="Arial" panose="020B0604020202020204" pitchFamily="34" charset="0"/>
              <a:buChar char="•"/>
            </a:pPr>
            <a:r>
              <a:rPr lang="en-GB" sz="2200" dirty="0">
                <a:latin typeface="Calibri" panose="020F0502020204030204" pitchFamily="34" charset="0"/>
                <a:cs typeface="Calibri" panose="020F0502020204030204" pitchFamily="34" charset="0"/>
              </a:rPr>
              <a:t>Increased under-nutrition from lower food production in poor regions</a:t>
            </a:r>
          </a:p>
          <a:p>
            <a:pPr marL="285750" indent="-285750">
              <a:buFont typeface="Arial" panose="020B0604020202020204" pitchFamily="34" charset="0"/>
              <a:buChar char="•"/>
            </a:pPr>
            <a:r>
              <a:rPr lang="en-GB" sz="2200" dirty="0">
                <a:latin typeface="Calibri" panose="020F0502020204030204" pitchFamily="34" charset="0"/>
                <a:cs typeface="Calibri" panose="020F0502020204030204" pitchFamily="34" charset="0"/>
              </a:rPr>
              <a:t>Lost work capacity &amp; lower productivity in vulnerable populations.</a:t>
            </a:r>
          </a:p>
          <a:p>
            <a:pPr marL="285750" indent="-285750">
              <a:buFont typeface="Arial" panose="020B0604020202020204" pitchFamily="34" charset="0"/>
              <a:buChar char="•"/>
            </a:pPr>
            <a:r>
              <a:rPr lang="en-GB" sz="2200" dirty="0">
                <a:latin typeface="Calibri" panose="020F0502020204030204" pitchFamily="34" charset="0"/>
                <a:cs typeface="Calibri" panose="020F0502020204030204" pitchFamily="34" charset="0"/>
              </a:rPr>
              <a:t>Increased food- and water-borne diseases</a:t>
            </a:r>
          </a:p>
          <a:p>
            <a:pPr marL="285750" indent="-285750">
              <a:buFont typeface="Arial" panose="020B0604020202020204" pitchFamily="34" charset="0"/>
              <a:buChar char="•"/>
            </a:pPr>
            <a:r>
              <a:rPr lang="en-GB" sz="2200" dirty="0">
                <a:latin typeface="Calibri" panose="020F0502020204030204" pitchFamily="34" charset="0"/>
                <a:cs typeface="Calibri" panose="020F0502020204030204" pitchFamily="34" charset="0"/>
              </a:rPr>
              <a:t>Increased vector-borne diseases</a:t>
            </a:r>
          </a:p>
          <a:p>
            <a:endParaRPr lang="en-GB" sz="2200" b="1" dirty="0">
              <a:latin typeface="Calibri" panose="020F0502020204030204" pitchFamily="34" charset="0"/>
              <a:cs typeface="Calibri" panose="020F0502020204030204" pitchFamily="34" charset="0"/>
            </a:endParaRPr>
          </a:p>
          <a:p>
            <a:r>
              <a:rPr lang="en-GB" sz="2200" b="1" dirty="0">
                <a:latin typeface="Calibri" panose="020F0502020204030204" pitchFamily="34" charset="0"/>
                <a:cs typeface="Calibri" panose="020F0502020204030204" pitchFamily="34" charset="0"/>
              </a:rPr>
              <a:t>Most effective interventions</a:t>
            </a:r>
            <a:r>
              <a:rPr lang="en-GB" sz="2200" dirty="0">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GB" sz="2200" dirty="0">
                <a:latin typeface="Calibri" panose="020F0502020204030204" pitchFamily="34" charset="0"/>
                <a:cs typeface="Calibri" panose="020F0502020204030204" pitchFamily="34" charset="0"/>
              </a:rPr>
              <a:t>Improve public health measures (clean water, sanitation, vaccination).</a:t>
            </a:r>
          </a:p>
          <a:p>
            <a:pPr marL="285750" indent="-285750">
              <a:buFont typeface="Arial" panose="020B0604020202020204" pitchFamily="34" charset="0"/>
              <a:buChar char="•"/>
            </a:pPr>
            <a:r>
              <a:rPr lang="en-GB" sz="2200" dirty="0">
                <a:latin typeface="Calibri" panose="020F0502020204030204" pitchFamily="34" charset="0"/>
                <a:cs typeface="Calibri" panose="020F0502020204030204" pitchFamily="34" charset="0"/>
              </a:rPr>
              <a:t>Enhance disaster preparedness &amp; health care access.</a:t>
            </a:r>
          </a:p>
          <a:p>
            <a:endParaRPr lang="en-GB" sz="2200" dirty="0">
              <a:latin typeface="Calibri" panose="020F0502020204030204" pitchFamily="34" charset="0"/>
              <a:cs typeface="Calibri" panose="020F0502020204030204" pitchFamily="34" charset="0"/>
            </a:endParaRPr>
          </a:p>
          <a:p>
            <a:r>
              <a:rPr lang="en-GB" sz="2200" b="1" dirty="0">
                <a:latin typeface="Calibri" panose="020F0502020204030204" pitchFamily="34" charset="0"/>
                <a:cs typeface="Calibri" panose="020F0502020204030204" pitchFamily="34" charset="0"/>
              </a:rPr>
              <a:t>Reducing vulnerability</a:t>
            </a:r>
            <a:r>
              <a:rPr lang="en-GB" sz="2200" dirty="0">
                <a:latin typeface="Calibri" panose="020F0502020204030204" pitchFamily="34" charset="0"/>
                <a:cs typeface="Calibri" panose="020F0502020204030204" pitchFamily="34" charset="0"/>
              </a:rPr>
              <a:t> through:</a:t>
            </a:r>
          </a:p>
          <a:p>
            <a:pPr marL="742950" lvl="1" indent="-285750">
              <a:buFont typeface="Arial" panose="020B0604020202020204" pitchFamily="34" charset="0"/>
              <a:buChar char="•"/>
            </a:pPr>
            <a:r>
              <a:rPr lang="en-GB" sz="2200" dirty="0">
                <a:latin typeface="Calibri" panose="020F0502020204030204" pitchFamily="34" charset="0"/>
                <a:cs typeface="Calibri" panose="020F0502020204030204" pitchFamily="34" charset="0"/>
              </a:rPr>
              <a:t>Improved housing &amp; infrastructure</a:t>
            </a:r>
          </a:p>
          <a:p>
            <a:pPr marL="742950" lvl="1" indent="-285750">
              <a:buFont typeface="Arial" panose="020B0604020202020204" pitchFamily="34" charset="0"/>
              <a:buChar char="•"/>
            </a:pPr>
            <a:r>
              <a:rPr lang="en-GB" sz="2200" dirty="0">
                <a:latin typeface="Calibri" panose="020F0502020204030204" pitchFamily="34" charset="0"/>
                <a:cs typeface="Calibri" panose="020F0502020204030204" pitchFamily="34" charset="0"/>
              </a:rPr>
              <a:t>Multi-level risk governance &amp; policy alignment</a:t>
            </a:r>
          </a:p>
          <a:p>
            <a:pPr marL="742950" lvl="1" indent="-285750">
              <a:buFont typeface="Arial" panose="020B0604020202020204" pitchFamily="34" charset="0"/>
              <a:buChar char="•"/>
            </a:pPr>
            <a:r>
              <a:rPr lang="en-GB" sz="2200" dirty="0">
                <a:latin typeface="Calibri" panose="020F0502020204030204" pitchFamily="34" charset="0"/>
                <a:cs typeface="Calibri" panose="020F0502020204030204" pitchFamily="34" charset="0"/>
              </a:rPr>
              <a:t>Strengthened local government &amp; community adaptation</a:t>
            </a:r>
          </a:p>
          <a:p>
            <a:pPr>
              <a:buFont typeface="Arial" panose="020B0604020202020204" pitchFamily="34" charset="0"/>
              <a:buChar char="•"/>
            </a:pPr>
            <a:endParaRPr lang="en-GB" dirty="0"/>
          </a:p>
        </p:txBody>
      </p:sp>
      <p:pic>
        <p:nvPicPr>
          <p:cNvPr id="5" name="Picture 4">
            <a:extLst>
              <a:ext uri="{FF2B5EF4-FFF2-40B4-BE49-F238E27FC236}">
                <a16:creationId xmlns:a16="http://schemas.microsoft.com/office/drawing/2014/main" id="{0C62A5C8-6D14-183D-C2B4-6D8CCCCB7E15}"/>
              </a:ext>
            </a:extLst>
          </p:cNvPr>
          <p:cNvPicPr>
            <a:picLocks noChangeAspect="1"/>
          </p:cNvPicPr>
          <p:nvPr/>
        </p:nvPicPr>
        <p:blipFill rotWithShape="1">
          <a:blip r:embed="rId5"/>
          <a:srcRect l="54736"/>
          <a:stretch/>
        </p:blipFill>
        <p:spPr>
          <a:xfrm>
            <a:off x="10297191" y="2625447"/>
            <a:ext cx="6943702" cy="6961604"/>
          </a:xfrm>
          <a:prstGeom prst="rect">
            <a:avLst/>
          </a:prstGeom>
        </p:spPr>
      </p:pic>
      <p:sp>
        <p:nvSpPr>
          <p:cNvPr id="8" name="TextBox 7">
            <a:extLst>
              <a:ext uri="{FF2B5EF4-FFF2-40B4-BE49-F238E27FC236}">
                <a16:creationId xmlns:a16="http://schemas.microsoft.com/office/drawing/2014/main" id="{B29A21C9-B66A-150C-4DE3-209D0B7C95F4}"/>
              </a:ext>
            </a:extLst>
          </p:cNvPr>
          <p:cNvSpPr txBox="1"/>
          <p:nvPr/>
        </p:nvSpPr>
        <p:spPr>
          <a:xfrm>
            <a:off x="11324525" y="2807264"/>
            <a:ext cx="4979556" cy="707886"/>
          </a:xfrm>
          <a:prstGeom prst="rect">
            <a:avLst/>
          </a:prstGeom>
          <a:noFill/>
        </p:spPr>
        <p:txBody>
          <a:bodyPr wrap="square" rtlCol="0">
            <a:spAutoFit/>
          </a:bodyPr>
          <a:lstStyle/>
          <a:p>
            <a:r>
              <a:rPr lang="en-GB" sz="2000" dirty="0"/>
              <a:t>% of human population exposed to deadly heat for at least 20 days a year</a:t>
            </a:r>
          </a:p>
        </p:txBody>
      </p:sp>
      <p:sp>
        <p:nvSpPr>
          <p:cNvPr id="9" name="TextBox 8">
            <a:extLst>
              <a:ext uri="{FF2B5EF4-FFF2-40B4-BE49-F238E27FC236}">
                <a16:creationId xmlns:a16="http://schemas.microsoft.com/office/drawing/2014/main" id="{50B28A9C-5271-1C03-7BD6-643C07466DF5}"/>
              </a:ext>
            </a:extLst>
          </p:cNvPr>
          <p:cNvSpPr txBox="1"/>
          <p:nvPr/>
        </p:nvSpPr>
        <p:spPr>
          <a:xfrm>
            <a:off x="13698282" y="9851279"/>
            <a:ext cx="4589718" cy="369332"/>
          </a:xfrm>
          <a:prstGeom prst="rect">
            <a:avLst/>
          </a:prstGeom>
          <a:noFill/>
        </p:spPr>
        <p:txBody>
          <a:bodyPr wrap="none" rtlCol="0">
            <a:spAutoFit/>
          </a:bodyPr>
          <a:lstStyle/>
          <a:p>
            <a:r>
              <a:rPr lang="en-GB" dirty="0"/>
              <a:t>Mora </a:t>
            </a:r>
            <a:r>
              <a:rPr lang="en-GB" i="1" dirty="0"/>
              <a:t>et al.</a:t>
            </a:r>
            <a:r>
              <a:rPr lang="en-GB" dirty="0"/>
              <a:t> (Nature Climate Change, 2017)</a:t>
            </a:r>
          </a:p>
        </p:txBody>
      </p:sp>
    </p:spTree>
    <p:extLst>
      <p:ext uri="{BB962C8B-B14F-4D97-AF65-F5344CB8AC3E}">
        <p14:creationId xmlns:p14="http://schemas.microsoft.com/office/powerpoint/2010/main" val="2132685015"/>
      </p:ext>
    </p:extLst>
  </p:cSld>
  <p:clrMapOvr>
    <a:masterClrMapping/>
  </p:clrMapOvr>
  <mc:AlternateContent xmlns:mc="http://schemas.openxmlformats.org/markup-compatibility/2006" xmlns:p14="http://schemas.microsoft.com/office/powerpoint/2010/main">
    <mc:Choice Requires="p14">
      <p:transition spd="slow" p14:dur="2000" advTm="38895"/>
    </mc:Choice>
    <mc:Fallback xmlns="">
      <p:transition spd="slow" advTm="38895"/>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sp>
        <p:nvSpPr>
          <p:cNvPr id="7" name="TextBox 5">
            <a:extLst>
              <a:ext uri="{FF2B5EF4-FFF2-40B4-BE49-F238E27FC236}">
                <a16:creationId xmlns:a16="http://schemas.microsoft.com/office/drawing/2014/main" id="{BF7F62C6-8022-424A-B99F-4E0B8D5AE66F}"/>
              </a:ext>
            </a:extLst>
          </p:cNvPr>
          <p:cNvSpPr txBox="1"/>
          <p:nvPr/>
        </p:nvSpPr>
        <p:spPr>
          <a:xfrm>
            <a:off x="1143000" y="1499819"/>
            <a:ext cx="15725274" cy="1679499"/>
          </a:xfrm>
          <a:prstGeom prst="rect">
            <a:avLst/>
          </a:prstGeom>
        </p:spPr>
        <p:txBody>
          <a:bodyPr wrap="square" lIns="0" tIns="0" rIns="0" bIns="0" rtlCol="0" anchor="t">
            <a:spAutoFit/>
          </a:bodyPr>
          <a:lstStyle/>
          <a:p>
            <a:pPr>
              <a:lnSpc>
                <a:spcPts val="6719"/>
              </a:lnSpc>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Climate Change Impacts</a:t>
            </a:r>
          </a:p>
          <a:p>
            <a:pPr>
              <a:lnSpc>
                <a:spcPts val="6719"/>
              </a:lnSpc>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2" name="TextBox 1">
            <a:extLst>
              <a:ext uri="{FF2B5EF4-FFF2-40B4-BE49-F238E27FC236}">
                <a16:creationId xmlns:a16="http://schemas.microsoft.com/office/drawing/2014/main" id="{99EE8803-8DCE-9E73-A07F-6B449FC69AC0}"/>
              </a:ext>
            </a:extLst>
          </p:cNvPr>
          <p:cNvSpPr txBox="1"/>
          <p:nvPr/>
        </p:nvSpPr>
        <p:spPr>
          <a:xfrm>
            <a:off x="1143000" y="2521272"/>
            <a:ext cx="10994924" cy="2908489"/>
          </a:xfrm>
          <a:prstGeom prst="rect">
            <a:avLst/>
          </a:prstGeom>
          <a:noFill/>
        </p:spPr>
        <p:txBody>
          <a:bodyPr wrap="square" rtlCol="0">
            <a:spAutoFit/>
          </a:bodyPr>
          <a:lstStyle/>
          <a:p>
            <a:r>
              <a:rPr lang="en-GB" sz="2800" b="1" dirty="0">
                <a:latin typeface="Calibri" panose="020F0502020204030204" pitchFamily="34" charset="0"/>
                <a:cs typeface="Calibri" panose="020F0502020204030204" pitchFamily="34" charset="0"/>
              </a:rPr>
              <a:t>Health</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Weather-related mortality</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Infectious and respiratory illnesses</a:t>
            </a:r>
          </a:p>
          <a:p>
            <a:pPr>
              <a:spcBef>
                <a:spcPts val="1800"/>
              </a:spcBef>
            </a:pPr>
            <a:r>
              <a:rPr lang="en-GB" sz="2800" b="1" dirty="0">
                <a:latin typeface="Calibri" panose="020F0502020204030204" pitchFamily="34" charset="0"/>
                <a:cs typeface="Calibri" panose="020F0502020204030204" pitchFamily="34" charset="0"/>
              </a:rPr>
              <a:t>Agriculture</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Crop yields</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Irrigation demands</a:t>
            </a:r>
          </a:p>
        </p:txBody>
      </p:sp>
      <p:pic>
        <p:nvPicPr>
          <p:cNvPr id="5" name="Picture 4" descr="Chart, bar chart&#10;&#10;Description automatically generated">
            <a:extLst>
              <a:ext uri="{FF2B5EF4-FFF2-40B4-BE49-F238E27FC236}">
                <a16:creationId xmlns:a16="http://schemas.microsoft.com/office/drawing/2014/main" id="{CE409831-52B4-ED43-CC04-223F6116AF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59692" y="4522517"/>
            <a:ext cx="11356464" cy="4559793"/>
          </a:xfrm>
          <a:prstGeom prst="rect">
            <a:avLst/>
          </a:prstGeom>
        </p:spPr>
      </p:pic>
      <p:sp>
        <p:nvSpPr>
          <p:cNvPr id="8" name="TextBox 7">
            <a:extLst>
              <a:ext uri="{FF2B5EF4-FFF2-40B4-BE49-F238E27FC236}">
                <a16:creationId xmlns:a16="http://schemas.microsoft.com/office/drawing/2014/main" id="{9B4B485D-BA26-EDFC-A076-2B074D95976E}"/>
              </a:ext>
            </a:extLst>
          </p:cNvPr>
          <p:cNvSpPr txBox="1"/>
          <p:nvPr/>
        </p:nvSpPr>
        <p:spPr>
          <a:xfrm>
            <a:off x="7526912" y="4721875"/>
            <a:ext cx="7027288" cy="707886"/>
          </a:xfrm>
          <a:prstGeom prst="rect">
            <a:avLst/>
          </a:prstGeom>
          <a:noFill/>
        </p:spPr>
        <p:txBody>
          <a:bodyPr wrap="square" rtlCol="0">
            <a:spAutoFit/>
          </a:bodyPr>
          <a:lstStyle/>
          <a:p>
            <a:r>
              <a:rPr lang="en-GB" sz="2000" dirty="0"/>
              <a:t>Overall projected changes in crop yields for different regions, emissions scenarios and adaptation approaches.</a:t>
            </a:r>
          </a:p>
        </p:txBody>
      </p:sp>
      <p:sp>
        <p:nvSpPr>
          <p:cNvPr id="9" name="TextBox 8">
            <a:extLst>
              <a:ext uri="{FF2B5EF4-FFF2-40B4-BE49-F238E27FC236}">
                <a16:creationId xmlns:a16="http://schemas.microsoft.com/office/drawing/2014/main" id="{BD73A00E-1556-1464-EF4D-FD0AEB82BCE7}"/>
              </a:ext>
            </a:extLst>
          </p:cNvPr>
          <p:cNvSpPr txBox="1"/>
          <p:nvPr/>
        </p:nvSpPr>
        <p:spPr>
          <a:xfrm>
            <a:off x="13845711" y="9850258"/>
            <a:ext cx="4288353" cy="369332"/>
          </a:xfrm>
          <a:prstGeom prst="rect">
            <a:avLst/>
          </a:prstGeom>
          <a:noFill/>
        </p:spPr>
        <p:txBody>
          <a:bodyPr wrap="none" rtlCol="0">
            <a:spAutoFit/>
          </a:bodyPr>
          <a:lstStyle/>
          <a:p>
            <a:r>
              <a:rPr lang="en-GB" dirty="0"/>
              <a:t>Figure SPM.9, 2.7, AR5 synthesis report</a:t>
            </a:r>
          </a:p>
        </p:txBody>
      </p:sp>
      <p:sp>
        <p:nvSpPr>
          <p:cNvPr id="6" name="TextBox 5">
            <a:extLst>
              <a:ext uri="{FF2B5EF4-FFF2-40B4-BE49-F238E27FC236}">
                <a16:creationId xmlns:a16="http://schemas.microsoft.com/office/drawing/2014/main" id="{B9100192-F175-6E2F-475D-991F7AD92D16}"/>
              </a:ext>
            </a:extLst>
          </p:cNvPr>
          <p:cNvSpPr txBox="1"/>
          <p:nvPr/>
        </p:nvSpPr>
        <p:spPr>
          <a:xfrm>
            <a:off x="199670" y="5872902"/>
            <a:ext cx="6066219" cy="3785652"/>
          </a:xfrm>
          <a:prstGeom prst="rect">
            <a:avLst/>
          </a:prstGeom>
          <a:noFill/>
        </p:spPr>
        <p:txBody>
          <a:bodyPr wrap="square">
            <a:spAutoFit/>
          </a:bodyPr>
          <a:lstStyle/>
          <a:p>
            <a:pPr marL="285750" indent="-285750">
              <a:buFont typeface="Arial" panose="020B0604020202020204" pitchFamily="34" charset="0"/>
              <a:buChar char="•"/>
            </a:pPr>
            <a:r>
              <a:rPr lang="en-GB" sz="2400" b="1" dirty="0">
                <a:latin typeface="Calibri" panose="020F0502020204030204" pitchFamily="34" charset="0"/>
                <a:cs typeface="Calibri" panose="020F0502020204030204" pitchFamily="34" charset="0"/>
              </a:rPr>
              <a:t>Major crops </a:t>
            </a:r>
            <a:r>
              <a:rPr lang="en-GB" sz="2400" dirty="0">
                <a:latin typeface="Calibri" panose="020F0502020204030204" pitchFamily="34" charset="0"/>
                <a:cs typeface="Calibri" panose="020F0502020204030204" pitchFamily="34" charset="0"/>
              </a:rPr>
              <a:t>(wheat, rice, maize): Likely yield declines with &gt;2°C warming </a:t>
            </a:r>
          </a:p>
          <a:p>
            <a:pPr marL="285750" indent="-285750">
              <a:buFont typeface="Arial" panose="020B0604020202020204" pitchFamily="34" charset="0"/>
              <a:buChar char="•"/>
            </a:pPr>
            <a:r>
              <a:rPr lang="en-GB" sz="2400" b="1" dirty="0">
                <a:latin typeface="Calibri" panose="020F0502020204030204" pitchFamily="34" charset="0"/>
                <a:cs typeface="Calibri" panose="020F0502020204030204" pitchFamily="34" charset="0"/>
              </a:rPr>
              <a:t>Future risks</a:t>
            </a:r>
            <a:r>
              <a:rPr lang="en-GB" sz="2400" dirty="0">
                <a:latin typeface="Calibri" panose="020F0502020204030204" pitchFamily="34" charset="0"/>
                <a:cs typeface="Calibri" panose="020F0502020204030204" pitchFamily="34" charset="0"/>
              </a:rPr>
              <a:t>: After 2050, more severe impacts expected, with increased yield variability.</a:t>
            </a:r>
          </a:p>
          <a:p>
            <a:pPr marL="285750" indent="-285750">
              <a:buFont typeface="Arial" panose="020B0604020202020204" pitchFamily="34" charset="0"/>
              <a:buChar char="•"/>
            </a:pPr>
            <a:r>
              <a:rPr lang="en-GB" sz="2400" b="1" dirty="0">
                <a:latin typeface="Calibri" panose="020F0502020204030204" pitchFamily="34" charset="0"/>
                <a:cs typeface="Calibri" panose="020F0502020204030204" pitchFamily="34" charset="0"/>
              </a:rPr>
              <a:t>Food security</a:t>
            </a:r>
            <a:r>
              <a:rPr lang="en-GB" sz="2400" dirty="0">
                <a:latin typeface="Calibri" panose="020F0502020204030204" pitchFamily="34" charset="0"/>
                <a:cs typeface="Calibri" panose="020F0502020204030204" pitchFamily="34" charset="0"/>
              </a:rPr>
              <a:t>: Climate change affects access, and price stability </a:t>
            </a:r>
          </a:p>
          <a:p>
            <a:pPr marL="285750" indent="-285750">
              <a:buFont typeface="Arial" panose="020B0604020202020204" pitchFamily="34" charset="0"/>
              <a:buChar char="•"/>
            </a:pPr>
            <a:r>
              <a:rPr lang="en-GB" sz="2400" b="1" dirty="0">
                <a:latin typeface="Calibri" panose="020F0502020204030204" pitchFamily="34" charset="0"/>
                <a:cs typeface="Calibri" panose="020F0502020204030204" pitchFamily="34" charset="0"/>
              </a:rPr>
              <a:t>Severe warming (~4°C+)</a:t>
            </a:r>
            <a:r>
              <a:rPr lang="en-GB" sz="2400" dirty="0">
                <a:latin typeface="Calibri" panose="020F0502020204030204" pitchFamily="34" charset="0"/>
                <a:cs typeface="Calibri" panose="020F0502020204030204" pitchFamily="34" charset="0"/>
              </a:rPr>
              <a:t>: High risk to global food security, especially in low-latitude regions.</a:t>
            </a:r>
          </a:p>
        </p:txBody>
      </p:sp>
    </p:spTree>
    <p:extLst>
      <p:ext uri="{BB962C8B-B14F-4D97-AF65-F5344CB8AC3E}">
        <p14:creationId xmlns:p14="http://schemas.microsoft.com/office/powerpoint/2010/main" val="1594968323"/>
      </p:ext>
    </p:extLst>
  </p:cSld>
  <p:clrMapOvr>
    <a:masterClrMapping/>
  </p:clrMapOvr>
  <mc:AlternateContent xmlns:mc="http://schemas.openxmlformats.org/markup-compatibility/2006" xmlns:p14="http://schemas.microsoft.com/office/powerpoint/2010/main">
    <mc:Choice Requires="p14">
      <p:transition spd="slow" p14:dur="2000" advTm="73621"/>
    </mc:Choice>
    <mc:Fallback xmlns="">
      <p:transition spd="slow" advTm="73621"/>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sp>
        <p:nvSpPr>
          <p:cNvPr id="7" name="TextBox 5">
            <a:extLst>
              <a:ext uri="{FF2B5EF4-FFF2-40B4-BE49-F238E27FC236}">
                <a16:creationId xmlns:a16="http://schemas.microsoft.com/office/drawing/2014/main" id="{BF7F62C6-8022-424A-B99F-4E0B8D5AE66F}"/>
              </a:ext>
            </a:extLst>
          </p:cNvPr>
          <p:cNvSpPr txBox="1"/>
          <p:nvPr/>
        </p:nvSpPr>
        <p:spPr>
          <a:xfrm>
            <a:off x="1143000" y="1499819"/>
            <a:ext cx="15725274" cy="1679499"/>
          </a:xfrm>
          <a:prstGeom prst="rect">
            <a:avLst/>
          </a:prstGeom>
        </p:spPr>
        <p:txBody>
          <a:bodyPr wrap="square" lIns="0" tIns="0" rIns="0" bIns="0" rtlCol="0" anchor="t">
            <a:spAutoFit/>
          </a:bodyPr>
          <a:lstStyle/>
          <a:p>
            <a:pPr>
              <a:lnSpc>
                <a:spcPts val="6719"/>
              </a:lnSpc>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Climate Change Impacts</a:t>
            </a:r>
          </a:p>
          <a:p>
            <a:pPr>
              <a:lnSpc>
                <a:spcPts val="6719"/>
              </a:lnSpc>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2" name="TextBox 1">
            <a:extLst>
              <a:ext uri="{FF2B5EF4-FFF2-40B4-BE49-F238E27FC236}">
                <a16:creationId xmlns:a16="http://schemas.microsoft.com/office/drawing/2014/main" id="{99EE8803-8DCE-9E73-A07F-6B449FC69AC0}"/>
              </a:ext>
            </a:extLst>
          </p:cNvPr>
          <p:cNvSpPr txBox="1"/>
          <p:nvPr/>
        </p:nvSpPr>
        <p:spPr>
          <a:xfrm>
            <a:off x="1143000" y="2521272"/>
            <a:ext cx="10994924" cy="3570208"/>
          </a:xfrm>
          <a:prstGeom prst="rect">
            <a:avLst/>
          </a:prstGeom>
          <a:noFill/>
        </p:spPr>
        <p:txBody>
          <a:bodyPr wrap="square" rtlCol="0">
            <a:spAutoFit/>
          </a:bodyPr>
          <a:lstStyle/>
          <a:p>
            <a:r>
              <a:rPr lang="en-GB" sz="2800" b="1" dirty="0">
                <a:latin typeface="Calibri" panose="020F0502020204030204" pitchFamily="34" charset="0"/>
                <a:cs typeface="Calibri" panose="020F0502020204030204" pitchFamily="34" charset="0"/>
              </a:rPr>
              <a:t>Health</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Weather-related mortality</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Infectious and respiratory illnesses</a:t>
            </a:r>
          </a:p>
          <a:p>
            <a:pPr>
              <a:spcBef>
                <a:spcPts val="1800"/>
              </a:spcBef>
            </a:pPr>
            <a:r>
              <a:rPr lang="en-GB" sz="2800" b="1" dirty="0">
                <a:latin typeface="Calibri" panose="020F0502020204030204" pitchFamily="34" charset="0"/>
                <a:cs typeface="Calibri" panose="020F0502020204030204" pitchFamily="34" charset="0"/>
              </a:rPr>
              <a:t>Agriculture</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Crop yields</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Irrigation demands</a:t>
            </a:r>
          </a:p>
          <a:p>
            <a:pPr>
              <a:spcBef>
                <a:spcPts val="1800"/>
              </a:spcBef>
            </a:pPr>
            <a:r>
              <a:rPr lang="en-GB" sz="2800" b="1" dirty="0">
                <a:latin typeface="Calibri" panose="020F0502020204030204" pitchFamily="34" charset="0"/>
                <a:cs typeface="Calibri" panose="020F0502020204030204" pitchFamily="34" charset="0"/>
              </a:rPr>
              <a:t>Forests (+ other ecosystems and habitats)</a:t>
            </a:r>
          </a:p>
        </p:txBody>
      </p:sp>
      <p:pic>
        <p:nvPicPr>
          <p:cNvPr id="5" name="Picture 4">
            <a:extLst>
              <a:ext uri="{FF2B5EF4-FFF2-40B4-BE49-F238E27FC236}">
                <a16:creationId xmlns:a16="http://schemas.microsoft.com/office/drawing/2014/main" id="{238C2C55-B1BB-72EF-58C0-57E7F9B51A7F}"/>
              </a:ext>
            </a:extLst>
          </p:cNvPr>
          <p:cNvPicPr>
            <a:picLocks noChangeAspect="1"/>
          </p:cNvPicPr>
          <p:nvPr/>
        </p:nvPicPr>
        <p:blipFill>
          <a:blip r:embed="rId5"/>
          <a:stretch>
            <a:fillRect/>
          </a:stretch>
        </p:blipFill>
        <p:spPr>
          <a:xfrm>
            <a:off x="9630502" y="2270851"/>
            <a:ext cx="7322574" cy="7322574"/>
          </a:xfrm>
          <a:prstGeom prst="rect">
            <a:avLst/>
          </a:prstGeom>
        </p:spPr>
      </p:pic>
    </p:spTree>
    <p:extLst>
      <p:ext uri="{BB962C8B-B14F-4D97-AF65-F5344CB8AC3E}">
        <p14:creationId xmlns:p14="http://schemas.microsoft.com/office/powerpoint/2010/main" val="2300363769"/>
      </p:ext>
    </p:extLst>
  </p:cSld>
  <p:clrMapOvr>
    <a:masterClrMapping/>
  </p:clrMapOvr>
  <mc:AlternateContent xmlns:mc="http://schemas.openxmlformats.org/markup-compatibility/2006" xmlns:p14="http://schemas.microsoft.com/office/powerpoint/2010/main">
    <mc:Choice Requires="p14">
      <p:transition spd="slow" p14:dur="2000" advTm="17321"/>
    </mc:Choice>
    <mc:Fallback xmlns="">
      <p:transition spd="slow" advTm="17321"/>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7" name="TextBox 5">
            <a:extLst>
              <a:ext uri="{FF2B5EF4-FFF2-40B4-BE49-F238E27FC236}">
                <a16:creationId xmlns:a16="http://schemas.microsoft.com/office/drawing/2014/main" id="{BF7F62C6-8022-424A-B99F-4E0B8D5AE66F}"/>
              </a:ext>
            </a:extLst>
          </p:cNvPr>
          <p:cNvSpPr txBox="1"/>
          <p:nvPr/>
        </p:nvSpPr>
        <p:spPr>
          <a:xfrm>
            <a:off x="1143000" y="1499819"/>
            <a:ext cx="15725274" cy="1679499"/>
          </a:xfrm>
          <a:prstGeom prst="rect">
            <a:avLst/>
          </a:prstGeom>
        </p:spPr>
        <p:txBody>
          <a:bodyPr wrap="square" lIns="0" tIns="0" rIns="0" bIns="0" rtlCol="0" anchor="t">
            <a:spAutoFit/>
          </a:bodyPr>
          <a:lstStyle/>
          <a:p>
            <a:pPr>
              <a:lnSpc>
                <a:spcPts val="6719"/>
              </a:lnSpc>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Climate Change Impacts</a:t>
            </a:r>
          </a:p>
          <a:p>
            <a:pPr>
              <a:lnSpc>
                <a:spcPts val="6719"/>
              </a:lnSpc>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2" name="TextBox 1">
            <a:extLst>
              <a:ext uri="{FF2B5EF4-FFF2-40B4-BE49-F238E27FC236}">
                <a16:creationId xmlns:a16="http://schemas.microsoft.com/office/drawing/2014/main" id="{99EE8803-8DCE-9E73-A07F-6B449FC69AC0}"/>
              </a:ext>
            </a:extLst>
          </p:cNvPr>
          <p:cNvSpPr txBox="1"/>
          <p:nvPr/>
        </p:nvSpPr>
        <p:spPr>
          <a:xfrm>
            <a:off x="1143000" y="2521272"/>
            <a:ext cx="10994924" cy="5524589"/>
          </a:xfrm>
          <a:prstGeom prst="rect">
            <a:avLst/>
          </a:prstGeom>
          <a:noFill/>
        </p:spPr>
        <p:txBody>
          <a:bodyPr wrap="square" rtlCol="0">
            <a:spAutoFit/>
          </a:bodyPr>
          <a:lstStyle/>
          <a:p>
            <a:r>
              <a:rPr lang="en-GB" sz="2800" b="1" dirty="0">
                <a:latin typeface="Calibri" panose="020F0502020204030204" pitchFamily="34" charset="0"/>
                <a:cs typeface="Calibri" panose="020F0502020204030204" pitchFamily="34" charset="0"/>
              </a:rPr>
              <a:t>Health</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Weather-related mortality</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Infectious and respiratory illnesses</a:t>
            </a:r>
          </a:p>
          <a:p>
            <a:pPr>
              <a:spcBef>
                <a:spcPts val="1800"/>
              </a:spcBef>
            </a:pPr>
            <a:r>
              <a:rPr lang="en-GB" sz="2800" b="1" dirty="0">
                <a:latin typeface="Calibri" panose="020F0502020204030204" pitchFamily="34" charset="0"/>
                <a:cs typeface="Calibri" panose="020F0502020204030204" pitchFamily="34" charset="0"/>
              </a:rPr>
              <a:t>Agriculture</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Crop yields</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Irrigation demands</a:t>
            </a:r>
          </a:p>
          <a:p>
            <a:pPr>
              <a:spcBef>
                <a:spcPts val="1800"/>
              </a:spcBef>
            </a:pPr>
            <a:r>
              <a:rPr lang="en-GB" sz="2800" b="1" dirty="0">
                <a:latin typeface="Calibri" panose="020F0502020204030204" pitchFamily="34" charset="0"/>
                <a:cs typeface="Calibri" panose="020F0502020204030204" pitchFamily="34" charset="0"/>
              </a:rPr>
              <a:t>Forests (+ other ecosystems and habitats)</a:t>
            </a:r>
          </a:p>
          <a:p>
            <a:pPr>
              <a:spcBef>
                <a:spcPts val="1800"/>
              </a:spcBef>
            </a:pPr>
            <a:r>
              <a:rPr lang="en-GB" sz="2800" b="1" dirty="0">
                <a:latin typeface="Calibri" panose="020F0502020204030204" pitchFamily="34" charset="0"/>
                <a:cs typeface="Calibri" panose="020F0502020204030204" pitchFamily="34" charset="0"/>
              </a:rPr>
              <a:t>Water resources</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Increased competition for water</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Water quality</a:t>
            </a:r>
          </a:p>
          <a:p>
            <a:pPr marL="1114425" lvl="1" indent="-428625">
              <a:buFont typeface="Arial" panose="020B0604020202020204" pitchFamily="34" charset="0"/>
              <a:buChar char="•"/>
            </a:pPr>
            <a:r>
              <a:rPr lang="en-GB" sz="2800" dirty="0">
                <a:latin typeface="Calibri" panose="020F0502020204030204" pitchFamily="34" charset="0"/>
                <a:cs typeface="Calibri" panose="020F0502020204030204" pitchFamily="34" charset="0"/>
              </a:rPr>
              <a:t>Fishing</a:t>
            </a:r>
          </a:p>
        </p:txBody>
      </p:sp>
      <p:pic>
        <p:nvPicPr>
          <p:cNvPr id="5" name="Picture 5" descr="aquaculture3">
            <a:extLst>
              <a:ext uri="{FF2B5EF4-FFF2-40B4-BE49-F238E27FC236}">
                <a16:creationId xmlns:a16="http://schemas.microsoft.com/office/drawing/2014/main" id="{A62A37D9-A834-169A-96EA-FC077520E359}"/>
              </a:ext>
            </a:extLst>
          </p:cNvPr>
          <p:cNvPicPr>
            <a:picLocks noChangeAspect="1" noChangeArrowheads="1"/>
          </p:cNvPicPr>
          <p:nvPr/>
        </p:nvPicPr>
        <p:blipFill>
          <a:blip r:embed="rId5" cstate="print"/>
          <a:srcRect/>
          <a:stretch>
            <a:fillRect/>
          </a:stretch>
        </p:blipFill>
        <p:spPr>
          <a:xfrm>
            <a:off x="9250400" y="2932447"/>
            <a:ext cx="7686053" cy="5163843"/>
          </a:xfrm>
          <a:prstGeom prst="rect">
            <a:avLst/>
          </a:prstGeom>
          <a:noFill/>
        </p:spPr>
      </p:pic>
    </p:spTree>
    <p:extLst>
      <p:ext uri="{BB962C8B-B14F-4D97-AF65-F5344CB8AC3E}">
        <p14:creationId xmlns:p14="http://schemas.microsoft.com/office/powerpoint/2010/main" val="2767758744"/>
      </p:ext>
    </p:extLst>
  </p:cSld>
  <p:clrMapOvr>
    <a:masterClrMapping/>
  </p:clrMapOvr>
  <mc:AlternateContent xmlns:mc="http://schemas.openxmlformats.org/markup-compatibility/2006" xmlns:p14="http://schemas.microsoft.com/office/powerpoint/2010/main">
    <mc:Choice Requires="p14">
      <p:transition spd="slow" p14:dur="2000" advTm="24437"/>
    </mc:Choice>
    <mc:Fallback xmlns="">
      <p:transition spd="slow" advTm="24437"/>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sp>
        <p:nvSpPr>
          <p:cNvPr id="7" name="TextBox 5">
            <a:extLst>
              <a:ext uri="{FF2B5EF4-FFF2-40B4-BE49-F238E27FC236}">
                <a16:creationId xmlns:a16="http://schemas.microsoft.com/office/drawing/2014/main" id="{BF7F62C6-8022-424A-B99F-4E0B8D5AE66F}"/>
              </a:ext>
            </a:extLst>
          </p:cNvPr>
          <p:cNvSpPr txBox="1"/>
          <p:nvPr/>
        </p:nvSpPr>
        <p:spPr>
          <a:xfrm>
            <a:off x="1143000" y="1499819"/>
            <a:ext cx="15725274" cy="167949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Climate Change Impacts</a:t>
            </a:r>
          </a:p>
          <a:p>
            <a:pPr marL="0" marR="0" lvl="0" indent="0" algn="l" defTabSz="914400" rtl="0" eaLnBrk="1" fontAlgn="auto" latinLnBrk="0" hangingPunct="1">
              <a:lnSpc>
                <a:spcPts val="6719"/>
              </a:lnSpc>
              <a:spcBef>
                <a:spcPts val="0"/>
              </a:spcBef>
              <a:spcAft>
                <a:spcPts val="0"/>
              </a:spcAft>
              <a:buClrTx/>
              <a:buSzTx/>
              <a:buFontTx/>
              <a:buNone/>
              <a:tabLst/>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2" name="TextBox 1">
            <a:extLst>
              <a:ext uri="{FF2B5EF4-FFF2-40B4-BE49-F238E27FC236}">
                <a16:creationId xmlns:a16="http://schemas.microsoft.com/office/drawing/2014/main" id="{99EE8803-8DCE-9E73-A07F-6B449FC69AC0}"/>
              </a:ext>
            </a:extLst>
          </p:cNvPr>
          <p:cNvSpPr txBox="1"/>
          <p:nvPr/>
        </p:nvSpPr>
        <p:spPr>
          <a:xfrm>
            <a:off x="1143000" y="2521272"/>
            <a:ext cx="10994924" cy="7048083"/>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en-GB" sz="2800"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Health</a:t>
            </a:r>
          </a:p>
          <a:p>
            <a:pPr marL="1114425" marR="0" lvl="1" indent="-428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Weather-related mortality</a:t>
            </a:r>
          </a:p>
          <a:p>
            <a:pPr marL="1114425" marR="0" lvl="1" indent="-428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Infectious and respiratory illnesses</a:t>
            </a:r>
          </a:p>
          <a:p>
            <a:pPr marR="0" lvl="0" algn="l" defTabSz="914400" rtl="0" eaLnBrk="1" fontAlgn="auto" latinLnBrk="0" hangingPunct="1">
              <a:lnSpc>
                <a:spcPct val="100000"/>
              </a:lnSpc>
              <a:spcBef>
                <a:spcPts val="1800"/>
              </a:spcBef>
              <a:spcAft>
                <a:spcPts val="0"/>
              </a:spcAft>
              <a:buClrTx/>
              <a:buSzTx/>
              <a:tabLst/>
              <a:defRPr/>
            </a:pPr>
            <a:r>
              <a:rPr kumimoji="0" lang="en-GB" sz="2800"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Agriculture</a:t>
            </a:r>
          </a:p>
          <a:p>
            <a:pPr marL="1114425" marR="0" lvl="1" indent="-428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Crop yields</a:t>
            </a:r>
          </a:p>
          <a:p>
            <a:pPr marL="1114425" marR="0" lvl="1" indent="-428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Irrigation demands</a:t>
            </a:r>
          </a:p>
          <a:p>
            <a:pPr marR="0" lvl="0" algn="l" defTabSz="914400" rtl="0" eaLnBrk="1" fontAlgn="auto" latinLnBrk="0" hangingPunct="1">
              <a:lnSpc>
                <a:spcPct val="100000"/>
              </a:lnSpc>
              <a:spcBef>
                <a:spcPts val="1800"/>
              </a:spcBef>
              <a:spcAft>
                <a:spcPts val="0"/>
              </a:spcAft>
              <a:buClrTx/>
              <a:buSzTx/>
              <a:tabLst/>
              <a:defRPr/>
            </a:pPr>
            <a:r>
              <a:rPr kumimoji="0" lang="en-GB" sz="2800"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Forests (+ other ecosystems and habitats)</a:t>
            </a:r>
          </a:p>
          <a:p>
            <a:pPr marR="0" lvl="0" algn="l" defTabSz="914400" rtl="0" eaLnBrk="1" fontAlgn="auto" latinLnBrk="0" hangingPunct="1">
              <a:lnSpc>
                <a:spcPct val="100000"/>
              </a:lnSpc>
              <a:spcBef>
                <a:spcPts val="1800"/>
              </a:spcBef>
              <a:spcAft>
                <a:spcPts val="0"/>
              </a:spcAft>
              <a:buClrTx/>
              <a:buSzTx/>
              <a:tabLst/>
              <a:defRPr/>
            </a:pPr>
            <a:r>
              <a:rPr kumimoji="0" lang="en-GB" sz="2800"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Water resources</a:t>
            </a:r>
          </a:p>
          <a:p>
            <a:pPr marL="1114425" marR="0" lvl="1" indent="-428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Increased competition for water</a:t>
            </a:r>
          </a:p>
          <a:p>
            <a:pPr marL="1114425" marR="0" lvl="1" indent="-428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Water quality</a:t>
            </a:r>
          </a:p>
          <a:p>
            <a:pPr marL="1114425" marR="0" lvl="1" indent="-428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Fishing</a:t>
            </a:r>
          </a:p>
          <a:p>
            <a:pPr marR="0" lvl="0" algn="l" defTabSz="914400" rtl="0" eaLnBrk="1" fontAlgn="auto" latinLnBrk="0" hangingPunct="1">
              <a:lnSpc>
                <a:spcPct val="100000"/>
              </a:lnSpc>
              <a:spcBef>
                <a:spcPts val="1800"/>
              </a:spcBef>
              <a:spcAft>
                <a:spcPts val="0"/>
              </a:spcAft>
              <a:buClrTx/>
              <a:buSzTx/>
              <a:tabLst/>
              <a:defRPr/>
            </a:pPr>
            <a:r>
              <a:rPr kumimoji="0" lang="en-GB" sz="2800"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Coastal Areas</a:t>
            </a:r>
          </a:p>
          <a:p>
            <a:pPr marL="1114425" marR="0" lvl="1" indent="-428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Flood risks and increased costs for flood defences.</a:t>
            </a:r>
          </a:p>
          <a:p>
            <a:pPr marL="1114425" marR="0" lvl="1" indent="-4286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Erosion of beaches</a:t>
            </a:r>
          </a:p>
        </p:txBody>
      </p:sp>
      <p:pic>
        <p:nvPicPr>
          <p:cNvPr id="4" name="Picture 3">
            <a:extLst>
              <a:ext uri="{FF2B5EF4-FFF2-40B4-BE49-F238E27FC236}">
                <a16:creationId xmlns:a16="http://schemas.microsoft.com/office/drawing/2014/main" id="{3615B635-3DE7-C539-13E0-4623395EBA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97419" y="6022762"/>
            <a:ext cx="4849741" cy="3794097"/>
          </a:xfrm>
          <a:prstGeom prst="rect">
            <a:avLst/>
          </a:prstGeom>
        </p:spPr>
      </p:pic>
      <p:pic>
        <p:nvPicPr>
          <p:cNvPr id="6" name="Picture 5" descr="A picture containing outdoor, water, house&#10;&#10;Description automatically generated">
            <a:extLst>
              <a:ext uri="{FF2B5EF4-FFF2-40B4-BE49-F238E27FC236}">
                <a16:creationId xmlns:a16="http://schemas.microsoft.com/office/drawing/2014/main" id="{62577CB7-F00B-E953-1F15-EC6146F98BA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697419" y="2221992"/>
            <a:ext cx="4849741" cy="3639514"/>
          </a:xfrm>
          <a:prstGeom prst="rect">
            <a:avLst/>
          </a:prstGeom>
        </p:spPr>
      </p:pic>
    </p:spTree>
    <p:extLst>
      <p:ext uri="{BB962C8B-B14F-4D97-AF65-F5344CB8AC3E}">
        <p14:creationId xmlns:p14="http://schemas.microsoft.com/office/powerpoint/2010/main" val="2721622384"/>
      </p:ext>
    </p:extLst>
  </p:cSld>
  <p:clrMapOvr>
    <a:masterClrMapping/>
  </p:clrMapOvr>
  <mc:AlternateContent xmlns:mc="http://schemas.openxmlformats.org/markup-compatibility/2006" xmlns:p14="http://schemas.microsoft.com/office/powerpoint/2010/main">
    <mc:Choice Requires="p14">
      <p:transition spd="slow" p14:dur="2000" advTm="13342"/>
    </mc:Choice>
    <mc:Fallback xmlns="">
      <p:transition spd="slow" advTm="13342"/>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3871B-E94F-F3B0-6693-DC3CBA57AE4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4096B08E-C77B-490E-CB91-38F74A58C653}"/>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endParaRPr>
          </a:p>
        </p:txBody>
      </p:sp>
      <p:sp>
        <p:nvSpPr>
          <p:cNvPr id="5" name="TextBox 14">
            <a:extLst>
              <a:ext uri="{FF2B5EF4-FFF2-40B4-BE49-F238E27FC236}">
                <a16:creationId xmlns:a16="http://schemas.microsoft.com/office/drawing/2014/main" id="{C33318AA-C8FE-C52E-9E0D-ED1ABE3A0478}"/>
              </a:ext>
            </a:extLst>
          </p:cNvPr>
          <p:cNvSpPr txBox="1"/>
          <p:nvPr/>
        </p:nvSpPr>
        <p:spPr>
          <a:xfrm>
            <a:off x="584198" y="1591155"/>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600" b="0" i="1" u="none" strike="noStrike" kern="1200" cap="none" spc="-413" normalizeH="0" baseline="0" noProof="0" dirty="0">
                <a:ln>
                  <a:noFill/>
                </a:ln>
                <a:solidFill>
                  <a:srgbClr val="46245A"/>
                </a:solidFill>
                <a:effectLst/>
                <a:uLnTx/>
                <a:uFillTx/>
                <a:latin typeface="Calibri" panose="020F0502020204030204" pitchFamily="34" charset="0"/>
                <a:ea typeface="ＭＳ Ｐゴシック" panose="020B0600070205080204" pitchFamily="34" charset="-128"/>
                <a:cs typeface="Calibri" panose="020F0502020204030204" pitchFamily="34" charset="0"/>
              </a:rPr>
              <a:t>Discussion</a:t>
            </a:r>
          </a:p>
        </p:txBody>
      </p:sp>
      <p:sp>
        <p:nvSpPr>
          <p:cNvPr id="6" name="TextBox 5">
            <a:extLst>
              <a:ext uri="{FF2B5EF4-FFF2-40B4-BE49-F238E27FC236}">
                <a16:creationId xmlns:a16="http://schemas.microsoft.com/office/drawing/2014/main" id="{22DF507C-DF0B-2AC1-C048-9A0811901ACE}"/>
              </a:ext>
            </a:extLst>
          </p:cNvPr>
          <p:cNvSpPr txBox="1"/>
          <p:nvPr/>
        </p:nvSpPr>
        <p:spPr>
          <a:xfrm>
            <a:off x="584198" y="3490734"/>
            <a:ext cx="17325431" cy="4130361"/>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32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Think about the climate change risks and adaptation options facing the UK:</a:t>
            </a:r>
          </a:p>
          <a:p>
            <a:pPr marL="342900" marR="0" lvl="0" indent="-342900" algn="l" defTabSz="914400" rtl="0" eaLnBrk="1" fontAlgn="auto" latinLnBrk="0" hangingPunct="1">
              <a:lnSpc>
                <a:spcPct val="100000"/>
              </a:lnSpc>
              <a:spcBef>
                <a:spcPct val="20000"/>
              </a:spcBef>
              <a:spcAft>
                <a:spcPts val="0"/>
              </a:spcAft>
              <a:buClrTx/>
              <a:buSzTx/>
              <a:buFont typeface="DM Sans" pitchFamily="34" charset="0"/>
              <a:buChar char="•"/>
              <a:tabLst/>
              <a:defRPr/>
            </a:pPr>
            <a:endParaRPr kumimoji="0" lang="en-GB" sz="32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771525" marR="0" lvl="0" indent="-771525" algn="l" defTabSz="914400" rtl="0" eaLnBrk="1" fontAlgn="auto" latinLnBrk="0" hangingPunct="1">
              <a:lnSpc>
                <a:spcPct val="100000"/>
              </a:lnSpc>
              <a:spcBef>
                <a:spcPct val="20000"/>
              </a:spcBef>
              <a:spcAft>
                <a:spcPts val="0"/>
              </a:spcAft>
              <a:buClrTx/>
              <a:buSzTx/>
              <a:buFont typeface="DM Sans" pitchFamily="34" charset="0"/>
              <a:buAutoNum type="arabicPeriod"/>
              <a:tabLst/>
              <a:defRPr/>
            </a:pPr>
            <a:r>
              <a:rPr kumimoji="0" lang="en-GB" sz="32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What are the main climate change risks?</a:t>
            </a:r>
          </a:p>
          <a:p>
            <a:pPr marL="771525" marR="0" lvl="0" indent="-771525" algn="l" defTabSz="914400" rtl="0" eaLnBrk="1" fontAlgn="auto" latinLnBrk="0" hangingPunct="1">
              <a:lnSpc>
                <a:spcPct val="100000"/>
              </a:lnSpc>
              <a:spcBef>
                <a:spcPct val="20000"/>
              </a:spcBef>
              <a:spcAft>
                <a:spcPts val="0"/>
              </a:spcAft>
              <a:buClrTx/>
              <a:buSzTx/>
              <a:buFont typeface="DM Sans" pitchFamily="34" charset="0"/>
              <a:buAutoNum type="arabicPeriod"/>
              <a:tabLst/>
              <a:defRPr/>
            </a:pPr>
            <a:endParaRPr kumimoji="0" lang="en-GB" sz="32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771525" marR="0" lvl="0" indent="-771525" algn="l" defTabSz="914400" rtl="0" eaLnBrk="1" fontAlgn="auto" latinLnBrk="0" hangingPunct="1">
              <a:lnSpc>
                <a:spcPct val="100000"/>
              </a:lnSpc>
              <a:spcBef>
                <a:spcPct val="20000"/>
              </a:spcBef>
              <a:spcAft>
                <a:spcPts val="0"/>
              </a:spcAft>
              <a:buClrTx/>
              <a:buSzTx/>
              <a:buFont typeface="DM Sans" pitchFamily="34" charset="0"/>
              <a:buAutoNum type="arabicPeriod"/>
              <a:tabLst/>
              <a:defRPr/>
            </a:pPr>
            <a:r>
              <a:rPr kumimoji="0" lang="en-GB" sz="32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What information is required for adaptation planning?</a:t>
            </a:r>
          </a:p>
          <a:p>
            <a:pPr marL="771525" marR="0" lvl="0" indent="-771525" algn="l" defTabSz="914400" rtl="0" eaLnBrk="1" fontAlgn="auto" latinLnBrk="0" hangingPunct="1">
              <a:lnSpc>
                <a:spcPct val="100000"/>
              </a:lnSpc>
              <a:spcBef>
                <a:spcPct val="20000"/>
              </a:spcBef>
              <a:spcAft>
                <a:spcPts val="0"/>
              </a:spcAft>
              <a:buClrTx/>
              <a:buSzTx/>
              <a:buFont typeface="DM Sans" pitchFamily="34" charset="0"/>
              <a:buAutoNum type="arabicPeriod"/>
              <a:tabLst/>
              <a:defRPr/>
            </a:pPr>
            <a:endParaRPr kumimoji="0" lang="en-GB" sz="32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771525" marR="0" lvl="0" indent="-771525" algn="l" defTabSz="914400" rtl="0" eaLnBrk="1" fontAlgn="auto" latinLnBrk="0" hangingPunct="1">
              <a:lnSpc>
                <a:spcPct val="100000"/>
              </a:lnSpc>
              <a:spcBef>
                <a:spcPct val="20000"/>
              </a:spcBef>
              <a:spcAft>
                <a:spcPts val="0"/>
              </a:spcAft>
              <a:buClrTx/>
              <a:buSzTx/>
              <a:buFont typeface="DM Sans" pitchFamily="34" charset="0"/>
              <a:buAutoNum type="arabicPeriod"/>
              <a:tabLst/>
              <a:defRPr/>
            </a:pPr>
            <a:r>
              <a:rPr kumimoji="0" lang="en-GB" sz="32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What measures could be put in place?</a:t>
            </a:r>
          </a:p>
        </p:txBody>
      </p:sp>
    </p:spTree>
    <p:extLst>
      <p:ext uri="{BB962C8B-B14F-4D97-AF65-F5344CB8AC3E}">
        <p14:creationId xmlns:p14="http://schemas.microsoft.com/office/powerpoint/2010/main" val="42621933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sp>
        <p:nvSpPr>
          <p:cNvPr id="7" name="TextBox 5">
            <a:extLst>
              <a:ext uri="{FF2B5EF4-FFF2-40B4-BE49-F238E27FC236}">
                <a16:creationId xmlns:a16="http://schemas.microsoft.com/office/drawing/2014/main" id="{BF7F62C6-8022-424A-B99F-4E0B8D5AE66F}"/>
              </a:ext>
            </a:extLst>
          </p:cNvPr>
          <p:cNvSpPr txBox="1"/>
          <p:nvPr/>
        </p:nvSpPr>
        <p:spPr>
          <a:xfrm>
            <a:off x="1143000" y="1499819"/>
            <a:ext cx="15725274" cy="2538708"/>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Climate </a:t>
            </a:r>
            <a:r>
              <a:rPr lang="en-US" sz="4800" b="1" dirty="0">
                <a:solidFill>
                  <a:srgbClr val="46245A"/>
                </a:solidFill>
                <a:latin typeface="DM Sans" pitchFamily="2" charset="0"/>
              </a:rPr>
              <a:t>C</a:t>
            </a:r>
            <a:r>
              <a:rPr kumimoji="0" lang="en-US" sz="4800" b="1" i="0" u="none" strike="noStrike" kern="1200" cap="none" spc="0" normalizeH="0" baseline="0" noProof="0" dirty="0" err="1">
                <a:ln>
                  <a:noFill/>
                </a:ln>
                <a:solidFill>
                  <a:srgbClr val="46245A"/>
                </a:solidFill>
                <a:effectLst/>
                <a:uLnTx/>
                <a:uFillTx/>
                <a:latin typeface="DM Sans" pitchFamily="2" charset="0"/>
                <a:ea typeface="+mn-ea"/>
                <a:cs typeface="+mn-cs"/>
              </a:rPr>
              <a:t>hange</a:t>
            </a: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 Vulnerability </a:t>
            </a:r>
          </a:p>
          <a:p>
            <a:pPr marL="0" marR="0" lvl="0" indent="0" algn="l" defTabSz="914400" rtl="0" eaLnBrk="1" fontAlgn="auto" latinLnBrk="0" hangingPunct="1">
              <a:lnSpc>
                <a:spcPts val="6719"/>
              </a:lnSpc>
              <a:spcBef>
                <a:spcPts val="0"/>
              </a:spcBef>
              <a:spcAft>
                <a:spcPts val="0"/>
              </a:spcAft>
              <a:buClrTx/>
              <a:buSzTx/>
              <a:buFontTx/>
              <a:buNone/>
              <a:tabLst/>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a:p>
            <a:pPr marL="0" marR="0" lvl="0" indent="0" algn="l" defTabSz="914400" rtl="0" eaLnBrk="1" fontAlgn="auto" latinLnBrk="0" hangingPunct="1">
              <a:lnSpc>
                <a:spcPts val="6719"/>
              </a:lnSpc>
              <a:spcBef>
                <a:spcPts val="0"/>
              </a:spcBef>
              <a:spcAft>
                <a:spcPts val="0"/>
              </a:spcAft>
              <a:buClrTx/>
              <a:buSzTx/>
              <a:buFontTx/>
              <a:buNone/>
              <a:tabLst/>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p:txBody>
      </p:sp>
      <p:pic>
        <p:nvPicPr>
          <p:cNvPr id="5" name="Picture 4">
            <a:extLst>
              <a:ext uri="{FF2B5EF4-FFF2-40B4-BE49-F238E27FC236}">
                <a16:creationId xmlns:a16="http://schemas.microsoft.com/office/drawing/2014/main" id="{D9ACC30B-D209-1C51-6E4B-361BFFA06EBF}"/>
              </a:ext>
            </a:extLst>
          </p:cNvPr>
          <p:cNvPicPr>
            <a:picLocks noChangeAspect="1"/>
          </p:cNvPicPr>
          <p:nvPr/>
        </p:nvPicPr>
        <p:blipFill>
          <a:blip r:embed="rId5"/>
          <a:stretch>
            <a:fillRect/>
          </a:stretch>
        </p:blipFill>
        <p:spPr>
          <a:xfrm>
            <a:off x="1004639" y="2501782"/>
            <a:ext cx="9329468" cy="5794585"/>
          </a:xfrm>
          <a:prstGeom prst="rect">
            <a:avLst/>
          </a:prstGeom>
        </p:spPr>
      </p:pic>
      <p:sp>
        <p:nvSpPr>
          <p:cNvPr id="11" name="TextBox 10">
            <a:extLst>
              <a:ext uri="{FF2B5EF4-FFF2-40B4-BE49-F238E27FC236}">
                <a16:creationId xmlns:a16="http://schemas.microsoft.com/office/drawing/2014/main" id="{577A47DA-29B9-6E39-3D45-D0375EAB5923}"/>
              </a:ext>
            </a:extLst>
          </p:cNvPr>
          <p:cNvSpPr txBox="1"/>
          <p:nvPr/>
        </p:nvSpPr>
        <p:spPr>
          <a:xfrm>
            <a:off x="12945034" y="9799495"/>
            <a:ext cx="6277643" cy="369332"/>
          </a:xfrm>
          <a:prstGeom prst="rect">
            <a:avLst/>
          </a:prstGeom>
          <a:noFill/>
        </p:spPr>
        <p:txBody>
          <a:bodyPr wrap="square" rtlCol="0">
            <a:spAutoFit/>
          </a:bodyPr>
          <a:lstStyle/>
          <a:p>
            <a:r>
              <a:rPr lang="en-GB" dirty="0"/>
              <a:t>Figure TS.1, AR5 WG2 technical summary report</a:t>
            </a:r>
          </a:p>
        </p:txBody>
      </p:sp>
      <p:sp>
        <p:nvSpPr>
          <p:cNvPr id="4" name="TextBox 3">
            <a:extLst>
              <a:ext uri="{FF2B5EF4-FFF2-40B4-BE49-F238E27FC236}">
                <a16:creationId xmlns:a16="http://schemas.microsoft.com/office/drawing/2014/main" id="{BF389605-560C-877D-D30A-0D98EF20163A}"/>
              </a:ext>
            </a:extLst>
          </p:cNvPr>
          <p:cNvSpPr txBox="1"/>
          <p:nvPr/>
        </p:nvSpPr>
        <p:spPr>
          <a:xfrm>
            <a:off x="10619140" y="3506248"/>
            <a:ext cx="7503969" cy="3785652"/>
          </a:xfrm>
          <a:prstGeom prst="rect">
            <a:avLst/>
          </a:prstGeom>
          <a:noFill/>
        </p:spPr>
        <p:txBody>
          <a:bodyPr wrap="square">
            <a:spAutoFit/>
          </a:bodyPr>
          <a:lstStyle/>
          <a:p>
            <a:r>
              <a:rPr lang="en-GB" sz="2400" b="1" dirty="0">
                <a:effectLst/>
                <a:latin typeface="Calibri" panose="020F0502020204030204" pitchFamily="34" charset="0"/>
                <a:ea typeface="Times New Roman" panose="02020603050405020304" pitchFamily="18" charset="0"/>
                <a:cs typeface="Calibri" panose="020F0502020204030204" pitchFamily="34" charset="0"/>
              </a:rPr>
              <a:t>Impacts</a:t>
            </a:r>
            <a:r>
              <a:rPr lang="en-GB" sz="2400" dirty="0">
                <a:effectLst/>
                <a:latin typeface="Calibri" panose="020F0502020204030204" pitchFamily="34" charset="0"/>
                <a:ea typeface="Times New Roman" panose="02020603050405020304" pitchFamily="18" charset="0"/>
                <a:cs typeface="Calibri" panose="020F0502020204030204" pitchFamily="34" charset="0"/>
              </a:rPr>
              <a:t>: used primarily to refer to the effects on natural and human systems of extreme weather and climate events and of climate change. </a:t>
            </a:r>
          </a:p>
          <a:p>
            <a:endParaRPr lang="en-GB" sz="2400" dirty="0">
              <a:latin typeface="Calibri" panose="020F0502020204030204" pitchFamily="34" charset="0"/>
              <a:ea typeface="Times New Roman" panose="02020603050405020304" pitchFamily="18" charset="0"/>
              <a:cs typeface="Calibri" panose="020F0502020204030204" pitchFamily="34" charset="0"/>
            </a:endParaRPr>
          </a:p>
          <a:p>
            <a:r>
              <a:rPr lang="en-GB" sz="2400" dirty="0">
                <a:effectLst/>
                <a:latin typeface="Calibri" panose="020F0502020204030204" pitchFamily="34" charset="0"/>
                <a:ea typeface="Times New Roman" panose="02020603050405020304" pitchFamily="18" charset="0"/>
                <a:cs typeface="Calibri" panose="020F0502020204030204" pitchFamily="34" charset="0"/>
              </a:rPr>
              <a:t>Impacts generally refer to effects on lives, livelihoods, health, ecosystems, economies, societies, cultures, services, and infrastructure due to the interaction of climate changes or hazardous climate events occurring within a specific time period and the vulnerability of an exposed society or system. </a:t>
            </a:r>
          </a:p>
        </p:txBody>
      </p:sp>
    </p:spTree>
    <p:extLst>
      <p:ext uri="{BB962C8B-B14F-4D97-AF65-F5344CB8AC3E}">
        <p14:creationId xmlns:p14="http://schemas.microsoft.com/office/powerpoint/2010/main" val="2829128404"/>
      </p:ext>
    </p:extLst>
  </p:cSld>
  <p:clrMapOvr>
    <a:masterClrMapping/>
  </p:clrMapOvr>
  <mc:AlternateContent xmlns:mc="http://schemas.openxmlformats.org/markup-compatibility/2006" xmlns:p14="http://schemas.microsoft.com/office/powerpoint/2010/main">
    <mc:Choice Requires="p14">
      <p:transition spd="slow" p14:dur="2000" advTm="2665"/>
    </mc:Choice>
    <mc:Fallback xmlns="">
      <p:transition spd="slow" advTm="2665"/>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sp>
        <p:nvSpPr>
          <p:cNvPr id="7" name="TextBox 5">
            <a:extLst>
              <a:ext uri="{FF2B5EF4-FFF2-40B4-BE49-F238E27FC236}">
                <a16:creationId xmlns:a16="http://schemas.microsoft.com/office/drawing/2014/main" id="{BF7F62C6-8022-424A-B99F-4E0B8D5AE66F}"/>
              </a:ext>
            </a:extLst>
          </p:cNvPr>
          <p:cNvSpPr txBox="1"/>
          <p:nvPr/>
        </p:nvSpPr>
        <p:spPr>
          <a:xfrm>
            <a:off x="1143000" y="1499819"/>
            <a:ext cx="15725274" cy="2538708"/>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Climate </a:t>
            </a:r>
            <a:r>
              <a:rPr lang="en-US" sz="4800" b="1" dirty="0">
                <a:solidFill>
                  <a:srgbClr val="46245A"/>
                </a:solidFill>
                <a:latin typeface="DM Sans" pitchFamily="2" charset="0"/>
              </a:rPr>
              <a:t>C</a:t>
            </a:r>
            <a:r>
              <a:rPr kumimoji="0" lang="en-US" sz="4800" b="1" i="0" u="none" strike="noStrike" kern="1200" cap="none" spc="0" normalizeH="0" baseline="0" noProof="0" dirty="0" err="1">
                <a:ln>
                  <a:noFill/>
                </a:ln>
                <a:solidFill>
                  <a:srgbClr val="46245A"/>
                </a:solidFill>
                <a:effectLst/>
                <a:uLnTx/>
                <a:uFillTx/>
                <a:latin typeface="DM Sans" pitchFamily="2" charset="0"/>
                <a:ea typeface="+mn-ea"/>
                <a:cs typeface="+mn-cs"/>
              </a:rPr>
              <a:t>hange</a:t>
            </a: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 Vulnerability </a:t>
            </a:r>
          </a:p>
          <a:p>
            <a:pPr marL="0" marR="0" lvl="0" indent="0" algn="l" defTabSz="914400" rtl="0" eaLnBrk="1" fontAlgn="auto" latinLnBrk="0" hangingPunct="1">
              <a:lnSpc>
                <a:spcPts val="6719"/>
              </a:lnSpc>
              <a:spcBef>
                <a:spcPts val="0"/>
              </a:spcBef>
              <a:spcAft>
                <a:spcPts val="0"/>
              </a:spcAft>
              <a:buClrTx/>
              <a:buSzTx/>
              <a:buFontTx/>
              <a:buNone/>
              <a:tabLst/>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a:p>
            <a:pPr marL="0" marR="0" lvl="0" indent="0" algn="l" defTabSz="914400" rtl="0" eaLnBrk="1" fontAlgn="auto" latinLnBrk="0" hangingPunct="1">
              <a:lnSpc>
                <a:spcPts val="6719"/>
              </a:lnSpc>
              <a:spcBef>
                <a:spcPts val="0"/>
              </a:spcBef>
              <a:spcAft>
                <a:spcPts val="0"/>
              </a:spcAft>
              <a:buClrTx/>
              <a:buSzTx/>
              <a:buFontTx/>
              <a:buNone/>
              <a:tabLst/>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p:txBody>
      </p:sp>
      <p:pic>
        <p:nvPicPr>
          <p:cNvPr id="5" name="Picture 4">
            <a:extLst>
              <a:ext uri="{FF2B5EF4-FFF2-40B4-BE49-F238E27FC236}">
                <a16:creationId xmlns:a16="http://schemas.microsoft.com/office/drawing/2014/main" id="{D9ACC30B-D209-1C51-6E4B-361BFFA06EBF}"/>
              </a:ext>
            </a:extLst>
          </p:cNvPr>
          <p:cNvPicPr>
            <a:picLocks noChangeAspect="1"/>
          </p:cNvPicPr>
          <p:nvPr/>
        </p:nvPicPr>
        <p:blipFill>
          <a:blip r:embed="rId5"/>
          <a:stretch>
            <a:fillRect/>
          </a:stretch>
        </p:blipFill>
        <p:spPr>
          <a:xfrm>
            <a:off x="1004639" y="2501782"/>
            <a:ext cx="9329468" cy="5794585"/>
          </a:xfrm>
          <a:prstGeom prst="rect">
            <a:avLst/>
          </a:prstGeom>
        </p:spPr>
      </p:pic>
      <p:sp>
        <p:nvSpPr>
          <p:cNvPr id="9" name="Oval 8">
            <a:extLst>
              <a:ext uri="{FF2B5EF4-FFF2-40B4-BE49-F238E27FC236}">
                <a16:creationId xmlns:a16="http://schemas.microsoft.com/office/drawing/2014/main" id="{7F4A4ABD-CC80-369C-36D6-0ADBCF46B4E3}"/>
              </a:ext>
            </a:extLst>
          </p:cNvPr>
          <p:cNvSpPr/>
          <p:nvPr/>
        </p:nvSpPr>
        <p:spPr>
          <a:xfrm>
            <a:off x="3869392" y="4850343"/>
            <a:ext cx="1602455" cy="97545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700"/>
          </a:p>
        </p:txBody>
      </p:sp>
      <p:sp>
        <p:nvSpPr>
          <p:cNvPr id="11" name="TextBox 10">
            <a:extLst>
              <a:ext uri="{FF2B5EF4-FFF2-40B4-BE49-F238E27FC236}">
                <a16:creationId xmlns:a16="http://schemas.microsoft.com/office/drawing/2014/main" id="{577A47DA-29B9-6E39-3D45-D0375EAB5923}"/>
              </a:ext>
            </a:extLst>
          </p:cNvPr>
          <p:cNvSpPr txBox="1"/>
          <p:nvPr/>
        </p:nvSpPr>
        <p:spPr>
          <a:xfrm>
            <a:off x="12945034" y="9799495"/>
            <a:ext cx="6277643" cy="369332"/>
          </a:xfrm>
          <a:prstGeom prst="rect">
            <a:avLst/>
          </a:prstGeom>
          <a:noFill/>
        </p:spPr>
        <p:txBody>
          <a:bodyPr wrap="square" rtlCol="0">
            <a:spAutoFit/>
          </a:bodyPr>
          <a:lstStyle/>
          <a:p>
            <a:r>
              <a:rPr lang="en-GB" dirty="0"/>
              <a:t>Figure TS.1, AR5 WG2 technical summary report</a:t>
            </a:r>
          </a:p>
        </p:txBody>
      </p:sp>
      <p:sp>
        <p:nvSpPr>
          <p:cNvPr id="6" name="TextBox 5">
            <a:extLst>
              <a:ext uri="{FF2B5EF4-FFF2-40B4-BE49-F238E27FC236}">
                <a16:creationId xmlns:a16="http://schemas.microsoft.com/office/drawing/2014/main" id="{19A87EDB-BBFE-B3F8-814C-3ECEF90D9F9E}"/>
              </a:ext>
            </a:extLst>
          </p:cNvPr>
          <p:cNvSpPr txBox="1"/>
          <p:nvPr/>
        </p:nvSpPr>
        <p:spPr>
          <a:xfrm>
            <a:off x="10472468" y="3085255"/>
            <a:ext cx="7425788" cy="2462213"/>
          </a:xfrm>
          <a:prstGeom prst="rect">
            <a:avLst/>
          </a:prstGeom>
          <a:noFill/>
        </p:spPr>
        <p:txBody>
          <a:bodyPr wrap="square">
            <a:spAutoFit/>
          </a:bodyPr>
          <a:lstStyle/>
          <a:p>
            <a:r>
              <a:rPr lang="en-GB" sz="2800" b="1" dirty="0">
                <a:solidFill>
                  <a:srgbClr val="FF0000"/>
                </a:solidFill>
                <a:latin typeface="Calibri" panose="020F0502020204030204" pitchFamily="34" charset="0"/>
                <a:cs typeface="Calibri" panose="020F0502020204030204" pitchFamily="34" charset="0"/>
              </a:rPr>
              <a:t>Hazards</a:t>
            </a:r>
          </a:p>
          <a:p>
            <a:r>
              <a:rPr lang="en-GB" sz="2400" dirty="0">
                <a:latin typeface="Calibri" panose="020F0502020204030204" pitchFamily="34" charset="0"/>
                <a:cs typeface="Calibri" panose="020F0502020204030204" pitchFamily="34" charset="0"/>
              </a:rPr>
              <a:t>What hazards are you exposed to? (floods, extreme rain/heat, droughts, storms, etc.)</a:t>
            </a:r>
          </a:p>
          <a:p>
            <a:r>
              <a:rPr lang="en-GB" sz="2400" dirty="0">
                <a:latin typeface="Calibri" panose="020F0502020204030204" pitchFamily="34" charset="0"/>
                <a:cs typeface="Calibri" panose="020F0502020204030204" pitchFamily="34" charset="0"/>
              </a:rPr>
              <a:t>How are these hazards changing due to climate change?</a:t>
            </a:r>
          </a:p>
          <a:p>
            <a:endParaRPr lang="en-GB" sz="1800" dirty="0">
              <a:latin typeface="Calibri" panose="020F0502020204030204" pitchFamily="34" charset="0"/>
              <a:cs typeface="Calibri" panose="020F0502020204030204" pitchFamily="34" charset="0"/>
            </a:endParaRPr>
          </a:p>
          <a:p>
            <a:pPr marL="428625" indent="-428625">
              <a:buFont typeface="Arial" panose="020B0604020202020204" pitchFamily="34" charset="0"/>
              <a:buChar char="•"/>
            </a:pPr>
            <a:endParaRPr lang="en-GB" dirty="0">
              <a:latin typeface="Calibri" panose="020F0502020204030204" pitchFamily="34" charset="0"/>
              <a:cs typeface="Calibri" panose="020F0502020204030204" pitchFamily="34" charset="0"/>
            </a:endParaRPr>
          </a:p>
          <a:p>
            <a:pPr marL="428625" indent="-428625">
              <a:buFont typeface="Arial" panose="020B0604020202020204" pitchFamily="34" charset="0"/>
              <a:buChar char="•"/>
            </a:pPr>
            <a:endParaRPr lang="en-GB"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30863694"/>
      </p:ext>
    </p:extLst>
  </p:cSld>
  <p:clrMapOvr>
    <a:masterClrMapping/>
  </p:clrMapOvr>
  <mc:AlternateContent xmlns:mc="http://schemas.openxmlformats.org/markup-compatibility/2006" xmlns:p14="http://schemas.microsoft.com/office/powerpoint/2010/main">
    <mc:Choice Requires="p14">
      <p:transition spd="slow" p14:dur="2000" advTm="519"/>
    </mc:Choice>
    <mc:Fallback xmlns="">
      <p:transition spd="slow" advTm="519"/>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pic>
        <p:nvPicPr>
          <p:cNvPr id="5" name="Picture 4">
            <a:extLst>
              <a:ext uri="{FF2B5EF4-FFF2-40B4-BE49-F238E27FC236}">
                <a16:creationId xmlns:a16="http://schemas.microsoft.com/office/drawing/2014/main" id="{D9ACC30B-D209-1C51-6E4B-361BFFA06EBF}"/>
              </a:ext>
            </a:extLst>
          </p:cNvPr>
          <p:cNvPicPr>
            <a:picLocks noChangeAspect="1"/>
          </p:cNvPicPr>
          <p:nvPr/>
        </p:nvPicPr>
        <p:blipFill>
          <a:blip r:embed="rId5"/>
          <a:stretch>
            <a:fillRect/>
          </a:stretch>
        </p:blipFill>
        <p:spPr>
          <a:xfrm>
            <a:off x="1004639" y="2501782"/>
            <a:ext cx="9329468" cy="5794585"/>
          </a:xfrm>
          <a:prstGeom prst="rect">
            <a:avLst/>
          </a:prstGeom>
        </p:spPr>
      </p:pic>
      <p:sp>
        <p:nvSpPr>
          <p:cNvPr id="9" name="Oval 8">
            <a:extLst>
              <a:ext uri="{FF2B5EF4-FFF2-40B4-BE49-F238E27FC236}">
                <a16:creationId xmlns:a16="http://schemas.microsoft.com/office/drawing/2014/main" id="{7F4A4ABD-CC80-369C-36D6-0ADBCF46B4E3}"/>
              </a:ext>
            </a:extLst>
          </p:cNvPr>
          <p:cNvSpPr/>
          <p:nvPr/>
        </p:nvSpPr>
        <p:spPr>
          <a:xfrm>
            <a:off x="5926792" y="6088593"/>
            <a:ext cx="1602455" cy="97545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700"/>
          </a:p>
        </p:txBody>
      </p:sp>
      <p:sp>
        <p:nvSpPr>
          <p:cNvPr id="2" name="TextBox 1">
            <a:extLst>
              <a:ext uri="{FF2B5EF4-FFF2-40B4-BE49-F238E27FC236}">
                <a16:creationId xmlns:a16="http://schemas.microsoft.com/office/drawing/2014/main" id="{81D4268F-6ED2-64A0-6C2D-6BC3E46796EA}"/>
              </a:ext>
            </a:extLst>
          </p:cNvPr>
          <p:cNvSpPr txBox="1"/>
          <p:nvPr/>
        </p:nvSpPr>
        <p:spPr>
          <a:xfrm>
            <a:off x="12945034" y="9799495"/>
            <a:ext cx="6277643" cy="369332"/>
          </a:xfrm>
          <a:prstGeom prst="rect">
            <a:avLst/>
          </a:prstGeom>
          <a:noFill/>
        </p:spPr>
        <p:txBody>
          <a:bodyPr wrap="square" rtlCol="0">
            <a:spAutoFit/>
          </a:bodyPr>
          <a:lstStyle/>
          <a:p>
            <a:r>
              <a:rPr lang="en-GB" dirty="0"/>
              <a:t>Figure TS.1, AR5 WG2 technical summary report</a:t>
            </a:r>
          </a:p>
        </p:txBody>
      </p:sp>
      <p:sp>
        <p:nvSpPr>
          <p:cNvPr id="6" name="TextBox 5">
            <a:extLst>
              <a:ext uri="{FF2B5EF4-FFF2-40B4-BE49-F238E27FC236}">
                <a16:creationId xmlns:a16="http://schemas.microsoft.com/office/drawing/2014/main" id="{0FECC993-3924-A975-F9EE-9E592EC6E088}"/>
              </a:ext>
            </a:extLst>
          </p:cNvPr>
          <p:cNvSpPr txBox="1"/>
          <p:nvPr/>
        </p:nvSpPr>
        <p:spPr>
          <a:xfrm>
            <a:off x="1143000" y="1499819"/>
            <a:ext cx="15725274" cy="2538708"/>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Climate </a:t>
            </a:r>
            <a:r>
              <a:rPr lang="en-US" sz="4800" b="1" dirty="0">
                <a:solidFill>
                  <a:srgbClr val="46245A"/>
                </a:solidFill>
                <a:latin typeface="DM Sans" pitchFamily="2" charset="0"/>
              </a:rPr>
              <a:t>C</a:t>
            </a:r>
            <a:r>
              <a:rPr kumimoji="0" lang="en-US" sz="4800" b="1" i="0" u="none" strike="noStrike" kern="1200" cap="none" spc="0" normalizeH="0" baseline="0" noProof="0" dirty="0" err="1">
                <a:ln>
                  <a:noFill/>
                </a:ln>
                <a:solidFill>
                  <a:srgbClr val="46245A"/>
                </a:solidFill>
                <a:effectLst/>
                <a:uLnTx/>
                <a:uFillTx/>
                <a:latin typeface="DM Sans" pitchFamily="2" charset="0"/>
                <a:ea typeface="+mn-ea"/>
                <a:cs typeface="+mn-cs"/>
              </a:rPr>
              <a:t>hange</a:t>
            </a: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 Vulnerability </a:t>
            </a:r>
          </a:p>
          <a:p>
            <a:pPr marL="0" marR="0" lvl="0" indent="0" algn="l" defTabSz="914400" rtl="0" eaLnBrk="1" fontAlgn="auto" latinLnBrk="0" hangingPunct="1">
              <a:lnSpc>
                <a:spcPts val="6719"/>
              </a:lnSpc>
              <a:spcBef>
                <a:spcPts val="0"/>
              </a:spcBef>
              <a:spcAft>
                <a:spcPts val="0"/>
              </a:spcAft>
              <a:buClrTx/>
              <a:buSzTx/>
              <a:buFontTx/>
              <a:buNone/>
              <a:tabLst/>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a:p>
            <a:pPr marL="0" marR="0" lvl="0" indent="0" algn="l" defTabSz="914400" rtl="0" eaLnBrk="1" fontAlgn="auto" latinLnBrk="0" hangingPunct="1">
              <a:lnSpc>
                <a:spcPts val="6719"/>
              </a:lnSpc>
              <a:spcBef>
                <a:spcPts val="0"/>
              </a:spcBef>
              <a:spcAft>
                <a:spcPts val="0"/>
              </a:spcAft>
              <a:buClrTx/>
              <a:buSzTx/>
              <a:buFontTx/>
              <a:buNone/>
              <a:tabLst/>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7" name="TextBox 6">
            <a:extLst>
              <a:ext uri="{FF2B5EF4-FFF2-40B4-BE49-F238E27FC236}">
                <a16:creationId xmlns:a16="http://schemas.microsoft.com/office/drawing/2014/main" id="{2A64AF2B-6545-63F0-DC64-3DA987397F1A}"/>
              </a:ext>
            </a:extLst>
          </p:cNvPr>
          <p:cNvSpPr txBox="1"/>
          <p:nvPr/>
        </p:nvSpPr>
        <p:spPr>
          <a:xfrm>
            <a:off x="10472468" y="3085255"/>
            <a:ext cx="7425788" cy="4370427"/>
          </a:xfrm>
          <a:prstGeom prst="rect">
            <a:avLst/>
          </a:prstGeom>
          <a:noFill/>
        </p:spPr>
        <p:txBody>
          <a:bodyPr wrap="square">
            <a:spAutoFit/>
          </a:bodyPr>
          <a:lstStyle/>
          <a:p>
            <a:r>
              <a:rPr lang="en-GB" sz="2800" b="1" dirty="0">
                <a:latin typeface="Calibri" panose="020F0502020204030204" pitchFamily="34" charset="0"/>
                <a:cs typeface="Calibri" panose="020F0502020204030204" pitchFamily="34" charset="0"/>
              </a:rPr>
              <a:t>Hazards</a:t>
            </a:r>
          </a:p>
          <a:p>
            <a:r>
              <a:rPr lang="en-GB" sz="2400" dirty="0">
                <a:latin typeface="Calibri" panose="020F0502020204030204" pitchFamily="34" charset="0"/>
                <a:cs typeface="Calibri" panose="020F0502020204030204" pitchFamily="34" charset="0"/>
              </a:rPr>
              <a:t>What hazards are you exposed to? (floods, extreme rain/heat, droughts, storms, etc.)</a:t>
            </a:r>
          </a:p>
          <a:p>
            <a:r>
              <a:rPr lang="en-GB" sz="2400" dirty="0">
                <a:latin typeface="Calibri" panose="020F0502020204030204" pitchFamily="34" charset="0"/>
                <a:cs typeface="Calibri" panose="020F0502020204030204" pitchFamily="34" charset="0"/>
              </a:rPr>
              <a:t>How are these hazards changing due to climate change?</a:t>
            </a:r>
          </a:p>
          <a:p>
            <a:pPr marL="428625" indent="-428625">
              <a:buFont typeface="Arial" panose="020B0604020202020204" pitchFamily="34" charset="0"/>
              <a:buChar char="•"/>
            </a:pPr>
            <a:endParaRPr lang="en-GB" sz="2400" dirty="0">
              <a:latin typeface="Calibri" panose="020F0502020204030204" pitchFamily="34" charset="0"/>
              <a:cs typeface="Calibri" panose="020F0502020204030204" pitchFamily="34" charset="0"/>
            </a:endParaRPr>
          </a:p>
          <a:p>
            <a:r>
              <a:rPr lang="en-GB" sz="2800" b="1" dirty="0">
                <a:solidFill>
                  <a:srgbClr val="FF0000"/>
                </a:solidFill>
                <a:latin typeface="Calibri" panose="020F0502020204030204" pitchFamily="34" charset="0"/>
                <a:cs typeface="Calibri" panose="020F0502020204030204" pitchFamily="34" charset="0"/>
              </a:rPr>
              <a:t>Exposure</a:t>
            </a:r>
          </a:p>
          <a:p>
            <a:r>
              <a:rPr lang="en-GB" sz="2400" dirty="0">
                <a:latin typeface="Calibri" panose="020F0502020204030204" pitchFamily="34" charset="0"/>
                <a:cs typeface="Calibri" panose="020F0502020204030204" pitchFamily="34" charset="0"/>
              </a:rPr>
              <a:t>Presence of people, infrastructure, ecosystems and other social, cultural or economic systems.</a:t>
            </a:r>
          </a:p>
          <a:p>
            <a:endParaRPr lang="en-GB" sz="2400" dirty="0">
              <a:latin typeface="Calibri" panose="020F0502020204030204" pitchFamily="34" charset="0"/>
              <a:cs typeface="Calibri" panose="020F0502020204030204" pitchFamily="34" charset="0"/>
            </a:endParaRPr>
          </a:p>
          <a:p>
            <a:endParaRPr lang="en-GB" sz="1800" dirty="0">
              <a:latin typeface="Calibri" panose="020F0502020204030204" pitchFamily="34" charset="0"/>
              <a:cs typeface="Calibri" panose="020F0502020204030204" pitchFamily="34" charset="0"/>
            </a:endParaRPr>
          </a:p>
          <a:p>
            <a:pPr marL="428625" indent="-428625">
              <a:buFont typeface="Arial" panose="020B0604020202020204" pitchFamily="34" charset="0"/>
              <a:buChar char="•"/>
            </a:pPr>
            <a:endParaRPr lang="en-GB" dirty="0">
              <a:latin typeface="Calibri" panose="020F0502020204030204" pitchFamily="34" charset="0"/>
              <a:cs typeface="Calibri" panose="020F0502020204030204" pitchFamily="34" charset="0"/>
            </a:endParaRPr>
          </a:p>
          <a:p>
            <a:pPr marL="428625" indent="-428625">
              <a:buFont typeface="Arial" panose="020B0604020202020204" pitchFamily="34" charset="0"/>
              <a:buChar char="•"/>
            </a:pPr>
            <a:endParaRPr lang="en-GB"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42758104"/>
      </p:ext>
    </p:extLst>
  </p:cSld>
  <p:clrMapOvr>
    <a:masterClrMapping/>
  </p:clrMapOvr>
  <mc:AlternateContent xmlns:mc="http://schemas.openxmlformats.org/markup-compatibility/2006" xmlns:p14="http://schemas.microsoft.com/office/powerpoint/2010/main">
    <mc:Choice Requires="p14">
      <p:transition spd="slow" p14:dur="2000" advTm="378"/>
    </mc:Choice>
    <mc:Fallback xmlns="">
      <p:transition spd="slow" advTm="378"/>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itle 1">
            <a:extLst>
              <a:ext uri="{FF2B5EF4-FFF2-40B4-BE49-F238E27FC236}">
                <a16:creationId xmlns:a16="http://schemas.microsoft.com/office/drawing/2014/main" id="{4B7C69B6-0ABF-C933-0192-0E484B51F0CC}"/>
              </a:ext>
            </a:extLst>
          </p:cNvPr>
          <p:cNvSpPr txBox="1">
            <a:spLocks/>
          </p:cNvSpPr>
          <p:nvPr/>
        </p:nvSpPr>
        <p:spPr>
          <a:xfrm>
            <a:off x="1749877" y="693575"/>
            <a:ext cx="14024104" cy="119538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DM Sans" pitchFamily="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5100" b="0" i="0" u="none" strike="noStrike" kern="1200" cap="none" spc="0" normalizeH="0" baseline="0" noProof="0" dirty="0">
              <a:ln>
                <a:noFill/>
              </a:ln>
              <a:solidFill>
                <a:prstClr val="black"/>
              </a:solidFill>
              <a:effectLst/>
              <a:uLnTx/>
              <a:uFillTx/>
              <a:latin typeface="DM Sans" pitchFamily="2" charset="0"/>
              <a:ea typeface="+mj-ea"/>
              <a:cs typeface="+mj-cs"/>
            </a:endParaRPr>
          </a:p>
        </p:txBody>
      </p:sp>
      <p:pic>
        <p:nvPicPr>
          <p:cNvPr id="5" name="Picture 4">
            <a:extLst>
              <a:ext uri="{FF2B5EF4-FFF2-40B4-BE49-F238E27FC236}">
                <a16:creationId xmlns:a16="http://schemas.microsoft.com/office/drawing/2014/main" id="{D9ACC30B-D209-1C51-6E4B-361BFFA06EBF}"/>
              </a:ext>
            </a:extLst>
          </p:cNvPr>
          <p:cNvPicPr>
            <a:picLocks noChangeAspect="1"/>
          </p:cNvPicPr>
          <p:nvPr/>
        </p:nvPicPr>
        <p:blipFill>
          <a:blip r:embed="rId5"/>
          <a:stretch>
            <a:fillRect/>
          </a:stretch>
        </p:blipFill>
        <p:spPr>
          <a:xfrm>
            <a:off x="1004639" y="2501782"/>
            <a:ext cx="9329468" cy="5794585"/>
          </a:xfrm>
          <a:prstGeom prst="rect">
            <a:avLst/>
          </a:prstGeom>
        </p:spPr>
      </p:pic>
      <p:sp>
        <p:nvSpPr>
          <p:cNvPr id="9" name="Oval 8">
            <a:extLst>
              <a:ext uri="{FF2B5EF4-FFF2-40B4-BE49-F238E27FC236}">
                <a16:creationId xmlns:a16="http://schemas.microsoft.com/office/drawing/2014/main" id="{7F4A4ABD-CC80-369C-36D6-0ADBCF46B4E3}"/>
              </a:ext>
            </a:extLst>
          </p:cNvPr>
          <p:cNvSpPr/>
          <p:nvPr/>
        </p:nvSpPr>
        <p:spPr>
          <a:xfrm>
            <a:off x="5964892" y="3675895"/>
            <a:ext cx="1602455" cy="97545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700"/>
          </a:p>
        </p:txBody>
      </p:sp>
      <p:sp>
        <p:nvSpPr>
          <p:cNvPr id="2" name="TextBox 1">
            <a:extLst>
              <a:ext uri="{FF2B5EF4-FFF2-40B4-BE49-F238E27FC236}">
                <a16:creationId xmlns:a16="http://schemas.microsoft.com/office/drawing/2014/main" id="{182F19B3-5BAF-AD35-A853-579FB91A22C7}"/>
              </a:ext>
            </a:extLst>
          </p:cNvPr>
          <p:cNvSpPr txBox="1"/>
          <p:nvPr/>
        </p:nvSpPr>
        <p:spPr>
          <a:xfrm>
            <a:off x="12945034" y="9799495"/>
            <a:ext cx="6277643" cy="369332"/>
          </a:xfrm>
          <a:prstGeom prst="rect">
            <a:avLst/>
          </a:prstGeom>
          <a:noFill/>
        </p:spPr>
        <p:txBody>
          <a:bodyPr wrap="square" rtlCol="0">
            <a:spAutoFit/>
          </a:bodyPr>
          <a:lstStyle/>
          <a:p>
            <a:r>
              <a:rPr lang="en-GB" dirty="0"/>
              <a:t>Figure TS.1, AR5 WG2 technical summary report</a:t>
            </a:r>
          </a:p>
        </p:txBody>
      </p:sp>
      <p:sp>
        <p:nvSpPr>
          <p:cNvPr id="6" name="TextBox 5">
            <a:extLst>
              <a:ext uri="{FF2B5EF4-FFF2-40B4-BE49-F238E27FC236}">
                <a16:creationId xmlns:a16="http://schemas.microsoft.com/office/drawing/2014/main" id="{4457723B-411F-8327-5FCB-FDCE1C41066C}"/>
              </a:ext>
            </a:extLst>
          </p:cNvPr>
          <p:cNvSpPr txBox="1"/>
          <p:nvPr/>
        </p:nvSpPr>
        <p:spPr>
          <a:xfrm>
            <a:off x="1143000" y="1499819"/>
            <a:ext cx="15725274" cy="2538708"/>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Climate </a:t>
            </a:r>
            <a:r>
              <a:rPr lang="en-US" sz="4800" b="1" dirty="0">
                <a:solidFill>
                  <a:srgbClr val="46245A"/>
                </a:solidFill>
                <a:latin typeface="DM Sans" pitchFamily="2" charset="0"/>
              </a:rPr>
              <a:t>C</a:t>
            </a:r>
            <a:r>
              <a:rPr kumimoji="0" lang="en-US" sz="4800" b="1" i="0" u="none" strike="noStrike" kern="1200" cap="none" spc="0" normalizeH="0" baseline="0" noProof="0" dirty="0" err="1">
                <a:ln>
                  <a:noFill/>
                </a:ln>
                <a:solidFill>
                  <a:srgbClr val="46245A"/>
                </a:solidFill>
                <a:effectLst/>
                <a:uLnTx/>
                <a:uFillTx/>
                <a:latin typeface="DM Sans" pitchFamily="2" charset="0"/>
                <a:ea typeface="+mn-ea"/>
                <a:cs typeface="+mn-cs"/>
              </a:rPr>
              <a:t>hange</a:t>
            </a: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 Vulnerability </a:t>
            </a:r>
          </a:p>
          <a:p>
            <a:pPr marL="0" marR="0" lvl="0" indent="0" algn="l" defTabSz="914400" rtl="0" eaLnBrk="1" fontAlgn="auto" latinLnBrk="0" hangingPunct="1">
              <a:lnSpc>
                <a:spcPts val="6719"/>
              </a:lnSpc>
              <a:spcBef>
                <a:spcPts val="0"/>
              </a:spcBef>
              <a:spcAft>
                <a:spcPts val="0"/>
              </a:spcAft>
              <a:buClrTx/>
              <a:buSzTx/>
              <a:buFontTx/>
              <a:buNone/>
              <a:tabLst/>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a:p>
            <a:pPr marL="0" marR="0" lvl="0" indent="0" algn="l" defTabSz="914400" rtl="0" eaLnBrk="1" fontAlgn="auto" latinLnBrk="0" hangingPunct="1">
              <a:lnSpc>
                <a:spcPts val="6719"/>
              </a:lnSpc>
              <a:spcBef>
                <a:spcPts val="0"/>
              </a:spcBef>
              <a:spcAft>
                <a:spcPts val="0"/>
              </a:spcAft>
              <a:buClrTx/>
              <a:buSzTx/>
              <a:buFontTx/>
              <a:buNone/>
              <a:tabLst/>
              <a:defRPr/>
            </a:pPr>
            <a:endPar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7" name="TextBox 6">
            <a:extLst>
              <a:ext uri="{FF2B5EF4-FFF2-40B4-BE49-F238E27FC236}">
                <a16:creationId xmlns:a16="http://schemas.microsoft.com/office/drawing/2014/main" id="{FA36B622-3EC6-E929-807C-F36F860B1C69}"/>
              </a:ext>
            </a:extLst>
          </p:cNvPr>
          <p:cNvSpPr txBox="1"/>
          <p:nvPr/>
        </p:nvSpPr>
        <p:spPr>
          <a:xfrm>
            <a:off x="10472468" y="3085255"/>
            <a:ext cx="7425788" cy="5539978"/>
          </a:xfrm>
          <a:prstGeom prst="rect">
            <a:avLst/>
          </a:prstGeom>
          <a:noFill/>
        </p:spPr>
        <p:txBody>
          <a:bodyPr wrap="square">
            <a:spAutoFit/>
          </a:bodyPr>
          <a:lstStyle/>
          <a:p>
            <a:r>
              <a:rPr lang="en-GB" sz="2800" b="1" dirty="0">
                <a:latin typeface="Calibri" panose="020F0502020204030204" pitchFamily="34" charset="0"/>
                <a:cs typeface="Calibri" panose="020F0502020204030204" pitchFamily="34" charset="0"/>
              </a:rPr>
              <a:t>Hazards</a:t>
            </a:r>
          </a:p>
          <a:p>
            <a:r>
              <a:rPr lang="en-GB" sz="2400" dirty="0">
                <a:latin typeface="Calibri" panose="020F0502020204030204" pitchFamily="34" charset="0"/>
                <a:cs typeface="Calibri" panose="020F0502020204030204" pitchFamily="34" charset="0"/>
              </a:rPr>
              <a:t>What hazards are you exposed to? (floods, extreme rain/heat, droughts, storms, etc.)</a:t>
            </a:r>
          </a:p>
          <a:p>
            <a:r>
              <a:rPr lang="en-GB" sz="2400" dirty="0">
                <a:latin typeface="Calibri" panose="020F0502020204030204" pitchFamily="34" charset="0"/>
                <a:cs typeface="Calibri" panose="020F0502020204030204" pitchFamily="34" charset="0"/>
              </a:rPr>
              <a:t>How are these hazards changing due to climate change?</a:t>
            </a:r>
          </a:p>
          <a:p>
            <a:pPr marL="428625" indent="-428625">
              <a:buFont typeface="Arial" panose="020B0604020202020204" pitchFamily="34" charset="0"/>
              <a:buChar char="•"/>
            </a:pPr>
            <a:endParaRPr lang="en-GB" sz="2400" dirty="0">
              <a:latin typeface="Calibri" panose="020F0502020204030204" pitchFamily="34" charset="0"/>
              <a:cs typeface="Calibri" panose="020F0502020204030204" pitchFamily="34" charset="0"/>
            </a:endParaRPr>
          </a:p>
          <a:p>
            <a:r>
              <a:rPr lang="en-GB" sz="2800" b="1" dirty="0">
                <a:latin typeface="Calibri" panose="020F0502020204030204" pitchFamily="34" charset="0"/>
                <a:cs typeface="Calibri" panose="020F0502020204030204" pitchFamily="34" charset="0"/>
              </a:rPr>
              <a:t>Exposure</a:t>
            </a:r>
          </a:p>
          <a:p>
            <a:r>
              <a:rPr lang="en-GB" sz="2400" dirty="0">
                <a:latin typeface="Calibri" panose="020F0502020204030204" pitchFamily="34" charset="0"/>
                <a:cs typeface="Calibri" panose="020F0502020204030204" pitchFamily="34" charset="0"/>
              </a:rPr>
              <a:t>Presence of people, infrastructure, ecosystems and other social, cultural or economic systems.</a:t>
            </a:r>
          </a:p>
          <a:p>
            <a:endParaRPr lang="en-GB" sz="2400" dirty="0">
              <a:latin typeface="Calibri" panose="020F0502020204030204" pitchFamily="34" charset="0"/>
              <a:cs typeface="Calibri" panose="020F0502020204030204" pitchFamily="34" charset="0"/>
            </a:endParaRPr>
          </a:p>
          <a:p>
            <a:r>
              <a:rPr lang="en-GB" sz="2800" b="1" dirty="0">
                <a:solidFill>
                  <a:srgbClr val="FF0000"/>
                </a:solidFill>
                <a:latin typeface="Calibri" panose="020F0502020204030204" pitchFamily="34" charset="0"/>
                <a:cs typeface="Calibri" panose="020F0502020204030204" pitchFamily="34" charset="0"/>
              </a:rPr>
              <a:t>Vulnerability</a:t>
            </a:r>
          </a:p>
          <a:p>
            <a:r>
              <a:rPr lang="en-GB" sz="2400" dirty="0">
                <a:latin typeface="Calibri" panose="020F0502020204030204" pitchFamily="34" charset="0"/>
                <a:cs typeface="Calibri" panose="020F0502020204030204" pitchFamily="34" charset="0"/>
              </a:rPr>
              <a:t>Susceptibility to harm, resilience and the capacity to cope and adapt to hazards.</a:t>
            </a:r>
          </a:p>
          <a:p>
            <a:endParaRPr lang="en-GB" sz="1800" dirty="0">
              <a:latin typeface="Calibri" panose="020F0502020204030204" pitchFamily="34" charset="0"/>
              <a:cs typeface="Calibri" panose="020F0502020204030204" pitchFamily="34" charset="0"/>
            </a:endParaRPr>
          </a:p>
          <a:p>
            <a:pPr marL="428625" indent="-428625">
              <a:buFont typeface="Arial" panose="020B0604020202020204" pitchFamily="34" charset="0"/>
              <a:buChar char="•"/>
            </a:pPr>
            <a:endParaRPr lang="en-GB" dirty="0">
              <a:latin typeface="Calibri" panose="020F0502020204030204" pitchFamily="34" charset="0"/>
              <a:cs typeface="Calibri" panose="020F0502020204030204" pitchFamily="34" charset="0"/>
            </a:endParaRPr>
          </a:p>
          <a:p>
            <a:pPr marL="428625" indent="-428625">
              <a:buFont typeface="Arial" panose="020B0604020202020204" pitchFamily="34" charset="0"/>
              <a:buChar char="•"/>
            </a:pPr>
            <a:endParaRPr lang="en-GB"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2721365"/>
      </p:ext>
    </p:extLst>
  </p:cSld>
  <p:clrMapOvr>
    <a:masterClrMapping/>
  </p:clrMapOvr>
  <mc:AlternateContent xmlns:mc="http://schemas.openxmlformats.org/markup-compatibility/2006" xmlns:p14="http://schemas.microsoft.com/office/powerpoint/2010/main">
    <mc:Choice Requires="p14">
      <p:transition spd="slow" p14:dur="2000" advTm="490"/>
    </mc:Choice>
    <mc:Fallback xmlns="">
      <p:transition spd="slow" advTm="49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What can we do?</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3" name="Content Placeholder 2">
            <a:extLst>
              <a:ext uri="{FF2B5EF4-FFF2-40B4-BE49-F238E27FC236}">
                <a16:creationId xmlns:a16="http://schemas.microsoft.com/office/drawing/2014/main" id="{7C368D6C-F9C4-59FA-AD50-DE8DA0972EE6}"/>
              </a:ext>
            </a:extLst>
          </p:cNvPr>
          <p:cNvSpPr txBox="1">
            <a:spLocks/>
          </p:cNvSpPr>
          <p:nvPr/>
        </p:nvSpPr>
        <p:spPr>
          <a:xfrm>
            <a:off x="9252681" y="4323567"/>
            <a:ext cx="8597345" cy="4655400"/>
          </a:xfrm>
          <a:prstGeom prst="rect">
            <a:avLst/>
          </a:prstGeom>
        </p:spPr>
        <p:txBody>
          <a:bodyPr>
            <a:normAutofit/>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None/>
              <a:tabLst/>
              <a:defRPr/>
            </a:pPr>
            <a:r>
              <a:rPr kumimoji="0" lang="en-GB" sz="2800" b="1" i="0"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Adaptation:</a:t>
            </a:r>
            <a:r>
              <a:rPr kumimoji="0" lang="en-GB" sz="2800" b="0" i="0"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adapting to life in a changing climate.</a:t>
            </a:r>
          </a:p>
          <a:p>
            <a:pPr marL="0" marR="0" lvl="0" indent="0" algn="l" defTabSz="914400" rtl="0" eaLnBrk="1" fontAlgn="auto" latinLnBrk="0" hangingPunct="1">
              <a:lnSpc>
                <a:spcPct val="100000"/>
              </a:lnSpc>
              <a:spcBef>
                <a:spcPct val="20000"/>
              </a:spcBef>
              <a:spcAft>
                <a:spcPts val="0"/>
              </a:spcAft>
              <a:buClrTx/>
              <a:buSzTx/>
              <a:buNone/>
              <a:tabLst/>
              <a:defRPr/>
            </a:pPr>
            <a:endParaRPr kumimoji="0" lang="en-GB" sz="2800" b="0" i="0"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ct val="20000"/>
              </a:spcBef>
              <a:spcAft>
                <a:spcPts val="0"/>
              </a:spcAft>
              <a:buClrTx/>
              <a:buSzTx/>
              <a:buNone/>
              <a:tabLst/>
              <a:defRPr/>
            </a:pPr>
            <a:r>
              <a:rPr kumimoji="0" lang="en-GB" sz="2800" b="1" i="0"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Mitigation:</a:t>
            </a:r>
            <a:r>
              <a:rPr kumimoji="0" lang="en-GB" sz="2800" b="0" i="0"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reducing climate change.</a:t>
            </a:r>
          </a:p>
          <a:p>
            <a:pPr marL="0" indent="0">
              <a:buNone/>
            </a:pPr>
            <a:endParaRPr lang="en-GB" sz="2800" dirty="0">
              <a:solidFill>
                <a:srgbClr val="2B2B2B"/>
              </a:solidFill>
              <a:latin typeface="Calibri" panose="020F0502020204030204" pitchFamily="34" charset="0"/>
              <a:cs typeface="Calibri" panose="020F0502020204030204" pitchFamily="34" charset="0"/>
            </a:endParaRPr>
          </a:p>
          <a:p>
            <a:pPr marL="0" indent="0">
              <a:buNone/>
            </a:pPr>
            <a:r>
              <a:rPr lang="en-GB" sz="2800" dirty="0">
                <a:latin typeface="Calibri" panose="020F0502020204030204" pitchFamily="34" charset="0"/>
                <a:cs typeface="Calibri" panose="020F0502020204030204" pitchFamily="34" charset="0"/>
              </a:rPr>
              <a:t>Both approaches are needed to respond to climate change!</a:t>
            </a:r>
          </a:p>
          <a:p>
            <a:pPr marL="0" indent="0">
              <a:buNone/>
            </a:pPr>
            <a:endParaRPr lang="en-GB" sz="28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ct val="20000"/>
              </a:spcBef>
              <a:spcAft>
                <a:spcPts val="0"/>
              </a:spcAft>
              <a:buClrTx/>
              <a:buSzTx/>
              <a:buNone/>
              <a:tabLst/>
              <a:defRPr/>
            </a:pPr>
            <a:r>
              <a:rPr kumimoji="0" lang="en-GB" sz="2800" b="0" i="0"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Aim to keep temperature increases well below 2°C and pursue efforts to limit the temperature increase to 1.5°C</a:t>
            </a:r>
            <a:endParaRPr kumimoji="0" lang="en-GB" sz="2400" b="0" i="0"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DM Sans" pitchFamily="34" charset="0"/>
              <a:buChar char="•"/>
              <a:tabLst/>
              <a:defRPr/>
            </a:pPr>
            <a:endParaRPr kumimoji="0" lang="en-GB" sz="2000" b="0" i="0" u="none" strike="noStrike" kern="1200" cap="none" spc="0" normalizeH="0" baseline="0" noProof="0" dirty="0">
              <a:ln>
                <a:noFill/>
              </a:ln>
              <a:solidFill>
                <a:prstClr val="black"/>
              </a:solidFill>
              <a:effectLst/>
              <a:uLnTx/>
              <a:uFillTx/>
              <a:latin typeface="DM Sans" pitchFamily="2"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DM Sans" pitchFamily="34" charset="0"/>
              <a:buChar char="•"/>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DM Sans" pitchFamily="34" charset="0"/>
              <a:buChar char="•"/>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4" name="Picture 3" descr="A planet earth with smoke coming out of the top of a factory&#10;&#10;Description automatically generated">
            <a:extLst>
              <a:ext uri="{FF2B5EF4-FFF2-40B4-BE49-F238E27FC236}">
                <a16:creationId xmlns:a16="http://schemas.microsoft.com/office/drawing/2014/main" id="{F3EF454D-8A0B-D9D7-3721-331064DBEA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00" y="3801387"/>
            <a:ext cx="7772400" cy="5699760"/>
          </a:xfrm>
          <a:prstGeom prst="rect">
            <a:avLst/>
          </a:prstGeom>
        </p:spPr>
      </p:pic>
      <p:sp>
        <p:nvSpPr>
          <p:cNvPr id="6" name="TextBox 5">
            <a:extLst>
              <a:ext uri="{FF2B5EF4-FFF2-40B4-BE49-F238E27FC236}">
                <a16:creationId xmlns:a16="http://schemas.microsoft.com/office/drawing/2014/main" id="{3E83AF9A-52E8-ACA7-540F-AC0138C2CCB5}"/>
              </a:ext>
            </a:extLst>
          </p:cNvPr>
          <p:cNvSpPr txBox="1"/>
          <p:nvPr/>
        </p:nvSpPr>
        <p:spPr>
          <a:xfrm>
            <a:off x="1031632" y="2600420"/>
            <a:ext cx="15404122" cy="954107"/>
          </a:xfrm>
          <a:prstGeom prst="rect">
            <a:avLst/>
          </a:prstGeom>
          <a:noFill/>
        </p:spPr>
        <p:txBody>
          <a:bodyPr wrap="square">
            <a:spAutoFit/>
          </a:bodyPr>
          <a:lstStyle/>
          <a:p>
            <a:pPr algn="l"/>
            <a:r>
              <a:rPr lang="en-GB" sz="2800" dirty="0">
                <a:solidFill>
                  <a:srgbClr val="2B2B2B"/>
                </a:solidFill>
                <a:latin typeface="Calibri" panose="020F0502020204030204" pitchFamily="34" charset="0"/>
                <a:cs typeface="Calibri" panose="020F0502020204030204" pitchFamily="34" charset="0"/>
              </a:rPr>
              <a:t>W</a:t>
            </a:r>
            <a:r>
              <a:rPr lang="en-GB" sz="2800" b="0" i="0" u="none" strike="noStrike" dirty="0">
                <a:solidFill>
                  <a:srgbClr val="2B2B2B"/>
                </a:solidFill>
                <a:effectLst/>
                <a:latin typeface="Calibri" panose="020F0502020204030204" pitchFamily="34" charset="0"/>
                <a:cs typeface="Calibri" panose="020F0502020204030204" pitchFamily="34" charset="0"/>
              </a:rPr>
              <a:t>e are already committed to some level of climate change, responding to climate change involves a two-pronged approach: </a:t>
            </a:r>
          </a:p>
        </p:txBody>
      </p:sp>
    </p:spTree>
    <p:extLst>
      <p:ext uri="{BB962C8B-B14F-4D97-AF65-F5344CB8AC3E}">
        <p14:creationId xmlns:p14="http://schemas.microsoft.com/office/powerpoint/2010/main" val="2843907140"/>
      </p:ext>
    </p:extLst>
  </p:cSld>
  <p:clrMapOvr>
    <a:masterClrMapping/>
  </p:clrMapOvr>
  <mc:AlternateContent xmlns:mc="http://schemas.openxmlformats.org/markup-compatibility/2006" xmlns:p14="http://schemas.microsoft.com/office/powerpoint/2010/main">
    <mc:Choice Requires="p14">
      <p:transition spd="slow" p14:dur="2000" advTm="26757"/>
    </mc:Choice>
    <mc:Fallback xmlns="">
      <p:transition spd="slow" advTm="2675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What can we do?</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3" name="Content Placeholder 2">
            <a:extLst>
              <a:ext uri="{FF2B5EF4-FFF2-40B4-BE49-F238E27FC236}">
                <a16:creationId xmlns:a16="http://schemas.microsoft.com/office/drawing/2014/main" id="{7C368D6C-F9C4-59FA-AD50-DE8DA0972EE6}"/>
              </a:ext>
            </a:extLst>
          </p:cNvPr>
          <p:cNvSpPr txBox="1">
            <a:spLocks/>
          </p:cNvSpPr>
          <p:nvPr/>
        </p:nvSpPr>
        <p:spPr>
          <a:xfrm>
            <a:off x="9372603" y="2492776"/>
            <a:ext cx="8597345" cy="8239727"/>
          </a:xfrm>
          <a:prstGeom prst="rect">
            <a:avLst/>
          </a:prstGeom>
        </p:spPr>
        <p:txBody>
          <a:bodyPr>
            <a:normAutofit/>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None/>
              <a:tabLst/>
              <a:defRPr/>
            </a:pPr>
            <a:r>
              <a:rPr kumimoji="0" lang="en-GB" sz="2400" b="1" i="0"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Adaptation:</a:t>
            </a:r>
            <a:r>
              <a:rPr kumimoji="0" lang="en-GB" sz="2400" b="0" i="0"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adapting to life in a changing climate.</a:t>
            </a:r>
          </a:p>
          <a:p>
            <a:pPr marL="0" indent="0">
              <a:buNone/>
            </a:pPr>
            <a:endParaRPr lang="en-GB" sz="2400" dirty="0">
              <a:solidFill>
                <a:prstClr val="black"/>
              </a:solidFill>
              <a:latin typeface="Calibri" panose="020F0502020204030204" pitchFamily="34" charset="0"/>
              <a:cs typeface="Calibri" panose="020F0502020204030204" pitchFamily="34" charset="0"/>
            </a:endParaRPr>
          </a:p>
          <a:p>
            <a:pPr marL="0" indent="0">
              <a:buNone/>
            </a:pPr>
            <a:r>
              <a:rPr lang="en-GB" sz="2400" b="1" i="0" strike="noStrike" dirty="0">
                <a:solidFill>
                  <a:srgbClr val="2B2B2B"/>
                </a:solidFill>
                <a:effectLst/>
                <a:latin typeface="Calibri" panose="020F0502020204030204" pitchFamily="34" charset="0"/>
                <a:cs typeface="Calibri" panose="020F0502020204030204" pitchFamily="34" charset="0"/>
              </a:rPr>
              <a:t>involves adjusting to actual or expected future climate.</a:t>
            </a:r>
          </a:p>
          <a:p>
            <a:endParaRPr lang="en-GB" sz="2400" b="1" dirty="0">
              <a:solidFill>
                <a:srgbClr val="2B2B2B"/>
              </a:solidFill>
              <a:latin typeface="Calibri" panose="020F0502020204030204" pitchFamily="34" charset="0"/>
              <a:cs typeface="Calibri" panose="020F0502020204030204" pitchFamily="34" charset="0"/>
            </a:endParaRPr>
          </a:p>
          <a:p>
            <a:pPr marL="0" indent="0">
              <a:buNone/>
            </a:pPr>
            <a:r>
              <a:rPr lang="en-GB" sz="2400" b="0" i="0" strike="noStrike" dirty="0">
                <a:solidFill>
                  <a:srgbClr val="2B2B2B"/>
                </a:solidFill>
                <a:effectLst/>
                <a:latin typeface="Calibri" panose="020F0502020204030204" pitchFamily="34" charset="0"/>
                <a:cs typeface="Calibri" panose="020F0502020204030204" pitchFamily="34" charset="0"/>
              </a:rPr>
              <a:t>The goal is to reduce our risks from the harmful effects of climate change (like sea-level rise, more intense extreme weather events, or food insecurity). It also includes making the most of any potential beneficial opportunities associated with climate change (for example, longer growing seasons or increased yields in some regions).</a:t>
            </a:r>
            <a:endParaRPr kumimoji="0" lang="en-GB" sz="2400" b="0" i="0"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auto" latinLnBrk="0" hangingPunct="1">
              <a:lnSpc>
                <a:spcPct val="100000"/>
              </a:lnSpc>
              <a:spcBef>
                <a:spcPct val="20000"/>
              </a:spcBef>
              <a:spcAft>
                <a:spcPts val="0"/>
              </a:spcAft>
              <a:buClrTx/>
              <a:buSzTx/>
              <a:buFont typeface="DM Sans" pitchFamily="34" charset="0"/>
              <a:buChar char="•"/>
              <a:tabLst/>
              <a:defRPr/>
            </a:pPr>
            <a:endParaRPr kumimoji="0" lang="en-GB" sz="2400" b="0" i="0"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ct val="20000"/>
              </a:spcBef>
              <a:spcAft>
                <a:spcPts val="0"/>
              </a:spcAft>
              <a:buClrTx/>
              <a:buSzTx/>
              <a:buNone/>
              <a:tabLst/>
              <a:defRPr/>
            </a:pPr>
            <a:r>
              <a:rPr kumimoji="0" lang="en-GB" sz="2400" b="1" i="0"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Mitigation:</a:t>
            </a:r>
            <a:r>
              <a:rPr kumimoji="0" lang="en-GB" sz="2400" b="0" i="0"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reducing climate change.</a:t>
            </a:r>
          </a:p>
          <a:p>
            <a:pPr marL="342900" marR="0" lvl="0" indent="-342900" algn="l" defTabSz="914400" rtl="0" eaLnBrk="1" fontAlgn="auto" latinLnBrk="0" hangingPunct="1">
              <a:lnSpc>
                <a:spcPct val="100000"/>
              </a:lnSpc>
              <a:spcBef>
                <a:spcPct val="20000"/>
              </a:spcBef>
              <a:spcAft>
                <a:spcPts val="0"/>
              </a:spcAft>
              <a:buClrTx/>
              <a:buSzTx/>
              <a:buFont typeface="DM Sans" pitchFamily="34" charset="0"/>
              <a:buChar char="•"/>
              <a:tabLst/>
              <a:defRPr/>
            </a:pPr>
            <a:endParaRPr lang="en-GB" sz="2400" dirty="0">
              <a:latin typeface="Calibri" panose="020F0502020204030204" pitchFamily="34" charset="0"/>
              <a:cs typeface="Calibri" panose="020F0502020204030204" pitchFamily="34" charset="0"/>
            </a:endParaRPr>
          </a:p>
          <a:p>
            <a:pPr marL="0" indent="0">
              <a:buNone/>
            </a:pPr>
            <a:r>
              <a:rPr lang="en-GB" sz="2400" b="1" i="0" strike="noStrike" dirty="0">
                <a:effectLst/>
                <a:latin typeface="Calibri" panose="020F0502020204030204" pitchFamily="34" charset="0"/>
                <a:cs typeface="Calibri" panose="020F0502020204030204" pitchFamily="34" charset="0"/>
              </a:rPr>
              <a:t>involves reducing the flow of greenhouse gases into the atmosphere</a:t>
            </a:r>
            <a:r>
              <a:rPr lang="en-GB" sz="2400" b="0" i="0" strike="noStrike" dirty="0">
                <a:effectLst/>
                <a:latin typeface="Calibri" panose="020F0502020204030204" pitchFamily="34" charset="0"/>
                <a:cs typeface="Calibri" panose="020F0502020204030204" pitchFamily="34" charset="0"/>
              </a:rPr>
              <a:t>, either by reducing sources of these gases (for example, the burning of fossil fuels for electricity, heat, or transport) or enhancing the “sinks” that accumulate and store these gases (such as the oceans, forests, and soil). </a:t>
            </a:r>
          </a:p>
        </p:txBody>
      </p:sp>
      <p:pic>
        <p:nvPicPr>
          <p:cNvPr id="4" name="Picture 3" descr="A planet earth with smoke coming out of the top of a factory&#10;&#10;Description automatically generated">
            <a:extLst>
              <a:ext uri="{FF2B5EF4-FFF2-40B4-BE49-F238E27FC236}">
                <a16:creationId xmlns:a16="http://schemas.microsoft.com/office/drawing/2014/main" id="{F3EF454D-8A0B-D9D7-3721-331064DBEA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2999" y="3246751"/>
            <a:ext cx="7772400" cy="5699760"/>
          </a:xfrm>
          <a:prstGeom prst="rect">
            <a:avLst/>
          </a:prstGeom>
        </p:spPr>
      </p:pic>
    </p:spTree>
    <p:extLst>
      <p:ext uri="{BB962C8B-B14F-4D97-AF65-F5344CB8AC3E}">
        <p14:creationId xmlns:p14="http://schemas.microsoft.com/office/powerpoint/2010/main" val="1606335865"/>
      </p:ext>
    </p:extLst>
  </p:cSld>
  <p:clrMapOvr>
    <a:masterClrMapping/>
  </p:clrMapOvr>
  <mc:AlternateContent xmlns:mc="http://schemas.openxmlformats.org/markup-compatibility/2006" xmlns:p14="http://schemas.microsoft.com/office/powerpoint/2010/main">
    <mc:Choice Requires="p14">
      <p:transition spd="slow" p14:dur="2000" advTm="59673"/>
    </mc:Choice>
    <mc:Fallback xmlns="">
      <p:transition spd="slow" advTm="5967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809E61-7178-D3EE-5E07-81A97B74B4A2}"/>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59F2281C-9648-EC6E-51B5-E3DD897AE28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2" name="TextBox 5">
            <a:extLst>
              <a:ext uri="{FF2B5EF4-FFF2-40B4-BE49-F238E27FC236}">
                <a16:creationId xmlns:a16="http://schemas.microsoft.com/office/drawing/2014/main" id="{36A992A3-AAD0-21B8-F0B8-19B11FC1141C}"/>
              </a:ext>
            </a:extLst>
          </p:cNvPr>
          <p:cNvSpPr txBox="1"/>
          <p:nvPr/>
        </p:nvSpPr>
        <p:spPr>
          <a:xfrm>
            <a:off x="1143000" y="1633566"/>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What do we mean by mitigation?</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3" name="Content Placeholder 2">
            <a:extLst>
              <a:ext uri="{FF2B5EF4-FFF2-40B4-BE49-F238E27FC236}">
                <a16:creationId xmlns:a16="http://schemas.microsoft.com/office/drawing/2014/main" id="{7C368D6C-F9C4-59FA-AD50-DE8DA0972EE6}"/>
              </a:ext>
            </a:extLst>
          </p:cNvPr>
          <p:cNvSpPr txBox="1">
            <a:spLocks/>
          </p:cNvSpPr>
          <p:nvPr/>
        </p:nvSpPr>
        <p:spPr>
          <a:xfrm>
            <a:off x="9372602" y="2986579"/>
            <a:ext cx="8035505" cy="8239727"/>
          </a:xfrm>
          <a:prstGeom prst="rect">
            <a:avLst/>
          </a:prstGeom>
        </p:spPr>
        <p:txBody>
          <a:bodyPr>
            <a:normAutofit/>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From IPCC WG3 introduction.</a:t>
            </a: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r>
              <a:rPr kumimoji="0" lang="en-GB" sz="2400" b="0" i="1"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Climate change mitigation is achieved by limiting or preventing greenhouse gas emissions and by enhancing activities that remove these gases from the atmosphere.</a:t>
            </a: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And on solar radiation management:</a:t>
            </a: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r>
              <a:rPr kumimoji="0" lang="en-GB" sz="2400" b="0" i="1"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SRM contrasts with climate-change mitigation activities, such as emission reductions and CO2 removal, as it introduces a ‘mask’ to the climate change problem by altering the Earth’s radiation budget, rather than attempting to address the root cause of the problem, which is the increase in greenhouse gas emissions in the atmosphere.</a:t>
            </a:r>
            <a:r>
              <a:rPr kumimoji="0" lang="en-GB"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sz="3200" b="0" i="0" u="none" strike="noStrike" kern="1200" cap="none" spc="0" normalizeH="0" baseline="0" noProof="0" dirty="0">
                <a:ln>
                  <a:noFill/>
                </a:ln>
                <a:solidFill>
                  <a:srgbClr val="FF0000"/>
                </a:solidFill>
                <a:effectLst/>
                <a:uLnTx/>
                <a:uFillTx/>
                <a:latin typeface="DM Sans" pitchFamily="2" charset="0"/>
                <a:ea typeface="+mn-ea"/>
                <a:cs typeface="+mn-cs"/>
              </a:rPr>
              <a:t>WEEK 9</a:t>
            </a:r>
          </a:p>
          <a:p>
            <a:pPr marL="342900" marR="0" lvl="0" indent="-342900" algn="l" defTabSz="914400" rtl="0" eaLnBrk="1" fontAlgn="auto" latinLnBrk="0" hangingPunct="1">
              <a:lnSpc>
                <a:spcPct val="100000"/>
              </a:lnSpc>
              <a:spcBef>
                <a:spcPct val="20000"/>
              </a:spcBef>
              <a:spcAft>
                <a:spcPts val="0"/>
              </a:spcAft>
              <a:buClrTx/>
              <a:buSzTx/>
              <a:buFont typeface="DM Sans" pitchFamily="34" charset="0"/>
              <a:buChar char="•"/>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DM Sans" pitchFamily="34" charset="0"/>
              <a:buChar char="•"/>
              <a:tabLst/>
              <a:defRPr/>
            </a:pPr>
            <a:endParaRPr kumimoji="0" lang="en-GB"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pic>
        <p:nvPicPr>
          <p:cNvPr id="4" name="Picture 3" descr="A planet earth with smoke coming out of the top of a factory&#10;&#10;Description automatically generated">
            <a:extLst>
              <a:ext uri="{FF2B5EF4-FFF2-40B4-BE49-F238E27FC236}">
                <a16:creationId xmlns:a16="http://schemas.microsoft.com/office/drawing/2014/main" id="{F3EF454D-8A0B-D9D7-3721-331064DBEA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00" y="2953674"/>
            <a:ext cx="7772400" cy="5699760"/>
          </a:xfrm>
          <a:prstGeom prst="rect">
            <a:avLst/>
          </a:prstGeom>
        </p:spPr>
      </p:pic>
    </p:spTree>
    <p:extLst>
      <p:ext uri="{BB962C8B-B14F-4D97-AF65-F5344CB8AC3E}">
        <p14:creationId xmlns:p14="http://schemas.microsoft.com/office/powerpoint/2010/main" val="828893273"/>
      </p:ext>
    </p:extLst>
  </p:cSld>
  <p:clrMapOvr>
    <a:masterClrMapping/>
  </p:clrMapOvr>
  <mc:AlternateContent xmlns:mc="http://schemas.openxmlformats.org/markup-compatibility/2006" xmlns:p14="http://schemas.microsoft.com/office/powerpoint/2010/main">
    <mc:Choice Requires="p14">
      <p:transition spd="slow" p14:dur="2000" advTm="2716"/>
    </mc:Choice>
    <mc:Fallback xmlns="">
      <p:transition spd="slow" advTm="2716"/>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15E1DF5F-1E5D-6F7C-86FA-7380F7CB9FEB}"/>
              </a:ext>
            </a:extLst>
          </p:cNvPr>
          <p:cNvSpPr txBox="1"/>
          <p:nvPr/>
        </p:nvSpPr>
        <p:spPr>
          <a:xfrm>
            <a:off x="1143000" y="1736548"/>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What can we do?</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2">
            <a:extLst>
              <a:ext uri="{FF2B5EF4-FFF2-40B4-BE49-F238E27FC236}">
                <a16:creationId xmlns:a16="http://schemas.microsoft.com/office/drawing/2014/main" id="{E0F462EB-7FBB-987A-77F4-7CF939196DB5}"/>
              </a:ext>
            </a:extLst>
          </p:cNvPr>
          <p:cNvSpPr txBox="1"/>
          <p:nvPr/>
        </p:nvSpPr>
        <p:spPr>
          <a:xfrm>
            <a:off x="1143000" y="3287337"/>
            <a:ext cx="15198213" cy="3693319"/>
          </a:xfrm>
          <a:prstGeom prst="rect">
            <a:avLst/>
          </a:prstGeom>
          <a:noFill/>
        </p:spPr>
        <p:txBody>
          <a:bodyPr wrap="square" rtlCol="0">
            <a:spAutoFit/>
          </a:bodyPr>
          <a:lstStyle/>
          <a:p>
            <a:r>
              <a:rPr lang="en-GB" sz="3900" b="1" dirty="0">
                <a:latin typeface="Calibri" panose="020F0502020204030204" pitchFamily="34" charset="0"/>
                <a:cs typeface="Calibri" panose="020F0502020204030204" pitchFamily="34" charset="0"/>
              </a:rPr>
              <a:t>Adaptation:</a:t>
            </a:r>
            <a:r>
              <a:rPr lang="en-GB" sz="3900" dirty="0">
                <a:latin typeface="Calibri" panose="020F0502020204030204" pitchFamily="34" charset="0"/>
                <a:cs typeface="Calibri" panose="020F0502020204030204" pitchFamily="34" charset="0"/>
              </a:rPr>
              <a:t> adapting to life in a changing climate.</a:t>
            </a:r>
          </a:p>
          <a:p>
            <a:endParaRPr lang="en-GB" sz="3900" dirty="0">
              <a:latin typeface="Calibri" panose="020F0502020204030204" pitchFamily="34" charset="0"/>
              <a:cs typeface="Calibri" panose="020F0502020204030204" pitchFamily="34" charset="0"/>
            </a:endParaRPr>
          </a:p>
          <a:p>
            <a:pPr algn="ctr"/>
            <a:r>
              <a:rPr lang="en-GB" sz="3900" b="1" dirty="0">
                <a:latin typeface="Calibri" panose="020F0502020204030204" pitchFamily="34" charset="0"/>
                <a:cs typeface="Calibri" panose="020F0502020204030204" pitchFamily="34" charset="0"/>
              </a:rPr>
              <a:t>Local solutions for local risks</a:t>
            </a:r>
          </a:p>
          <a:p>
            <a:pPr algn="ctr"/>
            <a:endParaRPr lang="en-GB" sz="3900" b="1" dirty="0">
              <a:latin typeface="Calibri" panose="020F0502020204030204" pitchFamily="34" charset="0"/>
              <a:cs typeface="Calibri" panose="020F0502020204030204" pitchFamily="34" charset="0"/>
            </a:endParaRPr>
          </a:p>
          <a:p>
            <a:pPr marL="771525" indent="-771525">
              <a:buAutoNum type="arabicPeriod"/>
            </a:pPr>
            <a:r>
              <a:rPr lang="en-GB" sz="3900" b="1" dirty="0">
                <a:solidFill>
                  <a:srgbClr val="FF0000"/>
                </a:solidFill>
                <a:latin typeface="Calibri" panose="020F0502020204030204" pitchFamily="34" charset="0"/>
                <a:cs typeface="Calibri" panose="020F0502020204030204" pitchFamily="34" charset="0"/>
              </a:rPr>
              <a:t>Regional and local climate projections</a:t>
            </a:r>
          </a:p>
          <a:p>
            <a:endParaRPr lang="en-GB" sz="3900" dirty="0"/>
          </a:p>
        </p:txBody>
      </p:sp>
    </p:spTree>
    <p:extLst>
      <p:ext uri="{BB962C8B-B14F-4D97-AF65-F5344CB8AC3E}">
        <p14:creationId xmlns:p14="http://schemas.microsoft.com/office/powerpoint/2010/main" val="1500296795"/>
      </p:ext>
    </p:extLst>
  </p:cSld>
  <p:clrMapOvr>
    <a:masterClrMapping/>
  </p:clrMapOvr>
  <mc:AlternateContent xmlns:mc="http://schemas.openxmlformats.org/markup-compatibility/2006" xmlns:p14="http://schemas.microsoft.com/office/powerpoint/2010/main">
    <mc:Choice Requires="p14">
      <p:transition spd="slow" p14:dur="2000" advTm="44682"/>
    </mc:Choice>
    <mc:Fallback xmlns="">
      <p:transition spd="slow" advTm="44682"/>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15E1DF5F-1E5D-6F7C-86FA-7380F7CB9FEB}"/>
              </a:ext>
            </a:extLst>
          </p:cNvPr>
          <p:cNvSpPr txBox="1"/>
          <p:nvPr/>
        </p:nvSpPr>
        <p:spPr>
          <a:xfrm>
            <a:off x="1143000" y="1736548"/>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Resolution of Global Climate Models </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2" name="Picture 2" descr="http://www.ipcc.ch/report/graphics/images/Assessment%20Reports/AR5%20-%20Synthesis%20Report/SPM/SPM.07_rev1-01.png">
            <a:extLst>
              <a:ext uri="{FF2B5EF4-FFF2-40B4-BE49-F238E27FC236}">
                <a16:creationId xmlns:a16="http://schemas.microsoft.com/office/drawing/2014/main" id="{E12FE232-6065-E231-B8BB-08B5DE7E6FA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3000" y="2702387"/>
            <a:ext cx="9101981" cy="692160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http://www.ipcc.ch/report/graphics/images/Assessment%20Reports/AR5%20-%20Synthesis%20Report/SPM/SPM.07_rev1-01.png">
            <a:extLst>
              <a:ext uri="{FF2B5EF4-FFF2-40B4-BE49-F238E27FC236}">
                <a16:creationId xmlns:a16="http://schemas.microsoft.com/office/drawing/2014/main" id="{9F43FFE4-2206-CEB1-6865-17A9ABD7E9C4}"/>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p:blipFill>
        <p:spPr bwMode="auto">
          <a:xfrm>
            <a:off x="11336594" y="3894246"/>
            <a:ext cx="5442603" cy="498905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3720028-3988-83B2-A68E-541D0837E9AB}"/>
              </a:ext>
            </a:extLst>
          </p:cNvPr>
          <p:cNvSpPr txBox="1"/>
          <p:nvPr/>
        </p:nvSpPr>
        <p:spPr>
          <a:xfrm>
            <a:off x="12390140" y="9729019"/>
            <a:ext cx="702882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DM Sans"/>
                <a:ea typeface="+mn-ea"/>
                <a:cs typeface="+mn-cs"/>
              </a:rPr>
              <a:t>Figure SPM.7, 2.2, AR5 synthesis report</a:t>
            </a:r>
          </a:p>
        </p:txBody>
      </p:sp>
    </p:spTree>
    <p:extLst>
      <p:ext uri="{BB962C8B-B14F-4D97-AF65-F5344CB8AC3E}">
        <p14:creationId xmlns:p14="http://schemas.microsoft.com/office/powerpoint/2010/main" val="1170255119"/>
      </p:ext>
    </p:extLst>
  </p:cSld>
  <p:clrMapOvr>
    <a:masterClrMapping/>
  </p:clrMapOvr>
  <mc:AlternateContent xmlns:mc="http://schemas.openxmlformats.org/markup-compatibility/2006" xmlns:p14="http://schemas.microsoft.com/office/powerpoint/2010/main">
    <mc:Choice Requires="p14">
      <p:transition spd="slow" p14:dur="2000" advTm="41310"/>
    </mc:Choice>
    <mc:Fallback xmlns="">
      <p:transition spd="slow" advTm="4131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21D3133-F71C-9569-AC2A-74D6EE140C4F}"/>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E264B63A-6147-015E-3B75-96767BAC09BE}"/>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9" name="TextBox 5">
            <a:extLst>
              <a:ext uri="{FF2B5EF4-FFF2-40B4-BE49-F238E27FC236}">
                <a16:creationId xmlns:a16="http://schemas.microsoft.com/office/drawing/2014/main" id="{1EAF2DB1-3531-5261-63AA-2D27D660C9E1}"/>
              </a:ext>
            </a:extLst>
          </p:cNvPr>
          <p:cNvSpPr txBox="1"/>
          <p:nvPr/>
        </p:nvSpPr>
        <p:spPr>
          <a:xfrm>
            <a:off x="1143000" y="1221188"/>
            <a:ext cx="13847674" cy="805605"/>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46245A"/>
                </a:solidFill>
                <a:effectLst/>
                <a:uLnTx/>
                <a:uFillTx/>
                <a:latin typeface="DM Sans" pitchFamily="2" charset="0"/>
                <a:ea typeface="+mn-ea"/>
                <a:cs typeface="+mn-cs"/>
              </a:rPr>
              <a:t>Regional Climate Models</a:t>
            </a:r>
            <a:endParaRPr kumimoji="0" lang="en-US" sz="4400"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5" name="TextBox 4">
            <a:extLst>
              <a:ext uri="{FF2B5EF4-FFF2-40B4-BE49-F238E27FC236}">
                <a16:creationId xmlns:a16="http://schemas.microsoft.com/office/drawing/2014/main" id="{64566A7A-5B3E-0686-C90A-DD1B9361D2C6}"/>
              </a:ext>
            </a:extLst>
          </p:cNvPr>
          <p:cNvSpPr txBox="1"/>
          <p:nvPr/>
        </p:nvSpPr>
        <p:spPr>
          <a:xfrm>
            <a:off x="8345830" y="2690000"/>
            <a:ext cx="9267682" cy="61555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‘Regional downscaling’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800"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Run a climate model only over a specific region, but at a higher spatial resolution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srgbClr val="0D0D0D"/>
                </a:solidFill>
                <a:effectLst/>
                <a:uLnTx/>
                <a:uFillTx/>
                <a:latin typeface="Calibri" panose="020F0502020204030204" pitchFamily="34" charset="0"/>
                <a:cs typeface="Calibri" panose="020F0502020204030204" pitchFamily="34" charset="0"/>
              </a:rPr>
              <a:t>Global Climate Models (GCM) offer future climate projections, serving as a primary driver for international decisions on climate mitigation.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srgbClr val="0D0D0D"/>
              </a:solidFill>
              <a:effectLst/>
              <a:uLnTx/>
              <a:uFillTx/>
              <a:latin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srgbClr val="0D0D0D"/>
                </a:solidFill>
                <a:effectLst/>
                <a:uLnTx/>
                <a:uFillTx/>
                <a:latin typeface="Calibri" panose="020F0502020204030204" pitchFamily="34" charset="0"/>
                <a:cs typeface="Calibri" panose="020F0502020204030204" pitchFamily="34" charset="0"/>
              </a:rPr>
              <a:t>Despite GCM projections, the impacts of climate change and necessary strategies will manifest at regional and national scales.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srgbClr val="0D0D0D"/>
              </a:solidFill>
              <a:effectLst/>
              <a:uLnTx/>
              <a:uFillTx/>
              <a:latin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srgbClr val="0D0D0D"/>
                </a:solidFill>
                <a:effectLst/>
                <a:uLnTx/>
                <a:uFillTx/>
                <a:latin typeface="Calibri" panose="020F0502020204030204" pitchFamily="34" charset="0"/>
                <a:cs typeface="Calibri" panose="020F0502020204030204" pitchFamily="34" charset="0"/>
              </a:rPr>
              <a:t>Downscaling methods address the spatial scale disparity between GCMs and the granularity required by decision-makers and impact assessors.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srgbClr val="0D0D0D"/>
              </a:solidFill>
              <a:effectLst/>
              <a:uLnTx/>
              <a:uFillTx/>
              <a:latin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srgbClr val="0D0D0D"/>
                </a:solidFill>
                <a:effectLst/>
                <a:uLnTx/>
                <a:uFillTx/>
                <a:latin typeface="Calibri" panose="020F0502020204030204" pitchFamily="34" charset="0"/>
                <a:cs typeface="Calibri" panose="020F0502020204030204" pitchFamily="34" charset="0"/>
              </a:rPr>
              <a:t>GCMs provide reliable predictions covering vast landscapes with diverse topographies and varying risks of extreme events.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000" b="0" i="0" u="none" strike="noStrike" kern="1200" cap="none" spc="0" normalizeH="0" baseline="0" noProof="0" dirty="0">
              <a:ln>
                <a:noFill/>
              </a:ln>
              <a:solidFill>
                <a:srgbClr val="0D0D0D"/>
              </a:solidFill>
              <a:effectLst/>
              <a:uLnTx/>
              <a:uFillTx/>
              <a:latin typeface="Calibri" panose="020F0502020204030204" pitchFamily="34" charset="0"/>
              <a:cs typeface="Calibri" panose="020F05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srgbClr val="0D0D0D"/>
                </a:solidFill>
                <a:effectLst/>
                <a:uLnTx/>
                <a:uFillTx/>
                <a:latin typeface="Calibri" panose="020F0502020204030204" pitchFamily="34" charset="0"/>
                <a:cs typeface="Calibri" panose="020F0502020204030204" pitchFamily="34" charset="0"/>
              </a:rPr>
              <a:t>Downscaling derives local to regional scale information from larger-scale models, enhancing the specificity and applicability of climate projections.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800" b="0" i="0" u="none" strike="noStrike" kern="1200" cap="none" spc="0" normalizeH="0" baseline="0" noProof="0" dirty="0">
              <a:ln>
                <a:noFill/>
              </a:ln>
              <a:solidFill>
                <a:srgbClr val="0D0D0D"/>
              </a:solidFill>
              <a:effectLst/>
              <a:uLnTx/>
              <a:uFillTx/>
              <a:latin typeface="DM Sans"/>
              <a:ea typeface="+mn-ea"/>
              <a:cs typeface="+mn-cs"/>
            </a:endParaRPr>
          </a:p>
        </p:txBody>
      </p:sp>
      <p:pic>
        <p:nvPicPr>
          <p:cNvPr id="11" name="Picture 10">
            <a:extLst>
              <a:ext uri="{FF2B5EF4-FFF2-40B4-BE49-F238E27FC236}">
                <a16:creationId xmlns:a16="http://schemas.microsoft.com/office/drawing/2014/main" id="{C4C74D03-AAFA-0585-F70B-1594A34651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3481" y="2118206"/>
            <a:ext cx="7113356" cy="7113356"/>
          </a:xfrm>
          <a:prstGeom prst="rect">
            <a:avLst/>
          </a:prstGeom>
        </p:spPr>
      </p:pic>
      <p:pic>
        <p:nvPicPr>
          <p:cNvPr id="2" name="Picture 1">
            <a:extLst>
              <a:ext uri="{FF2B5EF4-FFF2-40B4-BE49-F238E27FC236}">
                <a16:creationId xmlns:a16="http://schemas.microsoft.com/office/drawing/2014/main" id="{B42EBE4B-7EE0-B273-316E-9F490B6FD8E3}"/>
              </a:ext>
            </a:extLst>
          </p:cNvPr>
          <p:cNvPicPr>
            <a:picLocks noChangeAspect="1"/>
          </p:cNvPicPr>
          <p:nvPr/>
        </p:nvPicPr>
        <p:blipFill>
          <a:blip r:embed="rId6"/>
          <a:stretch>
            <a:fillRect/>
          </a:stretch>
        </p:blipFill>
        <p:spPr>
          <a:xfrm>
            <a:off x="796774" y="2172716"/>
            <a:ext cx="7270063" cy="6893096"/>
          </a:xfrm>
          <a:prstGeom prst="rect">
            <a:avLst/>
          </a:prstGeom>
        </p:spPr>
      </p:pic>
    </p:spTree>
    <p:extLst>
      <p:ext uri="{BB962C8B-B14F-4D97-AF65-F5344CB8AC3E}">
        <p14:creationId xmlns:p14="http://schemas.microsoft.com/office/powerpoint/2010/main" val="3860774600"/>
      </p:ext>
    </p:extLst>
  </p:cSld>
  <p:clrMapOvr>
    <a:masterClrMapping/>
  </p:clrMapOvr>
  <mc:AlternateContent xmlns:mc="http://schemas.openxmlformats.org/markup-compatibility/2006" xmlns:p14="http://schemas.microsoft.com/office/powerpoint/2010/main">
    <mc:Choice Requires="p14">
      <p:transition spd="slow" p14:dur="2000" advTm="98729"/>
    </mc:Choice>
    <mc:Fallback xmlns="">
      <p:transition spd="slow" advTm="9872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15E1DF5F-1E5D-6F7C-86FA-7380F7CB9FEB}"/>
              </a:ext>
            </a:extLst>
          </p:cNvPr>
          <p:cNvSpPr txBox="1"/>
          <p:nvPr/>
        </p:nvSpPr>
        <p:spPr>
          <a:xfrm>
            <a:off x="1143000" y="1736548"/>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What can we do?</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2">
            <a:extLst>
              <a:ext uri="{FF2B5EF4-FFF2-40B4-BE49-F238E27FC236}">
                <a16:creationId xmlns:a16="http://schemas.microsoft.com/office/drawing/2014/main" id="{E0F462EB-7FBB-987A-77F4-7CF939196DB5}"/>
              </a:ext>
            </a:extLst>
          </p:cNvPr>
          <p:cNvSpPr txBox="1"/>
          <p:nvPr/>
        </p:nvSpPr>
        <p:spPr>
          <a:xfrm>
            <a:off x="1143000" y="3287337"/>
            <a:ext cx="15198213" cy="4893647"/>
          </a:xfrm>
          <a:prstGeom prst="rect">
            <a:avLst/>
          </a:prstGeom>
          <a:noFill/>
        </p:spPr>
        <p:txBody>
          <a:bodyPr wrap="square" rtlCol="0">
            <a:spAutoFit/>
          </a:bodyPr>
          <a:lstStyle/>
          <a:p>
            <a:r>
              <a:rPr lang="en-GB" sz="3900" b="1" dirty="0">
                <a:latin typeface="Calibri" panose="020F0502020204030204" pitchFamily="34" charset="0"/>
                <a:cs typeface="Calibri" panose="020F0502020204030204" pitchFamily="34" charset="0"/>
              </a:rPr>
              <a:t>Adaptation:</a:t>
            </a:r>
            <a:r>
              <a:rPr lang="en-GB" sz="3900" dirty="0">
                <a:latin typeface="Calibri" panose="020F0502020204030204" pitchFamily="34" charset="0"/>
                <a:cs typeface="Calibri" panose="020F0502020204030204" pitchFamily="34" charset="0"/>
              </a:rPr>
              <a:t> adapting to life in a changing climate.</a:t>
            </a:r>
          </a:p>
          <a:p>
            <a:endParaRPr lang="en-GB" sz="3900" dirty="0">
              <a:latin typeface="Calibri" panose="020F0502020204030204" pitchFamily="34" charset="0"/>
              <a:cs typeface="Calibri" panose="020F0502020204030204" pitchFamily="34" charset="0"/>
            </a:endParaRPr>
          </a:p>
          <a:p>
            <a:pPr algn="ctr"/>
            <a:r>
              <a:rPr lang="en-GB" sz="3900" b="1" dirty="0">
                <a:latin typeface="Calibri" panose="020F0502020204030204" pitchFamily="34" charset="0"/>
                <a:cs typeface="Calibri" panose="020F0502020204030204" pitchFamily="34" charset="0"/>
              </a:rPr>
              <a:t>Local solutions for local risks</a:t>
            </a:r>
          </a:p>
          <a:p>
            <a:pPr algn="ctr"/>
            <a:endParaRPr lang="en-GB" sz="3900" b="1" dirty="0">
              <a:latin typeface="Calibri" panose="020F0502020204030204" pitchFamily="34" charset="0"/>
              <a:cs typeface="Calibri" panose="020F0502020204030204" pitchFamily="34" charset="0"/>
            </a:endParaRPr>
          </a:p>
          <a:p>
            <a:pPr marL="771525" indent="-771525">
              <a:buAutoNum type="arabicPeriod"/>
            </a:pPr>
            <a:r>
              <a:rPr lang="en-GB" sz="3900" dirty="0">
                <a:latin typeface="Calibri" panose="020F0502020204030204" pitchFamily="34" charset="0"/>
                <a:cs typeface="Calibri" panose="020F0502020204030204" pitchFamily="34" charset="0"/>
              </a:rPr>
              <a:t>Regional and local climate projections</a:t>
            </a:r>
          </a:p>
          <a:p>
            <a:pPr marL="771525" indent="-771525">
              <a:buAutoNum type="arabicPeriod"/>
            </a:pPr>
            <a:endParaRPr lang="en-GB" sz="3900" dirty="0">
              <a:latin typeface="Calibri" panose="020F0502020204030204" pitchFamily="34" charset="0"/>
              <a:cs typeface="Calibri" panose="020F0502020204030204" pitchFamily="34" charset="0"/>
            </a:endParaRPr>
          </a:p>
          <a:p>
            <a:pPr marL="771525" indent="-771525">
              <a:buAutoNum type="arabicPeriod"/>
            </a:pPr>
            <a:r>
              <a:rPr lang="en-GB" sz="3900" b="1" dirty="0">
                <a:solidFill>
                  <a:srgbClr val="FF0000"/>
                </a:solidFill>
                <a:latin typeface="Calibri" panose="020F0502020204030204" pitchFamily="34" charset="0"/>
                <a:cs typeface="Calibri" panose="020F0502020204030204" pitchFamily="34" charset="0"/>
              </a:rPr>
              <a:t>Predictions of user-relevant quantities</a:t>
            </a:r>
            <a:endParaRPr lang="en-GB" sz="3900" b="1" dirty="0">
              <a:latin typeface="Calibri" panose="020F0502020204030204" pitchFamily="34" charset="0"/>
              <a:cs typeface="Calibri" panose="020F0502020204030204" pitchFamily="34" charset="0"/>
            </a:endParaRPr>
          </a:p>
          <a:p>
            <a:pPr marL="771525" indent="-771525">
              <a:buAutoNum type="arabicPeriod"/>
            </a:pPr>
            <a:endParaRPr lang="en-GB" sz="3900" dirty="0"/>
          </a:p>
        </p:txBody>
      </p:sp>
      <p:pic>
        <p:nvPicPr>
          <p:cNvPr id="2" name="Picture 2" descr="http://www.ipcc.ch/report/graphics/images/Assessment%20Reports/AR5%20-%20Synthesis%20Report/SPM/SPM.07_rev1-01.png">
            <a:extLst>
              <a:ext uri="{FF2B5EF4-FFF2-40B4-BE49-F238E27FC236}">
                <a16:creationId xmlns:a16="http://schemas.microsoft.com/office/drawing/2014/main" id="{6870FDBD-F996-74CB-17C5-07FC0085332D}"/>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b="48363"/>
          <a:stretch/>
        </p:blipFill>
        <p:spPr bwMode="auto">
          <a:xfrm>
            <a:off x="10153187" y="6086007"/>
            <a:ext cx="8134813" cy="319436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A8F982B-5509-96EE-0BC9-E7477B4DEA2F}"/>
              </a:ext>
            </a:extLst>
          </p:cNvPr>
          <p:cNvPicPr>
            <a:picLocks noChangeAspect="1"/>
          </p:cNvPicPr>
          <p:nvPr/>
        </p:nvPicPr>
        <p:blipFill>
          <a:blip r:embed="rId6"/>
          <a:stretch>
            <a:fillRect/>
          </a:stretch>
        </p:blipFill>
        <p:spPr>
          <a:xfrm>
            <a:off x="10672345" y="5501391"/>
            <a:ext cx="7111394" cy="4455418"/>
          </a:xfrm>
          <a:prstGeom prst="rect">
            <a:avLst/>
          </a:prstGeom>
        </p:spPr>
      </p:pic>
    </p:spTree>
    <p:extLst>
      <p:ext uri="{BB962C8B-B14F-4D97-AF65-F5344CB8AC3E}">
        <p14:creationId xmlns:p14="http://schemas.microsoft.com/office/powerpoint/2010/main" val="446919198"/>
      </p:ext>
    </p:extLst>
  </p:cSld>
  <p:clrMapOvr>
    <a:masterClrMapping/>
  </p:clrMapOvr>
  <mc:AlternateContent xmlns:mc="http://schemas.openxmlformats.org/markup-compatibility/2006" xmlns:p14="http://schemas.microsoft.com/office/powerpoint/2010/main">
    <mc:Choice Requires="p14">
      <p:transition spd="slow" p14:dur="2000" advTm="5556"/>
    </mc:Choice>
    <mc:Fallback xmlns="">
      <p:transition spd="slow" advTm="55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15E1DF5F-1E5D-6F7C-86FA-7380F7CB9FEB}"/>
              </a:ext>
            </a:extLst>
          </p:cNvPr>
          <p:cNvSpPr txBox="1"/>
          <p:nvPr/>
        </p:nvSpPr>
        <p:spPr>
          <a:xfrm>
            <a:off x="1143000" y="1736548"/>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What can we do?</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2">
            <a:extLst>
              <a:ext uri="{FF2B5EF4-FFF2-40B4-BE49-F238E27FC236}">
                <a16:creationId xmlns:a16="http://schemas.microsoft.com/office/drawing/2014/main" id="{E0F462EB-7FBB-987A-77F4-7CF939196DB5}"/>
              </a:ext>
            </a:extLst>
          </p:cNvPr>
          <p:cNvSpPr txBox="1"/>
          <p:nvPr/>
        </p:nvSpPr>
        <p:spPr>
          <a:xfrm>
            <a:off x="1143000" y="3287337"/>
            <a:ext cx="15198213" cy="6694140"/>
          </a:xfrm>
          <a:prstGeom prst="rect">
            <a:avLst/>
          </a:prstGeom>
          <a:noFill/>
        </p:spPr>
        <p:txBody>
          <a:bodyPr wrap="square" rtlCol="0">
            <a:spAutoFit/>
          </a:bodyPr>
          <a:lstStyle/>
          <a:p>
            <a:r>
              <a:rPr lang="en-GB" sz="3900" b="1" dirty="0">
                <a:latin typeface="Calibri" panose="020F0502020204030204" pitchFamily="34" charset="0"/>
                <a:cs typeface="Calibri" panose="020F0502020204030204" pitchFamily="34" charset="0"/>
              </a:rPr>
              <a:t>Adaptation:</a:t>
            </a:r>
            <a:r>
              <a:rPr lang="en-GB" sz="3900" dirty="0">
                <a:latin typeface="Calibri" panose="020F0502020204030204" pitchFamily="34" charset="0"/>
                <a:cs typeface="Calibri" panose="020F0502020204030204" pitchFamily="34" charset="0"/>
              </a:rPr>
              <a:t> adapting to life in a changing climate.</a:t>
            </a:r>
          </a:p>
          <a:p>
            <a:endParaRPr lang="en-GB" sz="3900" dirty="0">
              <a:latin typeface="Calibri" panose="020F0502020204030204" pitchFamily="34" charset="0"/>
              <a:cs typeface="Calibri" panose="020F0502020204030204" pitchFamily="34" charset="0"/>
            </a:endParaRPr>
          </a:p>
          <a:p>
            <a:pPr algn="ctr"/>
            <a:r>
              <a:rPr lang="en-GB" sz="3900" b="1" dirty="0">
                <a:latin typeface="Calibri" panose="020F0502020204030204" pitchFamily="34" charset="0"/>
                <a:cs typeface="Calibri" panose="020F0502020204030204" pitchFamily="34" charset="0"/>
              </a:rPr>
              <a:t>Local solutions for local risks</a:t>
            </a:r>
          </a:p>
          <a:p>
            <a:pPr algn="ctr"/>
            <a:endParaRPr lang="en-GB" sz="3900" b="1" dirty="0">
              <a:latin typeface="Calibri" panose="020F0502020204030204" pitchFamily="34" charset="0"/>
              <a:cs typeface="Calibri" panose="020F0502020204030204" pitchFamily="34" charset="0"/>
            </a:endParaRPr>
          </a:p>
          <a:p>
            <a:pPr marL="771525" indent="-771525">
              <a:buAutoNum type="arabicPeriod"/>
            </a:pPr>
            <a:r>
              <a:rPr lang="en-GB" sz="3900" dirty="0">
                <a:latin typeface="Calibri" panose="020F0502020204030204" pitchFamily="34" charset="0"/>
                <a:cs typeface="Calibri" panose="020F0502020204030204" pitchFamily="34" charset="0"/>
              </a:rPr>
              <a:t>Regional and local climate projections</a:t>
            </a:r>
          </a:p>
          <a:p>
            <a:pPr marL="771525" indent="-771525">
              <a:buAutoNum type="arabicPeriod"/>
            </a:pPr>
            <a:endParaRPr lang="en-GB" sz="3900" dirty="0">
              <a:latin typeface="Calibri" panose="020F0502020204030204" pitchFamily="34" charset="0"/>
              <a:cs typeface="Calibri" panose="020F0502020204030204" pitchFamily="34" charset="0"/>
            </a:endParaRPr>
          </a:p>
          <a:p>
            <a:pPr marL="771525" indent="-771525">
              <a:buAutoNum type="arabicPeriod"/>
            </a:pPr>
            <a:r>
              <a:rPr lang="en-GB" sz="3900" dirty="0">
                <a:latin typeface="Calibri" panose="020F0502020204030204" pitchFamily="34" charset="0"/>
                <a:cs typeface="Calibri" panose="020F0502020204030204" pitchFamily="34" charset="0"/>
              </a:rPr>
              <a:t>Predictions of user-relevant quantities</a:t>
            </a:r>
          </a:p>
          <a:p>
            <a:pPr marL="771525" indent="-771525">
              <a:buAutoNum type="arabicPeriod"/>
            </a:pPr>
            <a:endParaRPr lang="en-GB" sz="3900" dirty="0">
              <a:latin typeface="Calibri" panose="020F0502020204030204" pitchFamily="34" charset="0"/>
              <a:cs typeface="Calibri" panose="020F0502020204030204" pitchFamily="34" charset="0"/>
            </a:endParaRPr>
          </a:p>
          <a:p>
            <a:pPr marL="771525" indent="-771525">
              <a:buFontTx/>
              <a:buAutoNum type="arabicPeriod"/>
            </a:pPr>
            <a:r>
              <a:rPr lang="en-GB" sz="3900" b="1" dirty="0">
                <a:solidFill>
                  <a:srgbClr val="FF0000"/>
                </a:solidFill>
                <a:latin typeface="Calibri" panose="020F0502020204030204" pitchFamily="34" charset="0"/>
                <a:cs typeface="Calibri" panose="020F0502020204030204" pitchFamily="34" charset="0"/>
              </a:rPr>
              <a:t>Evaluation of what risks you are exposed to</a:t>
            </a:r>
          </a:p>
          <a:p>
            <a:pPr marL="771525" indent="-771525">
              <a:buAutoNum type="arabicPeriod"/>
            </a:pPr>
            <a:endParaRPr lang="en-GB" sz="3900" dirty="0"/>
          </a:p>
          <a:p>
            <a:pPr marL="771525" indent="-771525">
              <a:buAutoNum type="arabicPeriod"/>
            </a:pPr>
            <a:endParaRPr lang="en-GB" sz="3900" dirty="0"/>
          </a:p>
        </p:txBody>
      </p:sp>
    </p:spTree>
    <p:extLst>
      <p:ext uri="{BB962C8B-B14F-4D97-AF65-F5344CB8AC3E}">
        <p14:creationId xmlns:p14="http://schemas.microsoft.com/office/powerpoint/2010/main" val="2019792933"/>
      </p:ext>
    </p:extLst>
  </p:cSld>
  <p:clrMapOvr>
    <a:masterClrMapping/>
  </p:clrMapOvr>
  <mc:AlternateContent xmlns:mc="http://schemas.openxmlformats.org/markup-compatibility/2006" xmlns:p14="http://schemas.microsoft.com/office/powerpoint/2010/main">
    <mc:Choice Requires="p14">
      <p:transition spd="slow" p14:dur="2000" advTm="14036"/>
    </mc:Choice>
    <mc:Fallback xmlns="">
      <p:transition spd="slow" advTm="14036"/>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2" name="Picture 1">
            <a:extLst>
              <a:ext uri="{FF2B5EF4-FFF2-40B4-BE49-F238E27FC236}">
                <a16:creationId xmlns:a16="http://schemas.microsoft.com/office/drawing/2014/main" id="{47FF80EB-C5C3-EE4C-4CE8-722ED38D354D}"/>
              </a:ext>
            </a:extLst>
          </p:cNvPr>
          <p:cNvPicPr>
            <a:picLocks noChangeAspect="1"/>
          </p:cNvPicPr>
          <p:nvPr/>
        </p:nvPicPr>
        <p:blipFill>
          <a:blip r:embed="rId5"/>
          <a:stretch>
            <a:fillRect/>
          </a:stretch>
        </p:blipFill>
        <p:spPr>
          <a:xfrm>
            <a:off x="968251" y="674348"/>
            <a:ext cx="12666130" cy="9139461"/>
          </a:xfrm>
          <a:prstGeom prst="rect">
            <a:avLst/>
          </a:prstGeom>
        </p:spPr>
      </p:pic>
      <p:sp>
        <p:nvSpPr>
          <p:cNvPr id="4" name="TextBox 3">
            <a:extLst>
              <a:ext uri="{FF2B5EF4-FFF2-40B4-BE49-F238E27FC236}">
                <a16:creationId xmlns:a16="http://schemas.microsoft.com/office/drawing/2014/main" id="{8717A0B3-3D5C-462F-2BEC-B0CCEDD29A09}"/>
              </a:ext>
            </a:extLst>
          </p:cNvPr>
          <p:cNvSpPr txBox="1"/>
          <p:nvPr/>
        </p:nvSpPr>
        <p:spPr>
          <a:xfrm>
            <a:off x="9310254" y="9813809"/>
            <a:ext cx="4324127" cy="369332"/>
          </a:xfrm>
          <a:prstGeom prst="rect">
            <a:avLst/>
          </a:prstGeom>
          <a:noFill/>
          <a:ln>
            <a:solidFill>
              <a:schemeClr val="accent1"/>
            </a:solidFill>
          </a:ln>
        </p:spPr>
        <p:txBody>
          <a:bodyPr wrap="square" rtlCol="0">
            <a:spAutoFit/>
          </a:bodyPr>
          <a:lstStyle/>
          <a:p>
            <a:r>
              <a:rPr lang="en-GB" dirty="0">
                <a:solidFill>
                  <a:schemeClr val="bg1">
                    <a:lumMod val="65000"/>
                  </a:schemeClr>
                </a:solidFill>
              </a:rPr>
              <a:t>Figure SPM.8, 2.4, AR5 synthesis report</a:t>
            </a:r>
          </a:p>
        </p:txBody>
      </p:sp>
    </p:spTree>
    <p:extLst>
      <p:ext uri="{BB962C8B-B14F-4D97-AF65-F5344CB8AC3E}">
        <p14:creationId xmlns:p14="http://schemas.microsoft.com/office/powerpoint/2010/main" val="3302059595"/>
      </p:ext>
    </p:extLst>
  </p:cSld>
  <p:clrMapOvr>
    <a:masterClrMapping/>
  </p:clrMapOvr>
  <mc:AlternateContent xmlns:mc="http://schemas.openxmlformats.org/markup-compatibility/2006" xmlns:p14="http://schemas.microsoft.com/office/powerpoint/2010/main">
    <mc:Choice Requires="p14">
      <p:transition spd="slow" p14:dur="2000" advTm="149240"/>
    </mc:Choice>
    <mc:Fallback xmlns="">
      <p:transition spd="slow" advTm="14924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C9EA9B5-F256-77E3-1867-71E42BE83185}"/>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BE36B922-56E1-A63C-B7DD-89C8D204820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3" name="Picture 2" descr="Table&#10;&#10;Description automatically generated">
            <a:extLst>
              <a:ext uri="{FF2B5EF4-FFF2-40B4-BE49-F238E27FC236}">
                <a16:creationId xmlns:a16="http://schemas.microsoft.com/office/drawing/2014/main" id="{6A8A056C-2353-8825-F64C-44568C1E03BC}"/>
              </a:ext>
            </a:extLst>
          </p:cNvPr>
          <p:cNvPicPr>
            <a:picLocks noChangeAspect="1"/>
          </p:cNvPicPr>
          <p:nvPr/>
        </p:nvPicPr>
        <p:blipFill rotWithShape="1">
          <a:blip r:embed="rId5">
            <a:extLst>
              <a:ext uri="{28A0092B-C50C-407E-A947-70E740481C1C}">
                <a14:useLocalDpi xmlns:a14="http://schemas.microsoft.com/office/drawing/2010/main" val="0"/>
              </a:ext>
            </a:extLst>
          </a:blip>
          <a:srcRect b="81985"/>
          <a:stretch/>
        </p:blipFill>
        <p:spPr>
          <a:xfrm>
            <a:off x="686632" y="2205634"/>
            <a:ext cx="16914735" cy="1929486"/>
          </a:xfrm>
          <a:prstGeom prst="rect">
            <a:avLst/>
          </a:prstGeom>
        </p:spPr>
      </p:pic>
    </p:spTree>
    <p:extLst>
      <p:ext uri="{BB962C8B-B14F-4D97-AF65-F5344CB8AC3E}">
        <p14:creationId xmlns:p14="http://schemas.microsoft.com/office/powerpoint/2010/main" val="1975636096"/>
      </p:ext>
    </p:extLst>
  </p:cSld>
  <p:clrMapOvr>
    <a:masterClrMapping/>
  </p:clrMapOvr>
  <mc:AlternateContent xmlns:mc="http://schemas.openxmlformats.org/markup-compatibility/2006" xmlns:p14="http://schemas.microsoft.com/office/powerpoint/2010/main">
    <mc:Choice Requires="p14">
      <p:transition spd="slow" p14:dur="2000" advTm="5515"/>
    </mc:Choice>
    <mc:Fallback xmlns="">
      <p:transition spd="slow" advTm="5515"/>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3" name="Picture 2" descr="Table&#10;&#10;Description automatically generated">
            <a:extLst>
              <a:ext uri="{FF2B5EF4-FFF2-40B4-BE49-F238E27FC236}">
                <a16:creationId xmlns:a16="http://schemas.microsoft.com/office/drawing/2014/main" id="{93CDFD05-372C-ECFA-6AF9-48816532C055}"/>
              </a:ext>
            </a:extLst>
          </p:cNvPr>
          <p:cNvPicPr>
            <a:picLocks noChangeAspect="1"/>
          </p:cNvPicPr>
          <p:nvPr/>
        </p:nvPicPr>
        <p:blipFill rotWithShape="1">
          <a:blip r:embed="rId5">
            <a:extLst>
              <a:ext uri="{28A0092B-C50C-407E-A947-70E740481C1C}">
                <a14:useLocalDpi xmlns:a14="http://schemas.microsoft.com/office/drawing/2010/main" val="0"/>
              </a:ext>
            </a:extLst>
          </a:blip>
          <a:srcRect b="5294"/>
          <a:stretch/>
        </p:blipFill>
        <p:spPr>
          <a:xfrm>
            <a:off x="674488" y="1421578"/>
            <a:ext cx="13502808" cy="8097560"/>
          </a:xfrm>
          <a:prstGeom prst="rect">
            <a:avLst/>
          </a:prstGeom>
        </p:spPr>
      </p:pic>
      <p:sp>
        <p:nvSpPr>
          <p:cNvPr id="5" name="TextBox 4">
            <a:extLst>
              <a:ext uri="{FF2B5EF4-FFF2-40B4-BE49-F238E27FC236}">
                <a16:creationId xmlns:a16="http://schemas.microsoft.com/office/drawing/2014/main" id="{AABBAD35-082D-9B5E-1130-FCD8ACF0F4FC}"/>
              </a:ext>
            </a:extLst>
          </p:cNvPr>
          <p:cNvSpPr txBox="1"/>
          <p:nvPr/>
        </p:nvSpPr>
        <p:spPr>
          <a:xfrm>
            <a:off x="11260626" y="9818002"/>
            <a:ext cx="12412724" cy="338554"/>
          </a:xfrm>
          <a:prstGeom prst="rect">
            <a:avLst/>
          </a:prstGeom>
          <a:noFill/>
        </p:spPr>
        <p:txBody>
          <a:bodyPr wrap="square" rtlCol="0">
            <a:spAutoFit/>
          </a:bodyPr>
          <a:lstStyle/>
          <a:p>
            <a:r>
              <a:rPr lang="en-GB" sz="1600" dirty="0"/>
              <a:t>Assessment box SMP.2, AR5 WG2 summary for policymakers report</a:t>
            </a:r>
          </a:p>
        </p:txBody>
      </p:sp>
    </p:spTree>
    <p:extLst>
      <p:ext uri="{BB962C8B-B14F-4D97-AF65-F5344CB8AC3E}">
        <p14:creationId xmlns:p14="http://schemas.microsoft.com/office/powerpoint/2010/main" val="28355863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4">
            <a:extLst>
              <a:ext uri="{FF2B5EF4-FFF2-40B4-BE49-F238E27FC236}">
                <a16:creationId xmlns:a16="http://schemas.microsoft.com/office/drawing/2014/main" id="{AABBAD35-082D-9B5E-1130-FCD8ACF0F4FC}"/>
              </a:ext>
            </a:extLst>
          </p:cNvPr>
          <p:cNvSpPr txBox="1"/>
          <p:nvPr/>
        </p:nvSpPr>
        <p:spPr>
          <a:xfrm>
            <a:off x="11260626" y="9818002"/>
            <a:ext cx="12412724" cy="338554"/>
          </a:xfrm>
          <a:prstGeom prst="rect">
            <a:avLst/>
          </a:prstGeom>
          <a:noFill/>
        </p:spPr>
        <p:txBody>
          <a:bodyPr wrap="square" rtlCol="0">
            <a:spAutoFit/>
          </a:bodyPr>
          <a:lstStyle/>
          <a:p>
            <a:r>
              <a:rPr lang="en-GB" sz="1600" dirty="0"/>
              <a:t>Assessment box SMP.2, AR5 WG2 summary for policymakers report</a:t>
            </a:r>
          </a:p>
        </p:txBody>
      </p:sp>
      <p:pic>
        <p:nvPicPr>
          <p:cNvPr id="3" name="Picture 2">
            <a:extLst>
              <a:ext uri="{FF2B5EF4-FFF2-40B4-BE49-F238E27FC236}">
                <a16:creationId xmlns:a16="http://schemas.microsoft.com/office/drawing/2014/main" id="{B7256186-94A8-F1E6-2057-638FC47C2D0A}"/>
              </a:ext>
            </a:extLst>
          </p:cNvPr>
          <p:cNvPicPr>
            <a:picLocks noChangeAspect="1"/>
          </p:cNvPicPr>
          <p:nvPr/>
        </p:nvPicPr>
        <p:blipFill>
          <a:blip r:embed="rId5">
            <a:extLst>
              <a:ext uri="{28A0092B-C50C-407E-A947-70E740481C1C}">
                <a14:useLocalDpi xmlns:a14="http://schemas.microsoft.com/office/drawing/2010/main" val="0"/>
              </a:ext>
            </a:extLst>
          </a:blip>
          <a:srcRect l="527"/>
          <a:stretch>
            <a:fillRect/>
          </a:stretch>
        </p:blipFill>
        <p:spPr>
          <a:xfrm>
            <a:off x="674488" y="2837189"/>
            <a:ext cx="13617858" cy="6611611"/>
          </a:xfrm>
          <a:prstGeom prst="rect">
            <a:avLst/>
          </a:prstGeom>
        </p:spPr>
      </p:pic>
      <p:pic>
        <p:nvPicPr>
          <p:cNvPr id="6" name="Picture 5" descr="Table&#10;&#10;Description automatically generated">
            <a:extLst>
              <a:ext uri="{FF2B5EF4-FFF2-40B4-BE49-F238E27FC236}">
                <a16:creationId xmlns:a16="http://schemas.microsoft.com/office/drawing/2014/main" id="{12900ECD-111F-D451-F7E2-EF5F3F73CA8A}"/>
              </a:ext>
            </a:extLst>
          </p:cNvPr>
          <p:cNvPicPr>
            <a:picLocks noChangeAspect="1"/>
          </p:cNvPicPr>
          <p:nvPr/>
        </p:nvPicPr>
        <p:blipFill rotWithShape="1">
          <a:blip r:embed="rId6">
            <a:extLst>
              <a:ext uri="{28A0092B-C50C-407E-A947-70E740481C1C}">
                <a14:useLocalDpi xmlns:a14="http://schemas.microsoft.com/office/drawing/2010/main" val="0"/>
              </a:ext>
            </a:extLst>
          </a:blip>
          <a:srcRect b="82060"/>
          <a:stretch>
            <a:fillRect/>
          </a:stretch>
        </p:blipFill>
        <p:spPr>
          <a:xfrm>
            <a:off x="674488" y="1421578"/>
            <a:ext cx="13502808" cy="1533893"/>
          </a:xfrm>
          <a:prstGeom prst="rect">
            <a:avLst/>
          </a:prstGeom>
        </p:spPr>
      </p:pic>
    </p:spTree>
    <p:extLst>
      <p:ext uri="{BB962C8B-B14F-4D97-AF65-F5344CB8AC3E}">
        <p14:creationId xmlns:p14="http://schemas.microsoft.com/office/powerpoint/2010/main" val="3650193235"/>
      </p:ext>
    </p:extLst>
  </p:cSld>
  <p:clrMapOvr>
    <a:masterClrMapping/>
  </p:clrMapOvr>
  <mc:AlternateContent xmlns:mc="http://schemas.openxmlformats.org/markup-compatibility/2006" xmlns:p14="http://schemas.microsoft.com/office/powerpoint/2010/main">
    <mc:Choice Requires="p14">
      <p:transition spd="slow" p14:dur="2000" advTm="20190"/>
    </mc:Choice>
    <mc:Fallback xmlns="">
      <p:transition spd="slow" advTm="2019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2A142F4-A547-E35D-C0F9-0D7AFB0C137D}"/>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15E1DF5F-1E5D-6F7C-86FA-7380F7CB9FEB}"/>
              </a:ext>
            </a:extLst>
          </p:cNvPr>
          <p:cNvSpPr txBox="1"/>
          <p:nvPr/>
        </p:nvSpPr>
        <p:spPr>
          <a:xfrm>
            <a:off x="1143000" y="1736548"/>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What can we do?</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10" name="Freeform 13">
            <a:extLst>
              <a:ext uri="{FF2B5EF4-FFF2-40B4-BE49-F238E27FC236}">
                <a16:creationId xmlns:a16="http://schemas.microsoft.com/office/drawing/2014/main" id="{93EC31F9-7BE8-5A73-ACE0-ABCC1A0D1B58}"/>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TextBox 2">
            <a:extLst>
              <a:ext uri="{FF2B5EF4-FFF2-40B4-BE49-F238E27FC236}">
                <a16:creationId xmlns:a16="http://schemas.microsoft.com/office/drawing/2014/main" id="{E0F462EB-7FBB-987A-77F4-7CF939196DB5}"/>
              </a:ext>
            </a:extLst>
          </p:cNvPr>
          <p:cNvSpPr txBox="1"/>
          <p:nvPr/>
        </p:nvSpPr>
        <p:spPr>
          <a:xfrm>
            <a:off x="1143000" y="2825808"/>
            <a:ext cx="16470512" cy="48320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Adaptation:</a:t>
            </a: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adapting to life in a changing climate.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800" dirty="0">
              <a:solidFill>
                <a:prstClr val="black"/>
              </a:solidFill>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Local solutions for local risks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800" b="1"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1685925" lvl="2" indent="-771525">
              <a:buFontTx/>
              <a:buAutoNum type="arabicPeriod"/>
              <a:defRPr/>
            </a:pP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Regional and local climate projections.</a:t>
            </a:r>
          </a:p>
          <a:p>
            <a:pPr marL="1685925" lvl="2" indent="-771525">
              <a:buFontTx/>
              <a:buAutoNum type="arabicPeriod"/>
              <a:defRPr/>
            </a:pPr>
            <a:endPar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1685925" lvl="2" indent="-771525">
              <a:buFontTx/>
              <a:buAutoNum type="arabicPeriod"/>
              <a:defRPr/>
            </a:pP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Predictions of user-relevant quantities.</a:t>
            </a:r>
          </a:p>
          <a:p>
            <a:pPr marL="1685925" lvl="2" indent="-771525">
              <a:buFontTx/>
              <a:buAutoNum type="arabicPeriod"/>
              <a:defRPr/>
            </a:pPr>
            <a:endPar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1685925" lvl="2" indent="-771525">
              <a:buFontTx/>
              <a:buAutoNum type="arabicPeriod"/>
              <a:defRPr/>
            </a:pPr>
            <a:r>
              <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Evaluation of what risks you are exposed to.</a:t>
            </a:r>
          </a:p>
          <a:p>
            <a:pPr marR="0" lvl="0" algn="l" defTabSz="914400" rtl="0" eaLnBrk="1" fontAlgn="auto" latinLnBrk="0" hangingPunct="1">
              <a:lnSpc>
                <a:spcPct val="100000"/>
              </a:lnSpc>
              <a:spcBef>
                <a:spcPts val="0"/>
              </a:spcBef>
              <a:spcAft>
                <a:spcPts val="0"/>
              </a:spcAft>
              <a:buClrTx/>
              <a:buSzTx/>
              <a:tabLst/>
              <a:defRPr/>
            </a:pPr>
            <a:endParaRPr kumimoji="0" lang="en-GB"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a:defRPr/>
            </a:pPr>
            <a:r>
              <a:rPr lang="en-GB" sz="2800" b="1" dirty="0">
                <a:solidFill>
                  <a:srgbClr val="FF0000"/>
                </a:solidFill>
                <a:latin typeface="Calibri" panose="020F0502020204030204" pitchFamily="34" charset="0"/>
                <a:cs typeface="Calibri" panose="020F0502020204030204" pitchFamily="34" charset="0"/>
              </a:rPr>
              <a:t>But need to consider adaptation equity as those least responsible are least equipped to adapt</a:t>
            </a:r>
          </a:p>
        </p:txBody>
      </p:sp>
    </p:spTree>
    <p:extLst>
      <p:ext uri="{BB962C8B-B14F-4D97-AF65-F5344CB8AC3E}">
        <p14:creationId xmlns:p14="http://schemas.microsoft.com/office/powerpoint/2010/main" val="3330992500"/>
      </p:ext>
    </p:extLst>
  </p:cSld>
  <p:clrMapOvr>
    <a:masterClrMapping/>
  </p:clrMapOvr>
  <mc:AlternateContent xmlns:mc="http://schemas.openxmlformats.org/markup-compatibility/2006" xmlns:p14="http://schemas.microsoft.com/office/powerpoint/2010/main">
    <mc:Choice Requires="p14">
      <p:transition spd="slow" p14:dur="2000" advTm="43935"/>
    </mc:Choice>
    <mc:Fallback xmlns="">
      <p:transition spd="slow" advTm="4393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5B4AEC6-848E-35F6-1AEC-7E9477587CB8}"/>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34198CDE-ECBD-B4EF-83CC-7274E2AF7A57}"/>
              </a:ext>
            </a:extLst>
          </p:cNvPr>
          <p:cNvSpPr txBox="1"/>
          <p:nvPr/>
        </p:nvSpPr>
        <p:spPr>
          <a:xfrm>
            <a:off x="1143000" y="1736548"/>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What can we do?</a:t>
            </a:r>
            <a:endParaRPr kumimoji="0" lang="en-US" sz="5599"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10" name="Freeform 13">
            <a:extLst>
              <a:ext uri="{FF2B5EF4-FFF2-40B4-BE49-F238E27FC236}">
                <a16:creationId xmlns:a16="http://schemas.microsoft.com/office/drawing/2014/main" id="{8E1327FB-DEDF-E767-44BC-8888273C700B}"/>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2" name="Picture 1">
            <a:extLst>
              <a:ext uri="{FF2B5EF4-FFF2-40B4-BE49-F238E27FC236}">
                <a16:creationId xmlns:a16="http://schemas.microsoft.com/office/drawing/2014/main" id="{739505CC-447A-3B16-D6A1-3F2B811172DF}"/>
              </a:ext>
            </a:extLst>
          </p:cNvPr>
          <p:cNvPicPr>
            <a:picLocks noChangeAspect="1"/>
          </p:cNvPicPr>
          <p:nvPr/>
        </p:nvPicPr>
        <p:blipFill rotWithShape="1">
          <a:blip r:embed="rId5"/>
          <a:srcRect t="13650" r="44751"/>
          <a:stretch/>
        </p:blipFill>
        <p:spPr bwMode="auto">
          <a:xfrm>
            <a:off x="944514" y="2794542"/>
            <a:ext cx="7327290" cy="644175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70675535"/>
      </p:ext>
    </p:extLst>
  </p:cSld>
  <p:clrMapOvr>
    <a:masterClrMapping/>
  </p:clrMapOvr>
  <mc:AlternateContent xmlns:mc="http://schemas.openxmlformats.org/markup-compatibility/2006" xmlns:p14="http://schemas.microsoft.com/office/powerpoint/2010/main">
    <mc:Choice Requires="p14">
      <p:transition spd="slow" p14:dur="2000" advTm="43935"/>
    </mc:Choice>
    <mc:Fallback xmlns="">
      <p:transition spd="slow" advTm="43935"/>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779588C8-99B4-0066-A29B-472B6CF20D8B}"/>
              </a:ext>
            </a:extLst>
          </p:cNvPr>
          <p:cNvSpPr txBox="1"/>
          <p:nvPr/>
        </p:nvSpPr>
        <p:spPr>
          <a:xfrm>
            <a:off x="1143000" y="1500849"/>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46245A"/>
                </a:solidFill>
                <a:effectLst/>
                <a:uLnTx/>
                <a:uFillTx/>
                <a:latin typeface="DM Sans" pitchFamily="2" charset="0"/>
                <a:ea typeface="+mn-ea"/>
                <a:cs typeface="+mn-cs"/>
              </a:rPr>
              <a:t>The Decision-making Context </a:t>
            </a:r>
          </a:p>
        </p:txBody>
      </p:sp>
      <p:pic>
        <p:nvPicPr>
          <p:cNvPr id="2" name="Picture 1" descr="Diagram&#10;&#10;Description automatically generated">
            <a:extLst>
              <a:ext uri="{FF2B5EF4-FFF2-40B4-BE49-F238E27FC236}">
                <a16:creationId xmlns:a16="http://schemas.microsoft.com/office/drawing/2014/main" id="{D8BDEC0C-8F61-AB3F-44FF-FB48AE6B2A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466" y="3220569"/>
            <a:ext cx="8551549" cy="4957253"/>
          </a:xfrm>
          <a:prstGeom prst="rect">
            <a:avLst/>
          </a:prstGeom>
        </p:spPr>
      </p:pic>
      <p:sp>
        <p:nvSpPr>
          <p:cNvPr id="4" name="TextBox 3">
            <a:extLst>
              <a:ext uri="{FF2B5EF4-FFF2-40B4-BE49-F238E27FC236}">
                <a16:creationId xmlns:a16="http://schemas.microsoft.com/office/drawing/2014/main" id="{CB87C955-64C1-CB00-5C55-DD0A8C065F0E}"/>
              </a:ext>
            </a:extLst>
          </p:cNvPr>
          <p:cNvSpPr txBox="1"/>
          <p:nvPr/>
        </p:nvSpPr>
        <p:spPr>
          <a:xfrm>
            <a:off x="10177351" y="2758118"/>
            <a:ext cx="7602415" cy="6370975"/>
          </a:xfrm>
          <a:prstGeom prst="rect">
            <a:avLst/>
          </a:prstGeom>
          <a:noFill/>
        </p:spPr>
        <p:txBody>
          <a:bodyPr wrap="square">
            <a:spAutoFit/>
          </a:bodyPr>
          <a:lstStyle/>
          <a:p>
            <a:pPr marL="285750" indent="-28575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Climate variability and extremes significant in decision-making</a:t>
            </a:r>
          </a:p>
          <a:p>
            <a:pPr marL="285750" indent="-28575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Responding to climate-related risks involves decision making in a changing world</a:t>
            </a:r>
          </a:p>
          <a:p>
            <a:pPr marL="285750" indent="-28575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Continuing uncertainty about severity and timing of climate-change impacts</a:t>
            </a:r>
          </a:p>
          <a:p>
            <a:pPr marL="285750" indent="-28575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Iterative risk management recommended for complex situations</a:t>
            </a:r>
          </a:p>
          <a:p>
            <a:pPr marL="285750" indent="-28575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Framework suitable for situations with large potential consequences and persistent uncertainties</a:t>
            </a:r>
          </a:p>
          <a:p>
            <a:pPr marL="285750" indent="-28575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Importance of assessing widest possible range of potential impacts highlighted</a:t>
            </a:r>
          </a:p>
          <a:p>
            <a:pPr marL="285750" indent="-28575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Includes low-probability outcomes with large consequences</a:t>
            </a:r>
          </a:p>
          <a:p>
            <a:pPr marL="285750" indent="-28575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Understanding benefits and trade-offs of alternative risk management actions essential</a:t>
            </a:r>
          </a:p>
          <a:p>
            <a:pPr marL="285750" indent="-28575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Monitoring and learning crucial for effective adaptation</a:t>
            </a:r>
          </a:p>
        </p:txBody>
      </p:sp>
    </p:spTree>
    <p:extLst>
      <p:ext uri="{BB962C8B-B14F-4D97-AF65-F5344CB8AC3E}">
        <p14:creationId xmlns:p14="http://schemas.microsoft.com/office/powerpoint/2010/main" val="35269071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674C5AB-2027-B445-2053-09442C690BC7}"/>
            </a:ext>
          </a:extLst>
        </p:cNvPr>
        <p:cNvGrpSpPr/>
        <p:nvPr/>
      </p:nvGrpSpPr>
      <p:grpSpPr>
        <a:xfrm>
          <a:off x="0" y="0"/>
          <a:ext cx="0" cy="0"/>
          <a:chOff x="0" y="0"/>
          <a:chExt cx="0" cy="0"/>
        </a:xfrm>
      </p:grpSpPr>
      <p:pic>
        <p:nvPicPr>
          <p:cNvPr id="3" name="Picture 2" descr="Tulsa, Oklahoma. In 1974, flood victims pressured the city government to reduce flood damage, which ballooned into a major program to make the city more disaster-resistant and sustainable that continues to this day. By 1992, Tulsa had the lowest flood insurance rates in the country. ">
            <a:extLst>
              <a:ext uri="{FF2B5EF4-FFF2-40B4-BE49-F238E27FC236}">
                <a16:creationId xmlns:a16="http://schemas.microsoft.com/office/drawing/2014/main" id="{0999DEB3-5ED9-0E6F-D958-9154DD35440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564" r="24083"/>
          <a:stretch/>
        </p:blipFill>
        <p:spPr bwMode="auto">
          <a:xfrm>
            <a:off x="9523133" y="10"/>
            <a:ext cx="8764867" cy="10286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7" name="TextBox 5">
            <a:extLst>
              <a:ext uri="{FF2B5EF4-FFF2-40B4-BE49-F238E27FC236}">
                <a16:creationId xmlns:a16="http://schemas.microsoft.com/office/drawing/2014/main" id="{7B912812-2E45-CA1A-0D55-03879E6F9955}"/>
              </a:ext>
            </a:extLst>
          </p:cNvPr>
          <p:cNvSpPr txBox="1"/>
          <p:nvPr/>
        </p:nvSpPr>
        <p:spPr>
          <a:xfrm>
            <a:off x="1143000" y="1500849"/>
            <a:ext cx="13847674" cy="820289"/>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46245A"/>
                </a:solidFill>
                <a:effectLst/>
                <a:uLnTx/>
                <a:uFillTx/>
                <a:latin typeface="DM Sans" pitchFamily="2" charset="0"/>
                <a:ea typeface="+mn-ea"/>
                <a:cs typeface="+mn-cs"/>
              </a:rPr>
              <a:t>Examples where this has worked…</a:t>
            </a:r>
          </a:p>
        </p:txBody>
      </p:sp>
      <p:sp>
        <p:nvSpPr>
          <p:cNvPr id="9" name="Freeform 13">
            <a:extLst>
              <a:ext uri="{FF2B5EF4-FFF2-40B4-BE49-F238E27FC236}">
                <a16:creationId xmlns:a16="http://schemas.microsoft.com/office/drawing/2014/main" id="{401CEB1E-802B-8182-1741-31482800F9B5}"/>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11" name="Rectangle 1">
            <a:extLst>
              <a:ext uri="{FF2B5EF4-FFF2-40B4-BE49-F238E27FC236}">
                <a16:creationId xmlns:a16="http://schemas.microsoft.com/office/drawing/2014/main" id="{507AAE23-BB4C-F7EF-15E9-BCF5138AB723}"/>
              </a:ext>
            </a:extLst>
          </p:cNvPr>
          <p:cNvSpPr>
            <a:spLocks noChangeArrowheads="1"/>
          </p:cNvSpPr>
          <p:nvPr/>
        </p:nvSpPr>
        <p:spPr bwMode="auto">
          <a:xfrm>
            <a:off x="1143000" y="3020468"/>
            <a:ext cx="8001000" cy="656720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eaLnBrk="1" fontAlgn="base" hangingPunct="1">
              <a:lnSpc>
                <a:spcPct val="90000"/>
              </a:lnSpc>
              <a:spcBef>
                <a:spcPct val="0"/>
              </a:spcBef>
              <a:spcAft>
                <a:spcPts val="600"/>
              </a:spcAft>
              <a:buClrTx/>
              <a:buSzTx/>
              <a:tabLst/>
            </a:pPr>
            <a:r>
              <a:rPr kumimoji="0" lang="en-US" altLang="en-US" sz="2400" b="1" i="0" u="none" strike="noStrike" cap="none" normalizeH="0" baseline="0" dirty="0">
                <a:ln>
                  <a:noFill/>
                </a:ln>
                <a:effectLst/>
                <a:latin typeface="Calibri" panose="020F0502020204030204" pitchFamily="34" charset="0"/>
                <a:cs typeface="Calibri" panose="020F0502020204030204" pitchFamily="34" charset="0"/>
              </a:rPr>
              <a:t>Tulsa, Oklahoma</a:t>
            </a:r>
          </a:p>
          <a:p>
            <a:pPr marL="285750" marR="0" lvl="0" indent="-28575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2400" b="0" i="0" u="none" strike="noStrike" cap="none" normalizeH="0" baseline="0" dirty="0">
                <a:ln>
                  <a:noFill/>
                </a:ln>
                <a:effectLst/>
                <a:latin typeface="Calibri" panose="020F0502020204030204" pitchFamily="34" charset="0"/>
                <a:cs typeface="Calibri" panose="020F0502020204030204" pitchFamily="34" charset="0"/>
              </a:rPr>
              <a:t>In 1974, victims of a major flood in Tulsa, Oklahoma, began </a:t>
            </a:r>
            <a:r>
              <a:rPr kumimoji="0" lang="en-US" altLang="en-US" sz="2400" b="0" i="0" u="none" strike="noStrike" cap="none" normalizeH="0" baseline="0" dirty="0" err="1">
                <a:ln>
                  <a:noFill/>
                </a:ln>
                <a:effectLst/>
                <a:latin typeface="Calibri" panose="020F0502020204030204" pitchFamily="34" charset="0"/>
                <a:cs typeface="Calibri" panose="020F0502020204030204" pitchFamily="34" charset="0"/>
              </a:rPr>
              <a:t>organising</a:t>
            </a:r>
            <a:r>
              <a:rPr kumimoji="0" lang="en-US" altLang="en-US" sz="2400" b="0" i="0" u="none" strike="noStrike" cap="none" normalizeH="0" baseline="0" dirty="0">
                <a:ln>
                  <a:noFill/>
                </a:ln>
                <a:effectLst/>
                <a:latin typeface="Calibri" panose="020F0502020204030204" pitchFamily="34" charset="0"/>
                <a:cs typeface="Calibri" panose="020F0502020204030204" pitchFamily="34" charset="0"/>
              </a:rPr>
              <a:t> to pressure the city government to reduce flood damage. </a:t>
            </a:r>
          </a:p>
          <a:p>
            <a:pPr marL="285750" marR="0" lvl="0" indent="-28575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2400" b="0" i="0" u="none" strike="noStrike" cap="none" normalizeH="0" baseline="0" dirty="0">
                <a:ln>
                  <a:noFill/>
                </a:ln>
                <a:effectLst/>
                <a:latin typeface="Calibri" panose="020F0502020204030204" pitchFamily="34" charset="0"/>
                <a:cs typeface="Calibri" panose="020F0502020204030204" pitchFamily="34" charset="0"/>
              </a:rPr>
              <a:t>Gradually the city improved its technical capabilities, organizational structure and funding for flood control. </a:t>
            </a:r>
          </a:p>
          <a:p>
            <a:pPr marL="285750" marR="0" lvl="0" indent="-28575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2400" b="0" i="0" u="none" strike="noStrike" cap="none" normalizeH="0" baseline="0" dirty="0">
                <a:ln>
                  <a:noFill/>
                </a:ln>
                <a:effectLst/>
                <a:latin typeface="Calibri" panose="020F0502020204030204" pitchFamily="34" charset="0"/>
                <a:cs typeface="Calibri" panose="020F0502020204030204" pitchFamily="34" charset="0"/>
              </a:rPr>
              <a:t>After another major flood in 1984, the city banned development in floodplains and began relocating more than a thousand buildings away from them. </a:t>
            </a:r>
          </a:p>
          <a:p>
            <a:pPr marL="285750" marR="0" lvl="0" indent="-28575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2400" b="0" i="0" u="none" strike="noStrike" cap="none" normalizeH="0" baseline="0" dirty="0">
                <a:ln>
                  <a:noFill/>
                </a:ln>
                <a:effectLst/>
                <a:latin typeface="Calibri" panose="020F0502020204030204" pitchFamily="34" charset="0"/>
                <a:cs typeface="Calibri" panose="020F0502020204030204" pitchFamily="34" charset="0"/>
              </a:rPr>
              <a:t>By 1992, Tulsa had earned the lowest flood insurance rates in the US </a:t>
            </a:r>
          </a:p>
          <a:p>
            <a:pPr marL="285750" marR="0" lvl="0" indent="-285750" eaLnBrk="1" fontAlgn="base" hangingPunct="1">
              <a:lnSpc>
                <a:spcPct val="90000"/>
              </a:lnSpc>
              <a:spcBef>
                <a:spcPct val="0"/>
              </a:spcBef>
              <a:spcAft>
                <a:spcPts val="600"/>
              </a:spcAft>
              <a:buClrTx/>
              <a:buSzTx/>
              <a:buFont typeface="Arial" panose="020B0604020202020204" pitchFamily="34" charset="0"/>
              <a:buChar char="•"/>
              <a:tabLst/>
            </a:pPr>
            <a:r>
              <a:rPr lang="en-US" altLang="en-US" sz="2400" dirty="0">
                <a:latin typeface="Calibri" panose="020F0502020204030204" pitchFamily="34" charset="0"/>
                <a:cs typeface="Calibri" panose="020F0502020204030204" pitchFamily="34" charset="0"/>
              </a:rPr>
              <a:t>I</a:t>
            </a:r>
            <a:r>
              <a:rPr kumimoji="0" lang="en-US" altLang="en-US" sz="2400" b="0" i="0" u="none" strike="noStrike" cap="none" normalizeH="0" baseline="0" dirty="0">
                <a:ln>
                  <a:noFill/>
                </a:ln>
                <a:effectLst/>
                <a:latin typeface="Calibri" panose="020F0502020204030204" pitchFamily="34" charset="0"/>
                <a:cs typeface="Calibri" panose="020F0502020204030204" pitchFamily="34" charset="0"/>
              </a:rPr>
              <a:t>n 1998, Tulsa Partners began creating public-private partnerships for the mitigation of other extreme events such as droughts, ice storms and tornadoes. </a:t>
            </a:r>
          </a:p>
          <a:p>
            <a:pPr marL="285750" marR="0" lvl="0" indent="-285750" eaLnBrk="1" fontAlgn="base" hangingPunct="1">
              <a:lnSpc>
                <a:spcPct val="90000"/>
              </a:lnSpc>
              <a:spcBef>
                <a:spcPct val="0"/>
              </a:spcBef>
              <a:spcAft>
                <a:spcPts val="600"/>
              </a:spcAft>
              <a:buClrTx/>
              <a:buSzTx/>
              <a:buFont typeface="Arial" panose="020B0604020202020204" pitchFamily="34" charset="0"/>
              <a:buChar char="•"/>
              <a:tabLst/>
            </a:pPr>
            <a:r>
              <a:rPr kumimoji="0" lang="en-US" altLang="en-US" sz="2400" b="0" i="0" u="none" strike="noStrike" cap="none" normalizeH="0" baseline="0" dirty="0">
                <a:ln>
                  <a:noFill/>
                </a:ln>
                <a:effectLst/>
                <a:latin typeface="Calibri" panose="020F0502020204030204" pitchFamily="34" charset="0"/>
                <a:cs typeface="Calibri" panose="020F0502020204030204" pitchFamily="34" charset="0"/>
              </a:rPr>
              <a:t>Since then, the city has continued to make progress toward its long-term </a:t>
            </a:r>
            <a:r>
              <a:rPr kumimoji="0" lang="en-US" altLang="en-US" sz="2400" i="0" u="none" strike="noStrike" cap="none" normalizeH="0" baseline="0" dirty="0">
                <a:ln>
                  <a:noFill/>
                </a:ln>
                <a:effectLst/>
                <a:latin typeface="Calibri" panose="020F0502020204030204" pitchFamily="34" charset="0"/>
                <a:cs typeface="Calibri" panose="020F0502020204030204" pitchFamily="34" charset="0"/>
              </a:rPr>
              <a:t>goal, a disaster-resistant and sustainable community.</a:t>
            </a:r>
          </a:p>
        </p:txBody>
      </p:sp>
    </p:spTree>
    <p:extLst>
      <p:ext uri="{BB962C8B-B14F-4D97-AF65-F5344CB8AC3E}">
        <p14:creationId xmlns:p14="http://schemas.microsoft.com/office/powerpoint/2010/main" val="18526469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779588C8-99B4-0066-A29B-472B6CF20D8B}"/>
              </a:ext>
            </a:extLst>
          </p:cNvPr>
          <p:cNvSpPr txBox="1"/>
          <p:nvPr/>
        </p:nvSpPr>
        <p:spPr>
          <a:xfrm>
            <a:off x="1143000" y="1736548"/>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Maladaptation </a:t>
            </a:r>
          </a:p>
        </p:txBody>
      </p:sp>
      <p:sp>
        <p:nvSpPr>
          <p:cNvPr id="3" name="Rectangle 2">
            <a:extLst>
              <a:ext uri="{FF2B5EF4-FFF2-40B4-BE49-F238E27FC236}">
                <a16:creationId xmlns:a16="http://schemas.microsoft.com/office/drawing/2014/main" id="{8D54522A-6937-E7BC-1434-A32597CBBE39}"/>
              </a:ext>
            </a:extLst>
          </p:cNvPr>
          <p:cNvSpPr/>
          <p:nvPr/>
        </p:nvSpPr>
        <p:spPr>
          <a:xfrm>
            <a:off x="1143000" y="3228106"/>
            <a:ext cx="15727682" cy="5201424"/>
          </a:xfrm>
          <a:prstGeom prst="rect">
            <a:avLst/>
          </a:prstGeom>
        </p:spPr>
        <p:txBody>
          <a:bodyPr wrap="square">
            <a:spAutoFit/>
          </a:bodyPr>
          <a:lstStyle/>
          <a:p>
            <a:r>
              <a:rPr lang="en-GB" sz="3600" b="1" dirty="0">
                <a:solidFill>
                  <a:srgbClr val="000000"/>
                </a:solidFill>
                <a:latin typeface="Calibri" panose="020F0502020204030204" pitchFamily="34" charset="0"/>
                <a:cs typeface="Calibri" panose="020F0502020204030204" pitchFamily="34" charset="0"/>
              </a:rPr>
              <a:t>Maladaptation is where your adaptation approach:</a:t>
            </a:r>
          </a:p>
          <a:p>
            <a:endParaRPr lang="en-GB" sz="3600" dirty="0">
              <a:solidFill>
                <a:srgbClr val="000000"/>
              </a:solidFill>
              <a:latin typeface="Calibri" panose="020F0502020204030204" pitchFamily="34" charset="0"/>
              <a:cs typeface="Calibri" panose="020F0502020204030204" pitchFamily="34" charset="0"/>
            </a:endParaRPr>
          </a:p>
          <a:p>
            <a:pPr marL="771525" indent="-771525">
              <a:spcAft>
                <a:spcPts val="1800"/>
              </a:spcAft>
              <a:buFont typeface="+mj-lt"/>
              <a:buAutoNum type="arabicPeriod"/>
            </a:pPr>
            <a:r>
              <a:rPr lang="en-GB" sz="4000" dirty="0">
                <a:solidFill>
                  <a:srgbClr val="000000"/>
                </a:solidFill>
                <a:latin typeface="Calibri" panose="020F0502020204030204" pitchFamily="34" charset="0"/>
                <a:cs typeface="Calibri" panose="020F0502020204030204" pitchFamily="34" charset="0"/>
              </a:rPr>
              <a:t>Increases emissions of greenhouse gases</a:t>
            </a:r>
          </a:p>
          <a:p>
            <a:pPr marL="771525" indent="-771525">
              <a:spcAft>
                <a:spcPts val="1800"/>
              </a:spcAft>
              <a:buFont typeface="+mj-lt"/>
              <a:buAutoNum type="arabicPeriod"/>
            </a:pPr>
            <a:r>
              <a:rPr lang="en-GB" sz="4000" dirty="0">
                <a:solidFill>
                  <a:srgbClr val="000000"/>
                </a:solidFill>
                <a:latin typeface="Calibri" panose="020F0502020204030204" pitchFamily="34" charset="0"/>
                <a:cs typeface="Calibri" panose="020F0502020204030204" pitchFamily="34" charset="0"/>
              </a:rPr>
              <a:t>Disproportionately burdens the most vulnerable</a:t>
            </a:r>
          </a:p>
          <a:p>
            <a:pPr marL="771525" indent="-771525">
              <a:spcAft>
                <a:spcPts val="1800"/>
              </a:spcAft>
              <a:buFont typeface="+mj-lt"/>
              <a:buAutoNum type="arabicPeriod"/>
            </a:pPr>
            <a:r>
              <a:rPr lang="en-GB" sz="4000" dirty="0">
                <a:solidFill>
                  <a:srgbClr val="000000"/>
                </a:solidFill>
                <a:latin typeface="Calibri" panose="020F0502020204030204" pitchFamily="34" charset="0"/>
                <a:cs typeface="Calibri" panose="020F0502020204030204" pitchFamily="34" charset="0"/>
              </a:rPr>
              <a:t>Has high opportunity costs</a:t>
            </a:r>
          </a:p>
          <a:p>
            <a:pPr marL="771525" indent="-771525">
              <a:spcAft>
                <a:spcPts val="1800"/>
              </a:spcAft>
              <a:buFont typeface="+mj-lt"/>
              <a:buAutoNum type="arabicPeriod"/>
            </a:pPr>
            <a:r>
              <a:rPr lang="en-GB" sz="4000" dirty="0">
                <a:solidFill>
                  <a:srgbClr val="000000"/>
                </a:solidFill>
                <a:latin typeface="Calibri" panose="020F0502020204030204" pitchFamily="34" charset="0"/>
                <a:cs typeface="Calibri" panose="020F0502020204030204" pitchFamily="34" charset="0"/>
              </a:rPr>
              <a:t>Reduces incentives to adapt or mitigate</a:t>
            </a:r>
          </a:p>
          <a:p>
            <a:pPr marL="771525" indent="-771525">
              <a:spcAft>
                <a:spcPts val="1800"/>
              </a:spcAft>
              <a:buFont typeface="+mj-lt"/>
              <a:buAutoNum type="arabicPeriod"/>
            </a:pPr>
            <a:r>
              <a:rPr lang="en-GB" sz="4000" dirty="0">
                <a:solidFill>
                  <a:srgbClr val="000000"/>
                </a:solidFill>
                <a:latin typeface="Calibri" panose="020F0502020204030204" pitchFamily="34" charset="0"/>
                <a:cs typeface="Calibri" panose="020F0502020204030204" pitchFamily="34" charset="0"/>
              </a:rPr>
              <a:t>Sets paths that limit the choices available to future generations</a:t>
            </a:r>
          </a:p>
        </p:txBody>
      </p:sp>
      <p:sp>
        <p:nvSpPr>
          <p:cNvPr id="2" name="Freeform 13">
            <a:extLst>
              <a:ext uri="{FF2B5EF4-FFF2-40B4-BE49-F238E27FC236}">
                <a16:creationId xmlns:a16="http://schemas.microsoft.com/office/drawing/2014/main" id="{55742EDD-7BB0-FAA2-4A59-76EB8A2041DD}"/>
              </a:ext>
            </a:extLst>
          </p:cNvPr>
          <p:cNvSpPr/>
          <p:nvPr/>
        </p:nvSpPr>
        <p:spPr>
          <a:xfrm>
            <a:off x="1445895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4519292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BD5F27-C8FB-CC7A-8F65-762F451BB233}"/>
            </a:ext>
          </a:extLst>
        </p:cNvPr>
        <p:cNvGrpSpPr/>
        <p:nvPr/>
      </p:nvGrpSpPr>
      <p:grpSpPr>
        <a:xfrm>
          <a:off x="0" y="0"/>
          <a:ext cx="0" cy="0"/>
          <a:chOff x="0" y="0"/>
          <a:chExt cx="0" cy="0"/>
        </a:xfrm>
      </p:grpSpPr>
      <p:sp>
        <p:nvSpPr>
          <p:cNvPr id="10" name="Freeform 13">
            <a:extLst>
              <a:ext uri="{FF2B5EF4-FFF2-40B4-BE49-F238E27FC236}">
                <a16:creationId xmlns:a16="http://schemas.microsoft.com/office/drawing/2014/main" id="{7DB3D659-F74C-F8C2-4D5A-FD89D2EE28BD}"/>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5" name="TextBox 5">
            <a:extLst>
              <a:ext uri="{FF2B5EF4-FFF2-40B4-BE49-F238E27FC236}">
                <a16:creationId xmlns:a16="http://schemas.microsoft.com/office/drawing/2014/main" id="{779588C8-99B4-0066-A29B-472B6CF20D8B}"/>
              </a:ext>
            </a:extLst>
          </p:cNvPr>
          <p:cNvSpPr txBox="1"/>
          <p:nvPr/>
        </p:nvSpPr>
        <p:spPr>
          <a:xfrm>
            <a:off x="706526" y="1481389"/>
            <a:ext cx="13847674" cy="859210"/>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5599" b="1" i="0" u="none" strike="noStrike" kern="1200" cap="none" spc="0" normalizeH="0" baseline="0" noProof="0" dirty="0">
                <a:ln>
                  <a:noFill/>
                </a:ln>
                <a:solidFill>
                  <a:srgbClr val="46245A"/>
                </a:solidFill>
                <a:effectLst/>
                <a:uLnTx/>
                <a:uFillTx/>
                <a:latin typeface="DM Sans" pitchFamily="2" charset="0"/>
                <a:ea typeface="+mn-ea"/>
                <a:cs typeface="+mn-cs"/>
              </a:rPr>
              <a:t>Maladaptation </a:t>
            </a:r>
          </a:p>
        </p:txBody>
      </p:sp>
      <p:sp>
        <p:nvSpPr>
          <p:cNvPr id="2" name="Rectangle 1">
            <a:extLst>
              <a:ext uri="{FF2B5EF4-FFF2-40B4-BE49-F238E27FC236}">
                <a16:creationId xmlns:a16="http://schemas.microsoft.com/office/drawing/2014/main" id="{705E3FCF-42CE-F06A-9E63-76B4AA1B5E22}"/>
              </a:ext>
            </a:extLst>
          </p:cNvPr>
          <p:cNvSpPr/>
          <p:nvPr/>
        </p:nvSpPr>
        <p:spPr>
          <a:xfrm>
            <a:off x="533399" y="2777242"/>
            <a:ext cx="9594273" cy="7017306"/>
          </a:xfrm>
          <a:prstGeom prst="rect">
            <a:avLst/>
          </a:prstGeom>
        </p:spPr>
        <p:txBody>
          <a:bodyPr wrap="square">
            <a:spAutoFit/>
          </a:bodyPr>
          <a:lstStyle/>
          <a:p>
            <a:pPr marL="285750" indent="-28575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In early 2012, the UK government offered incentives to motorists to encourage them to switch to diesel vehicles as part of their strategy.</a:t>
            </a:r>
          </a:p>
          <a:p>
            <a:pPr marL="285750" indent="-285750" algn="l">
              <a:buFont typeface="Arial" panose="020B0604020202020204" pitchFamily="34" charset="0"/>
              <a:buChar char="•"/>
            </a:pPr>
            <a:r>
              <a:rPr lang="en-GB" sz="2400" u="none" strike="noStrike" dirty="0">
                <a:solidFill>
                  <a:srgbClr val="0D0D0D"/>
                </a:solidFill>
                <a:effectLst/>
                <a:latin typeface="Calibri" panose="020F0502020204030204" pitchFamily="34" charset="0"/>
              </a:rPr>
              <a:t>The Department for Transport (DfT) acknowledges that diesel vehicles have significantly lower CO2 emissions per kilometre travelled due to their higher efficiency. </a:t>
            </a:r>
          </a:p>
          <a:p>
            <a:pPr marL="285750" indent="-285750" algn="l">
              <a:buFont typeface="Arial" panose="020B0604020202020204" pitchFamily="34" charset="0"/>
              <a:buChar char="•"/>
            </a:pPr>
            <a:endParaRPr lang="en-GB" sz="2400" u="none" strike="noStrike" dirty="0">
              <a:solidFill>
                <a:srgbClr val="0D0D0D"/>
              </a:solidFill>
              <a:effectLst/>
              <a:latin typeface="Calibri" panose="020F0502020204030204" pitchFamily="34" charset="0"/>
            </a:endParaRPr>
          </a:p>
          <a:p>
            <a:pPr marL="285750" indent="-285750" algn="l">
              <a:buFont typeface="Arial" panose="020B0604020202020204" pitchFamily="34" charset="0"/>
              <a:buChar char="•"/>
            </a:pPr>
            <a:r>
              <a:rPr lang="en-GB" sz="2400" b="1" u="none" strike="noStrike" dirty="0">
                <a:solidFill>
                  <a:srgbClr val="0D0D0D"/>
                </a:solidFill>
                <a:effectLst/>
                <a:latin typeface="Calibri" panose="020F0502020204030204" pitchFamily="34" charset="0"/>
              </a:rPr>
              <a:t>Trade-off: CO2 vs. NOx Emissions: </a:t>
            </a:r>
            <a:r>
              <a:rPr lang="en-GB" sz="2400" u="none" strike="noStrike" dirty="0">
                <a:solidFill>
                  <a:srgbClr val="0D0D0D"/>
                </a:solidFill>
                <a:effectLst/>
                <a:latin typeface="Calibri" panose="020F0502020204030204" pitchFamily="34" charset="0"/>
              </a:rPr>
              <a:t>While new generation diesel vehicles emit lower levels of carbon dioxide compared to petrol engines, they tend to emit higher levels of nitrogen oxides (NOx), particularly in urban areas.</a:t>
            </a:r>
          </a:p>
          <a:p>
            <a:pPr marL="285750" indent="-285750" algn="l">
              <a:buFont typeface="Arial" panose="020B0604020202020204" pitchFamily="34" charset="0"/>
              <a:buChar char="•"/>
            </a:pPr>
            <a:r>
              <a:rPr lang="en-GB" sz="2400" b="1" u="none" strike="noStrike" dirty="0">
                <a:solidFill>
                  <a:srgbClr val="0D0D0D"/>
                </a:solidFill>
                <a:effectLst/>
                <a:latin typeface="Calibri" panose="020F0502020204030204" pitchFamily="34" charset="0"/>
              </a:rPr>
              <a:t>Impact on Air Pollution: </a:t>
            </a:r>
            <a:r>
              <a:rPr lang="en-GB" sz="2400" u="none" strike="noStrike" dirty="0">
                <a:solidFill>
                  <a:srgbClr val="0D0D0D"/>
                </a:solidFill>
                <a:effectLst/>
                <a:latin typeface="Calibri" panose="020F0502020204030204" pitchFamily="34" charset="0"/>
              </a:rPr>
              <a:t>Diesel engines, especially older models, are often cited as a significant contributor to roadside air pollution in built-up urban areas, primarily due to their emissions of NOx.</a:t>
            </a:r>
          </a:p>
          <a:p>
            <a:pPr marL="285750" indent="-285750" algn="l">
              <a:buFont typeface="Arial" panose="020B0604020202020204" pitchFamily="34" charset="0"/>
              <a:buChar char="•"/>
            </a:pPr>
            <a:r>
              <a:rPr lang="en-GB" sz="2400" b="1" u="none" strike="noStrike" dirty="0">
                <a:solidFill>
                  <a:srgbClr val="0D0D0D"/>
                </a:solidFill>
                <a:effectLst/>
                <a:latin typeface="Calibri" panose="020F0502020204030204" pitchFamily="34" charset="0"/>
              </a:rPr>
              <a:t>Government Measures to Discourage Diesel Use: </a:t>
            </a:r>
            <a:r>
              <a:rPr lang="en-GB" sz="2400" u="none" strike="noStrike" dirty="0">
                <a:solidFill>
                  <a:srgbClr val="0D0D0D"/>
                </a:solidFill>
                <a:effectLst/>
                <a:latin typeface="Calibri" panose="020F0502020204030204" pitchFamily="34" charset="0"/>
              </a:rPr>
              <a:t>In response to environmental concerns, the government has introduced extra charges and initiatives aimed at weaning the public off diesel vehicles, reflecting a broader strategy to reduce air pollution and mitigate climate change.</a:t>
            </a:r>
          </a:p>
          <a:p>
            <a:endParaRPr lang="en-GB" sz="4200" dirty="0">
              <a:solidFill>
                <a:srgbClr val="000000"/>
              </a:solidFill>
              <a:latin typeface="Calibri" panose="020F0502020204030204" pitchFamily="34" charset="0"/>
            </a:endParaRPr>
          </a:p>
        </p:txBody>
      </p:sp>
      <p:pic>
        <p:nvPicPr>
          <p:cNvPr id="3" name="Picture 2" descr="New diesel cars still emit up to 15 times too much NOx | Airclim">
            <a:extLst>
              <a:ext uri="{FF2B5EF4-FFF2-40B4-BE49-F238E27FC236}">
                <a16:creationId xmlns:a16="http://schemas.microsoft.com/office/drawing/2014/main" id="{F745EA68-89FD-7CFF-C0AC-5113BDC4D87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764" r="40308"/>
          <a:stretch/>
        </p:blipFill>
        <p:spPr bwMode="auto">
          <a:xfrm>
            <a:off x="10255193" y="0"/>
            <a:ext cx="8032808" cy="10286990"/>
          </a:xfrm>
          <a:custGeom>
            <a:avLst/>
            <a:gdLst/>
            <a:ahLst/>
            <a:cxnLst/>
            <a:rect l="l" t="t" r="r" b="b"/>
            <a:pathLst>
              <a:path w="8949307" h="6858000">
                <a:moveTo>
                  <a:pt x="0" y="0"/>
                </a:moveTo>
                <a:lnTo>
                  <a:pt x="8949307" y="0"/>
                </a:lnTo>
                <a:lnTo>
                  <a:pt x="8949307" y="6858000"/>
                </a:lnTo>
                <a:lnTo>
                  <a:pt x="0" y="6858000"/>
                </a:lnTo>
                <a:lnTo>
                  <a:pt x="62983" y="6788730"/>
                </a:lnTo>
                <a:cubicBezTo>
                  <a:pt x="773509" y="5928900"/>
                  <a:pt x="1212979" y="4741056"/>
                  <a:pt x="1212979" y="3429000"/>
                </a:cubicBezTo>
                <a:cubicBezTo>
                  <a:pt x="1212979" y="2116944"/>
                  <a:pt x="773509" y="929100"/>
                  <a:pt x="62983" y="69271"/>
                </a:cubicBezTo>
                <a:close/>
              </a:path>
            </a:pathLst>
          </a:custGeom>
          <a:noFill/>
          <a:extLst>
            <a:ext uri="{909E8E84-426E-40DD-AFC4-6F175D3DCCD1}">
              <a14:hiddenFill xmlns:a14="http://schemas.microsoft.com/office/drawing/2010/main">
                <a:solidFill>
                  <a:srgbClr val="FFFFFF"/>
                </a:solidFill>
              </a14:hiddenFill>
            </a:ext>
          </a:extLst>
        </p:spPr>
      </p:pic>
      <p:sp>
        <p:nvSpPr>
          <p:cNvPr id="4" name="Freeform 13">
            <a:extLst>
              <a:ext uri="{FF2B5EF4-FFF2-40B4-BE49-F238E27FC236}">
                <a16:creationId xmlns:a16="http://schemas.microsoft.com/office/drawing/2014/main" id="{3CE0384C-5230-0CFE-439F-B3D2F12C703D}"/>
              </a:ext>
            </a:extLst>
          </p:cNvPr>
          <p:cNvSpPr/>
          <p:nvPr/>
        </p:nvSpPr>
        <p:spPr>
          <a:xfrm>
            <a:off x="1445895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291262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1291E-B584-FD23-5409-AD4E8DF9D15D}"/>
            </a:ext>
          </a:extLst>
        </p:cNvPr>
        <p:cNvGrpSpPr/>
        <p:nvPr/>
      </p:nvGrpSpPr>
      <p:grpSpPr>
        <a:xfrm>
          <a:off x="0" y="0"/>
          <a:ext cx="0" cy="0"/>
          <a:chOff x="0" y="0"/>
          <a:chExt cx="0" cy="0"/>
        </a:xfrm>
      </p:grpSpPr>
      <p:sp>
        <p:nvSpPr>
          <p:cNvPr id="3" name="TextBox 14">
            <a:extLst>
              <a:ext uri="{FF2B5EF4-FFF2-40B4-BE49-F238E27FC236}">
                <a16:creationId xmlns:a16="http://schemas.microsoft.com/office/drawing/2014/main" id="{AF68D400-DEB6-92F7-3EDB-5A9701421D5E}"/>
              </a:ext>
            </a:extLst>
          </p:cNvPr>
          <p:cNvSpPr txBox="1"/>
          <p:nvPr/>
        </p:nvSpPr>
        <p:spPr>
          <a:xfrm>
            <a:off x="584198" y="1026137"/>
            <a:ext cx="11004828" cy="86151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54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Lecture Summary</a:t>
            </a:r>
          </a:p>
        </p:txBody>
      </p:sp>
      <p:pic>
        <p:nvPicPr>
          <p:cNvPr id="10" name="Picture 2" descr="Places of Climate Change">
            <a:extLst>
              <a:ext uri="{FF2B5EF4-FFF2-40B4-BE49-F238E27FC236}">
                <a16:creationId xmlns:a16="http://schemas.microsoft.com/office/drawing/2014/main" id="{C0628126-DB9E-9414-769A-F262ECA340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90" r="39572"/>
          <a:stretch>
            <a:fillRect/>
          </a:stretch>
        </p:blipFill>
        <p:spPr bwMode="auto">
          <a:xfrm>
            <a:off x="10248044" y="0"/>
            <a:ext cx="8035385" cy="10286985"/>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11" name="Freeform 13">
            <a:extLst>
              <a:ext uri="{FF2B5EF4-FFF2-40B4-BE49-F238E27FC236}">
                <a16:creationId xmlns:a16="http://schemas.microsoft.com/office/drawing/2014/main" id="{2F94EEC3-9338-4679-F02E-0F944C2AB3BA}"/>
              </a:ext>
            </a:extLst>
          </p:cNvPr>
          <p:cNvSpPr/>
          <p:nvPr/>
        </p:nvSpPr>
        <p:spPr>
          <a:xfrm>
            <a:off x="14554201"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S PGothic" panose="020B0600070205080204" pitchFamily="34" charset="-128"/>
              <a:cs typeface="+mn-cs"/>
            </a:endParaRPr>
          </a:p>
        </p:txBody>
      </p:sp>
      <p:sp>
        <p:nvSpPr>
          <p:cNvPr id="4" name="TextBox 3">
            <a:extLst>
              <a:ext uri="{FF2B5EF4-FFF2-40B4-BE49-F238E27FC236}">
                <a16:creationId xmlns:a16="http://schemas.microsoft.com/office/drawing/2014/main" id="{E70AA273-C7C1-A010-4271-E171ED172E87}"/>
              </a:ext>
            </a:extLst>
          </p:cNvPr>
          <p:cNvSpPr txBox="1"/>
          <p:nvPr/>
        </p:nvSpPr>
        <p:spPr>
          <a:xfrm>
            <a:off x="584198" y="2277076"/>
            <a:ext cx="9663846" cy="6863417"/>
          </a:xfrm>
          <a:prstGeom prst="rect">
            <a:avLst/>
          </a:prstGeom>
          <a:noFill/>
        </p:spPr>
        <p:txBody>
          <a:bodyPr wrap="square">
            <a:spAutoFit/>
          </a:bodyPr>
          <a:lstStyle/>
          <a:p>
            <a:pPr marL="342900" indent="-342900">
              <a:buFont typeface="Arial" panose="020B0604020202020204" pitchFamily="34" charset="0"/>
              <a:buChar char="•"/>
            </a:pPr>
            <a:r>
              <a:rPr lang="en-GB" sz="2200" dirty="0">
                <a:latin typeface="Calibri" panose="020F0502020204030204" pitchFamily="34" charset="0"/>
                <a:cs typeface="Calibri" panose="020F0502020204030204" pitchFamily="34" charset="0"/>
              </a:rPr>
              <a:t>Climate change is already driving global impacts on temperature, precipitation, sea level, ecosystems, and human health.</a:t>
            </a:r>
          </a:p>
          <a:p>
            <a:pPr marL="342900" indent="-342900">
              <a:buFont typeface="Arial" panose="020B0604020202020204" pitchFamily="34" charset="0"/>
              <a:buChar char="•"/>
            </a:pPr>
            <a:endParaRPr lang="en-GB" sz="2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200" dirty="0">
                <a:latin typeface="Calibri" panose="020F0502020204030204" pitchFamily="34" charset="0"/>
                <a:cs typeface="Calibri" panose="020F0502020204030204" pitchFamily="34" charset="0"/>
              </a:rPr>
              <a:t>Impacts vary by region, with some areas experiencing more extreme heat, rainfall, or vulnerability than others.</a:t>
            </a:r>
          </a:p>
          <a:p>
            <a:pPr marL="342900" indent="-342900">
              <a:buFont typeface="Arial" panose="020B0604020202020204" pitchFamily="34" charset="0"/>
              <a:buChar char="•"/>
            </a:pPr>
            <a:endParaRPr lang="en-GB" sz="2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200" dirty="0">
                <a:latin typeface="Calibri" panose="020F0502020204030204" pitchFamily="34" charset="0"/>
                <a:cs typeface="Calibri" panose="020F0502020204030204" pitchFamily="34" charset="0"/>
              </a:rPr>
              <a:t>Future climate change depends on emission pathways (RCPs) and how the climate system responds.</a:t>
            </a:r>
          </a:p>
          <a:p>
            <a:pPr marL="342900" indent="-342900">
              <a:buFont typeface="Arial" panose="020B0604020202020204" pitchFamily="34" charset="0"/>
              <a:buChar char="•"/>
            </a:pPr>
            <a:endParaRPr lang="en-GB" sz="2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200" dirty="0">
                <a:latin typeface="Calibri" panose="020F0502020204030204" pitchFamily="34" charset="0"/>
                <a:cs typeface="Calibri" panose="020F0502020204030204" pitchFamily="34" charset="0"/>
              </a:rPr>
              <a:t>Higher emissions lead to more severe and widespread impacts, including extreme weather events.</a:t>
            </a:r>
          </a:p>
          <a:p>
            <a:pPr marL="342900" indent="-342900">
              <a:buFont typeface="Arial" panose="020B0604020202020204" pitchFamily="34" charset="0"/>
              <a:buChar char="•"/>
            </a:pPr>
            <a:endParaRPr lang="en-GB" sz="2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200" dirty="0">
                <a:latin typeface="Calibri" panose="020F0502020204030204" pitchFamily="34" charset="0"/>
                <a:cs typeface="Calibri" panose="020F0502020204030204" pitchFamily="34" charset="0"/>
              </a:rPr>
              <a:t>Adaptation focuses on managing risks locally using projections, risk assessment, and planning.</a:t>
            </a:r>
          </a:p>
          <a:p>
            <a:pPr marL="342900" indent="-342900">
              <a:buFont typeface="Arial" panose="020B0604020202020204" pitchFamily="34" charset="0"/>
              <a:buChar char="•"/>
            </a:pPr>
            <a:endParaRPr lang="en-GB" sz="2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200" dirty="0">
                <a:latin typeface="Calibri" panose="020F0502020204030204" pitchFamily="34" charset="0"/>
                <a:cs typeface="Calibri" panose="020F0502020204030204" pitchFamily="34" charset="0"/>
              </a:rPr>
              <a:t>Mitigation targets the root cause by reducing greenhouse gas emissions and enhancing carbon sinks.</a:t>
            </a:r>
          </a:p>
          <a:p>
            <a:pPr marL="342900" indent="-342900">
              <a:buFont typeface="Arial" panose="020B0604020202020204" pitchFamily="34" charset="0"/>
              <a:buChar char="•"/>
            </a:pPr>
            <a:endParaRPr lang="en-GB" sz="2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2200" dirty="0">
                <a:latin typeface="Calibri" panose="020F0502020204030204" pitchFamily="34" charset="0"/>
                <a:cs typeface="Calibri" panose="020F0502020204030204" pitchFamily="34" charset="0"/>
              </a:rPr>
              <a:t>Both approaches are needed together to effectively respond to current and future climate risks.</a:t>
            </a:r>
            <a:endParaRPr lang="en-GB" alt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700898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351D686-1DE4-1396-2A19-D718507EDCC0}"/>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0ABAAB73-8633-9C4C-A0E5-3E44FEF9664E}"/>
              </a:ext>
            </a:extLst>
          </p:cNvPr>
          <p:cNvSpPr txBox="1"/>
          <p:nvPr/>
        </p:nvSpPr>
        <p:spPr>
          <a:xfrm>
            <a:off x="1143000" y="1515501"/>
            <a:ext cx="14649450" cy="805605"/>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46245A"/>
                </a:solidFill>
                <a:effectLst/>
                <a:uLnTx/>
                <a:uFillTx/>
                <a:latin typeface="DM Sans" pitchFamily="2" charset="0"/>
                <a:ea typeface="+mn-ea"/>
                <a:cs typeface="+mn-cs"/>
              </a:rPr>
              <a:t>Example Exam Themes</a:t>
            </a:r>
            <a:endParaRPr kumimoji="0" lang="en-US" sz="4400" b="0" i="0" u="none" strike="noStrike" kern="1200" cap="none" spc="0" normalizeH="0" baseline="0" noProof="0" dirty="0">
              <a:ln>
                <a:noFill/>
              </a:ln>
              <a:solidFill>
                <a:srgbClr val="46245A"/>
              </a:solidFill>
              <a:effectLst/>
              <a:uLnTx/>
              <a:uFillTx/>
              <a:latin typeface="DM Sans" pitchFamily="2" charset="0"/>
              <a:ea typeface="+mn-ea"/>
              <a:cs typeface="+mn-cs"/>
            </a:endParaRPr>
          </a:p>
        </p:txBody>
      </p:sp>
      <p:sp>
        <p:nvSpPr>
          <p:cNvPr id="10" name="Freeform 13">
            <a:extLst>
              <a:ext uri="{FF2B5EF4-FFF2-40B4-BE49-F238E27FC236}">
                <a16:creationId xmlns:a16="http://schemas.microsoft.com/office/drawing/2014/main" id="{63658212-4D3A-E72D-14FE-2F4158D3DC64}"/>
              </a:ext>
            </a:extLst>
          </p:cNvPr>
          <p:cNvSpPr/>
          <p:nvPr/>
        </p:nvSpPr>
        <p:spPr>
          <a:xfrm>
            <a:off x="14554200" y="557981"/>
            <a:ext cx="3059312" cy="1353013"/>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3" name="Content Placeholder 2">
            <a:extLst>
              <a:ext uri="{FF2B5EF4-FFF2-40B4-BE49-F238E27FC236}">
                <a16:creationId xmlns:a16="http://schemas.microsoft.com/office/drawing/2014/main" id="{B2530D13-C98C-CD4D-9898-7CEA2A67113D}"/>
              </a:ext>
            </a:extLst>
          </p:cNvPr>
          <p:cNvSpPr txBox="1">
            <a:spLocks/>
          </p:cNvSpPr>
          <p:nvPr/>
        </p:nvSpPr>
        <p:spPr>
          <a:xfrm>
            <a:off x="1143000" y="3166209"/>
            <a:ext cx="15795171" cy="4525963"/>
          </a:xfrm>
          <a:prstGeom prst="rect">
            <a:avLst/>
          </a:prstGeom>
        </p:spPr>
        <p:txBody>
          <a:bodyPr/>
          <a:lstStyle>
            <a:lvl1pPr marL="342900" indent="-342900" algn="l" defTabSz="914400" rtl="0" eaLnBrk="1" latinLnBrk="0" hangingPunct="1">
              <a:spcBef>
                <a:spcPct val="20000"/>
              </a:spcBef>
              <a:buFont typeface="DM Sans" pitchFamily="34" charset="0"/>
              <a:buChar char="•"/>
              <a:defRPr sz="3200" kern="1200">
                <a:solidFill>
                  <a:schemeClr val="tx1"/>
                </a:solidFill>
                <a:latin typeface="DM Sans" pitchFamily="2" charset="0"/>
                <a:ea typeface="+mn-ea"/>
                <a:cs typeface="+mn-cs"/>
              </a:defRPr>
            </a:lvl1pPr>
            <a:lvl2pPr marL="742950" indent="-285750" algn="l" defTabSz="914400" rtl="0" eaLnBrk="1" latinLnBrk="0" hangingPunct="1">
              <a:spcBef>
                <a:spcPct val="20000"/>
              </a:spcBef>
              <a:buFont typeface="DM Sans" pitchFamily="34" charset="0"/>
              <a:buChar char="–"/>
              <a:defRPr sz="2800" kern="1200">
                <a:solidFill>
                  <a:schemeClr val="tx1"/>
                </a:solidFill>
                <a:latin typeface="DM Sans" pitchFamily="2" charset="0"/>
                <a:ea typeface="+mn-ea"/>
                <a:cs typeface="+mn-cs"/>
              </a:defRPr>
            </a:lvl2pPr>
            <a:lvl3pPr marL="1143000" indent="-228600" algn="l" defTabSz="914400" rtl="0" eaLnBrk="1" latinLnBrk="0" hangingPunct="1">
              <a:spcBef>
                <a:spcPct val="20000"/>
              </a:spcBef>
              <a:buFont typeface="DM Sans" pitchFamily="34" charset="0"/>
              <a:buChar char="•"/>
              <a:defRPr sz="2400" kern="1200">
                <a:solidFill>
                  <a:schemeClr val="tx1"/>
                </a:solidFill>
                <a:latin typeface="DM Sans" pitchFamily="2" charset="0"/>
                <a:ea typeface="+mn-ea"/>
                <a:cs typeface="+mn-cs"/>
              </a:defRPr>
            </a:lvl3pPr>
            <a:lvl4pPr marL="16002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4pPr>
            <a:lvl5pPr marL="2057400" indent="-228600" algn="l" defTabSz="914400" rtl="0" eaLnBrk="1" latinLnBrk="0" hangingPunct="1">
              <a:spcBef>
                <a:spcPct val="20000"/>
              </a:spcBef>
              <a:buFont typeface="DM Sans" pitchFamily="34" charset="0"/>
              <a:buChar char="»"/>
              <a:defRPr sz="2000" kern="1200">
                <a:solidFill>
                  <a:schemeClr val="tx1"/>
                </a:solidFill>
                <a:latin typeface="DM Sans" pitchFamily="2" charset="0"/>
                <a:ea typeface="+mn-ea"/>
                <a:cs typeface="+mn-cs"/>
              </a:defRPr>
            </a:lvl5pPr>
            <a:lvl6pPr marL="25146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DM Sans"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r>
              <a:rPr kumimoji="0" lang="en-GB" altLang="en-US" sz="3200" b="0" i="0" u="none" strike="noStrike" kern="1200" cap="none" spc="0" normalizeH="0" baseline="0" noProof="0" dirty="0">
                <a:ln>
                  <a:noFill/>
                </a:ln>
                <a:solidFill>
                  <a:prstClr val="black"/>
                </a:solidFill>
                <a:effectLst/>
                <a:uLnTx/>
                <a:uFillTx/>
                <a:latin typeface="DM Sans" pitchFamily="2"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DM Sans" pitchFamily="34" charset="0"/>
              <a:buNone/>
              <a:tabLst/>
              <a:defRPr/>
            </a:pPr>
            <a:endParaRPr kumimoji="0" lang="en-GB" altLang="en-US" sz="3200" b="0" i="0" u="none" strike="noStrike" kern="1200" cap="none" spc="0" normalizeH="0" baseline="0" noProof="0" dirty="0">
              <a:ln>
                <a:noFill/>
              </a:ln>
              <a:solidFill>
                <a:prstClr val="black"/>
              </a:solidFill>
              <a:effectLst/>
              <a:uLnTx/>
              <a:uFillTx/>
              <a:latin typeface="DM Sans" pitchFamily="2" charset="0"/>
              <a:ea typeface="+mn-ea"/>
              <a:cs typeface="+mn-cs"/>
            </a:endParaRPr>
          </a:p>
        </p:txBody>
      </p:sp>
      <p:sp>
        <p:nvSpPr>
          <p:cNvPr id="2" name="TextBox 1">
            <a:extLst>
              <a:ext uri="{FF2B5EF4-FFF2-40B4-BE49-F238E27FC236}">
                <a16:creationId xmlns:a16="http://schemas.microsoft.com/office/drawing/2014/main" id="{BE5CF940-4C79-8107-69DF-37D602D2E31A}"/>
              </a:ext>
            </a:extLst>
          </p:cNvPr>
          <p:cNvSpPr txBox="1"/>
          <p:nvPr/>
        </p:nvSpPr>
        <p:spPr>
          <a:xfrm>
            <a:off x="1143000" y="2783586"/>
            <a:ext cx="15196279" cy="6530570"/>
          </a:xfrm>
          <a:prstGeom prst="rect">
            <a:avLst/>
          </a:prstGeom>
          <a:noFill/>
        </p:spPr>
        <p:txBody>
          <a:bodyPr wrap="square" rtlCol="0">
            <a:spAutoFit/>
          </a:bodyPr>
          <a:lstStyle/>
          <a:p>
            <a:pPr marL="342900" lvl="0" indent="-342900">
              <a:lnSpc>
                <a:spcPct val="107000"/>
              </a:lnSpc>
              <a:spcAft>
                <a:spcPts val="800"/>
              </a:spcAft>
              <a:buFont typeface="+mj-lt"/>
              <a:buAutoNum type="arabicPeriod"/>
            </a:pPr>
            <a:r>
              <a:rPr lang="en-US" sz="2400" dirty="0">
                <a:latin typeface="Calibri" panose="020F0502020204030204" pitchFamily="34" charset="0"/>
                <a:cs typeface="Calibri" panose="020F0502020204030204" pitchFamily="34" charset="0"/>
              </a:rPr>
              <a:t>Describe the difference between adaptation and mitigation </a:t>
            </a:r>
          </a:p>
          <a:p>
            <a:pPr marL="342900" lvl="0" indent="-342900">
              <a:lnSpc>
                <a:spcPct val="107000"/>
              </a:lnSpc>
              <a:spcAft>
                <a:spcPts val="800"/>
              </a:spcAft>
              <a:buFont typeface="+mj-lt"/>
              <a:buAutoNum type="arabicPeriod"/>
            </a:pPr>
            <a:r>
              <a:rPr lang="en-US" sz="2400" dirty="0">
                <a:latin typeface="Calibri" panose="020F0502020204030204" pitchFamily="34" charset="0"/>
                <a:cs typeface="Calibri" panose="020F0502020204030204" pitchFamily="34" charset="0"/>
              </a:rPr>
              <a:t>Give an example of where a positive change to mitigate against climate change could also have air quality co-benefits </a:t>
            </a:r>
          </a:p>
          <a:p>
            <a:pPr marL="342900" lvl="0" indent="-342900">
              <a:lnSpc>
                <a:spcPct val="107000"/>
              </a:lnSpc>
              <a:spcAft>
                <a:spcPts val="800"/>
              </a:spcAft>
              <a:buFont typeface="+mj-lt"/>
              <a:buAutoNum type="arabicPeriod"/>
            </a:pPr>
            <a:r>
              <a:rPr lang="en-US" sz="2400" dirty="0">
                <a:latin typeface="Calibri" panose="020F0502020204030204" pitchFamily="34" charset="0"/>
                <a:cs typeface="Calibri" panose="020F0502020204030204" pitchFamily="34" charset="0"/>
              </a:rPr>
              <a:t>Give an example of where a positive change to mitigate against climate change could also have air quality disbenefits </a:t>
            </a:r>
          </a:p>
          <a:p>
            <a:pPr marL="342900" lvl="0" indent="-342900">
              <a:lnSpc>
                <a:spcPct val="107000"/>
              </a:lnSpc>
              <a:spcAft>
                <a:spcPts val="800"/>
              </a:spcAft>
              <a:buFont typeface="+mj-lt"/>
              <a:buAutoNum type="arabicPeriod"/>
            </a:pPr>
            <a:r>
              <a:rPr lang="en-US" sz="2400" dirty="0">
                <a:latin typeface="Calibri" panose="020F0502020204030204" pitchFamily="34" charset="0"/>
                <a:cs typeface="Calibri" panose="020F0502020204030204" pitchFamily="34" charset="0"/>
              </a:rPr>
              <a:t>Give some examples of a climate change driven risk faced by the UK? How could you plan to mitigate or adapt to its impacts and why could this work effectively? </a:t>
            </a:r>
          </a:p>
          <a:p>
            <a:pPr marL="342900" lvl="0" indent="-342900">
              <a:lnSpc>
                <a:spcPct val="107000"/>
              </a:lnSpc>
              <a:spcAft>
                <a:spcPts val="800"/>
              </a:spcAft>
              <a:buFont typeface="+mj-lt"/>
              <a:buAutoNum type="arabicPeriod"/>
            </a:pPr>
            <a:r>
              <a:rPr lang="en-US" sz="2400" dirty="0">
                <a:latin typeface="Calibri" panose="020F0502020204030204" pitchFamily="34" charset="0"/>
                <a:cs typeface="Calibri" panose="020F0502020204030204" pitchFamily="34" charset="0"/>
              </a:rPr>
              <a:t>Give some examples of a climate change driven risk faced by Africa? How could you plan to mitigate or adapt to its impacts and why could this work effectively? </a:t>
            </a:r>
          </a:p>
          <a:p>
            <a:pPr marL="342900" lvl="0" indent="-342900">
              <a:lnSpc>
                <a:spcPct val="107000"/>
              </a:lnSpc>
              <a:spcAft>
                <a:spcPts val="800"/>
              </a:spcAft>
              <a:buFont typeface="+mj-lt"/>
              <a:buAutoNum type="arabicPeriod"/>
            </a:pPr>
            <a:r>
              <a:rPr lang="en-US" sz="2400" dirty="0">
                <a:latin typeface="Calibri" panose="020F0502020204030204" pitchFamily="34" charset="0"/>
                <a:cs typeface="Calibri" panose="020F0502020204030204" pitchFamily="34" charset="0"/>
              </a:rPr>
              <a:t>Describe what information you would need to plan for its impacts.</a:t>
            </a:r>
          </a:p>
          <a:p>
            <a:pPr marL="342900" lvl="0" indent="-342900">
              <a:lnSpc>
                <a:spcPct val="107000"/>
              </a:lnSpc>
              <a:spcAft>
                <a:spcPts val="800"/>
              </a:spcAft>
              <a:buFont typeface="+mj-lt"/>
              <a:buAutoNum type="arabicPeriod"/>
            </a:pPr>
            <a:r>
              <a:rPr lang="en-US" sz="2400" dirty="0">
                <a:latin typeface="Calibri" panose="020F0502020204030204" pitchFamily="34" charset="0"/>
                <a:cs typeface="Calibri" panose="020F0502020204030204" pitchFamily="34" charset="0"/>
              </a:rPr>
              <a:t>Describe a possible adaptation strategy that could reduce this risk and explain why it’s the most appropriate. </a:t>
            </a:r>
          </a:p>
          <a:p>
            <a:pPr marL="342900" lvl="0" indent="-342900">
              <a:lnSpc>
                <a:spcPct val="107000"/>
              </a:lnSpc>
              <a:spcAft>
                <a:spcPts val="800"/>
              </a:spcAft>
              <a:buFont typeface="+mj-lt"/>
              <a:buAutoNum type="arabicPeriod"/>
            </a:pPr>
            <a:r>
              <a:rPr lang="en-US" sz="2400" dirty="0">
                <a:latin typeface="Calibri" panose="020F0502020204030204" pitchFamily="34" charset="0"/>
                <a:cs typeface="Calibri" panose="020F0502020204030204" pitchFamily="34" charset="0"/>
              </a:rPr>
              <a:t>How might changes in temperature, precipitation patterns, and extreme weather events affect agricultural productivity and food availability?</a:t>
            </a:r>
          </a:p>
          <a:p>
            <a:pPr marL="342900" lvl="0" indent="-342900">
              <a:lnSpc>
                <a:spcPct val="107000"/>
              </a:lnSpc>
              <a:spcAft>
                <a:spcPts val="800"/>
              </a:spcAft>
              <a:buFont typeface="+mj-lt"/>
              <a:buAutoNum type="arabicPeriod"/>
            </a:pPr>
            <a:r>
              <a:rPr lang="en-US" sz="2400" dirty="0">
                <a:latin typeface="Calibri" panose="020F0502020204030204" pitchFamily="34" charset="0"/>
                <a:cs typeface="Calibri" panose="020F0502020204030204" pitchFamily="34" charset="0"/>
              </a:rPr>
              <a:t>Evaluate the social and economic impacts of climate change on vulnerable populations, including indigenous communities, low-income households, and developing countries. </a:t>
            </a:r>
          </a:p>
          <a:p>
            <a:pPr marL="342900" lvl="0" indent="-342900">
              <a:lnSpc>
                <a:spcPct val="107000"/>
              </a:lnSpc>
              <a:spcAft>
                <a:spcPts val="800"/>
              </a:spcAft>
              <a:buFont typeface="+mj-lt"/>
              <a:buAutoNum type="arabicPeriod"/>
            </a:pPr>
            <a:r>
              <a:rPr lang="en-US" sz="2400" dirty="0">
                <a:latin typeface="Calibri" panose="020F0502020204030204" pitchFamily="34" charset="0"/>
                <a:cs typeface="Calibri" panose="020F0502020204030204" pitchFamily="34" charset="0"/>
              </a:rPr>
              <a:t>Give an example of adaptations and mitigations to climate change </a:t>
            </a:r>
          </a:p>
        </p:txBody>
      </p:sp>
    </p:spTree>
    <p:extLst>
      <p:ext uri="{BB962C8B-B14F-4D97-AF65-F5344CB8AC3E}">
        <p14:creationId xmlns:p14="http://schemas.microsoft.com/office/powerpoint/2010/main" val="30526267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2455D-9EF2-494D-209E-9E109C0A74BB}"/>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D9F81932-4E4F-2E80-921C-DAC2EC93067E}"/>
              </a:ext>
            </a:extLst>
          </p:cNvPr>
          <p:cNvSpPr>
            <a:spLocks noGrp="1"/>
          </p:cNvSpPr>
          <p:nvPr>
            <p:ph idx="1"/>
          </p:nvPr>
        </p:nvSpPr>
        <p:spPr>
          <a:xfrm>
            <a:off x="440806" y="6172538"/>
            <a:ext cx="16766307" cy="4391422"/>
          </a:xfrm>
        </p:spPr>
        <p:txBody>
          <a:bodyPr rtlCol="0">
            <a:normAutofit/>
          </a:bodyPr>
          <a:lstStyle/>
          <a:p>
            <a:r>
              <a:rPr lang="en-GB" sz="2800" dirty="0">
                <a:latin typeface="Calibri" panose="020F0502020204030204" pitchFamily="34" charset="0"/>
                <a:cs typeface="Calibri" panose="020F0502020204030204" pitchFamily="34" charset="0"/>
              </a:rPr>
              <a:t>Agricultural practices and climate change (impacts, adaptation, mitigation)</a:t>
            </a:r>
          </a:p>
          <a:p>
            <a:r>
              <a:rPr lang="en-GB" sz="2800" dirty="0">
                <a:latin typeface="Calibri" panose="020F0502020204030204" pitchFamily="34" charset="0"/>
                <a:cs typeface="Calibri" panose="020F0502020204030204" pitchFamily="34" charset="0"/>
              </a:rPr>
              <a:t>Marine cloud brightening as a climate intervention strategy</a:t>
            </a:r>
          </a:p>
          <a:p>
            <a:r>
              <a:rPr lang="en-GB" sz="2800" dirty="0">
                <a:latin typeface="Calibri" panose="020F0502020204030204" pitchFamily="34" charset="0"/>
                <a:cs typeface="Calibri" panose="020F0502020204030204" pitchFamily="34" charset="0"/>
              </a:rPr>
              <a:t>Focus on real-world applications and implications of both approaches</a:t>
            </a:r>
          </a:p>
          <a:p>
            <a:r>
              <a:rPr lang="en-GB" sz="2800" dirty="0">
                <a:latin typeface="Calibri" panose="020F0502020204030204" pitchFamily="34" charset="0"/>
                <a:cs typeface="Calibri" panose="020F0502020204030204" pitchFamily="34" charset="0"/>
              </a:rPr>
              <a:t>Evaluation of benefits, risks, and potential unintended consequences</a:t>
            </a:r>
          </a:p>
          <a:p>
            <a:r>
              <a:rPr lang="en-GB" sz="2800" dirty="0">
                <a:latin typeface="Calibri" panose="020F0502020204030204" pitchFamily="34" charset="0"/>
                <a:cs typeface="Calibri" panose="020F0502020204030204" pitchFamily="34" charset="0"/>
              </a:rPr>
              <a:t>Links to policy, sustainability, and future climate solutions</a:t>
            </a:r>
            <a:endParaRPr lang="en-GB" altLang="en-US" sz="2800" dirty="0">
              <a:latin typeface="Calibri" panose="020F0502020204030204" pitchFamily="34" charset="0"/>
              <a:cs typeface="Calibri" panose="020F0502020204030204" pitchFamily="34" charset="0"/>
            </a:endParaRPr>
          </a:p>
        </p:txBody>
      </p:sp>
      <p:pic>
        <p:nvPicPr>
          <p:cNvPr id="5" name="Picture 2" descr="Places of Climate Change">
            <a:extLst>
              <a:ext uri="{FF2B5EF4-FFF2-40B4-BE49-F238E27FC236}">
                <a16:creationId xmlns:a16="http://schemas.microsoft.com/office/drawing/2014/main" id="{0E7323DA-2CFD-2387-B3D7-FFC7A6D8C7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 t="31098" r="-26" b="18919"/>
          <a:stretch>
            <a:fillRect/>
          </a:stretch>
        </p:blipFill>
        <p:spPr bwMode="auto">
          <a:xfrm>
            <a:off x="0" y="0"/>
            <a:ext cx="1828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14">
            <a:extLst>
              <a:ext uri="{FF2B5EF4-FFF2-40B4-BE49-F238E27FC236}">
                <a16:creationId xmlns:a16="http://schemas.microsoft.com/office/drawing/2014/main" id="{92EE434B-BF54-0D2B-1C60-07296D916036}"/>
              </a:ext>
            </a:extLst>
          </p:cNvPr>
          <p:cNvSpPr txBox="1"/>
          <p:nvPr/>
        </p:nvSpPr>
        <p:spPr>
          <a:xfrm>
            <a:off x="440806" y="4023689"/>
            <a:ext cx="18287999" cy="1769715"/>
          </a:xfrm>
          <a:prstGeom prst="rect">
            <a:avLst/>
          </a:prstGeom>
        </p:spPr>
        <p:txBody>
          <a:bodyPr wrap="square" lIns="0" tIns="0" rIns="0" bIns="0" rtlCol="0" anchor="t">
            <a:spAutoFit/>
          </a:bodyPr>
          <a:lstStyle/>
          <a:p>
            <a:pPr marL="0" marR="0" lvl="0" indent="0" algn="l" defTabSz="914490" rtl="0" eaLnBrk="1" fontAlgn="auto" latinLnBrk="0" hangingPunct="1">
              <a:lnSpc>
                <a:spcPts val="6861"/>
              </a:lnSpc>
              <a:spcBef>
                <a:spcPts val="0"/>
              </a:spcBef>
              <a:spcAft>
                <a:spcPts val="0"/>
              </a:spcAft>
              <a:buClrTx/>
              <a:buSzTx/>
              <a:buFontTx/>
              <a:buNone/>
              <a:tabLst/>
              <a:defRPr/>
            </a:pPr>
            <a:r>
              <a:rPr kumimoji="0" lang="en-US" sz="4800" b="0" i="1" u="none" strike="noStrike" kern="1200" cap="none" spc="-413" normalizeH="0" baseline="0" noProof="0" dirty="0">
                <a:ln>
                  <a:noFill/>
                </a:ln>
                <a:solidFill>
                  <a:prstClr val="white"/>
                </a:solidFill>
                <a:effectLst/>
                <a:uLnTx/>
                <a:uFillTx/>
                <a:latin typeface="DM Sans Bold"/>
                <a:ea typeface="+mn-ea"/>
                <a:cs typeface="+mn-cs"/>
              </a:rPr>
              <a:t>Week 9: Climate Change Case Studies</a:t>
            </a:r>
          </a:p>
          <a:p>
            <a:pPr marL="0" marR="0" lvl="0" indent="0" algn="l" defTabSz="914490" rtl="0" eaLnBrk="1" fontAlgn="auto" latinLnBrk="0" hangingPunct="1">
              <a:lnSpc>
                <a:spcPts val="6861"/>
              </a:lnSpc>
              <a:spcBef>
                <a:spcPts val="0"/>
              </a:spcBef>
              <a:spcAft>
                <a:spcPts val="0"/>
              </a:spcAft>
              <a:buClrTx/>
              <a:buSzTx/>
              <a:buFontTx/>
              <a:buNone/>
              <a:tabLst/>
              <a:defRPr/>
            </a:pPr>
            <a:endParaRPr kumimoji="0" lang="en-US" sz="6000" b="0" i="1" u="none" strike="noStrike" kern="1200" cap="none" spc="-413" normalizeH="0" baseline="0" noProof="0" dirty="0">
              <a:ln>
                <a:noFill/>
              </a:ln>
              <a:solidFill>
                <a:prstClr val="white"/>
              </a:solidFill>
              <a:effectLst/>
              <a:uLnTx/>
              <a:uFillTx/>
              <a:latin typeface="DM Sans Bold"/>
              <a:ea typeface="+mn-ea"/>
              <a:cs typeface="+mn-cs"/>
            </a:endParaRPr>
          </a:p>
        </p:txBody>
      </p:sp>
      <p:sp>
        <p:nvSpPr>
          <p:cNvPr id="8" name="Freeform 13">
            <a:extLst>
              <a:ext uri="{FF2B5EF4-FFF2-40B4-BE49-F238E27FC236}">
                <a16:creationId xmlns:a16="http://schemas.microsoft.com/office/drawing/2014/main" id="{3AFD2C1F-0CE2-C515-F07D-A179C1F1DDED}"/>
              </a:ext>
            </a:extLst>
          </p:cNvPr>
          <p:cNvSpPr/>
          <p:nvPr/>
        </p:nvSpPr>
        <p:spPr>
          <a:xfrm>
            <a:off x="14147801" y="557984"/>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9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19905022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05591-0C6C-C1B9-7994-FC3AF4862C54}"/>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B02C04EA-4F21-92E0-71CD-0A84C5430463}"/>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pic>
        <p:nvPicPr>
          <p:cNvPr id="6" name="Picture 5" descr="A qr code with a black and white background&#10;&#10;AI-generated content may be incorrect.">
            <a:extLst>
              <a:ext uri="{FF2B5EF4-FFF2-40B4-BE49-F238E27FC236}">
                <a16:creationId xmlns:a16="http://schemas.microsoft.com/office/drawing/2014/main" id="{CBEB779C-52FA-AD6F-A84D-7FDC73690F7D}"/>
              </a:ext>
            </a:extLst>
          </p:cNvPr>
          <p:cNvPicPr>
            <a:picLocks noChangeAspect="1"/>
          </p:cNvPicPr>
          <p:nvPr/>
        </p:nvPicPr>
        <p:blipFill>
          <a:blip r:embed="rId4"/>
          <a:stretch>
            <a:fillRect/>
          </a:stretch>
        </p:blipFill>
        <p:spPr>
          <a:xfrm>
            <a:off x="584199" y="2465147"/>
            <a:ext cx="5289063" cy="5289063"/>
          </a:xfrm>
          <a:prstGeom prst="rect">
            <a:avLst/>
          </a:prstGeom>
        </p:spPr>
      </p:pic>
      <p:sp>
        <p:nvSpPr>
          <p:cNvPr id="7" name="TextBox 6">
            <a:extLst>
              <a:ext uri="{FF2B5EF4-FFF2-40B4-BE49-F238E27FC236}">
                <a16:creationId xmlns:a16="http://schemas.microsoft.com/office/drawing/2014/main" id="{930B9941-E867-94DC-CA64-F6812FA14809}"/>
              </a:ext>
            </a:extLst>
          </p:cNvPr>
          <p:cNvSpPr txBox="1"/>
          <p:nvPr/>
        </p:nvSpPr>
        <p:spPr>
          <a:xfrm>
            <a:off x="584199" y="8026163"/>
            <a:ext cx="5289063" cy="5078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en-US" sz="2700" b="0" i="0" u="none" strike="noStrike" kern="1200" cap="none" spc="0" normalizeH="0" baseline="0" noProof="0" dirty="0">
                <a:ln>
                  <a:noFill/>
                </a:ln>
                <a:solidFill>
                  <a:prstClr val="black"/>
                </a:solidFill>
                <a:effectLst/>
                <a:uLnTx/>
                <a:uFillTx/>
                <a:latin typeface="DM Sans"/>
                <a:ea typeface="+mn-ea"/>
                <a:cs typeface="+mn-cs"/>
              </a:rPr>
              <a:t>Comments/Questions/Revision</a:t>
            </a:r>
          </a:p>
        </p:txBody>
      </p:sp>
    </p:spTree>
    <p:extLst>
      <p:ext uri="{BB962C8B-B14F-4D97-AF65-F5344CB8AC3E}">
        <p14:creationId xmlns:p14="http://schemas.microsoft.com/office/powerpoint/2010/main" val="12684027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D4ED785F-CE62-82CB-F996-0E665B36E0E7}"/>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02AC8828-C975-6D5D-820F-78E1B8CC22FE}"/>
              </a:ext>
            </a:extLst>
          </p:cNvPr>
          <p:cNvSpPr/>
          <p:nvPr/>
        </p:nvSpPr>
        <p:spPr>
          <a:xfrm>
            <a:off x="2106217" y="3973726"/>
            <a:ext cx="5289972" cy="2339545"/>
          </a:xfrm>
          <a:custGeom>
            <a:avLst/>
            <a:gdLst/>
            <a:ahLst/>
            <a:cxnLst/>
            <a:rect l="l" t="t" r="r" b="b"/>
            <a:pathLst>
              <a:path w="6608213" h="2922551">
                <a:moveTo>
                  <a:pt x="0" y="0"/>
                </a:moveTo>
                <a:lnTo>
                  <a:pt x="6608212" y="0"/>
                </a:lnTo>
                <a:lnTo>
                  <a:pt x="6608212" y="2922552"/>
                </a:lnTo>
                <a:lnTo>
                  <a:pt x="0" y="2922552"/>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mn-ea"/>
              <a:cs typeface="+mn-cs"/>
            </a:endParaRPr>
          </a:p>
        </p:txBody>
      </p:sp>
      <p:sp>
        <p:nvSpPr>
          <p:cNvPr id="11" name="TextBox 11">
            <a:extLst>
              <a:ext uri="{FF2B5EF4-FFF2-40B4-BE49-F238E27FC236}">
                <a16:creationId xmlns:a16="http://schemas.microsoft.com/office/drawing/2014/main" id="{4C3DE186-561B-2390-96D5-63833B499408}"/>
              </a:ext>
            </a:extLst>
          </p:cNvPr>
          <p:cNvSpPr txBox="1"/>
          <p:nvPr/>
        </p:nvSpPr>
        <p:spPr>
          <a:xfrm>
            <a:off x="10348544" y="4674749"/>
            <a:ext cx="6816043" cy="937501"/>
          </a:xfrm>
          <a:prstGeom prst="rect">
            <a:avLst/>
          </a:prstGeom>
        </p:spPr>
        <p:txBody>
          <a:bodyPr wrap="square" lIns="0" tIns="0" rIns="0" bIns="0" rtlCol="0" anchor="t">
            <a:spAutoFit/>
          </a:bodyPr>
          <a:lstStyle/>
          <a:p>
            <a:pPr marL="0" marR="0" lvl="0" indent="0" algn="l" defTabSz="914400" rtl="0" eaLnBrk="1" fontAlgn="auto" latinLnBrk="0" hangingPunct="1">
              <a:lnSpc>
                <a:spcPts val="6719"/>
              </a:lnSpc>
              <a:spcBef>
                <a:spcPts val="0"/>
              </a:spcBef>
              <a:spcAft>
                <a:spcPts val="0"/>
              </a:spcAft>
              <a:buClrTx/>
              <a:buSzTx/>
              <a:buFontTx/>
              <a:buNone/>
              <a:tabLst/>
              <a:defRPr/>
            </a:pPr>
            <a:r>
              <a:rPr kumimoji="0" lang="en-US" sz="8000" b="0" i="0" u="none" strike="noStrike" kern="1200" cap="none" spc="0" normalizeH="0" baseline="0" noProof="0">
                <a:ln>
                  <a:noFill/>
                </a:ln>
                <a:solidFill>
                  <a:srgbClr val="F8F8F8"/>
                </a:solidFill>
                <a:effectLst/>
                <a:uLnTx/>
                <a:uFillTx/>
                <a:latin typeface="DM Sans Bold"/>
                <a:ea typeface="+mn-ea"/>
                <a:cs typeface="+mn-cs"/>
              </a:rPr>
              <a:t>Thank you</a:t>
            </a:r>
          </a:p>
        </p:txBody>
      </p:sp>
      <p:sp>
        <p:nvSpPr>
          <p:cNvPr id="2" name="TextBox 15">
            <a:extLst>
              <a:ext uri="{FF2B5EF4-FFF2-40B4-BE49-F238E27FC236}">
                <a16:creationId xmlns:a16="http://schemas.microsoft.com/office/drawing/2014/main" id="{7FEBE903-FCF1-495E-DB96-B5A94CA829B0}"/>
              </a:ext>
            </a:extLst>
          </p:cNvPr>
          <p:cNvSpPr txBox="1"/>
          <p:nvPr/>
        </p:nvSpPr>
        <p:spPr>
          <a:xfrm>
            <a:off x="6166883" y="8646395"/>
            <a:ext cx="11252885" cy="612796"/>
          </a:xfrm>
          <a:prstGeom prst="rect">
            <a:avLst/>
          </a:prstGeom>
        </p:spPr>
        <p:txBody>
          <a:bodyPr wrap="square" lIns="0" tIns="0" rIns="0" bIns="0" rtlCol="0" anchor="t">
            <a:spAutoFit/>
          </a:bodyPr>
          <a:lstStyle/>
          <a:p>
            <a:pPr marL="0" marR="0" lvl="0" indent="0" algn="l" defTabSz="914400" rtl="0" eaLnBrk="1" fontAlgn="auto" latinLnBrk="0" hangingPunct="1">
              <a:lnSpc>
                <a:spcPts val="5040"/>
              </a:lnSpc>
              <a:spcBef>
                <a:spcPts val="0"/>
              </a:spcBef>
              <a:spcAft>
                <a:spcPts val="0"/>
              </a:spcAft>
              <a:buClrTx/>
              <a:buSzTx/>
              <a:buFontTx/>
              <a:buNone/>
              <a:tabLst/>
              <a:defRPr/>
            </a:pPr>
            <a:r>
              <a:rPr lang="en-US" sz="3600" b="1" spc="478" dirty="0" err="1">
                <a:solidFill>
                  <a:srgbClr val="FAB700"/>
                </a:solidFill>
                <a:latin typeface="DM Sans"/>
              </a:rPr>
              <a:t>Thomas.Bannan@Manchester.ac.uk</a:t>
            </a:r>
            <a:endParaRPr kumimoji="0" lang="en-US" sz="3600" b="1" i="0" u="none" strike="noStrike" kern="1200" cap="none" spc="478" normalizeH="0" baseline="0" noProof="0" dirty="0">
              <a:ln>
                <a:noFill/>
              </a:ln>
              <a:solidFill>
                <a:srgbClr val="FAB700"/>
              </a:solidFill>
              <a:effectLst/>
              <a:uLnTx/>
              <a:uFillTx/>
              <a:latin typeface="DM Sans"/>
              <a:ea typeface="+mn-ea"/>
              <a:cs typeface="+mn-cs"/>
            </a:endParaRPr>
          </a:p>
        </p:txBody>
      </p:sp>
    </p:spTree>
    <p:extLst>
      <p:ext uri="{BB962C8B-B14F-4D97-AF65-F5344CB8AC3E}">
        <p14:creationId xmlns:p14="http://schemas.microsoft.com/office/powerpoint/2010/main" val="2357172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82D3E-A7C2-D4CE-6000-D69ABF52E0AC}"/>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5BEE16A5-7C45-015F-8A98-91B324DAAE94}"/>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CDF94BBB-12EF-E975-6BC5-CB4840BAD385}"/>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Q1. </a:t>
            </a:r>
          </a:p>
        </p:txBody>
      </p:sp>
      <p:sp>
        <p:nvSpPr>
          <p:cNvPr id="2" name="TextBox 1">
            <a:extLst>
              <a:ext uri="{FF2B5EF4-FFF2-40B4-BE49-F238E27FC236}">
                <a16:creationId xmlns:a16="http://schemas.microsoft.com/office/drawing/2014/main" id="{B6B4BD0F-8FE4-63C8-843F-CA220171C15F}"/>
              </a:ext>
            </a:extLst>
          </p:cNvPr>
          <p:cNvSpPr txBox="1"/>
          <p:nvPr/>
        </p:nvSpPr>
        <p:spPr>
          <a:xfrm>
            <a:off x="584197" y="2135706"/>
            <a:ext cx="13572069"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effectLst/>
                <a:uLnTx/>
                <a:uFillTx/>
                <a:latin typeface="DM Sans"/>
                <a:ea typeface="+mn-ea"/>
                <a:cs typeface="+mn-cs"/>
              </a:rPr>
              <a:t>How does climate change impact human health? Which populations are most vulnerable?</a:t>
            </a:r>
          </a:p>
        </p:txBody>
      </p:sp>
    </p:spTree>
    <p:extLst>
      <p:ext uri="{BB962C8B-B14F-4D97-AF65-F5344CB8AC3E}">
        <p14:creationId xmlns:p14="http://schemas.microsoft.com/office/powerpoint/2010/main" val="23963186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DBD16-3EF8-8238-74E1-B2A9B38CB7E2}"/>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D6EB7346-BA1F-6C45-5470-C67A6B564289}"/>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062E9BCD-7037-17BE-8CEA-6BD31E0765CF}"/>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Q2.  </a:t>
            </a:r>
          </a:p>
        </p:txBody>
      </p:sp>
      <p:sp>
        <p:nvSpPr>
          <p:cNvPr id="2" name="TextBox 1">
            <a:extLst>
              <a:ext uri="{FF2B5EF4-FFF2-40B4-BE49-F238E27FC236}">
                <a16:creationId xmlns:a16="http://schemas.microsoft.com/office/drawing/2014/main" id="{E6CDFF84-1DEF-3FA9-8481-7B4B488E4FE9}"/>
              </a:ext>
            </a:extLst>
          </p:cNvPr>
          <p:cNvSpPr txBox="1"/>
          <p:nvPr/>
        </p:nvSpPr>
        <p:spPr>
          <a:xfrm>
            <a:off x="584197" y="2135706"/>
            <a:ext cx="13572069" cy="523220"/>
          </a:xfrm>
          <a:prstGeom prst="rect">
            <a:avLst/>
          </a:prstGeom>
          <a:noFill/>
        </p:spPr>
        <p:txBody>
          <a:bodyPr wrap="square">
            <a:spAutoFit/>
          </a:bodyPr>
          <a:lstStyle/>
          <a:p>
            <a:pPr algn="l"/>
            <a:r>
              <a:rPr lang="en-GB" sz="2800" b="0" i="0" u="none" strike="noStrike" dirty="0">
                <a:effectLst/>
              </a:rPr>
              <a:t>What are the key climate risks facing the UK? How should policymakers adapt?</a:t>
            </a:r>
          </a:p>
        </p:txBody>
      </p:sp>
    </p:spTree>
    <p:extLst>
      <p:ext uri="{BB962C8B-B14F-4D97-AF65-F5344CB8AC3E}">
        <p14:creationId xmlns:p14="http://schemas.microsoft.com/office/powerpoint/2010/main" val="19415910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E2F57-B849-99E5-58A3-C4EE48EA984F}"/>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C9207CCF-5C13-7B0C-4434-B6C1228A8068}"/>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A38CD79A-85AB-2137-DFC9-0B7157290482}"/>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Q3.  </a:t>
            </a:r>
          </a:p>
        </p:txBody>
      </p:sp>
      <p:sp>
        <p:nvSpPr>
          <p:cNvPr id="2" name="TextBox 1">
            <a:extLst>
              <a:ext uri="{FF2B5EF4-FFF2-40B4-BE49-F238E27FC236}">
                <a16:creationId xmlns:a16="http://schemas.microsoft.com/office/drawing/2014/main" id="{CAB72719-945D-FA52-6351-9DA9B1F8F955}"/>
              </a:ext>
            </a:extLst>
          </p:cNvPr>
          <p:cNvSpPr txBox="1"/>
          <p:nvPr/>
        </p:nvSpPr>
        <p:spPr>
          <a:xfrm>
            <a:off x="584197" y="2135706"/>
            <a:ext cx="13572069" cy="954107"/>
          </a:xfrm>
          <a:prstGeom prst="rect">
            <a:avLst/>
          </a:prstGeom>
          <a:noFill/>
        </p:spPr>
        <p:txBody>
          <a:bodyPr wrap="square">
            <a:spAutoFit/>
          </a:bodyPr>
          <a:lstStyle/>
          <a:p>
            <a:pPr algn="l"/>
            <a:r>
              <a:rPr lang="en-GB" sz="2800" b="0" i="0" u="none" strike="noStrike" dirty="0">
                <a:effectLst/>
              </a:rPr>
              <a:t>How might changes in temperature, precipitation, and extreme weather affect food availability and global agricultural productivity?</a:t>
            </a:r>
          </a:p>
        </p:txBody>
      </p:sp>
    </p:spTree>
    <p:extLst>
      <p:ext uri="{BB962C8B-B14F-4D97-AF65-F5344CB8AC3E}">
        <p14:creationId xmlns:p14="http://schemas.microsoft.com/office/powerpoint/2010/main" val="38366257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D3133-0D27-AEEE-952E-92714AEF6366}"/>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7E2F0F82-983B-BA72-43D6-A3284D0FFF42}"/>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617B0C40-BBDA-43F8-15A0-A9281D5D239C}"/>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Q4.  </a:t>
            </a:r>
          </a:p>
        </p:txBody>
      </p:sp>
      <p:sp>
        <p:nvSpPr>
          <p:cNvPr id="2" name="TextBox 1">
            <a:extLst>
              <a:ext uri="{FF2B5EF4-FFF2-40B4-BE49-F238E27FC236}">
                <a16:creationId xmlns:a16="http://schemas.microsoft.com/office/drawing/2014/main" id="{F117026C-CA8B-C122-DC92-1ED24B28661B}"/>
              </a:ext>
            </a:extLst>
          </p:cNvPr>
          <p:cNvSpPr txBox="1"/>
          <p:nvPr/>
        </p:nvSpPr>
        <p:spPr>
          <a:xfrm>
            <a:off x="584197" y="2135706"/>
            <a:ext cx="13572069" cy="954107"/>
          </a:xfrm>
          <a:prstGeom prst="rect">
            <a:avLst/>
          </a:prstGeom>
          <a:noFill/>
        </p:spPr>
        <p:txBody>
          <a:bodyPr wrap="square">
            <a:spAutoFit/>
          </a:bodyPr>
          <a:lstStyle/>
          <a:p>
            <a:pPr algn="l"/>
            <a:r>
              <a:rPr lang="en-GB" sz="2800" b="0" i="0" u="none" strike="noStrike" dirty="0">
                <a:effectLst/>
              </a:rPr>
              <a:t>How does climate change disproportionately affect vulnerable populations, such as Indigenous communities, low-income households, and developing nations?</a:t>
            </a:r>
          </a:p>
        </p:txBody>
      </p:sp>
    </p:spTree>
    <p:extLst>
      <p:ext uri="{BB962C8B-B14F-4D97-AF65-F5344CB8AC3E}">
        <p14:creationId xmlns:p14="http://schemas.microsoft.com/office/powerpoint/2010/main" val="40378720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E2C90-1E78-7D7F-2321-2334D0D405D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AA2664EB-7C17-48F3-AC8E-5E52C807AEE0}"/>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2A1AF2F7-58C0-D540-883F-6912D1B79829}"/>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Q5.  </a:t>
            </a:r>
          </a:p>
        </p:txBody>
      </p:sp>
      <p:sp>
        <p:nvSpPr>
          <p:cNvPr id="2" name="TextBox 1">
            <a:extLst>
              <a:ext uri="{FF2B5EF4-FFF2-40B4-BE49-F238E27FC236}">
                <a16:creationId xmlns:a16="http://schemas.microsoft.com/office/drawing/2014/main" id="{4C047CB6-15DA-69BD-DEA1-8F94237CE107}"/>
              </a:ext>
            </a:extLst>
          </p:cNvPr>
          <p:cNvSpPr txBox="1"/>
          <p:nvPr/>
        </p:nvSpPr>
        <p:spPr>
          <a:xfrm>
            <a:off x="584197" y="2135706"/>
            <a:ext cx="13572069" cy="954107"/>
          </a:xfrm>
          <a:prstGeom prst="rect">
            <a:avLst/>
          </a:prstGeom>
          <a:noFill/>
        </p:spPr>
        <p:txBody>
          <a:bodyPr wrap="square">
            <a:spAutoFit/>
          </a:bodyPr>
          <a:lstStyle/>
          <a:p>
            <a:pPr algn="l"/>
            <a:r>
              <a:rPr lang="en-GB" sz="2800" b="0" i="0" u="none" strike="noStrike" dirty="0">
                <a:effectLst/>
              </a:rPr>
              <a:t>What are the key differences between RCP2.6, RCP4.5, RCP6.0, and RCP8.5? What policy choices can push us toward the lower emissions scenarios?</a:t>
            </a:r>
          </a:p>
        </p:txBody>
      </p:sp>
    </p:spTree>
    <p:extLst>
      <p:ext uri="{BB962C8B-B14F-4D97-AF65-F5344CB8AC3E}">
        <p14:creationId xmlns:p14="http://schemas.microsoft.com/office/powerpoint/2010/main" val="4160396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A707C-10D4-1472-4766-F7B907E4CFBD}"/>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9B1587C1-515F-A6A7-77C0-85C2B1E25A45}"/>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4DACAE3F-3AD9-567D-391F-86C3A9704C24}"/>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Q6.  </a:t>
            </a:r>
          </a:p>
        </p:txBody>
      </p:sp>
      <p:sp>
        <p:nvSpPr>
          <p:cNvPr id="2" name="TextBox 1">
            <a:extLst>
              <a:ext uri="{FF2B5EF4-FFF2-40B4-BE49-F238E27FC236}">
                <a16:creationId xmlns:a16="http://schemas.microsoft.com/office/drawing/2014/main" id="{B0F874F5-5843-BF94-A384-D6D7F0CBD73E}"/>
              </a:ext>
            </a:extLst>
          </p:cNvPr>
          <p:cNvSpPr txBox="1"/>
          <p:nvPr/>
        </p:nvSpPr>
        <p:spPr>
          <a:xfrm>
            <a:off x="584197" y="2135706"/>
            <a:ext cx="13572069" cy="954107"/>
          </a:xfrm>
          <a:prstGeom prst="rect">
            <a:avLst/>
          </a:prstGeom>
          <a:noFill/>
        </p:spPr>
        <p:txBody>
          <a:bodyPr wrap="square">
            <a:spAutoFit/>
          </a:bodyPr>
          <a:lstStyle/>
          <a:p>
            <a:pPr algn="l"/>
            <a:r>
              <a:rPr lang="en-GB" sz="2800" b="0" i="0" u="none" strike="noStrike" dirty="0">
                <a:effectLst/>
              </a:rPr>
              <a:t>How do increasing global temperatures contribute to extreme weather events such as hurricanes, heatwaves, and flooding? Give specific examples.</a:t>
            </a:r>
          </a:p>
        </p:txBody>
      </p:sp>
    </p:spTree>
    <p:extLst>
      <p:ext uri="{BB962C8B-B14F-4D97-AF65-F5344CB8AC3E}">
        <p14:creationId xmlns:p14="http://schemas.microsoft.com/office/powerpoint/2010/main" val="23111559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E365D-5BDF-AD30-93B5-CC469EB79EAF}"/>
            </a:ext>
          </a:extLst>
        </p:cNvPr>
        <p:cNvGrpSpPr/>
        <p:nvPr/>
      </p:nvGrpSpPr>
      <p:grpSpPr>
        <a:xfrm>
          <a:off x="0" y="0"/>
          <a:ext cx="0" cy="0"/>
          <a:chOff x="0" y="0"/>
          <a:chExt cx="0" cy="0"/>
        </a:xfrm>
      </p:grpSpPr>
      <p:sp>
        <p:nvSpPr>
          <p:cNvPr id="3" name="Freeform 13">
            <a:extLst>
              <a:ext uri="{FF2B5EF4-FFF2-40B4-BE49-F238E27FC236}">
                <a16:creationId xmlns:a16="http://schemas.microsoft.com/office/drawing/2014/main" id="{02AECAC9-D401-F822-9F02-083ECC43FCF3}"/>
              </a:ext>
            </a:extLst>
          </p:cNvPr>
          <p:cNvSpPr/>
          <p:nvPr/>
        </p:nvSpPr>
        <p:spPr>
          <a:xfrm>
            <a:off x="14147800" y="557983"/>
            <a:ext cx="3059312" cy="1353014"/>
          </a:xfrm>
          <a:custGeom>
            <a:avLst/>
            <a:gdLst/>
            <a:ahLst/>
            <a:cxnLst/>
            <a:rect l="l" t="t" r="r" b="b"/>
            <a:pathLst>
              <a:path w="5346866" h="2364707">
                <a:moveTo>
                  <a:pt x="0" y="0"/>
                </a:moveTo>
                <a:lnTo>
                  <a:pt x="5346866" y="0"/>
                </a:lnTo>
                <a:lnTo>
                  <a:pt x="5346866" y="2364707"/>
                </a:lnTo>
                <a:lnTo>
                  <a:pt x="0" y="2364707"/>
                </a:lnTo>
                <a:lnTo>
                  <a:pt x="0" y="0"/>
                </a:lnTo>
                <a:close/>
              </a:path>
            </a:pathLst>
          </a:custGeom>
          <a:blipFill>
            <a:blip r:embed="rId3" cstate="email">
              <a:extLst>
                <a:ext uri="{28A0092B-C50C-407E-A947-70E740481C1C}">
                  <a14:useLocalDpi xmlns:a14="http://schemas.microsoft.com/office/drawing/2010/main"/>
                </a:ext>
              </a:extLst>
            </a:blip>
            <a:stretch>
              <a:fillRect/>
            </a:stretch>
          </a:blipFill>
        </p:spPr>
        <p:txBody>
          <a:bodyPr/>
          <a:lstStyle/>
          <a:p>
            <a:pPr marL="0" marR="0" lvl="0" indent="0" algn="l" defTabSz="914445"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DM Sans" pitchFamily="2" charset="0"/>
              <a:ea typeface="ＭＳ Ｐゴシック" panose="020B0600070205080204" pitchFamily="34" charset="-128"/>
              <a:cs typeface="+mn-cs"/>
            </a:endParaRPr>
          </a:p>
        </p:txBody>
      </p:sp>
      <p:sp>
        <p:nvSpPr>
          <p:cNvPr id="5" name="TextBox 14">
            <a:extLst>
              <a:ext uri="{FF2B5EF4-FFF2-40B4-BE49-F238E27FC236}">
                <a16:creationId xmlns:a16="http://schemas.microsoft.com/office/drawing/2014/main" id="{B627EBD3-8FBD-383A-C449-9CDCA613E1AB}"/>
              </a:ext>
            </a:extLst>
          </p:cNvPr>
          <p:cNvSpPr txBox="1"/>
          <p:nvPr/>
        </p:nvSpPr>
        <p:spPr>
          <a:xfrm>
            <a:off x="584198" y="1026137"/>
            <a:ext cx="11004828" cy="884858"/>
          </a:xfrm>
          <a:prstGeom prst="rect">
            <a:avLst/>
          </a:prstGeom>
        </p:spPr>
        <p:txBody>
          <a:bodyPr wrap="square" lIns="0" tIns="0" rIns="0" bIns="0" rtlCol="0" anchor="t">
            <a:spAutoFit/>
          </a:bodyPr>
          <a:lstStyle/>
          <a:p>
            <a:pPr marL="0" marR="0" lvl="0" indent="0" algn="l" defTabSz="914445" rtl="0" eaLnBrk="1" fontAlgn="auto" latinLnBrk="0" hangingPunct="1">
              <a:lnSpc>
                <a:spcPts val="6860"/>
              </a:lnSpc>
              <a:spcBef>
                <a:spcPts val="0"/>
              </a:spcBef>
              <a:spcAft>
                <a:spcPts val="0"/>
              </a:spcAft>
              <a:buClrTx/>
              <a:buSzTx/>
              <a:buFontTx/>
              <a:buNone/>
              <a:tabLst/>
              <a:defRPr/>
            </a:pPr>
            <a:r>
              <a:rPr kumimoji="0" lang="en-US" sz="6000" b="0" i="1" u="none" strike="noStrike" kern="1200" cap="none" spc="-413" normalizeH="0" baseline="0" noProof="0" dirty="0">
                <a:ln>
                  <a:noFill/>
                </a:ln>
                <a:solidFill>
                  <a:srgbClr val="46245A"/>
                </a:solidFill>
                <a:effectLst/>
                <a:uLnTx/>
                <a:uFillTx/>
                <a:latin typeface="DM Sans Bold"/>
                <a:ea typeface="ＭＳ Ｐゴシック" panose="020B0600070205080204" pitchFamily="34" charset="-128"/>
                <a:cs typeface="+mn-cs"/>
              </a:rPr>
              <a:t>Q7.  </a:t>
            </a:r>
          </a:p>
        </p:txBody>
      </p:sp>
      <p:sp>
        <p:nvSpPr>
          <p:cNvPr id="2" name="TextBox 1">
            <a:extLst>
              <a:ext uri="{FF2B5EF4-FFF2-40B4-BE49-F238E27FC236}">
                <a16:creationId xmlns:a16="http://schemas.microsoft.com/office/drawing/2014/main" id="{2642FF6C-F18E-E9B3-65C4-AD912DA100B2}"/>
              </a:ext>
            </a:extLst>
          </p:cNvPr>
          <p:cNvSpPr txBox="1"/>
          <p:nvPr/>
        </p:nvSpPr>
        <p:spPr>
          <a:xfrm>
            <a:off x="584197" y="2135706"/>
            <a:ext cx="13572069" cy="954107"/>
          </a:xfrm>
          <a:prstGeom prst="rect">
            <a:avLst/>
          </a:prstGeom>
          <a:noFill/>
        </p:spPr>
        <p:txBody>
          <a:bodyPr wrap="square">
            <a:spAutoFit/>
          </a:bodyPr>
          <a:lstStyle/>
          <a:p>
            <a:pPr algn="l"/>
            <a:r>
              <a:rPr lang="en-GB" sz="2800" b="0" i="0" u="none" strike="noStrike" dirty="0">
                <a:effectLst/>
              </a:rPr>
              <a:t>Provide some possible examples of adaptation strategies relating to each category…. </a:t>
            </a:r>
          </a:p>
        </p:txBody>
      </p:sp>
      <p:pic>
        <p:nvPicPr>
          <p:cNvPr id="17" name="Picture 16" descr="A list of information on a table&#10;&#10;AI-generated content may be incorrect.">
            <a:extLst>
              <a:ext uri="{FF2B5EF4-FFF2-40B4-BE49-F238E27FC236}">
                <a16:creationId xmlns:a16="http://schemas.microsoft.com/office/drawing/2014/main" id="{3B4456BF-4FC6-17B3-1EE0-F76EBA1C09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196" y="3142424"/>
            <a:ext cx="12449051" cy="6410243"/>
          </a:xfrm>
          <a:prstGeom prst="rect">
            <a:avLst/>
          </a:prstGeom>
        </p:spPr>
      </p:pic>
    </p:spTree>
    <p:extLst>
      <p:ext uri="{BB962C8B-B14F-4D97-AF65-F5344CB8AC3E}">
        <p14:creationId xmlns:p14="http://schemas.microsoft.com/office/powerpoint/2010/main" val="39029706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DM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DM Sans"/>
        <a:ea typeface=""/>
        <a:cs typeface=""/>
        <a:font script="Jpan" typeface="ＭＳ Ｐゴシック"/>
        <a:font script="Hang" typeface="맑은 고딕"/>
        <a:font script="Hans" typeface="宋体"/>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M Sans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panose="020F0502020204030204"/>
        <a:ea typeface=""/>
        <a:cs typeface=""/>
        <a:font script="Jpan" typeface="游ゴシック"/>
        <a:font script="Hang" typeface="맑은 고딕"/>
        <a:font script="Hans" typeface="等线"/>
        <a:font script="Hant" typeface="新細明體"/>
        <a:font script="Arab" typeface="DM Sans"/>
        <a:font script="Hebr" typeface="DM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DM Sans"/>
        <a:font script="Uigh" typeface="Microsoft Uighur"/>
        <a:font script="Geor" typeface="Sylfaen"/>
        <a:font script="Armn" typeface="DM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28E7656B8F854EA3FBA2DC0FDE57D8" ma:contentTypeVersion="13" ma:contentTypeDescription="Create a new document." ma:contentTypeScope="" ma:versionID="2f55f3757423f8a9510e16e0485ceae4">
  <xsd:schema xmlns:xsd="http://www.w3.org/2001/XMLSchema" xmlns:xs="http://www.w3.org/2001/XMLSchema" xmlns:p="http://schemas.microsoft.com/office/2006/metadata/properties" xmlns:ns2="ef2cdc88-2d9e-4cc1-9996-acd9d00229e7" xmlns:ns3="2d04b034-a6a6-4c18-a06a-c7f1475d22b7" targetNamespace="http://schemas.microsoft.com/office/2006/metadata/properties" ma:root="true" ma:fieldsID="aad162b2229c38d96906976cd1e951d1" ns2:_="" ns3:_="">
    <xsd:import namespace="ef2cdc88-2d9e-4cc1-9996-acd9d00229e7"/>
    <xsd:import namespace="2d04b034-a6a6-4c18-a06a-c7f1475d22b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2cdc88-2d9e-4cc1-9996-acd9d00229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d84f0fb1-3ff4-4041-99c9-0ff0a116d57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04b034-a6a6-4c18-a06a-c7f1475d22b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c3033590-d564-48aa-a497-c6dbf64d132b}" ma:internalName="TaxCatchAll" ma:showField="CatchAllData" ma:web="2d04b034-a6a6-4c18-a06a-c7f1475d22b7">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2d04b034-a6a6-4c18-a06a-c7f1475d22b7">
      <UserInfo>
        <DisplayName>James Evans</DisplayName>
        <AccountId>12</AccountId>
        <AccountType/>
      </UserInfo>
    </SharedWithUsers>
    <TaxCatchAll xmlns="2d04b034-a6a6-4c18-a06a-c7f1475d22b7" xsi:nil="true"/>
    <lcf76f155ced4ddcb4097134ff3c332f xmlns="ef2cdc88-2d9e-4cc1-9996-acd9d00229e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75AF22D-E930-4A35-96C8-45C4552CEFD0}">
  <ds:schemaRefs>
    <ds:schemaRef ds:uri="2d04b034-a6a6-4c18-a06a-c7f1475d22b7"/>
    <ds:schemaRef ds:uri="ef2cdc88-2d9e-4cc1-9996-acd9d00229e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6E3B905-089B-4AAB-92C2-9145328F7EB6}">
  <ds:schemaRefs>
    <ds:schemaRef ds:uri="http://schemas.microsoft.com/sharepoint/v3/contenttype/forms"/>
  </ds:schemaRefs>
</ds:datastoreItem>
</file>

<file path=customXml/itemProps3.xml><?xml version="1.0" encoding="utf-8"?>
<ds:datastoreItem xmlns:ds="http://schemas.openxmlformats.org/officeDocument/2006/customXml" ds:itemID="{34204787-5CC9-4B4C-895B-E2DD531E2E20}">
  <ds:schemaRefs>
    <ds:schemaRef ds:uri="2d04b034-a6a6-4c18-a06a-c7f1475d22b7"/>
    <ds:schemaRef ds:uri="ef2cdc88-2d9e-4cc1-9996-acd9d00229e7"/>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6406</TotalTime>
  <Words>4225</Words>
  <Application>Microsoft Macintosh PowerPoint</Application>
  <PresentationFormat>Custom</PresentationFormat>
  <Paragraphs>538</Paragraphs>
  <Slides>68</Slides>
  <Notes>68</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68</vt:i4>
      </vt:variant>
    </vt:vector>
  </HeadingPairs>
  <TitlesOfParts>
    <vt:vector size="78" baseType="lpstr">
      <vt:lpstr>Arial</vt:lpstr>
      <vt:lpstr>Calibri</vt:lpstr>
      <vt:lpstr>Aptos</vt:lpstr>
      <vt:lpstr>DM Sans</vt:lpstr>
      <vt:lpstr>Times New Roman</vt:lpstr>
      <vt:lpstr>DM Sans Bold</vt:lpstr>
      <vt:lpstr>Open Sans</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360 Presentation Template</dc:title>
  <dc:creator>Rebecca Pinder</dc:creator>
  <cp:lastModifiedBy>Thomas Bannan</cp:lastModifiedBy>
  <cp:revision>62</cp:revision>
  <dcterms:created xsi:type="dcterms:W3CDTF">2006-08-16T00:00:00Z</dcterms:created>
  <dcterms:modified xsi:type="dcterms:W3CDTF">2026-03-22T08:41:31Z</dcterms:modified>
  <dc:identifier>DAFmF_MGmPY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0x010100BE28E7656B8F854EA3FBA2DC0FDE57D8</vt:lpwstr>
  </property>
  <property fmtid="{D5CDD505-2E9C-101B-9397-08002B2CF9AE}" pid="3" name="MediaServiceImageTags">
    <vt:lpwstr/>
  </property>
</Properties>
</file>