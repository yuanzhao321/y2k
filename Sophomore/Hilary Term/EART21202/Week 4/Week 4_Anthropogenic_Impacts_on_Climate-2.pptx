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6" r:id="rId2"/>
  </p:sldMasterIdLst>
  <p:notesMasterIdLst>
    <p:notesMasterId r:id="rId43"/>
  </p:notesMasterIdLst>
  <p:sldIdLst>
    <p:sldId id="863" r:id="rId3"/>
    <p:sldId id="1367" r:id="rId4"/>
    <p:sldId id="602" r:id="rId5"/>
    <p:sldId id="864" r:id="rId6"/>
    <p:sldId id="639" r:id="rId7"/>
    <p:sldId id="637" r:id="rId8"/>
    <p:sldId id="1373" r:id="rId9"/>
    <p:sldId id="288" r:id="rId10"/>
    <p:sldId id="269" r:id="rId11"/>
    <p:sldId id="276" r:id="rId12"/>
    <p:sldId id="1374" r:id="rId13"/>
    <p:sldId id="277" r:id="rId14"/>
    <p:sldId id="260" r:id="rId15"/>
    <p:sldId id="261" r:id="rId16"/>
    <p:sldId id="267" r:id="rId17"/>
    <p:sldId id="268" r:id="rId18"/>
    <p:sldId id="262" r:id="rId19"/>
    <p:sldId id="266" r:id="rId20"/>
    <p:sldId id="285" r:id="rId21"/>
    <p:sldId id="295" r:id="rId22"/>
    <p:sldId id="296" r:id="rId23"/>
    <p:sldId id="281" r:id="rId24"/>
    <p:sldId id="270" r:id="rId25"/>
    <p:sldId id="271" r:id="rId26"/>
    <p:sldId id="275" r:id="rId27"/>
    <p:sldId id="273" r:id="rId28"/>
    <p:sldId id="274" r:id="rId29"/>
    <p:sldId id="282" r:id="rId30"/>
    <p:sldId id="272" r:id="rId31"/>
    <p:sldId id="278" r:id="rId32"/>
    <p:sldId id="1375" r:id="rId33"/>
    <p:sldId id="293" r:id="rId34"/>
    <p:sldId id="279" r:id="rId35"/>
    <p:sldId id="284" r:id="rId36"/>
    <p:sldId id="283" r:id="rId37"/>
    <p:sldId id="264" r:id="rId38"/>
    <p:sldId id="287" r:id="rId39"/>
    <p:sldId id="1356" r:id="rId40"/>
    <p:sldId id="1366" r:id="rId41"/>
    <p:sldId id="136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EA2D27-F25D-AB45-8347-FEBBB2E22E78}" v="47" dt="2026-02-26T18:27:34.6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3699"/>
  </p:normalViewPr>
  <p:slideViewPr>
    <p:cSldViewPr snapToGrid="0">
      <p:cViewPr>
        <p:scale>
          <a:sx n="120" d="100"/>
          <a:sy n="120" d="100"/>
        </p:scale>
        <p:origin x="144" y="-10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O'Meara" userId="37bc7dfb-edde-456d-b544-b966b13ebebd" providerId="ADAL" clId="{CB7906F0-806B-51F6-BB00-FAD47A43F88F}"/>
    <pc:docChg chg="undo custSel addSld delSld modSld delMainMaster">
      <pc:chgData name="Simon O'Meara" userId="37bc7dfb-edde-456d-b544-b966b13ebebd" providerId="ADAL" clId="{CB7906F0-806B-51F6-BB00-FAD47A43F88F}" dt="2026-02-26T18:28:17.785" v="2922" actId="1038"/>
      <pc:docMkLst>
        <pc:docMk/>
      </pc:docMkLst>
      <pc:sldChg chg="modSp mod">
        <pc:chgData name="Simon O'Meara" userId="37bc7dfb-edde-456d-b544-b966b13ebebd" providerId="ADAL" clId="{CB7906F0-806B-51F6-BB00-FAD47A43F88F}" dt="2026-02-14T13:36:07.363" v="233" actId="20577"/>
        <pc:sldMkLst>
          <pc:docMk/>
          <pc:sldMk cId="323067666" sldId="260"/>
        </pc:sldMkLst>
        <pc:spChg chg="mod">
          <ac:chgData name="Simon O'Meara" userId="37bc7dfb-edde-456d-b544-b966b13ebebd" providerId="ADAL" clId="{CB7906F0-806B-51F6-BB00-FAD47A43F88F}" dt="2026-02-14T13:36:07.363" v="233" actId="20577"/>
          <ac:spMkLst>
            <pc:docMk/>
            <pc:sldMk cId="323067666" sldId="260"/>
            <ac:spMk id="3" creationId="{88B169D7-8AC0-1AD5-45DC-23945B97481A}"/>
          </ac:spMkLst>
        </pc:spChg>
        <pc:spChg chg="mod">
          <ac:chgData name="Simon O'Meara" userId="37bc7dfb-edde-456d-b544-b966b13ebebd" providerId="ADAL" clId="{CB7906F0-806B-51F6-BB00-FAD47A43F88F}" dt="2026-02-14T13:28:17.179" v="98" actId="20577"/>
          <ac:spMkLst>
            <pc:docMk/>
            <pc:sldMk cId="323067666" sldId="260"/>
            <ac:spMk id="5" creationId="{28901CDD-FDA2-8ECE-76EC-3E8CD1355CAE}"/>
          </ac:spMkLst>
        </pc:spChg>
        <pc:picChg chg="mod modCrop">
          <ac:chgData name="Simon O'Meara" userId="37bc7dfb-edde-456d-b544-b966b13ebebd" providerId="ADAL" clId="{CB7906F0-806B-51F6-BB00-FAD47A43F88F}" dt="2026-02-14T13:35:51.680" v="219" actId="732"/>
          <ac:picMkLst>
            <pc:docMk/>
            <pc:sldMk cId="323067666" sldId="260"/>
            <ac:picMk id="10" creationId="{5C8A001E-4995-5E40-0E00-B444FFE24126}"/>
          </ac:picMkLst>
        </pc:picChg>
      </pc:sldChg>
      <pc:sldChg chg="modSp mod">
        <pc:chgData name="Simon O'Meara" userId="37bc7dfb-edde-456d-b544-b966b13ebebd" providerId="ADAL" clId="{CB7906F0-806B-51F6-BB00-FAD47A43F88F}" dt="2026-02-14T13:30:56.812" v="123" actId="20577"/>
        <pc:sldMkLst>
          <pc:docMk/>
          <pc:sldMk cId="231370" sldId="261"/>
        </pc:sldMkLst>
        <pc:spChg chg="mod">
          <ac:chgData name="Simon O'Meara" userId="37bc7dfb-edde-456d-b544-b966b13ebebd" providerId="ADAL" clId="{CB7906F0-806B-51F6-BB00-FAD47A43F88F}" dt="2026-02-14T13:30:56.812" v="123" actId="20577"/>
          <ac:spMkLst>
            <pc:docMk/>
            <pc:sldMk cId="231370" sldId="261"/>
            <ac:spMk id="6" creationId="{335F211F-C106-B31D-3384-3E09FCD52352}"/>
          </ac:spMkLst>
        </pc:spChg>
        <pc:spChg chg="mod">
          <ac:chgData name="Simon O'Meara" userId="37bc7dfb-edde-456d-b544-b966b13ebebd" providerId="ADAL" clId="{CB7906F0-806B-51F6-BB00-FAD47A43F88F}" dt="2026-02-14T13:28:28.074" v="103" actId="20577"/>
          <ac:spMkLst>
            <pc:docMk/>
            <pc:sldMk cId="231370" sldId="261"/>
            <ac:spMk id="8" creationId="{38443429-E2F3-2C26-00C6-0A370024B4A2}"/>
          </ac:spMkLst>
        </pc:spChg>
      </pc:sldChg>
      <pc:sldChg chg="addSp modSp mod">
        <pc:chgData name="Simon O'Meara" userId="37bc7dfb-edde-456d-b544-b966b13ebebd" providerId="ADAL" clId="{CB7906F0-806B-51F6-BB00-FAD47A43F88F}" dt="2026-02-14T13:39:57.675" v="293" actId="1076"/>
        <pc:sldMkLst>
          <pc:docMk/>
          <pc:sldMk cId="175076168" sldId="262"/>
        </pc:sldMkLst>
        <pc:spChg chg="add mod">
          <ac:chgData name="Simon O'Meara" userId="37bc7dfb-edde-456d-b544-b966b13ebebd" providerId="ADAL" clId="{CB7906F0-806B-51F6-BB00-FAD47A43F88F}" dt="2026-02-14T13:38:51.454" v="254" actId="208"/>
          <ac:spMkLst>
            <pc:docMk/>
            <pc:sldMk cId="175076168" sldId="262"/>
            <ac:spMk id="2" creationId="{FBC0068B-536E-4151-4524-76E00BC441B6}"/>
          </ac:spMkLst>
        </pc:spChg>
        <pc:spChg chg="mod">
          <ac:chgData name="Simon O'Meara" userId="37bc7dfb-edde-456d-b544-b966b13ebebd" providerId="ADAL" clId="{CB7906F0-806B-51F6-BB00-FAD47A43F88F}" dt="2026-02-14T13:39:46.950" v="292" actId="20577"/>
          <ac:spMkLst>
            <pc:docMk/>
            <pc:sldMk cId="175076168" sldId="262"/>
            <ac:spMk id="4" creationId="{B2CE72B5-C914-00B5-B2F6-FFB35C9B470E}"/>
          </ac:spMkLst>
        </pc:spChg>
        <pc:spChg chg="mod">
          <ac:chgData name="Simon O'Meara" userId="37bc7dfb-edde-456d-b544-b966b13ebebd" providerId="ADAL" clId="{CB7906F0-806B-51F6-BB00-FAD47A43F88F}" dt="2026-02-14T13:39:57.675" v="293" actId="1076"/>
          <ac:spMkLst>
            <pc:docMk/>
            <pc:sldMk cId="175076168" sldId="262"/>
            <ac:spMk id="6" creationId="{06D8766C-421C-C0BC-08A7-4956C88374AD}"/>
          </ac:spMkLst>
        </pc:spChg>
        <pc:spChg chg="mod">
          <ac:chgData name="Simon O'Meara" userId="37bc7dfb-edde-456d-b544-b966b13ebebd" providerId="ADAL" clId="{CB7906F0-806B-51F6-BB00-FAD47A43F88F}" dt="2026-02-14T13:37:21.995" v="242" actId="20577"/>
          <ac:spMkLst>
            <pc:docMk/>
            <pc:sldMk cId="175076168" sldId="262"/>
            <ac:spMk id="12" creationId="{651E0F54-8C52-68E5-7F2C-ED12A6D76C10}"/>
          </ac:spMkLst>
        </pc:spChg>
        <pc:spChg chg="add mod">
          <ac:chgData name="Simon O'Meara" userId="37bc7dfb-edde-456d-b544-b966b13ebebd" providerId="ADAL" clId="{CB7906F0-806B-51F6-BB00-FAD47A43F88F}" dt="2026-02-14T13:39:25.094" v="288" actId="20577"/>
          <ac:spMkLst>
            <pc:docMk/>
            <pc:sldMk cId="175076168" sldId="262"/>
            <ac:spMk id="13" creationId="{B6C1FB14-D8D9-EF7F-FB98-122C5F1498DB}"/>
          </ac:spMkLst>
        </pc:spChg>
        <pc:spChg chg="mod">
          <ac:chgData name="Simon O'Meara" userId="37bc7dfb-edde-456d-b544-b966b13ebebd" providerId="ADAL" clId="{CB7906F0-806B-51F6-BB00-FAD47A43F88F}" dt="2026-02-14T13:38:33.342" v="249" actId="1038"/>
          <ac:spMkLst>
            <pc:docMk/>
            <pc:sldMk cId="175076168" sldId="262"/>
            <ac:spMk id="21" creationId="{0415A46E-4D98-3B41-8566-3554D6222A20}"/>
          </ac:spMkLst>
        </pc:spChg>
      </pc:sldChg>
      <pc:sldChg chg="delSp modSp mod">
        <pc:chgData name="Simon O'Meara" userId="37bc7dfb-edde-456d-b544-b966b13ebebd" providerId="ADAL" clId="{CB7906F0-806B-51F6-BB00-FAD47A43F88F}" dt="2026-02-14T13:40:43.086" v="301" actId="20577"/>
        <pc:sldMkLst>
          <pc:docMk/>
          <pc:sldMk cId="1327183295" sldId="266"/>
        </pc:sldMkLst>
        <pc:spChg chg="mod">
          <ac:chgData name="Simon O'Meara" userId="37bc7dfb-edde-456d-b544-b966b13ebebd" providerId="ADAL" clId="{CB7906F0-806B-51F6-BB00-FAD47A43F88F}" dt="2026-02-14T13:40:43.086" v="301" actId="20577"/>
          <ac:spMkLst>
            <pc:docMk/>
            <pc:sldMk cId="1327183295" sldId="266"/>
            <ac:spMk id="3" creationId="{DC6C52E4-F8AB-B967-6A6C-A6B92D5ABA4E}"/>
          </ac:spMkLst>
        </pc:spChg>
      </pc:sldChg>
      <pc:sldChg chg="modSp mod">
        <pc:chgData name="Simon O'Meara" userId="37bc7dfb-edde-456d-b544-b966b13ebebd" providerId="ADAL" clId="{CB7906F0-806B-51F6-BB00-FAD47A43F88F}" dt="2026-02-14T13:31:10.106" v="138" actId="20577"/>
        <pc:sldMkLst>
          <pc:docMk/>
          <pc:sldMk cId="1165765180" sldId="267"/>
        </pc:sldMkLst>
        <pc:spChg chg="mod">
          <ac:chgData name="Simon O'Meara" userId="37bc7dfb-edde-456d-b544-b966b13ebebd" providerId="ADAL" clId="{CB7906F0-806B-51F6-BB00-FAD47A43F88F}" dt="2026-02-14T13:31:10.106" v="138" actId="20577"/>
          <ac:spMkLst>
            <pc:docMk/>
            <pc:sldMk cId="1165765180" sldId="267"/>
            <ac:spMk id="7" creationId="{82DC59F2-E5E7-EFA2-1F90-6EC9FC9A9A72}"/>
          </ac:spMkLst>
        </pc:spChg>
        <pc:spChg chg="mod">
          <ac:chgData name="Simon O'Meara" userId="37bc7dfb-edde-456d-b544-b966b13ebebd" providerId="ADAL" clId="{CB7906F0-806B-51F6-BB00-FAD47A43F88F}" dt="2026-02-14T13:31:05.321" v="134" actId="20577"/>
          <ac:spMkLst>
            <pc:docMk/>
            <pc:sldMk cId="1165765180" sldId="267"/>
            <ac:spMk id="9" creationId="{1C0786B7-BC19-20F9-69B8-52B21BFDDFEB}"/>
          </ac:spMkLst>
        </pc:spChg>
      </pc:sldChg>
      <pc:sldChg chg="modSp mod modNotesTx">
        <pc:chgData name="Simon O'Meara" userId="37bc7dfb-edde-456d-b544-b966b13ebebd" providerId="ADAL" clId="{CB7906F0-806B-51F6-BB00-FAD47A43F88F}" dt="2026-02-14T13:57:01.205" v="829" actId="14100"/>
        <pc:sldMkLst>
          <pc:docMk/>
          <pc:sldMk cId="1252803216" sldId="268"/>
        </pc:sldMkLst>
        <pc:spChg chg="mod">
          <ac:chgData name="Simon O'Meara" userId="37bc7dfb-edde-456d-b544-b966b13ebebd" providerId="ADAL" clId="{CB7906F0-806B-51F6-BB00-FAD47A43F88F}" dt="2026-02-14T13:57:01.205" v="829" actId="14100"/>
          <ac:spMkLst>
            <pc:docMk/>
            <pc:sldMk cId="1252803216" sldId="268"/>
            <ac:spMk id="9" creationId="{2D8AA016-F85A-20F1-05FC-C59887DEC7F2}"/>
          </ac:spMkLst>
        </pc:spChg>
        <pc:spChg chg="mod">
          <ac:chgData name="Simon O'Meara" userId="37bc7dfb-edde-456d-b544-b966b13ebebd" providerId="ADAL" clId="{CB7906F0-806B-51F6-BB00-FAD47A43F88F}" dt="2026-02-14T13:37:10.558" v="236" actId="20577"/>
          <ac:spMkLst>
            <pc:docMk/>
            <pc:sldMk cId="1252803216" sldId="268"/>
            <ac:spMk id="13" creationId="{D92F2CC5-A6B8-AD1F-EBF9-7BCBDA7ADD73}"/>
          </ac:spMkLst>
        </pc:spChg>
        <pc:cxnChg chg="mod">
          <ac:chgData name="Simon O'Meara" userId="37bc7dfb-edde-456d-b544-b966b13ebebd" providerId="ADAL" clId="{CB7906F0-806B-51F6-BB00-FAD47A43F88F}" dt="2026-02-14T13:57:01.205" v="829" actId="14100"/>
          <ac:cxnSpMkLst>
            <pc:docMk/>
            <pc:sldMk cId="1252803216" sldId="268"/>
            <ac:cxnSpMk id="11" creationId="{0B7370A6-2695-5395-045B-092E40D247FA}"/>
          </ac:cxnSpMkLst>
        </pc:cxnChg>
        <pc:cxnChg chg="mod">
          <ac:chgData name="Simon O'Meara" userId="37bc7dfb-edde-456d-b544-b966b13ebebd" providerId="ADAL" clId="{CB7906F0-806B-51F6-BB00-FAD47A43F88F}" dt="2026-02-14T13:57:01.205" v="829" actId="14100"/>
          <ac:cxnSpMkLst>
            <pc:docMk/>
            <pc:sldMk cId="1252803216" sldId="268"/>
            <ac:cxnSpMk id="18" creationId="{DBA51D11-3587-4A14-70AB-27744E66A6EC}"/>
          </ac:cxnSpMkLst>
        </pc:cxnChg>
      </pc:sldChg>
      <pc:sldChg chg="modSp mod">
        <pc:chgData name="Simon O'Meara" userId="37bc7dfb-edde-456d-b544-b966b13ebebd" providerId="ADAL" clId="{CB7906F0-806B-51F6-BB00-FAD47A43F88F}" dt="2026-02-14T13:30:36.923" v="112" actId="20577"/>
        <pc:sldMkLst>
          <pc:docMk/>
          <pc:sldMk cId="1992715612" sldId="269"/>
        </pc:sldMkLst>
        <pc:spChg chg="mod">
          <ac:chgData name="Simon O'Meara" userId="37bc7dfb-edde-456d-b544-b966b13ebebd" providerId="ADAL" clId="{CB7906F0-806B-51F6-BB00-FAD47A43F88F}" dt="2026-02-14T13:30:36.923" v="112" actId="20577"/>
          <ac:spMkLst>
            <pc:docMk/>
            <pc:sldMk cId="1992715612" sldId="269"/>
            <ac:spMk id="6" creationId="{41FD4402-BE98-F0BA-A341-60F08729838D}"/>
          </ac:spMkLst>
        </pc:spChg>
      </pc:sldChg>
      <pc:sldChg chg="modSp mod">
        <pc:chgData name="Simon O'Meara" userId="37bc7dfb-edde-456d-b544-b966b13ebebd" providerId="ADAL" clId="{CB7906F0-806B-51F6-BB00-FAD47A43F88F}" dt="2026-02-14T13:46:37.321" v="364" actId="20577"/>
        <pc:sldMkLst>
          <pc:docMk/>
          <pc:sldMk cId="2694617639" sldId="270"/>
        </pc:sldMkLst>
        <pc:spChg chg="mod">
          <ac:chgData name="Simon O'Meara" userId="37bc7dfb-edde-456d-b544-b966b13ebebd" providerId="ADAL" clId="{CB7906F0-806B-51F6-BB00-FAD47A43F88F}" dt="2026-02-14T13:46:13.114" v="347" actId="20577"/>
          <ac:spMkLst>
            <pc:docMk/>
            <pc:sldMk cId="2694617639" sldId="270"/>
            <ac:spMk id="9" creationId="{A165E2DF-25F1-CEBD-3FDA-AD27BFBF067F}"/>
          </ac:spMkLst>
        </pc:spChg>
        <pc:spChg chg="mod">
          <ac:chgData name="Simon O'Meara" userId="37bc7dfb-edde-456d-b544-b966b13ebebd" providerId="ADAL" clId="{CB7906F0-806B-51F6-BB00-FAD47A43F88F}" dt="2026-02-14T13:46:37.321" v="364" actId="20577"/>
          <ac:spMkLst>
            <pc:docMk/>
            <pc:sldMk cId="2694617639" sldId="270"/>
            <ac:spMk id="11" creationId="{C6CB33F6-183C-0847-5C48-774EA8E2C0DB}"/>
          </ac:spMkLst>
        </pc:spChg>
      </pc:sldChg>
      <pc:sldChg chg="modSp mod">
        <pc:chgData name="Simon O'Meara" userId="37bc7dfb-edde-456d-b544-b966b13ebebd" providerId="ADAL" clId="{CB7906F0-806B-51F6-BB00-FAD47A43F88F}" dt="2026-02-26T18:23:52.033" v="2798" actId="20577"/>
        <pc:sldMkLst>
          <pc:docMk/>
          <pc:sldMk cId="898756062" sldId="271"/>
        </pc:sldMkLst>
        <pc:spChg chg="mod">
          <ac:chgData name="Simon O'Meara" userId="37bc7dfb-edde-456d-b544-b966b13ebebd" providerId="ADAL" clId="{CB7906F0-806B-51F6-BB00-FAD47A43F88F}" dt="2026-02-26T13:49:50.782" v="2747" actId="20577"/>
          <ac:spMkLst>
            <pc:docMk/>
            <pc:sldMk cId="898756062" sldId="271"/>
            <ac:spMk id="3" creationId="{A5F574A9-923B-83B6-F50F-711BD0025591}"/>
          </ac:spMkLst>
        </pc:spChg>
        <pc:spChg chg="mod">
          <ac:chgData name="Simon O'Meara" userId="37bc7dfb-edde-456d-b544-b966b13ebebd" providerId="ADAL" clId="{CB7906F0-806B-51F6-BB00-FAD47A43F88F}" dt="2026-02-26T18:23:52.033" v="2798" actId="20577"/>
          <ac:spMkLst>
            <pc:docMk/>
            <pc:sldMk cId="898756062" sldId="271"/>
            <ac:spMk id="7" creationId="{B482BFAC-237D-B460-953C-69E27DA54CEB}"/>
          </ac:spMkLst>
        </pc:spChg>
      </pc:sldChg>
      <pc:sldChg chg="modSp mod">
        <pc:chgData name="Simon O'Meara" userId="37bc7dfb-edde-456d-b544-b966b13ebebd" providerId="ADAL" clId="{CB7906F0-806B-51F6-BB00-FAD47A43F88F}" dt="2026-02-14T14:14:08.147" v="1362" actId="20577"/>
        <pc:sldMkLst>
          <pc:docMk/>
          <pc:sldMk cId="2748493868" sldId="272"/>
        </pc:sldMkLst>
        <pc:spChg chg="mod">
          <ac:chgData name="Simon O'Meara" userId="37bc7dfb-edde-456d-b544-b966b13ebebd" providerId="ADAL" clId="{CB7906F0-806B-51F6-BB00-FAD47A43F88F}" dt="2026-02-14T14:14:08.147" v="1362" actId="20577"/>
          <ac:spMkLst>
            <pc:docMk/>
            <pc:sldMk cId="2748493868" sldId="272"/>
            <ac:spMk id="3" creationId="{345536E3-78BF-A0B1-E9BD-6BC11F575B9B}"/>
          </ac:spMkLst>
        </pc:spChg>
        <pc:spChg chg="mod">
          <ac:chgData name="Simon O'Meara" userId="37bc7dfb-edde-456d-b544-b966b13ebebd" providerId="ADAL" clId="{CB7906F0-806B-51F6-BB00-FAD47A43F88F}" dt="2026-02-14T14:12:59.596" v="1296" actId="20577"/>
          <ac:spMkLst>
            <pc:docMk/>
            <pc:sldMk cId="2748493868" sldId="272"/>
            <ac:spMk id="7" creationId="{998B0784-7E19-4852-2033-5008C46D20B5}"/>
          </ac:spMkLst>
        </pc:spChg>
      </pc:sldChg>
      <pc:sldChg chg="modSp mod">
        <pc:chgData name="Simon O'Meara" userId="37bc7dfb-edde-456d-b544-b966b13ebebd" providerId="ADAL" clId="{CB7906F0-806B-51F6-BB00-FAD47A43F88F}" dt="2026-02-14T13:54:18.167" v="748" actId="20577"/>
        <pc:sldMkLst>
          <pc:docMk/>
          <pc:sldMk cId="2074199836" sldId="273"/>
        </pc:sldMkLst>
        <pc:spChg chg="mod">
          <ac:chgData name="Simon O'Meara" userId="37bc7dfb-edde-456d-b544-b966b13ebebd" providerId="ADAL" clId="{CB7906F0-806B-51F6-BB00-FAD47A43F88F}" dt="2026-02-14T13:54:18.167" v="748" actId="20577"/>
          <ac:spMkLst>
            <pc:docMk/>
            <pc:sldMk cId="2074199836" sldId="273"/>
            <ac:spMk id="10" creationId="{E9228F36-C66B-3494-D5C7-0E37131C4985}"/>
          </ac:spMkLst>
        </pc:spChg>
      </pc:sldChg>
      <pc:sldChg chg="modSp mod">
        <pc:chgData name="Simon O'Meara" userId="37bc7dfb-edde-456d-b544-b966b13ebebd" providerId="ADAL" clId="{CB7906F0-806B-51F6-BB00-FAD47A43F88F}" dt="2026-02-14T13:54:24.083" v="752" actId="20577"/>
        <pc:sldMkLst>
          <pc:docMk/>
          <pc:sldMk cId="943017933" sldId="274"/>
        </pc:sldMkLst>
        <pc:spChg chg="mod">
          <ac:chgData name="Simon O'Meara" userId="37bc7dfb-edde-456d-b544-b966b13ebebd" providerId="ADAL" clId="{CB7906F0-806B-51F6-BB00-FAD47A43F88F}" dt="2026-02-14T13:54:24.083" v="752" actId="20577"/>
          <ac:spMkLst>
            <pc:docMk/>
            <pc:sldMk cId="943017933" sldId="274"/>
            <ac:spMk id="9" creationId="{D12E5C1B-7E50-52A2-8848-4CD1D6C51424}"/>
          </ac:spMkLst>
        </pc:spChg>
      </pc:sldChg>
      <pc:sldChg chg="modSp mod">
        <pc:chgData name="Simon O'Meara" userId="37bc7dfb-edde-456d-b544-b966b13ebebd" providerId="ADAL" clId="{CB7906F0-806B-51F6-BB00-FAD47A43F88F}" dt="2026-02-14T14:12:08.212" v="1279" actId="20577"/>
        <pc:sldMkLst>
          <pc:docMk/>
          <pc:sldMk cId="4057497710" sldId="275"/>
        </pc:sldMkLst>
        <pc:spChg chg="mod">
          <ac:chgData name="Simon O'Meara" userId="37bc7dfb-edde-456d-b544-b966b13ebebd" providerId="ADAL" clId="{CB7906F0-806B-51F6-BB00-FAD47A43F88F}" dt="2026-02-14T14:12:08.212" v="1279" actId="20577"/>
          <ac:spMkLst>
            <pc:docMk/>
            <pc:sldMk cId="4057497710" sldId="275"/>
            <ac:spMk id="3" creationId="{6936CB92-0711-CB21-2102-AB29A52F837A}"/>
          </ac:spMkLst>
        </pc:spChg>
        <pc:spChg chg="mod">
          <ac:chgData name="Simon O'Meara" userId="37bc7dfb-edde-456d-b544-b966b13ebebd" providerId="ADAL" clId="{CB7906F0-806B-51F6-BB00-FAD47A43F88F}" dt="2026-02-14T13:54:14.097" v="744" actId="20577"/>
          <ac:spMkLst>
            <pc:docMk/>
            <pc:sldMk cId="4057497710" sldId="275"/>
            <ac:spMk id="11" creationId="{4A507CCA-1F75-A0D8-1530-75BF52ABBEB5}"/>
          </ac:spMkLst>
        </pc:spChg>
      </pc:sldChg>
      <pc:sldChg chg="modSp mod">
        <pc:chgData name="Simon O'Meara" userId="37bc7dfb-edde-456d-b544-b966b13ebebd" providerId="ADAL" clId="{CB7906F0-806B-51F6-BB00-FAD47A43F88F}" dt="2026-02-14T13:30:41.391" v="114" actId="20577"/>
        <pc:sldMkLst>
          <pc:docMk/>
          <pc:sldMk cId="3384742159" sldId="276"/>
        </pc:sldMkLst>
        <pc:spChg chg="mod">
          <ac:chgData name="Simon O'Meara" userId="37bc7dfb-edde-456d-b544-b966b13ebebd" providerId="ADAL" clId="{CB7906F0-806B-51F6-BB00-FAD47A43F88F}" dt="2026-02-14T13:30:41.391" v="114" actId="20577"/>
          <ac:spMkLst>
            <pc:docMk/>
            <pc:sldMk cId="3384742159" sldId="276"/>
            <ac:spMk id="5" creationId="{A200CC58-01C7-79DC-102B-FDE669D89B8A}"/>
          </ac:spMkLst>
        </pc:spChg>
      </pc:sldChg>
      <pc:sldChg chg="modSp mod">
        <pc:chgData name="Simon O'Meara" userId="37bc7dfb-edde-456d-b544-b966b13ebebd" providerId="ADAL" clId="{CB7906F0-806B-51F6-BB00-FAD47A43F88F}" dt="2026-02-14T13:28:21.386" v="100" actId="20577"/>
        <pc:sldMkLst>
          <pc:docMk/>
          <pc:sldMk cId="4122333994" sldId="277"/>
        </pc:sldMkLst>
        <pc:spChg chg="mod">
          <ac:chgData name="Simon O'Meara" userId="37bc7dfb-edde-456d-b544-b966b13ebebd" providerId="ADAL" clId="{CB7906F0-806B-51F6-BB00-FAD47A43F88F}" dt="2026-02-14T13:28:21.386" v="100" actId="20577"/>
          <ac:spMkLst>
            <pc:docMk/>
            <pc:sldMk cId="4122333994" sldId="277"/>
            <ac:spMk id="5" creationId="{1C1AE8F3-80AD-03F9-1268-3A9D80305F4F}"/>
          </ac:spMkLst>
        </pc:spChg>
      </pc:sldChg>
      <pc:sldChg chg="addSp delSp modSp mod">
        <pc:chgData name="Simon O'Meara" userId="37bc7dfb-edde-456d-b544-b966b13ebebd" providerId="ADAL" clId="{CB7906F0-806B-51F6-BB00-FAD47A43F88F}" dt="2026-02-26T14:08:57.775" v="2775" actId="20577"/>
        <pc:sldMkLst>
          <pc:docMk/>
          <pc:sldMk cId="4122870958" sldId="278"/>
        </pc:sldMkLst>
        <pc:spChg chg="mod">
          <ac:chgData name="Simon O'Meara" userId="37bc7dfb-edde-456d-b544-b966b13ebebd" providerId="ADAL" clId="{CB7906F0-806B-51F6-BB00-FAD47A43F88F}" dt="2026-02-26T14:08:45.210" v="2758" actId="20577"/>
          <ac:spMkLst>
            <pc:docMk/>
            <pc:sldMk cId="4122870958" sldId="278"/>
            <ac:spMk id="7" creationId="{AB6768AF-F15D-A4C5-F3DE-77884DFA4470}"/>
          </ac:spMkLst>
        </pc:spChg>
        <pc:spChg chg="del mod">
          <ac:chgData name="Simon O'Meara" userId="37bc7dfb-edde-456d-b544-b966b13ebebd" providerId="ADAL" clId="{CB7906F0-806B-51F6-BB00-FAD47A43F88F}" dt="2026-02-25T16:02:08.532" v="2181" actId="21"/>
          <ac:spMkLst>
            <pc:docMk/>
            <pc:sldMk cId="4122870958" sldId="278"/>
            <ac:spMk id="8" creationId="{CD92963D-F685-EDA4-EF4D-D9FAAA35D34B}"/>
          </ac:spMkLst>
        </pc:spChg>
        <pc:spChg chg="mod">
          <ac:chgData name="Simon O'Meara" userId="37bc7dfb-edde-456d-b544-b966b13ebebd" providerId="ADAL" clId="{CB7906F0-806B-51F6-BB00-FAD47A43F88F}" dt="2026-02-26T14:08:57.775" v="2775" actId="20577"/>
          <ac:spMkLst>
            <pc:docMk/>
            <pc:sldMk cId="4122870958" sldId="278"/>
            <ac:spMk id="9" creationId="{221F03EF-0922-0F30-3F89-D95D9B89251D}"/>
          </ac:spMkLst>
        </pc:spChg>
        <pc:spChg chg="add del mod">
          <ac:chgData name="Simon O'Meara" userId="37bc7dfb-edde-456d-b544-b966b13ebebd" providerId="ADAL" clId="{CB7906F0-806B-51F6-BB00-FAD47A43F88F}" dt="2026-02-25T15:52:00.017" v="2165" actId="478"/>
          <ac:spMkLst>
            <pc:docMk/>
            <pc:sldMk cId="4122870958" sldId="278"/>
            <ac:spMk id="14" creationId="{D9B2D6C5-307A-7CE0-6E38-562044FC8B88}"/>
          </ac:spMkLst>
        </pc:spChg>
        <pc:picChg chg="del">
          <ac:chgData name="Simon O'Meara" userId="37bc7dfb-edde-456d-b544-b966b13ebebd" providerId="ADAL" clId="{CB7906F0-806B-51F6-BB00-FAD47A43F88F}" dt="2026-02-25T15:50:38.469" v="2114" actId="478"/>
          <ac:picMkLst>
            <pc:docMk/>
            <pc:sldMk cId="4122870958" sldId="278"/>
            <ac:picMk id="5" creationId="{5620CED6-FEE7-4861-1E51-3C962F0EB93B}"/>
          </ac:picMkLst>
        </pc:picChg>
        <pc:picChg chg="mod">
          <ac:chgData name="Simon O'Meara" userId="37bc7dfb-edde-456d-b544-b966b13ebebd" providerId="ADAL" clId="{CB7906F0-806B-51F6-BB00-FAD47A43F88F}" dt="2026-02-25T16:02:52.624" v="2196" actId="1076"/>
          <ac:picMkLst>
            <pc:docMk/>
            <pc:sldMk cId="4122870958" sldId="278"/>
            <ac:picMk id="6" creationId="{A77344F7-E44F-0B1C-D57A-8D74FDB694DA}"/>
          </ac:picMkLst>
        </pc:picChg>
        <pc:picChg chg="add del mod">
          <ac:chgData name="Simon O'Meara" userId="37bc7dfb-edde-456d-b544-b966b13ebebd" providerId="ADAL" clId="{CB7906F0-806B-51F6-BB00-FAD47A43F88F}" dt="2026-02-25T16:02:08.532" v="2181" actId="21"/>
          <ac:picMkLst>
            <pc:docMk/>
            <pc:sldMk cId="4122870958" sldId="278"/>
            <ac:picMk id="11" creationId="{686A06C0-E1D8-A91E-629A-1C501B28320E}"/>
          </ac:picMkLst>
        </pc:picChg>
        <pc:picChg chg="add del mod">
          <ac:chgData name="Simon O'Meara" userId="37bc7dfb-edde-456d-b544-b966b13ebebd" providerId="ADAL" clId="{CB7906F0-806B-51F6-BB00-FAD47A43F88F}" dt="2026-02-25T16:01:51.412" v="2174" actId="21"/>
          <ac:picMkLst>
            <pc:docMk/>
            <pc:sldMk cId="4122870958" sldId="278"/>
            <ac:picMk id="16" creationId="{CD157202-1EBB-39DB-038F-2ED1C025C38E}"/>
          </ac:picMkLst>
        </pc:picChg>
        <pc:picChg chg="mod">
          <ac:chgData name="Simon O'Meara" userId="37bc7dfb-edde-456d-b544-b966b13ebebd" providerId="ADAL" clId="{CB7906F0-806B-51F6-BB00-FAD47A43F88F}" dt="2026-02-26T14:07:44.818" v="2751" actId="14100"/>
          <ac:picMkLst>
            <pc:docMk/>
            <pc:sldMk cId="4122870958" sldId="278"/>
            <ac:picMk id="4098" creationId="{DD0B272D-74E9-198A-EF16-27B066C1FBA9}"/>
          </ac:picMkLst>
        </pc:picChg>
        <pc:picChg chg="mod">
          <ac:chgData name="Simon O'Meara" userId="37bc7dfb-edde-456d-b544-b966b13ebebd" providerId="ADAL" clId="{CB7906F0-806B-51F6-BB00-FAD47A43F88F}" dt="2026-02-25T16:03:01.641" v="2200" actId="1076"/>
          <ac:picMkLst>
            <pc:docMk/>
            <pc:sldMk cId="4122870958" sldId="278"/>
            <ac:picMk id="4100" creationId="{531A0172-96CD-104B-CA32-F3F562C5C361}"/>
          </ac:picMkLst>
        </pc:picChg>
      </pc:sldChg>
      <pc:sldChg chg="modSp mod">
        <pc:chgData name="Simon O'Meara" userId="37bc7dfb-edde-456d-b544-b966b13ebebd" providerId="ADAL" clId="{CB7906F0-806B-51F6-BB00-FAD47A43F88F}" dt="2026-02-14T14:15:45.889" v="1389" actId="20577"/>
        <pc:sldMkLst>
          <pc:docMk/>
          <pc:sldMk cId="2718534801" sldId="279"/>
        </pc:sldMkLst>
        <pc:spChg chg="mod">
          <ac:chgData name="Simon O'Meara" userId="37bc7dfb-edde-456d-b544-b966b13ebebd" providerId="ADAL" clId="{CB7906F0-806B-51F6-BB00-FAD47A43F88F}" dt="2026-02-14T14:13:37.218" v="1298" actId="20577"/>
          <ac:spMkLst>
            <pc:docMk/>
            <pc:sldMk cId="2718534801" sldId="279"/>
            <ac:spMk id="2" creationId="{FDCA5AF2-81CC-5F42-3B16-923CF71C349E}"/>
          </ac:spMkLst>
        </pc:spChg>
        <pc:spChg chg="mod">
          <ac:chgData name="Simon O'Meara" userId="37bc7dfb-edde-456d-b544-b966b13ebebd" providerId="ADAL" clId="{CB7906F0-806B-51F6-BB00-FAD47A43F88F}" dt="2026-02-14T14:15:45.889" v="1389" actId="20577"/>
          <ac:spMkLst>
            <pc:docMk/>
            <pc:sldMk cId="2718534801" sldId="279"/>
            <ac:spMk id="9" creationId="{E7BDE0E9-5DE9-A183-E4E3-EEEAE5F220FE}"/>
          </ac:spMkLst>
        </pc:spChg>
      </pc:sldChg>
      <pc:sldChg chg="addSp delSp modSp mod">
        <pc:chgData name="Simon O'Meara" userId="37bc7dfb-edde-456d-b544-b966b13ebebd" providerId="ADAL" clId="{CB7906F0-806B-51F6-BB00-FAD47A43F88F}" dt="2026-02-26T13:48:30.743" v="2690" actId="1076"/>
        <pc:sldMkLst>
          <pc:docMk/>
          <pc:sldMk cId="1669137493" sldId="281"/>
        </pc:sldMkLst>
        <pc:spChg chg="add del mod">
          <ac:chgData name="Simon O'Meara" userId="37bc7dfb-edde-456d-b544-b966b13ebebd" providerId="ADAL" clId="{CB7906F0-806B-51F6-BB00-FAD47A43F88F}" dt="2026-02-26T12:28:00.603" v="2231" actId="478"/>
          <ac:spMkLst>
            <pc:docMk/>
            <pc:sldMk cId="1669137493" sldId="281"/>
            <ac:spMk id="2" creationId="{558331DF-EB6C-CBA2-DA20-B25D302FFCBC}"/>
          </ac:spMkLst>
        </pc:spChg>
        <pc:spChg chg="mod">
          <ac:chgData name="Simon O'Meara" userId="37bc7dfb-edde-456d-b544-b966b13ebebd" providerId="ADAL" clId="{CB7906F0-806B-51F6-BB00-FAD47A43F88F}" dt="2026-02-26T12:27:39.074" v="2226" actId="20577"/>
          <ac:spMkLst>
            <pc:docMk/>
            <pc:sldMk cId="1669137493" sldId="281"/>
            <ac:spMk id="4" creationId="{93C84B07-5741-5FDA-F3F8-4AA440717F3B}"/>
          </ac:spMkLst>
        </pc:spChg>
        <pc:spChg chg="add del">
          <ac:chgData name="Simon O'Meara" userId="37bc7dfb-edde-456d-b544-b966b13ebebd" providerId="ADAL" clId="{CB7906F0-806B-51F6-BB00-FAD47A43F88F}" dt="2026-02-26T12:28:03.094" v="2233" actId="478"/>
          <ac:spMkLst>
            <pc:docMk/>
            <pc:sldMk cId="1669137493" sldId="281"/>
            <ac:spMk id="5" creationId="{1F277A05-5FDA-3C42-613B-F9D0D1764933}"/>
          </ac:spMkLst>
        </pc:spChg>
        <pc:spChg chg="del">
          <ac:chgData name="Simon O'Meara" userId="37bc7dfb-edde-456d-b544-b966b13ebebd" providerId="ADAL" clId="{CB7906F0-806B-51F6-BB00-FAD47A43F88F}" dt="2026-02-26T12:27:47.324" v="2228" actId="478"/>
          <ac:spMkLst>
            <pc:docMk/>
            <pc:sldMk cId="1669137493" sldId="281"/>
            <ac:spMk id="7" creationId="{C8DEDD68-58F3-CC45-4391-1217952BB294}"/>
          </ac:spMkLst>
        </pc:spChg>
        <pc:spChg chg="add mod">
          <ac:chgData name="Simon O'Meara" userId="37bc7dfb-edde-456d-b544-b966b13ebebd" providerId="ADAL" clId="{CB7906F0-806B-51F6-BB00-FAD47A43F88F}" dt="2026-02-26T13:25:13.788" v="2274" actId="1076"/>
          <ac:spMkLst>
            <pc:docMk/>
            <pc:sldMk cId="1669137493" sldId="281"/>
            <ac:spMk id="9" creationId="{1EB62885-BE5F-7918-7062-3FACBADB6614}"/>
          </ac:spMkLst>
        </pc:spChg>
        <pc:spChg chg="add del mod">
          <ac:chgData name="Simon O'Meara" userId="37bc7dfb-edde-456d-b544-b966b13ebebd" providerId="ADAL" clId="{CB7906F0-806B-51F6-BB00-FAD47A43F88F}" dt="2026-02-26T13:25:15.631" v="2275" actId="478"/>
          <ac:spMkLst>
            <pc:docMk/>
            <pc:sldMk cId="1669137493" sldId="281"/>
            <ac:spMk id="13" creationId="{45ACFCC4-55BC-286D-97A4-5934485B0286}"/>
          </ac:spMkLst>
        </pc:spChg>
        <pc:spChg chg="del">
          <ac:chgData name="Simon O'Meara" userId="37bc7dfb-edde-456d-b544-b966b13ebebd" providerId="ADAL" clId="{CB7906F0-806B-51F6-BB00-FAD47A43F88F}" dt="2026-02-26T12:27:47.324" v="2228" actId="478"/>
          <ac:spMkLst>
            <pc:docMk/>
            <pc:sldMk cId="1669137493" sldId="281"/>
            <ac:spMk id="14" creationId="{C8B36C7D-31B4-0C34-93AE-47B4B33B847D}"/>
          </ac:spMkLst>
        </pc:spChg>
        <pc:spChg chg="del mod">
          <ac:chgData name="Simon O'Meara" userId="37bc7dfb-edde-456d-b544-b966b13ebebd" providerId="ADAL" clId="{CB7906F0-806B-51F6-BB00-FAD47A43F88F}" dt="2026-02-26T12:27:42.298" v="2227" actId="478"/>
          <ac:spMkLst>
            <pc:docMk/>
            <pc:sldMk cId="1669137493" sldId="281"/>
            <ac:spMk id="15" creationId="{1BC656CF-85F4-C9ED-23EA-0A6ED0B4E08C}"/>
          </ac:spMkLst>
        </pc:spChg>
        <pc:spChg chg="add mod">
          <ac:chgData name="Simon O'Meara" userId="37bc7dfb-edde-456d-b544-b966b13ebebd" providerId="ADAL" clId="{CB7906F0-806B-51F6-BB00-FAD47A43F88F}" dt="2026-02-26T13:48:30.743" v="2690" actId="1076"/>
          <ac:spMkLst>
            <pc:docMk/>
            <pc:sldMk cId="1669137493" sldId="281"/>
            <ac:spMk id="16" creationId="{24A7D1C6-9F72-0864-88C5-2096EA1E5304}"/>
          </ac:spMkLst>
        </pc:spChg>
        <pc:picChg chg="add mod">
          <ac:chgData name="Simon O'Meara" userId="37bc7dfb-edde-456d-b544-b966b13ebebd" providerId="ADAL" clId="{CB7906F0-806B-51F6-BB00-FAD47A43F88F}" dt="2026-02-26T13:35:14.263" v="2529" actId="1036"/>
          <ac:picMkLst>
            <pc:docMk/>
            <pc:sldMk cId="1669137493" sldId="281"/>
            <ac:picMk id="8" creationId="{7B674C81-7B14-F6E8-BFA1-82E53F178153}"/>
          </ac:picMkLst>
        </pc:picChg>
        <pc:picChg chg="del">
          <ac:chgData name="Simon O'Meara" userId="37bc7dfb-edde-456d-b544-b966b13ebebd" providerId="ADAL" clId="{CB7906F0-806B-51F6-BB00-FAD47A43F88F}" dt="2026-02-26T12:27:47.324" v="2228" actId="478"/>
          <ac:picMkLst>
            <pc:docMk/>
            <pc:sldMk cId="1669137493" sldId="281"/>
            <ac:picMk id="10" creationId="{716D962F-3B00-D00B-05E8-589C7A80BDC9}"/>
          </ac:picMkLst>
        </pc:picChg>
        <pc:picChg chg="del">
          <ac:chgData name="Simon O'Meara" userId="37bc7dfb-edde-456d-b544-b966b13ebebd" providerId="ADAL" clId="{CB7906F0-806B-51F6-BB00-FAD47A43F88F}" dt="2026-02-26T12:27:47.324" v="2228" actId="478"/>
          <ac:picMkLst>
            <pc:docMk/>
            <pc:sldMk cId="1669137493" sldId="281"/>
            <ac:picMk id="11" creationId="{F2B02A94-E2E4-568D-A8AD-BF48CB046B89}"/>
          </ac:picMkLst>
        </pc:picChg>
        <pc:picChg chg="del">
          <ac:chgData name="Simon O'Meara" userId="37bc7dfb-edde-456d-b544-b966b13ebebd" providerId="ADAL" clId="{CB7906F0-806B-51F6-BB00-FAD47A43F88F}" dt="2026-02-26T12:27:42.298" v="2227" actId="478"/>
          <ac:picMkLst>
            <pc:docMk/>
            <pc:sldMk cId="1669137493" sldId="281"/>
            <ac:picMk id="12" creationId="{490CBA9F-AD3B-5F73-E30A-784AA877A0F3}"/>
          </ac:picMkLst>
        </pc:picChg>
      </pc:sldChg>
      <pc:sldChg chg="addSp delSp modSp mod">
        <pc:chgData name="Simon O'Meara" userId="37bc7dfb-edde-456d-b544-b966b13ebebd" providerId="ADAL" clId="{CB7906F0-806B-51F6-BB00-FAD47A43F88F}" dt="2026-02-26T18:28:17.785" v="2922" actId="1038"/>
        <pc:sldMkLst>
          <pc:docMk/>
          <pc:sldMk cId="3685971805" sldId="282"/>
        </pc:sldMkLst>
        <pc:spChg chg="add mod">
          <ac:chgData name="Simon O'Meara" userId="37bc7dfb-edde-456d-b544-b966b13ebebd" providerId="ADAL" clId="{CB7906F0-806B-51F6-BB00-FAD47A43F88F}" dt="2026-02-26T18:26:22.778" v="2837" actId="1076"/>
          <ac:spMkLst>
            <pc:docMk/>
            <pc:sldMk cId="3685971805" sldId="282"/>
            <ac:spMk id="2" creationId="{E42A3F74-7237-16D4-AF46-4956187E81D7}"/>
          </ac:spMkLst>
        </pc:spChg>
        <pc:spChg chg="add mod">
          <ac:chgData name="Simon O'Meara" userId="37bc7dfb-edde-456d-b544-b966b13ebebd" providerId="ADAL" clId="{CB7906F0-806B-51F6-BB00-FAD47A43F88F}" dt="2026-02-26T18:27:13.235" v="2869" actId="14100"/>
          <ac:spMkLst>
            <pc:docMk/>
            <pc:sldMk cId="3685971805" sldId="282"/>
            <ac:spMk id="3" creationId="{C160C612-B428-AB74-1924-A71867794BBA}"/>
          </ac:spMkLst>
        </pc:spChg>
        <pc:spChg chg="mod">
          <ac:chgData name="Simon O'Meara" userId="37bc7dfb-edde-456d-b544-b966b13ebebd" providerId="ADAL" clId="{CB7906F0-806B-51F6-BB00-FAD47A43F88F}" dt="2026-02-14T14:12:45.839" v="1292" actId="20577"/>
          <ac:spMkLst>
            <pc:docMk/>
            <pc:sldMk cId="3685971805" sldId="282"/>
            <ac:spMk id="7" creationId="{8CD7EAE6-37C0-F0A8-311D-CD578D4E9BFC}"/>
          </ac:spMkLst>
        </pc:spChg>
        <pc:spChg chg="add mod">
          <ac:chgData name="Simon O'Meara" userId="37bc7dfb-edde-456d-b544-b966b13ebebd" providerId="ADAL" clId="{CB7906F0-806B-51F6-BB00-FAD47A43F88F}" dt="2026-02-26T18:26:10.948" v="2833" actId="1076"/>
          <ac:spMkLst>
            <pc:docMk/>
            <pc:sldMk cId="3685971805" sldId="282"/>
            <ac:spMk id="9" creationId="{413B6E96-5F4F-C2CC-EA01-5B739A50285F}"/>
          </ac:spMkLst>
        </pc:spChg>
        <pc:spChg chg="add mod">
          <ac:chgData name="Simon O'Meara" userId="37bc7dfb-edde-456d-b544-b966b13ebebd" providerId="ADAL" clId="{CB7906F0-806B-51F6-BB00-FAD47A43F88F}" dt="2026-02-14T14:23:13.629" v="1922" actId="20577"/>
          <ac:spMkLst>
            <pc:docMk/>
            <pc:sldMk cId="3685971805" sldId="282"/>
            <ac:spMk id="10" creationId="{D3056DB8-2A51-06F5-66B5-2434E4809A16}"/>
          </ac:spMkLst>
        </pc:spChg>
        <pc:spChg chg="add mod">
          <ac:chgData name="Simon O'Meara" userId="37bc7dfb-edde-456d-b544-b966b13ebebd" providerId="ADAL" clId="{CB7906F0-806B-51F6-BB00-FAD47A43F88F}" dt="2026-02-26T18:27:24.792" v="2870"/>
          <ac:spMkLst>
            <pc:docMk/>
            <pc:sldMk cId="3685971805" sldId="282"/>
            <ac:spMk id="11" creationId="{8C97C98A-C476-BBD1-3E7A-4FC1407B7034}"/>
          </ac:spMkLst>
        </pc:spChg>
        <pc:spChg chg="add mod">
          <ac:chgData name="Simon O'Meara" userId="37bc7dfb-edde-456d-b544-b966b13ebebd" providerId="ADAL" clId="{CB7906F0-806B-51F6-BB00-FAD47A43F88F}" dt="2026-02-26T18:27:24.792" v="2870"/>
          <ac:spMkLst>
            <pc:docMk/>
            <pc:sldMk cId="3685971805" sldId="282"/>
            <ac:spMk id="12" creationId="{B8A3806F-A473-C072-C8B0-09BC603C0D50}"/>
          </ac:spMkLst>
        </pc:spChg>
        <pc:spChg chg="add mod">
          <ac:chgData name="Simon O'Meara" userId="37bc7dfb-edde-456d-b544-b966b13ebebd" providerId="ADAL" clId="{CB7906F0-806B-51F6-BB00-FAD47A43F88F}" dt="2026-02-26T18:28:07.712" v="2894" actId="20577"/>
          <ac:spMkLst>
            <pc:docMk/>
            <pc:sldMk cId="3685971805" sldId="282"/>
            <ac:spMk id="13" creationId="{14355801-FDBE-6FA8-5C66-C204C25EC7BF}"/>
          </ac:spMkLst>
        </pc:spChg>
        <pc:spChg chg="add mod">
          <ac:chgData name="Simon O'Meara" userId="37bc7dfb-edde-456d-b544-b966b13ebebd" providerId="ADAL" clId="{CB7906F0-806B-51F6-BB00-FAD47A43F88F}" dt="2026-02-26T18:28:17.785" v="2922" actId="1038"/>
          <ac:spMkLst>
            <pc:docMk/>
            <pc:sldMk cId="3685971805" sldId="282"/>
            <ac:spMk id="14" creationId="{A4408DF1-3A21-0EC0-8A03-4F78EBFC6369}"/>
          </ac:spMkLst>
        </pc:spChg>
        <pc:picChg chg="mod">
          <ac:chgData name="Simon O'Meara" userId="37bc7dfb-edde-456d-b544-b966b13ebebd" providerId="ADAL" clId="{CB7906F0-806B-51F6-BB00-FAD47A43F88F}" dt="2026-02-26T18:27:56.752" v="2877" actId="1076"/>
          <ac:picMkLst>
            <pc:docMk/>
            <pc:sldMk cId="3685971805" sldId="282"/>
            <ac:picMk id="5" creationId="{020D25E0-F622-5B81-8A90-C9913E54BEA7}"/>
          </ac:picMkLst>
        </pc:picChg>
        <pc:picChg chg="add mod">
          <ac:chgData name="Simon O'Meara" userId="37bc7dfb-edde-456d-b544-b966b13ebebd" providerId="ADAL" clId="{CB7906F0-806B-51F6-BB00-FAD47A43F88F}" dt="2026-02-26T18:27:24.792" v="2870"/>
          <ac:picMkLst>
            <pc:docMk/>
            <pc:sldMk cId="3685971805" sldId="282"/>
            <ac:picMk id="8" creationId="{B54338DC-A809-1FDE-630B-5EEA1DA7F418}"/>
          </ac:picMkLst>
        </pc:picChg>
      </pc:sldChg>
      <pc:sldChg chg="modSp mod">
        <pc:chgData name="Simon O'Meara" userId="37bc7dfb-edde-456d-b544-b966b13ebebd" providerId="ADAL" clId="{CB7906F0-806B-51F6-BB00-FAD47A43F88F}" dt="2026-02-14T14:15:35.174" v="1377" actId="20577"/>
        <pc:sldMkLst>
          <pc:docMk/>
          <pc:sldMk cId="4170123587" sldId="283"/>
        </pc:sldMkLst>
        <pc:spChg chg="mod">
          <ac:chgData name="Simon O'Meara" userId="37bc7dfb-edde-456d-b544-b966b13ebebd" providerId="ADAL" clId="{CB7906F0-806B-51F6-BB00-FAD47A43F88F}" dt="2026-02-14T14:15:35.174" v="1377" actId="20577"/>
          <ac:spMkLst>
            <pc:docMk/>
            <pc:sldMk cId="4170123587" sldId="283"/>
            <ac:spMk id="8" creationId="{214B5EB0-2029-53C9-A43D-7483A2ABE54D}"/>
          </ac:spMkLst>
        </pc:spChg>
      </pc:sldChg>
      <pc:sldChg chg="modSp mod">
        <pc:chgData name="Simon O'Meara" userId="37bc7dfb-edde-456d-b544-b966b13ebebd" providerId="ADAL" clId="{CB7906F0-806B-51F6-BB00-FAD47A43F88F}" dt="2026-02-14T14:15:40.730" v="1385" actId="20577"/>
        <pc:sldMkLst>
          <pc:docMk/>
          <pc:sldMk cId="1272571689" sldId="284"/>
        </pc:sldMkLst>
        <pc:spChg chg="mod">
          <ac:chgData name="Simon O'Meara" userId="37bc7dfb-edde-456d-b544-b966b13ebebd" providerId="ADAL" clId="{CB7906F0-806B-51F6-BB00-FAD47A43F88F}" dt="2026-02-14T14:14:58.801" v="1369" actId="1035"/>
          <ac:spMkLst>
            <pc:docMk/>
            <pc:sldMk cId="1272571689" sldId="284"/>
            <ac:spMk id="3" creationId="{C934A7B2-3102-20DD-7AF2-75C35E9CDA9F}"/>
          </ac:spMkLst>
        </pc:spChg>
        <pc:spChg chg="mod">
          <ac:chgData name="Simon O'Meara" userId="37bc7dfb-edde-456d-b544-b966b13ebebd" providerId="ADAL" clId="{CB7906F0-806B-51F6-BB00-FAD47A43F88F}" dt="2026-02-14T14:14:42.601" v="1364" actId="20577"/>
          <ac:spMkLst>
            <pc:docMk/>
            <pc:sldMk cId="1272571689" sldId="284"/>
            <ac:spMk id="8" creationId="{A772E8F9-1F50-6410-B05B-4B1318202423}"/>
          </ac:spMkLst>
        </pc:spChg>
        <pc:spChg chg="mod">
          <ac:chgData name="Simon O'Meara" userId="37bc7dfb-edde-456d-b544-b966b13ebebd" providerId="ADAL" clId="{CB7906F0-806B-51F6-BB00-FAD47A43F88F}" dt="2026-02-14T14:15:40.730" v="1385" actId="20577"/>
          <ac:spMkLst>
            <pc:docMk/>
            <pc:sldMk cId="1272571689" sldId="284"/>
            <ac:spMk id="10" creationId="{45BE59F6-8808-C2D8-C91F-922954BC979B}"/>
          </ac:spMkLst>
        </pc:spChg>
      </pc:sldChg>
      <pc:sldChg chg="modSp mod">
        <pc:chgData name="Simon O'Meara" userId="37bc7dfb-edde-456d-b544-b966b13ebebd" providerId="ADAL" clId="{CB7906F0-806B-51F6-BB00-FAD47A43F88F}" dt="2026-02-14T13:42:17.565" v="312" actId="255"/>
        <pc:sldMkLst>
          <pc:docMk/>
          <pc:sldMk cId="2519363042" sldId="285"/>
        </pc:sldMkLst>
        <pc:spChg chg="mod">
          <ac:chgData name="Simon O'Meara" userId="37bc7dfb-edde-456d-b544-b966b13ebebd" providerId="ADAL" clId="{CB7906F0-806B-51F6-BB00-FAD47A43F88F}" dt="2026-02-14T13:40:50.019" v="307" actId="20577"/>
          <ac:spMkLst>
            <pc:docMk/>
            <pc:sldMk cId="2519363042" sldId="285"/>
            <ac:spMk id="5" creationId="{2CEA5493-5A21-54EB-6184-4D7570959773}"/>
          </ac:spMkLst>
        </pc:spChg>
        <pc:spChg chg="mod">
          <ac:chgData name="Simon O'Meara" userId="37bc7dfb-edde-456d-b544-b966b13ebebd" providerId="ADAL" clId="{CB7906F0-806B-51F6-BB00-FAD47A43F88F}" dt="2026-02-14T13:41:06.198" v="311" actId="20577"/>
          <ac:spMkLst>
            <pc:docMk/>
            <pc:sldMk cId="2519363042" sldId="285"/>
            <ac:spMk id="10" creationId="{3C1CA8A2-B8B2-0601-DD7F-795D5C3780DA}"/>
          </ac:spMkLst>
        </pc:spChg>
        <pc:graphicFrameChg chg="modGraphic">
          <ac:chgData name="Simon O'Meara" userId="37bc7dfb-edde-456d-b544-b966b13ebebd" providerId="ADAL" clId="{CB7906F0-806B-51F6-BB00-FAD47A43F88F}" dt="2026-02-14T13:42:17.565" v="312" actId="255"/>
          <ac:graphicFrameMkLst>
            <pc:docMk/>
            <pc:sldMk cId="2519363042" sldId="285"/>
            <ac:graphicFrameMk id="4" creationId="{D53A7D90-B5DC-7AD3-DC52-AB696A733062}"/>
          </ac:graphicFrameMkLst>
        </pc:graphicFrameChg>
      </pc:sldChg>
      <pc:sldChg chg="modSp mod">
        <pc:chgData name="Simon O'Meara" userId="37bc7dfb-edde-456d-b544-b966b13ebebd" providerId="ADAL" clId="{CB7906F0-806B-51F6-BB00-FAD47A43F88F}" dt="2026-02-25T16:04:02.285" v="2205" actId="20577"/>
        <pc:sldMkLst>
          <pc:docMk/>
          <pc:sldMk cId="3185957405" sldId="287"/>
        </pc:sldMkLst>
        <pc:spChg chg="mod">
          <ac:chgData name="Simon O'Meara" userId="37bc7dfb-edde-456d-b544-b966b13ebebd" providerId="ADAL" clId="{CB7906F0-806B-51F6-BB00-FAD47A43F88F}" dt="2026-02-25T16:04:02.285" v="2205" actId="20577"/>
          <ac:spMkLst>
            <pc:docMk/>
            <pc:sldMk cId="3185957405" sldId="287"/>
            <ac:spMk id="3" creationId="{FE1128ED-1F21-D022-9450-3C0E0A8611B7}"/>
          </ac:spMkLst>
        </pc:spChg>
        <pc:spChg chg="mod">
          <ac:chgData name="Simon O'Meara" userId="37bc7dfb-edde-456d-b544-b966b13ebebd" providerId="ADAL" clId="{CB7906F0-806B-51F6-BB00-FAD47A43F88F}" dt="2026-02-14T14:17:00.422" v="1417" actId="20577"/>
          <ac:spMkLst>
            <pc:docMk/>
            <pc:sldMk cId="3185957405" sldId="287"/>
            <ac:spMk id="5" creationId="{0063B2F0-C06B-81D4-254B-8896E308CFA9}"/>
          </ac:spMkLst>
        </pc:spChg>
      </pc:sldChg>
      <pc:sldChg chg="modSp mod">
        <pc:chgData name="Simon O'Meara" userId="37bc7dfb-edde-456d-b544-b966b13ebebd" providerId="ADAL" clId="{CB7906F0-806B-51F6-BB00-FAD47A43F88F}" dt="2026-02-26T13:46:06.800" v="2531" actId="20577"/>
        <pc:sldMkLst>
          <pc:docMk/>
          <pc:sldMk cId="3184042205" sldId="295"/>
        </pc:sldMkLst>
        <pc:spChg chg="mod">
          <ac:chgData name="Simon O'Meara" userId="37bc7dfb-edde-456d-b544-b966b13ebebd" providerId="ADAL" clId="{CB7906F0-806B-51F6-BB00-FAD47A43F88F}" dt="2026-02-26T13:46:06.800" v="2531" actId="20577"/>
          <ac:spMkLst>
            <pc:docMk/>
            <pc:sldMk cId="3184042205" sldId="295"/>
            <ac:spMk id="3" creationId="{BCC8FD9A-4524-ECF0-8065-FA67C44B95D8}"/>
          </ac:spMkLst>
        </pc:spChg>
        <pc:spChg chg="mod">
          <ac:chgData name="Simon O'Meara" userId="37bc7dfb-edde-456d-b544-b966b13ebebd" providerId="ADAL" clId="{CB7906F0-806B-51F6-BB00-FAD47A43F88F}" dt="2026-02-14T13:57:27.133" v="832" actId="14100"/>
          <ac:spMkLst>
            <pc:docMk/>
            <pc:sldMk cId="3184042205" sldId="295"/>
            <ac:spMk id="6" creationId="{93032D5F-821C-A853-415F-B3709FBE68FF}"/>
          </ac:spMkLst>
        </pc:spChg>
        <pc:graphicFrameChg chg="mod modGraphic">
          <ac:chgData name="Simon O'Meara" userId="37bc7dfb-edde-456d-b544-b966b13ebebd" providerId="ADAL" clId="{CB7906F0-806B-51F6-BB00-FAD47A43F88F}" dt="2026-02-14T13:57:21.224" v="830" actId="14100"/>
          <ac:graphicFrameMkLst>
            <pc:docMk/>
            <pc:sldMk cId="3184042205" sldId="295"/>
            <ac:graphicFrameMk id="4" creationId="{A1D5BC92-D26F-BEEA-4968-345955910A1F}"/>
          </ac:graphicFrameMkLst>
        </pc:graphicFrameChg>
      </pc:sldChg>
      <pc:sldChg chg="addSp modSp mod modNotesTx">
        <pc:chgData name="Simon O'Meara" userId="37bc7dfb-edde-456d-b544-b966b13ebebd" providerId="ADAL" clId="{CB7906F0-806B-51F6-BB00-FAD47A43F88F}" dt="2026-02-26T13:25:52.193" v="2286" actId="20577"/>
        <pc:sldMkLst>
          <pc:docMk/>
          <pc:sldMk cId="645658047" sldId="296"/>
        </pc:sldMkLst>
        <pc:spChg chg="add mod">
          <ac:chgData name="Simon O'Meara" userId="37bc7dfb-edde-456d-b544-b966b13ebebd" providerId="ADAL" clId="{CB7906F0-806B-51F6-BB00-FAD47A43F88F}" dt="2026-02-14T14:25:46.473" v="2072" actId="20577"/>
          <ac:spMkLst>
            <pc:docMk/>
            <pc:sldMk cId="645658047" sldId="296"/>
            <ac:spMk id="2" creationId="{1D08D52E-15ED-E6A5-9A70-85AB5F20DDFC}"/>
          </ac:spMkLst>
        </pc:spChg>
        <pc:spChg chg="mod">
          <ac:chgData name="Simon O'Meara" userId="37bc7dfb-edde-456d-b544-b966b13ebebd" providerId="ADAL" clId="{CB7906F0-806B-51F6-BB00-FAD47A43F88F}" dt="2026-02-26T13:25:52.193" v="2286" actId="20577"/>
          <ac:spMkLst>
            <pc:docMk/>
            <pc:sldMk cId="645658047" sldId="296"/>
            <ac:spMk id="8" creationId="{61AEC7E2-63AC-8213-F972-B74100A413D6}"/>
          </ac:spMkLst>
        </pc:spChg>
      </pc:sldChg>
      <pc:sldChg chg="modSp add del mod setBg">
        <pc:chgData name="Simon O'Meara" userId="37bc7dfb-edde-456d-b544-b966b13ebebd" providerId="ADAL" clId="{CB7906F0-806B-51F6-BB00-FAD47A43F88F}" dt="2026-02-25T15:25:26.838" v="2098" actId="20577"/>
        <pc:sldMkLst>
          <pc:docMk/>
          <pc:sldMk cId="1796596290" sldId="602"/>
        </pc:sldMkLst>
        <pc:spChg chg="mod">
          <ac:chgData name="Simon O'Meara" userId="37bc7dfb-edde-456d-b544-b966b13ebebd" providerId="ADAL" clId="{CB7906F0-806B-51F6-BB00-FAD47A43F88F}" dt="2026-02-25T15:25:26.838" v="2098" actId="20577"/>
          <ac:spMkLst>
            <pc:docMk/>
            <pc:sldMk cId="1796596290" sldId="602"/>
            <ac:spMk id="2" creationId="{80BD60C8-019A-F807-75A8-73ADCA403375}"/>
          </ac:spMkLst>
        </pc:spChg>
      </pc:sldChg>
      <pc:sldChg chg="modSp mod">
        <pc:chgData name="Simon O'Meara" userId="37bc7dfb-edde-456d-b544-b966b13ebebd" providerId="ADAL" clId="{CB7906F0-806B-51F6-BB00-FAD47A43F88F}" dt="2026-02-14T13:30:16.309" v="110" actId="20577"/>
        <pc:sldMkLst>
          <pc:docMk/>
          <pc:sldMk cId="0" sldId="637"/>
        </pc:sldMkLst>
        <pc:spChg chg="mod">
          <ac:chgData name="Simon O'Meara" userId="37bc7dfb-edde-456d-b544-b966b13ebebd" providerId="ADAL" clId="{CB7906F0-806B-51F6-BB00-FAD47A43F88F}" dt="2026-02-14T13:30:16.309" v="110" actId="20577"/>
          <ac:spMkLst>
            <pc:docMk/>
            <pc:sldMk cId="0" sldId="637"/>
            <ac:spMk id="4" creationId="{B3AEC7D9-BBE8-8835-EFAC-B70899BFD82E}"/>
          </ac:spMkLst>
        </pc:spChg>
      </pc:sldChg>
      <pc:sldChg chg="add">
        <pc:chgData name="Simon O'Meara" userId="37bc7dfb-edde-456d-b544-b966b13ebebd" providerId="ADAL" clId="{CB7906F0-806B-51F6-BB00-FAD47A43F88F}" dt="2026-02-25T15:24:54.264" v="2077"/>
        <pc:sldMkLst>
          <pc:docMk/>
          <pc:sldMk cId="0" sldId="639"/>
        </pc:sldMkLst>
      </pc:sldChg>
      <pc:sldChg chg="modSp mod">
        <pc:chgData name="Simon O'Meara" userId="37bc7dfb-edde-456d-b544-b966b13ebebd" providerId="ADAL" clId="{CB7906F0-806B-51F6-BB00-FAD47A43F88F}" dt="2026-02-25T15:23:58.808" v="2076" actId="20577"/>
        <pc:sldMkLst>
          <pc:docMk/>
          <pc:sldMk cId="0" sldId="863"/>
        </pc:sldMkLst>
        <pc:spChg chg="mod">
          <ac:chgData name="Simon O'Meara" userId="37bc7dfb-edde-456d-b544-b966b13ebebd" providerId="ADAL" clId="{CB7906F0-806B-51F6-BB00-FAD47A43F88F}" dt="2026-02-25T15:23:58.808" v="2076" actId="20577"/>
          <ac:spMkLst>
            <pc:docMk/>
            <pc:sldMk cId="0" sldId="863"/>
            <ac:spMk id="3" creationId="{4E4EAF08-B290-2C6A-BBCC-3221855F907B}"/>
          </ac:spMkLst>
        </pc:spChg>
      </pc:sldChg>
      <pc:sldChg chg="modSp mod">
        <pc:chgData name="Simon O'Meara" userId="37bc7dfb-edde-456d-b544-b966b13ebebd" providerId="ADAL" clId="{CB7906F0-806B-51F6-BB00-FAD47A43F88F}" dt="2026-02-14T13:17:49.002" v="52" actId="20577"/>
        <pc:sldMkLst>
          <pc:docMk/>
          <pc:sldMk cId="0" sldId="864"/>
        </pc:sldMkLst>
        <pc:spChg chg="mod">
          <ac:chgData name="Simon O'Meara" userId="37bc7dfb-edde-456d-b544-b966b13ebebd" providerId="ADAL" clId="{CB7906F0-806B-51F6-BB00-FAD47A43F88F}" dt="2026-02-14T13:17:49.002" v="52" actId="20577"/>
          <ac:spMkLst>
            <pc:docMk/>
            <pc:sldMk cId="0" sldId="864"/>
            <ac:spMk id="2" creationId="{C66361C3-1D76-1661-44D6-DBA0EA683ABC}"/>
          </ac:spMkLst>
        </pc:spChg>
      </pc:sldChg>
      <pc:sldChg chg="modSp mod">
        <pc:chgData name="Simon O'Meara" userId="37bc7dfb-edde-456d-b544-b966b13ebebd" providerId="ADAL" clId="{CB7906F0-806B-51F6-BB00-FAD47A43F88F}" dt="2026-02-26T14:38:08.223" v="2796" actId="20577"/>
        <pc:sldMkLst>
          <pc:docMk/>
          <pc:sldMk cId="3870089826" sldId="1356"/>
        </pc:sldMkLst>
        <pc:spChg chg="mod">
          <ac:chgData name="Simon O'Meara" userId="37bc7dfb-edde-456d-b544-b966b13ebebd" providerId="ADAL" clId="{CB7906F0-806B-51F6-BB00-FAD47A43F88F}" dt="2026-02-26T14:38:08.223" v="2796" actId="20577"/>
          <ac:spMkLst>
            <pc:docMk/>
            <pc:sldMk cId="3870089826" sldId="1356"/>
            <ac:spMk id="4" creationId="{47C547AA-B51D-4EAA-2A63-0EDE0F82B3FF}"/>
          </ac:spMkLst>
        </pc:spChg>
      </pc:sldChg>
      <pc:sldChg chg="add del">
        <pc:chgData name="Simon O'Meara" userId="37bc7dfb-edde-456d-b544-b966b13ebebd" providerId="ADAL" clId="{CB7906F0-806B-51F6-BB00-FAD47A43F88F}" dt="2026-02-25T15:25:54.924" v="2100"/>
        <pc:sldMkLst>
          <pc:docMk/>
          <pc:sldMk cId="1990502253" sldId="1366"/>
        </pc:sldMkLst>
      </pc:sldChg>
      <pc:sldChg chg="add setBg">
        <pc:chgData name="Simon O'Meara" userId="37bc7dfb-edde-456d-b544-b966b13ebebd" providerId="ADAL" clId="{CB7906F0-806B-51F6-BB00-FAD47A43F88F}" dt="2026-02-25T15:34:20.026" v="2109"/>
        <pc:sldMkLst>
          <pc:docMk/>
          <pc:sldMk cId="1638636840" sldId="1367"/>
        </pc:sldMkLst>
      </pc:sldChg>
      <pc:sldChg chg="modSp mod">
        <pc:chgData name="Simon O'Meara" userId="37bc7dfb-edde-456d-b544-b966b13ebebd" providerId="ADAL" clId="{CB7906F0-806B-51F6-BB00-FAD47A43F88F}" dt="2026-02-25T15:26:20.521" v="2108" actId="20577"/>
        <pc:sldMkLst>
          <pc:docMk/>
          <pc:sldMk cId="39616355" sldId="1373"/>
        </pc:sldMkLst>
        <pc:graphicFrameChg chg="modGraphic">
          <ac:chgData name="Simon O'Meara" userId="37bc7dfb-edde-456d-b544-b966b13ebebd" providerId="ADAL" clId="{CB7906F0-806B-51F6-BB00-FAD47A43F88F}" dt="2026-02-25T15:26:20.521" v="2108" actId="20577"/>
          <ac:graphicFrameMkLst>
            <pc:docMk/>
            <pc:sldMk cId="39616355" sldId="1373"/>
            <ac:graphicFrameMk id="7" creationId="{C11CDACF-D713-AF70-E3B8-C43B98350726}"/>
          </ac:graphicFrameMkLst>
        </pc:graphicFrameChg>
      </pc:sldChg>
      <pc:sldChg chg="modSp mod">
        <pc:chgData name="Simon O'Meara" userId="37bc7dfb-edde-456d-b544-b966b13ebebd" providerId="ADAL" clId="{CB7906F0-806B-51F6-BB00-FAD47A43F88F}" dt="2026-02-14T13:30:45.356" v="116" actId="20577"/>
        <pc:sldMkLst>
          <pc:docMk/>
          <pc:sldMk cId="519865386" sldId="1374"/>
        </pc:sldMkLst>
        <pc:spChg chg="mod">
          <ac:chgData name="Simon O'Meara" userId="37bc7dfb-edde-456d-b544-b966b13ebebd" providerId="ADAL" clId="{CB7906F0-806B-51F6-BB00-FAD47A43F88F}" dt="2026-02-14T13:30:45.356" v="116" actId="20577"/>
          <ac:spMkLst>
            <pc:docMk/>
            <pc:sldMk cId="519865386" sldId="1374"/>
            <ac:spMk id="5" creationId="{F65F315A-F9DA-AA1C-F3DC-E05CCAE86D78}"/>
          </ac:spMkLst>
        </pc:spChg>
      </pc:sldChg>
      <pc:sldChg chg="addSp delSp modSp new mod">
        <pc:chgData name="Simon O'Meara" userId="37bc7dfb-edde-456d-b544-b966b13ebebd" providerId="ADAL" clId="{CB7906F0-806B-51F6-BB00-FAD47A43F88F}" dt="2026-02-25T16:03:23.573" v="2203"/>
        <pc:sldMkLst>
          <pc:docMk/>
          <pc:sldMk cId="205221047" sldId="1375"/>
        </pc:sldMkLst>
        <pc:spChg chg="del">
          <ac:chgData name="Simon O'Meara" userId="37bc7dfb-edde-456d-b544-b966b13ebebd" providerId="ADAL" clId="{CB7906F0-806B-51F6-BB00-FAD47A43F88F}" dt="2026-02-25T16:01:56.097" v="2176" actId="478"/>
          <ac:spMkLst>
            <pc:docMk/>
            <pc:sldMk cId="205221047" sldId="1375"/>
            <ac:spMk id="2" creationId="{37A6B17C-152D-E573-4B44-404692040DA0}"/>
          </ac:spMkLst>
        </pc:spChg>
        <pc:spChg chg="del">
          <ac:chgData name="Simon O'Meara" userId="37bc7dfb-edde-456d-b544-b966b13ebebd" providerId="ADAL" clId="{CB7906F0-806B-51F6-BB00-FAD47A43F88F}" dt="2026-02-25T16:01:54.505" v="2175" actId="478"/>
          <ac:spMkLst>
            <pc:docMk/>
            <pc:sldMk cId="205221047" sldId="1375"/>
            <ac:spMk id="3" creationId="{6E1CE3FF-47ED-9299-CE37-FA68829894DD}"/>
          </ac:spMkLst>
        </pc:spChg>
        <pc:spChg chg="add mod">
          <ac:chgData name="Simon O'Meara" userId="37bc7dfb-edde-456d-b544-b966b13ebebd" providerId="ADAL" clId="{CB7906F0-806B-51F6-BB00-FAD47A43F88F}" dt="2026-02-25T16:02:21.549" v="2191" actId="20577"/>
          <ac:spMkLst>
            <pc:docMk/>
            <pc:sldMk cId="205221047" sldId="1375"/>
            <ac:spMk id="5" creationId="{C06DA55A-7227-8D9D-2DEA-50EA868F88ED}"/>
          </ac:spMkLst>
        </pc:spChg>
        <pc:spChg chg="add mod">
          <ac:chgData name="Simon O'Meara" userId="37bc7dfb-edde-456d-b544-b966b13ebebd" providerId="ADAL" clId="{CB7906F0-806B-51F6-BB00-FAD47A43F88F}" dt="2026-02-25T16:03:23.573" v="2203"/>
          <ac:spMkLst>
            <pc:docMk/>
            <pc:sldMk cId="205221047" sldId="1375"/>
            <ac:spMk id="7" creationId="{77A01C88-97FA-71D5-7BF8-F7DDB5FF2329}"/>
          </ac:spMkLst>
        </pc:spChg>
        <pc:picChg chg="add mod">
          <ac:chgData name="Simon O'Meara" userId="37bc7dfb-edde-456d-b544-b966b13ebebd" providerId="ADAL" clId="{CB7906F0-806B-51F6-BB00-FAD47A43F88F}" dt="2026-02-25T16:02:04.539" v="2180" actId="1076"/>
          <ac:picMkLst>
            <pc:docMk/>
            <pc:sldMk cId="205221047" sldId="1375"/>
            <ac:picMk id="4" creationId="{2A199268-B7F1-B96A-02AA-E2A4A7FB9DED}"/>
          </ac:picMkLst>
        </pc:picChg>
        <pc:picChg chg="add mod">
          <ac:chgData name="Simon O'Meara" userId="37bc7dfb-edde-456d-b544-b966b13ebebd" providerId="ADAL" clId="{CB7906F0-806B-51F6-BB00-FAD47A43F88F}" dt="2026-02-25T16:02:17.911" v="2184" actId="14100"/>
          <ac:picMkLst>
            <pc:docMk/>
            <pc:sldMk cId="205221047" sldId="1375"/>
            <ac:picMk id="6" creationId="{1B2EE9C2-03AE-7F79-9448-398D5731885C}"/>
          </ac:picMkLst>
        </pc:picChg>
      </pc:sldChg>
      <pc:sldChg chg="modSp add del mod setBg">
        <pc:chgData name="Simon O'Meara" userId="37bc7dfb-edde-456d-b544-b966b13ebebd" providerId="ADAL" clId="{CB7906F0-806B-51F6-BB00-FAD47A43F88F}" dt="2026-02-25T15:24:58.163" v="2078" actId="2696"/>
        <pc:sldMkLst>
          <pc:docMk/>
          <pc:sldMk cId="4213435724" sldId="176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46E278-8251-4D47-85C3-A692D9A2390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60D0D03-0479-4687-8FF2-0A05E9603F3E}">
      <dgm:prSet/>
      <dgm:spPr/>
      <dgm:t>
        <a:bodyPr/>
        <a:lstStyle/>
        <a:p>
          <a:pPr>
            <a:lnSpc>
              <a:spcPct val="100000"/>
            </a:lnSpc>
          </a:pPr>
          <a:r>
            <a:rPr lang="en-US" b="1" dirty="0"/>
            <a:t>Tell us how your semester is going so far.</a:t>
          </a:r>
          <a:endParaRPr lang="en-US" dirty="0"/>
        </a:p>
      </dgm:t>
    </dgm:pt>
    <dgm:pt modelId="{C373070D-226F-48CC-A4F6-CA0563866C79}" type="parTrans" cxnId="{FF077BBA-EFE2-4DC8-AF15-03C9707067F1}">
      <dgm:prSet/>
      <dgm:spPr/>
      <dgm:t>
        <a:bodyPr/>
        <a:lstStyle/>
        <a:p>
          <a:endParaRPr lang="en-US"/>
        </a:p>
      </dgm:t>
    </dgm:pt>
    <dgm:pt modelId="{FEA54E0F-3409-4A49-9FAF-FFD9D011C800}" type="sibTrans" cxnId="{FF077BBA-EFE2-4DC8-AF15-03C9707067F1}">
      <dgm:prSet/>
      <dgm:spPr/>
      <dgm:t>
        <a:bodyPr/>
        <a:lstStyle/>
        <a:p>
          <a:endParaRPr lang="en-US"/>
        </a:p>
      </dgm:t>
    </dgm:pt>
    <dgm:pt modelId="{A2596D53-7AE0-4FE7-9A1C-8FB25BDAE9AF}">
      <dgm:prSet/>
      <dgm:spPr/>
      <dgm:t>
        <a:bodyPr/>
        <a:lstStyle/>
        <a:p>
          <a:pPr>
            <a:lnSpc>
              <a:spcPct val="100000"/>
            </a:lnSpc>
          </a:pPr>
          <a:r>
            <a:rPr lang="en-US" b="1"/>
            <a:t>Your feedback helps improve your programme and student experience.</a:t>
          </a:r>
          <a:endParaRPr lang="en-US"/>
        </a:p>
      </dgm:t>
    </dgm:pt>
    <dgm:pt modelId="{8083C674-4314-4F73-99AE-A4827A2A20CB}" type="parTrans" cxnId="{FB1F17AA-746A-41BF-8D5A-88D5DF274216}">
      <dgm:prSet/>
      <dgm:spPr/>
      <dgm:t>
        <a:bodyPr/>
        <a:lstStyle/>
        <a:p>
          <a:endParaRPr lang="en-US"/>
        </a:p>
      </dgm:t>
    </dgm:pt>
    <dgm:pt modelId="{3788A0B4-BE95-46C3-BFEA-CB73A946C150}" type="sibTrans" cxnId="{FB1F17AA-746A-41BF-8D5A-88D5DF274216}">
      <dgm:prSet/>
      <dgm:spPr/>
      <dgm:t>
        <a:bodyPr/>
        <a:lstStyle/>
        <a:p>
          <a:endParaRPr lang="en-US"/>
        </a:p>
      </dgm:t>
    </dgm:pt>
    <dgm:pt modelId="{C5A9424B-53FE-4C80-92EF-15CD00A49E8D}">
      <dgm:prSet/>
      <dgm:spPr/>
      <dgm:t>
        <a:bodyPr/>
        <a:lstStyle/>
        <a:p>
          <a:pPr>
            <a:lnSpc>
              <a:spcPct val="100000"/>
            </a:lnSpc>
          </a:pPr>
          <a:r>
            <a:rPr lang="en-US" b="1"/>
            <a:t>The survey has just 4 quick questions and takes only a couple of minutes.</a:t>
          </a:r>
          <a:endParaRPr lang="en-US"/>
        </a:p>
      </dgm:t>
    </dgm:pt>
    <dgm:pt modelId="{B9C1B9C6-0E1D-44E5-8260-88A1B1F7B676}" type="parTrans" cxnId="{70FA63B5-B1B1-48E0-A1FC-D832D9051C20}">
      <dgm:prSet/>
      <dgm:spPr/>
      <dgm:t>
        <a:bodyPr/>
        <a:lstStyle/>
        <a:p>
          <a:endParaRPr lang="en-US"/>
        </a:p>
      </dgm:t>
    </dgm:pt>
    <dgm:pt modelId="{ED9F1A25-63EF-4043-A682-BF188C4ADF27}" type="sibTrans" cxnId="{70FA63B5-B1B1-48E0-A1FC-D832D9051C20}">
      <dgm:prSet/>
      <dgm:spPr/>
      <dgm:t>
        <a:bodyPr/>
        <a:lstStyle/>
        <a:p>
          <a:endParaRPr lang="en-US"/>
        </a:p>
      </dgm:t>
    </dgm:pt>
    <dgm:pt modelId="{957859B5-C079-4FD7-8AD8-687327C8A347}" type="pres">
      <dgm:prSet presAssocID="{CB46E278-8251-4D47-85C3-A692D9A2390D}" presName="root" presStyleCnt="0">
        <dgm:presLayoutVars>
          <dgm:dir/>
          <dgm:resizeHandles val="exact"/>
        </dgm:presLayoutVars>
      </dgm:prSet>
      <dgm:spPr/>
    </dgm:pt>
    <dgm:pt modelId="{3E6632EF-964C-4153-B0FE-7719ADCC7A5C}" type="pres">
      <dgm:prSet presAssocID="{760D0D03-0479-4687-8FF2-0A05E9603F3E}" presName="compNode" presStyleCnt="0"/>
      <dgm:spPr/>
    </dgm:pt>
    <dgm:pt modelId="{3AC57580-B9EB-41B3-9451-80AA578270A0}" type="pres">
      <dgm:prSet presAssocID="{760D0D03-0479-4687-8FF2-0A05E9603F3E}" presName="bgRect" presStyleLbl="bgShp" presStyleIdx="0" presStyleCnt="3"/>
      <dgm:spPr/>
    </dgm:pt>
    <dgm:pt modelId="{D720B2E8-F959-4DCC-B210-837240A73F48}" type="pres">
      <dgm:prSet presAssocID="{760D0D03-0479-4687-8FF2-0A05E9603F3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ssroom"/>
        </a:ext>
      </dgm:extLst>
    </dgm:pt>
    <dgm:pt modelId="{EE6376D8-0008-46C9-929A-801C7FA28DFE}" type="pres">
      <dgm:prSet presAssocID="{760D0D03-0479-4687-8FF2-0A05E9603F3E}" presName="spaceRect" presStyleCnt="0"/>
      <dgm:spPr/>
    </dgm:pt>
    <dgm:pt modelId="{85E62C4C-2827-43FA-949F-C5F5E87FDCB1}" type="pres">
      <dgm:prSet presAssocID="{760D0D03-0479-4687-8FF2-0A05E9603F3E}" presName="parTx" presStyleLbl="revTx" presStyleIdx="0" presStyleCnt="3">
        <dgm:presLayoutVars>
          <dgm:chMax val="0"/>
          <dgm:chPref val="0"/>
        </dgm:presLayoutVars>
      </dgm:prSet>
      <dgm:spPr/>
    </dgm:pt>
    <dgm:pt modelId="{2C514382-8BE8-42DF-B6EC-AA746466BD4D}" type="pres">
      <dgm:prSet presAssocID="{FEA54E0F-3409-4A49-9FAF-FFD9D011C800}" presName="sibTrans" presStyleCnt="0"/>
      <dgm:spPr/>
    </dgm:pt>
    <dgm:pt modelId="{E3DAA6B3-67E9-4EA8-AE7F-CE842F731C0C}" type="pres">
      <dgm:prSet presAssocID="{A2596D53-7AE0-4FE7-9A1C-8FB25BDAE9AF}" presName="compNode" presStyleCnt="0"/>
      <dgm:spPr/>
    </dgm:pt>
    <dgm:pt modelId="{46EAAD6B-C4B2-4DF5-882B-1A6B348273E6}" type="pres">
      <dgm:prSet presAssocID="{A2596D53-7AE0-4FE7-9A1C-8FB25BDAE9AF}" presName="bgRect" presStyleLbl="bgShp" presStyleIdx="1" presStyleCnt="3"/>
      <dgm:spPr/>
    </dgm:pt>
    <dgm:pt modelId="{2DBD7951-9BEB-46CB-935F-14E436A7CC30}" type="pres">
      <dgm:prSet presAssocID="{A2596D53-7AE0-4FE7-9A1C-8FB25BDAE9A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FD08DAF4-2AD7-4D0A-88A4-DCD4FE7A37E9}" type="pres">
      <dgm:prSet presAssocID="{A2596D53-7AE0-4FE7-9A1C-8FB25BDAE9AF}" presName="spaceRect" presStyleCnt="0"/>
      <dgm:spPr/>
    </dgm:pt>
    <dgm:pt modelId="{AE647AD4-9631-44D4-812D-0EB6994D7C70}" type="pres">
      <dgm:prSet presAssocID="{A2596D53-7AE0-4FE7-9A1C-8FB25BDAE9AF}" presName="parTx" presStyleLbl="revTx" presStyleIdx="1" presStyleCnt="3">
        <dgm:presLayoutVars>
          <dgm:chMax val="0"/>
          <dgm:chPref val="0"/>
        </dgm:presLayoutVars>
      </dgm:prSet>
      <dgm:spPr/>
    </dgm:pt>
    <dgm:pt modelId="{F7E0E3AA-A1C6-428B-970F-5200FB656D3C}" type="pres">
      <dgm:prSet presAssocID="{3788A0B4-BE95-46C3-BFEA-CB73A946C150}" presName="sibTrans" presStyleCnt="0"/>
      <dgm:spPr/>
    </dgm:pt>
    <dgm:pt modelId="{D46F6BB6-452F-43DE-890B-BA87E002A049}" type="pres">
      <dgm:prSet presAssocID="{C5A9424B-53FE-4C80-92EF-15CD00A49E8D}" presName="compNode" presStyleCnt="0"/>
      <dgm:spPr/>
    </dgm:pt>
    <dgm:pt modelId="{42D4A230-D188-4518-8678-509663D0D28E}" type="pres">
      <dgm:prSet presAssocID="{C5A9424B-53FE-4C80-92EF-15CD00A49E8D}" presName="bgRect" presStyleLbl="bgShp" presStyleIdx="2" presStyleCnt="3"/>
      <dgm:spPr/>
    </dgm:pt>
    <dgm:pt modelId="{1A46B25F-1E8E-4763-8A45-AABC9F7363D7}" type="pres">
      <dgm:prSet presAssocID="{C5A9424B-53FE-4C80-92EF-15CD00A49E8D}"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ist with solid fill"/>
        </a:ext>
      </dgm:extLst>
    </dgm:pt>
    <dgm:pt modelId="{D102BB3B-3C28-4D53-86F5-EABD21AD605D}" type="pres">
      <dgm:prSet presAssocID="{C5A9424B-53FE-4C80-92EF-15CD00A49E8D}" presName="spaceRect" presStyleCnt="0"/>
      <dgm:spPr/>
    </dgm:pt>
    <dgm:pt modelId="{A3432802-E858-482C-8240-A0E086BA5A52}" type="pres">
      <dgm:prSet presAssocID="{C5A9424B-53FE-4C80-92EF-15CD00A49E8D}" presName="parTx" presStyleLbl="revTx" presStyleIdx="2" presStyleCnt="3">
        <dgm:presLayoutVars>
          <dgm:chMax val="0"/>
          <dgm:chPref val="0"/>
        </dgm:presLayoutVars>
      </dgm:prSet>
      <dgm:spPr/>
    </dgm:pt>
  </dgm:ptLst>
  <dgm:cxnLst>
    <dgm:cxn modelId="{788F1A0C-0722-4FD3-AD4B-FBBDEB55DFDC}" type="presOf" srcId="{CB46E278-8251-4D47-85C3-A692D9A2390D}" destId="{957859B5-C079-4FD7-8AD8-687327C8A347}" srcOrd="0" destOrd="0" presId="urn:microsoft.com/office/officeart/2018/2/layout/IconVerticalSolidList"/>
    <dgm:cxn modelId="{D1DF1484-5147-4DC9-B170-C18826D0B921}" type="presOf" srcId="{760D0D03-0479-4687-8FF2-0A05E9603F3E}" destId="{85E62C4C-2827-43FA-949F-C5F5E87FDCB1}" srcOrd="0" destOrd="0" presId="urn:microsoft.com/office/officeart/2018/2/layout/IconVerticalSolidList"/>
    <dgm:cxn modelId="{FA10798D-A5CC-4533-80DB-FE5D83CDE710}" type="presOf" srcId="{A2596D53-7AE0-4FE7-9A1C-8FB25BDAE9AF}" destId="{AE647AD4-9631-44D4-812D-0EB6994D7C70}" srcOrd="0" destOrd="0" presId="urn:microsoft.com/office/officeart/2018/2/layout/IconVerticalSolidList"/>
    <dgm:cxn modelId="{FB1F17AA-746A-41BF-8D5A-88D5DF274216}" srcId="{CB46E278-8251-4D47-85C3-A692D9A2390D}" destId="{A2596D53-7AE0-4FE7-9A1C-8FB25BDAE9AF}" srcOrd="1" destOrd="0" parTransId="{8083C674-4314-4F73-99AE-A4827A2A20CB}" sibTransId="{3788A0B4-BE95-46C3-BFEA-CB73A946C150}"/>
    <dgm:cxn modelId="{70FA63B5-B1B1-48E0-A1FC-D832D9051C20}" srcId="{CB46E278-8251-4D47-85C3-A692D9A2390D}" destId="{C5A9424B-53FE-4C80-92EF-15CD00A49E8D}" srcOrd="2" destOrd="0" parTransId="{B9C1B9C6-0E1D-44E5-8260-88A1B1F7B676}" sibTransId="{ED9F1A25-63EF-4043-A682-BF188C4ADF27}"/>
    <dgm:cxn modelId="{FF077BBA-EFE2-4DC8-AF15-03C9707067F1}" srcId="{CB46E278-8251-4D47-85C3-A692D9A2390D}" destId="{760D0D03-0479-4687-8FF2-0A05E9603F3E}" srcOrd="0" destOrd="0" parTransId="{C373070D-226F-48CC-A4F6-CA0563866C79}" sibTransId="{FEA54E0F-3409-4A49-9FAF-FFD9D011C800}"/>
    <dgm:cxn modelId="{49ED87F1-81D5-4F37-8F55-62365BFE2B82}" type="presOf" srcId="{C5A9424B-53FE-4C80-92EF-15CD00A49E8D}" destId="{A3432802-E858-482C-8240-A0E086BA5A52}" srcOrd="0" destOrd="0" presId="urn:microsoft.com/office/officeart/2018/2/layout/IconVerticalSolidList"/>
    <dgm:cxn modelId="{087950B3-6123-4D5D-A733-DD5381EEEE35}" type="presParOf" srcId="{957859B5-C079-4FD7-8AD8-687327C8A347}" destId="{3E6632EF-964C-4153-B0FE-7719ADCC7A5C}" srcOrd="0" destOrd="0" presId="urn:microsoft.com/office/officeart/2018/2/layout/IconVerticalSolidList"/>
    <dgm:cxn modelId="{F8F77792-5DCF-4F18-A898-EFD61E0FD551}" type="presParOf" srcId="{3E6632EF-964C-4153-B0FE-7719ADCC7A5C}" destId="{3AC57580-B9EB-41B3-9451-80AA578270A0}" srcOrd="0" destOrd="0" presId="urn:microsoft.com/office/officeart/2018/2/layout/IconVerticalSolidList"/>
    <dgm:cxn modelId="{BF026591-4837-49C6-8675-661D70C8CAFC}" type="presParOf" srcId="{3E6632EF-964C-4153-B0FE-7719ADCC7A5C}" destId="{D720B2E8-F959-4DCC-B210-837240A73F48}" srcOrd="1" destOrd="0" presId="urn:microsoft.com/office/officeart/2018/2/layout/IconVerticalSolidList"/>
    <dgm:cxn modelId="{80B17347-6B08-4766-AF72-E08E00674873}" type="presParOf" srcId="{3E6632EF-964C-4153-B0FE-7719ADCC7A5C}" destId="{EE6376D8-0008-46C9-929A-801C7FA28DFE}" srcOrd="2" destOrd="0" presId="urn:microsoft.com/office/officeart/2018/2/layout/IconVerticalSolidList"/>
    <dgm:cxn modelId="{A5EA71E7-E036-437F-ABBB-DFE0C50FFD9A}" type="presParOf" srcId="{3E6632EF-964C-4153-B0FE-7719ADCC7A5C}" destId="{85E62C4C-2827-43FA-949F-C5F5E87FDCB1}" srcOrd="3" destOrd="0" presId="urn:microsoft.com/office/officeart/2018/2/layout/IconVerticalSolidList"/>
    <dgm:cxn modelId="{FF1A6128-027A-43D7-AD11-0F2096D9A87F}" type="presParOf" srcId="{957859B5-C079-4FD7-8AD8-687327C8A347}" destId="{2C514382-8BE8-42DF-B6EC-AA746466BD4D}" srcOrd="1" destOrd="0" presId="urn:microsoft.com/office/officeart/2018/2/layout/IconVerticalSolidList"/>
    <dgm:cxn modelId="{65F66915-A1B9-45CD-A5C3-6C32D0C99EF6}" type="presParOf" srcId="{957859B5-C079-4FD7-8AD8-687327C8A347}" destId="{E3DAA6B3-67E9-4EA8-AE7F-CE842F731C0C}" srcOrd="2" destOrd="0" presId="urn:microsoft.com/office/officeart/2018/2/layout/IconVerticalSolidList"/>
    <dgm:cxn modelId="{DFC313FD-EC8B-448B-A650-3EF8121BC218}" type="presParOf" srcId="{E3DAA6B3-67E9-4EA8-AE7F-CE842F731C0C}" destId="{46EAAD6B-C4B2-4DF5-882B-1A6B348273E6}" srcOrd="0" destOrd="0" presId="urn:microsoft.com/office/officeart/2018/2/layout/IconVerticalSolidList"/>
    <dgm:cxn modelId="{F8D2ACF1-BF17-4DF3-9B42-8E36B4448CAB}" type="presParOf" srcId="{E3DAA6B3-67E9-4EA8-AE7F-CE842F731C0C}" destId="{2DBD7951-9BEB-46CB-935F-14E436A7CC30}" srcOrd="1" destOrd="0" presId="urn:microsoft.com/office/officeart/2018/2/layout/IconVerticalSolidList"/>
    <dgm:cxn modelId="{CD2CF665-4F62-4167-8E79-BDE137A3ACE6}" type="presParOf" srcId="{E3DAA6B3-67E9-4EA8-AE7F-CE842F731C0C}" destId="{FD08DAF4-2AD7-4D0A-88A4-DCD4FE7A37E9}" srcOrd="2" destOrd="0" presId="urn:microsoft.com/office/officeart/2018/2/layout/IconVerticalSolidList"/>
    <dgm:cxn modelId="{B5347B8A-44CF-46AD-808B-D03B71B54770}" type="presParOf" srcId="{E3DAA6B3-67E9-4EA8-AE7F-CE842F731C0C}" destId="{AE647AD4-9631-44D4-812D-0EB6994D7C70}" srcOrd="3" destOrd="0" presId="urn:microsoft.com/office/officeart/2018/2/layout/IconVerticalSolidList"/>
    <dgm:cxn modelId="{921C5BC0-E649-4D4B-B334-D69BA8DE11C4}" type="presParOf" srcId="{957859B5-C079-4FD7-8AD8-687327C8A347}" destId="{F7E0E3AA-A1C6-428B-970F-5200FB656D3C}" srcOrd="3" destOrd="0" presId="urn:microsoft.com/office/officeart/2018/2/layout/IconVerticalSolidList"/>
    <dgm:cxn modelId="{2EA1232C-DF7E-475A-A70B-FA1B9285101A}" type="presParOf" srcId="{957859B5-C079-4FD7-8AD8-687327C8A347}" destId="{D46F6BB6-452F-43DE-890B-BA87E002A049}" srcOrd="4" destOrd="0" presId="urn:microsoft.com/office/officeart/2018/2/layout/IconVerticalSolidList"/>
    <dgm:cxn modelId="{9B36C9FA-7B29-4410-B020-6887BE61B1E8}" type="presParOf" srcId="{D46F6BB6-452F-43DE-890B-BA87E002A049}" destId="{42D4A230-D188-4518-8678-509663D0D28E}" srcOrd="0" destOrd="0" presId="urn:microsoft.com/office/officeart/2018/2/layout/IconVerticalSolidList"/>
    <dgm:cxn modelId="{2F06C9E8-4F5D-4F06-A6C2-7C16CB7869D1}" type="presParOf" srcId="{D46F6BB6-452F-43DE-890B-BA87E002A049}" destId="{1A46B25F-1E8E-4763-8A45-AABC9F7363D7}" srcOrd="1" destOrd="0" presId="urn:microsoft.com/office/officeart/2018/2/layout/IconVerticalSolidList"/>
    <dgm:cxn modelId="{E08F1E49-1B92-4A21-BFAF-951A69193741}" type="presParOf" srcId="{D46F6BB6-452F-43DE-890B-BA87E002A049}" destId="{D102BB3B-3C28-4D53-86F5-EABD21AD605D}" srcOrd="2" destOrd="0" presId="urn:microsoft.com/office/officeart/2018/2/layout/IconVerticalSolidList"/>
    <dgm:cxn modelId="{30FD80A9-7B50-41BF-A4F5-E33C43233CF3}" type="presParOf" srcId="{D46F6BB6-452F-43DE-890B-BA87E002A049}" destId="{A3432802-E858-482C-8240-A0E086BA5A5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57580-B9EB-41B3-9451-80AA578270A0}">
      <dsp:nvSpPr>
        <dsp:cNvPr id="0" name=""/>
        <dsp:cNvSpPr/>
      </dsp:nvSpPr>
      <dsp:spPr>
        <a:xfrm>
          <a:off x="0" y="531"/>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20B2E8-F959-4DCC-B210-837240A73F4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E62C4C-2827-43FA-949F-C5F5E87FDCB1}">
      <dsp:nvSpPr>
        <dsp:cNvPr id="0" name=""/>
        <dsp:cNvSpPr/>
      </dsp:nvSpPr>
      <dsp:spPr>
        <a:xfrm>
          <a:off x="1435590" y="531"/>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b="1" kern="1200" dirty="0"/>
            <a:t>Tell us how your semester is going so far.</a:t>
          </a:r>
          <a:endParaRPr lang="en-US" sz="1900" kern="1200" dirty="0"/>
        </a:p>
      </dsp:txBody>
      <dsp:txXfrm>
        <a:off x="1435590" y="531"/>
        <a:ext cx="3746009" cy="1242935"/>
      </dsp:txXfrm>
    </dsp:sp>
    <dsp:sp modelId="{46EAAD6B-C4B2-4DF5-882B-1A6B348273E6}">
      <dsp:nvSpPr>
        <dsp:cNvPr id="0" name=""/>
        <dsp:cNvSpPr/>
      </dsp:nvSpPr>
      <dsp:spPr>
        <a:xfrm>
          <a:off x="0" y="1554201"/>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BD7951-9BEB-46CB-935F-14E436A7CC30}">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647AD4-9631-44D4-812D-0EB6994D7C70}">
      <dsp:nvSpPr>
        <dsp:cNvPr id="0" name=""/>
        <dsp:cNvSpPr/>
      </dsp:nvSpPr>
      <dsp:spPr>
        <a:xfrm>
          <a:off x="1435590" y="1554201"/>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b="1" kern="1200"/>
            <a:t>Your feedback helps improve your programme and student experience.</a:t>
          </a:r>
          <a:endParaRPr lang="en-US" sz="1900" kern="1200"/>
        </a:p>
      </dsp:txBody>
      <dsp:txXfrm>
        <a:off x="1435590" y="1554201"/>
        <a:ext cx="3746009" cy="1242935"/>
      </dsp:txXfrm>
    </dsp:sp>
    <dsp:sp modelId="{42D4A230-D188-4518-8678-509663D0D28E}">
      <dsp:nvSpPr>
        <dsp:cNvPr id="0" name=""/>
        <dsp:cNvSpPr/>
      </dsp:nvSpPr>
      <dsp:spPr>
        <a:xfrm>
          <a:off x="0" y="3107870"/>
          <a:ext cx="5181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46B25F-1E8E-4763-8A45-AABC9F7363D7}">
      <dsp:nvSpPr>
        <dsp:cNvPr id="0" name=""/>
        <dsp:cNvSpPr/>
      </dsp:nvSpPr>
      <dsp:spPr>
        <a:xfrm>
          <a:off x="375988" y="3387531"/>
          <a:ext cx="683614" cy="6836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432802-E858-482C-8240-A0E086BA5A52}">
      <dsp:nvSpPr>
        <dsp:cNvPr id="0" name=""/>
        <dsp:cNvSpPr/>
      </dsp:nvSpPr>
      <dsp:spPr>
        <a:xfrm>
          <a:off x="1435590" y="3107870"/>
          <a:ext cx="3746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b="1" kern="1200"/>
            <a:t>The survey has just 4 quick questions and takes only a couple of minutes.</a:t>
          </a:r>
          <a:endParaRPr lang="en-US" sz="1900" kern="1200"/>
        </a:p>
      </dsp:txBody>
      <dsp:txXfrm>
        <a:off x="1435590" y="3107870"/>
        <a:ext cx="37460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CE20F-8FD7-BB4D-B975-6E9EA7E222E8}" type="datetimeFigureOut">
              <a:rPr lang="en-US" smtClean="0"/>
              <a:t>2/26/26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DBDB3-6F44-4343-B982-74DC091B0E8D}" type="slidenum">
              <a:rPr lang="en-US" smtClean="0"/>
              <a:t>‹#›</a:t>
            </a:fld>
            <a:endParaRPr lang="en-US"/>
          </a:p>
        </p:txBody>
      </p:sp>
    </p:spTree>
    <p:extLst>
      <p:ext uri="{BB962C8B-B14F-4D97-AF65-F5344CB8AC3E}">
        <p14:creationId xmlns:p14="http://schemas.microsoft.com/office/powerpoint/2010/main" val="305310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i.org/10.1073/pnas.2309123120"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doi.org/10.1126/science.1118160"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DM Sans" pitchFamily="2" charset="0"/>
              </a:rPr>
              <a:t>Welcome </a:t>
            </a:r>
          </a:p>
          <a:p>
            <a:r>
              <a:rPr lang="en-GB">
                <a:latin typeface="DM Sans" pitchFamily="2" charset="0"/>
              </a:rPr>
              <a:t>Individual</a:t>
            </a:r>
            <a:r>
              <a:rPr lang="en-GB" baseline="0">
                <a:latin typeface="DM Sans" pitchFamily="2" charset="0"/>
              </a:rPr>
              <a:t> i</a:t>
            </a:r>
            <a:r>
              <a:rPr lang="en-GB">
                <a:latin typeface="DM Sans" pitchFamily="2" charset="0"/>
              </a:rPr>
              <a:t>ntroductions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F025282-22C3-2B46-556C-DB87260E406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E32230E5-1466-0CE2-488D-84A72F0261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3556" name="Slide Number Placeholder 3">
            <a:extLst>
              <a:ext uri="{FF2B5EF4-FFF2-40B4-BE49-F238E27FC236}">
                <a16:creationId xmlns:a16="http://schemas.microsoft.com/office/drawing/2014/main" id="{CA4FF35E-B1AF-03AA-57C9-88A43EDEE8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2325E39-B761-B544-AFC2-61B84AF6C646}"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6</a:t>
            </a:fld>
            <a:endParaRPr lang="en-GB"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C963-7B25-4BCA-BD29-3D6ED4D98ECF}"/>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66AE117-DF27-50B4-3240-B26F39B246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218947B2-C393-4725-B729-F63EEA3F9A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0755543-0319-4CEB-50B2-7636A32359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7</a:t>
            </a:fld>
            <a:endParaRPr lang="en-GB" altLang="en-US" sz="1200"/>
          </a:p>
        </p:txBody>
      </p:sp>
    </p:spTree>
    <p:extLst>
      <p:ext uri="{BB962C8B-B14F-4D97-AF65-F5344CB8AC3E}">
        <p14:creationId xmlns:p14="http://schemas.microsoft.com/office/powerpoint/2010/main" val="3364886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11</a:t>
            </a:fld>
            <a:endParaRPr lang="en-US"/>
          </a:p>
        </p:txBody>
      </p:sp>
    </p:spTree>
    <p:extLst>
      <p:ext uri="{BB962C8B-B14F-4D97-AF65-F5344CB8AC3E}">
        <p14:creationId xmlns:p14="http://schemas.microsoft.com/office/powerpoint/2010/main" val="728150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12</a:t>
            </a:fld>
            <a:endParaRPr lang="en-US"/>
          </a:p>
        </p:txBody>
      </p:sp>
    </p:spTree>
    <p:extLst>
      <p:ext uri="{BB962C8B-B14F-4D97-AF65-F5344CB8AC3E}">
        <p14:creationId xmlns:p14="http://schemas.microsoft.com/office/powerpoint/2010/main" val="4239608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case, if ‘C’ affects the atmosphere, then a greenhouse gas is at play and the greenhouse </a:t>
            </a:r>
            <a:r>
              <a:rPr lang="en-GB"/>
              <a:t>effect results.</a:t>
            </a:r>
            <a:endParaRPr lang="en-GB" dirty="0"/>
          </a:p>
        </p:txBody>
      </p:sp>
      <p:sp>
        <p:nvSpPr>
          <p:cNvPr id="4" name="Slide Number Placeholder 3"/>
          <p:cNvSpPr>
            <a:spLocks noGrp="1"/>
          </p:cNvSpPr>
          <p:nvPr>
            <p:ph type="sldNum" sz="quarter" idx="5"/>
          </p:nvPr>
        </p:nvSpPr>
        <p:spPr/>
        <p:txBody>
          <a:bodyPr/>
          <a:lstStyle/>
          <a:p>
            <a:fld id="{B3809A13-91EA-4CEB-ABF3-B0CCDC3B8D6F}" type="slidenum">
              <a:rPr lang="en-GB" smtClean="0"/>
              <a:t>13</a:t>
            </a:fld>
            <a:endParaRPr lang="en-GB"/>
          </a:p>
        </p:txBody>
      </p:sp>
    </p:spTree>
    <p:extLst>
      <p:ext uri="{BB962C8B-B14F-4D97-AF65-F5344CB8AC3E}">
        <p14:creationId xmlns:p14="http://schemas.microsoft.com/office/powerpoint/2010/main" val="2573822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Link to synthesis report: https://</a:t>
            </a:r>
            <a:r>
              <a:rPr lang="en-GB" dirty="0" err="1"/>
              <a:t>www.ipcc.ch</a:t>
            </a:r>
            <a:r>
              <a:rPr lang="en-GB" dirty="0"/>
              <a:t>/report/ar6/</a:t>
            </a:r>
            <a:r>
              <a:rPr lang="en-GB" dirty="0" err="1"/>
              <a:t>syr</a:t>
            </a:r>
            <a:r>
              <a:rPr lang="en-GB" dirty="0"/>
              <a:t>/downloads/report/IPCC_AR6_SYR_LongerReport.pdf</a:t>
            </a:r>
          </a:p>
        </p:txBody>
      </p:sp>
      <p:sp>
        <p:nvSpPr>
          <p:cNvPr id="4" name="Slide Number Placeholder 3"/>
          <p:cNvSpPr>
            <a:spLocks noGrp="1"/>
          </p:cNvSpPr>
          <p:nvPr>
            <p:ph type="sldNum" sz="quarter" idx="5"/>
          </p:nvPr>
        </p:nvSpPr>
        <p:spPr/>
        <p:txBody>
          <a:bodyPr/>
          <a:lstStyle/>
          <a:p>
            <a:fld id="{B3809A13-91EA-4CEB-ABF3-B0CCDC3B8D6F}" type="slidenum">
              <a:rPr lang="en-GB" smtClean="0"/>
              <a:t>14</a:t>
            </a:fld>
            <a:endParaRPr lang="en-GB"/>
          </a:p>
        </p:txBody>
      </p:sp>
    </p:spTree>
    <p:extLst>
      <p:ext uri="{BB962C8B-B14F-4D97-AF65-F5344CB8AC3E}">
        <p14:creationId xmlns:p14="http://schemas.microsoft.com/office/powerpoint/2010/main" val="760846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15000"/>
              </a:lnSpc>
              <a:spcAft>
                <a:spcPts val="800"/>
              </a:spcAft>
            </a:pPr>
            <a:endParaRPr lang="en-US" altLang="zh-CN" sz="1800" b="0" kern="1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5"/>
          </p:nvPr>
        </p:nvSpPr>
        <p:spPr/>
        <p:txBody>
          <a:bodyPr/>
          <a:lstStyle/>
          <a:p>
            <a:fld id="{B3809A13-91EA-4CEB-ABF3-B0CCDC3B8D6F}" type="slidenum">
              <a:rPr lang="en-GB" smtClean="0"/>
              <a:t>16</a:t>
            </a:fld>
            <a:endParaRPr lang="en-GB"/>
          </a:p>
        </p:txBody>
      </p:sp>
    </p:spTree>
    <p:extLst>
      <p:ext uri="{BB962C8B-B14F-4D97-AF65-F5344CB8AC3E}">
        <p14:creationId xmlns:p14="http://schemas.microsoft.com/office/powerpoint/2010/main" val="2569984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t>Aerosols influence the climate system through multiple pathways.</a:t>
            </a:r>
          </a:p>
          <a:p>
            <a:pPr algn="just">
              <a:lnSpc>
                <a:spcPct val="115000"/>
              </a:lnSpc>
              <a:spcAft>
                <a:spcPts val="800"/>
              </a:spcAft>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Firstly, aerosols can directly affect the Earth’s energy balance by interacting with solar radiation. This process is known as aerosol-radiation interaction or the direct effect.</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Aft>
                <a:spcPts val="800"/>
              </a:spcAft>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Non-absorbing aerosols, like sulfate, nitrate and most of the organic aerosols, can scatter sunlight back into space. This increases the Earth's albedo (reflectivity) and has a cooling effect on the climate.</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Aft>
                <a:spcPts val="800"/>
              </a:spcAft>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Some aerosols can absorb solar radiation, </a:t>
            </a:r>
            <a:r>
              <a:rPr lang="en-US" altLang="zh-CN" sz="1800" b="0" dirty="0"/>
              <a:t>warm the surrounding air and contributes to a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warming climate effect. The best-known type of absorbing aerosol is black carbon. Certain types of organic aerosols are also absorbing, </a:t>
            </a:r>
            <a:r>
              <a:rPr lang="en-GB" altLang="zh-CN" sz="1800" b="0" dirty="0"/>
              <a:t>which is called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brown carbon.</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The overall direct effects of aerosols depend on their size, composition and optical properties. </a:t>
            </a:r>
            <a:r>
              <a:rPr lang="en-US" altLang="zh-CN" sz="1800" b="0" dirty="0"/>
              <a:t>Their location in the atmosphere also plays a crucial role</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 For example, if an elevated absorbing aerosol layer is </a:t>
            </a:r>
            <a:r>
              <a:rPr lang="en-GB" altLang="zh-CN" sz="1800" b="0" dirty="0"/>
              <a:t>above</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 low-lying clouds, it will have a stronger warming effect compared </a:t>
            </a:r>
            <a:r>
              <a:rPr lang="en-GB" altLang="zh-CN" sz="1800" b="0" dirty="0"/>
              <a:t>to being over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a clear sky. </a:t>
            </a:r>
            <a:r>
              <a:rPr lang="en-US" altLang="zh-CN" sz="1800" b="0" dirty="0"/>
              <a:t>This is because the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absorbing aerosol layers</a:t>
            </a:r>
            <a:r>
              <a:rPr lang="en-US" altLang="zh-CN" sz="1800" b="0" dirty="0"/>
              <a:t> can also absorb the solar radiation reflected by the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underlying clouds</a:t>
            </a:r>
            <a:r>
              <a:rPr lang="en-US" altLang="zh-CN" sz="1800" b="0" dirty="0"/>
              <a:t>.</a:t>
            </a:r>
            <a:endParaRPr lang="en-GB" sz="1800" b="0" dirty="0"/>
          </a:p>
        </p:txBody>
      </p:sp>
      <p:sp>
        <p:nvSpPr>
          <p:cNvPr id="4" name="Slide Number Placeholder 3"/>
          <p:cNvSpPr>
            <a:spLocks noGrp="1"/>
          </p:cNvSpPr>
          <p:nvPr>
            <p:ph type="sldNum" sz="quarter" idx="5"/>
          </p:nvPr>
        </p:nvSpPr>
        <p:spPr/>
        <p:txBody>
          <a:bodyPr/>
          <a:lstStyle/>
          <a:p>
            <a:fld id="{B3809A13-91EA-4CEB-ABF3-B0CCDC3B8D6F}" type="slidenum">
              <a:rPr lang="en-GB" smtClean="0"/>
              <a:t>17</a:t>
            </a:fld>
            <a:endParaRPr lang="en-GB"/>
          </a:p>
        </p:txBody>
      </p:sp>
    </p:spTree>
    <p:extLst>
      <p:ext uri="{BB962C8B-B14F-4D97-AF65-F5344CB8AC3E}">
        <p14:creationId xmlns:p14="http://schemas.microsoft.com/office/powerpoint/2010/main" val="3404950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Aerosols also influence climate by interaction with clouds. Clouds cover roughly two-thirds of the Earth’s surface. They can modify Earth’s top of the atmosphere (TOA) radiation budget by reflecting incoming solar radiation, thereby enhancing the earth’s albedo</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Aerosols can affect climate system by modifying cloud microphysics and lifetime, which is called “indirect effect”. They can act as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Cloud Condensation Nuclei (CCN)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providing surfaces for water vapor to condense and form cloud droplets. The aerosol ability to become a CCN is dependent on its hygroscopic nature, which is affected by aerosol size and composition. Larger aerosol particles are generally more efficient CCN. Inorganic aerosols like sulfate and nitrate are generally more hygroscopic than carbonaceous aerosols.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More aerosols or CCN typically lead to more cloud droplets with smaller droplet size. In this way, clouds become more reflective and enhance their cooling effect. The smaller size of cloud droplets also increases their time remaining in the cloud, suppressing the precipitation. This can extend cloud lifetime, further enhancing their cooling effect.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rapid adjustments to atmospheric thermodynamics due to aerosols, is commonly referred as “semi-direct effect”. This can also affect cloud amounts. For example, when absorbing aerosols, such as black carbon, immersed in or surround cloud droplets, they can absorb lights, heat the surrounding air and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evaporate clouds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thus reducing cloud cooling effect.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Above is a brief introduction of how aerosols influence the climate system through interaction with radiation and clouds. the next question is how we can assess their climate effects. </a:t>
            </a:r>
            <a:endParaRPr lang="zh-CN" altLang="en-US" sz="1800" dirty="0"/>
          </a:p>
        </p:txBody>
      </p:sp>
      <p:sp>
        <p:nvSpPr>
          <p:cNvPr id="4" name="灯片编号占位符 3"/>
          <p:cNvSpPr>
            <a:spLocks noGrp="1"/>
          </p:cNvSpPr>
          <p:nvPr>
            <p:ph type="sldNum" sz="quarter" idx="5"/>
          </p:nvPr>
        </p:nvSpPr>
        <p:spPr/>
        <p:txBody>
          <a:bodyPr/>
          <a:lstStyle/>
          <a:p>
            <a:fld id="{B3809A13-91EA-4CEB-ABF3-B0CCDC3B8D6F}" type="slidenum">
              <a:rPr lang="en-GB" smtClean="0"/>
              <a:t>18</a:t>
            </a:fld>
            <a:endParaRPr lang="en-GB"/>
          </a:p>
        </p:txBody>
      </p:sp>
    </p:spTree>
    <p:extLst>
      <p:ext uri="{BB962C8B-B14F-4D97-AF65-F5344CB8AC3E}">
        <p14:creationId xmlns:p14="http://schemas.microsoft.com/office/powerpoint/2010/main" val="1947627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15000"/>
              </a:lnSpc>
              <a:spcAft>
                <a:spcPts val="800"/>
              </a:spcAft>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A key metric used to assess the climate effects of a forcer is Effective Radiative Forcing (ERF), which quantifies the change in the net energy flux at the top of the atmosphere (TOA) due to a climate forcer. It accounts for the instantaneous change in radiation, for example, the direct scattering and absorption of incoming solar radiation by aerosols. It also accounts for the subsequent rapid adjustments. Here, rapid adjustments represent immediate changes in the atmosphere and surface in response to a climate forcer, normally taking place over short timescales from days to months. These adjustments involve processes such as changes in clouds and water vapor. For example, when the increased aerosols lead to more cloud droplets with smaller sizes, this delays precipitation, leading to an increase in cloud fraction, Such adjustments could enhance the cooling effect. Additionally, the semi-direct effects we talked earlier, the absorbing aerosols change the thermodynamics, heat the air, and dry the clouds, Such adjustments could reduce the cooling effect. By considering both instantaneous radiative effects and rapid adjustments, ERF provides a more comprehensive assessment of how aerosols and other climate forcers alter the Earth’s energy balance. Positive ERF values indicate a warming effect and negative ERF values indicate a cooling effect.</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b="0" dirty="0">
                <a:effectLst/>
                <a:latin typeface="等线" panose="02010600030101010101" pitchFamily="2" charset="-122"/>
                <a:cs typeface="Times New Roman" panose="02020603050405020304" pitchFamily="18" charset="0"/>
              </a:rPr>
              <a:t>In the recent IPCC report, the assessment of aerosol ERF employs observation- and model-based estimates. Observational estimates include satellite -based measurements. Model estimates include simulations using global climate models and Earth System models. The ERF relative to the Year 1750 is regarded as </a:t>
            </a:r>
            <a:r>
              <a:rPr lang="en-GB" altLang="zh-CN" sz="1800" b="0" dirty="0">
                <a:effectLst/>
                <a:latin typeface="等线" panose="02010600030101010101" pitchFamily="2" charset="-122"/>
                <a:cs typeface="Times New Roman" panose="02020603050405020304" pitchFamily="18" charset="0"/>
              </a:rPr>
              <a:t>anthropogenic influence over the </a:t>
            </a:r>
            <a:r>
              <a:rPr lang="en-US" altLang="zh-CN" sz="1800" b="0" dirty="0">
                <a:effectLst/>
                <a:latin typeface="等线" panose="02010600030101010101" pitchFamily="2" charset="-122"/>
                <a:cs typeface="Times New Roman" panose="02020603050405020304" pitchFamily="18" charset="0"/>
              </a:rPr>
              <a:t>industrial era. From the IPCC report, the global average ERF for aerosol-radiation interaction and aerosol-cloud interaction for 2014 relative to 1750 are assessed to be –0.3 W m–2 and –1.0 W m–2, respectively. The total aerosol ERF is assessed to be –1.3 W m–2. There is strong evidence for a substantial global cooling effect of anthropogenic aerosols.</a:t>
            </a:r>
            <a:endParaRPr lang="zh-CN" altLang="en-US" b="0" dirty="0"/>
          </a:p>
        </p:txBody>
      </p:sp>
      <p:sp>
        <p:nvSpPr>
          <p:cNvPr id="4" name="灯片编号占位符 3"/>
          <p:cNvSpPr>
            <a:spLocks noGrp="1"/>
          </p:cNvSpPr>
          <p:nvPr>
            <p:ph type="sldNum" sz="quarter" idx="5"/>
          </p:nvPr>
        </p:nvSpPr>
        <p:spPr/>
        <p:txBody>
          <a:bodyPr/>
          <a:lstStyle/>
          <a:p>
            <a:fld id="{B3809A13-91EA-4CEB-ABF3-B0CCDC3B8D6F}" type="slidenum">
              <a:rPr lang="en-GB" smtClean="0"/>
              <a:t>19</a:t>
            </a:fld>
            <a:endParaRPr lang="en-GB"/>
          </a:p>
        </p:txBody>
      </p:sp>
    </p:spTree>
    <p:extLst>
      <p:ext uri="{BB962C8B-B14F-4D97-AF65-F5344CB8AC3E}">
        <p14:creationId xmlns:p14="http://schemas.microsoft.com/office/powerpoint/2010/main" val="739146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We can notice that there are significant uncertainties in estimating aerosol climate effects, particularly those related to aerosol-cloud interactions.</a:t>
            </a:r>
          </a:p>
          <a:p>
            <a:r>
              <a:rPr lang="en-US" altLang="zh-CN" b="0" dirty="0"/>
              <a:t>Where are the uncertainties from?</a:t>
            </a:r>
          </a:p>
          <a:p>
            <a:r>
              <a:rPr lang="en-US" altLang="zh-CN" b="0" dirty="0"/>
              <a:t>We have introduced that aerosol are short-lived species and unevenly distributed. It is challenging to capture spatial and temporal variations in aerosol concentrations accurately. </a:t>
            </a:r>
          </a:p>
          <a:p>
            <a:r>
              <a:rPr lang="en-US" altLang="zh-CN" b="0" dirty="0"/>
              <a:t>We have also introduced that aerosol interaction with clouds and radiation are dependent on aerosol physicochemical properties. However, characterizing these properties across different environments remains uncertain.</a:t>
            </a:r>
          </a:p>
          <a:p>
            <a:r>
              <a:rPr lang="en-US" altLang="zh-CN" b="0" dirty="0"/>
              <a:t>There are also limitations with existing observational and modelling techniques. </a:t>
            </a:r>
          </a:p>
          <a:p>
            <a:r>
              <a:rPr lang="en-US" altLang="zh-CN" b="0" dirty="0"/>
              <a:t>Improving our understanding of aerosol climate effects requires continued observational and modelling research in the future.</a:t>
            </a:r>
          </a:p>
          <a:p>
            <a:endParaRPr lang="zh-CN" altLang="en-US" dirty="0"/>
          </a:p>
        </p:txBody>
      </p:sp>
      <p:sp>
        <p:nvSpPr>
          <p:cNvPr id="4" name="灯片编号占位符 3"/>
          <p:cNvSpPr>
            <a:spLocks noGrp="1"/>
          </p:cNvSpPr>
          <p:nvPr>
            <p:ph type="sldNum" sz="quarter" idx="5"/>
          </p:nvPr>
        </p:nvSpPr>
        <p:spPr/>
        <p:txBody>
          <a:bodyPr/>
          <a:lstStyle/>
          <a:p>
            <a:fld id="{B3809A13-91EA-4CEB-ABF3-B0CCDC3B8D6F}" type="slidenum">
              <a:rPr lang="en-GB" smtClean="0"/>
              <a:t>20</a:t>
            </a:fld>
            <a:endParaRPr lang="en-GB"/>
          </a:p>
        </p:txBody>
      </p:sp>
    </p:spTree>
    <p:extLst>
      <p:ext uri="{BB962C8B-B14F-4D97-AF65-F5344CB8AC3E}">
        <p14:creationId xmlns:p14="http://schemas.microsoft.com/office/powerpoint/2010/main" val="500988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From the assessment of aerosol ERF, we can understand that anthropogenic aerosols have exerted a substantial global cooling effect since the industrial era.</a:t>
            </a:r>
          </a:p>
          <a:p>
            <a:r>
              <a:rPr lang="en-US" altLang="zh-CN" b="0" dirty="0"/>
              <a:t>Here is the temporal evolution of global and regional aerosol ERF. </a:t>
            </a:r>
          </a:p>
          <a:p>
            <a:r>
              <a:rPr lang="en-US" altLang="zh-CN" b="0" dirty="0"/>
              <a:t>We can see, Until the late 20th century, ERF values indicate an increasing cooling effect of anthropogenic aerosols. This trend aligns with rapid industrialization and growing aerosol emissions from human activities.</a:t>
            </a:r>
          </a:p>
          <a:p>
            <a:r>
              <a:rPr lang="en-US" altLang="zh-CN" b="0" dirty="0"/>
              <a:t>However, as emission regulations and air quality policies have been implemented in many regions, the aerosol cooling effect reached a peak and started to decline.</a:t>
            </a:r>
          </a:p>
          <a:p>
            <a:r>
              <a:rPr lang="en-US" altLang="zh-CN" b="0" dirty="0"/>
              <a:t>I want to leave you with a take-away question: </a:t>
            </a:r>
          </a:p>
          <a:p>
            <a:r>
              <a:rPr lang="en-US" altLang="zh-CN" b="0" dirty="0"/>
              <a:t>The most recent IPCC report we just presented provides valid aerosol ERF until 2014. What do you think the trend of aerosol ERF will be in the future? Will it be continuously decreasing cooling effect or else?</a:t>
            </a:r>
          </a:p>
          <a:p>
            <a:r>
              <a:rPr lang="en-US" altLang="zh-CN" b="0" dirty="0"/>
              <a:t>Ok, here is all my talk related to the climate forcer, aerosol. We have explored how human activities affect aerosol emission,  how aerosols interact with climate system, and how to assess aerosol climate effect. </a:t>
            </a:r>
          </a:p>
          <a:p>
            <a:endParaRPr lang="en-US" altLang="zh-CN" b="0" dirty="0"/>
          </a:p>
        </p:txBody>
      </p:sp>
      <p:sp>
        <p:nvSpPr>
          <p:cNvPr id="4" name="灯片编号占位符 3"/>
          <p:cNvSpPr>
            <a:spLocks noGrp="1"/>
          </p:cNvSpPr>
          <p:nvPr>
            <p:ph type="sldNum" sz="quarter" idx="5"/>
          </p:nvPr>
        </p:nvSpPr>
        <p:spPr/>
        <p:txBody>
          <a:bodyPr/>
          <a:lstStyle/>
          <a:p>
            <a:fld id="{B3809A13-91EA-4CEB-ABF3-B0CCDC3B8D6F}" type="slidenum">
              <a:rPr lang="en-GB" smtClean="0"/>
              <a:t>21</a:t>
            </a:fld>
            <a:endParaRPr lang="en-GB"/>
          </a:p>
        </p:txBody>
      </p:sp>
    </p:spTree>
    <p:extLst>
      <p:ext uri="{BB962C8B-B14F-4D97-AF65-F5344CB8AC3E}">
        <p14:creationId xmlns:p14="http://schemas.microsoft.com/office/powerpoint/2010/main" val="3784642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Vast majority of ozone production by humans is secondary, i.e. humans release chemicals that are not ozone, but those chemicals can produce ozone once in the atmosphere</a:t>
            </a:r>
          </a:p>
        </p:txBody>
      </p:sp>
      <p:sp>
        <p:nvSpPr>
          <p:cNvPr id="4" name="Slide Number Placeholder 3"/>
          <p:cNvSpPr>
            <a:spLocks noGrp="1"/>
          </p:cNvSpPr>
          <p:nvPr>
            <p:ph type="sldNum" sz="quarter" idx="5"/>
          </p:nvPr>
        </p:nvSpPr>
        <p:spPr/>
        <p:txBody>
          <a:bodyPr/>
          <a:lstStyle/>
          <a:p>
            <a:fld id="{B3809A13-91EA-4CEB-ABF3-B0CCDC3B8D6F}" type="slidenum">
              <a:rPr lang="en-GB" smtClean="0"/>
              <a:t>25</a:t>
            </a:fld>
            <a:endParaRPr lang="en-GB"/>
          </a:p>
        </p:txBody>
      </p:sp>
    </p:spTree>
    <p:extLst>
      <p:ext uri="{BB962C8B-B14F-4D97-AF65-F5344CB8AC3E}">
        <p14:creationId xmlns:p14="http://schemas.microsoft.com/office/powerpoint/2010/main" val="4135885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The perturbation of natural land cover by humans is global.  By surface area (and therefore most influential on radiative forcing with regards to albedo and cloud cover), the most important conversion is natural land to agriculture, with minor effects from conversion to other human uses like cities</a:t>
            </a:r>
          </a:p>
          <a:p>
            <a:r>
              <a:rPr lang="en-GB" sz="1200" dirty="0"/>
              <a:t>For change to radiative forcing we must consider the original and new cover type.  In particular, the height of the vegetation structure, i.e. trees or no trees</a:t>
            </a:r>
          </a:p>
          <a:p>
            <a:r>
              <a:rPr lang="en-GB" sz="1200" dirty="0"/>
              <a:t>For change to vertical distribution of energy we must consider the change to canopy evaporation, ground evaporation and transpiration</a:t>
            </a:r>
          </a:p>
          <a:p>
            <a:endParaRPr lang="en-GB" dirty="0"/>
          </a:p>
        </p:txBody>
      </p:sp>
      <p:sp>
        <p:nvSpPr>
          <p:cNvPr id="4" name="Slide Number Placeholder 3"/>
          <p:cNvSpPr>
            <a:spLocks noGrp="1"/>
          </p:cNvSpPr>
          <p:nvPr>
            <p:ph type="sldNum" sz="quarter" idx="5"/>
          </p:nvPr>
        </p:nvSpPr>
        <p:spPr/>
        <p:txBody>
          <a:bodyPr/>
          <a:lstStyle/>
          <a:p>
            <a:fld id="{B3809A13-91EA-4CEB-ABF3-B0CCDC3B8D6F}" type="slidenum">
              <a:rPr lang="en-GB" smtClean="0"/>
              <a:t>29</a:t>
            </a:fld>
            <a:endParaRPr lang="en-GB"/>
          </a:p>
        </p:txBody>
      </p:sp>
    </p:spTree>
    <p:extLst>
      <p:ext uri="{BB962C8B-B14F-4D97-AF65-F5344CB8AC3E}">
        <p14:creationId xmlns:p14="http://schemas.microsoft.com/office/powerpoint/2010/main" val="971226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9BDBDB3-6F44-4343-B982-74DC091B0E8D}" type="slidenum">
              <a:rPr lang="en-US" smtClean="0"/>
              <a:t>30</a:t>
            </a:fld>
            <a:endParaRPr lang="en-US"/>
          </a:p>
        </p:txBody>
      </p:sp>
    </p:spTree>
    <p:extLst>
      <p:ext uri="{BB962C8B-B14F-4D97-AF65-F5344CB8AC3E}">
        <p14:creationId xmlns:p14="http://schemas.microsoft.com/office/powerpoint/2010/main" val="1208340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https://www.gettyimages.de/video/dried-tree</a:t>
            </a:r>
          </a:p>
          <a:p>
            <a:endParaRPr lang="en-GB" dirty="0"/>
          </a:p>
        </p:txBody>
      </p:sp>
      <p:sp>
        <p:nvSpPr>
          <p:cNvPr id="4" name="Slide Number Placeholder 3"/>
          <p:cNvSpPr>
            <a:spLocks noGrp="1"/>
          </p:cNvSpPr>
          <p:nvPr>
            <p:ph type="sldNum" sz="quarter" idx="5"/>
          </p:nvPr>
        </p:nvSpPr>
        <p:spPr/>
        <p:txBody>
          <a:bodyPr/>
          <a:lstStyle/>
          <a:p>
            <a:fld id="{B3809A13-91EA-4CEB-ABF3-B0CCDC3B8D6F}" type="slidenum">
              <a:rPr lang="en-GB" smtClean="0"/>
              <a:t>33</a:t>
            </a:fld>
            <a:endParaRPr lang="en-GB"/>
          </a:p>
        </p:txBody>
      </p:sp>
    </p:spTree>
    <p:extLst>
      <p:ext uri="{BB962C8B-B14F-4D97-AF65-F5344CB8AC3E}">
        <p14:creationId xmlns:p14="http://schemas.microsoft.com/office/powerpoint/2010/main" val="92079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Local surface warming in Amazon for co-located deforestation: </a:t>
            </a:r>
            <a:r>
              <a:rPr lang="en-GB" b="0" i="0" u="sng" dirty="0">
                <a:solidFill>
                  <a:srgbClr val="1F75B9"/>
                </a:solidFill>
                <a:effectLst/>
                <a:latin typeface="Open Sans" panose="020B0606030504020204" pitchFamily="34" charset="0"/>
                <a:hlinkClick r:id="rId3"/>
              </a:rPr>
              <a:t>https://doi.org/10.1073/pnas.2309123120</a:t>
            </a:r>
            <a:endParaRPr lang="en-GB" dirty="0"/>
          </a:p>
          <a:p>
            <a:r>
              <a:rPr lang="en-GB" dirty="0"/>
              <a:t>Local temperature changes due to land-use change: </a:t>
            </a:r>
            <a:r>
              <a:rPr lang="en-GB" dirty="0" err="1"/>
              <a:t>doi.org</a:t>
            </a:r>
            <a:r>
              <a:rPr lang="en-GB" dirty="0"/>
              <a:t>/</a:t>
            </a:r>
            <a:r>
              <a:rPr lang="en-GB" b="0" i="0" u="sng" dirty="0">
                <a:solidFill>
                  <a:srgbClr val="595959"/>
                </a:solidFill>
                <a:effectLst/>
                <a:latin typeface="roboto" panose="02000000000000000000" pitchFamily="2" charset="0"/>
                <a:hlinkClick r:id="rId4"/>
              </a:rPr>
              <a:t>10.1126/science.1118160</a:t>
            </a:r>
            <a:endParaRPr lang="en-GB" dirty="0"/>
          </a:p>
          <a:p>
            <a:r>
              <a:rPr lang="en-GB" dirty="0"/>
              <a:t>Amazon resilience: </a:t>
            </a:r>
            <a:r>
              <a:rPr lang="en-GB" b="0" i="0" dirty="0">
                <a:solidFill>
                  <a:srgbClr val="222222"/>
                </a:solidFill>
                <a:effectLst/>
                <a:latin typeface="-apple-system"/>
              </a:rPr>
              <a:t>doi.org/10.1038/s41558-022-01287-8</a:t>
            </a:r>
            <a:endParaRPr lang="en-GB" dirty="0"/>
          </a:p>
        </p:txBody>
      </p:sp>
      <p:sp>
        <p:nvSpPr>
          <p:cNvPr id="4" name="Slide Number Placeholder 3"/>
          <p:cNvSpPr>
            <a:spLocks noGrp="1"/>
          </p:cNvSpPr>
          <p:nvPr>
            <p:ph type="sldNum" sz="quarter" idx="5"/>
          </p:nvPr>
        </p:nvSpPr>
        <p:spPr/>
        <p:txBody>
          <a:bodyPr/>
          <a:lstStyle/>
          <a:p>
            <a:fld id="{B3809A13-91EA-4CEB-ABF3-B0CCDC3B8D6F}" type="slidenum">
              <a:rPr lang="en-GB" smtClean="0"/>
              <a:t>34</a:t>
            </a:fld>
            <a:endParaRPr lang="en-GB"/>
          </a:p>
        </p:txBody>
      </p:sp>
    </p:spTree>
    <p:extLst>
      <p:ext uri="{BB962C8B-B14F-4D97-AF65-F5344CB8AC3E}">
        <p14:creationId xmlns:p14="http://schemas.microsoft.com/office/powerpoint/2010/main" val="2965187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38</a:t>
            </a:fld>
            <a:endParaRPr lang="en-GB" altLang="en-US" sz="1200"/>
          </a:p>
        </p:txBody>
      </p:sp>
    </p:spTree>
    <p:extLst>
      <p:ext uri="{BB962C8B-B14F-4D97-AF65-F5344CB8AC3E}">
        <p14:creationId xmlns:p14="http://schemas.microsoft.com/office/powerpoint/2010/main" val="3289584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00-6EA3-AF8A-FCDB-A2CEC2C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90376-5B2A-BAC3-4094-C8C2E253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A9D93-2D50-3CE1-2B7F-FF5840004D8E}"/>
              </a:ext>
            </a:extLst>
          </p:cNvPr>
          <p:cNvSpPr>
            <a:spLocks noGrp="1"/>
          </p:cNvSpPr>
          <p:nvPr>
            <p:ph type="body" idx="1"/>
          </p:nvPr>
        </p:nvSpPr>
        <p:spPr/>
        <p:txBody>
          <a:bodyPr/>
          <a:lstStyle/>
          <a:p>
            <a:endParaRPr lang="en-GB" dirty="0">
              <a:latin typeface="DM Sans" pitchFamily="2" charset="0"/>
            </a:endParaRPr>
          </a:p>
        </p:txBody>
      </p:sp>
      <p:sp>
        <p:nvSpPr>
          <p:cNvPr id="4" name="Slide Number Placeholder 3">
            <a:extLst>
              <a:ext uri="{FF2B5EF4-FFF2-40B4-BE49-F238E27FC236}">
                <a16:creationId xmlns:a16="http://schemas.microsoft.com/office/drawing/2014/main" id="{18B8D7CB-BFD1-2F29-D02C-35E260FD0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88488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788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3321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410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557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374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185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4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34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60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937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3324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23753528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543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6713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39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2787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353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0724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846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60960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420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473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25962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9202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2/26/26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7313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2/26/26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463455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4.xml"/><Relationship Id="rId1" Type="http://schemas.openxmlformats.org/officeDocument/2006/relationships/tags" Target="../tags/tag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hyperlink" Target="https://agupubs.onlinelibrary.wiley.com/doi/10.1002/2014GL061671"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1038/s41612-020-00131-0" TargetMode="External"/><Relationship Id="rId5" Type="http://schemas.openxmlformats.org/officeDocument/2006/relationships/hyperlink" Target="https://doi.org/10.1126/science.106403"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13.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38/s41612-020-00131-0" TargetMode="External"/><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1.jpeg"/></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3.jpeg"/><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073/pnas.2309123120"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defTabSz="609630">
              <a:lnSpc>
                <a:spcPts val="7333"/>
              </a:lnSpc>
              <a:defRPr/>
            </a:pPr>
            <a:r>
              <a:rPr lang="en-GB" altLang="en-US" sz="5867" b="1" dirty="0">
                <a:solidFill>
                  <a:prstClr val="white"/>
                </a:solidFill>
                <a:latin typeface="DM Sans"/>
              </a:rPr>
              <a:t>Global Climate Change</a:t>
            </a:r>
            <a:endParaRPr lang="en-US" sz="5866" b="1" dirty="0">
              <a:solidFill>
                <a:prstClr val="white"/>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8207298" cy="1716367"/>
          </a:xfrm>
          <a:prstGeom prst="rect">
            <a:avLst/>
          </a:prstGeom>
        </p:spPr>
        <p:txBody>
          <a:bodyPr wrap="square" lIns="0" tIns="0" rIns="0" bIns="0" rtlCol="0" anchor="t">
            <a:spAutoFit/>
          </a:bodyPr>
          <a:lstStyle/>
          <a:p>
            <a:pPr defTabSz="609630">
              <a:lnSpc>
                <a:spcPts val="7333"/>
              </a:lnSpc>
              <a:defRPr/>
            </a:pPr>
            <a:r>
              <a:rPr lang="en-US" sz="2133" b="1" dirty="0">
                <a:solidFill>
                  <a:srgbClr val="FAB700"/>
                </a:solidFill>
                <a:latin typeface="DM Sans" pitchFamily="2" charset="0"/>
              </a:rPr>
              <a:t>Week 4 - Anthropogenic Impacts on Climate</a:t>
            </a:r>
          </a:p>
          <a:p>
            <a:pPr defTabSz="609630">
              <a:lnSpc>
                <a:spcPts val="7333"/>
              </a:lnSpc>
              <a:defRPr/>
            </a:pPr>
            <a:r>
              <a:rPr lang="en-US" sz="2133" b="1" dirty="0">
                <a:solidFill>
                  <a:srgbClr val="FAB700"/>
                </a:solidFill>
                <a:latin typeface="DM Sans" pitchFamily="2" charset="0"/>
              </a:rPr>
              <a:t>Dr Simon O’Meara</a:t>
            </a: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defTabSz="609630">
              <a:defRPr/>
            </a:pPr>
            <a:r>
              <a:rPr lang="en-US" sz="1600" dirty="0" err="1">
                <a:solidFill>
                  <a:prstClr val="white"/>
                </a:solidFill>
                <a:latin typeface="DM Sans"/>
              </a:rPr>
              <a:t>Thomas.Bannan@Manchester.ac.uk</a:t>
            </a:r>
            <a:endParaRPr lang="en-US" sz="1600" dirty="0">
              <a:solidFill>
                <a:prstClr val="white"/>
              </a:solidFill>
              <a:latin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D515B-1050-85F6-041E-F3CA6C093323}"/>
              </a:ext>
            </a:extLst>
          </p:cNvPr>
          <p:cNvSpPr>
            <a:spLocks noGrp="1"/>
          </p:cNvSpPr>
          <p:nvPr>
            <p:ph type="title"/>
          </p:nvPr>
        </p:nvSpPr>
        <p:spPr/>
        <p:txBody>
          <a:bodyPr>
            <a:normAutofit/>
          </a:bodyPr>
          <a:lstStyle/>
          <a:p>
            <a:r>
              <a:rPr lang="en-GB" b="1">
                <a:solidFill>
                  <a:srgbClr val="FFCC33"/>
                </a:solidFill>
              </a:rPr>
              <a:t>Mid-Semester Surveys are Open!</a:t>
            </a:r>
            <a:endParaRPr lang="en-GB" b="1" dirty="0">
              <a:solidFill>
                <a:srgbClr val="FFCC33"/>
              </a:solidFill>
            </a:endParaRPr>
          </a:p>
        </p:txBody>
      </p:sp>
      <p:graphicFrame>
        <p:nvGraphicFramePr>
          <p:cNvPr id="14" name="Subtitle 2">
            <a:extLst>
              <a:ext uri="{FF2B5EF4-FFF2-40B4-BE49-F238E27FC236}">
                <a16:creationId xmlns:a16="http://schemas.microsoft.com/office/drawing/2014/main" id="{5737F2E5-A4D8-2388-2E60-9381A32EAE00}"/>
              </a:ext>
            </a:extLst>
          </p:cNvPr>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Content Placeholder 9">
            <a:extLst>
              <a:ext uri="{FF2B5EF4-FFF2-40B4-BE49-F238E27FC236}">
                <a16:creationId xmlns:a16="http://schemas.microsoft.com/office/drawing/2014/main" id="{015CC148-86BA-7133-6182-32A57600670F}"/>
              </a:ext>
            </a:extLst>
          </p:cNvPr>
          <p:cNvPicPr>
            <a:picLocks noGrp="1" noChangeAspect="1"/>
          </p:cNvPicPr>
          <p:nvPr>
            <p:ph sz="half" idx="2"/>
          </p:nvPr>
        </p:nvPicPr>
        <p:blipFill>
          <a:blip r:embed="rId7">
            <a:extLst>
              <a:ext uri="{28A0092B-C50C-407E-A947-70E740481C1C}">
                <a14:useLocalDpi xmlns:a14="http://schemas.microsoft.com/office/drawing/2010/main" val="0"/>
              </a:ext>
            </a:extLst>
          </a:blip>
          <a:srcRect b="9866"/>
          <a:stretch>
            <a:fillRect/>
          </a:stretch>
        </p:blipFill>
        <p:spPr>
          <a:xfrm>
            <a:off x="7253679" y="1825625"/>
            <a:ext cx="3199513" cy="3922032"/>
          </a:xfrm>
          <a:prstGeom prst="rect">
            <a:avLst/>
          </a:prstGeom>
        </p:spPr>
      </p:pic>
      <p:sp>
        <p:nvSpPr>
          <p:cNvPr id="11" name="TextBox 10">
            <a:extLst>
              <a:ext uri="{FF2B5EF4-FFF2-40B4-BE49-F238E27FC236}">
                <a16:creationId xmlns:a16="http://schemas.microsoft.com/office/drawing/2014/main" id="{845046F8-E02E-3248-F3C1-8246573D283C}"/>
              </a:ext>
            </a:extLst>
          </p:cNvPr>
          <p:cNvSpPr txBox="1"/>
          <p:nvPr/>
        </p:nvSpPr>
        <p:spPr>
          <a:xfrm>
            <a:off x="7253678" y="5879821"/>
            <a:ext cx="319951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ptos" panose="02110004020202020204"/>
                <a:ea typeface="+mn-ea"/>
                <a:cs typeface="+mn-cs"/>
              </a:rPr>
              <a:t>Your feedback is confidential, responses will be reviewed at programme level</a:t>
            </a:r>
          </a:p>
        </p:txBody>
      </p:sp>
    </p:spTree>
    <p:extLst>
      <p:ext uri="{BB962C8B-B14F-4D97-AF65-F5344CB8AC3E}">
        <p14:creationId xmlns:p14="http://schemas.microsoft.com/office/powerpoint/2010/main" val="1638636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mn-ea"/>
                <a:cs typeface="+mn-cs"/>
              </a:rPr>
              <a:t>Global Climate Change</a:t>
            </a:r>
          </a:p>
        </p:txBody>
      </p:sp>
      <p:sp>
        <p:nvSpPr>
          <p:cNvPr id="2" name="TextBox 1">
            <a:extLst>
              <a:ext uri="{FF2B5EF4-FFF2-40B4-BE49-F238E27FC236}">
                <a16:creationId xmlns:a16="http://schemas.microsoft.com/office/drawing/2014/main" id="{80BD60C8-019A-F807-75A8-73ADCA403375}"/>
              </a:ext>
            </a:extLst>
          </p:cNvPr>
          <p:cNvSpPr txBox="1"/>
          <p:nvPr/>
        </p:nvSpPr>
        <p:spPr>
          <a:xfrm>
            <a:off x="300256" y="1438479"/>
            <a:ext cx="11387489" cy="4893647"/>
          </a:xfrm>
          <a:prstGeom prst="rect">
            <a:avLst/>
          </a:prstGeom>
          <a:noFill/>
        </p:spPr>
        <p:txBody>
          <a:bodyPr wrap="square">
            <a:spAutoFit/>
          </a:bodyPr>
          <a:lstStyle/>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1 – </a:t>
            </a:r>
            <a:r>
              <a:rPr kumimoji="0" lang="en-GB" sz="24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Introduction to climate change and its impacts </a:t>
            </a: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2 – </a:t>
            </a:r>
            <a:r>
              <a:rPr kumimoji="0" lang="en-GB" sz="24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Natural climate variability</a:t>
            </a: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24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defTabSz="406440">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3 – </a:t>
            </a:r>
            <a:r>
              <a:rPr lang="en-GB" sz="2400" dirty="0">
                <a:latin typeface="Calibri" panose="020F0502020204030204" pitchFamily="34" charset="0"/>
                <a:cs typeface="Calibri" panose="020F0502020204030204" pitchFamily="34" charset="0"/>
              </a:rPr>
              <a:t>Radiation and the Greenhouse Effect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19</a:t>
            </a:r>
            <a:r>
              <a:rPr kumimoji="0" lang="en-GB" sz="2400" b="0" i="0" u="none" strike="noStrike" kern="100" cap="none" spc="0" normalizeH="0" baseline="3000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lvl="0" defTabSz="406440">
              <a:defRPr/>
            </a:pPr>
            <a:endPar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406440">
              <a:defRPr/>
            </a:pP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Week 4 – </a:t>
            </a:r>
            <a:r>
              <a:rPr lang="en-GB" sz="2400" b="1" dirty="0">
                <a:solidFill>
                  <a:srgbClr val="FF0000"/>
                </a:solidFill>
                <a:latin typeface="Calibri" panose="020F0502020204030204" pitchFamily="34" charset="0"/>
                <a:cs typeface="Calibri" panose="020F0502020204030204" pitchFamily="34" charset="0"/>
              </a:rPr>
              <a:t>Anthropogenic Impacts </a:t>
            </a: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(25</a:t>
            </a:r>
            <a:r>
              <a:rPr lang="en-GB" sz="2400" b="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th</a:t>
            </a:r>
            <a:r>
              <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 Feb)</a:t>
            </a: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defTabSz="406440">
              <a:defRPr/>
            </a:pP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5 – </a:t>
            </a: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The Evidence Base for Climate Change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7 – </a:t>
            </a:r>
            <a:r>
              <a:rPr kumimoji="0" lang="en-GB" sz="24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Climate Models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(19</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8 – Climate </a:t>
            </a:r>
            <a:r>
              <a:rPr kumimoji="0" lang="en-GB" sz="24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change adaptation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9 – </a:t>
            </a:r>
            <a:r>
              <a:rPr kumimoji="0" lang="en-GB" sz="24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Effects of Climate Change: Case Studies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(23</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rd</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April)</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10 – </a:t>
            </a:r>
            <a:r>
              <a:rPr kumimoji="0" lang="en-GB" sz="24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Climate change mitigation </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(30</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April)</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11 – Revision Lecture (7</a:t>
            </a:r>
            <a:r>
              <a:rPr kumimoji="0" lang="en-GB" sz="24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May)</a:t>
            </a:r>
          </a:p>
        </p:txBody>
      </p:sp>
      <p:pic>
        <p:nvPicPr>
          <p:cNvPr id="7" name="Picture 6" descr="A qr code with a black and white background&#10;&#10;AI-generated content may be incorrect.">
            <a:extLst>
              <a:ext uri="{FF2B5EF4-FFF2-40B4-BE49-F238E27FC236}">
                <a16:creationId xmlns:a16="http://schemas.microsoft.com/office/drawing/2014/main" id="{231E4FB2-7448-DD77-D299-AA1DBE0E87B4}"/>
              </a:ext>
            </a:extLst>
          </p:cNvPr>
          <p:cNvPicPr>
            <a:picLocks noChangeAspect="1"/>
          </p:cNvPicPr>
          <p:nvPr/>
        </p:nvPicPr>
        <p:blipFill>
          <a:blip r:embed="rId4"/>
          <a:stretch>
            <a:fillRect/>
          </a:stretch>
        </p:blipFill>
        <p:spPr>
          <a:xfrm>
            <a:off x="9051132" y="3429000"/>
            <a:ext cx="2801007" cy="2801007"/>
          </a:xfrm>
          <a:prstGeom prst="rect">
            <a:avLst/>
          </a:prstGeom>
        </p:spPr>
      </p:pic>
      <p:sp>
        <p:nvSpPr>
          <p:cNvPr id="8" name="TextBox 7">
            <a:extLst>
              <a:ext uri="{FF2B5EF4-FFF2-40B4-BE49-F238E27FC236}">
                <a16:creationId xmlns:a16="http://schemas.microsoft.com/office/drawing/2014/main" id="{C62A83E2-7AEA-C2B2-277C-ECAAC155EE45}"/>
              </a:ext>
            </a:extLst>
          </p:cNvPr>
          <p:cNvSpPr txBox="1"/>
          <p:nvPr/>
        </p:nvSpPr>
        <p:spPr>
          <a:xfrm>
            <a:off x="9051133" y="6411310"/>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DM Sans"/>
                <a:ea typeface="+mn-ea"/>
                <a:cs typeface="+mn-cs"/>
              </a:rPr>
              <a:t>Comments/Questions</a:t>
            </a:r>
          </a:p>
        </p:txBody>
      </p:sp>
    </p:spTree>
    <p:extLst>
      <p:ext uri="{BB962C8B-B14F-4D97-AF65-F5344CB8AC3E}">
        <p14:creationId xmlns:p14="http://schemas.microsoft.com/office/powerpoint/2010/main" val="179659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660400" y="1447800"/>
            <a:ext cx="5329537" cy="589905"/>
          </a:xfrm>
          <a:prstGeom prst="rect">
            <a:avLst/>
          </a:prstGeom>
        </p:spPr>
        <p:txBody>
          <a:bodyPr lIns="0" tIns="0" rIns="0" bIns="0" rtlCol="0" anchor="t">
            <a:spAutoFit/>
          </a:bodyPr>
          <a:lstStyle/>
          <a:p>
            <a:pPr defTabSz="609630">
              <a:lnSpc>
                <a:spcPts val="4573"/>
              </a:lnSpc>
              <a:defRPr/>
            </a:pPr>
            <a:r>
              <a:rPr lang="en-US" sz="4000" i="1" spc="-275" dirty="0">
                <a:solidFill>
                  <a:srgbClr val="46245A"/>
                </a:solidFill>
                <a:latin typeface="DM Sans Bold"/>
              </a:rPr>
              <a:t>Today’s class</a:t>
            </a:r>
          </a:p>
        </p:txBody>
      </p:sp>
      <p:sp>
        <p:nvSpPr>
          <p:cNvPr id="3" name="Freeform 13">
            <a:extLst>
              <a:ext uri="{FF2B5EF4-FFF2-40B4-BE49-F238E27FC236}">
                <a16:creationId xmlns:a16="http://schemas.microsoft.com/office/drawing/2014/main" id="{110E8D5E-37F5-D004-AA80-8A76901C57F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5">
            <a:extLst>
              <a:ext uri="{FF2B5EF4-FFF2-40B4-BE49-F238E27FC236}">
                <a16:creationId xmlns:a16="http://schemas.microsoft.com/office/drawing/2014/main" id="{C66361C3-1D76-1661-44D6-DBA0EA683ABC}"/>
              </a:ext>
            </a:extLst>
          </p:cNvPr>
          <p:cNvSpPr txBox="1"/>
          <p:nvPr/>
        </p:nvSpPr>
        <p:spPr>
          <a:xfrm>
            <a:off x="660400" y="3429000"/>
            <a:ext cx="5660941" cy="1412310"/>
          </a:xfrm>
          <a:prstGeom prst="rect">
            <a:avLst/>
          </a:prstGeom>
        </p:spPr>
        <p:txBody>
          <a:bodyPr wrap="square" lIns="0" tIns="0" rIns="0" bIns="0" rtlCol="0" anchor="t">
            <a:spAutoFit/>
          </a:bodyPr>
          <a:lstStyle/>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1: </a:t>
            </a:r>
            <a:r>
              <a:rPr lang="en-US" sz="2133" b="1" spc="22" dirty="0">
                <a:solidFill>
                  <a:prstClr val="white"/>
                </a:solidFill>
                <a:latin typeface="Calibri" panose="020F0502020204030204" pitchFamily="34" charset="0"/>
                <a:cs typeface="Calibri" panose="020F0502020204030204" pitchFamily="34" charset="0"/>
              </a:rPr>
              <a:t>Lecture and 1</a:t>
            </a:r>
            <a:r>
              <a:rPr lang="en-US" sz="2133" b="1" spc="22" baseline="30000" dirty="0">
                <a:solidFill>
                  <a:prstClr val="white"/>
                </a:solidFill>
                <a:latin typeface="Calibri" panose="020F0502020204030204" pitchFamily="34" charset="0"/>
                <a:cs typeface="Calibri" panose="020F0502020204030204" pitchFamily="34" charset="0"/>
              </a:rPr>
              <a:t>st</a:t>
            </a:r>
            <a:r>
              <a:rPr lang="en-US" sz="2133" b="1" spc="22" dirty="0">
                <a:solidFill>
                  <a:prstClr val="white"/>
                </a:solidFill>
                <a:latin typeface="Calibri" panose="020F0502020204030204" pitchFamily="34" charset="0"/>
                <a:cs typeface="Calibri" panose="020F0502020204030204" pitchFamily="34" charset="0"/>
              </a:rPr>
              <a:t> workshop (80 mins)</a:t>
            </a:r>
          </a:p>
          <a:p>
            <a:pPr marL="119674" lvl="1" defTabSz="406440">
              <a:lnSpc>
                <a:spcPts val="2222"/>
              </a:lnSpc>
              <a:defRPr/>
            </a:pPr>
            <a:endParaRPr lang="en-US" sz="2133" b="1" spc="22" dirty="0">
              <a:solidFill>
                <a:srgbClr val="FAB700"/>
              </a:solidFill>
              <a:latin typeface="Calibri" panose="020F0502020204030204" pitchFamily="34" charset="0"/>
              <a:cs typeface="Calibri" panose="020F0502020204030204" pitchFamily="34" charset="0"/>
            </a:endParaRPr>
          </a:p>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2:</a:t>
            </a:r>
            <a:r>
              <a:rPr lang="en-US" sz="2133" b="1" spc="22" dirty="0">
                <a:solidFill>
                  <a:srgbClr val="FFFFFF"/>
                </a:solidFill>
                <a:latin typeface="Calibri" panose="020F0502020204030204" pitchFamily="34" charset="0"/>
                <a:cs typeface="Calibri" panose="020F0502020204030204" pitchFamily="34" charset="0"/>
              </a:rPr>
              <a:t> Q/A (10 mins) </a:t>
            </a:r>
            <a:endParaRPr lang="en-US" sz="2133" b="1" spc="22" dirty="0">
              <a:solidFill>
                <a:srgbClr val="FAB700"/>
              </a:solidFill>
              <a:latin typeface="Calibri" panose="020F0502020204030204" pitchFamily="34" charset="0"/>
              <a:cs typeface="Calibri" panose="020F0502020204030204" pitchFamily="34" charset="0"/>
            </a:endParaRPr>
          </a:p>
          <a:p>
            <a:pPr marL="119674" lvl="1" defTabSz="406440">
              <a:lnSpc>
                <a:spcPts val="2222"/>
              </a:lnSpc>
              <a:defRPr/>
            </a:pPr>
            <a:endParaRPr lang="en-US" sz="2133" b="1" spc="22" dirty="0">
              <a:solidFill>
                <a:srgbClr val="FFFFFF"/>
              </a:solidFill>
              <a:latin typeface="Calibri" panose="020F0502020204030204" pitchFamily="34" charset="0"/>
              <a:cs typeface="Calibri" panose="020F0502020204030204" pitchFamily="34" charset="0"/>
            </a:endParaRPr>
          </a:p>
          <a:p>
            <a:pPr marL="119674" lvl="1" defTabSz="406440">
              <a:lnSpc>
                <a:spcPts val="2222"/>
              </a:lnSpc>
              <a:defRPr/>
            </a:pPr>
            <a:r>
              <a:rPr lang="en-US" sz="2133" b="1" spc="22" dirty="0">
                <a:solidFill>
                  <a:srgbClr val="FAB700"/>
                </a:solidFill>
                <a:latin typeface="Calibri" panose="020F0502020204030204" pitchFamily="34" charset="0"/>
                <a:cs typeface="Calibri" panose="020F0502020204030204" pitchFamily="34" charset="0"/>
              </a:rPr>
              <a:t>Part 3: </a:t>
            </a:r>
            <a:r>
              <a:rPr lang="en-US" sz="2133" b="1" spc="22" dirty="0">
                <a:solidFill>
                  <a:srgbClr val="FFFFFF"/>
                </a:solidFill>
                <a:latin typeface="Calibri" panose="020F0502020204030204" pitchFamily="34" charset="0"/>
                <a:cs typeface="Calibri" panose="020F0502020204030204" pitchFamily="34" charset="0"/>
              </a:rPr>
              <a:t>2</a:t>
            </a:r>
            <a:r>
              <a:rPr lang="en-US" sz="2133" b="1" spc="22" baseline="30000" dirty="0">
                <a:solidFill>
                  <a:srgbClr val="FFFFFF"/>
                </a:solidFill>
                <a:latin typeface="Calibri" panose="020F0502020204030204" pitchFamily="34" charset="0"/>
                <a:cs typeface="Calibri" panose="020F0502020204030204" pitchFamily="34" charset="0"/>
              </a:rPr>
              <a:t>nd</a:t>
            </a:r>
            <a:r>
              <a:rPr lang="en-US" sz="2133" b="1" spc="22" dirty="0">
                <a:solidFill>
                  <a:srgbClr val="FFFFFF"/>
                </a:solidFill>
                <a:latin typeface="Calibri" panose="020F0502020204030204" pitchFamily="34" charset="0"/>
                <a:cs typeface="Calibri" panose="020F0502020204030204" pitchFamily="34" charset="0"/>
              </a:rPr>
              <a:t> workshop (20 mins)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484ACDF-082E-70AC-B1FB-753FBD1D8BAC}"/>
              </a:ext>
            </a:extLst>
          </p:cNvPr>
          <p:cNvSpPr>
            <a:spLocks noChangeArrowheads="1"/>
          </p:cNvSpPr>
          <p:nvPr/>
        </p:nvSpPr>
        <p:spPr bwMode="auto">
          <a:xfrm>
            <a:off x="422275" y="1417698"/>
            <a:ext cx="8531225" cy="4324350"/>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9267" name="Rectangle 3">
            <a:extLst>
              <a:ext uri="{FF2B5EF4-FFF2-40B4-BE49-F238E27FC236}">
                <a16:creationId xmlns:a16="http://schemas.microsoft.com/office/drawing/2014/main" id="{366B3358-1FE0-FC8A-1CD4-7ED30A535C0E}"/>
              </a:ext>
            </a:extLst>
          </p:cNvPr>
          <p:cNvSpPr>
            <a:spLocks noChangeArrowheads="1"/>
          </p:cNvSpPr>
          <p:nvPr/>
        </p:nvSpPr>
        <p:spPr bwMode="auto">
          <a:xfrm>
            <a:off x="415925" y="3544948"/>
            <a:ext cx="8537575" cy="227806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9268" name="Freeform 4">
            <a:extLst>
              <a:ext uri="{FF2B5EF4-FFF2-40B4-BE49-F238E27FC236}">
                <a16:creationId xmlns:a16="http://schemas.microsoft.com/office/drawing/2014/main" id="{09C5AF88-B2DB-778E-7DD5-B8687F68542F}"/>
              </a:ext>
            </a:extLst>
          </p:cNvPr>
          <p:cNvSpPr>
            <a:spLocks/>
          </p:cNvSpPr>
          <p:nvPr/>
        </p:nvSpPr>
        <p:spPr bwMode="auto">
          <a:xfrm>
            <a:off x="407988" y="5591236"/>
            <a:ext cx="8534400"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40F2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139269" name="Freeform 5">
            <a:extLst>
              <a:ext uri="{FF2B5EF4-FFF2-40B4-BE49-F238E27FC236}">
                <a16:creationId xmlns:a16="http://schemas.microsoft.com/office/drawing/2014/main" id="{48248460-AAFD-B3AB-29FA-AA7C1FF2028B}"/>
              </a:ext>
            </a:extLst>
          </p:cNvPr>
          <p:cNvSpPr>
            <a:spLocks/>
          </p:cNvSpPr>
          <p:nvPr/>
        </p:nvSpPr>
        <p:spPr bwMode="auto">
          <a:xfrm>
            <a:off x="407988" y="5594411"/>
            <a:ext cx="8535987" cy="80010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FFCC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nvGrpSpPr>
          <p:cNvPr id="2" name="Group 6">
            <a:extLst>
              <a:ext uri="{FF2B5EF4-FFF2-40B4-BE49-F238E27FC236}">
                <a16:creationId xmlns:a16="http://schemas.microsoft.com/office/drawing/2014/main" id="{DA2A502F-8A38-3D1C-FB9F-F44917AD023F}"/>
              </a:ext>
            </a:extLst>
          </p:cNvPr>
          <p:cNvGrpSpPr>
            <a:grpSpLocks/>
          </p:cNvGrpSpPr>
          <p:nvPr/>
        </p:nvGrpSpPr>
        <p:grpSpPr bwMode="auto">
          <a:xfrm>
            <a:off x="3454400" y="3238561"/>
            <a:ext cx="1220788" cy="2379662"/>
            <a:chOff x="2679" y="1951"/>
            <a:chExt cx="952" cy="1748"/>
          </a:xfrm>
        </p:grpSpPr>
        <p:sp>
          <p:nvSpPr>
            <p:cNvPr id="22828" name="Freeform 7">
              <a:extLst>
                <a:ext uri="{FF2B5EF4-FFF2-40B4-BE49-F238E27FC236}">
                  <a16:creationId xmlns:a16="http://schemas.microsoft.com/office/drawing/2014/main" id="{74962F06-B94F-4A51-94FA-06844B4DF71C}"/>
                </a:ext>
              </a:extLst>
            </p:cNvPr>
            <p:cNvSpPr>
              <a:spLocks/>
            </p:cNvSpPr>
            <p:nvPr/>
          </p:nvSpPr>
          <p:spPr bwMode="auto">
            <a:xfrm>
              <a:off x="3500" y="2022"/>
              <a:ext cx="131" cy="77"/>
            </a:xfrm>
            <a:custGeom>
              <a:avLst/>
              <a:gdLst>
                <a:gd name="T0" fmla="*/ 2480706 w 80"/>
                <a:gd name="T1" fmla="*/ 918 h 68"/>
                <a:gd name="T2" fmla="*/ 2415525 w 80"/>
                <a:gd name="T3" fmla="*/ 734 h 68"/>
                <a:gd name="T4" fmla="*/ 2134954 w 80"/>
                <a:gd name="T5" fmla="*/ 610 h 68"/>
                <a:gd name="T6" fmla="*/ 1727965 w 80"/>
                <a:gd name="T7" fmla="*/ 493 h 68"/>
                <a:gd name="T8" fmla="*/ 1325320 w 80"/>
                <a:gd name="T9" fmla="*/ 384 h 68"/>
                <a:gd name="T10" fmla="*/ 880220 w 80"/>
                <a:gd name="T11" fmla="*/ 293 h 68"/>
                <a:gd name="T12" fmla="*/ 550133 w 80"/>
                <a:gd name="T13" fmla="*/ 186 h 68"/>
                <a:gd name="T14" fmla="*/ 402943 w 80"/>
                <a:gd name="T15" fmla="*/ 100 h 68"/>
                <a:gd name="T16" fmla="*/ 402943 w 80"/>
                <a:gd name="T17" fmla="*/ 88 h 68"/>
                <a:gd name="T18" fmla="*/ 34225 w 80"/>
                <a:gd name="T19" fmla="*/ 0 h 68"/>
                <a:gd name="T20" fmla="*/ 0 w 80"/>
                <a:gd name="T21" fmla="*/ 186 h 68"/>
                <a:gd name="T22" fmla="*/ 293974 w 80"/>
                <a:gd name="T23" fmla="*/ 332 h 68"/>
                <a:gd name="T24" fmla="*/ 695772 w 80"/>
                <a:gd name="T25" fmla="*/ 446 h 68"/>
                <a:gd name="T26" fmla="*/ 1090198 w 80"/>
                <a:gd name="T27" fmla="*/ 546 h 68"/>
                <a:gd name="T28" fmla="*/ 1538762 w 80"/>
                <a:gd name="T29" fmla="*/ 638 h 68"/>
                <a:gd name="T30" fmla="*/ 1865648 w 80"/>
                <a:gd name="T31" fmla="*/ 735 h 68"/>
                <a:gd name="T32" fmla="*/ 2045165 w 80"/>
                <a:gd name="T33" fmla="*/ 818 h 68"/>
                <a:gd name="T34" fmla="*/ 2079299 w 80"/>
                <a:gd name="T35" fmla="*/ 847 h 68"/>
                <a:gd name="T36" fmla="*/ 2480706 w 80"/>
                <a:gd name="T37" fmla="*/ 918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8"/>
                <a:gd name="T59" fmla="*/ 80 w 80"/>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8">
                  <a:moveTo>
                    <a:pt x="79" y="67"/>
                  </a:moveTo>
                  <a:lnTo>
                    <a:pt x="77" y="54"/>
                  </a:lnTo>
                  <a:lnTo>
                    <a:pt x="68" y="44"/>
                  </a:lnTo>
                  <a:lnTo>
                    <a:pt x="55" y="36"/>
                  </a:lnTo>
                  <a:lnTo>
                    <a:pt x="42" y="28"/>
                  </a:lnTo>
                  <a:lnTo>
                    <a:pt x="28" y="21"/>
                  </a:lnTo>
                  <a:lnTo>
                    <a:pt x="18" y="14"/>
                  </a:lnTo>
                  <a:lnTo>
                    <a:pt x="13" y="8"/>
                  </a:lnTo>
                  <a:lnTo>
                    <a:pt x="13" y="7"/>
                  </a:lnTo>
                  <a:lnTo>
                    <a:pt x="1" y="0"/>
                  </a:lnTo>
                  <a:lnTo>
                    <a:pt x="0" y="14"/>
                  </a:lnTo>
                  <a:lnTo>
                    <a:pt x="9" y="24"/>
                  </a:lnTo>
                  <a:lnTo>
                    <a:pt x="22" y="33"/>
                  </a:lnTo>
                  <a:lnTo>
                    <a:pt x="35" y="40"/>
                  </a:lnTo>
                  <a:lnTo>
                    <a:pt x="49" y="47"/>
                  </a:lnTo>
                  <a:lnTo>
                    <a:pt x="59" y="55"/>
                  </a:lnTo>
                  <a:lnTo>
                    <a:pt x="65" y="60"/>
                  </a:lnTo>
                  <a:lnTo>
                    <a:pt x="66" y="63"/>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9" name="Freeform 8">
              <a:extLst>
                <a:ext uri="{FF2B5EF4-FFF2-40B4-BE49-F238E27FC236}">
                  <a16:creationId xmlns:a16="http://schemas.microsoft.com/office/drawing/2014/main" id="{82223568-4647-45F2-1619-0220828B5BBE}"/>
                </a:ext>
              </a:extLst>
            </p:cNvPr>
            <p:cNvSpPr>
              <a:spLocks/>
            </p:cNvSpPr>
            <p:nvPr/>
          </p:nvSpPr>
          <p:spPr bwMode="auto">
            <a:xfrm>
              <a:off x="3456" y="2094"/>
              <a:ext cx="175" cy="21"/>
            </a:xfrm>
            <a:custGeom>
              <a:avLst/>
              <a:gdLst>
                <a:gd name="T0" fmla="*/ 563155 w 106"/>
                <a:gd name="T1" fmla="*/ 368 h 18"/>
                <a:gd name="T2" fmla="*/ 523912 w 106"/>
                <a:gd name="T3" fmla="*/ 426 h 18"/>
                <a:gd name="T4" fmla="*/ 563155 w 106"/>
                <a:gd name="T5" fmla="*/ 418 h 18"/>
                <a:gd name="T6" fmla="*/ 904506 w 106"/>
                <a:gd name="T7" fmla="*/ 358 h 18"/>
                <a:gd name="T8" fmla="*/ 1389091 w 106"/>
                <a:gd name="T9" fmla="*/ 368 h 18"/>
                <a:gd name="T10" fmla="*/ 1984779 w 106"/>
                <a:gd name="T11" fmla="*/ 368 h 18"/>
                <a:gd name="T12" fmla="*/ 2534104 w 106"/>
                <a:gd name="T13" fmla="*/ 418 h 18"/>
                <a:gd name="T14" fmla="*/ 3097518 w 106"/>
                <a:gd name="T15" fmla="*/ 418 h 18"/>
                <a:gd name="T16" fmla="*/ 3579389 w 106"/>
                <a:gd name="T17" fmla="*/ 315 h 18"/>
                <a:gd name="T18" fmla="*/ 3917132 w 106"/>
                <a:gd name="T19" fmla="*/ 55 h 18"/>
                <a:gd name="T20" fmla="*/ 3435385 w 106"/>
                <a:gd name="T21" fmla="*/ 0 h 18"/>
                <a:gd name="T22" fmla="*/ 3369257 w 106"/>
                <a:gd name="T23" fmla="*/ 1 h 18"/>
                <a:gd name="T24" fmla="*/ 3033331 w 106"/>
                <a:gd name="T25" fmla="*/ 55 h 18"/>
                <a:gd name="T26" fmla="*/ 2534104 w 106"/>
                <a:gd name="T27" fmla="*/ 2 h 18"/>
                <a:gd name="T28" fmla="*/ 1984779 w 106"/>
                <a:gd name="T29" fmla="*/ 2 h 18"/>
                <a:gd name="T30" fmla="*/ 1389091 w 106"/>
                <a:gd name="T31" fmla="*/ 1 h 18"/>
                <a:gd name="T32" fmla="*/ 864949 w 106"/>
                <a:gd name="T33" fmla="*/ 2 h 18"/>
                <a:gd name="T34" fmla="*/ 379656 w 106"/>
                <a:gd name="T35" fmla="*/ 55 h 18"/>
                <a:gd name="T36" fmla="*/ 39284 w 106"/>
                <a:gd name="T37" fmla="*/ 315 h 18"/>
                <a:gd name="T38" fmla="*/ 0 w 106"/>
                <a:gd name="T39" fmla="*/ 368 h 18"/>
                <a:gd name="T40" fmla="*/ 39284 w 106"/>
                <a:gd name="T41" fmla="*/ 315 h 18"/>
                <a:gd name="T42" fmla="*/ 0 w 106"/>
                <a:gd name="T43" fmla="*/ 358 h 18"/>
                <a:gd name="T44" fmla="*/ 0 w 106"/>
                <a:gd name="T45" fmla="*/ 368 h 18"/>
                <a:gd name="T46" fmla="*/ 563155 w 106"/>
                <a:gd name="T47" fmla="*/ 368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18"/>
                <a:gd name="T74" fmla="*/ 106 w 106"/>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18">
                  <a:moveTo>
                    <a:pt x="15" y="15"/>
                  </a:moveTo>
                  <a:lnTo>
                    <a:pt x="14" y="17"/>
                  </a:lnTo>
                  <a:lnTo>
                    <a:pt x="15" y="16"/>
                  </a:lnTo>
                  <a:lnTo>
                    <a:pt x="24" y="14"/>
                  </a:lnTo>
                  <a:lnTo>
                    <a:pt x="37" y="15"/>
                  </a:lnTo>
                  <a:lnTo>
                    <a:pt x="53" y="15"/>
                  </a:lnTo>
                  <a:lnTo>
                    <a:pt x="68" y="16"/>
                  </a:lnTo>
                  <a:lnTo>
                    <a:pt x="83" y="16"/>
                  </a:lnTo>
                  <a:lnTo>
                    <a:pt x="96" y="13"/>
                  </a:lnTo>
                  <a:lnTo>
                    <a:pt x="105" y="3"/>
                  </a:lnTo>
                  <a:lnTo>
                    <a:pt x="92" y="0"/>
                  </a:lnTo>
                  <a:lnTo>
                    <a:pt x="90" y="1"/>
                  </a:lnTo>
                  <a:lnTo>
                    <a:pt x="81" y="3"/>
                  </a:lnTo>
                  <a:lnTo>
                    <a:pt x="68" y="2"/>
                  </a:lnTo>
                  <a:lnTo>
                    <a:pt x="53" y="2"/>
                  </a:lnTo>
                  <a:lnTo>
                    <a:pt x="37" y="1"/>
                  </a:lnTo>
                  <a:lnTo>
                    <a:pt x="23" y="2"/>
                  </a:lnTo>
                  <a:lnTo>
                    <a:pt x="10" y="3"/>
                  </a:lnTo>
                  <a:lnTo>
                    <a:pt x="1" y="13"/>
                  </a:lnTo>
                  <a:lnTo>
                    <a:pt x="0" y="15"/>
                  </a:lnTo>
                  <a:lnTo>
                    <a:pt x="1" y="13"/>
                  </a:lnTo>
                  <a:lnTo>
                    <a:pt x="0" y="14"/>
                  </a:lnTo>
                  <a:lnTo>
                    <a:pt x="0" y="15"/>
                  </a:lnTo>
                  <a:lnTo>
                    <a:pt x="15" y="1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0" name="Freeform 9">
              <a:extLst>
                <a:ext uri="{FF2B5EF4-FFF2-40B4-BE49-F238E27FC236}">
                  <a16:creationId xmlns:a16="http://schemas.microsoft.com/office/drawing/2014/main" id="{71AE8AC4-7419-B3E7-1CFE-939C0E2FAFB4}"/>
                </a:ext>
              </a:extLst>
            </p:cNvPr>
            <p:cNvSpPr>
              <a:spLocks/>
            </p:cNvSpPr>
            <p:nvPr/>
          </p:nvSpPr>
          <p:spPr bwMode="auto">
            <a:xfrm>
              <a:off x="3456" y="2111"/>
              <a:ext cx="27" cy="6"/>
            </a:xfrm>
            <a:custGeom>
              <a:avLst/>
              <a:gdLst>
                <a:gd name="T0" fmla="*/ 824491 w 16"/>
                <a:gd name="T1" fmla="*/ 179 h 5"/>
                <a:gd name="T2" fmla="*/ 879388 w 16"/>
                <a:gd name="T3" fmla="*/ 2 h 5"/>
                <a:gd name="T4" fmla="*/ 879388 w 16"/>
                <a:gd name="T5" fmla="*/ 0 h 5"/>
                <a:gd name="T6" fmla="*/ 0 w 16"/>
                <a:gd name="T7" fmla="*/ 0 h 5"/>
                <a:gd name="T8" fmla="*/ 0 w 16"/>
                <a:gd name="T9" fmla="*/ 2 h 5"/>
                <a:gd name="T10" fmla="*/ 62006 w 16"/>
                <a:gd name="T11" fmla="*/ 0 h 5"/>
                <a:gd name="T12" fmla="*/ 824491 w 16"/>
                <a:gd name="T13" fmla="*/ 179 h 5"/>
                <a:gd name="T14" fmla="*/ 824491 w 16"/>
                <a:gd name="T15" fmla="*/ 149 h 5"/>
                <a:gd name="T16" fmla="*/ 879388 w 16"/>
                <a:gd name="T17" fmla="*/ 2 h 5"/>
                <a:gd name="T18" fmla="*/ 824491 w 16"/>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5"/>
                <a:gd name="T32" fmla="*/ 16 w 1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5">
                  <a:moveTo>
                    <a:pt x="14" y="4"/>
                  </a:moveTo>
                  <a:lnTo>
                    <a:pt x="15" y="2"/>
                  </a:lnTo>
                  <a:lnTo>
                    <a:pt x="15" y="0"/>
                  </a:lnTo>
                  <a:lnTo>
                    <a:pt x="0" y="0"/>
                  </a:lnTo>
                  <a:lnTo>
                    <a:pt x="0" y="2"/>
                  </a:lnTo>
                  <a:lnTo>
                    <a:pt x="1" y="0"/>
                  </a:lnTo>
                  <a:lnTo>
                    <a:pt x="14" y="4"/>
                  </a:lnTo>
                  <a:lnTo>
                    <a:pt x="14" y="3"/>
                  </a:lnTo>
                  <a:lnTo>
                    <a:pt x="15" y="2"/>
                  </a:lnTo>
                  <a:lnTo>
                    <a:pt x="1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1" name="Freeform 10">
              <a:extLst>
                <a:ext uri="{FF2B5EF4-FFF2-40B4-BE49-F238E27FC236}">
                  <a16:creationId xmlns:a16="http://schemas.microsoft.com/office/drawing/2014/main" id="{332420C2-E854-5F1B-25AD-08CA7E9FA32E}"/>
                </a:ext>
              </a:extLst>
            </p:cNvPr>
            <p:cNvSpPr>
              <a:spLocks/>
            </p:cNvSpPr>
            <p:nvPr/>
          </p:nvSpPr>
          <p:spPr bwMode="auto">
            <a:xfrm>
              <a:off x="3458" y="2111"/>
              <a:ext cx="132" cy="77"/>
            </a:xfrm>
            <a:custGeom>
              <a:avLst/>
              <a:gdLst>
                <a:gd name="T0" fmla="*/ 2918860 w 80"/>
                <a:gd name="T1" fmla="*/ 1675 h 66"/>
                <a:gd name="T2" fmla="*/ 2842721 w 80"/>
                <a:gd name="T3" fmla="*/ 1341 h 66"/>
                <a:gd name="T4" fmla="*/ 2480000 w 80"/>
                <a:gd name="T5" fmla="*/ 1104 h 66"/>
                <a:gd name="T6" fmla="*/ 2062134 w 80"/>
                <a:gd name="T7" fmla="*/ 921 h 66"/>
                <a:gd name="T8" fmla="*/ 1545345 w 80"/>
                <a:gd name="T9" fmla="*/ 762 h 66"/>
                <a:gd name="T10" fmla="*/ 1026680 w 80"/>
                <a:gd name="T11" fmla="*/ 569 h 66"/>
                <a:gd name="T12" fmla="*/ 692147 w 80"/>
                <a:gd name="T13" fmla="*/ 368 h 66"/>
                <a:gd name="T14" fmla="*/ 520035 w 80"/>
                <a:gd name="T15" fmla="*/ 225 h 66"/>
                <a:gd name="T16" fmla="*/ 477527 w 80"/>
                <a:gd name="T17" fmla="*/ 120 h 66"/>
                <a:gd name="T18" fmla="*/ 0 w 80"/>
                <a:gd name="T19" fmla="*/ 0 h 66"/>
                <a:gd name="T20" fmla="*/ 39046 w 80"/>
                <a:gd name="T21" fmla="*/ 358 h 66"/>
                <a:gd name="T22" fmla="*/ 338181 w 80"/>
                <a:gd name="T23" fmla="*/ 653 h 66"/>
                <a:gd name="T24" fmla="*/ 796859 w 80"/>
                <a:gd name="T25" fmla="*/ 844 h 66"/>
                <a:gd name="T26" fmla="*/ 1300068 w 80"/>
                <a:gd name="T27" fmla="*/ 1055 h 66"/>
                <a:gd name="T28" fmla="*/ 1816008 w 80"/>
                <a:gd name="T29" fmla="*/ 1231 h 66"/>
                <a:gd name="T30" fmla="*/ 2211957 w 80"/>
                <a:gd name="T31" fmla="*/ 1373 h 66"/>
                <a:gd name="T32" fmla="*/ 2399955 w 80"/>
                <a:gd name="T33" fmla="*/ 1496 h 66"/>
                <a:gd name="T34" fmla="*/ 2442464 w 80"/>
                <a:gd name="T35" fmla="*/ 1565 h 66"/>
                <a:gd name="T36" fmla="*/ 2918860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7" y="44"/>
                  </a:lnTo>
                  <a:lnTo>
                    <a:pt x="56" y="36"/>
                  </a:lnTo>
                  <a:lnTo>
                    <a:pt x="42" y="29"/>
                  </a:lnTo>
                  <a:lnTo>
                    <a:pt x="28" y="22"/>
                  </a:lnTo>
                  <a:lnTo>
                    <a:pt x="19" y="15"/>
                  </a:lnTo>
                  <a:lnTo>
                    <a:pt x="14" y="9"/>
                  </a:lnTo>
                  <a:lnTo>
                    <a:pt x="13" y="4"/>
                  </a:lnTo>
                  <a:lnTo>
                    <a:pt x="0" y="0"/>
                  </a:lnTo>
                  <a:lnTo>
                    <a:pt x="1" y="14"/>
                  </a:lnTo>
                  <a:lnTo>
                    <a:pt x="9" y="25"/>
                  </a:lnTo>
                  <a:lnTo>
                    <a:pt x="22" y="33"/>
                  </a:lnTo>
                  <a:lnTo>
                    <a:pt x="35" y="41"/>
                  </a:lnTo>
                  <a:lnTo>
                    <a:pt x="49" y="48"/>
                  </a:lnTo>
                  <a:lnTo>
                    <a:pt x="60" y="54"/>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2" name="Freeform 11">
              <a:extLst>
                <a:ext uri="{FF2B5EF4-FFF2-40B4-BE49-F238E27FC236}">
                  <a16:creationId xmlns:a16="http://schemas.microsoft.com/office/drawing/2014/main" id="{3C83ED63-9976-E892-9E6B-6AACACAAD254}"/>
                </a:ext>
              </a:extLst>
            </p:cNvPr>
            <p:cNvSpPr>
              <a:spLocks/>
            </p:cNvSpPr>
            <p:nvPr/>
          </p:nvSpPr>
          <p:spPr bwMode="auto">
            <a:xfrm>
              <a:off x="3412" y="2181"/>
              <a:ext cx="178" cy="30"/>
            </a:xfrm>
            <a:custGeom>
              <a:avLst/>
              <a:gdLst>
                <a:gd name="T0" fmla="*/ 467977 w 108"/>
                <a:gd name="T1" fmla="*/ 496 h 26"/>
                <a:gd name="T2" fmla="*/ 572069 w 108"/>
                <a:gd name="T3" fmla="*/ 430 h 26"/>
                <a:gd name="T4" fmla="*/ 904365 w 108"/>
                <a:gd name="T5" fmla="*/ 404 h 26"/>
                <a:gd name="T6" fmla="*/ 1377308 w 108"/>
                <a:gd name="T7" fmla="*/ 373 h 26"/>
                <a:gd name="T8" fmla="*/ 1950046 w 108"/>
                <a:gd name="T9" fmla="*/ 373 h 26"/>
                <a:gd name="T10" fmla="*/ 2520165 w 108"/>
                <a:gd name="T11" fmla="*/ 372 h 26"/>
                <a:gd name="T12" fmla="*/ 3106008 w 108"/>
                <a:gd name="T13" fmla="*/ 350 h 26"/>
                <a:gd name="T14" fmla="*/ 3543764 w 108"/>
                <a:gd name="T15" fmla="*/ 279 h 26"/>
                <a:gd name="T16" fmla="*/ 3851116 w 108"/>
                <a:gd name="T17" fmla="*/ 89 h 26"/>
                <a:gd name="T18" fmla="*/ 3382615 w 108"/>
                <a:gd name="T19" fmla="*/ 0 h 26"/>
                <a:gd name="T20" fmla="*/ 3279487 w 108"/>
                <a:gd name="T21" fmla="*/ 2 h 26"/>
                <a:gd name="T22" fmla="*/ 2995110 w 108"/>
                <a:gd name="T23" fmla="*/ 89 h 26"/>
                <a:gd name="T24" fmla="*/ 2520165 w 108"/>
                <a:gd name="T25" fmla="*/ 103 h 26"/>
                <a:gd name="T26" fmla="*/ 1950046 w 108"/>
                <a:gd name="T27" fmla="*/ 103 h 26"/>
                <a:gd name="T28" fmla="*/ 1377308 w 108"/>
                <a:gd name="T29" fmla="*/ 119 h 26"/>
                <a:gd name="T30" fmla="*/ 835670 w 108"/>
                <a:gd name="T31" fmla="*/ 137 h 26"/>
                <a:gd name="T32" fmla="*/ 347098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2"/>
                  </a:lnTo>
                  <a:lnTo>
                    <a:pt x="25" y="20"/>
                  </a:lnTo>
                  <a:lnTo>
                    <a:pt x="38" y="19"/>
                  </a:lnTo>
                  <a:lnTo>
                    <a:pt x="54" y="19"/>
                  </a:lnTo>
                  <a:lnTo>
                    <a:pt x="70" y="18"/>
                  </a:lnTo>
                  <a:lnTo>
                    <a:pt x="86" y="17"/>
                  </a:lnTo>
                  <a:lnTo>
                    <a:pt x="98" y="14"/>
                  </a:lnTo>
                  <a:lnTo>
                    <a:pt x="107" y="4"/>
                  </a:lnTo>
                  <a:lnTo>
                    <a:pt x="94" y="0"/>
                  </a:lnTo>
                  <a:lnTo>
                    <a:pt x="91" y="2"/>
                  </a:lnTo>
                  <a:lnTo>
                    <a:pt x="83" y="4"/>
                  </a:lnTo>
                  <a:lnTo>
                    <a:pt x="70" y="5"/>
                  </a:lnTo>
                  <a:lnTo>
                    <a:pt x="54" y="5"/>
                  </a:lnTo>
                  <a:lnTo>
                    <a:pt x="38" y="6"/>
                  </a:lnTo>
                  <a:lnTo>
                    <a:pt x="23" y="7"/>
                  </a:lnTo>
                  <a:lnTo>
                    <a:pt x="10"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3" name="Freeform 12">
              <a:extLst>
                <a:ext uri="{FF2B5EF4-FFF2-40B4-BE49-F238E27FC236}">
                  <a16:creationId xmlns:a16="http://schemas.microsoft.com/office/drawing/2014/main" id="{B7A78E5D-4E3F-AD4A-2F1E-AA9D490BB3CA}"/>
                </a:ext>
              </a:extLst>
            </p:cNvPr>
            <p:cNvSpPr>
              <a:spLocks/>
            </p:cNvSpPr>
            <p:nvPr/>
          </p:nvSpPr>
          <p:spPr bwMode="auto">
            <a:xfrm>
              <a:off x="3412" y="2206"/>
              <a:ext cx="131" cy="76"/>
            </a:xfrm>
            <a:custGeom>
              <a:avLst/>
              <a:gdLst>
                <a:gd name="T0" fmla="*/ 2480706 w 80"/>
                <a:gd name="T1" fmla="*/ 922 h 67"/>
                <a:gd name="T2" fmla="*/ 2480706 w 80"/>
                <a:gd name="T3" fmla="*/ 932 h 67"/>
                <a:gd name="T4" fmla="*/ 2415525 w 80"/>
                <a:gd name="T5" fmla="*/ 740 h 67"/>
                <a:gd name="T6" fmla="*/ 2134954 w 80"/>
                <a:gd name="T7" fmla="*/ 620 h 67"/>
                <a:gd name="T8" fmla="*/ 1769243 w 80"/>
                <a:gd name="T9" fmla="*/ 496 h 67"/>
                <a:gd name="T10" fmla="*/ 1346184 w 80"/>
                <a:gd name="T11" fmla="*/ 385 h 67"/>
                <a:gd name="T12" fmla="*/ 939702 w 80"/>
                <a:gd name="T13" fmla="*/ 270 h 67"/>
                <a:gd name="T14" fmla="*/ 603561 w 80"/>
                <a:gd name="T15" fmla="*/ 164 h 67"/>
                <a:gd name="T16" fmla="*/ 445495 w 80"/>
                <a:gd name="T17" fmla="*/ 78 h 67"/>
                <a:gd name="T18" fmla="*/ 402943 w 80"/>
                <a:gd name="T19" fmla="*/ 61 h 67"/>
                <a:gd name="T20" fmla="*/ 0 w 80"/>
                <a:gd name="T21" fmla="*/ 0 h 67"/>
                <a:gd name="T22" fmla="*/ 56043 w 80"/>
                <a:gd name="T23" fmla="*/ 185 h 67"/>
                <a:gd name="T24" fmla="*/ 306592 w 80"/>
                <a:gd name="T25" fmla="*/ 307 h 67"/>
                <a:gd name="T26" fmla="*/ 695772 w 80"/>
                <a:gd name="T27" fmla="*/ 437 h 67"/>
                <a:gd name="T28" fmla="*/ 1139327 w 80"/>
                <a:gd name="T29" fmla="*/ 557 h 67"/>
                <a:gd name="T30" fmla="*/ 1538762 w 80"/>
                <a:gd name="T31" fmla="*/ 652 h 67"/>
                <a:gd name="T32" fmla="*/ 1865648 w 80"/>
                <a:gd name="T33" fmla="*/ 740 h 67"/>
                <a:gd name="T34" fmla="*/ 2045165 w 80"/>
                <a:gd name="T35" fmla="*/ 836 h 67"/>
                <a:gd name="T36" fmla="*/ 2079299 w 80"/>
                <a:gd name="T37" fmla="*/ 839 h 67"/>
                <a:gd name="T38" fmla="*/ 2079299 w 80"/>
                <a:gd name="T39" fmla="*/ 841 h 67"/>
                <a:gd name="T40" fmla="*/ 2480706 w 80"/>
                <a:gd name="T41" fmla="*/ 922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5"/>
                  </a:moveTo>
                  <a:lnTo>
                    <a:pt x="79" y="66"/>
                  </a:lnTo>
                  <a:lnTo>
                    <a:pt x="77" y="53"/>
                  </a:lnTo>
                  <a:lnTo>
                    <a:pt x="68" y="43"/>
                  </a:lnTo>
                  <a:lnTo>
                    <a:pt x="56" y="35"/>
                  </a:lnTo>
                  <a:lnTo>
                    <a:pt x="43" y="27"/>
                  </a:lnTo>
                  <a:lnTo>
                    <a:pt x="30" y="19"/>
                  </a:lnTo>
                  <a:lnTo>
                    <a:pt x="19" y="12"/>
                  </a:lnTo>
                  <a:lnTo>
                    <a:pt x="14" y="6"/>
                  </a:lnTo>
                  <a:lnTo>
                    <a:pt x="13" y="4"/>
                  </a:lnTo>
                  <a:lnTo>
                    <a:pt x="0" y="0"/>
                  </a:lnTo>
                  <a:lnTo>
                    <a:pt x="2" y="13"/>
                  </a:lnTo>
                  <a:lnTo>
                    <a:pt x="10" y="23"/>
                  </a:lnTo>
                  <a:lnTo>
                    <a:pt x="22" y="31"/>
                  </a:lnTo>
                  <a:lnTo>
                    <a:pt x="36"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4" name="Freeform 13">
              <a:extLst>
                <a:ext uri="{FF2B5EF4-FFF2-40B4-BE49-F238E27FC236}">
                  <a16:creationId xmlns:a16="http://schemas.microsoft.com/office/drawing/2014/main" id="{DB357FFC-B3D3-454B-0A16-7A97EB2E0B63}"/>
                </a:ext>
              </a:extLst>
            </p:cNvPr>
            <p:cNvSpPr>
              <a:spLocks/>
            </p:cNvSpPr>
            <p:nvPr/>
          </p:nvSpPr>
          <p:spPr bwMode="auto">
            <a:xfrm>
              <a:off x="3370" y="2276"/>
              <a:ext cx="173" cy="24"/>
            </a:xfrm>
            <a:custGeom>
              <a:avLst/>
              <a:gdLst>
                <a:gd name="T0" fmla="*/ 417519 w 106"/>
                <a:gd name="T1" fmla="*/ 302 h 21"/>
                <a:gd name="T2" fmla="*/ 373313 w 106"/>
                <a:gd name="T3" fmla="*/ 326 h 21"/>
                <a:gd name="T4" fmla="*/ 430014 w 106"/>
                <a:gd name="T5" fmla="*/ 326 h 21"/>
                <a:gd name="T6" fmla="*/ 681423 w 106"/>
                <a:gd name="T7" fmla="*/ 302 h 21"/>
                <a:gd name="T8" fmla="*/ 1059028 w 106"/>
                <a:gd name="T9" fmla="*/ 302 h 21"/>
                <a:gd name="T10" fmla="*/ 1530828 w 106"/>
                <a:gd name="T11" fmla="*/ 302 h 21"/>
                <a:gd name="T12" fmla="*/ 1989524 w 106"/>
                <a:gd name="T13" fmla="*/ 302 h 21"/>
                <a:gd name="T14" fmla="*/ 2468792 w 106"/>
                <a:gd name="T15" fmla="*/ 278 h 21"/>
                <a:gd name="T16" fmla="*/ 2820902 w 106"/>
                <a:gd name="T17" fmla="*/ 213 h 21"/>
                <a:gd name="T18" fmla="*/ 3075039 w 106"/>
                <a:gd name="T19" fmla="*/ 3 h 21"/>
                <a:gd name="T20" fmla="*/ 2702097 w 106"/>
                <a:gd name="T21" fmla="*/ 0 h 21"/>
                <a:gd name="T22" fmla="*/ 2613447 w 106"/>
                <a:gd name="T23" fmla="*/ 1 h 21"/>
                <a:gd name="T24" fmla="*/ 2370041 w 106"/>
                <a:gd name="T25" fmla="*/ 73 h 21"/>
                <a:gd name="T26" fmla="*/ 1989524 w 106"/>
                <a:gd name="T27" fmla="*/ 73 h 21"/>
                <a:gd name="T28" fmla="*/ 1530828 w 106"/>
                <a:gd name="T29" fmla="*/ 73 h 21"/>
                <a:gd name="T30" fmla="*/ 1059028 w 106"/>
                <a:gd name="T31" fmla="*/ 73 h 21"/>
                <a:gd name="T32" fmla="*/ 648884 w 106"/>
                <a:gd name="T33" fmla="*/ 83 h 21"/>
                <a:gd name="T34" fmla="*/ 285758 w 106"/>
                <a:gd name="T35" fmla="*/ 109 h 21"/>
                <a:gd name="T36" fmla="*/ 0 w 106"/>
                <a:gd name="T37" fmla="*/ 264 h 21"/>
                <a:gd name="T38" fmla="*/ 0 w 106"/>
                <a:gd name="T39" fmla="*/ 302 h 21"/>
                <a:gd name="T40" fmla="*/ 0 w 106"/>
                <a:gd name="T41" fmla="*/ 264 h 21"/>
                <a:gd name="T42" fmla="*/ 0 w 106"/>
                <a:gd name="T43" fmla="*/ 302 h 21"/>
                <a:gd name="T44" fmla="*/ 417519 w 106"/>
                <a:gd name="T45" fmla="*/ 302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6"/>
                <a:gd name="T70" fmla="*/ 0 h 21"/>
                <a:gd name="T71" fmla="*/ 106 w 106"/>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6" h="21">
                  <a:moveTo>
                    <a:pt x="14" y="18"/>
                  </a:moveTo>
                  <a:lnTo>
                    <a:pt x="13" y="20"/>
                  </a:lnTo>
                  <a:lnTo>
                    <a:pt x="15" y="20"/>
                  </a:lnTo>
                  <a:lnTo>
                    <a:pt x="23" y="18"/>
                  </a:lnTo>
                  <a:lnTo>
                    <a:pt x="36" y="18"/>
                  </a:lnTo>
                  <a:lnTo>
                    <a:pt x="52" y="18"/>
                  </a:lnTo>
                  <a:lnTo>
                    <a:pt x="68" y="18"/>
                  </a:lnTo>
                  <a:lnTo>
                    <a:pt x="84" y="17"/>
                  </a:lnTo>
                  <a:lnTo>
                    <a:pt x="96" y="13"/>
                  </a:lnTo>
                  <a:lnTo>
                    <a:pt x="105" y="3"/>
                  </a:lnTo>
                  <a:lnTo>
                    <a:pt x="92" y="0"/>
                  </a:lnTo>
                  <a:lnTo>
                    <a:pt x="89" y="1"/>
                  </a:lnTo>
                  <a:lnTo>
                    <a:pt x="81" y="4"/>
                  </a:lnTo>
                  <a:lnTo>
                    <a:pt x="68" y="4"/>
                  </a:lnTo>
                  <a:lnTo>
                    <a:pt x="52" y="4"/>
                  </a:lnTo>
                  <a:lnTo>
                    <a:pt x="36" y="4"/>
                  </a:lnTo>
                  <a:lnTo>
                    <a:pt x="22" y="5"/>
                  </a:lnTo>
                  <a:lnTo>
                    <a:pt x="10" y="7"/>
                  </a:lnTo>
                  <a:lnTo>
                    <a:pt x="0" y="16"/>
                  </a:lnTo>
                  <a:lnTo>
                    <a:pt x="0" y="18"/>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5" name="Freeform 14">
              <a:extLst>
                <a:ext uri="{FF2B5EF4-FFF2-40B4-BE49-F238E27FC236}">
                  <a16:creationId xmlns:a16="http://schemas.microsoft.com/office/drawing/2014/main" id="{04A488AD-FF84-EDAA-E581-3E7AB3041722}"/>
                </a:ext>
              </a:extLst>
            </p:cNvPr>
            <p:cNvSpPr>
              <a:spLocks/>
            </p:cNvSpPr>
            <p:nvPr/>
          </p:nvSpPr>
          <p:spPr bwMode="auto">
            <a:xfrm>
              <a:off x="3370" y="2295"/>
              <a:ext cx="23" cy="7"/>
            </a:xfrm>
            <a:custGeom>
              <a:avLst/>
              <a:gdLst>
                <a:gd name="T0" fmla="*/ 105177 w 15"/>
                <a:gd name="T1" fmla="*/ 140 h 6"/>
                <a:gd name="T2" fmla="*/ 107243 w 15"/>
                <a:gd name="T3" fmla="*/ 2 h 6"/>
                <a:gd name="T4" fmla="*/ 0 w 15"/>
                <a:gd name="T5" fmla="*/ 2 h 6"/>
                <a:gd name="T6" fmla="*/ 0 w 15"/>
                <a:gd name="T7" fmla="*/ 0 h 6"/>
                <a:gd name="T8" fmla="*/ 105177 w 15"/>
                <a:gd name="T9" fmla="*/ 140 h 6"/>
                <a:gd name="T10" fmla="*/ 107243 w 15"/>
                <a:gd name="T11" fmla="*/ 120 h 6"/>
                <a:gd name="T12" fmla="*/ 107243 w 15"/>
                <a:gd name="T13" fmla="*/ 2 h 6"/>
                <a:gd name="T14" fmla="*/ 105177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6" name="Freeform 15">
              <a:extLst>
                <a:ext uri="{FF2B5EF4-FFF2-40B4-BE49-F238E27FC236}">
                  <a16:creationId xmlns:a16="http://schemas.microsoft.com/office/drawing/2014/main" id="{627E6C23-3436-D7F8-3456-AD3CBAC068D7}"/>
                </a:ext>
              </a:extLst>
            </p:cNvPr>
            <p:cNvSpPr>
              <a:spLocks/>
            </p:cNvSpPr>
            <p:nvPr/>
          </p:nvSpPr>
          <p:spPr bwMode="auto">
            <a:xfrm>
              <a:off x="3370" y="2295"/>
              <a:ext cx="127" cy="78"/>
            </a:xfrm>
            <a:custGeom>
              <a:avLst/>
              <a:gdLst>
                <a:gd name="T0" fmla="*/ 2148934 w 78"/>
                <a:gd name="T1" fmla="*/ 1621 h 67"/>
                <a:gd name="T2" fmla="*/ 2097509 w 78"/>
                <a:gd name="T3" fmla="*/ 1299 h 67"/>
                <a:gd name="T4" fmla="*/ 1863481 w 78"/>
                <a:gd name="T5" fmla="*/ 1056 h 67"/>
                <a:gd name="T6" fmla="*/ 1545582 w 78"/>
                <a:gd name="T7" fmla="*/ 845 h 67"/>
                <a:gd name="T8" fmla="*/ 1171616 w 78"/>
                <a:gd name="T9" fmla="*/ 637 h 67"/>
                <a:gd name="T10" fmla="*/ 842106 w 78"/>
                <a:gd name="T11" fmla="*/ 470 h 67"/>
                <a:gd name="T12" fmla="*/ 524450 w 78"/>
                <a:gd name="T13" fmla="*/ 261 h 67"/>
                <a:gd name="T14" fmla="*/ 391253 w 78"/>
                <a:gd name="T15" fmla="*/ 139 h 67"/>
                <a:gd name="T16" fmla="*/ 358067 w 78"/>
                <a:gd name="T17" fmla="*/ 119 h 67"/>
                <a:gd name="T18" fmla="*/ 0 w 78"/>
                <a:gd name="T19" fmla="*/ 0 h 67"/>
                <a:gd name="T20" fmla="*/ 50948 w 78"/>
                <a:gd name="T21" fmla="*/ 304 h 67"/>
                <a:gd name="T22" fmla="*/ 271430 w 78"/>
                <a:gd name="T23" fmla="*/ 547 h 67"/>
                <a:gd name="T24" fmla="*/ 620047 w 78"/>
                <a:gd name="T25" fmla="*/ 742 h 67"/>
                <a:gd name="T26" fmla="*/ 978183 w 78"/>
                <a:gd name="T27" fmla="*/ 910 h 67"/>
                <a:gd name="T28" fmla="*/ 1319818 w 78"/>
                <a:gd name="T29" fmla="*/ 1132 h 67"/>
                <a:gd name="T30" fmla="*/ 1607587 w 78"/>
                <a:gd name="T31" fmla="*/ 1299 h 67"/>
                <a:gd name="T32" fmla="*/ 1778832 w 78"/>
                <a:gd name="T33" fmla="*/ 1442 h 67"/>
                <a:gd name="T34" fmla="*/ 1778832 w 78"/>
                <a:gd name="T35" fmla="*/ 1512 h 67"/>
                <a:gd name="T36" fmla="*/ 2148934 w 78"/>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30" y="19"/>
                  </a:lnTo>
                  <a:lnTo>
                    <a:pt x="19" y="11"/>
                  </a:lnTo>
                  <a:lnTo>
                    <a:pt x="14" y="6"/>
                  </a:lnTo>
                  <a:lnTo>
                    <a:pt x="13" y="5"/>
                  </a:lnTo>
                  <a:lnTo>
                    <a:pt x="0" y="0"/>
                  </a:lnTo>
                  <a:lnTo>
                    <a:pt x="2" y="13"/>
                  </a:lnTo>
                  <a:lnTo>
                    <a:pt x="10" y="22"/>
                  </a:lnTo>
                  <a:lnTo>
                    <a:pt x="22" y="30"/>
                  </a:lnTo>
                  <a:lnTo>
                    <a:pt x="35" y="38"/>
                  </a:lnTo>
                  <a:lnTo>
                    <a:pt x="47" y="46"/>
                  </a:lnTo>
                  <a:lnTo>
                    <a:pt x="58" y="53"/>
                  </a:lnTo>
                  <a:lnTo>
                    <a:pt x="64"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7" name="Freeform 16">
              <a:extLst>
                <a:ext uri="{FF2B5EF4-FFF2-40B4-BE49-F238E27FC236}">
                  <a16:creationId xmlns:a16="http://schemas.microsoft.com/office/drawing/2014/main" id="{CBDEBC95-9B3F-0297-173C-54CB5789DEFA}"/>
                </a:ext>
              </a:extLst>
            </p:cNvPr>
            <p:cNvSpPr>
              <a:spLocks/>
            </p:cNvSpPr>
            <p:nvPr/>
          </p:nvSpPr>
          <p:spPr bwMode="auto">
            <a:xfrm>
              <a:off x="3321" y="2366"/>
              <a:ext cx="176" cy="29"/>
            </a:xfrm>
            <a:custGeom>
              <a:avLst/>
              <a:gdLst>
                <a:gd name="T0" fmla="*/ 448956 w 107"/>
                <a:gd name="T1" fmla="*/ 530 h 25"/>
                <a:gd name="T2" fmla="*/ 520021 w 107"/>
                <a:gd name="T3" fmla="*/ 516 h 25"/>
                <a:gd name="T4" fmla="*/ 806439 w 107"/>
                <a:gd name="T5" fmla="*/ 455 h 25"/>
                <a:gd name="T6" fmla="*/ 1274250 w 107"/>
                <a:gd name="T7" fmla="*/ 455 h 25"/>
                <a:gd name="T8" fmla="*/ 1803036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03036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3" y="20"/>
                  </a:lnTo>
                  <a:lnTo>
                    <a:pt x="37" y="20"/>
                  </a:lnTo>
                  <a:lnTo>
                    <a:pt x="52" y="20"/>
                  </a:lnTo>
                  <a:lnTo>
                    <a:pt x="69" y="18"/>
                  </a:lnTo>
                  <a:lnTo>
                    <a:pt x="84" y="18"/>
                  </a:lnTo>
                  <a:lnTo>
                    <a:pt x="97" y="14"/>
                  </a:lnTo>
                  <a:lnTo>
                    <a:pt x="106" y="4"/>
                  </a:lnTo>
                  <a:lnTo>
                    <a:pt x="93" y="0"/>
                  </a:lnTo>
                  <a:lnTo>
                    <a:pt x="90" y="2"/>
                  </a:lnTo>
                  <a:lnTo>
                    <a:pt x="81" y="5"/>
                  </a:lnTo>
                  <a:lnTo>
                    <a:pt x="69" y="5"/>
                  </a:lnTo>
                  <a:lnTo>
                    <a:pt x="52"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8" name="Freeform 17">
              <a:extLst>
                <a:ext uri="{FF2B5EF4-FFF2-40B4-BE49-F238E27FC236}">
                  <a16:creationId xmlns:a16="http://schemas.microsoft.com/office/drawing/2014/main" id="{3DA47E08-3CAD-60EC-FA6C-1979C5203C43}"/>
                </a:ext>
              </a:extLst>
            </p:cNvPr>
            <p:cNvSpPr>
              <a:spLocks/>
            </p:cNvSpPr>
            <p:nvPr/>
          </p:nvSpPr>
          <p:spPr bwMode="auto">
            <a:xfrm>
              <a:off x="3321" y="2390"/>
              <a:ext cx="133" cy="76"/>
            </a:xfrm>
            <a:custGeom>
              <a:avLst/>
              <a:gdLst>
                <a:gd name="T0" fmla="*/ 3407716 w 80"/>
                <a:gd name="T1" fmla="*/ 932 h 67"/>
                <a:gd name="T2" fmla="*/ 3335106 w 80"/>
                <a:gd name="T3" fmla="*/ 740 h 67"/>
                <a:gd name="T4" fmla="*/ 2945860 w 80"/>
                <a:gd name="T5" fmla="*/ 620 h 67"/>
                <a:gd name="T6" fmla="*/ 2476974 w 80"/>
                <a:gd name="T7" fmla="*/ 496 h 67"/>
                <a:gd name="T8" fmla="*/ 1845656 w 80"/>
                <a:gd name="T9" fmla="*/ 385 h 67"/>
                <a:gd name="T10" fmla="*/ 1296454 w 80"/>
                <a:gd name="T11" fmla="*/ 270 h 67"/>
                <a:gd name="T12" fmla="*/ 853740 w 80"/>
                <a:gd name="T13" fmla="*/ 164 h 67"/>
                <a:gd name="T14" fmla="*/ 596282 w 80"/>
                <a:gd name="T15" fmla="*/ 88 h 67"/>
                <a:gd name="T16" fmla="*/ 581923 w 80"/>
                <a:gd name="T17" fmla="*/ 61 h 67"/>
                <a:gd name="T18" fmla="*/ 0 w 80"/>
                <a:gd name="T19" fmla="*/ 0 h 67"/>
                <a:gd name="T20" fmla="*/ 76176 w 80"/>
                <a:gd name="T21" fmla="*/ 185 h 67"/>
                <a:gd name="T22" fmla="*/ 469066 w 80"/>
                <a:gd name="T23" fmla="*/ 306 h 67"/>
                <a:gd name="T24" fmla="*/ 967447 w 80"/>
                <a:gd name="T25" fmla="*/ 437 h 67"/>
                <a:gd name="T26" fmla="*/ 1608381 w 80"/>
                <a:gd name="T27" fmla="*/ 557 h 67"/>
                <a:gd name="T28" fmla="*/ 2103488 w 80"/>
                <a:gd name="T29" fmla="*/ 650 h 67"/>
                <a:gd name="T30" fmla="*/ 2553944 w 80"/>
                <a:gd name="T31" fmla="*/ 741 h 67"/>
                <a:gd name="T32" fmla="*/ 2812677 w 80"/>
                <a:gd name="T33" fmla="*/ 836 h 67"/>
                <a:gd name="T34" fmla="*/ 2862423 w 80"/>
                <a:gd name="T35" fmla="*/ 876 h 67"/>
                <a:gd name="T36" fmla="*/ 3407716 w 80"/>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7"/>
                <a:gd name="T59" fmla="*/ 80 w 80"/>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7">
                  <a:moveTo>
                    <a:pt x="79" y="66"/>
                  </a:moveTo>
                  <a:lnTo>
                    <a:pt x="77" y="53"/>
                  </a:lnTo>
                  <a:lnTo>
                    <a:pt x="68" y="43"/>
                  </a:lnTo>
                  <a:lnTo>
                    <a:pt x="57" y="35"/>
                  </a:lnTo>
                  <a:lnTo>
                    <a:pt x="43" y="27"/>
                  </a:lnTo>
                  <a:lnTo>
                    <a:pt x="30" y="19"/>
                  </a:lnTo>
                  <a:lnTo>
                    <a:pt x="20" y="12"/>
                  </a:lnTo>
                  <a:lnTo>
                    <a:pt x="14" y="7"/>
                  </a:lnTo>
                  <a:lnTo>
                    <a:pt x="13" y="4"/>
                  </a:lnTo>
                  <a:lnTo>
                    <a:pt x="0" y="0"/>
                  </a:lnTo>
                  <a:lnTo>
                    <a:pt x="2" y="13"/>
                  </a:lnTo>
                  <a:lnTo>
                    <a:pt x="11" y="22"/>
                  </a:lnTo>
                  <a:lnTo>
                    <a:pt x="22" y="31"/>
                  </a:lnTo>
                  <a:lnTo>
                    <a:pt x="37" y="39"/>
                  </a:lnTo>
                  <a:lnTo>
                    <a:pt x="49" y="46"/>
                  </a:lnTo>
                  <a:lnTo>
                    <a:pt x="59" y="54"/>
                  </a:lnTo>
                  <a:lnTo>
                    <a:pt x="65" y="59"/>
                  </a:lnTo>
                  <a:lnTo>
                    <a:pt x="66" y="62"/>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39" name="Freeform 18">
              <a:extLst>
                <a:ext uri="{FF2B5EF4-FFF2-40B4-BE49-F238E27FC236}">
                  <a16:creationId xmlns:a16="http://schemas.microsoft.com/office/drawing/2014/main" id="{5EE1CCFD-BD65-6E23-247E-5B9E6B07051E}"/>
                </a:ext>
              </a:extLst>
            </p:cNvPr>
            <p:cNvSpPr>
              <a:spLocks/>
            </p:cNvSpPr>
            <p:nvPr/>
          </p:nvSpPr>
          <p:spPr bwMode="auto">
            <a:xfrm>
              <a:off x="3275" y="2461"/>
              <a:ext cx="179" cy="76"/>
            </a:xfrm>
            <a:custGeom>
              <a:avLst/>
              <a:gdLst>
                <a:gd name="T0" fmla="*/ 0 w 108"/>
                <a:gd name="T1" fmla="*/ 492 h 66"/>
                <a:gd name="T2" fmla="*/ 556841 w 108"/>
                <a:gd name="T3" fmla="*/ 510 h 66"/>
                <a:gd name="T4" fmla="*/ 676721 w 108"/>
                <a:gd name="T5" fmla="*/ 492 h 66"/>
                <a:gd name="T6" fmla="*/ 1005330 w 108"/>
                <a:gd name="T7" fmla="*/ 427 h 66"/>
                <a:gd name="T8" fmla="*/ 1594666 w 108"/>
                <a:gd name="T9" fmla="*/ 415 h 66"/>
                <a:gd name="T10" fmla="*/ 2199267 w 108"/>
                <a:gd name="T11" fmla="*/ 383 h 66"/>
                <a:gd name="T12" fmla="*/ 2830250 w 108"/>
                <a:gd name="T13" fmla="*/ 371 h 66"/>
                <a:gd name="T14" fmla="*/ 3457649 w 108"/>
                <a:gd name="T15" fmla="*/ 360 h 66"/>
                <a:gd name="T16" fmla="*/ 3971546 w 108"/>
                <a:gd name="T17" fmla="*/ 272 h 66"/>
                <a:gd name="T18" fmla="*/ 4325681 w 108"/>
                <a:gd name="T19" fmla="*/ 89 h 66"/>
                <a:gd name="T20" fmla="*/ 3818552 w 108"/>
                <a:gd name="T21" fmla="*/ 0 h 66"/>
                <a:gd name="T22" fmla="*/ 3686323 w 108"/>
                <a:gd name="T23" fmla="*/ 3 h 66"/>
                <a:gd name="T24" fmla="*/ 3320183 w 108"/>
                <a:gd name="T25" fmla="*/ 102 h 66"/>
                <a:gd name="T26" fmla="*/ 2788180 w 108"/>
                <a:gd name="T27" fmla="*/ 117 h 66"/>
                <a:gd name="T28" fmla="*/ 2199267 w 108"/>
                <a:gd name="T29" fmla="*/ 135 h 66"/>
                <a:gd name="T30" fmla="*/ 1488305 w 108"/>
                <a:gd name="T31" fmla="*/ 155 h 66"/>
                <a:gd name="T32" fmla="*/ 881741 w 108"/>
                <a:gd name="T33" fmla="*/ 178 h 66"/>
                <a:gd name="T34" fmla="*/ 408301 w 108"/>
                <a:gd name="T35" fmla="*/ 251 h 66"/>
                <a:gd name="T36" fmla="*/ 42537 w 108"/>
                <a:gd name="T37" fmla="*/ 441 h 66"/>
                <a:gd name="T38" fmla="*/ 606568 w 108"/>
                <a:gd name="T39" fmla="*/ 492 h 66"/>
                <a:gd name="T40" fmla="*/ 0 w 108"/>
                <a:gd name="T41" fmla="*/ 492 h 66"/>
                <a:gd name="T42" fmla="*/ 0 w 108"/>
                <a:gd name="T43" fmla="*/ 1246 h 66"/>
                <a:gd name="T44" fmla="*/ 556841 w 108"/>
                <a:gd name="T45" fmla="*/ 510 h 66"/>
                <a:gd name="T46" fmla="*/ 0 w 108"/>
                <a:gd name="T47" fmla="*/ 492 h 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6"/>
                <a:gd name="T74" fmla="*/ 108 w 108"/>
                <a:gd name="T75" fmla="*/ 66 h 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6">
                  <a:moveTo>
                    <a:pt x="0" y="25"/>
                  </a:moveTo>
                  <a:lnTo>
                    <a:pt x="14" y="27"/>
                  </a:lnTo>
                  <a:lnTo>
                    <a:pt x="17" y="25"/>
                  </a:lnTo>
                  <a:lnTo>
                    <a:pt x="25" y="22"/>
                  </a:lnTo>
                  <a:lnTo>
                    <a:pt x="39" y="21"/>
                  </a:lnTo>
                  <a:lnTo>
                    <a:pt x="54" y="20"/>
                  </a:lnTo>
                  <a:lnTo>
                    <a:pt x="70" y="19"/>
                  </a:lnTo>
                  <a:lnTo>
                    <a:pt x="85" y="18"/>
                  </a:lnTo>
                  <a:lnTo>
                    <a:pt x="98" y="14"/>
                  </a:lnTo>
                  <a:lnTo>
                    <a:pt x="107" y="4"/>
                  </a:lnTo>
                  <a:lnTo>
                    <a:pt x="94" y="0"/>
                  </a:lnTo>
                  <a:lnTo>
                    <a:pt x="91" y="3"/>
                  </a:lnTo>
                  <a:lnTo>
                    <a:pt x="82" y="5"/>
                  </a:lnTo>
                  <a:lnTo>
                    <a:pt x="69" y="6"/>
                  </a:lnTo>
                  <a:lnTo>
                    <a:pt x="54" y="7"/>
                  </a:lnTo>
                  <a:lnTo>
                    <a:pt x="37" y="8"/>
                  </a:lnTo>
                  <a:lnTo>
                    <a:pt x="22" y="9"/>
                  </a:lnTo>
                  <a:lnTo>
                    <a:pt x="10" y="13"/>
                  </a:lnTo>
                  <a:lnTo>
                    <a:pt x="1" y="23"/>
                  </a:lnTo>
                  <a:lnTo>
                    <a:pt x="15" y="25"/>
                  </a:lnTo>
                  <a:lnTo>
                    <a:pt x="0" y="25"/>
                  </a:lnTo>
                  <a:lnTo>
                    <a:pt x="0" y="65"/>
                  </a:lnTo>
                  <a:lnTo>
                    <a:pt x="14" y="27"/>
                  </a:lnTo>
                  <a:lnTo>
                    <a:pt x="0"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0" name="Freeform 19">
              <a:extLst>
                <a:ext uri="{FF2B5EF4-FFF2-40B4-BE49-F238E27FC236}">
                  <a16:creationId xmlns:a16="http://schemas.microsoft.com/office/drawing/2014/main" id="{8799C46F-F443-DF76-25EF-CDFFC4478977}"/>
                </a:ext>
              </a:extLst>
            </p:cNvPr>
            <p:cNvSpPr>
              <a:spLocks/>
            </p:cNvSpPr>
            <p:nvPr/>
          </p:nvSpPr>
          <p:spPr bwMode="auto">
            <a:xfrm>
              <a:off x="3275" y="2444"/>
              <a:ext cx="25" cy="48"/>
            </a:xfrm>
            <a:custGeom>
              <a:avLst/>
              <a:gdLst>
                <a:gd name="T0" fmla="*/ 609953 w 15"/>
                <a:gd name="T1" fmla="*/ 691 h 42"/>
                <a:gd name="T2" fmla="*/ 0 w 15"/>
                <a:gd name="T3" fmla="*/ 637 h 42"/>
                <a:gd name="T4" fmla="*/ 0 w 15"/>
                <a:gd name="T5" fmla="*/ 671 h 42"/>
                <a:gd name="T6" fmla="*/ 621467 w 15"/>
                <a:gd name="T7" fmla="*/ 671 h 42"/>
                <a:gd name="T8" fmla="*/ 621467 w 15"/>
                <a:gd name="T9" fmla="*/ 637 h 42"/>
                <a:gd name="T10" fmla="*/ 0 w 15"/>
                <a:gd name="T11" fmla="*/ 606 h 42"/>
                <a:gd name="T12" fmla="*/ 621467 w 15"/>
                <a:gd name="T13" fmla="*/ 637 h 42"/>
                <a:gd name="T14" fmla="*/ 621467 w 15"/>
                <a:gd name="T15" fmla="*/ 0 h 42"/>
                <a:gd name="T16" fmla="*/ 0 w 15"/>
                <a:gd name="T17" fmla="*/ 606 h 42"/>
                <a:gd name="T18" fmla="*/ 609953 w 15"/>
                <a:gd name="T19" fmla="*/ 69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2"/>
                <a:gd name="T32" fmla="*/ 15 w 1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2">
                  <a:moveTo>
                    <a:pt x="13" y="41"/>
                  </a:moveTo>
                  <a:lnTo>
                    <a:pt x="0" y="39"/>
                  </a:lnTo>
                  <a:lnTo>
                    <a:pt x="0" y="40"/>
                  </a:lnTo>
                  <a:lnTo>
                    <a:pt x="14" y="40"/>
                  </a:lnTo>
                  <a:lnTo>
                    <a:pt x="14" y="39"/>
                  </a:lnTo>
                  <a:lnTo>
                    <a:pt x="0" y="37"/>
                  </a:lnTo>
                  <a:lnTo>
                    <a:pt x="14" y="39"/>
                  </a:lnTo>
                  <a:lnTo>
                    <a:pt x="14" y="0"/>
                  </a:lnTo>
                  <a:lnTo>
                    <a:pt x="0" y="37"/>
                  </a:lnTo>
                  <a:lnTo>
                    <a:pt x="13" y="4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1" name="Freeform 20">
              <a:extLst>
                <a:ext uri="{FF2B5EF4-FFF2-40B4-BE49-F238E27FC236}">
                  <a16:creationId xmlns:a16="http://schemas.microsoft.com/office/drawing/2014/main" id="{3B934EB7-C396-0006-5FD0-22F42A6E062D}"/>
                </a:ext>
              </a:extLst>
            </p:cNvPr>
            <p:cNvSpPr>
              <a:spLocks/>
            </p:cNvSpPr>
            <p:nvPr/>
          </p:nvSpPr>
          <p:spPr bwMode="auto">
            <a:xfrm>
              <a:off x="3278" y="2487"/>
              <a:ext cx="130" cy="75"/>
            </a:xfrm>
            <a:custGeom>
              <a:avLst/>
              <a:gdLst>
                <a:gd name="T0" fmla="*/ 2718437 w 79"/>
                <a:gd name="T1" fmla="*/ 955 h 66"/>
                <a:gd name="T2" fmla="*/ 2654305 w 79"/>
                <a:gd name="T3" fmla="*/ 768 h 66"/>
                <a:gd name="T4" fmla="*/ 2373138 w 79"/>
                <a:gd name="T5" fmla="*/ 648 h 66"/>
                <a:gd name="T6" fmla="*/ 1930358 w 79"/>
                <a:gd name="T7" fmla="*/ 509 h 66"/>
                <a:gd name="T8" fmla="*/ 1468965 w 79"/>
                <a:gd name="T9" fmla="*/ 394 h 66"/>
                <a:gd name="T10" fmla="*/ 1040012 w 79"/>
                <a:gd name="T11" fmla="*/ 302 h 66"/>
                <a:gd name="T12" fmla="*/ 656503 w 79"/>
                <a:gd name="T13" fmla="*/ 191 h 66"/>
                <a:gd name="T14" fmla="*/ 493266 w 79"/>
                <a:gd name="T15" fmla="*/ 88 h 66"/>
                <a:gd name="T16" fmla="*/ 451334 w 79"/>
                <a:gd name="T17" fmla="*/ 3 h 66"/>
                <a:gd name="T18" fmla="*/ 0 w 79"/>
                <a:gd name="T19" fmla="*/ 0 h 66"/>
                <a:gd name="T20" fmla="*/ 61551 w 79"/>
                <a:gd name="T21" fmla="*/ 191 h 66"/>
                <a:gd name="T22" fmla="*/ 339473 w 79"/>
                <a:gd name="T23" fmla="*/ 343 h 66"/>
                <a:gd name="T24" fmla="*/ 760939 w 79"/>
                <a:gd name="T25" fmla="*/ 448 h 66"/>
                <a:gd name="T26" fmla="*/ 1252178 w 79"/>
                <a:gd name="T27" fmla="*/ 572 h 66"/>
                <a:gd name="T28" fmla="*/ 1711412 w 79"/>
                <a:gd name="T29" fmla="*/ 665 h 66"/>
                <a:gd name="T30" fmla="*/ 2060546 w 79"/>
                <a:gd name="T31" fmla="*/ 768 h 66"/>
                <a:gd name="T32" fmla="*/ 2231208 w 79"/>
                <a:gd name="T33" fmla="*/ 859 h 66"/>
                <a:gd name="T34" fmla="*/ 2269433 w 79"/>
                <a:gd name="T35" fmla="*/ 891 h 66"/>
                <a:gd name="T36" fmla="*/ 2718437 w 79"/>
                <a:gd name="T37" fmla="*/ 95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20"/>
                  </a:lnTo>
                  <a:lnTo>
                    <a:pt x="19" y="13"/>
                  </a:lnTo>
                  <a:lnTo>
                    <a:pt x="14" y="6"/>
                  </a:lnTo>
                  <a:lnTo>
                    <a:pt x="13" y="3"/>
                  </a:lnTo>
                  <a:lnTo>
                    <a:pt x="0" y="0"/>
                  </a:lnTo>
                  <a:lnTo>
                    <a:pt x="2" y="13"/>
                  </a:lnTo>
                  <a:lnTo>
                    <a:pt x="10" y="23"/>
                  </a:lnTo>
                  <a:lnTo>
                    <a:pt x="22" y="31"/>
                  </a:lnTo>
                  <a:lnTo>
                    <a:pt x="36" y="39"/>
                  </a:lnTo>
                  <a:lnTo>
                    <a:pt x="49" y="46"/>
                  </a:lnTo>
                  <a:lnTo>
                    <a:pt x="59" y="53"/>
                  </a:lnTo>
                  <a:lnTo>
                    <a:pt x="64"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2" name="Freeform 21">
              <a:extLst>
                <a:ext uri="{FF2B5EF4-FFF2-40B4-BE49-F238E27FC236}">
                  <a16:creationId xmlns:a16="http://schemas.microsoft.com/office/drawing/2014/main" id="{22F227C4-3689-D475-BCD6-293D86C12F20}"/>
                </a:ext>
              </a:extLst>
            </p:cNvPr>
            <p:cNvSpPr>
              <a:spLocks/>
            </p:cNvSpPr>
            <p:nvPr/>
          </p:nvSpPr>
          <p:spPr bwMode="auto">
            <a:xfrm>
              <a:off x="3232" y="255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445 h 25"/>
                <a:gd name="T10" fmla="*/ 2374059 w 107"/>
                <a:gd name="T11" fmla="*/ 394 h 25"/>
                <a:gd name="T12" fmla="*/ 2899460 w 107"/>
                <a:gd name="T13" fmla="*/ 392 h 25"/>
                <a:gd name="T14" fmla="*/ 3324719 w 107"/>
                <a:gd name="T15" fmla="*/ 291 h 25"/>
                <a:gd name="T16" fmla="*/ 3649694 w 107"/>
                <a:gd name="T17" fmla="*/ 101 h 25"/>
                <a:gd name="T18" fmla="*/ 3223782 w 107"/>
                <a:gd name="T19" fmla="*/ 0 h 25"/>
                <a:gd name="T20" fmla="*/ 3107351 w 107"/>
                <a:gd name="T21" fmla="*/ 2 h 25"/>
                <a:gd name="T22" fmla="*/ 2833329 w 107"/>
                <a:gd name="T23" fmla="*/ 101 h 25"/>
                <a:gd name="T24" fmla="*/ 2374059 w 107"/>
                <a:gd name="T25" fmla="*/ 117 h 25"/>
                <a:gd name="T26" fmla="*/ 1829721 w 107"/>
                <a:gd name="T27" fmla="*/ 101 h 25"/>
                <a:gd name="T28" fmla="*/ 1274250 w 107"/>
                <a:gd name="T29" fmla="*/ 117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9"/>
                  </a:lnTo>
                  <a:lnTo>
                    <a:pt x="69" y="18"/>
                  </a:lnTo>
                  <a:lnTo>
                    <a:pt x="84" y="17"/>
                  </a:lnTo>
                  <a:lnTo>
                    <a:pt x="96" y="13"/>
                  </a:lnTo>
                  <a:lnTo>
                    <a:pt x="106" y="4"/>
                  </a:lnTo>
                  <a:lnTo>
                    <a:pt x="93" y="0"/>
                  </a:lnTo>
                  <a:lnTo>
                    <a:pt x="90" y="2"/>
                  </a:lnTo>
                  <a:lnTo>
                    <a:pt x="82" y="4"/>
                  </a:lnTo>
                  <a:lnTo>
                    <a:pt x="69" y="5"/>
                  </a:lnTo>
                  <a:lnTo>
                    <a:pt x="53" y="4"/>
                  </a:lnTo>
                  <a:lnTo>
                    <a:pt x="37"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3" name="Freeform 22">
              <a:extLst>
                <a:ext uri="{FF2B5EF4-FFF2-40B4-BE49-F238E27FC236}">
                  <a16:creationId xmlns:a16="http://schemas.microsoft.com/office/drawing/2014/main" id="{69CC7842-81B4-13C5-F7FC-5EA6BD217F63}"/>
                </a:ext>
              </a:extLst>
            </p:cNvPr>
            <p:cNvSpPr>
              <a:spLocks/>
            </p:cNvSpPr>
            <p:nvPr/>
          </p:nvSpPr>
          <p:spPr bwMode="auto">
            <a:xfrm>
              <a:off x="3232" y="2580"/>
              <a:ext cx="131" cy="78"/>
            </a:xfrm>
            <a:custGeom>
              <a:avLst/>
              <a:gdLst>
                <a:gd name="T0" fmla="*/ 2480706 w 80"/>
                <a:gd name="T1" fmla="*/ 1621 h 67"/>
                <a:gd name="T2" fmla="*/ 2480706 w 80"/>
                <a:gd name="T3" fmla="*/ 1587 h 67"/>
                <a:gd name="T4" fmla="*/ 2415525 w 80"/>
                <a:gd name="T5" fmla="*/ 1299 h 67"/>
                <a:gd name="T6" fmla="*/ 2134954 w 80"/>
                <a:gd name="T7" fmla="*/ 1056 h 67"/>
                <a:gd name="T8" fmla="*/ 1769243 w 80"/>
                <a:gd name="T9" fmla="*/ 864 h 67"/>
                <a:gd name="T10" fmla="*/ 1325320 w 80"/>
                <a:gd name="T11" fmla="*/ 672 h 67"/>
                <a:gd name="T12" fmla="*/ 939702 w 80"/>
                <a:gd name="T13" fmla="*/ 480 h 67"/>
                <a:gd name="T14" fmla="*/ 630154 w 80"/>
                <a:gd name="T15" fmla="*/ 304 h 67"/>
                <a:gd name="T16" fmla="*/ 445495 w 80"/>
                <a:gd name="T17" fmla="*/ 139 h 67"/>
                <a:gd name="T18" fmla="*/ 402943 w 80"/>
                <a:gd name="T19" fmla="*/ 102 h 67"/>
                <a:gd name="T20" fmla="*/ 0 w 80"/>
                <a:gd name="T21" fmla="*/ 0 h 67"/>
                <a:gd name="T22" fmla="*/ 56043 w 80"/>
                <a:gd name="T23" fmla="*/ 304 h 67"/>
                <a:gd name="T24" fmla="*/ 335959 w 80"/>
                <a:gd name="T25" fmla="*/ 559 h 67"/>
                <a:gd name="T26" fmla="*/ 695772 w 80"/>
                <a:gd name="T27" fmla="*/ 779 h 67"/>
                <a:gd name="T28" fmla="*/ 1139327 w 80"/>
                <a:gd name="T29" fmla="*/ 984 h 67"/>
                <a:gd name="T30" fmla="*/ 1571389 w 80"/>
                <a:gd name="T31" fmla="*/ 1146 h 67"/>
                <a:gd name="T32" fmla="*/ 1865648 w 80"/>
                <a:gd name="T33" fmla="*/ 1318 h 67"/>
                <a:gd name="T34" fmla="*/ 2045165 w 80"/>
                <a:gd name="T35" fmla="*/ 1442 h 67"/>
                <a:gd name="T36" fmla="*/ 2079299 w 80"/>
                <a:gd name="T37" fmla="*/ 1512 h 67"/>
                <a:gd name="T38" fmla="*/ 2079299 w 80"/>
                <a:gd name="T39" fmla="*/ 1501 h 67"/>
                <a:gd name="T40" fmla="*/ 2480706 w 80"/>
                <a:gd name="T41" fmla="*/ 1621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1" y="23"/>
                  </a:lnTo>
                  <a:lnTo>
                    <a:pt x="22" y="32"/>
                  </a:lnTo>
                  <a:lnTo>
                    <a:pt x="36" y="40"/>
                  </a:lnTo>
                  <a:lnTo>
                    <a:pt x="50"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4" name="Freeform 23">
              <a:extLst>
                <a:ext uri="{FF2B5EF4-FFF2-40B4-BE49-F238E27FC236}">
                  <a16:creationId xmlns:a16="http://schemas.microsoft.com/office/drawing/2014/main" id="{EFF37DBC-C013-AF25-A64B-8B4D65FBC966}"/>
                </a:ext>
              </a:extLst>
            </p:cNvPr>
            <p:cNvSpPr>
              <a:spLocks/>
            </p:cNvSpPr>
            <p:nvPr/>
          </p:nvSpPr>
          <p:spPr bwMode="auto">
            <a:xfrm>
              <a:off x="3187" y="2650"/>
              <a:ext cx="176" cy="25"/>
            </a:xfrm>
            <a:custGeom>
              <a:avLst/>
              <a:gdLst>
                <a:gd name="T0" fmla="*/ 490278 w 107"/>
                <a:gd name="T1" fmla="*/ 714 h 21"/>
                <a:gd name="T2" fmla="*/ 448956 w 107"/>
                <a:gd name="T3" fmla="*/ 813 h 21"/>
                <a:gd name="T4" fmla="*/ 520021 w 107"/>
                <a:gd name="T5" fmla="*/ 813 h 21"/>
                <a:gd name="T6" fmla="*/ 806439 w 107"/>
                <a:gd name="T7" fmla="*/ 714 h 21"/>
                <a:gd name="T8" fmla="*/ 1274250 w 107"/>
                <a:gd name="T9" fmla="*/ 714 h 21"/>
                <a:gd name="T10" fmla="*/ 1803036 w 107"/>
                <a:gd name="T11" fmla="*/ 727 h 21"/>
                <a:gd name="T12" fmla="*/ 2351955 w 107"/>
                <a:gd name="T13" fmla="*/ 714 h 21"/>
                <a:gd name="T14" fmla="*/ 2899460 w 107"/>
                <a:gd name="T15" fmla="*/ 683 h 21"/>
                <a:gd name="T16" fmla="*/ 3361858 w 107"/>
                <a:gd name="T17" fmla="*/ 574 h 21"/>
                <a:gd name="T18" fmla="*/ 3649694 w 107"/>
                <a:gd name="T19" fmla="*/ 202 h 21"/>
                <a:gd name="T20" fmla="*/ 3223782 w 107"/>
                <a:gd name="T21" fmla="*/ 0 h 21"/>
                <a:gd name="T22" fmla="*/ 3107351 w 107"/>
                <a:gd name="T23" fmla="*/ 143 h 21"/>
                <a:gd name="T24" fmla="*/ 2796262 w 107"/>
                <a:gd name="T25" fmla="*/ 170 h 21"/>
                <a:gd name="T26" fmla="*/ 2351955 w 107"/>
                <a:gd name="T27" fmla="*/ 240 h 21"/>
                <a:gd name="T28" fmla="*/ 1803036 w 107"/>
                <a:gd name="T29" fmla="*/ 202 h 21"/>
                <a:gd name="T30" fmla="*/ 1274250 w 107"/>
                <a:gd name="T31" fmla="*/ 170 h 21"/>
                <a:gd name="T32" fmla="*/ 755427 w 107"/>
                <a:gd name="T33" fmla="*/ 240 h 21"/>
                <a:gd name="T34" fmla="*/ 335377 w 107"/>
                <a:gd name="T35" fmla="*/ 340 h 21"/>
                <a:gd name="T36" fmla="*/ 37287 w 107"/>
                <a:gd name="T37" fmla="*/ 611 h 21"/>
                <a:gd name="T38" fmla="*/ 0 w 107"/>
                <a:gd name="T39" fmla="*/ 714 h 21"/>
                <a:gd name="T40" fmla="*/ 37287 w 107"/>
                <a:gd name="T41" fmla="*/ 611 h 21"/>
                <a:gd name="T42" fmla="*/ 0 w 107"/>
                <a:gd name="T43" fmla="*/ 611 h 21"/>
                <a:gd name="T44" fmla="*/ 0 w 107"/>
                <a:gd name="T45" fmla="*/ 714 h 21"/>
                <a:gd name="T46" fmla="*/ 490278 w 107"/>
                <a:gd name="T47" fmla="*/ 714 h 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7"/>
                <a:gd name="T73" fmla="*/ 0 h 21"/>
                <a:gd name="T74" fmla="*/ 107 w 107"/>
                <a:gd name="T75" fmla="*/ 21 h 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7" h="21">
                  <a:moveTo>
                    <a:pt x="14" y="18"/>
                  </a:moveTo>
                  <a:lnTo>
                    <a:pt x="13" y="20"/>
                  </a:lnTo>
                  <a:lnTo>
                    <a:pt x="15" y="20"/>
                  </a:lnTo>
                  <a:lnTo>
                    <a:pt x="23" y="18"/>
                  </a:lnTo>
                  <a:lnTo>
                    <a:pt x="37" y="18"/>
                  </a:lnTo>
                  <a:lnTo>
                    <a:pt x="52" y="19"/>
                  </a:lnTo>
                  <a:lnTo>
                    <a:pt x="68" y="18"/>
                  </a:lnTo>
                  <a:lnTo>
                    <a:pt x="84" y="17"/>
                  </a:lnTo>
                  <a:lnTo>
                    <a:pt x="97" y="14"/>
                  </a:lnTo>
                  <a:lnTo>
                    <a:pt x="106" y="5"/>
                  </a:lnTo>
                  <a:lnTo>
                    <a:pt x="93" y="0"/>
                  </a:lnTo>
                  <a:lnTo>
                    <a:pt x="90" y="3"/>
                  </a:lnTo>
                  <a:lnTo>
                    <a:pt x="81" y="4"/>
                  </a:lnTo>
                  <a:lnTo>
                    <a:pt x="68" y="6"/>
                  </a:lnTo>
                  <a:lnTo>
                    <a:pt x="52" y="5"/>
                  </a:lnTo>
                  <a:lnTo>
                    <a:pt x="37" y="4"/>
                  </a:lnTo>
                  <a:lnTo>
                    <a:pt x="22" y="6"/>
                  </a:lnTo>
                  <a:lnTo>
                    <a:pt x="10" y="8"/>
                  </a:lnTo>
                  <a:lnTo>
                    <a:pt x="1" y="16"/>
                  </a:lnTo>
                  <a:lnTo>
                    <a:pt x="0" y="18"/>
                  </a:lnTo>
                  <a:lnTo>
                    <a:pt x="1" y="16"/>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5" name="Freeform 24">
              <a:extLst>
                <a:ext uri="{FF2B5EF4-FFF2-40B4-BE49-F238E27FC236}">
                  <a16:creationId xmlns:a16="http://schemas.microsoft.com/office/drawing/2014/main" id="{A14E6505-5503-57DA-4468-E1E346473540}"/>
                </a:ext>
              </a:extLst>
            </p:cNvPr>
            <p:cNvSpPr>
              <a:spLocks/>
            </p:cNvSpPr>
            <p:nvPr/>
          </p:nvSpPr>
          <p:spPr bwMode="auto">
            <a:xfrm>
              <a:off x="3187" y="2671"/>
              <a:ext cx="24" cy="6"/>
            </a:xfrm>
            <a:custGeom>
              <a:avLst/>
              <a:gdLst>
                <a:gd name="T0" fmla="*/ 255066 w 15"/>
                <a:gd name="T1" fmla="*/ 5 h 6"/>
                <a:gd name="T2" fmla="*/ 265134 w 15"/>
                <a:gd name="T3" fmla="*/ 2 h 6"/>
                <a:gd name="T4" fmla="*/ 265134 w 15"/>
                <a:gd name="T5" fmla="*/ 1 h 6"/>
                <a:gd name="T6" fmla="*/ 0 w 15"/>
                <a:gd name="T7" fmla="*/ 1 h 6"/>
                <a:gd name="T8" fmla="*/ 0 w 15"/>
                <a:gd name="T9" fmla="*/ 2 h 6"/>
                <a:gd name="T10" fmla="*/ 24325 w 15"/>
                <a:gd name="T11" fmla="*/ 0 h 6"/>
                <a:gd name="T12" fmla="*/ 255066 w 15"/>
                <a:gd name="T13" fmla="*/ 5 h 6"/>
                <a:gd name="T14" fmla="*/ 265134 w 15"/>
                <a:gd name="T15" fmla="*/ 4 h 6"/>
                <a:gd name="T16" fmla="*/ 265134 w 15"/>
                <a:gd name="T17" fmla="*/ 2 h 6"/>
                <a:gd name="T18" fmla="*/ 255066 w 15"/>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
                <a:gd name="T32" fmla="*/ 15 w 1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
                  <a:moveTo>
                    <a:pt x="13" y="5"/>
                  </a:moveTo>
                  <a:lnTo>
                    <a:pt x="14" y="2"/>
                  </a:lnTo>
                  <a:lnTo>
                    <a:pt x="14" y="1"/>
                  </a:lnTo>
                  <a:lnTo>
                    <a:pt x="0" y="1"/>
                  </a:lnTo>
                  <a:lnTo>
                    <a:pt x="0" y="2"/>
                  </a:lnTo>
                  <a:lnTo>
                    <a:pt x="1"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6" name="Freeform 25">
              <a:extLst>
                <a:ext uri="{FF2B5EF4-FFF2-40B4-BE49-F238E27FC236}">
                  <a16:creationId xmlns:a16="http://schemas.microsoft.com/office/drawing/2014/main" id="{BE32BA3E-8ED8-796A-6F2E-95EEA9820D9E}"/>
                </a:ext>
              </a:extLst>
            </p:cNvPr>
            <p:cNvSpPr>
              <a:spLocks/>
            </p:cNvSpPr>
            <p:nvPr/>
          </p:nvSpPr>
          <p:spPr bwMode="auto">
            <a:xfrm>
              <a:off x="3189" y="2671"/>
              <a:ext cx="128" cy="76"/>
            </a:xfrm>
            <a:custGeom>
              <a:avLst/>
              <a:gdLst>
                <a:gd name="T0" fmla="*/ 2532882 w 78"/>
                <a:gd name="T1" fmla="*/ 932 h 67"/>
                <a:gd name="T2" fmla="*/ 2464373 w 78"/>
                <a:gd name="T3" fmla="*/ 740 h 67"/>
                <a:gd name="T4" fmla="*/ 2209400 w 78"/>
                <a:gd name="T5" fmla="*/ 620 h 67"/>
                <a:gd name="T6" fmla="*/ 1812188 w 78"/>
                <a:gd name="T7" fmla="*/ 491 h 67"/>
                <a:gd name="T8" fmla="*/ 1380721 w 78"/>
                <a:gd name="T9" fmla="*/ 348 h 67"/>
                <a:gd name="T10" fmla="*/ 967606 w 78"/>
                <a:gd name="T11" fmla="*/ 270 h 67"/>
                <a:gd name="T12" fmla="*/ 625104 w 78"/>
                <a:gd name="T13" fmla="*/ 164 h 67"/>
                <a:gd name="T14" fmla="*/ 418066 w 78"/>
                <a:gd name="T15" fmla="*/ 78 h 67"/>
                <a:gd name="T16" fmla="*/ 405022 w 78"/>
                <a:gd name="T17" fmla="*/ 69 h 67"/>
                <a:gd name="T18" fmla="*/ 0 w 78"/>
                <a:gd name="T19" fmla="*/ 0 h 67"/>
                <a:gd name="T20" fmla="*/ 35129 w 78"/>
                <a:gd name="T21" fmla="*/ 185 h 67"/>
                <a:gd name="T22" fmla="*/ 323513 w 78"/>
                <a:gd name="T23" fmla="*/ 306 h 67"/>
                <a:gd name="T24" fmla="*/ 720891 w 78"/>
                <a:gd name="T25" fmla="*/ 433 h 67"/>
                <a:gd name="T26" fmla="*/ 1148299 w 78"/>
                <a:gd name="T27" fmla="*/ 547 h 67"/>
                <a:gd name="T28" fmla="*/ 1587866 w 78"/>
                <a:gd name="T29" fmla="*/ 650 h 67"/>
                <a:gd name="T30" fmla="*/ 1906471 w 78"/>
                <a:gd name="T31" fmla="*/ 740 h 67"/>
                <a:gd name="T32" fmla="*/ 2066934 w 78"/>
                <a:gd name="T33" fmla="*/ 839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29" y="19"/>
                  </a:lnTo>
                  <a:lnTo>
                    <a:pt x="19" y="12"/>
                  </a:lnTo>
                  <a:lnTo>
                    <a:pt x="13" y="6"/>
                  </a:lnTo>
                  <a:lnTo>
                    <a:pt x="12" y="5"/>
                  </a:lnTo>
                  <a:lnTo>
                    <a:pt x="0" y="0"/>
                  </a:lnTo>
                  <a:lnTo>
                    <a:pt x="1" y="13"/>
                  </a:lnTo>
                  <a:lnTo>
                    <a:pt x="10" y="22"/>
                  </a:lnTo>
                  <a:lnTo>
                    <a:pt x="22" y="30"/>
                  </a:lnTo>
                  <a:lnTo>
                    <a:pt x="35" y="38"/>
                  </a:lnTo>
                  <a:lnTo>
                    <a:pt x="48" y="46"/>
                  </a:lnTo>
                  <a:lnTo>
                    <a:pt x="58" y="53"/>
                  </a:lnTo>
                  <a:lnTo>
                    <a:pt x="63"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7" name="Freeform 26">
              <a:extLst>
                <a:ext uri="{FF2B5EF4-FFF2-40B4-BE49-F238E27FC236}">
                  <a16:creationId xmlns:a16="http://schemas.microsoft.com/office/drawing/2014/main" id="{925CF317-D5D9-0AA8-CDD1-7C9BFFA0E537}"/>
                </a:ext>
              </a:extLst>
            </p:cNvPr>
            <p:cNvSpPr>
              <a:spLocks/>
            </p:cNvSpPr>
            <p:nvPr/>
          </p:nvSpPr>
          <p:spPr bwMode="auto">
            <a:xfrm>
              <a:off x="3141" y="2742"/>
              <a:ext cx="176" cy="29"/>
            </a:xfrm>
            <a:custGeom>
              <a:avLst/>
              <a:gdLst>
                <a:gd name="T0" fmla="*/ 448956 w 107"/>
                <a:gd name="T1" fmla="*/ 530 h 25"/>
                <a:gd name="T2" fmla="*/ 520021 w 107"/>
                <a:gd name="T3" fmla="*/ 516 h 25"/>
                <a:gd name="T4" fmla="*/ 818282 w 107"/>
                <a:gd name="T5" fmla="*/ 455 h 25"/>
                <a:gd name="T6" fmla="*/ 1274250 w 107"/>
                <a:gd name="T7" fmla="*/ 445 h 25"/>
                <a:gd name="T8" fmla="*/ 1829721 w 107"/>
                <a:gd name="T9" fmla="*/ 445 h 25"/>
                <a:gd name="T10" fmla="*/ 2374059 w 107"/>
                <a:gd name="T11" fmla="*/ 445 h 25"/>
                <a:gd name="T12" fmla="*/ 2899460 w 107"/>
                <a:gd name="T13" fmla="*/ 392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36 h 25"/>
                <a:gd name="T26" fmla="*/ 1829721 w 107"/>
                <a:gd name="T27" fmla="*/ 117 h 25"/>
                <a:gd name="T28" fmla="*/ 1274250 w 107"/>
                <a:gd name="T29" fmla="*/ 136 h 25"/>
                <a:gd name="T30" fmla="*/ 738470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20"/>
                  </a:lnTo>
                  <a:lnTo>
                    <a:pt x="37" y="19"/>
                  </a:lnTo>
                  <a:lnTo>
                    <a:pt x="53" y="19"/>
                  </a:lnTo>
                  <a:lnTo>
                    <a:pt x="69" y="19"/>
                  </a:lnTo>
                  <a:lnTo>
                    <a:pt x="84" y="17"/>
                  </a:lnTo>
                  <a:lnTo>
                    <a:pt x="97" y="13"/>
                  </a:lnTo>
                  <a:lnTo>
                    <a:pt x="106" y="4"/>
                  </a:lnTo>
                  <a:lnTo>
                    <a:pt x="93" y="0"/>
                  </a:lnTo>
                  <a:lnTo>
                    <a:pt x="91" y="2"/>
                  </a:lnTo>
                  <a:lnTo>
                    <a:pt x="82" y="4"/>
                  </a:lnTo>
                  <a:lnTo>
                    <a:pt x="69" y="6"/>
                  </a:lnTo>
                  <a:lnTo>
                    <a:pt x="53" y="5"/>
                  </a:lnTo>
                  <a:lnTo>
                    <a:pt x="37" y="6"/>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8" name="Freeform 27">
              <a:extLst>
                <a:ext uri="{FF2B5EF4-FFF2-40B4-BE49-F238E27FC236}">
                  <a16:creationId xmlns:a16="http://schemas.microsoft.com/office/drawing/2014/main" id="{37032F86-F6EB-7106-58B5-23C3D996E336}"/>
                </a:ext>
              </a:extLst>
            </p:cNvPr>
            <p:cNvSpPr>
              <a:spLocks/>
            </p:cNvSpPr>
            <p:nvPr/>
          </p:nvSpPr>
          <p:spPr bwMode="auto">
            <a:xfrm>
              <a:off x="3141" y="2764"/>
              <a:ext cx="130" cy="77"/>
            </a:xfrm>
            <a:custGeom>
              <a:avLst/>
              <a:gdLst>
                <a:gd name="T0" fmla="*/ 2718437 w 79"/>
                <a:gd name="T1" fmla="*/ 1675 h 66"/>
                <a:gd name="T2" fmla="*/ 2654305 w 79"/>
                <a:gd name="T3" fmla="*/ 1341 h 66"/>
                <a:gd name="T4" fmla="*/ 2373138 w 79"/>
                <a:gd name="T5" fmla="*/ 1075 h 66"/>
                <a:gd name="T6" fmla="*/ 1939821 w 79"/>
                <a:gd name="T7" fmla="*/ 889 h 66"/>
                <a:gd name="T8" fmla="*/ 1512703 w 79"/>
                <a:gd name="T9" fmla="*/ 664 h 66"/>
                <a:gd name="T10" fmla="*/ 1017350 w 79"/>
                <a:gd name="T11" fmla="*/ 470 h 66"/>
                <a:gd name="T12" fmla="*/ 656503 w 79"/>
                <a:gd name="T13" fmla="*/ 307 h 66"/>
                <a:gd name="T14" fmla="*/ 451334 w 79"/>
                <a:gd name="T15" fmla="*/ 141 h 66"/>
                <a:gd name="T16" fmla="*/ 451334 w 79"/>
                <a:gd name="T17" fmla="*/ 120 h 66"/>
                <a:gd name="T18" fmla="*/ 0 w 79"/>
                <a:gd name="T19" fmla="*/ 0 h 66"/>
                <a:gd name="T20" fmla="*/ 61551 w 79"/>
                <a:gd name="T21" fmla="*/ 307 h 66"/>
                <a:gd name="T22" fmla="*/ 339473 w 79"/>
                <a:gd name="T23" fmla="*/ 569 h 66"/>
                <a:gd name="T24" fmla="*/ 811704 w 79"/>
                <a:gd name="T25" fmla="*/ 775 h 66"/>
                <a:gd name="T26" fmla="*/ 1252178 w 79"/>
                <a:gd name="T27" fmla="*/ 930 h 66"/>
                <a:gd name="T28" fmla="*/ 1674120 w 79"/>
                <a:gd name="T29" fmla="*/ 1149 h 66"/>
                <a:gd name="T30" fmla="*/ 2060546 w 79"/>
                <a:gd name="T31" fmla="*/ 1341 h 66"/>
                <a:gd name="T32" fmla="*/ 2269433 w 79"/>
                <a:gd name="T33" fmla="*/ 1477 h 66"/>
                <a:gd name="T34" fmla="*/ 2269433 w 79"/>
                <a:gd name="T35" fmla="*/ 1565 h 66"/>
                <a:gd name="T36" fmla="*/ 2718437 w 79"/>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2"/>
                  </a:lnTo>
                  <a:lnTo>
                    <a:pt x="56" y="34"/>
                  </a:lnTo>
                  <a:lnTo>
                    <a:pt x="43" y="26"/>
                  </a:lnTo>
                  <a:lnTo>
                    <a:pt x="29" y="18"/>
                  </a:lnTo>
                  <a:lnTo>
                    <a:pt x="19" y="12"/>
                  </a:lnTo>
                  <a:lnTo>
                    <a:pt x="13" y="6"/>
                  </a:lnTo>
                  <a:lnTo>
                    <a:pt x="13" y="4"/>
                  </a:lnTo>
                  <a:lnTo>
                    <a:pt x="0" y="0"/>
                  </a:lnTo>
                  <a:lnTo>
                    <a:pt x="2" y="12"/>
                  </a:lnTo>
                  <a:lnTo>
                    <a:pt x="10" y="22"/>
                  </a:lnTo>
                  <a:lnTo>
                    <a:pt x="23" y="30"/>
                  </a:lnTo>
                  <a:lnTo>
                    <a:pt x="36" y="37"/>
                  </a:lnTo>
                  <a:lnTo>
                    <a:pt x="48" y="45"/>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49" name="Freeform 28">
              <a:extLst>
                <a:ext uri="{FF2B5EF4-FFF2-40B4-BE49-F238E27FC236}">
                  <a16:creationId xmlns:a16="http://schemas.microsoft.com/office/drawing/2014/main" id="{97A42F4E-93F2-4BC9-4F36-BEF3F4A906F2}"/>
                </a:ext>
              </a:extLst>
            </p:cNvPr>
            <p:cNvSpPr>
              <a:spLocks/>
            </p:cNvSpPr>
            <p:nvPr/>
          </p:nvSpPr>
          <p:spPr bwMode="auto">
            <a:xfrm>
              <a:off x="3095" y="2835"/>
              <a:ext cx="176" cy="29"/>
            </a:xfrm>
            <a:custGeom>
              <a:avLst/>
              <a:gdLst>
                <a:gd name="T0" fmla="*/ 448956 w 107"/>
                <a:gd name="T1" fmla="*/ 254 h 26"/>
                <a:gd name="T2" fmla="*/ 520021 w 107"/>
                <a:gd name="T3" fmla="*/ 229 h 26"/>
                <a:gd name="T4" fmla="*/ 85536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56192 w 107"/>
                <a:gd name="T21" fmla="*/ 2 h 26"/>
                <a:gd name="T22" fmla="*/ 2833329 w 107"/>
                <a:gd name="T23" fmla="*/ 56 h 26"/>
                <a:gd name="T24" fmla="*/ 2374059 w 107"/>
                <a:gd name="T25" fmla="*/ 62 h 26"/>
                <a:gd name="T26" fmla="*/ 1829721 w 107"/>
                <a:gd name="T27" fmla="*/ 62 h 26"/>
                <a:gd name="T28" fmla="*/ 1274250 w 107"/>
                <a:gd name="T29" fmla="*/ 62 h 26"/>
                <a:gd name="T30" fmla="*/ 755427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5" y="21"/>
                  </a:lnTo>
                  <a:lnTo>
                    <a:pt x="37" y="19"/>
                  </a:lnTo>
                  <a:lnTo>
                    <a:pt x="53" y="20"/>
                  </a:lnTo>
                  <a:lnTo>
                    <a:pt x="69" y="19"/>
                  </a:lnTo>
                  <a:lnTo>
                    <a:pt x="84" y="18"/>
                  </a:lnTo>
                  <a:lnTo>
                    <a:pt x="97" y="14"/>
                  </a:lnTo>
                  <a:lnTo>
                    <a:pt x="106" y="4"/>
                  </a:lnTo>
                  <a:lnTo>
                    <a:pt x="93" y="0"/>
                  </a:lnTo>
                  <a:lnTo>
                    <a:pt x="91" y="2"/>
                  </a:lnTo>
                  <a:lnTo>
                    <a:pt x="82" y="5"/>
                  </a:lnTo>
                  <a:lnTo>
                    <a:pt x="69" y="6"/>
                  </a:lnTo>
                  <a:lnTo>
                    <a:pt x="53" y="6"/>
                  </a:lnTo>
                  <a:lnTo>
                    <a:pt x="37" y="6"/>
                  </a:lnTo>
                  <a:lnTo>
                    <a:pt x="22"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0" name="Freeform 29">
              <a:extLst>
                <a:ext uri="{FF2B5EF4-FFF2-40B4-BE49-F238E27FC236}">
                  <a16:creationId xmlns:a16="http://schemas.microsoft.com/office/drawing/2014/main" id="{8A81F6D0-386A-937A-066F-5A23D087237C}"/>
                </a:ext>
              </a:extLst>
            </p:cNvPr>
            <p:cNvSpPr>
              <a:spLocks/>
            </p:cNvSpPr>
            <p:nvPr/>
          </p:nvSpPr>
          <p:spPr bwMode="auto">
            <a:xfrm>
              <a:off x="3095" y="2859"/>
              <a:ext cx="132" cy="115"/>
            </a:xfrm>
            <a:custGeom>
              <a:avLst/>
              <a:gdLst>
                <a:gd name="T0" fmla="*/ 2480000 w 80"/>
                <a:gd name="T1" fmla="*/ 1061 h 100"/>
                <a:gd name="T2" fmla="*/ 2918860 w 80"/>
                <a:gd name="T3" fmla="*/ 1143 h 100"/>
                <a:gd name="T4" fmla="*/ 2882474 w 80"/>
                <a:gd name="T5" fmla="*/ 890 h 100"/>
                <a:gd name="T6" fmla="*/ 2549819 w 80"/>
                <a:gd name="T7" fmla="*/ 747 h 100"/>
                <a:gd name="T8" fmla="*/ 2062134 w 80"/>
                <a:gd name="T9" fmla="*/ 580 h 100"/>
                <a:gd name="T10" fmla="*/ 1584345 w 80"/>
                <a:gd name="T11" fmla="*/ 459 h 100"/>
                <a:gd name="T12" fmla="*/ 1100611 w 80"/>
                <a:gd name="T13" fmla="*/ 325 h 100"/>
                <a:gd name="T14" fmla="*/ 692147 w 80"/>
                <a:gd name="T15" fmla="*/ 214 h 100"/>
                <a:gd name="T16" fmla="*/ 477527 w 80"/>
                <a:gd name="T17" fmla="*/ 113 h 100"/>
                <a:gd name="T18" fmla="*/ 477527 w 80"/>
                <a:gd name="T19" fmla="*/ 85 h 100"/>
                <a:gd name="T20" fmla="*/ 0 w 80"/>
                <a:gd name="T21" fmla="*/ 0 h 100"/>
                <a:gd name="T22" fmla="*/ 64426 w 80"/>
                <a:gd name="T23" fmla="*/ 229 h 100"/>
                <a:gd name="T24" fmla="*/ 404265 w 80"/>
                <a:gd name="T25" fmla="*/ 399 h 100"/>
                <a:gd name="T26" fmla="*/ 858058 w 80"/>
                <a:gd name="T27" fmla="*/ 528 h 100"/>
                <a:gd name="T28" fmla="*/ 1373354 w 80"/>
                <a:gd name="T29" fmla="*/ 653 h 100"/>
                <a:gd name="T30" fmla="*/ 1832330 w 80"/>
                <a:gd name="T31" fmla="*/ 803 h 100"/>
                <a:gd name="T32" fmla="*/ 2211957 w 80"/>
                <a:gd name="T33" fmla="*/ 923 h 100"/>
                <a:gd name="T34" fmla="*/ 2442464 w 80"/>
                <a:gd name="T35" fmla="*/ 1023 h 100"/>
                <a:gd name="T36" fmla="*/ 2442464 w 80"/>
                <a:gd name="T37" fmla="*/ 1076 h 100"/>
                <a:gd name="T38" fmla="*/ 2882474 w 80"/>
                <a:gd name="T39" fmla="*/ 1176 h 100"/>
                <a:gd name="T40" fmla="*/ 2442464 w 80"/>
                <a:gd name="T41" fmla="*/ 1076 h 100"/>
                <a:gd name="T42" fmla="*/ 1922549 w 80"/>
                <a:gd name="T43" fmla="*/ 1879 h 100"/>
                <a:gd name="T44" fmla="*/ 2882474 w 80"/>
                <a:gd name="T45" fmla="*/ 1176 h 100"/>
                <a:gd name="T46" fmla="*/ 2480000 w 80"/>
                <a:gd name="T47" fmla="*/ 1061 h 1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100"/>
                <a:gd name="T74" fmla="*/ 80 w 80"/>
                <a:gd name="T75" fmla="*/ 100 h 1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100">
                  <a:moveTo>
                    <a:pt x="67" y="56"/>
                  </a:moveTo>
                  <a:lnTo>
                    <a:pt x="79" y="61"/>
                  </a:lnTo>
                  <a:lnTo>
                    <a:pt x="78" y="48"/>
                  </a:lnTo>
                  <a:lnTo>
                    <a:pt x="69" y="39"/>
                  </a:lnTo>
                  <a:lnTo>
                    <a:pt x="56" y="31"/>
                  </a:lnTo>
                  <a:lnTo>
                    <a:pt x="43" y="24"/>
                  </a:lnTo>
                  <a:lnTo>
                    <a:pt x="30" y="17"/>
                  </a:lnTo>
                  <a:lnTo>
                    <a:pt x="19" y="11"/>
                  </a:lnTo>
                  <a:lnTo>
                    <a:pt x="13" y="6"/>
                  </a:lnTo>
                  <a:lnTo>
                    <a:pt x="13" y="4"/>
                  </a:lnTo>
                  <a:lnTo>
                    <a:pt x="0" y="0"/>
                  </a:lnTo>
                  <a:lnTo>
                    <a:pt x="2" y="12"/>
                  </a:lnTo>
                  <a:lnTo>
                    <a:pt x="11" y="21"/>
                  </a:lnTo>
                  <a:lnTo>
                    <a:pt x="23" y="28"/>
                  </a:lnTo>
                  <a:lnTo>
                    <a:pt x="37" y="35"/>
                  </a:lnTo>
                  <a:lnTo>
                    <a:pt x="50" y="43"/>
                  </a:lnTo>
                  <a:lnTo>
                    <a:pt x="60" y="49"/>
                  </a:lnTo>
                  <a:lnTo>
                    <a:pt x="66" y="55"/>
                  </a:lnTo>
                  <a:lnTo>
                    <a:pt x="66" y="57"/>
                  </a:lnTo>
                  <a:lnTo>
                    <a:pt x="78" y="63"/>
                  </a:lnTo>
                  <a:lnTo>
                    <a:pt x="66" y="57"/>
                  </a:lnTo>
                  <a:lnTo>
                    <a:pt x="52" y="99"/>
                  </a:lnTo>
                  <a:lnTo>
                    <a:pt x="78" y="63"/>
                  </a:lnTo>
                  <a:lnTo>
                    <a:pt x="67" y="5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1" name="Freeform 30">
              <a:extLst>
                <a:ext uri="{FF2B5EF4-FFF2-40B4-BE49-F238E27FC236}">
                  <a16:creationId xmlns:a16="http://schemas.microsoft.com/office/drawing/2014/main" id="{C4D697C5-0821-30CD-FD3F-620F14E028B8}"/>
                </a:ext>
              </a:extLst>
            </p:cNvPr>
            <p:cNvSpPr>
              <a:spLocks/>
            </p:cNvSpPr>
            <p:nvPr/>
          </p:nvSpPr>
          <p:spPr bwMode="auto">
            <a:xfrm>
              <a:off x="3203" y="2884"/>
              <a:ext cx="42" cy="48"/>
            </a:xfrm>
            <a:custGeom>
              <a:avLst/>
              <a:gdLst>
                <a:gd name="T0" fmla="*/ 704740 w 25"/>
                <a:gd name="T1" fmla="*/ 396 h 43"/>
                <a:gd name="T2" fmla="*/ 52660 w 25"/>
                <a:gd name="T3" fmla="*/ 336 h 43"/>
                <a:gd name="T4" fmla="*/ 0 w 25"/>
                <a:gd name="T5" fmla="*/ 355 h 43"/>
                <a:gd name="T6" fmla="*/ 648168 w 25"/>
                <a:gd name="T7" fmla="*/ 419 h 43"/>
                <a:gd name="T8" fmla="*/ 704740 w 25"/>
                <a:gd name="T9" fmla="*/ 409 h 43"/>
                <a:gd name="T10" fmla="*/ 0 w 25"/>
                <a:gd name="T11" fmla="*/ 355 h 43"/>
                <a:gd name="T12" fmla="*/ 704740 w 25"/>
                <a:gd name="T13" fmla="*/ 396 h 43"/>
                <a:gd name="T14" fmla="*/ 1283958 w 25"/>
                <a:gd name="T15" fmla="*/ 0 h 43"/>
                <a:gd name="T16" fmla="*/ 52660 w 25"/>
                <a:gd name="T17" fmla="*/ 336 h 43"/>
                <a:gd name="T18" fmla="*/ 704740 w 25"/>
                <a:gd name="T19" fmla="*/ 396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43"/>
                <a:gd name="T32" fmla="*/ 25 w 25"/>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43">
                  <a:moveTo>
                    <a:pt x="13" y="39"/>
                  </a:moveTo>
                  <a:lnTo>
                    <a:pt x="1" y="34"/>
                  </a:lnTo>
                  <a:lnTo>
                    <a:pt x="0" y="35"/>
                  </a:lnTo>
                  <a:lnTo>
                    <a:pt x="12" y="42"/>
                  </a:lnTo>
                  <a:lnTo>
                    <a:pt x="13" y="40"/>
                  </a:lnTo>
                  <a:lnTo>
                    <a:pt x="0" y="35"/>
                  </a:lnTo>
                  <a:lnTo>
                    <a:pt x="13" y="39"/>
                  </a:lnTo>
                  <a:lnTo>
                    <a:pt x="24" y="0"/>
                  </a:lnTo>
                  <a:lnTo>
                    <a:pt x="1" y="34"/>
                  </a:lnTo>
                  <a:lnTo>
                    <a:pt x="13" y="3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2" name="Freeform 31">
              <a:extLst>
                <a:ext uri="{FF2B5EF4-FFF2-40B4-BE49-F238E27FC236}">
                  <a16:creationId xmlns:a16="http://schemas.microsoft.com/office/drawing/2014/main" id="{7DBFBF18-6559-1C19-C8FE-990F04984492}"/>
                </a:ext>
              </a:extLst>
            </p:cNvPr>
            <p:cNvSpPr>
              <a:spLocks/>
            </p:cNvSpPr>
            <p:nvPr/>
          </p:nvSpPr>
          <p:spPr bwMode="auto">
            <a:xfrm>
              <a:off x="3051" y="2923"/>
              <a:ext cx="176" cy="31"/>
            </a:xfrm>
            <a:custGeom>
              <a:avLst/>
              <a:gdLst>
                <a:gd name="T0" fmla="*/ 448956 w 107"/>
                <a:gd name="T1" fmla="*/ 1019 h 26"/>
                <a:gd name="T2" fmla="*/ 520021 w 107"/>
                <a:gd name="T3" fmla="*/ 1017 h 26"/>
                <a:gd name="T4" fmla="*/ 806439 w 107"/>
                <a:gd name="T5" fmla="*/ 867 h 26"/>
                <a:gd name="T6" fmla="*/ 1242572 w 107"/>
                <a:gd name="T7" fmla="*/ 906 h 26"/>
                <a:gd name="T8" fmla="*/ 1803036 w 107"/>
                <a:gd name="T9" fmla="*/ 906 h 26"/>
                <a:gd name="T10" fmla="*/ 2314237 w 107"/>
                <a:gd name="T11" fmla="*/ 1017 h 26"/>
                <a:gd name="T12" fmla="*/ 2876529 w 107"/>
                <a:gd name="T13" fmla="*/ 867 h 26"/>
                <a:gd name="T14" fmla="*/ 3361858 w 107"/>
                <a:gd name="T15" fmla="*/ 637 h 26"/>
                <a:gd name="T16" fmla="*/ 3649694 w 107"/>
                <a:gd name="T17" fmla="*/ 175 h 26"/>
                <a:gd name="T18" fmla="*/ 3223782 w 107"/>
                <a:gd name="T19" fmla="*/ 0 h 26"/>
                <a:gd name="T20" fmla="*/ 3069208 w 107"/>
                <a:gd name="T21" fmla="*/ 249 h 26"/>
                <a:gd name="T22" fmla="*/ 2774242 w 107"/>
                <a:gd name="T23" fmla="*/ 376 h 26"/>
                <a:gd name="T24" fmla="*/ 2314237 w 107"/>
                <a:gd name="T25" fmla="*/ 422 h 26"/>
                <a:gd name="T26" fmla="*/ 1803036 w 107"/>
                <a:gd name="T27" fmla="*/ 422 h 26"/>
                <a:gd name="T28" fmla="*/ 1242572 w 107"/>
                <a:gd name="T29" fmla="*/ 376 h 26"/>
                <a:gd name="T30" fmla="*/ 755427 w 107"/>
                <a:gd name="T31" fmla="*/ 376 h 26"/>
                <a:gd name="T32" fmla="*/ 316149 w 107"/>
                <a:gd name="T33" fmla="*/ 448 h 26"/>
                <a:gd name="T34" fmla="*/ 0 w 107"/>
                <a:gd name="T35" fmla="*/ 855 h 26"/>
                <a:gd name="T36" fmla="*/ 448956 w 107"/>
                <a:gd name="T37" fmla="*/ 101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4"/>
                  </a:lnTo>
                  <a:lnTo>
                    <a:pt x="23" y="22"/>
                  </a:lnTo>
                  <a:lnTo>
                    <a:pt x="36" y="23"/>
                  </a:lnTo>
                  <a:lnTo>
                    <a:pt x="52" y="23"/>
                  </a:lnTo>
                  <a:lnTo>
                    <a:pt x="67" y="24"/>
                  </a:lnTo>
                  <a:lnTo>
                    <a:pt x="83" y="22"/>
                  </a:lnTo>
                  <a:lnTo>
                    <a:pt x="97" y="16"/>
                  </a:lnTo>
                  <a:lnTo>
                    <a:pt x="106" y="4"/>
                  </a:lnTo>
                  <a:lnTo>
                    <a:pt x="93" y="0"/>
                  </a:lnTo>
                  <a:lnTo>
                    <a:pt x="89" y="6"/>
                  </a:lnTo>
                  <a:lnTo>
                    <a:pt x="80" y="9"/>
                  </a:lnTo>
                  <a:lnTo>
                    <a:pt x="67" y="10"/>
                  </a:lnTo>
                  <a:lnTo>
                    <a:pt x="52" y="10"/>
                  </a:lnTo>
                  <a:lnTo>
                    <a:pt x="36" y="9"/>
                  </a:lnTo>
                  <a:lnTo>
                    <a:pt x="22" y="9"/>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3" name="Freeform 32">
              <a:extLst>
                <a:ext uri="{FF2B5EF4-FFF2-40B4-BE49-F238E27FC236}">
                  <a16:creationId xmlns:a16="http://schemas.microsoft.com/office/drawing/2014/main" id="{79BE7FA7-B7E1-422D-BB5F-0218E5A318F0}"/>
                </a:ext>
              </a:extLst>
            </p:cNvPr>
            <p:cNvSpPr>
              <a:spLocks/>
            </p:cNvSpPr>
            <p:nvPr/>
          </p:nvSpPr>
          <p:spPr bwMode="auto">
            <a:xfrm>
              <a:off x="3051" y="2947"/>
              <a:ext cx="131" cy="77"/>
            </a:xfrm>
            <a:custGeom>
              <a:avLst/>
              <a:gdLst>
                <a:gd name="T0" fmla="*/ 2480706 w 80"/>
                <a:gd name="T1" fmla="*/ 1675 h 66"/>
                <a:gd name="T2" fmla="*/ 2415525 w 80"/>
                <a:gd name="T3" fmla="*/ 1341 h 66"/>
                <a:gd name="T4" fmla="*/ 2134954 w 80"/>
                <a:gd name="T5" fmla="*/ 1075 h 66"/>
                <a:gd name="T6" fmla="*/ 1785199 w 80"/>
                <a:gd name="T7" fmla="*/ 889 h 66"/>
                <a:gd name="T8" fmla="*/ 1346184 w 80"/>
                <a:gd name="T9" fmla="*/ 664 h 66"/>
                <a:gd name="T10" fmla="*/ 900843 w 80"/>
                <a:gd name="T11" fmla="*/ 470 h 66"/>
                <a:gd name="T12" fmla="*/ 630154 w 80"/>
                <a:gd name="T13" fmla="*/ 307 h 66"/>
                <a:gd name="T14" fmla="*/ 445495 w 80"/>
                <a:gd name="T15" fmla="*/ 141 h 66"/>
                <a:gd name="T16" fmla="*/ 402943 w 80"/>
                <a:gd name="T17" fmla="*/ 120 h 66"/>
                <a:gd name="T18" fmla="*/ 0 w 80"/>
                <a:gd name="T19" fmla="*/ 0 h 66"/>
                <a:gd name="T20" fmla="*/ 56043 w 80"/>
                <a:gd name="T21" fmla="*/ 307 h 66"/>
                <a:gd name="T22" fmla="*/ 335959 w 80"/>
                <a:gd name="T23" fmla="*/ 569 h 66"/>
                <a:gd name="T24" fmla="*/ 729498 w 80"/>
                <a:gd name="T25" fmla="*/ 775 h 66"/>
                <a:gd name="T26" fmla="*/ 1177164 w 80"/>
                <a:gd name="T27" fmla="*/ 970 h 66"/>
                <a:gd name="T28" fmla="*/ 1538762 w 80"/>
                <a:gd name="T29" fmla="*/ 1149 h 66"/>
                <a:gd name="T30" fmla="*/ 1865648 w 80"/>
                <a:gd name="T31" fmla="*/ 1344 h 66"/>
                <a:gd name="T32" fmla="*/ 2045165 w 80"/>
                <a:gd name="T33" fmla="*/ 1477 h 66"/>
                <a:gd name="T34" fmla="*/ 2079299 w 80"/>
                <a:gd name="T35" fmla="*/ 1565 h 66"/>
                <a:gd name="T36" fmla="*/ 248070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2"/>
                  </a:lnTo>
                  <a:lnTo>
                    <a:pt x="57" y="34"/>
                  </a:lnTo>
                  <a:lnTo>
                    <a:pt x="43" y="26"/>
                  </a:lnTo>
                  <a:lnTo>
                    <a:pt x="29" y="18"/>
                  </a:lnTo>
                  <a:lnTo>
                    <a:pt x="20" y="12"/>
                  </a:lnTo>
                  <a:lnTo>
                    <a:pt x="14" y="6"/>
                  </a:lnTo>
                  <a:lnTo>
                    <a:pt x="13" y="4"/>
                  </a:lnTo>
                  <a:lnTo>
                    <a:pt x="0" y="0"/>
                  </a:lnTo>
                  <a:lnTo>
                    <a:pt x="2" y="12"/>
                  </a:lnTo>
                  <a:lnTo>
                    <a:pt x="11" y="22"/>
                  </a:lnTo>
                  <a:lnTo>
                    <a:pt x="23" y="30"/>
                  </a:lnTo>
                  <a:lnTo>
                    <a:pt x="37" y="38"/>
                  </a:lnTo>
                  <a:lnTo>
                    <a:pt x="49" y="45"/>
                  </a:lnTo>
                  <a:lnTo>
                    <a:pt x="59" y="53"/>
                  </a:lnTo>
                  <a:lnTo>
                    <a:pt x="65" y="58"/>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4" name="Freeform 33">
              <a:extLst>
                <a:ext uri="{FF2B5EF4-FFF2-40B4-BE49-F238E27FC236}">
                  <a16:creationId xmlns:a16="http://schemas.microsoft.com/office/drawing/2014/main" id="{CA2EC73A-0BF7-9AD6-EFE9-0FD614EB7051}"/>
                </a:ext>
              </a:extLst>
            </p:cNvPr>
            <p:cNvSpPr>
              <a:spLocks/>
            </p:cNvSpPr>
            <p:nvPr/>
          </p:nvSpPr>
          <p:spPr bwMode="auto">
            <a:xfrm>
              <a:off x="3006" y="3018"/>
              <a:ext cx="176" cy="29"/>
            </a:xfrm>
            <a:custGeom>
              <a:avLst/>
              <a:gdLst>
                <a:gd name="T0" fmla="*/ 448956 w 107"/>
                <a:gd name="T1" fmla="*/ 254 h 26"/>
                <a:gd name="T2" fmla="*/ 520021 w 107"/>
                <a:gd name="T3" fmla="*/ 229 h 26"/>
                <a:gd name="T4" fmla="*/ 81828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07351 w 107"/>
                <a:gd name="T21" fmla="*/ 3 h 26"/>
                <a:gd name="T22" fmla="*/ 2796262 w 107"/>
                <a:gd name="T23" fmla="*/ 56 h 26"/>
                <a:gd name="T24" fmla="*/ 2374059 w 107"/>
                <a:gd name="T25" fmla="*/ 62 h 26"/>
                <a:gd name="T26" fmla="*/ 1829721 w 107"/>
                <a:gd name="T27" fmla="*/ 62 h 26"/>
                <a:gd name="T28" fmla="*/ 1274250 w 107"/>
                <a:gd name="T29" fmla="*/ 62 h 26"/>
                <a:gd name="T30" fmla="*/ 738470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19"/>
                  </a:lnTo>
                  <a:lnTo>
                    <a:pt x="53" y="20"/>
                  </a:lnTo>
                  <a:lnTo>
                    <a:pt x="69" y="19"/>
                  </a:lnTo>
                  <a:lnTo>
                    <a:pt x="84" y="18"/>
                  </a:lnTo>
                  <a:lnTo>
                    <a:pt x="97" y="14"/>
                  </a:lnTo>
                  <a:lnTo>
                    <a:pt x="106" y="4"/>
                  </a:lnTo>
                  <a:lnTo>
                    <a:pt x="93" y="0"/>
                  </a:lnTo>
                  <a:lnTo>
                    <a:pt x="90" y="3"/>
                  </a:lnTo>
                  <a:lnTo>
                    <a:pt x="81" y="5"/>
                  </a:lnTo>
                  <a:lnTo>
                    <a:pt x="69" y="6"/>
                  </a:lnTo>
                  <a:lnTo>
                    <a:pt x="53" y="6"/>
                  </a:lnTo>
                  <a:lnTo>
                    <a:pt x="37" y="6"/>
                  </a:lnTo>
                  <a:lnTo>
                    <a:pt x="21"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5" name="Freeform 34">
              <a:extLst>
                <a:ext uri="{FF2B5EF4-FFF2-40B4-BE49-F238E27FC236}">
                  <a16:creationId xmlns:a16="http://schemas.microsoft.com/office/drawing/2014/main" id="{F6705F1A-CC0E-7678-6614-7ED047FACBA3}"/>
                </a:ext>
              </a:extLst>
            </p:cNvPr>
            <p:cNvSpPr>
              <a:spLocks/>
            </p:cNvSpPr>
            <p:nvPr/>
          </p:nvSpPr>
          <p:spPr bwMode="auto">
            <a:xfrm>
              <a:off x="3006" y="3042"/>
              <a:ext cx="133" cy="70"/>
            </a:xfrm>
            <a:custGeom>
              <a:avLst/>
              <a:gdLst>
                <a:gd name="T0" fmla="*/ 2656836 w 81"/>
                <a:gd name="T1" fmla="*/ 1053 h 61"/>
                <a:gd name="T2" fmla="*/ 2656836 w 81"/>
                <a:gd name="T3" fmla="*/ 1080 h 61"/>
                <a:gd name="T4" fmla="*/ 2558027 w 81"/>
                <a:gd name="T5" fmla="*/ 863 h 61"/>
                <a:gd name="T6" fmla="*/ 2272793 w 81"/>
                <a:gd name="T7" fmla="*/ 731 h 61"/>
                <a:gd name="T8" fmla="*/ 1864660 w 81"/>
                <a:gd name="T9" fmla="*/ 591 h 61"/>
                <a:gd name="T10" fmla="*/ 1443431 w 81"/>
                <a:gd name="T11" fmla="*/ 473 h 61"/>
                <a:gd name="T12" fmla="*/ 977473 w 81"/>
                <a:gd name="T13" fmla="*/ 341 h 61"/>
                <a:gd name="T14" fmla="*/ 633671 w 81"/>
                <a:gd name="T15" fmla="*/ 207 h 61"/>
                <a:gd name="T16" fmla="*/ 465961 w 81"/>
                <a:gd name="T17" fmla="*/ 104 h 61"/>
                <a:gd name="T18" fmla="*/ 421211 w 81"/>
                <a:gd name="T19" fmla="*/ 79 h 61"/>
                <a:gd name="T20" fmla="*/ 0 w 81"/>
                <a:gd name="T21" fmla="*/ 0 h 61"/>
                <a:gd name="T22" fmla="*/ 57947 w 81"/>
                <a:gd name="T23" fmla="*/ 216 h 61"/>
                <a:gd name="T24" fmla="*/ 326059 w 81"/>
                <a:gd name="T25" fmla="*/ 391 h 61"/>
                <a:gd name="T26" fmla="*/ 765096 w 81"/>
                <a:gd name="T27" fmla="*/ 543 h 61"/>
                <a:gd name="T28" fmla="*/ 1196621 w 81"/>
                <a:gd name="T29" fmla="*/ 650 h 61"/>
                <a:gd name="T30" fmla="*/ 1618073 w 81"/>
                <a:gd name="T31" fmla="*/ 820 h 61"/>
                <a:gd name="T32" fmla="*/ 2015988 w 81"/>
                <a:gd name="T33" fmla="*/ 930 h 61"/>
                <a:gd name="T34" fmla="*/ 2192131 w 81"/>
                <a:gd name="T35" fmla="*/ 990 h 61"/>
                <a:gd name="T36" fmla="*/ 2235597 w 81"/>
                <a:gd name="T37" fmla="*/ 990 h 61"/>
                <a:gd name="T38" fmla="*/ 2192131 w 81"/>
                <a:gd name="T39" fmla="*/ 1053 h 61"/>
                <a:gd name="T40" fmla="*/ 2235597 w 81"/>
                <a:gd name="T41" fmla="*/ 990 h 61"/>
                <a:gd name="T42" fmla="*/ 2192131 w 81"/>
                <a:gd name="T43" fmla="*/ 1025 h 61"/>
                <a:gd name="T44" fmla="*/ 2192131 w 81"/>
                <a:gd name="T45" fmla="*/ 1053 h 61"/>
                <a:gd name="T46" fmla="*/ 2656836 w 81"/>
                <a:gd name="T47" fmla="*/ 1053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
                <a:gd name="T73" fmla="*/ 0 h 61"/>
                <a:gd name="T74" fmla="*/ 81 w 81"/>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 h="61">
                  <a:moveTo>
                    <a:pt x="80" y="58"/>
                  </a:moveTo>
                  <a:lnTo>
                    <a:pt x="80" y="60"/>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6"/>
                  </a:lnTo>
                  <a:lnTo>
                    <a:pt x="67" y="56"/>
                  </a:lnTo>
                  <a:lnTo>
                    <a:pt x="66" y="58"/>
                  </a:lnTo>
                  <a:lnTo>
                    <a:pt x="67" y="56"/>
                  </a:lnTo>
                  <a:lnTo>
                    <a:pt x="66" y="57"/>
                  </a:lnTo>
                  <a:lnTo>
                    <a:pt x="66" y="58"/>
                  </a:lnTo>
                  <a:lnTo>
                    <a:pt x="80" y="5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6" name="Freeform 35">
              <a:extLst>
                <a:ext uri="{FF2B5EF4-FFF2-40B4-BE49-F238E27FC236}">
                  <a16:creationId xmlns:a16="http://schemas.microsoft.com/office/drawing/2014/main" id="{709A009D-9A34-D1E6-E92D-A065BAE3AB17}"/>
                </a:ext>
              </a:extLst>
            </p:cNvPr>
            <p:cNvSpPr>
              <a:spLocks/>
            </p:cNvSpPr>
            <p:nvPr/>
          </p:nvSpPr>
          <p:spPr bwMode="auto">
            <a:xfrm>
              <a:off x="3115" y="3107"/>
              <a:ext cx="24" cy="7"/>
            </a:xfrm>
            <a:custGeom>
              <a:avLst/>
              <a:gdLst>
                <a:gd name="T0" fmla="*/ 255066 w 15"/>
                <a:gd name="T1" fmla="*/ 140 h 6"/>
                <a:gd name="T2" fmla="*/ 265134 w 15"/>
                <a:gd name="T3" fmla="*/ 2 h 6"/>
                <a:gd name="T4" fmla="*/ 0 w 15"/>
                <a:gd name="T5" fmla="*/ 2 h 6"/>
                <a:gd name="T6" fmla="*/ 0 w 15"/>
                <a:gd name="T7" fmla="*/ 0 h 6"/>
                <a:gd name="T8" fmla="*/ 255066 w 15"/>
                <a:gd name="T9" fmla="*/ 140 h 6"/>
                <a:gd name="T10" fmla="*/ 265134 w 15"/>
                <a:gd name="T11" fmla="*/ 120 h 6"/>
                <a:gd name="T12" fmla="*/ 265134 w 15"/>
                <a:gd name="T13" fmla="*/ 2 h 6"/>
                <a:gd name="T14" fmla="*/ 255066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7" name="Freeform 36">
              <a:extLst>
                <a:ext uri="{FF2B5EF4-FFF2-40B4-BE49-F238E27FC236}">
                  <a16:creationId xmlns:a16="http://schemas.microsoft.com/office/drawing/2014/main" id="{C32DB401-7AE5-BCCE-DDFB-E4B87CDFC810}"/>
                </a:ext>
              </a:extLst>
            </p:cNvPr>
            <p:cNvSpPr>
              <a:spLocks/>
            </p:cNvSpPr>
            <p:nvPr/>
          </p:nvSpPr>
          <p:spPr bwMode="auto">
            <a:xfrm>
              <a:off x="2963" y="3107"/>
              <a:ext cx="176" cy="32"/>
            </a:xfrm>
            <a:custGeom>
              <a:avLst/>
              <a:gdLst>
                <a:gd name="T0" fmla="*/ 448956 w 107"/>
                <a:gd name="T1" fmla="*/ 943 h 27"/>
                <a:gd name="T2" fmla="*/ 551648 w 107"/>
                <a:gd name="T3" fmla="*/ 828 h 27"/>
                <a:gd name="T4" fmla="*/ 818282 w 107"/>
                <a:gd name="T5" fmla="*/ 774 h 27"/>
                <a:gd name="T6" fmla="*/ 1326479 w 107"/>
                <a:gd name="T7" fmla="*/ 677 h 27"/>
                <a:gd name="T8" fmla="*/ 1829721 w 107"/>
                <a:gd name="T9" fmla="*/ 677 h 27"/>
                <a:gd name="T10" fmla="*/ 2417273 w 107"/>
                <a:gd name="T11" fmla="*/ 653 h 27"/>
                <a:gd name="T12" fmla="*/ 2899460 w 107"/>
                <a:gd name="T13" fmla="*/ 590 h 27"/>
                <a:gd name="T14" fmla="*/ 3361858 w 107"/>
                <a:gd name="T15" fmla="*/ 465 h 27"/>
                <a:gd name="T16" fmla="*/ 3649694 w 107"/>
                <a:gd name="T17" fmla="*/ 167 h 27"/>
                <a:gd name="T18" fmla="*/ 3223782 w 107"/>
                <a:gd name="T19" fmla="*/ 0 h 27"/>
                <a:gd name="T20" fmla="*/ 3107351 w 107"/>
                <a:gd name="T21" fmla="*/ 2 h 27"/>
                <a:gd name="T22" fmla="*/ 2833329 w 107"/>
                <a:gd name="T23" fmla="*/ 141 h 27"/>
                <a:gd name="T24" fmla="*/ 2374059 w 107"/>
                <a:gd name="T25" fmla="*/ 167 h 27"/>
                <a:gd name="T26" fmla="*/ 1829721 w 107"/>
                <a:gd name="T27" fmla="*/ 198 h 27"/>
                <a:gd name="T28" fmla="*/ 1242572 w 107"/>
                <a:gd name="T29" fmla="*/ 198 h 27"/>
                <a:gd name="T30" fmla="*/ 755427 w 107"/>
                <a:gd name="T31" fmla="*/ 279 h 27"/>
                <a:gd name="T32" fmla="*/ 316149 w 107"/>
                <a:gd name="T33" fmla="*/ 420 h 27"/>
                <a:gd name="T34" fmla="*/ 0 w 107"/>
                <a:gd name="T35" fmla="*/ 796 h 27"/>
                <a:gd name="T36" fmla="*/ 448956 w 107"/>
                <a:gd name="T37" fmla="*/ 94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7"/>
                <a:gd name="T59" fmla="*/ 107 w 107"/>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7">
                  <a:moveTo>
                    <a:pt x="13" y="26"/>
                  </a:moveTo>
                  <a:lnTo>
                    <a:pt x="16" y="24"/>
                  </a:lnTo>
                  <a:lnTo>
                    <a:pt x="24" y="21"/>
                  </a:lnTo>
                  <a:lnTo>
                    <a:pt x="38" y="19"/>
                  </a:lnTo>
                  <a:lnTo>
                    <a:pt x="53" y="19"/>
                  </a:lnTo>
                  <a:lnTo>
                    <a:pt x="70" y="18"/>
                  </a:lnTo>
                  <a:lnTo>
                    <a:pt x="84" y="17"/>
                  </a:lnTo>
                  <a:lnTo>
                    <a:pt x="97" y="13"/>
                  </a:lnTo>
                  <a:lnTo>
                    <a:pt x="106" y="5"/>
                  </a:lnTo>
                  <a:lnTo>
                    <a:pt x="93" y="0"/>
                  </a:lnTo>
                  <a:lnTo>
                    <a:pt x="90" y="2"/>
                  </a:lnTo>
                  <a:lnTo>
                    <a:pt x="82" y="4"/>
                  </a:lnTo>
                  <a:lnTo>
                    <a:pt x="69" y="5"/>
                  </a:lnTo>
                  <a:lnTo>
                    <a:pt x="53" y="6"/>
                  </a:lnTo>
                  <a:lnTo>
                    <a:pt x="36" y="6"/>
                  </a:lnTo>
                  <a:lnTo>
                    <a:pt x="22"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8" name="Freeform 37">
              <a:extLst>
                <a:ext uri="{FF2B5EF4-FFF2-40B4-BE49-F238E27FC236}">
                  <a16:creationId xmlns:a16="http://schemas.microsoft.com/office/drawing/2014/main" id="{7D06ADAF-3751-6BA4-14E5-8D2B887F4501}"/>
                </a:ext>
              </a:extLst>
            </p:cNvPr>
            <p:cNvSpPr>
              <a:spLocks/>
            </p:cNvSpPr>
            <p:nvPr/>
          </p:nvSpPr>
          <p:spPr bwMode="auto">
            <a:xfrm>
              <a:off x="2963" y="3133"/>
              <a:ext cx="132" cy="77"/>
            </a:xfrm>
            <a:custGeom>
              <a:avLst/>
              <a:gdLst>
                <a:gd name="T0" fmla="*/ 2918860 w 80"/>
                <a:gd name="T1" fmla="*/ 1224 h 67"/>
                <a:gd name="T2" fmla="*/ 2918860 w 80"/>
                <a:gd name="T3" fmla="*/ 1219 h 67"/>
                <a:gd name="T4" fmla="*/ 2842721 w 80"/>
                <a:gd name="T5" fmla="*/ 985 h 67"/>
                <a:gd name="T6" fmla="*/ 2506601 w 80"/>
                <a:gd name="T7" fmla="*/ 793 h 67"/>
                <a:gd name="T8" fmla="*/ 2062134 w 80"/>
                <a:gd name="T9" fmla="*/ 649 h 67"/>
                <a:gd name="T10" fmla="*/ 1545345 w 80"/>
                <a:gd name="T11" fmla="*/ 522 h 67"/>
                <a:gd name="T12" fmla="*/ 1100611 w 80"/>
                <a:gd name="T13" fmla="*/ 367 h 67"/>
                <a:gd name="T14" fmla="*/ 733570 w 80"/>
                <a:gd name="T15" fmla="*/ 242 h 67"/>
                <a:gd name="T16" fmla="*/ 520035 w 80"/>
                <a:gd name="T17" fmla="*/ 105 h 67"/>
                <a:gd name="T18" fmla="*/ 477527 w 80"/>
                <a:gd name="T19" fmla="*/ 79 h 67"/>
                <a:gd name="T20" fmla="*/ 0 w 80"/>
                <a:gd name="T21" fmla="*/ 0 h 67"/>
                <a:gd name="T22" fmla="*/ 64426 w 80"/>
                <a:gd name="T23" fmla="*/ 242 h 67"/>
                <a:gd name="T24" fmla="*/ 377109 w 80"/>
                <a:gd name="T25" fmla="*/ 422 h 67"/>
                <a:gd name="T26" fmla="*/ 796859 w 80"/>
                <a:gd name="T27" fmla="*/ 600 h 67"/>
                <a:gd name="T28" fmla="*/ 1314817 w 80"/>
                <a:gd name="T29" fmla="*/ 736 h 67"/>
                <a:gd name="T30" fmla="*/ 1816008 w 80"/>
                <a:gd name="T31" fmla="*/ 868 h 67"/>
                <a:gd name="T32" fmla="*/ 2169448 w 80"/>
                <a:gd name="T33" fmla="*/ 998 h 67"/>
                <a:gd name="T34" fmla="*/ 2399955 w 80"/>
                <a:gd name="T35" fmla="*/ 1117 h 67"/>
                <a:gd name="T36" fmla="*/ 2442464 w 80"/>
                <a:gd name="T37" fmla="*/ 1147 h 67"/>
                <a:gd name="T38" fmla="*/ 2442464 w 80"/>
                <a:gd name="T39" fmla="*/ 1132 h 67"/>
                <a:gd name="T40" fmla="*/ 2918860 w 80"/>
                <a:gd name="T41" fmla="*/ 1224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0" y="23"/>
                  </a:lnTo>
                  <a:lnTo>
                    <a:pt x="22" y="32"/>
                  </a:lnTo>
                  <a:lnTo>
                    <a:pt x="36" y="39"/>
                  </a:lnTo>
                  <a:lnTo>
                    <a:pt x="49"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59" name="Freeform 38">
              <a:extLst>
                <a:ext uri="{FF2B5EF4-FFF2-40B4-BE49-F238E27FC236}">
                  <a16:creationId xmlns:a16="http://schemas.microsoft.com/office/drawing/2014/main" id="{7A9227FE-689C-420D-5C48-B555401225A8}"/>
                </a:ext>
              </a:extLst>
            </p:cNvPr>
            <p:cNvSpPr>
              <a:spLocks/>
            </p:cNvSpPr>
            <p:nvPr/>
          </p:nvSpPr>
          <p:spPr bwMode="auto">
            <a:xfrm>
              <a:off x="2917" y="3203"/>
              <a:ext cx="178" cy="29"/>
            </a:xfrm>
            <a:custGeom>
              <a:avLst/>
              <a:gdLst>
                <a:gd name="T0" fmla="*/ 467977 w 108"/>
                <a:gd name="T1" fmla="*/ 530 h 25"/>
                <a:gd name="T2" fmla="*/ 572069 w 108"/>
                <a:gd name="T3" fmla="*/ 516 h 25"/>
                <a:gd name="T4" fmla="*/ 904365 w 108"/>
                <a:gd name="T5" fmla="*/ 455 h 25"/>
                <a:gd name="T6" fmla="*/ 1340297 w 108"/>
                <a:gd name="T7" fmla="*/ 394 h 25"/>
                <a:gd name="T8" fmla="*/ 1899138 w 108"/>
                <a:gd name="T9" fmla="*/ 445 h 25"/>
                <a:gd name="T10" fmla="*/ 2520165 w 108"/>
                <a:gd name="T11" fmla="*/ 394 h 25"/>
                <a:gd name="T12" fmla="*/ 3068888 w 108"/>
                <a:gd name="T13" fmla="*/ 392 h 25"/>
                <a:gd name="T14" fmla="*/ 3543764 w 108"/>
                <a:gd name="T15" fmla="*/ 331 h 25"/>
                <a:gd name="T16" fmla="*/ 3851116 w 108"/>
                <a:gd name="T17" fmla="*/ 117 h 25"/>
                <a:gd name="T18" fmla="*/ 3382615 w 108"/>
                <a:gd name="T19" fmla="*/ 0 h 25"/>
                <a:gd name="T20" fmla="*/ 3279487 w 108"/>
                <a:gd name="T21" fmla="*/ 3 h 25"/>
                <a:gd name="T22" fmla="*/ 2963647 w 108"/>
                <a:gd name="T23" fmla="*/ 101 h 25"/>
                <a:gd name="T24" fmla="*/ 2520165 w 108"/>
                <a:gd name="T25" fmla="*/ 136 h 25"/>
                <a:gd name="T26" fmla="*/ 1899138 w 108"/>
                <a:gd name="T27" fmla="*/ 117 h 25"/>
                <a:gd name="T28" fmla="*/ 1340297 w 108"/>
                <a:gd name="T29" fmla="*/ 136 h 25"/>
                <a:gd name="T30" fmla="*/ 782669 w 108"/>
                <a:gd name="T31" fmla="*/ 158 h 25"/>
                <a:gd name="T32" fmla="*/ 332929 w 108"/>
                <a:gd name="T33" fmla="*/ 251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5" y="20"/>
                  </a:lnTo>
                  <a:lnTo>
                    <a:pt x="37" y="18"/>
                  </a:lnTo>
                  <a:lnTo>
                    <a:pt x="53" y="19"/>
                  </a:lnTo>
                  <a:lnTo>
                    <a:pt x="70" y="18"/>
                  </a:lnTo>
                  <a:lnTo>
                    <a:pt x="85" y="17"/>
                  </a:lnTo>
                  <a:lnTo>
                    <a:pt x="98" y="14"/>
                  </a:lnTo>
                  <a:lnTo>
                    <a:pt x="107" y="5"/>
                  </a:lnTo>
                  <a:lnTo>
                    <a:pt x="94" y="0"/>
                  </a:lnTo>
                  <a:lnTo>
                    <a:pt x="91" y="3"/>
                  </a:lnTo>
                  <a:lnTo>
                    <a:pt x="82" y="4"/>
                  </a:lnTo>
                  <a:lnTo>
                    <a:pt x="70" y="6"/>
                  </a:lnTo>
                  <a:lnTo>
                    <a:pt x="53" y="5"/>
                  </a:lnTo>
                  <a:lnTo>
                    <a:pt x="37" y="6"/>
                  </a:lnTo>
                  <a:lnTo>
                    <a:pt x="22" y="7"/>
                  </a:lnTo>
                  <a:lnTo>
                    <a:pt x="9" y="11"/>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0" name="Freeform 39">
              <a:extLst>
                <a:ext uri="{FF2B5EF4-FFF2-40B4-BE49-F238E27FC236}">
                  <a16:creationId xmlns:a16="http://schemas.microsoft.com/office/drawing/2014/main" id="{3DA6CCF8-78F7-26D4-591D-67E66AE2E5D7}"/>
                </a:ext>
              </a:extLst>
            </p:cNvPr>
            <p:cNvSpPr>
              <a:spLocks/>
            </p:cNvSpPr>
            <p:nvPr/>
          </p:nvSpPr>
          <p:spPr bwMode="auto">
            <a:xfrm>
              <a:off x="2917" y="3226"/>
              <a:ext cx="128" cy="79"/>
            </a:xfrm>
            <a:custGeom>
              <a:avLst/>
              <a:gdLst>
                <a:gd name="T0" fmla="*/ 2532882 w 78"/>
                <a:gd name="T1" fmla="*/ 1158 h 69"/>
                <a:gd name="T2" fmla="*/ 2532882 w 78"/>
                <a:gd name="T3" fmla="*/ 1161 h 69"/>
                <a:gd name="T4" fmla="*/ 2464373 w 78"/>
                <a:gd name="T5" fmla="*/ 950 h 69"/>
                <a:gd name="T6" fmla="*/ 2209400 w 78"/>
                <a:gd name="T7" fmla="*/ 787 h 69"/>
                <a:gd name="T8" fmla="*/ 1812188 w 78"/>
                <a:gd name="T9" fmla="*/ 633 h 69"/>
                <a:gd name="T10" fmla="*/ 1380721 w 78"/>
                <a:gd name="T11" fmla="*/ 490 h 69"/>
                <a:gd name="T12" fmla="*/ 967606 w 78"/>
                <a:gd name="T13" fmla="*/ 349 h 69"/>
                <a:gd name="T14" fmla="*/ 625104 w 78"/>
                <a:gd name="T15" fmla="*/ 218 h 69"/>
                <a:gd name="T16" fmla="*/ 461814 w 78"/>
                <a:gd name="T17" fmla="*/ 111 h 69"/>
                <a:gd name="T18" fmla="*/ 418066 w 78"/>
                <a:gd name="T19" fmla="*/ 74 h 69"/>
                <a:gd name="T20" fmla="*/ 0 w 78"/>
                <a:gd name="T21" fmla="*/ 0 h 69"/>
                <a:gd name="T22" fmla="*/ 57648 w 78"/>
                <a:gd name="T23" fmla="*/ 218 h 69"/>
                <a:gd name="T24" fmla="*/ 323513 w 78"/>
                <a:gd name="T25" fmla="*/ 405 h 69"/>
                <a:gd name="T26" fmla="*/ 720891 w 78"/>
                <a:gd name="T27" fmla="*/ 553 h 69"/>
                <a:gd name="T28" fmla="*/ 1148299 w 78"/>
                <a:gd name="T29" fmla="*/ 696 h 69"/>
                <a:gd name="T30" fmla="*/ 1587866 w 78"/>
                <a:gd name="T31" fmla="*/ 830 h 69"/>
                <a:gd name="T32" fmla="*/ 1906471 w 78"/>
                <a:gd name="T33" fmla="*/ 950 h 69"/>
                <a:gd name="T34" fmla="*/ 2066934 w 78"/>
                <a:gd name="T35" fmla="*/ 1045 h 69"/>
                <a:gd name="T36" fmla="*/ 2101908 w 78"/>
                <a:gd name="T37" fmla="*/ 1088 h 69"/>
                <a:gd name="T38" fmla="*/ 2532882 w 78"/>
                <a:gd name="T39" fmla="*/ 1158 h 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8"/>
                <a:gd name="T61" fmla="*/ 0 h 69"/>
                <a:gd name="T62" fmla="*/ 78 w 78"/>
                <a:gd name="T63" fmla="*/ 69 h 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8" h="69">
                  <a:moveTo>
                    <a:pt x="77" y="67"/>
                  </a:moveTo>
                  <a:lnTo>
                    <a:pt x="77" y="68"/>
                  </a:lnTo>
                  <a:lnTo>
                    <a:pt x="75" y="55"/>
                  </a:lnTo>
                  <a:lnTo>
                    <a:pt x="67" y="45"/>
                  </a:lnTo>
                  <a:lnTo>
                    <a:pt x="55" y="37"/>
                  </a:lnTo>
                  <a:lnTo>
                    <a:pt x="42" y="29"/>
                  </a:lnTo>
                  <a:lnTo>
                    <a:pt x="29" y="20"/>
                  </a:lnTo>
                  <a:lnTo>
                    <a:pt x="19" y="13"/>
                  </a:lnTo>
                  <a:lnTo>
                    <a:pt x="14" y="7"/>
                  </a:lnTo>
                  <a:lnTo>
                    <a:pt x="13" y="4"/>
                  </a:lnTo>
                  <a:lnTo>
                    <a:pt x="0" y="0"/>
                  </a:lnTo>
                  <a:lnTo>
                    <a:pt x="2" y="13"/>
                  </a:lnTo>
                  <a:lnTo>
                    <a:pt x="10" y="24"/>
                  </a:lnTo>
                  <a:lnTo>
                    <a:pt x="22" y="32"/>
                  </a:lnTo>
                  <a:lnTo>
                    <a:pt x="35" y="40"/>
                  </a:lnTo>
                  <a:lnTo>
                    <a:pt x="48" y="48"/>
                  </a:lnTo>
                  <a:lnTo>
                    <a:pt x="58" y="55"/>
                  </a:lnTo>
                  <a:lnTo>
                    <a:pt x="63" y="61"/>
                  </a:lnTo>
                  <a:lnTo>
                    <a:pt x="64" y="63"/>
                  </a:lnTo>
                  <a:lnTo>
                    <a:pt x="77"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1" name="Freeform 40">
              <a:extLst>
                <a:ext uri="{FF2B5EF4-FFF2-40B4-BE49-F238E27FC236}">
                  <a16:creationId xmlns:a16="http://schemas.microsoft.com/office/drawing/2014/main" id="{1CF6272D-37E3-911A-D832-16613DE8C055}"/>
                </a:ext>
              </a:extLst>
            </p:cNvPr>
            <p:cNvSpPr>
              <a:spLocks/>
            </p:cNvSpPr>
            <p:nvPr/>
          </p:nvSpPr>
          <p:spPr bwMode="auto">
            <a:xfrm>
              <a:off x="3022" y="3299"/>
              <a:ext cx="23" cy="5"/>
            </a:xfrm>
            <a:custGeom>
              <a:avLst/>
              <a:gdLst>
                <a:gd name="T0" fmla="*/ 439537 w 14"/>
                <a:gd name="T1" fmla="*/ 4 h 5"/>
                <a:gd name="T2" fmla="*/ 200264 w 14"/>
                <a:gd name="T3" fmla="*/ 2 h 5"/>
                <a:gd name="T4" fmla="*/ 0 w 14"/>
                <a:gd name="T5" fmla="*/ 0 h 5"/>
                <a:gd name="T6" fmla="*/ 439537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13" y="4"/>
                  </a:moveTo>
                  <a:lnTo>
                    <a:pt x="6" y="2"/>
                  </a:lnTo>
                  <a:lnTo>
                    <a:pt x="0" y="0"/>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2" name="Freeform 41">
              <a:extLst>
                <a:ext uri="{FF2B5EF4-FFF2-40B4-BE49-F238E27FC236}">
                  <a16:creationId xmlns:a16="http://schemas.microsoft.com/office/drawing/2014/main" id="{687759BB-AD43-E10B-9E32-97EB4DE8EF2C}"/>
                </a:ext>
              </a:extLst>
            </p:cNvPr>
            <p:cNvSpPr>
              <a:spLocks/>
            </p:cNvSpPr>
            <p:nvPr/>
          </p:nvSpPr>
          <p:spPr bwMode="auto">
            <a:xfrm>
              <a:off x="2869" y="3299"/>
              <a:ext cx="176" cy="29"/>
            </a:xfrm>
            <a:custGeom>
              <a:avLst/>
              <a:gdLst>
                <a:gd name="T0" fmla="*/ 448956 w 107"/>
                <a:gd name="T1" fmla="*/ 254 h 26"/>
                <a:gd name="T2" fmla="*/ 520021 w 107"/>
                <a:gd name="T3" fmla="*/ 229 h 26"/>
                <a:gd name="T4" fmla="*/ 818282 w 107"/>
                <a:gd name="T5" fmla="*/ 205 h 26"/>
                <a:gd name="T6" fmla="*/ 1274250 w 107"/>
                <a:gd name="T7" fmla="*/ 204 h 26"/>
                <a:gd name="T8" fmla="*/ 1829721 w 107"/>
                <a:gd name="T9" fmla="*/ 204 h 26"/>
                <a:gd name="T10" fmla="*/ 2374059 w 107"/>
                <a:gd name="T11" fmla="*/ 204 h 26"/>
                <a:gd name="T12" fmla="*/ 2899460 w 107"/>
                <a:gd name="T13" fmla="*/ 183 h 26"/>
                <a:gd name="T14" fmla="*/ 3361858 w 107"/>
                <a:gd name="T15" fmla="*/ 147 h 26"/>
                <a:gd name="T16" fmla="*/ 3649694 w 107"/>
                <a:gd name="T17" fmla="*/ 4 h 26"/>
                <a:gd name="T18" fmla="*/ 3223782 w 107"/>
                <a:gd name="T19" fmla="*/ 0 h 26"/>
                <a:gd name="T20" fmla="*/ 3107351 w 107"/>
                <a:gd name="T21" fmla="*/ 2 h 26"/>
                <a:gd name="T22" fmla="*/ 2796262 w 107"/>
                <a:gd name="T23" fmla="*/ 56 h 26"/>
                <a:gd name="T24" fmla="*/ 2374059 w 107"/>
                <a:gd name="T25" fmla="*/ 62 h 26"/>
                <a:gd name="T26" fmla="*/ 1829721 w 107"/>
                <a:gd name="T27" fmla="*/ 56 h 26"/>
                <a:gd name="T28" fmla="*/ 1274250 w 107"/>
                <a:gd name="T29" fmla="*/ 62 h 26"/>
                <a:gd name="T30" fmla="*/ 738470 w 107"/>
                <a:gd name="T31" fmla="*/ 69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20"/>
                  </a:lnTo>
                  <a:lnTo>
                    <a:pt x="53" y="20"/>
                  </a:lnTo>
                  <a:lnTo>
                    <a:pt x="69" y="20"/>
                  </a:lnTo>
                  <a:lnTo>
                    <a:pt x="84" y="18"/>
                  </a:lnTo>
                  <a:lnTo>
                    <a:pt x="97" y="14"/>
                  </a:lnTo>
                  <a:lnTo>
                    <a:pt x="106" y="4"/>
                  </a:lnTo>
                  <a:lnTo>
                    <a:pt x="93" y="0"/>
                  </a:lnTo>
                  <a:lnTo>
                    <a:pt x="90" y="2"/>
                  </a:lnTo>
                  <a:lnTo>
                    <a:pt x="81" y="5"/>
                  </a:lnTo>
                  <a:lnTo>
                    <a:pt x="69" y="6"/>
                  </a:lnTo>
                  <a:lnTo>
                    <a:pt x="53" y="5"/>
                  </a:lnTo>
                  <a:lnTo>
                    <a:pt x="37" y="6"/>
                  </a:lnTo>
                  <a:lnTo>
                    <a:pt x="21"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3" name="Freeform 42">
              <a:extLst>
                <a:ext uri="{FF2B5EF4-FFF2-40B4-BE49-F238E27FC236}">
                  <a16:creationId xmlns:a16="http://schemas.microsoft.com/office/drawing/2014/main" id="{5DAA1BA4-AE9B-93B5-B218-2D70E6BF0B59}"/>
                </a:ext>
              </a:extLst>
            </p:cNvPr>
            <p:cNvSpPr>
              <a:spLocks/>
            </p:cNvSpPr>
            <p:nvPr/>
          </p:nvSpPr>
          <p:spPr bwMode="auto">
            <a:xfrm>
              <a:off x="2869" y="3323"/>
              <a:ext cx="132" cy="76"/>
            </a:xfrm>
            <a:custGeom>
              <a:avLst/>
              <a:gdLst>
                <a:gd name="T0" fmla="*/ 2918860 w 80"/>
                <a:gd name="T1" fmla="*/ 1246 h 66"/>
                <a:gd name="T2" fmla="*/ 2842721 w 80"/>
                <a:gd name="T3" fmla="*/ 1001 h 66"/>
                <a:gd name="T4" fmla="*/ 2506601 w 80"/>
                <a:gd name="T5" fmla="*/ 839 h 66"/>
                <a:gd name="T6" fmla="*/ 2062134 w 80"/>
                <a:gd name="T7" fmla="*/ 656 h 66"/>
                <a:gd name="T8" fmla="*/ 1584345 w 80"/>
                <a:gd name="T9" fmla="*/ 508 h 66"/>
                <a:gd name="T10" fmla="*/ 1100611 w 80"/>
                <a:gd name="T11" fmla="*/ 371 h 66"/>
                <a:gd name="T12" fmla="*/ 692147 w 80"/>
                <a:gd name="T13" fmla="*/ 236 h 66"/>
                <a:gd name="T14" fmla="*/ 520035 w 80"/>
                <a:gd name="T15" fmla="*/ 117 h 66"/>
                <a:gd name="T16" fmla="*/ 477527 w 80"/>
                <a:gd name="T17" fmla="*/ 89 h 66"/>
                <a:gd name="T18" fmla="*/ 0 w 80"/>
                <a:gd name="T19" fmla="*/ 0 h 66"/>
                <a:gd name="T20" fmla="*/ 64426 w 80"/>
                <a:gd name="T21" fmla="*/ 251 h 66"/>
                <a:gd name="T22" fmla="*/ 377109 w 80"/>
                <a:gd name="T23" fmla="*/ 427 h 66"/>
                <a:gd name="T24" fmla="*/ 796859 w 80"/>
                <a:gd name="T25" fmla="*/ 585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8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4"/>
                  </a:lnTo>
                  <a:lnTo>
                    <a:pt x="43" y="26"/>
                  </a:lnTo>
                  <a:lnTo>
                    <a:pt x="30" y="19"/>
                  </a:lnTo>
                  <a:lnTo>
                    <a:pt x="19" y="12"/>
                  </a:lnTo>
                  <a:lnTo>
                    <a:pt x="14" y="6"/>
                  </a:lnTo>
                  <a:lnTo>
                    <a:pt x="13" y="4"/>
                  </a:lnTo>
                  <a:lnTo>
                    <a:pt x="0" y="0"/>
                  </a:lnTo>
                  <a:lnTo>
                    <a:pt x="2" y="13"/>
                  </a:lnTo>
                  <a:lnTo>
                    <a:pt x="10" y="22"/>
                  </a:lnTo>
                  <a:lnTo>
                    <a:pt x="22" y="30"/>
                  </a:lnTo>
                  <a:lnTo>
                    <a:pt x="36" y="38"/>
                  </a:lnTo>
                  <a:lnTo>
                    <a:pt x="49" y="46"/>
                  </a:lnTo>
                  <a:lnTo>
                    <a:pt x="59" y="53"/>
                  </a:lnTo>
                  <a:lnTo>
                    <a:pt x="65" y="59"/>
                  </a:lnTo>
                  <a:lnTo>
                    <a:pt x="66" y="62"/>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4" name="Freeform 43">
              <a:extLst>
                <a:ext uri="{FF2B5EF4-FFF2-40B4-BE49-F238E27FC236}">
                  <a16:creationId xmlns:a16="http://schemas.microsoft.com/office/drawing/2014/main" id="{D82FE190-36B5-DD6F-D218-A50413222D08}"/>
                </a:ext>
              </a:extLst>
            </p:cNvPr>
            <p:cNvSpPr>
              <a:spLocks/>
            </p:cNvSpPr>
            <p:nvPr/>
          </p:nvSpPr>
          <p:spPr bwMode="auto">
            <a:xfrm>
              <a:off x="2823" y="3393"/>
              <a:ext cx="178" cy="29"/>
            </a:xfrm>
            <a:custGeom>
              <a:avLst/>
              <a:gdLst>
                <a:gd name="T0" fmla="*/ 467977 w 108"/>
                <a:gd name="T1" fmla="*/ 530 h 25"/>
                <a:gd name="T2" fmla="*/ 572069 w 108"/>
                <a:gd name="T3" fmla="*/ 516 h 25"/>
                <a:gd name="T4" fmla="*/ 881942 w 108"/>
                <a:gd name="T5" fmla="*/ 455 h 25"/>
                <a:gd name="T6" fmla="*/ 1340297 w 108"/>
                <a:gd name="T7" fmla="*/ 394 h 25"/>
                <a:gd name="T8" fmla="*/ 1899138 w 108"/>
                <a:gd name="T9" fmla="*/ 445 h 25"/>
                <a:gd name="T10" fmla="*/ 2496818 w 108"/>
                <a:gd name="T11" fmla="*/ 394 h 25"/>
                <a:gd name="T12" fmla="*/ 3008657 w 108"/>
                <a:gd name="T13" fmla="*/ 392 h 25"/>
                <a:gd name="T14" fmla="*/ 3504021 w 108"/>
                <a:gd name="T15" fmla="*/ 291 h 25"/>
                <a:gd name="T16" fmla="*/ 3851116 w 108"/>
                <a:gd name="T17" fmla="*/ 3 h 25"/>
                <a:gd name="T18" fmla="*/ 3382615 w 108"/>
                <a:gd name="T19" fmla="*/ 0 h 25"/>
                <a:gd name="T20" fmla="*/ 3279487 w 108"/>
                <a:gd name="T21" fmla="*/ 2 h 25"/>
                <a:gd name="T22" fmla="*/ 2963647 w 108"/>
                <a:gd name="T23" fmla="*/ 101 h 25"/>
                <a:gd name="T24" fmla="*/ 2496818 w 108"/>
                <a:gd name="T25" fmla="*/ 117 h 25"/>
                <a:gd name="T26" fmla="*/ 1899138 w 108"/>
                <a:gd name="T27" fmla="*/ 117 h 25"/>
                <a:gd name="T28" fmla="*/ 1340297 w 108"/>
                <a:gd name="T29" fmla="*/ 117 h 25"/>
                <a:gd name="T30" fmla="*/ 771295 w 108"/>
                <a:gd name="T31" fmla="*/ 158 h 25"/>
                <a:gd name="T32" fmla="*/ 332929 w 108"/>
                <a:gd name="T33" fmla="*/ 246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4" y="20"/>
                  </a:lnTo>
                  <a:lnTo>
                    <a:pt x="37" y="18"/>
                  </a:lnTo>
                  <a:lnTo>
                    <a:pt x="53" y="19"/>
                  </a:lnTo>
                  <a:lnTo>
                    <a:pt x="69" y="18"/>
                  </a:lnTo>
                  <a:lnTo>
                    <a:pt x="84" y="17"/>
                  </a:lnTo>
                  <a:lnTo>
                    <a:pt x="97" y="13"/>
                  </a:lnTo>
                  <a:lnTo>
                    <a:pt x="107" y="3"/>
                  </a:lnTo>
                  <a:lnTo>
                    <a:pt x="94" y="0"/>
                  </a:lnTo>
                  <a:lnTo>
                    <a:pt x="91" y="2"/>
                  </a:lnTo>
                  <a:lnTo>
                    <a:pt x="82" y="4"/>
                  </a:lnTo>
                  <a:lnTo>
                    <a:pt x="69" y="5"/>
                  </a:lnTo>
                  <a:lnTo>
                    <a:pt x="53" y="5"/>
                  </a:lnTo>
                  <a:lnTo>
                    <a:pt x="37" y="5"/>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5" name="Freeform 44">
              <a:extLst>
                <a:ext uri="{FF2B5EF4-FFF2-40B4-BE49-F238E27FC236}">
                  <a16:creationId xmlns:a16="http://schemas.microsoft.com/office/drawing/2014/main" id="{3EAC85D3-6C21-A5A9-3F7A-7D5938A4A879}"/>
                </a:ext>
              </a:extLst>
            </p:cNvPr>
            <p:cNvSpPr>
              <a:spLocks/>
            </p:cNvSpPr>
            <p:nvPr/>
          </p:nvSpPr>
          <p:spPr bwMode="auto">
            <a:xfrm>
              <a:off x="2823" y="3416"/>
              <a:ext cx="136" cy="71"/>
            </a:xfrm>
            <a:custGeom>
              <a:avLst/>
              <a:gdLst>
                <a:gd name="T0" fmla="*/ 3316748 w 82"/>
                <a:gd name="T1" fmla="*/ 1017 h 62"/>
                <a:gd name="T2" fmla="*/ 3310262 w 82"/>
                <a:gd name="T3" fmla="*/ 1046 h 62"/>
                <a:gd name="T4" fmla="*/ 3175910 w 82"/>
                <a:gd name="T5" fmla="*/ 838 h 62"/>
                <a:gd name="T6" fmla="*/ 2793281 w 82"/>
                <a:gd name="T7" fmla="*/ 715 h 62"/>
                <a:gd name="T8" fmla="*/ 2301297 w 82"/>
                <a:gd name="T9" fmla="*/ 566 h 62"/>
                <a:gd name="T10" fmla="*/ 1767504 w 82"/>
                <a:gd name="T11" fmla="*/ 462 h 62"/>
                <a:gd name="T12" fmla="*/ 1203406 w 82"/>
                <a:gd name="T13" fmla="*/ 328 h 62"/>
                <a:gd name="T14" fmla="*/ 792167 w 82"/>
                <a:gd name="T15" fmla="*/ 190 h 62"/>
                <a:gd name="T16" fmla="*/ 563196 w 82"/>
                <a:gd name="T17" fmla="*/ 97 h 62"/>
                <a:gd name="T18" fmla="*/ 543340 w 82"/>
                <a:gd name="T19" fmla="*/ 74 h 62"/>
                <a:gd name="T20" fmla="*/ 0 w 82"/>
                <a:gd name="T21" fmla="*/ 0 h 62"/>
                <a:gd name="T22" fmla="*/ 71808 w 82"/>
                <a:gd name="T23" fmla="*/ 211 h 62"/>
                <a:gd name="T24" fmla="*/ 413734 w 82"/>
                <a:gd name="T25" fmla="*/ 376 h 62"/>
                <a:gd name="T26" fmla="*/ 934081 w 82"/>
                <a:gd name="T27" fmla="*/ 529 h 62"/>
                <a:gd name="T28" fmla="*/ 1494589 w 82"/>
                <a:gd name="T29" fmla="*/ 634 h 62"/>
                <a:gd name="T30" fmla="*/ 1999804 w 82"/>
                <a:gd name="T31" fmla="*/ 795 h 62"/>
                <a:gd name="T32" fmla="*/ 2478831 w 82"/>
                <a:gd name="T33" fmla="*/ 882 h 62"/>
                <a:gd name="T34" fmla="*/ 2707123 w 82"/>
                <a:gd name="T35" fmla="*/ 973 h 62"/>
                <a:gd name="T36" fmla="*/ 2751824 w 82"/>
                <a:gd name="T37" fmla="*/ 973 h 62"/>
                <a:gd name="T38" fmla="*/ 2707123 w 82"/>
                <a:gd name="T39" fmla="*/ 1017 h 62"/>
                <a:gd name="T40" fmla="*/ 2751824 w 82"/>
                <a:gd name="T41" fmla="*/ 973 h 62"/>
                <a:gd name="T42" fmla="*/ 2707123 w 82"/>
                <a:gd name="T43" fmla="*/ 1017 h 62"/>
                <a:gd name="T44" fmla="*/ 3316748 w 82"/>
                <a:gd name="T45" fmla="*/ 1017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62"/>
                <a:gd name="T71" fmla="*/ 82 w 82"/>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62">
                  <a:moveTo>
                    <a:pt x="81" y="59"/>
                  </a:moveTo>
                  <a:lnTo>
                    <a:pt x="80" y="61"/>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7"/>
                  </a:lnTo>
                  <a:lnTo>
                    <a:pt x="67" y="57"/>
                  </a:lnTo>
                  <a:lnTo>
                    <a:pt x="66" y="59"/>
                  </a:lnTo>
                  <a:lnTo>
                    <a:pt x="67" y="57"/>
                  </a:lnTo>
                  <a:lnTo>
                    <a:pt x="66" y="59"/>
                  </a:lnTo>
                  <a:lnTo>
                    <a:pt x="81" y="5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6" name="Freeform 45">
              <a:extLst>
                <a:ext uri="{FF2B5EF4-FFF2-40B4-BE49-F238E27FC236}">
                  <a16:creationId xmlns:a16="http://schemas.microsoft.com/office/drawing/2014/main" id="{BD677B14-49A6-5165-5E35-0972AF4B69F4}"/>
                </a:ext>
              </a:extLst>
            </p:cNvPr>
            <p:cNvSpPr>
              <a:spLocks/>
            </p:cNvSpPr>
            <p:nvPr/>
          </p:nvSpPr>
          <p:spPr bwMode="auto">
            <a:xfrm>
              <a:off x="2932" y="3483"/>
              <a:ext cx="27" cy="6"/>
            </a:xfrm>
            <a:custGeom>
              <a:avLst/>
              <a:gdLst>
                <a:gd name="T0" fmla="*/ 824491 w 16"/>
                <a:gd name="T1" fmla="*/ 5 h 6"/>
                <a:gd name="T2" fmla="*/ 879388 w 16"/>
                <a:gd name="T3" fmla="*/ 3 h 6"/>
                <a:gd name="T4" fmla="*/ 879388 w 16"/>
                <a:gd name="T5" fmla="*/ 1 h 6"/>
                <a:gd name="T6" fmla="*/ 0 w 16"/>
                <a:gd name="T7" fmla="*/ 1 h 6"/>
                <a:gd name="T8" fmla="*/ 0 w 16"/>
                <a:gd name="T9" fmla="*/ 3 h 6"/>
                <a:gd name="T10" fmla="*/ 62006 w 16"/>
                <a:gd name="T11" fmla="*/ 0 h 6"/>
                <a:gd name="T12" fmla="*/ 824491 w 16"/>
                <a:gd name="T13" fmla="*/ 5 h 6"/>
                <a:gd name="T14" fmla="*/ 879388 w 16"/>
                <a:gd name="T15" fmla="*/ 4 h 6"/>
                <a:gd name="T16" fmla="*/ 879388 w 16"/>
                <a:gd name="T17" fmla="*/ 3 h 6"/>
                <a:gd name="T18" fmla="*/ 824491 w 16"/>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6"/>
                <a:gd name="T32" fmla="*/ 16 w 1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6">
                  <a:moveTo>
                    <a:pt x="14" y="5"/>
                  </a:moveTo>
                  <a:lnTo>
                    <a:pt x="15" y="3"/>
                  </a:lnTo>
                  <a:lnTo>
                    <a:pt x="15" y="1"/>
                  </a:lnTo>
                  <a:lnTo>
                    <a:pt x="0" y="1"/>
                  </a:lnTo>
                  <a:lnTo>
                    <a:pt x="0" y="3"/>
                  </a:lnTo>
                  <a:lnTo>
                    <a:pt x="1" y="0"/>
                  </a:lnTo>
                  <a:lnTo>
                    <a:pt x="14" y="5"/>
                  </a:lnTo>
                  <a:lnTo>
                    <a:pt x="15" y="4"/>
                  </a:lnTo>
                  <a:lnTo>
                    <a:pt x="15" y="3"/>
                  </a:lnTo>
                  <a:lnTo>
                    <a:pt x="14"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7" name="Freeform 46">
              <a:extLst>
                <a:ext uri="{FF2B5EF4-FFF2-40B4-BE49-F238E27FC236}">
                  <a16:creationId xmlns:a16="http://schemas.microsoft.com/office/drawing/2014/main" id="{56B2D84C-3ADD-427F-4519-3C3F813FFC4C}"/>
                </a:ext>
              </a:extLst>
            </p:cNvPr>
            <p:cNvSpPr>
              <a:spLocks/>
            </p:cNvSpPr>
            <p:nvPr/>
          </p:nvSpPr>
          <p:spPr bwMode="auto">
            <a:xfrm>
              <a:off x="2783" y="3483"/>
              <a:ext cx="173" cy="31"/>
            </a:xfrm>
            <a:custGeom>
              <a:avLst/>
              <a:gdLst>
                <a:gd name="T0" fmla="*/ 373313 w 106"/>
                <a:gd name="T1" fmla="*/ 473 h 27"/>
                <a:gd name="T2" fmla="*/ 430014 w 106"/>
                <a:gd name="T3" fmla="*/ 412 h 27"/>
                <a:gd name="T4" fmla="*/ 701815 w 106"/>
                <a:gd name="T5" fmla="*/ 377 h 27"/>
                <a:gd name="T6" fmla="*/ 1079154 w 106"/>
                <a:gd name="T7" fmla="*/ 355 h 27"/>
                <a:gd name="T8" fmla="*/ 1530828 w 106"/>
                <a:gd name="T9" fmla="*/ 355 h 27"/>
                <a:gd name="T10" fmla="*/ 1989524 w 106"/>
                <a:gd name="T11" fmla="*/ 355 h 27"/>
                <a:gd name="T12" fmla="*/ 2421995 w 106"/>
                <a:gd name="T13" fmla="*/ 313 h 27"/>
                <a:gd name="T14" fmla="*/ 2820902 w 106"/>
                <a:gd name="T15" fmla="*/ 249 h 27"/>
                <a:gd name="T16" fmla="*/ 3075039 w 106"/>
                <a:gd name="T17" fmla="*/ 104 h 27"/>
                <a:gd name="T18" fmla="*/ 2702097 w 106"/>
                <a:gd name="T19" fmla="*/ 0 h 27"/>
                <a:gd name="T20" fmla="*/ 2613447 w 106"/>
                <a:gd name="T21" fmla="*/ 2 h 27"/>
                <a:gd name="T22" fmla="*/ 2370041 w 106"/>
                <a:gd name="T23" fmla="*/ 79 h 27"/>
                <a:gd name="T24" fmla="*/ 1989524 w 106"/>
                <a:gd name="T25" fmla="*/ 104 h 27"/>
                <a:gd name="T26" fmla="*/ 1530828 w 106"/>
                <a:gd name="T27" fmla="*/ 91 h 27"/>
                <a:gd name="T28" fmla="*/ 1059028 w 106"/>
                <a:gd name="T29" fmla="*/ 104 h 27"/>
                <a:gd name="T30" fmla="*/ 609275 w 106"/>
                <a:gd name="T31" fmla="*/ 137 h 27"/>
                <a:gd name="T32" fmla="*/ 263477 w 106"/>
                <a:gd name="T33" fmla="*/ 217 h 27"/>
                <a:gd name="T34" fmla="*/ 0 w 106"/>
                <a:gd name="T35" fmla="*/ 408 h 27"/>
                <a:gd name="T36" fmla="*/ 373313 w 106"/>
                <a:gd name="T37" fmla="*/ 47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7"/>
                <a:gd name="T59" fmla="*/ 106 w 106"/>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7">
                  <a:moveTo>
                    <a:pt x="13" y="26"/>
                  </a:moveTo>
                  <a:lnTo>
                    <a:pt x="15" y="23"/>
                  </a:lnTo>
                  <a:lnTo>
                    <a:pt x="24" y="21"/>
                  </a:lnTo>
                  <a:lnTo>
                    <a:pt x="37" y="19"/>
                  </a:lnTo>
                  <a:lnTo>
                    <a:pt x="52" y="19"/>
                  </a:lnTo>
                  <a:lnTo>
                    <a:pt x="68" y="19"/>
                  </a:lnTo>
                  <a:lnTo>
                    <a:pt x="83" y="17"/>
                  </a:lnTo>
                  <a:lnTo>
                    <a:pt x="96" y="14"/>
                  </a:lnTo>
                  <a:lnTo>
                    <a:pt x="105" y="6"/>
                  </a:lnTo>
                  <a:lnTo>
                    <a:pt x="92" y="0"/>
                  </a:lnTo>
                  <a:lnTo>
                    <a:pt x="89" y="2"/>
                  </a:lnTo>
                  <a:lnTo>
                    <a:pt x="81" y="4"/>
                  </a:lnTo>
                  <a:lnTo>
                    <a:pt x="68" y="6"/>
                  </a:lnTo>
                  <a:lnTo>
                    <a:pt x="52" y="5"/>
                  </a:lnTo>
                  <a:lnTo>
                    <a:pt x="36" y="6"/>
                  </a:lnTo>
                  <a:lnTo>
                    <a:pt x="21"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8" name="Freeform 47">
              <a:extLst>
                <a:ext uri="{FF2B5EF4-FFF2-40B4-BE49-F238E27FC236}">
                  <a16:creationId xmlns:a16="http://schemas.microsoft.com/office/drawing/2014/main" id="{0D105A23-3A71-6112-4040-559E61CA4655}"/>
                </a:ext>
              </a:extLst>
            </p:cNvPr>
            <p:cNvSpPr>
              <a:spLocks/>
            </p:cNvSpPr>
            <p:nvPr/>
          </p:nvSpPr>
          <p:spPr bwMode="auto">
            <a:xfrm>
              <a:off x="2783" y="350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10 h 66"/>
                <a:gd name="T10" fmla="*/ 1040012 w 79"/>
                <a:gd name="T11" fmla="*/ 371 h 66"/>
                <a:gd name="T12" fmla="*/ 656503 w 79"/>
                <a:gd name="T13" fmla="*/ 236 h 66"/>
                <a:gd name="T14" fmla="*/ 451334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587 h 66"/>
                <a:gd name="T26" fmla="*/ 1222168 w 79"/>
                <a:gd name="T27" fmla="*/ 755 h 66"/>
                <a:gd name="T28" fmla="*/ 1711412 w 79"/>
                <a:gd name="T29" fmla="*/ 896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19"/>
                  </a:lnTo>
                  <a:lnTo>
                    <a:pt x="19" y="12"/>
                  </a:lnTo>
                  <a:lnTo>
                    <a:pt x="13" y="6"/>
                  </a:lnTo>
                  <a:lnTo>
                    <a:pt x="13" y="4"/>
                  </a:lnTo>
                  <a:lnTo>
                    <a:pt x="0" y="0"/>
                  </a:lnTo>
                  <a:lnTo>
                    <a:pt x="2" y="13"/>
                  </a:lnTo>
                  <a:lnTo>
                    <a:pt x="10" y="23"/>
                  </a:lnTo>
                  <a:lnTo>
                    <a:pt x="22" y="31"/>
                  </a:lnTo>
                  <a:lnTo>
                    <a:pt x="35" y="39"/>
                  </a:lnTo>
                  <a:lnTo>
                    <a:pt x="49" y="47"/>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69" name="Freeform 48">
              <a:extLst>
                <a:ext uri="{FF2B5EF4-FFF2-40B4-BE49-F238E27FC236}">
                  <a16:creationId xmlns:a16="http://schemas.microsoft.com/office/drawing/2014/main" id="{86C6FEAF-0A4C-CD97-36B9-F023F1B07C68}"/>
                </a:ext>
              </a:extLst>
            </p:cNvPr>
            <p:cNvSpPr>
              <a:spLocks/>
            </p:cNvSpPr>
            <p:nvPr/>
          </p:nvSpPr>
          <p:spPr bwMode="auto">
            <a:xfrm>
              <a:off x="2737" y="357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394 h 25"/>
                <a:gd name="T10" fmla="*/ 2374059 w 107"/>
                <a:gd name="T11" fmla="*/ 394 h 25"/>
                <a:gd name="T12" fmla="*/ 2937350 w 107"/>
                <a:gd name="T13" fmla="*/ 384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17 h 25"/>
                <a:gd name="T26" fmla="*/ 1829721 w 107"/>
                <a:gd name="T27" fmla="*/ 117 h 25"/>
                <a:gd name="T28" fmla="*/ 1274250 w 107"/>
                <a:gd name="T29" fmla="*/ 136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8"/>
                  </a:lnTo>
                  <a:lnTo>
                    <a:pt x="69" y="18"/>
                  </a:lnTo>
                  <a:lnTo>
                    <a:pt x="85" y="16"/>
                  </a:lnTo>
                  <a:lnTo>
                    <a:pt x="97" y="13"/>
                  </a:lnTo>
                  <a:lnTo>
                    <a:pt x="106" y="4"/>
                  </a:lnTo>
                  <a:lnTo>
                    <a:pt x="93" y="0"/>
                  </a:lnTo>
                  <a:lnTo>
                    <a:pt x="91" y="2"/>
                  </a:lnTo>
                  <a:lnTo>
                    <a:pt x="82" y="4"/>
                  </a:lnTo>
                  <a:lnTo>
                    <a:pt x="69" y="5"/>
                  </a:lnTo>
                  <a:lnTo>
                    <a:pt x="53" y="5"/>
                  </a:lnTo>
                  <a:lnTo>
                    <a:pt x="37" y="6"/>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70" name="Freeform 49">
              <a:extLst>
                <a:ext uri="{FF2B5EF4-FFF2-40B4-BE49-F238E27FC236}">
                  <a16:creationId xmlns:a16="http://schemas.microsoft.com/office/drawing/2014/main" id="{9678836E-694A-6E0E-A5AE-2E1F3D865AC9}"/>
                </a:ext>
              </a:extLst>
            </p:cNvPr>
            <p:cNvSpPr>
              <a:spLocks/>
            </p:cNvSpPr>
            <p:nvPr/>
          </p:nvSpPr>
          <p:spPr bwMode="auto">
            <a:xfrm>
              <a:off x="2737" y="3602"/>
              <a:ext cx="131" cy="76"/>
            </a:xfrm>
            <a:custGeom>
              <a:avLst/>
              <a:gdLst>
                <a:gd name="T0" fmla="*/ 2480706 w 80"/>
                <a:gd name="T1" fmla="*/ 1246 h 66"/>
                <a:gd name="T2" fmla="*/ 2415525 w 80"/>
                <a:gd name="T3" fmla="*/ 1001 h 66"/>
                <a:gd name="T4" fmla="*/ 2134954 w 80"/>
                <a:gd name="T5" fmla="*/ 839 h 66"/>
                <a:gd name="T6" fmla="*/ 1785199 w 80"/>
                <a:gd name="T7" fmla="*/ 674 h 66"/>
                <a:gd name="T8" fmla="*/ 1346184 w 80"/>
                <a:gd name="T9" fmla="*/ 510 h 66"/>
                <a:gd name="T10" fmla="*/ 939702 w 80"/>
                <a:gd name="T11" fmla="*/ 371 h 66"/>
                <a:gd name="T12" fmla="*/ 630154 w 80"/>
                <a:gd name="T13" fmla="*/ 236 h 66"/>
                <a:gd name="T14" fmla="*/ 445495 w 80"/>
                <a:gd name="T15" fmla="*/ 117 h 66"/>
                <a:gd name="T16" fmla="*/ 402943 w 80"/>
                <a:gd name="T17" fmla="*/ 89 h 66"/>
                <a:gd name="T18" fmla="*/ 0 w 80"/>
                <a:gd name="T19" fmla="*/ 0 h 66"/>
                <a:gd name="T20" fmla="*/ 56043 w 80"/>
                <a:gd name="T21" fmla="*/ 251 h 66"/>
                <a:gd name="T22" fmla="*/ 335959 w 80"/>
                <a:gd name="T23" fmla="*/ 441 h 66"/>
                <a:gd name="T24" fmla="*/ 695772 w 80"/>
                <a:gd name="T25" fmla="*/ 587 h 66"/>
                <a:gd name="T26" fmla="*/ 1177164 w 80"/>
                <a:gd name="T27" fmla="*/ 755 h 66"/>
                <a:gd name="T28" fmla="*/ 1538762 w 80"/>
                <a:gd name="T29" fmla="*/ 896 h 66"/>
                <a:gd name="T30" fmla="*/ 1865648 w 80"/>
                <a:gd name="T31" fmla="*/ 1029 h 66"/>
                <a:gd name="T32" fmla="*/ 2045165 w 80"/>
                <a:gd name="T33" fmla="*/ 1148 h 66"/>
                <a:gd name="T34" fmla="*/ 2079299 w 80"/>
                <a:gd name="T35" fmla="*/ 1153 h 66"/>
                <a:gd name="T36" fmla="*/ 2079299 w 80"/>
                <a:gd name="T37" fmla="*/ 1185 h 66"/>
                <a:gd name="T38" fmla="*/ 2480706 w 80"/>
                <a:gd name="T39" fmla="*/ 1246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6"/>
                <a:gd name="T62" fmla="*/ 80 w 80"/>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6">
                  <a:moveTo>
                    <a:pt x="79" y="65"/>
                  </a:moveTo>
                  <a:lnTo>
                    <a:pt x="77" y="52"/>
                  </a:lnTo>
                  <a:lnTo>
                    <a:pt x="68" y="43"/>
                  </a:lnTo>
                  <a:lnTo>
                    <a:pt x="57" y="35"/>
                  </a:lnTo>
                  <a:lnTo>
                    <a:pt x="43" y="27"/>
                  </a:lnTo>
                  <a:lnTo>
                    <a:pt x="30" y="19"/>
                  </a:lnTo>
                  <a:lnTo>
                    <a:pt x="20" y="12"/>
                  </a:lnTo>
                  <a:lnTo>
                    <a:pt x="14" y="6"/>
                  </a:lnTo>
                  <a:lnTo>
                    <a:pt x="13" y="4"/>
                  </a:lnTo>
                  <a:lnTo>
                    <a:pt x="0" y="0"/>
                  </a:lnTo>
                  <a:lnTo>
                    <a:pt x="2" y="13"/>
                  </a:lnTo>
                  <a:lnTo>
                    <a:pt x="11" y="23"/>
                  </a:lnTo>
                  <a:lnTo>
                    <a:pt x="22" y="31"/>
                  </a:lnTo>
                  <a:lnTo>
                    <a:pt x="37"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71" name="Freeform 50">
              <a:extLst>
                <a:ext uri="{FF2B5EF4-FFF2-40B4-BE49-F238E27FC236}">
                  <a16:creationId xmlns:a16="http://schemas.microsoft.com/office/drawing/2014/main" id="{07DD40A8-E607-D3CF-19BD-D1BC8D955CF0}"/>
                </a:ext>
              </a:extLst>
            </p:cNvPr>
            <p:cNvSpPr>
              <a:spLocks/>
            </p:cNvSpPr>
            <p:nvPr/>
          </p:nvSpPr>
          <p:spPr bwMode="auto">
            <a:xfrm>
              <a:off x="2679" y="3672"/>
              <a:ext cx="189" cy="27"/>
            </a:xfrm>
            <a:custGeom>
              <a:avLst/>
              <a:gdLst>
                <a:gd name="T0" fmla="*/ 441678 w 115"/>
                <a:gd name="T1" fmla="*/ 639 h 23"/>
                <a:gd name="T2" fmla="*/ 511833 w 115"/>
                <a:gd name="T3" fmla="*/ 639 h 23"/>
                <a:gd name="T4" fmla="*/ 805456 w 115"/>
                <a:gd name="T5" fmla="*/ 593 h 23"/>
                <a:gd name="T6" fmla="*/ 1323749 w 115"/>
                <a:gd name="T7" fmla="*/ 544 h 23"/>
                <a:gd name="T8" fmla="*/ 1937644 w 115"/>
                <a:gd name="T9" fmla="*/ 544 h 23"/>
                <a:gd name="T10" fmla="*/ 2540566 w 115"/>
                <a:gd name="T11" fmla="*/ 514 h 23"/>
                <a:gd name="T12" fmla="*/ 3104818 w 115"/>
                <a:gd name="T13" fmla="*/ 505 h 23"/>
                <a:gd name="T14" fmla="*/ 3575474 w 115"/>
                <a:gd name="T15" fmla="*/ 373 h 23"/>
                <a:gd name="T16" fmla="*/ 3864861 w 115"/>
                <a:gd name="T17" fmla="*/ 122 h 23"/>
                <a:gd name="T18" fmla="*/ 3437182 w 115"/>
                <a:gd name="T19" fmla="*/ 0 h 23"/>
                <a:gd name="T20" fmla="*/ 3337567 w 115"/>
                <a:gd name="T21" fmla="*/ 2 h 23"/>
                <a:gd name="T22" fmla="*/ 2994209 w 115"/>
                <a:gd name="T23" fmla="*/ 122 h 23"/>
                <a:gd name="T24" fmla="*/ 2523166 w 115"/>
                <a:gd name="T25" fmla="*/ 168 h 23"/>
                <a:gd name="T26" fmla="*/ 1937644 w 115"/>
                <a:gd name="T27" fmla="*/ 168 h 23"/>
                <a:gd name="T28" fmla="*/ 1323749 w 115"/>
                <a:gd name="T29" fmla="*/ 168 h 23"/>
                <a:gd name="T30" fmla="*/ 782457 w 115"/>
                <a:gd name="T31" fmla="*/ 231 h 23"/>
                <a:gd name="T32" fmla="*/ 331274 w 115"/>
                <a:gd name="T33" fmla="*/ 286 h 23"/>
                <a:gd name="T34" fmla="*/ 0 w 115"/>
                <a:gd name="T35" fmla="*/ 514 h 23"/>
                <a:gd name="T36" fmla="*/ 441678 w 115"/>
                <a:gd name="T37" fmla="*/ 639 h 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23"/>
                <a:gd name="T59" fmla="*/ 115 w 115"/>
                <a:gd name="T60" fmla="*/ 23 h 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23">
                  <a:moveTo>
                    <a:pt x="13" y="22"/>
                  </a:moveTo>
                  <a:lnTo>
                    <a:pt x="15" y="22"/>
                  </a:lnTo>
                  <a:lnTo>
                    <a:pt x="24" y="20"/>
                  </a:lnTo>
                  <a:lnTo>
                    <a:pt x="39" y="19"/>
                  </a:lnTo>
                  <a:lnTo>
                    <a:pt x="57" y="19"/>
                  </a:lnTo>
                  <a:lnTo>
                    <a:pt x="75" y="18"/>
                  </a:lnTo>
                  <a:lnTo>
                    <a:pt x="91" y="17"/>
                  </a:lnTo>
                  <a:lnTo>
                    <a:pt x="105" y="13"/>
                  </a:lnTo>
                  <a:lnTo>
                    <a:pt x="114" y="4"/>
                  </a:lnTo>
                  <a:lnTo>
                    <a:pt x="101" y="0"/>
                  </a:lnTo>
                  <a:lnTo>
                    <a:pt x="98" y="2"/>
                  </a:lnTo>
                  <a:lnTo>
                    <a:pt x="88" y="4"/>
                  </a:lnTo>
                  <a:lnTo>
                    <a:pt x="74" y="6"/>
                  </a:lnTo>
                  <a:lnTo>
                    <a:pt x="57" y="6"/>
                  </a:lnTo>
                  <a:lnTo>
                    <a:pt x="39" y="6"/>
                  </a:lnTo>
                  <a:lnTo>
                    <a:pt x="23" y="8"/>
                  </a:lnTo>
                  <a:lnTo>
                    <a:pt x="10" y="10"/>
                  </a:lnTo>
                  <a:lnTo>
                    <a:pt x="0" y="18"/>
                  </a:lnTo>
                  <a:lnTo>
                    <a:pt x="13" y="2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72" name="Freeform 51">
              <a:extLst>
                <a:ext uri="{FF2B5EF4-FFF2-40B4-BE49-F238E27FC236}">
                  <a16:creationId xmlns:a16="http://schemas.microsoft.com/office/drawing/2014/main" id="{E2A09FD4-504E-6EDA-A194-B92DD5D71692}"/>
                </a:ext>
              </a:extLst>
            </p:cNvPr>
            <p:cNvSpPr>
              <a:spLocks/>
            </p:cNvSpPr>
            <p:nvPr/>
          </p:nvSpPr>
          <p:spPr bwMode="auto">
            <a:xfrm>
              <a:off x="3453" y="1951"/>
              <a:ext cx="133" cy="125"/>
            </a:xfrm>
            <a:custGeom>
              <a:avLst/>
              <a:gdLst>
                <a:gd name="T0" fmla="*/ 1361529 w 81"/>
                <a:gd name="T1" fmla="*/ 1662 h 108"/>
                <a:gd name="T2" fmla="*/ 0 w 81"/>
                <a:gd name="T3" fmla="*/ 1771 h 108"/>
                <a:gd name="T4" fmla="*/ 0 w 81"/>
                <a:gd name="T5" fmla="*/ 1755 h 108"/>
                <a:gd name="T6" fmla="*/ 1461685 w 81"/>
                <a:gd name="T7" fmla="*/ 926 h 108"/>
                <a:gd name="T8" fmla="*/ 1618073 w 81"/>
                <a:gd name="T9" fmla="*/ 815 h 108"/>
                <a:gd name="T10" fmla="*/ 1769539 w 81"/>
                <a:gd name="T11" fmla="*/ 691 h 108"/>
                <a:gd name="T12" fmla="*/ 1926232 w 81"/>
                <a:gd name="T13" fmla="*/ 594 h 108"/>
                <a:gd name="T14" fmla="*/ 2062763 w 81"/>
                <a:gd name="T15" fmla="*/ 466 h 108"/>
                <a:gd name="T16" fmla="*/ 2235597 w 81"/>
                <a:gd name="T17" fmla="*/ 348 h 108"/>
                <a:gd name="T18" fmla="*/ 2370078 w 81"/>
                <a:gd name="T19" fmla="*/ 247 h 108"/>
                <a:gd name="T20" fmla="*/ 2535189 w 81"/>
                <a:gd name="T21" fmla="*/ 108 h 108"/>
                <a:gd name="T22" fmla="*/ 2656836 w 81"/>
                <a:gd name="T23" fmla="*/ 0 h 108"/>
                <a:gd name="T24" fmla="*/ 2635349 w 81"/>
                <a:gd name="T25" fmla="*/ 145 h 108"/>
                <a:gd name="T26" fmla="*/ 2558027 w 81"/>
                <a:gd name="T27" fmla="*/ 286 h 108"/>
                <a:gd name="T28" fmla="*/ 2535189 w 81"/>
                <a:gd name="T29" fmla="*/ 443 h 108"/>
                <a:gd name="T30" fmla="*/ 2499894 w 81"/>
                <a:gd name="T31" fmla="*/ 561 h 108"/>
                <a:gd name="T32" fmla="*/ 2429082 w 81"/>
                <a:gd name="T33" fmla="*/ 704 h 108"/>
                <a:gd name="T34" fmla="*/ 2370078 w 81"/>
                <a:gd name="T35" fmla="*/ 853 h 108"/>
                <a:gd name="T36" fmla="*/ 2333873 w 81"/>
                <a:gd name="T37" fmla="*/ 987 h 108"/>
                <a:gd name="T38" fmla="*/ 2272793 w 81"/>
                <a:gd name="T39" fmla="*/ 1142 h 108"/>
                <a:gd name="T40" fmla="*/ 2177657 w 81"/>
                <a:gd name="T41" fmla="*/ 2279 h 108"/>
                <a:gd name="T42" fmla="*/ 2121517 w 81"/>
                <a:gd name="T43" fmla="*/ 2313 h 108"/>
                <a:gd name="T44" fmla="*/ 1361529 w 81"/>
                <a:gd name="T45" fmla="*/ 1662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1"/>
                <a:gd name="T70" fmla="*/ 0 h 108"/>
                <a:gd name="T71" fmla="*/ 81 w 81"/>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1" h="108">
                  <a:moveTo>
                    <a:pt x="41" y="78"/>
                  </a:moveTo>
                  <a:lnTo>
                    <a:pt x="0" y="82"/>
                  </a:lnTo>
                  <a:lnTo>
                    <a:pt x="0" y="81"/>
                  </a:lnTo>
                  <a:lnTo>
                    <a:pt x="44" y="43"/>
                  </a:lnTo>
                  <a:lnTo>
                    <a:pt x="49" y="38"/>
                  </a:lnTo>
                  <a:lnTo>
                    <a:pt x="53" y="32"/>
                  </a:lnTo>
                  <a:lnTo>
                    <a:pt x="58" y="27"/>
                  </a:lnTo>
                  <a:lnTo>
                    <a:pt x="62" y="22"/>
                  </a:lnTo>
                  <a:lnTo>
                    <a:pt x="67" y="16"/>
                  </a:lnTo>
                  <a:lnTo>
                    <a:pt x="71" y="11"/>
                  </a:lnTo>
                  <a:lnTo>
                    <a:pt x="76" y="5"/>
                  </a:lnTo>
                  <a:lnTo>
                    <a:pt x="80" y="0"/>
                  </a:lnTo>
                  <a:lnTo>
                    <a:pt x="79" y="7"/>
                  </a:lnTo>
                  <a:lnTo>
                    <a:pt x="77" y="13"/>
                  </a:lnTo>
                  <a:lnTo>
                    <a:pt x="76" y="20"/>
                  </a:lnTo>
                  <a:lnTo>
                    <a:pt x="75"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grpSp>
        <p:nvGrpSpPr>
          <p:cNvPr id="3" name="Group 52">
            <a:extLst>
              <a:ext uri="{FF2B5EF4-FFF2-40B4-BE49-F238E27FC236}">
                <a16:creationId xmlns:a16="http://schemas.microsoft.com/office/drawing/2014/main" id="{26D8D00E-DAE8-14B3-ABDF-A0289A2845FE}"/>
              </a:ext>
            </a:extLst>
          </p:cNvPr>
          <p:cNvGrpSpPr>
            <a:grpSpLocks/>
          </p:cNvGrpSpPr>
          <p:nvPr/>
        </p:nvGrpSpPr>
        <p:grpSpPr bwMode="auto">
          <a:xfrm>
            <a:off x="2257425" y="2603561"/>
            <a:ext cx="1239838" cy="3071812"/>
            <a:chOff x="1746" y="1484"/>
            <a:chExt cx="967" cy="2258"/>
          </a:xfrm>
        </p:grpSpPr>
        <p:sp>
          <p:nvSpPr>
            <p:cNvPr id="22772" name="Freeform 53">
              <a:extLst>
                <a:ext uri="{FF2B5EF4-FFF2-40B4-BE49-F238E27FC236}">
                  <a16:creationId xmlns:a16="http://schemas.microsoft.com/office/drawing/2014/main" id="{DDF579C8-7688-AB00-11BE-8BA871096CE4}"/>
                </a:ext>
              </a:extLst>
            </p:cNvPr>
            <p:cNvSpPr>
              <a:spLocks/>
            </p:cNvSpPr>
            <p:nvPr/>
          </p:nvSpPr>
          <p:spPr bwMode="auto">
            <a:xfrm>
              <a:off x="2621" y="3548"/>
              <a:ext cx="67" cy="90"/>
            </a:xfrm>
            <a:custGeom>
              <a:avLst/>
              <a:gdLst>
                <a:gd name="T0" fmla="*/ 815495 w 41"/>
                <a:gd name="T1" fmla="*/ 89 h 78"/>
                <a:gd name="T2" fmla="*/ 815495 w 41"/>
                <a:gd name="T3" fmla="*/ 119 h 78"/>
                <a:gd name="T4" fmla="*/ 753162 w 41"/>
                <a:gd name="T5" fmla="*/ 158 h 78"/>
                <a:gd name="T6" fmla="*/ 574165 w 41"/>
                <a:gd name="T7" fmla="*/ 228 h 78"/>
                <a:gd name="T8" fmla="*/ 326445 w 41"/>
                <a:gd name="T9" fmla="*/ 322 h 78"/>
                <a:gd name="T10" fmla="*/ 122244 w 41"/>
                <a:gd name="T11" fmla="*/ 496 h 78"/>
                <a:gd name="T12" fmla="*/ 0 w 41"/>
                <a:gd name="T13" fmla="*/ 762 h 78"/>
                <a:gd name="T14" fmla="*/ 88835 w 41"/>
                <a:gd name="T15" fmla="*/ 1101 h 78"/>
                <a:gd name="T16" fmla="*/ 387664 w 41"/>
                <a:gd name="T17" fmla="*/ 1555 h 78"/>
                <a:gd name="T18" fmla="*/ 726393 w 41"/>
                <a:gd name="T19" fmla="*/ 1409 h 78"/>
                <a:gd name="T20" fmla="*/ 478285 w 41"/>
                <a:gd name="T21" fmla="*/ 1014 h 78"/>
                <a:gd name="T22" fmla="*/ 427217 w 41"/>
                <a:gd name="T23" fmla="*/ 762 h 78"/>
                <a:gd name="T24" fmla="*/ 478285 w 41"/>
                <a:gd name="T25" fmla="*/ 621 h 78"/>
                <a:gd name="T26" fmla="*/ 608172 w 41"/>
                <a:gd name="T27" fmla="*/ 517 h 78"/>
                <a:gd name="T28" fmla="*/ 753162 w 41"/>
                <a:gd name="T29" fmla="*/ 466 h 78"/>
                <a:gd name="T30" fmla="*/ 993842 w 41"/>
                <a:gd name="T31" fmla="*/ 372 h 78"/>
                <a:gd name="T32" fmla="*/ 1195376 w 41"/>
                <a:gd name="T33" fmla="*/ 228 h 78"/>
                <a:gd name="T34" fmla="*/ 1195376 w 41"/>
                <a:gd name="T35" fmla="*/ 0 h 78"/>
                <a:gd name="T36" fmla="*/ 815495 w 41"/>
                <a:gd name="T37" fmla="*/ 89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78"/>
                <a:gd name="T59" fmla="*/ 41 w 41"/>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78">
                  <a:moveTo>
                    <a:pt x="27" y="4"/>
                  </a:moveTo>
                  <a:lnTo>
                    <a:pt x="27" y="6"/>
                  </a:lnTo>
                  <a:lnTo>
                    <a:pt x="25" y="8"/>
                  </a:lnTo>
                  <a:lnTo>
                    <a:pt x="19" y="11"/>
                  </a:lnTo>
                  <a:lnTo>
                    <a:pt x="11" y="16"/>
                  </a:lnTo>
                  <a:lnTo>
                    <a:pt x="4" y="25"/>
                  </a:lnTo>
                  <a:lnTo>
                    <a:pt x="0" y="38"/>
                  </a:lnTo>
                  <a:lnTo>
                    <a:pt x="3" y="55"/>
                  </a:lnTo>
                  <a:lnTo>
                    <a:pt x="13" y="77"/>
                  </a:lnTo>
                  <a:lnTo>
                    <a:pt x="24" y="70"/>
                  </a:lnTo>
                  <a:lnTo>
                    <a:pt x="16" y="51"/>
                  </a:lnTo>
                  <a:lnTo>
                    <a:pt x="14" y="38"/>
                  </a:lnTo>
                  <a:lnTo>
                    <a:pt x="16" y="31"/>
                  </a:lnTo>
                  <a:lnTo>
                    <a:pt x="20" y="26"/>
                  </a:lnTo>
                  <a:lnTo>
                    <a:pt x="25" y="23"/>
                  </a:lnTo>
                  <a:lnTo>
                    <a:pt x="33" y="18"/>
                  </a:lnTo>
                  <a:lnTo>
                    <a:pt x="40" y="11"/>
                  </a:lnTo>
                  <a:lnTo>
                    <a:pt x="40" y="0"/>
                  </a:lnTo>
                  <a:lnTo>
                    <a:pt x="2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3" name="Freeform 54">
              <a:extLst>
                <a:ext uri="{FF2B5EF4-FFF2-40B4-BE49-F238E27FC236}">
                  <a16:creationId xmlns:a16="http://schemas.microsoft.com/office/drawing/2014/main" id="{19121195-F1F5-7B72-CF6C-D5DD30451625}"/>
                </a:ext>
              </a:extLst>
            </p:cNvPr>
            <p:cNvSpPr>
              <a:spLocks/>
            </p:cNvSpPr>
            <p:nvPr/>
          </p:nvSpPr>
          <p:spPr bwMode="auto">
            <a:xfrm>
              <a:off x="2519" y="3524"/>
              <a:ext cx="169" cy="30"/>
            </a:xfrm>
            <a:custGeom>
              <a:avLst/>
              <a:gdLst>
                <a:gd name="T0" fmla="*/ 0 w 103"/>
                <a:gd name="T1" fmla="*/ 89 h 26"/>
                <a:gd name="T2" fmla="*/ 254227 w 103"/>
                <a:gd name="T3" fmla="*/ 263 h 26"/>
                <a:gd name="T4" fmla="*/ 684417 w 103"/>
                <a:gd name="T5" fmla="*/ 350 h 26"/>
                <a:gd name="T6" fmla="*/ 1180545 w 103"/>
                <a:gd name="T7" fmla="*/ 372 h 26"/>
                <a:gd name="T8" fmla="*/ 1679717 w 103"/>
                <a:gd name="T9" fmla="*/ 373 h 26"/>
                <a:gd name="T10" fmla="*/ 2154414 w 103"/>
                <a:gd name="T11" fmla="*/ 373 h 26"/>
                <a:gd name="T12" fmla="*/ 2563751 w 103"/>
                <a:gd name="T13" fmla="*/ 404 h 26"/>
                <a:gd name="T14" fmla="*/ 2816456 w 103"/>
                <a:gd name="T15" fmla="*/ 430 h 26"/>
                <a:gd name="T16" fmla="*/ 2923762 w 103"/>
                <a:gd name="T17" fmla="*/ 496 h 26"/>
                <a:gd name="T18" fmla="*/ 3341514 w 103"/>
                <a:gd name="T19" fmla="*/ 429 h 26"/>
                <a:gd name="T20" fmla="*/ 3082571 w 103"/>
                <a:gd name="T21" fmla="*/ 228 h 26"/>
                <a:gd name="T22" fmla="*/ 2656472 w 103"/>
                <a:gd name="T23" fmla="*/ 137 h 26"/>
                <a:gd name="T24" fmla="*/ 2154414 w 103"/>
                <a:gd name="T25" fmla="*/ 119 h 26"/>
                <a:gd name="T26" fmla="*/ 1679717 w 103"/>
                <a:gd name="T27" fmla="*/ 103 h 26"/>
                <a:gd name="T28" fmla="*/ 1180545 w 103"/>
                <a:gd name="T29" fmla="*/ 103 h 26"/>
                <a:gd name="T30" fmla="*/ 756475 w 103"/>
                <a:gd name="T31" fmla="*/ 89 h 26"/>
                <a:gd name="T32" fmla="*/ 496066 w 103"/>
                <a:gd name="T33" fmla="*/ 2 h 26"/>
                <a:gd name="T34" fmla="*/ 417130 w 103"/>
                <a:gd name="T35" fmla="*/ 0 h 26"/>
                <a:gd name="T36" fmla="*/ 0 w 103"/>
                <a:gd name="T37" fmla="*/ 8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3"/>
                <a:gd name="T58" fmla="*/ 0 h 26"/>
                <a:gd name="T59" fmla="*/ 103 w 103"/>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3" h="26">
                  <a:moveTo>
                    <a:pt x="0" y="4"/>
                  </a:moveTo>
                  <a:lnTo>
                    <a:pt x="8" y="13"/>
                  </a:lnTo>
                  <a:lnTo>
                    <a:pt x="21" y="17"/>
                  </a:lnTo>
                  <a:lnTo>
                    <a:pt x="36" y="18"/>
                  </a:lnTo>
                  <a:lnTo>
                    <a:pt x="51" y="19"/>
                  </a:lnTo>
                  <a:lnTo>
                    <a:pt x="66" y="19"/>
                  </a:lnTo>
                  <a:lnTo>
                    <a:pt x="78" y="20"/>
                  </a:lnTo>
                  <a:lnTo>
                    <a:pt x="86" y="22"/>
                  </a:lnTo>
                  <a:lnTo>
                    <a:pt x="89" y="25"/>
                  </a:lnTo>
                  <a:lnTo>
                    <a:pt x="102" y="21"/>
                  </a:lnTo>
                  <a:lnTo>
                    <a:pt x="94" y="11"/>
                  </a:lnTo>
                  <a:lnTo>
                    <a:pt x="81" y="7"/>
                  </a:lnTo>
                  <a:lnTo>
                    <a:pt x="66"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4" name="Freeform 55">
              <a:extLst>
                <a:ext uri="{FF2B5EF4-FFF2-40B4-BE49-F238E27FC236}">
                  <a16:creationId xmlns:a16="http://schemas.microsoft.com/office/drawing/2014/main" id="{6BADAD8C-4CE8-9547-9482-6EE600FEA7C6}"/>
                </a:ext>
              </a:extLst>
            </p:cNvPr>
            <p:cNvSpPr>
              <a:spLocks/>
            </p:cNvSpPr>
            <p:nvPr/>
          </p:nvSpPr>
          <p:spPr bwMode="auto">
            <a:xfrm>
              <a:off x="2519" y="3524"/>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5" name="Freeform 56">
              <a:extLst>
                <a:ext uri="{FF2B5EF4-FFF2-40B4-BE49-F238E27FC236}">
                  <a16:creationId xmlns:a16="http://schemas.microsoft.com/office/drawing/2014/main" id="{60DD33D3-5737-B25E-2902-D3E8882EF788}"/>
                </a:ext>
              </a:extLst>
            </p:cNvPr>
            <p:cNvSpPr>
              <a:spLocks/>
            </p:cNvSpPr>
            <p:nvPr/>
          </p:nvSpPr>
          <p:spPr bwMode="auto">
            <a:xfrm>
              <a:off x="2519" y="3457"/>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74812 w 84"/>
                <a:gd name="T23" fmla="*/ 808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1"/>
                  </a:lnTo>
                  <a:lnTo>
                    <a:pt x="12" y="39"/>
                  </a:lnTo>
                  <a:lnTo>
                    <a:pt x="2" y="49"/>
                  </a:lnTo>
                  <a:lnTo>
                    <a:pt x="0" y="62"/>
                  </a:lnTo>
                  <a:lnTo>
                    <a:pt x="13" y="58"/>
                  </a:lnTo>
                  <a:lnTo>
                    <a:pt x="14" y="55"/>
                  </a:lnTo>
                  <a:lnTo>
                    <a:pt x="20" y="49"/>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6" name="Freeform 57">
              <a:extLst>
                <a:ext uri="{FF2B5EF4-FFF2-40B4-BE49-F238E27FC236}">
                  <a16:creationId xmlns:a16="http://schemas.microsoft.com/office/drawing/2014/main" id="{416D4D56-721E-B875-ABC7-C5CF06C49AE2}"/>
                </a:ext>
              </a:extLst>
            </p:cNvPr>
            <p:cNvSpPr>
              <a:spLocks/>
            </p:cNvSpPr>
            <p:nvPr/>
          </p:nvSpPr>
          <p:spPr bwMode="auto">
            <a:xfrm>
              <a:off x="2483" y="3428"/>
              <a:ext cx="174" cy="34"/>
            </a:xfrm>
            <a:custGeom>
              <a:avLst/>
              <a:gdLst>
                <a:gd name="T0" fmla="*/ 0 w 106"/>
                <a:gd name="T1" fmla="*/ 61 h 30"/>
                <a:gd name="T2" fmla="*/ 306683 w 106"/>
                <a:gd name="T3" fmla="*/ 206 h 30"/>
                <a:gd name="T4" fmla="*/ 724886 w 106"/>
                <a:gd name="T5" fmla="*/ 239 h 30"/>
                <a:gd name="T6" fmla="*/ 1189907 w 106"/>
                <a:gd name="T7" fmla="*/ 271 h 30"/>
                <a:gd name="T8" fmla="*/ 1723619 w 106"/>
                <a:gd name="T9" fmla="*/ 299 h 30"/>
                <a:gd name="T10" fmla="*/ 2261872 w 106"/>
                <a:gd name="T11" fmla="*/ 299 h 30"/>
                <a:gd name="T12" fmla="*/ 2681420 w 106"/>
                <a:gd name="T13" fmla="*/ 338 h 30"/>
                <a:gd name="T14" fmla="*/ 2987436 w 106"/>
                <a:gd name="T15" fmla="*/ 383 h 30"/>
                <a:gd name="T16" fmla="*/ 3048815 w 106"/>
                <a:gd name="T17" fmla="*/ 394 h 30"/>
                <a:gd name="T18" fmla="*/ 3468237 w 106"/>
                <a:gd name="T19" fmla="*/ 339 h 30"/>
                <a:gd name="T20" fmla="*/ 3184802 w 106"/>
                <a:gd name="T21" fmla="*/ 206 h 30"/>
                <a:gd name="T22" fmla="*/ 2792912 w 106"/>
                <a:gd name="T23" fmla="*/ 145 h 30"/>
                <a:gd name="T24" fmla="*/ 2274976 w 106"/>
                <a:gd name="T25" fmla="*/ 113 h 30"/>
                <a:gd name="T26" fmla="*/ 1762354 w 106"/>
                <a:gd name="T27" fmla="*/ 113 h 30"/>
                <a:gd name="T28" fmla="*/ 1229571 w 106"/>
                <a:gd name="T29" fmla="*/ 88 h 30"/>
                <a:gd name="T30" fmla="*/ 784113 w 106"/>
                <a:gd name="T31" fmla="*/ 69 h 30"/>
                <a:gd name="T32" fmla="*/ 503423 w 106"/>
                <a:gd name="T33" fmla="*/ 3 h 30"/>
                <a:gd name="T34" fmla="*/ 419911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3"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7" name="Freeform 58">
              <a:extLst>
                <a:ext uri="{FF2B5EF4-FFF2-40B4-BE49-F238E27FC236}">
                  <a16:creationId xmlns:a16="http://schemas.microsoft.com/office/drawing/2014/main" id="{C146AADA-E364-E0BF-77B2-AECB7E36BA13}"/>
                </a:ext>
              </a:extLst>
            </p:cNvPr>
            <p:cNvSpPr>
              <a:spLocks/>
            </p:cNvSpPr>
            <p:nvPr/>
          </p:nvSpPr>
          <p:spPr bwMode="auto">
            <a:xfrm>
              <a:off x="2483" y="3361"/>
              <a:ext cx="137" cy="73"/>
            </a:xfrm>
            <a:custGeom>
              <a:avLst/>
              <a:gdLst>
                <a:gd name="T0" fmla="*/ 2566051 w 83"/>
                <a:gd name="T1" fmla="*/ 94 h 63"/>
                <a:gd name="T2" fmla="*/ 2519400 w 83"/>
                <a:gd name="T3" fmla="*/ 109 h 63"/>
                <a:gd name="T4" fmla="*/ 2289995 w 83"/>
                <a:gd name="T5" fmla="*/ 247 h 63"/>
                <a:gd name="T6" fmla="*/ 1894573 w 83"/>
                <a:gd name="T7" fmla="*/ 384 h 63"/>
                <a:gd name="T8" fmla="*/ 1385413 w 83"/>
                <a:gd name="T9" fmla="*/ 530 h 63"/>
                <a:gd name="T10" fmla="*/ 901473 w 83"/>
                <a:gd name="T11" fmla="*/ 711 h 63"/>
                <a:gd name="T12" fmla="*/ 416000 w 83"/>
                <a:gd name="T13" fmla="*/ 854 h 63"/>
                <a:gd name="T14" fmla="*/ 64690 w 83"/>
                <a:gd name="T15" fmla="*/ 1078 h 63"/>
                <a:gd name="T16" fmla="*/ 0 w 83"/>
                <a:gd name="T17" fmla="*/ 1362 h 63"/>
                <a:gd name="T18" fmla="*/ 480180 w 83"/>
                <a:gd name="T19" fmla="*/ 1283 h 63"/>
                <a:gd name="T20" fmla="*/ 480180 w 83"/>
                <a:gd name="T21" fmla="*/ 1241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4"/>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8" name="Freeform 59">
              <a:extLst>
                <a:ext uri="{FF2B5EF4-FFF2-40B4-BE49-F238E27FC236}">
                  <a16:creationId xmlns:a16="http://schemas.microsoft.com/office/drawing/2014/main" id="{06EAA677-6FF8-E6CD-42A5-79CD119EFCB4}"/>
                </a:ext>
              </a:extLst>
            </p:cNvPr>
            <p:cNvSpPr>
              <a:spLocks/>
            </p:cNvSpPr>
            <p:nvPr/>
          </p:nvSpPr>
          <p:spPr bwMode="auto">
            <a:xfrm>
              <a:off x="2448" y="3338"/>
              <a:ext cx="172" cy="30"/>
            </a:xfrm>
            <a:custGeom>
              <a:avLst/>
              <a:gdLst>
                <a:gd name="T0" fmla="*/ 0 w 104"/>
                <a:gd name="T1" fmla="*/ 119 h 26"/>
                <a:gd name="T2" fmla="*/ 0 w 104"/>
                <a:gd name="T3" fmla="*/ 103 h 26"/>
                <a:gd name="T4" fmla="*/ 310460 w 104"/>
                <a:gd name="T5" fmla="*/ 263 h 26"/>
                <a:gd name="T6" fmla="*/ 823227 w 104"/>
                <a:gd name="T7" fmla="*/ 350 h 26"/>
                <a:gd name="T8" fmla="*/ 1361491 w 104"/>
                <a:gd name="T9" fmla="*/ 350 h 26"/>
                <a:gd name="T10" fmla="*/ 1967544 w 104"/>
                <a:gd name="T11" fmla="*/ 372 h 26"/>
                <a:gd name="T12" fmla="*/ 2552581 w 104"/>
                <a:gd name="T13" fmla="*/ 373 h 26"/>
                <a:gd name="T14" fmla="*/ 3091373 w 104"/>
                <a:gd name="T15" fmla="*/ 404 h 26"/>
                <a:gd name="T16" fmla="*/ 3377511 w 104"/>
                <a:gd name="T17" fmla="*/ 466 h 26"/>
                <a:gd name="T18" fmla="*/ 3487763 w 104"/>
                <a:gd name="T19" fmla="*/ 496 h 26"/>
                <a:gd name="T20" fmla="*/ 3985470 w 104"/>
                <a:gd name="T21" fmla="*/ 429 h 26"/>
                <a:gd name="T22" fmla="*/ 3684152 w 104"/>
                <a:gd name="T23" fmla="*/ 242 h 26"/>
                <a:gd name="T24" fmla="*/ 3186115 w 104"/>
                <a:gd name="T25" fmla="*/ 137 h 26"/>
                <a:gd name="T26" fmla="*/ 2606496 w 104"/>
                <a:gd name="T27" fmla="*/ 119 h 26"/>
                <a:gd name="T28" fmla="*/ 1967544 w 104"/>
                <a:gd name="T29" fmla="*/ 103 h 26"/>
                <a:gd name="T30" fmla="*/ 1361491 w 104"/>
                <a:gd name="T31" fmla="*/ 89 h 26"/>
                <a:gd name="T32" fmla="*/ 849172 w 104"/>
                <a:gd name="T33" fmla="*/ 89 h 26"/>
                <a:gd name="T34" fmla="*/ 537993 w 104"/>
                <a:gd name="T35" fmla="*/ 2 h 26"/>
                <a:gd name="T36" fmla="*/ 513453 w 104"/>
                <a:gd name="T37" fmla="*/ 1 h 26"/>
                <a:gd name="T38" fmla="*/ 473197 w 104"/>
                <a:gd name="T39" fmla="*/ 0 h 26"/>
                <a:gd name="T40" fmla="*/ 513453 w 104"/>
                <a:gd name="T41" fmla="*/ 1 h 26"/>
                <a:gd name="T42" fmla="*/ 513453 w 104"/>
                <a:gd name="T43" fmla="*/ 0 h 26"/>
                <a:gd name="T44" fmla="*/ 473197 w 104"/>
                <a:gd name="T45" fmla="*/ 0 h 26"/>
                <a:gd name="T46" fmla="*/ 0 w 104"/>
                <a:gd name="T47" fmla="*/ 119 h 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4"/>
                <a:gd name="T73" fmla="*/ 0 h 26"/>
                <a:gd name="T74" fmla="*/ 104 w 104"/>
                <a:gd name="T75" fmla="*/ 26 h 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4" h="26">
                  <a:moveTo>
                    <a:pt x="0" y="6"/>
                  </a:moveTo>
                  <a:lnTo>
                    <a:pt x="0" y="5"/>
                  </a:lnTo>
                  <a:lnTo>
                    <a:pt x="8" y="13"/>
                  </a:lnTo>
                  <a:lnTo>
                    <a:pt x="21" y="17"/>
                  </a:lnTo>
                  <a:lnTo>
                    <a:pt x="35" y="17"/>
                  </a:lnTo>
                  <a:lnTo>
                    <a:pt x="51" y="18"/>
                  </a:lnTo>
                  <a:lnTo>
                    <a:pt x="66" y="19"/>
                  </a:lnTo>
                  <a:lnTo>
                    <a:pt x="80" y="20"/>
                  </a:lnTo>
                  <a:lnTo>
                    <a:pt x="87" y="23"/>
                  </a:lnTo>
                  <a:lnTo>
                    <a:pt x="90" y="25"/>
                  </a:lnTo>
                  <a:lnTo>
                    <a:pt x="103" y="21"/>
                  </a:lnTo>
                  <a:lnTo>
                    <a:pt x="95" y="12"/>
                  </a:lnTo>
                  <a:lnTo>
                    <a:pt x="82" y="7"/>
                  </a:lnTo>
                  <a:lnTo>
                    <a:pt x="67" y="6"/>
                  </a:lnTo>
                  <a:lnTo>
                    <a:pt x="51" y="5"/>
                  </a:lnTo>
                  <a:lnTo>
                    <a:pt x="35" y="4"/>
                  </a:lnTo>
                  <a:lnTo>
                    <a:pt x="22" y="4"/>
                  </a:lnTo>
                  <a:lnTo>
                    <a:pt x="14" y="2"/>
                  </a:lnTo>
                  <a:lnTo>
                    <a:pt x="13" y="1"/>
                  </a:lnTo>
                  <a:lnTo>
                    <a:pt x="12" y="0"/>
                  </a:lnTo>
                  <a:lnTo>
                    <a:pt x="13" y="1"/>
                  </a:lnTo>
                  <a:lnTo>
                    <a:pt x="13" y="0"/>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9" name="Freeform 60">
              <a:extLst>
                <a:ext uri="{FF2B5EF4-FFF2-40B4-BE49-F238E27FC236}">
                  <a16:creationId xmlns:a16="http://schemas.microsoft.com/office/drawing/2014/main" id="{B5AC1F87-DD95-DAF9-CBE2-BD0338CFC307}"/>
                </a:ext>
              </a:extLst>
            </p:cNvPr>
            <p:cNvSpPr>
              <a:spLocks/>
            </p:cNvSpPr>
            <p:nvPr/>
          </p:nvSpPr>
          <p:spPr bwMode="auto">
            <a:xfrm>
              <a:off x="2446" y="3335"/>
              <a:ext cx="24" cy="10"/>
            </a:xfrm>
            <a:custGeom>
              <a:avLst/>
              <a:gdLst>
                <a:gd name="T0" fmla="*/ 0 w 14"/>
                <a:gd name="T1" fmla="*/ 51 h 9"/>
                <a:gd name="T2" fmla="*/ 0 w 14"/>
                <a:gd name="T3" fmla="*/ 63 h 9"/>
                <a:gd name="T4" fmla="*/ 84792 w 14"/>
                <a:gd name="T5" fmla="*/ 70 h 9"/>
                <a:gd name="T6" fmla="*/ 1057803 w 14"/>
                <a:gd name="T7" fmla="*/ 1 h 9"/>
                <a:gd name="T8" fmla="*/ 1012678 w 14"/>
                <a:gd name="T9" fmla="*/ 0 h 9"/>
                <a:gd name="T10" fmla="*/ 1057803 w 14"/>
                <a:gd name="T11" fmla="*/ 1 h 9"/>
                <a:gd name="T12" fmla="*/ 0 w 14"/>
                <a:gd name="T13" fmla="*/ 51 h 9"/>
                <a:gd name="T14" fmla="*/ 0 w 14"/>
                <a:gd name="T15" fmla="*/ 57 h 9"/>
                <a:gd name="T16" fmla="*/ 0 w 14"/>
                <a:gd name="T17" fmla="*/ 63 h 9"/>
                <a:gd name="T18" fmla="*/ 0 w 14"/>
                <a:gd name="T19" fmla="*/ 51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0" name="Freeform 61">
              <a:extLst>
                <a:ext uri="{FF2B5EF4-FFF2-40B4-BE49-F238E27FC236}">
                  <a16:creationId xmlns:a16="http://schemas.microsoft.com/office/drawing/2014/main" id="{6E7A88F0-1EB3-372C-1AC5-2E1C8E591441}"/>
                </a:ext>
              </a:extLst>
            </p:cNvPr>
            <p:cNvSpPr>
              <a:spLocks/>
            </p:cNvSpPr>
            <p:nvPr/>
          </p:nvSpPr>
          <p:spPr bwMode="auto">
            <a:xfrm>
              <a:off x="2446" y="3270"/>
              <a:ext cx="136" cy="72"/>
            </a:xfrm>
            <a:custGeom>
              <a:avLst/>
              <a:gdLst>
                <a:gd name="T0" fmla="*/ 2793281 w 82"/>
                <a:gd name="T1" fmla="*/ 73 h 63"/>
                <a:gd name="T2" fmla="*/ 2751824 w 82"/>
                <a:gd name="T3" fmla="*/ 95 h 63"/>
                <a:gd name="T4" fmla="*/ 2517775 w 82"/>
                <a:gd name="T5" fmla="*/ 202 h 63"/>
                <a:gd name="T6" fmla="*/ 2110216 w 82"/>
                <a:gd name="T7" fmla="*/ 318 h 63"/>
                <a:gd name="T8" fmla="*/ 1518070 w 82"/>
                <a:gd name="T9" fmla="*/ 450 h 63"/>
                <a:gd name="T10" fmla="*/ 984142 w 82"/>
                <a:gd name="T11" fmla="*/ 557 h 63"/>
                <a:gd name="T12" fmla="*/ 452635 w 82"/>
                <a:gd name="T13" fmla="*/ 691 h 63"/>
                <a:gd name="T14" fmla="*/ 71808 w 82"/>
                <a:gd name="T15" fmla="*/ 808 h 63"/>
                <a:gd name="T16" fmla="*/ 0 w 82"/>
                <a:gd name="T17" fmla="*/ 1032 h 63"/>
                <a:gd name="T18" fmla="*/ 543340 w 82"/>
                <a:gd name="T19" fmla="*/ 951 h 63"/>
                <a:gd name="T20" fmla="*/ 563196 w 82"/>
                <a:gd name="T21" fmla="*/ 941 h 63"/>
                <a:gd name="T22" fmla="*/ 792167 w 82"/>
                <a:gd name="T23" fmla="*/ 832 h 63"/>
                <a:gd name="T24" fmla="*/ 1245083 w 82"/>
                <a:gd name="T25" fmla="*/ 728 h 63"/>
                <a:gd name="T26" fmla="*/ 1809896 w 82"/>
                <a:gd name="T27" fmla="*/ 619 h 63"/>
                <a:gd name="T28" fmla="*/ 2364446 w 82"/>
                <a:gd name="T29" fmla="*/ 514 h 63"/>
                <a:gd name="T30" fmla="*/ 2866162 w 82"/>
                <a:gd name="T31" fmla="*/ 373 h 63"/>
                <a:gd name="T32" fmla="*/ 3244615 w 82"/>
                <a:gd name="T33" fmla="*/ 213 h 63"/>
                <a:gd name="T34" fmla="*/ 3316748 w 82"/>
                <a:gd name="T35" fmla="*/ 0 h 63"/>
                <a:gd name="T36" fmla="*/ 2793281 w 82"/>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3"/>
                <a:gd name="T59" fmla="*/ 82 w 82"/>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3">
                  <a:moveTo>
                    <a:pt x="68" y="4"/>
                  </a:moveTo>
                  <a:lnTo>
                    <a:pt x="67" y="6"/>
                  </a:lnTo>
                  <a:lnTo>
                    <a:pt x="61" y="12"/>
                  </a:lnTo>
                  <a:lnTo>
                    <a:pt x="51" y="19"/>
                  </a:lnTo>
                  <a:lnTo>
                    <a:pt x="37" y="27"/>
                  </a:lnTo>
                  <a:lnTo>
                    <a:pt x="24" y="34"/>
                  </a:lnTo>
                  <a:lnTo>
                    <a:pt x="11" y="41"/>
                  </a:lnTo>
                  <a:lnTo>
                    <a:pt x="2" y="49"/>
                  </a:lnTo>
                  <a:lnTo>
                    <a:pt x="0" y="62"/>
                  </a:lnTo>
                  <a:lnTo>
                    <a:pt x="13" y="58"/>
                  </a:lnTo>
                  <a:lnTo>
                    <a:pt x="14" y="57"/>
                  </a:lnTo>
                  <a:lnTo>
                    <a:pt x="19" y="51"/>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1" name="Freeform 62">
              <a:extLst>
                <a:ext uri="{FF2B5EF4-FFF2-40B4-BE49-F238E27FC236}">
                  <a16:creationId xmlns:a16="http://schemas.microsoft.com/office/drawing/2014/main" id="{0F1F3F2E-F37F-919B-7D33-07906C302DD3}"/>
                </a:ext>
              </a:extLst>
            </p:cNvPr>
            <p:cNvSpPr>
              <a:spLocks/>
            </p:cNvSpPr>
            <p:nvPr/>
          </p:nvSpPr>
          <p:spPr bwMode="auto">
            <a:xfrm>
              <a:off x="2407" y="3241"/>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71 h 30"/>
                <a:gd name="T10" fmla="*/ 2508326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186 h 30"/>
                <a:gd name="T22" fmla="*/ 3097518 w 106"/>
                <a:gd name="T23" fmla="*/ 128 h 30"/>
                <a:gd name="T24" fmla="*/ 2534104 w 106"/>
                <a:gd name="T25" fmla="*/ 113 h 30"/>
                <a:gd name="T26" fmla="*/ 1984779 w 106"/>
                <a:gd name="T27" fmla="*/ 88 h 30"/>
                <a:gd name="T28" fmla="*/ 1389091 w 106"/>
                <a:gd name="T29" fmla="*/ 88 h 30"/>
                <a:gd name="T30" fmla="*/ 904506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0"/>
                  </a:lnTo>
                  <a:lnTo>
                    <a:pt x="67" y="22"/>
                  </a:lnTo>
                  <a:lnTo>
                    <a:pt x="81" y="23"/>
                  </a:lnTo>
                  <a:lnTo>
                    <a:pt x="89" y="26"/>
                  </a:lnTo>
                  <a:lnTo>
                    <a:pt x="92" y="29"/>
                  </a:lnTo>
                  <a:lnTo>
                    <a:pt x="105" y="25"/>
                  </a:lnTo>
                  <a:lnTo>
                    <a:pt x="97" y="14"/>
                  </a:lnTo>
                  <a:lnTo>
                    <a:pt x="83" y="10"/>
                  </a:lnTo>
                  <a:lnTo>
                    <a:pt x="68" y="9"/>
                  </a:lnTo>
                  <a:lnTo>
                    <a:pt x="53" y="7"/>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2" name="Freeform 63">
              <a:extLst>
                <a:ext uri="{FF2B5EF4-FFF2-40B4-BE49-F238E27FC236}">
                  <a16:creationId xmlns:a16="http://schemas.microsoft.com/office/drawing/2014/main" id="{72F16269-3827-BB83-B629-32003692ADBD}"/>
                </a:ext>
              </a:extLst>
            </p:cNvPr>
            <p:cNvSpPr>
              <a:spLocks/>
            </p:cNvSpPr>
            <p:nvPr/>
          </p:nvSpPr>
          <p:spPr bwMode="auto">
            <a:xfrm>
              <a:off x="2407" y="3175"/>
              <a:ext cx="137" cy="71"/>
            </a:xfrm>
            <a:custGeom>
              <a:avLst/>
              <a:gdLst>
                <a:gd name="T0" fmla="*/ 2566051 w 83"/>
                <a:gd name="T1" fmla="*/ 74 h 62"/>
                <a:gd name="T2" fmla="*/ 2519400 w 83"/>
                <a:gd name="T3" fmla="*/ 97 h 62"/>
                <a:gd name="T4" fmla="*/ 2349936 w 83"/>
                <a:gd name="T5" fmla="*/ 211 h 62"/>
                <a:gd name="T6" fmla="*/ 1933123 w 83"/>
                <a:gd name="T7" fmla="*/ 328 h 62"/>
                <a:gd name="T8" fmla="*/ 1423684 w 83"/>
                <a:gd name="T9" fmla="*/ 462 h 62"/>
                <a:gd name="T10" fmla="*/ 901473 w 83"/>
                <a:gd name="T11" fmla="*/ 554 h 62"/>
                <a:gd name="T12" fmla="*/ 446998 w 83"/>
                <a:gd name="T13" fmla="*/ 696 h 62"/>
                <a:gd name="T14" fmla="*/ 64690 w 83"/>
                <a:gd name="T15" fmla="*/ 831 h 62"/>
                <a:gd name="T16" fmla="*/ 0 w 83"/>
                <a:gd name="T17" fmla="*/ 1046 h 62"/>
                <a:gd name="T18" fmla="*/ 480180 w 83"/>
                <a:gd name="T19" fmla="*/ 973 h 62"/>
                <a:gd name="T20" fmla="*/ 522551 w 83"/>
                <a:gd name="T21" fmla="*/ 960 h 62"/>
                <a:gd name="T22" fmla="*/ 737816 w 83"/>
                <a:gd name="T23" fmla="*/ 850 h 62"/>
                <a:gd name="T24" fmla="*/ 1147807 w 83"/>
                <a:gd name="T25" fmla="*/ 742 h 62"/>
                <a:gd name="T26" fmla="*/ 1639289 w 83"/>
                <a:gd name="T27" fmla="*/ 634 h 62"/>
                <a:gd name="T28" fmla="*/ 2159391 w 83"/>
                <a:gd name="T29" fmla="*/ 529 h 62"/>
                <a:gd name="T30" fmla="*/ 2603804 w 83"/>
                <a:gd name="T31" fmla="*/ 403 h 62"/>
                <a:gd name="T32" fmla="*/ 2976645 w 83"/>
                <a:gd name="T33" fmla="*/ 218 h 62"/>
                <a:gd name="T34" fmla="*/ 3041930 w 83"/>
                <a:gd name="T35" fmla="*/ 0 h 62"/>
                <a:gd name="T36" fmla="*/ 256605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6"/>
                  </a:lnTo>
                  <a:lnTo>
                    <a:pt x="63" y="12"/>
                  </a:lnTo>
                  <a:lnTo>
                    <a:pt x="52" y="19"/>
                  </a:lnTo>
                  <a:lnTo>
                    <a:pt x="38" y="26"/>
                  </a:lnTo>
                  <a:lnTo>
                    <a:pt x="24" y="32"/>
                  </a:lnTo>
                  <a:lnTo>
                    <a:pt x="12" y="40"/>
                  </a:lnTo>
                  <a:lnTo>
                    <a:pt x="2" y="48"/>
                  </a:lnTo>
                  <a:lnTo>
                    <a:pt x="0" y="61"/>
                  </a:lnTo>
                  <a:lnTo>
                    <a:pt x="13" y="57"/>
                  </a:lnTo>
                  <a:lnTo>
                    <a:pt x="14" y="56"/>
                  </a:lnTo>
                  <a:lnTo>
                    <a:pt x="20" y="50"/>
                  </a:lnTo>
                  <a:lnTo>
                    <a:pt x="31" y="44"/>
                  </a:lnTo>
                  <a:lnTo>
                    <a:pt x="44" y="37"/>
                  </a:lnTo>
                  <a:lnTo>
                    <a:pt x="58" y="30"/>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3" name="Freeform 64">
              <a:extLst>
                <a:ext uri="{FF2B5EF4-FFF2-40B4-BE49-F238E27FC236}">
                  <a16:creationId xmlns:a16="http://schemas.microsoft.com/office/drawing/2014/main" id="{C22C2B0E-6B57-C049-BFE4-3A3525E6296A}"/>
                </a:ext>
              </a:extLst>
            </p:cNvPr>
            <p:cNvSpPr>
              <a:spLocks/>
            </p:cNvSpPr>
            <p:nvPr/>
          </p:nvSpPr>
          <p:spPr bwMode="auto">
            <a:xfrm>
              <a:off x="2372" y="3146"/>
              <a:ext cx="172" cy="35"/>
            </a:xfrm>
            <a:custGeom>
              <a:avLst/>
              <a:gdLst>
                <a:gd name="T0" fmla="*/ 0 w 105"/>
                <a:gd name="T1" fmla="*/ 120 h 30"/>
                <a:gd name="T2" fmla="*/ 247472 w 105"/>
                <a:gd name="T3" fmla="*/ 358 h 30"/>
                <a:gd name="T4" fmla="*/ 664056 w 105"/>
                <a:gd name="T5" fmla="*/ 480 h 30"/>
                <a:gd name="T6" fmla="*/ 1144996 w 105"/>
                <a:gd name="T7" fmla="*/ 501 h 30"/>
                <a:gd name="T8" fmla="*/ 1642575 w 105"/>
                <a:gd name="T9" fmla="*/ 501 h 30"/>
                <a:gd name="T10" fmla="*/ 2126746 w 105"/>
                <a:gd name="T11" fmla="*/ 560 h 30"/>
                <a:gd name="T12" fmla="*/ 2540392 w 105"/>
                <a:gd name="T13" fmla="*/ 585 h 30"/>
                <a:gd name="T14" fmla="*/ 2792890 w 105"/>
                <a:gd name="T15" fmla="*/ 664 h 30"/>
                <a:gd name="T16" fmla="*/ 2885372 w 105"/>
                <a:gd name="T17" fmla="*/ 762 h 30"/>
                <a:gd name="T18" fmla="*/ 3278466 w 105"/>
                <a:gd name="T19" fmla="*/ 653 h 30"/>
                <a:gd name="T20" fmla="*/ 3037405 w 105"/>
                <a:gd name="T21" fmla="*/ 411 h 30"/>
                <a:gd name="T22" fmla="*/ 2633720 w 105"/>
                <a:gd name="T23" fmla="*/ 263 h 30"/>
                <a:gd name="T24" fmla="*/ 2147610 w 105"/>
                <a:gd name="T25" fmla="*/ 222 h 30"/>
                <a:gd name="T26" fmla="*/ 1642575 w 105"/>
                <a:gd name="T27" fmla="*/ 190 h 30"/>
                <a:gd name="T28" fmla="*/ 1185358 w 105"/>
                <a:gd name="T29" fmla="*/ 190 h 30"/>
                <a:gd name="T30" fmla="*/ 737762 w 105"/>
                <a:gd name="T31" fmla="*/ 140 h 30"/>
                <a:gd name="T32" fmla="*/ 483836 w 105"/>
                <a:gd name="T33" fmla="*/ 2 h 30"/>
                <a:gd name="T34" fmla="*/ 405383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2" y="20"/>
                  </a:lnTo>
                  <a:lnTo>
                    <a:pt x="67" y="21"/>
                  </a:lnTo>
                  <a:lnTo>
                    <a:pt x="80" y="23"/>
                  </a:lnTo>
                  <a:lnTo>
                    <a:pt x="88" y="26"/>
                  </a:lnTo>
                  <a:lnTo>
                    <a:pt x="91" y="29"/>
                  </a:lnTo>
                  <a:lnTo>
                    <a:pt x="104" y="25"/>
                  </a:lnTo>
                  <a:lnTo>
                    <a:pt x="96" y="15"/>
                  </a:lnTo>
                  <a:lnTo>
                    <a:pt x="83" y="10"/>
                  </a:lnTo>
                  <a:lnTo>
                    <a:pt x="68" y="8"/>
                  </a:lnTo>
                  <a:lnTo>
                    <a:pt x="52"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4" name="Freeform 65">
              <a:extLst>
                <a:ext uri="{FF2B5EF4-FFF2-40B4-BE49-F238E27FC236}">
                  <a16:creationId xmlns:a16="http://schemas.microsoft.com/office/drawing/2014/main" id="{83C6A1B7-24E3-3B4A-76C3-9961D8FED5A0}"/>
                </a:ext>
              </a:extLst>
            </p:cNvPr>
            <p:cNvSpPr>
              <a:spLocks/>
            </p:cNvSpPr>
            <p:nvPr/>
          </p:nvSpPr>
          <p:spPr bwMode="auto">
            <a:xfrm>
              <a:off x="2372" y="3085"/>
              <a:ext cx="139" cy="68"/>
            </a:xfrm>
            <a:custGeom>
              <a:avLst/>
              <a:gdLst>
                <a:gd name="T0" fmla="*/ 2176640 w 85"/>
                <a:gd name="T1" fmla="*/ 158 h 59"/>
                <a:gd name="T2" fmla="*/ 2176640 w 85"/>
                <a:gd name="T3" fmla="*/ 119 h 59"/>
                <a:gd name="T4" fmla="*/ 2115439 w 85"/>
                <a:gd name="T5" fmla="*/ 137 h 59"/>
                <a:gd name="T6" fmla="*/ 1966865 w 85"/>
                <a:gd name="T7" fmla="*/ 242 h 59"/>
                <a:gd name="T8" fmla="*/ 1621167 w 85"/>
                <a:gd name="T9" fmla="*/ 339 h 59"/>
                <a:gd name="T10" fmla="*/ 1202759 w 85"/>
                <a:gd name="T11" fmla="*/ 451 h 59"/>
                <a:gd name="T12" fmla="*/ 769815 w 85"/>
                <a:gd name="T13" fmla="*/ 589 h 59"/>
                <a:gd name="T14" fmla="*/ 375593 w 85"/>
                <a:gd name="T15" fmla="*/ 690 h 59"/>
                <a:gd name="T16" fmla="*/ 54877 w 85"/>
                <a:gd name="T17" fmla="*/ 896 h 59"/>
                <a:gd name="T18" fmla="*/ 0 w 85"/>
                <a:gd name="T19" fmla="*/ 1156 h 59"/>
                <a:gd name="T20" fmla="*/ 392440 w 85"/>
                <a:gd name="T21" fmla="*/ 1056 h 59"/>
                <a:gd name="T22" fmla="*/ 432295 w 85"/>
                <a:gd name="T23" fmla="*/ 1033 h 59"/>
                <a:gd name="T24" fmla="*/ 580820 w 85"/>
                <a:gd name="T25" fmla="*/ 942 h 59"/>
                <a:gd name="T26" fmla="*/ 949812 w 85"/>
                <a:gd name="T27" fmla="*/ 795 h 59"/>
                <a:gd name="T28" fmla="*/ 1351688 w 85"/>
                <a:gd name="T29" fmla="*/ 690 h 59"/>
                <a:gd name="T30" fmla="*/ 1770119 w 85"/>
                <a:gd name="T31" fmla="*/ 569 h 59"/>
                <a:gd name="T32" fmla="*/ 2176640 w 85"/>
                <a:gd name="T33" fmla="*/ 451 h 59"/>
                <a:gd name="T34" fmla="*/ 2469536 w 85"/>
                <a:gd name="T35" fmla="*/ 294 h 59"/>
                <a:gd name="T36" fmla="*/ 2563417 w 85"/>
                <a:gd name="T37" fmla="*/ 2 h 59"/>
                <a:gd name="T38" fmla="*/ 2539975 w 85"/>
                <a:gd name="T39" fmla="*/ 0 h 59"/>
                <a:gd name="T40" fmla="*/ 2563417 w 85"/>
                <a:gd name="T41" fmla="*/ 2 h 59"/>
                <a:gd name="T42" fmla="*/ 2563417 w 85"/>
                <a:gd name="T43" fmla="*/ 1 h 59"/>
                <a:gd name="T44" fmla="*/ 2539975 w 85"/>
                <a:gd name="T45" fmla="*/ 0 h 59"/>
                <a:gd name="T46" fmla="*/ 2176640 w 85"/>
                <a:gd name="T47" fmla="*/ 158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59"/>
                <a:gd name="T74" fmla="*/ 85 w 85"/>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59">
                  <a:moveTo>
                    <a:pt x="71" y="8"/>
                  </a:moveTo>
                  <a:lnTo>
                    <a:pt x="71" y="6"/>
                  </a:lnTo>
                  <a:lnTo>
                    <a:pt x="69" y="7"/>
                  </a:lnTo>
                  <a:lnTo>
                    <a:pt x="64" y="12"/>
                  </a:lnTo>
                  <a:lnTo>
                    <a:pt x="53" y="17"/>
                  </a:lnTo>
                  <a:lnTo>
                    <a:pt x="39" y="23"/>
                  </a:lnTo>
                  <a:lnTo>
                    <a:pt x="25" y="30"/>
                  </a:lnTo>
                  <a:lnTo>
                    <a:pt x="12" y="36"/>
                  </a:lnTo>
                  <a:lnTo>
                    <a:pt x="2" y="45"/>
                  </a:lnTo>
                  <a:lnTo>
                    <a:pt x="0" y="58"/>
                  </a:lnTo>
                  <a:lnTo>
                    <a:pt x="13" y="54"/>
                  </a:lnTo>
                  <a:lnTo>
                    <a:pt x="14" y="52"/>
                  </a:lnTo>
                  <a:lnTo>
                    <a:pt x="19" y="48"/>
                  </a:lnTo>
                  <a:lnTo>
                    <a:pt x="31" y="41"/>
                  </a:lnTo>
                  <a:lnTo>
                    <a:pt x="44" y="36"/>
                  </a:lnTo>
                  <a:lnTo>
                    <a:pt x="58" y="29"/>
                  </a:lnTo>
                  <a:lnTo>
                    <a:pt x="71" y="23"/>
                  </a:lnTo>
                  <a:lnTo>
                    <a:pt x="81" y="15"/>
                  </a:lnTo>
                  <a:lnTo>
                    <a:pt x="84" y="2"/>
                  </a:lnTo>
                  <a:lnTo>
                    <a:pt x="83" y="0"/>
                  </a:lnTo>
                  <a:lnTo>
                    <a:pt x="84" y="2"/>
                  </a:lnTo>
                  <a:lnTo>
                    <a:pt x="84" y="1"/>
                  </a:lnTo>
                  <a:lnTo>
                    <a:pt x="83" y="0"/>
                  </a:lnTo>
                  <a:lnTo>
                    <a:pt x="71"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5" name="Freeform 66">
              <a:extLst>
                <a:ext uri="{FF2B5EF4-FFF2-40B4-BE49-F238E27FC236}">
                  <a16:creationId xmlns:a16="http://schemas.microsoft.com/office/drawing/2014/main" id="{4DDC162C-2294-739C-B3AE-214E44681995}"/>
                </a:ext>
              </a:extLst>
            </p:cNvPr>
            <p:cNvSpPr>
              <a:spLocks/>
            </p:cNvSpPr>
            <p:nvPr/>
          </p:nvSpPr>
          <p:spPr bwMode="auto">
            <a:xfrm>
              <a:off x="2485" y="3083"/>
              <a:ext cx="24" cy="12"/>
            </a:xfrm>
            <a:custGeom>
              <a:avLst/>
              <a:gdLst>
                <a:gd name="T0" fmla="*/ 0 w 15"/>
                <a:gd name="T1" fmla="*/ 41 h 11"/>
                <a:gd name="T2" fmla="*/ 24325 w 15"/>
                <a:gd name="T3" fmla="*/ 49 h 11"/>
                <a:gd name="T4" fmla="*/ 38920 w 15"/>
                <a:gd name="T5" fmla="*/ 58 h 11"/>
                <a:gd name="T6" fmla="*/ 265134 w 15"/>
                <a:gd name="T7" fmla="*/ 2 h 11"/>
                <a:gd name="T8" fmla="*/ 226910 w 15"/>
                <a:gd name="T9" fmla="*/ 0 h 11"/>
                <a:gd name="T10" fmla="*/ 255066 w 15"/>
                <a:gd name="T11" fmla="*/ 2 h 11"/>
                <a:gd name="T12" fmla="*/ 0 w 15"/>
                <a:gd name="T13" fmla="*/ 41 h 11"/>
                <a:gd name="T14" fmla="*/ 24325 w 15"/>
                <a:gd name="T15" fmla="*/ 49 h 11"/>
                <a:gd name="T16" fmla="*/ 0 w 15"/>
                <a:gd name="T17" fmla="*/ 41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1"/>
                <a:gd name="T29" fmla="*/ 15 w 1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1">
                  <a:moveTo>
                    <a:pt x="0" y="6"/>
                  </a:moveTo>
                  <a:lnTo>
                    <a:pt x="1" y="8"/>
                  </a:lnTo>
                  <a:lnTo>
                    <a:pt x="2" y="10"/>
                  </a:lnTo>
                  <a:lnTo>
                    <a:pt x="14" y="2"/>
                  </a:lnTo>
                  <a:lnTo>
                    <a:pt x="12" y="0"/>
                  </a:lnTo>
                  <a:lnTo>
                    <a:pt x="13" y="2"/>
                  </a:lnTo>
                  <a:lnTo>
                    <a:pt x="0" y="6"/>
                  </a:lnTo>
                  <a:lnTo>
                    <a:pt x="1" y="8"/>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6" name="Freeform 67">
              <a:extLst>
                <a:ext uri="{FF2B5EF4-FFF2-40B4-BE49-F238E27FC236}">
                  <a16:creationId xmlns:a16="http://schemas.microsoft.com/office/drawing/2014/main" id="{A6438FA6-D6DC-6002-7E96-BCA4D0D2E9ED}"/>
                </a:ext>
              </a:extLst>
            </p:cNvPr>
            <p:cNvSpPr>
              <a:spLocks/>
            </p:cNvSpPr>
            <p:nvPr/>
          </p:nvSpPr>
          <p:spPr bwMode="auto">
            <a:xfrm>
              <a:off x="2335" y="3056"/>
              <a:ext cx="172" cy="34"/>
            </a:xfrm>
            <a:custGeom>
              <a:avLst/>
              <a:gdLst>
                <a:gd name="T0" fmla="*/ 0 w 105"/>
                <a:gd name="T1" fmla="*/ 61 h 30"/>
                <a:gd name="T2" fmla="*/ 247472 w 105"/>
                <a:gd name="T3" fmla="*/ 186 h 30"/>
                <a:gd name="T4" fmla="*/ 664056 w 105"/>
                <a:gd name="T5" fmla="*/ 233 h 30"/>
                <a:gd name="T6" fmla="*/ 1144996 w 105"/>
                <a:gd name="T7" fmla="*/ 239 h 30"/>
                <a:gd name="T8" fmla="*/ 1629916 w 105"/>
                <a:gd name="T9" fmla="*/ 264 h 30"/>
                <a:gd name="T10" fmla="*/ 2126746 w 105"/>
                <a:gd name="T11" fmla="*/ 264 h 30"/>
                <a:gd name="T12" fmla="*/ 2497456 w 105"/>
                <a:gd name="T13" fmla="*/ 298 h 30"/>
                <a:gd name="T14" fmla="*/ 2792890 w 105"/>
                <a:gd name="T15" fmla="*/ 338 h 30"/>
                <a:gd name="T16" fmla="*/ 2885372 w 105"/>
                <a:gd name="T17" fmla="*/ 394 h 30"/>
                <a:gd name="T18" fmla="*/ 3278466 w 105"/>
                <a:gd name="T19" fmla="*/ 339 h 30"/>
                <a:gd name="T20" fmla="*/ 3037405 w 105"/>
                <a:gd name="T21" fmla="*/ 186 h 30"/>
                <a:gd name="T22" fmla="*/ 2633720 w 105"/>
                <a:gd name="T23" fmla="*/ 100 h 30"/>
                <a:gd name="T24" fmla="*/ 2147610 w 105"/>
                <a:gd name="T25" fmla="*/ 78 h 30"/>
                <a:gd name="T26" fmla="*/ 1629916 w 105"/>
                <a:gd name="T27" fmla="*/ 69 h 30"/>
                <a:gd name="T28" fmla="*/ 1144996 w 105"/>
                <a:gd name="T29" fmla="*/ 69 h 30"/>
                <a:gd name="T30" fmla="*/ 737762 w 105"/>
                <a:gd name="T31" fmla="*/ 61 h 30"/>
                <a:gd name="T32" fmla="*/ 483836 w 105"/>
                <a:gd name="T33" fmla="*/ 2 h 30"/>
                <a:gd name="T34" fmla="*/ 405383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7"/>
                  </a:lnTo>
                  <a:lnTo>
                    <a:pt x="36" y="18"/>
                  </a:lnTo>
                  <a:lnTo>
                    <a:pt x="51" y="19"/>
                  </a:lnTo>
                  <a:lnTo>
                    <a:pt x="67" y="19"/>
                  </a:lnTo>
                  <a:lnTo>
                    <a:pt x="79" y="21"/>
                  </a:lnTo>
                  <a:lnTo>
                    <a:pt x="88" y="24"/>
                  </a:lnTo>
                  <a:lnTo>
                    <a:pt x="91" y="29"/>
                  </a:lnTo>
                  <a:lnTo>
                    <a:pt x="104" y="25"/>
                  </a:lnTo>
                  <a:lnTo>
                    <a:pt x="96" y="14"/>
                  </a:lnTo>
                  <a:lnTo>
                    <a:pt x="83" y="8"/>
                  </a:lnTo>
                  <a:lnTo>
                    <a:pt x="68"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7" name="Freeform 68">
              <a:extLst>
                <a:ext uri="{FF2B5EF4-FFF2-40B4-BE49-F238E27FC236}">
                  <a16:creationId xmlns:a16="http://schemas.microsoft.com/office/drawing/2014/main" id="{3956D3B6-4609-0523-7190-A013D3AFAA6F}"/>
                </a:ext>
              </a:extLst>
            </p:cNvPr>
            <p:cNvSpPr>
              <a:spLocks/>
            </p:cNvSpPr>
            <p:nvPr/>
          </p:nvSpPr>
          <p:spPr bwMode="auto">
            <a:xfrm>
              <a:off x="2335" y="2990"/>
              <a:ext cx="136" cy="71"/>
            </a:xfrm>
            <a:custGeom>
              <a:avLst/>
              <a:gdLst>
                <a:gd name="T0" fmla="*/ 2195491 w 83"/>
                <a:gd name="T1" fmla="*/ 74 h 62"/>
                <a:gd name="T2" fmla="*/ 2195491 w 83"/>
                <a:gd name="T3" fmla="*/ 97 h 62"/>
                <a:gd name="T4" fmla="*/ 2008007 w 83"/>
                <a:gd name="T5" fmla="*/ 211 h 62"/>
                <a:gd name="T6" fmla="*/ 1654163 w 83"/>
                <a:gd name="T7" fmla="*/ 328 h 62"/>
                <a:gd name="T8" fmla="*/ 1212955 w 83"/>
                <a:gd name="T9" fmla="*/ 462 h 62"/>
                <a:gd name="T10" fmla="*/ 795492 w 83"/>
                <a:gd name="T11" fmla="*/ 554 h 62"/>
                <a:gd name="T12" fmla="*/ 389068 w 83"/>
                <a:gd name="T13" fmla="*/ 696 h 62"/>
                <a:gd name="T14" fmla="*/ 56548 w 83"/>
                <a:gd name="T15" fmla="*/ 831 h 62"/>
                <a:gd name="T16" fmla="*/ 0 w 83"/>
                <a:gd name="T17" fmla="*/ 1046 h 62"/>
                <a:gd name="T18" fmla="*/ 407626 w 83"/>
                <a:gd name="T19" fmla="*/ 973 h 62"/>
                <a:gd name="T20" fmla="*/ 451776 w 83"/>
                <a:gd name="T21" fmla="*/ 960 h 62"/>
                <a:gd name="T22" fmla="*/ 637509 w 83"/>
                <a:gd name="T23" fmla="*/ 850 h 62"/>
                <a:gd name="T24" fmla="*/ 998460 w 83"/>
                <a:gd name="T25" fmla="*/ 732 h 62"/>
                <a:gd name="T26" fmla="*/ 1434145 w 83"/>
                <a:gd name="T27" fmla="*/ 634 h 62"/>
                <a:gd name="T28" fmla="*/ 1855348 w 83"/>
                <a:gd name="T29" fmla="*/ 529 h 62"/>
                <a:gd name="T30" fmla="*/ 2257806 w 83"/>
                <a:gd name="T31" fmla="*/ 40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9" y="6"/>
                  </a:lnTo>
                  <a:lnTo>
                    <a:pt x="63" y="12"/>
                  </a:lnTo>
                  <a:lnTo>
                    <a:pt x="52" y="19"/>
                  </a:lnTo>
                  <a:lnTo>
                    <a:pt x="38" y="26"/>
                  </a:lnTo>
                  <a:lnTo>
                    <a:pt x="25" y="32"/>
                  </a:lnTo>
                  <a:lnTo>
                    <a:pt x="12" y="40"/>
                  </a:lnTo>
                  <a:lnTo>
                    <a:pt x="2" y="48"/>
                  </a:lnTo>
                  <a:lnTo>
                    <a:pt x="0" y="61"/>
                  </a:lnTo>
                  <a:lnTo>
                    <a:pt x="13" y="57"/>
                  </a:lnTo>
                  <a:lnTo>
                    <a:pt x="14" y="56"/>
                  </a:lnTo>
                  <a:lnTo>
                    <a:pt x="20" y="50"/>
                  </a:lnTo>
                  <a:lnTo>
                    <a:pt x="31" y="43"/>
                  </a:lnTo>
                  <a:lnTo>
                    <a:pt x="45" y="37"/>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8" name="Freeform 69">
              <a:extLst>
                <a:ext uri="{FF2B5EF4-FFF2-40B4-BE49-F238E27FC236}">
                  <a16:creationId xmlns:a16="http://schemas.microsoft.com/office/drawing/2014/main" id="{8F1F38BC-1B90-E9FD-DCA9-2F371DD9E5CE}"/>
                </a:ext>
              </a:extLst>
            </p:cNvPr>
            <p:cNvSpPr>
              <a:spLocks/>
            </p:cNvSpPr>
            <p:nvPr/>
          </p:nvSpPr>
          <p:spPr bwMode="auto">
            <a:xfrm>
              <a:off x="2297" y="2961"/>
              <a:ext cx="174" cy="33"/>
            </a:xfrm>
            <a:custGeom>
              <a:avLst/>
              <a:gdLst>
                <a:gd name="T0" fmla="*/ 0 w 106"/>
                <a:gd name="T1" fmla="*/ 68 h 29"/>
                <a:gd name="T2" fmla="*/ 255808 w 106"/>
                <a:gd name="T3" fmla="*/ 191 h 29"/>
                <a:gd name="T4" fmla="*/ 689288 w 106"/>
                <a:gd name="T5" fmla="*/ 247 h 29"/>
                <a:gd name="T6" fmla="*/ 1189907 w 106"/>
                <a:gd name="T7" fmla="*/ 281 h 29"/>
                <a:gd name="T8" fmla="*/ 1723619 w 106"/>
                <a:gd name="T9" fmla="*/ 306 h 29"/>
                <a:gd name="T10" fmla="*/ 2226709 w 106"/>
                <a:gd name="T11" fmla="*/ 306 h 29"/>
                <a:gd name="T12" fmla="*/ 2681420 w 106"/>
                <a:gd name="T13" fmla="*/ 320 h 29"/>
                <a:gd name="T14" fmla="*/ 2950607 w 106"/>
                <a:gd name="T15" fmla="*/ 396 h 29"/>
                <a:gd name="T16" fmla="*/ 3048815 w 106"/>
                <a:gd name="T17" fmla="*/ 414 h 29"/>
                <a:gd name="T18" fmla="*/ 3468237 w 106"/>
                <a:gd name="T19" fmla="*/ 360 h 29"/>
                <a:gd name="T20" fmla="*/ 3206268 w 106"/>
                <a:gd name="T21" fmla="*/ 207 h 29"/>
                <a:gd name="T22" fmla="*/ 2742357 w 106"/>
                <a:gd name="T23" fmla="*/ 130 h 29"/>
                <a:gd name="T24" fmla="*/ 2274976 w 106"/>
                <a:gd name="T25" fmla="*/ 100 h 29"/>
                <a:gd name="T26" fmla="*/ 1723619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2" y="20"/>
                  </a:lnTo>
                  <a:lnTo>
                    <a:pt x="67" y="20"/>
                  </a:lnTo>
                  <a:lnTo>
                    <a:pt x="81" y="22"/>
                  </a:lnTo>
                  <a:lnTo>
                    <a:pt x="89" y="26"/>
                  </a:lnTo>
                  <a:lnTo>
                    <a:pt x="92" y="28"/>
                  </a:lnTo>
                  <a:lnTo>
                    <a:pt x="105" y="24"/>
                  </a:lnTo>
                  <a:lnTo>
                    <a:pt x="97" y="14"/>
                  </a:lnTo>
                  <a:lnTo>
                    <a:pt x="83" y="9"/>
                  </a:lnTo>
                  <a:lnTo>
                    <a:pt x="69" y="7"/>
                  </a:lnTo>
                  <a:lnTo>
                    <a:pt x="52"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89" name="Freeform 70">
              <a:extLst>
                <a:ext uri="{FF2B5EF4-FFF2-40B4-BE49-F238E27FC236}">
                  <a16:creationId xmlns:a16="http://schemas.microsoft.com/office/drawing/2014/main" id="{FCB960E5-6CF2-DA61-108F-5E64288FAE56}"/>
                </a:ext>
              </a:extLst>
            </p:cNvPr>
            <p:cNvSpPr>
              <a:spLocks/>
            </p:cNvSpPr>
            <p:nvPr/>
          </p:nvSpPr>
          <p:spPr bwMode="auto">
            <a:xfrm>
              <a:off x="2297" y="2899"/>
              <a:ext cx="140" cy="69"/>
            </a:xfrm>
            <a:custGeom>
              <a:avLst/>
              <a:gdLst>
                <a:gd name="T0" fmla="*/ 2471399 w 85"/>
                <a:gd name="T1" fmla="*/ 2 h 59"/>
                <a:gd name="T2" fmla="*/ 2471399 w 85"/>
                <a:gd name="T3" fmla="*/ 120 h 59"/>
                <a:gd name="T4" fmla="*/ 2471399 w 85"/>
                <a:gd name="T5" fmla="*/ 103 h 59"/>
                <a:gd name="T6" fmla="*/ 2240237 w 85"/>
                <a:gd name="T7" fmla="*/ 225 h 59"/>
                <a:gd name="T8" fmla="*/ 1859732 w 85"/>
                <a:gd name="T9" fmla="*/ 421 h 59"/>
                <a:gd name="T10" fmla="*/ 1360144 w 85"/>
                <a:gd name="T11" fmla="*/ 575 h 59"/>
                <a:gd name="T12" fmla="*/ 869214 w 85"/>
                <a:gd name="T13" fmla="*/ 782 h 59"/>
                <a:gd name="T14" fmla="*/ 431225 w 85"/>
                <a:gd name="T15" fmla="*/ 934 h 59"/>
                <a:gd name="T16" fmla="*/ 62872 w 85"/>
                <a:gd name="T17" fmla="*/ 1221 h 59"/>
                <a:gd name="T18" fmla="*/ 0 w 85"/>
                <a:gd name="T19" fmla="*/ 1587 h 59"/>
                <a:gd name="T20" fmla="*/ 462695 w 85"/>
                <a:gd name="T21" fmla="*/ 1463 h 59"/>
                <a:gd name="T22" fmla="*/ 501380 w 85"/>
                <a:gd name="T23" fmla="*/ 1381 h 59"/>
                <a:gd name="T24" fmla="*/ 710253 w 85"/>
                <a:gd name="T25" fmla="*/ 1251 h 59"/>
                <a:gd name="T26" fmla="*/ 1097633 w 85"/>
                <a:gd name="T27" fmla="*/ 1070 h 59"/>
                <a:gd name="T28" fmla="*/ 1560340 w 85"/>
                <a:gd name="T29" fmla="*/ 915 h 59"/>
                <a:gd name="T30" fmla="*/ 2067388 w 85"/>
                <a:gd name="T31" fmla="*/ 683 h 59"/>
                <a:gd name="T32" fmla="*/ 2471399 w 85"/>
                <a:gd name="T33" fmla="*/ 530 h 59"/>
                <a:gd name="T34" fmla="*/ 2838541 w 85"/>
                <a:gd name="T35" fmla="*/ 312 h 59"/>
                <a:gd name="T36" fmla="*/ 2963864 w 85"/>
                <a:gd name="T37" fmla="*/ 0 h 59"/>
                <a:gd name="T38" fmla="*/ 2977662 w 85"/>
                <a:gd name="T39" fmla="*/ 2 h 59"/>
                <a:gd name="T40" fmla="*/ 2471399 w 85"/>
                <a:gd name="T41" fmla="*/ 2 h 59"/>
                <a:gd name="T42" fmla="*/ 2471399 w 85"/>
                <a:gd name="T43" fmla="*/ 120 h 59"/>
                <a:gd name="T44" fmla="*/ 2471399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70" y="3"/>
                  </a:lnTo>
                  <a:lnTo>
                    <a:pt x="63" y="8"/>
                  </a:lnTo>
                  <a:lnTo>
                    <a:pt x="52" y="15"/>
                  </a:lnTo>
                  <a:lnTo>
                    <a:pt x="38" y="21"/>
                  </a:lnTo>
                  <a:lnTo>
                    <a:pt x="24" y="28"/>
                  </a:lnTo>
                  <a:lnTo>
                    <a:pt x="12" y="35"/>
                  </a:lnTo>
                  <a:lnTo>
                    <a:pt x="2" y="45"/>
                  </a:lnTo>
                  <a:lnTo>
                    <a:pt x="0" y="58"/>
                  </a:lnTo>
                  <a:lnTo>
                    <a:pt x="13" y="54"/>
                  </a:lnTo>
                  <a:lnTo>
                    <a:pt x="14" y="52"/>
                  </a:lnTo>
                  <a:lnTo>
                    <a:pt x="20" y="46"/>
                  </a:lnTo>
                  <a:lnTo>
                    <a:pt x="31" y="39"/>
                  </a:lnTo>
                  <a:lnTo>
                    <a:pt x="44" y="33"/>
                  </a:lnTo>
                  <a:lnTo>
                    <a:pt x="58" y="26"/>
                  </a:lnTo>
                  <a:lnTo>
                    <a:pt x="70" y="20"/>
                  </a:lnTo>
                  <a:lnTo>
                    <a:pt x="80" y="12"/>
                  </a:lnTo>
                  <a:lnTo>
                    <a:pt x="83" y="0"/>
                  </a:lnTo>
                  <a:lnTo>
                    <a:pt x="84" y="2"/>
                  </a:lnTo>
                  <a:lnTo>
                    <a:pt x="70" y="2"/>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0" name="Freeform 71">
              <a:extLst>
                <a:ext uri="{FF2B5EF4-FFF2-40B4-BE49-F238E27FC236}">
                  <a16:creationId xmlns:a16="http://schemas.microsoft.com/office/drawing/2014/main" id="{364DC2E2-47C5-F70F-8037-476DFE071F35}"/>
                </a:ext>
              </a:extLst>
            </p:cNvPr>
            <p:cNvSpPr>
              <a:spLocks/>
            </p:cNvSpPr>
            <p:nvPr/>
          </p:nvSpPr>
          <p:spPr bwMode="auto">
            <a:xfrm>
              <a:off x="2412" y="2898"/>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1" name="Freeform 72">
              <a:extLst>
                <a:ext uri="{FF2B5EF4-FFF2-40B4-BE49-F238E27FC236}">
                  <a16:creationId xmlns:a16="http://schemas.microsoft.com/office/drawing/2014/main" id="{C6CE4D28-04F9-2390-CFD5-87B2A33400B8}"/>
                </a:ext>
              </a:extLst>
            </p:cNvPr>
            <p:cNvSpPr>
              <a:spLocks/>
            </p:cNvSpPr>
            <p:nvPr/>
          </p:nvSpPr>
          <p:spPr bwMode="auto">
            <a:xfrm>
              <a:off x="2264" y="2869"/>
              <a:ext cx="173" cy="35"/>
            </a:xfrm>
            <a:custGeom>
              <a:avLst/>
              <a:gdLst>
                <a:gd name="T0" fmla="*/ 0 w 105"/>
                <a:gd name="T1" fmla="*/ 60 h 31"/>
                <a:gd name="T2" fmla="*/ 282272 w 105"/>
                <a:gd name="T3" fmla="*/ 180 h 31"/>
                <a:gd name="T4" fmla="*/ 766270 w 105"/>
                <a:gd name="T5" fmla="*/ 236 h 31"/>
                <a:gd name="T6" fmla="*/ 1283006 w 105"/>
                <a:gd name="T7" fmla="*/ 289 h 31"/>
                <a:gd name="T8" fmla="*/ 1816719 w 105"/>
                <a:gd name="T9" fmla="*/ 292 h 31"/>
                <a:gd name="T10" fmla="*/ 2445765 w 105"/>
                <a:gd name="T11" fmla="*/ 300 h 31"/>
                <a:gd name="T12" fmla="*/ 2890764 w 105"/>
                <a:gd name="T13" fmla="*/ 330 h 31"/>
                <a:gd name="T14" fmla="*/ 3191916 w 105"/>
                <a:gd name="T15" fmla="*/ 373 h 31"/>
                <a:gd name="T16" fmla="*/ 3261172 w 105"/>
                <a:gd name="T17" fmla="*/ 383 h 31"/>
                <a:gd name="T18" fmla="*/ 3721278 w 105"/>
                <a:gd name="T19" fmla="*/ 330 h 31"/>
                <a:gd name="T20" fmla="*/ 3427301 w 105"/>
                <a:gd name="T21" fmla="*/ 209 h 31"/>
                <a:gd name="T22" fmla="*/ 2979100 w 105"/>
                <a:gd name="T23" fmla="*/ 164 h 31"/>
                <a:gd name="T24" fmla="*/ 2482473 w 105"/>
                <a:gd name="T25" fmla="*/ 141 h 31"/>
                <a:gd name="T26" fmla="*/ 1890361 w 105"/>
                <a:gd name="T27" fmla="*/ 125 h 31"/>
                <a:gd name="T28" fmla="*/ 1329942 w 105"/>
                <a:gd name="T29" fmla="*/ 111 h 31"/>
                <a:gd name="T30" fmla="*/ 900951 w 105"/>
                <a:gd name="T31" fmla="*/ 77 h 31"/>
                <a:gd name="T32" fmla="*/ 569066 w 105"/>
                <a:gd name="T33" fmla="*/ 3 h 31"/>
                <a:gd name="T34" fmla="*/ 465077 w 105"/>
                <a:gd name="T35" fmla="*/ 0 h 31"/>
                <a:gd name="T36" fmla="*/ 0 w 105"/>
                <a:gd name="T37" fmla="*/ 6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9"/>
                  </a:lnTo>
                  <a:lnTo>
                    <a:pt x="36" y="22"/>
                  </a:lnTo>
                  <a:lnTo>
                    <a:pt x="51" y="23"/>
                  </a:lnTo>
                  <a:lnTo>
                    <a:pt x="68" y="24"/>
                  </a:lnTo>
                  <a:lnTo>
                    <a:pt x="81" y="26"/>
                  </a:lnTo>
                  <a:lnTo>
                    <a:pt x="89" y="29"/>
                  </a:lnTo>
                  <a:lnTo>
                    <a:pt x="91" y="30"/>
                  </a:lnTo>
                  <a:lnTo>
                    <a:pt x="104" y="26"/>
                  </a:lnTo>
                  <a:lnTo>
                    <a:pt x="96" y="17"/>
                  </a:lnTo>
                  <a:lnTo>
                    <a:pt x="83" y="13"/>
                  </a:lnTo>
                  <a:lnTo>
                    <a:pt x="69" y="11"/>
                  </a:lnTo>
                  <a:lnTo>
                    <a:pt x="53" y="10"/>
                  </a:lnTo>
                  <a:lnTo>
                    <a:pt x="37" y="9"/>
                  </a:lnTo>
                  <a:lnTo>
                    <a:pt x="25"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2" name="Freeform 73">
              <a:extLst>
                <a:ext uri="{FF2B5EF4-FFF2-40B4-BE49-F238E27FC236}">
                  <a16:creationId xmlns:a16="http://schemas.microsoft.com/office/drawing/2014/main" id="{51FFE062-F187-8770-87C2-70DD6E3DBBA3}"/>
                </a:ext>
              </a:extLst>
            </p:cNvPr>
            <p:cNvSpPr>
              <a:spLocks/>
            </p:cNvSpPr>
            <p:nvPr/>
          </p:nvSpPr>
          <p:spPr bwMode="auto">
            <a:xfrm>
              <a:off x="2264" y="2803"/>
              <a:ext cx="136" cy="71"/>
            </a:xfrm>
            <a:custGeom>
              <a:avLst/>
              <a:gdLst>
                <a:gd name="T0" fmla="*/ 2195491 w 83"/>
                <a:gd name="T1" fmla="*/ 74 h 62"/>
                <a:gd name="T2" fmla="*/ 2160471 w 83"/>
                <a:gd name="T3" fmla="*/ 85 h 62"/>
                <a:gd name="T4" fmla="*/ 1987493 w 83"/>
                <a:gd name="T5" fmla="*/ 190 h 62"/>
                <a:gd name="T6" fmla="*/ 1636031 w 83"/>
                <a:gd name="T7" fmla="*/ 286 h 62"/>
                <a:gd name="T8" fmla="*/ 1212955 w 83"/>
                <a:gd name="T9" fmla="*/ 416 h 62"/>
                <a:gd name="T10" fmla="*/ 761179 w 83"/>
                <a:gd name="T11" fmla="*/ 545 h 62"/>
                <a:gd name="T12" fmla="*/ 389068 w 83"/>
                <a:gd name="T13" fmla="*/ 694 h 62"/>
                <a:gd name="T14" fmla="*/ 56548 w 83"/>
                <a:gd name="T15" fmla="*/ 838 h 62"/>
                <a:gd name="T16" fmla="*/ 0 w 83"/>
                <a:gd name="T17" fmla="*/ 1046 h 62"/>
                <a:gd name="T18" fmla="*/ 407626 w 83"/>
                <a:gd name="T19" fmla="*/ 1010 h 62"/>
                <a:gd name="T20" fmla="*/ 451776 w 83"/>
                <a:gd name="T21" fmla="*/ 952 h 62"/>
                <a:gd name="T22" fmla="*/ 609354 w 83"/>
                <a:gd name="T23" fmla="*/ 838 h 62"/>
                <a:gd name="T24" fmla="*/ 998460 w 83"/>
                <a:gd name="T25" fmla="*/ 732 h 62"/>
                <a:gd name="T26" fmla="*/ 1398653 w 83"/>
                <a:gd name="T27" fmla="*/ 624 h 62"/>
                <a:gd name="T28" fmla="*/ 1855348 w 83"/>
                <a:gd name="T29" fmla="*/ 494 h 62"/>
                <a:gd name="T30" fmla="*/ 2232686 w 83"/>
                <a:gd name="T31" fmla="*/ 36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2" y="11"/>
                  </a:lnTo>
                  <a:lnTo>
                    <a:pt x="51" y="17"/>
                  </a:lnTo>
                  <a:lnTo>
                    <a:pt x="38" y="24"/>
                  </a:lnTo>
                  <a:lnTo>
                    <a:pt x="24" y="31"/>
                  </a:lnTo>
                  <a:lnTo>
                    <a:pt x="12" y="39"/>
                  </a:lnTo>
                  <a:lnTo>
                    <a:pt x="2" y="49"/>
                  </a:lnTo>
                  <a:lnTo>
                    <a:pt x="0" y="61"/>
                  </a:lnTo>
                  <a:lnTo>
                    <a:pt x="13" y="58"/>
                  </a:lnTo>
                  <a:lnTo>
                    <a:pt x="14" y="55"/>
                  </a:lnTo>
                  <a:lnTo>
                    <a:pt x="19" y="49"/>
                  </a:lnTo>
                  <a:lnTo>
                    <a:pt x="31"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3" name="Freeform 74">
              <a:extLst>
                <a:ext uri="{FF2B5EF4-FFF2-40B4-BE49-F238E27FC236}">
                  <a16:creationId xmlns:a16="http://schemas.microsoft.com/office/drawing/2014/main" id="{2BA7D606-BBC0-9B61-2076-D4C73CB6F898}"/>
                </a:ext>
              </a:extLst>
            </p:cNvPr>
            <p:cNvSpPr>
              <a:spLocks/>
            </p:cNvSpPr>
            <p:nvPr/>
          </p:nvSpPr>
          <p:spPr bwMode="auto">
            <a:xfrm>
              <a:off x="2226" y="2774"/>
              <a:ext cx="174" cy="33"/>
            </a:xfrm>
            <a:custGeom>
              <a:avLst/>
              <a:gdLst>
                <a:gd name="T0" fmla="*/ 0 w 106"/>
                <a:gd name="T1" fmla="*/ 68 h 29"/>
                <a:gd name="T2" fmla="*/ 306683 w 106"/>
                <a:gd name="T3" fmla="*/ 207 h 29"/>
                <a:gd name="T4" fmla="*/ 724886 w 106"/>
                <a:gd name="T5" fmla="*/ 269 h 29"/>
                <a:gd name="T6" fmla="*/ 1189907 w 106"/>
                <a:gd name="T7" fmla="*/ 306 h 29"/>
                <a:gd name="T8" fmla="*/ 1723619 w 106"/>
                <a:gd name="T9" fmla="*/ 316 h 29"/>
                <a:gd name="T10" fmla="*/ 2261872 w 106"/>
                <a:gd name="T11" fmla="*/ 320 h 29"/>
                <a:gd name="T12" fmla="*/ 2681420 w 106"/>
                <a:gd name="T13" fmla="*/ 360 h 29"/>
                <a:gd name="T14" fmla="*/ 2987436 w 106"/>
                <a:gd name="T15" fmla="*/ 396 h 29"/>
                <a:gd name="T16" fmla="*/ 3048815 w 106"/>
                <a:gd name="T17" fmla="*/ 414 h 29"/>
                <a:gd name="T18" fmla="*/ 3468237 w 106"/>
                <a:gd name="T19" fmla="*/ 360 h 29"/>
                <a:gd name="T20" fmla="*/ 3184802 w 106"/>
                <a:gd name="T21" fmla="*/ 217 h 29"/>
                <a:gd name="T22" fmla="*/ 2792912 w 106"/>
                <a:gd name="T23" fmla="*/ 168 h 29"/>
                <a:gd name="T24" fmla="*/ 2274976 w 106"/>
                <a:gd name="T25" fmla="*/ 130 h 29"/>
                <a:gd name="T26" fmla="*/ 1797496 w 106"/>
                <a:gd name="T27" fmla="*/ 114 h 29"/>
                <a:gd name="T28" fmla="*/ 1229571 w 106"/>
                <a:gd name="T29" fmla="*/ 100 h 29"/>
                <a:gd name="T30" fmla="*/ 784113 w 106"/>
                <a:gd name="T31" fmla="*/ 77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4"/>
                  </a:lnTo>
                  <a:lnTo>
                    <a:pt x="96" y="15"/>
                  </a:lnTo>
                  <a:lnTo>
                    <a:pt x="84" y="11"/>
                  </a:lnTo>
                  <a:lnTo>
                    <a:pt x="69" y="9"/>
                  </a:lnTo>
                  <a:lnTo>
                    <a:pt x="54"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4" name="Freeform 75">
              <a:extLst>
                <a:ext uri="{FF2B5EF4-FFF2-40B4-BE49-F238E27FC236}">
                  <a16:creationId xmlns:a16="http://schemas.microsoft.com/office/drawing/2014/main" id="{2401A57E-33C4-BD98-8DBD-4D977083AB44}"/>
                </a:ext>
              </a:extLst>
            </p:cNvPr>
            <p:cNvSpPr>
              <a:spLocks/>
            </p:cNvSpPr>
            <p:nvPr/>
          </p:nvSpPr>
          <p:spPr bwMode="auto">
            <a:xfrm>
              <a:off x="2226" y="2705"/>
              <a:ext cx="135" cy="74"/>
            </a:xfrm>
            <a:custGeom>
              <a:avLst/>
              <a:gdLst>
                <a:gd name="T0" fmla="*/ 2394339 w 82"/>
                <a:gd name="T1" fmla="*/ 69 h 65"/>
                <a:gd name="T2" fmla="*/ 2353109 w 82"/>
                <a:gd name="T3" fmla="*/ 79 h 65"/>
                <a:gd name="T4" fmla="*/ 2149498 w 82"/>
                <a:gd name="T5" fmla="*/ 171 h 65"/>
                <a:gd name="T6" fmla="*/ 1749470 w 82"/>
                <a:gd name="T7" fmla="*/ 253 h 65"/>
                <a:gd name="T8" fmla="*/ 1305621 w 82"/>
                <a:gd name="T9" fmla="*/ 373 h 65"/>
                <a:gd name="T10" fmla="*/ 859589 w 82"/>
                <a:gd name="T11" fmla="*/ 484 h 65"/>
                <a:gd name="T12" fmla="*/ 387796 w 82"/>
                <a:gd name="T13" fmla="*/ 609 h 65"/>
                <a:gd name="T14" fmla="*/ 61866 w 82"/>
                <a:gd name="T15" fmla="*/ 767 h 65"/>
                <a:gd name="T16" fmla="*/ 0 w 82"/>
                <a:gd name="T17" fmla="*/ 971 h 65"/>
                <a:gd name="T18" fmla="*/ 454501 w 82"/>
                <a:gd name="T19" fmla="*/ 899 h 65"/>
                <a:gd name="T20" fmla="*/ 498843 w 82"/>
                <a:gd name="T21" fmla="*/ 865 h 65"/>
                <a:gd name="T22" fmla="*/ 703836 w 82"/>
                <a:gd name="T23" fmla="*/ 767 h 65"/>
                <a:gd name="T24" fmla="*/ 1051098 w 82"/>
                <a:gd name="T25" fmla="*/ 668 h 65"/>
                <a:gd name="T26" fmla="*/ 1549621 w 82"/>
                <a:gd name="T27" fmla="*/ 551 h 65"/>
                <a:gd name="T28" fmla="*/ 2013884 w 82"/>
                <a:gd name="T29" fmla="*/ 446 h 65"/>
                <a:gd name="T30" fmla="*/ 2447031 w 82"/>
                <a:gd name="T31" fmla="*/ 319 h 65"/>
                <a:gd name="T32" fmla="*/ 2739716 w 82"/>
                <a:gd name="T33" fmla="*/ 195 h 65"/>
                <a:gd name="T34" fmla="*/ 2848938 w 82"/>
                <a:gd name="T35" fmla="*/ 0 h 65"/>
                <a:gd name="T36" fmla="*/ 2394339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7" y="5"/>
                  </a:lnTo>
                  <a:lnTo>
                    <a:pt x="61" y="11"/>
                  </a:lnTo>
                  <a:lnTo>
                    <a:pt x="50" y="17"/>
                  </a:lnTo>
                  <a:lnTo>
                    <a:pt x="37" y="25"/>
                  </a:lnTo>
                  <a:lnTo>
                    <a:pt x="24" y="32"/>
                  </a:lnTo>
                  <a:lnTo>
                    <a:pt x="11" y="40"/>
                  </a:lnTo>
                  <a:lnTo>
                    <a:pt x="2" y="51"/>
                  </a:lnTo>
                  <a:lnTo>
                    <a:pt x="0" y="64"/>
                  </a:lnTo>
                  <a:lnTo>
                    <a:pt x="13" y="60"/>
                  </a:lnTo>
                  <a:lnTo>
                    <a:pt x="14" y="57"/>
                  </a:lnTo>
                  <a:lnTo>
                    <a:pt x="20" y="51"/>
                  </a:lnTo>
                  <a:lnTo>
                    <a:pt x="30" y="44"/>
                  </a:lnTo>
                  <a:lnTo>
                    <a:pt x="44" y="36"/>
                  </a:lnTo>
                  <a:lnTo>
                    <a:pt x="57" y="29"/>
                  </a:lnTo>
                  <a:lnTo>
                    <a:pt x="69" y="21"/>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5" name="Freeform 76">
              <a:extLst>
                <a:ext uri="{FF2B5EF4-FFF2-40B4-BE49-F238E27FC236}">
                  <a16:creationId xmlns:a16="http://schemas.microsoft.com/office/drawing/2014/main" id="{EBB3058D-520A-6683-90ED-24DF6A629EA1}"/>
                </a:ext>
              </a:extLst>
            </p:cNvPr>
            <p:cNvSpPr>
              <a:spLocks/>
            </p:cNvSpPr>
            <p:nvPr/>
          </p:nvSpPr>
          <p:spPr bwMode="auto">
            <a:xfrm>
              <a:off x="2337" y="2705"/>
              <a:ext cx="24" cy="5"/>
            </a:xfrm>
            <a:custGeom>
              <a:avLst/>
              <a:gdLst>
                <a:gd name="T0" fmla="*/ 0 w 14"/>
                <a:gd name="T1" fmla="*/ 4 h 5"/>
                <a:gd name="T2" fmla="*/ 477204 w 14"/>
                <a:gd name="T3" fmla="*/ 2 h 5"/>
                <a:gd name="T4" fmla="*/ 1057803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6" name="Freeform 77">
              <a:extLst>
                <a:ext uri="{FF2B5EF4-FFF2-40B4-BE49-F238E27FC236}">
                  <a16:creationId xmlns:a16="http://schemas.microsoft.com/office/drawing/2014/main" id="{9AA28CC9-24AF-5C5D-DBDB-DA129E68F0E1}"/>
                </a:ext>
              </a:extLst>
            </p:cNvPr>
            <p:cNvSpPr>
              <a:spLocks/>
            </p:cNvSpPr>
            <p:nvPr/>
          </p:nvSpPr>
          <p:spPr bwMode="auto">
            <a:xfrm>
              <a:off x="2185" y="2676"/>
              <a:ext cx="176" cy="34"/>
            </a:xfrm>
            <a:custGeom>
              <a:avLst/>
              <a:gdLst>
                <a:gd name="T0" fmla="*/ 0 w 107"/>
                <a:gd name="T1" fmla="*/ 61 h 30"/>
                <a:gd name="T2" fmla="*/ 316149 w 107"/>
                <a:gd name="T3" fmla="*/ 186 h 30"/>
                <a:gd name="T4" fmla="*/ 755427 w 107"/>
                <a:gd name="T5" fmla="*/ 239 h 30"/>
                <a:gd name="T6" fmla="*/ 1242572 w 107"/>
                <a:gd name="T7" fmla="*/ 271 h 30"/>
                <a:gd name="T8" fmla="*/ 1829721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29721 w 107"/>
                <a:gd name="T27" fmla="*/ 88 h 30"/>
                <a:gd name="T28" fmla="*/ 1326479 w 107"/>
                <a:gd name="T29" fmla="*/ 8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9" y="14"/>
                  </a:lnTo>
                  <a:lnTo>
                    <a:pt x="22" y="18"/>
                  </a:lnTo>
                  <a:lnTo>
                    <a:pt x="36" y="20"/>
                  </a:lnTo>
                  <a:lnTo>
                    <a:pt x="53" y="20"/>
                  </a:lnTo>
                  <a:lnTo>
                    <a:pt x="68" y="21"/>
                  </a:lnTo>
                  <a:lnTo>
                    <a:pt x="82" y="23"/>
                  </a:lnTo>
                  <a:lnTo>
                    <a:pt x="90" y="26"/>
                  </a:lnTo>
                  <a:lnTo>
                    <a:pt x="93" y="29"/>
                  </a:lnTo>
                  <a:lnTo>
                    <a:pt x="106" y="25"/>
                  </a:lnTo>
                  <a:lnTo>
                    <a:pt x="98" y="14"/>
                  </a:lnTo>
                  <a:lnTo>
                    <a:pt x="84" y="10"/>
                  </a:lnTo>
                  <a:lnTo>
                    <a:pt x="69" y="8"/>
                  </a:lnTo>
                  <a:lnTo>
                    <a:pt x="53" y="7"/>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7" name="Freeform 78">
              <a:extLst>
                <a:ext uri="{FF2B5EF4-FFF2-40B4-BE49-F238E27FC236}">
                  <a16:creationId xmlns:a16="http://schemas.microsoft.com/office/drawing/2014/main" id="{4A9EBC76-EB1B-A32B-BB18-EAF8C033EF85}"/>
                </a:ext>
              </a:extLst>
            </p:cNvPr>
            <p:cNvSpPr>
              <a:spLocks/>
            </p:cNvSpPr>
            <p:nvPr/>
          </p:nvSpPr>
          <p:spPr bwMode="auto">
            <a:xfrm>
              <a:off x="2185" y="2609"/>
              <a:ext cx="138" cy="72"/>
            </a:xfrm>
            <a:custGeom>
              <a:avLst/>
              <a:gdLst>
                <a:gd name="T0" fmla="*/ 2353327 w 84"/>
                <a:gd name="T1" fmla="*/ 73 h 63"/>
                <a:gd name="T2" fmla="*/ 2325254 w 84"/>
                <a:gd name="T3" fmla="*/ 95 h 63"/>
                <a:gd name="T4" fmla="*/ 2114707 w 84"/>
                <a:gd name="T5" fmla="*/ 202 h 63"/>
                <a:gd name="T6" fmla="*/ 1748426 w 84"/>
                <a:gd name="T7" fmla="*/ 318 h 63"/>
                <a:gd name="T8" fmla="*/ 1275230 w 84"/>
                <a:gd name="T9" fmla="*/ 426 h 63"/>
                <a:gd name="T10" fmla="*/ 836973 w 84"/>
                <a:gd name="T11" fmla="*/ 542 h 63"/>
                <a:gd name="T12" fmla="*/ 410755 w 84"/>
                <a:gd name="T13" fmla="*/ 671 h 63"/>
                <a:gd name="T14" fmla="*/ 99128 w 84"/>
                <a:gd name="T15" fmla="*/ 808 h 63"/>
                <a:gd name="T16" fmla="*/ 0 w 84"/>
                <a:gd name="T17" fmla="*/ 1032 h 63"/>
                <a:gd name="T18" fmla="*/ 439537 w 84"/>
                <a:gd name="T19" fmla="*/ 951 h 63"/>
                <a:gd name="T20" fmla="*/ 472486 w 84"/>
                <a:gd name="T21" fmla="*/ 941 h 63"/>
                <a:gd name="T22" fmla="*/ 674812 w 84"/>
                <a:gd name="T23" fmla="*/ 823 h 63"/>
                <a:gd name="T24" fmla="*/ 1050389 w 84"/>
                <a:gd name="T25" fmla="*/ 728 h 63"/>
                <a:gd name="T26" fmla="*/ 1524090 w 84"/>
                <a:gd name="T27" fmla="*/ 606 h 63"/>
                <a:gd name="T28" fmla="*/ 1984371 w 84"/>
                <a:gd name="T29" fmla="*/ 487 h 63"/>
                <a:gd name="T30" fmla="*/ 2396631 w 84"/>
                <a:gd name="T31" fmla="*/ 363 h 63"/>
                <a:gd name="T32" fmla="*/ 2733325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6"/>
                  </a:lnTo>
                  <a:lnTo>
                    <a:pt x="63" y="12"/>
                  </a:lnTo>
                  <a:lnTo>
                    <a:pt x="52" y="19"/>
                  </a:lnTo>
                  <a:lnTo>
                    <a:pt x="38" y="26"/>
                  </a:lnTo>
                  <a:lnTo>
                    <a:pt x="25" y="33"/>
                  </a:lnTo>
                  <a:lnTo>
                    <a:pt x="12" y="40"/>
                  </a:lnTo>
                  <a:lnTo>
                    <a:pt x="3" y="49"/>
                  </a:lnTo>
                  <a:lnTo>
                    <a:pt x="0" y="62"/>
                  </a:lnTo>
                  <a:lnTo>
                    <a:pt x="13" y="58"/>
                  </a:lnTo>
                  <a:lnTo>
                    <a:pt x="14" y="57"/>
                  </a:lnTo>
                  <a:lnTo>
                    <a:pt x="20" y="50"/>
                  </a:lnTo>
                  <a:lnTo>
                    <a:pt x="31" y="45"/>
                  </a:lnTo>
                  <a:lnTo>
                    <a:pt x="45" y="37"/>
                  </a:lnTo>
                  <a:lnTo>
                    <a:pt x="59" y="30"/>
                  </a:lnTo>
                  <a:lnTo>
                    <a:pt x="71" y="22"/>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8" name="Freeform 79">
              <a:extLst>
                <a:ext uri="{FF2B5EF4-FFF2-40B4-BE49-F238E27FC236}">
                  <a16:creationId xmlns:a16="http://schemas.microsoft.com/office/drawing/2014/main" id="{05F08494-AB5C-E465-6517-51F00B250053}"/>
                </a:ext>
              </a:extLst>
            </p:cNvPr>
            <p:cNvSpPr>
              <a:spLocks/>
            </p:cNvSpPr>
            <p:nvPr/>
          </p:nvSpPr>
          <p:spPr bwMode="auto">
            <a:xfrm>
              <a:off x="2148" y="2580"/>
              <a:ext cx="175" cy="35"/>
            </a:xfrm>
            <a:custGeom>
              <a:avLst/>
              <a:gdLst>
                <a:gd name="T0" fmla="*/ 0 w 106"/>
                <a:gd name="T1" fmla="*/ 120 h 30"/>
                <a:gd name="T2" fmla="*/ 291842 w 106"/>
                <a:gd name="T3" fmla="*/ 358 h 30"/>
                <a:gd name="T4" fmla="*/ 795449 w 106"/>
                <a:gd name="T5" fmla="*/ 480 h 30"/>
                <a:gd name="T6" fmla="*/ 1328805 w 106"/>
                <a:gd name="T7" fmla="*/ 501 h 30"/>
                <a:gd name="T8" fmla="*/ 1899835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90 h 30"/>
                <a:gd name="T30" fmla="*/ 864949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1"/>
                  </a:lnTo>
                  <a:lnTo>
                    <a:pt x="81" y="23"/>
                  </a:lnTo>
                  <a:lnTo>
                    <a:pt x="89" y="26"/>
                  </a:lnTo>
                  <a:lnTo>
                    <a:pt x="92" y="29"/>
                  </a:lnTo>
                  <a:lnTo>
                    <a:pt x="105" y="25"/>
                  </a:lnTo>
                  <a:lnTo>
                    <a:pt x="97" y="14"/>
                  </a:lnTo>
                  <a:lnTo>
                    <a:pt x="83" y="10"/>
                  </a:lnTo>
                  <a:lnTo>
                    <a:pt x="69" y="8"/>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99" name="Freeform 80">
              <a:extLst>
                <a:ext uri="{FF2B5EF4-FFF2-40B4-BE49-F238E27FC236}">
                  <a16:creationId xmlns:a16="http://schemas.microsoft.com/office/drawing/2014/main" id="{0BF79670-AA66-3B39-BC13-2F10FD4E2BDE}"/>
                </a:ext>
              </a:extLst>
            </p:cNvPr>
            <p:cNvSpPr>
              <a:spLocks/>
            </p:cNvSpPr>
            <p:nvPr/>
          </p:nvSpPr>
          <p:spPr bwMode="auto">
            <a:xfrm>
              <a:off x="2148" y="2519"/>
              <a:ext cx="141" cy="68"/>
            </a:xfrm>
            <a:custGeom>
              <a:avLst/>
              <a:gdLst>
                <a:gd name="T0" fmla="*/ 2878991 w 85"/>
                <a:gd name="T1" fmla="*/ 2 h 59"/>
                <a:gd name="T2" fmla="*/ 2878991 w 85"/>
                <a:gd name="T3" fmla="*/ 89 h 59"/>
                <a:gd name="T4" fmla="*/ 2614160 w 85"/>
                <a:gd name="T5" fmla="*/ 182 h 59"/>
                <a:gd name="T6" fmla="*/ 2144595 w 85"/>
                <a:gd name="T7" fmla="*/ 294 h 59"/>
                <a:gd name="T8" fmla="*/ 1575912 w 85"/>
                <a:gd name="T9" fmla="*/ 428 h 59"/>
                <a:gd name="T10" fmla="*/ 986829 w 85"/>
                <a:gd name="T11" fmla="*/ 568 h 59"/>
                <a:gd name="T12" fmla="*/ 495429 w 85"/>
                <a:gd name="T13" fmla="*/ 690 h 59"/>
                <a:gd name="T14" fmla="*/ 71877 w 85"/>
                <a:gd name="T15" fmla="*/ 902 h 59"/>
                <a:gd name="T16" fmla="*/ 0 w 85"/>
                <a:gd name="T17" fmla="*/ 1156 h 59"/>
                <a:gd name="T18" fmla="*/ 544238 w 85"/>
                <a:gd name="T19" fmla="*/ 1056 h 59"/>
                <a:gd name="T20" fmla="*/ 572706 w 85"/>
                <a:gd name="T21" fmla="*/ 1033 h 59"/>
                <a:gd name="T22" fmla="*/ 794518 w 85"/>
                <a:gd name="T23" fmla="*/ 902 h 59"/>
                <a:gd name="T24" fmla="*/ 1275833 w 85"/>
                <a:gd name="T25" fmla="*/ 783 h 59"/>
                <a:gd name="T26" fmla="*/ 1814589 w 85"/>
                <a:gd name="T27" fmla="*/ 674 h 59"/>
                <a:gd name="T28" fmla="*/ 2390096 w 85"/>
                <a:gd name="T29" fmla="*/ 520 h 59"/>
                <a:gd name="T30" fmla="*/ 2938929 w 85"/>
                <a:gd name="T31" fmla="*/ 391 h 59"/>
                <a:gd name="T32" fmla="*/ 3319634 w 85"/>
                <a:gd name="T33" fmla="*/ 242 h 59"/>
                <a:gd name="T34" fmla="*/ 3434334 w 85"/>
                <a:gd name="T35" fmla="*/ 0 h 59"/>
                <a:gd name="T36" fmla="*/ 3461437 w 85"/>
                <a:gd name="T37" fmla="*/ 2 h 59"/>
                <a:gd name="T38" fmla="*/ 2878991 w 85"/>
                <a:gd name="T39" fmla="*/ 2 h 59"/>
                <a:gd name="T40" fmla="*/ 2878991 w 85"/>
                <a:gd name="T41" fmla="*/ 3 h 59"/>
                <a:gd name="T42" fmla="*/ 2878991 w 85"/>
                <a:gd name="T43" fmla="*/ 89 h 59"/>
                <a:gd name="T44" fmla="*/ 2878991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63" y="9"/>
                  </a:lnTo>
                  <a:lnTo>
                    <a:pt x="52" y="15"/>
                  </a:lnTo>
                  <a:lnTo>
                    <a:pt x="38" y="21"/>
                  </a:lnTo>
                  <a:lnTo>
                    <a:pt x="24" y="28"/>
                  </a:lnTo>
                  <a:lnTo>
                    <a:pt x="12" y="36"/>
                  </a:lnTo>
                  <a:lnTo>
                    <a:pt x="2" y="46"/>
                  </a:lnTo>
                  <a:lnTo>
                    <a:pt x="0" y="58"/>
                  </a:lnTo>
                  <a:lnTo>
                    <a:pt x="13" y="54"/>
                  </a:lnTo>
                  <a:lnTo>
                    <a:pt x="14" y="52"/>
                  </a:lnTo>
                  <a:lnTo>
                    <a:pt x="19" y="46"/>
                  </a:lnTo>
                  <a:lnTo>
                    <a:pt x="31" y="40"/>
                  </a:lnTo>
                  <a:lnTo>
                    <a:pt x="44" y="34"/>
                  </a:lnTo>
                  <a:lnTo>
                    <a:pt x="58" y="27"/>
                  </a:lnTo>
                  <a:lnTo>
                    <a:pt x="71" y="20"/>
                  </a:lnTo>
                  <a:lnTo>
                    <a:pt x="80" y="12"/>
                  </a:lnTo>
                  <a:lnTo>
                    <a:pt x="83" y="0"/>
                  </a:lnTo>
                  <a:lnTo>
                    <a:pt x="84" y="2"/>
                  </a:lnTo>
                  <a:lnTo>
                    <a:pt x="70" y="2"/>
                  </a:lnTo>
                  <a:lnTo>
                    <a:pt x="70" y="3"/>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0" name="Freeform 81">
              <a:extLst>
                <a:ext uri="{FF2B5EF4-FFF2-40B4-BE49-F238E27FC236}">
                  <a16:creationId xmlns:a16="http://schemas.microsoft.com/office/drawing/2014/main" id="{F6A10286-DF25-28F5-F44D-1663EE5438FE}"/>
                </a:ext>
              </a:extLst>
            </p:cNvPr>
            <p:cNvSpPr>
              <a:spLocks/>
            </p:cNvSpPr>
            <p:nvPr/>
          </p:nvSpPr>
          <p:spPr bwMode="auto">
            <a:xfrm>
              <a:off x="2264" y="2517"/>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1" name="Freeform 82">
              <a:extLst>
                <a:ext uri="{FF2B5EF4-FFF2-40B4-BE49-F238E27FC236}">
                  <a16:creationId xmlns:a16="http://schemas.microsoft.com/office/drawing/2014/main" id="{B27FA6BE-7BB9-A1A1-14F3-BBC613497C0C}"/>
                </a:ext>
              </a:extLst>
            </p:cNvPr>
            <p:cNvSpPr>
              <a:spLocks/>
            </p:cNvSpPr>
            <p:nvPr/>
          </p:nvSpPr>
          <p:spPr bwMode="auto">
            <a:xfrm>
              <a:off x="2114" y="2489"/>
              <a:ext cx="173" cy="34"/>
            </a:xfrm>
            <a:custGeom>
              <a:avLst/>
              <a:gdLst>
                <a:gd name="T0" fmla="*/ 0 w 105"/>
                <a:gd name="T1" fmla="*/ 61 h 30"/>
                <a:gd name="T2" fmla="*/ 262886 w 105"/>
                <a:gd name="T3" fmla="*/ 186 h 30"/>
                <a:gd name="T4" fmla="*/ 766270 w 105"/>
                <a:gd name="T5" fmla="*/ 264 h 30"/>
                <a:gd name="T6" fmla="*/ 1262521 w 105"/>
                <a:gd name="T7" fmla="*/ 298 h 30"/>
                <a:gd name="T8" fmla="*/ 1816719 w 105"/>
                <a:gd name="T9" fmla="*/ 299 h 30"/>
                <a:gd name="T10" fmla="*/ 2385467 w 105"/>
                <a:gd name="T11" fmla="*/ 307 h 30"/>
                <a:gd name="T12" fmla="*/ 2865936 w 105"/>
                <a:gd name="T13" fmla="*/ 339 h 30"/>
                <a:gd name="T14" fmla="*/ 3191916 w 105"/>
                <a:gd name="T15" fmla="*/ 383 h 30"/>
                <a:gd name="T16" fmla="*/ 3261172 w 105"/>
                <a:gd name="T17" fmla="*/ 394 h 30"/>
                <a:gd name="T18" fmla="*/ 3721278 w 105"/>
                <a:gd name="T19" fmla="*/ 339 h 30"/>
                <a:gd name="T20" fmla="*/ 3420932 w 105"/>
                <a:gd name="T21" fmla="*/ 211 h 30"/>
                <a:gd name="T22" fmla="*/ 2979100 w 105"/>
                <a:gd name="T23" fmla="*/ 164 h 30"/>
                <a:gd name="T24" fmla="*/ 2482473 w 105"/>
                <a:gd name="T25" fmla="*/ 128 h 30"/>
                <a:gd name="T26" fmla="*/ 1875692 w 105"/>
                <a:gd name="T27" fmla="*/ 113 h 30"/>
                <a:gd name="T28" fmla="*/ 1329942 w 105"/>
                <a:gd name="T29" fmla="*/ 100 h 30"/>
                <a:gd name="T30" fmla="*/ 875703 w 105"/>
                <a:gd name="T31" fmla="*/ 78 h 30"/>
                <a:gd name="T32" fmla="*/ 546820 w 105"/>
                <a:gd name="T33" fmla="*/ 3 h 30"/>
                <a:gd name="T34" fmla="*/ 465077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7" y="14"/>
                  </a:lnTo>
                  <a:lnTo>
                    <a:pt x="21" y="19"/>
                  </a:lnTo>
                  <a:lnTo>
                    <a:pt x="35" y="21"/>
                  </a:lnTo>
                  <a:lnTo>
                    <a:pt x="51" y="22"/>
                  </a:lnTo>
                  <a:lnTo>
                    <a:pt x="67" y="23"/>
                  </a:lnTo>
                  <a:lnTo>
                    <a:pt x="80" y="25"/>
                  </a:lnTo>
                  <a:lnTo>
                    <a:pt x="89" y="27"/>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2" name="Freeform 83">
              <a:extLst>
                <a:ext uri="{FF2B5EF4-FFF2-40B4-BE49-F238E27FC236}">
                  <a16:creationId xmlns:a16="http://schemas.microsoft.com/office/drawing/2014/main" id="{A1B16F47-D160-0063-5A6F-6CB130C3C9DC}"/>
                </a:ext>
              </a:extLst>
            </p:cNvPr>
            <p:cNvSpPr>
              <a:spLocks/>
            </p:cNvSpPr>
            <p:nvPr/>
          </p:nvSpPr>
          <p:spPr bwMode="auto">
            <a:xfrm>
              <a:off x="2114" y="2422"/>
              <a:ext cx="138" cy="72"/>
            </a:xfrm>
            <a:custGeom>
              <a:avLst/>
              <a:gdLst>
                <a:gd name="T0" fmla="*/ 2353327 w 84"/>
                <a:gd name="T1" fmla="*/ 73 h 63"/>
                <a:gd name="T2" fmla="*/ 2294899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3" name="Freeform 84">
              <a:extLst>
                <a:ext uri="{FF2B5EF4-FFF2-40B4-BE49-F238E27FC236}">
                  <a16:creationId xmlns:a16="http://schemas.microsoft.com/office/drawing/2014/main" id="{38F1C16D-8F69-AF50-1BB9-7E3FB60C6033}"/>
                </a:ext>
              </a:extLst>
            </p:cNvPr>
            <p:cNvSpPr>
              <a:spLocks/>
            </p:cNvSpPr>
            <p:nvPr/>
          </p:nvSpPr>
          <p:spPr bwMode="auto">
            <a:xfrm>
              <a:off x="2079" y="2393"/>
              <a:ext cx="173" cy="35"/>
            </a:xfrm>
            <a:custGeom>
              <a:avLst/>
              <a:gdLst>
                <a:gd name="T0" fmla="*/ 0 w 106"/>
                <a:gd name="T1" fmla="*/ 120 h 30"/>
                <a:gd name="T2" fmla="*/ 228735 w 106"/>
                <a:gd name="T3" fmla="*/ 358 h 30"/>
                <a:gd name="T4" fmla="*/ 609275 w 106"/>
                <a:gd name="T5" fmla="*/ 480 h 30"/>
                <a:gd name="T6" fmla="*/ 1059028 w 106"/>
                <a:gd name="T7" fmla="*/ 501 h 30"/>
                <a:gd name="T8" fmla="*/ 1530828 w 106"/>
                <a:gd name="T9" fmla="*/ 560 h 30"/>
                <a:gd name="T10" fmla="*/ 1989524 w 106"/>
                <a:gd name="T11" fmla="*/ 569 h 30"/>
                <a:gd name="T12" fmla="*/ 2370041 w 106"/>
                <a:gd name="T13" fmla="*/ 639 h 30"/>
                <a:gd name="T14" fmla="*/ 2648708 w 106"/>
                <a:gd name="T15" fmla="*/ 683 h 30"/>
                <a:gd name="T16" fmla="*/ 2702097 w 106"/>
                <a:gd name="T17" fmla="*/ 762 h 30"/>
                <a:gd name="T18" fmla="*/ 3075039 w 106"/>
                <a:gd name="T19" fmla="*/ 653 h 30"/>
                <a:gd name="T20" fmla="*/ 2841860 w 106"/>
                <a:gd name="T21" fmla="*/ 411 h 30"/>
                <a:gd name="T22" fmla="*/ 2468792 w 106"/>
                <a:gd name="T23" fmla="*/ 302 h 30"/>
                <a:gd name="T24" fmla="*/ 2027495 w 106"/>
                <a:gd name="T25" fmla="*/ 259 h 30"/>
                <a:gd name="T26" fmla="*/ 1568018 w 106"/>
                <a:gd name="T27" fmla="*/ 222 h 30"/>
                <a:gd name="T28" fmla="*/ 1112134 w 106"/>
                <a:gd name="T29" fmla="*/ 190 h 30"/>
                <a:gd name="T30" fmla="*/ 701815 w 106"/>
                <a:gd name="T31" fmla="*/ 140 h 30"/>
                <a:gd name="T32" fmla="*/ 430014 w 106"/>
                <a:gd name="T33" fmla="*/ 103 h 30"/>
                <a:gd name="T34" fmla="*/ 373313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7" y="15"/>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4" name="Freeform 85">
              <a:extLst>
                <a:ext uri="{FF2B5EF4-FFF2-40B4-BE49-F238E27FC236}">
                  <a16:creationId xmlns:a16="http://schemas.microsoft.com/office/drawing/2014/main" id="{B7426B58-B249-3FBD-1661-E0D8DA5CDB3C}"/>
                </a:ext>
              </a:extLst>
            </p:cNvPr>
            <p:cNvSpPr>
              <a:spLocks/>
            </p:cNvSpPr>
            <p:nvPr/>
          </p:nvSpPr>
          <p:spPr bwMode="auto">
            <a:xfrm>
              <a:off x="2079" y="2326"/>
              <a:ext cx="136" cy="73"/>
            </a:xfrm>
            <a:custGeom>
              <a:avLst/>
              <a:gdLst>
                <a:gd name="T0" fmla="*/ 2195491 w 83"/>
                <a:gd name="T1" fmla="*/ 3 h 63"/>
                <a:gd name="T2" fmla="*/ 2160471 w 83"/>
                <a:gd name="T3" fmla="*/ 109 h 63"/>
                <a:gd name="T4" fmla="*/ 1987493 w 83"/>
                <a:gd name="T5" fmla="*/ 247 h 63"/>
                <a:gd name="T6" fmla="*/ 1636031 w 83"/>
                <a:gd name="T7" fmla="*/ 38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19" y="50"/>
                  </a:lnTo>
                  <a:lnTo>
                    <a:pt x="30" y="43"/>
                  </a:lnTo>
                  <a:lnTo>
                    <a:pt x="44" y="36"/>
                  </a:lnTo>
                  <a:lnTo>
                    <a:pt x="58" y="29"/>
                  </a:lnTo>
                  <a:lnTo>
                    <a:pt x="70" y="21"/>
                  </a:lnTo>
                  <a:lnTo>
                    <a:pt x="80" y="13"/>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5" name="Freeform 86">
              <a:extLst>
                <a:ext uri="{FF2B5EF4-FFF2-40B4-BE49-F238E27FC236}">
                  <a16:creationId xmlns:a16="http://schemas.microsoft.com/office/drawing/2014/main" id="{773C07FA-D34A-7D17-1384-943E09A66713}"/>
                </a:ext>
              </a:extLst>
            </p:cNvPr>
            <p:cNvSpPr>
              <a:spLocks/>
            </p:cNvSpPr>
            <p:nvPr/>
          </p:nvSpPr>
          <p:spPr bwMode="auto">
            <a:xfrm>
              <a:off x="2042" y="2241"/>
              <a:ext cx="173" cy="91"/>
            </a:xfrm>
            <a:custGeom>
              <a:avLst/>
              <a:gdLst>
                <a:gd name="T0" fmla="*/ 504969 w 105"/>
                <a:gd name="T1" fmla="*/ 1080 h 79"/>
                <a:gd name="T2" fmla="*/ 38304 w 105"/>
                <a:gd name="T3" fmla="*/ 1113 h 79"/>
                <a:gd name="T4" fmla="*/ 282272 w 105"/>
                <a:gd name="T5" fmla="*/ 1321 h 79"/>
                <a:gd name="T6" fmla="*/ 766270 w 105"/>
                <a:gd name="T7" fmla="*/ 1371 h 79"/>
                <a:gd name="T8" fmla="*/ 1329942 w 105"/>
                <a:gd name="T9" fmla="*/ 1433 h 79"/>
                <a:gd name="T10" fmla="*/ 1890361 w 105"/>
                <a:gd name="T11" fmla="*/ 1433 h 79"/>
                <a:gd name="T12" fmla="*/ 2445765 w 105"/>
                <a:gd name="T13" fmla="*/ 1433 h 79"/>
                <a:gd name="T14" fmla="*/ 2890764 w 105"/>
                <a:gd name="T15" fmla="*/ 1438 h 79"/>
                <a:gd name="T16" fmla="*/ 3191916 w 105"/>
                <a:gd name="T17" fmla="*/ 1477 h 79"/>
                <a:gd name="T18" fmla="*/ 3261172 w 105"/>
                <a:gd name="T19" fmla="*/ 1530 h 79"/>
                <a:gd name="T20" fmla="*/ 3721278 w 105"/>
                <a:gd name="T21" fmla="*/ 1438 h 79"/>
                <a:gd name="T22" fmla="*/ 3427301 w 105"/>
                <a:gd name="T23" fmla="*/ 1248 h 79"/>
                <a:gd name="T24" fmla="*/ 2979100 w 105"/>
                <a:gd name="T25" fmla="*/ 1189 h 79"/>
                <a:gd name="T26" fmla="*/ 2445765 w 105"/>
                <a:gd name="T27" fmla="*/ 1157 h 79"/>
                <a:gd name="T28" fmla="*/ 1890361 w 105"/>
                <a:gd name="T29" fmla="*/ 1153 h 79"/>
                <a:gd name="T30" fmla="*/ 1329942 w 105"/>
                <a:gd name="T31" fmla="*/ 1157 h 79"/>
                <a:gd name="T32" fmla="*/ 875703 w 105"/>
                <a:gd name="T33" fmla="*/ 1147 h 79"/>
                <a:gd name="T34" fmla="*/ 569066 w 105"/>
                <a:gd name="T35" fmla="*/ 1080 h 79"/>
                <a:gd name="T36" fmla="*/ 504969 w 105"/>
                <a:gd name="T37" fmla="*/ 1032 h 79"/>
                <a:gd name="T38" fmla="*/ 0 w 105"/>
                <a:gd name="T39" fmla="*/ 1080 h 79"/>
                <a:gd name="T40" fmla="*/ 504969 w 105"/>
                <a:gd name="T41" fmla="*/ 1032 h 79"/>
                <a:gd name="T42" fmla="*/ 0 w 105"/>
                <a:gd name="T43" fmla="*/ 0 h 79"/>
                <a:gd name="T44" fmla="*/ 0 w 105"/>
                <a:gd name="T45" fmla="*/ 1080 h 79"/>
                <a:gd name="T46" fmla="*/ 504969 w 105"/>
                <a:gd name="T47" fmla="*/ 1080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5"/>
                  </a:moveTo>
                  <a:lnTo>
                    <a:pt x="1" y="57"/>
                  </a:lnTo>
                  <a:lnTo>
                    <a:pt x="8" y="67"/>
                  </a:lnTo>
                  <a:lnTo>
                    <a:pt x="21" y="71"/>
                  </a:lnTo>
                  <a:lnTo>
                    <a:pt x="37" y="73"/>
                  </a:lnTo>
                  <a:lnTo>
                    <a:pt x="53" y="73"/>
                  </a:lnTo>
                  <a:lnTo>
                    <a:pt x="68" y="73"/>
                  </a:lnTo>
                  <a:lnTo>
                    <a:pt x="81" y="74"/>
                  </a:lnTo>
                  <a:lnTo>
                    <a:pt x="89" y="76"/>
                  </a:lnTo>
                  <a:lnTo>
                    <a:pt x="91" y="78"/>
                  </a:lnTo>
                  <a:lnTo>
                    <a:pt x="104" y="74"/>
                  </a:lnTo>
                  <a:lnTo>
                    <a:pt x="96" y="64"/>
                  </a:lnTo>
                  <a:lnTo>
                    <a:pt x="83" y="61"/>
                  </a:lnTo>
                  <a:lnTo>
                    <a:pt x="68" y="60"/>
                  </a:lnTo>
                  <a:lnTo>
                    <a:pt x="53" y="59"/>
                  </a:lnTo>
                  <a:lnTo>
                    <a:pt x="37" y="60"/>
                  </a:lnTo>
                  <a:lnTo>
                    <a:pt x="24" y="58"/>
                  </a:lnTo>
                  <a:lnTo>
                    <a:pt x="16" y="55"/>
                  </a:lnTo>
                  <a:lnTo>
                    <a:pt x="14" y="53"/>
                  </a:lnTo>
                  <a:lnTo>
                    <a:pt x="0" y="55"/>
                  </a:lnTo>
                  <a:lnTo>
                    <a:pt x="14" y="53"/>
                  </a:lnTo>
                  <a:lnTo>
                    <a:pt x="0" y="0"/>
                  </a:lnTo>
                  <a:lnTo>
                    <a:pt x="0" y="55"/>
                  </a:lnTo>
                  <a:lnTo>
                    <a:pt x="14" y="5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6" name="Freeform 87">
              <a:extLst>
                <a:ext uri="{FF2B5EF4-FFF2-40B4-BE49-F238E27FC236}">
                  <a16:creationId xmlns:a16="http://schemas.microsoft.com/office/drawing/2014/main" id="{92010B4B-1244-1CAD-47F7-86436288E25F}"/>
                </a:ext>
              </a:extLst>
            </p:cNvPr>
            <p:cNvSpPr>
              <a:spLocks/>
            </p:cNvSpPr>
            <p:nvPr/>
          </p:nvSpPr>
          <p:spPr bwMode="auto">
            <a:xfrm>
              <a:off x="2042" y="2304"/>
              <a:ext cx="26" cy="54"/>
            </a:xfrm>
            <a:custGeom>
              <a:avLst/>
              <a:gdLst>
                <a:gd name="T0" fmla="*/ 30347 w 16"/>
                <a:gd name="T1" fmla="*/ 79 h 47"/>
                <a:gd name="T2" fmla="*/ 392938 w 16"/>
                <a:gd name="T3" fmla="*/ 2 h 47"/>
                <a:gd name="T4" fmla="*/ 392938 w 16"/>
                <a:gd name="T5" fmla="*/ 1 h 47"/>
                <a:gd name="T6" fmla="*/ 0 w 16"/>
                <a:gd name="T7" fmla="*/ 1 h 47"/>
                <a:gd name="T8" fmla="*/ 0 w 16"/>
                <a:gd name="T9" fmla="*/ 2 h 47"/>
                <a:gd name="T10" fmla="*/ 373888 w 16"/>
                <a:gd name="T11" fmla="*/ 0 h 47"/>
                <a:gd name="T12" fmla="*/ 30347 w 16"/>
                <a:gd name="T13" fmla="*/ 79 h 47"/>
                <a:gd name="T14" fmla="*/ 392938 w 16"/>
                <a:gd name="T15" fmla="*/ 853 h 47"/>
                <a:gd name="T16" fmla="*/ 392938 w 16"/>
                <a:gd name="T17" fmla="*/ 2 h 47"/>
                <a:gd name="T18" fmla="*/ 30347 w 16"/>
                <a:gd name="T19" fmla="*/ 79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7"/>
                <a:gd name="T32" fmla="*/ 16 w 16"/>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7">
                  <a:moveTo>
                    <a:pt x="1" y="4"/>
                  </a:moveTo>
                  <a:lnTo>
                    <a:pt x="15" y="2"/>
                  </a:lnTo>
                  <a:lnTo>
                    <a:pt x="15" y="1"/>
                  </a:lnTo>
                  <a:lnTo>
                    <a:pt x="0" y="1"/>
                  </a:lnTo>
                  <a:lnTo>
                    <a:pt x="0" y="2"/>
                  </a:lnTo>
                  <a:lnTo>
                    <a:pt x="14" y="0"/>
                  </a:lnTo>
                  <a:lnTo>
                    <a:pt x="1" y="4"/>
                  </a:lnTo>
                  <a:lnTo>
                    <a:pt x="15" y="46"/>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7" name="Freeform 88">
              <a:extLst>
                <a:ext uri="{FF2B5EF4-FFF2-40B4-BE49-F238E27FC236}">
                  <a16:creationId xmlns:a16="http://schemas.microsoft.com/office/drawing/2014/main" id="{526B3520-CCE9-B4B5-B086-0C148E90CD4E}"/>
                </a:ext>
              </a:extLst>
            </p:cNvPr>
            <p:cNvSpPr>
              <a:spLocks/>
            </p:cNvSpPr>
            <p:nvPr/>
          </p:nvSpPr>
          <p:spPr bwMode="auto">
            <a:xfrm>
              <a:off x="2043" y="2235"/>
              <a:ext cx="137" cy="74"/>
            </a:xfrm>
            <a:custGeom>
              <a:avLst/>
              <a:gdLst>
                <a:gd name="T0" fmla="*/ 2566051 w 83"/>
                <a:gd name="T1" fmla="*/ 93 h 64"/>
                <a:gd name="T2" fmla="*/ 2566051 w 83"/>
                <a:gd name="T3" fmla="*/ 125 h 64"/>
                <a:gd name="T4" fmla="*/ 2349936 w 83"/>
                <a:gd name="T5" fmla="*/ 224 h 64"/>
                <a:gd name="T6" fmla="*/ 1894573 w 83"/>
                <a:gd name="T7" fmla="*/ 325 h 64"/>
                <a:gd name="T8" fmla="*/ 1385413 w 83"/>
                <a:gd name="T9" fmla="*/ 443 h 64"/>
                <a:gd name="T10" fmla="*/ 802089 w 83"/>
                <a:gd name="T11" fmla="*/ 592 h 64"/>
                <a:gd name="T12" fmla="*/ 339412 w 83"/>
                <a:gd name="T13" fmla="*/ 778 h 64"/>
                <a:gd name="T14" fmla="*/ 0 w 83"/>
                <a:gd name="T15" fmla="*/ 1015 h 64"/>
                <a:gd name="T16" fmla="*/ 0 w 83"/>
                <a:gd name="T17" fmla="*/ 1319 h 64"/>
                <a:gd name="T18" fmla="*/ 480180 w 83"/>
                <a:gd name="T19" fmla="*/ 1234 h 64"/>
                <a:gd name="T20" fmla="*/ 480180 w 83"/>
                <a:gd name="T21" fmla="*/ 1129 h 64"/>
                <a:gd name="T22" fmla="*/ 695387 w 83"/>
                <a:gd name="T23" fmla="*/ 977 h 64"/>
                <a:gd name="T24" fmla="*/ 1077345 w 83"/>
                <a:gd name="T25" fmla="*/ 844 h 64"/>
                <a:gd name="T26" fmla="*/ 1599909 w 83"/>
                <a:gd name="T27" fmla="*/ 716 h 64"/>
                <a:gd name="T28" fmla="*/ 2072477 w 83"/>
                <a:gd name="T29" fmla="*/ 582 h 64"/>
                <a:gd name="T30" fmla="*/ 2566051 w 83"/>
                <a:gd name="T31" fmla="*/ 44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6"/>
                  </a:lnTo>
                  <a:lnTo>
                    <a:pt x="63" y="10"/>
                  </a:lnTo>
                  <a:lnTo>
                    <a:pt x="51" y="15"/>
                  </a:lnTo>
                  <a:lnTo>
                    <a:pt x="37" y="21"/>
                  </a:lnTo>
                  <a:lnTo>
                    <a:pt x="22" y="28"/>
                  </a:lnTo>
                  <a:lnTo>
                    <a:pt x="9" y="36"/>
                  </a:lnTo>
                  <a:lnTo>
                    <a:pt x="0" y="48"/>
                  </a:lnTo>
                  <a:lnTo>
                    <a:pt x="0" y="63"/>
                  </a:lnTo>
                  <a:lnTo>
                    <a:pt x="13" y="59"/>
                  </a:lnTo>
                  <a:lnTo>
                    <a:pt x="13" y="53"/>
                  </a:lnTo>
                  <a:lnTo>
                    <a:pt x="19" y="47"/>
                  </a:lnTo>
                  <a:lnTo>
                    <a:pt x="29" y="40"/>
                  </a:lnTo>
                  <a:lnTo>
                    <a:pt x="43" y="34"/>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8" name="Freeform 89">
              <a:extLst>
                <a:ext uri="{FF2B5EF4-FFF2-40B4-BE49-F238E27FC236}">
                  <a16:creationId xmlns:a16="http://schemas.microsoft.com/office/drawing/2014/main" id="{812A9102-FEB8-E94A-5615-A2023686B982}"/>
                </a:ext>
              </a:extLst>
            </p:cNvPr>
            <p:cNvSpPr>
              <a:spLocks/>
            </p:cNvSpPr>
            <p:nvPr/>
          </p:nvSpPr>
          <p:spPr bwMode="auto">
            <a:xfrm>
              <a:off x="2005" y="2208"/>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1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5"/>
                  </a:lnTo>
                  <a:lnTo>
                    <a:pt x="84" y="11"/>
                  </a:lnTo>
                  <a:lnTo>
                    <a:pt x="69" y="9"/>
                  </a:lnTo>
                  <a:lnTo>
                    <a:pt x="53" y="8"/>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09" name="Freeform 90">
              <a:extLst>
                <a:ext uri="{FF2B5EF4-FFF2-40B4-BE49-F238E27FC236}">
                  <a16:creationId xmlns:a16="http://schemas.microsoft.com/office/drawing/2014/main" id="{DD343A07-6614-6F03-40C0-4DFE7A6E9CAB}"/>
                </a:ext>
              </a:extLst>
            </p:cNvPr>
            <p:cNvSpPr>
              <a:spLocks/>
            </p:cNvSpPr>
            <p:nvPr/>
          </p:nvSpPr>
          <p:spPr bwMode="auto">
            <a:xfrm>
              <a:off x="2005" y="2140"/>
              <a:ext cx="139" cy="72"/>
            </a:xfrm>
            <a:custGeom>
              <a:avLst/>
              <a:gdLst>
                <a:gd name="T0" fmla="*/ 2750315 w 84"/>
                <a:gd name="T1" fmla="*/ 73 h 63"/>
                <a:gd name="T2" fmla="*/ 2707808 w 84"/>
                <a:gd name="T3" fmla="*/ 83 h 63"/>
                <a:gd name="T4" fmla="*/ 2468110 w 84"/>
                <a:gd name="T5" fmla="*/ 186 h 63"/>
                <a:gd name="T6" fmla="*/ 2035863 w 84"/>
                <a:gd name="T7" fmla="*/ 278 h 63"/>
                <a:gd name="T8" fmla="*/ 1491520 w 84"/>
                <a:gd name="T9" fmla="*/ 415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47280 w 84"/>
                <a:gd name="T27" fmla="*/ 605 h 63"/>
                <a:gd name="T28" fmla="*/ 2275245 w 84"/>
                <a:gd name="T29" fmla="*/ 474 h 63"/>
                <a:gd name="T30" fmla="*/ 2779699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5"/>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0" name="Freeform 91">
              <a:extLst>
                <a:ext uri="{FF2B5EF4-FFF2-40B4-BE49-F238E27FC236}">
                  <a16:creationId xmlns:a16="http://schemas.microsoft.com/office/drawing/2014/main" id="{339AA2B1-9AA0-DF23-197B-058F8EBF7C7D}"/>
                </a:ext>
              </a:extLst>
            </p:cNvPr>
            <p:cNvSpPr>
              <a:spLocks/>
            </p:cNvSpPr>
            <p:nvPr/>
          </p:nvSpPr>
          <p:spPr bwMode="auto">
            <a:xfrm>
              <a:off x="1971" y="2113"/>
              <a:ext cx="173" cy="33"/>
            </a:xfrm>
            <a:custGeom>
              <a:avLst/>
              <a:gdLst>
                <a:gd name="T0" fmla="*/ 63110 w 105"/>
                <a:gd name="T1" fmla="*/ 288 h 28"/>
                <a:gd name="T2" fmla="*/ 0 w 105"/>
                <a:gd name="T3" fmla="*/ 207 h 28"/>
                <a:gd name="T4" fmla="*/ 282272 w 105"/>
                <a:gd name="T5" fmla="*/ 471 h 28"/>
                <a:gd name="T6" fmla="*/ 766270 w 105"/>
                <a:gd name="T7" fmla="*/ 555 h 28"/>
                <a:gd name="T8" fmla="*/ 1283006 w 105"/>
                <a:gd name="T9" fmla="*/ 608 h 28"/>
                <a:gd name="T10" fmla="*/ 1816719 w 105"/>
                <a:gd name="T11" fmla="*/ 639 h 28"/>
                <a:gd name="T12" fmla="*/ 2385467 w 105"/>
                <a:gd name="T13" fmla="*/ 639 h 28"/>
                <a:gd name="T14" fmla="*/ 2890764 w 105"/>
                <a:gd name="T15" fmla="*/ 717 h 28"/>
                <a:gd name="T16" fmla="*/ 3191916 w 105"/>
                <a:gd name="T17" fmla="*/ 771 h 28"/>
                <a:gd name="T18" fmla="*/ 3261172 w 105"/>
                <a:gd name="T19" fmla="*/ 853 h 28"/>
                <a:gd name="T20" fmla="*/ 3721278 w 105"/>
                <a:gd name="T21" fmla="*/ 724 h 28"/>
                <a:gd name="T22" fmla="*/ 3420932 w 105"/>
                <a:gd name="T23" fmla="*/ 400 h 28"/>
                <a:gd name="T24" fmla="*/ 2979100 w 105"/>
                <a:gd name="T25" fmla="*/ 288 h 28"/>
                <a:gd name="T26" fmla="*/ 2445765 w 105"/>
                <a:gd name="T27" fmla="*/ 207 h 28"/>
                <a:gd name="T28" fmla="*/ 1816719 w 105"/>
                <a:gd name="T29" fmla="*/ 207 h 28"/>
                <a:gd name="T30" fmla="*/ 1283006 w 105"/>
                <a:gd name="T31" fmla="*/ 176 h 28"/>
                <a:gd name="T32" fmla="*/ 778703 w 105"/>
                <a:gd name="T33" fmla="*/ 149 h 28"/>
                <a:gd name="T34" fmla="*/ 504969 w 105"/>
                <a:gd name="T35" fmla="*/ 107 h 28"/>
                <a:gd name="T36" fmla="*/ 465077 w 105"/>
                <a:gd name="T37" fmla="*/ 107 h 28"/>
                <a:gd name="T38" fmla="*/ 392270 w 105"/>
                <a:gd name="T39" fmla="*/ 0 h 28"/>
                <a:gd name="T40" fmla="*/ 465077 w 105"/>
                <a:gd name="T41" fmla="*/ 107 h 28"/>
                <a:gd name="T42" fmla="*/ 433136 w 105"/>
                <a:gd name="T43" fmla="*/ 1 h 28"/>
                <a:gd name="T44" fmla="*/ 392270 w 105"/>
                <a:gd name="T45" fmla="*/ 0 h 28"/>
                <a:gd name="T46" fmla="*/ 63110 w 105"/>
                <a:gd name="T47" fmla="*/ 288 h 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28"/>
                <a:gd name="T74" fmla="*/ 105 w 105"/>
                <a:gd name="T75" fmla="*/ 28 h 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28">
                  <a:moveTo>
                    <a:pt x="2" y="9"/>
                  </a:moveTo>
                  <a:lnTo>
                    <a:pt x="0" y="7"/>
                  </a:lnTo>
                  <a:lnTo>
                    <a:pt x="8" y="15"/>
                  </a:lnTo>
                  <a:lnTo>
                    <a:pt x="21" y="18"/>
                  </a:lnTo>
                  <a:lnTo>
                    <a:pt x="36" y="19"/>
                  </a:lnTo>
                  <a:lnTo>
                    <a:pt x="51" y="20"/>
                  </a:lnTo>
                  <a:lnTo>
                    <a:pt x="67" y="20"/>
                  </a:lnTo>
                  <a:lnTo>
                    <a:pt x="81" y="22"/>
                  </a:lnTo>
                  <a:lnTo>
                    <a:pt x="89" y="25"/>
                  </a:lnTo>
                  <a:lnTo>
                    <a:pt x="91" y="27"/>
                  </a:lnTo>
                  <a:lnTo>
                    <a:pt x="104" y="23"/>
                  </a:lnTo>
                  <a:lnTo>
                    <a:pt x="95" y="13"/>
                  </a:lnTo>
                  <a:lnTo>
                    <a:pt x="83" y="9"/>
                  </a:lnTo>
                  <a:lnTo>
                    <a:pt x="68" y="7"/>
                  </a:lnTo>
                  <a:lnTo>
                    <a:pt x="51" y="7"/>
                  </a:lnTo>
                  <a:lnTo>
                    <a:pt x="36" y="6"/>
                  </a:lnTo>
                  <a:lnTo>
                    <a:pt x="22" y="5"/>
                  </a:lnTo>
                  <a:lnTo>
                    <a:pt x="14" y="3"/>
                  </a:lnTo>
                  <a:lnTo>
                    <a:pt x="13" y="3"/>
                  </a:lnTo>
                  <a:lnTo>
                    <a:pt x="11" y="0"/>
                  </a:lnTo>
                  <a:lnTo>
                    <a:pt x="13" y="3"/>
                  </a:lnTo>
                  <a:lnTo>
                    <a:pt x="12" y="1"/>
                  </a:lnTo>
                  <a:lnTo>
                    <a:pt x="11" y="0"/>
                  </a:lnTo>
                  <a:lnTo>
                    <a:pt x="2"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1" name="Freeform 92">
              <a:extLst>
                <a:ext uri="{FF2B5EF4-FFF2-40B4-BE49-F238E27FC236}">
                  <a16:creationId xmlns:a16="http://schemas.microsoft.com/office/drawing/2014/main" id="{C6ADBE7F-1D62-B96E-80B8-00C0EF9FF3FC}"/>
                </a:ext>
              </a:extLst>
            </p:cNvPr>
            <p:cNvSpPr>
              <a:spLocks/>
            </p:cNvSpPr>
            <p:nvPr/>
          </p:nvSpPr>
          <p:spPr bwMode="auto">
            <a:xfrm>
              <a:off x="1971" y="2113"/>
              <a:ext cx="24" cy="12"/>
            </a:xfrm>
            <a:custGeom>
              <a:avLst/>
              <a:gdLst>
                <a:gd name="T0" fmla="*/ 0 w 14"/>
                <a:gd name="T1" fmla="*/ 258 h 10"/>
                <a:gd name="T2" fmla="*/ 145358 w 14"/>
                <a:gd name="T3" fmla="*/ 434 h 10"/>
                <a:gd name="T4" fmla="*/ 249185 w 14"/>
                <a:gd name="T5" fmla="*/ 434 h 10"/>
                <a:gd name="T6" fmla="*/ 1012678 w 14"/>
                <a:gd name="T7" fmla="*/ 1 h 10"/>
                <a:gd name="T8" fmla="*/ 935321 w 14"/>
                <a:gd name="T9" fmla="*/ 0 h 10"/>
                <a:gd name="T10" fmla="*/ 1057803 w 14"/>
                <a:gd name="T11" fmla="*/ 149 h 10"/>
                <a:gd name="T12" fmla="*/ 0 w 14"/>
                <a:gd name="T13" fmla="*/ 258 h 10"/>
                <a:gd name="T14" fmla="*/ 84792 w 14"/>
                <a:gd name="T15" fmla="*/ 310 h 10"/>
                <a:gd name="T16" fmla="*/ 145358 w 14"/>
                <a:gd name="T17" fmla="*/ 434 h 10"/>
                <a:gd name="T18" fmla="*/ 0 w 14"/>
                <a:gd name="T19" fmla="*/ 258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0"/>
                <a:gd name="T32" fmla="*/ 14 w 1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0">
                  <a:moveTo>
                    <a:pt x="0" y="6"/>
                  </a:moveTo>
                  <a:lnTo>
                    <a:pt x="2" y="9"/>
                  </a:lnTo>
                  <a:lnTo>
                    <a:pt x="3" y="9"/>
                  </a:lnTo>
                  <a:lnTo>
                    <a:pt x="12" y="1"/>
                  </a:lnTo>
                  <a:lnTo>
                    <a:pt x="11" y="0"/>
                  </a:lnTo>
                  <a:lnTo>
                    <a:pt x="13" y="3"/>
                  </a:lnTo>
                  <a:lnTo>
                    <a:pt x="0" y="6"/>
                  </a:lnTo>
                  <a:lnTo>
                    <a:pt x="1" y="7"/>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2" name="Freeform 93">
              <a:extLst>
                <a:ext uri="{FF2B5EF4-FFF2-40B4-BE49-F238E27FC236}">
                  <a16:creationId xmlns:a16="http://schemas.microsoft.com/office/drawing/2014/main" id="{6C94682C-6B88-6632-968A-2F67DD598AC5}"/>
                </a:ext>
              </a:extLst>
            </p:cNvPr>
            <p:cNvSpPr>
              <a:spLocks/>
            </p:cNvSpPr>
            <p:nvPr/>
          </p:nvSpPr>
          <p:spPr bwMode="auto">
            <a:xfrm>
              <a:off x="1971" y="2049"/>
              <a:ext cx="134" cy="73"/>
            </a:xfrm>
            <a:custGeom>
              <a:avLst/>
              <a:gdLst>
                <a:gd name="T0" fmla="*/ 2617430 w 81"/>
                <a:gd name="T1" fmla="*/ 3 h 63"/>
                <a:gd name="T2" fmla="*/ 2567830 w 81"/>
                <a:gd name="T3" fmla="*/ 126 h 63"/>
                <a:gd name="T4" fmla="*/ 2331846 w 81"/>
                <a:gd name="T5" fmla="*/ 263 h 63"/>
                <a:gd name="T6" fmla="*/ 1957614 w 81"/>
                <a:gd name="T7" fmla="*/ 409 h 63"/>
                <a:gd name="T8" fmla="*/ 1438593 w 81"/>
                <a:gd name="T9" fmla="*/ 594 h 63"/>
                <a:gd name="T10" fmla="*/ 938268 w 81"/>
                <a:gd name="T11" fmla="*/ 732 h 63"/>
                <a:gd name="T12" fmla="*/ 475903 w 81"/>
                <a:gd name="T13" fmla="*/ 924 h 63"/>
                <a:gd name="T14" fmla="*/ 113758 w 81"/>
                <a:gd name="T15" fmla="*/ 1078 h 63"/>
                <a:gd name="T16" fmla="*/ 0 w 81"/>
                <a:gd name="T17" fmla="*/ 1362 h 63"/>
                <a:gd name="T18" fmla="*/ 515040 w 81"/>
                <a:gd name="T19" fmla="*/ 1283 h 63"/>
                <a:gd name="T20" fmla="*/ 541520 w 81"/>
                <a:gd name="T21" fmla="*/ 1249 h 63"/>
                <a:gd name="T22" fmla="*/ 723636 w 81"/>
                <a:gd name="T23" fmla="*/ 1147 h 63"/>
                <a:gd name="T24" fmla="*/ 1197126 w 81"/>
                <a:gd name="T25" fmla="*/ 990 h 63"/>
                <a:gd name="T26" fmla="*/ 1669796 w 81"/>
                <a:gd name="T27" fmla="*/ 848 h 63"/>
                <a:gd name="T28" fmla="*/ 2221424 w 81"/>
                <a:gd name="T29" fmla="*/ 693 h 63"/>
                <a:gd name="T30" fmla="*/ 2697708 w 81"/>
                <a:gd name="T31" fmla="*/ 474 h 63"/>
                <a:gd name="T32" fmla="*/ 3029758 w 81"/>
                <a:gd name="T33" fmla="*/ 286 h 63"/>
                <a:gd name="T34" fmla="*/ 3108525 w 81"/>
                <a:gd name="T35" fmla="*/ 0 h 63"/>
                <a:gd name="T36" fmla="*/ 2617430 w 81"/>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3"/>
                <a:gd name="T59" fmla="*/ 81 w 81"/>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3">
                  <a:moveTo>
                    <a:pt x="67" y="3"/>
                  </a:moveTo>
                  <a:lnTo>
                    <a:pt x="66" y="6"/>
                  </a:lnTo>
                  <a:lnTo>
                    <a:pt x="60" y="12"/>
                  </a:lnTo>
                  <a:lnTo>
                    <a:pt x="50" y="19"/>
                  </a:lnTo>
                  <a:lnTo>
                    <a:pt x="37" y="26"/>
                  </a:lnTo>
                  <a:lnTo>
                    <a:pt x="24" y="33"/>
                  </a:lnTo>
                  <a:lnTo>
                    <a:pt x="12" y="41"/>
                  </a:lnTo>
                  <a:lnTo>
                    <a:pt x="3" y="49"/>
                  </a:lnTo>
                  <a:lnTo>
                    <a:pt x="0" y="62"/>
                  </a:lnTo>
                  <a:lnTo>
                    <a:pt x="13" y="58"/>
                  </a:lnTo>
                  <a:lnTo>
                    <a:pt x="14" y="57"/>
                  </a:lnTo>
                  <a:lnTo>
                    <a:pt x="19" y="52"/>
                  </a:lnTo>
                  <a:lnTo>
                    <a:pt x="31" y="45"/>
                  </a:lnTo>
                  <a:lnTo>
                    <a:pt x="43" y="38"/>
                  </a:lnTo>
                  <a:lnTo>
                    <a:pt x="57" y="31"/>
                  </a:lnTo>
                  <a:lnTo>
                    <a:pt x="69" y="22"/>
                  </a:lnTo>
                  <a:lnTo>
                    <a:pt x="78" y="13"/>
                  </a:lnTo>
                  <a:lnTo>
                    <a:pt x="80" y="0"/>
                  </a:lnTo>
                  <a:lnTo>
                    <a:pt x="67"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3" name="Freeform 94">
              <a:extLst>
                <a:ext uri="{FF2B5EF4-FFF2-40B4-BE49-F238E27FC236}">
                  <a16:creationId xmlns:a16="http://schemas.microsoft.com/office/drawing/2014/main" id="{5A3F3764-D594-3858-74F7-C70319358FD1}"/>
                </a:ext>
              </a:extLst>
            </p:cNvPr>
            <p:cNvSpPr>
              <a:spLocks/>
            </p:cNvSpPr>
            <p:nvPr/>
          </p:nvSpPr>
          <p:spPr bwMode="auto">
            <a:xfrm>
              <a:off x="1932" y="2020"/>
              <a:ext cx="173" cy="35"/>
            </a:xfrm>
            <a:custGeom>
              <a:avLst/>
              <a:gdLst>
                <a:gd name="T0" fmla="*/ 0 w 105"/>
                <a:gd name="T1" fmla="*/ 120 h 30"/>
                <a:gd name="T2" fmla="*/ 282272 w 105"/>
                <a:gd name="T3" fmla="*/ 358 h 30"/>
                <a:gd name="T4" fmla="*/ 766270 w 105"/>
                <a:gd name="T5" fmla="*/ 480 h 30"/>
                <a:gd name="T6" fmla="*/ 1283006 w 105"/>
                <a:gd name="T7" fmla="*/ 501 h 30"/>
                <a:gd name="T8" fmla="*/ 1816719 w 105"/>
                <a:gd name="T9" fmla="*/ 560 h 30"/>
                <a:gd name="T10" fmla="*/ 2385467 w 105"/>
                <a:gd name="T11" fmla="*/ 569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59 h 30"/>
                <a:gd name="T26" fmla="*/ 1875692 w 105"/>
                <a:gd name="T27" fmla="*/ 222 h 30"/>
                <a:gd name="T28" fmla="*/ 1329942 w 105"/>
                <a:gd name="T29" fmla="*/ 190 h 30"/>
                <a:gd name="T30" fmla="*/ 831997 w 105"/>
                <a:gd name="T31" fmla="*/ 14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1" y="21"/>
                  </a:lnTo>
                  <a:lnTo>
                    <a:pt x="67" y="22"/>
                  </a:lnTo>
                  <a:lnTo>
                    <a:pt x="80" y="23"/>
                  </a:lnTo>
                  <a:lnTo>
                    <a:pt x="88" y="26"/>
                  </a:lnTo>
                  <a:lnTo>
                    <a:pt x="91" y="29"/>
                  </a:lnTo>
                  <a:lnTo>
                    <a:pt x="104" y="25"/>
                  </a:lnTo>
                  <a:lnTo>
                    <a:pt x="96" y="15"/>
                  </a:lnTo>
                  <a:lnTo>
                    <a:pt x="83" y="10"/>
                  </a:lnTo>
                  <a:lnTo>
                    <a:pt x="68" y="9"/>
                  </a:lnTo>
                  <a:lnTo>
                    <a:pt x="52"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4" name="Freeform 95">
              <a:extLst>
                <a:ext uri="{FF2B5EF4-FFF2-40B4-BE49-F238E27FC236}">
                  <a16:creationId xmlns:a16="http://schemas.microsoft.com/office/drawing/2014/main" id="{48CF9ECD-9034-418A-B2CA-BDAF27DB69D2}"/>
                </a:ext>
              </a:extLst>
            </p:cNvPr>
            <p:cNvSpPr>
              <a:spLocks/>
            </p:cNvSpPr>
            <p:nvPr/>
          </p:nvSpPr>
          <p:spPr bwMode="auto">
            <a:xfrm>
              <a:off x="1932" y="1953"/>
              <a:ext cx="136" cy="73"/>
            </a:xfrm>
            <a:custGeom>
              <a:avLst/>
              <a:gdLst>
                <a:gd name="T0" fmla="*/ 2195491 w 83"/>
                <a:gd name="T1" fmla="*/ 94 h 63"/>
                <a:gd name="T2" fmla="*/ 2195491 w 83"/>
                <a:gd name="T3" fmla="*/ 126 h 63"/>
                <a:gd name="T4" fmla="*/ 2008007 w 83"/>
                <a:gd name="T5" fmla="*/ 263 h 63"/>
                <a:gd name="T6" fmla="*/ 1654163 w 83"/>
                <a:gd name="T7" fmla="*/ 409 h 63"/>
                <a:gd name="T8" fmla="*/ 1212955 w 83"/>
                <a:gd name="T9" fmla="*/ 594 h 63"/>
                <a:gd name="T10" fmla="*/ 795492 w 83"/>
                <a:gd name="T11" fmla="*/ 732 h 63"/>
                <a:gd name="T12" fmla="*/ 389068 w 83"/>
                <a:gd name="T13" fmla="*/ 860 h 63"/>
                <a:gd name="T14" fmla="*/ 92657 w 83"/>
                <a:gd name="T15" fmla="*/ 1078 h 63"/>
                <a:gd name="T16" fmla="*/ 0 w 83"/>
                <a:gd name="T17" fmla="*/ 1362 h 63"/>
                <a:gd name="T18" fmla="*/ 407626 w 83"/>
                <a:gd name="T19" fmla="*/ 1283 h 63"/>
                <a:gd name="T20" fmla="*/ 451776 w 83"/>
                <a:gd name="T21" fmla="*/ 1249 h 63"/>
                <a:gd name="T22" fmla="*/ 637509 w 83"/>
                <a:gd name="T23" fmla="*/ 1139 h 63"/>
                <a:gd name="T24" fmla="*/ 998460 w 83"/>
                <a:gd name="T25" fmla="*/ 990 h 63"/>
                <a:gd name="T26" fmla="*/ 1434145 w 83"/>
                <a:gd name="T27" fmla="*/ 848 h 63"/>
                <a:gd name="T28" fmla="*/ 1855348 w 83"/>
                <a:gd name="T29" fmla="*/ 688 h 63"/>
                <a:gd name="T30" fmla="*/ 2257806 w 83"/>
                <a:gd name="T31" fmla="*/ 516 h 63"/>
                <a:gd name="T32" fmla="*/ 2588608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3"/>
                  </a:lnTo>
                  <a:lnTo>
                    <a:pt x="12" y="40"/>
                  </a:lnTo>
                  <a:lnTo>
                    <a:pt x="3" y="49"/>
                  </a:lnTo>
                  <a:lnTo>
                    <a:pt x="0" y="62"/>
                  </a:lnTo>
                  <a:lnTo>
                    <a:pt x="13" y="58"/>
                  </a:lnTo>
                  <a:lnTo>
                    <a:pt x="14" y="57"/>
                  </a:lnTo>
                  <a:lnTo>
                    <a:pt x="20" y="51"/>
                  </a:lnTo>
                  <a:lnTo>
                    <a:pt x="31" y="45"/>
                  </a:lnTo>
                  <a:lnTo>
                    <a:pt x="45" y="38"/>
                  </a:lnTo>
                  <a:lnTo>
                    <a:pt x="58" y="30"/>
                  </a:lnTo>
                  <a:lnTo>
                    <a:pt x="71" y="23"/>
                  </a:lnTo>
                  <a:lnTo>
                    <a:pt x="81"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5" name="Freeform 96">
              <a:extLst>
                <a:ext uri="{FF2B5EF4-FFF2-40B4-BE49-F238E27FC236}">
                  <a16:creationId xmlns:a16="http://schemas.microsoft.com/office/drawing/2014/main" id="{03F5B178-DCA5-5B32-EE11-B9094B34AC70}"/>
                </a:ext>
              </a:extLst>
            </p:cNvPr>
            <p:cNvSpPr>
              <a:spLocks/>
            </p:cNvSpPr>
            <p:nvPr/>
          </p:nvSpPr>
          <p:spPr bwMode="auto">
            <a:xfrm>
              <a:off x="1891" y="1918"/>
              <a:ext cx="177" cy="42"/>
            </a:xfrm>
            <a:custGeom>
              <a:avLst/>
              <a:gdLst>
                <a:gd name="T0" fmla="*/ 297347 w 108"/>
                <a:gd name="T1" fmla="*/ 0 h 36"/>
                <a:gd name="T2" fmla="*/ 56629 w 108"/>
                <a:gd name="T3" fmla="*/ 231 h 36"/>
                <a:gd name="T4" fmla="*/ 355105 w 108"/>
                <a:gd name="T5" fmla="*/ 488 h 36"/>
                <a:gd name="T6" fmla="*/ 763839 w 108"/>
                <a:gd name="T7" fmla="*/ 580 h 36"/>
                <a:gd name="T8" fmla="*/ 1216593 w 108"/>
                <a:gd name="T9" fmla="*/ 621 h 36"/>
                <a:gd name="T10" fmla="*/ 1738474 w 108"/>
                <a:gd name="T11" fmla="*/ 664 h 36"/>
                <a:gd name="T12" fmla="*/ 2243232 w 108"/>
                <a:gd name="T13" fmla="*/ 677 h 36"/>
                <a:gd name="T14" fmla="*/ 2654780 w 108"/>
                <a:gd name="T15" fmla="*/ 762 h 36"/>
                <a:gd name="T16" fmla="*/ 2912671 w 108"/>
                <a:gd name="T17" fmla="*/ 797 h 36"/>
                <a:gd name="T18" fmla="*/ 3006856 w 108"/>
                <a:gd name="T19" fmla="*/ 904 h 36"/>
                <a:gd name="T20" fmla="*/ 3417618 w 108"/>
                <a:gd name="T21" fmla="*/ 790 h 36"/>
                <a:gd name="T22" fmla="*/ 3174761 w 108"/>
                <a:gd name="T23" fmla="*/ 548 h 36"/>
                <a:gd name="T24" fmla="*/ 2757663 w 108"/>
                <a:gd name="T25" fmla="*/ 418 h 36"/>
                <a:gd name="T26" fmla="*/ 2263832 w 108"/>
                <a:gd name="T27" fmla="*/ 358 h 36"/>
                <a:gd name="T28" fmla="*/ 1798415 w 108"/>
                <a:gd name="T29" fmla="*/ 315 h 36"/>
                <a:gd name="T30" fmla="*/ 1251847 w 108"/>
                <a:gd name="T31" fmla="*/ 270 h 36"/>
                <a:gd name="T32" fmla="*/ 835171 w 108"/>
                <a:gd name="T33" fmla="*/ 263 h 36"/>
                <a:gd name="T34" fmla="*/ 546453 w 108"/>
                <a:gd name="T35" fmla="*/ 190 h 36"/>
                <a:gd name="T36" fmla="*/ 487319 w 108"/>
                <a:gd name="T37" fmla="*/ 140 h 36"/>
                <a:gd name="T38" fmla="*/ 297347 w 108"/>
                <a:gd name="T39" fmla="*/ 358 h 36"/>
                <a:gd name="T40" fmla="*/ 297347 w 108"/>
                <a:gd name="T41" fmla="*/ 0 h 36"/>
                <a:gd name="T42" fmla="*/ 0 w 108"/>
                <a:gd name="T43" fmla="*/ 0 h 36"/>
                <a:gd name="T44" fmla="*/ 56629 w 108"/>
                <a:gd name="T45" fmla="*/ 231 h 36"/>
                <a:gd name="T46" fmla="*/ 297347 w 108"/>
                <a:gd name="T47" fmla="*/ 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6"/>
                <a:gd name="T74" fmla="*/ 108 w 108"/>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6">
                  <a:moveTo>
                    <a:pt x="9" y="0"/>
                  </a:moveTo>
                  <a:lnTo>
                    <a:pt x="2" y="9"/>
                  </a:lnTo>
                  <a:lnTo>
                    <a:pt x="11" y="19"/>
                  </a:lnTo>
                  <a:lnTo>
                    <a:pt x="24" y="23"/>
                  </a:lnTo>
                  <a:lnTo>
                    <a:pt x="38" y="24"/>
                  </a:lnTo>
                  <a:lnTo>
                    <a:pt x="54" y="26"/>
                  </a:lnTo>
                  <a:lnTo>
                    <a:pt x="70" y="27"/>
                  </a:lnTo>
                  <a:lnTo>
                    <a:pt x="83" y="29"/>
                  </a:lnTo>
                  <a:lnTo>
                    <a:pt x="91" y="32"/>
                  </a:lnTo>
                  <a:lnTo>
                    <a:pt x="94" y="35"/>
                  </a:lnTo>
                  <a:lnTo>
                    <a:pt x="107" y="31"/>
                  </a:lnTo>
                  <a:lnTo>
                    <a:pt x="99" y="21"/>
                  </a:lnTo>
                  <a:lnTo>
                    <a:pt x="86" y="16"/>
                  </a:lnTo>
                  <a:lnTo>
                    <a:pt x="71" y="14"/>
                  </a:lnTo>
                  <a:lnTo>
                    <a:pt x="56" y="13"/>
                  </a:lnTo>
                  <a:lnTo>
                    <a:pt x="39" y="11"/>
                  </a:lnTo>
                  <a:lnTo>
                    <a:pt x="26" y="10"/>
                  </a:lnTo>
                  <a:lnTo>
                    <a:pt x="17" y="7"/>
                  </a:lnTo>
                  <a:lnTo>
                    <a:pt x="15" y="5"/>
                  </a:lnTo>
                  <a:lnTo>
                    <a:pt x="9" y="14"/>
                  </a:lnTo>
                  <a:lnTo>
                    <a:pt x="9" y="0"/>
                  </a:lnTo>
                  <a:lnTo>
                    <a:pt x="0" y="0"/>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6" name="Freeform 97">
              <a:extLst>
                <a:ext uri="{FF2B5EF4-FFF2-40B4-BE49-F238E27FC236}">
                  <a16:creationId xmlns:a16="http://schemas.microsoft.com/office/drawing/2014/main" id="{23EBA5E7-3A82-B216-B009-02CDCBEC9996}"/>
                </a:ext>
              </a:extLst>
            </p:cNvPr>
            <p:cNvSpPr>
              <a:spLocks/>
            </p:cNvSpPr>
            <p:nvPr/>
          </p:nvSpPr>
          <p:spPr bwMode="auto">
            <a:xfrm>
              <a:off x="1896" y="1918"/>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2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3"/>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7" name="Freeform 98">
              <a:extLst>
                <a:ext uri="{FF2B5EF4-FFF2-40B4-BE49-F238E27FC236}">
                  <a16:creationId xmlns:a16="http://schemas.microsoft.com/office/drawing/2014/main" id="{26AE79D1-EA5C-6102-D2C7-C8D7E36D98D6}"/>
                </a:ext>
              </a:extLst>
            </p:cNvPr>
            <p:cNvSpPr>
              <a:spLocks/>
            </p:cNvSpPr>
            <p:nvPr/>
          </p:nvSpPr>
          <p:spPr bwMode="auto">
            <a:xfrm>
              <a:off x="1896" y="185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47807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8" name="Freeform 99">
              <a:extLst>
                <a:ext uri="{FF2B5EF4-FFF2-40B4-BE49-F238E27FC236}">
                  <a16:creationId xmlns:a16="http://schemas.microsoft.com/office/drawing/2014/main" id="{DE129A6F-8DA3-BFC6-4C3C-C6888E71FFBA}"/>
                </a:ext>
              </a:extLst>
            </p:cNvPr>
            <p:cNvSpPr>
              <a:spLocks/>
            </p:cNvSpPr>
            <p:nvPr/>
          </p:nvSpPr>
          <p:spPr bwMode="auto">
            <a:xfrm>
              <a:off x="1859" y="1828"/>
              <a:ext cx="174" cy="34"/>
            </a:xfrm>
            <a:custGeom>
              <a:avLst/>
              <a:gdLst>
                <a:gd name="T0" fmla="*/ 0 w 105"/>
                <a:gd name="T1" fmla="*/ 121 h 29"/>
                <a:gd name="T2" fmla="*/ 320394 w 105"/>
                <a:gd name="T3" fmla="*/ 375 h 29"/>
                <a:gd name="T4" fmla="*/ 851120 w 105"/>
                <a:gd name="T5" fmla="*/ 516 h 29"/>
                <a:gd name="T6" fmla="*/ 1458024 w 105"/>
                <a:gd name="T7" fmla="*/ 592 h 29"/>
                <a:gd name="T8" fmla="*/ 2105818 w 105"/>
                <a:gd name="T9" fmla="*/ 592 h 29"/>
                <a:gd name="T10" fmla="*/ 2706298 w 105"/>
                <a:gd name="T11" fmla="*/ 605 h 29"/>
                <a:gd name="T12" fmla="*/ 3269143 w 105"/>
                <a:gd name="T13" fmla="*/ 691 h 29"/>
                <a:gd name="T14" fmla="*/ 3587389 w 105"/>
                <a:gd name="T15" fmla="*/ 709 h 29"/>
                <a:gd name="T16" fmla="*/ 3677016 w 105"/>
                <a:gd name="T17" fmla="*/ 810 h 29"/>
                <a:gd name="T18" fmla="*/ 4192184 w 105"/>
                <a:gd name="T19" fmla="*/ 694 h 29"/>
                <a:gd name="T20" fmla="*/ 3873205 w 105"/>
                <a:gd name="T21" fmla="*/ 431 h 29"/>
                <a:gd name="T22" fmla="*/ 3382020 w 105"/>
                <a:gd name="T23" fmla="*/ 314 h 29"/>
                <a:gd name="T24" fmla="*/ 2780749 w 105"/>
                <a:gd name="T25" fmla="*/ 268 h 29"/>
                <a:gd name="T26" fmla="*/ 2105818 w 105"/>
                <a:gd name="T27" fmla="*/ 229 h 29"/>
                <a:gd name="T28" fmla="*/ 1485145 w 105"/>
                <a:gd name="T29" fmla="*/ 229 h 29"/>
                <a:gd name="T30" fmla="*/ 970032 w 105"/>
                <a:gd name="T31" fmla="*/ 166 h 29"/>
                <a:gd name="T32" fmla="*/ 605611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6"/>
                  </a:lnTo>
                  <a:lnTo>
                    <a:pt x="91" y="28"/>
                  </a:lnTo>
                  <a:lnTo>
                    <a:pt x="104" y="25"/>
                  </a:lnTo>
                  <a:lnTo>
                    <a:pt x="96" y="15"/>
                  </a:lnTo>
                  <a:lnTo>
                    <a:pt x="84" y="11"/>
                  </a:lnTo>
                  <a:lnTo>
                    <a:pt x="69" y="9"/>
                  </a:lnTo>
                  <a:lnTo>
                    <a:pt x="52" y="8"/>
                  </a:lnTo>
                  <a:lnTo>
                    <a:pt x="37" y="8"/>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19" name="Freeform 100">
              <a:extLst>
                <a:ext uri="{FF2B5EF4-FFF2-40B4-BE49-F238E27FC236}">
                  <a16:creationId xmlns:a16="http://schemas.microsoft.com/office/drawing/2014/main" id="{C066A1D5-E79C-5FED-3E8F-812053E1A020}"/>
                </a:ext>
              </a:extLst>
            </p:cNvPr>
            <p:cNvSpPr>
              <a:spLocks/>
            </p:cNvSpPr>
            <p:nvPr/>
          </p:nvSpPr>
          <p:spPr bwMode="auto">
            <a:xfrm>
              <a:off x="1859" y="1762"/>
              <a:ext cx="136" cy="71"/>
            </a:xfrm>
            <a:custGeom>
              <a:avLst/>
              <a:gdLst>
                <a:gd name="T0" fmla="*/ 2793281 w 82"/>
                <a:gd name="T1" fmla="*/ 3 h 62"/>
                <a:gd name="T2" fmla="*/ 2751824 w 82"/>
                <a:gd name="T3" fmla="*/ 85 h 62"/>
                <a:gd name="T4" fmla="*/ 2559870 w 82"/>
                <a:gd name="T5" fmla="*/ 190 h 62"/>
                <a:gd name="T6" fmla="*/ 2110216 w 82"/>
                <a:gd name="T7" fmla="*/ 286 h 62"/>
                <a:gd name="T8" fmla="*/ 1518070 w 82"/>
                <a:gd name="T9" fmla="*/ 416 h 62"/>
                <a:gd name="T10" fmla="*/ 984142 w 82"/>
                <a:gd name="T11" fmla="*/ 545 h 62"/>
                <a:gd name="T12" fmla="*/ 452635 w 82"/>
                <a:gd name="T13" fmla="*/ 648 h 62"/>
                <a:gd name="T14" fmla="*/ 71808 w 82"/>
                <a:gd name="T15" fmla="*/ 831 h 62"/>
                <a:gd name="T16" fmla="*/ 0 w 82"/>
                <a:gd name="T17" fmla="*/ 1046 h 62"/>
                <a:gd name="T18" fmla="*/ 543340 w 82"/>
                <a:gd name="T19" fmla="*/ 973 h 62"/>
                <a:gd name="T20" fmla="*/ 543340 w 82"/>
                <a:gd name="T21" fmla="*/ 952 h 62"/>
                <a:gd name="T22" fmla="*/ 792167 w 82"/>
                <a:gd name="T23" fmla="*/ 838 h 62"/>
                <a:gd name="T24" fmla="*/ 1245083 w 82"/>
                <a:gd name="T25" fmla="*/ 726 h 62"/>
                <a:gd name="T26" fmla="*/ 1767504 w 82"/>
                <a:gd name="T27" fmla="*/ 608 h 62"/>
                <a:gd name="T28" fmla="*/ 2364446 w 82"/>
                <a:gd name="T29" fmla="*/ 494 h 62"/>
                <a:gd name="T30" fmla="*/ 2821559 w 82"/>
                <a:gd name="T31" fmla="*/ 363 h 62"/>
                <a:gd name="T32" fmla="*/ 3244615 w 82"/>
                <a:gd name="T33" fmla="*/ 218 h 62"/>
                <a:gd name="T34" fmla="*/ 3316748 w 82"/>
                <a:gd name="T35" fmla="*/ 0 h 62"/>
                <a:gd name="T36" fmla="*/ 2793281 w 82"/>
                <a:gd name="T37" fmla="*/ 3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3"/>
                  </a:moveTo>
                  <a:lnTo>
                    <a:pt x="67" y="5"/>
                  </a:lnTo>
                  <a:lnTo>
                    <a:pt x="62" y="11"/>
                  </a:lnTo>
                  <a:lnTo>
                    <a:pt x="51" y="17"/>
                  </a:lnTo>
                  <a:lnTo>
                    <a:pt x="37" y="24"/>
                  </a:lnTo>
                  <a:lnTo>
                    <a:pt x="24" y="31"/>
                  </a:lnTo>
                  <a:lnTo>
                    <a:pt x="11" y="38"/>
                  </a:lnTo>
                  <a:lnTo>
                    <a:pt x="2" y="48"/>
                  </a:lnTo>
                  <a:lnTo>
                    <a:pt x="0" y="61"/>
                  </a:lnTo>
                  <a:lnTo>
                    <a:pt x="13" y="57"/>
                  </a:lnTo>
                  <a:lnTo>
                    <a:pt x="13" y="55"/>
                  </a:lnTo>
                  <a:lnTo>
                    <a:pt x="19" y="49"/>
                  </a:lnTo>
                  <a:lnTo>
                    <a:pt x="30" y="42"/>
                  </a:lnTo>
                  <a:lnTo>
                    <a:pt x="43" y="35"/>
                  </a:lnTo>
                  <a:lnTo>
                    <a:pt x="57" y="29"/>
                  </a:lnTo>
                  <a:lnTo>
                    <a:pt x="69" y="21"/>
                  </a:lnTo>
                  <a:lnTo>
                    <a:pt x="79" y="13"/>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0" name="Freeform 101">
              <a:extLst>
                <a:ext uri="{FF2B5EF4-FFF2-40B4-BE49-F238E27FC236}">
                  <a16:creationId xmlns:a16="http://schemas.microsoft.com/office/drawing/2014/main" id="{215BD8B4-6264-8E4A-B071-EFAB33E5E2ED}"/>
                </a:ext>
              </a:extLst>
            </p:cNvPr>
            <p:cNvSpPr>
              <a:spLocks/>
            </p:cNvSpPr>
            <p:nvPr/>
          </p:nvSpPr>
          <p:spPr bwMode="auto">
            <a:xfrm>
              <a:off x="1823" y="1738"/>
              <a:ext cx="172" cy="29"/>
            </a:xfrm>
            <a:custGeom>
              <a:avLst/>
              <a:gdLst>
                <a:gd name="T0" fmla="*/ 0 w 104"/>
                <a:gd name="T1" fmla="*/ 101 h 25"/>
                <a:gd name="T2" fmla="*/ 310460 w 104"/>
                <a:gd name="T3" fmla="*/ 291 h 25"/>
                <a:gd name="T4" fmla="*/ 823227 w 104"/>
                <a:gd name="T5" fmla="*/ 338 h 25"/>
                <a:gd name="T6" fmla="*/ 1404400 w 104"/>
                <a:gd name="T7" fmla="*/ 384 h 25"/>
                <a:gd name="T8" fmla="*/ 1967544 w 104"/>
                <a:gd name="T9" fmla="*/ 384 h 25"/>
                <a:gd name="T10" fmla="*/ 2552581 w 104"/>
                <a:gd name="T11" fmla="*/ 392 h 25"/>
                <a:gd name="T12" fmla="*/ 3091373 w 104"/>
                <a:gd name="T13" fmla="*/ 445 h 25"/>
                <a:gd name="T14" fmla="*/ 3421168 w 104"/>
                <a:gd name="T15" fmla="*/ 516 h 25"/>
                <a:gd name="T16" fmla="*/ 3487763 w 104"/>
                <a:gd name="T17" fmla="*/ 530 h 25"/>
                <a:gd name="T18" fmla="*/ 3985470 w 104"/>
                <a:gd name="T19" fmla="*/ 455 h 25"/>
                <a:gd name="T20" fmla="*/ 3684152 w 104"/>
                <a:gd name="T21" fmla="*/ 246 h 25"/>
                <a:gd name="T22" fmla="*/ 3186115 w 104"/>
                <a:gd name="T23" fmla="*/ 136 h 25"/>
                <a:gd name="T24" fmla="*/ 2606496 w 104"/>
                <a:gd name="T25" fmla="*/ 101 h 25"/>
                <a:gd name="T26" fmla="*/ 1967544 w 104"/>
                <a:gd name="T27" fmla="*/ 3 h 25"/>
                <a:gd name="T28" fmla="*/ 1404400 w 104"/>
                <a:gd name="T29" fmla="*/ 3 h 25"/>
                <a:gd name="T30" fmla="*/ 849172 w 104"/>
                <a:gd name="T31" fmla="*/ 2 h 25"/>
                <a:gd name="T32" fmla="*/ 513453 w 104"/>
                <a:gd name="T33" fmla="*/ 0 h 25"/>
                <a:gd name="T34" fmla="*/ 0 w 104"/>
                <a:gd name="T35" fmla="*/ 101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4"/>
                <a:gd name="T55" fmla="*/ 0 h 25"/>
                <a:gd name="T56" fmla="*/ 104 w 104"/>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4" h="25">
                  <a:moveTo>
                    <a:pt x="0" y="4"/>
                  </a:moveTo>
                  <a:lnTo>
                    <a:pt x="8" y="13"/>
                  </a:lnTo>
                  <a:lnTo>
                    <a:pt x="21" y="15"/>
                  </a:lnTo>
                  <a:lnTo>
                    <a:pt x="36" y="16"/>
                  </a:lnTo>
                  <a:lnTo>
                    <a:pt x="51" y="16"/>
                  </a:lnTo>
                  <a:lnTo>
                    <a:pt x="66" y="17"/>
                  </a:lnTo>
                  <a:lnTo>
                    <a:pt x="80" y="19"/>
                  </a:lnTo>
                  <a:lnTo>
                    <a:pt x="88" y="22"/>
                  </a:lnTo>
                  <a:lnTo>
                    <a:pt x="90" y="24"/>
                  </a:lnTo>
                  <a:lnTo>
                    <a:pt x="103" y="20"/>
                  </a:lnTo>
                  <a:lnTo>
                    <a:pt x="95" y="10"/>
                  </a:lnTo>
                  <a:lnTo>
                    <a:pt x="82" y="6"/>
                  </a:lnTo>
                  <a:lnTo>
                    <a:pt x="67" y="4"/>
                  </a:lnTo>
                  <a:lnTo>
                    <a:pt x="51" y="3"/>
                  </a:lnTo>
                  <a:lnTo>
                    <a:pt x="36" y="3"/>
                  </a:lnTo>
                  <a:lnTo>
                    <a:pt x="22"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1" name="Freeform 102">
              <a:extLst>
                <a:ext uri="{FF2B5EF4-FFF2-40B4-BE49-F238E27FC236}">
                  <a16:creationId xmlns:a16="http://schemas.microsoft.com/office/drawing/2014/main" id="{063A97B8-7BCF-5C44-172D-1F95CD4754C1}"/>
                </a:ext>
              </a:extLst>
            </p:cNvPr>
            <p:cNvSpPr>
              <a:spLocks/>
            </p:cNvSpPr>
            <p:nvPr/>
          </p:nvSpPr>
          <p:spPr bwMode="auto">
            <a:xfrm>
              <a:off x="1821" y="1736"/>
              <a:ext cx="25" cy="8"/>
            </a:xfrm>
            <a:custGeom>
              <a:avLst/>
              <a:gdLst>
                <a:gd name="T0" fmla="*/ 0 w 15"/>
                <a:gd name="T1" fmla="*/ 73 h 7"/>
                <a:gd name="T2" fmla="*/ 47430 w 15"/>
                <a:gd name="T3" fmla="*/ 95 h 7"/>
                <a:gd name="T4" fmla="*/ 621467 w 15"/>
                <a:gd name="T5" fmla="*/ 2 h 7"/>
                <a:gd name="T6" fmla="*/ 609953 w 15"/>
                <a:gd name="T7" fmla="*/ 0 h 7"/>
                <a:gd name="T8" fmla="*/ 0 w 15"/>
                <a:gd name="T9" fmla="*/ 73 h 7"/>
                <a:gd name="T10" fmla="*/ 0 60000 65536"/>
                <a:gd name="T11" fmla="*/ 0 60000 65536"/>
                <a:gd name="T12" fmla="*/ 0 60000 65536"/>
                <a:gd name="T13" fmla="*/ 0 60000 65536"/>
                <a:gd name="T14" fmla="*/ 0 60000 65536"/>
                <a:gd name="T15" fmla="*/ 0 w 15"/>
                <a:gd name="T16" fmla="*/ 0 h 7"/>
                <a:gd name="T17" fmla="*/ 15 w 15"/>
                <a:gd name="T18" fmla="*/ 7 h 7"/>
              </a:gdLst>
              <a:ahLst/>
              <a:cxnLst>
                <a:cxn ang="T10">
                  <a:pos x="T0" y="T1"/>
                </a:cxn>
                <a:cxn ang="T11">
                  <a:pos x="T2" y="T3"/>
                </a:cxn>
                <a:cxn ang="T12">
                  <a:pos x="T4" y="T5"/>
                </a:cxn>
                <a:cxn ang="T13">
                  <a:pos x="T6" y="T7"/>
                </a:cxn>
                <a:cxn ang="T14">
                  <a:pos x="T8" y="T9"/>
                </a:cxn>
              </a:cxnLst>
              <a:rect l="T15" t="T16" r="T17" b="T18"/>
              <a:pathLst>
                <a:path w="15" h="7">
                  <a:moveTo>
                    <a:pt x="0" y="4"/>
                  </a:moveTo>
                  <a:lnTo>
                    <a:pt x="1" y="6"/>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2" name="Freeform 103">
              <a:extLst>
                <a:ext uri="{FF2B5EF4-FFF2-40B4-BE49-F238E27FC236}">
                  <a16:creationId xmlns:a16="http://schemas.microsoft.com/office/drawing/2014/main" id="{225F3EB0-91E3-9137-2351-12F1B74B526F}"/>
                </a:ext>
              </a:extLst>
            </p:cNvPr>
            <p:cNvSpPr>
              <a:spLocks/>
            </p:cNvSpPr>
            <p:nvPr/>
          </p:nvSpPr>
          <p:spPr bwMode="auto">
            <a:xfrm>
              <a:off x="1821" y="1669"/>
              <a:ext cx="137" cy="73"/>
            </a:xfrm>
            <a:custGeom>
              <a:avLst/>
              <a:gdLst>
                <a:gd name="T0" fmla="*/ 2566051 w 83"/>
                <a:gd name="T1" fmla="*/ 94 h 63"/>
                <a:gd name="T2" fmla="*/ 2519400 w 83"/>
                <a:gd name="T3" fmla="*/ 146 h 63"/>
                <a:gd name="T4" fmla="*/ 2289995 w 83"/>
                <a:gd name="T5" fmla="*/ 263 h 63"/>
                <a:gd name="T6" fmla="*/ 1933123 w 83"/>
                <a:gd name="T7" fmla="*/ 409 h 63"/>
                <a:gd name="T8" fmla="*/ 1423684 w 83"/>
                <a:gd name="T9" fmla="*/ 594 h 63"/>
                <a:gd name="T10" fmla="*/ 901473 w 83"/>
                <a:gd name="T11" fmla="*/ 732 h 63"/>
                <a:gd name="T12" fmla="*/ 446998 w 83"/>
                <a:gd name="T13" fmla="*/ 924 h 63"/>
                <a:gd name="T14" fmla="*/ 106777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64712 w 83"/>
                <a:gd name="T27" fmla="*/ 848 h 63"/>
                <a:gd name="T28" fmla="*/ 2185282 w 83"/>
                <a:gd name="T29" fmla="*/ 693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9"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3" name="Freeform 104">
              <a:extLst>
                <a:ext uri="{FF2B5EF4-FFF2-40B4-BE49-F238E27FC236}">
                  <a16:creationId xmlns:a16="http://schemas.microsoft.com/office/drawing/2014/main" id="{3281C45D-2380-AE80-7C57-18708F53F594}"/>
                </a:ext>
              </a:extLst>
            </p:cNvPr>
            <p:cNvSpPr>
              <a:spLocks/>
            </p:cNvSpPr>
            <p:nvPr/>
          </p:nvSpPr>
          <p:spPr bwMode="auto">
            <a:xfrm>
              <a:off x="1783" y="1641"/>
              <a:ext cx="175" cy="35"/>
            </a:xfrm>
            <a:custGeom>
              <a:avLst/>
              <a:gdLst>
                <a:gd name="T0" fmla="*/ 0 w 106"/>
                <a:gd name="T1" fmla="*/ 120 h 30"/>
                <a:gd name="T2" fmla="*/ 341111 w 106"/>
                <a:gd name="T3" fmla="*/ 358 h 30"/>
                <a:gd name="T4" fmla="*/ 795449 w 106"/>
                <a:gd name="T5" fmla="*/ 429 h 30"/>
                <a:gd name="T6" fmla="*/ 1328805 w 106"/>
                <a:gd name="T7" fmla="*/ 488 h 30"/>
                <a:gd name="T8" fmla="*/ 1941196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63 h 30"/>
                <a:gd name="T30" fmla="*/ 904506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4"/>
                  </a:lnTo>
                  <a:lnTo>
                    <a:pt x="21" y="17"/>
                  </a:lnTo>
                  <a:lnTo>
                    <a:pt x="36" y="19"/>
                  </a:lnTo>
                  <a:lnTo>
                    <a:pt x="52" y="20"/>
                  </a:lnTo>
                  <a:lnTo>
                    <a:pt x="68" y="21"/>
                  </a:lnTo>
                  <a:lnTo>
                    <a:pt x="81" y="23"/>
                  </a:lnTo>
                  <a:lnTo>
                    <a:pt x="89" y="26"/>
                  </a:lnTo>
                  <a:lnTo>
                    <a:pt x="92" y="29"/>
                  </a:lnTo>
                  <a:lnTo>
                    <a:pt x="105" y="25"/>
                  </a:lnTo>
                  <a:lnTo>
                    <a:pt x="97" y="14"/>
                  </a:lnTo>
                  <a:lnTo>
                    <a:pt x="83" y="10"/>
                  </a:lnTo>
                  <a:lnTo>
                    <a:pt x="69" y="8"/>
                  </a:lnTo>
                  <a:lnTo>
                    <a:pt x="53" y="7"/>
                  </a:lnTo>
                  <a:lnTo>
                    <a:pt x="37"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4" name="Freeform 105">
              <a:extLst>
                <a:ext uri="{FF2B5EF4-FFF2-40B4-BE49-F238E27FC236}">
                  <a16:creationId xmlns:a16="http://schemas.microsoft.com/office/drawing/2014/main" id="{AC56BD77-E607-DD38-A2C6-DF7BCABF0B08}"/>
                </a:ext>
              </a:extLst>
            </p:cNvPr>
            <p:cNvSpPr>
              <a:spLocks/>
            </p:cNvSpPr>
            <p:nvPr/>
          </p:nvSpPr>
          <p:spPr bwMode="auto">
            <a:xfrm>
              <a:off x="1783" y="1574"/>
              <a:ext cx="137" cy="73"/>
            </a:xfrm>
            <a:custGeom>
              <a:avLst/>
              <a:gdLst>
                <a:gd name="T0" fmla="*/ 2566051 w 83"/>
                <a:gd name="T1" fmla="*/ 94 h 63"/>
                <a:gd name="T2" fmla="*/ 2519400 w 83"/>
                <a:gd name="T3" fmla="*/ 126 h 63"/>
                <a:gd name="T4" fmla="*/ 2289995 w 83"/>
                <a:gd name="T5" fmla="*/ 263 h 63"/>
                <a:gd name="T6" fmla="*/ 1894573 w 83"/>
                <a:gd name="T7" fmla="*/ 409 h 63"/>
                <a:gd name="T8" fmla="*/ 1385413 w 83"/>
                <a:gd name="T9" fmla="*/ 594 h 63"/>
                <a:gd name="T10" fmla="*/ 901473 w 83"/>
                <a:gd name="T11" fmla="*/ 732 h 63"/>
                <a:gd name="T12" fmla="*/ 416000 w 83"/>
                <a:gd name="T13" fmla="*/ 924 h 63"/>
                <a:gd name="T14" fmla="*/ 64690 w 83"/>
                <a:gd name="T15" fmla="*/ 1078 h 63"/>
                <a:gd name="T16" fmla="*/ 0 w 83"/>
                <a:gd name="T17" fmla="*/ 1362 h 63"/>
                <a:gd name="T18" fmla="*/ 480180 w 83"/>
                <a:gd name="T19" fmla="*/ 1283 h 63"/>
                <a:gd name="T20" fmla="*/ 480180 w 83"/>
                <a:gd name="T21" fmla="*/ 1249 h 63"/>
                <a:gd name="T22" fmla="*/ 695387 w 83"/>
                <a:gd name="T23" fmla="*/ 1139 h 63"/>
                <a:gd name="T24" fmla="*/ 1133388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6"/>
                  </a:lnTo>
                  <a:lnTo>
                    <a:pt x="62" y="12"/>
                  </a:lnTo>
                  <a:lnTo>
                    <a:pt x="51" y="19"/>
                  </a:lnTo>
                  <a:lnTo>
                    <a:pt x="37" y="26"/>
                  </a:lnTo>
                  <a:lnTo>
                    <a:pt x="24" y="33"/>
                  </a:lnTo>
                  <a:lnTo>
                    <a:pt x="11" y="41"/>
                  </a:lnTo>
                  <a:lnTo>
                    <a:pt x="2" y="49"/>
                  </a:lnTo>
                  <a:lnTo>
                    <a:pt x="0" y="62"/>
                  </a:lnTo>
                  <a:lnTo>
                    <a:pt x="13" y="58"/>
                  </a:lnTo>
                  <a:lnTo>
                    <a:pt x="13" y="57"/>
                  </a:lnTo>
                  <a:lnTo>
                    <a:pt x="19" y="51"/>
                  </a:lnTo>
                  <a:lnTo>
                    <a:pt x="30"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5" name="Freeform 106">
              <a:extLst>
                <a:ext uri="{FF2B5EF4-FFF2-40B4-BE49-F238E27FC236}">
                  <a16:creationId xmlns:a16="http://schemas.microsoft.com/office/drawing/2014/main" id="{3DC7CB0A-0FD3-605A-E8B1-19CF7895B265}"/>
                </a:ext>
              </a:extLst>
            </p:cNvPr>
            <p:cNvSpPr>
              <a:spLocks/>
            </p:cNvSpPr>
            <p:nvPr/>
          </p:nvSpPr>
          <p:spPr bwMode="auto">
            <a:xfrm>
              <a:off x="1746" y="1545"/>
              <a:ext cx="174" cy="35"/>
            </a:xfrm>
            <a:custGeom>
              <a:avLst/>
              <a:gdLst>
                <a:gd name="T0" fmla="*/ 0 w 106"/>
                <a:gd name="T1" fmla="*/ 120 h 30"/>
                <a:gd name="T2" fmla="*/ 255808 w 106"/>
                <a:gd name="T3" fmla="*/ 358 h 30"/>
                <a:gd name="T4" fmla="*/ 689288 w 106"/>
                <a:gd name="T5" fmla="*/ 480 h 30"/>
                <a:gd name="T6" fmla="*/ 1189907 w 106"/>
                <a:gd name="T7" fmla="*/ 501 h 30"/>
                <a:gd name="T8" fmla="*/ 1701429 w 106"/>
                <a:gd name="T9" fmla="*/ 501 h 30"/>
                <a:gd name="T10" fmla="*/ 2261872 w 106"/>
                <a:gd name="T11" fmla="*/ 569 h 30"/>
                <a:gd name="T12" fmla="*/ 2681420 w 106"/>
                <a:gd name="T13" fmla="*/ 585 h 30"/>
                <a:gd name="T14" fmla="*/ 2950607 w 106"/>
                <a:gd name="T15" fmla="*/ 664 h 30"/>
                <a:gd name="T16" fmla="*/ 3048815 w 106"/>
                <a:gd name="T17" fmla="*/ 762 h 30"/>
                <a:gd name="T18" fmla="*/ 3468237 w 106"/>
                <a:gd name="T19" fmla="*/ 653 h 30"/>
                <a:gd name="T20" fmla="*/ 3206268 w 106"/>
                <a:gd name="T21" fmla="*/ 411 h 30"/>
                <a:gd name="T22" fmla="*/ 2742357 w 106"/>
                <a:gd name="T23" fmla="*/ 263 h 30"/>
                <a:gd name="T24" fmla="*/ 2274976 w 106"/>
                <a:gd name="T25" fmla="*/ 259 h 30"/>
                <a:gd name="T26" fmla="*/ 1762354 w 106"/>
                <a:gd name="T27" fmla="*/ 190 h 30"/>
                <a:gd name="T28" fmla="*/ 1229571 w 106"/>
                <a:gd name="T29" fmla="*/ 190 h 30"/>
                <a:gd name="T30" fmla="*/ 761928 w 106"/>
                <a:gd name="T31" fmla="*/ 140 h 30"/>
                <a:gd name="T32" fmla="*/ 503423 w 106"/>
                <a:gd name="T33" fmla="*/ 2 h 30"/>
                <a:gd name="T34" fmla="*/ 419911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2"/>
                  </a:lnTo>
                  <a:lnTo>
                    <a:pt x="81" y="23"/>
                  </a:lnTo>
                  <a:lnTo>
                    <a:pt x="89" y="26"/>
                  </a:lnTo>
                  <a:lnTo>
                    <a:pt x="92" y="29"/>
                  </a:lnTo>
                  <a:lnTo>
                    <a:pt x="105" y="25"/>
                  </a:lnTo>
                  <a:lnTo>
                    <a:pt x="97" y="15"/>
                  </a:lnTo>
                  <a:lnTo>
                    <a:pt x="83" y="10"/>
                  </a:lnTo>
                  <a:lnTo>
                    <a:pt x="69" y="9"/>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6" name="Freeform 107">
              <a:extLst>
                <a:ext uri="{FF2B5EF4-FFF2-40B4-BE49-F238E27FC236}">
                  <a16:creationId xmlns:a16="http://schemas.microsoft.com/office/drawing/2014/main" id="{7723C924-6970-6C58-35CC-7C8CEFBBEDEC}"/>
                </a:ext>
              </a:extLst>
            </p:cNvPr>
            <p:cNvSpPr>
              <a:spLocks/>
            </p:cNvSpPr>
            <p:nvPr/>
          </p:nvSpPr>
          <p:spPr bwMode="auto">
            <a:xfrm>
              <a:off x="1746" y="1484"/>
              <a:ext cx="138" cy="67"/>
            </a:xfrm>
            <a:custGeom>
              <a:avLst/>
              <a:gdLst>
                <a:gd name="T0" fmla="*/ 2353327 w 84"/>
                <a:gd name="T1" fmla="*/ 3 h 58"/>
                <a:gd name="T2" fmla="*/ 2325254 w 84"/>
                <a:gd name="T3" fmla="*/ 3 h 58"/>
                <a:gd name="T4" fmla="*/ 2114707 w 84"/>
                <a:gd name="T5" fmla="*/ 137 h 58"/>
                <a:gd name="T6" fmla="*/ 1748426 w 84"/>
                <a:gd name="T7" fmla="*/ 282 h 58"/>
                <a:gd name="T8" fmla="*/ 1244737 w 84"/>
                <a:gd name="T9" fmla="*/ 429 h 58"/>
                <a:gd name="T10" fmla="*/ 797119 w 84"/>
                <a:gd name="T11" fmla="*/ 573 h 58"/>
                <a:gd name="T12" fmla="*/ 368478 w 84"/>
                <a:gd name="T13" fmla="*/ 714 h 58"/>
                <a:gd name="T14" fmla="*/ 36728 w 84"/>
                <a:gd name="T15" fmla="*/ 917 h 58"/>
                <a:gd name="T16" fmla="*/ 0 w 84"/>
                <a:gd name="T17" fmla="*/ 1179 h 58"/>
                <a:gd name="T18" fmla="*/ 439537 w 84"/>
                <a:gd name="T19" fmla="*/ 1101 h 58"/>
                <a:gd name="T20" fmla="*/ 439537 w 84"/>
                <a:gd name="T21" fmla="*/ 1060 h 58"/>
                <a:gd name="T22" fmla="*/ 639367 w 84"/>
                <a:gd name="T23" fmla="*/ 953 h 58"/>
                <a:gd name="T24" fmla="*/ 994515 w 84"/>
                <a:gd name="T25" fmla="*/ 795 h 58"/>
                <a:gd name="T26" fmla="*/ 1476779 w 84"/>
                <a:gd name="T27" fmla="*/ 672 h 58"/>
                <a:gd name="T28" fmla="*/ 1948925 w 84"/>
                <a:gd name="T29" fmla="*/ 535 h 58"/>
                <a:gd name="T30" fmla="*/ 2353327 w 84"/>
                <a:gd name="T31" fmla="*/ 387 h 58"/>
                <a:gd name="T32" fmla="*/ 2676132 w 84"/>
                <a:gd name="T33" fmla="*/ 244 h 58"/>
                <a:gd name="T34" fmla="*/ 2779841 w 84"/>
                <a:gd name="T35" fmla="*/ 0 h 58"/>
                <a:gd name="T36" fmla="*/ 2353327 w 84"/>
                <a:gd name="T37" fmla="*/ 3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3"/>
                  </a:moveTo>
                  <a:lnTo>
                    <a:pt x="69" y="3"/>
                  </a:lnTo>
                  <a:lnTo>
                    <a:pt x="63" y="7"/>
                  </a:lnTo>
                  <a:lnTo>
                    <a:pt x="52" y="14"/>
                  </a:lnTo>
                  <a:lnTo>
                    <a:pt x="37" y="20"/>
                  </a:lnTo>
                  <a:lnTo>
                    <a:pt x="24" y="27"/>
                  </a:lnTo>
                  <a:lnTo>
                    <a:pt x="11" y="35"/>
                  </a:lnTo>
                  <a:lnTo>
                    <a:pt x="1" y="44"/>
                  </a:lnTo>
                  <a:lnTo>
                    <a:pt x="0" y="57"/>
                  </a:lnTo>
                  <a:lnTo>
                    <a:pt x="13" y="53"/>
                  </a:lnTo>
                  <a:lnTo>
                    <a:pt x="13" y="52"/>
                  </a:lnTo>
                  <a:lnTo>
                    <a:pt x="19" y="46"/>
                  </a:lnTo>
                  <a:lnTo>
                    <a:pt x="30" y="39"/>
                  </a:lnTo>
                  <a:lnTo>
                    <a:pt x="44" y="32"/>
                  </a:lnTo>
                  <a:lnTo>
                    <a:pt x="58" y="26"/>
                  </a:lnTo>
                  <a:lnTo>
                    <a:pt x="70" y="19"/>
                  </a:lnTo>
                  <a:lnTo>
                    <a:pt x="79" y="12"/>
                  </a:lnTo>
                  <a:lnTo>
                    <a:pt x="83" y="0"/>
                  </a:lnTo>
                  <a:lnTo>
                    <a:pt x="7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827" name="Freeform 108">
              <a:extLst>
                <a:ext uri="{FF2B5EF4-FFF2-40B4-BE49-F238E27FC236}">
                  <a16:creationId xmlns:a16="http://schemas.microsoft.com/office/drawing/2014/main" id="{CA3F1842-30DE-8C78-8426-DC6877352971}"/>
                </a:ext>
              </a:extLst>
            </p:cNvPr>
            <p:cNvSpPr>
              <a:spLocks/>
            </p:cNvSpPr>
            <p:nvPr/>
          </p:nvSpPr>
          <p:spPr bwMode="auto">
            <a:xfrm>
              <a:off x="2597" y="3600"/>
              <a:ext cx="116" cy="142"/>
            </a:xfrm>
            <a:custGeom>
              <a:avLst/>
              <a:gdLst>
                <a:gd name="T0" fmla="*/ 1607482 w 70"/>
                <a:gd name="T1" fmla="*/ 529 h 124"/>
                <a:gd name="T2" fmla="*/ 2755964 w 70"/>
                <a:gd name="T3" fmla="*/ 0 h 124"/>
                <a:gd name="T4" fmla="*/ 2780749 w 70"/>
                <a:gd name="T5" fmla="*/ 0 h 124"/>
                <a:gd name="T6" fmla="*/ 2529766 w 70"/>
                <a:gd name="T7" fmla="*/ 1074 h 124"/>
                <a:gd name="T8" fmla="*/ 2593430 w 70"/>
                <a:gd name="T9" fmla="*/ 1198 h 124"/>
                <a:gd name="T10" fmla="*/ 2593430 w 70"/>
                <a:gd name="T11" fmla="*/ 1328 h 124"/>
                <a:gd name="T12" fmla="*/ 2593430 w 70"/>
                <a:gd name="T13" fmla="*/ 1461 h 124"/>
                <a:gd name="T14" fmla="*/ 2636716 w 70"/>
                <a:gd name="T15" fmla="*/ 1614 h 124"/>
                <a:gd name="T16" fmla="*/ 2663827 w 70"/>
                <a:gd name="T17" fmla="*/ 1737 h 124"/>
                <a:gd name="T18" fmla="*/ 2663827 w 70"/>
                <a:gd name="T19" fmla="*/ 1873 h 124"/>
                <a:gd name="T20" fmla="*/ 2663827 w 70"/>
                <a:gd name="T21" fmla="*/ 1989 h 124"/>
                <a:gd name="T22" fmla="*/ 2706298 w 70"/>
                <a:gd name="T23" fmla="*/ 2116 h 124"/>
                <a:gd name="T24" fmla="*/ 2529766 w 70"/>
                <a:gd name="T25" fmla="*/ 2004 h 124"/>
                <a:gd name="T26" fmla="*/ 2416154 w 70"/>
                <a:gd name="T27" fmla="*/ 1891 h 124"/>
                <a:gd name="T28" fmla="*/ 2268645 w 70"/>
                <a:gd name="T29" fmla="*/ 1791 h 124"/>
                <a:gd name="T30" fmla="*/ 2150963 w 70"/>
                <a:gd name="T31" fmla="*/ 1651 h 124"/>
                <a:gd name="T32" fmla="*/ 1972759 w 70"/>
                <a:gd name="T33" fmla="*/ 1528 h 124"/>
                <a:gd name="T34" fmla="*/ 1820902 w 70"/>
                <a:gd name="T35" fmla="*/ 1439 h 124"/>
                <a:gd name="T36" fmla="*/ 1704144 w 70"/>
                <a:gd name="T37" fmla="*/ 1325 h 124"/>
                <a:gd name="T38" fmla="*/ 1526583 w 70"/>
                <a:gd name="T39" fmla="*/ 1193 h 124"/>
                <a:gd name="T40" fmla="*/ 0 w 70"/>
                <a:gd name="T41" fmla="*/ 363 h 124"/>
                <a:gd name="T42" fmla="*/ 0 w 70"/>
                <a:gd name="T43" fmla="*/ 328 h 124"/>
                <a:gd name="T44" fmla="*/ 1607482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0"/>
                  </a:lnTo>
                  <a:lnTo>
                    <a:pt x="63" y="62"/>
                  </a:lnTo>
                  <a:lnTo>
                    <a:pt x="64" y="70"/>
                  </a:lnTo>
                  <a:lnTo>
                    <a:pt x="64" y="77"/>
                  </a:lnTo>
                  <a:lnTo>
                    <a:pt x="64" y="85"/>
                  </a:lnTo>
                  <a:lnTo>
                    <a:pt x="65" y="93"/>
                  </a:lnTo>
                  <a:lnTo>
                    <a:pt x="66" y="100"/>
                  </a:lnTo>
                  <a:lnTo>
                    <a:pt x="66" y="108"/>
                  </a:lnTo>
                  <a:lnTo>
                    <a:pt x="66" y="115"/>
                  </a:lnTo>
                  <a:lnTo>
                    <a:pt x="67" y="123"/>
                  </a:lnTo>
                  <a:lnTo>
                    <a:pt x="63" y="117"/>
                  </a:lnTo>
                  <a:lnTo>
                    <a:pt x="60" y="110"/>
                  </a:lnTo>
                  <a:lnTo>
                    <a:pt x="56" y="103"/>
                  </a:lnTo>
                  <a:lnTo>
                    <a:pt x="53" y="96"/>
                  </a:lnTo>
                  <a:lnTo>
                    <a:pt x="49" y="89"/>
                  </a:lnTo>
                  <a:lnTo>
                    <a:pt x="45" y="83"/>
                  </a:lnTo>
                  <a:lnTo>
                    <a:pt x="42" y="76"/>
                  </a:lnTo>
                  <a:lnTo>
                    <a:pt x="38" y="69"/>
                  </a:lnTo>
                  <a:lnTo>
                    <a:pt x="0" y="21"/>
                  </a:lnTo>
                  <a:lnTo>
                    <a:pt x="0"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grpSp>
        <p:nvGrpSpPr>
          <p:cNvPr id="4" name="Group 109">
            <a:extLst>
              <a:ext uri="{FF2B5EF4-FFF2-40B4-BE49-F238E27FC236}">
                <a16:creationId xmlns:a16="http://schemas.microsoft.com/office/drawing/2014/main" id="{71C4C68D-6D72-5E57-4DA3-364C3EAC1C94}"/>
              </a:ext>
            </a:extLst>
          </p:cNvPr>
          <p:cNvGrpSpPr>
            <a:grpSpLocks/>
          </p:cNvGrpSpPr>
          <p:nvPr/>
        </p:nvGrpSpPr>
        <p:grpSpPr bwMode="auto">
          <a:xfrm>
            <a:off x="1992313" y="2576573"/>
            <a:ext cx="1220787" cy="3103563"/>
            <a:chOff x="1539" y="1464"/>
            <a:chExt cx="952" cy="2281"/>
          </a:xfrm>
        </p:grpSpPr>
        <p:sp>
          <p:nvSpPr>
            <p:cNvPr id="22716" name="Freeform 110">
              <a:extLst>
                <a:ext uri="{FF2B5EF4-FFF2-40B4-BE49-F238E27FC236}">
                  <a16:creationId xmlns:a16="http://schemas.microsoft.com/office/drawing/2014/main" id="{AAD9C2AB-17C7-5A69-501B-B06738092DB0}"/>
                </a:ext>
              </a:extLst>
            </p:cNvPr>
            <p:cNvSpPr>
              <a:spLocks/>
            </p:cNvSpPr>
            <p:nvPr/>
          </p:nvSpPr>
          <p:spPr bwMode="auto">
            <a:xfrm>
              <a:off x="2407" y="3534"/>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7" name="Freeform 111">
              <a:extLst>
                <a:ext uri="{FF2B5EF4-FFF2-40B4-BE49-F238E27FC236}">
                  <a16:creationId xmlns:a16="http://schemas.microsoft.com/office/drawing/2014/main" id="{AAC71DD8-B2DE-B237-CF4C-77DC4AE48AF3}"/>
                </a:ext>
              </a:extLst>
            </p:cNvPr>
            <p:cNvSpPr>
              <a:spLocks/>
            </p:cNvSpPr>
            <p:nvPr/>
          </p:nvSpPr>
          <p:spPr bwMode="auto">
            <a:xfrm>
              <a:off x="2311" y="3503"/>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8" name="Freeform 112">
              <a:extLst>
                <a:ext uri="{FF2B5EF4-FFF2-40B4-BE49-F238E27FC236}">
                  <a16:creationId xmlns:a16="http://schemas.microsoft.com/office/drawing/2014/main" id="{8148FBCA-B6C4-8A1C-E3B8-F2DF5F0E383B}"/>
                </a:ext>
              </a:extLst>
            </p:cNvPr>
            <p:cNvSpPr>
              <a:spLocks/>
            </p:cNvSpPr>
            <p:nvPr/>
          </p:nvSpPr>
          <p:spPr bwMode="auto">
            <a:xfrm>
              <a:off x="2311" y="3503"/>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9" name="Freeform 113">
              <a:extLst>
                <a:ext uri="{FF2B5EF4-FFF2-40B4-BE49-F238E27FC236}">
                  <a16:creationId xmlns:a16="http://schemas.microsoft.com/office/drawing/2014/main" id="{9ABDFAEE-4D54-4676-7639-A27E7BD3EB56}"/>
                </a:ext>
              </a:extLst>
            </p:cNvPr>
            <p:cNvSpPr>
              <a:spLocks/>
            </p:cNvSpPr>
            <p:nvPr/>
          </p:nvSpPr>
          <p:spPr bwMode="auto">
            <a:xfrm>
              <a:off x="2311" y="3437"/>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0" name="Freeform 114">
              <a:extLst>
                <a:ext uri="{FF2B5EF4-FFF2-40B4-BE49-F238E27FC236}">
                  <a16:creationId xmlns:a16="http://schemas.microsoft.com/office/drawing/2014/main" id="{E6B1A59D-0D17-2C2D-D226-1E2D1B0DCD9F}"/>
                </a:ext>
              </a:extLst>
            </p:cNvPr>
            <p:cNvSpPr>
              <a:spLocks/>
            </p:cNvSpPr>
            <p:nvPr/>
          </p:nvSpPr>
          <p:spPr bwMode="auto">
            <a:xfrm>
              <a:off x="2274" y="3408"/>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1" name="Freeform 115">
              <a:extLst>
                <a:ext uri="{FF2B5EF4-FFF2-40B4-BE49-F238E27FC236}">
                  <a16:creationId xmlns:a16="http://schemas.microsoft.com/office/drawing/2014/main" id="{73B4C844-25DD-6490-A51D-32EAE4C328F9}"/>
                </a:ext>
              </a:extLst>
            </p:cNvPr>
            <p:cNvSpPr>
              <a:spLocks/>
            </p:cNvSpPr>
            <p:nvPr/>
          </p:nvSpPr>
          <p:spPr bwMode="auto">
            <a:xfrm>
              <a:off x="2274" y="3341"/>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2" name="Freeform 116">
              <a:extLst>
                <a:ext uri="{FF2B5EF4-FFF2-40B4-BE49-F238E27FC236}">
                  <a16:creationId xmlns:a16="http://schemas.microsoft.com/office/drawing/2014/main" id="{BA3304CC-9347-B1BC-DD09-8BCB2FA7BC53}"/>
                </a:ext>
              </a:extLst>
            </p:cNvPr>
            <p:cNvSpPr>
              <a:spLocks/>
            </p:cNvSpPr>
            <p:nvPr/>
          </p:nvSpPr>
          <p:spPr bwMode="auto">
            <a:xfrm>
              <a:off x="2239" y="3318"/>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3" name="Freeform 117">
              <a:extLst>
                <a:ext uri="{FF2B5EF4-FFF2-40B4-BE49-F238E27FC236}">
                  <a16:creationId xmlns:a16="http://schemas.microsoft.com/office/drawing/2014/main" id="{27A7E990-7B5E-C997-6A44-CBEE431EADA0}"/>
                </a:ext>
              </a:extLst>
            </p:cNvPr>
            <p:cNvSpPr>
              <a:spLocks/>
            </p:cNvSpPr>
            <p:nvPr/>
          </p:nvSpPr>
          <p:spPr bwMode="auto">
            <a:xfrm>
              <a:off x="2239" y="3316"/>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4" name="Freeform 118">
              <a:extLst>
                <a:ext uri="{FF2B5EF4-FFF2-40B4-BE49-F238E27FC236}">
                  <a16:creationId xmlns:a16="http://schemas.microsoft.com/office/drawing/2014/main" id="{C12788B0-4976-A289-2777-973A4E768F26}"/>
                </a:ext>
              </a:extLst>
            </p:cNvPr>
            <p:cNvSpPr>
              <a:spLocks/>
            </p:cNvSpPr>
            <p:nvPr/>
          </p:nvSpPr>
          <p:spPr bwMode="auto">
            <a:xfrm>
              <a:off x="2239" y="3250"/>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5" name="Freeform 119">
              <a:extLst>
                <a:ext uri="{FF2B5EF4-FFF2-40B4-BE49-F238E27FC236}">
                  <a16:creationId xmlns:a16="http://schemas.microsoft.com/office/drawing/2014/main" id="{E5317C29-9AD5-A543-C186-8CDDCDABFA77}"/>
                </a:ext>
              </a:extLst>
            </p:cNvPr>
            <p:cNvSpPr>
              <a:spLocks/>
            </p:cNvSpPr>
            <p:nvPr/>
          </p:nvSpPr>
          <p:spPr bwMode="auto">
            <a:xfrm>
              <a:off x="2199" y="3221"/>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6" name="Freeform 120">
              <a:extLst>
                <a:ext uri="{FF2B5EF4-FFF2-40B4-BE49-F238E27FC236}">
                  <a16:creationId xmlns:a16="http://schemas.microsoft.com/office/drawing/2014/main" id="{3B2D8E44-D126-7738-D585-20A1D66DE99C}"/>
                </a:ext>
              </a:extLst>
            </p:cNvPr>
            <p:cNvSpPr>
              <a:spLocks/>
            </p:cNvSpPr>
            <p:nvPr/>
          </p:nvSpPr>
          <p:spPr bwMode="auto">
            <a:xfrm>
              <a:off x="2199" y="3154"/>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7" name="Freeform 121">
              <a:extLst>
                <a:ext uri="{FF2B5EF4-FFF2-40B4-BE49-F238E27FC236}">
                  <a16:creationId xmlns:a16="http://schemas.microsoft.com/office/drawing/2014/main" id="{FBC4B29F-8706-A7FF-E7DE-AF19EB23C2B1}"/>
                </a:ext>
              </a:extLst>
            </p:cNvPr>
            <p:cNvSpPr>
              <a:spLocks/>
            </p:cNvSpPr>
            <p:nvPr/>
          </p:nvSpPr>
          <p:spPr bwMode="auto">
            <a:xfrm>
              <a:off x="2161" y="3126"/>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8" name="Freeform 122">
              <a:extLst>
                <a:ext uri="{FF2B5EF4-FFF2-40B4-BE49-F238E27FC236}">
                  <a16:creationId xmlns:a16="http://schemas.microsoft.com/office/drawing/2014/main" id="{EC27AFBB-B5A4-A0C8-FCB7-3D17C91EDE44}"/>
                </a:ext>
              </a:extLst>
            </p:cNvPr>
            <p:cNvSpPr>
              <a:spLocks/>
            </p:cNvSpPr>
            <p:nvPr/>
          </p:nvSpPr>
          <p:spPr bwMode="auto">
            <a:xfrm>
              <a:off x="2161" y="3064"/>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29" name="Freeform 123">
              <a:extLst>
                <a:ext uri="{FF2B5EF4-FFF2-40B4-BE49-F238E27FC236}">
                  <a16:creationId xmlns:a16="http://schemas.microsoft.com/office/drawing/2014/main" id="{127B6812-7A64-E902-64A7-AF96B6ED061C}"/>
                </a:ext>
              </a:extLst>
            </p:cNvPr>
            <p:cNvSpPr>
              <a:spLocks/>
            </p:cNvSpPr>
            <p:nvPr/>
          </p:nvSpPr>
          <p:spPr bwMode="auto">
            <a:xfrm>
              <a:off x="2277" y="3062"/>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0" name="Freeform 124">
              <a:extLst>
                <a:ext uri="{FF2B5EF4-FFF2-40B4-BE49-F238E27FC236}">
                  <a16:creationId xmlns:a16="http://schemas.microsoft.com/office/drawing/2014/main" id="{4876CC28-7897-687A-5D26-5227D30DF386}"/>
                </a:ext>
              </a:extLst>
            </p:cNvPr>
            <p:cNvSpPr>
              <a:spLocks/>
            </p:cNvSpPr>
            <p:nvPr/>
          </p:nvSpPr>
          <p:spPr bwMode="auto">
            <a:xfrm>
              <a:off x="2127" y="3036"/>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1" name="Freeform 125">
              <a:extLst>
                <a:ext uri="{FF2B5EF4-FFF2-40B4-BE49-F238E27FC236}">
                  <a16:creationId xmlns:a16="http://schemas.microsoft.com/office/drawing/2014/main" id="{74D798D7-F7A1-D21C-23EE-937E7205FD97}"/>
                </a:ext>
              </a:extLst>
            </p:cNvPr>
            <p:cNvSpPr>
              <a:spLocks/>
            </p:cNvSpPr>
            <p:nvPr/>
          </p:nvSpPr>
          <p:spPr bwMode="auto">
            <a:xfrm>
              <a:off x="2127" y="2969"/>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2" name="Freeform 126">
              <a:extLst>
                <a:ext uri="{FF2B5EF4-FFF2-40B4-BE49-F238E27FC236}">
                  <a16:creationId xmlns:a16="http://schemas.microsoft.com/office/drawing/2014/main" id="{DE60DB74-CA44-DC8A-50CE-0F7F0E19BE78}"/>
                </a:ext>
              </a:extLst>
            </p:cNvPr>
            <p:cNvSpPr>
              <a:spLocks/>
            </p:cNvSpPr>
            <p:nvPr/>
          </p:nvSpPr>
          <p:spPr bwMode="auto">
            <a:xfrm>
              <a:off x="2089" y="2941"/>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3" name="Freeform 127">
              <a:extLst>
                <a:ext uri="{FF2B5EF4-FFF2-40B4-BE49-F238E27FC236}">
                  <a16:creationId xmlns:a16="http://schemas.microsoft.com/office/drawing/2014/main" id="{0DDF36F6-98FD-38C8-8BDB-B527FA9F2784}"/>
                </a:ext>
              </a:extLst>
            </p:cNvPr>
            <p:cNvSpPr>
              <a:spLocks/>
            </p:cNvSpPr>
            <p:nvPr/>
          </p:nvSpPr>
          <p:spPr bwMode="auto">
            <a:xfrm>
              <a:off x="2089" y="2876"/>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4" name="Freeform 128">
              <a:extLst>
                <a:ext uri="{FF2B5EF4-FFF2-40B4-BE49-F238E27FC236}">
                  <a16:creationId xmlns:a16="http://schemas.microsoft.com/office/drawing/2014/main" id="{59B34F05-24B8-8D49-BC69-9874CCED0E55}"/>
                </a:ext>
              </a:extLst>
            </p:cNvPr>
            <p:cNvSpPr>
              <a:spLocks/>
            </p:cNvSpPr>
            <p:nvPr/>
          </p:nvSpPr>
          <p:spPr bwMode="auto">
            <a:xfrm>
              <a:off x="2205" y="2875"/>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5" name="Freeform 129">
              <a:extLst>
                <a:ext uri="{FF2B5EF4-FFF2-40B4-BE49-F238E27FC236}">
                  <a16:creationId xmlns:a16="http://schemas.microsoft.com/office/drawing/2014/main" id="{95CA643D-79C4-BCD7-53F1-14DCDE36050A}"/>
                </a:ext>
              </a:extLst>
            </p:cNvPr>
            <p:cNvSpPr>
              <a:spLocks/>
            </p:cNvSpPr>
            <p:nvPr/>
          </p:nvSpPr>
          <p:spPr bwMode="auto">
            <a:xfrm>
              <a:off x="2056" y="2848"/>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6" name="Freeform 130">
              <a:extLst>
                <a:ext uri="{FF2B5EF4-FFF2-40B4-BE49-F238E27FC236}">
                  <a16:creationId xmlns:a16="http://schemas.microsoft.com/office/drawing/2014/main" id="{40B05F8D-8DC9-30DD-17E4-D56443D7E310}"/>
                </a:ext>
              </a:extLst>
            </p:cNvPr>
            <p:cNvSpPr>
              <a:spLocks/>
            </p:cNvSpPr>
            <p:nvPr/>
          </p:nvSpPr>
          <p:spPr bwMode="auto">
            <a:xfrm>
              <a:off x="2056" y="2780"/>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7" name="Freeform 131">
              <a:extLst>
                <a:ext uri="{FF2B5EF4-FFF2-40B4-BE49-F238E27FC236}">
                  <a16:creationId xmlns:a16="http://schemas.microsoft.com/office/drawing/2014/main" id="{EDCF3BD7-2C56-9F91-576A-4CB48623D5F2}"/>
                </a:ext>
              </a:extLst>
            </p:cNvPr>
            <p:cNvSpPr>
              <a:spLocks/>
            </p:cNvSpPr>
            <p:nvPr/>
          </p:nvSpPr>
          <p:spPr bwMode="auto">
            <a:xfrm>
              <a:off x="2020" y="2753"/>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8" name="Freeform 132">
              <a:extLst>
                <a:ext uri="{FF2B5EF4-FFF2-40B4-BE49-F238E27FC236}">
                  <a16:creationId xmlns:a16="http://schemas.microsoft.com/office/drawing/2014/main" id="{104F2166-F1DD-5657-DC2C-A64005229987}"/>
                </a:ext>
              </a:extLst>
            </p:cNvPr>
            <p:cNvSpPr>
              <a:spLocks/>
            </p:cNvSpPr>
            <p:nvPr/>
          </p:nvSpPr>
          <p:spPr bwMode="auto">
            <a:xfrm>
              <a:off x="2020" y="2685"/>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39" name="Freeform 133">
              <a:extLst>
                <a:ext uri="{FF2B5EF4-FFF2-40B4-BE49-F238E27FC236}">
                  <a16:creationId xmlns:a16="http://schemas.microsoft.com/office/drawing/2014/main" id="{B32CB4C7-CB68-0D4F-9BC5-E66413D2314F}"/>
                </a:ext>
              </a:extLst>
            </p:cNvPr>
            <p:cNvSpPr>
              <a:spLocks/>
            </p:cNvSpPr>
            <p:nvPr/>
          </p:nvSpPr>
          <p:spPr bwMode="auto">
            <a:xfrm>
              <a:off x="2131" y="2685"/>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0" name="Freeform 134">
              <a:extLst>
                <a:ext uri="{FF2B5EF4-FFF2-40B4-BE49-F238E27FC236}">
                  <a16:creationId xmlns:a16="http://schemas.microsoft.com/office/drawing/2014/main" id="{323B06C8-0307-4DAB-C636-860B9357F4EF}"/>
                </a:ext>
              </a:extLst>
            </p:cNvPr>
            <p:cNvSpPr>
              <a:spLocks/>
            </p:cNvSpPr>
            <p:nvPr/>
          </p:nvSpPr>
          <p:spPr bwMode="auto">
            <a:xfrm>
              <a:off x="1978" y="2656"/>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1" name="Freeform 135">
              <a:extLst>
                <a:ext uri="{FF2B5EF4-FFF2-40B4-BE49-F238E27FC236}">
                  <a16:creationId xmlns:a16="http://schemas.microsoft.com/office/drawing/2014/main" id="{20CDF951-B529-BC09-8193-95F4A2AA8B3D}"/>
                </a:ext>
              </a:extLst>
            </p:cNvPr>
            <p:cNvSpPr>
              <a:spLocks/>
            </p:cNvSpPr>
            <p:nvPr/>
          </p:nvSpPr>
          <p:spPr bwMode="auto">
            <a:xfrm>
              <a:off x="1978" y="2589"/>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2" name="Freeform 136">
              <a:extLst>
                <a:ext uri="{FF2B5EF4-FFF2-40B4-BE49-F238E27FC236}">
                  <a16:creationId xmlns:a16="http://schemas.microsoft.com/office/drawing/2014/main" id="{590FAF5C-2C77-BD3B-527E-E1638C0EC524}"/>
                </a:ext>
              </a:extLst>
            </p:cNvPr>
            <p:cNvSpPr>
              <a:spLocks/>
            </p:cNvSpPr>
            <p:nvPr/>
          </p:nvSpPr>
          <p:spPr bwMode="auto">
            <a:xfrm>
              <a:off x="1942" y="2561"/>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3" name="Freeform 137">
              <a:extLst>
                <a:ext uri="{FF2B5EF4-FFF2-40B4-BE49-F238E27FC236}">
                  <a16:creationId xmlns:a16="http://schemas.microsoft.com/office/drawing/2014/main" id="{1D022CDF-28CF-B39F-3BD6-1D401B1B3B80}"/>
                </a:ext>
              </a:extLst>
            </p:cNvPr>
            <p:cNvSpPr>
              <a:spLocks/>
            </p:cNvSpPr>
            <p:nvPr/>
          </p:nvSpPr>
          <p:spPr bwMode="auto">
            <a:xfrm>
              <a:off x="1942" y="2497"/>
              <a:ext cx="138" cy="69"/>
            </a:xfrm>
            <a:custGeom>
              <a:avLst/>
              <a:gdLst>
                <a:gd name="T0" fmla="*/ 2396631 w 84"/>
                <a:gd name="T1" fmla="*/ 113 h 60"/>
                <a:gd name="T2" fmla="*/ 2353327 w 84"/>
                <a:gd name="T3" fmla="*/ 98 h 60"/>
                <a:gd name="T4" fmla="*/ 2325254 w 84"/>
                <a:gd name="T5" fmla="*/ 85 h 60"/>
                <a:gd name="T6" fmla="*/ 2095021 w 84"/>
                <a:gd name="T7" fmla="*/ 199 h 60"/>
                <a:gd name="T8" fmla="*/ 1725639 w 84"/>
                <a:gd name="T9" fmla="*/ 302 h 60"/>
                <a:gd name="T10" fmla="*/ 1275230 w 84"/>
                <a:gd name="T11" fmla="*/ 430 h 60"/>
                <a:gd name="T12" fmla="*/ 797119 w 84"/>
                <a:gd name="T13" fmla="*/ 549 h 60"/>
                <a:gd name="T14" fmla="*/ 410755 w 84"/>
                <a:gd name="T15" fmla="*/ 698 h 60"/>
                <a:gd name="T16" fmla="*/ 60339 w 84"/>
                <a:gd name="T17" fmla="*/ 864 h 60"/>
                <a:gd name="T18" fmla="*/ 0 w 84"/>
                <a:gd name="T19" fmla="*/ 1122 h 60"/>
                <a:gd name="T20" fmla="*/ 439537 w 84"/>
                <a:gd name="T21" fmla="*/ 1023 h 60"/>
                <a:gd name="T22" fmla="*/ 472486 w 84"/>
                <a:gd name="T23" fmla="*/ 1014 h 60"/>
                <a:gd name="T24" fmla="*/ 674812 w 84"/>
                <a:gd name="T25" fmla="*/ 882 h 60"/>
                <a:gd name="T26" fmla="*/ 1050389 w 84"/>
                <a:gd name="T27" fmla="*/ 767 h 60"/>
                <a:gd name="T28" fmla="*/ 1476779 w 84"/>
                <a:gd name="T29" fmla="*/ 650 h 60"/>
                <a:gd name="T30" fmla="*/ 1948925 w 84"/>
                <a:gd name="T31" fmla="*/ 528 h 60"/>
                <a:gd name="T32" fmla="*/ 2353327 w 84"/>
                <a:gd name="T33" fmla="*/ 399 h 60"/>
                <a:gd name="T34" fmla="*/ 2684176 w 84"/>
                <a:gd name="T35" fmla="*/ 246 h 60"/>
                <a:gd name="T36" fmla="*/ 2779841 w 84"/>
                <a:gd name="T37" fmla="*/ 1 h 60"/>
                <a:gd name="T38" fmla="*/ 2776586 w 84"/>
                <a:gd name="T39" fmla="*/ 0 h 60"/>
                <a:gd name="T40" fmla="*/ 2779841 w 84"/>
                <a:gd name="T41" fmla="*/ 1 h 60"/>
                <a:gd name="T42" fmla="*/ 2779841 w 84"/>
                <a:gd name="T43" fmla="*/ 0 h 60"/>
                <a:gd name="T44" fmla="*/ 2776586 w 84"/>
                <a:gd name="T45" fmla="*/ 0 h 60"/>
                <a:gd name="T46" fmla="*/ 2396631 w 84"/>
                <a:gd name="T47" fmla="*/ 113 h 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60"/>
                <a:gd name="T74" fmla="*/ 84 w 84"/>
                <a:gd name="T75" fmla="*/ 60 h 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60">
                  <a:moveTo>
                    <a:pt x="71" y="6"/>
                  </a:moveTo>
                  <a:lnTo>
                    <a:pt x="70" y="5"/>
                  </a:lnTo>
                  <a:lnTo>
                    <a:pt x="69" y="4"/>
                  </a:lnTo>
                  <a:lnTo>
                    <a:pt x="62" y="10"/>
                  </a:lnTo>
                  <a:lnTo>
                    <a:pt x="51" y="16"/>
                  </a:lnTo>
                  <a:lnTo>
                    <a:pt x="38" y="23"/>
                  </a:lnTo>
                  <a:lnTo>
                    <a:pt x="24" y="29"/>
                  </a:lnTo>
                  <a:lnTo>
                    <a:pt x="12" y="37"/>
                  </a:lnTo>
                  <a:lnTo>
                    <a:pt x="2" y="46"/>
                  </a:lnTo>
                  <a:lnTo>
                    <a:pt x="0" y="59"/>
                  </a:lnTo>
                  <a:lnTo>
                    <a:pt x="13" y="55"/>
                  </a:lnTo>
                  <a:lnTo>
                    <a:pt x="14" y="54"/>
                  </a:lnTo>
                  <a:lnTo>
                    <a:pt x="20" y="47"/>
                  </a:lnTo>
                  <a:lnTo>
                    <a:pt x="31" y="41"/>
                  </a:lnTo>
                  <a:lnTo>
                    <a:pt x="44" y="34"/>
                  </a:lnTo>
                  <a:lnTo>
                    <a:pt x="58" y="28"/>
                  </a:lnTo>
                  <a:lnTo>
                    <a:pt x="70" y="21"/>
                  </a:lnTo>
                  <a:lnTo>
                    <a:pt x="80" y="13"/>
                  </a:lnTo>
                  <a:lnTo>
                    <a:pt x="83" y="1"/>
                  </a:lnTo>
                  <a:lnTo>
                    <a:pt x="82" y="0"/>
                  </a:lnTo>
                  <a:lnTo>
                    <a:pt x="83" y="1"/>
                  </a:lnTo>
                  <a:lnTo>
                    <a:pt x="83" y="0"/>
                  </a:lnTo>
                  <a:lnTo>
                    <a:pt x="82" y="0"/>
                  </a:lnTo>
                  <a:lnTo>
                    <a:pt x="71"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4" name="Freeform 138">
              <a:extLst>
                <a:ext uri="{FF2B5EF4-FFF2-40B4-BE49-F238E27FC236}">
                  <a16:creationId xmlns:a16="http://schemas.microsoft.com/office/drawing/2014/main" id="{AED54DC8-CB6D-7566-534D-E642E8C825A6}"/>
                </a:ext>
              </a:extLst>
            </p:cNvPr>
            <p:cNvSpPr>
              <a:spLocks/>
            </p:cNvSpPr>
            <p:nvPr/>
          </p:nvSpPr>
          <p:spPr bwMode="auto">
            <a:xfrm>
              <a:off x="2056" y="2495"/>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2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2"/>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5" name="Freeform 139">
              <a:extLst>
                <a:ext uri="{FF2B5EF4-FFF2-40B4-BE49-F238E27FC236}">
                  <a16:creationId xmlns:a16="http://schemas.microsoft.com/office/drawing/2014/main" id="{0FCC5396-D6D0-1511-2C21-A8DAB00BF8C5}"/>
                </a:ext>
              </a:extLst>
            </p:cNvPr>
            <p:cNvSpPr>
              <a:spLocks/>
            </p:cNvSpPr>
            <p:nvPr/>
          </p:nvSpPr>
          <p:spPr bwMode="auto">
            <a:xfrm>
              <a:off x="1907" y="2467"/>
              <a:ext cx="173" cy="36"/>
            </a:xfrm>
            <a:custGeom>
              <a:avLst/>
              <a:gdLst>
                <a:gd name="T0" fmla="*/ 0 w 105"/>
                <a:gd name="T1" fmla="*/ 179 h 30"/>
                <a:gd name="T2" fmla="*/ 282272 w 105"/>
                <a:gd name="T3" fmla="*/ 642 h 30"/>
                <a:gd name="T4" fmla="*/ 778703 w 105"/>
                <a:gd name="T5" fmla="*/ 900 h 30"/>
                <a:gd name="T6" fmla="*/ 1283006 w 105"/>
                <a:gd name="T7" fmla="*/ 953 h 30"/>
                <a:gd name="T8" fmla="*/ 1816719 w 105"/>
                <a:gd name="T9" fmla="*/ 984 h 30"/>
                <a:gd name="T10" fmla="*/ 2445765 w 105"/>
                <a:gd name="T11" fmla="*/ 1080 h 30"/>
                <a:gd name="T12" fmla="*/ 2890764 w 105"/>
                <a:gd name="T13" fmla="*/ 1144 h 30"/>
                <a:gd name="T14" fmla="*/ 3191916 w 105"/>
                <a:gd name="T15" fmla="*/ 1219 h 30"/>
                <a:gd name="T16" fmla="*/ 3261172 w 105"/>
                <a:gd name="T17" fmla="*/ 1331 h 30"/>
                <a:gd name="T18" fmla="*/ 3721278 w 105"/>
                <a:gd name="T19" fmla="*/ 1181 h 30"/>
                <a:gd name="T20" fmla="*/ 3427301 w 105"/>
                <a:gd name="T21" fmla="*/ 750 h 30"/>
                <a:gd name="T22" fmla="*/ 2993261 w 105"/>
                <a:gd name="T23" fmla="*/ 535 h 30"/>
                <a:gd name="T24" fmla="*/ 2482473 w 105"/>
                <a:gd name="T25" fmla="*/ 446 h 30"/>
                <a:gd name="T26" fmla="*/ 1890361 w 105"/>
                <a:gd name="T27" fmla="*/ 434 h 30"/>
                <a:gd name="T28" fmla="*/ 1329942 w 105"/>
                <a:gd name="T29" fmla="*/ 372 h 30"/>
                <a:gd name="T30" fmla="*/ 875703 w 105"/>
                <a:gd name="T31" fmla="*/ 258 h 30"/>
                <a:gd name="T32" fmla="*/ 569066 w 105"/>
                <a:gd name="T33" fmla="*/ 149 h 30"/>
                <a:gd name="T34" fmla="*/ 465077 w 105"/>
                <a:gd name="T35" fmla="*/ 0 h 30"/>
                <a:gd name="T36" fmla="*/ 0 w 105"/>
                <a:gd name="T37" fmla="*/ 17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2" y="19"/>
                  </a:lnTo>
                  <a:lnTo>
                    <a:pt x="36" y="21"/>
                  </a:lnTo>
                  <a:lnTo>
                    <a:pt x="51" y="22"/>
                  </a:lnTo>
                  <a:lnTo>
                    <a:pt x="68" y="23"/>
                  </a:lnTo>
                  <a:lnTo>
                    <a:pt x="81" y="25"/>
                  </a:lnTo>
                  <a:lnTo>
                    <a:pt x="89" y="27"/>
                  </a:lnTo>
                  <a:lnTo>
                    <a:pt x="91" y="29"/>
                  </a:lnTo>
                  <a:lnTo>
                    <a:pt x="104" y="26"/>
                  </a:lnTo>
                  <a:lnTo>
                    <a:pt x="96" y="16"/>
                  </a:lnTo>
                  <a:lnTo>
                    <a:pt x="84" y="12"/>
                  </a:lnTo>
                  <a:lnTo>
                    <a:pt x="69" y="10"/>
                  </a:lnTo>
                  <a:lnTo>
                    <a:pt x="53" y="9"/>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6" name="Freeform 140">
              <a:extLst>
                <a:ext uri="{FF2B5EF4-FFF2-40B4-BE49-F238E27FC236}">
                  <a16:creationId xmlns:a16="http://schemas.microsoft.com/office/drawing/2014/main" id="{8014F400-5220-4C08-123F-57D5BDAA4940}"/>
                </a:ext>
              </a:extLst>
            </p:cNvPr>
            <p:cNvSpPr>
              <a:spLocks/>
            </p:cNvSpPr>
            <p:nvPr/>
          </p:nvSpPr>
          <p:spPr bwMode="auto">
            <a:xfrm>
              <a:off x="1907" y="2401"/>
              <a:ext cx="139" cy="73"/>
            </a:xfrm>
            <a:custGeom>
              <a:avLst/>
              <a:gdLst>
                <a:gd name="T0" fmla="*/ 2750315 w 84"/>
                <a:gd name="T1" fmla="*/ 94 h 63"/>
                <a:gd name="T2" fmla="*/ 2674282 w 84"/>
                <a:gd name="T3" fmla="*/ 109 h 63"/>
                <a:gd name="T4" fmla="*/ 2468110 w 84"/>
                <a:gd name="T5" fmla="*/ 247 h 63"/>
                <a:gd name="T6" fmla="*/ 1992016 w 84"/>
                <a:gd name="T7" fmla="*/ 394 h 63"/>
                <a:gd name="T8" fmla="*/ 1491520 w 84"/>
                <a:gd name="T9" fmla="*/ 530 h 63"/>
                <a:gd name="T10" fmla="*/ 941823 w 84"/>
                <a:gd name="T11" fmla="*/ 693 h 63"/>
                <a:gd name="T12" fmla="*/ 477822 w 84"/>
                <a:gd name="T13" fmla="*/ 854 h 63"/>
                <a:gd name="T14" fmla="*/ 68952 w 84"/>
                <a:gd name="T15" fmla="*/ 1078 h 63"/>
                <a:gd name="T16" fmla="*/ 0 w 84"/>
                <a:gd name="T17" fmla="*/ 1362 h 63"/>
                <a:gd name="T18" fmla="*/ 516999 w 84"/>
                <a:gd name="T19" fmla="*/ 1283 h 63"/>
                <a:gd name="T20" fmla="*/ 544701 w 84"/>
                <a:gd name="T21" fmla="*/ 1219 h 63"/>
                <a:gd name="T22" fmla="*/ 790682 w 84"/>
                <a:gd name="T23" fmla="*/ 1107 h 63"/>
                <a:gd name="T24" fmla="*/ 1203808 w 84"/>
                <a:gd name="T25" fmla="*/ 955 h 63"/>
                <a:gd name="T26" fmla="*/ 1732518 w 84"/>
                <a:gd name="T27" fmla="*/ 803 h 63"/>
                <a:gd name="T28" fmla="*/ 2275245 w 84"/>
                <a:gd name="T29" fmla="*/ 636 h 63"/>
                <a:gd name="T30" fmla="*/ 2750315 w 84"/>
                <a:gd name="T31" fmla="*/ 474 h 63"/>
                <a:gd name="T32" fmla="*/ 3123646 w 84"/>
                <a:gd name="T33" fmla="*/ 286 h 63"/>
                <a:gd name="T34" fmla="*/ 3252527 w 84"/>
                <a:gd name="T35" fmla="*/ 0 h 63"/>
                <a:gd name="T36" fmla="*/ 2750315 w 84"/>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1" y="18"/>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7" name="Freeform 141">
              <a:extLst>
                <a:ext uri="{FF2B5EF4-FFF2-40B4-BE49-F238E27FC236}">
                  <a16:creationId xmlns:a16="http://schemas.microsoft.com/office/drawing/2014/main" id="{DAD81F6E-FA8E-9D1B-8F06-FB264960577C}"/>
                </a:ext>
              </a:extLst>
            </p:cNvPr>
            <p:cNvSpPr>
              <a:spLocks/>
            </p:cNvSpPr>
            <p:nvPr/>
          </p:nvSpPr>
          <p:spPr bwMode="auto">
            <a:xfrm>
              <a:off x="1871" y="2374"/>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0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3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4"/>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8" name="Freeform 142">
              <a:extLst>
                <a:ext uri="{FF2B5EF4-FFF2-40B4-BE49-F238E27FC236}">
                  <a16:creationId xmlns:a16="http://schemas.microsoft.com/office/drawing/2014/main" id="{34DEF24D-CC27-61BF-060E-6D61EB8E1011}"/>
                </a:ext>
              </a:extLst>
            </p:cNvPr>
            <p:cNvSpPr>
              <a:spLocks/>
            </p:cNvSpPr>
            <p:nvPr/>
          </p:nvSpPr>
          <p:spPr bwMode="auto">
            <a:xfrm>
              <a:off x="1871" y="230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33388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49" name="Freeform 143">
              <a:extLst>
                <a:ext uri="{FF2B5EF4-FFF2-40B4-BE49-F238E27FC236}">
                  <a16:creationId xmlns:a16="http://schemas.microsoft.com/office/drawing/2014/main" id="{88D63C75-7543-31E4-932F-844883F70920}"/>
                </a:ext>
              </a:extLst>
            </p:cNvPr>
            <p:cNvSpPr>
              <a:spLocks/>
            </p:cNvSpPr>
            <p:nvPr/>
          </p:nvSpPr>
          <p:spPr bwMode="auto">
            <a:xfrm>
              <a:off x="1834" y="2221"/>
              <a:ext cx="174" cy="90"/>
            </a:xfrm>
            <a:custGeom>
              <a:avLst/>
              <a:gdLst>
                <a:gd name="T0" fmla="*/ 555905 w 105"/>
                <a:gd name="T1" fmla="*/ 851 h 79"/>
                <a:gd name="T2" fmla="*/ 42486 w 105"/>
                <a:gd name="T3" fmla="*/ 864 h 79"/>
                <a:gd name="T4" fmla="*/ 320394 w 105"/>
                <a:gd name="T5" fmla="*/ 1020 h 79"/>
                <a:gd name="T6" fmla="*/ 851120 w 105"/>
                <a:gd name="T7" fmla="*/ 1104 h 79"/>
                <a:gd name="T8" fmla="*/ 1485145 w 105"/>
                <a:gd name="T9" fmla="*/ 1108 h 79"/>
                <a:gd name="T10" fmla="*/ 2150963 w 105"/>
                <a:gd name="T11" fmla="*/ 1121 h 79"/>
                <a:gd name="T12" fmla="*/ 2706298 w 105"/>
                <a:gd name="T13" fmla="*/ 1121 h 79"/>
                <a:gd name="T14" fmla="*/ 3269143 w 105"/>
                <a:gd name="T15" fmla="*/ 1135 h 79"/>
                <a:gd name="T16" fmla="*/ 3587389 w 105"/>
                <a:gd name="T17" fmla="*/ 1176 h 79"/>
                <a:gd name="T18" fmla="*/ 3677016 w 105"/>
                <a:gd name="T19" fmla="*/ 1204 h 79"/>
                <a:gd name="T20" fmla="*/ 4192184 w 105"/>
                <a:gd name="T21" fmla="*/ 1135 h 79"/>
                <a:gd name="T22" fmla="*/ 3825019 w 105"/>
                <a:gd name="T23" fmla="*/ 984 h 79"/>
                <a:gd name="T24" fmla="*/ 3367531 w 105"/>
                <a:gd name="T25" fmla="*/ 942 h 79"/>
                <a:gd name="T26" fmla="*/ 2755964 w 105"/>
                <a:gd name="T27" fmla="*/ 924 h 79"/>
                <a:gd name="T28" fmla="*/ 2150963 w 105"/>
                <a:gd name="T29" fmla="*/ 895 h 79"/>
                <a:gd name="T30" fmla="*/ 1485145 w 105"/>
                <a:gd name="T31" fmla="*/ 906 h 79"/>
                <a:gd name="T32" fmla="*/ 970032 w 105"/>
                <a:gd name="T33" fmla="*/ 895 h 79"/>
                <a:gd name="T34" fmla="*/ 663081 w 105"/>
                <a:gd name="T35" fmla="*/ 854 h 79"/>
                <a:gd name="T36" fmla="*/ 555905 w 105"/>
                <a:gd name="T37" fmla="*/ 795 h 79"/>
                <a:gd name="T38" fmla="*/ 0 w 105"/>
                <a:gd name="T39" fmla="*/ 851 h 79"/>
                <a:gd name="T40" fmla="*/ 555905 w 105"/>
                <a:gd name="T41" fmla="*/ 795 h 79"/>
                <a:gd name="T42" fmla="*/ 0 w 105"/>
                <a:gd name="T43" fmla="*/ 0 h 79"/>
                <a:gd name="T44" fmla="*/ 0 w 105"/>
                <a:gd name="T45" fmla="*/ 851 h 79"/>
                <a:gd name="T46" fmla="*/ 555905 w 105"/>
                <a:gd name="T47" fmla="*/ 851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1" y="56"/>
                  </a:lnTo>
                  <a:lnTo>
                    <a:pt x="8" y="66"/>
                  </a:lnTo>
                  <a:lnTo>
                    <a:pt x="21" y="71"/>
                  </a:lnTo>
                  <a:lnTo>
                    <a:pt x="37" y="72"/>
                  </a:lnTo>
                  <a:lnTo>
                    <a:pt x="53" y="73"/>
                  </a:lnTo>
                  <a:lnTo>
                    <a:pt x="67" y="73"/>
                  </a:lnTo>
                  <a:lnTo>
                    <a:pt x="81" y="74"/>
                  </a:lnTo>
                  <a:lnTo>
                    <a:pt x="89" y="76"/>
                  </a:lnTo>
                  <a:lnTo>
                    <a:pt x="91" y="78"/>
                  </a:lnTo>
                  <a:lnTo>
                    <a:pt x="104" y="74"/>
                  </a:lnTo>
                  <a:lnTo>
                    <a:pt x="95" y="64"/>
                  </a:lnTo>
                  <a:lnTo>
                    <a:pt x="83" y="61"/>
                  </a:lnTo>
                  <a:lnTo>
                    <a:pt x="68" y="60"/>
                  </a:lnTo>
                  <a:lnTo>
                    <a:pt x="53" y="58"/>
                  </a:lnTo>
                  <a:lnTo>
                    <a:pt x="37" y="59"/>
                  </a:lnTo>
                  <a:lnTo>
                    <a:pt x="24" y="58"/>
                  </a:lnTo>
                  <a:lnTo>
                    <a:pt x="16" y="55"/>
                  </a:lnTo>
                  <a:lnTo>
                    <a:pt x="14" y="52"/>
                  </a:lnTo>
                  <a:lnTo>
                    <a:pt x="0" y="54"/>
                  </a:lnTo>
                  <a:lnTo>
                    <a:pt x="14"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0" name="Freeform 144">
              <a:extLst>
                <a:ext uri="{FF2B5EF4-FFF2-40B4-BE49-F238E27FC236}">
                  <a16:creationId xmlns:a16="http://schemas.microsoft.com/office/drawing/2014/main" id="{FED31D8E-D232-AF26-9859-F4488799CC64}"/>
                </a:ext>
              </a:extLst>
            </p:cNvPr>
            <p:cNvSpPr>
              <a:spLocks/>
            </p:cNvSpPr>
            <p:nvPr/>
          </p:nvSpPr>
          <p:spPr bwMode="auto">
            <a:xfrm>
              <a:off x="1834" y="2281"/>
              <a:ext cx="27" cy="56"/>
            </a:xfrm>
            <a:custGeom>
              <a:avLst/>
              <a:gdLst>
                <a:gd name="T0" fmla="*/ 62006 w 16"/>
                <a:gd name="T1" fmla="*/ 120 h 48"/>
                <a:gd name="T2" fmla="*/ 879388 w 16"/>
                <a:gd name="T3" fmla="*/ 2 h 48"/>
                <a:gd name="T4" fmla="*/ 879388 w 16"/>
                <a:gd name="T5" fmla="*/ 1 h 48"/>
                <a:gd name="T6" fmla="*/ 0 w 16"/>
                <a:gd name="T7" fmla="*/ 1 h 48"/>
                <a:gd name="T8" fmla="*/ 0 w 16"/>
                <a:gd name="T9" fmla="*/ 2 h 48"/>
                <a:gd name="T10" fmla="*/ 824491 w 16"/>
                <a:gd name="T11" fmla="*/ 0 h 48"/>
                <a:gd name="T12" fmla="*/ 62006 w 16"/>
                <a:gd name="T13" fmla="*/ 120 h 48"/>
                <a:gd name="T14" fmla="*/ 879388 w 16"/>
                <a:gd name="T15" fmla="*/ 1210 h 48"/>
                <a:gd name="T16" fmla="*/ 879388 w 16"/>
                <a:gd name="T17" fmla="*/ 2 h 48"/>
                <a:gd name="T18" fmla="*/ 62006 w 16"/>
                <a:gd name="T19" fmla="*/ 12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8"/>
                <a:gd name="T32" fmla="*/ 16 w 1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8">
                  <a:moveTo>
                    <a:pt x="1" y="4"/>
                  </a:moveTo>
                  <a:lnTo>
                    <a:pt x="15" y="2"/>
                  </a:lnTo>
                  <a:lnTo>
                    <a:pt x="15" y="1"/>
                  </a:lnTo>
                  <a:lnTo>
                    <a:pt x="0" y="1"/>
                  </a:lnTo>
                  <a:lnTo>
                    <a:pt x="0" y="2"/>
                  </a:lnTo>
                  <a:lnTo>
                    <a:pt x="14" y="0"/>
                  </a:lnTo>
                  <a:lnTo>
                    <a:pt x="1" y="4"/>
                  </a:lnTo>
                  <a:lnTo>
                    <a:pt x="15" y="47"/>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1" name="Freeform 145">
              <a:extLst>
                <a:ext uri="{FF2B5EF4-FFF2-40B4-BE49-F238E27FC236}">
                  <a16:creationId xmlns:a16="http://schemas.microsoft.com/office/drawing/2014/main" id="{2C9AD1ED-2902-A507-A48A-233F678CA34C}"/>
                </a:ext>
              </a:extLst>
            </p:cNvPr>
            <p:cNvSpPr>
              <a:spLocks/>
            </p:cNvSpPr>
            <p:nvPr/>
          </p:nvSpPr>
          <p:spPr bwMode="auto">
            <a:xfrm>
              <a:off x="1836" y="2216"/>
              <a:ext cx="136" cy="72"/>
            </a:xfrm>
            <a:custGeom>
              <a:avLst/>
              <a:gdLst>
                <a:gd name="T0" fmla="*/ 2195491 w 83"/>
                <a:gd name="T1" fmla="*/ 101 h 62"/>
                <a:gd name="T2" fmla="*/ 2160471 w 83"/>
                <a:gd name="T3" fmla="*/ 117 h 62"/>
                <a:gd name="T4" fmla="*/ 2008007 w 83"/>
                <a:gd name="T5" fmla="*/ 213 h 62"/>
                <a:gd name="T6" fmla="*/ 1636031 w 83"/>
                <a:gd name="T7" fmla="*/ 333 h 62"/>
                <a:gd name="T8" fmla="*/ 1191799 w 83"/>
                <a:gd name="T9" fmla="*/ 459 h 62"/>
                <a:gd name="T10" fmla="*/ 705219 w 83"/>
                <a:gd name="T11" fmla="*/ 619 h 62"/>
                <a:gd name="T12" fmla="*/ 296288 w 83"/>
                <a:gd name="T13" fmla="*/ 816 h 62"/>
                <a:gd name="T14" fmla="*/ 0 w 83"/>
                <a:gd name="T15" fmla="*/ 1071 h 62"/>
                <a:gd name="T16" fmla="*/ 0 w 83"/>
                <a:gd name="T17" fmla="*/ 1410 h 62"/>
                <a:gd name="T18" fmla="*/ 407626 w 83"/>
                <a:gd name="T19" fmla="*/ 1308 h 62"/>
                <a:gd name="T20" fmla="*/ 407626 w 83"/>
                <a:gd name="T21" fmla="*/ 1168 h 62"/>
                <a:gd name="T22" fmla="*/ 570173 w 83"/>
                <a:gd name="T23" fmla="*/ 1029 h 62"/>
                <a:gd name="T24" fmla="*/ 934259 w 83"/>
                <a:gd name="T25" fmla="*/ 866 h 62"/>
                <a:gd name="T26" fmla="*/ 1362595 w 83"/>
                <a:gd name="T27" fmla="*/ 746 h 62"/>
                <a:gd name="T28" fmla="*/ 1793263 w 83"/>
                <a:gd name="T29" fmla="*/ 619 h 62"/>
                <a:gd name="T30" fmla="*/ 2195491 w 83"/>
                <a:gd name="T31" fmla="*/ 476 h 62"/>
                <a:gd name="T32" fmla="*/ 2508355 w 83"/>
                <a:gd name="T33" fmla="*/ 293 h 62"/>
                <a:gd name="T34" fmla="*/ 2609697 w 83"/>
                <a:gd name="T35" fmla="*/ 0 h 62"/>
                <a:gd name="T36" fmla="*/ 2195491 w 83"/>
                <a:gd name="T37" fmla="*/ 10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3" y="9"/>
                  </a:lnTo>
                  <a:lnTo>
                    <a:pt x="51" y="14"/>
                  </a:lnTo>
                  <a:lnTo>
                    <a:pt x="37" y="20"/>
                  </a:lnTo>
                  <a:lnTo>
                    <a:pt x="22" y="27"/>
                  </a:lnTo>
                  <a:lnTo>
                    <a:pt x="9" y="35"/>
                  </a:lnTo>
                  <a:lnTo>
                    <a:pt x="0" y="46"/>
                  </a:lnTo>
                  <a:lnTo>
                    <a:pt x="0" y="61"/>
                  </a:lnTo>
                  <a:lnTo>
                    <a:pt x="13" y="57"/>
                  </a:lnTo>
                  <a:lnTo>
                    <a:pt x="13" y="51"/>
                  </a:lnTo>
                  <a:lnTo>
                    <a:pt x="18" y="45"/>
                  </a:lnTo>
                  <a:lnTo>
                    <a:pt x="29" y="38"/>
                  </a:lnTo>
                  <a:lnTo>
                    <a:pt x="43" y="33"/>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2" name="Freeform 146">
              <a:extLst>
                <a:ext uri="{FF2B5EF4-FFF2-40B4-BE49-F238E27FC236}">
                  <a16:creationId xmlns:a16="http://schemas.microsoft.com/office/drawing/2014/main" id="{BDB2ED60-F7FD-3FFE-EC65-41581CCF2591}"/>
                </a:ext>
              </a:extLst>
            </p:cNvPr>
            <p:cNvSpPr>
              <a:spLocks/>
            </p:cNvSpPr>
            <p:nvPr/>
          </p:nvSpPr>
          <p:spPr bwMode="auto">
            <a:xfrm>
              <a:off x="1799" y="2188"/>
              <a:ext cx="173" cy="34"/>
            </a:xfrm>
            <a:custGeom>
              <a:avLst/>
              <a:gdLst>
                <a:gd name="T0" fmla="*/ 0 w 106"/>
                <a:gd name="T1" fmla="*/ 61 h 30"/>
                <a:gd name="T2" fmla="*/ 228735 w 106"/>
                <a:gd name="T3" fmla="*/ 206 h 30"/>
                <a:gd name="T4" fmla="*/ 609275 w 106"/>
                <a:gd name="T5" fmla="*/ 239 h 30"/>
                <a:gd name="T6" fmla="*/ 1059028 w 106"/>
                <a:gd name="T7" fmla="*/ 271 h 30"/>
                <a:gd name="T8" fmla="*/ 1530828 w 106"/>
                <a:gd name="T9" fmla="*/ 299 h 30"/>
                <a:gd name="T10" fmla="*/ 1964446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41860 w 106"/>
                <a:gd name="T21" fmla="*/ 206 h 30"/>
                <a:gd name="T22" fmla="*/ 2468792 w 106"/>
                <a:gd name="T23" fmla="*/ 145 h 30"/>
                <a:gd name="T24" fmla="*/ 2027495 w 106"/>
                <a:gd name="T25" fmla="*/ 113 h 30"/>
                <a:gd name="T26" fmla="*/ 1568018 w 106"/>
                <a:gd name="T27" fmla="*/ 113 h 30"/>
                <a:gd name="T28" fmla="*/ 111213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5"/>
                  </a:lnTo>
                  <a:lnTo>
                    <a:pt x="21" y="18"/>
                  </a:lnTo>
                  <a:lnTo>
                    <a:pt x="36" y="20"/>
                  </a:lnTo>
                  <a:lnTo>
                    <a:pt x="52" y="22"/>
                  </a:lnTo>
                  <a:lnTo>
                    <a:pt x="67" y="22"/>
                  </a:lnTo>
                  <a:lnTo>
                    <a:pt x="81" y="24"/>
                  </a:lnTo>
                  <a:lnTo>
                    <a:pt x="90" y="27"/>
                  </a:lnTo>
                  <a:lnTo>
                    <a:pt x="92" y="29"/>
                  </a:lnTo>
                  <a:lnTo>
                    <a:pt x="105" y="25"/>
                  </a:lnTo>
                  <a:lnTo>
                    <a:pt x="97" y="15"/>
                  </a:lnTo>
                  <a:lnTo>
                    <a:pt x="84" y="11"/>
                  </a:lnTo>
                  <a:lnTo>
                    <a:pt x="69" y="9"/>
                  </a:lnTo>
                  <a:lnTo>
                    <a:pt x="53" y="9"/>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3" name="Freeform 147">
              <a:extLst>
                <a:ext uri="{FF2B5EF4-FFF2-40B4-BE49-F238E27FC236}">
                  <a16:creationId xmlns:a16="http://schemas.microsoft.com/office/drawing/2014/main" id="{E930C983-B821-21AE-A7BA-A7664DFF7F14}"/>
                </a:ext>
              </a:extLst>
            </p:cNvPr>
            <p:cNvSpPr>
              <a:spLocks/>
            </p:cNvSpPr>
            <p:nvPr/>
          </p:nvSpPr>
          <p:spPr bwMode="auto">
            <a:xfrm>
              <a:off x="1799" y="2121"/>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524090 w 84"/>
                <a:gd name="T27" fmla="*/ 605 h 63"/>
                <a:gd name="T28" fmla="*/ 1948925 w 84"/>
                <a:gd name="T29" fmla="*/ 474 h 63"/>
                <a:gd name="T30" fmla="*/ 2396631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4" name="Freeform 148">
              <a:extLst>
                <a:ext uri="{FF2B5EF4-FFF2-40B4-BE49-F238E27FC236}">
                  <a16:creationId xmlns:a16="http://schemas.microsoft.com/office/drawing/2014/main" id="{10F1E9A6-B694-EDCB-D1FD-FC54D73C3121}"/>
                </a:ext>
              </a:extLst>
            </p:cNvPr>
            <p:cNvSpPr>
              <a:spLocks/>
            </p:cNvSpPr>
            <p:nvPr/>
          </p:nvSpPr>
          <p:spPr bwMode="auto">
            <a:xfrm>
              <a:off x="1762" y="2096"/>
              <a:ext cx="175" cy="29"/>
            </a:xfrm>
            <a:custGeom>
              <a:avLst/>
              <a:gdLst>
                <a:gd name="T0" fmla="*/ 0 w 106"/>
                <a:gd name="T1" fmla="*/ 2 h 25"/>
                <a:gd name="T2" fmla="*/ 39284 w 106"/>
                <a:gd name="T3" fmla="*/ 101 h 25"/>
                <a:gd name="T4" fmla="*/ 379656 w 106"/>
                <a:gd name="T5" fmla="*/ 291 h 25"/>
                <a:gd name="T6" fmla="*/ 804876 w 106"/>
                <a:gd name="T7" fmla="*/ 338 h 25"/>
                <a:gd name="T8" fmla="*/ 1389091 w 106"/>
                <a:gd name="T9" fmla="*/ 384 h 25"/>
                <a:gd name="T10" fmla="*/ 1941196 w 106"/>
                <a:gd name="T11" fmla="*/ 392 h 25"/>
                <a:gd name="T12" fmla="*/ 2534104 w 106"/>
                <a:gd name="T13" fmla="*/ 392 h 25"/>
                <a:gd name="T14" fmla="*/ 3033331 w 106"/>
                <a:gd name="T15" fmla="*/ 394 h 25"/>
                <a:gd name="T16" fmla="*/ 3369257 w 106"/>
                <a:gd name="T17" fmla="*/ 516 h 25"/>
                <a:gd name="T18" fmla="*/ 3435385 w 106"/>
                <a:gd name="T19" fmla="*/ 530 h 25"/>
                <a:gd name="T20" fmla="*/ 3917132 w 106"/>
                <a:gd name="T21" fmla="*/ 455 h 25"/>
                <a:gd name="T22" fmla="*/ 3579389 w 106"/>
                <a:gd name="T23" fmla="*/ 246 h 25"/>
                <a:gd name="T24" fmla="*/ 3097518 w 106"/>
                <a:gd name="T25" fmla="*/ 136 h 25"/>
                <a:gd name="T26" fmla="*/ 2573651 w 106"/>
                <a:gd name="T27" fmla="*/ 101 h 25"/>
                <a:gd name="T28" fmla="*/ 1941196 w 106"/>
                <a:gd name="T29" fmla="*/ 101 h 25"/>
                <a:gd name="T30" fmla="*/ 1389091 w 106"/>
                <a:gd name="T31" fmla="*/ 3 h 25"/>
                <a:gd name="T32" fmla="*/ 904506 w 106"/>
                <a:gd name="T33" fmla="*/ 2 h 25"/>
                <a:gd name="T34" fmla="*/ 563155 w 106"/>
                <a:gd name="T35" fmla="*/ 0 h 25"/>
                <a:gd name="T36" fmla="*/ 523912 w 106"/>
                <a:gd name="T37" fmla="*/ 0 h 25"/>
                <a:gd name="T38" fmla="*/ 563155 w 106"/>
                <a:gd name="T39" fmla="*/ 2 h 25"/>
                <a:gd name="T40" fmla="*/ 0 w 106"/>
                <a:gd name="T41" fmla="*/ 2 h 25"/>
                <a:gd name="T42" fmla="*/ 39284 w 106"/>
                <a:gd name="T43" fmla="*/ 2 h 25"/>
                <a:gd name="T44" fmla="*/ 39284 w 106"/>
                <a:gd name="T45" fmla="*/ 101 h 25"/>
                <a:gd name="T46" fmla="*/ 0 w 106"/>
                <a:gd name="T47" fmla="*/ 2 h 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25"/>
                <a:gd name="T74" fmla="*/ 106 w 106"/>
                <a:gd name="T75" fmla="*/ 25 h 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25">
                  <a:moveTo>
                    <a:pt x="0" y="2"/>
                  </a:moveTo>
                  <a:lnTo>
                    <a:pt x="1" y="4"/>
                  </a:lnTo>
                  <a:lnTo>
                    <a:pt x="10" y="13"/>
                  </a:lnTo>
                  <a:lnTo>
                    <a:pt x="22" y="15"/>
                  </a:lnTo>
                  <a:lnTo>
                    <a:pt x="37" y="16"/>
                  </a:lnTo>
                  <a:lnTo>
                    <a:pt x="52" y="17"/>
                  </a:lnTo>
                  <a:lnTo>
                    <a:pt x="68" y="17"/>
                  </a:lnTo>
                  <a:lnTo>
                    <a:pt x="81" y="18"/>
                  </a:lnTo>
                  <a:lnTo>
                    <a:pt x="90" y="22"/>
                  </a:lnTo>
                  <a:lnTo>
                    <a:pt x="92" y="24"/>
                  </a:lnTo>
                  <a:lnTo>
                    <a:pt x="105" y="20"/>
                  </a:lnTo>
                  <a:lnTo>
                    <a:pt x="96" y="10"/>
                  </a:lnTo>
                  <a:lnTo>
                    <a:pt x="83" y="6"/>
                  </a:lnTo>
                  <a:lnTo>
                    <a:pt x="69" y="4"/>
                  </a:lnTo>
                  <a:lnTo>
                    <a:pt x="52" y="4"/>
                  </a:lnTo>
                  <a:lnTo>
                    <a:pt x="37" y="3"/>
                  </a:lnTo>
                  <a:lnTo>
                    <a:pt x="24" y="2"/>
                  </a:lnTo>
                  <a:lnTo>
                    <a:pt x="15" y="0"/>
                  </a:lnTo>
                  <a:lnTo>
                    <a:pt x="14" y="0"/>
                  </a:lnTo>
                  <a:lnTo>
                    <a:pt x="15" y="2"/>
                  </a:lnTo>
                  <a:lnTo>
                    <a:pt x="0" y="2"/>
                  </a:lnTo>
                  <a:lnTo>
                    <a:pt x="1" y="2"/>
                  </a:lnTo>
                  <a:lnTo>
                    <a:pt x="1" y="4"/>
                  </a:lnTo>
                  <a:lnTo>
                    <a:pt x="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5" name="Freeform 149">
              <a:extLst>
                <a:ext uri="{FF2B5EF4-FFF2-40B4-BE49-F238E27FC236}">
                  <a16:creationId xmlns:a16="http://schemas.microsoft.com/office/drawing/2014/main" id="{C8F8E28C-EAEB-DAE8-F0A6-F87DBC9F102E}"/>
                </a:ext>
              </a:extLst>
            </p:cNvPr>
            <p:cNvSpPr>
              <a:spLocks/>
            </p:cNvSpPr>
            <p:nvPr/>
          </p:nvSpPr>
          <p:spPr bwMode="auto">
            <a:xfrm>
              <a:off x="1762" y="2096"/>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6" name="Freeform 150">
              <a:extLst>
                <a:ext uri="{FF2B5EF4-FFF2-40B4-BE49-F238E27FC236}">
                  <a16:creationId xmlns:a16="http://schemas.microsoft.com/office/drawing/2014/main" id="{83D772D6-CBF4-56AD-654E-F517B8A02D0D}"/>
                </a:ext>
              </a:extLst>
            </p:cNvPr>
            <p:cNvSpPr>
              <a:spLocks/>
            </p:cNvSpPr>
            <p:nvPr/>
          </p:nvSpPr>
          <p:spPr bwMode="auto">
            <a:xfrm>
              <a:off x="1763" y="2028"/>
              <a:ext cx="134" cy="74"/>
            </a:xfrm>
            <a:custGeom>
              <a:avLst/>
              <a:gdLst>
                <a:gd name="T0" fmla="*/ 2617430 w 81"/>
                <a:gd name="T1" fmla="*/ 93 h 64"/>
                <a:gd name="T2" fmla="*/ 2567830 w 81"/>
                <a:gd name="T3" fmla="*/ 145 h 64"/>
                <a:gd name="T4" fmla="*/ 2331846 w 81"/>
                <a:gd name="T5" fmla="*/ 259 h 64"/>
                <a:gd name="T6" fmla="*/ 1957614 w 81"/>
                <a:gd name="T7" fmla="*/ 435 h 64"/>
                <a:gd name="T8" fmla="*/ 1438593 w 81"/>
                <a:gd name="T9" fmla="*/ 582 h 64"/>
                <a:gd name="T10" fmla="*/ 938268 w 81"/>
                <a:gd name="T11" fmla="*/ 716 h 64"/>
                <a:gd name="T12" fmla="*/ 475903 w 81"/>
                <a:gd name="T13" fmla="*/ 900 h 64"/>
                <a:gd name="T14" fmla="*/ 113758 w 81"/>
                <a:gd name="T15" fmla="*/ 1059 h 64"/>
                <a:gd name="T16" fmla="*/ 0 w 81"/>
                <a:gd name="T17" fmla="*/ 1319 h 64"/>
                <a:gd name="T18" fmla="*/ 515040 w 81"/>
                <a:gd name="T19" fmla="*/ 1234 h 64"/>
                <a:gd name="T20" fmla="*/ 541520 w 81"/>
                <a:gd name="T21" fmla="*/ 1224 h 64"/>
                <a:gd name="T22" fmla="*/ 723636 w 81"/>
                <a:gd name="T23" fmla="*/ 1129 h 64"/>
                <a:gd name="T24" fmla="*/ 1183334 w 81"/>
                <a:gd name="T25" fmla="*/ 976 h 64"/>
                <a:gd name="T26" fmla="*/ 1669796 w 81"/>
                <a:gd name="T27" fmla="*/ 828 h 64"/>
                <a:gd name="T28" fmla="*/ 2221424 w 81"/>
                <a:gd name="T29" fmla="*/ 673 h 64"/>
                <a:gd name="T30" fmla="*/ 2697708 w 81"/>
                <a:gd name="T31" fmla="*/ 503 h 64"/>
                <a:gd name="T32" fmla="*/ 3029758 w 81"/>
                <a:gd name="T33" fmla="*/ 281 h 64"/>
                <a:gd name="T34" fmla="*/ 3108525 w 81"/>
                <a:gd name="T35" fmla="*/ 0 h 64"/>
                <a:gd name="T36" fmla="*/ 2617430 w 81"/>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4"/>
                <a:gd name="T59" fmla="*/ 81 w 81"/>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4">
                  <a:moveTo>
                    <a:pt x="67" y="4"/>
                  </a:moveTo>
                  <a:lnTo>
                    <a:pt x="66" y="7"/>
                  </a:lnTo>
                  <a:lnTo>
                    <a:pt x="60" y="12"/>
                  </a:lnTo>
                  <a:lnTo>
                    <a:pt x="50" y="20"/>
                  </a:lnTo>
                  <a:lnTo>
                    <a:pt x="37" y="27"/>
                  </a:lnTo>
                  <a:lnTo>
                    <a:pt x="24" y="34"/>
                  </a:lnTo>
                  <a:lnTo>
                    <a:pt x="12" y="42"/>
                  </a:lnTo>
                  <a:lnTo>
                    <a:pt x="3" y="50"/>
                  </a:lnTo>
                  <a:lnTo>
                    <a:pt x="0" y="63"/>
                  </a:lnTo>
                  <a:lnTo>
                    <a:pt x="13" y="59"/>
                  </a:lnTo>
                  <a:lnTo>
                    <a:pt x="14" y="58"/>
                  </a:lnTo>
                  <a:lnTo>
                    <a:pt x="19" y="53"/>
                  </a:lnTo>
                  <a:lnTo>
                    <a:pt x="30" y="46"/>
                  </a:lnTo>
                  <a:lnTo>
                    <a:pt x="43" y="39"/>
                  </a:lnTo>
                  <a:lnTo>
                    <a:pt x="57" y="31"/>
                  </a:lnTo>
                  <a:lnTo>
                    <a:pt x="69"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7" name="Freeform 151">
              <a:extLst>
                <a:ext uri="{FF2B5EF4-FFF2-40B4-BE49-F238E27FC236}">
                  <a16:creationId xmlns:a16="http://schemas.microsoft.com/office/drawing/2014/main" id="{070FF81A-1878-6E8F-57EE-2462DD6AFB2B}"/>
                </a:ext>
              </a:extLst>
            </p:cNvPr>
            <p:cNvSpPr>
              <a:spLocks/>
            </p:cNvSpPr>
            <p:nvPr/>
          </p:nvSpPr>
          <p:spPr bwMode="auto">
            <a:xfrm>
              <a:off x="1724" y="1999"/>
              <a:ext cx="173" cy="35"/>
            </a:xfrm>
            <a:custGeom>
              <a:avLst/>
              <a:gdLst>
                <a:gd name="T0" fmla="*/ 0 w 105"/>
                <a:gd name="T1" fmla="*/ 120 h 30"/>
                <a:gd name="T2" fmla="*/ 282272 w 105"/>
                <a:gd name="T3" fmla="*/ 352 h 30"/>
                <a:gd name="T4" fmla="*/ 766270 w 105"/>
                <a:gd name="T5" fmla="*/ 429 h 30"/>
                <a:gd name="T6" fmla="*/ 1283006 w 105"/>
                <a:gd name="T7" fmla="*/ 488 h 30"/>
                <a:gd name="T8" fmla="*/ 1816719 w 105"/>
                <a:gd name="T9" fmla="*/ 501 h 30"/>
                <a:gd name="T10" fmla="*/ 2385467 w 105"/>
                <a:gd name="T11" fmla="*/ 560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22 h 30"/>
                <a:gd name="T26" fmla="*/ 1875692 w 105"/>
                <a:gd name="T27" fmla="*/ 190 h 30"/>
                <a:gd name="T28" fmla="*/ 1329942 w 105"/>
                <a:gd name="T29" fmla="*/ 163 h 30"/>
                <a:gd name="T30" fmla="*/ 831997 w 105"/>
                <a:gd name="T31" fmla="*/ 12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3"/>
                  </a:lnTo>
                  <a:lnTo>
                    <a:pt x="21" y="17"/>
                  </a:lnTo>
                  <a:lnTo>
                    <a:pt x="36" y="19"/>
                  </a:lnTo>
                  <a:lnTo>
                    <a:pt x="51" y="20"/>
                  </a:lnTo>
                  <a:lnTo>
                    <a:pt x="67" y="21"/>
                  </a:lnTo>
                  <a:lnTo>
                    <a:pt x="80" y="23"/>
                  </a:lnTo>
                  <a:lnTo>
                    <a:pt x="88" y="26"/>
                  </a:lnTo>
                  <a:lnTo>
                    <a:pt x="91" y="29"/>
                  </a:lnTo>
                  <a:lnTo>
                    <a:pt x="104" y="25"/>
                  </a:lnTo>
                  <a:lnTo>
                    <a:pt x="96" y="15"/>
                  </a:lnTo>
                  <a:lnTo>
                    <a:pt x="83" y="10"/>
                  </a:lnTo>
                  <a:lnTo>
                    <a:pt x="68"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8" name="Freeform 152">
              <a:extLst>
                <a:ext uri="{FF2B5EF4-FFF2-40B4-BE49-F238E27FC236}">
                  <a16:creationId xmlns:a16="http://schemas.microsoft.com/office/drawing/2014/main" id="{2012FA61-3B8B-544F-ED1A-28A52BB53D1A}"/>
                </a:ext>
              </a:extLst>
            </p:cNvPr>
            <p:cNvSpPr>
              <a:spLocks/>
            </p:cNvSpPr>
            <p:nvPr/>
          </p:nvSpPr>
          <p:spPr bwMode="auto">
            <a:xfrm>
              <a:off x="1724" y="1933"/>
              <a:ext cx="137" cy="73"/>
            </a:xfrm>
            <a:custGeom>
              <a:avLst/>
              <a:gdLst>
                <a:gd name="T0" fmla="*/ 2566051 w 83"/>
                <a:gd name="T1" fmla="*/ 94 h 63"/>
                <a:gd name="T2" fmla="*/ 2566051 w 83"/>
                <a:gd name="T3" fmla="*/ 126 h 63"/>
                <a:gd name="T4" fmla="*/ 2349936 w 83"/>
                <a:gd name="T5" fmla="*/ 263 h 63"/>
                <a:gd name="T6" fmla="*/ 1933123 w 83"/>
                <a:gd name="T7" fmla="*/ 409 h 63"/>
                <a:gd name="T8" fmla="*/ 1423684 w 83"/>
                <a:gd name="T9" fmla="*/ 594 h 63"/>
                <a:gd name="T10" fmla="*/ 924724 w 83"/>
                <a:gd name="T11" fmla="*/ 711 h 63"/>
                <a:gd name="T12" fmla="*/ 446998 w 83"/>
                <a:gd name="T13" fmla="*/ 860 h 63"/>
                <a:gd name="T14" fmla="*/ 106777 w 83"/>
                <a:gd name="T15" fmla="*/ 1078 h 63"/>
                <a:gd name="T16" fmla="*/ 0 w 83"/>
                <a:gd name="T17" fmla="*/ 1362 h 63"/>
                <a:gd name="T18" fmla="*/ 480180 w 83"/>
                <a:gd name="T19" fmla="*/ 1283 h 63"/>
                <a:gd name="T20" fmla="*/ 522551 w 83"/>
                <a:gd name="T21" fmla="*/ 1241 h 63"/>
                <a:gd name="T22" fmla="*/ 737816 w 83"/>
                <a:gd name="T23" fmla="*/ 1139 h 63"/>
                <a:gd name="T24" fmla="*/ 1147807 w 83"/>
                <a:gd name="T25" fmla="*/ 983 h 63"/>
                <a:gd name="T26" fmla="*/ 1664712 w 83"/>
                <a:gd name="T27" fmla="*/ 848 h 63"/>
                <a:gd name="T28" fmla="*/ 2159391 w 83"/>
                <a:gd name="T29" fmla="*/ 688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2"/>
                  </a:lnTo>
                  <a:lnTo>
                    <a:pt x="12" y="40"/>
                  </a:lnTo>
                  <a:lnTo>
                    <a:pt x="3" y="49"/>
                  </a:lnTo>
                  <a:lnTo>
                    <a:pt x="0" y="62"/>
                  </a:lnTo>
                  <a:lnTo>
                    <a:pt x="13" y="58"/>
                  </a:lnTo>
                  <a:lnTo>
                    <a:pt x="14" y="56"/>
                  </a:lnTo>
                  <a:lnTo>
                    <a:pt x="20" y="51"/>
                  </a:lnTo>
                  <a:lnTo>
                    <a:pt x="31" y="44"/>
                  </a:lnTo>
                  <a:lnTo>
                    <a:pt x="45" y="38"/>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59" name="Freeform 153">
              <a:extLst>
                <a:ext uri="{FF2B5EF4-FFF2-40B4-BE49-F238E27FC236}">
                  <a16:creationId xmlns:a16="http://schemas.microsoft.com/office/drawing/2014/main" id="{4ECCBAFC-8343-E221-CF12-D574F21276C1}"/>
                </a:ext>
              </a:extLst>
            </p:cNvPr>
            <p:cNvSpPr>
              <a:spLocks/>
            </p:cNvSpPr>
            <p:nvPr/>
          </p:nvSpPr>
          <p:spPr bwMode="auto">
            <a:xfrm>
              <a:off x="1689" y="1903"/>
              <a:ext cx="172" cy="36"/>
            </a:xfrm>
            <a:custGeom>
              <a:avLst/>
              <a:gdLst>
                <a:gd name="T0" fmla="*/ 0 w 105"/>
                <a:gd name="T1" fmla="*/ 101 h 31"/>
                <a:gd name="T2" fmla="*/ 247472 w 105"/>
                <a:gd name="T3" fmla="*/ 333 h 31"/>
                <a:gd name="T4" fmla="*/ 664056 w 105"/>
                <a:gd name="T5" fmla="*/ 395 h 31"/>
                <a:gd name="T6" fmla="*/ 1144996 w 105"/>
                <a:gd name="T7" fmla="*/ 449 h 31"/>
                <a:gd name="T8" fmla="*/ 1629916 w 105"/>
                <a:gd name="T9" fmla="*/ 476 h 31"/>
                <a:gd name="T10" fmla="*/ 2126746 w 105"/>
                <a:gd name="T11" fmla="*/ 521 h 31"/>
                <a:gd name="T12" fmla="*/ 2540392 w 105"/>
                <a:gd name="T13" fmla="*/ 553 h 31"/>
                <a:gd name="T14" fmla="*/ 2792890 w 105"/>
                <a:gd name="T15" fmla="*/ 619 h 31"/>
                <a:gd name="T16" fmla="*/ 2885372 w 105"/>
                <a:gd name="T17" fmla="*/ 703 h 31"/>
                <a:gd name="T18" fmla="*/ 3278466 w 105"/>
                <a:gd name="T19" fmla="*/ 605 h 31"/>
                <a:gd name="T20" fmla="*/ 3037405 w 105"/>
                <a:gd name="T21" fmla="*/ 387 h 31"/>
                <a:gd name="T22" fmla="*/ 2633720 w 105"/>
                <a:gd name="T23" fmla="*/ 252 h 31"/>
                <a:gd name="T24" fmla="*/ 2147610 w 105"/>
                <a:gd name="T25" fmla="*/ 213 h 31"/>
                <a:gd name="T26" fmla="*/ 1642575 w 105"/>
                <a:gd name="T27" fmla="*/ 183 h 31"/>
                <a:gd name="T28" fmla="*/ 1185358 w 105"/>
                <a:gd name="T29" fmla="*/ 136 h 31"/>
                <a:gd name="T30" fmla="*/ 737762 w 105"/>
                <a:gd name="T31" fmla="*/ 101 h 31"/>
                <a:gd name="T32" fmla="*/ 483836 w 105"/>
                <a:gd name="T33" fmla="*/ 2 h 31"/>
                <a:gd name="T34" fmla="*/ 405383 w 105"/>
                <a:gd name="T35" fmla="*/ 0 h 31"/>
                <a:gd name="T36" fmla="*/ 0 w 105"/>
                <a:gd name="T37" fmla="*/ 101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7"/>
                  </a:lnTo>
                  <a:lnTo>
                    <a:pt x="36" y="19"/>
                  </a:lnTo>
                  <a:lnTo>
                    <a:pt x="51" y="21"/>
                  </a:lnTo>
                  <a:lnTo>
                    <a:pt x="67" y="22"/>
                  </a:lnTo>
                  <a:lnTo>
                    <a:pt x="80" y="24"/>
                  </a:lnTo>
                  <a:lnTo>
                    <a:pt x="88" y="27"/>
                  </a:lnTo>
                  <a:lnTo>
                    <a:pt x="91" y="30"/>
                  </a:lnTo>
                  <a:lnTo>
                    <a:pt x="104" y="26"/>
                  </a:lnTo>
                  <a:lnTo>
                    <a:pt x="96" y="16"/>
                  </a:lnTo>
                  <a:lnTo>
                    <a:pt x="83" y="11"/>
                  </a:lnTo>
                  <a:lnTo>
                    <a:pt x="68" y="9"/>
                  </a:lnTo>
                  <a:lnTo>
                    <a:pt x="52" y="8"/>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0" name="Freeform 154">
              <a:extLst>
                <a:ext uri="{FF2B5EF4-FFF2-40B4-BE49-F238E27FC236}">
                  <a16:creationId xmlns:a16="http://schemas.microsoft.com/office/drawing/2014/main" id="{520F6FEE-727C-B160-7BBF-795DB9DB5BDA}"/>
                </a:ext>
              </a:extLst>
            </p:cNvPr>
            <p:cNvSpPr>
              <a:spLocks/>
            </p:cNvSpPr>
            <p:nvPr/>
          </p:nvSpPr>
          <p:spPr bwMode="auto">
            <a:xfrm>
              <a:off x="1689" y="1903"/>
              <a:ext cx="22" cy="6"/>
            </a:xfrm>
            <a:custGeom>
              <a:avLst/>
              <a:gdLst>
                <a:gd name="T0" fmla="*/ 0 w 14"/>
                <a:gd name="T1" fmla="*/ 179 h 5"/>
                <a:gd name="T2" fmla="*/ 75491 w 14"/>
                <a:gd name="T3" fmla="*/ 2 h 5"/>
                <a:gd name="T4" fmla="*/ 167489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1" name="Freeform 155">
              <a:extLst>
                <a:ext uri="{FF2B5EF4-FFF2-40B4-BE49-F238E27FC236}">
                  <a16:creationId xmlns:a16="http://schemas.microsoft.com/office/drawing/2014/main" id="{0B39440A-6BB5-FA65-B2DC-D8DF16B4B5F8}"/>
                </a:ext>
              </a:extLst>
            </p:cNvPr>
            <p:cNvSpPr>
              <a:spLocks/>
            </p:cNvSpPr>
            <p:nvPr/>
          </p:nvSpPr>
          <p:spPr bwMode="auto">
            <a:xfrm>
              <a:off x="1689" y="1836"/>
              <a:ext cx="136" cy="73"/>
            </a:xfrm>
            <a:custGeom>
              <a:avLst/>
              <a:gdLst>
                <a:gd name="T0" fmla="*/ 2195491 w 83"/>
                <a:gd name="T1" fmla="*/ 94 h 63"/>
                <a:gd name="T2" fmla="*/ 2160471 w 83"/>
                <a:gd name="T3" fmla="*/ 109 h 63"/>
                <a:gd name="T4" fmla="*/ 1987493 w 83"/>
                <a:gd name="T5" fmla="*/ 247 h 63"/>
                <a:gd name="T6" fmla="*/ 1636031 w 83"/>
                <a:gd name="T7" fmla="*/ 394 h 63"/>
                <a:gd name="T8" fmla="*/ 1191799 w 83"/>
                <a:gd name="T9" fmla="*/ 549 h 63"/>
                <a:gd name="T10" fmla="*/ 761179 w 83"/>
                <a:gd name="T11" fmla="*/ 711 h 63"/>
                <a:gd name="T12" fmla="*/ 389068 w 83"/>
                <a:gd name="T13" fmla="*/ 860 h 63"/>
                <a:gd name="T14" fmla="*/ 56548 w 83"/>
                <a:gd name="T15" fmla="*/ 1078 h 63"/>
                <a:gd name="T16" fmla="*/ 0 w 83"/>
                <a:gd name="T17" fmla="*/ 1362 h 63"/>
                <a:gd name="T18" fmla="*/ 407626 w 83"/>
                <a:gd name="T19" fmla="*/ 1283 h 63"/>
                <a:gd name="T20" fmla="*/ 407626 w 83"/>
                <a:gd name="T21" fmla="*/ 1241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7" y="25"/>
                  </a:lnTo>
                  <a:lnTo>
                    <a:pt x="24" y="32"/>
                  </a:lnTo>
                  <a:lnTo>
                    <a:pt x="12" y="40"/>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2" name="Freeform 156">
              <a:extLst>
                <a:ext uri="{FF2B5EF4-FFF2-40B4-BE49-F238E27FC236}">
                  <a16:creationId xmlns:a16="http://schemas.microsoft.com/office/drawing/2014/main" id="{18067189-04C1-2158-3B9E-E3F55DD3A506}"/>
                </a:ext>
              </a:extLst>
            </p:cNvPr>
            <p:cNvSpPr>
              <a:spLocks/>
            </p:cNvSpPr>
            <p:nvPr/>
          </p:nvSpPr>
          <p:spPr bwMode="auto">
            <a:xfrm>
              <a:off x="1650" y="1808"/>
              <a:ext cx="175" cy="34"/>
            </a:xfrm>
            <a:custGeom>
              <a:avLst/>
              <a:gdLst>
                <a:gd name="T0" fmla="*/ 0 w 106"/>
                <a:gd name="T1" fmla="*/ 61 h 30"/>
                <a:gd name="T2" fmla="*/ 341111 w 106"/>
                <a:gd name="T3" fmla="*/ 206 h 30"/>
                <a:gd name="T4" fmla="*/ 804876 w 106"/>
                <a:gd name="T5" fmla="*/ 239 h 30"/>
                <a:gd name="T6" fmla="*/ 1328805 w 106"/>
                <a:gd name="T7" fmla="*/ 271 h 30"/>
                <a:gd name="T8" fmla="*/ 1941196 w 106"/>
                <a:gd name="T9" fmla="*/ 299 h 30"/>
                <a:gd name="T10" fmla="*/ 2534104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2016007 w 106"/>
                <a:gd name="T27" fmla="*/ 113 h 30"/>
                <a:gd name="T28" fmla="*/ 1389091 w 106"/>
                <a:gd name="T29" fmla="*/ 88 h 30"/>
                <a:gd name="T30" fmla="*/ 904506 w 106"/>
                <a:gd name="T31" fmla="*/ 69 h 30"/>
                <a:gd name="T32" fmla="*/ 563155 w 106"/>
                <a:gd name="T33" fmla="*/ 3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4"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3" name="Freeform 157">
              <a:extLst>
                <a:ext uri="{FF2B5EF4-FFF2-40B4-BE49-F238E27FC236}">
                  <a16:creationId xmlns:a16="http://schemas.microsoft.com/office/drawing/2014/main" id="{F49FBA34-5D27-D4AF-389C-6D2B411B2F99}"/>
                </a:ext>
              </a:extLst>
            </p:cNvPr>
            <p:cNvSpPr>
              <a:spLocks/>
            </p:cNvSpPr>
            <p:nvPr/>
          </p:nvSpPr>
          <p:spPr bwMode="auto">
            <a:xfrm>
              <a:off x="1650" y="1741"/>
              <a:ext cx="137" cy="72"/>
            </a:xfrm>
            <a:custGeom>
              <a:avLst/>
              <a:gdLst>
                <a:gd name="T0" fmla="*/ 2566051 w 83"/>
                <a:gd name="T1" fmla="*/ 73 h 63"/>
                <a:gd name="T2" fmla="*/ 2519400 w 83"/>
                <a:gd name="T3" fmla="*/ 83 h 63"/>
                <a:gd name="T4" fmla="*/ 2289995 w 83"/>
                <a:gd name="T5" fmla="*/ 186 h 63"/>
                <a:gd name="T6" fmla="*/ 1894573 w 83"/>
                <a:gd name="T7" fmla="*/ 278 h 63"/>
                <a:gd name="T8" fmla="*/ 1385413 w 83"/>
                <a:gd name="T9" fmla="*/ 415 h 63"/>
                <a:gd name="T10" fmla="*/ 901473 w 83"/>
                <a:gd name="T11" fmla="*/ 530 h 63"/>
                <a:gd name="T12" fmla="*/ 416000 w 83"/>
                <a:gd name="T13" fmla="*/ 637 h 63"/>
                <a:gd name="T14" fmla="*/ 64690 w 83"/>
                <a:gd name="T15" fmla="*/ 808 h 63"/>
                <a:gd name="T16" fmla="*/ 0 w 83"/>
                <a:gd name="T17" fmla="*/ 1032 h 63"/>
                <a:gd name="T18" fmla="*/ 480180 w 83"/>
                <a:gd name="T19" fmla="*/ 951 h 63"/>
                <a:gd name="T20" fmla="*/ 480180 w 83"/>
                <a:gd name="T21" fmla="*/ 923 h 63"/>
                <a:gd name="T22" fmla="*/ 695387 w 83"/>
                <a:gd name="T23" fmla="*/ 823 h 63"/>
                <a:gd name="T24" fmla="*/ 1133388 w 83"/>
                <a:gd name="T25" fmla="*/ 707 h 63"/>
                <a:gd name="T26" fmla="*/ 1639289 w 83"/>
                <a:gd name="T27" fmla="*/ 605 h 63"/>
                <a:gd name="T28" fmla="*/ 2159391 w 83"/>
                <a:gd name="T29" fmla="*/ 474 h 63"/>
                <a:gd name="T30" fmla="*/ 2603804 w 83"/>
                <a:gd name="T31" fmla="*/ 345 h 63"/>
                <a:gd name="T32" fmla="*/ 2976645 w 83"/>
                <a:gd name="T33" fmla="*/ 213 h 63"/>
                <a:gd name="T34" fmla="*/ 3041930 w 83"/>
                <a:gd name="T35" fmla="*/ 0 h 63"/>
                <a:gd name="T36" fmla="*/ 256605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5"/>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4" name="Freeform 158">
              <a:extLst>
                <a:ext uri="{FF2B5EF4-FFF2-40B4-BE49-F238E27FC236}">
                  <a16:creationId xmlns:a16="http://schemas.microsoft.com/office/drawing/2014/main" id="{A3C33B1A-E737-74E5-F032-51EA86D31950}"/>
                </a:ext>
              </a:extLst>
            </p:cNvPr>
            <p:cNvSpPr>
              <a:spLocks/>
            </p:cNvSpPr>
            <p:nvPr/>
          </p:nvSpPr>
          <p:spPr bwMode="auto">
            <a:xfrm>
              <a:off x="1616" y="1715"/>
              <a:ext cx="171" cy="31"/>
            </a:xfrm>
            <a:custGeom>
              <a:avLst/>
              <a:gdLst>
                <a:gd name="T0" fmla="*/ 0 w 104"/>
                <a:gd name="T1" fmla="*/ 249 h 26"/>
                <a:gd name="T2" fmla="*/ 0 w 104"/>
                <a:gd name="T3" fmla="*/ 209 h 26"/>
                <a:gd name="T4" fmla="*/ 271714 w 104"/>
                <a:gd name="T5" fmla="*/ 600 h 26"/>
                <a:gd name="T6" fmla="*/ 734578 w 104"/>
                <a:gd name="T7" fmla="*/ 715 h 26"/>
                <a:gd name="T8" fmla="*/ 1223666 w 104"/>
                <a:gd name="T9" fmla="*/ 715 h 26"/>
                <a:gd name="T10" fmla="*/ 1748953 w 104"/>
                <a:gd name="T11" fmla="*/ 717 h 26"/>
                <a:gd name="T12" fmla="*/ 2266127 w 104"/>
                <a:gd name="T13" fmla="*/ 760 h 26"/>
                <a:gd name="T14" fmla="*/ 2754045 w 104"/>
                <a:gd name="T15" fmla="*/ 855 h 26"/>
                <a:gd name="T16" fmla="*/ 3016486 w 104"/>
                <a:gd name="T17" fmla="*/ 906 h 26"/>
                <a:gd name="T18" fmla="*/ 3087293 w 104"/>
                <a:gd name="T19" fmla="*/ 1019 h 26"/>
                <a:gd name="T20" fmla="*/ 3524433 w 104"/>
                <a:gd name="T21" fmla="*/ 855 h 26"/>
                <a:gd name="T22" fmla="*/ 3265324 w 104"/>
                <a:gd name="T23" fmla="*/ 503 h 26"/>
                <a:gd name="T24" fmla="*/ 2817034 w 104"/>
                <a:gd name="T25" fmla="*/ 354 h 26"/>
                <a:gd name="T26" fmla="*/ 2300055 w 104"/>
                <a:gd name="T27" fmla="*/ 249 h 26"/>
                <a:gd name="T28" fmla="*/ 1748953 w 104"/>
                <a:gd name="T29" fmla="*/ 209 h 26"/>
                <a:gd name="T30" fmla="*/ 1223666 w 104"/>
                <a:gd name="T31" fmla="*/ 175 h 26"/>
                <a:gd name="T32" fmla="*/ 744218 w 104"/>
                <a:gd name="T33" fmla="*/ 175 h 26"/>
                <a:gd name="T34" fmla="*/ 478846 w 104"/>
                <a:gd name="T35" fmla="*/ 2 h 26"/>
                <a:gd name="T36" fmla="*/ 446761 w 104"/>
                <a:gd name="T37" fmla="*/ 1 h 26"/>
                <a:gd name="T38" fmla="*/ 416512 w 104"/>
                <a:gd name="T39" fmla="*/ 0 h 26"/>
                <a:gd name="T40" fmla="*/ 446761 w 104"/>
                <a:gd name="T41" fmla="*/ 1 h 26"/>
                <a:gd name="T42" fmla="*/ 416512 w 104"/>
                <a:gd name="T43" fmla="*/ 0 h 26"/>
                <a:gd name="T44" fmla="*/ 0 w 104"/>
                <a:gd name="T45" fmla="*/ 249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6"/>
                <a:gd name="T71" fmla="*/ 104 w 104"/>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6">
                  <a:moveTo>
                    <a:pt x="0" y="6"/>
                  </a:moveTo>
                  <a:lnTo>
                    <a:pt x="0" y="5"/>
                  </a:lnTo>
                  <a:lnTo>
                    <a:pt x="8" y="14"/>
                  </a:lnTo>
                  <a:lnTo>
                    <a:pt x="21" y="17"/>
                  </a:lnTo>
                  <a:lnTo>
                    <a:pt x="36" y="17"/>
                  </a:lnTo>
                  <a:lnTo>
                    <a:pt x="51" y="18"/>
                  </a:lnTo>
                  <a:lnTo>
                    <a:pt x="66" y="19"/>
                  </a:lnTo>
                  <a:lnTo>
                    <a:pt x="80" y="21"/>
                  </a:lnTo>
                  <a:lnTo>
                    <a:pt x="88" y="23"/>
                  </a:lnTo>
                  <a:lnTo>
                    <a:pt x="90" y="25"/>
                  </a:lnTo>
                  <a:lnTo>
                    <a:pt x="103" y="21"/>
                  </a:lnTo>
                  <a:lnTo>
                    <a:pt x="95" y="12"/>
                  </a:lnTo>
                  <a:lnTo>
                    <a:pt x="82" y="8"/>
                  </a:lnTo>
                  <a:lnTo>
                    <a:pt x="67" y="6"/>
                  </a:lnTo>
                  <a:lnTo>
                    <a:pt x="51" y="5"/>
                  </a:lnTo>
                  <a:lnTo>
                    <a:pt x="36" y="4"/>
                  </a:lnTo>
                  <a:lnTo>
                    <a:pt x="22" y="4"/>
                  </a:lnTo>
                  <a:lnTo>
                    <a:pt x="14" y="2"/>
                  </a:lnTo>
                  <a:lnTo>
                    <a:pt x="13" y="1"/>
                  </a:lnTo>
                  <a:lnTo>
                    <a:pt x="12" y="0"/>
                  </a:lnTo>
                  <a:lnTo>
                    <a:pt x="13" y="1"/>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5" name="Freeform 159">
              <a:extLst>
                <a:ext uri="{FF2B5EF4-FFF2-40B4-BE49-F238E27FC236}">
                  <a16:creationId xmlns:a16="http://schemas.microsoft.com/office/drawing/2014/main" id="{2633987D-9213-5B30-6B8A-2E667BD95098}"/>
                </a:ext>
              </a:extLst>
            </p:cNvPr>
            <p:cNvSpPr>
              <a:spLocks/>
            </p:cNvSpPr>
            <p:nvPr/>
          </p:nvSpPr>
          <p:spPr bwMode="auto">
            <a:xfrm>
              <a:off x="1614" y="1714"/>
              <a:ext cx="23" cy="11"/>
            </a:xfrm>
            <a:custGeom>
              <a:avLst/>
              <a:gdLst>
                <a:gd name="T0" fmla="*/ 0 w 14"/>
                <a:gd name="T1" fmla="*/ 323 h 9"/>
                <a:gd name="T2" fmla="*/ 0 w 14"/>
                <a:gd name="T3" fmla="*/ 483 h 9"/>
                <a:gd name="T4" fmla="*/ 36728 w 14"/>
                <a:gd name="T5" fmla="*/ 543 h 9"/>
                <a:gd name="T6" fmla="*/ 439537 w 14"/>
                <a:gd name="T7" fmla="*/ 1 h 9"/>
                <a:gd name="T8" fmla="*/ 410755 w 14"/>
                <a:gd name="T9" fmla="*/ 0 h 9"/>
                <a:gd name="T10" fmla="*/ 439537 w 14"/>
                <a:gd name="T11" fmla="*/ 1 h 9"/>
                <a:gd name="T12" fmla="*/ 0 w 14"/>
                <a:gd name="T13" fmla="*/ 323 h 9"/>
                <a:gd name="T14" fmla="*/ 0 w 14"/>
                <a:gd name="T15" fmla="*/ 395 h 9"/>
                <a:gd name="T16" fmla="*/ 0 w 14"/>
                <a:gd name="T17" fmla="*/ 483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6" name="Freeform 160">
              <a:extLst>
                <a:ext uri="{FF2B5EF4-FFF2-40B4-BE49-F238E27FC236}">
                  <a16:creationId xmlns:a16="http://schemas.microsoft.com/office/drawing/2014/main" id="{FAE608D4-4704-AE5E-CEC9-80016832AAB4}"/>
                </a:ext>
              </a:extLst>
            </p:cNvPr>
            <p:cNvSpPr>
              <a:spLocks/>
            </p:cNvSpPr>
            <p:nvPr/>
          </p:nvSpPr>
          <p:spPr bwMode="auto">
            <a:xfrm>
              <a:off x="1614" y="1649"/>
              <a:ext cx="136" cy="72"/>
            </a:xfrm>
            <a:custGeom>
              <a:avLst/>
              <a:gdLst>
                <a:gd name="T0" fmla="*/ 2195491 w 83"/>
                <a:gd name="T1" fmla="*/ 73 h 63"/>
                <a:gd name="T2" fmla="*/ 2160471 w 83"/>
                <a:gd name="T3" fmla="*/ 109 h 63"/>
                <a:gd name="T4" fmla="*/ 1987493 w 83"/>
                <a:gd name="T5" fmla="*/ 202 h 63"/>
                <a:gd name="T6" fmla="*/ 1654163 w 83"/>
                <a:gd name="T7" fmla="*/ 318 h 63"/>
                <a:gd name="T8" fmla="*/ 1212955 w 83"/>
                <a:gd name="T9" fmla="*/ 426 h 63"/>
                <a:gd name="T10" fmla="*/ 761179 w 83"/>
                <a:gd name="T11" fmla="*/ 542 h 63"/>
                <a:gd name="T12" fmla="*/ 389068 w 83"/>
                <a:gd name="T13" fmla="*/ 691 h 63"/>
                <a:gd name="T14" fmla="*/ 92657 w 83"/>
                <a:gd name="T15" fmla="*/ 808 h 63"/>
                <a:gd name="T16" fmla="*/ 0 w 83"/>
                <a:gd name="T17" fmla="*/ 1032 h 63"/>
                <a:gd name="T18" fmla="*/ 407626 w 83"/>
                <a:gd name="T19" fmla="*/ 951 h 63"/>
                <a:gd name="T20" fmla="*/ 451776 w 83"/>
                <a:gd name="T21" fmla="*/ 941 h 63"/>
                <a:gd name="T22" fmla="*/ 637509 w 83"/>
                <a:gd name="T23" fmla="*/ 832 h 63"/>
                <a:gd name="T24" fmla="*/ 998460 w 83"/>
                <a:gd name="T25" fmla="*/ 728 h 63"/>
                <a:gd name="T26" fmla="*/ 1434145 w 83"/>
                <a:gd name="T27" fmla="*/ 619 h 63"/>
                <a:gd name="T28" fmla="*/ 1855348 w 83"/>
                <a:gd name="T29" fmla="*/ 514 h 63"/>
                <a:gd name="T30" fmla="*/ 2257806 w 83"/>
                <a:gd name="T31" fmla="*/ 373 h 63"/>
                <a:gd name="T32" fmla="*/ 2549956 w 83"/>
                <a:gd name="T33" fmla="*/ 213 h 63"/>
                <a:gd name="T34" fmla="*/ 2609697 w 83"/>
                <a:gd name="T35" fmla="*/ 0 h 63"/>
                <a:gd name="T36" fmla="*/ 219549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7" name="Freeform 161">
              <a:extLst>
                <a:ext uri="{FF2B5EF4-FFF2-40B4-BE49-F238E27FC236}">
                  <a16:creationId xmlns:a16="http://schemas.microsoft.com/office/drawing/2014/main" id="{400298C0-EBC0-03A9-43AA-09A546ECBC91}"/>
                </a:ext>
              </a:extLst>
            </p:cNvPr>
            <p:cNvSpPr>
              <a:spLocks/>
            </p:cNvSpPr>
            <p:nvPr/>
          </p:nvSpPr>
          <p:spPr bwMode="auto">
            <a:xfrm>
              <a:off x="1586" y="1601"/>
              <a:ext cx="164" cy="53"/>
            </a:xfrm>
            <a:custGeom>
              <a:avLst/>
              <a:gdLst>
                <a:gd name="T0" fmla="*/ 0 w 100"/>
                <a:gd name="T1" fmla="*/ 89 h 46"/>
                <a:gd name="T2" fmla="*/ 252478 w 100"/>
                <a:gd name="T3" fmla="*/ 279 h 46"/>
                <a:gd name="T4" fmla="*/ 618874 w 100"/>
                <a:gd name="T5" fmla="*/ 385 h 46"/>
                <a:gd name="T6" fmla="*/ 1074074 w 100"/>
                <a:gd name="T7" fmla="*/ 494 h 46"/>
                <a:gd name="T8" fmla="*/ 1565657 w 100"/>
                <a:gd name="T9" fmla="*/ 569 h 46"/>
                <a:gd name="T10" fmla="*/ 2015065 w 100"/>
                <a:gd name="T11" fmla="*/ 656 h 46"/>
                <a:gd name="T12" fmla="*/ 2439375 w 100"/>
                <a:gd name="T13" fmla="*/ 751 h 46"/>
                <a:gd name="T14" fmla="*/ 2694894 w 100"/>
                <a:gd name="T15" fmla="*/ 783 h 46"/>
                <a:gd name="T16" fmla="*/ 2793637 w 100"/>
                <a:gd name="T17" fmla="*/ 891 h 46"/>
                <a:gd name="T18" fmla="*/ 3211983 w 100"/>
                <a:gd name="T19" fmla="*/ 783 h 46"/>
                <a:gd name="T20" fmla="*/ 2995319 w 100"/>
                <a:gd name="T21" fmla="*/ 590 h 46"/>
                <a:gd name="T22" fmla="*/ 2601443 w 100"/>
                <a:gd name="T23" fmla="*/ 491 h 46"/>
                <a:gd name="T24" fmla="*/ 2139329 w 100"/>
                <a:gd name="T25" fmla="*/ 385 h 46"/>
                <a:gd name="T26" fmla="*/ 1664523 w 100"/>
                <a:gd name="T27" fmla="*/ 321 h 46"/>
                <a:gd name="T28" fmla="*/ 1171885 w 100"/>
                <a:gd name="T29" fmla="*/ 242 h 46"/>
                <a:gd name="T30" fmla="*/ 771874 w 100"/>
                <a:gd name="T31" fmla="*/ 137 h 46"/>
                <a:gd name="T32" fmla="*/ 521648 w 100"/>
                <a:gd name="T33" fmla="*/ 3 h 46"/>
                <a:gd name="T34" fmla="*/ 414064 w 100"/>
                <a:gd name="T35" fmla="*/ 0 h 46"/>
                <a:gd name="T36" fmla="*/ 0 w 100"/>
                <a:gd name="T37" fmla="*/ 89 h 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0"/>
                <a:gd name="T58" fmla="*/ 0 h 46"/>
                <a:gd name="T59" fmla="*/ 100 w 100"/>
                <a:gd name="T60" fmla="*/ 46 h 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0" h="46">
                  <a:moveTo>
                    <a:pt x="0" y="4"/>
                  </a:moveTo>
                  <a:lnTo>
                    <a:pt x="8" y="14"/>
                  </a:lnTo>
                  <a:lnTo>
                    <a:pt x="19" y="20"/>
                  </a:lnTo>
                  <a:lnTo>
                    <a:pt x="33" y="25"/>
                  </a:lnTo>
                  <a:lnTo>
                    <a:pt x="48" y="29"/>
                  </a:lnTo>
                  <a:lnTo>
                    <a:pt x="62" y="33"/>
                  </a:lnTo>
                  <a:lnTo>
                    <a:pt x="75" y="37"/>
                  </a:lnTo>
                  <a:lnTo>
                    <a:pt x="83" y="41"/>
                  </a:lnTo>
                  <a:lnTo>
                    <a:pt x="86" y="45"/>
                  </a:lnTo>
                  <a:lnTo>
                    <a:pt x="99" y="41"/>
                  </a:lnTo>
                  <a:lnTo>
                    <a:pt x="92" y="31"/>
                  </a:lnTo>
                  <a:lnTo>
                    <a:pt x="80" y="24"/>
                  </a:lnTo>
                  <a:lnTo>
                    <a:pt x="66" y="20"/>
                  </a:lnTo>
                  <a:lnTo>
                    <a:pt x="51" y="16"/>
                  </a:lnTo>
                  <a:lnTo>
                    <a:pt x="36" y="12"/>
                  </a:lnTo>
                  <a:lnTo>
                    <a:pt x="24" y="7"/>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8" name="Freeform 162">
              <a:extLst>
                <a:ext uri="{FF2B5EF4-FFF2-40B4-BE49-F238E27FC236}">
                  <a16:creationId xmlns:a16="http://schemas.microsoft.com/office/drawing/2014/main" id="{7E4593C2-1372-C962-CC4C-A849738168A3}"/>
                </a:ext>
              </a:extLst>
            </p:cNvPr>
            <p:cNvSpPr>
              <a:spLocks/>
            </p:cNvSpPr>
            <p:nvPr/>
          </p:nvSpPr>
          <p:spPr bwMode="auto">
            <a:xfrm>
              <a:off x="1586" y="1553"/>
              <a:ext cx="128" cy="55"/>
            </a:xfrm>
            <a:custGeom>
              <a:avLst/>
              <a:gdLst>
                <a:gd name="T0" fmla="*/ 2736711 w 77"/>
                <a:gd name="T1" fmla="*/ 121 h 47"/>
                <a:gd name="T2" fmla="*/ 2669048 w 77"/>
                <a:gd name="T3" fmla="*/ 142 h 47"/>
                <a:gd name="T4" fmla="*/ 2468611 w 77"/>
                <a:gd name="T5" fmla="*/ 266 h 47"/>
                <a:gd name="T6" fmla="*/ 2074799 w 77"/>
                <a:gd name="T7" fmla="*/ 364 h 47"/>
                <a:gd name="T8" fmla="*/ 1560232 w 77"/>
                <a:gd name="T9" fmla="*/ 455 h 47"/>
                <a:gd name="T10" fmla="*/ 965868 w 77"/>
                <a:gd name="T11" fmla="*/ 584 h 47"/>
                <a:gd name="T12" fmla="*/ 468364 w 77"/>
                <a:gd name="T13" fmla="*/ 729 h 47"/>
                <a:gd name="T14" fmla="*/ 76089 w 77"/>
                <a:gd name="T15" fmla="*/ 935 h 47"/>
                <a:gd name="T16" fmla="*/ 0 w 77"/>
                <a:gd name="T17" fmla="*/ 1263 h 47"/>
                <a:gd name="T18" fmla="*/ 581030 w 77"/>
                <a:gd name="T19" fmla="*/ 1120 h 47"/>
                <a:gd name="T20" fmla="*/ 778579 w 77"/>
                <a:gd name="T21" fmla="*/ 1009 h 47"/>
                <a:gd name="T22" fmla="*/ 1220468 w 77"/>
                <a:gd name="T23" fmla="*/ 935 h 47"/>
                <a:gd name="T24" fmla="*/ 1716412 w 77"/>
                <a:gd name="T25" fmla="*/ 813 h 47"/>
                <a:gd name="T26" fmla="*/ 2285111 w 77"/>
                <a:gd name="T27" fmla="*/ 695 h 47"/>
                <a:gd name="T28" fmla="*/ 2753694 w 77"/>
                <a:gd name="T29" fmla="*/ 584 h 47"/>
                <a:gd name="T30" fmla="*/ 3189403 w 77"/>
                <a:gd name="T31" fmla="*/ 364 h 47"/>
                <a:gd name="T32" fmla="*/ 3260700 w 77"/>
                <a:gd name="T33" fmla="*/ 0 h 47"/>
                <a:gd name="T34" fmla="*/ 2736711 w 77"/>
                <a:gd name="T35" fmla="*/ 121 h 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7"/>
                <a:gd name="T55" fmla="*/ 0 h 47"/>
                <a:gd name="T56" fmla="*/ 77 w 77"/>
                <a:gd name="T57" fmla="*/ 47 h 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7" h="47">
                  <a:moveTo>
                    <a:pt x="63" y="4"/>
                  </a:moveTo>
                  <a:lnTo>
                    <a:pt x="62" y="5"/>
                  </a:lnTo>
                  <a:lnTo>
                    <a:pt x="57" y="9"/>
                  </a:lnTo>
                  <a:lnTo>
                    <a:pt x="48" y="13"/>
                  </a:lnTo>
                  <a:lnTo>
                    <a:pt x="36" y="17"/>
                  </a:lnTo>
                  <a:lnTo>
                    <a:pt x="22" y="21"/>
                  </a:lnTo>
                  <a:lnTo>
                    <a:pt x="11" y="27"/>
                  </a:lnTo>
                  <a:lnTo>
                    <a:pt x="2" y="34"/>
                  </a:lnTo>
                  <a:lnTo>
                    <a:pt x="0" y="46"/>
                  </a:lnTo>
                  <a:lnTo>
                    <a:pt x="13" y="42"/>
                  </a:lnTo>
                  <a:lnTo>
                    <a:pt x="18" y="38"/>
                  </a:lnTo>
                  <a:lnTo>
                    <a:pt x="28" y="34"/>
                  </a:lnTo>
                  <a:lnTo>
                    <a:pt x="40" y="30"/>
                  </a:lnTo>
                  <a:lnTo>
                    <a:pt x="53" y="26"/>
                  </a:lnTo>
                  <a:lnTo>
                    <a:pt x="64" y="21"/>
                  </a:lnTo>
                  <a:lnTo>
                    <a:pt x="74" y="13"/>
                  </a:lnTo>
                  <a:lnTo>
                    <a:pt x="76" y="0"/>
                  </a:lnTo>
                  <a:lnTo>
                    <a:pt x="6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69" name="Freeform 163">
              <a:extLst>
                <a:ext uri="{FF2B5EF4-FFF2-40B4-BE49-F238E27FC236}">
                  <a16:creationId xmlns:a16="http://schemas.microsoft.com/office/drawing/2014/main" id="{677D3A79-9182-5671-166E-E13362B395B1}"/>
                </a:ext>
              </a:extLst>
            </p:cNvPr>
            <p:cNvSpPr>
              <a:spLocks/>
            </p:cNvSpPr>
            <p:nvPr/>
          </p:nvSpPr>
          <p:spPr bwMode="auto">
            <a:xfrm>
              <a:off x="1539" y="1526"/>
              <a:ext cx="175" cy="33"/>
            </a:xfrm>
            <a:custGeom>
              <a:avLst/>
              <a:gdLst>
                <a:gd name="T0" fmla="*/ 0 w 106"/>
                <a:gd name="T1" fmla="*/ 68 h 29"/>
                <a:gd name="T2" fmla="*/ 291842 w 106"/>
                <a:gd name="T3" fmla="*/ 191 h 29"/>
                <a:gd name="T4" fmla="*/ 795449 w 106"/>
                <a:gd name="T5" fmla="*/ 247 h 29"/>
                <a:gd name="T6" fmla="*/ 1328805 w 106"/>
                <a:gd name="T7" fmla="*/ 281 h 29"/>
                <a:gd name="T8" fmla="*/ 1899835 w 106"/>
                <a:gd name="T9" fmla="*/ 306 h 29"/>
                <a:gd name="T10" fmla="*/ 2534104 w 106"/>
                <a:gd name="T11" fmla="*/ 316 h 29"/>
                <a:gd name="T12" fmla="*/ 3033331 w 106"/>
                <a:gd name="T13" fmla="*/ 348 h 29"/>
                <a:gd name="T14" fmla="*/ 3328313 w 106"/>
                <a:gd name="T15" fmla="*/ 396 h 29"/>
                <a:gd name="T16" fmla="*/ 3435385 w 106"/>
                <a:gd name="T17" fmla="*/ 414 h 29"/>
                <a:gd name="T18" fmla="*/ 3917132 w 106"/>
                <a:gd name="T19" fmla="*/ 360 h 29"/>
                <a:gd name="T20" fmla="*/ 3621810 w 106"/>
                <a:gd name="T21" fmla="*/ 207 h 29"/>
                <a:gd name="T22" fmla="*/ 3097518 w 106"/>
                <a:gd name="T23" fmla="*/ 148 h 29"/>
                <a:gd name="T24" fmla="*/ 2573651 w 106"/>
                <a:gd name="T25" fmla="*/ 114 h 29"/>
                <a:gd name="T26" fmla="*/ 1984779 w 106"/>
                <a:gd name="T27" fmla="*/ 100 h 29"/>
                <a:gd name="T28" fmla="*/ 1389091 w 106"/>
                <a:gd name="T29" fmla="*/ 88 h 29"/>
                <a:gd name="T30" fmla="*/ 864949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1" y="20"/>
                  </a:lnTo>
                  <a:lnTo>
                    <a:pt x="68" y="21"/>
                  </a:lnTo>
                  <a:lnTo>
                    <a:pt x="81" y="23"/>
                  </a:lnTo>
                  <a:lnTo>
                    <a:pt x="89" y="26"/>
                  </a:lnTo>
                  <a:lnTo>
                    <a:pt x="92" y="28"/>
                  </a:lnTo>
                  <a:lnTo>
                    <a:pt x="105" y="24"/>
                  </a:lnTo>
                  <a:lnTo>
                    <a:pt x="97" y="14"/>
                  </a:lnTo>
                  <a:lnTo>
                    <a:pt x="83" y="10"/>
                  </a:lnTo>
                  <a:lnTo>
                    <a:pt x="69" y="8"/>
                  </a:lnTo>
                  <a:lnTo>
                    <a:pt x="53"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0" name="Freeform 164">
              <a:extLst>
                <a:ext uri="{FF2B5EF4-FFF2-40B4-BE49-F238E27FC236}">
                  <a16:creationId xmlns:a16="http://schemas.microsoft.com/office/drawing/2014/main" id="{2F1A8EB4-5A27-26E9-E6AB-68BFFF40F27D}"/>
                </a:ext>
              </a:extLst>
            </p:cNvPr>
            <p:cNvSpPr>
              <a:spLocks/>
            </p:cNvSpPr>
            <p:nvPr/>
          </p:nvSpPr>
          <p:spPr bwMode="auto">
            <a:xfrm>
              <a:off x="1539" y="1464"/>
              <a:ext cx="138" cy="66"/>
            </a:xfrm>
            <a:custGeom>
              <a:avLst/>
              <a:gdLst>
                <a:gd name="T0" fmla="*/ 2353327 w 84"/>
                <a:gd name="T1" fmla="*/ 68 h 58"/>
                <a:gd name="T2" fmla="*/ 2325254 w 84"/>
                <a:gd name="T3" fmla="*/ 68 h 58"/>
                <a:gd name="T4" fmla="*/ 2114707 w 84"/>
                <a:gd name="T5" fmla="*/ 114 h 58"/>
                <a:gd name="T6" fmla="*/ 1725639 w 84"/>
                <a:gd name="T7" fmla="*/ 217 h 58"/>
                <a:gd name="T8" fmla="*/ 1275230 w 84"/>
                <a:gd name="T9" fmla="*/ 316 h 58"/>
                <a:gd name="T10" fmla="*/ 797119 w 84"/>
                <a:gd name="T11" fmla="*/ 414 h 58"/>
                <a:gd name="T12" fmla="*/ 368478 w 84"/>
                <a:gd name="T13" fmla="*/ 531 h 58"/>
                <a:gd name="T14" fmla="*/ 36728 w 84"/>
                <a:gd name="T15" fmla="*/ 667 h 58"/>
                <a:gd name="T16" fmla="*/ 0 w 84"/>
                <a:gd name="T17" fmla="*/ 861 h 58"/>
                <a:gd name="T18" fmla="*/ 439537 w 84"/>
                <a:gd name="T19" fmla="*/ 790 h 58"/>
                <a:gd name="T20" fmla="*/ 439537 w 84"/>
                <a:gd name="T21" fmla="*/ 759 h 58"/>
                <a:gd name="T22" fmla="*/ 639367 w 84"/>
                <a:gd name="T23" fmla="*/ 667 h 58"/>
                <a:gd name="T24" fmla="*/ 994515 w 84"/>
                <a:gd name="T25" fmla="*/ 584 h 58"/>
                <a:gd name="T26" fmla="*/ 1458819 w 84"/>
                <a:gd name="T27" fmla="*/ 506 h 58"/>
                <a:gd name="T28" fmla="*/ 1948925 w 84"/>
                <a:gd name="T29" fmla="*/ 410 h 58"/>
                <a:gd name="T30" fmla="*/ 2353327 w 84"/>
                <a:gd name="T31" fmla="*/ 306 h 58"/>
                <a:gd name="T32" fmla="*/ 2676132 w 84"/>
                <a:gd name="T33" fmla="*/ 182 h 58"/>
                <a:gd name="T34" fmla="*/ 2779841 w 84"/>
                <a:gd name="T35" fmla="*/ 0 h 58"/>
                <a:gd name="T36" fmla="*/ 2353327 w 84"/>
                <a:gd name="T37" fmla="*/ 68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4"/>
                  </a:moveTo>
                  <a:lnTo>
                    <a:pt x="69" y="4"/>
                  </a:lnTo>
                  <a:lnTo>
                    <a:pt x="63" y="8"/>
                  </a:lnTo>
                  <a:lnTo>
                    <a:pt x="51" y="15"/>
                  </a:lnTo>
                  <a:lnTo>
                    <a:pt x="38" y="21"/>
                  </a:lnTo>
                  <a:lnTo>
                    <a:pt x="24" y="28"/>
                  </a:lnTo>
                  <a:lnTo>
                    <a:pt x="11" y="35"/>
                  </a:lnTo>
                  <a:lnTo>
                    <a:pt x="1" y="45"/>
                  </a:lnTo>
                  <a:lnTo>
                    <a:pt x="0" y="57"/>
                  </a:lnTo>
                  <a:lnTo>
                    <a:pt x="13" y="53"/>
                  </a:lnTo>
                  <a:lnTo>
                    <a:pt x="13" y="51"/>
                  </a:lnTo>
                  <a:lnTo>
                    <a:pt x="19" y="45"/>
                  </a:lnTo>
                  <a:lnTo>
                    <a:pt x="30" y="39"/>
                  </a:lnTo>
                  <a:lnTo>
                    <a:pt x="43" y="33"/>
                  </a:lnTo>
                  <a:lnTo>
                    <a:pt x="58" y="27"/>
                  </a:lnTo>
                  <a:lnTo>
                    <a:pt x="70" y="20"/>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71" name="Freeform 165">
              <a:extLst>
                <a:ext uri="{FF2B5EF4-FFF2-40B4-BE49-F238E27FC236}">
                  <a16:creationId xmlns:a16="http://schemas.microsoft.com/office/drawing/2014/main" id="{DAF2710E-EA94-703F-E7BE-EE617A6790D4}"/>
                </a:ext>
              </a:extLst>
            </p:cNvPr>
            <p:cNvSpPr>
              <a:spLocks/>
            </p:cNvSpPr>
            <p:nvPr/>
          </p:nvSpPr>
          <p:spPr bwMode="auto">
            <a:xfrm>
              <a:off x="2376" y="3603"/>
              <a:ext cx="115" cy="142"/>
            </a:xfrm>
            <a:custGeom>
              <a:avLst/>
              <a:gdLst>
                <a:gd name="T0" fmla="*/ 1345633 w 70"/>
                <a:gd name="T1" fmla="*/ 529 h 124"/>
                <a:gd name="T2" fmla="*/ 2294899 w 70"/>
                <a:gd name="T3" fmla="*/ 0 h 124"/>
                <a:gd name="T4" fmla="*/ 2325254 w 70"/>
                <a:gd name="T5" fmla="*/ 1 h 124"/>
                <a:gd name="T6" fmla="*/ 2114707 w 70"/>
                <a:gd name="T7" fmla="*/ 1074 h 124"/>
                <a:gd name="T8" fmla="*/ 2151409 w 70"/>
                <a:gd name="T9" fmla="*/ 1198 h 124"/>
                <a:gd name="T10" fmla="*/ 2151409 w 70"/>
                <a:gd name="T11" fmla="*/ 1334 h 124"/>
                <a:gd name="T12" fmla="*/ 2151409 w 70"/>
                <a:gd name="T13" fmla="*/ 1470 h 124"/>
                <a:gd name="T14" fmla="*/ 2196006 w 70"/>
                <a:gd name="T15" fmla="*/ 1614 h 124"/>
                <a:gd name="T16" fmla="*/ 2210683 w 70"/>
                <a:gd name="T17" fmla="*/ 1737 h 124"/>
                <a:gd name="T18" fmla="*/ 2210683 w 70"/>
                <a:gd name="T19" fmla="*/ 1873 h 124"/>
                <a:gd name="T20" fmla="*/ 2210683 w 70"/>
                <a:gd name="T21" fmla="*/ 1989 h 124"/>
                <a:gd name="T22" fmla="*/ 2258973 w 70"/>
                <a:gd name="T23" fmla="*/ 2116 h 124"/>
                <a:gd name="T24" fmla="*/ 2114707 w 70"/>
                <a:gd name="T25" fmla="*/ 2004 h 124"/>
                <a:gd name="T26" fmla="*/ 2036691 w 70"/>
                <a:gd name="T27" fmla="*/ 1891 h 124"/>
                <a:gd name="T28" fmla="*/ 1883894 w 70"/>
                <a:gd name="T29" fmla="*/ 1791 h 124"/>
                <a:gd name="T30" fmla="*/ 1786333 w 70"/>
                <a:gd name="T31" fmla="*/ 1673 h 124"/>
                <a:gd name="T32" fmla="*/ 1633846 w 70"/>
                <a:gd name="T33" fmla="*/ 1528 h 124"/>
                <a:gd name="T34" fmla="*/ 1524090 w 70"/>
                <a:gd name="T35" fmla="*/ 1439 h 124"/>
                <a:gd name="T36" fmla="*/ 1375027 w 70"/>
                <a:gd name="T37" fmla="*/ 1325 h 124"/>
                <a:gd name="T38" fmla="*/ 1275230 w 70"/>
                <a:gd name="T39" fmla="*/ 1193 h 124"/>
                <a:gd name="T40" fmla="*/ 0 w 70"/>
                <a:gd name="T41" fmla="*/ 363 h 124"/>
                <a:gd name="T42" fmla="*/ 36728 w 70"/>
                <a:gd name="T43" fmla="*/ 328 h 124"/>
                <a:gd name="T44" fmla="*/ 1345633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1"/>
                  </a:lnTo>
                  <a:lnTo>
                    <a:pt x="63" y="62"/>
                  </a:lnTo>
                  <a:lnTo>
                    <a:pt x="64" y="70"/>
                  </a:lnTo>
                  <a:lnTo>
                    <a:pt x="64" y="78"/>
                  </a:lnTo>
                  <a:lnTo>
                    <a:pt x="64" y="86"/>
                  </a:lnTo>
                  <a:lnTo>
                    <a:pt x="65" y="93"/>
                  </a:lnTo>
                  <a:lnTo>
                    <a:pt x="66" y="100"/>
                  </a:lnTo>
                  <a:lnTo>
                    <a:pt x="66" y="108"/>
                  </a:lnTo>
                  <a:lnTo>
                    <a:pt x="66" y="115"/>
                  </a:lnTo>
                  <a:lnTo>
                    <a:pt x="67" y="123"/>
                  </a:lnTo>
                  <a:lnTo>
                    <a:pt x="63" y="117"/>
                  </a:lnTo>
                  <a:lnTo>
                    <a:pt x="60" y="110"/>
                  </a:lnTo>
                  <a:lnTo>
                    <a:pt x="56" y="103"/>
                  </a:lnTo>
                  <a:lnTo>
                    <a:pt x="53" y="97"/>
                  </a:lnTo>
                  <a:lnTo>
                    <a:pt x="49" y="89"/>
                  </a:lnTo>
                  <a:lnTo>
                    <a:pt x="45" y="83"/>
                  </a:lnTo>
                  <a:lnTo>
                    <a:pt x="41" y="76"/>
                  </a:lnTo>
                  <a:lnTo>
                    <a:pt x="38" y="69"/>
                  </a:lnTo>
                  <a:lnTo>
                    <a:pt x="0" y="21"/>
                  </a:lnTo>
                  <a:lnTo>
                    <a:pt x="1"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grpSp>
        <p:nvGrpSpPr>
          <p:cNvPr id="5" name="Group 166">
            <a:extLst>
              <a:ext uri="{FF2B5EF4-FFF2-40B4-BE49-F238E27FC236}">
                <a16:creationId xmlns:a16="http://schemas.microsoft.com/office/drawing/2014/main" id="{377EF9E9-906B-E862-DCA9-AB8E52F4F2B7}"/>
              </a:ext>
            </a:extLst>
          </p:cNvPr>
          <p:cNvGrpSpPr>
            <a:grpSpLocks/>
          </p:cNvGrpSpPr>
          <p:nvPr/>
        </p:nvGrpSpPr>
        <p:grpSpPr bwMode="auto">
          <a:xfrm>
            <a:off x="2509838" y="2538473"/>
            <a:ext cx="1762125" cy="2151063"/>
            <a:chOff x="1943" y="1436"/>
            <a:chExt cx="1374" cy="1581"/>
          </a:xfrm>
        </p:grpSpPr>
        <p:sp>
          <p:nvSpPr>
            <p:cNvPr id="22648" name="Freeform 167">
              <a:extLst>
                <a:ext uri="{FF2B5EF4-FFF2-40B4-BE49-F238E27FC236}">
                  <a16:creationId xmlns:a16="http://schemas.microsoft.com/office/drawing/2014/main" id="{35E4D45A-1ED2-F117-0E4B-188723C7953C}"/>
                </a:ext>
              </a:extLst>
            </p:cNvPr>
            <p:cNvSpPr>
              <a:spLocks/>
            </p:cNvSpPr>
            <p:nvPr/>
          </p:nvSpPr>
          <p:spPr bwMode="auto">
            <a:xfrm>
              <a:off x="3182" y="1825"/>
              <a:ext cx="135" cy="124"/>
            </a:xfrm>
            <a:custGeom>
              <a:avLst/>
              <a:gdLst>
                <a:gd name="T0" fmla="*/ 1454339 w 82"/>
                <a:gd name="T1" fmla="*/ 1412 h 108"/>
                <a:gd name="T2" fmla="*/ 0 w 82"/>
                <a:gd name="T3" fmla="*/ 1480 h 108"/>
                <a:gd name="T4" fmla="*/ 1549621 w 82"/>
                <a:gd name="T5" fmla="*/ 758 h 108"/>
                <a:gd name="T6" fmla="*/ 1689515 w 82"/>
                <a:gd name="T7" fmla="*/ 708 h 108"/>
                <a:gd name="T8" fmla="*/ 1856077 w 82"/>
                <a:gd name="T9" fmla="*/ 571 h 108"/>
                <a:gd name="T10" fmla="*/ 2013884 w 82"/>
                <a:gd name="T11" fmla="*/ 493 h 108"/>
                <a:gd name="T12" fmla="*/ 2225992 w 82"/>
                <a:gd name="T13" fmla="*/ 408 h 108"/>
                <a:gd name="T14" fmla="*/ 2353109 w 82"/>
                <a:gd name="T15" fmla="*/ 286 h 108"/>
                <a:gd name="T16" fmla="*/ 2551205 w 82"/>
                <a:gd name="T17" fmla="*/ 207 h 108"/>
                <a:gd name="T18" fmla="*/ 2677154 w 82"/>
                <a:gd name="T19" fmla="*/ 91 h 108"/>
                <a:gd name="T20" fmla="*/ 2848938 w 82"/>
                <a:gd name="T21" fmla="*/ 0 h 108"/>
                <a:gd name="T22" fmla="*/ 2781519 w 82"/>
                <a:gd name="T23" fmla="*/ 119 h 108"/>
                <a:gd name="T24" fmla="*/ 2739716 w 82"/>
                <a:gd name="T25" fmla="*/ 238 h 108"/>
                <a:gd name="T26" fmla="*/ 2677154 w 82"/>
                <a:gd name="T27" fmla="*/ 359 h 108"/>
                <a:gd name="T28" fmla="*/ 2613799 w 82"/>
                <a:gd name="T29" fmla="*/ 473 h 108"/>
                <a:gd name="T30" fmla="*/ 2574035 w 82"/>
                <a:gd name="T31" fmla="*/ 617 h 108"/>
                <a:gd name="T32" fmla="*/ 2513833 w 82"/>
                <a:gd name="T33" fmla="*/ 731 h 108"/>
                <a:gd name="T34" fmla="*/ 2455820 w 82"/>
                <a:gd name="T35" fmla="*/ 839 h 108"/>
                <a:gd name="T36" fmla="*/ 2394339 w 82"/>
                <a:gd name="T37" fmla="*/ 963 h 108"/>
                <a:gd name="T38" fmla="*/ 2285685 w 82"/>
                <a:gd name="T39" fmla="*/ 1922 h 108"/>
                <a:gd name="T40" fmla="*/ 2249465 w 82"/>
                <a:gd name="T41" fmla="*/ 1951 h 108"/>
                <a:gd name="T42" fmla="*/ 1454339 w 82"/>
                <a:gd name="T43" fmla="*/ 1412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2"/>
                <a:gd name="T67" fmla="*/ 0 h 108"/>
                <a:gd name="T68" fmla="*/ 82 w 82"/>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2" h="108">
                  <a:moveTo>
                    <a:pt x="41" y="78"/>
                  </a:moveTo>
                  <a:lnTo>
                    <a:pt x="0" y="81"/>
                  </a:lnTo>
                  <a:lnTo>
                    <a:pt x="44" y="43"/>
                  </a:lnTo>
                  <a:lnTo>
                    <a:pt x="48" y="38"/>
                  </a:lnTo>
                  <a:lnTo>
                    <a:pt x="53" y="32"/>
                  </a:lnTo>
                  <a:lnTo>
                    <a:pt x="57" y="27"/>
                  </a:lnTo>
                  <a:lnTo>
                    <a:pt x="63" y="22"/>
                  </a:lnTo>
                  <a:lnTo>
                    <a:pt x="67" y="16"/>
                  </a:lnTo>
                  <a:lnTo>
                    <a:pt x="72" y="11"/>
                  </a:lnTo>
                  <a:lnTo>
                    <a:pt x="76" y="5"/>
                  </a:lnTo>
                  <a:lnTo>
                    <a:pt x="81" y="0"/>
                  </a:lnTo>
                  <a:lnTo>
                    <a:pt x="79" y="7"/>
                  </a:lnTo>
                  <a:lnTo>
                    <a:pt x="78" y="13"/>
                  </a:lnTo>
                  <a:lnTo>
                    <a:pt x="76" y="20"/>
                  </a:lnTo>
                  <a:lnTo>
                    <a:pt x="74"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9" name="Freeform 168">
              <a:extLst>
                <a:ext uri="{FF2B5EF4-FFF2-40B4-BE49-F238E27FC236}">
                  <a16:creationId xmlns:a16="http://schemas.microsoft.com/office/drawing/2014/main" id="{53AF7FEB-753A-0363-4FB1-BFA316FB9962}"/>
                </a:ext>
              </a:extLst>
            </p:cNvPr>
            <p:cNvSpPr>
              <a:spLocks/>
            </p:cNvSpPr>
            <p:nvPr/>
          </p:nvSpPr>
          <p:spPr bwMode="auto">
            <a:xfrm>
              <a:off x="3110" y="1911"/>
              <a:ext cx="148" cy="51"/>
            </a:xfrm>
            <a:custGeom>
              <a:avLst/>
              <a:gdLst>
                <a:gd name="T0" fmla="*/ 418059 w 90"/>
                <a:gd name="T1" fmla="*/ 956 h 44"/>
                <a:gd name="T2" fmla="*/ 480135 w 90"/>
                <a:gd name="T3" fmla="*/ 872 h 44"/>
                <a:gd name="T4" fmla="*/ 687475 w 90"/>
                <a:gd name="T5" fmla="*/ 859 h 44"/>
                <a:gd name="T6" fmla="*/ 968543 w 90"/>
                <a:gd name="T7" fmla="*/ 872 h 44"/>
                <a:gd name="T8" fmla="*/ 1298379 w 90"/>
                <a:gd name="T9" fmla="*/ 872 h 44"/>
                <a:gd name="T10" fmla="*/ 1753134 w 90"/>
                <a:gd name="T11" fmla="*/ 852 h 44"/>
                <a:gd name="T12" fmla="*/ 2196628 w 90"/>
                <a:gd name="T13" fmla="*/ 735 h 44"/>
                <a:gd name="T14" fmla="*/ 2663053 w 90"/>
                <a:gd name="T15" fmla="*/ 518 h 44"/>
                <a:gd name="T16" fmla="*/ 3057132 w 90"/>
                <a:gd name="T17" fmla="*/ 158 h 44"/>
                <a:gd name="T18" fmla="*/ 2663053 w 90"/>
                <a:gd name="T19" fmla="*/ 0 h 44"/>
                <a:gd name="T20" fmla="*/ 2304061 w 90"/>
                <a:gd name="T21" fmla="*/ 305 h 44"/>
                <a:gd name="T22" fmla="*/ 1990834 w 90"/>
                <a:gd name="T23" fmla="*/ 457 h 44"/>
                <a:gd name="T24" fmla="*/ 1655750 w 90"/>
                <a:gd name="T25" fmla="*/ 551 h 44"/>
                <a:gd name="T26" fmla="*/ 1298379 w 90"/>
                <a:gd name="T27" fmla="*/ 551 h 44"/>
                <a:gd name="T28" fmla="*/ 968543 w 90"/>
                <a:gd name="T29" fmla="*/ 551 h 44"/>
                <a:gd name="T30" fmla="*/ 626313 w 90"/>
                <a:gd name="T31" fmla="*/ 597 h 44"/>
                <a:gd name="T32" fmla="*/ 272244 w 90"/>
                <a:gd name="T33" fmla="*/ 639 h 44"/>
                <a:gd name="T34" fmla="*/ 0 w 90"/>
                <a:gd name="T35" fmla="*/ 806 h 44"/>
                <a:gd name="T36" fmla="*/ 418059 w 90"/>
                <a:gd name="T37" fmla="*/ 956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44"/>
                <a:gd name="T59" fmla="*/ 90 w 90"/>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44">
                  <a:moveTo>
                    <a:pt x="12" y="43"/>
                  </a:moveTo>
                  <a:lnTo>
                    <a:pt x="14" y="40"/>
                  </a:lnTo>
                  <a:lnTo>
                    <a:pt x="20" y="39"/>
                  </a:lnTo>
                  <a:lnTo>
                    <a:pt x="28" y="40"/>
                  </a:lnTo>
                  <a:lnTo>
                    <a:pt x="38" y="40"/>
                  </a:lnTo>
                  <a:lnTo>
                    <a:pt x="51" y="38"/>
                  </a:lnTo>
                  <a:lnTo>
                    <a:pt x="64" y="33"/>
                  </a:lnTo>
                  <a:lnTo>
                    <a:pt x="77" y="23"/>
                  </a:lnTo>
                  <a:lnTo>
                    <a:pt x="89" y="7"/>
                  </a:lnTo>
                  <a:lnTo>
                    <a:pt x="77" y="0"/>
                  </a:lnTo>
                  <a:lnTo>
                    <a:pt x="67" y="14"/>
                  </a:lnTo>
                  <a:lnTo>
                    <a:pt x="58" y="21"/>
                  </a:lnTo>
                  <a:lnTo>
                    <a:pt x="48" y="25"/>
                  </a:lnTo>
                  <a:lnTo>
                    <a:pt x="38" y="25"/>
                  </a:lnTo>
                  <a:lnTo>
                    <a:pt x="28" y="25"/>
                  </a:lnTo>
                  <a:lnTo>
                    <a:pt x="18" y="26"/>
                  </a:lnTo>
                  <a:lnTo>
                    <a:pt x="8" y="29"/>
                  </a:lnTo>
                  <a:lnTo>
                    <a:pt x="0" y="36"/>
                  </a:lnTo>
                  <a:lnTo>
                    <a:pt x="12" y="4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0" name="Freeform 169">
              <a:extLst>
                <a:ext uri="{FF2B5EF4-FFF2-40B4-BE49-F238E27FC236}">
                  <a16:creationId xmlns:a16="http://schemas.microsoft.com/office/drawing/2014/main" id="{59882B49-4870-3A82-BF7D-35367E0E3AB3}"/>
                </a:ext>
              </a:extLst>
            </p:cNvPr>
            <p:cNvSpPr>
              <a:spLocks/>
            </p:cNvSpPr>
            <p:nvPr/>
          </p:nvSpPr>
          <p:spPr bwMode="auto">
            <a:xfrm>
              <a:off x="3110" y="1952"/>
              <a:ext cx="130" cy="78"/>
            </a:xfrm>
            <a:custGeom>
              <a:avLst/>
              <a:gdLst>
                <a:gd name="T0" fmla="*/ 2718437 w 79"/>
                <a:gd name="T1" fmla="*/ 1621 h 67"/>
                <a:gd name="T2" fmla="*/ 2654305 w 79"/>
                <a:gd name="T3" fmla="*/ 1318 h 67"/>
                <a:gd name="T4" fmla="*/ 2329860 w 79"/>
                <a:gd name="T5" fmla="*/ 1059 h 67"/>
                <a:gd name="T6" fmla="*/ 1880305 w 79"/>
                <a:gd name="T7" fmla="*/ 882 h 67"/>
                <a:gd name="T8" fmla="*/ 1402150 w 79"/>
                <a:gd name="T9" fmla="*/ 672 h 67"/>
                <a:gd name="T10" fmla="*/ 980208 w 79"/>
                <a:gd name="T11" fmla="*/ 480 h 67"/>
                <a:gd name="T12" fmla="*/ 595665 w 79"/>
                <a:gd name="T13" fmla="*/ 304 h 67"/>
                <a:gd name="T14" fmla="*/ 451334 w 79"/>
                <a:gd name="T15" fmla="*/ 189 h 67"/>
                <a:gd name="T16" fmla="*/ 421968 w 79"/>
                <a:gd name="T17" fmla="*/ 139 h 67"/>
                <a:gd name="T18" fmla="*/ 37404 w 79"/>
                <a:gd name="T19" fmla="*/ 0 h 67"/>
                <a:gd name="T20" fmla="*/ 0 w 79"/>
                <a:gd name="T21" fmla="*/ 304 h 67"/>
                <a:gd name="T22" fmla="*/ 274272 w 79"/>
                <a:gd name="T23" fmla="*/ 559 h 67"/>
                <a:gd name="T24" fmla="*/ 694378 w 79"/>
                <a:gd name="T25" fmla="*/ 779 h 67"/>
                <a:gd name="T26" fmla="*/ 1178814 w 79"/>
                <a:gd name="T27" fmla="*/ 951 h 67"/>
                <a:gd name="T28" fmla="*/ 1674120 w 79"/>
                <a:gd name="T29" fmla="*/ 1146 h 67"/>
                <a:gd name="T30" fmla="*/ 2011163 w 79"/>
                <a:gd name="T31" fmla="*/ 1318 h 67"/>
                <a:gd name="T32" fmla="*/ 2231208 w 79"/>
                <a:gd name="T33" fmla="*/ 1442 h 67"/>
                <a:gd name="T34" fmla="*/ 2269433 w 79"/>
                <a:gd name="T35" fmla="*/ 1512 h 67"/>
                <a:gd name="T36" fmla="*/ 2718437 w 79"/>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7"/>
                <a:gd name="T59" fmla="*/ 79 w 79"/>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7">
                  <a:moveTo>
                    <a:pt x="78" y="66"/>
                  </a:moveTo>
                  <a:lnTo>
                    <a:pt x="76" y="54"/>
                  </a:lnTo>
                  <a:lnTo>
                    <a:pt x="67" y="44"/>
                  </a:lnTo>
                  <a:lnTo>
                    <a:pt x="54" y="36"/>
                  </a:lnTo>
                  <a:lnTo>
                    <a:pt x="40" y="28"/>
                  </a:lnTo>
                  <a:lnTo>
                    <a:pt x="28" y="20"/>
                  </a:lnTo>
                  <a:lnTo>
                    <a:pt x="17" y="13"/>
                  </a:lnTo>
                  <a:lnTo>
                    <a:pt x="13" y="8"/>
                  </a:lnTo>
                  <a:lnTo>
                    <a:pt x="12" y="6"/>
                  </a:lnTo>
                  <a:lnTo>
                    <a:pt x="1" y="0"/>
                  </a:lnTo>
                  <a:lnTo>
                    <a:pt x="0" y="13"/>
                  </a:lnTo>
                  <a:lnTo>
                    <a:pt x="8" y="23"/>
                  </a:lnTo>
                  <a:lnTo>
                    <a:pt x="20" y="32"/>
                  </a:lnTo>
                  <a:lnTo>
                    <a:pt x="34" y="39"/>
                  </a:lnTo>
                  <a:lnTo>
                    <a:pt x="48" y="47"/>
                  </a:lnTo>
                  <a:lnTo>
                    <a:pt x="58" y="54"/>
                  </a:lnTo>
                  <a:lnTo>
                    <a:pt x="64" y="60"/>
                  </a:lnTo>
                  <a:lnTo>
                    <a:pt x="65" y="62"/>
                  </a:lnTo>
                  <a:lnTo>
                    <a:pt x="78"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1" name="Freeform 170">
              <a:extLst>
                <a:ext uri="{FF2B5EF4-FFF2-40B4-BE49-F238E27FC236}">
                  <a16:creationId xmlns:a16="http://schemas.microsoft.com/office/drawing/2014/main" id="{4189DE5C-B5B2-4146-D1B1-9EA46DC1CF69}"/>
                </a:ext>
              </a:extLst>
            </p:cNvPr>
            <p:cNvSpPr>
              <a:spLocks/>
            </p:cNvSpPr>
            <p:nvPr/>
          </p:nvSpPr>
          <p:spPr bwMode="auto">
            <a:xfrm>
              <a:off x="3064" y="2024"/>
              <a:ext cx="176" cy="28"/>
            </a:xfrm>
            <a:custGeom>
              <a:avLst/>
              <a:gdLst>
                <a:gd name="T0" fmla="*/ 448956 w 107"/>
                <a:gd name="T1" fmla="*/ 261 h 25"/>
                <a:gd name="T2" fmla="*/ 551648 w 107"/>
                <a:gd name="T3" fmla="*/ 239 h 25"/>
                <a:gd name="T4" fmla="*/ 855362 w 107"/>
                <a:gd name="T5" fmla="*/ 208 h 25"/>
                <a:gd name="T6" fmla="*/ 1326479 w 107"/>
                <a:gd name="T7" fmla="*/ 190 h 25"/>
                <a:gd name="T8" fmla="*/ 1829721 w 107"/>
                <a:gd name="T9" fmla="*/ 190 h 25"/>
                <a:gd name="T10" fmla="*/ 2374059 w 107"/>
                <a:gd name="T11" fmla="*/ 190 h 25"/>
                <a:gd name="T12" fmla="*/ 2937350 w 107"/>
                <a:gd name="T13" fmla="*/ 186 h 25"/>
                <a:gd name="T14" fmla="*/ 3361858 w 107"/>
                <a:gd name="T15" fmla="*/ 148 h 25"/>
                <a:gd name="T16" fmla="*/ 3649694 w 107"/>
                <a:gd name="T17" fmla="*/ 4 h 25"/>
                <a:gd name="T18" fmla="*/ 3223782 w 107"/>
                <a:gd name="T19" fmla="*/ 0 h 25"/>
                <a:gd name="T20" fmla="*/ 3107351 w 107"/>
                <a:gd name="T21" fmla="*/ 2 h 25"/>
                <a:gd name="T22" fmla="*/ 2833329 w 107"/>
                <a:gd name="T23" fmla="*/ 4 h 25"/>
                <a:gd name="T24" fmla="*/ 2374059 w 107"/>
                <a:gd name="T25" fmla="*/ 60 h 25"/>
                <a:gd name="T26" fmla="*/ 1829721 w 107"/>
                <a:gd name="T27" fmla="*/ 4 h 25"/>
                <a:gd name="T28" fmla="*/ 1326479 w 107"/>
                <a:gd name="T29" fmla="*/ 60 h 25"/>
                <a:gd name="T30" fmla="*/ 755427 w 107"/>
                <a:gd name="T31" fmla="*/ 67 h 25"/>
                <a:gd name="T32" fmla="*/ 316149 w 107"/>
                <a:gd name="T33" fmla="*/ 105 h 25"/>
                <a:gd name="T34" fmla="*/ 0 w 107"/>
                <a:gd name="T35" fmla="*/ 213 h 25"/>
                <a:gd name="T36" fmla="*/ 448956 w 107"/>
                <a:gd name="T37" fmla="*/ 261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5" y="19"/>
                  </a:lnTo>
                  <a:lnTo>
                    <a:pt x="38" y="18"/>
                  </a:lnTo>
                  <a:lnTo>
                    <a:pt x="53" y="18"/>
                  </a:lnTo>
                  <a:lnTo>
                    <a:pt x="69" y="18"/>
                  </a:lnTo>
                  <a:lnTo>
                    <a:pt x="85" y="17"/>
                  </a:lnTo>
                  <a:lnTo>
                    <a:pt x="97" y="13"/>
                  </a:lnTo>
                  <a:lnTo>
                    <a:pt x="106" y="4"/>
                  </a:lnTo>
                  <a:lnTo>
                    <a:pt x="93" y="0"/>
                  </a:lnTo>
                  <a:lnTo>
                    <a:pt x="90" y="2"/>
                  </a:lnTo>
                  <a:lnTo>
                    <a:pt x="82" y="4"/>
                  </a:lnTo>
                  <a:lnTo>
                    <a:pt x="69" y="5"/>
                  </a:lnTo>
                  <a:lnTo>
                    <a:pt x="53" y="4"/>
                  </a:lnTo>
                  <a:lnTo>
                    <a:pt x="38"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2" name="Freeform 171">
              <a:extLst>
                <a:ext uri="{FF2B5EF4-FFF2-40B4-BE49-F238E27FC236}">
                  <a16:creationId xmlns:a16="http://schemas.microsoft.com/office/drawing/2014/main" id="{A2BDA63E-C4B6-BF1E-25AA-03EF335D7C7D}"/>
                </a:ext>
              </a:extLst>
            </p:cNvPr>
            <p:cNvSpPr>
              <a:spLocks/>
            </p:cNvSpPr>
            <p:nvPr/>
          </p:nvSpPr>
          <p:spPr bwMode="auto">
            <a:xfrm>
              <a:off x="3064" y="204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50 h 66"/>
                <a:gd name="T10" fmla="*/ 1040012 w 79"/>
                <a:gd name="T11" fmla="*/ 383 h 66"/>
                <a:gd name="T12" fmla="*/ 656503 w 79"/>
                <a:gd name="T13" fmla="*/ 251 h 66"/>
                <a:gd name="T14" fmla="*/ 493266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633 h 66"/>
                <a:gd name="T26" fmla="*/ 1252178 w 79"/>
                <a:gd name="T27" fmla="*/ 755 h 66"/>
                <a:gd name="T28" fmla="*/ 1711412 w 79"/>
                <a:gd name="T29" fmla="*/ 896 h 66"/>
                <a:gd name="T30" fmla="*/ 2060546 w 79"/>
                <a:gd name="T31" fmla="*/ 1032 h 66"/>
                <a:gd name="T32" fmla="*/ 2231208 w 79"/>
                <a:gd name="T33" fmla="*/ 1153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8"/>
                  </a:lnTo>
                  <a:lnTo>
                    <a:pt x="30" y="20"/>
                  </a:lnTo>
                  <a:lnTo>
                    <a:pt x="19" y="13"/>
                  </a:lnTo>
                  <a:lnTo>
                    <a:pt x="14" y="6"/>
                  </a:lnTo>
                  <a:lnTo>
                    <a:pt x="13" y="4"/>
                  </a:lnTo>
                  <a:lnTo>
                    <a:pt x="0" y="0"/>
                  </a:lnTo>
                  <a:lnTo>
                    <a:pt x="2" y="13"/>
                  </a:lnTo>
                  <a:lnTo>
                    <a:pt x="10" y="23"/>
                  </a:lnTo>
                  <a:lnTo>
                    <a:pt x="22" y="32"/>
                  </a:lnTo>
                  <a:lnTo>
                    <a:pt x="36" y="39"/>
                  </a:lnTo>
                  <a:lnTo>
                    <a:pt x="49" y="47"/>
                  </a:lnTo>
                  <a:lnTo>
                    <a:pt x="59" y="54"/>
                  </a:lnTo>
                  <a:lnTo>
                    <a:pt x="64" y="60"/>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3" name="Freeform 172">
              <a:extLst>
                <a:ext uri="{FF2B5EF4-FFF2-40B4-BE49-F238E27FC236}">
                  <a16:creationId xmlns:a16="http://schemas.microsoft.com/office/drawing/2014/main" id="{C82AA5AE-1AC8-F7F9-D8F4-5F2F2A25A90C}"/>
                </a:ext>
              </a:extLst>
            </p:cNvPr>
            <p:cNvSpPr>
              <a:spLocks/>
            </p:cNvSpPr>
            <p:nvPr/>
          </p:nvSpPr>
          <p:spPr bwMode="auto">
            <a:xfrm>
              <a:off x="3020" y="2118"/>
              <a:ext cx="174" cy="27"/>
            </a:xfrm>
            <a:custGeom>
              <a:avLst/>
              <a:gdLst>
                <a:gd name="T0" fmla="*/ 555905 w 105"/>
                <a:gd name="T1" fmla="*/ 463 h 23"/>
                <a:gd name="T2" fmla="*/ 555905 w 105"/>
                <a:gd name="T3" fmla="*/ 514 h 23"/>
                <a:gd name="T4" fmla="*/ 605611 w 105"/>
                <a:gd name="T5" fmla="*/ 505 h 23"/>
                <a:gd name="T6" fmla="*/ 970032 w 105"/>
                <a:gd name="T7" fmla="*/ 438 h 23"/>
                <a:gd name="T8" fmla="*/ 1485145 w 105"/>
                <a:gd name="T9" fmla="*/ 463 h 23"/>
                <a:gd name="T10" fmla="*/ 2105818 w 105"/>
                <a:gd name="T11" fmla="*/ 463 h 23"/>
                <a:gd name="T12" fmla="*/ 2755964 w 105"/>
                <a:gd name="T13" fmla="*/ 505 h 23"/>
                <a:gd name="T14" fmla="*/ 3311643 w 105"/>
                <a:gd name="T15" fmla="*/ 463 h 23"/>
                <a:gd name="T16" fmla="*/ 3873205 w 105"/>
                <a:gd name="T17" fmla="*/ 373 h 23"/>
                <a:gd name="T18" fmla="*/ 4192184 w 105"/>
                <a:gd name="T19" fmla="*/ 122 h 23"/>
                <a:gd name="T20" fmla="*/ 3677016 w 105"/>
                <a:gd name="T21" fmla="*/ 0 h 23"/>
                <a:gd name="T22" fmla="*/ 3587389 w 105"/>
                <a:gd name="T23" fmla="*/ 1 h 23"/>
                <a:gd name="T24" fmla="*/ 3269143 w 105"/>
                <a:gd name="T25" fmla="*/ 104 h 23"/>
                <a:gd name="T26" fmla="*/ 2755964 w 105"/>
                <a:gd name="T27" fmla="*/ 104 h 23"/>
                <a:gd name="T28" fmla="*/ 2105818 w 105"/>
                <a:gd name="T29" fmla="*/ 104 h 23"/>
                <a:gd name="T30" fmla="*/ 1485145 w 105"/>
                <a:gd name="T31" fmla="*/ 1 h 23"/>
                <a:gd name="T32" fmla="*/ 921214 w 105"/>
                <a:gd name="T33" fmla="*/ 2 h 23"/>
                <a:gd name="T34" fmla="*/ 407286 w 105"/>
                <a:gd name="T35" fmla="*/ 122 h 23"/>
                <a:gd name="T36" fmla="*/ 42486 w 105"/>
                <a:gd name="T37" fmla="*/ 394 h 23"/>
                <a:gd name="T38" fmla="*/ 0 w 105"/>
                <a:gd name="T39" fmla="*/ 463 h 23"/>
                <a:gd name="T40" fmla="*/ 42486 w 105"/>
                <a:gd name="T41" fmla="*/ 394 h 23"/>
                <a:gd name="T42" fmla="*/ 42486 w 105"/>
                <a:gd name="T43" fmla="*/ 544 h 23"/>
                <a:gd name="T44" fmla="*/ 193341 w 105"/>
                <a:gd name="T45" fmla="*/ 639 h 23"/>
                <a:gd name="T46" fmla="*/ 407286 w 105"/>
                <a:gd name="T47" fmla="*/ 603 h 23"/>
                <a:gd name="T48" fmla="*/ 555905 w 105"/>
                <a:gd name="T49" fmla="*/ 514 h 23"/>
                <a:gd name="T50" fmla="*/ 555905 w 105"/>
                <a:gd name="T51" fmla="*/ 463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5"/>
                <a:gd name="T79" fmla="*/ 0 h 23"/>
                <a:gd name="T80" fmla="*/ 105 w 105"/>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5" h="23">
                  <a:moveTo>
                    <a:pt x="14" y="16"/>
                  </a:moveTo>
                  <a:lnTo>
                    <a:pt x="14" y="18"/>
                  </a:lnTo>
                  <a:lnTo>
                    <a:pt x="15" y="17"/>
                  </a:lnTo>
                  <a:lnTo>
                    <a:pt x="24" y="15"/>
                  </a:lnTo>
                  <a:lnTo>
                    <a:pt x="37" y="16"/>
                  </a:lnTo>
                  <a:lnTo>
                    <a:pt x="52" y="16"/>
                  </a:lnTo>
                  <a:lnTo>
                    <a:pt x="68" y="17"/>
                  </a:lnTo>
                  <a:lnTo>
                    <a:pt x="82" y="16"/>
                  </a:lnTo>
                  <a:lnTo>
                    <a:pt x="96" y="13"/>
                  </a:lnTo>
                  <a:lnTo>
                    <a:pt x="104" y="4"/>
                  </a:lnTo>
                  <a:lnTo>
                    <a:pt x="91" y="0"/>
                  </a:lnTo>
                  <a:lnTo>
                    <a:pt x="89" y="1"/>
                  </a:lnTo>
                  <a:lnTo>
                    <a:pt x="81" y="3"/>
                  </a:lnTo>
                  <a:lnTo>
                    <a:pt x="68" y="3"/>
                  </a:lnTo>
                  <a:lnTo>
                    <a:pt x="52" y="3"/>
                  </a:lnTo>
                  <a:lnTo>
                    <a:pt x="37" y="1"/>
                  </a:lnTo>
                  <a:lnTo>
                    <a:pt x="23" y="2"/>
                  </a:lnTo>
                  <a:lnTo>
                    <a:pt x="10" y="4"/>
                  </a:lnTo>
                  <a:lnTo>
                    <a:pt x="1" y="14"/>
                  </a:lnTo>
                  <a:lnTo>
                    <a:pt x="0" y="16"/>
                  </a:lnTo>
                  <a:lnTo>
                    <a:pt x="1" y="14"/>
                  </a:lnTo>
                  <a:lnTo>
                    <a:pt x="1" y="19"/>
                  </a:lnTo>
                  <a:lnTo>
                    <a:pt x="5" y="22"/>
                  </a:lnTo>
                  <a:lnTo>
                    <a:pt x="10" y="21"/>
                  </a:lnTo>
                  <a:lnTo>
                    <a:pt x="14" y="18"/>
                  </a:lnTo>
                  <a:lnTo>
                    <a:pt x="14" y="1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4" name="Freeform 173">
              <a:extLst>
                <a:ext uri="{FF2B5EF4-FFF2-40B4-BE49-F238E27FC236}">
                  <a16:creationId xmlns:a16="http://schemas.microsoft.com/office/drawing/2014/main" id="{37C2668B-4181-9CCA-9248-E18F1890098A}"/>
                </a:ext>
              </a:extLst>
            </p:cNvPr>
            <p:cNvSpPr>
              <a:spLocks/>
            </p:cNvSpPr>
            <p:nvPr/>
          </p:nvSpPr>
          <p:spPr bwMode="auto">
            <a:xfrm>
              <a:off x="3020" y="2136"/>
              <a:ext cx="25" cy="11"/>
            </a:xfrm>
            <a:custGeom>
              <a:avLst/>
              <a:gdLst>
                <a:gd name="T0" fmla="*/ 621467 w 15"/>
                <a:gd name="T1" fmla="*/ 216 h 9"/>
                <a:gd name="T2" fmla="*/ 621467 w 15"/>
                <a:gd name="T3" fmla="*/ 2 h 9"/>
                <a:gd name="T4" fmla="*/ 621467 w 15"/>
                <a:gd name="T5" fmla="*/ 0 h 9"/>
                <a:gd name="T6" fmla="*/ 0 w 15"/>
                <a:gd name="T7" fmla="*/ 0 h 9"/>
                <a:gd name="T8" fmla="*/ 0 w 15"/>
                <a:gd name="T9" fmla="*/ 2 h 9"/>
                <a:gd name="T10" fmla="*/ 47430 w 15"/>
                <a:gd name="T11" fmla="*/ 0 h 9"/>
                <a:gd name="T12" fmla="*/ 0 w 15"/>
                <a:gd name="T13" fmla="*/ 2 h 9"/>
                <a:gd name="T14" fmla="*/ 79050 w 15"/>
                <a:gd name="T15" fmla="*/ 483 h 9"/>
                <a:gd name="T16" fmla="*/ 325255 w 15"/>
                <a:gd name="T17" fmla="*/ 543 h 9"/>
                <a:gd name="T18" fmla="*/ 542092 w 15"/>
                <a:gd name="T19" fmla="*/ 483 h 9"/>
                <a:gd name="T20" fmla="*/ 621467 w 15"/>
                <a:gd name="T21" fmla="*/ 2 h 9"/>
                <a:gd name="T22" fmla="*/ 621467 w 15"/>
                <a:gd name="T23" fmla="*/ 216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9"/>
                <a:gd name="T38" fmla="*/ 15 w 15"/>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9">
                  <a:moveTo>
                    <a:pt x="14" y="3"/>
                  </a:moveTo>
                  <a:lnTo>
                    <a:pt x="14" y="2"/>
                  </a:lnTo>
                  <a:lnTo>
                    <a:pt x="14" y="0"/>
                  </a:lnTo>
                  <a:lnTo>
                    <a:pt x="0" y="0"/>
                  </a:lnTo>
                  <a:lnTo>
                    <a:pt x="0" y="2"/>
                  </a:lnTo>
                  <a:lnTo>
                    <a:pt x="1" y="0"/>
                  </a:lnTo>
                  <a:lnTo>
                    <a:pt x="0" y="2"/>
                  </a:lnTo>
                  <a:lnTo>
                    <a:pt x="2" y="7"/>
                  </a:lnTo>
                  <a:lnTo>
                    <a:pt x="7" y="8"/>
                  </a:lnTo>
                  <a:lnTo>
                    <a:pt x="12" y="7"/>
                  </a:lnTo>
                  <a:lnTo>
                    <a:pt x="14" y="2"/>
                  </a:lnTo>
                  <a:lnTo>
                    <a:pt x="14"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5" name="Freeform 174">
              <a:extLst>
                <a:ext uri="{FF2B5EF4-FFF2-40B4-BE49-F238E27FC236}">
                  <a16:creationId xmlns:a16="http://schemas.microsoft.com/office/drawing/2014/main" id="{9FC6C264-70C7-190A-4150-0AD3642CCF90}"/>
                </a:ext>
              </a:extLst>
            </p:cNvPr>
            <p:cNvSpPr>
              <a:spLocks/>
            </p:cNvSpPr>
            <p:nvPr/>
          </p:nvSpPr>
          <p:spPr bwMode="auto">
            <a:xfrm>
              <a:off x="3020" y="2136"/>
              <a:ext cx="132" cy="77"/>
            </a:xfrm>
            <a:custGeom>
              <a:avLst/>
              <a:gdLst>
                <a:gd name="T0" fmla="*/ 2918860 w 80"/>
                <a:gd name="T1" fmla="*/ 1224 h 67"/>
                <a:gd name="T2" fmla="*/ 2918860 w 80"/>
                <a:gd name="T3" fmla="*/ 1219 h 67"/>
                <a:gd name="T4" fmla="*/ 2842721 w 80"/>
                <a:gd name="T5" fmla="*/ 972 h 67"/>
                <a:gd name="T6" fmla="*/ 2480000 w 80"/>
                <a:gd name="T7" fmla="*/ 831 h 67"/>
                <a:gd name="T8" fmla="*/ 2037753 w 80"/>
                <a:gd name="T9" fmla="*/ 690 h 67"/>
                <a:gd name="T10" fmla="*/ 1545345 w 80"/>
                <a:gd name="T11" fmla="*/ 547 h 67"/>
                <a:gd name="T12" fmla="*/ 1072125 w 80"/>
                <a:gd name="T13" fmla="*/ 414 h 67"/>
                <a:gd name="T14" fmla="*/ 667037 w 80"/>
                <a:gd name="T15" fmla="*/ 278 h 67"/>
                <a:gd name="T16" fmla="*/ 520035 w 80"/>
                <a:gd name="T17" fmla="*/ 160 h 67"/>
                <a:gd name="T18" fmla="*/ 477527 w 80"/>
                <a:gd name="T19" fmla="*/ 3 h 67"/>
                <a:gd name="T20" fmla="*/ 0 w 80"/>
                <a:gd name="T21" fmla="*/ 0 h 67"/>
                <a:gd name="T22" fmla="*/ 39046 w 80"/>
                <a:gd name="T23" fmla="*/ 260 h 67"/>
                <a:gd name="T24" fmla="*/ 338181 w 80"/>
                <a:gd name="T25" fmla="*/ 476 h 67"/>
                <a:gd name="T26" fmla="*/ 787920 w 80"/>
                <a:gd name="T27" fmla="*/ 640 h 67"/>
                <a:gd name="T28" fmla="*/ 1300068 w 80"/>
                <a:gd name="T29" fmla="*/ 755 h 67"/>
                <a:gd name="T30" fmla="*/ 1816008 w 80"/>
                <a:gd name="T31" fmla="*/ 876 h 67"/>
                <a:gd name="T32" fmla="*/ 2169448 w 80"/>
                <a:gd name="T33" fmla="*/ 998 h 67"/>
                <a:gd name="T34" fmla="*/ 2399955 w 80"/>
                <a:gd name="T35" fmla="*/ 1117 h 67"/>
                <a:gd name="T36" fmla="*/ 2442464 w 80"/>
                <a:gd name="T37" fmla="*/ 1132 h 67"/>
                <a:gd name="T38" fmla="*/ 2918860 w 80"/>
                <a:gd name="T39" fmla="*/ 1224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7"/>
                <a:gd name="T62" fmla="*/ 80 w 80"/>
                <a:gd name="T63" fmla="*/ 67 h 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7">
                  <a:moveTo>
                    <a:pt x="79" y="66"/>
                  </a:moveTo>
                  <a:lnTo>
                    <a:pt x="79" y="65"/>
                  </a:lnTo>
                  <a:lnTo>
                    <a:pt x="77" y="52"/>
                  </a:lnTo>
                  <a:lnTo>
                    <a:pt x="67" y="44"/>
                  </a:lnTo>
                  <a:lnTo>
                    <a:pt x="55" y="37"/>
                  </a:lnTo>
                  <a:lnTo>
                    <a:pt x="42" y="29"/>
                  </a:lnTo>
                  <a:lnTo>
                    <a:pt x="29" y="22"/>
                  </a:lnTo>
                  <a:lnTo>
                    <a:pt x="18" y="15"/>
                  </a:lnTo>
                  <a:lnTo>
                    <a:pt x="14" y="9"/>
                  </a:lnTo>
                  <a:lnTo>
                    <a:pt x="13" y="3"/>
                  </a:lnTo>
                  <a:lnTo>
                    <a:pt x="0" y="0"/>
                  </a:lnTo>
                  <a:lnTo>
                    <a:pt x="1" y="14"/>
                  </a:lnTo>
                  <a:lnTo>
                    <a:pt x="9" y="25"/>
                  </a:lnTo>
                  <a:lnTo>
                    <a:pt x="21" y="34"/>
                  </a:lnTo>
                  <a:lnTo>
                    <a:pt x="35" y="41"/>
                  </a:lnTo>
                  <a:lnTo>
                    <a:pt x="49" y="48"/>
                  </a:lnTo>
                  <a:lnTo>
                    <a:pt x="59" y="54"/>
                  </a:lnTo>
                  <a:lnTo>
                    <a:pt x="65" y="60"/>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6" name="Freeform 175">
              <a:extLst>
                <a:ext uri="{FF2B5EF4-FFF2-40B4-BE49-F238E27FC236}">
                  <a16:creationId xmlns:a16="http://schemas.microsoft.com/office/drawing/2014/main" id="{F48054A2-4229-329B-1D5E-4EA938DD98C7}"/>
                </a:ext>
              </a:extLst>
            </p:cNvPr>
            <p:cNvSpPr>
              <a:spLocks/>
            </p:cNvSpPr>
            <p:nvPr/>
          </p:nvSpPr>
          <p:spPr bwMode="auto">
            <a:xfrm>
              <a:off x="2974" y="2207"/>
              <a:ext cx="178" cy="30"/>
            </a:xfrm>
            <a:custGeom>
              <a:avLst/>
              <a:gdLst>
                <a:gd name="T0" fmla="*/ 467977 w 108"/>
                <a:gd name="T1" fmla="*/ 496 h 26"/>
                <a:gd name="T2" fmla="*/ 572069 w 108"/>
                <a:gd name="T3" fmla="*/ 466 h 26"/>
                <a:gd name="T4" fmla="*/ 904365 w 108"/>
                <a:gd name="T5" fmla="*/ 404 h 26"/>
                <a:gd name="T6" fmla="*/ 1340297 w 108"/>
                <a:gd name="T7" fmla="*/ 373 h 26"/>
                <a:gd name="T8" fmla="*/ 1899138 w 108"/>
                <a:gd name="T9" fmla="*/ 404 h 26"/>
                <a:gd name="T10" fmla="*/ 2520165 w 108"/>
                <a:gd name="T11" fmla="*/ 373 h 26"/>
                <a:gd name="T12" fmla="*/ 3068888 w 108"/>
                <a:gd name="T13" fmla="*/ 372 h 26"/>
                <a:gd name="T14" fmla="*/ 3543764 w 108"/>
                <a:gd name="T15" fmla="*/ 279 h 26"/>
                <a:gd name="T16" fmla="*/ 3851116 w 108"/>
                <a:gd name="T17" fmla="*/ 103 h 26"/>
                <a:gd name="T18" fmla="*/ 3382615 w 108"/>
                <a:gd name="T19" fmla="*/ 0 h 26"/>
                <a:gd name="T20" fmla="*/ 3279487 w 108"/>
                <a:gd name="T21" fmla="*/ 3 h 26"/>
                <a:gd name="T22" fmla="*/ 2963647 w 108"/>
                <a:gd name="T23" fmla="*/ 103 h 26"/>
                <a:gd name="T24" fmla="*/ 2520165 w 108"/>
                <a:gd name="T25" fmla="*/ 119 h 26"/>
                <a:gd name="T26" fmla="*/ 1899138 w 108"/>
                <a:gd name="T27" fmla="*/ 103 h 26"/>
                <a:gd name="T28" fmla="*/ 1340297 w 108"/>
                <a:gd name="T29" fmla="*/ 119 h 26"/>
                <a:gd name="T30" fmla="*/ 782669 w 108"/>
                <a:gd name="T31" fmla="*/ 137 h 26"/>
                <a:gd name="T32" fmla="*/ 332929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3"/>
                  </a:lnTo>
                  <a:lnTo>
                    <a:pt x="25" y="20"/>
                  </a:lnTo>
                  <a:lnTo>
                    <a:pt x="37" y="19"/>
                  </a:lnTo>
                  <a:lnTo>
                    <a:pt x="53" y="20"/>
                  </a:lnTo>
                  <a:lnTo>
                    <a:pt x="70" y="19"/>
                  </a:lnTo>
                  <a:lnTo>
                    <a:pt x="85" y="18"/>
                  </a:lnTo>
                  <a:lnTo>
                    <a:pt x="98" y="14"/>
                  </a:lnTo>
                  <a:lnTo>
                    <a:pt x="107" y="5"/>
                  </a:lnTo>
                  <a:lnTo>
                    <a:pt x="94" y="0"/>
                  </a:lnTo>
                  <a:lnTo>
                    <a:pt x="91" y="3"/>
                  </a:lnTo>
                  <a:lnTo>
                    <a:pt x="82" y="5"/>
                  </a:lnTo>
                  <a:lnTo>
                    <a:pt x="70" y="6"/>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7" name="Freeform 176">
              <a:extLst>
                <a:ext uri="{FF2B5EF4-FFF2-40B4-BE49-F238E27FC236}">
                  <a16:creationId xmlns:a16="http://schemas.microsoft.com/office/drawing/2014/main" id="{32530AF9-A256-13C8-3A34-EDDA774413A8}"/>
                </a:ext>
              </a:extLst>
            </p:cNvPr>
            <p:cNvSpPr>
              <a:spLocks/>
            </p:cNvSpPr>
            <p:nvPr/>
          </p:nvSpPr>
          <p:spPr bwMode="auto">
            <a:xfrm>
              <a:off x="2974" y="2231"/>
              <a:ext cx="132" cy="76"/>
            </a:xfrm>
            <a:custGeom>
              <a:avLst/>
              <a:gdLst>
                <a:gd name="T0" fmla="*/ 2918860 w 80"/>
                <a:gd name="T1" fmla="*/ 1246 h 66"/>
                <a:gd name="T2" fmla="*/ 2842721 w 80"/>
                <a:gd name="T3" fmla="*/ 1001 h 66"/>
                <a:gd name="T4" fmla="*/ 2506601 w 80"/>
                <a:gd name="T5" fmla="*/ 839 h 66"/>
                <a:gd name="T6" fmla="*/ 2099480 w 80"/>
                <a:gd name="T7" fmla="*/ 656 h 66"/>
                <a:gd name="T8" fmla="*/ 1545345 w 80"/>
                <a:gd name="T9" fmla="*/ 510 h 66"/>
                <a:gd name="T10" fmla="*/ 1100611 w 80"/>
                <a:gd name="T11" fmla="*/ 371 h 66"/>
                <a:gd name="T12" fmla="*/ 733570 w 80"/>
                <a:gd name="T13" fmla="*/ 236 h 66"/>
                <a:gd name="T14" fmla="*/ 520035 w 80"/>
                <a:gd name="T15" fmla="*/ 117 h 66"/>
                <a:gd name="T16" fmla="*/ 477527 w 80"/>
                <a:gd name="T17" fmla="*/ 89 h 66"/>
                <a:gd name="T18" fmla="*/ 0 w 80"/>
                <a:gd name="T19" fmla="*/ 0 h 66"/>
                <a:gd name="T20" fmla="*/ 64426 w 80"/>
                <a:gd name="T21" fmla="*/ 251 h 66"/>
                <a:gd name="T22" fmla="*/ 404265 w 80"/>
                <a:gd name="T23" fmla="*/ 441 h 66"/>
                <a:gd name="T24" fmla="*/ 796859 w 80"/>
                <a:gd name="T25" fmla="*/ 587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5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7" y="34"/>
                  </a:lnTo>
                  <a:lnTo>
                    <a:pt x="42" y="27"/>
                  </a:lnTo>
                  <a:lnTo>
                    <a:pt x="30" y="19"/>
                  </a:lnTo>
                  <a:lnTo>
                    <a:pt x="20" y="12"/>
                  </a:lnTo>
                  <a:lnTo>
                    <a:pt x="14" y="6"/>
                  </a:lnTo>
                  <a:lnTo>
                    <a:pt x="13" y="4"/>
                  </a:lnTo>
                  <a:lnTo>
                    <a:pt x="0" y="0"/>
                  </a:lnTo>
                  <a:lnTo>
                    <a:pt x="2" y="13"/>
                  </a:lnTo>
                  <a:lnTo>
                    <a:pt x="11" y="23"/>
                  </a:lnTo>
                  <a:lnTo>
                    <a:pt x="22" y="31"/>
                  </a:lnTo>
                  <a:lnTo>
                    <a:pt x="36" y="38"/>
                  </a:lnTo>
                  <a:lnTo>
                    <a:pt x="49"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8" name="Freeform 177">
              <a:extLst>
                <a:ext uri="{FF2B5EF4-FFF2-40B4-BE49-F238E27FC236}">
                  <a16:creationId xmlns:a16="http://schemas.microsoft.com/office/drawing/2014/main" id="{82DD2110-957B-7A0E-6326-237839CF5264}"/>
                </a:ext>
              </a:extLst>
            </p:cNvPr>
            <p:cNvSpPr>
              <a:spLocks/>
            </p:cNvSpPr>
            <p:nvPr/>
          </p:nvSpPr>
          <p:spPr bwMode="auto">
            <a:xfrm>
              <a:off x="2932" y="2301"/>
              <a:ext cx="174" cy="29"/>
            </a:xfrm>
            <a:custGeom>
              <a:avLst/>
              <a:gdLst>
                <a:gd name="T0" fmla="*/ 464163 w 106"/>
                <a:gd name="T1" fmla="*/ 392 h 25"/>
                <a:gd name="T2" fmla="*/ 419911 w 106"/>
                <a:gd name="T3" fmla="*/ 445 h 25"/>
                <a:gd name="T4" fmla="*/ 503423 w 106"/>
                <a:gd name="T5" fmla="*/ 455 h 25"/>
                <a:gd name="T6" fmla="*/ 761928 w 106"/>
                <a:gd name="T7" fmla="*/ 394 h 25"/>
                <a:gd name="T8" fmla="*/ 1189907 w 106"/>
                <a:gd name="T9" fmla="*/ 394 h 25"/>
                <a:gd name="T10" fmla="*/ 1723619 w 106"/>
                <a:gd name="T11" fmla="*/ 394 h 25"/>
                <a:gd name="T12" fmla="*/ 2261872 w 106"/>
                <a:gd name="T13" fmla="*/ 394 h 25"/>
                <a:gd name="T14" fmla="*/ 2742357 w 106"/>
                <a:gd name="T15" fmla="*/ 392 h 25"/>
                <a:gd name="T16" fmla="*/ 3184802 w 106"/>
                <a:gd name="T17" fmla="*/ 291 h 25"/>
                <a:gd name="T18" fmla="*/ 3468237 w 106"/>
                <a:gd name="T19" fmla="*/ 101 h 25"/>
                <a:gd name="T20" fmla="*/ 3048815 w 106"/>
                <a:gd name="T21" fmla="*/ 0 h 25"/>
                <a:gd name="T22" fmla="*/ 2950607 w 106"/>
                <a:gd name="T23" fmla="*/ 2 h 25"/>
                <a:gd name="T24" fmla="*/ 2681420 w 106"/>
                <a:gd name="T25" fmla="*/ 101 h 25"/>
                <a:gd name="T26" fmla="*/ 2261872 w 106"/>
                <a:gd name="T27" fmla="*/ 117 h 25"/>
                <a:gd name="T28" fmla="*/ 1723619 w 106"/>
                <a:gd name="T29" fmla="*/ 101 h 25"/>
                <a:gd name="T30" fmla="*/ 1189907 w 106"/>
                <a:gd name="T31" fmla="*/ 101 h 25"/>
                <a:gd name="T32" fmla="*/ 724886 w 106"/>
                <a:gd name="T33" fmla="*/ 117 h 25"/>
                <a:gd name="T34" fmla="*/ 306683 w 106"/>
                <a:gd name="T35" fmla="*/ 158 h 25"/>
                <a:gd name="T36" fmla="*/ 0 w 106"/>
                <a:gd name="T37" fmla="*/ 338 h 25"/>
                <a:gd name="T38" fmla="*/ 0 w 106"/>
                <a:gd name="T39" fmla="*/ 392 h 25"/>
                <a:gd name="T40" fmla="*/ 0 w 106"/>
                <a:gd name="T41" fmla="*/ 338 h 25"/>
                <a:gd name="T42" fmla="*/ 35232 w 106"/>
                <a:gd name="T43" fmla="*/ 455 h 25"/>
                <a:gd name="T44" fmla="*/ 155837 w 106"/>
                <a:gd name="T45" fmla="*/ 530 h 25"/>
                <a:gd name="T46" fmla="*/ 325065 w 106"/>
                <a:gd name="T47" fmla="*/ 528 h 25"/>
                <a:gd name="T48" fmla="*/ 419911 w 106"/>
                <a:gd name="T49" fmla="*/ 445 h 25"/>
                <a:gd name="T50" fmla="*/ 464163 w 106"/>
                <a:gd name="T51" fmla="*/ 392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4" y="17"/>
                  </a:moveTo>
                  <a:lnTo>
                    <a:pt x="13" y="19"/>
                  </a:lnTo>
                  <a:lnTo>
                    <a:pt x="15" y="20"/>
                  </a:lnTo>
                  <a:lnTo>
                    <a:pt x="23" y="18"/>
                  </a:lnTo>
                  <a:lnTo>
                    <a:pt x="36" y="18"/>
                  </a:lnTo>
                  <a:lnTo>
                    <a:pt x="52" y="18"/>
                  </a:lnTo>
                  <a:lnTo>
                    <a:pt x="68" y="18"/>
                  </a:lnTo>
                  <a:lnTo>
                    <a:pt x="83" y="17"/>
                  </a:lnTo>
                  <a:lnTo>
                    <a:pt x="96" y="13"/>
                  </a:lnTo>
                  <a:lnTo>
                    <a:pt x="105" y="4"/>
                  </a:lnTo>
                  <a:lnTo>
                    <a:pt x="92" y="0"/>
                  </a:lnTo>
                  <a:lnTo>
                    <a:pt x="89" y="2"/>
                  </a:lnTo>
                  <a:lnTo>
                    <a:pt x="81" y="4"/>
                  </a:lnTo>
                  <a:lnTo>
                    <a:pt x="68" y="5"/>
                  </a:lnTo>
                  <a:lnTo>
                    <a:pt x="52" y="4"/>
                  </a:lnTo>
                  <a:lnTo>
                    <a:pt x="36" y="4"/>
                  </a:lnTo>
                  <a:lnTo>
                    <a:pt x="22" y="5"/>
                  </a:lnTo>
                  <a:lnTo>
                    <a:pt x="9" y="7"/>
                  </a:lnTo>
                  <a:lnTo>
                    <a:pt x="0" y="15"/>
                  </a:lnTo>
                  <a:lnTo>
                    <a:pt x="0" y="17"/>
                  </a:lnTo>
                  <a:lnTo>
                    <a:pt x="0" y="15"/>
                  </a:lnTo>
                  <a:lnTo>
                    <a:pt x="1" y="20"/>
                  </a:lnTo>
                  <a:lnTo>
                    <a:pt x="5" y="24"/>
                  </a:lnTo>
                  <a:lnTo>
                    <a:pt x="10" y="23"/>
                  </a:lnTo>
                  <a:lnTo>
                    <a:pt x="13" y="19"/>
                  </a:lnTo>
                  <a:lnTo>
                    <a:pt x="14" y="1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59" name="Freeform 178">
              <a:extLst>
                <a:ext uri="{FF2B5EF4-FFF2-40B4-BE49-F238E27FC236}">
                  <a16:creationId xmlns:a16="http://schemas.microsoft.com/office/drawing/2014/main" id="{26F10275-4B22-5F6B-303C-8439DB859D7C}"/>
                </a:ext>
              </a:extLst>
            </p:cNvPr>
            <p:cNvSpPr>
              <a:spLocks/>
            </p:cNvSpPr>
            <p:nvPr/>
          </p:nvSpPr>
          <p:spPr bwMode="auto">
            <a:xfrm>
              <a:off x="2932" y="2320"/>
              <a:ext cx="24" cy="11"/>
            </a:xfrm>
            <a:custGeom>
              <a:avLst/>
              <a:gdLst>
                <a:gd name="T0" fmla="*/ 255066 w 15"/>
                <a:gd name="T1" fmla="*/ 45 h 10"/>
                <a:gd name="T2" fmla="*/ 265134 w 15"/>
                <a:gd name="T3" fmla="*/ 2 h 10"/>
                <a:gd name="T4" fmla="*/ 0 w 15"/>
                <a:gd name="T5" fmla="*/ 2 h 10"/>
                <a:gd name="T6" fmla="*/ 0 w 15"/>
                <a:gd name="T7" fmla="*/ 0 h 10"/>
                <a:gd name="T8" fmla="*/ 0 w 15"/>
                <a:gd name="T9" fmla="*/ 2 h 10"/>
                <a:gd name="T10" fmla="*/ 38920 w 15"/>
                <a:gd name="T11" fmla="*/ 61 h 10"/>
                <a:gd name="T12" fmla="*/ 136000 w 15"/>
                <a:gd name="T13" fmla="*/ 67 h 10"/>
                <a:gd name="T14" fmla="*/ 226910 w 15"/>
                <a:gd name="T15" fmla="*/ 61 h 10"/>
                <a:gd name="T16" fmla="*/ 265134 w 15"/>
                <a:gd name="T17" fmla="*/ 2 h 10"/>
                <a:gd name="T18" fmla="*/ 255066 w 15"/>
                <a:gd name="T19" fmla="*/ 4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13" y="5"/>
                  </a:moveTo>
                  <a:lnTo>
                    <a:pt x="14" y="2"/>
                  </a:lnTo>
                  <a:lnTo>
                    <a:pt x="0" y="2"/>
                  </a:lnTo>
                  <a:lnTo>
                    <a:pt x="0" y="0"/>
                  </a:lnTo>
                  <a:lnTo>
                    <a:pt x="0" y="2"/>
                  </a:lnTo>
                  <a:lnTo>
                    <a:pt x="2" y="8"/>
                  </a:lnTo>
                  <a:lnTo>
                    <a:pt x="7" y="9"/>
                  </a:lnTo>
                  <a:lnTo>
                    <a:pt x="12" y="8"/>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0" name="Freeform 179">
              <a:extLst>
                <a:ext uri="{FF2B5EF4-FFF2-40B4-BE49-F238E27FC236}">
                  <a16:creationId xmlns:a16="http://schemas.microsoft.com/office/drawing/2014/main" id="{93601E7F-33CB-5A73-0BD6-5DD0C2A2E14D}"/>
                </a:ext>
              </a:extLst>
            </p:cNvPr>
            <p:cNvSpPr>
              <a:spLocks/>
            </p:cNvSpPr>
            <p:nvPr/>
          </p:nvSpPr>
          <p:spPr bwMode="auto">
            <a:xfrm>
              <a:off x="2932" y="2320"/>
              <a:ext cx="128" cy="76"/>
            </a:xfrm>
            <a:custGeom>
              <a:avLst/>
              <a:gdLst>
                <a:gd name="T0" fmla="*/ 2532882 w 78"/>
                <a:gd name="T1" fmla="*/ 932 h 67"/>
                <a:gd name="T2" fmla="*/ 2499568 w 78"/>
                <a:gd name="T3" fmla="*/ 740 h 67"/>
                <a:gd name="T4" fmla="*/ 2209400 w 78"/>
                <a:gd name="T5" fmla="*/ 620 h 67"/>
                <a:gd name="T6" fmla="*/ 1812188 w 78"/>
                <a:gd name="T7" fmla="*/ 491 h 67"/>
                <a:gd name="T8" fmla="*/ 1380721 w 78"/>
                <a:gd name="T9" fmla="*/ 348 h 67"/>
                <a:gd name="T10" fmla="*/ 975677 w 78"/>
                <a:gd name="T11" fmla="*/ 270 h 67"/>
                <a:gd name="T12" fmla="*/ 664651 w 78"/>
                <a:gd name="T13" fmla="*/ 145 h 67"/>
                <a:gd name="T14" fmla="*/ 461814 w 78"/>
                <a:gd name="T15" fmla="*/ 78 h 67"/>
                <a:gd name="T16" fmla="*/ 418066 w 78"/>
                <a:gd name="T17" fmla="*/ 69 h 67"/>
                <a:gd name="T18" fmla="*/ 0 w 78"/>
                <a:gd name="T19" fmla="*/ 0 h 67"/>
                <a:gd name="T20" fmla="*/ 57648 w 78"/>
                <a:gd name="T21" fmla="*/ 185 h 67"/>
                <a:gd name="T22" fmla="*/ 362306 w 78"/>
                <a:gd name="T23" fmla="*/ 306 h 67"/>
                <a:gd name="T24" fmla="*/ 720891 w 78"/>
                <a:gd name="T25" fmla="*/ 433 h 67"/>
                <a:gd name="T26" fmla="*/ 1148299 w 78"/>
                <a:gd name="T27" fmla="*/ 547 h 67"/>
                <a:gd name="T28" fmla="*/ 1587866 w 78"/>
                <a:gd name="T29" fmla="*/ 650 h 67"/>
                <a:gd name="T30" fmla="*/ 1906471 w 78"/>
                <a:gd name="T31" fmla="*/ 741 h 67"/>
                <a:gd name="T32" fmla="*/ 2101908 w 78"/>
                <a:gd name="T33" fmla="*/ 836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6" y="53"/>
                  </a:lnTo>
                  <a:lnTo>
                    <a:pt x="67" y="43"/>
                  </a:lnTo>
                  <a:lnTo>
                    <a:pt x="55" y="34"/>
                  </a:lnTo>
                  <a:lnTo>
                    <a:pt x="42" y="26"/>
                  </a:lnTo>
                  <a:lnTo>
                    <a:pt x="30" y="19"/>
                  </a:lnTo>
                  <a:lnTo>
                    <a:pt x="20" y="11"/>
                  </a:lnTo>
                  <a:lnTo>
                    <a:pt x="14" y="6"/>
                  </a:lnTo>
                  <a:lnTo>
                    <a:pt x="13" y="5"/>
                  </a:lnTo>
                  <a:lnTo>
                    <a:pt x="0" y="0"/>
                  </a:lnTo>
                  <a:lnTo>
                    <a:pt x="2" y="13"/>
                  </a:lnTo>
                  <a:lnTo>
                    <a:pt x="11" y="22"/>
                  </a:lnTo>
                  <a:lnTo>
                    <a:pt x="22" y="30"/>
                  </a:lnTo>
                  <a:lnTo>
                    <a:pt x="35" y="38"/>
                  </a:lnTo>
                  <a:lnTo>
                    <a:pt x="48" y="46"/>
                  </a:lnTo>
                  <a:lnTo>
                    <a:pt x="58" y="54"/>
                  </a:lnTo>
                  <a:lnTo>
                    <a:pt x="64" y="59"/>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1" name="Freeform 180">
              <a:extLst>
                <a:ext uri="{FF2B5EF4-FFF2-40B4-BE49-F238E27FC236}">
                  <a16:creationId xmlns:a16="http://schemas.microsoft.com/office/drawing/2014/main" id="{A3CA708C-8146-6849-2CE7-ED0A261B79BD}"/>
                </a:ext>
              </a:extLst>
            </p:cNvPr>
            <p:cNvSpPr>
              <a:spLocks/>
            </p:cNvSpPr>
            <p:nvPr/>
          </p:nvSpPr>
          <p:spPr bwMode="auto">
            <a:xfrm>
              <a:off x="2884" y="2391"/>
              <a:ext cx="176" cy="31"/>
            </a:xfrm>
            <a:custGeom>
              <a:avLst/>
              <a:gdLst>
                <a:gd name="T0" fmla="*/ 448956 w 107"/>
                <a:gd name="T1" fmla="*/ 473 h 27"/>
                <a:gd name="T2" fmla="*/ 448956 w 107"/>
                <a:gd name="T3" fmla="*/ 468 h 27"/>
                <a:gd name="T4" fmla="*/ 551648 w 107"/>
                <a:gd name="T5" fmla="*/ 412 h 27"/>
                <a:gd name="T6" fmla="*/ 818282 w 107"/>
                <a:gd name="T7" fmla="*/ 377 h 27"/>
                <a:gd name="T8" fmla="*/ 1274250 w 107"/>
                <a:gd name="T9" fmla="*/ 359 h 27"/>
                <a:gd name="T10" fmla="*/ 1829721 w 107"/>
                <a:gd name="T11" fmla="*/ 377 h 27"/>
                <a:gd name="T12" fmla="*/ 2374059 w 107"/>
                <a:gd name="T13" fmla="*/ 359 h 27"/>
                <a:gd name="T14" fmla="*/ 2899460 w 107"/>
                <a:gd name="T15" fmla="*/ 355 h 27"/>
                <a:gd name="T16" fmla="*/ 3361858 w 107"/>
                <a:gd name="T17" fmla="*/ 273 h 27"/>
                <a:gd name="T18" fmla="*/ 3649694 w 107"/>
                <a:gd name="T19" fmla="*/ 79 h 27"/>
                <a:gd name="T20" fmla="*/ 3223782 w 107"/>
                <a:gd name="T21" fmla="*/ 0 h 27"/>
                <a:gd name="T22" fmla="*/ 3107351 w 107"/>
                <a:gd name="T23" fmla="*/ 3 h 27"/>
                <a:gd name="T24" fmla="*/ 2796262 w 107"/>
                <a:gd name="T25" fmla="*/ 91 h 27"/>
                <a:gd name="T26" fmla="*/ 2374059 w 107"/>
                <a:gd name="T27" fmla="*/ 119 h 27"/>
                <a:gd name="T28" fmla="*/ 1829721 w 107"/>
                <a:gd name="T29" fmla="*/ 104 h 27"/>
                <a:gd name="T30" fmla="*/ 1274250 w 107"/>
                <a:gd name="T31" fmla="*/ 119 h 27"/>
                <a:gd name="T32" fmla="*/ 738470 w 107"/>
                <a:gd name="T33" fmla="*/ 137 h 27"/>
                <a:gd name="T34" fmla="*/ 316149 w 107"/>
                <a:gd name="T35" fmla="*/ 207 h 27"/>
                <a:gd name="T36" fmla="*/ 0 w 107"/>
                <a:gd name="T37" fmla="*/ 377 h 27"/>
                <a:gd name="T38" fmla="*/ 448956 w 107"/>
                <a:gd name="T39" fmla="*/ 473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7"/>
                <a:gd name="T61" fmla="*/ 0 h 27"/>
                <a:gd name="T62" fmla="*/ 107 w 107"/>
                <a:gd name="T63" fmla="*/ 27 h 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7" h="27">
                  <a:moveTo>
                    <a:pt x="13" y="26"/>
                  </a:moveTo>
                  <a:lnTo>
                    <a:pt x="13" y="25"/>
                  </a:lnTo>
                  <a:lnTo>
                    <a:pt x="16" y="23"/>
                  </a:lnTo>
                  <a:lnTo>
                    <a:pt x="24" y="21"/>
                  </a:lnTo>
                  <a:lnTo>
                    <a:pt x="37" y="20"/>
                  </a:lnTo>
                  <a:lnTo>
                    <a:pt x="53" y="21"/>
                  </a:lnTo>
                  <a:lnTo>
                    <a:pt x="69" y="20"/>
                  </a:lnTo>
                  <a:lnTo>
                    <a:pt x="84" y="19"/>
                  </a:lnTo>
                  <a:lnTo>
                    <a:pt x="97" y="15"/>
                  </a:lnTo>
                  <a:lnTo>
                    <a:pt x="106" y="4"/>
                  </a:lnTo>
                  <a:lnTo>
                    <a:pt x="93" y="0"/>
                  </a:lnTo>
                  <a:lnTo>
                    <a:pt x="90" y="3"/>
                  </a:lnTo>
                  <a:lnTo>
                    <a:pt x="81" y="5"/>
                  </a:lnTo>
                  <a:lnTo>
                    <a:pt x="69" y="7"/>
                  </a:lnTo>
                  <a:lnTo>
                    <a:pt x="53" y="6"/>
                  </a:lnTo>
                  <a:lnTo>
                    <a:pt x="37" y="7"/>
                  </a:lnTo>
                  <a:lnTo>
                    <a:pt x="21" y="8"/>
                  </a:lnTo>
                  <a:lnTo>
                    <a:pt x="9" y="11"/>
                  </a:lnTo>
                  <a:lnTo>
                    <a:pt x="0" y="21"/>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2" name="Freeform 181">
              <a:extLst>
                <a:ext uri="{FF2B5EF4-FFF2-40B4-BE49-F238E27FC236}">
                  <a16:creationId xmlns:a16="http://schemas.microsoft.com/office/drawing/2014/main" id="{2EC12911-5E91-2D19-27EE-7129FD3ACFB0}"/>
                </a:ext>
              </a:extLst>
            </p:cNvPr>
            <p:cNvSpPr>
              <a:spLocks/>
            </p:cNvSpPr>
            <p:nvPr/>
          </p:nvSpPr>
          <p:spPr bwMode="auto">
            <a:xfrm>
              <a:off x="2884" y="2414"/>
              <a:ext cx="131" cy="78"/>
            </a:xfrm>
            <a:custGeom>
              <a:avLst/>
              <a:gdLst>
                <a:gd name="T0" fmla="*/ 2480706 w 80"/>
                <a:gd name="T1" fmla="*/ 1202 h 68"/>
                <a:gd name="T2" fmla="*/ 2480706 w 80"/>
                <a:gd name="T3" fmla="*/ 1176 h 68"/>
                <a:gd name="T4" fmla="*/ 2415525 w 80"/>
                <a:gd name="T5" fmla="*/ 958 h 68"/>
                <a:gd name="T6" fmla="*/ 2134954 w 80"/>
                <a:gd name="T7" fmla="*/ 777 h 68"/>
                <a:gd name="T8" fmla="*/ 1785199 w 80"/>
                <a:gd name="T9" fmla="*/ 635 h 68"/>
                <a:gd name="T10" fmla="*/ 1346184 w 80"/>
                <a:gd name="T11" fmla="*/ 484 h 68"/>
                <a:gd name="T12" fmla="*/ 900843 w 80"/>
                <a:gd name="T13" fmla="*/ 341 h 68"/>
                <a:gd name="T14" fmla="*/ 603561 w 80"/>
                <a:gd name="T15" fmla="*/ 236 h 68"/>
                <a:gd name="T16" fmla="*/ 445495 w 80"/>
                <a:gd name="T17" fmla="*/ 119 h 68"/>
                <a:gd name="T18" fmla="*/ 402943 w 80"/>
                <a:gd name="T19" fmla="*/ 91 h 68"/>
                <a:gd name="T20" fmla="*/ 0 w 80"/>
                <a:gd name="T21" fmla="*/ 0 h 68"/>
                <a:gd name="T22" fmla="*/ 56043 w 80"/>
                <a:gd name="T23" fmla="*/ 236 h 68"/>
                <a:gd name="T24" fmla="*/ 306592 w 80"/>
                <a:gd name="T25" fmla="*/ 410 h 68"/>
                <a:gd name="T26" fmla="*/ 729498 w 80"/>
                <a:gd name="T27" fmla="*/ 555 h 68"/>
                <a:gd name="T28" fmla="*/ 1139327 w 80"/>
                <a:gd name="T29" fmla="*/ 709 h 68"/>
                <a:gd name="T30" fmla="*/ 1538762 w 80"/>
                <a:gd name="T31" fmla="*/ 838 h 68"/>
                <a:gd name="T32" fmla="*/ 1865648 w 80"/>
                <a:gd name="T33" fmla="*/ 961 h 68"/>
                <a:gd name="T34" fmla="*/ 2045165 w 80"/>
                <a:gd name="T35" fmla="*/ 1070 h 68"/>
                <a:gd name="T36" fmla="*/ 2079299 w 80"/>
                <a:gd name="T37" fmla="*/ 1102 h 68"/>
                <a:gd name="T38" fmla="*/ 2480706 w 80"/>
                <a:gd name="T39" fmla="*/ 1202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8"/>
                <a:gd name="T62" fmla="*/ 80 w 80"/>
                <a:gd name="T63" fmla="*/ 68 h 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8">
                  <a:moveTo>
                    <a:pt x="79" y="67"/>
                  </a:moveTo>
                  <a:lnTo>
                    <a:pt x="79" y="66"/>
                  </a:lnTo>
                  <a:lnTo>
                    <a:pt x="77" y="53"/>
                  </a:lnTo>
                  <a:lnTo>
                    <a:pt x="68" y="44"/>
                  </a:lnTo>
                  <a:lnTo>
                    <a:pt x="57" y="35"/>
                  </a:lnTo>
                  <a:lnTo>
                    <a:pt x="43" y="27"/>
                  </a:lnTo>
                  <a:lnTo>
                    <a:pt x="29" y="19"/>
                  </a:lnTo>
                  <a:lnTo>
                    <a:pt x="19" y="13"/>
                  </a:lnTo>
                  <a:lnTo>
                    <a:pt x="14" y="7"/>
                  </a:lnTo>
                  <a:lnTo>
                    <a:pt x="13" y="5"/>
                  </a:lnTo>
                  <a:lnTo>
                    <a:pt x="0" y="0"/>
                  </a:lnTo>
                  <a:lnTo>
                    <a:pt x="2" y="13"/>
                  </a:lnTo>
                  <a:lnTo>
                    <a:pt x="10" y="23"/>
                  </a:lnTo>
                  <a:lnTo>
                    <a:pt x="23" y="31"/>
                  </a:lnTo>
                  <a:lnTo>
                    <a:pt x="36" y="39"/>
                  </a:lnTo>
                  <a:lnTo>
                    <a:pt x="49" y="47"/>
                  </a:lnTo>
                  <a:lnTo>
                    <a:pt x="59" y="54"/>
                  </a:lnTo>
                  <a:lnTo>
                    <a:pt x="65" y="60"/>
                  </a:lnTo>
                  <a:lnTo>
                    <a:pt x="66" y="62"/>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3" name="Freeform 182">
              <a:extLst>
                <a:ext uri="{FF2B5EF4-FFF2-40B4-BE49-F238E27FC236}">
                  <a16:creationId xmlns:a16="http://schemas.microsoft.com/office/drawing/2014/main" id="{E4E1C95D-87E7-1464-9C81-A8783165ABA5}"/>
                </a:ext>
              </a:extLst>
            </p:cNvPr>
            <p:cNvSpPr>
              <a:spLocks/>
            </p:cNvSpPr>
            <p:nvPr/>
          </p:nvSpPr>
          <p:spPr bwMode="auto">
            <a:xfrm>
              <a:off x="2839" y="2486"/>
              <a:ext cx="176" cy="36"/>
            </a:xfrm>
            <a:custGeom>
              <a:avLst/>
              <a:gdLst>
                <a:gd name="T0" fmla="*/ 448956 w 107"/>
                <a:gd name="T1" fmla="*/ 322 h 32"/>
                <a:gd name="T2" fmla="*/ 520021 w 107"/>
                <a:gd name="T3" fmla="*/ 293 h 32"/>
                <a:gd name="T4" fmla="*/ 818282 w 107"/>
                <a:gd name="T5" fmla="*/ 285 h 32"/>
                <a:gd name="T6" fmla="*/ 1274250 w 107"/>
                <a:gd name="T7" fmla="*/ 254 h 32"/>
                <a:gd name="T8" fmla="*/ 1803036 w 107"/>
                <a:gd name="T9" fmla="*/ 254 h 32"/>
                <a:gd name="T10" fmla="*/ 2374059 w 107"/>
                <a:gd name="T11" fmla="*/ 231 h 32"/>
                <a:gd name="T12" fmla="*/ 2899460 w 107"/>
                <a:gd name="T13" fmla="*/ 214 h 32"/>
                <a:gd name="T14" fmla="*/ 3361858 w 107"/>
                <a:gd name="T15" fmla="*/ 179 h 32"/>
                <a:gd name="T16" fmla="*/ 3649694 w 107"/>
                <a:gd name="T17" fmla="*/ 68 h 32"/>
                <a:gd name="T18" fmla="*/ 3223782 w 107"/>
                <a:gd name="T19" fmla="*/ 0 h 32"/>
                <a:gd name="T20" fmla="*/ 3107351 w 107"/>
                <a:gd name="T21" fmla="*/ 3 h 32"/>
                <a:gd name="T22" fmla="*/ 2796262 w 107"/>
                <a:gd name="T23" fmla="*/ 77 h 32"/>
                <a:gd name="T24" fmla="*/ 2314237 w 107"/>
                <a:gd name="T25" fmla="*/ 98 h 32"/>
                <a:gd name="T26" fmla="*/ 1803036 w 107"/>
                <a:gd name="T27" fmla="*/ 98 h 32"/>
                <a:gd name="T28" fmla="*/ 1214680 w 107"/>
                <a:gd name="T29" fmla="*/ 98 h 32"/>
                <a:gd name="T30" fmla="*/ 738470 w 107"/>
                <a:gd name="T31" fmla="*/ 111 h 32"/>
                <a:gd name="T32" fmla="*/ 316149 w 107"/>
                <a:gd name="T33" fmla="*/ 159 h 32"/>
                <a:gd name="T34" fmla="*/ 0 w 107"/>
                <a:gd name="T35" fmla="*/ 285 h 32"/>
                <a:gd name="T36" fmla="*/ 0 w 107"/>
                <a:gd name="T37" fmla="*/ 330 h 32"/>
                <a:gd name="T38" fmla="*/ 154972 w 107"/>
                <a:gd name="T39" fmla="*/ 368 h 32"/>
                <a:gd name="T40" fmla="*/ 316149 w 107"/>
                <a:gd name="T41" fmla="*/ 362 h 32"/>
                <a:gd name="T42" fmla="*/ 448956 w 107"/>
                <a:gd name="T43" fmla="*/ 322 h 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7"/>
                <a:gd name="T67" fmla="*/ 0 h 32"/>
                <a:gd name="T68" fmla="*/ 107 w 107"/>
                <a:gd name="T69" fmla="*/ 32 h 3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7" h="32">
                  <a:moveTo>
                    <a:pt x="13" y="27"/>
                  </a:moveTo>
                  <a:lnTo>
                    <a:pt x="15" y="25"/>
                  </a:lnTo>
                  <a:lnTo>
                    <a:pt x="24" y="23"/>
                  </a:lnTo>
                  <a:lnTo>
                    <a:pt x="37" y="21"/>
                  </a:lnTo>
                  <a:lnTo>
                    <a:pt x="52" y="21"/>
                  </a:lnTo>
                  <a:lnTo>
                    <a:pt x="69" y="20"/>
                  </a:lnTo>
                  <a:lnTo>
                    <a:pt x="84" y="18"/>
                  </a:lnTo>
                  <a:lnTo>
                    <a:pt x="97" y="15"/>
                  </a:lnTo>
                  <a:lnTo>
                    <a:pt x="106" y="5"/>
                  </a:lnTo>
                  <a:lnTo>
                    <a:pt x="93" y="0"/>
                  </a:lnTo>
                  <a:lnTo>
                    <a:pt x="90" y="3"/>
                  </a:lnTo>
                  <a:lnTo>
                    <a:pt x="81" y="6"/>
                  </a:lnTo>
                  <a:lnTo>
                    <a:pt x="67" y="8"/>
                  </a:lnTo>
                  <a:lnTo>
                    <a:pt x="52" y="8"/>
                  </a:lnTo>
                  <a:lnTo>
                    <a:pt x="35" y="8"/>
                  </a:lnTo>
                  <a:lnTo>
                    <a:pt x="21" y="10"/>
                  </a:lnTo>
                  <a:lnTo>
                    <a:pt x="9" y="13"/>
                  </a:lnTo>
                  <a:lnTo>
                    <a:pt x="0" y="23"/>
                  </a:lnTo>
                  <a:lnTo>
                    <a:pt x="0" y="28"/>
                  </a:lnTo>
                  <a:lnTo>
                    <a:pt x="4" y="31"/>
                  </a:lnTo>
                  <a:lnTo>
                    <a:pt x="9" y="30"/>
                  </a:lnTo>
                  <a:lnTo>
                    <a:pt x="13"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4" name="Freeform 183">
              <a:extLst>
                <a:ext uri="{FF2B5EF4-FFF2-40B4-BE49-F238E27FC236}">
                  <a16:creationId xmlns:a16="http://schemas.microsoft.com/office/drawing/2014/main" id="{B29856C5-340F-DF22-3E4F-11FB0DEC4260}"/>
                </a:ext>
              </a:extLst>
            </p:cNvPr>
            <p:cNvSpPr>
              <a:spLocks/>
            </p:cNvSpPr>
            <p:nvPr/>
          </p:nvSpPr>
          <p:spPr bwMode="auto">
            <a:xfrm>
              <a:off x="2839" y="2511"/>
              <a:ext cx="24" cy="11"/>
            </a:xfrm>
            <a:custGeom>
              <a:avLst/>
              <a:gdLst>
                <a:gd name="T0" fmla="*/ 1057803 w 14"/>
                <a:gd name="T1" fmla="*/ 264 h 9"/>
                <a:gd name="T2" fmla="*/ 477204 w 14"/>
                <a:gd name="T3" fmla="*/ 2 h 9"/>
                <a:gd name="T4" fmla="*/ 0 w 14"/>
                <a:gd name="T5" fmla="*/ 0 h 9"/>
                <a:gd name="T6" fmla="*/ 0 w 14"/>
                <a:gd name="T7" fmla="*/ 323 h 9"/>
                <a:gd name="T8" fmla="*/ 344592 w 14"/>
                <a:gd name="T9" fmla="*/ 543 h 9"/>
                <a:gd name="T10" fmla="*/ 732298 w 14"/>
                <a:gd name="T11" fmla="*/ 483 h 9"/>
                <a:gd name="T12" fmla="*/ 1057803 w 14"/>
                <a:gd name="T13" fmla="*/ 264 h 9"/>
                <a:gd name="T14" fmla="*/ 0 60000 65536"/>
                <a:gd name="T15" fmla="*/ 0 60000 65536"/>
                <a:gd name="T16" fmla="*/ 0 60000 65536"/>
                <a:gd name="T17" fmla="*/ 0 60000 65536"/>
                <a:gd name="T18" fmla="*/ 0 60000 65536"/>
                <a:gd name="T19" fmla="*/ 0 60000 65536"/>
                <a:gd name="T20" fmla="*/ 0 60000 65536"/>
                <a:gd name="T21" fmla="*/ 0 w 14"/>
                <a:gd name="T22" fmla="*/ 0 h 9"/>
                <a:gd name="T23" fmla="*/ 14 w 1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9">
                  <a:moveTo>
                    <a:pt x="13" y="4"/>
                  </a:moveTo>
                  <a:lnTo>
                    <a:pt x="6" y="2"/>
                  </a:lnTo>
                  <a:lnTo>
                    <a:pt x="0" y="0"/>
                  </a:lnTo>
                  <a:lnTo>
                    <a:pt x="0" y="5"/>
                  </a:lnTo>
                  <a:lnTo>
                    <a:pt x="4" y="8"/>
                  </a:lnTo>
                  <a:lnTo>
                    <a:pt x="9" y="7"/>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5" name="Freeform 184">
              <a:extLst>
                <a:ext uri="{FF2B5EF4-FFF2-40B4-BE49-F238E27FC236}">
                  <a16:creationId xmlns:a16="http://schemas.microsoft.com/office/drawing/2014/main" id="{17121438-799C-E836-EF14-19101A26077A}"/>
                </a:ext>
              </a:extLst>
            </p:cNvPr>
            <p:cNvSpPr>
              <a:spLocks/>
            </p:cNvSpPr>
            <p:nvPr/>
          </p:nvSpPr>
          <p:spPr bwMode="auto">
            <a:xfrm>
              <a:off x="2839" y="2511"/>
              <a:ext cx="133" cy="77"/>
            </a:xfrm>
            <a:custGeom>
              <a:avLst/>
              <a:gdLst>
                <a:gd name="T0" fmla="*/ 3407716 w 80"/>
                <a:gd name="T1" fmla="*/ 1675 h 66"/>
                <a:gd name="T2" fmla="*/ 3335106 w 80"/>
                <a:gd name="T3" fmla="*/ 1341 h 66"/>
                <a:gd name="T4" fmla="*/ 2945860 w 80"/>
                <a:gd name="T5" fmla="*/ 1085 h 66"/>
                <a:gd name="T6" fmla="*/ 2427302 w 80"/>
                <a:gd name="T7" fmla="*/ 904 h 66"/>
                <a:gd name="T8" fmla="*/ 1818905 w 80"/>
                <a:gd name="T9" fmla="*/ 677 h 66"/>
                <a:gd name="T10" fmla="*/ 1296454 w 80"/>
                <a:gd name="T11" fmla="*/ 488 h 66"/>
                <a:gd name="T12" fmla="*/ 853740 w 80"/>
                <a:gd name="T13" fmla="*/ 307 h 66"/>
                <a:gd name="T14" fmla="*/ 596282 w 80"/>
                <a:gd name="T15" fmla="*/ 141 h 66"/>
                <a:gd name="T16" fmla="*/ 581923 w 80"/>
                <a:gd name="T17" fmla="*/ 120 h 66"/>
                <a:gd name="T18" fmla="*/ 0 w 80"/>
                <a:gd name="T19" fmla="*/ 0 h 66"/>
                <a:gd name="T20" fmla="*/ 76176 w 80"/>
                <a:gd name="T21" fmla="*/ 315 h 66"/>
                <a:gd name="T22" fmla="*/ 469066 w 80"/>
                <a:gd name="T23" fmla="*/ 569 h 66"/>
                <a:gd name="T24" fmla="*/ 967447 w 80"/>
                <a:gd name="T25" fmla="*/ 790 h 66"/>
                <a:gd name="T26" fmla="*/ 1562494 w 80"/>
                <a:gd name="T27" fmla="*/ 985 h 66"/>
                <a:gd name="T28" fmla="*/ 2155355 w 80"/>
                <a:gd name="T29" fmla="*/ 1177 h 66"/>
                <a:gd name="T30" fmla="*/ 2553944 w 80"/>
                <a:gd name="T31" fmla="*/ 1344 h 66"/>
                <a:gd name="T32" fmla="*/ 2812677 w 80"/>
                <a:gd name="T33" fmla="*/ 1496 h 66"/>
                <a:gd name="T34" fmla="*/ 2862423 w 80"/>
                <a:gd name="T35" fmla="*/ 1565 h 66"/>
                <a:gd name="T36" fmla="*/ 340771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5"/>
                  </a:lnTo>
                  <a:lnTo>
                    <a:pt x="42" y="27"/>
                  </a:lnTo>
                  <a:lnTo>
                    <a:pt x="30" y="19"/>
                  </a:lnTo>
                  <a:lnTo>
                    <a:pt x="20" y="12"/>
                  </a:lnTo>
                  <a:lnTo>
                    <a:pt x="14" y="6"/>
                  </a:lnTo>
                  <a:lnTo>
                    <a:pt x="13" y="4"/>
                  </a:lnTo>
                  <a:lnTo>
                    <a:pt x="0" y="0"/>
                  </a:lnTo>
                  <a:lnTo>
                    <a:pt x="2" y="13"/>
                  </a:lnTo>
                  <a:lnTo>
                    <a:pt x="11" y="22"/>
                  </a:lnTo>
                  <a:lnTo>
                    <a:pt x="22" y="31"/>
                  </a:lnTo>
                  <a:lnTo>
                    <a:pt x="36" y="39"/>
                  </a:lnTo>
                  <a:lnTo>
                    <a:pt x="50"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6" name="Freeform 185">
              <a:extLst>
                <a:ext uri="{FF2B5EF4-FFF2-40B4-BE49-F238E27FC236}">
                  <a16:creationId xmlns:a16="http://schemas.microsoft.com/office/drawing/2014/main" id="{764077D7-233A-C8FB-E683-6967E3268ECB}"/>
                </a:ext>
              </a:extLst>
            </p:cNvPr>
            <p:cNvSpPr>
              <a:spLocks/>
            </p:cNvSpPr>
            <p:nvPr/>
          </p:nvSpPr>
          <p:spPr bwMode="auto">
            <a:xfrm>
              <a:off x="2816" y="2605"/>
              <a:ext cx="176" cy="30"/>
            </a:xfrm>
            <a:custGeom>
              <a:avLst/>
              <a:gdLst>
                <a:gd name="T0" fmla="*/ 448956 w 107"/>
                <a:gd name="T1" fmla="*/ 496 h 26"/>
                <a:gd name="T2" fmla="*/ 551648 w 107"/>
                <a:gd name="T3" fmla="*/ 430 h 26"/>
                <a:gd name="T4" fmla="*/ 855362 w 107"/>
                <a:gd name="T5" fmla="*/ 404 h 26"/>
                <a:gd name="T6" fmla="*/ 1274250 w 107"/>
                <a:gd name="T7" fmla="*/ 373 h 26"/>
                <a:gd name="T8" fmla="*/ 1829721 w 107"/>
                <a:gd name="T9" fmla="*/ 373 h 26"/>
                <a:gd name="T10" fmla="*/ 2374059 w 107"/>
                <a:gd name="T11" fmla="*/ 372 h 26"/>
                <a:gd name="T12" fmla="*/ 2899460 w 107"/>
                <a:gd name="T13" fmla="*/ 350 h 26"/>
                <a:gd name="T14" fmla="*/ 3361858 w 107"/>
                <a:gd name="T15" fmla="*/ 279 h 26"/>
                <a:gd name="T16" fmla="*/ 3649694 w 107"/>
                <a:gd name="T17" fmla="*/ 89 h 26"/>
                <a:gd name="T18" fmla="*/ 3223782 w 107"/>
                <a:gd name="T19" fmla="*/ 0 h 26"/>
                <a:gd name="T20" fmla="*/ 3107351 w 107"/>
                <a:gd name="T21" fmla="*/ 2 h 26"/>
                <a:gd name="T22" fmla="*/ 2833329 w 107"/>
                <a:gd name="T23" fmla="*/ 89 h 26"/>
                <a:gd name="T24" fmla="*/ 2374059 w 107"/>
                <a:gd name="T25" fmla="*/ 103 h 26"/>
                <a:gd name="T26" fmla="*/ 1829721 w 107"/>
                <a:gd name="T27" fmla="*/ 103 h 26"/>
                <a:gd name="T28" fmla="*/ 1274250 w 107"/>
                <a:gd name="T29" fmla="*/ 119 h 26"/>
                <a:gd name="T30" fmla="*/ 755427 w 107"/>
                <a:gd name="T31" fmla="*/ 137 h 26"/>
                <a:gd name="T32" fmla="*/ 316149 w 107"/>
                <a:gd name="T33" fmla="*/ 228 h 26"/>
                <a:gd name="T34" fmla="*/ 0 w 107"/>
                <a:gd name="T35" fmla="*/ 429 h 26"/>
                <a:gd name="T36" fmla="*/ 448956 w 107"/>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6" y="22"/>
                  </a:lnTo>
                  <a:lnTo>
                    <a:pt x="25" y="20"/>
                  </a:lnTo>
                  <a:lnTo>
                    <a:pt x="37" y="19"/>
                  </a:lnTo>
                  <a:lnTo>
                    <a:pt x="53" y="19"/>
                  </a:lnTo>
                  <a:lnTo>
                    <a:pt x="69" y="18"/>
                  </a:lnTo>
                  <a:lnTo>
                    <a:pt x="84" y="17"/>
                  </a:lnTo>
                  <a:lnTo>
                    <a:pt x="97" y="14"/>
                  </a:lnTo>
                  <a:lnTo>
                    <a:pt x="106" y="4"/>
                  </a:lnTo>
                  <a:lnTo>
                    <a:pt x="93" y="0"/>
                  </a:lnTo>
                  <a:lnTo>
                    <a:pt x="90" y="2"/>
                  </a:lnTo>
                  <a:lnTo>
                    <a:pt x="82" y="4"/>
                  </a:lnTo>
                  <a:lnTo>
                    <a:pt x="69" y="5"/>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7" name="Freeform 186">
              <a:extLst>
                <a:ext uri="{FF2B5EF4-FFF2-40B4-BE49-F238E27FC236}">
                  <a16:creationId xmlns:a16="http://schemas.microsoft.com/office/drawing/2014/main" id="{D4BBD7E9-AEFD-040E-E189-64B4829DC382}"/>
                </a:ext>
              </a:extLst>
            </p:cNvPr>
            <p:cNvSpPr>
              <a:spLocks/>
            </p:cNvSpPr>
            <p:nvPr/>
          </p:nvSpPr>
          <p:spPr bwMode="auto">
            <a:xfrm>
              <a:off x="2816" y="2629"/>
              <a:ext cx="128" cy="76"/>
            </a:xfrm>
            <a:custGeom>
              <a:avLst/>
              <a:gdLst>
                <a:gd name="T0" fmla="*/ 1957454 w 79"/>
                <a:gd name="T1" fmla="*/ 1244 h 66"/>
                <a:gd name="T2" fmla="*/ 1957454 w 79"/>
                <a:gd name="T3" fmla="*/ 1246 h 66"/>
                <a:gd name="T4" fmla="*/ 1908755 w 79"/>
                <a:gd name="T5" fmla="*/ 1001 h 66"/>
                <a:gd name="T6" fmla="*/ 1698912 w 79"/>
                <a:gd name="T7" fmla="*/ 814 h 66"/>
                <a:gd name="T8" fmla="*/ 1410071 w 79"/>
                <a:gd name="T9" fmla="*/ 674 h 66"/>
                <a:gd name="T10" fmla="*/ 1054367 w 79"/>
                <a:gd name="T11" fmla="*/ 510 h 66"/>
                <a:gd name="T12" fmla="*/ 756250 w 79"/>
                <a:gd name="T13" fmla="*/ 371 h 66"/>
                <a:gd name="T14" fmla="*/ 478052 w 79"/>
                <a:gd name="T15" fmla="*/ 236 h 66"/>
                <a:gd name="T16" fmla="*/ 354140 w 79"/>
                <a:gd name="T17" fmla="*/ 117 h 66"/>
                <a:gd name="T18" fmla="*/ 324684 w 79"/>
                <a:gd name="T19" fmla="*/ 89 h 66"/>
                <a:gd name="T20" fmla="*/ 0 w 79"/>
                <a:gd name="T21" fmla="*/ 0 h 66"/>
                <a:gd name="T22" fmla="*/ 47112 w 79"/>
                <a:gd name="T23" fmla="*/ 251 h 66"/>
                <a:gd name="T24" fmla="*/ 247881 w 79"/>
                <a:gd name="T25" fmla="*/ 441 h 66"/>
                <a:gd name="T26" fmla="*/ 555092 w 79"/>
                <a:gd name="T27" fmla="*/ 587 h 66"/>
                <a:gd name="T28" fmla="*/ 899390 w 79"/>
                <a:gd name="T29" fmla="*/ 752 h 66"/>
                <a:gd name="T30" fmla="*/ 1208116 w 79"/>
                <a:gd name="T31" fmla="*/ 894 h 66"/>
                <a:gd name="T32" fmla="*/ 1457239 w 79"/>
                <a:gd name="T33" fmla="*/ 1029 h 66"/>
                <a:gd name="T34" fmla="*/ 1622345 w 79"/>
                <a:gd name="T35" fmla="*/ 1148 h 66"/>
                <a:gd name="T36" fmla="*/ 1630312 w 79"/>
                <a:gd name="T37" fmla="*/ 1153 h 66"/>
                <a:gd name="T38" fmla="*/ 1630312 w 79"/>
                <a:gd name="T39" fmla="*/ 1185 h 66"/>
                <a:gd name="T40" fmla="*/ 1957454 w 79"/>
                <a:gd name="T41" fmla="*/ 1244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66"/>
                <a:gd name="T65" fmla="*/ 79 w 79"/>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66">
                  <a:moveTo>
                    <a:pt x="78" y="64"/>
                  </a:moveTo>
                  <a:lnTo>
                    <a:pt x="78" y="65"/>
                  </a:lnTo>
                  <a:lnTo>
                    <a:pt x="76" y="52"/>
                  </a:lnTo>
                  <a:lnTo>
                    <a:pt x="67" y="42"/>
                  </a:lnTo>
                  <a:lnTo>
                    <a:pt x="56" y="35"/>
                  </a:lnTo>
                  <a:lnTo>
                    <a:pt x="42" y="27"/>
                  </a:lnTo>
                  <a:lnTo>
                    <a:pt x="30" y="19"/>
                  </a:lnTo>
                  <a:lnTo>
                    <a:pt x="19" y="12"/>
                  </a:lnTo>
                  <a:lnTo>
                    <a:pt x="14" y="6"/>
                  </a:lnTo>
                  <a:lnTo>
                    <a:pt x="13" y="4"/>
                  </a:lnTo>
                  <a:lnTo>
                    <a:pt x="0" y="0"/>
                  </a:lnTo>
                  <a:lnTo>
                    <a:pt x="2" y="13"/>
                  </a:lnTo>
                  <a:lnTo>
                    <a:pt x="10" y="23"/>
                  </a:lnTo>
                  <a:lnTo>
                    <a:pt x="22" y="31"/>
                  </a:lnTo>
                  <a:lnTo>
                    <a:pt x="36" y="38"/>
                  </a:lnTo>
                  <a:lnTo>
                    <a:pt x="48" y="46"/>
                  </a:lnTo>
                  <a:lnTo>
                    <a:pt x="58" y="53"/>
                  </a:lnTo>
                  <a:lnTo>
                    <a:pt x="64" y="59"/>
                  </a:lnTo>
                  <a:lnTo>
                    <a:pt x="65" y="60"/>
                  </a:lnTo>
                  <a:lnTo>
                    <a:pt x="65" y="61"/>
                  </a:lnTo>
                  <a:lnTo>
                    <a:pt x="78" y="6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8" name="Freeform 187">
              <a:extLst>
                <a:ext uri="{FF2B5EF4-FFF2-40B4-BE49-F238E27FC236}">
                  <a16:creationId xmlns:a16="http://schemas.microsoft.com/office/drawing/2014/main" id="{3A8CC80B-43CA-46FD-1D1F-776CA7FCA18E}"/>
                </a:ext>
              </a:extLst>
            </p:cNvPr>
            <p:cNvSpPr>
              <a:spLocks/>
            </p:cNvSpPr>
            <p:nvPr/>
          </p:nvSpPr>
          <p:spPr bwMode="auto">
            <a:xfrm>
              <a:off x="2771" y="2699"/>
              <a:ext cx="173" cy="29"/>
            </a:xfrm>
            <a:custGeom>
              <a:avLst/>
              <a:gdLst>
                <a:gd name="T0" fmla="*/ 373313 w 106"/>
                <a:gd name="T1" fmla="*/ 457 h 25"/>
                <a:gd name="T2" fmla="*/ 373313 w 106"/>
                <a:gd name="T3" fmla="*/ 455 h 25"/>
                <a:gd name="T4" fmla="*/ 430014 w 106"/>
                <a:gd name="T5" fmla="*/ 455 h 25"/>
                <a:gd name="T6" fmla="*/ 681423 w 106"/>
                <a:gd name="T7" fmla="*/ 394 h 25"/>
                <a:gd name="T8" fmla="*/ 1059028 w 106"/>
                <a:gd name="T9" fmla="*/ 394 h 25"/>
                <a:gd name="T10" fmla="*/ 1530828 w 106"/>
                <a:gd name="T11" fmla="*/ 394 h 25"/>
                <a:gd name="T12" fmla="*/ 1989524 w 106"/>
                <a:gd name="T13" fmla="*/ 394 h 25"/>
                <a:gd name="T14" fmla="*/ 2421995 w 106"/>
                <a:gd name="T15" fmla="*/ 392 h 25"/>
                <a:gd name="T16" fmla="*/ 2820902 w 106"/>
                <a:gd name="T17" fmla="*/ 291 h 25"/>
                <a:gd name="T18" fmla="*/ 3075039 w 106"/>
                <a:gd name="T19" fmla="*/ 3 h 25"/>
                <a:gd name="T20" fmla="*/ 2702097 w 106"/>
                <a:gd name="T21" fmla="*/ 0 h 25"/>
                <a:gd name="T22" fmla="*/ 2613447 w 106"/>
                <a:gd name="T23" fmla="*/ 1 h 25"/>
                <a:gd name="T24" fmla="*/ 2370041 w 106"/>
                <a:gd name="T25" fmla="*/ 101 h 25"/>
                <a:gd name="T26" fmla="*/ 1989524 w 106"/>
                <a:gd name="T27" fmla="*/ 101 h 25"/>
                <a:gd name="T28" fmla="*/ 1530828 w 106"/>
                <a:gd name="T29" fmla="*/ 101 h 25"/>
                <a:gd name="T30" fmla="*/ 1059028 w 106"/>
                <a:gd name="T31" fmla="*/ 101 h 25"/>
                <a:gd name="T32" fmla="*/ 648884 w 106"/>
                <a:gd name="T33" fmla="*/ 117 h 25"/>
                <a:gd name="T34" fmla="*/ 263477 w 106"/>
                <a:gd name="T35" fmla="*/ 158 h 25"/>
                <a:gd name="T36" fmla="*/ 0 w 106"/>
                <a:gd name="T37" fmla="*/ 384 h 25"/>
                <a:gd name="T38" fmla="*/ 32238 w 106"/>
                <a:gd name="T39" fmla="*/ 331 h 25"/>
                <a:gd name="T40" fmla="*/ 0 w 106"/>
                <a:gd name="T41" fmla="*/ 384 h 25"/>
                <a:gd name="T42" fmla="*/ 32238 w 106"/>
                <a:gd name="T43" fmla="*/ 457 h 25"/>
                <a:gd name="T44" fmla="*/ 140150 w 106"/>
                <a:gd name="T45" fmla="*/ 530 h 25"/>
                <a:gd name="T46" fmla="*/ 285758 w 106"/>
                <a:gd name="T47" fmla="*/ 530 h 25"/>
                <a:gd name="T48" fmla="*/ 373313 w 106"/>
                <a:gd name="T49" fmla="*/ 455 h 25"/>
                <a:gd name="T50" fmla="*/ 373313 w 106"/>
                <a:gd name="T51" fmla="*/ 457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3" y="21"/>
                  </a:moveTo>
                  <a:lnTo>
                    <a:pt x="13" y="20"/>
                  </a:lnTo>
                  <a:lnTo>
                    <a:pt x="15" y="20"/>
                  </a:lnTo>
                  <a:lnTo>
                    <a:pt x="23" y="18"/>
                  </a:lnTo>
                  <a:lnTo>
                    <a:pt x="36" y="18"/>
                  </a:lnTo>
                  <a:lnTo>
                    <a:pt x="52" y="18"/>
                  </a:lnTo>
                  <a:lnTo>
                    <a:pt x="68" y="18"/>
                  </a:lnTo>
                  <a:lnTo>
                    <a:pt x="83" y="17"/>
                  </a:lnTo>
                  <a:lnTo>
                    <a:pt x="96" y="13"/>
                  </a:lnTo>
                  <a:lnTo>
                    <a:pt x="105" y="3"/>
                  </a:lnTo>
                  <a:lnTo>
                    <a:pt x="92" y="0"/>
                  </a:lnTo>
                  <a:lnTo>
                    <a:pt x="89" y="1"/>
                  </a:lnTo>
                  <a:lnTo>
                    <a:pt x="81" y="4"/>
                  </a:lnTo>
                  <a:lnTo>
                    <a:pt x="68" y="4"/>
                  </a:lnTo>
                  <a:lnTo>
                    <a:pt x="52" y="4"/>
                  </a:lnTo>
                  <a:lnTo>
                    <a:pt x="36" y="4"/>
                  </a:lnTo>
                  <a:lnTo>
                    <a:pt x="22" y="5"/>
                  </a:lnTo>
                  <a:lnTo>
                    <a:pt x="9" y="7"/>
                  </a:lnTo>
                  <a:lnTo>
                    <a:pt x="0" y="16"/>
                  </a:lnTo>
                  <a:lnTo>
                    <a:pt x="1" y="14"/>
                  </a:lnTo>
                  <a:lnTo>
                    <a:pt x="0" y="16"/>
                  </a:lnTo>
                  <a:lnTo>
                    <a:pt x="1" y="21"/>
                  </a:lnTo>
                  <a:lnTo>
                    <a:pt x="5" y="24"/>
                  </a:lnTo>
                  <a:lnTo>
                    <a:pt x="10" y="24"/>
                  </a:lnTo>
                  <a:lnTo>
                    <a:pt x="13" y="20"/>
                  </a:lnTo>
                  <a:lnTo>
                    <a:pt x="13" y="2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69" name="Freeform 188">
              <a:extLst>
                <a:ext uri="{FF2B5EF4-FFF2-40B4-BE49-F238E27FC236}">
                  <a16:creationId xmlns:a16="http://schemas.microsoft.com/office/drawing/2014/main" id="{7A84B016-E8CA-30D8-74C3-938E1A5188A4}"/>
                </a:ext>
              </a:extLst>
            </p:cNvPr>
            <p:cNvSpPr>
              <a:spLocks/>
            </p:cNvSpPr>
            <p:nvPr/>
          </p:nvSpPr>
          <p:spPr bwMode="auto">
            <a:xfrm>
              <a:off x="2768" y="2716"/>
              <a:ext cx="24" cy="14"/>
            </a:xfrm>
            <a:custGeom>
              <a:avLst/>
              <a:gdLst>
                <a:gd name="T0" fmla="*/ 1057803 w 14"/>
                <a:gd name="T1" fmla="*/ 163 h 12"/>
                <a:gd name="T2" fmla="*/ 1012678 w 14"/>
                <a:gd name="T3" fmla="*/ 222 h 12"/>
                <a:gd name="T4" fmla="*/ 1057803 w 14"/>
                <a:gd name="T5" fmla="*/ 163 h 12"/>
                <a:gd name="T6" fmla="*/ 84792 w 14"/>
                <a:gd name="T7" fmla="*/ 0 h 12"/>
                <a:gd name="T8" fmla="*/ 0 w 14"/>
                <a:gd name="T9" fmla="*/ 1 h 12"/>
                <a:gd name="T10" fmla="*/ 0 w 14"/>
                <a:gd name="T11" fmla="*/ 103 h 12"/>
                <a:gd name="T12" fmla="*/ 0 w 14"/>
                <a:gd name="T13" fmla="*/ 1 h 12"/>
                <a:gd name="T14" fmla="*/ 0 w 14"/>
                <a:gd name="T15" fmla="*/ 163 h 12"/>
                <a:gd name="T16" fmla="*/ 344592 w 14"/>
                <a:gd name="T17" fmla="*/ 263 h 12"/>
                <a:gd name="T18" fmla="*/ 668086 w 14"/>
                <a:gd name="T19" fmla="*/ 270 h 12"/>
                <a:gd name="T20" fmla="*/ 1012678 w 14"/>
                <a:gd name="T21" fmla="*/ 222 h 12"/>
                <a:gd name="T22" fmla="*/ 1057803 w 14"/>
                <a:gd name="T23" fmla="*/ 163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6"/>
                  </a:moveTo>
                  <a:lnTo>
                    <a:pt x="12" y="8"/>
                  </a:lnTo>
                  <a:lnTo>
                    <a:pt x="13" y="6"/>
                  </a:lnTo>
                  <a:lnTo>
                    <a:pt x="1" y="0"/>
                  </a:lnTo>
                  <a:lnTo>
                    <a:pt x="0" y="1"/>
                  </a:lnTo>
                  <a:lnTo>
                    <a:pt x="0" y="3"/>
                  </a:lnTo>
                  <a:lnTo>
                    <a:pt x="0" y="1"/>
                  </a:lnTo>
                  <a:lnTo>
                    <a:pt x="0" y="6"/>
                  </a:lnTo>
                  <a:lnTo>
                    <a:pt x="4" y="10"/>
                  </a:lnTo>
                  <a:lnTo>
                    <a:pt x="8" y="11"/>
                  </a:lnTo>
                  <a:lnTo>
                    <a:pt x="12" y="8"/>
                  </a:lnTo>
                  <a:lnTo>
                    <a:pt x="13"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0" name="Freeform 189">
              <a:extLst>
                <a:ext uri="{FF2B5EF4-FFF2-40B4-BE49-F238E27FC236}">
                  <a16:creationId xmlns:a16="http://schemas.microsoft.com/office/drawing/2014/main" id="{63F5D246-35CC-AC22-29FB-5D59318445B1}"/>
                </a:ext>
              </a:extLst>
            </p:cNvPr>
            <p:cNvSpPr>
              <a:spLocks/>
            </p:cNvSpPr>
            <p:nvPr/>
          </p:nvSpPr>
          <p:spPr bwMode="auto">
            <a:xfrm>
              <a:off x="2768" y="2719"/>
              <a:ext cx="130" cy="76"/>
            </a:xfrm>
            <a:custGeom>
              <a:avLst/>
              <a:gdLst>
                <a:gd name="T0" fmla="*/ 2718437 w 79"/>
                <a:gd name="T1" fmla="*/ 1246 h 66"/>
                <a:gd name="T2" fmla="*/ 2691392 w 79"/>
                <a:gd name="T3" fmla="*/ 1001 h 66"/>
                <a:gd name="T4" fmla="*/ 2373138 w 79"/>
                <a:gd name="T5" fmla="*/ 778 h 66"/>
                <a:gd name="T6" fmla="*/ 1939821 w 79"/>
                <a:gd name="T7" fmla="*/ 653 h 66"/>
                <a:gd name="T8" fmla="*/ 1512703 w 79"/>
                <a:gd name="T9" fmla="*/ 492 h 66"/>
                <a:gd name="T10" fmla="*/ 1040012 w 79"/>
                <a:gd name="T11" fmla="*/ 333 h 66"/>
                <a:gd name="T12" fmla="*/ 656503 w 79"/>
                <a:gd name="T13" fmla="*/ 218 h 66"/>
                <a:gd name="T14" fmla="*/ 493266 w 79"/>
                <a:gd name="T15" fmla="*/ 102 h 66"/>
                <a:gd name="T16" fmla="*/ 451334 w 79"/>
                <a:gd name="T17" fmla="*/ 3 h 66"/>
                <a:gd name="T18" fmla="*/ 0 w 79"/>
                <a:gd name="T19" fmla="*/ 0 h 66"/>
                <a:gd name="T20" fmla="*/ 61551 w 79"/>
                <a:gd name="T21" fmla="*/ 236 h 66"/>
                <a:gd name="T22" fmla="*/ 384066 w 79"/>
                <a:gd name="T23" fmla="*/ 415 h 66"/>
                <a:gd name="T24" fmla="*/ 760939 w 79"/>
                <a:gd name="T25" fmla="*/ 567 h 66"/>
                <a:gd name="T26" fmla="*/ 1252178 w 79"/>
                <a:gd name="T27" fmla="*/ 729 h 66"/>
                <a:gd name="T28" fmla="*/ 1711412 w 79"/>
                <a:gd name="T29" fmla="*/ 866 h 66"/>
                <a:gd name="T30" fmla="*/ 2060546 w 79"/>
                <a:gd name="T31" fmla="*/ 1001 h 66"/>
                <a:gd name="T32" fmla="*/ 2269433 w 79"/>
                <a:gd name="T33" fmla="*/ 1112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7" y="52"/>
                  </a:lnTo>
                  <a:lnTo>
                    <a:pt x="68" y="41"/>
                  </a:lnTo>
                  <a:lnTo>
                    <a:pt x="56" y="33"/>
                  </a:lnTo>
                  <a:lnTo>
                    <a:pt x="43" y="25"/>
                  </a:lnTo>
                  <a:lnTo>
                    <a:pt x="30" y="17"/>
                  </a:lnTo>
                  <a:lnTo>
                    <a:pt x="19" y="11"/>
                  </a:lnTo>
                  <a:lnTo>
                    <a:pt x="14" y="5"/>
                  </a:lnTo>
                  <a:lnTo>
                    <a:pt x="13" y="3"/>
                  </a:lnTo>
                  <a:lnTo>
                    <a:pt x="0" y="0"/>
                  </a:lnTo>
                  <a:lnTo>
                    <a:pt x="2" y="12"/>
                  </a:lnTo>
                  <a:lnTo>
                    <a:pt x="11" y="21"/>
                  </a:lnTo>
                  <a:lnTo>
                    <a:pt x="22" y="29"/>
                  </a:lnTo>
                  <a:lnTo>
                    <a:pt x="36" y="37"/>
                  </a:lnTo>
                  <a:lnTo>
                    <a:pt x="49" y="44"/>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1" name="Freeform 190">
              <a:extLst>
                <a:ext uri="{FF2B5EF4-FFF2-40B4-BE49-F238E27FC236}">
                  <a16:creationId xmlns:a16="http://schemas.microsoft.com/office/drawing/2014/main" id="{F403887A-1C07-F1C3-B3B4-F87E94ACF4E0}"/>
                </a:ext>
              </a:extLst>
            </p:cNvPr>
            <p:cNvSpPr>
              <a:spLocks/>
            </p:cNvSpPr>
            <p:nvPr/>
          </p:nvSpPr>
          <p:spPr bwMode="auto">
            <a:xfrm>
              <a:off x="2722" y="2789"/>
              <a:ext cx="176" cy="29"/>
            </a:xfrm>
            <a:custGeom>
              <a:avLst/>
              <a:gdLst>
                <a:gd name="T0" fmla="*/ 448956 w 107"/>
                <a:gd name="T1" fmla="*/ 530 h 25"/>
                <a:gd name="T2" fmla="*/ 551648 w 107"/>
                <a:gd name="T3" fmla="*/ 516 h 25"/>
                <a:gd name="T4" fmla="*/ 806439 w 107"/>
                <a:gd name="T5" fmla="*/ 455 h 25"/>
                <a:gd name="T6" fmla="*/ 1274250 w 107"/>
                <a:gd name="T7" fmla="*/ 455 h 25"/>
                <a:gd name="T8" fmla="*/ 1829721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29721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3" y="20"/>
                  </a:lnTo>
                  <a:lnTo>
                    <a:pt x="37" y="20"/>
                  </a:lnTo>
                  <a:lnTo>
                    <a:pt x="53" y="20"/>
                  </a:lnTo>
                  <a:lnTo>
                    <a:pt x="69" y="18"/>
                  </a:lnTo>
                  <a:lnTo>
                    <a:pt x="84" y="18"/>
                  </a:lnTo>
                  <a:lnTo>
                    <a:pt x="97" y="14"/>
                  </a:lnTo>
                  <a:lnTo>
                    <a:pt x="106" y="4"/>
                  </a:lnTo>
                  <a:lnTo>
                    <a:pt x="93" y="0"/>
                  </a:lnTo>
                  <a:lnTo>
                    <a:pt x="90" y="2"/>
                  </a:lnTo>
                  <a:lnTo>
                    <a:pt x="81" y="5"/>
                  </a:lnTo>
                  <a:lnTo>
                    <a:pt x="69" y="5"/>
                  </a:lnTo>
                  <a:lnTo>
                    <a:pt x="53"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2" name="Freeform 191">
              <a:extLst>
                <a:ext uri="{FF2B5EF4-FFF2-40B4-BE49-F238E27FC236}">
                  <a16:creationId xmlns:a16="http://schemas.microsoft.com/office/drawing/2014/main" id="{81A0B9BE-4A71-C11A-C777-E7E6CD5DE44D}"/>
                </a:ext>
              </a:extLst>
            </p:cNvPr>
            <p:cNvSpPr>
              <a:spLocks/>
            </p:cNvSpPr>
            <p:nvPr/>
          </p:nvSpPr>
          <p:spPr bwMode="auto">
            <a:xfrm>
              <a:off x="2722" y="2813"/>
              <a:ext cx="130" cy="76"/>
            </a:xfrm>
            <a:custGeom>
              <a:avLst/>
              <a:gdLst>
                <a:gd name="T0" fmla="*/ 2718437 w 79"/>
                <a:gd name="T1" fmla="*/ 1246 h 66"/>
                <a:gd name="T2" fmla="*/ 2654305 w 79"/>
                <a:gd name="T3" fmla="*/ 1001 h 66"/>
                <a:gd name="T4" fmla="*/ 2373138 w 79"/>
                <a:gd name="T5" fmla="*/ 839 h 66"/>
                <a:gd name="T6" fmla="*/ 1939821 w 79"/>
                <a:gd name="T7" fmla="*/ 656 h 66"/>
                <a:gd name="T8" fmla="*/ 1468965 w 79"/>
                <a:gd name="T9" fmla="*/ 508 h 66"/>
                <a:gd name="T10" fmla="*/ 1017350 w 79"/>
                <a:gd name="T11" fmla="*/ 371 h 66"/>
                <a:gd name="T12" fmla="*/ 656503 w 79"/>
                <a:gd name="T13" fmla="*/ 218 h 66"/>
                <a:gd name="T14" fmla="*/ 451334 w 79"/>
                <a:gd name="T15" fmla="*/ 117 h 66"/>
                <a:gd name="T16" fmla="*/ 451334 w 79"/>
                <a:gd name="T17" fmla="*/ 89 h 66"/>
                <a:gd name="T18" fmla="*/ 0 w 79"/>
                <a:gd name="T19" fmla="*/ 0 h 66"/>
                <a:gd name="T20" fmla="*/ 37404 w 79"/>
                <a:gd name="T21" fmla="*/ 251 h 66"/>
                <a:gd name="T22" fmla="*/ 339473 w 79"/>
                <a:gd name="T23" fmla="*/ 427 h 66"/>
                <a:gd name="T24" fmla="*/ 760939 w 79"/>
                <a:gd name="T25" fmla="*/ 585 h 66"/>
                <a:gd name="T26" fmla="*/ 1252178 w 79"/>
                <a:gd name="T27" fmla="*/ 752 h 66"/>
                <a:gd name="T28" fmla="*/ 1674120 w 79"/>
                <a:gd name="T29" fmla="*/ 894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3"/>
                  </a:lnTo>
                  <a:lnTo>
                    <a:pt x="56" y="34"/>
                  </a:lnTo>
                  <a:lnTo>
                    <a:pt x="42" y="26"/>
                  </a:lnTo>
                  <a:lnTo>
                    <a:pt x="29" y="19"/>
                  </a:lnTo>
                  <a:lnTo>
                    <a:pt x="19" y="11"/>
                  </a:lnTo>
                  <a:lnTo>
                    <a:pt x="13" y="6"/>
                  </a:lnTo>
                  <a:lnTo>
                    <a:pt x="13" y="4"/>
                  </a:lnTo>
                  <a:lnTo>
                    <a:pt x="0" y="0"/>
                  </a:lnTo>
                  <a:lnTo>
                    <a:pt x="1" y="13"/>
                  </a:lnTo>
                  <a:lnTo>
                    <a:pt x="10" y="22"/>
                  </a:lnTo>
                  <a:lnTo>
                    <a:pt x="22" y="30"/>
                  </a:lnTo>
                  <a:lnTo>
                    <a:pt x="36" y="38"/>
                  </a:lnTo>
                  <a:lnTo>
                    <a:pt x="48" y="46"/>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3" name="Freeform 192">
              <a:extLst>
                <a:ext uri="{FF2B5EF4-FFF2-40B4-BE49-F238E27FC236}">
                  <a16:creationId xmlns:a16="http://schemas.microsoft.com/office/drawing/2014/main" id="{D25AC9B1-BB34-98B9-F9CE-6A473EA1E3FA}"/>
                </a:ext>
              </a:extLst>
            </p:cNvPr>
            <p:cNvSpPr>
              <a:spLocks/>
            </p:cNvSpPr>
            <p:nvPr/>
          </p:nvSpPr>
          <p:spPr bwMode="auto">
            <a:xfrm>
              <a:off x="2676" y="2884"/>
              <a:ext cx="176" cy="29"/>
            </a:xfrm>
            <a:custGeom>
              <a:avLst/>
              <a:gdLst>
                <a:gd name="T0" fmla="*/ 448956 w 107"/>
                <a:gd name="T1" fmla="*/ 236 h 26"/>
                <a:gd name="T2" fmla="*/ 448956 w 107"/>
                <a:gd name="T3" fmla="*/ 254 h 26"/>
                <a:gd name="T4" fmla="*/ 520021 w 107"/>
                <a:gd name="T5" fmla="*/ 228 h 26"/>
                <a:gd name="T6" fmla="*/ 818282 w 107"/>
                <a:gd name="T7" fmla="*/ 204 h 26"/>
                <a:gd name="T8" fmla="*/ 1274250 w 107"/>
                <a:gd name="T9" fmla="*/ 184 h 26"/>
                <a:gd name="T10" fmla="*/ 1829721 w 107"/>
                <a:gd name="T11" fmla="*/ 184 h 26"/>
                <a:gd name="T12" fmla="*/ 2374059 w 107"/>
                <a:gd name="T13" fmla="*/ 184 h 26"/>
                <a:gd name="T14" fmla="*/ 2899460 w 107"/>
                <a:gd name="T15" fmla="*/ 165 h 26"/>
                <a:gd name="T16" fmla="*/ 3361858 w 107"/>
                <a:gd name="T17" fmla="*/ 147 h 26"/>
                <a:gd name="T18" fmla="*/ 3649694 w 107"/>
                <a:gd name="T19" fmla="*/ 4 h 26"/>
                <a:gd name="T20" fmla="*/ 3223782 w 107"/>
                <a:gd name="T21" fmla="*/ 0 h 26"/>
                <a:gd name="T22" fmla="*/ 3156192 w 107"/>
                <a:gd name="T23" fmla="*/ 2 h 26"/>
                <a:gd name="T24" fmla="*/ 2796262 w 107"/>
                <a:gd name="T25" fmla="*/ 56 h 26"/>
                <a:gd name="T26" fmla="*/ 2374059 w 107"/>
                <a:gd name="T27" fmla="*/ 62 h 26"/>
                <a:gd name="T28" fmla="*/ 1829721 w 107"/>
                <a:gd name="T29" fmla="*/ 56 h 26"/>
                <a:gd name="T30" fmla="*/ 1274250 w 107"/>
                <a:gd name="T31" fmla="*/ 62 h 26"/>
                <a:gd name="T32" fmla="*/ 755427 w 107"/>
                <a:gd name="T33" fmla="*/ 69 h 26"/>
                <a:gd name="T34" fmla="*/ 316149 w 107"/>
                <a:gd name="T35" fmla="*/ 96 h 26"/>
                <a:gd name="T36" fmla="*/ 0 w 107"/>
                <a:gd name="T37" fmla="*/ 184 h 26"/>
                <a:gd name="T38" fmla="*/ 0 w 107"/>
                <a:gd name="T39" fmla="*/ 204 h 26"/>
                <a:gd name="T40" fmla="*/ 448956 w 107"/>
                <a:gd name="T41" fmla="*/ 236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7"/>
                <a:gd name="T64" fmla="*/ 0 h 26"/>
                <a:gd name="T65" fmla="*/ 107 w 107"/>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7" h="26">
                  <a:moveTo>
                    <a:pt x="13" y="24"/>
                  </a:moveTo>
                  <a:lnTo>
                    <a:pt x="13" y="25"/>
                  </a:lnTo>
                  <a:lnTo>
                    <a:pt x="15" y="22"/>
                  </a:lnTo>
                  <a:lnTo>
                    <a:pt x="24" y="20"/>
                  </a:lnTo>
                  <a:lnTo>
                    <a:pt x="37" y="19"/>
                  </a:lnTo>
                  <a:lnTo>
                    <a:pt x="53" y="19"/>
                  </a:lnTo>
                  <a:lnTo>
                    <a:pt x="69" y="19"/>
                  </a:lnTo>
                  <a:lnTo>
                    <a:pt x="84" y="17"/>
                  </a:lnTo>
                  <a:lnTo>
                    <a:pt x="97" y="14"/>
                  </a:lnTo>
                  <a:lnTo>
                    <a:pt x="106" y="4"/>
                  </a:lnTo>
                  <a:lnTo>
                    <a:pt x="93" y="0"/>
                  </a:lnTo>
                  <a:lnTo>
                    <a:pt x="91" y="2"/>
                  </a:lnTo>
                  <a:lnTo>
                    <a:pt x="81" y="5"/>
                  </a:lnTo>
                  <a:lnTo>
                    <a:pt x="69" y="6"/>
                  </a:lnTo>
                  <a:lnTo>
                    <a:pt x="53" y="5"/>
                  </a:lnTo>
                  <a:lnTo>
                    <a:pt x="37" y="6"/>
                  </a:lnTo>
                  <a:lnTo>
                    <a:pt x="22" y="7"/>
                  </a:lnTo>
                  <a:lnTo>
                    <a:pt x="9" y="10"/>
                  </a:lnTo>
                  <a:lnTo>
                    <a:pt x="0" y="19"/>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4" name="Freeform 193">
              <a:extLst>
                <a:ext uri="{FF2B5EF4-FFF2-40B4-BE49-F238E27FC236}">
                  <a16:creationId xmlns:a16="http://schemas.microsoft.com/office/drawing/2014/main" id="{8A7D8F2E-49CD-8CCA-5079-57869A8131DF}"/>
                </a:ext>
              </a:extLst>
            </p:cNvPr>
            <p:cNvSpPr>
              <a:spLocks/>
            </p:cNvSpPr>
            <p:nvPr/>
          </p:nvSpPr>
          <p:spPr bwMode="auto">
            <a:xfrm>
              <a:off x="2676" y="2906"/>
              <a:ext cx="133" cy="79"/>
            </a:xfrm>
            <a:custGeom>
              <a:avLst/>
              <a:gdLst>
                <a:gd name="T0" fmla="*/ 2897663 w 80"/>
                <a:gd name="T1" fmla="*/ 1309 h 68"/>
                <a:gd name="T2" fmla="*/ 3407716 w 80"/>
                <a:gd name="T3" fmla="*/ 1451 h 68"/>
                <a:gd name="T4" fmla="*/ 3382665 w 80"/>
                <a:gd name="T5" fmla="*/ 1127 h 68"/>
                <a:gd name="T6" fmla="*/ 2992608 w 80"/>
                <a:gd name="T7" fmla="*/ 899 h 68"/>
                <a:gd name="T8" fmla="*/ 2427302 w 80"/>
                <a:gd name="T9" fmla="*/ 719 h 68"/>
                <a:gd name="T10" fmla="*/ 1845656 w 80"/>
                <a:gd name="T11" fmla="*/ 560 h 68"/>
                <a:gd name="T12" fmla="*/ 1249478 w 80"/>
                <a:gd name="T13" fmla="*/ 395 h 68"/>
                <a:gd name="T14" fmla="*/ 779822 w 80"/>
                <a:gd name="T15" fmla="*/ 252 h 68"/>
                <a:gd name="T16" fmla="*/ 581923 w 80"/>
                <a:gd name="T17" fmla="*/ 138 h 68"/>
                <a:gd name="T18" fmla="*/ 581923 w 80"/>
                <a:gd name="T19" fmla="*/ 102 h 68"/>
                <a:gd name="T20" fmla="*/ 0 w 80"/>
                <a:gd name="T21" fmla="*/ 0 h 68"/>
                <a:gd name="T22" fmla="*/ 76176 w 80"/>
                <a:gd name="T23" fmla="*/ 292 h 68"/>
                <a:gd name="T24" fmla="*/ 469066 w 80"/>
                <a:gd name="T25" fmla="*/ 532 h 68"/>
                <a:gd name="T26" fmla="*/ 991319 w 80"/>
                <a:gd name="T27" fmla="*/ 685 h 68"/>
                <a:gd name="T28" fmla="*/ 1608381 w 80"/>
                <a:gd name="T29" fmla="*/ 835 h 68"/>
                <a:gd name="T30" fmla="*/ 2155355 w 80"/>
                <a:gd name="T31" fmla="*/ 1004 h 68"/>
                <a:gd name="T32" fmla="*/ 2597646 w 80"/>
                <a:gd name="T33" fmla="*/ 1127 h 68"/>
                <a:gd name="T34" fmla="*/ 2862423 w 80"/>
                <a:gd name="T35" fmla="*/ 1277 h 68"/>
                <a:gd name="T36" fmla="*/ 2862423 w 80"/>
                <a:gd name="T37" fmla="*/ 1377 h 68"/>
                <a:gd name="T38" fmla="*/ 3382665 w 80"/>
                <a:gd name="T39" fmla="*/ 1484 h 68"/>
                <a:gd name="T40" fmla="*/ 2862423 w 80"/>
                <a:gd name="T41" fmla="*/ 1377 h 68"/>
                <a:gd name="T42" fmla="*/ 2897663 w 80"/>
                <a:gd name="T43" fmla="*/ 1484 h 68"/>
                <a:gd name="T44" fmla="*/ 3023930 w 80"/>
                <a:gd name="T45" fmla="*/ 1574 h 68"/>
                <a:gd name="T46" fmla="*/ 3265532 w 80"/>
                <a:gd name="T47" fmla="*/ 1521 h 68"/>
                <a:gd name="T48" fmla="*/ 3407716 w 80"/>
                <a:gd name="T49" fmla="*/ 1451 h 68"/>
                <a:gd name="T50" fmla="*/ 2897663 w 80"/>
                <a:gd name="T51" fmla="*/ 1309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
                <a:gd name="T79" fmla="*/ 0 h 68"/>
                <a:gd name="T80" fmla="*/ 80 w 80"/>
                <a:gd name="T81" fmla="*/ 68 h 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 h="68">
                  <a:moveTo>
                    <a:pt x="67" y="57"/>
                  </a:moveTo>
                  <a:lnTo>
                    <a:pt x="79" y="62"/>
                  </a:lnTo>
                  <a:lnTo>
                    <a:pt x="78" y="49"/>
                  </a:lnTo>
                  <a:lnTo>
                    <a:pt x="69" y="39"/>
                  </a:lnTo>
                  <a:lnTo>
                    <a:pt x="56" y="31"/>
                  </a:lnTo>
                  <a:lnTo>
                    <a:pt x="43" y="24"/>
                  </a:lnTo>
                  <a:lnTo>
                    <a:pt x="29" y="17"/>
                  </a:lnTo>
                  <a:lnTo>
                    <a:pt x="18" y="11"/>
                  </a:lnTo>
                  <a:lnTo>
                    <a:pt x="13" y="6"/>
                  </a:lnTo>
                  <a:lnTo>
                    <a:pt x="13" y="4"/>
                  </a:lnTo>
                  <a:lnTo>
                    <a:pt x="0" y="0"/>
                  </a:lnTo>
                  <a:lnTo>
                    <a:pt x="2" y="12"/>
                  </a:lnTo>
                  <a:lnTo>
                    <a:pt x="11" y="22"/>
                  </a:lnTo>
                  <a:lnTo>
                    <a:pt x="23" y="29"/>
                  </a:lnTo>
                  <a:lnTo>
                    <a:pt x="37" y="36"/>
                  </a:lnTo>
                  <a:lnTo>
                    <a:pt x="50" y="43"/>
                  </a:lnTo>
                  <a:lnTo>
                    <a:pt x="60" y="49"/>
                  </a:lnTo>
                  <a:lnTo>
                    <a:pt x="66" y="55"/>
                  </a:lnTo>
                  <a:lnTo>
                    <a:pt x="66" y="59"/>
                  </a:lnTo>
                  <a:lnTo>
                    <a:pt x="78" y="64"/>
                  </a:lnTo>
                  <a:lnTo>
                    <a:pt x="66" y="59"/>
                  </a:lnTo>
                  <a:lnTo>
                    <a:pt x="67" y="64"/>
                  </a:lnTo>
                  <a:lnTo>
                    <a:pt x="70" y="67"/>
                  </a:lnTo>
                  <a:lnTo>
                    <a:pt x="76" y="66"/>
                  </a:lnTo>
                  <a:lnTo>
                    <a:pt x="79" y="62"/>
                  </a:lnTo>
                  <a:lnTo>
                    <a:pt x="67" y="5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5" name="Freeform 194">
              <a:extLst>
                <a:ext uri="{FF2B5EF4-FFF2-40B4-BE49-F238E27FC236}">
                  <a16:creationId xmlns:a16="http://schemas.microsoft.com/office/drawing/2014/main" id="{3579EE9B-5937-3373-AE15-468373D338D3}"/>
                </a:ext>
              </a:extLst>
            </p:cNvPr>
            <p:cNvSpPr>
              <a:spLocks/>
            </p:cNvSpPr>
            <p:nvPr/>
          </p:nvSpPr>
          <p:spPr bwMode="auto">
            <a:xfrm>
              <a:off x="2787" y="2968"/>
              <a:ext cx="23" cy="13"/>
            </a:xfrm>
            <a:custGeom>
              <a:avLst/>
              <a:gdLst>
                <a:gd name="T0" fmla="*/ 439537 w 14"/>
                <a:gd name="T1" fmla="*/ 46 h 12"/>
                <a:gd name="T2" fmla="*/ 0 w 14"/>
                <a:gd name="T3" fmla="*/ 3 h 12"/>
                <a:gd name="T4" fmla="*/ 0 w 14"/>
                <a:gd name="T5" fmla="*/ 4 h 12"/>
                <a:gd name="T6" fmla="*/ 375225 w 14"/>
                <a:gd name="T7" fmla="*/ 58 h 12"/>
                <a:gd name="T8" fmla="*/ 410755 w 14"/>
                <a:gd name="T9" fmla="*/ 50 h 12"/>
                <a:gd name="T10" fmla="*/ 0 w 14"/>
                <a:gd name="T11" fmla="*/ 4 h 12"/>
                <a:gd name="T12" fmla="*/ 410755 w 14"/>
                <a:gd name="T13" fmla="*/ 50 h 12"/>
                <a:gd name="T14" fmla="*/ 439537 w 14"/>
                <a:gd name="T15" fmla="*/ 4 h 12"/>
                <a:gd name="T16" fmla="*/ 310107 w 14"/>
                <a:gd name="T17" fmla="*/ 0 h 12"/>
                <a:gd name="T18" fmla="*/ 152189 w 14"/>
                <a:gd name="T19" fmla="*/ 0 h 12"/>
                <a:gd name="T20" fmla="*/ 0 w 14"/>
                <a:gd name="T21" fmla="*/ 3 h 12"/>
                <a:gd name="T22" fmla="*/ 439537 w 14"/>
                <a:gd name="T23" fmla="*/ 46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8"/>
                  </a:moveTo>
                  <a:lnTo>
                    <a:pt x="0" y="3"/>
                  </a:lnTo>
                  <a:lnTo>
                    <a:pt x="0" y="4"/>
                  </a:lnTo>
                  <a:lnTo>
                    <a:pt x="11" y="11"/>
                  </a:lnTo>
                  <a:lnTo>
                    <a:pt x="12" y="9"/>
                  </a:lnTo>
                  <a:lnTo>
                    <a:pt x="0" y="4"/>
                  </a:lnTo>
                  <a:lnTo>
                    <a:pt x="12" y="9"/>
                  </a:lnTo>
                  <a:lnTo>
                    <a:pt x="13" y="4"/>
                  </a:lnTo>
                  <a:lnTo>
                    <a:pt x="9" y="0"/>
                  </a:lnTo>
                  <a:lnTo>
                    <a:pt x="4" y="0"/>
                  </a:lnTo>
                  <a:lnTo>
                    <a:pt x="0" y="3"/>
                  </a:lnTo>
                  <a:lnTo>
                    <a:pt x="13"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6" name="Freeform 195">
              <a:extLst>
                <a:ext uri="{FF2B5EF4-FFF2-40B4-BE49-F238E27FC236}">
                  <a16:creationId xmlns:a16="http://schemas.microsoft.com/office/drawing/2014/main" id="{8E4CA9CF-7293-72D8-02A6-92E139A94E7D}"/>
                </a:ext>
              </a:extLst>
            </p:cNvPr>
            <p:cNvSpPr>
              <a:spLocks/>
            </p:cNvSpPr>
            <p:nvPr/>
          </p:nvSpPr>
          <p:spPr bwMode="auto">
            <a:xfrm>
              <a:off x="2637" y="2972"/>
              <a:ext cx="173" cy="41"/>
            </a:xfrm>
            <a:custGeom>
              <a:avLst/>
              <a:gdLst>
                <a:gd name="T0" fmla="*/ 465077 w 105"/>
                <a:gd name="T1" fmla="*/ 535 h 36"/>
                <a:gd name="T2" fmla="*/ 546820 w 105"/>
                <a:gd name="T3" fmla="*/ 513 h 36"/>
                <a:gd name="T4" fmla="*/ 831997 w 105"/>
                <a:gd name="T5" fmla="*/ 470 h 36"/>
                <a:gd name="T6" fmla="*/ 1262521 w 105"/>
                <a:gd name="T7" fmla="*/ 450 h 36"/>
                <a:gd name="T8" fmla="*/ 1816719 w 105"/>
                <a:gd name="T9" fmla="*/ 444 h 36"/>
                <a:gd name="T10" fmla="*/ 2377226 w 105"/>
                <a:gd name="T11" fmla="*/ 413 h 36"/>
                <a:gd name="T12" fmla="*/ 2932253 w 105"/>
                <a:gd name="T13" fmla="*/ 363 h 36"/>
                <a:gd name="T14" fmla="*/ 3420932 w 105"/>
                <a:gd name="T15" fmla="*/ 246 h 36"/>
                <a:gd name="T16" fmla="*/ 3721278 w 105"/>
                <a:gd name="T17" fmla="*/ 71 h 36"/>
                <a:gd name="T18" fmla="*/ 3261172 w 105"/>
                <a:gd name="T19" fmla="*/ 0 h 36"/>
                <a:gd name="T20" fmla="*/ 3090426 w 105"/>
                <a:gd name="T21" fmla="*/ 92 h 36"/>
                <a:gd name="T22" fmla="*/ 2754923 w 105"/>
                <a:gd name="T23" fmla="*/ 178 h 36"/>
                <a:gd name="T24" fmla="*/ 2282748 w 105"/>
                <a:gd name="T25" fmla="*/ 216 h 36"/>
                <a:gd name="T26" fmla="*/ 1779691 w 105"/>
                <a:gd name="T27" fmla="*/ 231 h 36"/>
                <a:gd name="T28" fmla="*/ 1215650 w 105"/>
                <a:gd name="T29" fmla="*/ 246 h 36"/>
                <a:gd name="T30" fmla="*/ 713643 w 105"/>
                <a:gd name="T31" fmla="*/ 280 h 36"/>
                <a:gd name="T32" fmla="*/ 282272 w 105"/>
                <a:gd name="T33" fmla="*/ 319 h 36"/>
                <a:gd name="T34" fmla="*/ 0 w 105"/>
                <a:gd name="T35" fmla="*/ 470 h 36"/>
                <a:gd name="T36" fmla="*/ 465077 w 105"/>
                <a:gd name="T37" fmla="*/ 535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6"/>
                <a:gd name="T59" fmla="*/ 105 w 105"/>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6">
                  <a:moveTo>
                    <a:pt x="13" y="35"/>
                  </a:moveTo>
                  <a:lnTo>
                    <a:pt x="15" y="33"/>
                  </a:lnTo>
                  <a:lnTo>
                    <a:pt x="23" y="31"/>
                  </a:lnTo>
                  <a:lnTo>
                    <a:pt x="35" y="29"/>
                  </a:lnTo>
                  <a:lnTo>
                    <a:pt x="51" y="28"/>
                  </a:lnTo>
                  <a:lnTo>
                    <a:pt x="66" y="27"/>
                  </a:lnTo>
                  <a:lnTo>
                    <a:pt x="82" y="24"/>
                  </a:lnTo>
                  <a:lnTo>
                    <a:pt x="95" y="16"/>
                  </a:lnTo>
                  <a:lnTo>
                    <a:pt x="104" y="4"/>
                  </a:lnTo>
                  <a:lnTo>
                    <a:pt x="91" y="0"/>
                  </a:lnTo>
                  <a:lnTo>
                    <a:pt x="86" y="6"/>
                  </a:lnTo>
                  <a:lnTo>
                    <a:pt x="77" y="11"/>
                  </a:lnTo>
                  <a:lnTo>
                    <a:pt x="64" y="14"/>
                  </a:lnTo>
                  <a:lnTo>
                    <a:pt x="50" y="15"/>
                  </a:lnTo>
                  <a:lnTo>
                    <a:pt x="34" y="16"/>
                  </a:lnTo>
                  <a:lnTo>
                    <a:pt x="20" y="18"/>
                  </a:lnTo>
                  <a:lnTo>
                    <a:pt x="8" y="21"/>
                  </a:lnTo>
                  <a:lnTo>
                    <a:pt x="0" y="31"/>
                  </a:lnTo>
                  <a:lnTo>
                    <a:pt x="13" y="3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7" name="Freeform 196">
              <a:extLst>
                <a:ext uri="{FF2B5EF4-FFF2-40B4-BE49-F238E27FC236}">
                  <a16:creationId xmlns:a16="http://schemas.microsoft.com/office/drawing/2014/main" id="{0D6FA3EB-C012-0A60-40E5-0CF55B9EA426}"/>
                </a:ext>
              </a:extLst>
            </p:cNvPr>
            <p:cNvSpPr>
              <a:spLocks/>
            </p:cNvSpPr>
            <p:nvPr/>
          </p:nvSpPr>
          <p:spPr bwMode="auto">
            <a:xfrm>
              <a:off x="2566" y="2851"/>
              <a:ext cx="63" cy="81"/>
            </a:xfrm>
            <a:custGeom>
              <a:avLst/>
              <a:gdLst>
                <a:gd name="T0" fmla="*/ 976515 w 38"/>
                <a:gd name="T1" fmla="*/ 60 h 72"/>
                <a:gd name="T2" fmla="*/ 976515 w 38"/>
                <a:gd name="T3" fmla="*/ 77 h 72"/>
                <a:gd name="T4" fmla="*/ 886621 w 38"/>
                <a:gd name="T5" fmla="*/ 77 h 72"/>
                <a:gd name="T6" fmla="*/ 746378 w 38"/>
                <a:gd name="T7" fmla="*/ 99 h 72"/>
                <a:gd name="T8" fmla="*/ 450196 w 38"/>
                <a:gd name="T9" fmla="*/ 159 h 72"/>
                <a:gd name="T10" fmla="*/ 178371 w 38"/>
                <a:gd name="T11" fmla="*/ 254 h 72"/>
                <a:gd name="T12" fmla="*/ 0 w 38"/>
                <a:gd name="T13" fmla="*/ 386 h 72"/>
                <a:gd name="T14" fmla="*/ 0 w 38"/>
                <a:gd name="T15" fmla="*/ 579 h 72"/>
                <a:gd name="T16" fmla="*/ 247837 w 38"/>
                <a:gd name="T17" fmla="*/ 846 h 72"/>
                <a:gd name="T18" fmla="*/ 788611 w 38"/>
                <a:gd name="T19" fmla="*/ 763 h 72"/>
                <a:gd name="T20" fmla="*/ 534787 w 38"/>
                <a:gd name="T21" fmla="*/ 548 h 72"/>
                <a:gd name="T22" fmla="*/ 534787 w 38"/>
                <a:gd name="T23" fmla="*/ 407 h 72"/>
                <a:gd name="T24" fmla="*/ 609278 w 38"/>
                <a:gd name="T25" fmla="*/ 322 h 72"/>
                <a:gd name="T26" fmla="*/ 788611 w 38"/>
                <a:gd name="T27" fmla="*/ 285 h 72"/>
                <a:gd name="T28" fmla="*/ 976515 w 38"/>
                <a:gd name="T29" fmla="*/ 254 h 72"/>
                <a:gd name="T30" fmla="*/ 1237416 w 38"/>
                <a:gd name="T31" fmla="*/ 214 h 72"/>
                <a:gd name="T32" fmla="*/ 1495574 w 38"/>
                <a:gd name="T33" fmla="*/ 125 h 72"/>
                <a:gd name="T34" fmla="*/ 1495574 w 38"/>
                <a:gd name="T35" fmla="*/ 0 h 72"/>
                <a:gd name="T36" fmla="*/ 976515 w 38"/>
                <a:gd name="T37" fmla="*/ 60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72"/>
                <a:gd name="T59" fmla="*/ 38 w 3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72">
                  <a:moveTo>
                    <a:pt x="24" y="4"/>
                  </a:moveTo>
                  <a:lnTo>
                    <a:pt x="24" y="6"/>
                  </a:lnTo>
                  <a:lnTo>
                    <a:pt x="22" y="6"/>
                  </a:lnTo>
                  <a:lnTo>
                    <a:pt x="18" y="9"/>
                  </a:lnTo>
                  <a:lnTo>
                    <a:pt x="11" y="13"/>
                  </a:lnTo>
                  <a:lnTo>
                    <a:pt x="4" y="21"/>
                  </a:lnTo>
                  <a:lnTo>
                    <a:pt x="0" y="32"/>
                  </a:lnTo>
                  <a:lnTo>
                    <a:pt x="0" y="48"/>
                  </a:lnTo>
                  <a:lnTo>
                    <a:pt x="6" y="71"/>
                  </a:lnTo>
                  <a:lnTo>
                    <a:pt x="19" y="65"/>
                  </a:lnTo>
                  <a:lnTo>
                    <a:pt x="13" y="46"/>
                  </a:lnTo>
                  <a:lnTo>
                    <a:pt x="13" y="34"/>
                  </a:lnTo>
                  <a:lnTo>
                    <a:pt x="15" y="27"/>
                  </a:lnTo>
                  <a:lnTo>
                    <a:pt x="19" y="23"/>
                  </a:lnTo>
                  <a:lnTo>
                    <a:pt x="24" y="21"/>
                  </a:lnTo>
                  <a:lnTo>
                    <a:pt x="30" y="18"/>
                  </a:lnTo>
                  <a:lnTo>
                    <a:pt x="37" y="11"/>
                  </a:lnTo>
                  <a:lnTo>
                    <a:pt x="37" y="0"/>
                  </a:lnTo>
                  <a:lnTo>
                    <a:pt x="2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8" name="Freeform 197">
              <a:extLst>
                <a:ext uri="{FF2B5EF4-FFF2-40B4-BE49-F238E27FC236}">
                  <a16:creationId xmlns:a16="http://schemas.microsoft.com/office/drawing/2014/main" id="{61FA046B-244E-F3A7-BAB1-077845DB1E1E}"/>
                </a:ext>
              </a:extLst>
            </p:cNvPr>
            <p:cNvSpPr>
              <a:spLocks/>
            </p:cNvSpPr>
            <p:nvPr/>
          </p:nvSpPr>
          <p:spPr bwMode="auto">
            <a:xfrm>
              <a:off x="2452" y="2813"/>
              <a:ext cx="177" cy="43"/>
            </a:xfrm>
            <a:custGeom>
              <a:avLst/>
              <a:gdLst>
                <a:gd name="T0" fmla="*/ 297347 w 108"/>
                <a:gd name="T1" fmla="*/ 0 h 37"/>
                <a:gd name="T2" fmla="*/ 56629 w 108"/>
                <a:gd name="T3" fmla="*/ 216 h 37"/>
                <a:gd name="T4" fmla="*/ 355105 w 108"/>
                <a:gd name="T5" fmla="*/ 458 h 37"/>
                <a:gd name="T6" fmla="*/ 763839 w 108"/>
                <a:gd name="T7" fmla="*/ 536 h 37"/>
                <a:gd name="T8" fmla="*/ 1216593 w 108"/>
                <a:gd name="T9" fmla="*/ 593 h 37"/>
                <a:gd name="T10" fmla="*/ 1738474 w 108"/>
                <a:gd name="T11" fmla="*/ 618 h 37"/>
                <a:gd name="T12" fmla="*/ 2243232 w 108"/>
                <a:gd name="T13" fmla="*/ 623 h 37"/>
                <a:gd name="T14" fmla="*/ 2628324 w 108"/>
                <a:gd name="T15" fmla="*/ 718 h 37"/>
                <a:gd name="T16" fmla="*/ 2912671 w 108"/>
                <a:gd name="T17" fmla="*/ 764 h 37"/>
                <a:gd name="T18" fmla="*/ 3006856 w 108"/>
                <a:gd name="T19" fmla="*/ 841 h 37"/>
                <a:gd name="T20" fmla="*/ 3417618 w 108"/>
                <a:gd name="T21" fmla="*/ 744 h 37"/>
                <a:gd name="T22" fmla="*/ 3174761 w 108"/>
                <a:gd name="T23" fmla="*/ 486 h 37"/>
                <a:gd name="T24" fmla="*/ 2757663 w 108"/>
                <a:gd name="T25" fmla="*/ 397 h 37"/>
                <a:gd name="T26" fmla="*/ 2263832 w 108"/>
                <a:gd name="T27" fmla="*/ 339 h 37"/>
                <a:gd name="T28" fmla="*/ 1766653 w 108"/>
                <a:gd name="T29" fmla="*/ 294 h 37"/>
                <a:gd name="T30" fmla="*/ 1251847 w 108"/>
                <a:gd name="T31" fmla="*/ 292 h 37"/>
                <a:gd name="T32" fmla="*/ 835171 w 108"/>
                <a:gd name="T33" fmla="*/ 251 h 37"/>
                <a:gd name="T34" fmla="*/ 546453 w 108"/>
                <a:gd name="T35" fmla="*/ 160 h 37"/>
                <a:gd name="T36" fmla="*/ 487319 w 108"/>
                <a:gd name="T37" fmla="*/ 119 h 37"/>
                <a:gd name="T38" fmla="*/ 297347 w 108"/>
                <a:gd name="T39" fmla="*/ 339 h 37"/>
                <a:gd name="T40" fmla="*/ 297347 w 108"/>
                <a:gd name="T41" fmla="*/ 0 h 37"/>
                <a:gd name="T42" fmla="*/ 0 w 108"/>
                <a:gd name="T43" fmla="*/ 1 h 37"/>
                <a:gd name="T44" fmla="*/ 56629 w 108"/>
                <a:gd name="T45" fmla="*/ 216 h 37"/>
                <a:gd name="T46" fmla="*/ 297347 w 108"/>
                <a:gd name="T47" fmla="*/ 0 h 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7"/>
                <a:gd name="T74" fmla="*/ 108 w 108"/>
                <a:gd name="T75" fmla="*/ 37 h 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7">
                  <a:moveTo>
                    <a:pt x="9" y="0"/>
                  </a:moveTo>
                  <a:lnTo>
                    <a:pt x="2" y="9"/>
                  </a:lnTo>
                  <a:lnTo>
                    <a:pt x="11" y="19"/>
                  </a:lnTo>
                  <a:lnTo>
                    <a:pt x="24" y="23"/>
                  </a:lnTo>
                  <a:lnTo>
                    <a:pt x="38" y="25"/>
                  </a:lnTo>
                  <a:lnTo>
                    <a:pt x="54" y="26"/>
                  </a:lnTo>
                  <a:lnTo>
                    <a:pt x="70" y="27"/>
                  </a:lnTo>
                  <a:lnTo>
                    <a:pt x="82" y="30"/>
                  </a:lnTo>
                  <a:lnTo>
                    <a:pt x="91" y="33"/>
                  </a:lnTo>
                  <a:lnTo>
                    <a:pt x="94" y="36"/>
                  </a:lnTo>
                  <a:lnTo>
                    <a:pt x="107" y="32"/>
                  </a:lnTo>
                  <a:lnTo>
                    <a:pt x="99" y="21"/>
                  </a:lnTo>
                  <a:lnTo>
                    <a:pt x="86" y="17"/>
                  </a:lnTo>
                  <a:lnTo>
                    <a:pt x="71" y="14"/>
                  </a:lnTo>
                  <a:lnTo>
                    <a:pt x="55" y="13"/>
                  </a:lnTo>
                  <a:lnTo>
                    <a:pt x="39" y="12"/>
                  </a:lnTo>
                  <a:lnTo>
                    <a:pt x="26" y="10"/>
                  </a:lnTo>
                  <a:lnTo>
                    <a:pt x="17" y="7"/>
                  </a:lnTo>
                  <a:lnTo>
                    <a:pt x="15" y="5"/>
                  </a:lnTo>
                  <a:lnTo>
                    <a:pt x="9" y="14"/>
                  </a:lnTo>
                  <a:lnTo>
                    <a:pt x="9" y="0"/>
                  </a:lnTo>
                  <a:lnTo>
                    <a:pt x="0" y="1"/>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79" name="Freeform 198">
              <a:extLst>
                <a:ext uri="{FF2B5EF4-FFF2-40B4-BE49-F238E27FC236}">
                  <a16:creationId xmlns:a16="http://schemas.microsoft.com/office/drawing/2014/main" id="{E71FF3D1-22BB-76D6-A08E-F33B186D950D}"/>
                </a:ext>
              </a:extLst>
            </p:cNvPr>
            <p:cNvSpPr>
              <a:spLocks/>
            </p:cNvSpPr>
            <p:nvPr/>
          </p:nvSpPr>
          <p:spPr bwMode="auto">
            <a:xfrm>
              <a:off x="2457" y="2813"/>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6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4"/>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0" name="Freeform 199">
              <a:extLst>
                <a:ext uri="{FF2B5EF4-FFF2-40B4-BE49-F238E27FC236}">
                  <a16:creationId xmlns:a16="http://schemas.microsoft.com/office/drawing/2014/main" id="{774B5B97-DBBD-9AB0-0AB5-8940C1D4606E}"/>
                </a:ext>
              </a:extLst>
            </p:cNvPr>
            <p:cNvSpPr>
              <a:spLocks/>
            </p:cNvSpPr>
            <p:nvPr/>
          </p:nvSpPr>
          <p:spPr bwMode="auto">
            <a:xfrm>
              <a:off x="2457" y="2753"/>
              <a:ext cx="135" cy="72"/>
            </a:xfrm>
            <a:custGeom>
              <a:avLst/>
              <a:gdLst>
                <a:gd name="T0" fmla="*/ 1876263 w 83"/>
                <a:gd name="T1" fmla="*/ 73 h 63"/>
                <a:gd name="T2" fmla="*/ 1826529 w 83"/>
                <a:gd name="T3" fmla="*/ 83 h 63"/>
                <a:gd name="T4" fmla="*/ 1693565 w 83"/>
                <a:gd name="T5" fmla="*/ 186 h 63"/>
                <a:gd name="T6" fmla="*/ 1396547 w 83"/>
                <a:gd name="T7" fmla="*/ 278 h 63"/>
                <a:gd name="T8" fmla="*/ 1010226 w 83"/>
                <a:gd name="T9" fmla="*/ 394 h 63"/>
                <a:gd name="T10" fmla="*/ 647263 w 83"/>
                <a:gd name="T11" fmla="*/ 514 h 63"/>
                <a:gd name="T12" fmla="*/ 298311 w 83"/>
                <a:gd name="T13" fmla="*/ 637 h 63"/>
                <a:gd name="T14" fmla="*/ 49802 w 83"/>
                <a:gd name="T15" fmla="*/ 808 h 63"/>
                <a:gd name="T16" fmla="*/ 0 w 83"/>
                <a:gd name="T17" fmla="*/ 1032 h 63"/>
                <a:gd name="T18" fmla="*/ 348552 w 83"/>
                <a:gd name="T19" fmla="*/ 951 h 63"/>
                <a:gd name="T20" fmla="*/ 348552 w 83"/>
                <a:gd name="T21" fmla="*/ 923 h 63"/>
                <a:gd name="T22" fmla="*/ 516027 w 83"/>
                <a:gd name="T23" fmla="*/ 823 h 63"/>
                <a:gd name="T24" fmla="*/ 823515 w 83"/>
                <a:gd name="T25" fmla="*/ 707 h 63"/>
                <a:gd name="T26" fmla="*/ 1206051 w 83"/>
                <a:gd name="T27" fmla="*/ 605 h 63"/>
                <a:gd name="T28" fmla="*/ 1581854 w 83"/>
                <a:gd name="T29" fmla="*/ 474 h 63"/>
                <a:gd name="T30" fmla="*/ 1911842 w 83"/>
                <a:gd name="T31" fmla="*/ 345 h 63"/>
                <a:gd name="T32" fmla="*/ 2147751 w 83"/>
                <a:gd name="T33" fmla="*/ 213 h 63"/>
                <a:gd name="T34" fmla="*/ 2229344 w 83"/>
                <a:gd name="T35" fmla="*/ 0 h 63"/>
                <a:gd name="T36" fmla="*/ 1876263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7" y="24"/>
                  </a:lnTo>
                  <a:lnTo>
                    <a:pt x="24" y="31"/>
                  </a:lnTo>
                  <a:lnTo>
                    <a:pt x="11" y="39"/>
                  </a:lnTo>
                  <a:lnTo>
                    <a:pt x="2" y="49"/>
                  </a:lnTo>
                  <a:lnTo>
                    <a:pt x="0" y="62"/>
                  </a:lnTo>
                  <a:lnTo>
                    <a:pt x="13" y="58"/>
                  </a:lnTo>
                  <a:lnTo>
                    <a:pt x="13" y="56"/>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1" name="Freeform 200">
              <a:extLst>
                <a:ext uri="{FF2B5EF4-FFF2-40B4-BE49-F238E27FC236}">
                  <a16:creationId xmlns:a16="http://schemas.microsoft.com/office/drawing/2014/main" id="{03CBA4E6-37D6-EA66-C876-AF447FF28C7C}"/>
                </a:ext>
              </a:extLst>
            </p:cNvPr>
            <p:cNvSpPr>
              <a:spLocks/>
            </p:cNvSpPr>
            <p:nvPr/>
          </p:nvSpPr>
          <p:spPr bwMode="auto">
            <a:xfrm>
              <a:off x="2419" y="2724"/>
              <a:ext cx="173" cy="34"/>
            </a:xfrm>
            <a:custGeom>
              <a:avLst/>
              <a:gdLst>
                <a:gd name="T0" fmla="*/ 0 w 106"/>
                <a:gd name="T1" fmla="*/ 61 h 30"/>
                <a:gd name="T2" fmla="*/ 228735 w 106"/>
                <a:gd name="T3" fmla="*/ 186 h 30"/>
                <a:gd name="T4" fmla="*/ 609275 w 106"/>
                <a:gd name="T5" fmla="*/ 239 h 30"/>
                <a:gd name="T6" fmla="*/ 1059028 w 106"/>
                <a:gd name="T7" fmla="*/ 271 h 30"/>
                <a:gd name="T8" fmla="*/ 1530828 w 106"/>
                <a:gd name="T9" fmla="*/ 298 h 30"/>
                <a:gd name="T10" fmla="*/ 1989524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20902 w 106"/>
                <a:gd name="T21" fmla="*/ 206 h 30"/>
                <a:gd name="T22" fmla="*/ 2468792 w 106"/>
                <a:gd name="T23" fmla="*/ 145 h 30"/>
                <a:gd name="T24" fmla="*/ 2027495 w 106"/>
                <a:gd name="T25" fmla="*/ 113 h 30"/>
                <a:gd name="T26" fmla="*/ 1568018 w 106"/>
                <a:gd name="T27" fmla="*/ 100 h 30"/>
                <a:gd name="T28" fmla="*/ 107915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6" y="15"/>
                  </a:lnTo>
                  <a:lnTo>
                    <a:pt x="84" y="11"/>
                  </a:lnTo>
                  <a:lnTo>
                    <a:pt x="69" y="9"/>
                  </a:lnTo>
                  <a:lnTo>
                    <a:pt x="53" y="8"/>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2" name="Freeform 201">
              <a:extLst>
                <a:ext uri="{FF2B5EF4-FFF2-40B4-BE49-F238E27FC236}">
                  <a16:creationId xmlns:a16="http://schemas.microsoft.com/office/drawing/2014/main" id="{9D728768-939E-7F1A-F7D4-E486CCA29387}"/>
                </a:ext>
              </a:extLst>
            </p:cNvPr>
            <p:cNvSpPr>
              <a:spLocks/>
            </p:cNvSpPr>
            <p:nvPr/>
          </p:nvSpPr>
          <p:spPr bwMode="auto">
            <a:xfrm>
              <a:off x="2419" y="2657"/>
              <a:ext cx="136" cy="72"/>
            </a:xfrm>
            <a:custGeom>
              <a:avLst/>
              <a:gdLst>
                <a:gd name="T0" fmla="*/ 2195491 w 83"/>
                <a:gd name="T1" fmla="*/ 3 h 63"/>
                <a:gd name="T2" fmla="*/ 2160471 w 83"/>
                <a:gd name="T3" fmla="*/ 83 h 63"/>
                <a:gd name="T4" fmla="*/ 1987493 w 83"/>
                <a:gd name="T5" fmla="*/ 186 h 63"/>
                <a:gd name="T6" fmla="*/ 1636031 w 83"/>
                <a:gd name="T7" fmla="*/ 278 h 63"/>
                <a:gd name="T8" fmla="*/ 1212955 w 83"/>
                <a:gd name="T9" fmla="*/ 394 h 63"/>
                <a:gd name="T10" fmla="*/ 761179 w 83"/>
                <a:gd name="T11" fmla="*/ 514 h 63"/>
                <a:gd name="T12" fmla="*/ 389068 w 83"/>
                <a:gd name="T13" fmla="*/ 637 h 63"/>
                <a:gd name="T14" fmla="*/ 56548 w 83"/>
                <a:gd name="T15" fmla="*/ 808 h 63"/>
                <a:gd name="T16" fmla="*/ 0 w 83"/>
                <a:gd name="T17" fmla="*/ 1032 h 63"/>
                <a:gd name="T18" fmla="*/ 407626 w 83"/>
                <a:gd name="T19" fmla="*/ 951 h 63"/>
                <a:gd name="T20" fmla="*/ 451776 w 83"/>
                <a:gd name="T21" fmla="*/ 905 h 63"/>
                <a:gd name="T22" fmla="*/ 637509 w 83"/>
                <a:gd name="T23" fmla="*/ 823 h 63"/>
                <a:gd name="T24" fmla="*/ 998460 w 83"/>
                <a:gd name="T25" fmla="*/ 707 h 63"/>
                <a:gd name="T26" fmla="*/ 1398653 w 83"/>
                <a:gd name="T27" fmla="*/ 605 h 63"/>
                <a:gd name="T28" fmla="*/ 1855348 w 83"/>
                <a:gd name="T29" fmla="*/ 474 h 63"/>
                <a:gd name="T30" fmla="*/ 2232686 w 83"/>
                <a:gd name="T31" fmla="*/ 345 h 63"/>
                <a:gd name="T32" fmla="*/ 2549956 w 83"/>
                <a:gd name="T33" fmla="*/ 202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1"/>
                  </a:lnTo>
                  <a:lnTo>
                    <a:pt x="80" y="12"/>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3" name="Freeform 202">
              <a:extLst>
                <a:ext uri="{FF2B5EF4-FFF2-40B4-BE49-F238E27FC236}">
                  <a16:creationId xmlns:a16="http://schemas.microsoft.com/office/drawing/2014/main" id="{415C677B-79AA-7E40-3D28-9548AD0F14EA}"/>
                </a:ext>
              </a:extLst>
            </p:cNvPr>
            <p:cNvSpPr>
              <a:spLocks/>
            </p:cNvSpPr>
            <p:nvPr/>
          </p:nvSpPr>
          <p:spPr bwMode="auto">
            <a:xfrm>
              <a:off x="2383" y="2631"/>
              <a:ext cx="172" cy="31"/>
            </a:xfrm>
            <a:custGeom>
              <a:avLst/>
              <a:gdLst>
                <a:gd name="T0" fmla="*/ 0 w 104"/>
                <a:gd name="T1" fmla="*/ 119 h 27"/>
                <a:gd name="T2" fmla="*/ 0 w 104"/>
                <a:gd name="T3" fmla="*/ 91 h 27"/>
                <a:gd name="T4" fmla="*/ 286119 w 104"/>
                <a:gd name="T5" fmla="*/ 249 h 27"/>
                <a:gd name="T6" fmla="*/ 782595 w 104"/>
                <a:gd name="T7" fmla="*/ 313 h 27"/>
                <a:gd name="T8" fmla="*/ 1361491 w 104"/>
                <a:gd name="T9" fmla="*/ 328 h 27"/>
                <a:gd name="T10" fmla="*/ 1967544 w 104"/>
                <a:gd name="T11" fmla="*/ 355 h 27"/>
                <a:gd name="T12" fmla="*/ 2552581 w 104"/>
                <a:gd name="T13" fmla="*/ 355 h 27"/>
                <a:gd name="T14" fmla="*/ 3076101 w 104"/>
                <a:gd name="T15" fmla="*/ 377 h 27"/>
                <a:gd name="T16" fmla="*/ 3421168 w 104"/>
                <a:gd name="T17" fmla="*/ 433 h 27"/>
                <a:gd name="T18" fmla="*/ 3487763 w 104"/>
                <a:gd name="T19" fmla="*/ 473 h 27"/>
                <a:gd name="T20" fmla="*/ 3985470 w 104"/>
                <a:gd name="T21" fmla="*/ 408 h 27"/>
                <a:gd name="T22" fmla="*/ 3627508 w 104"/>
                <a:gd name="T23" fmla="*/ 217 h 27"/>
                <a:gd name="T24" fmla="*/ 3186115 w 104"/>
                <a:gd name="T25" fmla="*/ 137 h 27"/>
                <a:gd name="T26" fmla="*/ 2606496 w 104"/>
                <a:gd name="T27" fmla="*/ 104 h 27"/>
                <a:gd name="T28" fmla="*/ 1967544 w 104"/>
                <a:gd name="T29" fmla="*/ 91 h 27"/>
                <a:gd name="T30" fmla="*/ 1361491 w 104"/>
                <a:gd name="T31" fmla="*/ 91 h 27"/>
                <a:gd name="T32" fmla="*/ 849172 w 104"/>
                <a:gd name="T33" fmla="*/ 79 h 27"/>
                <a:gd name="T34" fmla="*/ 537993 w 104"/>
                <a:gd name="T35" fmla="*/ 2 h 27"/>
                <a:gd name="T36" fmla="*/ 513453 w 104"/>
                <a:gd name="T37" fmla="*/ 1 h 27"/>
                <a:gd name="T38" fmla="*/ 473197 w 104"/>
                <a:gd name="T39" fmla="*/ 0 h 27"/>
                <a:gd name="T40" fmla="*/ 513453 w 104"/>
                <a:gd name="T41" fmla="*/ 1 h 27"/>
                <a:gd name="T42" fmla="*/ 473197 w 104"/>
                <a:gd name="T43" fmla="*/ 0 h 27"/>
                <a:gd name="T44" fmla="*/ 0 w 104"/>
                <a:gd name="T45" fmla="*/ 119 h 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7"/>
                <a:gd name="T71" fmla="*/ 104 w 104"/>
                <a:gd name="T72" fmla="*/ 27 h 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7">
                  <a:moveTo>
                    <a:pt x="0" y="7"/>
                  </a:moveTo>
                  <a:lnTo>
                    <a:pt x="0" y="5"/>
                  </a:lnTo>
                  <a:lnTo>
                    <a:pt x="7" y="14"/>
                  </a:lnTo>
                  <a:lnTo>
                    <a:pt x="20" y="17"/>
                  </a:lnTo>
                  <a:lnTo>
                    <a:pt x="35" y="18"/>
                  </a:lnTo>
                  <a:lnTo>
                    <a:pt x="51" y="19"/>
                  </a:lnTo>
                  <a:lnTo>
                    <a:pt x="66" y="19"/>
                  </a:lnTo>
                  <a:lnTo>
                    <a:pt x="79" y="21"/>
                  </a:lnTo>
                  <a:lnTo>
                    <a:pt x="88" y="24"/>
                  </a:lnTo>
                  <a:lnTo>
                    <a:pt x="90" y="26"/>
                  </a:lnTo>
                  <a:lnTo>
                    <a:pt x="103" y="22"/>
                  </a:lnTo>
                  <a:lnTo>
                    <a:pt x="94" y="12"/>
                  </a:lnTo>
                  <a:lnTo>
                    <a:pt x="82" y="8"/>
                  </a:lnTo>
                  <a:lnTo>
                    <a:pt x="67" y="6"/>
                  </a:lnTo>
                  <a:lnTo>
                    <a:pt x="51" y="5"/>
                  </a:lnTo>
                  <a:lnTo>
                    <a:pt x="35" y="5"/>
                  </a:lnTo>
                  <a:lnTo>
                    <a:pt x="22" y="4"/>
                  </a:lnTo>
                  <a:lnTo>
                    <a:pt x="14" y="2"/>
                  </a:lnTo>
                  <a:lnTo>
                    <a:pt x="13" y="1"/>
                  </a:lnTo>
                  <a:lnTo>
                    <a:pt x="12" y="0"/>
                  </a:lnTo>
                  <a:lnTo>
                    <a:pt x="13" y="1"/>
                  </a:lnTo>
                  <a:lnTo>
                    <a:pt x="12" y="0"/>
                  </a:lnTo>
                  <a:lnTo>
                    <a:pt x="0"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4" name="Freeform 203">
              <a:extLst>
                <a:ext uri="{FF2B5EF4-FFF2-40B4-BE49-F238E27FC236}">
                  <a16:creationId xmlns:a16="http://schemas.microsoft.com/office/drawing/2014/main" id="{E2A3D3AD-4187-CCAD-13D7-2656C0A982FE}"/>
                </a:ext>
              </a:extLst>
            </p:cNvPr>
            <p:cNvSpPr>
              <a:spLocks/>
            </p:cNvSpPr>
            <p:nvPr/>
          </p:nvSpPr>
          <p:spPr bwMode="auto">
            <a:xfrm>
              <a:off x="2382" y="2630"/>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5" name="Freeform 204">
              <a:extLst>
                <a:ext uri="{FF2B5EF4-FFF2-40B4-BE49-F238E27FC236}">
                  <a16:creationId xmlns:a16="http://schemas.microsoft.com/office/drawing/2014/main" id="{7F59B608-D84F-EF38-D393-1A405607A26F}"/>
                </a:ext>
              </a:extLst>
            </p:cNvPr>
            <p:cNvSpPr>
              <a:spLocks/>
            </p:cNvSpPr>
            <p:nvPr/>
          </p:nvSpPr>
          <p:spPr bwMode="auto">
            <a:xfrm>
              <a:off x="2382" y="2565"/>
              <a:ext cx="135" cy="73"/>
            </a:xfrm>
            <a:custGeom>
              <a:avLst/>
              <a:gdLst>
                <a:gd name="T0" fmla="*/ 2394339 w 82"/>
                <a:gd name="T1" fmla="*/ 126 h 62"/>
                <a:gd name="T2" fmla="*/ 2353109 w 82"/>
                <a:gd name="T3" fmla="*/ 174 h 62"/>
                <a:gd name="T4" fmla="*/ 2149498 w 82"/>
                <a:gd name="T5" fmla="*/ 370 h 62"/>
                <a:gd name="T6" fmla="*/ 1793710 w 82"/>
                <a:gd name="T7" fmla="*/ 604 h 62"/>
                <a:gd name="T8" fmla="*/ 1352084 w 82"/>
                <a:gd name="T9" fmla="*/ 837 h 62"/>
                <a:gd name="T10" fmla="*/ 859589 w 82"/>
                <a:gd name="T11" fmla="*/ 1022 h 62"/>
                <a:gd name="T12" fmla="*/ 427515 w 82"/>
                <a:gd name="T13" fmla="*/ 1276 h 62"/>
                <a:gd name="T14" fmla="*/ 101853 w 82"/>
                <a:gd name="T15" fmla="*/ 1502 h 62"/>
                <a:gd name="T16" fmla="*/ 0 w 82"/>
                <a:gd name="T17" fmla="*/ 1896 h 62"/>
                <a:gd name="T18" fmla="*/ 454501 w 82"/>
                <a:gd name="T19" fmla="*/ 1787 h 62"/>
                <a:gd name="T20" fmla="*/ 498843 w 82"/>
                <a:gd name="T21" fmla="*/ 1736 h 62"/>
                <a:gd name="T22" fmla="*/ 661778 w 82"/>
                <a:gd name="T23" fmla="*/ 1594 h 62"/>
                <a:gd name="T24" fmla="*/ 1051098 w 82"/>
                <a:gd name="T25" fmla="*/ 1376 h 62"/>
                <a:gd name="T26" fmla="*/ 1549621 w 82"/>
                <a:gd name="T27" fmla="*/ 1161 h 62"/>
                <a:gd name="T28" fmla="*/ 2028125 w 82"/>
                <a:gd name="T29" fmla="*/ 921 h 62"/>
                <a:gd name="T30" fmla="*/ 2455820 w 82"/>
                <a:gd name="T31" fmla="*/ 711 h 62"/>
                <a:gd name="T32" fmla="*/ 2781519 w 82"/>
                <a:gd name="T33" fmla="*/ 393 h 62"/>
                <a:gd name="T34" fmla="*/ 2848938 w 82"/>
                <a:gd name="T35" fmla="*/ 0 h 62"/>
                <a:gd name="T36" fmla="*/ 2394339 w 82"/>
                <a:gd name="T37" fmla="*/ 126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4"/>
                  </a:moveTo>
                  <a:lnTo>
                    <a:pt x="67" y="6"/>
                  </a:lnTo>
                  <a:lnTo>
                    <a:pt x="61" y="12"/>
                  </a:lnTo>
                  <a:lnTo>
                    <a:pt x="51" y="19"/>
                  </a:lnTo>
                  <a:lnTo>
                    <a:pt x="38" y="26"/>
                  </a:lnTo>
                  <a:lnTo>
                    <a:pt x="24" y="33"/>
                  </a:lnTo>
                  <a:lnTo>
                    <a:pt x="12" y="41"/>
                  </a:lnTo>
                  <a:lnTo>
                    <a:pt x="3" y="48"/>
                  </a:lnTo>
                  <a:lnTo>
                    <a:pt x="0" y="61"/>
                  </a:lnTo>
                  <a:lnTo>
                    <a:pt x="13" y="58"/>
                  </a:lnTo>
                  <a:lnTo>
                    <a:pt x="14" y="56"/>
                  </a:lnTo>
                  <a:lnTo>
                    <a:pt x="19" y="51"/>
                  </a:lnTo>
                  <a:lnTo>
                    <a:pt x="30" y="45"/>
                  </a:lnTo>
                  <a:lnTo>
                    <a:pt x="44" y="37"/>
                  </a:lnTo>
                  <a:lnTo>
                    <a:pt x="58" y="30"/>
                  </a:lnTo>
                  <a:lnTo>
                    <a:pt x="70" y="22"/>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6" name="Freeform 205">
              <a:extLst>
                <a:ext uri="{FF2B5EF4-FFF2-40B4-BE49-F238E27FC236}">
                  <a16:creationId xmlns:a16="http://schemas.microsoft.com/office/drawing/2014/main" id="{3644519A-DC26-A6D0-93F7-6A8189F7FB12}"/>
                </a:ext>
              </a:extLst>
            </p:cNvPr>
            <p:cNvSpPr>
              <a:spLocks/>
            </p:cNvSpPr>
            <p:nvPr/>
          </p:nvSpPr>
          <p:spPr bwMode="auto">
            <a:xfrm>
              <a:off x="2343" y="2537"/>
              <a:ext cx="174" cy="34"/>
            </a:xfrm>
            <a:custGeom>
              <a:avLst/>
              <a:gdLst>
                <a:gd name="T0" fmla="*/ 0 w 106"/>
                <a:gd name="T1" fmla="*/ 103 h 29"/>
                <a:gd name="T2" fmla="*/ 255808 w 106"/>
                <a:gd name="T3" fmla="*/ 368 h 29"/>
                <a:gd name="T4" fmla="*/ 689288 w 106"/>
                <a:gd name="T5" fmla="*/ 494 h 29"/>
                <a:gd name="T6" fmla="*/ 1189907 w 106"/>
                <a:gd name="T7" fmla="*/ 516 h 29"/>
                <a:gd name="T8" fmla="*/ 1762354 w 106"/>
                <a:gd name="T9" fmla="*/ 579 h 29"/>
                <a:gd name="T10" fmla="*/ 2226709 w 106"/>
                <a:gd name="T11" fmla="*/ 579 h 29"/>
                <a:gd name="T12" fmla="*/ 2681420 w 106"/>
                <a:gd name="T13" fmla="*/ 605 h 29"/>
                <a:gd name="T14" fmla="*/ 2987436 w 106"/>
                <a:gd name="T15" fmla="*/ 709 h 29"/>
                <a:gd name="T16" fmla="*/ 3048815 w 106"/>
                <a:gd name="T17" fmla="*/ 810 h 29"/>
                <a:gd name="T18" fmla="*/ 3468237 w 106"/>
                <a:gd name="T19" fmla="*/ 691 h 29"/>
                <a:gd name="T20" fmla="*/ 3206268 w 106"/>
                <a:gd name="T21" fmla="*/ 375 h 29"/>
                <a:gd name="T22" fmla="*/ 2792912 w 106"/>
                <a:gd name="T23" fmla="*/ 268 h 29"/>
                <a:gd name="T24" fmla="*/ 2274976 w 106"/>
                <a:gd name="T25" fmla="*/ 195 h 29"/>
                <a:gd name="T26" fmla="*/ 1762354 w 106"/>
                <a:gd name="T27" fmla="*/ 195 h 29"/>
                <a:gd name="T28" fmla="*/ 1250712 w 106"/>
                <a:gd name="T29" fmla="*/ 166 h 29"/>
                <a:gd name="T30" fmla="*/ 784113 w 106"/>
                <a:gd name="T31" fmla="*/ 121 h 29"/>
                <a:gd name="T32" fmla="*/ 503423 w 106"/>
                <a:gd name="T33" fmla="*/ 2 h 29"/>
                <a:gd name="T34" fmla="*/ 419911 w 106"/>
                <a:gd name="T35" fmla="*/ 0 h 29"/>
                <a:gd name="T36" fmla="*/ 0 w 106"/>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3" y="20"/>
                  </a:lnTo>
                  <a:lnTo>
                    <a:pt x="67" y="20"/>
                  </a:lnTo>
                  <a:lnTo>
                    <a:pt x="81" y="22"/>
                  </a:lnTo>
                  <a:lnTo>
                    <a:pt x="90" y="26"/>
                  </a:lnTo>
                  <a:lnTo>
                    <a:pt x="92" y="28"/>
                  </a:lnTo>
                  <a:lnTo>
                    <a:pt x="105" y="24"/>
                  </a:lnTo>
                  <a:lnTo>
                    <a:pt x="97" y="14"/>
                  </a:lnTo>
                  <a:lnTo>
                    <a:pt x="84" y="9"/>
                  </a:lnTo>
                  <a:lnTo>
                    <a:pt x="69" y="7"/>
                  </a:lnTo>
                  <a:lnTo>
                    <a:pt x="53" y="7"/>
                  </a:lnTo>
                  <a:lnTo>
                    <a:pt x="38" y="6"/>
                  </a:lnTo>
                  <a:lnTo>
                    <a:pt x="24" y="4"/>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7" name="Freeform 206">
              <a:extLst>
                <a:ext uri="{FF2B5EF4-FFF2-40B4-BE49-F238E27FC236}">
                  <a16:creationId xmlns:a16="http://schemas.microsoft.com/office/drawing/2014/main" id="{113B3E35-A149-C7D3-196B-1D05A9525CA2}"/>
                </a:ext>
              </a:extLst>
            </p:cNvPr>
            <p:cNvSpPr>
              <a:spLocks/>
            </p:cNvSpPr>
            <p:nvPr/>
          </p:nvSpPr>
          <p:spPr bwMode="auto">
            <a:xfrm>
              <a:off x="2343" y="2470"/>
              <a:ext cx="138" cy="73"/>
            </a:xfrm>
            <a:custGeom>
              <a:avLst/>
              <a:gdLst>
                <a:gd name="T0" fmla="*/ 2353327 w 84"/>
                <a:gd name="T1" fmla="*/ 73 h 64"/>
                <a:gd name="T2" fmla="*/ 2325254 w 84"/>
                <a:gd name="T3" fmla="*/ 108 h 64"/>
                <a:gd name="T4" fmla="*/ 2114707 w 84"/>
                <a:gd name="T5" fmla="*/ 192 h 64"/>
                <a:gd name="T6" fmla="*/ 1748426 w 84"/>
                <a:gd name="T7" fmla="*/ 309 h 64"/>
                <a:gd name="T8" fmla="*/ 1309553 w 84"/>
                <a:gd name="T9" fmla="*/ 409 h 64"/>
                <a:gd name="T10" fmla="*/ 836973 w 84"/>
                <a:gd name="T11" fmla="*/ 533 h 64"/>
                <a:gd name="T12" fmla="*/ 439537 w 84"/>
                <a:gd name="T13" fmla="*/ 664 h 64"/>
                <a:gd name="T14" fmla="*/ 99128 w 84"/>
                <a:gd name="T15" fmla="*/ 792 h 64"/>
                <a:gd name="T16" fmla="*/ 0 w 84"/>
                <a:gd name="T17" fmla="*/ 1000 h 64"/>
                <a:gd name="T18" fmla="*/ 439537 w 84"/>
                <a:gd name="T19" fmla="*/ 931 h 64"/>
                <a:gd name="T20" fmla="*/ 509462 w 84"/>
                <a:gd name="T21" fmla="*/ 925 h 64"/>
                <a:gd name="T22" fmla="*/ 722097 w 84"/>
                <a:gd name="T23" fmla="*/ 811 h 64"/>
                <a:gd name="T24" fmla="*/ 1087333 w 84"/>
                <a:gd name="T25" fmla="*/ 711 h 64"/>
                <a:gd name="T26" fmla="*/ 1524090 w 84"/>
                <a:gd name="T27" fmla="*/ 598 h 64"/>
                <a:gd name="T28" fmla="*/ 1984371 w 84"/>
                <a:gd name="T29" fmla="*/ 482 h 64"/>
                <a:gd name="T30" fmla="*/ 2396631 w 84"/>
                <a:gd name="T31" fmla="*/ 359 h 64"/>
                <a:gd name="T32" fmla="*/ 2733325 w 84"/>
                <a:gd name="T33" fmla="*/ 209 h 64"/>
                <a:gd name="T34" fmla="*/ 2779841 w 84"/>
                <a:gd name="T35" fmla="*/ 0 h 64"/>
                <a:gd name="T36" fmla="*/ 2353327 w 84"/>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4"/>
                <a:gd name="T59" fmla="*/ 84 w 84"/>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4">
                  <a:moveTo>
                    <a:pt x="70" y="4"/>
                  </a:moveTo>
                  <a:lnTo>
                    <a:pt x="69" y="7"/>
                  </a:lnTo>
                  <a:lnTo>
                    <a:pt x="63" y="12"/>
                  </a:lnTo>
                  <a:lnTo>
                    <a:pt x="52" y="19"/>
                  </a:lnTo>
                  <a:lnTo>
                    <a:pt x="39" y="26"/>
                  </a:lnTo>
                  <a:lnTo>
                    <a:pt x="25" y="34"/>
                  </a:lnTo>
                  <a:lnTo>
                    <a:pt x="13" y="41"/>
                  </a:lnTo>
                  <a:lnTo>
                    <a:pt x="3" y="50"/>
                  </a:lnTo>
                  <a:lnTo>
                    <a:pt x="0" y="63"/>
                  </a:lnTo>
                  <a:lnTo>
                    <a:pt x="13" y="59"/>
                  </a:lnTo>
                  <a:lnTo>
                    <a:pt x="15" y="58"/>
                  </a:lnTo>
                  <a:lnTo>
                    <a:pt x="21" y="51"/>
                  </a:lnTo>
                  <a:lnTo>
                    <a:pt x="32" y="45"/>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8" name="Freeform 207">
              <a:extLst>
                <a:ext uri="{FF2B5EF4-FFF2-40B4-BE49-F238E27FC236}">
                  <a16:creationId xmlns:a16="http://schemas.microsoft.com/office/drawing/2014/main" id="{29B6F9BF-791C-75D9-B579-8509AADE3E96}"/>
                </a:ext>
              </a:extLst>
            </p:cNvPr>
            <p:cNvSpPr>
              <a:spLocks/>
            </p:cNvSpPr>
            <p:nvPr/>
          </p:nvSpPr>
          <p:spPr bwMode="auto">
            <a:xfrm>
              <a:off x="2307" y="2442"/>
              <a:ext cx="174" cy="33"/>
            </a:xfrm>
            <a:custGeom>
              <a:avLst/>
              <a:gdLst>
                <a:gd name="T0" fmla="*/ 0 w 106"/>
                <a:gd name="T1" fmla="*/ 68 h 29"/>
                <a:gd name="T2" fmla="*/ 306683 w 106"/>
                <a:gd name="T3" fmla="*/ 207 h 29"/>
                <a:gd name="T4" fmla="*/ 689288 w 106"/>
                <a:gd name="T5" fmla="*/ 247 h 29"/>
                <a:gd name="T6" fmla="*/ 1189907 w 106"/>
                <a:gd name="T7" fmla="*/ 281 h 29"/>
                <a:gd name="T8" fmla="*/ 1723619 w 106"/>
                <a:gd name="T9" fmla="*/ 306 h 29"/>
                <a:gd name="T10" fmla="*/ 2261872 w 106"/>
                <a:gd name="T11" fmla="*/ 316 h 29"/>
                <a:gd name="T12" fmla="*/ 2681420 w 106"/>
                <a:gd name="T13" fmla="*/ 320 h 29"/>
                <a:gd name="T14" fmla="*/ 2950607 w 106"/>
                <a:gd name="T15" fmla="*/ 364 h 29"/>
                <a:gd name="T16" fmla="*/ 3048815 w 106"/>
                <a:gd name="T17" fmla="*/ 414 h 29"/>
                <a:gd name="T18" fmla="*/ 3468237 w 106"/>
                <a:gd name="T19" fmla="*/ 360 h 29"/>
                <a:gd name="T20" fmla="*/ 3206268 w 106"/>
                <a:gd name="T21" fmla="*/ 207 h 29"/>
                <a:gd name="T22" fmla="*/ 2742357 w 106"/>
                <a:gd name="T23" fmla="*/ 148 h 29"/>
                <a:gd name="T24" fmla="*/ 2274976 w 106"/>
                <a:gd name="T25" fmla="*/ 114 h 29"/>
                <a:gd name="T26" fmla="*/ 1762354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1" y="17"/>
                  </a:lnTo>
                  <a:lnTo>
                    <a:pt x="36" y="19"/>
                  </a:lnTo>
                  <a:lnTo>
                    <a:pt x="52" y="20"/>
                  </a:lnTo>
                  <a:lnTo>
                    <a:pt x="68" y="21"/>
                  </a:lnTo>
                  <a:lnTo>
                    <a:pt x="81" y="22"/>
                  </a:lnTo>
                  <a:lnTo>
                    <a:pt x="89" y="25"/>
                  </a:lnTo>
                  <a:lnTo>
                    <a:pt x="92" y="28"/>
                  </a:lnTo>
                  <a:lnTo>
                    <a:pt x="105" y="24"/>
                  </a:lnTo>
                  <a:lnTo>
                    <a:pt x="97" y="14"/>
                  </a:lnTo>
                  <a:lnTo>
                    <a:pt x="83" y="10"/>
                  </a:lnTo>
                  <a:lnTo>
                    <a:pt x="69" y="8"/>
                  </a:lnTo>
                  <a:lnTo>
                    <a:pt x="53"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89" name="Freeform 208">
              <a:extLst>
                <a:ext uri="{FF2B5EF4-FFF2-40B4-BE49-F238E27FC236}">
                  <a16:creationId xmlns:a16="http://schemas.microsoft.com/office/drawing/2014/main" id="{FB7965D4-3A66-01AF-C7A5-30FA9189FF77}"/>
                </a:ext>
              </a:extLst>
            </p:cNvPr>
            <p:cNvSpPr>
              <a:spLocks/>
            </p:cNvSpPr>
            <p:nvPr/>
          </p:nvSpPr>
          <p:spPr bwMode="auto">
            <a:xfrm>
              <a:off x="2307" y="2379"/>
              <a:ext cx="139" cy="68"/>
            </a:xfrm>
            <a:custGeom>
              <a:avLst/>
              <a:gdLst>
                <a:gd name="T0" fmla="*/ 2176640 w 85"/>
                <a:gd name="T1" fmla="*/ 137 h 59"/>
                <a:gd name="T2" fmla="*/ 2176640 w 85"/>
                <a:gd name="T3" fmla="*/ 103 h 59"/>
                <a:gd name="T4" fmla="*/ 2115439 w 85"/>
                <a:gd name="T5" fmla="*/ 137 h 59"/>
                <a:gd name="T6" fmla="*/ 1925866 w 85"/>
                <a:gd name="T7" fmla="*/ 221 h 59"/>
                <a:gd name="T8" fmla="*/ 1621167 w 85"/>
                <a:gd name="T9" fmla="*/ 339 h 59"/>
                <a:gd name="T10" fmla="*/ 1202759 w 85"/>
                <a:gd name="T11" fmla="*/ 451 h 59"/>
                <a:gd name="T12" fmla="*/ 769815 w 85"/>
                <a:gd name="T13" fmla="*/ 589 h 59"/>
                <a:gd name="T14" fmla="*/ 329412 w 85"/>
                <a:gd name="T15" fmla="*/ 690 h 59"/>
                <a:gd name="T16" fmla="*/ 54877 w 85"/>
                <a:gd name="T17" fmla="*/ 896 h 59"/>
                <a:gd name="T18" fmla="*/ 0 w 85"/>
                <a:gd name="T19" fmla="*/ 1156 h 59"/>
                <a:gd name="T20" fmla="*/ 392440 w 85"/>
                <a:gd name="T21" fmla="*/ 1056 h 59"/>
                <a:gd name="T22" fmla="*/ 392440 w 85"/>
                <a:gd name="T23" fmla="*/ 1040 h 59"/>
                <a:gd name="T24" fmla="*/ 580820 w 85"/>
                <a:gd name="T25" fmla="*/ 942 h 59"/>
                <a:gd name="T26" fmla="*/ 914232 w 85"/>
                <a:gd name="T27" fmla="*/ 817 h 59"/>
                <a:gd name="T28" fmla="*/ 1351688 w 85"/>
                <a:gd name="T29" fmla="*/ 690 h 59"/>
                <a:gd name="T30" fmla="*/ 1770119 w 85"/>
                <a:gd name="T31" fmla="*/ 569 h 59"/>
                <a:gd name="T32" fmla="*/ 2176640 w 85"/>
                <a:gd name="T33" fmla="*/ 451 h 59"/>
                <a:gd name="T34" fmla="*/ 2469536 w 85"/>
                <a:gd name="T35" fmla="*/ 279 h 59"/>
                <a:gd name="T36" fmla="*/ 2563417 w 85"/>
                <a:gd name="T37" fmla="*/ 1 h 59"/>
                <a:gd name="T38" fmla="*/ 2539975 w 85"/>
                <a:gd name="T39" fmla="*/ 0 h 59"/>
                <a:gd name="T40" fmla="*/ 2563417 w 85"/>
                <a:gd name="T41" fmla="*/ 1 h 59"/>
                <a:gd name="T42" fmla="*/ 2539975 w 85"/>
                <a:gd name="T43" fmla="*/ 0 h 59"/>
                <a:gd name="T44" fmla="*/ 2176640 w 85"/>
                <a:gd name="T45" fmla="*/ 137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1" y="7"/>
                  </a:moveTo>
                  <a:lnTo>
                    <a:pt x="71" y="5"/>
                  </a:lnTo>
                  <a:lnTo>
                    <a:pt x="69" y="7"/>
                  </a:lnTo>
                  <a:lnTo>
                    <a:pt x="63" y="11"/>
                  </a:lnTo>
                  <a:lnTo>
                    <a:pt x="53" y="17"/>
                  </a:lnTo>
                  <a:lnTo>
                    <a:pt x="39" y="23"/>
                  </a:lnTo>
                  <a:lnTo>
                    <a:pt x="25" y="30"/>
                  </a:lnTo>
                  <a:lnTo>
                    <a:pt x="11" y="36"/>
                  </a:lnTo>
                  <a:lnTo>
                    <a:pt x="2" y="45"/>
                  </a:lnTo>
                  <a:lnTo>
                    <a:pt x="0" y="58"/>
                  </a:lnTo>
                  <a:lnTo>
                    <a:pt x="13" y="54"/>
                  </a:lnTo>
                  <a:lnTo>
                    <a:pt x="13" y="53"/>
                  </a:lnTo>
                  <a:lnTo>
                    <a:pt x="19" y="48"/>
                  </a:lnTo>
                  <a:lnTo>
                    <a:pt x="30" y="42"/>
                  </a:lnTo>
                  <a:lnTo>
                    <a:pt x="44" y="36"/>
                  </a:lnTo>
                  <a:lnTo>
                    <a:pt x="58" y="29"/>
                  </a:lnTo>
                  <a:lnTo>
                    <a:pt x="71" y="23"/>
                  </a:lnTo>
                  <a:lnTo>
                    <a:pt x="81" y="14"/>
                  </a:lnTo>
                  <a:lnTo>
                    <a:pt x="84" y="1"/>
                  </a:lnTo>
                  <a:lnTo>
                    <a:pt x="83" y="0"/>
                  </a:lnTo>
                  <a:lnTo>
                    <a:pt x="84" y="1"/>
                  </a:lnTo>
                  <a:lnTo>
                    <a:pt x="83" y="0"/>
                  </a:lnTo>
                  <a:lnTo>
                    <a:pt x="71"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0" name="Freeform 209">
              <a:extLst>
                <a:ext uri="{FF2B5EF4-FFF2-40B4-BE49-F238E27FC236}">
                  <a16:creationId xmlns:a16="http://schemas.microsoft.com/office/drawing/2014/main" id="{200A6A33-63D6-595B-5DCF-A6A47175A5D8}"/>
                </a:ext>
              </a:extLst>
            </p:cNvPr>
            <p:cNvSpPr>
              <a:spLocks/>
            </p:cNvSpPr>
            <p:nvPr/>
          </p:nvSpPr>
          <p:spPr bwMode="auto">
            <a:xfrm>
              <a:off x="2421" y="2378"/>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1" name="Freeform 210">
              <a:extLst>
                <a:ext uri="{FF2B5EF4-FFF2-40B4-BE49-F238E27FC236}">
                  <a16:creationId xmlns:a16="http://schemas.microsoft.com/office/drawing/2014/main" id="{893FB587-05D1-4522-110A-EBC3120C01DC}"/>
                </a:ext>
              </a:extLst>
            </p:cNvPr>
            <p:cNvSpPr>
              <a:spLocks/>
            </p:cNvSpPr>
            <p:nvPr/>
          </p:nvSpPr>
          <p:spPr bwMode="auto">
            <a:xfrm>
              <a:off x="2270" y="2351"/>
              <a:ext cx="175" cy="35"/>
            </a:xfrm>
            <a:custGeom>
              <a:avLst/>
              <a:gdLst>
                <a:gd name="T0" fmla="*/ 0 w 106"/>
                <a:gd name="T1" fmla="*/ 162 h 29"/>
                <a:gd name="T2" fmla="*/ 291842 w 106"/>
                <a:gd name="T3" fmla="*/ 683 h 29"/>
                <a:gd name="T4" fmla="*/ 795449 w 106"/>
                <a:gd name="T5" fmla="*/ 824 h 29"/>
                <a:gd name="T6" fmla="*/ 1328805 w 106"/>
                <a:gd name="T7" fmla="*/ 962 h 29"/>
                <a:gd name="T8" fmla="*/ 1941196 w 106"/>
                <a:gd name="T9" fmla="*/ 962 h 29"/>
                <a:gd name="T10" fmla="*/ 2508326 w 106"/>
                <a:gd name="T11" fmla="*/ 962 h 29"/>
                <a:gd name="T12" fmla="*/ 2989299 w 106"/>
                <a:gd name="T13" fmla="*/ 1050 h 29"/>
                <a:gd name="T14" fmla="*/ 3328313 w 106"/>
                <a:gd name="T15" fmla="*/ 1267 h 29"/>
                <a:gd name="T16" fmla="*/ 3435385 w 106"/>
                <a:gd name="T17" fmla="*/ 1448 h 29"/>
                <a:gd name="T18" fmla="*/ 3917132 w 106"/>
                <a:gd name="T19" fmla="*/ 1267 h 29"/>
                <a:gd name="T20" fmla="*/ 3621810 w 106"/>
                <a:gd name="T21" fmla="*/ 683 h 29"/>
                <a:gd name="T22" fmla="*/ 3136520 w 106"/>
                <a:gd name="T23" fmla="*/ 345 h 29"/>
                <a:gd name="T24" fmla="*/ 2534104 w 106"/>
                <a:gd name="T25" fmla="*/ 237 h 29"/>
                <a:gd name="T26" fmla="*/ 1941196 w 106"/>
                <a:gd name="T27" fmla="*/ 162 h 29"/>
                <a:gd name="T28" fmla="*/ 1328805 w 106"/>
                <a:gd name="T29" fmla="*/ 162 h 29"/>
                <a:gd name="T30" fmla="*/ 804876 w 106"/>
                <a:gd name="T31" fmla="*/ 162 h 29"/>
                <a:gd name="T32" fmla="*/ 563155 w 106"/>
                <a:gd name="T33" fmla="*/ 1 h 29"/>
                <a:gd name="T34" fmla="*/ 481815 w 106"/>
                <a:gd name="T35" fmla="*/ 0 h 29"/>
                <a:gd name="T36" fmla="*/ 0 w 106"/>
                <a:gd name="T37" fmla="*/ 162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6"/>
                  </a:lnTo>
                  <a:lnTo>
                    <a:pt x="36" y="18"/>
                  </a:lnTo>
                  <a:lnTo>
                    <a:pt x="52" y="18"/>
                  </a:lnTo>
                  <a:lnTo>
                    <a:pt x="67" y="18"/>
                  </a:lnTo>
                  <a:lnTo>
                    <a:pt x="80" y="20"/>
                  </a:lnTo>
                  <a:lnTo>
                    <a:pt x="89" y="24"/>
                  </a:lnTo>
                  <a:lnTo>
                    <a:pt x="92" y="28"/>
                  </a:lnTo>
                  <a:lnTo>
                    <a:pt x="105" y="24"/>
                  </a:lnTo>
                  <a:lnTo>
                    <a:pt x="97" y="13"/>
                  </a:lnTo>
                  <a:lnTo>
                    <a:pt x="84" y="7"/>
                  </a:lnTo>
                  <a:lnTo>
                    <a:pt x="68" y="5"/>
                  </a:lnTo>
                  <a:lnTo>
                    <a:pt x="52" y="3"/>
                  </a:lnTo>
                  <a:lnTo>
                    <a:pt x="36" y="3"/>
                  </a:lnTo>
                  <a:lnTo>
                    <a:pt x="22" y="3"/>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2" name="Freeform 211">
              <a:extLst>
                <a:ext uri="{FF2B5EF4-FFF2-40B4-BE49-F238E27FC236}">
                  <a16:creationId xmlns:a16="http://schemas.microsoft.com/office/drawing/2014/main" id="{EBB7F49E-4841-59CA-32DB-71403C2E757F}"/>
                </a:ext>
              </a:extLst>
            </p:cNvPr>
            <p:cNvSpPr>
              <a:spLocks/>
            </p:cNvSpPr>
            <p:nvPr/>
          </p:nvSpPr>
          <p:spPr bwMode="auto">
            <a:xfrm>
              <a:off x="2270" y="2284"/>
              <a:ext cx="137" cy="74"/>
            </a:xfrm>
            <a:custGeom>
              <a:avLst/>
              <a:gdLst>
                <a:gd name="T0" fmla="*/ 2566051 w 83"/>
                <a:gd name="T1" fmla="*/ 93 h 64"/>
                <a:gd name="T2" fmla="*/ 2566051 w 83"/>
                <a:gd name="T3" fmla="*/ 145 h 64"/>
                <a:gd name="T4" fmla="*/ 2349936 w 83"/>
                <a:gd name="T5" fmla="*/ 259 h 64"/>
                <a:gd name="T6" fmla="*/ 1933123 w 83"/>
                <a:gd name="T7" fmla="*/ 400 h 64"/>
                <a:gd name="T8" fmla="*/ 1423684 w 83"/>
                <a:gd name="T9" fmla="*/ 546 h 64"/>
                <a:gd name="T10" fmla="*/ 901473 w 83"/>
                <a:gd name="T11" fmla="*/ 716 h 64"/>
                <a:gd name="T12" fmla="*/ 446998 w 83"/>
                <a:gd name="T13" fmla="*/ 845 h 64"/>
                <a:gd name="T14" fmla="*/ 64690 w 83"/>
                <a:gd name="T15" fmla="*/ 1059 h 64"/>
                <a:gd name="T16" fmla="*/ 0 w 83"/>
                <a:gd name="T17" fmla="*/ 1319 h 64"/>
                <a:gd name="T18" fmla="*/ 480180 w 83"/>
                <a:gd name="T19" fmla="*/ 1234 h 64"/>
                <a:gd name="T20" fmla="*/ 522551 w 83"/>
                <a:gd name="T21" fmla="*/ 1224 h 64"/>
                <a:gd name="T22" fmla="*/ 737816 w 83"/>
                <a:gd name="T23" fmla="*/ 1067 h 64"/>
                <a:gd name="T24" fmla="*/ 1147807 w 83"/>
                <a:gd name="T25" fmla="*/ 957 h 64"/>
                <a:gd name="T26" fmla="*/ 1664712 w 83"/>
                <a:gd name="T27" fmla="*/ 798 h 64"/>
                <a:gd name="T28" fmla="*/ 2159391 w 83"/>
                <a:gd name="T29" fmla="*/ 673 h 64"/>
                <a:gd name="T30" fmla="*/ 2640814 w 83"/>
                <a:gd name="T31" fmla="*/ 503 h 64"/>
                <a:gd name="T32" fmla="*/ 2976645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7"/>
                  </a:lnTo>
                  <a:lnTo>
                    <a:pt x="63" y="12"/>
                  </a:lnTo>
                  <a:lnTo>
                    <a:pt x="52" y="19"/>
                  </a:lnTo>
                  <a:lnTo>
                    <a:pt x="38" y="26"/>
                  </a:lnTo>
                  <a:lnTo>
                    <a:pt x="24" y="34"/>
                  </a:lnTo>
                  <a:lnTo>
                    <a:pt x="12" y="41"/>
                  </a:lnTo>
                  <a:lnTo>
                    <a:pt x="2" y="50"/>
                  </a:lnTo>
                  <a:lnTo>
                    <a:pt x="0" y="63"/>
                  </a:lnTo>
                  <a:lnTo>
                    <a:pt x="13" y="59"/>
                  </a:lnTo>
                  <a:lnTo>
                    <a:pt x="14" y="58"/>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3" name="Freeform 212">
              <a:extLst>
                <a:ext uri="{FF2B5EF4-FFF2-40B4-BE49-F238E27FC236}">
                  <a16:creationId xmlns:a16="http://schemas.microsoft.com/office/drawing/2014/main" id="{ED23FE16-5531-7FFA-C928-3FA9430A4BAB}"/>
                </a:ext>
              </a:extLst>
            </p:cNvPr>
            <p:cNvSpPr>
              <a:spLocks/>
            </p:cNvSpPr>
            <p:nvPr/>
          </p:nvSpPr>
          <p:spPr bwMode="auto">
            <a:xfrm>
              <a:off x="2232" y="2257"/>
              <a:ext cx="175" cy="33"/>
            </a:xfrm>
            <a:custGeom>
              <a:avLst/>
              <a:gdLst>
                <a:gd name="T0" fmla="*/ 0 w 106"/>
                <a:gd name="T1" fmla="*/ 68 h 29"/>
                <a:gd name="T2" fmla="*/ 291842 w 106"/>
                <a:gd name="T3" fmla="*/ 207 h 29"/>
                <a:gd name="T4" fmla="*/ 795449 w 106"/>
                <a:gd name="T5" fmla="*/ 247 h 29"/>
                <a:gd name="T6" fmla="*/ 1328805 w 106"/>
                <a:gd name="T7" fmla="*/ 281 h 29"/>
                <a:gd name="T8" fmla="*/ 1941196 w 106"/>
                <a:gd name="T9" fmla="*/ 306 h 29"/>
                <a:gd name="T10" fmla="*/ 2534104 w 106"/>
                <a:gd name="T11" fmla="*/ 316 h 29"/>
                <a:gd name="T12" fmla="*/ 3033331 w 106"/>
                <a:gd name="T13" fmla="*/ 348 h 29"/>
                <a:gd name="T14" fmla="*/ 3369257 w 106"/>
                <a:gd name="T15" fmla="*/ 396 h 29"/>
                <a:gd name="T16" fmla="*/ 3435385 w 106"/>
                <a:gd name="T17" fmla="*/ 414 h 29"/>
                <a:gd name="T18" fmla="*/ 3917132 w 106"/>
                <a:gd name="T19" fmla="*/ 364 h 29"/>
                <a:gd name="T20" fmla="*/ 3621810 w 106"/>
                <a:gd name="T21" fmla="*/ 207 h 29"/>
                <a:gd name="T22" fmla="*/ 3136520 w 106"/>
                <a:gd name="T23" fmla="*/ 148 h 29"/>
                <a:gd name="T24" fmla="*/ 2573651 w 106"/>
                <a:gd name="T25" fmla="*/ 114 h 29"/>
                <a:gd name="T26" fmla="*/ 1984779 w 106"/>
                <a:gd name="T27" fmla="*/ 100 h 29"/>
                <a:gd name="T28" fmla="*/ 1427982 w 106"/>
                <a:gd name="T29" fmla="*/ 88 h 29"/>
                <a:gd name="T30" fmla="*/ 904506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7"/>
                  </a:lnTo>
                  <a:lnTo>
                    <a:pt x="36" y="19"/>
                  </a:lnTo>
                  <a:lnTo>
                    <a:pt x="52" y="20"/>
                  </a:lnTo>
                  <a:lnTo>
                    <a:pt x="68" y="21"/>
                  </a:lnTo>
                  <a:lnTo>
                    <a:pt x="81" y="23"/>
                  </a:lnTo>
                  <a:lnTo>
                    <a:pt x="90" y="26"/>
                  </a:lnTo>
                  <a:lnTo>
                    <a:pt x="92" y="28"/>
                  </a:lnTo>
                  <a:lnTo>
                    <a:pt x="105" y="25"/>
                  </a:lnTo>
                  <a:lnTo>
                    <a:pt x="97" y="14"/>
                  </a:lnTo>
                  <a:lnTo>
                    <a:pt x="84" y="10"/>
                  </a:lnTo>
                  <a:lnTo>
                    <a:pt x="69" y="8"/>
                  </a:lnTo>
                  <a:lnTo>
                    <a:pt x="53" y="7"/>
                  </a:lnTo>
                  <a:lnTo>
                    <a:pt x="38"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4" name="Freeform 213">
              <a:extLst>
                <a:ext uri="{FF2B5EF4-FFF2-40B4-BE49-F238E27FC236}">
                  <a16:creationId xmlns:a16="http://schemas.microsoft.com/office/drawing/2014/main" id="{8E0C5B95-271E-E3FC-B79F-86667FB73C00}"/>
                </a:ext>
              </a:extLst>
            </p:cNvPr>
            <p:cNvSpPr>
              <a:spLocks/>
            </p:cNvSpPr>
            <p:nvPr/>
          </p:nvSpPr>
          <p:spPr bwMode="auto">
            <a:xfrm>
              <a:off x="2232" y="2194"/>
              <a:ext cx="142" cy="68"/>
            </a:xfrm>
            <a:custGeom>
              <a:avLst/>
              <a:gdLst>
                <a:gd name="T0" fmla="*/ 2656439 w 86"/>
                <a:gd name="T1" fmla="*/ 2 h 59"/>
                <a:gd name="T2" fmla="*/ 2656439 w 86"/>
                <a:gd name="T3" fmla="*/ 89 h 59"/>
                <a:gd name="T4" fmla="*/ 2656439 w 86"/>
                <a:gd name="T5" fmla="*/ 3 h 59"/>
                <a:gd name="T6" fmla="*/ 2362437 w 86"/>
                <a:gd name="T7" fmla="*/ 158 h 59"/>
                <a:gd name="T8" fmla="*/ 1944896 w 86"/>
                <a:gd name="T9" fmla="*/ 294 h 59"/>
                <a:gd name="T10" fmla="*/ 1456690 w 86"/>
                <a:gd name="T11" fmla="*/ 428 h 59"/>
                <a:gd name="T12" fmla="*/ 931604 w 86"/>
                <a:gd name="T13" fmla="*/ 568 h 59"/>
                <a:gd name="T14" fmla="*/ 486253 w 86"/>
                <a:gd name="T15" fmla="*/ 690 h 59"/>
                <a:gd name="T16" fmla="*/ 108017 w 86"/>
                <a:gd name="T17" fmla="*/ 896 h 59"/>
                <a:gd name="T18" fmla="*/ 0 w 86"/>
                <a:gd name="T19" fmla="*/ 1156 h 59"/>
                <a:gd name="T20" fmla="*/ 486253 w 86"/>
                <a:gd name="T21" fmla="*/ 1056 h 59"/>
                <a:gd name="T22" fmla="*/ 564211 w 86"/>
                <a:gd name="T23" fmla="*/ 1040 h 59"/>
                <a:gd name="T24" fmla="*/ 802883 w 86"/>
                <a:gd name="T25" fmla="*/ 902 h 59"/>
                <a:gd name="T26" fmla="*/ 1205805 w 86"/>
                <a:gd name="T27" fmla="*/ 783 h 59"/>
                <a:gd name="T28" fmla="*/ 1672585 w 86"/>
                <a:gd name="T29" fmla="*/ 656 h 59"/>
                <a:gd name="T30" fmla="*/ 2197344 w 86"/>
                <a:gd name="T31" fmla="*/ 520 h 59"/>
                <a:gd name="T32" fmla="*/ 2656439 w 86"/>
                <a:gd name="T33" fmla="*/ 391 h 59"/>
                <a:gd name="T34" fmla="*/ 3040971 w 86"/>
                <a:gd name="T35" fmla="*/ 242 h 59"/>
                <a:gd name="T36" fmla="*/ 3159540 w 86"/>
                <a:gd name="T37" fmla="*/ 0 h 59"/>
                <a:gd name="T38" fmla="*/ 3172037 w 86"/>
                <a:gd name="T39" fmla="*/ 2 h 59"/>
                <a:gd name="T40" fmla="*/ 2656439 w 86"/>
                <a:gd name="T41" fmla="*/ 2 h 59"/>
                <a:gd name="T42" fmla="*/ 2656439 w 86"/>
                <a:gd name="T43" fmla="*/ 3 h 59"/>
                <a:gd name="T44" fmla="*/ 2656439 w 86"/>
                <a:gd name="T45" fmla="*/ 89 h 59"/>
                <a:gd name="T46" fmla="*/ 2656439 w 86"/>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6"/>
                <a:gd name="T73" fmla="*/ 0 h 59"/>
                <a:gd name="T74" fmla="*/ 86 w 86"/>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6" h="59">
                  <a:moveTo>
                    <a:pt x="71" y="2"/>
                  </a:moveTo>
                  <a:lnTo>
                    <a:pt x="71" y="4"/>
                  </a:lnTo>
                  <a:lnTo>
                    <a:pt x="71" y="3"/>
                  </a:lnTo>
                  <a:lnTo>
                    <a:pt x="63" y="8"/>
                  </a:lnTo>
                  <a:lnTo>
                    <a:pt x="52" y="15"/>
                  </a:lnTo>
                  <a:lnTo>
                    <a:pt x="39" y="21"/>
                  </a:lnTo>
                  <a:lnTo>
                    <a:pt x="25" y="28"/>
                  </a:lnTo>
                  <a:lnTo>
                    <a:pt x="13" y="36"/>
                  </a:lnTo>
                  <a:lnTo>
                    <a:pt x="3" y="45"/>
                  </a:lnTo>
                  <a:lnTo>
                    <a:pt x="0" y="58"/>
                  </a:lnTo>
                  <a:lnTo>
                    <a:pt x="13" y="54"/>
                  </a:lnTo>
                  <a:lnTo>
                    <a:pt x="15" y="53"/>
                  </a:lnTo>
                  <a:lnTo>
                    <a:pt x="21" y="46"/>
                  </a:lnTo>
                  <a:lnTo>
                    <a:pt x="32" y="40"/>
                  </a:lnTo>
                  <a:lnTo>
                    <a:pt x="45" y="33"/>
                  </a:lnTo>
                  <a:lnTo>
                    <a:pt x="59" y="27"/>
                  </a:lnTo>
                  <a:lnTo>
                    <a:pt x="71" y="20"/>
                  </a:lnTo>
                  <a:lnTo>
                    <a:pt x="81" y="12"/>
                  </a:lnTo>
                  <a:lnTo>
                    <a:pt x="84" y="0"/>
                  </a:lnTo>
                  <a:lnTo>
                    <a:pt x="85" y="2"/>
                  </a:lnTo>
                  <a:lnTo>
                    <a:pt x="71" y="2"/>
                  </a:lnTo>
                  <a:lnTo>
                    <a:pt x="71" y="3"/>
                  </a:lnTo>
                  <a:lnTo>
                    <a:pt x="71" y="4"/>
                  </a:lnTo>
                  <a:lnTo>
                    <a:pt x="71"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5" name="Freeform 214">
              <a:extLst>
                <a:ext uri="{FF2B5EF4-FFF2-40B4-BE49-F238E27FC236}">
                  <a16:creationId xmlns:a16="http://schemas.microsoft.com/office/drawing/2014/main" id="{20C903BA-7C79-2B2F-46BD-ECC8F7CF5476}"/>
                </a:ext>
              </a:extLst>
            </p:cNvPr>
            <p:cNvSpPr>
              <a:spLocks/>
            </p:cNvSpPr>
            <p:nvPr/>
          </p:nvSpPr>
          <p:spPr bwMode="auto">
            <a:xfrm>
              <a:off x="2348" y="2193"/>
              <a:ext cx="26" cy="6"/>
            </a:xfrm>
            <a:custGeom>
              <a:avLst/>
              <a:gdLst>
                <a:gd name="T0" fmla="*/ 30347 w 16"/>
                <a:gd name="T1" fmla="*/ 179 h 5"/>
                <a:gd name="T2" fmla="*/ 0 w 16"/>
                <a:gd name="T3" fmla="*/ 2 h 5"/>
                <a:gd name="T4" fmla="*/ 392938 w 16"/>
                <a:gd name="T5" fmla="*/ 2 h 5"/>
                <a:gd name="T6" fmla="*/ 373888 w 16"/>
                <a:gd name="T7" fmla="*/ 0 h 5"/>
                <a:gd name="T8" fmla="*/ 392938 w 16"/>
                <a:gd name="T9" fmla="*/ 2 h 5"/>
                <a:gd name="T10" fmla="*/ 392938 w 16"/>
                <a:gd name="T11" fmla="*/ 1 h 5"/>
                <a:gd name="T12" fmla="*/ 373888 w 16"/>
                <a:gd name="T13" fmla="*/ 0 h 5"/>
                <a:gd name="T14" fmla="*/ 30347 w 16"/>
                <a:gd name="T15" fmla="*/ 179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4"/>
                  </a:moveTo>
                  <a:lnTo>
                    <a:pt x="0" y="2"/>
                  </a:lnTo>
                  <a:lnTo>
                    <a:pt x="15" y="2"/>
                  </a:lnTo>
                  <a:lnTo>
                    <a:pt x="14" y="0"/>
                  </a:lnTo>
                  <a:lnTo>
                    <a:pt x="15" y="2"/>
                  </a:lnTo>
                  <a:lnTo>
                    <a:pt x="15" y="1"/>
                  </a:lnTo>
                  <a:lnTo>
                    <a:pt x="14" y="0"/>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6" name="Freeform 215">
              <a:extLst>
                <a:ext uri="{FF2B5EF4-FFF2-40B4-BE49-F238E27FC236}">
                  <a16:creationId xmlns:a16="http://schemas.microsoft.com/office/drawing/2014/main" id="{E7E39B9E-0239-7F16-94A6-66C3D0B7FDB7}"/>
                </a:ext>
              </a:extLst>
            </p:cNvPr>
            <p:cNvSpPr>
              <a:spLocks/>
            </p:cNvSpPr>
            <p:nvPr/>
          </p:nvSpPr>
          <p:spPr bwMode="auto">
            <a:xfrm>
              <a:off x="2199" y="2164"/>
              <a:ext cx="174" cy="35"/>
            </a:xfrm>
            <a:custGeom>
              <a:avLst/>
              <a:gdLst>
                <a:gd name="T0" fmla="*/ 0 w 105"/>
                <a:gd name="T1" fmla="*/ 120 h 30"/>
                <a:gd name="T2" fmla="*/ 320394 w 105"/>
                <a:gd name="T3" fmla="*/ 358 h 30"/>
                <a:gd name="T4" fmla="*/ 851120 w 105"/>
                <a:gd name="T5" fmla="*/ 488 h 30"/>
                <a:gd name="T6" fmla="*/ 1458024 w 105"/>
                <a:gd name="T7" fmla="*/ 560 h 30"/>
                <a:gd name="T8" fmla="*/ 2080606 w 105"/>
                <a:gd name="T9" fmla="*/ 569 h 30"/>
                <a:gd name="T10" fmla="*/ 2706298 w 105"/>
                <a:gd name="T11" fmla="*/ 585 h 30"/>
                <a:gd name="T12" fmla="*/ 3243486 w 105"/>
                <a:gd name="T13" fmla="*/ 653 h 30"/>
                <a:gd name="T14" fmla="*/ 3587389 w 105"/>
                <a:gd name="T15" fmla="*/ 746 h 30"/>
                <a:gd name="T16" fmla="*/ 3677016 w 105"/>
                <a:gd name="T17" fmla="*/ 762 h 30"/>
                <a:gd name="T18" fmla="*/ 4192184 w 105"/>
                <a:gd name="T19" fmla="*/ 653 h 30"/>
                <a:gd name="T20" fmla="*/ 3825019 w 105"/>
                <a:gd name="T21" fmla="*/ 418 h 30"/>
                <a:gd name="T22" fmla="*/ 3367531 w 105"/>
                <a:gd name="T23" fmla="*/ 307 h 30"/>
                <a:gd name="T24" fmla="*/ 2780749 w 105"/>
                <a:gd name="T25" fmla="*/ 263 h 30"/>
                <a:gd name="T26" fmla="*/ 2105818 w 105"/>
                <a:gd name="T27" fmla="*/ 259 h 30"/>
                <a:gd name="T28" fmla="*/ 1485145 w 105"/>
                <a:gd name="T29" fmla="*/ 222 h 30"/>
                <a:gd name="T30" fmla="*/ 970032 w 105"/>
                <a:gd name="T31" fmla="*/ 163 h 30"/>
                <a:gd name="T32" fmla="*/ 605611 w 105"/>
                <a:gd name="T33" fmla="*/ 103 h 30"/>
                <a:gd name="T34" fmla="*/ 530939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9"/>
                  </a:lnTo>
                  <a:lnTo>
                    <a:pt x="36" y="21"/>
                  </a:lnTo>
                  <a:lnTo>
                    <a:pt x="51" y="22"/>
                  </a:lnTo>
                  <a:lnTo>
                    <a:pt x="67" y="23"/>
                  </a:lnTo>
                  <a:lnTo>
                    <a:pt x="80" y="25"/>
                  </a:lnTo>
                  <a:lnTo>
                    <a:pt x="89" y="28"/>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7" name="Freeform 216">
              <a:extLst>
                <a:ext uri="{FF2B5EF4-FFF2-40B4-BE49-F238E27FC236}">
                  <a16:creationId xmlns:a16="http://schemas.microsoft.com/office/drawing/2014/main" id="{ADA67197-5886-9C4A-B26B-4D9CBCBB2827}"/>
                </a:ext>
              </a:extLst>
            </p:cNvPr>
            <p:cNvSpPr>
              <a:spLocks/>
            </p:cNvSpPr>
            <p:nvPr/>
          </p:nvSpPr>
          <p:spPr bwMode="auto">
            <a:xfrm>
              <a:off x="2199" y="2096"/>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480180 w 83"/>
                <a:gd name="T21" fmla="*/ 1556 h 64"/>
                <a:gd name="T22" fmla="*/ 695387 w 83"/>
                <a:gd name="T23" fmla="*/ 1430 h 64"/>
                <a:gd name="T24" fmla="*/ 1133388 w 83"/>
                <a:gd name="T25" fmla="*/ 1236 h 64"/>
                <a:gd name="T26" fmla="*/ 1639289 w 83"/>
                <a:gd name="T27" fmla="*/ 1021 h 64"/>
                <a:gd name="T28" fmla="*/ 2159391 w 83"/>
                <a:gd name="T29" fmla="*/ 813 h 64"/>
                <a:gd name="T30" fmla="*/ 2603804 w 83"/>
                <a:gd name="T31" fmla="*/ 592 h 64"/>
                <a:gd name="T32" fmla="*/ 2976645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3"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8" name="Freeform 217">
              <a:extLst>
                <a:ext uri="{FF2B5EF4-FFF2-40B4-BE49-F238E27FC236}">
                  <a16:creationId xmlns:a16="http://schemas.microsoft.com/office/drawing/2014/main" id="{1C279334-8C81-E894-D1A3-07F766398925}"/>
                </a:ext>
              </a:extLst>
            </p:cNvPr>
            <p:cNvSpPr>
              <a:spLocks/>
            </p:cNvSpPr>
            <p:nvPr/>
          </p:nvSpPr>
          <p:spPr bwMode="auto">
            <a:xfrm>
              <a:off x="2161" y="2068"/>
              <a:ext cx="175" cy="34"/>
            </a:xfrm>
            <a:custGeom>
              <a:avLst/>
              <a:gdLst>
                <a:gd name="T0" fmla="*/ 0 w 106"/>
                <a:gd name="T1" fmla="*/ 121 h 29"/>
                <a:gd name="T2" fmla="*/ 341111 w 106"/>
                <a:gd name="T3" fmla="*/ 375 h 29"/>
                <a:gd name="T4" fmla="*/ 804876 w 106"/>
                <a:gd name="T5" fmla="*/ 505 h 29"/>
                <a:gd name="T6" fmla="*/ 1328805 w 106"/>
                <a:gd name="T7" fmla="*/ 579 h 29"/>
                <a:gd name="T8" fmla="*/ 1941196 w 106"/>
                <a:gd name="T9" fmla="*/ 592 h 29"/>
                <a:gd name="T10" fmla="*/ 2534104 w 106"/>
                <a:gd name="T11" fmla="*/ 605 h 29"/>
                <a:gd name="T12" fmla="*/ 3033331 w 106"/>
                <a:gd name="T13" fmla="*/ 691 h 29"/>
                <a:gd name="T14" fmla="*/ 3369257 w 106"/>
                <a:gd name="T15" fmla="*/ 709 h 29"/>
                <a:gd name="T16" fmla="*/ 3435385 w 106"/>
                <a:gd name="T17" fmla="*/ 810 h 29"/>
                <a:gd name="T18" fmla="*/ 3917132 w 106"/>
                <a:gd name="T19" fmla="*/ 694 h 29"/>
                <a:gd name="T20" fmla="*/ 3579389 w 106"/>
                <a:gd name="T21" fmla="*/ 431 h 29"/>
                <a:gd name="T22" fmla="*/ 3136520 w 106"/>
                <a:gd name="T23" fmla="*/ 314 h 29"/>
                <a:gd name="T24" fmla="*/ 2573651 w 106"/>
                <a:gd name="T25" fmla="*/ 268 h 29"/>
                <a:gd name="T26" fmla="*/ 1984779 w 106"/>
                <a:gd name="T27" fmla="*/ 229 h 29"/>
                <a:gd name="T28" fmla="*/ 1389091 w 106"/>
                <a:gd name="T29" fmla="*/ 195 h 29"/>
                <a:gd name="T30" fmla="*/ 904506 w 106"/>
                <a:gd name="T31" fmla="*/ 142 h 29"/>
                <a:gd name="T32" fmla="*/ 563155 w 106"/>
                <a:gd name="T33" fmla="*/ 2 h 29"/>
                <a:gd name="T34" fmla="*/ 481815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5"/>
                  </a:lnTo>
                  <a:lnTo>
                    <a:pt x="96" y="15"/>
                  </a:lnTo>
                  <a:lnTo>
                    <a:pt x="84" y="11"/>
                  </a:lnTo>
                  <a:lnTo>
                    <a:pt x="69" y="9"/>
                  </a:lnTo>
                  <a:lnTo>
                    <a:pt x="53"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99" name="Freeform 218">
              <a:extLst>
                <a:ext uri="{FF2B5EF4-FFF2-40B4-BE49-F238E27FC236}">
                  <a16:creationId xmlns:a16="http://schemas.microsoft.com/office/drawing/2014/main" id="{503EB19A-F7F9-F0B8-E51E-0B54EF2D28B4}"/>
                </a:ext>
              </a:extLst>
            </p:cNvPr>
            <p:cNvSpPr>
              <a:spLocks/>
            </p:cNvSpPr>
            <p:nvPr/>
          </p:nvSpPr>
          <p:spPr bwMode="auto">
            <a:xfrm>
              <a:off x="2161" y="2000"/>
              <a:ext cx="136" cy="74"/>
            </a:xfrm>
            <a:custGeom>
              <a:avLst/>
              <a:gdLst>
                <a:gd name="T0" fmla="*/ 2793281 w 82"/>
                <a:gd name="T1" fmla="*/ 3 h 64"/>
                <a:gd name="T2" fmla="*/ 2707123 w 82"/>
                <a:gd name="T3" fmla="*/ 108 h 64"/>
                <a:gd name="T4" fmla="*/ 2517775 w 82"/>
                <a:gd name="T5" fmla="*/ 243 h 64"/>
                <a:gd name="T6" fmla="*/ 2065016 w 82"/>
                <a:gd name="T7" fmla="*/ 383 h 64"/>
                <a:gd name="T8" fmla="*/ 1518070 w 82"/>
                <a:gd name="T9" fmla="*/ 535 h 64"/>
                <a:gd name="T10" fmla="*/ 934081 w 82"/>
                <a:gd name="T11" fmla="*/ 690 h 64"/>
                <a:gd name="T12" fmla="*/ 452635 w 82"/>
                <a:gd name="T13" fmla="*/ 845 h 64"/>
                <a:gd name="T14" fmla="*/ 71808 w 82"/>
                <a:gd name="T15" fmla="*/ 1059 h 64"/>
                <a:gd name="T16" fmla="*/ 0 w 82"/>
                <a:gd name="T17" fmla="*/ 1319 h 64"/>
                <a:gd name="T18" fmla="*/ 543340 w 82"/>
                <a:gd name="T19" fmla="*/ 1234 h 64"/>
                <a:gd name="T20" fmla="*/ 563196 w 82"/>
                <a:gd name="T21" fmla="*/ 1204 h 64"/>
                <a:gd name="T22" fmla="*/ 819581 w 82"/>
                <a:gd name="T23" fmla="*/ 1067 h 64"/>
                <a:gd name="T24" fmla="*/ 1245083 w 82"/>
                <a:gd name="T25" fmla="*/ 923 h 64"/>
                <a:gd name="T26" fmla="*/ 1809896 w 82"/>
                <a:gd name="T27" fmla="*/ 792 h 64"/>
                <a:gd name="T28" fmla="*/ 2364446 w 82"/>
                <a:gd name="T29" fmla="*/ 619 h 64"/>
                <a:gd name="T30" fmla="*/ 2866162 w 82"/>
                <a:gd name="T31" fmla="*/ 463 h 64"/>
                <a:gd name="T32" fmla="*/ 3201544 w 82"/>
                <a:gd name="T33" fmla="*/ 259 h 64"/>
                <a:gd name="T34" fmla="*/ 3316748 w 82"/>
                <a:gd name="T35" fmla="*/ 0 h 64"/>
                <a:gd name="T36" fmla="*/ 2793281 w 82"/>
                <a:gd name="T37" fmla="*/ 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3"/>
                  </a:moveTo>
                  <a:lnTo>
                    <a:pt x="66" y="5"/>
                  </a:lnTo>
                  <a:lnTo>
                    <a:pt x="61" y="11"/>
                  </a:lnTo>
                  <a:lnTo>
                    <a:pt x="50" y="18"/>
                  </a:lnTo>
                  <a:lnTo>
                    <a:pt x="37" y="25"/>
                  </a:lnTo>
                  <a:lnTo>
                    <a:pt x="23" y="33"/>
                  </a:lnTo>
                  <a:lnTo>
                    <a:pt x="11" y="41"/>
                  </a:lnTo>
                  <a:lnTo>
                    <a:pt x="2" y="50"/>
                  </a:lnTo>
                  <a:lnTo>
                    <a:pt x="0" y="63"/>
                  </a:lnTo>
                  <a:lnTo>
                    <a:pt x="13" y="59"/>
                  </a:lnTo>
                  <a:lnTo>
                    <a:pt x="14" y="57"/>
                  </a:lnTo>
                  <a:lnTo>
                    <a:pt x="20" y="51"/>
                  </a:lnTo>
                  <a:lnTo>
                    <a:pt x="30" y="44"/>
                  </a:lnTo>
                  <a:lnTo>
                    <a:pt x="44" y="37"/>
                  </a:lnTo>
                  <a:lnTo>
                    <a:pt x="57" y="29"/>
                  </a:lnTo>
                  <a:lnTo>
                    <a:pt x="70" y="22"/>
                  </a:lnTo>
                  <a:lnTo>
                    <a:pt x="78" y="12"/>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0" name="Freeform 219">
              <a:extLst>
                <a:ext uri="{FF2B5EF4-FFF2-40B4-BE49-F238E27FC236}">
                  <a16:creationId xmlns:a16="http://schemas.microsoft.com/office/drawing/2014/main" id="{2B49DED8-FA25-853E-C582-93ABB54E3E9A}"/>
                </a:ext>
              </a:extLst>
            </p:cNvPr>
            <p:cNvSpPr>
              <a:spLocks/>
            </p:cNvSpPr>
            <p:nvPr/>
          </p:nvSpPr>
          <p:spPr bwMode="auto">
            <a:xfrm>
              <a:off x="2274" y="2000"/>
              <a:ext cx="23" cy="6"/>
            </a:xfrm>
            <a:custGeom>
              <a:avLst/>
              <a:gdLst>
                <a:gd name="T0" fmla="*/ 0 w 14"/>
                <a:gd name="T1" fmla="*/ 179 h 5"/>
                <a:gd name="T2" fmla="*/ 200264 w 14"/>
                <a:gd name="T3" fmla="*/ 2 h 5"/>
                <a:gd name="T4" fmla="*/ 439537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1" name="Freeform 220">
              <a:extLst>
                <a:ext uri="{FF2B5EF4-FFF2-40B4-BE49-F238E27FC236}">
                  <a16:creationId xmlns:a16="http://schemas.microsoft.com/office/drawing/2014/main" id="{0FE542B6-9839-69CF-73E5-47C6E3AC6732}"/>
                </a:ext>
              </a:extLst>
            </p:cNvPr>
            <p:cNvSpPr>
              <a:spLocks/>
            </p:cNvSpPr>
            <p:nvPr/>
          </p:nvSpPr>
          <p:spPr bwMode="auto">
            <a:xfrm>
              <a:off x="2122" y="1972"/>
              <a:ext cx="175" cy="34"/>
            </a:xfrm>
            <a:custGeom>
              <a:avLst/>
              <a:gdLst>
                <a:gd name="T0" fmla="*/ 0 w 106"/>
                <a:gd name="T1" fmla="*/ 61 h 30"/>
                <a:gd name="T2" fmla="*/ 291842 w 106"/>
                <a:gd name="T3" fmla="*/ 186 h 30"/>
                <a:gd name="T4" fmla="*/ 795449 w 106"/>
                <a:gd name="T5" fmla="*/ 239 h 30"/>
                <a:gd name="T6" fmla="*/ 1328805 w 106"/>
                <a:gd name="T7" fmla="*/ 271 h 30"/>
                <a:gd name="T8" fmla="*/ 1899835 w 106"/>
                <a:gd name="T9" fmla="*/ 298 h 30"/>
                <a:gd name="T10" fmla="*/ 2534104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206 h 30"/>
                <a:gd name="T22" fmla="*/ 3097518 w 106"/>
                <a:gd name="T23" fmla="*/ 128 h 30"/>
                <a:gd name="T24" fmla="*/ 2573651 w 106"/>
                <a:gd name="T25" fmla="*/ 113 h 30"/>
                <a:gd name="T26" fmla="*/ 1984779 w 106"/>
                <a:gd name="T27" fmla="*/ 100 h 30"/>
                <a:gd name="T28" fmla="*/ 1389091 w 106"/>
                <a:gd name="T29" fmla="*/ 88 h 30"/>
                <a:gd name="T30" fmla="*/ 864949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1"/>
                  </a:lnTo>
                  <a:lnTo>
                    <a:pt x="68" y="22"/>
                  </a:lnTo>
                  <a:lnTo>
                    <a:pt x="81" y="23"/>
                  </a:lnTo>
                  <a:lnTo>
                    <a:pt x="89" y="26"/>
                  </a:lnTo>
                  <a:lnTo>
                    <a:pt x="92" y="29"/>
                  </a:lnTo>
                  <a:lnTo>
                    <a:pt x="105" y="25"/>
                  </a:lnTo>
                  <a:lnTo>
                    <a:pt x="97" y="15"/>
                  </a:lnTo>
                  <a:lnTo>
                    <a:pt x="83" y="10"/>
                  </a:lnTo>
                  <a:lnTo>
                    <a:pt x="69" y="9"/>
                  </a:lnTo>
                  <a:lnTo>
                    <a:pt x="53"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2" name="Freeform 221">
              <a:extLst>
                <a:ext uri="{FF2B5EF4-FFF2-40B4-BE49-F238E27FC236}">
                  <a16:creationId xmlns:a16="http://schemas.microsoft.com/office/drawing/2014/main" id="{B2D0E3C9-92F0-BA31-B111-755452AD8E69}"/>
                </a:ext>
              </a:extLst>
            </p:cNvPr>
            <p:cNvSpPr>
              <a:spLocks/>
            </p:cNvSpPr>
            <p:nvPr/>
          </p:nvSpPr>
          <p:spPr bwMode="auto">
            <a:xfrm>
              <a:off x="2122" y="1904"/>
              <a:ext cx="137" cy="73"/>
            </a:xfrm>
            <a:custGeom>
              <a:avLst/>
              <a:gdLst>
                <a:gd name="T0" fmla="*/ 2566051 w 83"/>
                <a:gd name="T1" fmla="*/ 94 h 63"/>
                <a:gd name="T2" fmla="*/ 2519400 w 83"/>
                <a:gd name="T3" fmla="*/ 146 h 63"/>
                <a:gd name="T4" fmla="*/ 2289995 w 83"/>
                <a:gd name="T5" fmla="*/ 263 h 63"/>
                <a:gd name="T6" fmla="*/ 1894573 w 83"/>
                <a:gd name="T7" fmla="*/ 409 h 63"/>
                <a:gd name="T8" fmla="*/ 1423684 w 83"/>
                <a:gd name="T9" fmla="*/ 594 h 63"/>
                <a:gd name="T10" fmla="*/ 901473 w 83"/>
                <a:gd name="T11" fmla="*/ 732 h 63"/>
                <a:gd name="T12" fmla="*/ 446998 w 83"/>
                <a:gd name="T13" fmla="*/ 860 h 63"/>
                <a:gd name="T14" fmla="*/ 64690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1" y="19"/>
                  </a:lnTo>
                  <a:lnTo>
                    <a:pt x="38" y="26"/>
                  </a:lnTo>
                  <a:lnTo>
                    <a:pt x="24" y="33"/>
                  </a:lnTo>
                  <a:lnTo>
                    <a:pt x="12" y="40"/>
                  </a:lnTo>
                  <a:lnTo>
                    <a:pt x="2" y="49"/>
                  </a:lnTo>
                  <a:lnTo>
                    <a:pt x="0" y="62"/>
                  </a:lnTo>
                  <a:lnTo>
                    <a:pt x="13" y="58"/>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3" name="Freeform 222">
              <a:extLst>
                <a:ext uri="{FF2B5EF4-FFF2-40B4-BE49-F238E27FC236}">
                  <a16:creationId xmlns:a16="http://schemas.microsoft.com/office/drawing/2014/main" id="{5AF3712F-CDF2-A6B4-BAB3-C9EB1280C6EE}"/>
                </a:ext>
              </a:extLst>
            </p:cNvPr>
            <p:cNvSpPr>
              <a:spLocks/>
            </p:cNvSpPr>
            <p:nvPr/>
          </p:nvSpPr>
          <p:spPr bwMode="auto">
            <a:xfrm>
              <a:off x="2087" y="1877"/>
              <a:ext cx="172" cy="33"/>
            </a:xfrm>
            <a:custGeom>
              <a:avLst/>
              <a:gdLst>
                <a:gd name="T0" fmla="*/ 0 w 105"/>
                <a:gd name="T1" fmla="*/ 68 h 29"/>
                <a:gd name="T2" fmla="*/ 247472 w 105"/>
                <a:gd name="T3" fmla="*/ 207 h 29"/>
                <a:gd name="T4" fmla="*/ 664056 w 105"/>
                <a:gd name="T5" fmla="*/ 247 h 29"/>
                <a:gd name="T6" fmla="*/ 1144996 w 105"/>
                <a:gd name="T7" fmla="*/ 281 h 29"/>
                <a:gd name="T8" fmla="*/ 1629916 w 105"/>
                <a:gd name="T9" fmla="*/ 306 h 29"/>
                <a:gd name="T10" fmla="*/ 2126746 w 105"/>
                <a:gd name="T11" fmla="*/ 316 h 29"/>
                <a:gd name="T12" fmla="*/ 2540392 w 105"/>
                <a:gd name="T13" fmla="*/ 348 h 29"/>
                <a:gd name="T14" fmla="*/ 2827108 w 105"/>
                <a:gd name="T15" fmla="*/ 396 h 29"/>
                <a:gd name="T16" fmla="*/ 2885372 w 105"/>
                <a:gd name="T17" fmla="*/ 414 h 29"/>
                <a:gd name="T18" fmla="*/ 3278466 w 105"/>
                <a:gd name="T19" fmla="*/ 364 h 29"/>
                <a:gd name="T20" fmla="*/ 3072431 w 105"/>
                <a:gd name="T21" fmla="*/ 207 h 29"/>
                <a:gd name="T22" fmla="*/ 2633720 w 105"/>
                <a:gd name="T23" fmla="*/ 148 h 29"/>
                <a:gd name="T24" fmla="*/ 2182239 w 105"/>
                <a:gd name="T25" fmla="*/ 114 h 29"/>
                <a:gd name="T26" fmla="*/ 1642575 w 105"/>
                <a:gd name="T27" fmla="*/ 100 h 29"/>
                <a:gd name="T28" fmla="*/ 1185358 w 105"/>
                <a:gd name="T29" fmla="*/ 88 h 29"/>
                <a:gd name="T30" fmla="*/ 737762 w 105"/>
                <a:gd name="T31" fmla="*/ 68 h 29"/>
                <a:gd name="T32" fmla="*/ 483836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7"/>
                  </a:lnTo>
                  <a:lnTo>
                    <a:pt x="36" y="19"/>
                  </a:lnTo>
                  <a:lnTo>
                    <a:pt x="51" y="20"/>
                  </a:lnTo>
                  <a:lnTo>
                    <a:pt x="67" y="21"/>
                  </a:lnTo>
                  <a:lnTo>
                    <a:pt x="80" y="23"/>
                  </a:lnTo>
                  <a:lnTo>
                    <a:pt x="89" y="26"/>
                  </a:lnTo>
                  <a:lnTo>
                    <a:pt x="91" y="28"/>
                  </a:lnTo>
                  <a:lnTo>
                    <a:pt x="104" y="25"/>
                  </a:lnTo>
                  <a:lnTo>
                    <a:pt x="97" y="14"/>
                  </a:lnTo>
                  <a:lnTo>
                    <a:pt x="83" y="10"/>
                  </a:lnTo>
                  <a:lnTo>
                    <a:pt x="69"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4" name="Freeform 223">
              <a:extLst>
                <a:ext uri="{FF2B5EF4-FFF2-40B4-BE49-F238E27FC236}">
                  <a16:creationId xmlns:a16="http://schemas.microsoft.com/office/drawing/2014/main" id="{3C0C8DF6-5D6F-A11B-3CEC-1E41332CF46F}"/>
                </a:ext>
              </a:extLst>
            </p:cNvPr>
            <p:cNvSpPr>
              <a:spLocks/>
            </p:cNvSpPr>
            <p:nvPr/>
          </p:nvSpPr>
          <p:spPr bwMode="auto">
            <a:xfrm>
              <a:off x="2087" y="1814"/>
              <a:ext cx="137" cy="68"/>
            </a:xfrm>
            <a:custGeom>
              <a:avLst/>
              <a:gdLst>
                <a:gd name="T0" fmla="*/ 2001462 w 84"/>
                <a:gd name="T1" fmla="*/ 2 h 59"/>
                <a:gd name="T2" fmla="*/ 2001462 w 84"/>
                <a:gd name="T3" fmla="*/ 89 h 59"/>
                <a:gd name="T4" fmla="*/ 2001462 w 84"/>
                <a:gd name="T5" fmla="*/ 3 h 59"/>
                <a:gd name="T6" fmla="*/ 1794923 w 84"/>
                <a:gd name="T7" fmla="*/ 158 h 59"/>
                <a:gd name="T8" fmla="*/ 1469261 w 84"/>
                <a:gd name="T9" fmla="*/ 279 h 59"/>
                <a:gd name="T10" fmla="*/ 1068825 w 84"/>
                <a:gd name="T11" fmla="*/ 428 h 59"/>
                <a:gd name="T12" fmla="*/ 694386 w 84"/>
                <a:gd name="T13" fmla="*/ 568 h 59"/>
                <a:gd name="T14" fmla="*/ 361054 w 84"/>
                <a:gd name="T15" fmla="*/ 690 h 59"/>
                <a:gd name="T16" fmla="*/ 52112 w 84"/>
                <a:gd name="T17" fmla="*/ 896 h 59"/>
                <a:gd name="T18" fmla="*/ 0 w 84"/>
                <a:gd name="T19" fmla="*/ 1156 h 59"/>
                <a:gd name="T20" fmla="*/ 368724 w 84"/>
                <a:gd name="T21" fmla="*/ 1056 h 59"/>
                <a:gd name="T22" fmla="*/ 368724 w 84"/>
                <a:gd name="T23" fmla="*/ 1040 h 59"/>
                <a:gd name="T24" fmla="*/ 552353 w 84"/>
                <a:gd name="T25" fmla="*/ 916 h 59"/>
                <a:gd name="T26" fmla="*/ 866412 w 84"/>
                <a:gd name="T27" fmla="*/ 783 h 59"/>
                <a:gd name="T28" fmla="*/ 1239155 w 84"/>
                <a:gd name="T29" fmla="*/ 656 h 59"/>
                <a:gd name="T30" fmla="*/ 1688734 w 84"/>
                <a:gd name="T31" fmla="*/ 511 h 59"/>
                <a:gd name="T32" fmla="*/ 2021003 w 84"/>
                <a:gd name="T33" fmla="*/ 391 h 59"/>
                <a:gd name="T34" fmla="*/ 2280138 w 84"/>
                <a:gd name="T35" fmla="*/ 242 h 59"/>
                <a:gd name="T36" fmla="*/ 2378982 w 84"/>
                <a:gd name="T37" fmla="*/ 0 h 59"/>
                <a:gd name="T38" fmla="*/ 2396295 w 84"/>
                <a:gd name="T39" fmla="*/ 2 h 59"/>
                <a:gd name="T40" fmla="*/ 2001462 w 84"/>
                <a:gd name="T41" fmla="*/ 2 h 59"/>
                <a:gd name="T42" fmla="*/ 2001462 w 84"/>
                <a:gd name="T43" fmla="*/ 3 h 59"/>
                <a:gd name="T44" fmla="*/ 2001462 w 84"/>
                <a:gd name="T45" fmla="*/ 89 h 59"/>
                <a:gd name="T46" fmla="*/ 2001462 w 84"/>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59"/>
                <a:gd name="T74" fmla="*/ 84 w 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59">
                  <a:moveTo>
                    <a:pt x="69" y="2"/>
                  </a:moveTo>
                  <a:lnTo>
                    <a:pt x="69" y="4"/>
                  </a:lnTo>
                  <a:lnTo>
                    <a:pt x="69" y="3"/>
                  </a:lnTo>
                  <a:lnTo>
                    <a:pt x="62" y="8"/>
                  </a:lnTo>
                  <a:lnTo>
                    <a:pt x="51" y="14"/>
                  </a:lnTo>
                  <a:lnTo>
                    <a:pt x="37" y="21"/>
                  </a:lnTo>
                  <a:lnTo>
                    <a:pt x="24" y="28"/>
                  </a:lnTo>
                  <a:lnTo>
                    <a:pt x="12" y="36"/>
                  </a:lnTo>
                  <a:lnTo>
                    <a:pt x="2" y="45"/>
                  </a:lnTo>
                  <a:lnTo>
                    <a:pt x="0" y="58"/>
                  </a:lnTo>
                  <a:lnTo>
                    <a:pt x="13" y="54"/>
                  </a:lnTo>
                  <a:lnTo>
                    <a:pt x="13" y="53"/>
                  </a:lnTo>
                  <a:lnTo>
                    <a:pt x="19" y="47"/>
                  </a:lnTo>
                  <a:lnTo>
                    <a:pt x="30" y="40"/>
                  </a:lnTo>
                  <a:lnTo>
                    <a:pt x="43" y="33"/>
                  </a:lnTo>
                  <a:lnTo>
                    <a:pt x="58" y="26"/>
                  </a:lnTo>
                  <a:lnTo>
                    <a:pt x="70" y="20"/>
                  </a:lnTo>
                  <a:lnTo>
                    <a:pt x="79" y="12"/>
                  </a:lnTo>
                  <a:lnTo>
                    <a:pt x="82" y="0"/>
                  </a:lnTo>
                  <a:lnTo>
                    <a:pt x="83" y="2"/>
                  </a:lnTo>
                  <a:lnTo>
                    <a:pt x="69" y="2"/>
                  </a:lnTo>
                  <a:lnTo>
                    <a:pt x="69" y="3"/>
                  </a:lnTo>
                  <a:lnTo>
                    <a:pt x="69" y="4"/>
                  </a:lnTo>
                  <a:lnTo>
                    <a:pt x="69"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5" name="Freeform 224">
              <a:extLst>
                <a:ext uri="{FF2B5EF4-FFF2-40B4-BE49-F238E27FC236}">
                  <a16:creationId xmlns:a16="http://schemas.microsoft.com/office/drawing/2014/main" id="{ABE510FC-76B8-4B0C-F636-24F0A191987A}"/>
                </a:ext>
              </a:extLst>
            </p:cNvPr>
            <p:cNvSpPr>
              <a:spLocks/>
            </p:cNvSpPr>
            <p:nvPr/>
          </p:nvSpPr>
          <p:spPr bwMode="auto">
            <a:xfrm>
              <a:off x="2199" y="1812"/>
              <a:ext cx="25" cy="6"/>
            </a:xfrm>
            <a:custGeom>
              <a:avLst/>
              <a:gdLst>
                <a:gd name="T0" fmla="*/ 0 w 15"/>
                <a:gd name="T1" fmla="*/ 179 h 5"/>
                <a:gd name="T2" fmla="*/ 0 w 15"/>
                <a:gd name="T3" fmla="*/ 2 h 5"/>
                <a:gd name="T4" fmla="*/ 0 w 15"/>
                <a:gd name="T5" fmla="*/ 179 h 5"/>
                <a:gd name="T6" fmla="*/ 621467 w 15"/>
                <a:gd name="T7" fmla="*/ 17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4"/>
                  </a:lnTo>
                  <a:lnTo>
                    <a:pt x="14" y="4"/>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6" name="Freeform 225">
              <a:extLst>
                <a:ext uri="{FF2B5EF4-FFF2-40B4-BE49-F238E27FC236}">
                  <a16:creationId xmlns:a16="http://schemas.microsoft.com/office/drawing/2014/main" id="{1CFEB8C1-AC9D-9AFC-70D8-3DBF0A246DA5}"/>
                </a:ext>
              </a:extLst>
            </p:cNvPr>
            <p:cNvSpPr>
              <a:spLocks/>
            </p:cNvSpPr>
            <p:nvPr/>
          </p:nvSpPr>
          <p:spPr bwMode="auto">
            <a:xfrm>
              <a:off x="2051" y="1784"/>
              <a:ext cx="173" cy="34"/>
            </a:xfrm>
            <a:custGeom>
              <a:avLst/>
              <a:gdLst>
                <a:gd name="T0" fmla="*/ 0 w 105"/>
                <a:gd name="T1" fmla="*/ 103 h 29"/>
                <a:gd name="T2" fmla="*/ 282272 w 105"/>
                <a:gd name="T3" fmla="*/ 375 h 29"/>
                <a:gd name="T4" fmla="*/ 766270 w 105"/>
                <a:gd name="T5" fmla="*/ 505 h 29"/>
                <a:gd name="T6" fmla="*/ 1283006 w 105"/>
                <a:gd name="T7" fmla="*/ 579 h 29"/>
                <a:gd name="T8" fmla="*/ 1816719 w 105"/>
                <a:gd name="T9" fmla="*/ 605 h 29"/>
                <a:gd name="T10" fmla="*/ 2445765 w 105"/>
                <a:gd name="T11" fmla="*/ 605 h 29"/>
                <a:gd name="T12" fmla="*/ 2890764 w 105"/>
                <a:gd name="T13" fmla="*/ 691 h 29"/>
                <a:gd name="T14" fmla="*/ 3191916 w 105"/>
                <a:gd name="T15" fmla="*/ 796 h 29"/>
                <a:gd name="T16" fmla="*/ 3261172 w 105"/>
                <a:gd name="T17" fmla="*/ 810 h 29"/>
                <a:gd name="T18" fmla="*/ 3721278 w 105"/>
                <a:gd name="T19" fmla="*/ 691 h 29"/>
                <a:gd name="T20" fmla="*/ 3427301 w 105"/>
                <a:gd name="T21" fmla="*/ 431 h 29"/>
                <a:gd name="T22" fmla="*/ 2979100 w 105"/>
                <a:gd name="T23" fmla="*/ 314 h 29"/>
                <a:gd name="T24" fmla="*/ 2482473 w 105"/>
                <a:gd name="T25" fmla="*/ 268 h 29"/>
                <a:gd name="T26" fmla="*/ 1890361 w 105"/>
                <a:gd name="T27" fmla="*/ 268 h 29"/>
                <a:gd name="T28" fmla="*/ 1329942 w 105"/>
                <a:gd name="T29" fmla="*/ 195 h 29"/>
                <a:gd name="T30" fmla="*/ 875703 w 105"/>
                <a:gd name="T31" fmla="*/ 142 h 29"/>
                <a:gd name="T32" fmla="*/ 569066 w 105"/>
                <a:gd name="T33" fmla="*/ 2 h 29"/>
                <a:gd name="T34" fmla="*/ 465077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4"/>
                  </a:lnTo>
                  <a:lnTo>
                    <a:pt x="21" y="18"/>
                  </a:lnTo>
                  <a:lnTo>
                    <a:pt x="36" y="20"/>
                  </a:lnTo>
                  <a:lnTo>
                    <a:pt x="51" y="22"/>
                  </a:lnTo>
                  <a:lnTo>
                    <a:pt x="68" y="22"/>
                  </a:lnTo>
                  <a:lnTo>
                    <a:pt x="81" y="24"/>
                  </a:lnTo>
                  <a:lnTo>
                    <a:pt x="89" y="27"/>
                  </a:lnTo>
                  <a:lnTo>
                    <a:pt x="91" y="28"/>
                  </a:lnTo>
                  <a:lnTo>
                    <a:pt x="104" y="24"/>
                  </a:lnTo>
                  <a:lnTo>
                    <a:pt x="96" y="15"/>
                  </a:lnTo>
                  <a:lnTo>
                    <a:pt x="83" y="11"/>
                  </a:lnTo>
                  <a:lnTo>
                    <a:pt x="69" y="9"/>
                  </a:lnTo>
                  <a:lnTo>
                    <a:pt x="53" y="9"/>
                  </a:lnTo>
                  <a:lnTo>
                    <a:pt x="37" y="7"/>
                  </a:lnTo>
                  <a:lnTo>
                    <a:pt x="24"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7" name="Freeform 226">
              <a:extLst>
                <a:ext uri="{FF2B5EF4-FFF2-40B4-BE49-F238E27FC236}">
                  <a16:creationId xmlns:a16="http://schemas.microsoft.com/office/drawing/2014/main" id="{6AD68500-86CA-F5A7-4721-C33EA64A84A9}"/>
                </a:ext>
              </a:extLst>
            </p:cNvPr>
            <p:cNvSpPr>
              <a:spLocks/>
            </p:cNvSpPr>
            <p:nvPr/>
          </p:nvSpPr>
          <p:spPr bwMode="auto">
            <a:xfrm>
              <a:off x="2051" y="1717"/>
              <a:ext cx="137" cy="74"/>
            </a:xfrm>
            <a:custGeom>
              <a:avLst/>
              <a:gdLst>
                <a:gd name="T0" fmla="*/ 2566051 w 83"/>
                <a:gd name="T1" fmla="*/ 93 h 64"/>
                <a:gd name="T2" fmla="*/ 2519400 w 83"/>
                <a:gd name="T3" fmla="*/ 108 h 64"/>
                <a:gd name="T4" fmla="*/ 2289995 w 83"/>
                <a:gd name="T5" fmla="*/ 243 h 64"/>
                <a:gd name="T6" fmla="*/ 1894573 w 83"/>
                <a:gd name="T7" fmla="*/ 383 h 64"/>
                <a:gd name="T8" fmla="*/ 1385413 w 83"/>
                <a:gd name="T9" fmla="*/ 535 h 64"/>
                <a:gd name="T10" fmla="*/ 901473 w 83"/>
                <a:gd name="T11" fmla="*/ 685 h 64"/>
                <a:gd name="T12" fmla="*/ 416000 w 83"/>
                <a:gd name="T13" fmla="*/ 844 h 64"/>
                <a:gd name="T14" fmla="*/ 39192 w 83"/>
                <a:gd name="T15" fmla="*/ 1059 h 64"/>
                <a:gd name="T16" fmla="*/ 0 w 83"/>
                <a:gd name="T17" fmla="*/ 1319 h 64"/>
                <a:gd name="T18" fmla="*/ 480180 w 83"/>
                <a:gd name="T19" fmla="*/ 1234 h 64"/>
                <a:gd name="T20" fmla="*/ 480180 w 83"/>
                <a:gd name="T21" fmla="*/ 1190 h 64"/>
                <a:gd name="T22" fmla="*/ 695387 w 83"/>
                <a:gd name="T23" fmla="*/ 1067 h 64"/>
                <a:gd name="T24" fmla="*/ 1133388 w 83"/>
                <a:gd name="T25" fmla="*/ 923 h 64"/>
                <a:gd name="T26" fmla="*/ 1639289 w 83"/>
                <a:gd name="T27" fmla="*/ 792 h 64"/>
                <a:gd name="T28" fmla="*/ 2118581 w 83"/>
                <a:gd name="T29" fmla="*/ 619 h 64"/>
                <a:gd name="T30" fmla="*/ 2603804 w 83"/>
                <a:gd name="T31" fmla="*/ 46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7" y="25"/>
                  </a:lnTo>
                  <a:lnTo>
                    <a:pt x="24" y="32"/>
                  </a:lnTo>
                  <a:lnTo>
                    <a:pt x="11" y="40"/>
                  </a:lnTo>
                  <a:lnTo>
                    <a:pt x="1" y="50"/>
                  </a:lnTo>
                  <a:lnTo>
                    <a:pt x="0" y="63"/>
                  </a:lnTo>
                  <a:lnTo>
                    <a:pt x="13" y="59"/>
                  </a:lnTo>
                  <a:lnTo>
                    <a:pt x="13" y="56"/>
                  </a:lnTo>
                  <a:lnTo>
                    <a:pt x="19" y="51"/>
                  </a:lnTo>
                  <a:lnTo>
                    <a:pt x="30" y="44"/>
                  </a:lnTo>
                  <a:lnTo>
                    <a:pt x="44" y="37"/>
                  </a:lnTo>
                  <a:lnTo>
                    <a:pt x="57"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8" name="Freeform 227">
              <a:extLst>
                <a:ext uri="{FF2B5EF4-FFF2-40B4-BE49-F238E27FC236}">
                  <a16:creationId xmlns:a16="http://schemas.microsoft.com/office/drawing/2014/main" id="{FE38C3BF-7FC2-7C92-B97E-14233191C756}"/>
                </a:ext>
              </a:extLst>
            </p:cNvPr>
            <p:cNvSpPr>
              <a:spLocks/>
            </p:cNvSpPr>
            <p:nvPr/>
          </p:nvSpPr>
          <p:spPr bwMode="auto">
            <a:xfrm>
              <a:off x="2016" y="1690"/>
              <a:ext cx="172" cy="33"/>
            </a:xfrm>
            <a:custGeom>
              <a:avLst/>
              <a:gdLst>
                <a:gd name="T0" fmla="*/ 0 w 105"/>
                <a:gd name="T1" fmla="*/ 68 h 29"/>
                <a:gd name="T2" fmla="*/ 247472 w 105"/>
                <a:gd name="T3" fmla="*/ 207 h 29"/>
                <a:gd name="T4" fmla="*/ 664056 w 105"/>
                <a:gd name="T5" fmla="*/ 281 h 29"/>
                <a:gd name="T6" fmla="*/ 1144996 w 105"/>
                <a:gd name="T7" fmla="*/ 316 h 29"/>
                <a:gd name="T8" fmla="*/ 1642575 w 105"/>
                <a:gd name="T9" fmla="*/ 316 h 29"/>
                <a:gd name="T10" fmla="*/ 2126746 w 105"/>
                <a:gd name="T11" fmla="*/ 320 h 29"/>
                <a:gd name="T12" fmla="*/ 2574242 w 105"/>
                <a:gd name="T13" fmla="*/ 360 h 29"/>
                <a:gd name="T14" fmla="*/ 2827108 w 105"/>
                <a:gd name="T15" fmla="*/ 410 h 29"/>
                <a:gd name="T16" fmla="*/ 2885372 w 105"/>
                <a:gd name="T17" fmla="*/ 414 h 29"/>
                <a:gd name="T18" fmla="*/ 3278466 w 105"/>
                <a:gd name="T19" fmla="*/ 364 h 29"/>
                <a:gd name="T20" fmla="*/ 3037405 w 105"/>
                <a:gd name="T21" fmla="*/ 217 h 29"/>
                <a:gd name="T22" fmla="*/ 2633720 w 105"/>
                <a:gd name="T23" fmla="*/ 168 h 29"/>
                <a:gd name="T24" fmla="*/ 2147610 w 105"/>
                <a:gd name="T25" fmla="*/ 130 h 29"/>
                <a:gd name="T26" fmla="*/ 1642575 w 105"/>
                <a:gd name="T27" fmla="*/ 114 h 29"/>
                <a:gd name="T28" fmla="*/ 1185358 w 105"/>
                <a:gd name="T29" fmla="*/ 114 h 29"/>
                <a:gd name="T30" fmla="*/ 758238 w 105"/>
                <a:gd name="T31" fmla="*/ 88 h 29"/>
                <a:gd name="T32" fmla="*/ 506031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7"/>
                  </a:lnTo>
                  <a:lnTo>
                    <a:pt x="91" y="28"/>
                  </a:lnTo>
                  <a:lnTo>
                    <a:pt x="104" y="25"/>
                  </a:lnTo>
                  <a:lnTo>
                    <a:pt x="96" y="15"/>
                  </a:lnTo>
                  <a:lnTo>
                    <a:pt x="83" y="11"/>
                  </a:lnTo>
                  <a:lnTo>
                    <a:pt x="68" y="9"/>
                  </a:lnTo>
                  <a:lnTo>
                    <a:pt x="52" y="8"/>
                  </a:lnTo>
                  <a:lnTo>
                    <a:pt x="37" y="8"/>
                  </a:lnTo>
                  <a:lnTo>
                    <a:pt x="24" y="6"/>
                  </a:lnTo>
                  <a:lnTo>
                    <a:pt x="1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09" name="Freeform 228">
              <a:extLst>
                <a:ext uri="{FF2B5EF4-FFF2-40B4-BE49-F238E27FC236}">
                  <a16:creationId xmlns:a16="http://schemas.microsoft.com/office/drawing/2014/main" id="{5CA7266F-FC9D-C243-053B-3D406C8399B5}"/>
                </a:ext>
              </a:extLst>
            </p:cNvPr>
            <p:cNvSpPr>
              <a:spLocks/>
            </p:cNvSpPr>
            <p:nvPr/>
          </p:nvSpPr>
          <p:spPr bwMode="auto">
            <a:xfrm>
              <a:off x="2016" y="1622"/>
              <a:ext cx="136" cy="73"/>
            </a:xfrm>
            <a:custGeom>
              <a:avLst/>
              <a:gdLst>
                <a:gd name="T0" fmla="*/ 2195491 w 83"/>
                <a:gd name="T1" fmla="*/ 94 h 63"/>
                <a:gd name="T2" fmla="*/ 2160471 w 83"/>
                <a:gd name="T3" fmla="*/ 109 h 63"/>
                <a:gd name="T4" fmla="*/ 1987493 w 83"/>
                <a:gd name="T5" fmla="*/ 247 h 63"/>
                <a:gd name="T6" fmla="*/ 1636031 w 83"/>
                <a:gd name="T7" fmla="*/ 39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078 h 63"/>
                <a:gd name="T24" fmla="*/ 949754 w 83"/>
                <a:gd name="T25" fmla="*/ 955 h 63"/>
                <a:gd name="T26" fmla="*/ 1398653 w 83"/>
                <a:gd name="T27" fmla="*/ 803 h 63"/>
                <a:gd name="T28" fmla="*/ 1855348 w 83"/>
                <a:gd name="T29" fmla="*/ 636 h 63"/>
                <a:gd name="T30" fmla="*/ 2232686 w 83"/>
                <a:gd name="T31" fmla="*/ 474 h 63"/>
                <a:gd name="T32" fmla="*/ 2508355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8" y="24"/>
                  </a:lnTo>
                  <a:lnTo>
                    <a:pt x="24" y="31"/>
                  </a:lnTo>
                  <a:lnTo>
                    <a:pt x="12" y="39"/>
                  </a:lnTo>
                  <a:lnTo>
                    <a:pt x="2" y="49"/>
                  </a:lnTo>
                  <a:lnTo>
                    <a:pt x="0" y="62"/>
                  </a:lnTo>
                  <a:lnTo>
                    <a:pt x="13" y="58"/>
                  </a:lnTo>
                  <a:lnTo>
                    <a:pt x="14" y="55"/>
                  </a:lnTo>
                  <a:lnTo>
                    <a:pt x="19" y="49"/>
                  </a:lnTo>
                  <a:lnTo>
                    <a:pt x="30" y="43"/>
                  </a:lnTo>
                  <a:lnTo>
                    <a:pt x="44" y="36"/>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0" name="Freeform 229">
              <a:extLst>
                <a:ext uri="{FF2B5EF4-FFF2-40B4-BE49-F238E27FC236}">
                  <a16:creationId xmlns:a16="http://schemas.microsoft.com/office/drawing/2014/main" id="{A71CB525-D68E-C65B-1AC9-1E278101D198}"/>
                </a:ext>
              </a:extLst>
            </p:cNvPr>
            <p:cNvSpPr>
              <a:spLocks/>
            </p:cNvSpPr>
            <p:nvPr/>
          </p:nvSpPr>
          <p:spPr bwMode="auto">
            <a:xfrm>
              <a:off x="1979" y="1537"/>
              <a:ext cx="173" cy="91"/>
            </a:xfrm>
            <a:custGeom>
              <a:avLst/>
              <a:gdLst>
                <a:gd name="T0" fmla="*/ 504969 w 105"/>
                <a:gd name="T1" fmla="*/ 1033 h 79"/>
                <a:gd name="T2" fmla="*/ 0 w 105"/>
                <a:gd name="T3" fmla="*/ 1086 h 79"/>
                <a:gd name="T4" fmla="*/ 282272 w 105"/>
                <a:gd name="T5" fmla="*/ 1282 h 79"/>
                <a:gd name="T6" fmla="*/ 766270 w 105"/>
                <a:gd name="T7" fmla="*/ 1371 h 79"/>
                <a:gd name="T8" fmla="*/ 1329942 w 105"/>
                <a:gd name="T9" fmla="*/ 1412 h 79"/>
                <a:gd name="T10" fmla="*/ 1875692 w 105"/>
                <a:gd name="T11" fmla="*/ 1433 h 79"/>
                <a:gd name="T12" fmla="*/ 2385467 w 105"/>
                <a:gd name="T13" fmla="*/ 1433 h 79"/>
                <a:gd name="T14" fmla="*/ 2865936 w 105"/>
                <a:gd name="T15" fmla="*/ 1438 h 79"/>
                <a:gd name="T16" fmla="*/ 3191916 w 105"/>
                <a:gd name="T17" fmla="*/ 1477 h 79"/>
                <a:gd name="T18" fmla="*/ 3261172 w 105"/>
                <a:gd name="T19" fmla="*/ 1530 h 79"/>
                <a:gd name="T20" fmla="*/ 3721278 w 105"/>
                <a:gd name="T21" fmla="*/ 1438 h 79"/>
                <a:gd name="T22" fmla="*/ 3420932 w 105"/>
                <a:gd name="T23" fmla="*/ 1248 h 79"/>
                <a:gd name="T24" fmla="*/ 2979100 w 105"/>
                <a:gd name="T25" fmla="*/ 1189 h 79"/>
                <a:gd name="T26" fmla="*/ 2482473 w 105"/>
                <a:gd name="T27" fmla="*/ 1157 h 79"/>
                <a:gd name="T28" fmla="*/ 1875692 w 105"/>
                <a:gd name="T29" fmla="*/ 1147 h 79"/>
                <a:gd name="T30" fmla="*/ 1329942 w 105"/>
                <a:gd name="T31" fmla="*/ 1153 h 79"/>
                <a:gd name="T32" fmla="*/ 875703 w 105"/>
                <a:gd name="T33" fmla="*/ 1147 h 79"/>
                <a:gd name="T34" fmla="*/ 569066 w 105"/>
                <a:gd name="T35" fmla="*/ 1080 h 79"/>
                <a:gd name="T36" fmla="*/ 465077 w 105"/>
                <a:gd name="T37" fmla="*/ 1004 h 79"/>
                <a:gd name="T38" fmla="*/ 0 w 105"/>
                <a:gd name="T39" fmla="*/ 1033 h 79"/>
                <a:gd name="T40" fmla="*/ 465077 w 105"/>
                <a:gd name="T41" fmla="*/ 1004 h 79"/>
                <a:gd name="T42" fmla="*/ 0 w 105"/>
                <a:gd name="T43" fmla="*/ 0 h 79"/>
                <a:gd name="T44" fmla="*/ 0 w 105"/>
                <a:gd name="T45" fmla="*/ 1033 h 79"/>
                <a:gd name="T46" fmla="*/ 504969 w 105"/>
                <a:gd name="T47" fmla="*/ 1033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0" y="56"/>
                  </a:lnTo>
                  <a:lnTo>
                    <a:pt x="8" y="66"/>
                  </a:lnTo>
                  <a:lnTo>
                    <a:pt x="21" y="71"/>
                  </a:lnTo>
                  <a:lnTo>
                    <a:pt x="37" y="72"/>
                  </a:lnTo>
                  <a:lnTo>
                    <a:pt x="52" y="73"/>
                  </a:lnTo>
                  <a:lnTo>
                    <a:pt x="67" y="73"/>
                  </a:lnTo>
                  <a:lnTo>
                    <a:pt x="80" y="74"/>
                  </a:lnTo>
                  <a:lnTo>
                    <a:pt x="89" y="76"/>
                  </a:lnTo>
                  <a:lnTo>
                    <a:pt x="91" y="78"/>
                  </a:lnTo>
                  <a:lnTo>
                    <a:pt x="104" y="74"/>
                  </a:lnTo>
                  <a:lnTo>
                    <a:pt x="95" y="64"/>
                  </a:lnTo>
                  <a:lnTo>
                    <a:pt x="83" y="61"/>
                  </a:lnTo>
                  <a:lnTo>
                    <a:pt x="69" y="60"/>
                  </a:lnTo>
                  <a:lnTo>
                    <a:pt x="52" y="58"/>
                  </a:lnTo>
                  <a:lnTo>
                    <a:pt x="37" y="59"/>
                  </a:lnTo>
                  <a:lnTo>
                    <a:pt x="24" y="58"/>
                  </a:lnTo>
                  <a:lnTo>
                    <a:pt x="16" y="55"/>
                  </a:lnTo>
                  <a:lnTo>
                    <a:pt x="13" y="52"/>
                  </a:lnTo>
                  <a:lnTo>
                    <a:pt x="0" y="54"/>
                  </a:lnTo>
                  <a:lnTo>
                    <a:pt x="13"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1" name="Freeform 230">
              <a:extLst>
                <a:ext uri="{FF2B5EF4-FFF2-40B4-BE49-F238E27FC236}">
                  <a16:creationId xmlns:a16="http://schemas.microsoft.com/office/drawing/2014/main" id="{10F4DCC5-D693-698D-6C33-9FEB8B358F86}"/>
                </a:ext>
              </a:extLst>
            </p:cNvPr>
            <p:cNvSpPr>
              <a:spLocks/>
            </p:cNvSpPr>
            <p:nvPr/>
          </p:nvSpPr>
          <p:spPr bwMode="auto">
            <a:xfrm>
              <a:off x="1979" y="1598"/>
              <a:ext cx="25" cy="55"/>
            </a:xfrm>
            <a:custGeom>
              <a:avLst/>
              <a:gdLst>
                <a:gd name="T0" fmla="*/ 0 w 15"/>
                <a:gd name="T1" fmla="*/ 74 h 48"/>
                <a:gd name="T2" fmla="*/ 621467 w 15"/>
                <a:gd name="T3" fmla="*/ 2 h 48"/>
                <a:gd name="T4" fmla="*/ 621467 w 15"/>
                <a:gd name="T5" fmla="*/ 0 h 48"/>
                <a:gd name="T6" fmla="*/ 0 w 15"/>
                <a:gd name="T7" fmla="*/ 0 h 48"/>
                <a:gd name="T8" fmla="*/ 0 w 15"/>
                <a:gd name="T9" fmla="*/ 2 h 48"/>
                <a:gd name="T10" fmla="*/ 609953 w 15"/>
                <a:gd name="T11" fmla="*/ 0 h 48"/>
                <a:gd name="T12" fmla="*/ 0 w 15"/>
                <a:gd name="T13" fmla="*/ 74 h 48"/>
                <a:gd name="T14" fmla="*/ 621467 w 15"/>
                <a:gd name="T15" fmla="*/ 835 h 48"/>
                <a:gd name="T16" fmla="*/ 621467 w 15"/>
                <a:gd name="T17" fmla="*/ 2 h 48"/>
                <a:gd name="T18" fmla="*/ 0 w 15"/>
                <a:gd name="T19" fmla="*/ 74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8"/>
                <a:gd name="T32" fmla="*/ 15 w 15"/>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8">
                  <a:moveTo>
                    <a:pt x="0" y="4"/>
                  </a:moveTo>
                  <a:lnTo>
                    <a:pt x="14" y="2"/>
                  </a:lnTo>
                  <a:lnTo>
                    <a:pt x="14" y="0"/>
                  </a:lnTo>
                  <a:lnTo>
                    <a:pt x="0" y="0"/>
                  </a:lnTo>
                  <a:lnTo>
                    <a:pt x="0" y="2"/>
                  </a:lnTo>
                  <a:lnTo>
                    <a:pt x="13" y="0"/>
                  </a:lnTo>
                  <a:lnTo>
                    <a:pt x="0" y="4"/>
                  </a:lnTo>
                  <a:lnTo>
                    <a:pt x="14" y="47"/>
                  </a:lnTo>
                  <a:lnTo>
                    <a:pt x="14" y="2"/>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2" name="Freeform 231">
              <a:extLst>
                <a:ext uri="{FF2B5EF4-FFF2-40B4-BE49-F238E27FC236}">
                  <a16:creationId xmlns:a16="http://schemas.microsoft.com/office/drawing/2014/main" id="{465F1CDE-4888-42EB-61FC-E7376B071CEC}"/>
                </a:ext>
              </a:extLst>
            </p:cNvPr>
            <p:cNvSpPr>
              <a:spLocks/>
            </p:cNvSpPr>
            <p:nvPr/>
          </p:nvSpPr>
          <p:spPr bwMode="auto">
            <a:xfrm>
              <a:off x="1979" y="1532"/>
              <a:ext cx="139" cy="72"/>
            </a:xfrm>
            <a:custGeom>
              <a:avLst/>
              <a:gdLst>
                <a:gd name="T0" fmla="*/ 2750315 w 84"/>
                <a:gd name="T1" fmla="*/ 73 h 63"/>
                <a:gd name="T2" fmla="*/ 2707808 w 84"/>
                <a:gd name="T3" fmla="*/ 83 h 63"/>
                <a:gd name="T4" fmla="*/ 2468110 w 84"/>
                <a:gd name="T5" fmla="*/ 143 h 63"/>
                <a:gd name="T6" fmla="*/ 1992016 w 84"/>
                <a:gd name="T7" fmla="*/ 231 h 63"/>
                <a:gd name="T8" fmla="*/ 1491520 w 84"/>
                <a:gd name="T9" fmla="*/ 326 h 63"/>
                <a:gd name="T10" fmla="*/ 901350 w 84"/>
                <a:gd name="T11" fmla="*/ 450 h 63"/>
                <a:gd name="T12" fmla="*/ 399678 w 84"/>
                <a:gd name="T13" fmla="*/ 587 h 63"/>
                <a:gd name="T14" fmla="*/ 41669 w 84"/>
                <a:gd name="T15" fmla="*/ 790 h 63"/>
                <a:gd name="T16" fmla="*/ 0 w 84"/>
                <a:gd name="T17" fmla="*/ 1032 h 63"/>
                <a:gd name="T18" fmla="*/ 516999 w 84"/>
                <a:gd name="T19" fmla="*/ 951 h 63"/>
                <a:gd name="T20" fmla="*/ 544701 w 84"/>
                <a:gd name="T21" fmla="*/ 848 h 63"/>
                <a:gd name="T22" fmla="*/ 727481 w 84"/>
                <a:gd name="T23" fmla="*/ 728 h 63"/>
                <a:gd name="T24" fmla="*/ 1134836 w 84"/>
                <a:gd name="T25" fmla="*/ 637 h 63"/>
                <a:gd name="T26" fmla="*/ 1679818 w 84"/>
                <a:gd name="T27" fmla="*/ 542 h 63"/>
                <a:gd name="T28" fmla="*/ 2235062 w 84"/>
                <a:gd name="T29" fmla="*/ 450 h 63"/>
                <a:gd name="T30" fmla="*/ 2750315 w 84"/>
                <a:gd name="T31" fmla="*/ 345 h 63"/>
                <a:gd name="T32" fmla="*/ 3107449 w 84"/>
                <a:gd name="T33" fmla="*/ 202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9"/>
                  </a:lnTo>
                  <a:lnTo>
                    <a:pt x="51" y="14"/>
                  </a:lnTo>
                  <a:lnTo>
                    <a:pt x="38" y="20"/>
                  </a:lnTo>
                  <a:lnTo>
                    <a:pt x="23" y="27"/>
                  </a:lnTo>
                  <a:lnTo>
                    <a:pt x="10" y="35"/>
                  </a:lnTo>
                  <a:lnTo>
                    <a:pt x="1" y="47"/>
                  </a:lnTo>
                  <a:lnTo>
                    <a:pt x="0" y="62"/>
                  </a:lnTo>
                  <a:lnTo>
                    <a:pt x="13" y="58"/>
                  </a:lnTo>
                  <a:lnTo>
                    <a:pt x="14" y="52"/>
                  </a:lnTo>
                  <a:lnTo>
                    <a:pt x="19" y="45"/>
                  </a:lnTo>
                  <a:lnTo>
                    <a:pt x="29" y="39"/>
                  </a:lnTo>
                  <a:lnTo>
                    <a:pt x="43" y="33"/>
                  </a:lnTo>
                  <a:lnTo>
                    <a:pt x="57" y="27"/>
                  </a:lnTo>
                  <a:lnTo>
                    <a:pt x="70" y="21"/>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3" name="Freeform 232">
              <a:extLst>
                <a:ext uri="{FF2B5EF4-FFF2-40B4-BE49-F238E27FC236}">
                  <a16:creationId xmlns:a16="http://schemas.microsoft.com/office/drawing/2014/main" id="{279B4F6E-DB68-3AE9-D803-C38FD04B902E}"/>
                </a:ext>
              </a:extLst>
            </p:cNvPr>
            <p:cNvSpPr>
              <a:spLocks/>
            </p:cNvSpPr>
            <p:nvPr/>
          </p:nvSpPr>
          <p:spPr bwMode="auto">
            <a:xfrm>
              <a:off x="1943" y="1503"/>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99 h 30"/>
                <a:gd name="T10" fmla="*/ 2508326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1984779 w 106"/>
                <a:gd name="T27" fmla="*/ 113 h 30"/>
                <a:gd name="T28" fmla="*/ 1389091 w 106"/>
                <a:gd name="T29" fmla="*/ 88 h 30"/>
                <a:gd name="T30" fmla="*/ 904506 w 106"/>
                <a:gd name="T31" fmla="*/ 78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2"/>
                  </a:lnTo>
                  <a:lnTo>
                    <a:pt x="67" y="22"/>
                  </a:lnTo>
                  <a:lnTo>
                    <a:pt x="81" y="24"/>
                  </a:lnTo>
                  <a:lnTo>
                    <a:pt x="90" y="27"/>
                  </a:lnTo>
                  <a:lnTo>
                    <a:pt x="92" y="29"/>
                  </a:lnTo>
                  <a:lnTo>
                    <a:pt x="105" y="25"/>
                  </a:lnTo>
                  <a:lnTo>
                    <a:pt x="96" y="15"/>
                  </a:lnTo>
                  <a:lnTo>
                    <a:pt x="84" y="11"/>
                  </a:lnTo>
                  <a:lnTo>
                    <a:pt x="69" y="9"/>
                  </a:lnTo>
                  <a:lnTo>
                    <a:pt x="53" y="9"/>
                  </a:lnTo>
                  <a:lnTo>
                    <a:pt x="37" y="7"/>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4" name="Freeform 233">
              <a:extLst>
                <a:ext uri="{FF2B5EF4-FFF2-40B4-BE49-F238E27FC236}">
                  <a16:creationId xmlns:a16="http://schemas.microsoft.com/office/drawing/2014/main" id="{6711B79E-5DE7-DDCC-16C6-4A8B93D4844E}"/>
                </a:ext>
              </a:extLst>
            </p:cNvPr>
            <p:cNvSpPr>
              <a:spLocks/>
            </p:cNvSpPr>
            <p:nvPr/>
          </p:nvSpPr>
          <p:spPr bwMode="auto">
            <a:xfrm>
              <a:off x="1943" y="1436"/>
              <a:ext cx="137" cy="73"/>
            </a:xfrm>
            <a:custGeom>
              <a:avLst/>
              <a:gdLst>
                <a:gd name="T0" fmla="*/ 2566051 w 83"/>
                <a:gd name="T1" fmla="*/ 94 h 63"/>
                <a:gd name="T2" fmla="*/ 2495618 w 83"/>
                <a:gd name="T3" fmla="*/ 109 h 63"/>
                <a:gd name="T4" fmla="*/ 2289995 w 83"/>
                <a:gd name="T5" fmla="*/ 247 h 63"/>
                <a:gd name="T6" fmla="*/ 1894573 w 83"/>
                <a:gd name="T7" fmla="*/ 384 h 63"/>
                <a:gd name="T8" fmla="*/ 1423684 w 83"/>
                <a:gd name="T9" fmla="*/ 549 h 63"/>
                <a:gd name="T10" fmla="*/ 901473 w 83"/>
                <a:gd name="T11" fmla="*/ 711 h 63"/>
                <a:gd name="T12" fmla="*/ 446998 w 83"/>
                <a:gd name="T13" fmla="*/ 854 h 63"/>
                <a:gd name="T14" fmla="*/ 64690 w 83"/>
                <a:gd name="T15" fmla="*/ 1078 h 63"/>
                <a:gd name="T16" fmla="*/ 0 w 83"/>
                <a:gd name="T17" fmla="*/ 1362 h 63"/>
                <a:gd name="T18" fmla="*/ 480180 w 83"/>
                <a:gd name="T19" fmla="*/ 1283 h 63"/>
                <a:gd name="T20" fmla="*/ 522551 w 83"/>
                <a:gd name="T21" fmla="*/ 1219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35213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8" y="25"/>
                  </a:lnTo>
                  <a:lnTo>
                    <a:pt x="24" y="32"/>
                  </a:lnTo>
                  <a:lnTo>
                    <a:pt x="12" y="39"/>
                  </a:lnTo>
                  <a:lnTo>
                    <a:pt x="2" y="49"/>
                  </a:lnTo>
                  <a:lnTo>
                    <a:pt x="0" y="62"/>
                  </a:lnTo>
                  <a:lnTo>
                    <a:pt x="13" y="58"/>
                  </a:lnTo>
                  <a:lnTo>
                    <a:pt x="14" y="55"/>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715" name="Freeform 234">
              <a:extLst>
                <a:ext uri="{FF2B5EF4-FFF2-40B4-BE49-F238E27FC236}">
                  <a16:creationId xmlns:a16="http://schemas.microsoft.com/office/drawing/2014/main" id="{A22B5CF6-3453-9787-969B-E3ABD4C4684D}"/>
                </a:ext>
              </a:extLst>
            </p:cNvPr>
            <p:cNvSpPr>
              <a:spLocks/>
            </p:cNvSpPr>
            <p:nvPr/>
          </p:nvSpPr>
          <p:spPr bwMode="auto">
            <a:xfrm>
              <a:off x="2524" y="2893"/>
              <a:ext cx="119" cy="124"/>
            </a:xfrm>
            <a:custGeom>
              <a:avLst/>
              <a:gdLst>
                <a:gd name="T0" fmla="*/ 1176100 w 73"/>
                <a:gd name="T1" fmla="*/ 493 h 108"/>
                <a:gd name="T2" fmla="*/ 1917204 w 73"/>
                <a:gd name="T3" fmla="*/ 0 h 108"/>
                <a:gd name="T4" fmla="*/ 1949150 w 73"/>
                <a:gd name="T5" fmla="*/ 0 h 108"/>
                <a:gd name="T6" fmla="*/ 1865433 w 73"/>
                <a:gd name="T7" fmla="*/ 984 h 108"/>
                <a:gd name="T8" fmla="*/ 1865433 w 73"/>
                <a:gd name="T9" fmla="*/ 1106 h 108"/>
                <a:gd name="T10" fmla="*/ 1917204 w 73"/>
                <a:gd name="T11" fmla="*/ 1216 h 108"/>
                <a:gd name="T12" fmla="*/ 1917204 w 73"/>
                <a:gd name="T13" fmla="*/ 1350 h 108"/>
                <a:gd name="T14" fmla="*/ 1969315 w 73"/>
                <a:gd name="T15" fmla="*/ 1458 h 108"/>
                <a:gd name="T16" fmla="*/ 1969315 w 73"/>
                <a:gd name="T17" fmla="*/ 1594 h 108"/>
                <a:gd name="T18" fmla="*/ 2033019 w 73"/>
                <a:gd name="T19" fmla="*/ 1710 h 108"/>
                <a:gd name="T20" fmla="*/ 2033019 w 73"/>
                <a:gd name="T21" fmla="*/ 1830 h 108"/>
                <a:gd name="T22" fmla="*/ 2053024 w 73"/>
                <a:gd name="T23" fmla="*/ 1951 h 108"/>
                <a:gd name="T24" fmla="*/ 1949150 w 73"/>
                <a:gd name="T25" fmla="*/ 1840 h 108"/>
                <a:gd name="T26" fmla="*/ 1832183 w 73"/>
                <a:gd name="T27" fmla="*/ 1736 h 108"/>
                <a:gd name="T28" fmla="*/ 1723674 w 73"/>
                <a:gd name="T29" fmla="*/ 1621 h 108"/>
                <a:gd name="T30" fmla="*/ 1593263 w 73"/>
                <a:gd name="T31" fmla="*/ 1512 h 108"/>
                <a:gd name="T32" fmla="*/ 1498684 w 73"/>
                <a:gd name="T33" fmla="*/ 1427 h 108"/>
                <a:gd name="T34" fmla="*/ 1364712 w 73"/>
                <a:gd name="T35" fmla="*/ 1317 h 108"/>
                <a:gd name="T36" fmla="*/ 1259418 w 73"/>
                <a:gd name="T37" fmla="*/ 1216 h 108"/>
                <a:gd name="T38" fmla="*/ 1144341 w 73"/>
                <a:gd name="T39" fmla="*/ 1106 h 108"/>
                <a:gd name="T40" fmla="*/ 0 w 73"/>
                <a:gd name="T41" fmla="*/ 377 h 108"/>
                <a:gd name="T42" fmla="*/ 0 w 73"/>
                <a:gd name="T43" fmla="*/ 355 h 108"/>
                <a:gd name="T44" fmla="*/ 1176100 w 73"/>
                <a:gd name="T45" fmla="*/ 493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8"/>
                <a:gd name="T71" fmla="*/ 73 w 73"/>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8">
                  <a:moveTo>
                    <a:pt x="41" y="27"/>
                  </a:moveTo>
                  <a:lnTo>
                    <a:pt x="67" y="0"/>
                  </a:lnTo>
                  <a:lnTo>
                    <a:pt x="68" y="0"/>
                  </a:lnTo>
                  <a:lnTo>
                    <a:pt x="65" y="54"/>
                  </a:lnTo>
                  <a:lnTo>
                    <a:pt x="65" y="61"/>
                  </a:lnTo>
                  <a:lnTo>
                    <a:pt x="67" y="67"/>
                  </a:lnTo>
                  <a:lnTo>
                    <a:pt x="67" y="74"/>
                  </a:lnTo>
                  <a:lnTo>
                    <a:pt x="69" y="80"/>
                  </a:lnTo>
                  <a:lnTo>
                    <a:pt x="69" y="87"/>
                  </a:lnTo>
                  <a:lnTo>
                    <a:pt x="71" y="94"/>
                  </a:lnTo>
                  <a:lnTo>
                    <a:pt x="71" y="100"/>
                  </a:lnTo>
                  <a:lnTo>
                    <a:pt x="72" y="107"/>
                  </a:lnTo>
                  <a:lnTo>
                    <a:pt x="68" y="101"/>
                  </a:lnTo>
                  <a:lnTo>
                    <a:pt x="64" y="96"/>
                  </a:lnTo>
                  <a:lnTo>
                    <a:pt x="60" y="90"/>
                  </a:lnTo>
                  <a:lnTo>
                    <a:pt x="56" y="84"/>
                  </a:lnTo>
                  <a:lnTo>
                    <a:pt x="52" y="79"/>
                  </a:lnTo>
                  <a:lnTo>
                    <a:pt x="48" y="73"/>
                  </a:lnTo>
                  <a:lnTo>
                    <a:pt x="44" y="67"/>
                  </a:lnTo>
                  <a:lnTo>
                    <a:pt x="40" y="61"/>
                  </a:lnTo>
                  <a:lnTo>
                    <a:pt x="0" y="21"/>
                  </a:lnTo>
                  <a:lnTo>
                    <a:pt x="0" y="19"/>
                  </a:lnTo>
                  <a:lnTo>
                    <a:pt x="41"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sp>
        <p:nvSpPr>
          <p:cNvPr id="22538" name="Freeform 235">
            <a:extLst>
              <a:ext uri="{FF2B5EF4-FFF2-40B4-BE49-F238E27FC236}">
                <a16:creationId xmlns:a16="http://schemas.microsoft.com/office/drawing/2014/main" id="{109F15CD-2C7D-A59B-6E92-D0080435C243}"/>
              </a:ext>
            </a:extLst>
          </p:cNvPr>
          <p:cNvSpPr>
            <a:spLocks/>
          </p:cNvSpPr>
          <p:nvPr/>
        </p:nvSpPr>
        <p:spPr bwMode="auto">
          <a:xfrm>
            <a:off x="6754813" y="4843523"/>
            <a:ext cx="36512" cy="1588"/>
          </a:xfrm>
          <a:custGeom>
            <a:avLst/>
            <a:gdLst>
              <a:gd name="T0" fmla="*/ 2147483646 w 16"/>
              <a:gd name="T1" fmla="*/ 0 h 1"/>
              <a:gd name="T2" fmla="*/ 2147483646 w 16"/>
              <a:gd name="T3" fmla="*/ 0 h 1"/>
              <a:gd name="T4" fmla="*/ 0 w 16"/>
              <a:gd name="T5" fmla="*/ 0 h 1"/>
              <a:gd name="T6" fmla="*/ 2147483646 w 16"/>
              <a:gd name="T7" fmla="*/ 0 h 1"/>
              <a:gd name="T8" fmla="*/ 0 60000 65536"/>
              <a:gd name="T9" fmla="*/ 0 60000 65536"/>
              <a:gd name="T10" fmla="*/ 0 60000 65536"/>
              <a:gd name="T11" fmla="*/ 0 60000 65536"/>
              <a:gd name="T12" fmla="*/ 0 w 16"/>
              <a:gd name="T13" fmla="*/ 0 h 1"/>
              <a:gd name="T14" fmla="*/ 16 w 16"/>
              <a:gd name="T15" fmla="*/ 1 h 1"/>
            </a:gdLst>
            <a:ahLst/>
            <a:cxnLst>
              <a:cxn ang="T8">
                <a:pos x="T0" y="T1"/>
              </a:cxn>
              <a:cxn ang="T9">
                <a:pos x="T2" y="T3"/>
              </a:cxn>
              <a:cxn ang="T10">
                <a:pos x="T4" y="T5"/>
              </a:cxn>
              <a:cxn ang="T11">
                <a:pos x="T6" y="T7"/>
              </a:cxn>
            </a:cxnLst>
            <a:rect l="T12" t="T13" r="T14" b="T15"/>
            <a:pathLst>
              <a:path w="16" h="1">
                <a:moveTo>
                  <a:pt x="15" y="0"/>
                </a:moveTo>
                <a:lnTo>
                  <a:pt x="7"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nvGrpSpPr>
          <p:cNvPr id="6" name="Group 236">
            <a:extLst>
              <a:ext uri="{FF2B5EF4-FFF2-40B4-BE49-F238E27FC236}">
                <a16:creationId xmlns:a16="http://schemas.microsoft.com/office/drawing/2014/main" id="{11934D4D-FCBA-840F-4C2B-96D92DA0CC2C}"/>
              </a:ext>
            </a:extLst>
          </p:cNvPr>
          <p:cNvGrpSpPr>
            <a:grpSpLocks/>
          </p:cNvGrpSpPr>
          <p:nvPr/>
        </p:nvGrpSpPr>
        <p:grpSpPr bwMode="auto">
          <a:xfrm>
            <a:off x="4522788" y="2779773"/>
            <a:ext cx="3432175" cy="2887663"/>
            <a:chOff x="2869" y="1857"/>
            <a:chExt cx="2038" cy="1995"/>
          </a:xfrm>
        </p:grpSpPr>
        <p:sp>
          <p:nvSpPr>
            <p:cNvPr id="22589" name="Freeform 237">
              <a:extLst>
                <a:ext uri="{FF2B5EF4-FFF2-40B4-BE49-F238E27FC236}">
                  <a16:creationId xmlns:a16="http://schemas.microsoft.com/office/drawing/2014/main" id="{F2E04F14-0227-9CEE-7CFA-C3A8FB16B833}"/>
                </a:ext>
              </a:extLst>
            </p:cNvPr>
            <p:cNvSpPr>
              <a:spLocks/>
            </p:cNvSpPr>
            <p:nvPr/>
          </p:nvSpPr>
          <p:spPr bwMode="auto">
            <a:xfrm>
              <a:off x="3822" y="1885"/>
              <a:ext cx="90" cy="158"/>
            </a:xfrm>
            <a:custGeom>
              <a:avLst/>
              <a:gdLst>
                <a:gd name="T0" fmla="*/ 1389 w 72"/>
                <a:gd name="T1" fmla="*/ 760 h 146"/>
                <a:gd name="T2" fmla="*/ 1451 w 72"/>
                <a:gd name="T3" fmla="*/ 717 h 146"/>
                <a:gd name="T4" fmla="*/ 1736 w 72"/>
                <a:gd name="T5" fmla="*/ 698 h 146"/>
                <a:gd name="T6" fmla="*/ 2018 w 72"/>
                <a:gd name="T7" fmla="*/ 663 h 146"/>
                <a:gd name="T8" fmla="*/ 2424 w 72"/>
                <a:gd name="T9" fmla="*/ 649 h 146"/>
                <a:gd name="T10" fmla="*/ 2805 w 72"/>
                <a:gd name="T11" fmla="*/ 637 h 146"/>
                <a:gd name="T12" fmla="*/ 3391 w 72"/>
                <a:gd name="T13" fmla="*/ 613 h 146"/>
                <a:gd name="T14" fmla="*/ 3970 w 72"/>
                <a:gd name="T15" fmla="*/ 590 h 146"/>
                <a:gd name="T16" fmla="*/ 4794 w 72"/>
                <a:gd name="T17" fmla="*/ 566 h 146"/>
                <a:gd name="T18" fmla="*/ 5360 w 72"/>
                <a:gd name="T19" fmla="*/ 536 h 146"/>
                <a:gd name="T20" fmla="*/ 6104 w 72"/>
                <a:gd name="T21" fmla="*/ 503 h 146"/>
                <a:gd name="T22" fmla="*/ 6624 w 72"/>
                <a:gd name="T23" fmla="*/ 446 h 146"/>
                <a:gd name="T24" fmla="*/ 6979 w 72"/>
                <a:gd name="T25" fmla="*/ 390 h 146"/>
                <a:gd name="T26" fmla="*/ 7350 w 72"/>
                <a:gd name="T27" fmla="*/ 317 h 146"/>
                <a:gd name="T28" fmla="*/ 7630 w 72"/>
                <a:gd name="T29" fmla="*/ 232 h 146"/>
                <a:gd name="T30" fmla="*/ 7755 w 72"/>
                <a:gd name="T31" fmla="*/ 122 h 146"/>
                <a:gd name="T32" fmla="*/ 7491 w 72"/>
                <a:gd name="T33" fmla="*/ 0 h 146"/>
                <a:gd name="T34" fmla="*/ 6104 w 72"/>
                <a:gd name="T35" fmla="*/ 1 h 146"/>
                <a:gd name="T36" fmla="*/ 6204 w 72"/>
                <a:gd name="T37" fmla="*/ 122 h 146"/>
                <a:gd name="T38" fmla="*/ 6204 w 72"/>
                <a:gd name="T39" fmla="*/ 219 h 146"/>
                <a:gd name="T40" fmla="*/ 5993 w 72"/>
                <a:gd name="T41" fmla="*/ 300 h 146"/>
                <a:gd name="T42" fmla="*/ 5650 w 72"/>
                <a:gd name="T43" fmla="*/ 371 h 146"/>
                <a:gd name="T44" fmla="*/ 5220 w 72"/>
                <a:gd name="T45" fmla="*/ 422 h 146"/>
                <a:gd name="T46" fmla="*/ 4794 w 72"/>
                <a:gd name="T47" fmla="*/ 457 h 146"/>
                <a:gd name="T48" fmla="*/ 4288 w 72"/>
                <a:gd name="T49" fmla="*/ 488 h 146"/>
                <a:gd name="T50" fmla="*/ 3845 w 72"/>
                <a:gd name="T51" fmla="*/ 512 h 146"/>
                <a:gd name="T52" fmla="*/ 3154 w 72"/>
                <a:gd name="T53" fmla="*/ 536 h 146"/>
                <a:gd name="T54" fmla="*/ 2541 w 72"/>
                <a:gd name="T55" fmla="*/ 553 h 146"/>
                <a:gd name="T56" fmla="*/ 2018 w 72"/>
                <a:gd name="T57" fmla="*/ 580 h 146"/>
                <a:gd name="T58" fmla="*/ 1389 w 72"/>
                <a:gd name="T59" fmla="*/ 598 h 146"/>
                <a:gd name="T60" fmla="*/ 744 w 72"/>
                <a:gd name="T61" fmla="*/ 637 h 146"/>
                <a:gd name="T62" fmla="*/ 338 w 72"/>
                <a:gd name="T63" fmla="*/ 663 h 146"/>
                <a:gd name="T64" fmla="*/ 1 w 72"/>
                <a:gd name="T65" fmla="*/ 707 h 146"/>
                <a:gd name="T66" fmla="*/ 0 w 72"/>
                <a:gd name="T67" fmla="*/ 760 h 146"/>
                <a:gd name="T68" fmla="*/ 1389 w 72"/>
                <a:gd name="T69" fmla="*/ 760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6"/>
                <a:gd name="T107" fmla="*/ 72 w 72"/>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6">
                  <a:moveTo>
                    <a:pt x="13" y="145"/>
                  </a:moveTo>
                  <a:lnTo>
                    <a:pt x="14" y="137"/>
                  </a:lnTo>
                  <a:lnTo>
                    <a:pt x="16" y="132"/>
                  </a:lnTo>
                  <a:lnTo>
                    <a:pt x="18" y="127"/>
                  </a:lnTo>
                  <a:lnTo>
                    <a:pt x="22" y="124"/>
                  </a:lnTo>
                  <a:lnTo>
                    <a:pt x="26" y="120"/>
                  </a:lnTo>
                  <a:lnTo>
                    <a:pt x="31" y="117"/>
                  </a:lnTo>
                  <a:lnTo>
                    <a:pt x="37" y="112"/>
                  </a:lnTo>
                  <a:lnTo>
                    <a:pt x="44" y="108"/>
                  </a:lnTo>
                  <a:lnTo>
                    <a:pt x="50" y="102"/>
                  </a:lnTo>
                  <a:lnTo>
                    <a:pt x="56" y="95"/>
                  </a:lnTo>
                  <a:lnTo>
                    <a:pt x="61" y="85"/>
                  </a:lnTo>
                  <a:lnTo>
                    <a:pt x="65" y="74"/>
                  </a:lnTo>
                  <a:lnTo>
                    <a:pt x="68" y="60"/>
                  </a:lnTo>
                  <a:lnTo>
                    <a:pt x="70" y="44"/>
                  </a:lnTo>
                  <a:lnTo>
                    <a:pt x="71" y="23"/>
                  </a:lnTo>
                  <a:lnTo>
                    <a:pt x="69" y="0"/>
                  </a:lnTo>
                  <a:lnTo>
                    <a:pt x="56" y="1"/>
                  </a:lnTo>
                  <a:lnTo>
                    <a:pt x="57" y="23"/>
                  </a:lnTo>
                  <a:lnTo>
                    <a:pt x="57" y="42"/>
                  </a:lnTo>
                  <a:lnTo>
                    <a:pt x="55" y="57"/>
                  </a:lnTo>
                  <a:lnTo>
                    <a:pt x="52" y="70"/>
                  </a:lnTo>
                  <a:lnTo>
                    <a:pt x="48" y="80"/>
                  </a:lnTo>
                  <a:lnTo>
                    <a:pt x="44" y="87"/>
                  </a:lnTo>
                  <a:lnTo>
                    <a:pt x="40" y="93"/>
                  </a:lnTo>
                  <a:lnTo>
                    <a:pt x="35" y="98"/>
                  </a:lnTo>
                  <a:lnTo>
                    <a:pt x="29" y="102"/>
                  </a:lnTo>
                  <a:lnTo>
                    <a:pt x="24" y="105"/>
                  </a:lnTo>
                  <a:lnTo>
                    <a:pt x="18" y="110"/>
                  </a:lnTo>
                  <a:lnTo>
                    <a:pt x="13" y="114"/>
                  </a:lnTo>
                  <a:lnTo>
                    <a:pt x="7"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0" name="Freeform 238">
              <a:extLst>
                <a:ext uri="{FF2B5EF4-FFF2-40B4-BE49-F238E27FC236}">
                  <a16:creationId xmlns:a16="http://schemas.microsoft.com/office/drawing/2014/main" id="{C2885090-5680-DAC9-5BD8-1C3CF84A5F18}"/>
                </a:ext>
              </a:extLst>
            </p:cNvPr>
            <p:cNvSpPr>
              <a:spLocks/>
            </p:cNvSpPr>
            <p:nvPr/>
          </p:nvSpPr>
          <p:spPr bwMode="auto">
            <a:xfrm>
              <a:off x="3822" y="2042"/>
              <a:ext cx="136" cy="121"/>
            </a:xfrm>
            <a:custGeom>
              <a:avLst/>
              <a:gdLst>
                <a:gd name="T0" fmla="*/ 9753 w 109"/>
                <a:gd name="T1" fmla="*/ 557 h 112"/>
                <a:gd name="T2" fmla="*/ 11269 w 109"/>
                <a:gd name="T3" fmla="*/ 557 h 112"/>
                <a:gd name="T4" fmla="*/ 11093 w 109"/>
                <a:gd name="T5" fmla="*/ 511 h 112"/>
                <a:gd name="T6" fmla="*/ 10816 w 109"/>
                <a:gd name="T7" fmla="*/ 454 h 112"/>
                <a:gd name="T8" fmla="*/ 10124 w 109"/>
                <a:gd name="T9" fmla="*/ 417 h 112"/>
                <a:gd name="T10" fmla="*/ 9384 w 109"/>
                <a:gd name="T11" fmla="*/ 379 h 112"/>
                <a:gd name="T12" fmla="*/ 8684 w 109"/>
                <a:gd name="T13" fmla="*/ 344 h 112"/>
                <a:gd name="T14" fmla="*/ 7817 w 109"/>
                <a:gd name="T15" fmla="*/ 317 h 112"/>
                <a:gd name="T16" fmla="*/ 6801 w 109"/>
                <a:gd name="T17" fmla="*/ 285 h 112"/>
                <a:gd name="T18" fmla="*/ 5937 w 109"/>
                <a:gd name="T19" fmla="*/ 258 h 112"/>
                <a:gd name="T20" fmla="*/ 5021 w 109"/>
                <a:gd name="T21" fmla="*/ 232 h 112"/>
                <a:gd name="T22" fmla="*/ 4141 w 109"/>
                <a:gd name="T23" fmla="*/ 209 h 112"/>
                <a:gd name="T24" fmla="*/ 3457 w 109"/>
                <a:gd name="T25" fmla="*/ 171 h 112"/>
                <a:gd name="T26" fmla="*/ 2633 w 109"/>
                <a:gd name="T27" fmla="*/ 145 h 112"/>
                <a:gd name="T28" fmla="*/ 2110 w 109"/>
                <a:gd name="T29" fmla="*/ 115 h 112"/>
                <a:gd name="T30" fmla="*/ 1709 w 109"/>
                <a:gd name="T31" fmla="*/ 78 h 112"/>
                <a:gd name="T32" fmla="*/ 1370 w 109"/>
                <a:gd name="T33" fmla="*/ 42 h 112"/>
                <a:gd name="T34" fmla="*/ 1355 w 109"/>
                <a:gd name="T35" fmla="*/ 0 h 112"/>
                <a:gd name="T36" fmla="*/ 0 w 109"/>
                <a:gd name="T37" fmla="*/ 0 h 112"/>
                <a:gd name="T38" fmla="*/ 1 w 109"/>
                <a:gd name="T39" fmla="*/ 53 h 112"/>
                <a:gd name="T40" fmla="*/ 363 w 109"/>
                <a:gd name="T41" fmla="*/ 106 h 112"/>
                <a:gd name="T42" fmla="*/ 1011 w 109"/>
                <a:gd name="T43" fmla="*/ 154 h 112"/>
                <a:gd name="T44" fmla="*/ 1691 w 109"/>
                <a:gd name="T45" fmla="*/ 193 h 112"/>
                <a:gd name="T46" fmla="*/ 2426 w 109"/>
                <a:gd name="T47" fmla="*/ 232 h 112"/>
                <a:gd name="T48" fmla="*/ 3319 w 109"/>
                <a:gd name="T49" fmla="*/ 258 h 112"/>
                <a:gd name="T50" fmla="*/ 4141 w 109"/>
                <a:gd name="T51" fmla="*/ 293 h 112"/>
                <a:gd name="T52" fmla="*/ 5114 w 109"/>
                <a:gd name="T53" fmla="*/ 318 h 112"/>
                <a:gd name="T54" fmla="*/ 6028 w 109"/>
                <a:gd name="T55" fmla="*/ 344 h 112"/>
                <a:gd name="T56" fmla="*/ 7008 w 109"/>
                <a:gd name="T57" fmla="*/ 373 h 112"/>
                <a:gd name="T58" fmla="*/ 7817 w 109"/>
                <a:gd name="T59" fmla="*/ 402 h 112"/>
                <a:gd name="T60" fmla="*/ 8463 w 109"/>
                <a:gd name="T61" fmla="*/ 431 h 112"/>
                <a:gd name="T62" fmla="*/ 8957 w 109"/>
                <a:gd name="T63" fmla="*/ 466 h 112"/>
                <a:gd name="T64" fmla="*/ 9501 w 109"/>
                <a:gd name="T65" fmla="*/ 490 h 112"/>
                <a:gd name="T66" fmla="*/ 9731 w 109"/>
                <a:gd name="T67" fmla="*/ 516 h 112"/>
                <a:gd name="T68" fmla="*/ 9753 w 109"/>
                <a:gd name="T69" fmla="*/ 557 h 112"/>
                <a:gd name="T70" fmla="*/ 11269 w 109"/>
                <a:gd name="T71" fmla="*/ 557 h 112"/>
                <a:gd name="T72" fmla="*/ 9753 w 109"/>
                <a:gd name="T73" fmla="*/ 557 h 1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9"/>
                <a:gd name="T112" fmla="*/ 0 h 112"/>
                <a:gd name="T113" fmla="*/ 109 w 109"/>
                <a:gd name="T114" fmla="*/ 112 h 1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9" h="112">
                  <a:moveTo>
                    <a:pt x="94" y="111"/>
                  </a:moveTo>
                  <a:lnTo>
                    <a:pt x="108" y="111"/>
                  </a:lnTo>
                  <a:lnTo>
                    <a:pt x="106" y="101"/>
                  </a:lnTo>
                  <a:lnTo>
                    <a:pt x="103" y="90"/>
                  </a:lnTo>
                  <a:lnTo>
                    <a:pt x="97" y="82"/>
                  </a:lnTo>
                  <a:lnTo>
                    <a:pt x="90" y="75"/>
                  </a:lnTo>
                  <a:lnTo>
                    <a:pt x="83" y="68"/>
                  </a:lnTo>
                  <a:lnTo>
                    <a:pt x="75" y="62"/>
                  </a:lnTo>
                  <a:lnTo>
                    <a:pt x="66" y="56"/>
                  </a:lnTo>
                  <a:lnTo>
                    <a:pt x="57" y="51"/>
                  </a:lnTo>
                  <a:lnTo>
                    <a:pt x="48" y="45"/>
                  </a:lnTo>
                  <a:lnTo>
                    <a:pt x="40" y="41"/>
                  </a:lnTo>
                  <a:lnTo>
                    <a:pt x="33" y="34"/>
                  </a:lnTo>
                  <a:lnTo>
                    <a:pt x="25" y="29"/>
                  </a:lnTo>
                  <a:lnTo>
                    <a:pt x="20" y="23"/>
                  </a:lnTo>
                  <a:lnTo>
                    <a:pt x="17" y="16"/>
                  </a:lnTo>
                  <a:lnTo>
                    <a:pt x="14" y="8"/>
                  </a:lnTo>
                  <a:lnTo>
                    <a:pt x="13" y="0"/>
                  </a:lnTo>
                  <a:lnTo>
                    <a:pt x="0" y="0"/>
                  </a:lnTo>
                  <a:lnTo>
                    <a:pt x="1" y="11"/>
                  </a:lnTo>
                  <a:lnTo>
                    <a:pt x="4" y="21"/>
                  </a:lnTo>
                  <a:lnTo>
                    <a:pt x="10" y="30"/>
                  </a:lnTo>
                  <a:lnTo>
                    <a:pt x="16" y="38"/>
                  </a:lnTo>
                  <a:lnTo>
                    <a:pt x="23" y="45"/>
                  </a:lnTo>
                  <a:lnTo>
                    <a:pt x="32" y="51"/>
                  </a:lnTo>
                  <a:lnTo>
                    <a:pt x="40" y="57"/>
                  </a:lnTo>
                  <a:lnTo>
                    <a:pt x="49" y="63"/>
                  </a:lnTo>
                  <a:lnTo>
                    <a:pt x="58" y="68"/>
                  </a:lnTo>
                  <a:lnTo>
                    <a:pt x="67" y="74"/>
                  </a:lnTo>
                  <a:lnTo>
                    <a:pt x="75" y="79"/>
                  </a:lnTo>
                  <a:lnTo>
                    <a:pt x="81" y="84"/>
                  </a:lnTo>
                  <a:lnTo>
                    <a:pt x="86" y="91"/>
                  </a:lnTo>
                  <a:lnTo>
                    <a:pt x="91" y="97"/>
                  </a:lnTo>
                  <a:lnTo>
                    <a:pt x="93" y="103"/>
                  </a:lnTo>
                  <a:lnTo>
                    <a:pt x="94" y="111"/>
                  </a:lnTo>
                  <a:lnTo>
                    <a:pt x="108" y="111"/>
                  </a:lnTo>
                  <a:lnTo>
                    <a:pt x="94"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1" name="Freeform 239">
              <a:extLst>
                <a:ext uri="{FF2B5EF4-FFF2-40B4-BE49-F238E27FC236}">
                  <a16:creationId xmlns:a16="http://schemas.microsoft.com/office/drawing/2014/main" id="{DC52DAC3-4295-2B95-D46D-5DE72FAD9C3C}"/>
                </a:ext>
              </a:extLst>
            </p:cNvPr>
            <p:cNvSpPr>
              <a:spLocks/>
            </p:cNvSpPr>
            <p:nvPr/>
          </p:nvSpPr>
          <p:spPr bwMode="auto">
            <a:xfrm>
              <a:off x="3938" y="2162"/>
              <a:ext cx="20" cy="2"/>
            </a:xfrm>
            <a:custGeom>
              <a:avLst/>
              <a:gdLst>
                <a:gd name="T0" fmla="*/ 1673 w 16"/>
                <a:gd name="T1" fmla="*/ 0 h 2"/>
                <a:gd name="T2" fmla="*/ 0 w 16"/>
                <a:gd name="T3" fmla="*/ 0 h 2"/>
                <a:gd name="T4" fmla="*/ 0 w 16"/>
                <a:gd name="T5" fmla="*/ 1 h 2"/>
                <a:gd name="T6" fmla="*/ 1673 w 16"/>
                <a:gd name="T7" fmla="*/ 1 h 2"/>
                <a:gd name="T8" fmla="*/ 1673 w 16"/>
                <a:gd name="T9" fmla="*/ 0 h 2"/>
                <a:gd name="T10" fmla="*/ 0 w 16"/>
                <a:gd name="T11" fmla="*/ 0 h 2"/>
                <a:gd name="T12" fmla="*/ 1673 w 16"/>
                <a:gd name="T13" fmla="*/ 0 h 2"/>
                <a:gd name="T14" fmla="*/ 0 60000 65536"/>
                <a:gd name="T15" fmla="*/ 0 60000 65536"/>
                <a:gd name="T16" fmla="*/ 0 60000 65536"/>
                <a:gd name="T17" fmla="*/ 0 60000 65536"/>
                <a:gd name="T18" fmla="*/ 0 60000 65536"/>
                <a:gd name="T19" fmla="*/ 0 60000 65536"/>
                <a:gd name="T20" fmla="*/ 0 60000 65536"/>
                <a:gd name="T21" fmla="*/ 0 w 16"/>
                <a:gd name="T22" fmla="*/ 0 h 2"/>
                <a:gd name="T23" fmla="*/ 16 w 16"/>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
                  <a:moveTo>
                    <a:pt x="15" y="0"/>
                  </a:moveTo>
                  <a:lnTo>
                    <a:pt x="0" y="0"/>
                  </a:lnTo>
                  <a:lnTo>
                    <a:pt x="0" y="1"/>
                  </a:lnTo>
                  <a:lnTo>
                    <a:pt x="15" y="1"/>
                  </a:lnTo>
                  <a:lnTo>
                    <a:pt x="15"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2" name="Freeform 240">
              <a:extLst>
                <a:ext uri="{FF2B5EF4-FFF2-40B4-BE49-F238E27FC236}">
                  <a16:creationId xmlns:a16="http://schemas.microsoft.com/office/drawing/2014/main" id="{54B6C5E0-7829-D135-DEDE-DFE2664B75BC}"/>
                </a:ext>
              </a:extLst>
            </p:cNvPr>
            <p:cNvSpPr>
              <a:spLocks/>
            </p:cNvSpPr>
            <p:nvPr/>
          </p:nvSpPr>
          <p:spPr bwMode="auto">
            <a:xfrm>
              <a:off x="3820" y="2162"/>
              <a:ext cx="138" cy="114"/>
            </a:xfrm>
            <a:custGeom>
              <a:avLst/>
              <a:gdLst>
                <a:gd name="T0" fmla="*/ 1791 w 110"/>
                <a:gd name="T1" fmla="*/ 482 h 106"/>
                <a:gd name="T2" fmla="*/ 1791 w 110"/>
                <a:gd name="T3" fmla="*/ 443 h 106"/>
                <a:gd name="T4" fmla="*/ 1901 w 110"/>
                <a:gd name="T5" fmla="*/ 424 h 106"/>
                <a:gd name="T6" fmla="*/ 2385 w 110"/>
                <a:gd name="T7" fmla="*/ 394 h 106"/>
                <a:gd name="T8" fmla="*/ 3209 w 110"/>
                <a:gd name="T9" fmla="*/ 377 h 106"/>
                <a:gd name="T10" fmla="*/ 4026 w 110"/>
                <a:gd name="T11" fmla="*/ 351 h 106"/>
                <a:gd name="T12" fmla="*/ 4710 w 110"/>
                <a:gd name="T13" fmla="*/ 326 h 106"/>
                <a:gd name="T14" fmla="*/ 5761 w 110"/>
                <a:gd name="T15" fmla="*/ 303 h 106"/>
                <a:gd name="T16" fmla="*/ 6821 w 110"/>
                <a:gd name="T17" fmla="*/ 282 h 106"/>
                <a:gd name="T18" fmla="*/ 7813 w 110"/>
                <a:gd name="T19" fmla="*/ 251 h 106"/>
                <a:gd name="T20" fmla="*/ 8841 w 110"/>
                <a:gd name="T21" fmla="*/ 229 h 106"/>
                <a:gd name="T22" fmla="*/ 9802 w 110"/>
                <a:gd name="T23" fmla="*/ 202 h 106"/>
                <a:gd name="T24" fmla="*/ 10625 w 110"/>
                <a:gd name="T25" fmla="*/ 175 h 106"/>
                <a:gd name="T26" fmla="*/ 11650 w 110"/>
                <a:gd name="T27" fmla="*/ 137 h 106"/>
                <a:gd name="T28" fmla="*/ 12119 w 110"/>
                <a:gd name="T29" fmla="*/ 98 h 106"/>
                <a:gd name="T30" fmla="*/ 12513 w 110"/>
                <a:gd name="T31" fmla="*/ 49 h 106"/>
                <a:gd name="T32" fmla="*/ 12819 w 110"/>
                <a:gd name="T33" fmla="*/ 0 h 106"/>
                <a:gd name="T34" fmla="*/ 11091 w 110"/>
                <a:gd name="T35" fmla="*/ 0 h 106"/>
                <a:gd name="T36" fmla="*/ 10990 w 110"/>
                <a:gd name="T37" fmla="*/ 40 h 106"/>
                <a:gd name="T38" fmla="*/ 10625 w 110"/>
                <a:gd name="T39" fmla="*/ 66 h 106"/>
                <a:gd name="T40" fmla="*/ 10246 w 110"/>
                <a:gd name="T41" fmla="*/ 102 h 106"/>
                <a:gd name="T42" fmla="*/ 9595 w 110"/>
                <a:gd name="T43" fmla="*/ 122 h 106"/>
                <a:gd name="T44" fmla="*/ 8841 w 110"/>
                <a:gd name="T45" fmla="*/ 158 h 106"/>
                <a:gd name="T46" fmla="*/ 7950 w 110"/>
                <a:gd name="T47" fmla="*/ 175 h 106"/>
                <a:gd name="T48" fmla="*/ 6983 w 110"/>
                <a:gd name="T49" fmla="*/ 197 h 106"/>
                <a:gd name="T50" fmla="*/ 6096 w 110"/>
                <a:gd name="T51" fmla="*/ 228 h 106"/>
                <a:gd name="T52" fmla="*/ 5051 w 110"/>
                <a:gd name="T53" fmla="*/ 245 h 106"/>
                <a:gd name="T54" fmla="*/ 4026 w 110"/>
                <a:gd name="T55" fmla="*/ 265 h 106"/>
                <a:gd name="T56" fmla="*/ 2992 w 110"/>
                <a:gd name="T57" fmla="*/ 294 h 106"/>
                <a:gd name="T58" fmla="*/ 2095 w 110"/>
                <a:gd name="T59" fmla="*/ 326 h 106"/>
                <a:gd name="T60" fmla="*/ 1331 w 110"/>
                <a:gd name="T61" fmla="*/ 355 h 106"/>
                <a:gd name="T62" fmla="*/ 748 w 110"/>
                <a:gd name="T63" fmla="*/ 388 h 106"/>
                <a:gd name="T64" fmla="*/ 302 w 110"/>
                <a:gd name="T65" fmla="*/ 439 h 106"/>
                <a:gd name="T66" fmla="*/ 0 w 110"/>
                <a:gd name="T67" fmla="*/ 482 h 106"/>
                <a:gd name="T68" fmla="*/ 1791 w 110"/>
                <a:gd name="T69" fmla="*/ 482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6"/>
                <a:gd name="T107" fmla="*/ 110 w 110"/>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6">
                  <a:moveTo>
                    <a:pt x="15" y="105"/>
                  </a:moveTo>
                  <a:lnTo>
                    <a:pt x="15" y="97"/>
                  </a:lnTo>
                  <a:lnTo>
                    <a:pt x="17" y="92"/>
                  </a:lnTo>
                  <a:lnTo>
                    <a:pt x="21" y="86"/>
                  </a:lnTo>
                  <a:lnTo>
                    <a:pt x="27" y="81"/>
                  </a:lnTo>
                  <a:lnTo>
                    <a:pt x="34" y="75"/>
                  </a:lnTo>
                  <a:lnTo>
                    <a:pt x="41" y="70"/>
                  </a:lnTo>
                  <a:lnTo>
                    <a:pt x="49" y="65"/>
                  </a:lnTo>
                  <a:lnTo>
                    <a:pt x="58" y="60"/>
                  </a:lnTo>
                  <a:lnTo>
                    <a:pt x="67" y="55"/>
                  </a:lnTo>
                  <a:lnTo>
                    <a:pt x="76" y="50"/>
                  </a:lnTo>
                  <a:lnTo>
                    <a:pt x="84" y="44"/>
                  </a:lnTo>
                  <a:lnTo>
                    <a:pt x="91" y="38"/>
                  </a:lnTo>
                  <a:lnTo>
                    <a:pt x="99" y="30"/>
                  </a:lnTo>
                  <a:lnTo>
                    <a:pt x="104" y="21"/>
                  </a:lnTo>
                  <a:lnTo>
                    <a:pt x="107" y="11"/>
                  </a:lnTo>
                  <a:lnTo>
                    <a:pt x="109" y="0"/>
                  </a:lnTo>
                  <a:lnTo>
                    <a:pt x="95" y="0"/>
                  </a:lnTo>
                  <a:lnTo>
                    <a:pt x="94" y="8"/>
                  </a:lnTo>
                  <a:lnTo>
                    <a:pt x="91" y="15"/>
                  </a:lnTo>
                  <a:lnTo>
                    <a:pt x="88" y="22"/>
                  </a:lnTo>
                  <a:lnTo>
                    <a:pt x="82" y="27"/>
                  </a:lnTo>
                  <a:lnTo>
                    <a:pt x="76" y="34"/>
                  </a:lnTo>
                  <a:lnTo>
                    <a:pt x="68" y="38"/>
                  </a:lnTo>
                  <a:lnTo>
                    <a:pt x="60" y="43"/>
                  </a:lnTo>
                  <a:lnTo>
                    <a:pt x="52" y="49"/>
                  </a:lnTo>
                  <a:lnTo>
                    <a:pt x="43" y="53"/>
                  </a:lnTo>
                  <a:lnTo>
                    <a:pt x="34" y="58"/>
                  </a:lnTo>
                  <a:lnTo>
                    <a:pt x="26" y="64"/>
                  </a:lnTo>
                  <a:lnTo>
                    <a:pt x="18" y="70"/>
                  </a:lnTo>
                  <a:lnTo>
                    <a:pt x="11" y="77"/>
                  </a:lnTo>
                  <a:lnTo>
                    <a:pt x="6" y="85"/>
                  </a:lnTo>
                  <a:lnTo>
                    <a:pt x="2" y="95"/>
                  </a:lnTo>
                  <a:lnTo>
                    <a:pt x="0" y="105"/>
                  </a:lnTo>
                  <a:lnTo>
                    <a:pt x="15"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3" name="Freeform 241">
              <a:extLst>
                <a:ext uri="{FF2B5EF4-FFF2-40B4-BE49-F238E27FC236}">
                  <a16:creationId xmlns:a16="http://schemas.microsoft.com/office/drawing/2014/main" id="{212AB63F-4C48-FC8C-D901-99E37F12B796}"/>
                </a:ext>
              </a:extLst>
            </p:cNvPr>
            <p:cNvSpPr>
              <a:spLocks/>
            </p:cNvSpPr>
            <p:nvPr/>
          </p:nvSpPr>
          <p:spPr bwMode="auto">
            <a:xfrm>
              <a:off x="3820" y="2275"/>
              <a:ext cx="138" cy="117"/>
            </a:xfrm>
            <a:custGeom>
              <a:avLst/>
              <a:gdLst>
                <a:gd name="T0" fmla="*/ 12819 w 110"/>
                <a:gd name="T1" fmla="*/ 569 h 108"/>
                <a:gd name="T2" fmla="*/ 12513 w 110"/>
                <a:gd name="T3" fmla="*/ 517 h 108"/>
                <a:gd name="T4" fmla="*/ 12119 w 110"/>
                <a:gd name="T5" fmla="*/ 464 h 108"/>
                <a:gd name="T6" fmla="*/ 11650 w 110"/>
                <a:gd name="T7" fmla="*/ 412 h 108"/>
                <a:gd name="T8" fmla="*/ 10625 w 110"/>
                <a:gd name="T9" fmla="*/ 372 h 108"/>
                <a:gd name="T10" fmla="*/ 9802 w 110"/>
                <a:gd name="T11" fmla="*/ 339 h 108"/>
                <a:gd name="T12" fmla="*/ 8841 w 110"/>
                <a:gd name="T13" fmla="*/ 311 h 108"/>
                <a:gd name="T14" fmla="*/ 7813 w 110"/>
                <a:gd name="T15" fmla="*/ 286 h 108"/>
                <a:gd name="T16" fmla="*/ 6821 w 110"/>
                <a:gd name="T17" fmla="*/ 249 h 108"/>
                <a:gd name="T18" fmla="*/ 5761 w 110"/>
                <a:gd name="T19" fmla="*/ 225 h 108"/>
                <a:gd name="T20" fmla="*/ 4710 w 110"/>
                <a:gd name="T21" fmla="*/ 194 h 108"/>
                <a:gd name="T22" fmla="*/ 4026 w 110"/>
                <a:gd name="T23" fmla="*/ 168 h 108"/>
                <a:gd name="T24" fmla="*/ 3209 w 110"/>
                <a:gd name="T25" fmla="*/ 138 h 108"/>
                <a:gd name="T26" fmla="*/ 2385 w 110"/>
                <a:gd name="T27" fmla="*/ 110 h 108"/>
                <a:gd name="T28" fmla="*/ 1901 w 110"/>
                <a:gd name="T29" fmla="*/ 74 h 108"/>
                <a:gd name="T30" fmla="*/ 1791 w 110"/>
                <a:gd name="T31" fmla="*/ 46 h 108"/>
                <a:gd name="T32" fmla="*/ 1791 w 110"/>
                <a:gd name="T33" fmla="*/ 0 h 108"/>
                <a:gd name="T34" fmla="*/ 0 w 110"/>
                <a:gd name="T35" fmla="*/ 0 h 108"/>
                <a:gd name="T36" fmla="*/ 302 w 110"/>
                <a:gd name="T37" fmla="*/ 58 h 108"/>
                <a:gd name="T38" fmla="*/ 748 w 110"/>
                <a:gd name="T39" fmla="*/ 110 h 108"/>
                <a:gd name="T40" fmla="*/ 1331 w 110"/>
                <a:gd name="T41" fmla="*/ 155 h 108"/>
                <a:gd name="T42" fmla="*/ 2095 w 110"/>
                <a:gd name="T43" fmla="*/ 194 h 108"/>
                <a:gd name="T44" fmla="*/ 2992 w 110"/>
                <a:gd name="T45" fmla="*/ 230 h 108"/>
                <a:gd name="T46" fmla="*/ 4026 w 110"/>
                <a:gd name="T47" fmla="*/ 264 h 108"/>
                <a:gd name="T48" fmla="*/ 5051 w 110"/>
                <a:gd name="T49" fmla="*/ 287 h 108"/>
                <a:gd name="T50" fmla="*/ 6096 w 110"/>
                <a:gd name="T51" fmla="*/ 313 h 108"/>
                <a:gd name="T52" fmla="*/ 6983 w 110"/>
                <a:gd name="T53" fmla="*/ 339 h 108"/>
                <a:gd name="T54" fmla="*/ 7950 w 110"/>
                <a:gd name="T55" fmla="*/ 367 h 108"/>
                <a:gd name="T56" fmla="*/ 8841 w 110"/>
                <a:gd name="T57" fmla="*/ 395 h 108"/>
                <a:gd name="T58" fmla="*/ 9595 w 110"/>
                <a:gd name="T59" fmla="*/ 428 h 108"/>
                <a:gd name="T60" fmla="*/ 10246 w 110"/>
                <a:gd name="T61" fmla="*/ 463 h 108"/>
                <a:gd name="T62" fmla="*/ 10625 w 110"/>
                <a:gd name="T63" fmla="*/ 490 h 108"/>
                <a:gd name="T64" fmla="*/ 10990 w 110"/>
                <a:gd name="T65" fmla="*/ 523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6"/>
                  </a:lnTo>
                  <a:lnTo>
                    <a:pt x="104" y="86"/>
                  </a:lnTo>
                  <a:lnTo>
                    <a:pt x="99" y="77"/>
                  </a:lnTo>
                  <a:lnTo>
                    <a:pt x="91" y="69"/>
                  </a:lnTo>
                  <a:lnTo>
                    <a:pt x="84" y="63"/>
                  </a:lnTo>
                  <a:lnTo>
                    <a:pt x="76" y="57"/>
                  </a:lnTo>
                  <a:lnTo>
                    <a:pt x="67" y="52"/>
                  </a:lnTo>
                  <a:lnTo>
                    <a:pt x="58" y="46"/>
                  </a:lnTo>
                  <a:lnTo>
                    <a:pt x="49" y="41"/>
                  </a:lnTo>
                  <a:lnTo>
                    <a:pt x="41" y="36"/>
                  </a:lnTo>
                  <a:lnTo>
                    <a:pt x="34" y="31"/>
                  </a:lnTo>
                  <a:lnTo>
                    <a:pt x="27" y="26"/>
                  </a:lnTo>
                  <a:lnTo>
                    <a:pt x="21" y="20"/>
                  </a:lnTo>
                  <a:lnTo>
                    <a:pt x="17" y="14"/>
                  </a:lnTo>
                  <a:lnTo>
                    <a:pt x="15" y="8"/>
                  </a:lnTo>
                  <a:lnTo>
                    <a:pt x="15" y="0"/>
                  </a:lnTo>
                  <a:lnTo>
                    <a:pt x="0" y="0"/>
                  </a:lnTo>
                  <a:lnTo>
                    <a:pt x="2" y="11"/>
                  </a:lnTo>
                  <a:lnTo>
                    <a:pt x="6" y="20"/>
                  </a:lnTo>
                  <a:lnTo>
                    <a:pt x="11" y="29"/>
                  </a:lnTo>
                  <a:lnTo>
                    <a:pt x="18" y="36"/>
                  </a:lnTo>
                  <a:lnTo>
                    <a:pt x="26" y="42"/>
                  </a:lnTo>
                  <a:lnTo>
                    <a:pt x="34" y="48"/>
                  </a:lnTo>
                  <a:lnTo>
                    <a:pt x="43" y="53"/>
                  </a:lnTo>
                  <a:lnTo>
                    <a:pt x="52" y="58"/>
                  </a:lnTo>
                  <a:lnTo>
                    <a:pt x="60" y="63"/>
                  </a:lnTo>
                  <a:lnTo>
                    <a:pt x="68" y="68"/>
                  </a:lnTo>
                  <a:lnTo>
                    <a:pt x="76" y="73"/>
                  </a:lnTo>
                  <a:lnTo>
                    <a:pt x="82" y="79"/>
                  </a:lnTo>
                  <a:lnTo>
                    <a:pt x="88" y="85"/>
                  </a:lnTo>
                  <a:lnTo>
                    <a:pt x="91" y="91"/>
                  </a:lnTo>
                  <a:lnTo>
                    <a:pt x="94" y="98"/>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4" name="Freeform 242">
              <a:extLst>
                <a:ext uri="{FF2B5EF4-FFF2-40B4-BE49-F238E27FC236}">
                  <a16:creationId xmlns:a16="http://schemas.microsoft.com/office/drawing/2014/main" id="{455D5AAB-3A44-3450-466D-6CBD368F511A}"/>
                </a:ext>
              </a:extLst>
            </p:cNvPr>
            <p:cNvSpPr>
              <a:spLocks/>
            </p:cNvSpPr>
            <p:nvPr/>
          </p:nvSpPr>
          <p:spPr bwMode="auto">
            <a:xfrm>
              <a:off x="3820" y="2391"/>
              <a:ext cx="138" cy="116"/>
            </a:xfrm>
            <a:custGeom>
              <a:avLst/>
              <a:gdLst>
                <a:gd name="T0" fmla="*/ 1791 w 110"/>
                <a:gd name="T1" fmla="*/ 576 h 107"/>
                <a:gd name="T2" fmla="*/ 1791 w 110"/>
                <a:gd name="T3" fmla="*/ 531 h 107"/>
                <a:gd name="T4" fmla="*/ 1901 w 110"/>
                <a:gd name="T5" fmla="*/ 504 h 107"/>
                <a:gd name="T6" fmla="*/ 2385 w 110"/>
                <a:gd name="T7" fmla="*/ 469 h 107"/>
                <a:gd name="T8" fmla="*/ 3209 w 110"/>
                <a:gd name="T9" fmla="*/ 438 h 107"/>
                <a:gd name="T10" fmla="*/ 4026 w 110"/>
                <a:gd name="T11" fmla="*/ 404 h 107"/>
                <a:gd name="T12" fmla="*/ 4710 w 110"/>
                <a:gd name="T13" fmla="*/ 378 h 107"/>
                <a:gd name="T14" fmla="*/ 5761 w 110"/>
                <a:gd name="T15" fmla="*/ 349 h 107"/>
                <a:gd name="T16" fmla="*/ 6821 w 110"/>
                <a:gd name="T17" fmla="*/ 322 h 107"/>
                <a:gd name="T18" fmla="*/ 7813 w 110"/>
                <a:gd name="T19" fmla="*/ 297 h 107"/>
                <a:gd name="T20" fmla="*/ 8841 w 110"/>
                <a:gd name="T21" fmla="*/ 270 h 107"/>
                <a:gd name="T22" fmla="*/ 9802 w 110"/>
                <a:gd name="T23" fmla="*/ 233 h 107"/>
                <a:gd name="T24" fmla="*/ 10625 w 110"/>
                <a:gd name="T25" fmla="*/ 198 h 107"/>
                <a:gd name="T26" fmla="*/ 11650 w 110"/>
                <a:gd name="T27" fmla="*/ 156 h 107"/>
                <a:gd name="T28" fmla="*/ 12119 w 110"/>
                <a:gd name="T29" fmla="*/ 113 h 107"/>
                <a:gd name="T30" fmla="*/ 12513 w 110"/>
                <a:gd name="T31" fmla="*/ 59 h 107"/>
                <a:gd name="T32" fmla="*/ 12819 w 110"/>
                <a:gd name="T33" fmla="*/ 0 h 107"/>
                <a:gd name="T34" fmla="*/ 11091 w 110"/>
                <a:gd name="T35" fmla="*/ 0 h 107"/>
                <a:gd name="T36" fmla="*/ 10990 w 110"/>
                <a:gd name="T37" fmla="*/ 46 h 107"/>
                <a:gd name="T38" fmla="*/ 10625 w 110"/>
                <a:gd name="T39" fmla="*/ 81 h 107"/>
                <a:gd name="T40" fmla="*/ 10246 w 110"/>
                <a:gd name="T41" fmla="*/ 113 h 107"/>
                <a:gd name="T42" fmla="*/ 9595 w 110"/>
                <a:gd name="T43" fmla="*/ 144 h 107"/>
                <a:gd name="T44" fmla="*/ 8841 w 110"/>
                <a:gd name="T45" fmla="*/ 181 h 107"/>
                <a:gd name="T46" fmla="*/ 7950 w 110"/>
                <a:gd name="T47" fmla="*/ 208 h 107"/>
                <a:gd name="T48" fmla="*/ 6983 w 110"/>
                <a:gd name="T49" fmla="*/ 233 h 107"/>
                <a:gd name="T50" fmla="*/ 6096 w 110"/>
                <a:gd name="T51" fmla="*/ 265 h 107"/>
                <a:gd name="T52" fmla="*/ 5051 w 110"/>
                <a:gd name="T53" fmla="*/ 289 h 107"/>
                <a:gd name="T54" fmla="*/ 4026 w 110"/>
                <a:gd name="T55" fmla="*/ 317 h 107"/>
                <a:gd name="T56" fmla="*/ 2992 w 110"/>
                <a:gd name="T57" fmla="*/ 345 h 107"/>
                <a:gd name="T58" fmla="*/ 2095 w 110"/>
                <a:gd name="T59" fmla="*/ 378 h 107"/>
                <a:gd name="T60" fmla="*/ 1331 w 110"/>
                <a:gd name="T61" fmla="*/ 417 h 107"/>
                <a:gd name="T62" fmla="*/ 748 w 110"/>
                <a:gd name="T63" fmla="*/ 469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4"/>
                  </a:lnTo>
                  <a:lnTo>
                    <a:pt x="41" y="70"/>
                  </a:lnTo>
                  <a:lnTo>
                    <a:pt x="49" y="65"/>
                  </a:lnTo>
                  <a:lnTo>
                    <a:pt x="58" y="60"/>
                  </a:lnTo>
                  <a:lnTo>
                    <a:pt x="67" y="55"/>
                  </a:lnTo>
                  <a:lnTo>
                    <a:pt x="76" y="50"/>
                  </a:lnTo>
                  <a:lnTo>
                    <a:pt x="84" y="43"/>
                  </a:lnTo>
                  <a:lnTo>
                    <a:pt x="91" y="37"/>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5" name="Freeform 243">
              <a:extLst>
                <a:ext uri="{FF2B5EF4-FFF2-40B4-BE49-F238E27FC236}">
                  <a16:creationId xmlns:a16="http://schemas.microsoft.com/office/drawing/2014/main" id="{E411E29E-B036-2E8D-D50F-85CAC0C16A9A}"/>
                </a:ext>
              </a:extLst>
            </p:cNvPr>
            <p:cNvSpPr>
              <a:spLocks/>
            </p:cNvSpPr>
            <p:nvPr/>
          </p:nvSpPr>
          <p:spPr bwMode="auto">
            <a:xfrm>
              <a:off x="3820" y="2505"/>
              <a:ext cx="138" cy="103"/>
            </a:xfrm>
            <a:custGeom>
              <a:avLst/>
              <a:gdLst>
                <a:gd name="T0" fmla="*/ 12819 w 110"/>
                <a:gd name="T1" fmla="*/ 515 h 95"/>
                <a:gd name="T2" fmla="*/ 12119 w 110"/>
                <a:gd name="T3" fmla="*/ 417 h 95"/>
                <a:gd name="T4" fmla="*/ 10625 w 110"/>
                <a:gd name="T5" fmla="*/ 349 h 95"/>
                <a:gd name="T6" fmla="*/ 8760 w 110"/>
                <a:gd name="T7" fmla="*/ 297 h 95"/>
                <a:gd name="T8" fmla="*/ 6821 w 110"/>
                <a:gd name="T9" fmla="*/ 250 h 95"/>
                <a:gd name="T10" fmla="*/ 4710 w 110"/>
                <a:gd name="T11" fmla="*/ 196 h 95"/>
                <a:gd name="T12" fmla="*/ 3209 w 110"/>
                <a:gd name="T13" fmla="*/ 142 h 95"/>
                <a:gd name="T14" fmla="*/ 1901 w 110"/>
                <a:gd name="T15" fmla="*/ 69 h 95"/>
                <a:gd name="T16" fmla="*/ 1791 w 110"/>
                <a:gd name="T17" fmla="*/ 0 h 95"/>
                <a:gd name="T18" fmla="*/ 0 w 110"/>
                <a:gd name="T19" fmla="*/ 0 h 95"/>
                <a:gd name="T20" fmla="*/ 748 w 110"/>
                <a:gd name="T21" fmla="*/ 112 h 95"/>
                <a:gd name="T22" fmla="*/ 2095 w 110"/>
                <a:gd name="T23" fmla="*/ 196 h 95"/>
                <a:gd name="T24" fmla="*/ 4026 w 110"/>
                <a:gd name="T25" fmla="*/ 266 h 95"/>
                <a:gd name="T26" fmla="*/ 6096 w 110"/>
                <a:gd name="T27" fmla="*/ 316 h 95"/>
                <a:gd name="T28" fmla="*/ 8145 w 110"/>
                <a:gd name="T29" fmla="*/ 372 h 95"/>
                <a:gd name="T30" fmla="*/ 9660 w 110"/>
                <a:gd name="T31" fmla="*/ 407 h 95"/>
                <a:gd name="T32" fmla="*/ 10735 w 110"/>
                <a:gd name="T33" fmla="*/ 466 h 95"/>
                <a:gd name="T34" fmla="*/ 11091 w 110"/>
                <a:gd name="T35" fmla="*/ 515 h 95"/>
                <a:gd name="T36" fmla="*/ 12819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09" y="94"/>
                  </a:moveTo>
                  <a:lnTo>
                    <a:pt x="104" y="77"/>
                  </a:lnTo>
                  <a:lnTo>
                    <a:pt x="91" y="65"/>
                  </a:lnTo>
                  <a:lnTo>
                    <a:pt x="75" y="55"/>
                  </a:lnTo>
                  <a:lnTo>
                    <a:pt x="58" y="46"/>
                  </a:lnTo>
                  <a:lnTo>
                    <a:pt x="41" y="36"/>
                  </a:lnTo>
                  <a:lnTo>
                    <a:pt x="27" y="26"/>
                  </a:lnTo>
                  <a:lnTo>
                    <a:pt x="17" y="13"/>
                  </a:lnTo>
                  <a:lnTo>
                    <a:pt x="15" y="0"/>
                  </a:lnTo>
                  <a:lnTo>
                    <a:pt x="0" y="0"/>
                  </a:lnTo>
                  <a:lnTo>
                    <a:pt x="6" y="20"/>
                  </a:lnTo>
                  <a:lnTo>
                    <a:pt x="18" y="36"/>
                  </a:lnTo>
                  <a:lnTo>
                    <a:pt x="34" y="48"/>
                  </a:lnTo>
                  <a:lnTo>
                    <a:pt x="52" y="57"/>
                  </a:lnTo>
                  <a:lnTo>
                    <a:pt x="69" y="67"/>
                  </a:lnTo>
                  <a:lnTo>
                    <a:pt x="83" y="75"/>
                  </a:lnTo>
                  <a:lnTo>
                    <a:pt x="92" y="85"/>
                  </a:lnTo>
                  <a:lnTo>
                    <a:pt x="95" y="94"/>
                  </a:lnTo>
                  <a:lnTo>
                    <a:pt x="109"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6" name="Freeform 244">
              <a:extLst>
                <a:ext uri="{FF2B5EF4-FFF2-40B4-BE49-F238E27FC236}">
                  <a16:creationId xmlns:a16="http://schemas.microsoft.com/office/drawing/2014/main" id="{B20687AE-119F-9412-6003-F716B7838160}"/>
                </a:ext>
              </a:extLst>
            </p:cNvPr>
            <p:cNvSpPr>
              <a:spLocks/>
            </p:cNvSpPr>
            <p:nvPr/>
          </p:nvSpPr>
          <p:spPr bwMode="auto">
            <a:xfrm>
              <a:off x="3938" y="2607"/>
              <a:ext cx="20" cy="5"/>
            </a:xfrm>
            <a:custGeom>
              <a:avLst/>
              <a:gdLst>
                <a:gd name="T0" fmla="*/ 1673 w 16"/>
                <a:gd name="T1" fmla="*/ 4 h 5"/>
                <a:gd name="T2" fmla="*/ 1673 w 16"/>
                <a:gd name="T3" fmla="*/ 0 h 5"/>
                <a:gd name="T4" fmla="*/ 0 w 16"/>
                <a:gd name="T5" fmla="*/ 0 h 5"/>
                <a:gd name="T6" fmla="*/ 0 w 16"/>
                <a:gd name="T7" fmla="*/ 4 h 5"/>
                <a:gd name="T8" fmla="*/ 1673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7" name="Freeform 245">
              <a:extLst>
                <a:ext uri="{FF2B5EF4-FFF2-40B4-BE49-F238E27FC236}">
                  <a16:creationId xmlns:a16="http://schemas.microsoft.com/office/drawing/2014/main" id="{EEFFFC61-3727-9D7A-5A13-98B505939904}"/>
                </a:ext>
              </a:extLst>
            </p:cNvPr>
            <p:cNvSpPr>
              <a:spLocks/>
            </p:cNvSpPr>
            <p:nvPr/>
          </p:nvSpPr>
          <p:spPr bwMode="auto">
            <a:xfrm>
              <a:off x="3820" y="2611"/>
              <a:ext cx="138" cy="116"/>
            </a:xfrm>
            <a:custGeom>
              <a:avLst/>
              <a:gdLst>
                <a:gd name="T0" fmla="*/ 1791 w 110"/>
                <a:gd name="T1" fmla="*/ 576 h 107"/>
                <a:gd name="T2" fmla="*/ 1791 w 110"/>
                <a:gd name="T3" fmla="*/ 531 h 107"/>
                <a:gd name="T4" fmla="*/ 2095 w 110"/>
                <a:gd name="T5" fmla="*/ 502 h 107"/>
                <a:gd name="T6" fmla="*/ 2385 w 110"/>
                <a:gd name="T7" fmla="*/ 463 h 107"/>
                <a:gd name="T8" fmla="*/ 3209 w 110"/>
                <a:gd name="T9" fmla="*/ 429 h 107"/>
                <a:gd name="T10" fmla="*/ 4026 w 110"/>
                <a:gd name="T11" fmla="*/ 396 h 107"/>
                <a:gd name="T12" fmla="*/ 4710 w 110"/>
                <a:gd name="T13" fmla="*/ 368 h 107"/>
                <a:gd name="T14" fmla="*/ 5900 w 110"/>
                <a:gd name="T15" fmla="*/ 337 h 107"/>
                <a:gd name="T16" fmla="*/ 6821 w 110"/>
                <a:gd name="T17" fmla="*/ 311 h 107"/>
                <a:gd name="T18" fmla="*/ 7813 w 110"/>
                <a:gd name="T19" fmla="*/ 274 h 107"/>
                <a:gd name="T20" fmla="*/ 8841 w 110"/>
                <a:gd name="T21" fmla="*/ 249 h 107"/>
                <a:gd name="T22" fmla="*/ 9802 w 110"/>
                <a:gd name="T23" fmla="*/ 212 h 107"/>
                <a:gd name="T24" fmla="*/ 10625 w 110"/>
                <a:gd name="T25" fmla="*/ 181 h 107"/>
                <a:gd name="T26" fmla="*/ 11650 w 110"/>
                <a:gd name="T27" fmla="*/ 144 h 107"/>
                <a:gd name="T28" fmla="*/ 12119 w 110"/>
                <a:gd name="T29" fmla="*/ 104 h 107"/>
                <a:gd name="T30" fmla="*/ 12513 w 110"/>
                <a:gd name="T31" fmla="*/ 50 h 107"/>
                <a:gd name="T32" fmla="*/ 12819 w 110"/>
                <a:gd name="T33" fmla="*/ 0 h 107"/>
                <a:gd name="T34" fmla="*/ 11091 w 110"/>
                <a:gd name="T35" fmla="*/ 0 h 107"/>
                <a:gd name="T36" fmla="*/ 10990 w 110"/>
                <a:gd name="T37" fmla="*/ 42 h 107"/>
                <a:gd name="T38" fmla="*/ 10735 w 110"/>
                <a:gd name="T39" fmla="*/ 69 h 107"/>
                <a:gd name="T40" fmla="*/ 10246 w 110"/>
                <a:gd name="T41" fmla="*/ 103 h 107"/>
                <a:gd name="T42" fmla="*/ 9595 w 110"/>
                <a:gd name="T43" fmla="*/ 123 h 107"/>
                <a:gd name="T44" fmla="*/ 8841 w 110"/>
                <a:gd name="T45" fmla="*/ 156 h 107"/>
                <a:gd name="T46" fmla="*/ 7950 w 110"/>
                <a:gd name="T47" fmla="*/ 183 h 107"/>
                <a:gd name="T48" fmla="*/ 6983 w 110"/>
                <a:gd name="T49" fmla="*/ 212 h 107"/>
                <a:gd name="T50" fmla="*/ 6096 w 110"/>
                <a:gd name="T51" fmla="*/ 244 h 107"/>
                <a:gd name="T52" fmla="*/ 4893 w 110"/>
                <a:gd name="T53" fmla="*/ 270 h 107"/>
                <a:gd name="T54" fmla="*/ 4026 w 110"/>
                <a:gd name="T55" fmla="*/ 297 h 107"/>
                <a:gd name="T56" fmla="*/ 2917 w 110"/>
                <a:gd name="T57" fmla="*/ 337 h 107"/>
                <a:gd name="T58" fmla="*/ 2095 w 110"/>
                <a:gd name="T59" fmla="*/ 374 h 107"/>
                <a:gd name="T60" fmla="*/ 1331 w 110"/>
                <a:gd name="T61" fmla="*/ 410 h 107"/>
                <a:gd name="T62" fmla="*/ 596 w 110"/>
                <a:gd name="T63" fmla="*/ 465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1"/>
                  </a:lnTo>
                  <a:lnTo>
                    <a:pt x="21" y="84"/>
                  </a:lnTo>
                  <a:lnTo>
                    <a:pt x="27" y="78"/>
                  </a:lnTo>
                  <a:lnTo>
                    <a:pt x="34" y="72"/>
                  </a:lnTo>
                  <a:lnTo>
                    <a:pt x="41" y="67"/>
                  </a:lnTo>
                  <a:lnTo>
                    <a:pt x="50" y="61"/>
                  </a:lnTo>
                  <a:lnTo>
                    <a:pt x="58" y="56"/>
                  </a:lnTo>
                  <a:lnTo>
                    <a:pt x="67" y="51"/>
                  </a:lnTo>
                  <a:lnTo>
                    <a:pt x="76" y="46"/>
                  </a:lnTo>
                  <a:lnTo>
                    <a:pt x="84" y="39"/>
                  </a:lnTo>
                  <a:lnTo>
                    <a:pt x="91" y="33"/>
                  </a:lnTo>
                  <a:lnTo>
                    <a:pt x="99" y="27"/>
                  </a:lnTo>
                  <a:lnTo>
                    <a:pt x="104" y="19"/>
                  </a:lnTo>
                  <a:lnTo>
                    <a:pt x="107" y="9"/>
                  </a:lnTo>
                  <a:lnTo>
                    <a:pt x="109" y="0"/>
                  </a:lnTo>
                  <a:lnTo>
                    <a:pt x="95" y="0"/>
                  </a:lnTo>
                  <a:lnTo>
                    <a:pt x="94" y="7"/>
                  </a:lnTo>
                  <a:lnTo>
                    <a:pt x="92" y="13"/>
                  </a:lnTo>
                  <a:lnTo>
                    <a:pt x="88" y="18"/>
                  </a:lnTo>
                  <a:lnTo>
                    <a:pt x="82" y="23"/>
                  </a:lnTo>
                  <a:lnTo>
                    <a:pt x="76" y="29"/>
                  </a:lnTo>
                  <a:lnTo>
                    <a:pt x="68" y="34"/>
                  </a:lnTo>
                  <a:lnTo>
                    <a:pt x="60" y="39"/>
                  </a:lnTo>
                  <a:lnTo>
                    <a:pt x="52" y="44"/>
                  </a:lnTo>
                  <a:lnTo>
                    <a:pt x="42" y="50"/>
                  </a:lnTo>
                  <a:lnTo>
                    <a:pt x="34" y="55"/>
                  </a:lnTo>
                  <a:lnTo>
                    <a:pt x="25" y="61"/>
                  </a:lnTo>
                  <a:lnTo>
                    <a:pt x="18" y="69"/>
                  </a:lnTo>
                  <a:lnTo>
                    <a:pt x="11" y="76"/>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8" name="Freeform 246">
              <a:extLst>
                <a:ext uri="{FF2B5EF4-FFF2-40B4-BE49-F238E27FC236}">
                  <a16:creationId xmlns:a16="http://schemas.microsoft.com/office/drawing/2014/main" id="{ABA2D970-CF6A-2F43-2416-973D1FA432AC}"/>
                </a:ext>
              </a:extLst>
            </p:cNvPr>
            <p:cNvSpPr>
              <a:spLocks/>
            </p:cNvSpPr>
            <p:nvPr/>
          </p:nvSpPr>
          <p:spPr bwMode="auto">
            <a:xfrm>
              <a:off x="3820" y="2726"/>
              <a:ext cx="138" cy="116"/>
            </a:xfrm>
            <a:custGeom>
              <a:avLst/>
              <a:gdLst>
                <a:gd name="T0" fmla="*/ 12819 w 110"/>
                <a:gd name="T1" fmla="*/ 576 h 107"/>
                <a:gd name="T2" fmla="*/ 12513 w 110"/>
                <a:gd name="T3" fmla="*/ 516 h 107"/>
                <a:gd name="T4" fmla="*/ 12119 w 110"/>
                <a:gd name="T5" fmla="*/ 465 h 107"/>
                <a:gd name="T6" fmla="*/ 11650 w 110"/>
                <a:gd name="T7" fmla="*/ 417 h 107"/>
                <a:gd name="T8" fmla="*/ 10625 w 110"/>
                <a:gd name="T9" fmla="*/ 378 h 107"/>
                <a:gd name="T10" fmla="*/ 9802 w 110"/>
                <a:gd name="T11" fmla="*/ 345 h 107"/>
                <a:gd name="T12" fmla="*/ 8841 w 110"/>
                <a:gd name="T13" fmla="*/ 317 h 107"/>
                <a:gd name="T14" fmla="*/ 7813 w 110"/>
                <a:gd name="T15" fmla="*/ 289 h 107"/>
                <a:gd name="T16" fmla="*/ 6821 w 110"/>
                <a:gd name="T17" fmla="*/ 265 h 107"/>
                <a:gd name="T18" fmla="*/ 5761 w 110"/>
                <a:gd name="T19" fmla="*/ 233 h 107"/>
                <a:gd name="T20" fmla="*/ 4710 w 110"/>
                <a:gd name="T21" fmla="*/ 208 h 107"/>
                <a:gd name="T22" fmla="*/ 4026 w 110"/>
                <a:gd name="T23" fmla="*/ 181 h 107"/>
                <a:gd name="T24" fmla="*/ 3209 w 110"/>
                <a:gd name="T25" fmla="*/ 144 h 107"/>
                <a:gd name="T26" fmla="*/ 2385 w 110"/>
                <a:gd name="T27" fmla="*/ 113 h 107"/>
                <a:gd name="T28" fmla="*/ 2095 w 110"/>
                <a:gd name="T29" fmla="*/ 81 h 107"/>
                <a:gd name="T30" fmla="*/ 1791 w 110"/>
                <a:gd name="T31" fmla="*/ 46 h 107"/>
                <a:gd name="T32" fmla="*/ 1791 w 110"/>
                <a:gd name="T33" fmla="*/ 0 h 107"/>
                <a:gd name="T34" fmla="*/ 0 w 110"/>
                <a:gd name="T35" fmla="*/ 0 h 107"/>
                <a:gd name="T36" fmla="*/ 302 w 110"/>
                <a:gd name="T37" fmla="*/ 59 h 107"/>
                <a:gd name="T38" fmla="*/ 596 w 110"/>
                <a:gd name="T39" fmla="*/ 113 h 107"/>
                <a:gd name="T40" fmla="*/ 1331 w 110"/>
                <a:gd name="T41" fmla="*/ 156 h 107"/>
                <a:gd name="T42" fmla="*/ 2095 w 110"/>
                <a:gd name="T43" fmla="*/ 198 h 107"/>
                <a:gd name="T44" fmla="*/ 2992 w 110"/>
                <a:gd name="T45" fmla="*/ 233 h 107"/>
                <a:gd name="T46" fmla="*/ 4026 w 110"/>
                <a:gd name="T47" fmla="*/ 270 h 107"/>
                <a:gd name="T48" fmla="*/ 5051 w 110"/>
                <a:gd name="T49" fmla="*/ 297 h 107"/>
                <a:gd name="T50" fmla="*/ 6096 w 110"/>
                <a:gd name="T51" fmla="*/ 318 h 107"/>
                <a:gd name="T52" fmla="*/ 6983 w 110"/>
                <a:gd name="T53" fmla="*/ 349 h 107"/>
                <a:gd name="T54" fmla="*/ 7950 w 110"/>
                <a:gd name="T55" fmla="*/ 378 h 107"/>
                <a:gd name="T56" fmla="*/ 8841 w 110"/>
                <a:gd name="T57" fmla="*/ 404 h 107"/>
                <a:gd name="T58" fmla="*/ 9595 w 110"/>
                <a:gd name="T59" fmla="*/ 438 h 107"/>
                <a:gd name="T60" fmla="*/ 10246 w 110"/>
                <a:gd name="T61" fmla="*/ 469 h 107"/>
                <a:gd name="T62" fmla="*/ 10735 w 110"/>
                <a:gd name="T63" fmla="*/ 504 h 107"/>
                <a:gd name="T64" fmla="*/ 10990 w 110"/>
                <a:gd name="T65" fmla="*/ 531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5"/>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7"/>
                  </a:lnTo>
                  <a:lnTo>
                    <a:pt x="26" y="43"/>
                  </a:lnTo>
                  <a:lnTo>
                    <a:pt x="34" y="50"/>
                  </a:lnTo>
                  <a:lnTo>
                    <a:pt x="43" y="55"/>
                  </a:lnTo>
                  <a:lnTo>
                    <a:pt x="52" y="59"/>
                  </a:lnTo>
                  <a:lnTo>
                    <a:pt x="60" y="65"/>
                  </a:lnTo>
                  <a:lnTo>
                    <a:pt x="68" y="70"/>
                  </a:lnTo>
                  <a:lnTo>
                    <a:pt x="76" y="74"/>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99" name="Freeform 247">
              <a:extLst>
                <a:ext uri="{FF2B5EF4-FFF2-40B4-BE49-F238E27FC236}">
                  <a16:creationId xmlns:a16="http://schemas.microsoft.com/office/drawing/2014/main" id="{5E60C9AF-7A71-4747-551F-B628795AEE4F}"/>
                </a:ext>
              </a:extLst>
            </p:cNvPr>
            <p:cNvSpPr>
              <a:spLocks/>
            </p:cNvSpPr>
            <p:nvPr/>
          </p:nvSpPr>
          <p:spPr bwMode="auto">
            <a:xfrm>
              <a:off x="3820" y="2841"/>
              <a:ext cx="138" cy="115"/>
            </a:xfrm>
            <a:custGeom>
              <a:avLst/>
              <a:gdLst>
                <a:gd name="T0" fmla="*/ 1791 w 110"/>
                <a:gd name="T1" fmla="*/ 480 h 107"/>
                <a:gd name="T2" fmla="*/ 1791 w 110"/>
                <a:gd name="T3" fmla="*/ 443 h 107"/>
                <a:gd name="T4" fmla="*/ 2095 w 110"/>
                <a:gd name="T5" fmla="*/ 408 h 107"/>
                <a:gd name="T6" fmla="*/ 2385 w 110"/>
                <a:gd name="T7" fmla="*/ 383 h 107"/>
                <a:gd name="T8" fmla="*/ 3209 w 110"/>
                <a:gd name="T9" fmla="*/ 356 h 107"/>
                <a:gd name="T10" fmla="*/ 4026 w 110"/>
                <a:gd name="T11" fmla="*/ 329 h 107"/>
                <a:gd name="T12" fmla="*/ 4710 w 110"/>
                <a:gd name="T13" fmla="*/ 306 h 107"/>
                <a:gd name="T14" fmla="*/ 5761 w 110"/>
                <a:gd name="T15" fmla="*/ 284 h 107"/>
                <a:gd name="T16" fmla="*/ 6821 w 110"/>
                <a:gd name="T17" fmla="*/ 264 h 107"/>
                <a:gd name="T18" fmla="*/ 7813 w 110"/>
                <a:gd name="T19" fmla="*/ 244 h 107"/>
                <a:gd name="T20" fmla="*/ 8841 w 110"/>
                <a:gd name="T21" fmla="*/ 218 h 107"/>
                <a:gd name="T22" fmla="*/ 9802 w 110"/>
                <a:gd name="T23" fmla="*/ 189 h 107"/>
                <a:gd name="T24" fmla="*/ 10625 w 110"/>
                <a:gd name="T25" fmla="*/ 164 h 107"/>
                <a:gd name="T26" fmla="*/ 11650 w 110"/>
                <a:gd name="T27" fmla="*/ 129 h 107"/>
                <a:gd name="T28" fmla="*/ 12119 w 110"/>
                <a:gd name="T29" fmla="*/ 90 h 107"/>
                <a:gd name="T30" fmla="*/ 12513 w 110"/>
                <a:gd name="T31" fmla="*/ 44 h 107"/>
                <a:gd name="T32" fmla="*/ 12819 w 110"/>
                <a:gd name="T33" fmla="*/ 0 h 107"/>
                <a:gd name="T34" fmla="*/ 11091 w 110"/>
                <a:gd name="T35" fmla="*/ 0 h 107"/>
                <a:gd name="T36" fmla="*/ 10990 w 110"/>
                <a:gd name="T37" fmla="*/ 38 h 107"/>
                <a:gd name="T38" fmla="*/ 10735 w 110"/>
                <a:gd name="T39" fmla="*/ 59 h 107"/>
                <a:gd name="T40" fmla="*/ 10246 w 110"/>
                <a:gd name="T41" fmla="*/ 90 h 107"/>
                <a:gd name="T42" fmla="*/ 9595 w 110"/>
                <a:gd name="T43" fmla="*/ 112 h 107"/>
                <a:gd name="T44" fmla="*/ 8841 w 110"/>
                <a:gd name="T45" fmla="*/ 139 h 107"/>
                <a:gd name="T46" fmla="*/ 7950 w 110"/>
                <a:gd name="T47" fmla="*/ 164 h 107"/>
                <a:gd name="T48" fmla="*/ 6983 w 110"/>
                <a:gd name="T49" fmla="*/ 185 h 107"/>
                <a:gd name="T50" fmla="*/ 6096 w 110"/>
                <a:gd name="T51" fmla="*/ 211 h 107"/>
                <a:gd name="T52" fmla="*/ 5051 w 110"/>
                <a:gd name="T53" fmla="*/ 230 h 107"/>
                <a:gd name="T54" fmla="*/ 4026 w 110"/>
                <a:gd name="T55" fmla="*/ 251 h 107"/>
                <a:gd name="T56" fmla="*/ 2992 w 110"/>
                <a:gd name="T57" fmla="*/ 284 h 107"/>
                <a:gd name="T58" fmla="*/ 2095 w 110"/>
                <a:gd name="T59" fmla="*/ 306 h 107"/>
                <a:gd name="T60" fmla="*/ 1331 w 110"/>
                <a:gd name="T61" fmla="*/ 353 h 107"/>
                <a:gd name="T62" fmla="*/ 596 w 110"/>
                <a:gd name="T63" fmla="*/ 383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0"/>
                  </a:lnTo>
                  <a:lnTo>
                    <a:pt x="21" y="85"/>
                  </a:lnTo>
                  <a:lnTo>
                    <a:pt x="27" y="79"/>
                  </a:lnTo>
                  <a:lnTo>
                    <a:pt x="34" y="73"/>
                  </a:lnTo>
                  <a:lnTo>
                    <a:pt x="41" y="68"/>
                  </a:lnTo>
                  <a:lnTo>
                    <a:pt x="49" y="62"/>
                  </a:lnTo>
                  <a:lnTo>
                    <a:pt x="58" y="58"/>
                  </a:lnTo>
                  <a:lnTo>
                    <a:pt x="67" y="53"/>
                  </a:lnTo>
                  <a:lnTo>
                    <a:pt x="76" y="48"/>
                  </a:lnTo>
                  <a:lnTo>
                    <a:pt x="84" y="42"/>
                  </a:lnTo>
                  <a:lnTo>
                    <a:pt x="91" y="36"/>
                  </a:lnTo>
                  <a:lnTo>
                    <a:pt x="99" y="29"/>
                  </a:lnTo>
                  <a:lnTo>
                    <a:pt x="104" y="20"/>
                  </a:lnTo>
                  <a:lnTo>
                    <a:pt x="107" y="10"/>
                  </a:lnTo>
                  <a:lnTo>
                    <a:pt x="109" y="0"/>
                  </a:lnTo>
                  <a:lnTo>
                    <a:pt x="95" y="0"/>
                  </a:lnTo>
                  <a:lnTo>
                    <a:pt x="94" y="8"/>
                  </a:lnTo>
                  <a:lnTo>
                    <a:pt x="92" y="14"/>
                  </a:lnTo>
                  <a:lnTo>
                    <a:pt x="88" y="20"/>
                  </a:lnTo>
                  <a:lnTo>
                    <a:pt x="82" y="25"/>
                  </a:lnTo>
                  <a:lnTo>
                    <a:pt x="76" y="31"/>
                  </a:lnTo>
                  <a:lnTo>
                    <a:pt x="68" y="36"/>
                  </a:lnTo>
                  <a:lnTo>
                    <a:pt x="60" y="41"/>
                  </a:lnTo>
                  <a:lnTo>
                    <a:pt x="52" y="46"/>
                  </a:lnTo>
                  <a:lnTo>
                    <a:pt x="43" y="51"/>
                  </a:lnTo>
                  <a:lnTo>
                    <a:pt x="34" y="56"/>
                  </a:lnTo>
                  <a:lnTo>
                    <a:pt x="26" y="62"/>
                  </a:lnTo>
                  <a:lnTo>
                    <a:pt x="18" y="68"/>
                  </a:lnTo>
                  <a:lnTo>
                    <a:pt x="11" y="77"/>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0" name="Freeform 248">
              <a:extLst>
                <a:ext uri="{FF2B5EF4-FFF2-40B4-BE49-F238E27FC236}">
                  <a16:creationId xmlns:a16="http://schemas.microsoft.com/office/drawing/2014/main" id="{914CDCCA-CA1F-53A3-253A-21332D2EDB68}"/>
                </a:ext>
              </a:extLst>
            </p:cNvPr>
            <p:cNvSpPr>
              <a:spLocks/>
            </p:cNvSpPr>
            <p:nvPr/>
          </p:nvSpPr>
          <p:spPr bwMode="auto">
            <a:xfrm>
              <a:off x="3820" y="2955"/>
              <a:ext cx="138" cy="117"/>
            </a:xfrm>
            <a:custGeom>
              <a:avLst/>
              <a:gdLst>
                <a:gd name="T0" fmla="*/ 12819 w 110"/>
                <a:gd name="T1" fmla="*/ 569 h 108"/>
                <a:gd name="T2" fmla="*/ 12513 w 110"/>
                <a:gd name="T3" fmla="*/ 518 h 108"/>
                <a:gd name="T4" fmla="*/ 12119 w 110"/>
                <a:gd name="T5" fmla="*/ 469 h 108"/>
                <a:gd name="T6" fmla="*/ 11650 w 110"/>
                <a:gd name="T7" fmla="*/ 427 h 108"/>
                <a:gd name="T8" fmla="*/ 10625 w 110"/>
                <a:gd name="T9" fmla="*/ 380 h 108"/>
                <a:gd name="T10" fmla="*/ 9802 w 110"/>
                <a:gd name="T11" fmla="*/ 346 h 108"/>
                <a:gd name="T12" fmla="*/ 8841 w 110"/>
                <a:gd name="T13" fmla="*/ 319 h 108"/>
                <a:gd name="T14" fmla="*/ 7813 w 110"/>
                <a:gd name="T15" fmla="*/ 293 h 108"/>
                <a:gd name="T16" fmla="*/ 6821 w 110"/>
                <a:gd name="T17" fmla="*/ 265 h 108"/>
                <a:gd name="T18" fmla="*/ 5761 w 110"/>
                <a:gd name="T19" fmla="*/ 244 h 108"/>
                <a:gd name="T20" fmla="*/ 4710 w 110"/>
                <a:gd name="T21" fmla="*/ 210 h 108"/>
                <a:gd name="T22" fmla="*/ 4026 w 110"/>
                <a:gd name="T23" fmla="*/ 182 h 108"/>
                <a:gd name="T24" fmla="*/ 3209 w 110"/>
                <a:gd name="T25" fmla="*/ 150 h 108"/>
                <a:gd name="T26" fmla="*/ 2385 w 110"/>
                <a:gd name="T27" fmla="*/ 122 h 108"/>
                <a:gd name="T28" fmla="*/ 2095 w 110"/>
                <a:gd name="T29" fmla="*/ 87 h 108"/>
                <a:gd name="T30" fmla="*/ 1791 w 110"/>
                <a:gd name="T31" fmla="*/ 50 h 108"/>
                <a:gd name="T32" fmla="*/ 1791 w 110"/>
                <a:gd name="T33" fmla="*/ 0 h 108"/>
                <a:gd name="T34" fmla="*/ 0 w 110"/>
                <a:gd name="T35" fmla="*/ 0 h 108"/>
                <a:gd name="T36" fmla="*/ 302 w 110"/>
                <a:gd name="T37" fmla="*/ 63 h 108"/>
                <a:gd name="T38" fmla="*/ 596 w 110"/>
                <a:gd name="T39" fmla="*/ 113 h 108"/>
                <a:gd name="T40" fmla="*/ 1331 w 110"/>
                <a:gd name="T41" fmla="*/ 163 h 108"/>
                <a:gd name="T42" fmla="*/ 2095 w 110"/>
                <a:gd name="T43" fmla="*/ 208 h 108"/>
                <a:gd name="T44" fmla="*/ 2992 w 110"/>
                <a:gd name="T45" fmla="*/ 245 h 108"/>
                <a:gd name="T46" fmla="*/ 4026 w 110"/>
                <a:gd name="T47" fmla="*/ 270 h 108"/>
                <a:gd name="T48" fmla="*/ 5051 w 110"/>
                <a:gd name="T49" fmla="*/ 310 h 108"/>
                <a:gd name="T50" fmla="*/ 6096 w 110"/>
                <a:gd name="T51" fmla="*/ 336 h 108"/>
                <a:gd name="T52" fmla="*/ 6983 w 110"/>
                <a:gd name="T53" fmla="*/ 364 h 108"/>
                <a:gd name="T54" fmla="*/ 7950 w 110"/>
                <a:gd name="T55" fmla="*/ 380 h 108"/>
                <a:gd name="T56" fmla="*/ 8841 w 110"/>
                <a:gd name="T57" fmla="*/ 406 h 108"/>
                <a:gd name="T58" fmla="*/ 9595 w 110"/>
                <a:gd name="T59" fmla="*/ 440 h 108"/>
                <a:gd name="T60" fmla="*/ 10246 w 110"/>
                <a:gd name="T61" fmla="*/ 473 h 108"/>
                <a:gd name="T62" fmla="*/ 10735 w 110"/>
                <a:gd name="T63" fmla="*/ 503 h 108"/>
                <a:gd name="T64" fmla="*/ 10990 w 110"/>
                <a:gd name="T65" fmla="*/ 525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7"/>
                  </a:lnTo>
                  <a:lnTo>
                    <a:pt x="104" y="87"/>
                  </a:lnTo>
                  <a:lnTo>
                    <a:pt x="99" y="78"/>
                  </a:lnTo>
                  <a:lnTo>
                    <a:pt x="91" y="71"/>
                  </a:lnTo>
                  <a:lnTo>
                    <a:pt x="84" y="65"/>
                  </a:lnTo>
                  <a:lnTo>
                    <a:pt x="76" y="60"/>
                  </a:lnTo>
                  <a:lnTo>
                    <a:pt x="67" y="54"/>
                  </a:lnTo>
                  <a:lnTo>
                    <a:pt x="58" y="49"/>
                  </a:lnTo>
                  <a:lnTo>
                    <a:pt x="49" y="44"/>
                  </a:lnTo>
                  <a:lnTo>
                    <a:pt x="41" y="39"/>
                  </a:lnTo>
                  <a:lnTo>
                    <a:pt x="34" y="34"/>
                  </a:lnTo>
                  <a:lnTo>
                    <a:pt x="27" y="28"/>
                  </a:lnTo>
                  <a:lnTo>
                    <a:pt x="21" y="23"/>
                  </a:lnTo>
                  <a:lnTo>
                    <a:pt x="18" y="16"/>
                  </a:lnTo>
                  <a:lnTo>
                    <a:pt x="15" y="9"/>
                  </a:lnTo>
                  <a:lnTo>
                    <a:pt x="15" y="0"/>
                  </a:lnTo>
                  <a:lnTo>
                    <a:pt x="0" y="0"/>
                  </a:lnTo>
                  <a:lnTo>
                    <a:pt x="2" y="12"/>
                  </a:lnTo>
                  <a:lnTo>
                    <a:pt x="5" y="21"/>
                  </a:lnTo>
                  <a:lnTo>
                    <a:pt x="11" y="30"/>
                  </a:lnTo>
                  <a:lnTo>
                    <a:pt x="18" y="38"/>
                  </a:lnTo>
                  <a:lnTo>
                    <a:pt x="26" y="45"/>
                  </a:lnTo>
                  <a:lnTo>
                    <a:pt x="34" y="50"/>
                  </a:lnTo>
                  <a:lnTo>
                    <a:pt x="43" y="56"/>
                  </a:lnTo>
                  <a:lnTo>
                    <a:pt x="52" y="61"/>
                  </a:lnTo>
                  <a:lnTo>
                    <a:pt x="60" y="66"/>
                  </a:lnTo>
                  <a:lnTo>
                    <a:pt x="68" y="71"/>
                  </a:lnTo>
                  <a:lnTo>
                    <a:pt x="76" y="76"/>
                  </a:lnTo>
                  <a:lnTo>
                    <a:pt x="82" y="82"/>
                  </a:lnTo>
                  <a:lnTo>
                    <a:pt x="88" y="88"/>
                  </a:lnTo>
                  <a:lnTo>
                    <a:pt x="92" y="93"/>
                  </a:lnTo>
                  <a:lnTo>
                    <a:pt x="94" y="99"/>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1" name="Freeform 249">
              <a:extLst>
                <a:ext uri="{FF2B5EF4-FFF2-40B4-BE49-F238E27FC236}">
                  <a16:creationId xmlns:a16="http://schemas.microsoft.com/office/drawing/2014/main" id="{26A0F622-359A-7502-1887-E064DA88B959}"/>
                </a:ext>
              </a:extLst>
            </p:cNvPr>
            <p:cNvSpPr>
              <a:spLocks/>
            </p:cNvSpPr>
            <p:nvPr/>
          </p:nvSpPr>
          <p:spPr bwMode="auto">
            <a:xfrm>
              <a:off x="3820" y="3071"/>
              <a:ext cx="138" cy="100"/>
            </a:xfrm>
            <a:custGeom>
              <a:avLst/>
              <a:gdLst>
                <a:gd name="T0" fmla="*/ 1791 w 110"/>
                <a:gd name="T1" fmla="*/ 419 h 93"/>
                <a:gd name="T2" fmla="*/ 1901 w 110"/>
                <a:gd name="T3" fmla="*/ 378 h 93"/>
                <a:gd name="T4" fmla="*/ 2992 w 110"/>
                <a:gd name="T5" fmla="*/ 331 h 93"/>
                <a:gd name="T6" fmla="*/ 4710 w 110"/>
                <a:gd name="T7" fmla="*/ 292 h 93"/>
                <a:gd name="T8" fmla="*/ 6821 w 110"/>
                <a:gd name="T9" fmla="*/ 261 h 93"/>
                <a:gd name="T10" fmla="*/ 8841 w 110"/>
                <a:gd name="T11" fmla="*/ 214 h 93"/>
                <a:gd name="T12" fmla="*/ 10625 w 110"/>
                <a:gd name="T13" fmla="*/ 160 h 93"/>
                <a:gd name="T14" fmla="*/ 12119 w 110"/>
                <a:gd name="T15" fmla="*/ 95 h 93"/>
                <a:gd name="T16" fmla="*/ 12819 w 110"/>
                <a:gd name="T17" fmla="*/ 0 h 93"/>
                <a:gd name="T18" fmla="*/ 11091 w 110"/>
                <a:gd name="T19" fmla="*/ 0 h 93"/>
                <a:gd name="T20" fmla="*/ 10735 w 110"/>
                <a:gd name="T21" fmla="*/ 61 h 93"/>
                <a:gd name="T22" fmla="*/ 9595 w 110"/>
                <a:gd name="T23" fmla="*/ 112 h 93"/>
                <a:gd name="T24" fmla="*/ 7950 w 110"/>
                <a:gd name="T25" fmla="*/ 160 h 93"/>
                <a:gd name="T26" fmla="*/ 6096 w 110"/>
                <a:gd name="T27" fmla="*/ 199 h 93"/>
                <a:gd name="T28" fmla="*/ 4026 w 110"/>
                <a:gd name="T29" fmla="*/ 245 h 93"/>
                <a:gd name="T30" fmla="*/ 2247 w 110"/>
                <a:gd name="T31" fmla="*/ 286 h 93"/>
                <a:gd name="T32" fmla="*/ 748 w 110"/>
                <a:gd name="T33" fmla="*/ 349 h 93"/>
                <a:gd name="T34" fmla="*/ 0 w 110"/>
                <a:gd name="T35" fmla="*/ 419 h 93"/>
                <a:gd name="T36" fmla="*/ 1791 w 110"/>
                <a:gd name="T37" fmla="*/ 419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3"/>
                <a:gd name="T59" fmla="*/ 110 w 110"/>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3">
                  <a:moveTo>
                    <a:pt x="15" y="92"/>
                  </a:moveTo>
                  <a:lnTo>
                    <a:pt x="17" y="82"/>
                  </a:lnTo>
                  <a:lnTo>
                    <a:pt x="26" y="73"/>
                  </a:lnTo>
                  <a:lnTo>
                    <a:pt x="41" y="64"/>
                  </a:lnTo>
                  <a:lnTo>
                    <a:pt x="58" y="56"/>
                  </a:lnTo>
                  <a:lnTo>
                    <a:pt x="76" y="47"/>
                  </a:lnTo>
                  <a:lnTo>
                    <a:pt x="91" y="35"/>
                  </a:lnTo>
                  <a:lnTo>
                    <a:pt x="104" y="20"/>
                  </a:lnTo>
                  <a:lnTo>
                    <a:pt x="109" y="0"/>
                  </a:lnTo>
                  <a:lnTo>
                    <a:pt x="95" y="0"/>
                  </a:lnTo>
                  <a:lnTo>
                    <a:pt x="92" y="14"/>
                  </a:lnTo>
                  <a:lnTo>
                    <a:pt x="82" y="25"/>
                  </a:lnTo>
                  <a:lnTo>
                    <a:pt x="68" y="35"/>
                  </a:lnTo>
                  <a:lnTo>
                    <a:pt x="52" y="44"/>
                  </a:lnTo>
                  <a:lnTo>
                    <a:pt x="34" y="53"/>
                  </a:lnTo>
                  <a:lnTo>
                    <a:pt x="19" y="63"/>
                  </a:lnTo>
                  <a:lnTo>
                    <a:pt x="6" y="75"/>
                  </a:lnTo>
                  <a:lnTo>
                    <a:pt x="0" y="92"/>
                  </a:lnTo>
                  <a:lnTo>
                    <a:pt x="15" y="9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2" name="Freeform 250">
              <a:extLst>
                <a:ext uri="{FF2B5EF4-FFF2-40B4-BE49-F238E27FC236}">
                  <a16:creationId xmlns:a16="http://schemas.microsoft.com/office/drawing/2014/main" id="{3B115AC9-43A6-A3B3-019F-5EBD930669AE}"/>
                </a:ext>
              </a:extLst>
            </p:cNvPr>
            <p:cNvSpPr>
              <a:spLocks/>
            </p:cNvSpPr>
            <p:nvPr/>
          </p:nvSpPr>
          <p:spPr bwMode="auto">
            <a:xfrm>
              <a:off x="3820" y="3170"/>
              <a:ext cx="19" cy="2"/>
            </a:xfrm>
            <a:custGeom>
              <a:avLst/>
              <a:gdLst>
                <a:gd name="T0" fmla="*/ 2080 w 15"/>
                <a:gd name="T1" fmla="*/ 1 h 2"/>
                <a:gd name="T2" fmla="*/ 2080 w 15"/>
                <a:gd name="T3" fmla="*/ 0 h 2"/>
                <a:gd name="T4" fmla="*/ 0 w 15"/>
                <a:gd name="T5" fmla="*/ 0 h 2"/>
                <a:gd name="T6" fmla="*/ 0 w 15"/>
                <a:gd name="T7" fmla="*/ 1 h 2"/>
                <a:gd name="T8" fmla="*/ 2080 w 15"/>
                <a:gd name="T9" fmla="*/ 1 h 2"/>
                <a:gd name="T10" fmla="*/ 0 60000 65536"/>
                <a:gd name="T11" fmla="*/ 0 60000 65536"/>
                <a:gd name="T12" fmla="*/ 0 60000 65536"/>
                <a:gd name="T13" fmla="*/ 0 60000 65536"/>
                <a:gd name="T14" fmla="*/ 0 60000 65536"/>
                <a:gd name="T15" fmla="*/ 0 w 15"/>
                <a:gd name="T16" fmla="*/ 0 h 2"/>
                <a:gd name="T17" fmla="*/ 15 w 15"/>
                <a:gd name="T18" fmla="*/ 2 h 2"/>
              </a:gdLst>
              <a:ahLst/>
              <a:cxnLst>
                <a:cxn ang="T10">
                  <a:pos x="T0" y="T1"/>
                </a:cxn>
                <a:cxn ang="T11">
                  <a:pos x="T2" y="T3"/>
                </a:cxn>
                <a:cxn ang="T12">
                  <a:pos x="T4" y="T5"/>
                </a:cxn>
                <a:cxn ang="T13">
                  <a:pos x="T6" y="T7"/>
                </a:cxn>
                <a:cxn ang="T14">
                  <a:pos x="T8" y="T9"/>
                </a:cxn>
              </a:cxnLst>
              <a:rect l="T15" t="T16" r="T17" b="T18"/>
              <a:pathLst>
                <a:path w="15" h="2">
                  <a:moveTo>
                    <a:pt x="14" y="1"/>
                  </a:moveTo>
                  <a:lnTo>
                    <a:pt x="14" y="0"/>
                  </a:lnTo>
                  <a:lnTo>
                    <a:pt x="0" y="0"/>
                  </a:lnTo>
                  <a:lnTo>
                    <a:pt x="0" y="1"/>
                  </a:lnTo>
                  <a:lnTo>
                    <a:pt x="14" y="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3" name="Freeform 251">
              <a:extLst>
                <a:ext uri="{FF2B5EF4-FFF2-40B4-BE49-F238E27FC236}">
                  <a16:creationId xmlns:a16="http://schemas.microsoft.com/office/drawing/2014/main" id="{145D190E-2E37-9A9A-48F3-66BDD40EE17B}"/>
                </a:ext>
              </a:extLst>
            </p:cNvPr>
            <p:cNvSpPr>
              <a:spLocks/>
            </p:cNvSpPr>
            <p:nvPr/>
          </p:nvSpPr>
          <p:spPr bwMode="auto">
            <a:xfrm>
              <a:off x="3820" y="3171"/>
              <a:ext cx="138" cy="116"/>
            </a:xfrm>
            <a:custGeom>
              <a:avLst/>
              <a:gdLst>
                <a:gd name="T0" fmla="*/ 12819 w 110"/>
                <a:gd name="T1" fmla="*/ 576 h 107"/>
                <a:gd name="T2" fmla="*/ 12513 w 110"/>
                <a:gd name="T3" fmla="*/ 521 h 107"/>
                <a:gd name="T4" fmla="*/ 12119 w 110"/>
                <a:gd name="T5" fmla="*/ 469 h 107"/>
                <a:gd name="T6" fmla="*/ 11650 w 110"/>
                <a:gd name="T7" fmla="*/ 433 h 107"/>
                <a:gd name="T8" fmla="*/ 10625 w 110"/>
                <a:gd name="T9" fmla="*/ 399 h 107"/>
                <a:gd name="T10" fmla="*/ 9660 w 110"/>
                <a:gd name="T11" fmla="*/ 368 h 107"/>
                <a:gd name="T12" fmla="*/ 8760 w 110"/>
                <a:gd name="T13" fmla="*/ 344 h 107"/>
                <a:gd name="T14" fmla="*/ 7813 w 110"/>
                <a:gd name="T15" fmla="*/ 317 h 107"/>
                <a:gd name="T16" fmla="*/ 6821 w 110"/>
                <a:gd name="T17" fmla="*/ 297 h 107"/>
                <a:gd name="T18" fmla="*/ 5761 w 110"/>
                <a:gd name="T19" fmla="*/ 270 h 107"/>
                <a:gd name="T20" fmla="*/ 4710 w 110"/>
                <a:gd name="T21" fmla="*/ 246 h 107"/>
                <a:gd name="T22" fmla="*/ 4026 w 110"/>
                <a:gd name="T23" fmla="*/ 215 h 107"/>
                <a:gd name="T24" fmla="*/ 3288 w 110"/>
                <a:gd name="T25" fmla="*/ 183 h 107"/>
                <a:gd name="T26" fmla="*/ 2621 w 110"/>
                <a:gd name="T27" fmla="*/ 144 h 107"/>
                <a:gd name="T28" fmla="*/ 2095 w 110"/>
                <a:gd name="T29" fmla="*/ 112 h 107"/>
                <a:gd name="T30" fmla="*/ 1791 w 110"/>
                <a:gd name="T31" fmla="*/ 59 h 107"/>
                <a:gd name="T32" fmla="*/ 1791 w 110"/>
                <a:gd name="T33" fmla="*/ 0 h 107"/>
                <a:gd name="T34" fmla="*/ 0 w 110"/>
                <a:gd name="T35" fmla="*/ 0 h 107"/>
                <a:gd name="T36" fmla="*/ 302 w 110"/>
                <a:gd name="T37" fmla="*/ 75 h 107"/>
                <a:gd name="T38" fmla="*/ 596 w 110"/>
                <a:gd name="T39" fmla="*/ 133 h 107"/>
                <a:gd name="T40" fmla="*/ 1177 w 110"/>
                <a:gd name="T41" fmla="*/ 192 h 107"/>
                <a:gd name="T42" fmla="*/ 1901 w 110"/>
                <a:gd name="T43" fmla="*/ 244 h 107"/>
                <a:gd name="T44" fmla="*/ 2992 w 110"/>
                <a:gd name="T45" fmla="*/ 274 h 107"/>
                <a:gd name="T46" fmla="*/ 4026 w 110"/>
                <a:gd name="T47" fmla="*/ 313 h 107"/>
                <a:gd name="T48" fmla="*/ 5051 w 110"/>
                <a:gd name="T49" fmla="*/ 339 h 107"/>
                <a:gd name="T50" fmla="*/ 6096 w 110"/>
                <a:gd name="T51" fmla="*/ 365 h 107"/>
                <a:gd name="T52" fmla="*/ 6983 w 110"/>
                <a:gd name="T53" fmla="*/ 378 h 107"/>
                <a:gd name="T54" fmla="*/ 8145 w 110"/>
                <a:gd name="T55" fmla="*/ 405 h 107"/>
                <a:gd name="T56" fmla="*/ 8841 w 110"/>
                <a:gd name="T57" fmla="*/ 433 h 107"/>
                <a:gd name="T58" fmla="*/ 9660 w 110"/>
                <a:gd name="T59" fmla="*/ 452 h 107"/>
                <a:gd name="T60" fmla="*/ 10246 w 110"/>
                <a:gd name="T61" fmla="*/ 476 h 107"/>
                <a:gd name="T62" fmla="*/ 10735 w 110"/>
                <a:gd name="T63" fmla="*/ 508 h 107"/>
                <a:gd name="T64" fmla="*/ 10990 w 110"/>
                <a:gd name="T65" fmla="*/ 544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6"/>
                  </a:lnTo>
                  <a:lnTo>
                    <a:pt x="104" y="86"/>
                  </a:lnTo>
                  <a:lnTo>
                    <a:pt x="99" y="79"/>
                  </a:lnTo>
                  <a:lnTo>
                    <a:pt x="91" y="73"/>
                  </a:lnTo>
                  <a:lnTo>
                    <a:pt x="83" y="67"/>
                  </a:lnTo>
                  <a:lnTo>
                    <a:pt x="75" y="63"/>
                  </a:lnTo>
                  <a:lnTo>
                    <a:pt x="67" y="58"/>
                  </a:lnTo>
                  <a:lnTo>
                    <a:pt x="58" y="55"/>
                  </a:lnTo>
                  <a:lnTo>
                    <a:pt x="49" y="50"/>
                  </a:lnTo>
                  <a:lnTo>
                    <a:pt x="41" y="45"/>
                  </a:lnTo>
                  <a:lnTo>
                    <a:pt x="34" y="40"/>
                  </a:lnTo>
                  <a:lnTo>
                    <a:pt x="28" y="34"/>
                  </a:lnTo>
                  <a:lnTo>
                    <a:pt x="22" y="27"/>
                  </a:lnTo>
                  <a:lnTo>
                    <a:pt x="18" y="20"/>
                  </a:lnTo>
                  <a:lnTo>
                    <a:pt x="15" y="11"/>
                  </a:lnTo>
                  <a:lnTo>
                    <a:pt x="15" y="0"/>
                  </a:lnTo>
                  <a:lnTo>
                    <a:pt x="0" y="0"/>
                  </a:lnTo>
                  <a:lnTo>
                    <a:pt x="2" y="14"/>
                  </a:lnTo>
                  <a:lnTo>
                    <a:pt x="5" y="25"/>
                  </a:lnTo>
                  <a:lnTo>
                    <a:pt x="10" y="35"/>
                  </a:lnTo>
                  <a:lnTo>
                    <a:pt x="17" y="44"/>
                  </a:lnTo>
                  <a:lnTo>
                    <a:pt x="26" y="51"/>
                  </a:lnTo>
                  <a:lnTo>
                    <a:pt x="34" y="57"/>
                  </a:lnTo>
                  <a:lnTo>
                    <a:pt x="43" y="62"/>
                  </a:lnTo>
                  <a:lnTo>
                    <a:pt x="52" y="66"/>
                  </a:lnTo>
                  <a:lnTo>
                    <a:pt x="60" y="70"/>
                  </a:lnTo>
                  <a:lnTo>
                    <a:pt x="69" y="75"/>
                  </a:lnTo>
                  <a:lnTo>
                    <a:pt x="76" y="79"/>
                  </a:lnTo>
                  <a:lnTo>
                    <a:pt x="83" y="83"/>
                  </a:lnTo>
                  <a:lnTo>
                    <a:pt x="88" y="88"/>
                  </a:lnTo>
                  <a:lnTo>
                    <a:pt x="92" y="93"/>
                  </a:lnTo>
                  <a:lnTo>
                    <a:pt x="94" y="99"/>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4" name="Freeform 252">
              <a:extLst>
                <a:ext uri="{FF2B5EF4-FFF2-40B4-BE49-F238E27FC236}">
                  <a16:creationId xmlns:a16="http://schemas.microsoft.com/office/drawing/2014/main" id="{146076C9-4FD8-098D-01E9-02C335573F91}"/>
                </a:ext>
              </a:extLst>
            </p:cNvPr>
            <p:cNvSpPr>
              <a:spLocks/>
            </p:cNvSpPr>
            <p:nvPr/>
          </p:nvSpPr>
          <p:spPr bwMode="auto">
            <a:xfrm>
              <a:off x="3820" y="3286"/>
              <a:ext cx="138" cy="117"/>
            </a:xfrm>
            <a:custGeom>
              <a:avLst/>
              <a:gdLst>
                <a:gd name="T0" fmla="*/ 1791 w 110"/>
                <a:gd name="T1" fmla="*/ 569 h 108"/>
                <a:gd name="T2" fmla="*/ 1791 w 110"/>
                <a:gd name="T3" fmla="*/ 523 h 108"/>
                <a:gd name="T4" fmla="*/ 2095 w 110"/>
                <a:gd name="T5" fmla="*/ 490 h 108"/>
                <a:gd name="T6" fmla="*/ 2385 w 110"/>
                <a:gd name="T7" fmla="*/ 463 h 108"/>
                <a:gd name="T8" fmla="*/ 3209 w 110"/>
                <a:gd name="T9" fmla="*/ 433 h 108"/>
                <a:gd name="T10" fmla="*/ 4026 w 110"/>
                <a:gd name="T11" fmla="*/ 395 h 108"/>
                <a:gd name="T12" fmla="*/ 4710 w 110"/>
                <a:gd name="T13" fmla="*/ 372 h 108"/>
                <a:gd name="T14" fmla="*/ 5761 w 110"/>
                <a:gd name="T15" fmla="*/ 339 h 108"/>
                <a:gd name="T16" fmla="*/ 6821 w 110"/>
                <a:gd name="T17" fmla="*/ 313 h 108"/>
                <a:gd name="T18" fmla="*/ 7813 w 110"/>
                <a:gd name="T19" fmla="*/ 287 h 108"/>
                <a:gd name="T20" fmla="*/ 8841 w 110"/>
                <a:gd name="T21" fmla="*/ 264 h 108"/>
                <a:gd name="T22" fmla="*/ 9802 w 110"/>
                <a:gd name="T23" fmla="*/ 230 h 108"/>
                <a:gd name="T24" fmla="*/ 10625 w 110"/>
                <a:gd name="T25" fmla="*/ 194 h 108"/>
                <a:gd name="T26" fmla="*/ 11650 w 110"/>
                <a:gd name="T27" fmla="*/ 155 h 108"/>
                <a:gd name="T28" fmla="*/ 12119 w 110"/>
                <a:gd name="T29" fmla="*/ 113 h 108"/>
                <a:gd name="T30" fmla="*/ 12513 w 110"/>
                <a:gd name="T31" fmla="*/ 58 h 108"/>
                <a:gd name="T32" fmla="*/ 12819 w 110"/>
                <a:gd name="T33" fmla="*/ 0 h 108"/>
                <a:gd name="T34" fmla="*/ 11091 w 110"/>
                <a:gd name="T35" fmla="*/ 0 h 108"/>
                <a:gd name="T36" fmla="*/ 10990 w 110"/>
                <a:gd name="T37" fmla="*/ 46 h 108"/>
                <a:gd name="T38" fmla="*/ 10735 w 110"/>
                <a:gd name="T39" fmla="*/ 74 h 108"/>
                <a:gd name="T40" fmla="*/ 10246 w 110"/>
                <a:gd name="T41" fmla="*/ 110 h 108"/>
                <a:gd name="T42" fmla="*/ 9595 w 110"/>
                <a:gd name="T43" fmla="*/ 138 h 108"/>
                <a:gd name="T44" fmla="*/ 8841 w 110"/>
                <a:gd name="T45" fmla="*/ 177 h 108"/>
                <a:gd name="T46" fmla="*/ 7950 w 110"/>
                <a:gd name="T47" fmla="*/ 194 h 108"/>
                <a:gd name="T48" fmla="*/ 6983 w 110"/>
                <a:gd name="T49" fmla="*/ 225 h 108"/>
                <a:gd name="T50" fmla="*/ 6096 w 110"/>
                <a:gd name="T51" fmla="*/ 250 h 108"/>
                <a:gd name="T52" fmla="*/ 5051 w 110"/>
                <a:gd name="T53" fmla="*/ 286 h 108"/>
                <a:gd name="T54" fmla="*/ 4026 w 110"/>
                <a:gd name="T55" fmla="*/ 311 h 108"/>
                <a:gd name="T56" fmla="*/ 2992 w 110"/>
                <a:gd name="T57" fmla="*/ 339 h 108"/>
                <a:gd name="T58" fmla="*/ 2095 w 110"/>
                <a:gd name="T59" fmla="*/ 372 h 108"/>
                <a:gd name="T60" fmla="*/ 1331 w 110"/>
                <a:gd name="T61" fmla="*/ 412 h 108"/>
                <a:gd name="T62" fmla="*/ 596 w 110"/>
                <a:gd name="T63" fmla="*/ 464 h 108"/>
                <a:gd name="T64" fmla="*/ 302 w 110"/>
                <a:gd name="T65" fmla="*/ 517 h 108"/>
                <a:gd name="T66" fmla="*/ 0 w 110"/>
                <a:gd name="T67" fmla="*/ 569 h 108"/>
                <a:gd name="T68" fmla="*/ 1791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5" y="107"/>
                  </a:moveTo>
                  <a:lnTo>
                    <a:pt x="15" y="98"/>
                  </a:lnTo>
                  <a:lnTo>
                    <a:pt x="18" y="91"/>
                  </a:lnTo>
                  <a:lnTo>
                    <a:pt x="21" y="85"/>
                  </a:lnTo>
                  <a:lnTo>
                    <a:pt x="27" y="80"/>
                  </a:lnTo>
                  <a:lnTo>
                    <a:pt x="34" y="73"/>
                  </a:lnTo>
                  <a:lnTo>
                    <a:pt x="41" y="69"/>
                  </a:lnTo>
                  <a:lnTo>
                    <a:pt x="49" y="63"/>
                  </a:lnTo>
                  <a:lnTo>
                    <a:pt x="58" y="58"/>
                  </a:lnTo>
                  <a:lnTo>
                    <a:pt x="67" y="53"/>
                  </a:lnTo>
                  <a:lnTo>
                    <a:pt x="76" y="48"/>
                  </a:lnTo>
                  <a:lnTo>
                    <a:pt x="84" y="42"/>
                  </a:lnTo>
                  <a:lnTo>
                    <a:pt x="91" y="36"/>
                  </a:lnTo>
                  <a:lnTo>
                    <a:pt x="99" y="29"/>
                  </a:lnTo>
                  <a:lnTo>
                    <a:pt x="104" y="21"/>
                  </a:lnTo>
                  <a:lnTo>
                    <a:pt x="107" y="11"/>
                  </a:lnTo>
                  <a:lnTo>
                    <a:pt x="109" y="0"/>
                  </a:lnTo>
                  <a:lnTo>
                    <a:pt x="95" y="0"/>
                  </a:lnTo>
                  <a:lnTo>
                    <a:pt x="94" y="8"/>
                  </a:lnTo>
                  <a:lnTo>
                    <a:pt x="92" y="14"/>
                  </a:lnTo>
                  <a:lnTo>
                    <a:pt x="88" y="20"/>
                  </a:lnTo>
                  <a:lnTo>
                    <a:pt x="82" y="26"/>
                  </a:lnTo>
                  <a:lnTo>
                    <a:pt x="76" y="32"/>
                  </a:lnTo>
                  <a:lnTo>
                    <a:pt x="68" y="36"/>
                  </a:lnTo>
                  <a:lnTo>
                    <a:pt x="60" y="41"/>
                  </a:lnTo>
                  <a:lnTo>
                    <a:pt x="52" y="47"/>
                  </a:lnTo>
                  <a:lnTo>
                    <a:pt x="43" y="52"/>
                  </a:lnTo>
                  <a:lnTo>
                    <a:pt x="34" y="57"/>
                  </a:lnTo>
                  <a:lnTo>
                    <a:pt x="26" y="63"/>
                  </a:lnTo>
                  <a:lnTo>
                    <a:pt x="18" y="69"/>
                  </a:lnTo>
                  <a:lnTo>
                    <a:pt x="11" y="77"/>
                  </a:lnTo>
                  <a:lnTo>
                    <a:pt x="5" y="86"/>
                  </a:lnTo>
                  <a:lnTo>
                    <a:pt x="2" y="96"/>
                  </a:lnTo>
                  <a:lnTo>
                    <a:pt x="0" y="107"/>
                  </a:lnTo>
                  <a:lnTo>
                    <a:pt x="15"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5" name="Freeform 253">
              <a:extLst>
                <a:ext uri="{FF2B5EF4-FFF2-40B4-BE49-F238E27FC236}">
                  <a16:creationId xmlns:a16="http://schemas.microsoft.com/office/drawing/2014/main" id="{24A8C7A9-3797-0528-0545-5CD532D6D780}"/>
                </a:ext>
              </a:extLst>
            </p:cNvPr>
            <p:cNvSpPr>
              <a:spLocks/>
            </p:cNvSpPr>
            <p:nvPr/>
          </p:nvSpPr>
          <p:spPr bwMode="auto">
            <a:xfrm>
              <a:off x="3820" y="3402"/>
              <a:ext cx="138" cy="115"/>
            </a:xfrm>
            <a:custGeom>
              <a:avLst/>
              <a:gdLst>
                <a:gd name="T0" fmla="*/ 12819 w 110"/>
                <a:gd name="T1" fmla="*/ 480 h 107"/>
                <a:gd name="T2" fmla="*/ 12513 w 110"/>
                <a:gd name="T3" fmla="*/ 434 h 107"/>
                <a:gd name="T4" fmla="*/ 12119 w 110"/>
                <a:gd name="T5" fmla="*/ 387 h 107"/>
                <a:gd name="T6" fmla="*/ 11650 w 110"/>
                <a:gd name="T7" fmla="*/ 353 h 107"/>
                <a:gd name="T8" fmla="*/ 10625 w 110"/>
                <a:gd name="T9" fmla="*/ 325 h 107"/>
                <a:gd name="T10" fmla="*/ 9802 w 110"/>
                <a:gd name="T11" fmla="*/ 290 h 107"/>
                <a:gd name="T12" fmla="*/ 8841 w 110"/>
                <a:gd name="T13" fmla="*/ 264 h 107"/>
                <a:gd name="T14" fmla="*/ 7813 w 110"/>
                <a:gd name="T15" fmla="*/ 244 h 107"/>
                <a:gd name="T16" fmla="*/ 6821 w 110"/>
                <a:gd name="T17" fmla="*/ 218 h 107"/>
                <a:gd name="T18" fmla="*/ 5761 w 110"/>
                <a:gd name="T19" fmla="*/ 196 h 107"/>
                <a:gd name="T20" fmla="*/ 4710 w 110"/>
                <a:gd name="T21" fmla="*/ 172 h 107"/>
                <a:gd name="T22" fmla="*/ 4026 w 110"/>
                <a:gd name="T23" fmla="*/ 149 h 107"/>
                <a:gd name="T24" fmla="*/ 3209 w 110"/>
                <a:gd name="T25" fmla="*/ 120 h 107"/>
                <a:gd name="T26" fmla="*/ 2385 w 110"/>
                <a:gd name="T27" fmla="*/ 97 h 107"/>
                <a:gd name="T28" fmla="*/ 2095 w 110"/>
                <a:gd name="T29" fmla="*/ 63 h 107"/>
                <a:gd name="T30" fmla="*/ 1791 w 110"/>
                <a:gd name="T31" fmla="*/ 38 h 107"/>
                <a:gd name="T32" fmla="*/ 1791 w 110"/>
                <a:gd name="T33" fmla="*/ 0 h 107"/>
                <a:gd name="T34" fmla="*/ 0 w 110"/>
                <a:gd name="T35" fmla="*/ 0 h 107"/>
                <a:gd name="T36" fmla="*/ 302 w 110"/>
                <a:gd name="T37" fmla="*/ 47 h 107"/>
                <a:gd name="T38" fmla="*/ 596 w 110"/>
                <a:gd name="T39" fmla="*/ 97 h 107"/>
                <a:gd name="T40" fmla="*/ 1331 w 110"/>
                <a:gd name="T41" fmla="*/ 129 h 107"/>
                <a:gd name="T42" fmla="*/ 2095 w 110"/>
                <a:gd name="T43" fmla="*/ 172 h 107"/>
                <a:gd name="T44" fmla="*/ 2992 w 110"/>
                <a:gd name="T45" fmla="*/ 196 h 107"/>
                <a:gd name="T46" fmla="*/ 4026 w 110"/>
                <a:gd name="T47" fmla="*/ 229 h 107"/>
                <a:gd name="T48" fmla="*/ 5051 w 110"/>
                <a:gd name="T49" fmla="*/ 247 h 107"/>
                <a:gd name="T50" fmla="*/ 6096 w 110"/>
                <a:gd name="T51" fmla="*/ 270 h 107"/>
                <a:gd name="T52" fmla="*/ 6983 w 110"/>
                <a:gd name="T53" fmla="*/ 302 h 107"/>
                <a:gd name="T54" fmla="*/ 7950 w 110"/>
                <a:gd name="T55" fmla="*/ 325 h 107"/>
                <a:gd name="T56" fmla="*/ 8841 w 110"/>
                <a:gd name="T57" fmla="*/ 349 h 107"/>
                <a:gd name="T58" fmla="*/ 9595 w 110"/>
                <a:gd name="T59" fmla="*/ 360 h 107"/>
                <a:gd name="T60" fmla="*/ 10246 w 110"/>
                <a:gd name="T61" fmla="*/ 387 h 107"/>
                <a:gd name="T62" fmla="*/ 10735 w 110"/>
                <a:gd name="T63" fmla="*/ 416 h 107"/>
                <a:gd name="T64" fmla="*/ 10990 w 110"/>
                <a:gd name="T65" fmla="*/ 443 h 107"/>
                <a:gd name="T66" fmla="*/ 11091 w 110"/>
                <a:gd name="T67" fmla="*/ 480 h 107"/>
                <a:gd name="T68" fmla="*/ 12819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6"/>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8"/>
                  </a:lnTo>
                  <a:lnTo>
                    <a:pt x="26" y="43"/>
                  </a:lnTo>
                  <a:lnTo>
                    <a:pt x="34" y="50"/>
                  </a:lnTo>
                  <a:lnTo>
                    <a:pt x="43" y="55"/>
                  </a:lnTo>
                  <a:lnTo>
                    <a:pt x="52" y="60"/>
                  </a:lnTo>
                  <a:lnTo>
                    <a:pt x="60" y="65"/>
                  </a:lnTo>
                  <a:lnTo>
                    <a:pt x="68" y="70"/>
                  </a:lnTo>
                  <a:lnTo>
                    <a:pt x="76" y="75"/>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6" name="Freeform 254">
              <a:extLst>
                <a:ext uri="{FF2B5EF4-FFF2-40B4-BE49-F238E27FC236}">
                  <a16:creationId xmlns:a16="http://schemas.microsoft.com/office/drawing/2014/main" id="{9EB43AA7-DDC7-422E-8C9C-740DD09D4AFB}"/>
                </a:ext>
              </a:extLst>
            </p:cNvPr>
            <p:cNvSpPr>
              <a:spLocks/>
            </p:cNvSpPr>
            <p:nvPr/>
          </p:nvSpPr>
          <p:spPr bwMode="auto">
            <a:xfrm>
              <a:off x="3820" y="3516"/>
              <a:ext cx="138" cy="103"/>
            </a:xfrm>
            <a:custGeom>
              <a:avLst/>
              <a:gdLst>
                <a:gd name="T0" fmla="*/ 1791 w 110"/>
                <a:gd name="T1" fmla="*/ 515 h 95"/>
                <a:gd name="T2" fmla="*/ 1901 w 110"/>
                <a:gd name="T3" fmla="*/ 466 h 95"/>
                <a:gd name="T4" fmla="*/ 2992 w 110"/>
                <a:gd name="T5" fmla="*/ 407 h 95"/>
                <a:gd name="T6" fmla="*/ 4710 w 110"/>
                <a:gd name="T7" fmla="*/ 372 h 95"/>
                <a:gd name="T8" fmla="*/ 6821 w 110"/>
                <a:gd name="T9" fmla="*/ 317 h 95"/>
                <a:gd name="T10" fmla="*/ 8841 w 110"/>
                <a:gd name="T11" fmla="*/ 266 h 95"/>
                <a:gd name="T12" fmla="*/ 10625 w 110"/>
                <a:gd name="T13" fmla="*/ 196 h 95"/>
                <a:gd name="T14" fmla="*/ 12119 w 110"/>
                <a:gd name="T15" fmla="*/ 112 h 95"/>
                <a:gd name="T16" fmla="*/ 12819 w 110"/>
                <a:gd name="T17" fmla="*/ 0 h 95"/>
                <a:gd name="T18" fmla="*/ 11091 w 110"/>
                <a:gd name="T19" fmla="*/ 0 h 95"/>
                <a:gd name="T20" fmla="*/ 10735 w 110"/>
                <a:gd name="T21" fmla="*/ 69 h 95"/>
                <a:gd name="T22" fmla="*/ 9595 w 110"/>
                <a:gd name="T23" fmla="*/ 142 h 95"/>
                <a:gd name="T24" fmla="*/ 7950 w 110"/>
                <a:gd name="T25" fmla="*/ 196 h 95"/>
                <a:gd name="T26" fmla="*/ 6096 w 110"/>
                <a:gd name="T27" fmla="*/ 250 h 95"/>
                <a:gd name="T28" fmla="*/ 4026 w 110"/>
                <a:gd name="T29" fmla="*/ 297 h 95"/>
                <a:gd name="T30" fmla="*/ 2247 w 110"/>
                <a:gd name="T31" fmla="*/ 349 h 95"/>
                <a:gd name="T32" fmla="*/ 748 w 110"/>
                <a:gd name="T33" fmla="*/ 417 h 95"/>
                <a:gd name="T34" fmla="*/ 0 w 110"/>
                <a:gd name="T35" fmla="*/ 515 h 95"/>
                <a:gd name="T36" fmla="*/ 1791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5" y="94"/>
                  </a:moveTo>
                  <a:lnTo>
                    <a:pt x="17" y="85"/>
                  </a:lnTo>
                  <a:lnTo>
                    <a:pt x="26" y="75"/>
                  </a:lnTo>
                  <a:lnTo>
                    <a:pt x="41" y="67"/>
                  </a:lnTo>
                  <a:lnTo>
                    <a:pt x="58" y="58"/>
                  </a:lnTo>
                  <a:lnTo>
                    <a:pt x="76" y="48"/>
                  </a:lnTo>
                  <a:lnTo>
                    <a:pt x="91" y="36"/>
                  </a:lnTo>
                  <a:lnTo>
                    <a:pt x="104" y="20"/>
                  </a:lnTo>
                  <a:lnTo>
                    <a:pt x="109" y="0"/>
                  </a:lnTo>
                  <a:lnTo>
                    <a:pt x="95" y="0"/>
                  </a:lnTo>
                  <a:lnTo>
                    <a:pt x="92" y="13"/>
                  </a:lnTo>
                  <a:lnTo>
                    <a:pt x="82" y="26"/>
                  </a:lnTo>
                  <a:lnTo>
                    <a:pt x="68" y="36"/>
                  </a:lnTo>
                  <a:lnTo>
                    <a:pt x="52" y="46"/>
                  </a:lnTo>
                  <a:lnTo>
                    <a:pt x="34" y="55"/>
                  </a:lnTo>
                  <a:lnTo>
                    <a:pt x="19" y="65"/>
                  </a:lnTo>
                  <a:lnTo>
                    <a:pt x="6" y="77"/>
                  </a:lnTo>
                  <a:lnTo>
                    <a:pt x="0" y="94"/>
                  </a:lnTo>
                  <a:lnTo>
                    <a:pt x="15"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7" name="Freeform 255">
              <a:extLst>
                <a:ext uri="{FF2B5EF4-FFF2-40B4-BE49-F238E27FC236}">
                  <a16:creationId xmlns:a16="http://schemas.microsoft.com/office/drawing/2014/main" id="{B0309A5D-0248-C43E-617E-E5FBB1C6251D}"/>
                </a:ext>
              </a:extLst>
            </p:cNvPr>
            <p:cNvSpPr>
              <a:spLocks/>
            </p:cNvSpPr>
            <p:nvPr/>
          </p:nvSpPr>
          <p:spPr bwMode="auto">
            <a:xfrm>
              <a:off x="3820" y="3618"/>
              <a:ext cx="19" cy="3"/>
            </a:xfrm>
            <a:custGeom>
              <a:avLst/>
              <a:gdLst>
                <a:gd name="T0" fmla="*/ 2080 w 15"/>
                <a:gd name="T1" fmla="*/ 2 h 3"/>
                <a:gd name="T2" fmla="*/ 2080 w 15"/>
                <a:gd name="T3" fmla="*/ 0 h 3"/>
                <a:gd name="T4" fmla="*/ 0 w 15"/>
                <a:gd name="T5" fmla="*/ 0 h 3"/>
                <a:gd name="T6" fmla="*/ 0 w 15"/>
                <a:gd name="T7" fmla="*/ 2 h 3"/>
                <a:gd name="T8" fmla="*/ 2080 w 15"/>
                <a:gd name="T9" fmla="*/ 2 h 3"/>
                <a:gd name="T10" fmla="*/ 0 60000 65536"/>
                <a:gd name="T11" fmla="*/ 0 60000 65536"/>
                <a:gd name="T12" fmla="*/ 0 60000 65536"/>
                <a:gd name="T13" fmla="*/ 0 60000 65536"/>
                <a:gd name="T14" fmla="*/ 0 60000 65536"/>
                <a:gd name="T15" fmla="*/ 0 w 15"/>
                <a:gd name="T16" fmla="*/ 0 h 3"/>
                <a:gd name="T17" fmla="*/ 15 w 15"/>
                <a:gd name="T18" fmla="*/ 3 h 3"/>
              </a:gdLst>
              <a:ahLst/>
              <a:cxnLst>
                <a:cxn ang="T10">
                  <a:pos x="T0" y="T1"/>
                </a:cxn>
                <a:cxn ang="T11">
                  <a:pos x="T2" y="T3"/>
                </a:cxn>
                <a:cxn ang="T12">
                  <a:pos x="T4" y="T5"/>
                </a:cxn>
                <a:cxn ang="T13">
                  <a:pos x="T6" y="T7"/>
                </a:cxn>
                <a:cxn ang="T14">
                  <a:pos x="T8" y="T9"/>
                </a:cxn>
              </a:cxnLst>
              <a:rect l="T15" t="T16" r="T17" b="T18"/>
              <a:pathLst>
                <a:path w="15" h="3">
                  <a:moveTo>
                    <a:pt x="14" y="2"/>
                  </a:moveTo>
                  <a:lnTo>
                    <a:pt x="14" y="0"/>
                  </a:lnTo>
                  <a:lnTo>
                    <a:pt x="0" y="0"/>
                  </a:lnTo>
                  <a:lnTo>
                    <a:pt x="0" y="2"/>
                  </a:lnTo>
                  <a:lnTo>
                    <a:pt x="14" y="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8" name="Freeform 256">
              <a:extLst>
                <a:ext uri="{FF2B5EF4-FFF2-40B4-BE49-F238E27FC236}">
                  <a16:creationId xmlns:a16="http://schemas.microsoft.com/office/drawing/2014/main" id="{DD540734-757D-B9EF-7D1C-D4FCD6574291}"/>
                </a:ext>
              </a:extLst>
            </p:cNvPr>
            <p:cNvSpPr>
              <a:spLocks/>
            </p:cNvSpPr>
            <p:nvPr/>
          </p:nvSpPr>
          <p:spPr bwMode="auto">
            <a:xfrm>
              <a:off x="3820" y="3620"/>
              <a:ext cx="138" cy="118"/>
            </a:xfrm>
            <a:custGeom>
              <a:avLst/>
              <a:gdLst>
                <a:gd name="T0" fmla="*/ 12819 w 110"/>
                <a:gd name="T1" fmla="*/ 568 h 109"/>
                <a:gd name="T2" fmla="*/ 12513 w 110"/>
                <a:gd name="T3" fmla="*/ 511 h 109"/>
                <a:gd name="T4" fmla="*/ 12119 w 110"/>
                <a:gd name="T5" fmla="*/ 464 h 109"/>
                <a:gd name="T6" fmla="*/ 11650 w 110"/>
                <a:gd name="T7" fmla="*/ 411 h 109"/>
                <a:gd name="T8" fmla="*/ 10625 w 110"/>
                <a:gd name="T9" fmla="*/ 371 h 109"/>
                <a:gd name="T10" fmla="*/ 9802 w 110"/>
                <a:gd name="T11" fmla="*/ 338 h 109"/>
                <a:gd name="T12" fmla="*/ 8841 w 110"/>
                <a:gd name="T13" fmla="*/ 304 h 109"/>
                <a:gd name="T14" fmla="*/ 7813 w 110"/>
                <a:gd name="T15" fmla="*/ 271 h 109"/>
                <a:gd name="T16" fmla="*/ 6943 w 110"/>
                <a:gd name="T17" fmla="*/ 240 h 109"/>
                <a:gd name="T18" fmla="*/ 5900 w 110"/>
                <a:gd name="T19" fmla="*/ 213 h 109"/>
                <a:gd name="T20" fmla="*/ 4710 w 110"/>
                <a:gd name="T21" fmla="*/ 182 h 109"/>
                <a:gd name="T22" fmla="*/ 4026 w 110"/>
                <a:gd name="T23" fmla="*/ 156 h 109"/>
                <a:gd name="T24" fmla="*/ 3209 w 110"/>
                <a:gd name="T25" fmla="*/ 123 h 109"/>
                <a:gd name="T26" fmla="*/ 2385 w 110"/>
                <a:gd name="T27" fmla="*/ 96 h 109"/>
                <a:gd name="T28" fmla="*/ 1901 w 110"/>
                <a:gd name="T29" fmla="*/ 60 h 109"/>
                <a:gd name="T30" fmla="*/ 1791 w 110"/>
                <a:gd name="T31" fmla="*/ 6 h 109"/>
                <a:gd name="T32" fmla="*/ 1791 w 110"/>
                <a:gd name="T33" fmla="*/ 0 h 109"/>
                <a:gd name="T34" fmla="*/ 0 w 110"/>
                <a:gd name="T35" fmla="*/ 0 h 109"/>
                <a:gd name="T36" fmla="*/ 302 w 110"/>
                <a:gd name="T37" fmla="*/ 51 h 109"/>
                <a:gd name="T38" fmla="*/ 748 w 110"/>
                <a:gd name="T39" fmla="*/ 104 h 109"/>
                <a:gd name="T40" fmla="*/ 1331 w 110"/>
                <a:gd name="T41" fmla="*/ 143 h 109"/>
                <a:gd name="T42" fmla="*/ 2095 w 110"/>
                <a:gd name="T43" fmla="*/ 182 h 109"/>
                <a:gd name="T44" fmla="*/ 2992 w 110"/>
                <a:gd name="T45" fmla="*/ 213 h 109"/>
                <a:gd name="T46" fmla="*/ 4026 w 110"/>
                <a:gd name="T47" fmla="*/ 246 h 109"/>
                <a:gd name="T48" fmla="*/ 4893 w 110"/>
                <a:gd name="T49" fmla="*/ 271 h 109"/>
                <a:gd name="T50" fmla="*/ 5909 w 110"/>
                <a:gd name="T51" fmla="*/ 304 h 109"/>
                <a:gd name="T52" fmla="*/ 6983 w 110"/>
                <a:gd name="T53" fmla="*/ 329 h 109"/>
                <a:gd name="T54" fmla="*/ 7950 w 110"/>
                <a:gd name="T55" fmla="*/ 356 h 109"/>
                <a:gd name="T56" fmla="*/ 8760 w 110"/>
                <a:gd name="T57" fmla="*/ 385 h 109"/>
                <a:gd name="T58" fmla="*/ 9595 w 110"/>
                <a:gd name="T59" fmla="*/ 417 h 109"/>
                <a:gd name="T60" fmla="*/ 10246 w 110"/>
                <a:gd name="T61" fmla="*/ 451 h 109"/>
                <a:gd name="T62" fmla="*/ 10625 w 110"/>
                <a:gd name="T63" fmla="*/ 485 h 109"/>
                <a:gd name="T64" fmla="*/ 10990 w 110"/>
                <a:gd name="T65" fmla="*/ 525 h 109"/>
                <a:gd name="T66" fmla="*/ 11091 w 110"/>
                <a:gd name="T67" fmla="*/ 568 h 109"/>
                <a:gd name="T68" fmla="*/ 12819 w 110"/>
                <a:gd name="T69" fmla="*/ 568 h 1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9"/>
                <a:gd name="T107" fmla="*/ 110 w 110"/>
                <a:gd name="T108" fmla="*/ 109 h 1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9">
                  <a:moveTo>
                    <a:pt x="109" y="108"/>
                  </a:moveTo>
                  <a:lnTo>
                    <a:pt x="107" y="97"/>
                  </a:lnTo>
                  <a:lnTo>
                    <a:pt x="104" y="87"/>
                  </a:lnTo>
                  <a:lnTo>
                    <a:pt x="99" y="78"/>
                  </a:lnTo>
                  <a:lnTo>
                    <a:pt x="91" y="70"/>
                  </a:lnTo>
                  <a:lnTo>
                    <a:pt x="84" y="63"/>
                  </a:lnTo>
                  <a:lnTo>
                    <a:pt x="76" y="57"/>
                  </a:lnTo>
                  <a:lnTo>
                    <a:pt x="67" y="51"/>
                  </a:lnTo>
                  <a:lnTo>
                    <a:pt x="59" y="45"/>
                  </a:lnTo>
                  <a:lnTo>
                    <a:pt x="50" y="40"/>
                  </a:lnTo>
                  <a:lnTo>
                    <a:pt x="41" y="34"/>
                  </a:lnTo>
                  <a:lnTo>
                    <a:pt x="34" y="30"/>
                  </a:lnTo>
                  <a:lnTo>
                    <a:pt x="27" y="24"/>
                  </a:lnTo>
                  <a:lnTo>
                    <a:pt x="21" y="18"/>
                  </a:lnTo>
                  <a:lnTo>
                    <a:pt x="17" y="12"/>
                  </a:lnTo>
                  <a:lnTo>
                    <a:pt x="15" y="6"/>
                  </a:lnTo>
                  <a:lnTo>
                    <a:pt x="15" y="0"/>
                  </a:lnTo>
                  <a:lnTo>
                    <a:pt x="0" y="0"/>
                  </a:lnTo>
                  <a:lnTo>
                    <a:pt x="2" y="10"/>
                  </a:lnTo>
                  <a:lnTo>
                    <a:pt x="6" y="19"/>
                  </a:lnTo>
                  <a:lnTo>
                    <a:pt x="11" y="27"/>
                  </a:lnTo>
                  <a:lnTo>
                    <a:pt x="18" y="34"/>
                  </a:lnTo>
                  <a:lnTo>
                    <a:pt x="26" y="40"/>
                  </a:lnTo>
                  <a:lnTo>
                    <a:pt x="34" y="46"/>
                  </a:lnTo>
                  <a:lnTo>
                    <a:pt x="42" y="51"/>
                  </a:lnTo>
                  <a:lnTo>
                    <a:pt x="51" y="57"/>
                  </a:lnTo>
                  <a:lnTo>
                    <a:pt x="60" y="62"/>
                  </a:lnTo>
                  <a:lnTo>
                    <a:pt x="68" y="67"/>
                  </a:lnTo>
                  <a:lnTo>
                    <a:pt x="75" y="73"/>
                  </a:lnTo>
                  <a:lnTo>
                    <a:pt x="82" y="79"/>
                  </a:lnTo>
                  <a:lnTo>
                    <a:pt x="88" y="86"/>
                  </a:lnTo>
                  <a:lnTo>
                    <a:pt x="91" y="92"/>
                  </a:lnTo>
                  <a:lnTo>
                    <a:pt x="94" y="100"/>
                  </a:lnTo>
                  <a:lnTo>
                    <a:pt x="95" y="108"/>
                  </a:lnTo>
                  <a:lnTo>
                    <a:pt x="109" y="10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09" name="Freeform 257">
              <a:extLst>
                <a:ext uri="{FF2B5EF4-FFF2-40B4-BE49-F238E27FC236}">
                  <a16:creationId xmlns:a16="http://schemas.microsoft.com/office/drawing/2014/main" id="{C4EC1C28-AE51-2638-4F14-FF3B6B829E60}"/>
                </a:ext>
              </a:extLst>
            </p:cNvPr>
            <p:cNvSpPr>
              <a:spLocks/>
            </p:cNvSpPr>
            <p:nvPr/>
          </p:nvSpPr>
          <p:spPr bwMode="auto">
            <a:xfrm>
              <a:off x="3820" y="3737"/>
              <a:ext cx="138" cy="115"/>
            </a:xfrm>
            <a:custGeom>
              <a:avLst/>
              <a:gdLst>
                <a:gd name="T0" fmla="*/ 1791 w 110"/>
                <a:gd name="T1" fmla="*/ 480 h 107"/>
                <a:gd name="T2" fmla="*/ 1791 w 110"/>
                <a:gd name="T3" fmla="*/ 443 h 107"/>
                <a:gd name="T4" fmla="*/ 1901 w 110"/>
                <a:gd name="T5" fmla="*/ 416 h 107"/>
                <a:gd name="T6" fmla="*/ 2385 w 110"/>
                <a:gd name="T7" fmla="*/ 387 h 107"/>
                <a:gd name="T8" fmla="*/ 3209 w 110"/>
                <a:gd name="T9" fmla="*/ 360 h 107"/>
                <a:gd name="T10" fmla="*/ 4026 w 110"/>
                <a:gd name="T11" fmla="*/ 349 h 107"/>
                <a:gd name="T12" fmla="*/ 4710 w 110"/>
                <a:gd name="T13" fmla="*/ 325 h 107"/>
                <a:gd name="T14" fmla="*/ 5761 w 110"/>
                <a:gd name="T15" fmla="*/ 302 h 107"/>
                <a:gd name="T16" fmla="*/ 6821 w 110"/>
                <a:gd name="T17" fmla="*/ 270 h 107"/>
                <a:gd name="T18" fmla="*/ 7813 w 110"/>
                <a:gd name="T19" fmla="*/ 247 h 107"/>
                <a:gd name="T20" fmla="*/ 8841 w 110"/>
                <a:gd name="T21" fmla="*/ 229 h 107"/>
                <a:gd name="T22" fmla="*/ 9802 w 110"/>
                <a:gd name="T23" fmla="*/ 196 h 107"/>
                <a:gd name="T24" fmla="*/ 10625 w 110"/>
                <a:gd name="T25" fmla="*/ 172 h 107"/>
                <a:gd name="T26" fmla="*/ 11650 w 110"/>
                <a:gd name="T27" fmla="*/ 129 h 107"/>
                <a:gd name="T28" fmla="*/ 12119 w 110"/>
                <a:gd name="T29" fmla="*/ 97 h 107"/>
                <a:gd name="T30" fmla="*/ 12513 w 110"/>
                <a:gd name="T31" fmla="*/ 47 h 107"/>
                <a:gd name="T32" fmla="*/ 12819 w 110"/>
                <a:gd name="T33" fmla="*/ 0 h 107"/>
                <a:gd name="T34" fmla="*/ 11091 w 110"/>
                <a:gd name="T35" fmla="*/ 0 h 107"/>
                <a:gd name="T36" fmla="*/ 10990 w 110"/>
                <a:gd name="T37" fmla="*/ 38 h 107"/>
                <a:gd name="T38" fmla="*/ 10625 w 110"/>
                <a:gd name="T39" fmla="*/ 63 h 107"/>
                <a:gd name="T40" fmla="*/ 10246 w 110"/>
                <a:gd name="T41" fmla="*/ 97 h 107"/>
                <a:gd name="T42" fmla="*/ 9595 w 110"/>
                <a:gd name="T43" fmla="*/ 120 h 107"/>
                <a:gd name="T44" fmla="*/ 8841 w 110"/>
                <a:gd name="T45" fmla="*/ 149 h 107"/>
                <a:gd name="T46" fmla="*/ 7950 w 110"/>
                <a:gd name="T47" fmla="*/ 172 h 107"/>
                <a:gd name="T48" fmla="*/ 6983 w 110"/>
                <a:gd name="T49" fmla="*/ 196 h 107"/>
                <a:gd name="T50" fmla="*/ 6096 w 110"/>
                <a:gd name="T51" fmla="*/ 218 h 107"/>
                <a:gd name="T52" fmla="*/ 5051 w 110"/>
                <a:gd name="T53" fmla="*/ 244 h 107"/>
                <a:gd name="T54" fmla="*/ 4026 w 110"/>
                <a:gd name="T55" fmla="*/ 264 h 107"/>
                <a:gd name="T56" fmla="*/ 2992 w 110"/>
                <a:gd name="T57" fmla="*/ 290 h 107"/>
                <a:gd name="T58" fmla="*/ 2095 w 110"/>
                <a:gd name="T59" fmla="*/ 325 h 107"/>
                <a:gd name="T60" fmla="*/ 1331 w 110"/>
                <a:gd name="T61" fmla="*/ 353 h 107"/>
                <a:gd name="T62" fmla="*/ 748 w 110"/>
                <a:gd name="T63" fmla="*/ 387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5"/>
                  </a:lnTo>
                  <a:lnTo>
                    <a:pt x="41" y="70"/>
                  </a:lnTo>
                  <a:lnTo>
                    <a:pt x="49" y="65"/>
                  </a:lnTo>
                  <a:lnTo>
                    <a:pt x="58" y="60"/>
                  </a:lnTo>
                  <a:lnTo>
                    <a:pt x="67" y="55"/>
                  </a:lnTo>
                  <a:lnTo>
                    <a:pt x="76" y="50"/>
                  </a:lnTo>
                  <a:lnTo>
                    <a:pt x="84" y="43"/>
                  </a:lnTo>
                  <a:lnTo>
                    <a:pt x="91" y="38"/>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0" name="Freeform 258">
              <a:extLst>
                <a:ext uri="{FF2B5EF4-FFF2-40B4-BE49-F238E27FC236}">
                  <a16:creationId xmlns:a16="http://schemas.microsoft.com/office/drawing/2014/main" id="{5E4B0F84-411F-910E-F400-FF25E034A867}"/>
                </a:ext>
              </a:extLst>
            </p:cNvPr>
            <p:cNvSpPr>
              <a:spLocks/>
            </p:cNvSpPr>
            <p:nvPr/>
          </p:nvSpPr>
          <p:spPr bwMode="auto">
            <a:xfrm>
              <a:off x="3852" y="1857"/>
              <a:ext cx="91" cy="113"/>
            </a:xfrm>
            <a:custGeom>
              <a:avLst/>
              <a:gdLst>
                <a:gd name="T0" fmla="*/ 3674 w 73"/>
                <a:gd name="T1" fmla="*/ 393 h 105"/>
                <a:gd name="T2" fmla="*/ 0 w 73"/>
                <a:gd name="T3" fmla="*/ 475 h 105"/>
                <a:gd name="T4" fmla="*/ 0 w 73"/>
                <a:gd name="T5" fmla="*/ 471 h 105"/>
                <a:gd name="T6" fmla="*/ 2418 w 73"/>
                <a:gd name="T7" fmla="*/ 244 h 105"/>
                <a:gd name="T8" fmla="*/ 2633 w 73"/>
                <a:gd name="T9" fmla="*/ 211 h 105"/>
                <a:gd name="T10" fmla="*/ 2917 w 73"/>
                <a:gd name="T11" fmla="*/ 182 h 105"/>
                <a:gd name="T12" fmla="*/ 3014 w 73"/>
                <a:gd name="T13" fmla="*/ 149 h 105"/>
                <a:gd name="T14" fmla="*/ 3282 w 73"/>
                <a:gd name="T15" fmla="*/ 119 h 105"/>
                <a:gd name="T16" fmla="*/ 3409 w 73"/>
                <a:gd name="T17" fmla="*/ 89 h 105"/>
                <a:gd name="T18" fmla="*/ 3636 w 73"/>
                <a:gd name="T19" fmla="*/ 58 h 105"/>
                <a:gd name="T20" fmla="*/ 3757 w 73"/>
                <a:gd name="T21" fmla="*/ 6 h 105"/>
                <a:gd name="T22" fmla="*/ 4002 w 73"/>
                <a:gd name="T23" fmla="*/ 0 h 105"/>
                <a:gd name="T24" fmla="*/ 4250 w 73"/>
                <a:gd name="T25" fmla="*/ 6 h 105"/>
                <a:gd name="T26" fmla="*/ 4273 w 73"/>
                <a:gd name="T27" fmla="*/ 58 h 105"/>
                <a:gd name="T28" fmla="*/ 4533 w 73"/>
                <a:gd name="T29" fmla="*/ 89 h 105"/>
                <a:gd name="T30" fmla="*/ 4580 w 73"/>
                <a:gd name="T31" fmla="*/ 119 h 105"/>
                <a:gd name="T32" fmla="*/ 4683 w 73"/>
                <a:gd name="T33" fmla="*/ 157 h 105"/>
                <a:gd name="T34" fmla="*/ 4958 w 73"/>
                <a:gd name="T35" fmla="*/ 182 h 105"/>
                <a:gd name="T36" fmla="*/ 4989 w 73"/>
                <a:gd name="T37" fmla="*/ 214 h 105"/>
                <a:gd name="T38" fmla="*/ 5100 w 73"/>
                <a:gd name="T39" fmla="*/ 244 h 105"/>
                <a:gd name="T40" fmla="*/ 7423 w 73"/>
                <a:gd name="T41" fmla="*/ 475 h 105"/>
                <a:gd name="T42" fmla="*/ 7278 w 73"/>
                <a:gd name="T43" fmla="*/ 489 h 105"/>
                <a:gd name="T44" fmla="*/ 3674 w 73"/>
                <a:gd name="T45" fmla="*/ 393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0" y="102"/>
                  </a:lnTo>
                  <a:lnTo>
                    <a:pt x="0" y="100"/>
                  </a:lnTo>
                  <a:lnTo>
                    <a:pt x="24" y="52"/>
                  </a:lnTo>
                  <a:lnTo>
                    <a:pt x="26" y="45"/>
                  </a:lnTo>
                  <a:lnTo>
                    <a:pt x="28" y="39"/>
                  </a:lnTo>
                  <a:lnTo>
                    <a:pt x="30" y="32"/>
                  </a:lnTo>
                  <a:lnTo>
                    <a:pt x="32" y="26"/>
                  </a:lnTo>
                  <a:lnTo>
                    <a:pt x="33" y="19"/>
                  </a:lnTo>
                  <a:lnTo>
                    <a:pt x="35" y="13"/>
                  </a:lnTo>
                  <a:lnTo>
                    <a:pt x="37" y="6"/>
                  </a:lnTo>
                  <a:lnTo>
                    <a:pt x="39" y="0"/>
                  </a:lnTo>
                  <a:lnTo>
                    <a:pt x="41" y="6"/>
                  </a:lnTo>
                  <a:lnTo>
                    <a:pt x="42" y="13"/>
                  </a:lnTo>
                  <a:lnTo>
                    <a:pt x="44" y="19"/>
                  </a:lnTo>
                  <a:lnTo>
                    <a:pt x="45" y="26"/>
                  </a:lnTo>
                  <a:lnTo>
                    <a:pt x="46" y="33"/>
                  </a:lnTo>
                  <a:lnTo>
                    <a:pt x="48" y="39"/>
                  </a:lnTo>
                  <a:lnTo>
                    <a:pt x="49" y="46"/>
                  </a:lnTo>
                  <a:lnTo>
                    <a:pt x="50" y="52"/>
                  </a:lnTo>
                  <a:lnTo>
                    <a:pt x="72" y="102"/>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1" name="Freeform 259">
              <a:extLst>
                <a:ext uri="{FF2B5EF4-FFF2-40B4-BE49-F238E27FC236}">
                  <a16:creationId xmlns:a16="http://schemas.microsoft.com/office/drawing/2014/main" id="{4896EC72-F456-4B65-C118-7CDD80322CC0}"/>
                </a:ext>
              </a:extLst>
            </p:cNvPr>
            <p:cNvSpPr>
              <a:spLocks/>
            </p:cNvSpPr>
            <p:nvPr/>
          </p:nvSpPr>
          <p:spPr bwMode="auto">
            <a:xfrm>
              <a:off x="3953" y="2811"/>
              <a:ext cx="91" cy="157"/>
            </a:xfrm>
            <a:custGeom>
              <a:avLst/>
              <a:gdLst>
                <a:gd name="T0" fmla="*/ 1329 w 73"/>
                <a:gd name="T1" fmla="*/ 671 h 146"/>
                <a:gd name="T2" fmla="*/ 1359 w 73"/>
                <a:gd name="T3" fmla="*/ 633 h 146"/>
                <a:gd name="T4" fmla="*/ 1657 w 73"/>
                <a:gd name="T5" fmla="*/ 610 h 146"/>
                <a:gd name="T6" fmla="*/ 1770 w 73"/>
                <a:gd name="T7" fmla="*/ 589 h 146"/>
                <a:gd name="T8" fmla="*/ 2206 w 73"/>
                <a:gd name="T9" fmla="*/ 579 h 146"/>
                <a:gd name="T10" fmla="*/ 2750 w 73"/>
                <a:gd name="T11" fmla="*/ 554 h 146"/>
                <a:gd name="T12" fmla="*/ 3282 w 73"/>
                <a:gd name="T13" fmla="*/ 539 h 146"/>
                <a:gd name="T14" fmla="*/ 3896 w 73"/>
                <a:gd name="T15" fmla="*/ 518 h 146"/>
                <a:gd name="T16" fmla="*/ 4533 w 73"/>
                <a:gd name="T17" fmla="*/ 500 h 146"/>
                <a:gd name="T18" fmla="*/ 5298 w 73"/>
                <a:gd name="T19" fmla="*/ 474 h 146"/>
                <a:gd name="T20" fmla="*/ 5838 w 73"/>
                <a:gd name="T21" fmla="*/ 439 h 146"/>
                <a:gd name="T22" fmla="*/ 6358 w 73"/>
                <a:gd name="T23" fmla="*/ 388 h 146"/>
                <a:gd name="T24" fmla="*/ 6723 w 73"/>
                <a:gd name="T25" fmla="*/ 340 h 146"/>
                <a:gd name="T26" fmla="*/ 7044 w 73"/>
                <a:gd name="T27" fmla="*/ 281 h 146"/>
                <a:gd name="T28" fmla="*/ 7278 w 73"/>
                <a:gd name="T29" fmla="*/ 197 h 146"/>
                <a:gd name="T30" fmla="*/ 7423 w 73"/>
                <a:gd name="T31" fmla="*/ 105 h 146"/>
                <a:gd name="T32" fmla="*/ 7117 w 73"/>
                <a:gd name="T33" fmla="*/ 0 h 146"/>
                <a:gd name="T34" fmla="*/ 5838 w 73"/>
                <a:gd name="T35" fmla="*/ 1 h 146"/>
                <a:gd name="T36" fmla="*/ 5838 w 73"/>
                <a:gd name="T37" fmla="*/ 105 h 146"/>
                <a:gd name="T38" fmla="*/ 5955 w 73"/>
                <a:gd name="T39" fmla="*/ 195 h 146"/>
                <a:gd name="T40" fmla="*/ 5709 w 73"/>
                <a:gd name="T41" fmla="*/ 265 h 146"/>
                <a:gd name="T42" fmla="*/ 5393 w 73"/>
                <a:gd name="T43" fmla="*/ 325 h 146"/>
                <a:gd name="T44" fmla="*/ 4989 w 73"/>
                <a:gd name="T45" fmla="*/ 366 h 146"/>
                <a:gd name="T46" fmla="*/ 4580 w 73"/>
                <a:gd name="T47" fmla="*/ 403 h 146"/>
                <a:gd name="T48" fmla="*/ 4091 w 73"/>
                <a:gd name="T49" fmla="*/ 432 h 146"/>
                <a:gd name="T50" fmla="*/ 3636 w 73"/>
                <a:gd name="T51" fmla="*/ 448 h 146"/>
                <a:gd name="T52" fmla="*/ 3014 w 73"/>
                <a:gd name="T53" fmla="*/ 474 h 146"/>
                <a:gd name="T54" fmla="*/ 2418 w 73"/>
                <a:gd name="T55" fmla="*/ 490 h 146"/>
                <a:gd name="T56" fmla="*/ 1940 w 73"/>
                <a:gd name="T57" fmla="*/ 508 h 146"/>
                <a:gd name="T58" fmla="*/ 1329 w 73"/>
                <a:gd name="T59" fmla="*/ 527 h 146"/>
                <a:gd name="T60" fmla="*/ 803 w 73"/>
                <a:gd name="T61" fmla="*/ 551 h 146"/>
                <a:gd name="T62" fmla="*/ 290 w 73"/>
                <a:gd name="T63" fmla="*/ 587 h 146"/>
                <a:gd name="T64" fmla="*/ 1 w 73"/>
                <a:gd name="T65" fmla="*/ 624 h 146"/>
                <a:gd name="T66" fmla="*/ 0 w 73"/>
                <a:gd name="T67" fmla="*/ 671 h 146"/>
                <a:gd name="T68" fmla="*/ 1329 w 73"/>
                <a:gd name="T69" fmla="*/ 671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3"/>
                <a:gd name="T106" fmla="*/ 0 h 146"/>
                <a:gd name="T107" fmla="*/ 73 w 73"/>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3" h="146">
                  <a:moveTo>
                    <a:pt x="13" y="145"/>
                  </a:moveTo>
                  <a:lnTo>
                    <a:pt x="14" y="138"/>
                  </a:lnTo>
                  <a:lnTo>
                    <a:pt x="16" y="132"/>
                  </a:lnTo>
                  <a:lnTo>
                    <a:pt x="18" y="128"/>
                  </a:lnTo>
                  <a:lnTo>
                    <a:pt x="22" y="125"/>
                  </a:lnTo>
                  <a:lnTo>
                    <a:pt x="27" y="121"/>
                  </a:lnTo>
                  <a:lnTo>
                    <a:pt x="32" y="117"/>
                  </a:lnTo>
                  <a:lnTo>
                    <a:pt x="38" y="113"/>
                  </a:lnTo>
                  <a:lnTo>
                    <a:pt x="44" y="108"/>
                  </a:lnTo>
                  <a:lnTo>
                    <a:pt x="51" y="103"/>
                  </a:lnTo>
                  <a:lnTo>
                    <a:pt x="57" y="95"/>
                  </a:lnTo>
                  <a:lnTo>
                    <a:pt x="62" y="85"/>
                  </a:lnTo>
                  <a:lnTo>
                    <a:pt x="66" y="74"/>
                  </a:lnTo>
                  <a:lnTo>
                    <a:pt x="69" y="60"/>
                  </a:lnTo>
                  <a:lnTo>
                    <a:pt x="71" y="43"/>
                  </a:lnTo>
                  <a:lnTo>
                    <a:pt x="72" y="23"/>
                  </a:lnTo>
                  <a:lnTo>
                    <a:pt x="70" y="0"/>
                  </a:lnTo>
                  <a:lnTo>
                    <a:pt x="57" y="1"/>
                  </a:lnTo>
                  <a:lnTo>
                    <a:pt x="57" y="23"/>
                  </a:lnTo>
                  <a:lnTo>
                    <a:pt x="58" y="42"/>
                  </a:lnTo>
                  <a:lnTo>
                    <a:pt x="56" y="58"/>
                  </a:lnTo>
                  <a:lnTo>
                    <a:pt x="53" y="70"/>
                  </a:lnTo>
                  <a:lnTo>
                    <a:pt x="49" y="80"/>
                  </a:lnTo>
                  <a:lnTo>
                    <a:pt x="45" y="87"/>
                  </a:lnTo>
                  <a:lnTo>
                    <a:pt x="40" y="93"/>
                  </a:lnTo>
                  <a:lnTo>
                    <a:pt x="35" y="98"/>
                  </a:lnTo>
                  <a:lnTo>
                    <a:pt x="30" y="103"/>
                  </a:lnTo>
                  <a:lnTo>
                    <a:pt x="24" y="106"/>
                  </a:lnTo>
                  <a:lnTo>
                    <a:pt x="19" y="110"/>
                  </a:lnTo>
                  <a:lnTo>
                    <a:pt x="13" y="114"/>
                  </a:lnTo>
                  <a:lnTo>
                    <a:pt x="8"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2" name="Freeform 260">
              <a:extLst>
                <a:ext uri="{FF2B5EF4-FFF2-40B4-BE49-F238E27FC236}">
                  <a16:creationId xmlns:a16="http://schemas.microsoft.com/office/drawing/2014/main" id="{5F721185-FF17-9978-EC1B-AE8208BD7C90}"/>
                </a:ext>
              </a:extLst>
            </p:cNvPr>
            <p:cNvSpPr>
              <a:spLocks/>
            </p:cNvSpPr>
            <p:nvPr/>
          </p:nvSpPr>
          <p:spPr bwMode="auto">
            <a:xfrm>
              <a:off x="3953" y="2967"/>
              <a:ext cx="137" cy="121"/>
            </a:xfrm>
            <a:custGeom>
              <a:avLst/>
              <a:gdLst>
                <a:gd name="T0" fmla="*/ 13137 w 109"/>
                <a:gd name="T1" fmla="*/ 557 h 112"/>
                <a:gd name="T2" fmla="*/ 12867 w 109"/>
                <a:gd name="T3" fmla="*/ 508 h 112"/>
                <a:gd name="T4" fmla="*/ 12503 w 109"/>
                <a:gd name="T5" fmla="*/ 466 h 112"/>
                <a:gd name="T6" fmla="*/ 11758 w 109"/>
                <a:gd name="T7" fmla="*/ 420 h 112"/>
                <a:gd name="T8" fmla="*/ 10930 w 109"/>
                <a:gd name="T9" fmla="*/ 379 h 112"/>
                <a:gd name="T10" fmla="*/ 9948 w 109"/>
                <a:gd name="T11" fmla="*/ 351 h 112"/>
                <a:gd name="T12" fmla="*/ 9083 w 109"/>
                <a:gd name="T13" fmla="*/ 317 h 112"/>
                <a:gd name="T14" fmla="*/ 7915 w 109"/>
                <a:gd name="T15" fmla="*/ 293 h 112"/>
                <a:gd name="T16" fmla="*/ 6919 w 109"/>
                <a:gd name="T17" fmla="*/ 264 h 112"/>
                <a:gd name="T18" fmla="*/ 5750 w 109"/>
                <a:gd name="T19" fmla="*/ 233 h 112"/>
                <a:gd name="T20" fmla="*/ 4784 w 109"/>
                <a:gd name="T21" fmla="*/ 209 h 112"/>
                <a:gd name="T22" fmla="*/ 3818 w 109"/>
                <a:gd name="T23" fmla="*/ 179 h 112"/>
                <a:gd name="T24" fmla="*/ 3028 w 109"/>
                <a:gd name="T25" fmla="*/ 145 h 112"/>
                <a:gd name="T26" fmla="*/ 2409 w 109"/>
                <a:gd name="T27" fmla="*/ 115 h 112"/>
                <a:gd name="T28" fmla="*/ 1917 w 109"/>
                <a:gd name="T29" fmla="*/ 84 h 112"/>
                <a:gd name="T30" fmla="*/ 1755 w 109"/>
                <a:gd name="T31" fmla="*/ 45 h 112"/>
                <a:gd name="T32" fmla="*/ 1525 w 109"/>
                <a:gd name="T33" fmla="*/ 0 h 112"/>
                <a:gd name="T34" fmla="*/ 0 w 109"/>
                <a:gd name="T35" fmla="*/ 0 h 112"/>
                <a:gd name="T36" fmla="*/ 1 w 109"/>
                <a:gd name="T37" fmla="*/ 53 h 112"/>
                <a:gd name="T38" fmla="*/ 387 w 109"/>
                <a:gd name="T39" fmla="*/ 113 h 112"/>
                <a:gd name="T40" fmla="*/ 1111 w 109"/>
                <a:gd name="T41" fmla="*/ 157 h 112"/>
                <a:gd name="T42" fmla="*/ 1917 w 109"/>
                <a:gd name="T43" fmla="*/ 193 h 112"/>
                <a:gd name="T44" fmla="*/ 2773 w 109"/>
                <a:gd name="T45" fmla="*/ 232 h 112"/>
                <a:gd name="T46" fmla="*/ 3806 w 109"/>
                <a:gd name="T47" fmla="*/ 264 h 112"/>
                <a:gd name="T48" fmla="*/ 4799 w 109"/>
                <a:gd name="T49" fmla="*/ 294 h 112"/>
                <a:gd name="T50" fmla="*/ 6013 w 109"/>
                <a:gd name="T51" fmla="*/ 318 h 112"/>
                <a:gd name="T52" fmla="*/ 7121 w 109"/>
                <a:gd name="T53" fmla="*/ 351 h 112"/>
                <a:gd name="T54" fmla="*/ 8145 w 109"/>
                <a:gd name="T55" fmla="*/ 373 h 112"/>
                <a:gd name="T56" fmla="*/ 9083 w 109"/>
                <a:gd name="T57" fmla="*/ 402 h 112"/>
                <a:gd name="T58" fmla="*/ 9840 w 109"/>
                <a:gd name="T59" fmla="*/ 431 h 112"/>
                <a:gd name="T60" fmla="*/ 10452 w 109"/>
                <a:gd name="T61" fmla="*/ 466 h 112"/>
                <a:gd name="T62" fmla="*/ 11025 w 109"/>
                <a:gd name="T63" fmla="*/ 490 h 112"/>
                <a:gd name="T64" fmla="*/ 11372 w 109"/>
                <a:gd name="T65" fmla="*/ 516 h 112"/>
                <a:gd name="T66" fmla="*/ 11416 w 109"/>
                <a:gd name="T67" fmla="*/ 557 h 112"/>
                <a:gd name="T68" fmla="*/ 13137 w 109"/>
                <a:gd name="T69" fmla="*/ 557 h 1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12"/>
                <a:gd name="T107" fmla="*/ 109 w 109"/>
                <a:gd name="T108" fmla="*/ 112 h 1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12">
                  <a:moveTo>
                    <a:pt x="108" y="111"/>
                  </a:moveTo>
                  <a:lnTo>
                    <a:pt x="106" y="100"/>
                  </a:lnTo>
                  <a:lnTo>
                    <a:pt x="103" y="91"/>
                  </a:lnTo>
                  <a:lnTo>
                    <a:pt x="97" y="83"/>
                  </a:lnTo>
                  <a:lnTo>
                    <a:pt x="90" y="75"/>
                  </a:lnTo>
                  <a:lnTo>
                    <a:pt x="82" y="69"/>
                  </a:lnTo>
                  <a:lnTo>
                    <a:pt x="75" y="62"/>
                  </a:lnTo>
                  <a:lnTo>
                    <a:pt x="65" y="57"/>
                  </a:lnTo>
                  <a:lnTo>
                    <a:pt x="57" y="52"/>
                  </a:lnTo>
                  <a:lnTo>
                    <a:pt x="48" y="46"/>
                  </a:lnTo>
                  <a:lnTo>
                    <a:pt x="39" y="41"/>
                  </a:lnTo>
                  <a:lnTo>
                    <a:pt x="32" y="35"/>
                  </a:lnTo>
                  <a:lnTo>
                    <a:pt x="25" y="29"/>
                  </a:lnTo>
                  <a:lnTo>
                    <a:pt x="20" y="23"/>
                  </a:lnTo>
                  <a:lnTo>
                    <a:pt x="16" y="17"/>
                  </a:lnTo>
                  <a:lnTo>
                    <a:pt x="14" y="9"/>
                  </a:lnTo>
                  <a:lnTo>
                    <a:pt x="13" y="0"/>
                  </a:lnTo>
                  <a:lnTo>
                    <a:pt x="0" y="0"/>
                  </a:lnTo>
                  <a:lnTo>
                    <a:pt x="1" y="11"/>
                  </a:lnTo>
                  <a:lnTo>
                    <a:pt x="3" y="22"/>
                  </a:lnTo>
                  <a:lnTo>
                    <a:pt x="9" y="31"/>
                  </a:lnTo>
                  <a:lnTo>
                    <a:pt x="16" y="38"/>
                  </a:lnTo>
                  <a:lnTo>
                    <a:pt x="23" y="45"/>
                  </a:lnTo>
                  <a:lnTo>
                    <a:pt x="31" y="52"/>
                  </a:lnTo>
                  <a:lnTo>
                    <a:pt x="40" y="58"/>
                  </a:lnTo>
                  <a:lnTo>
                    <a:pt x="49" y="63"/>
                  </a:lnTo>
                  <a:lnTo>
                    <a:pt x="58" y="69"/>
                  </a:lnTo>
                  <a:lnTo>
                    <a:pt x="67" y="74"/>
                  </a:lnTo>
                  <a:lnTo>
                    <a:pt x="75" y="79"/>
                  </a:lnTo>
                  <a:lnTo>
                    <a:pt x="81" y="84"/>
                  </a:lnTo>
                  <a:lnTo>
                    <a:pt x="86" y="91"/>
                  </a:lnTo>
                  <a:lnTo>
                    <a:pt x="91" y="97"/>
                  </a:lnTo>
                  <a:lnTo>
                    <a:pt x="93" y="103"/>
                  </a:lnTo>
                  <a:lnTo>
                    <a:pt x="94" y="111"/>
                  </a:lnTo>
                  <a:lnTo>
                    <a:pt x="108"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3" name="Freeform 261">
              <a:extLst>
                <a:ext uri="{FF2B5EF4-FFF2-40B4-BE49-F238E27FC236}">
                  <a16:creationId xmlns:a16="http://schemas.microsoft.com/office/drawing/2014/main" id="{C8230259-CB8E-6C21-ADD9-C96480343661}"/>
                </a:ext>
              </a:extLst>
            </p:cNvPr>
            <p:cNvSpPr>
              <a:spLocks/>
            </p:cNvSpPr>
            <p:nvPr/>
          </p:nvSpPr>
          <p:spPr bwMode="auto">
            <a:xfrm>
              <a:off x="3953" y="3087"/>
              <a:ext cx="137" cy="115"/>
            </a:xfrm>
            <a:custGeom>
              <a:avLst/>
              <a:gdLst>
                <a:gd name="T0" fmla="*/ 1755 w 109"/>
                <a:gd name="T1" fmla="*/ 584 h 106"/>
                <a:gd name="T2" fmla="*/ 1833 w 109"/>
                <a:gd name="T3" fmla="*/ 538 h 106"/>
                <a:gd name="T4" fmla="*/ 2007 w 109"/>
                <a:gd name="T5" fmla="*/ 512 h 106"/>
                <a:gd name="T6" fmla="*/ 2523 w 109"/>
                <a:gd name="T7" fmla="*/ 475 h 106"/>
                <a:gd name="T8" fmla="*/ 3283 w 109"/>
                <a:gd name="T9" fmla="*/ 442 h 106"/>
                <a:gd name="T10" fmla="*/ 3818 w 109"/>
                <a:gd name="T11" fmla="*/ 410 h 106"/>
                <a:gd name="T12" fmla="*/ 5010 w 109"/>
                <a:gd name="T13" fmla="*/ 378 h 106"/>
                <a:gd name="T14" fmla="*/ 6013 w 109"/>
                <a:gd name="T15" fmla="*/ 348 h 106"/>
                <a:gd name="T16" fmla="*/ 6919 w 109"/>
                <a:gd name="T17" fmla="*/ 338 h 106"/>
                <a:gd name="T18" fmla="*/ 8044 w 109"/>
                <a:gd name="T19" fmla="*/ 312 h 106"/>
                <a:gd name="T20" fmla="*/ 9083 w 109"/>
                <a:gd name="T21" fmla="*/ 273 h 106"/>
                <a:gd name="T22" fmla="*/ 10110 w 109"/>
                <a:gd name="T23" fmla="*/ 244 h 106"/>
                <a:gd name="T24" fmla="*/ 11025 w 109"/>
                <a:gd name="T25" fmla="*/ 207 h 106"/>
                <a:gd name="T26" fmla="*/ 11758 w 109"/>
                <a:gd name="T27" fmla="*/ 168 h 106"/>
                <a:gd name="T28" fmla="*/ 12503 w 109"/>
                <a:gd name="T29" fmla="*/ 116 h 106"/>
                <a:gd name="T30" fmla="*/ 12867 w 109"/>
                <a:gd name="T31" fmla="*/ 59 h 106"/>
                <a:gd name="T32" fmla="*/ 13137 w 109"/>
                <a:gd name="T33" fmla="*/ 0 h 106"/>
                <a:gd name="T34" fmla="*/ 11416 w 109"/>
                <a:gd name="T35" fmla="*/ 0 h 106"/>
                <a:gd name="T36" fmla="*/ 11372 w 109"/>
                <a:gd name="T37" fmla="*/ 46 h 106"/>
                <a:gd name="T38" fmla="*/ 10930 w 109"/>
                <a:gd name="T39" fmla="*/ 81 h 106"/>
                <a:gd name="T40" fmla="*/ 10529 w 109"/>
                <a:gd name="T41" fmla="*/ 122 h 106"/>
                <a:gd name="T42" fmla="*/ 9948 w 109"/>
                <a:gd name="T43" fmla="*/ 149 h 106"/>
                <a:gd name="T44" fmla="*/ 9083 w 109"/>
                <a:gd name="T45" fmla="*/ 182 h 106"/>
                <a:gd name="T46" fmla="*/ 8145 w 109"/>
                <a:gd name="T47" fmla="*/ 208 h 106"/>
                <a:gd name="T48" fmla="*/ 7199 w 109"/>
                <a:gd name="T49" fmla="*/ 244 h 106"/>
                <a:gd name="T50" fmla="*/ 6215 w 109"/>
                <a:gd name="T51" fmla="*/ 271 h 106"/>
                <a:gd name="T52" fmla="*/ 5156 w 109"/>
                <a:gd name="T53" fmla="*/ 294 h 106"/>
                <a:gd name="T54" fmla="*/ 3986 w 109"/>
                <a:gd name="T55" fmla="*/ 319 h 106"/>
                <a:gd name="T56" fmla="*/ 3028 w 109"/>
                <a:gd name="T57" fmla="*/ 348 h 106"/>
                <a:gd name="T58" fmla="*/ 2206 w 109"/>
                <a:gd name="T59" fmla="*/ 378 h 106"/>
                <a:gd name="T60" fmla="*/ 1213 w 109"/>
                <a:gd name="T61" fmla="*/ 432 h 106"/>
                <a:gd name="T62" fmla="*/ 611 w 109"/>
                <a:gd name="T63" fmla="*/ 472 h 106"/>
                <a:gd name="T64" fmla="*/ 308 w 109"/>
                <a:gd name="T65" fmla="*/ 524 h 106"/>
                <a:gd name="T66" fmla="*/ 0 w 109"/>
                <a:gd name="T67" fmla="*/ 584 h 106"/>
                <a:gd name="T68" fmla="*/ 1755 w 109"/>
                <a:gd name="T69" fmla="*/ 584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6"/>
                <a:gd name="T107" fmla="*/ 109 w 109"/>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6">
                  <a:moveTo>
                    <a:pt x="14" y="105"/>
                  </a:moveTo>
                  <a:lnTo>
                    <a:pt x="15" y="97"/>
                  </a:lnTo>
                  <a:lnTo>
                    <a:pt x="17" y="92"/>
                  </a:lnTo>
                  <a:lnTo>
                    <a:pt x="21" y="86"/>
                  </a:lnTo>
                  <a:lnTo>
                    <a:pt x="27" y="80"/>
                  </a:lnTo>
                  <a:lnTo>
                    <a:pt x="32" y="75"/>
                  </a:lnTo>
                  <a:lnTo>
                    <a:pt x="41" y="69"/>
                  </a:lnTo>
                  <a:lnTo>
                    <a:pt x="49" y="64"/>
                  </a:lnTo>
                  <a:lnTo>
                    <a:pt x="57" y="60"/>
                  </a:lnTo>
                  <a:lnTo>
                    <a:pt x="66" y="55"/>
                  </a:lnTo>
                  <a:lnTo>
                    <a:pt x="75" y="50"/>
                  </a:lnTo>
                  <a:lnTo>
                    <a:pt x="83" y="43"/>
                  </a:lnTo>
                  <a:lnTo>
                    <a:pt x="91" y="37"/>
                  </a:lnTo>
                  <a:lnTo>
                    <a:pt x="97" y="30"/>
                  </a:lnTo>
                  <a:lnTo>
                    <a:pt x="103" y="21"/>
                  </a:lnTo>
                  <a:lnTo>
                    <a:pt x="106" y="11"/>
                  </a:lnTo>
                  <a:lnTo>
                    <a:pt x="108" y="0"/>
                  </a:lnTo>
                  <a:lnTo>
                    <a:pt x="94" y="0"/>
                  </a:lnTo>
                  <a:lnTo>
                    <a:pt x="93" y="8"/>
                  </a:lnTo>
                  <a:lnTo>
                    <a:pt x="90" y="15"/>
                  </a:lnTo>
                  <a:lnTo>
                    <a:pt x="87" y="22"/>
                  </a:lnTo>
                  <a:lnTo>
                    <a:pt x="82" y="27"/>
                  </a:lnTo>
                  <a:lnTo>
                    <a:pt x="75" y="33"/>
                  </a:lnTo>
                  <a:lnTo>
                    <a:pt x="67" y="38"/>
                  </a:lnTo>
                  <a:lnTo>
                    <a:pt x="59" y="43"/>
                  </a:lnTo>
                  <a:lnTo>
                    <a:pt x="51" y="49"/>
                  </a:lnTo>
                  <a:lnTo>
                    <a:pt x="42" y="53"/>
                  </a:lnTo>
                  <a:lnTo>
                    <a:pt x="33" y="58"/>
                  </a:lnTo>
                  <a:lnTo>
                    <a:pt x="25" y="64"/>
                  </a:lnTo>
                  <a:lnTo>
                    <a:pt x="18" y="69"/>
                  </a:lnTo>
                  <a:lnTo>
                    <a:pt x="10" y="77"/>
                  </a:lnTo>
                  <a:lnTo>
                    <a:pt x="5" y="85"/>
                  </a:lnTo>
                  <a:lnTo>
                    <a:pt x="2" y="95"/>
                  </a:lnTo>
                  <a:lnTo>
                    <a:pt x="0" y="105"/>
                  </a:lnTo>
                  <a:lnTo>
                    <a:pt x="14"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4" name="Freeform 262">
              <a:extLst>
                <a:ext uri="{FF2B5EF4-FFF2-40B4-BE49-F238E27FC236}">
                  <a16:creationId xmlns:a16="http://schemas.microsoft.com/office/drawing/2014/main" id="{8A26363C-1633-938D-05E2-3823CB07BBA8}"/>
                </a:ext>
              </a:extLst>
            </p:cNvPr>
            <p:cNvSpPr>
              <a:spLocks/>
            </p:cNvSpPr>
            <p:nvPr/>
          </p:nvSpPr>
          <p:spPr bwMode="auto">
            <a:xfrm>
              <a:off x="3953" y="3201"/>
              <a:ext cx="137" cy="116"/>
            </a:xfrm>
            <a:custGeom>
              <a:avLst/>
              <a:gdLst>
                <a:gd name="T0" fmla="*/ 13137 w 109"/>
                <a:gd name="T1" fmla="*/ 576 h 107"/>
                <a:gd name="T2" fmla="*/ 12867 w 109"/>
                <a:gd name="T3" fmla="*/ 515 h 107"/>
                <a:gd name="T4" fmla="*/ 12503 w 109"/>
                <a:gd name="T5" fmla="*/ 465 h 107"/>
                <a:gd name="T6" fmla="*/ 11758 w 109"/>
                <a:gd name="T7" fmla="*/ 410 h 107"/>
                <a:gd name="T8" fmla="*/ 11025 w 109"/>
                <a:gd name="T9" fmla="*/ 374 h 107"/>
                <a:gd name="T10" fmla="*/ 10110 w 109"/>
                <a:gd name="T11" fmla="*/ 339 h 107"/>
                <a:gd name="T12" fmla="*/ 9083 w 109"/>
                <a:gd name="T13" fmla="*/ 311 h 107"/>
                <a:gd name="T14" fmla="*/ 8044 w 109"/>
                <a:gd name="T15" fmla="*/ 270 h 107"/>
                <a:gd name="T16" fmla="*/ 6919 w 109"/>
                <a:gd name="T17" fmla="*/ 249 h 107"/>
                <a:gd name="T18" fmla="*/ 6013 w 109"/>
                <a:gd name="T19" fmla="*/ 225 h 107"/>
                <a:gd name="T20" fmla="*/ 4799 w 109"/>
                <a:gd name="T21" fmla="*/ 192 h 107"/>
                <a:gd name="T22" fmla="*/ 3818 w 109"/>
                <a:gd name="T23" fmla="*/ 169 h 107"/>
                <a:gd name="T24" fmla="*/ 3283 w 109"/>
                <a:gd name="T25" fmla="*/ 133 h 107"/>
                <a:gd name="T26" fmla="*/ 2523 w 109"/>
                <a:gd name="T27" fmla="*/ 104 h 107"/>
                <a:gd name="T28" fmla="*/ 2007 w 109"/>
                <a:gd name="T29" fmla="*/ 69 h 107"/>
                <a:gd name="T30" fmla="*/ 1833 w 109"/>
                <a:gd name="T31" fmla="*/ 42 h 107"/>
                <a:gd name="T32" fmla="*/ 1755 w 109"/>
                <a:gd name="T33" fmla="*/ 0 h 107"/>
                <a:gd name="T34" fmla="*/ 0 w 109"/>
                <a:gd name="T35" fmla="*/ 0 h 107"/>
                <a:gd name="T36" fmla="*/ 308 w 109"/>
                <a:gd name="T37" fmla="*/ 54 h 107"/>
                <a:gd name="T38" fmla="*/ 611 w 109"/>
                <a:gd name="T39" fmla="*/ 112 h 107"/>
                <a:gd name="T40" fmla="*/ 1213 w 109"/>
                <a:gd name="T41" fmla="*/ 154 h 107"/>
                <a:gd name="T42" fmla="*/ 2206 w 109"/>
                <a:gd name="T43" fmla="*/ 192 h 107"/>
                <a:gd name="T44" fmla="*/ 3028 w 109"/>
                <a:gd name="T45" fmla="*/ 225 h 107"/>
                <a:gd name="T46" fmla="*/ 4126 w 109"/>
                <a:gd name="T47" fmla="*/ 253 h 107"/>
                <a:gd name="T48" fmla="*/ 5156 w 109"/>
                <a:gd name="T49" fmla="*/ 287 h 107"/>
                <a:gd name="T50" fmla="*/ 6215 w 109"/>
                <a:gd name="T51" fmla="*/ 313 h 107"/>
                <a:gd name="T52" fmla="*/ 7199 w 109"/>
                <a:gd name="T53" fmla="*/ 339 h 107"/>
                <a:gd name="T54" fmla="*/ 8145 w 109"/>
                <a:gd name="T55" fmla="*/ 368 h 107"/>
                <a:gd name="T56" fmla="*/ 9083 w 109"/>
                <a:gd name="T57" fmla="*/ 396 h 107"/>
                <a:gd name="T58" fmla="*/ 9948 w 109"/>
                <a:gd name="T59" fmla="*/ 429 h 107"/>
                <a:gd name="T60" fmla="*/ 10529 w 109"/>
                <a:gd name="T61" fmla="*/ 463 h 107"/>
                <a:gd name="T62" fmla="*/ 10930 w 109"/>
                <a:gd name="T63" fmla="*/ 490 h 107"/>
                <a:gd name="T64" fmla="*/ 11372 w 109"/>
                <a:gd name="T65" fmla="*/ 525 h 107"/>
                <a:gd name="T66" fmla="*/ 11416 w 109"/>
                <a:gd name="T67" fmla="*/ 576 h 107"/>
                <a:gd name="T68" fmla="*/ 13137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4"/>
                  </a:lnTo>
                  <a:lnTo>
                    <a:pt x="103" y="85"/>
                  </a:lnTo>
                  <a:lnTo>
                    <a:pt x="97" y="76"/>
                  </a:lnTo>
                  <a:lnTo>
                    <a:pt x="91" y="69"/>
                  </a:lnTo>
                  <a:lnTo>
                    <a:pt x="83" y="62"/>
                  </a:lnTo>
                  <a:lnTo>
                    <a:pt x="75" y="56"/>
                  </a:lnTo>
                  <a:lnTo>
                    <a:pt x="66" y="50"/>
                  </a:lnTo>
                  <a:lnTo>
                    <a:pt x="57" y="46"/>
                  </a:lnTo>
                  <a:lnTo>
                    <a:pt x="49" y="41"/>
                  </a:lnTo>
                  <a:lnTo>
                    <a:pt x="40" y="35"/>
                  </a:lnTo>
                  <a:lnTo>
                    <a:pt x="32" y="31"/>
                  </a:lnTo>
                  <a:lnTo>
                    <a:pt x="27" y="25"/>
                  </a:lnTo>
                  <a:lnTo>
                    <a:pt x="21" y="19"/>
                  </a:lnTo>
                  <a:lnTo>
                    <a:pt x="17" y="13"/>
                  </a:lnTo>
                  <a:lnTo>
                    <a:pt x="15" y="7"/>
                  </a:lnTo>
                  <a:lnTo>
                    <a:pt x="14" y="0"/>
                  </a:lnTo>
                  <a:lnTo>
                    <a:pt x="0" y="0"/>
                  </a:lnTo>
                  <a:lnTo>
                    <a:pt x="2" y="10"/>
                  </a:lnTo>
                  <a:lnTo>
                    <a:pt x="5" y="20"/>
                  </a:lnTo>
                  <a:lnTo>
                    <a:pt x="10" y="28"/>
                  </a:lnTo>
                  <a:lnTo>
                    <a:pt x="18" y="35"/>
                  </a:lnTo>
                  <a:lnTo>
                    <a:pt x="25" y="41"/>
                  </a:lnTo>
                  <a:lnTo>
                    <a:pt x="34" y="47"/>
                  </a:lnTo>
                  <a:lnTo>
                    <a:pt x="42" y="52"/>
                  </a:lnTo>
                  <a:lnTo>
                    <a:pt x="51" y="57"/>
                  </a:lnTo>
                  <a:lnTo>
                    <a:pt x="59" y="62"/>
                  </a:lnTo>
                  <a:lnTo>
                    <a:pt x="67" y="67"/>
                  </a:lnTo>
                  <a:lnTo>
                    <a:pt x="75" y="72"/>
                  </a:lnTo>
                  <a:lnTo>
                    <a:pt x="82" y="78"/>
                  </a:lnTo>
                  <a:lnTo>
                    <a:pt x="87" y="84"/>
                  </a:lnTo>
                  <a:lnTo>
                    <a:pt x="90"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5" name="Freeform 263">
              <a:extLst>
                <a:ext uri="{FF2B5EF4-FFF2-40B4-BE49-F238E27FC236}">
                  <a16:creationId xmlns:a16="http://schemas.microsoft.com/office/drawing/2014/main" id="{F164AD17-082A-1C79-3258-0FAEFF3676DE}"/>
                </a:ext>
              </a:extLst>
            </p:cNvPr>
            <p:cNvSpPr>
              <a:spLocks/>
            </p:cNvSpPr>
            <p:nvPr/>
          </p:nvSpPr>
          <p:spPr bwMode="auto">
            <a:xfrm>
              <a:off x="3953" y="3315"/>
              <a:ext cx="137" cy="117"/>
            </a:xfrm>
            <a:custGeom>
              <a:avLst/>
              <a:gdLst>
                <a:gd name="T0" fmla="*/ 1755 w 109"/>
                <a:gd name="T1" fmla="*/ 569 h 108"/>
                <a:gd name="T2" fmla="*/ 1833 w 109"/>
                <a:gd name="T3" fmla="*/ 525 h 108"/>
                <a:gd name="T4" fmla="*/ 2007 w 109"/>
                <a:gd name="T5" fmla="*/ 503 h 108"/>
                <a:gd name="T6" fmla="*/ 2523 w 109"/>
                <a:gd name="T7" fmla="*/ 469 h 108"/>
                <a:gd name="T8" fmla="*/ 3283 w 109"/>
                <a:gd name="T9" fmla="*/ 437 h 108"/>
                <a:gd name="T10" fmla="*/ 3818 w 109"/>
                <a:gd name="T11" fmla="*/ 403 h 108"/>
                <a:gd name="T12" fmla="*/ 4799 w 109"/>
                <a:gd name="T13" fmla="*/ 380 h 108"/>
                <a:gd name="T14" fmla="*/ 6013 w 109"/>
                <a:gd name="T15" fmla="*/ 364 h 108"/>
                <a:gd name="T16" fmla="*/ 6919 w 109"/>
                <a:gd name="T17" fmla="*/ 319 h 108"/>
                <a:gd name="T18" fmla="*/ 8044 w 109"/>
                <a:gd name="T19" fmla="*/ 294 h 108"/>
                <a:gd name="T20" fmla="*/ 9048 w 109"/>
                <a:gd name="T21" fmla="*/ 270 h 108"/>
                <a:gd name="T22" fmla="*/ 10110 w 109"/>
                <a:gd name="T23" fmla="*/ 244 h 108"/>
                <a:gd name="T24" fmla="*/ 11025 w 109"/>
                <a:gd name="T25" fmla="*/ 197 h 108"/>
                <a:gd name="T26" fmla="*/ 11758 w 109"/>
                <a:gd name="T27" fmla="*/ 163 h 108"/>
                <a:gd name="T28" fmla="*/ 12503 w 109"/>
                <a:gd name="T29" fmla="*/ 113 h 108"/>
                <a:gd name="T30" fmla="*/ 12867 w 109"/>
                <a:gd name="T31" fmla="*/ 58 h 108"/>
                <a:gd name="T32" fmla="*/ 13137 w 109"/>
                <a:gd name="T33" fmla="*/ 0 h 108"/>
                <a:gd name="T34" fmla="*/ 11416 w 109"/>
                <a:gd name="T35" fmla="*/ 0 h 108"/>
                <a:gd name="T36" fmla="*/ 11372 w 109"/>
                <a:gd name="T37" fmla="*/ 46 h 108"/>
                <a:gd name="T38" fmla="*/ 10930 w 109"/>
                <a:gd name="T39" fmla="*/ 87 h 108"/>
                <a:gd name="T40" fmla="*/ 10529 w 109"/>
                <a:gd name="T41" fmla="*/ 119 h 108"/>
                <a:gd name="T42" fmla="*/ 9948 w 109"/>
                <a:gd name="T43" fmla="*/ 150 h 108"/>
                <a:gd name="T44" fmla="*/ 9083 w 109"/>
                <a:gd name="T45" fmla="*/ 182 h 108"/>
                <a:gd name="T46" fmla="*/ 8192 w 109"/>
                <a:gd name="T47" fmla="*/ 208 h 108"/>
                <a:gd name="T48" fmla="*/ 7199 w 109"/>
                <a:gd name="T49" fmla="*/ 244 h 108"/>
                <a:gd name="T50" fmla="*/ 6215 w 109"/>
                <a:gd name="T51" fmla="*/ 265 h 108"/>
                <a:gd name="T52" fmla="*/ 5156 w 109"/>
                <a:gd name="T53" fmla="*/ 293 h 108"/>
                <a:gd name="T54" fmla="*/ 4126 w 109"/>
                <a:gd name="T55" fmla="*/ 317 h 108"/>
                <a:gd name="T56" fmla="*/ 3028 w 109"/>
                <a:gd name="T57" fmla="*/ 346 h 108"/>
                <a:gd name="T58" fmla="*/ 2206 w 109"/>
                <a:gd name="T59" fmla="*/ 380 h 108"/>
                <a:gd name="T60" fmla="*/ 1213 w 109"/>
                <a:gd name="T61" fmla="*/ 427 h 108"/>
                <a:gd name="T62" fmla="*/ 611 w 109"/>
                <a:gd name="T63" fmla="*/ 464 h 108"/>
                <a:gd name="T64" fmla="*/ 308 w 109"/>
                <a:gd name="T65" fmla="*/ 517 h 108"/>
                <a:gd name="T66" fmla="*/ 0 w 109"/>
                <a:gd name="T67" fmla="*/ 569 h 108"/>
                <a:gd name="T68" fmla="*/ 1755 w 109"/>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8"/>
                <a:gd name="T107" fmla="*/ 109 w 109"/>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8">
                  <a:moveTo>
                    <a:pt x="14" y="107"/>
                  </a:moveTo>
                  <a:lnTo>
                    <a:pt x="15" y="99"/>
                  </a:lnTo>
                  <a:lnTo>
                    <a:pt x="17" y="93"/>
                  </a:lnTo>
                  <a:lnTo>
                    <a:pt x="21" y="87"/>
                  </a:lnTo>
                  <a:lnTo>
                    <a:pt x="27" y="81"/>
                  </a:lnTo>
                  <a:lnTo>
                    <a:pt x="32" y="75"/>
                  </a:lnTo>
                  <a:lnTo>
                    <a:pt x="40" y="71"/>
                  </a:lnTo>
                  <a:lnTo>
                    <a:pt x="49" y="66"/>
                  </a:lnTo>
                  <a:lnTo>
                    <a:pt x="57" y="60"/>
                  </a:lnTo>
                  <a:lnTo>
                    <a:pt x="66" y="55"/>
                  </a:lnTo>
                  <a:lnTo>
                    <a:pt x="74" y="50"/>
                  </a:lnTo>
                  <a:lnTo>
                    <a:pt x="83" y="44"/>
                  </a:lnTo>
                  <a:lnTo>
                    <a:pt x="91" y="37"/>
                  </a:lnTo>
                  <a:lnTo>
                    <a:pt x="97" y="30"/>
                  </a:lnTo>
                  <a:lnTo>
                    <a:pt x="103" y="21"/>
                  </a:lnTo>
                  <a:lnTo>
                    <a:pt x="106" y="11"/>
                  </a:lnTo>
                  <a:lnTo>
                    <a:pt x="108" y="0"/>
                  </a:lnTo>
                  <a:lnTo>
                    <a:pt x="94" y="0"/>
                  </a:lnTo>
                  <a:lnTo>
                    <a:pt x="93" y="8"/>
                  </a:lnTo>
                  <a:lnTo>
                    <a:pt x="90" y="16"/>
                  </a:lnTo>
                  <a:lnTo>
                    <a:pt x="87" y="22"/>
                  </a:lnTo>
                  <a:lnTo>
                    <a:pt x="82" y="28"/>
                  </a:lnTo>
                  <a:lnTo>
                    <a:pt x="75" y="34"/>
                  </a:lnTo>
                  <a:lnTo>
                    <a:pt x="68" y="38"/>
                  </a:lnTo>
                  <a:lnTo>
                    <a:pt x="59" y="44"/>
                  </a:lnTo>
                  <a:lnTo>
                    <a:pt x="51" y="49"/>
                  </a:lnTo>
                  <a:lnTo>
                    <a:pt x="42" y="54"/>
                  </a:lnTo>
                  <a:lnTo>
                    <a:pt x="34" y="59"/>
                  </a:lnTo>
                  <a:lnTo>
                    <a:pt x="25" y="65"/>
                  </a:lnTo>
                  <a:lnTo>
                    <a:pt x="18" y="71"/>
                  </a:lnTo>
                  <a:lnTo>
                    <a:pt x="10" y="78"/>
                  </a:lnTo>
                  <a:lnTo>
                    <a:pt x="5" y="86"/>
                  </a:lnTo>
                  <a:lnTo>
                    <a:pt x="2" y="96"/>
                  </a:lnTo>
                  <a:lnTo>
                    <a:pt x="0" y="107"/>
                  </a:lnTo>
                  <a:lnTo>
                    <a:pt x="14"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6" name="Freeform 264">
              <a:extLst>
                <a:ext uri="{FF2B5EF4-FFF2-40B4-BE49-F238E27FC236}">
                  <a16:creationId xmlns:a16="http://schemas.microsoft.com/office/drawing/2014/main" id="{8C304960-32D3-5E93-ACF1-5448008B1542}"/>
                </a:ext>
              </a:extLst>
            </p:cNvPr>
            <p:cNvSpPr>
              <a:spLocks/>
            </p:cNvSpPr>
            <p:nvPr/>
          </p:nvSpPr>
          <p:spPr bwMode="auto">
            <a:xfrm>
              <a:off x="3953" y="3431"/>
              <a:ext cx="137" cy="103"/>
            </a:xfrm>
            <a:custGeom>
              <a:avLst/>
              <a:gdLst>
                <a:gd name="T0" fmla="*/ 13137 w 109"/>
                <a:gd name="T1" fmla="*/ 515 h 95"/>
                <a:gd name="T2" fmla="*/ 12503 w 109"/>
                <a:gd name="T3" fmla="*/ 417 h 95"/>
                <a:gd name="T4" fmla="*/ 10930 w 109"/>
                <a:gd name="T5" fmla="*/ 349 h 95"/>
                <a:gd name="T6" fmla="*/ 9048 w 109"/>
                <a:gd name="T7" fmla="*/ 294 h 95"/>
                <a:gd name="T8" fmla="*/ 6919 w 109"/>
                <a:gd name="T9" fmla="*/ 247 h 95"/>
                <a:gd name="T10" fmla="*/ 5010 w 109"/>
                <a:gd name="T11" fmla="*/ 192 h 95"/>
                <a:gd name="T12" fmla="*/ 3283 w 109"/>
                <a:gd name="T13" fmla="*/ 133 h 95"/>
                <a:gd name="T14" fmla="*/ 2007 w 109"/>
                <a:gd name="T15" fmla="*/ 69 h 95"/>
                <a:gd name="T16" fmla="*/ 1755 w 109"/>
                <a:gd name="T17" fmla="*/ 0 h 95"/>
                <a:gd name="T18" fmla="*/ 0 w 109"/>
                <a:gd name="T19" fmla="*/ 0 h 95"/>
                <a:gd name="T20" fmla="*/ 611 w 109"/>
                <a:gd name="T21" fmla="*/ 112 h 95"/>
                <a:gd name="T22" fmla="*/ 2206 w 109"/>
                <a:gd name="T23" fmla="*/ 192 h 95"/>
                <a:gd name="T24" fmla="*/ 3986 w 109"/>
                <a:gd name="T25" fmla="*/ 253 h 95"/>
                <a:gd name="T26" fmla="*/ 6215 w 109"/>
                <a:gd name="T27" fmla="*/ 316 h 95"/>
                <a:gd name="T28" fmla="*/ 8192 w 109"/>
                <a:gd name="T29" fmla="*/ 366 h 95"/>
                <a:gd name="T30" fmla="*/ 9948 w 109"/>
                <a:gd name="T31" fmla="*/ 407 h 95"/>
                <a:gd name="T32" fmla="*/ 11025 w 109"/>
                <a:gd name="T33" fmla="*/ 452 h 95"/>
                <a:gd name="T34" fmla="*/ 11416 w 109"/>
                <a:gd name="T35" fmla="*/ 515 h 95"/>
                <a:gd name="T36" fmla="*/ 13137 w 109"/>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5"/>
                <a:gd name="T59" fmla="*/ 109 w 109"/>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5">
                  <a:moveTo>
                    <a:pt x="108" y="94"/>
                  </a:moveTo>
                  <a:lnTo>
                    <a:pt x="103" y="77"/>
                  </a:lnTo>
                  <a:lnTo>
                    <a:pt x="90" y="65"/>
                  </a:lnTo>
                  <a:lnTo>
                    <a:pt x="74" y="54"/>
                  </a:lnTo>
                  <a:lnTo>
                    <a:pt x="57" y="45"/>
                  </a:lnTo>
                  <a:lnTo>
                    <a:pt x="41" y="35"/>
                  </a:lnTo>
                  <a:lnTo>
                    <a:pt x="27" y="25"/>
                  </a:lnTo>
                  <a:lnTo>
                    <a:pt x="17" y="13"/>
                  </a:lnTo>
                  <a:lnTo>
                    <a:pt x="14" y="0"/>
                  </a:lnTo>
                  <a:lnTo>
                    <a:pt x="0" y="0"/>
                  </a:lnTo>
                  <a:lnTo>
                    <a:pt x="5" y="20"/>
                  </a:lnTo>
                  <a:lnTo>
                    <a:pt x="18" y="35"/>
                  </a:lnTo>
                  <a:lnTo>
                    <a:pt x="33" y="47"/>
                  </a:lnTo>
                  <a:lnTo>
                    <a:pt x="51" y="57"/>
                  </a:lnTo>
                  <a:lnTo>
                    <a:pt x="68" y="66"/>
                  </a:lnTo>
                  <a:lnTo>
                    <a:pt x="82" y="75"/>
                  </a:lnTo>
                  <a:lnTo>
                    <a:pt x="91" y="83"/>
                  </a:lnTo>
                  <a:lnTo>
                    <a:pt x="94" y="94"/>
                  </a:lnTo>
                  <a:lnTo>
                    <a:pt x="108"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7" name="Freeform 265">
              <a:extLst>
                <a:ext uri="{FF2B5EF4-FFF2-40B4-BE49-F238E27FC236}">
                  <a16:creationId xmlns:a16="http://schemas.microsoft.com/office/drawing/2014/main" id="{832B8D6C-0CA8-8BCC-0C80-FD8AD9FBD74F}"/>
                </a:ext>
              </a:extLst>
            </p:cNvPr>
            <p:cNvSpPr>
              <a:spLocks/>
            </p:cNvSpPr>
            <p:nvPr/>
          </p:nvSpPr>
          <p:spPr bwMode="auto">
            <a:xfrm>
              <a:off x="4069" y="3533"/>
              <a:ext cx="21" cy="5"/>
            </a:xfrm>
            <a:custGeom>
              <a:avLst/>
              <a:gdLst>
                <a:gd name="T0" fmla="*/ 4582 w 16"/>
                <a:gd name="T1" fmla="*/ 4 h 5"/>
                <a:gd name="T2" fmla="*/ 4582 w 16"/>
                <a:gd name="T3" fmla="*/ 0 h 5"/>
                <a:gd name="T4" fmla="*/ 0 w 16"/>
                <a:gd name="T5" fmla="*/ 0 h 5"/>
                <a:gd name="T6" fmla="*/ 0 w 16"/>
                <a:gd name="T7" fmla="*/ 4 h 5"/>
                <a:gd name="T8" fmla="*/ 4582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8" name="Freeform 266">
              <a:extLst>
                <a:ext uri="{FF2B5EF4-FFF2-40B4-BE49-F238E27FC236}">
                  <a16:creationId xmlns:a16="http://schemas.microsoft.com/office/drawing/2014/main" id="{3264A1FA-1B05-58D8-24F7-A7744F70BBCB}"/>
                </a:ext>
              </a:extLst>
            </p:cNvPr>
            <p:cNvSpPr>
              <a:spLocks/>
            </p:cNvSpPr>
            <p:nvPr/>
          </p:nvSpPr>
          <p:spPr bwMode="auto">
            <a:xfrm>
              <a:off x="3953" y="3537"/>
              <a:ext cx="137" cy="116"/>
            </a:xfrm>
            <a:custGeom>
              <a:avLst/>
              <a:gdLst>
                <a:gd name="T0" fmla="*/ 1755 w 109"/>
                <a:gd name="T1" fmla="*/ 576 h 107"/>
                <a:gd name="T2" fmla="*/ 1833 w 109"/>
                <a:gd name="T3" fmla="*/ 525 h 107"/>
                <a:gd name="T4" fmla="*/ 2206 w 109"/>
                <a:gd name="T5" fmla="*/ 490 h 107"/>
                <a:gd name="T6" fmla="*/ 2523 w 109"/>
                <a:gd name="T7" fmla="*/ 452 h 107"/>
                <a:gd name="T8" fmla="*/ 3283 w 109"/>
                <a:gd name="T9" fmla="*/ 417 h 107"/>
                <a:gd name="T10" fmla="*/ 3818 w 109"/>
                <a:gd name="T11" fmla="*/ 396 h 107"/>
                <a:gd name="T12" fmla="*/ 5010 w 109"/>
                <a:gd name="T13" fmla="*/ 368 h 107"/>
                <a:gd name="T14" fmla="*/ 6013 w 109"/>
                <a:gd name="T15" fmla="*/ 337 h 107"/>
                <a:gd name="T16" fmla="*/ 6919 w 109"/>
                <a:gd name="T17" fmla="*/ 297 h 107"/>
                <a:gd name="T18" fmla="*/ 8044 w 109"/>
                <a:gd name="T19" fmla="*/ 270 h 107"/>
                <a:gd name="T20" fmla="*/ 9048 w 109"/>
                <a:gd name="T21" fmla="*/ 249 h 107"/>
                <a:gd name="T22" fmla="*/ 10110 w 109"/>
                <a:gd name="T23" fmla="*/ 212 h 107"/>
                <a:gd name="T24" fmla="*/ 11025 w 109"/>
                <a:gd name="T25" fmla="*/ 181 h 107"/>
                <a:gd name="T26" fmla="*/ 11758 w 109"/>
                <a:gd name="T27" fmla="*/ 144 h 107"/>
                <a:gd name="T28" fmla="*/ 12503 w 109"/>
                <a:gd name="T29" fmla="*/ 104 h 107"/>
                <a:gd name="T30" fmla="*/ 12867 w 109"/>
                <a:gd name="T31" fmla="*/ 50 h 107"/>
                <a:gd name="T32" fmla="*/ 13137 w 109"/>
                <a:gd name="T33" fmla="*/ 0 h 107"/>
                <a:gd name="T34" fmla="*/ 11416 w 109"/>
                <a:gd name="T35" fmla="*/ 0 h 107"/>
                <a:gd name="T36" fmla="*/ 11372 w 109"/>
                <a:gd name="T37" fmla="*/ 42 h 107"/>
                <a:gd name="T38" fmla="*/ 11025 w 109"/>
                <a:gd name="T39" fmla="*/ 69 h 107"/>
                <a:gd name="T40" fmla="*/ 10529 w 109"/>
                <a:gd name="T41" fmla="*/ 103 h 107"/>
                <a:gd name="T42" fmla="*/ 9948 w 109"/>
                <a:gd name="T43" fmla="*/ 123 h 107"/>
                <a:gd name="T44" fmla="*/ 9083 w 109"/>
                <a:gd name="T45" fmla="*/ 156 h 107"/>
                <a:gd name="T46" fmla="*/ 8192 w 109"/>
                <a:gd name="T47" fmla="*/ 183 h 107"/>
                <a:gd name="T48" fmla="*/ 7199 w 109"/>
                <a:gd name="T49" fmla="*/ 212 h 107"/>
                <a:gd name="T50" fmla="*/ 6215 w 109"/>
                <a:gd name="T51" fmla="*/ 244 h 107"/>
                <a:gd name="T52" fmla="*/ 5156 w 109"/>
                <a:gd name="T53" fmla="*/ 267 h 107"/>
                <a:gd name="T54" fmla="*/ 3986 w 109"/>
                <a:gd name="T55" fmla="*/ 297 h 107"/>
                <a:gd name="T56" fmla="*/ 3028 w 109"/>
                <a:gd name="T57" fmla="*/ 337 h 107"/>
                <a:gd name="T58" fmla="*/ 2206 w 109"/>
                <a:gd name="T59" fmla="*/ 373 h 107"/>
                <a:gd name="T60" fmla="*/ 1213 w 109"/>
                <a:gd name="T61" fmla="*/ 410 h 107"/>
                <a:gd name="T62" fmla="*/ 611 w 109"/>
                <a:gd name="T63" fmla="*/ 465 h 107"/>
                <a:gd name="T64" fmla="*/ 308 w 109"/>
                <a:gd name="T65" fmla="*/ 515 h 107"/>
                <a:gd name="T66" fmla="*/ 0 w 109"/>
                <a:gd name="T67" fmla="*/ 576 h 107"/>
                <a:gd name="T68" fmla="*/ 1755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7"/>
                  </a:lnTo>
                  <a:lnTo>
                    <a:pt x="18" y="90"/>
                  </a:lnTo>
                  <a:lnTo>
                    <a:pt x="21" y="83"/>
                  </a:lnTo>
                  <a:lnTo>
                    <a:pt x="27" y="77"/>
                  </a:lnTo>
                  <a:lnTo>
                    <a:pt x="32" y="72"/>
                  </a:lnTo>
                  <a:lnTo>
                    <a:pt x="41" y="67"/>
                  </a:lnTo>
                  <a:lnTo>
                    <a:pt x="49" y="61"/>
                  </a:lnTo>
                  <a:lnTo>
                    <a:pt x="57" y="55"/>
                  </a:lnTo>
                  <a:lnTo>
                    <a:pt x="66" y="50"/>
                  </a:lnTo>
                  <a:lnTo>
                    <a:pt x="74" y="46"/>
                  </a:lnTo>
                  <a:lnTo>
                    <a:pt x="83" y="39"/>
                  </a:lnTo>
                  <a:lnTo>
                    <a:pt x="91" y="33"/>
                  </a:lnTo>
                  <a:lnTo>
                    <a:pt x="97" y="27"/>
                  </a:lnTo>
                  <a:lnTo>
                    <a:pt x="103" y="19"/>
                  </a:lnTo>
                  <a:lnTo>
                    <a:pt x="106" y="9"/>
                  </a:lnTo>
                  <a:lnTo>
                    <a:pt x="108" y="0"/>
                  </a:lnTo>
                  <a:lnTo>
                    <a:pt x="94" y="0"/>
                  </a:lnTo>
                  <a:lnTo>
                    <a:pt x="93" y="7"/>
                  </a:lnTo>
                  <a:lnTo>
                    <a:pt x="91" y="13"/>
                  </a:lnTo>
                  <a:lnTo>
                    <a:pt x="87" y="18"/>
                  </a:lnTo>
                  <a:lnTo>
                    <a:pt x="82" y="23"/>
                  </a:lnTo>
                  <a:lnTo>
                    <a:pt x="75" y="29"/>
                  </a:lnTo>
                  <a:lnTo>
                    <a:pt x="68" y="34"/>
                  </a:lnTo>
                  <a:lnTo>
                    <a:pt x="59" y="39"/>
                  </a:lnTo>
                  <a:lnTo>
                    <a:pt x="51" y="44"/>
                  </a:lnTo>
                  <a:lnTo>
                    <a:pt x="42" y="49"/>
                  </a:lnTo>
                  <a:lnTo>
                    <a:pt x="33" y="55"/>
                  </a:lnTo>
                  <a:lnTo>
                    <a:pt x="25" y="61"/>
                  </a:lnTo>
                  <a:lnTo>
                    <a:pt x="18" y="68"/>
                  </a:lnTo>
                  <a:lnTo>
                    <a:pt x="10" y="76"/>
                  </a:lnTo>
                  <a:lnTo>
                    <a:pt x="5" y="85"/>
                  </a:lnTo>
                  <a:lnTo>
                    <a:pt x="2" y="94"/>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19" name="Freeform 267">
              <a:extLst>
                <a:ext uri="{FF2B5EF4-FFF2-40B4-BE49-F238E27FC236}">
                  <a16:creationId xmlns:a16="http://schemas.microsoft.com/office/drawing/2014/main" id="{A8EA1B9E-1229-23AE-79EA-65472953ECBE}"/>
                </a:ext>
              </a:extLst>
            </p:cNvPr>
            <p:cNvSpPr>
              <a:spLocks/>
            </p:cNvSpPr>
            <p:nvPr/>
          </p:nvSpPr>
          <p:spPr bwMode="auto">
            <a:xfrm>
              <a:off x="3953" y="3652"/>
              <a:ext cx="137" cy="115"/>
            </a:xfrm>
            <a:custGeom>
              <a:avLst/>
              <a:gdLst>
                <a:gd name="T0" fmla="*/ 13137 w 109"/>
                <a:gd name="T1" fmla="*/ 480 h 107"/>
                <a:gd name="T2" fmla="*/ 12867 w 109"/>
                <a:gd name="T3" fmla="*/ 437 h 107"/>
                <a:gd name="T4" fmla="*/ 12503 w 109"/>
                <a:gd name="T5" fmla="*/ 387 h 107"/>
                <a:gd name="T6" fmla="*/ 11758 w 109"/>
                <a:gd name="T7" fmla="*/ 354 h 107"/>
                <a:gd name="T8" fmla="*/ 11025 w 109"/>
                <a:gd name="T9" fmla="*/ 325 h 107"/>
                <a:gd name="T10" fmla="*/ 10110 w 109"/>
                <a:gd name="T11" fmla="*/ 290 h 107"/>
                <a:gd name="T12" fmla="*/ 9048 w 109"/>
                <a:gd name="T13" fmla="*/ 265 h 107"/>
                <a:gd name="T14" fmla="*/ 8044 w 109"/>
                <a:gd name="T15" fmla="*/ 244 h 107"/>
                <a:gd name="T16" fmla="*/ 6919 w 109"/>
                <a:gd name="T17" fmla="*/ 218 h 107"/>
                <a:gd name="T18" fmla="*/ 6013 w 109"/>
                <a:gd name="T19" fmla="*/ 196 h 107"/>
                <a:gd name="T20" fmla="*/ 4799 w 109"/>
                <a:gd name="T21" fmla="*/ 172 h 107"/>
                <a:gd name="T22" fmla="*/ 3818 w 109"/>
                <a:gd name="T23" fmla="*/ 149 h 107"/>
                <a:gd name="T24" fmla="*/ 3283 w 109"/>
                <a:gd name="T25" fmla="*/ 120 h 107"/>
                <a:gd name="T26" fmla="*/ 2523 w 109"/>
                <a:gd name="T27" fmla="*/ 102 h 107"/>
                <a:gd name="T28" fmla="*/ 2206 w 109"/>
                <a:gd name="T29" fmla="*/ 63 h 107"/>
                <a:gd name="T30" fmla="*/ 1833 w 109"/>
                <a:gd name="T31" fmla="*/ 38 h 107"/>
                <a:gd name="T32" fmla="*/ 1755 w 109"/>
                <a:gd name="T33" fmla="*/ 0 h 107"/>
                <a:gd name="T34" fmla="*/ 0 w 109"/>
                <a:gd name="T35" fmla="*/ 0 h 107"/>
                <a:gd name="T36" fmla="*/ 308 w 109"/>
                <a:gd name="T37" fmla="*/ 47 h 107"/>
                <a:gd name="T38" fmla="*/ 611 w 109"/>
                <a:gd name="T39" fmla="*/ 90 h 107"/>
                <a:gd name="T40" fmla="*/ 1213 w 109"/>
                <a:gd name="T41" fmla="*/ 129 h 107"/>
                <a:gd name="T42" fmla="*/ 2206 w 109"/>
                <a:gd name="T43" fmla="*/ 169 h 107"/>
                <a:gd name="T44" fmla="*/ 3028 w 109"/>
                <a:gd name="T45" fmla="*/ 199 h 107"/>
                <a:gd name="T46" fmla="*/ 4126 w 109"/>
                <a:gd name="T47" fmla="*/ 229 h 107"/>
                <a:gd name="T48" fmla="*/ 5156 w 109"/>
                <a:gd name="T49" fmla="*/ 247 h 107"/>
                <a:gd name="T50" fmla="*/ 6215 w 109"/>
                <a:gd name="T51" fmla="*/ 270 h 107"/>
                <a:gd name="T52" fmla="*/ 7199 w 109"/>
                <a:gd name="T53" fmla="*/ 302 h 107"/>
                <a:gd name="T54" fmla="*/ 8192 w 109"/>
                <a:gd name="T55" fmla="*/ 325 h 107"/>
                <a:gd name="T56" fmla="*/ 9083 w 109"/>
                <a:gd name="T57" fmla="*/ 349 h 107"/>
                <a:gd name="T58" fmla="*/ 9948 w 109"/>
                <a:gd name="T59" fmla="*/ 375 h 107"/>
                <a:gd name="T60" fmla="*/ 10529 w 109"/>
                <a:gd name="T61" fmla="*/ 387 h 107"/>
                <a:gd name="T62" fmla="*/ 11025 w 109"/>
                <a:gd name="T63" fmla="*/ 416 h 107"/>
                <a:gd name="T64" fmla="*/ 11372 w 109"/>
                <a:gd name="T65" fmla="*/ 443 h 107"/>
                <a:gd name="T66" fmla="*/ 11416 w 109"/>
                <a:gd name="T67" fmla="*/ 480 h 107"/>
                <a:gd name="T68" fmla="*/ 13137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6"/>
                  </a:lnTo>
                  <a:lnTo>
                    <a:pt x="103" y="86"/>
                  </a:lnTo>
                  <a:lnTo>
                    <a:pt x="97" y="78"/>
                  </a:lnTo>
                  <a:lnTo>
                    <a:pt x="91" y="70"/>
                  </a:lnTo>
                  <a:lnTo>
                    <a:pt x="83" y="64"/>
                  </a:lnTo>
                  <a:lnTo>
                    <a:pt x="74" y="59"/>
                  </a:lnTo>
                  <a:lnTo>
                    <a:pt x="66" y="53"/>
                  </a:lnTo>
                  <a:lnTo>
                    <a:pt x="57" y="48"/>
                  </a:lnTo>
                  <a:lnTo>
                    <a:pt x="49" y="43"/>
                  </a:lnTo>
                  <a:lnTo>
                    <a:pt x="40" y="38"/>
                  </a:lnTo>
                  <a:lnTo>
                    <a:pt x="32" y="33"/>
                  </a:lnTo>
                  <a:lnTo>
                    <a:pt x="27" y="27"/>
                  </a:lnTo>
                  <a:lnTo>
                    <a:pt x="21" y="22"/>
                  </a:lnTo>
                  <a:lnTo>
                    <a:pt x="18" y="15"/>
                  </a:lnTo>
                  <a:lnTo>
                    <a:pt x="15" y="8"/>
                  </a:lnTo>
                  <a:lnTo>
                    <a:pt x="14" y="0"/>
                  </a:lnTo>
                  <a:lnTo>
                    <a:pt x="0" y="0"/>
                  </a:lnTo>
                  <a:lnTo>
                    <a:pt x="2" y="11"/>
                  </a:lnTo>
                  <a:lnTo>
                    <a:pt x="5" y="20"/>
                  </a:lnTo>
                  <a:lnTo>
                    <a:pt x="10" y="29"/>
                  </a:lnTo>
                  <a:lnTo>
                    <a:pt x="18" y="37"/>
                  </a:lnTo>
                  <a:lnTo>
                    <a:pt x="25" y="44"/>
                  </a:lnTo>
                  <a:lnTo>
                    <a:pt x="34" y="50"/>
                  </a:lnTo>
                  <a:lnTo>
                    <a:pt x="42" y="55"/>
                  </a:lnTo>
                  <a:lnTo>
                    <a:pt x="51" y="60"/>
                  </a:lnTo>
                  <a:lnTo>
                    <a:pt x="59" y="65"/>
                  </a:lnTo>
                  <a:lnTo>
                    <a:pt x="68" y="70"/>
                  </a:lnTo>
                  <a:lnTo>
                    <a:pt x="75" y="75"/>
                  </a:lnTo>
                  <a:lnTo>
                    <a:pt x="82" y="81"/>
                  </a:lnTo>
                  <a:lnTo>
                    <a:pt x="87" y="86"/>
                  </a:lnTo>
                  <a:lnTo>
                    <a:pt x="91" y="92"/>
                  </a:lnTo>
                  <a:lnTo>
                    <a:pt x="93" y="98"/>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0" name="Freeform 268">
              <a:extLst>
                <a:ext uri="{FF2B5EF4-FFF2-40B4-BE49-F238E27FC236}">
                  <a16:creationId xmlns:a16="http://schemas.microsoft.com/office/drawing/2014/main" id="{23F7BE64-1E7B-1C55-958E-BF9C44007E17}"/>
                </a:ext>
              </a:extLst>
            </p:cNvPr>
            <p:cNvSpPr>
              <a:spLocks/>
            </p:cNvSpPr>
            <p:nvPr/>
          </p:nvSpPr>
          <p:spPr bwMode="auto">
            <a:xfrm>
              <a:off x="3983" y="2782"/>
              <a:ext cx="92" cy="114"/>
            </a:xfrm>
            <a:custGeom>
              <a:avLst/>
              <a:gdLst>
                <a:gd name="T0" fmla="*/ 4737 w 73"/>
                <a:gd name="T1" fmla="*/ 472 h 105"/>
                <a:gd name="T2" fmla="*/ 1 w 73"/>
                <a:gd name="T3" fmla="*/ 573 h 105"/>
                <a:gd name="T4" fmla="*/ 0 w 73"/>
                <a:gd name="T5" fmla="*/ 566 h 105"/>
                <a:gd name="T6" fmla="*/ 3081 w 73"/>
                <a:gd name="T7" fmla="*/ 292 h 105"/>
                <a:gd name="T8" fmla="*/ 3419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13 w 73"/>
                <a:gd name="T33" fmla="*/ 185 h 105"/>
                <a:gd name="T34" fmla="*/ 6168 w 73"/>
                <a:gd name="T35" fmla="*/ 225 h 105"/>
                <a:gd name="T36" fmla="*/ 6436 w 73"/>
                <a:gd name="T37" fmla="*/ 257 h 105"/>
                <a:gd name="T38" fmla="*/ 6592 w 73"/>
                <a:gd name="T39" fmla="*/ 297 h 105"/>
                <a:gd name="T40" fmla="*/ 9390 w 73"/>
                <a:gd name="T41" fmla="*/ 579 h 105"/>
                <a:gd name="T42" fmla="*/ 9050 w 73"/>
                <a:gd name="T43" fmla="*/ 585 h 105"/>
                <a:gd name="T44" fmla="*/ 4737 w 73"/>
                <a:gd name="T45" fmla="*/ 47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7" y="84"/>
                  </a:moveTo>
                  <a:lnTo>
                    <a:pt x="1" y="102"/>
                  </a:lnTo>
                  <a:lnTo>
                    <a:pt x="0" y="101"/>
                  </a:lnTo>
                  <a:lnTo>
                    <a:pt x="24" y="52"/>
                  </a:lnTo>
                  <a:lnTo>
                    <a:pt x="26"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6" y="33"/>
                  </a:lnTo>
                  <a:lnTo>
                    <a:pt x="48" y="40"/>
                  </a:lnTo>
                  <a:lnTo>
                    <a:pt x="50" y="46"/>
                  </a:lnTo>
                  <a:lnTo>
                    <a:pt x="51" y="53"/>
                  </a:lnTo>
                  <a:lnTo>
                    <a:pt x="72" y="103"/>
                  </a:lnTo>
                  <a:lnTo>
                    <a:pt x="71" y="104"/>
                  </a:lnTo>
                  <a:lnTo>
                    <a:pt x="37" y="8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1" name="Freeform 269">
              <a:extLst>
                <a:ext uri="{FF2B5EF4-FFF2-40B4-BE49-F238E27FC236}">
                  <a16:creationId xmlns:a16="http://schemas.microsoft.com/office/drawing/2014/main" id="{939DA701-A416-BD35-7225-266C9D6E467B}"/>
                </a:ext>
              </a:extLst>
            </p:cNvPr>
            <p:cNvSpPr>
              <a:spLocks/>
            </p:cNvSpPr>
            <p:nvPr/>
          </p:nvSpPr>
          <p:spPr bwMode="auto">
            <a:xfrm>
              <a:off x="3735" y="3034"/>
              <a:ext cx="90" cy="159"/>
            </a:xfrm>
            <a:custGeom>
              <a:avLst/>
              <a:gdLst>
                <a:gd name="T0" fmla="*/ 1389 w 72"/>
                <a:gd name="T1" fmla="*/ 759 h 147"/>
                <a:gd name="T2" fmla="*/ 1451 w 72"/>
                <a:gd name="T3" fmla="*/ 715 h 147"/>
                <a:gd name="T4" fmla="*/ 1736 w 72"/>
                <a:gd name="T5" fmla="*/ 691 h 147"/>
                <a:gd name="T6" fmla="*/ 2018 w 72"/>
                <a:gd name="T7" fmla="*/ 661 h 147"/>
                <a:gd name="T8" fmla="*/ 2424 w 72"/>
                <a:gd name="T9" fmla="*/ 647 h 147"/>
                <a:gd name="T10" fmla="*/ 2805 w 72"/>
                <a:gd name="T11" fmla="*/ 624 h 147"/>
                <a:gd name="T12" fmla="*/ 3430 w 72"/>
                <a:gd name="T13" fmla="*/ 604 h 147"/>
                <a:gd name="T14" fmla="*/ 4093 w 72"/>
                <a:gd name="T15" fmla="*/ 591 h 147"/>
                <a:gd name="T16" fmla="*/ 4794 w 72"/>
                <a:gd name="T17" fmla="*/ 558 h 147"/>
                <a:gd name="T18" fmla="*/ 5549 w 72"/>
                <a:gd name="T19" fmla="*/ 529 h 147"/>
                <a:gd name="T20" fmla="*/ 6104 w 72"/>
                <a:gd name="T21" fmla="*/ 493 h 147"/>
                <a:gd name="T22" fmla="*/ 6700 w 72"/>
                <a:gd name="T23" fmla="*/ 441 h 147"/>
                <a:gd name="T24" fmla="*/ 6979 w 72"/>
                <a:gd name="T25" fmla="*/ 386 h 147"/>
                <a:gd name="T26" fmla="*/ 7491 w 72"/>
                <a:gd name="T27" fmla="*/ 314 h 147"/>
                <a:gd name="T28" fmla="*/ 7755 w 72"/>
                <a:gd name="T29" fmla="*/ 226 h 147"/>
                <a:gd name="T30" fmla="*/ 7755 w 72"/>
                <a:gd name="T31" fmla="*/ 123 h 147"/>
                <a:gd name="T32" fmla="*/ 7491 w 72"/>
                <a:gd name="T33" fmla="*/ 0 h 147"/>
                <a:gd name="T34" fmla="*/ 6104 w 72"/>
                <a:gd name="T35" fmla="*/ 1 h 147"/>
                <a:gd name="T36" fmla="*/ 6204 w 72"/>
                <a:gd name="T37" fmla="*/ 123 h 147"/>
                <a:gd name="T38" fmla="*/ 6250 w 72"/>
                <a:gd name="T39" fmla="*/ 215 h 147"/>
                <a:gd name="T40" fmla="*/ 6104 w 72"/>
                <a:gd name="T41" fmla="*/ 295 h 147"/>
                <a:gd name="T42" fmla="*/ 5650 w 72"/>
                <a:gd name="T43" fmla="*/ 368 h 147"/>
                <a:gd name="T44" fmla="*/ 5299 w 72"/>
                <a:gd name="T45" fmla="*/ 418 h 147"/>
                <a:gd name="T46" fmla="*/ 4929 w 72"/>
                <a:gd name="T47" fmla="*/ 452 h 147"/>
                <a:gd name="T48" fmla="*/ 4288 w 72"/>
                <a:gd name="T49" fmla="*/ 483 h 147"/>
                <a:gd name="T50" fmla="*/ 3845 w 72"/>
                <a:gd name="T51" fmla="*/ 511 h 147"/>
                <a:gd name="T52" fmla="*/ 3176 w 72"/>
                <a:gd name="T53" fmla="*/ 529 h 147"/>
                <a:gd name="T54" fmla="*/ 2541 w 72"/>
                <a:gd name="T55" fmla="*/ 547 h 147"/>
                <a:gd name="T56" fmla="*/ 2091 w 72"/>
                <a:gd name="T57" fmla="*/ 572 h 147"/>
                <a:gd name="T58" fmla="*/ 1389 w 72"/>
                <a:gd name="T59" fmla="*/ 592 h 147"/>
                <a:gd name="T60" fmla="*/ 881 w 72"/>
                <a:gd name="T61" fmla="*/ 624 h 147"/>
                <a:gd name="T62" fmla="*/ 338 w 72"/>
                <a:gd name="T63" fmla="*/ 653 h 147"/>
                <a:gd name="T64" fmla="*/ 1 w 72"/>
                <a:gd name="T65" fmla="*/ 702 h 147"/>
                <a:gd name="T66" fmla="*/ 0 w 72"/>
                <a:gd name="T67" fmla="*/ 759 h 147"/>
                <a:gd name="T68" fmla="*/ 1389 w 72"/>
                <a:gd name="T69" fmla="*/ 759 h 1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7"/>
                <a:gd name="T107" fmla="*/ 72 w 72"/>
                <a:gd name="T108" fmla="*/ 147 h 1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7">
                  <a:moveTo>
                    <a:pt x="13" y="146"/>
                  </a:moveTo>
                  <a:lnTo>
                    <a:pt x="14" y="138"/>
                  </a:lnTo>
                  <a:lnTo>
                    <a:pt x="16" y="132"/>
                  </a:lnTo>
                  <a:lnTo>
                    <a:pt x="18" y="128"/>
                  </a:lnTo>
                  <a:lnTo>
                    <a:pt x="22" y="124"/>
                  </a:lnTo>
                  <a:lnTo>
                    <a:pt x="26" y="120"/>
                  </a:lnTo>
                  <a:lnTo>
                    <a:pt x="32" y="117"/>
                  </a:lnTo>
                  <a:lnTo>
                    <a:pt x="38" y="113"/>
                  </a:lnTo>
                  <a:lnTo>
                    <a:pt x="44" y="108"/>
                  </a:lnTo>
                  <a:lnTo>
                    <a:pt x="51" y="102"/>
                  </a:lnTo>
                  <a:lnTo>
                    <a:pt x="56" y="95"/>
                  </a:lnTo>
                  <a:lnTo>
                    <a:pt x="62" y="85"/>
                  </a:lnTo>
                  <a:lnTo>
                    <a:pt x="65" y="74"/>
                  </a:lnTo>
                  <a:lnTo>
                    <a:pt x="69" y="60"/>
                  </a:lnTo>
                  <a:lnTo>
                    <a:pt x="71" y="43"/>
                  </a:lnTo>
                  <a:lnTo>
                    <a:pt x="71" y="24"/>
                  </a:lnTo>
                  <a:lnTo>
                    <a:pt x="69" y="0"/>
                  </a:lnTo>
                  <a:lnTo>
                    <a:pt x="56" y="1"/>
                  </a:lnTo>
                  <a:lnTo>
                    <a:pt x="57" y="24"/>
                  </a:lnTo>
                  <a:lnTo>
                    <a:pt x="58" y="42"/>
                  </a:lnTo>
                  <a:lnTo>
                    <a:pt x="56" y="57"/>
                  </a:lnTo>
                  <a:lnTo>
                    <a:pt x="52" y="70"/>
                  </a:lnTo>
                  <a:lnTo>
                    <a:pt x="49" y="80"/>
                  </a:lnTo>
                  <a:lnTo>
                    <a:pt x="45" y="87"/>
                  </a:lnTo>
                  <a:lnTo>
                    <a:pt x="40" y="93"/>
                  </a:lnTo>
                  <a:lnTo>
                    <a:pt x="35" y="98"/>
                  </a:lnTo>
                  <a:lnTo>
                    <a:pt x="30" y="102"/>
                  </a:lnTo>
                  <a:lnTo>
                    <a:pt x="24" y="105"/>
                  </a:lnTo>
                  <a:lnTo>
                    <a:pt x="19" y="110"/>
                  </a:lnTo>
                  <a:lnTo>
                    <a:pt x="13" y="114"/>
                  </a:lnTo>
                  <a:lnTo>
                    <a:pt x="8" y="120"/>
                  </a:lnTo>
                  <a:lnTo>
                    <a:pt x="3" y="127"/>
                  </a:lnTo>
                  <a:lnTo>
                    <a:pt x="1" y="135"/>
                  </a:lnTo>
                  <a:lnTo>
                    <a:pt x="0" y="146"/>
                  </a:lnTo>
                  <a:lnTo>
                    <a:pt x="13" y="14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2" name="Freeform 270">
              <a:extLst>
                <a:ext uri="{FF2B5EF4-FFF2-40B4-BE49-F238E27FC236}">
                  <a16:creationId xmlns:a16="http://schemas.microsoft.com/office/drawing/2014/main" id="{FDB79319-F146-0119-5270-1BA27D494CB0}"/>
                </a:ext>
              </a:extLst>
            </p:cNvPr>
            <p:cNvSpPr>
              <a:spLocks/>
            </p:cNvSpPr>
            <p:nvPr/>
          </p:nvSpPr>
          <p:spPr bwMode="auto">
            <a:xfrm>
              <a:off x="3735" y="3192"/>
              <a:ext cx="135" cy="120"/>
            </a:xfrm>
            <a:custGeom>
              <a:avLst/>
              <a:gdLst>
                <a:gd name="T0" fmla="*/ 10091 w 108"/>
                <a:gd name="T1" fmla="*/ 562 h 111"/>
                <a:gd name="T2" fmla="*/ 11705 w 108"/>
                <a:gd name="T3" fmla="*/ 562 h 111"/>
                <a:gd name="T4" fmla="*/ 11366 w 108"/>
                <a:gd name="T5" fmla="*/ 512 h 111"/>
                <a:gd name="T6" fmla="*/ 11124 w 108"/>
                <a:gd name="T7" fmla="*/ 456 h 111"/>
                <a:gd name="T8" fmla="*/ 10469 w 108"/>
                <a:gd name="T9" fmla="*/ 417 h 111"/>
                <a:gd name="T10" fmla="*/ 9798 w 108"/>
                <a:gd name="T11" fmla="*/ 377 h 111"/>
                <a:gd name="T12" fmla="*/ 8944 w 108"/>
                <a:gd name="T13" fmla="*/ 343 h 111"/>
                <a:gd name="T14" fmla="*/ 8073 w 108"/>
                <a:gd name="T15" fmla="*/ 316 h 111"/>
                <a:gd name="T16" fmla="*/ 6979 w 108"/>
                <a:gd name="T17" fmla="*/ 292 h 111"/>
                <a:gd name="T18" fmla="*/ 6104 w 108"/>
                <a:gd name="T19" fmla="*/ 256 h 111"/>
                <a:gd name="T20" fmla="*/ 5250 w 108"/>
                <a:gd name="T21" fmla="*/ 232 h 111"/>
                <a:gd name="T22" fmla="*/ 4239 w 108"/>
                <a:gd name="T23" fmla="*/ 203 h 111"/>
                <a:gd name="T24" fmla="*/ 3544 w 108"/>
                <a:gd name="T25" fmla="*/ 174 h 111"/>
                <a:gd name="T26" fmla="*/ 2841 w 108"/>
                <a:gd name="T27" fmla="*/ 144 h 111"/>
                <a:gd name="T28" fmla="*/ 2273 w 108"/>
                <a:gd name="T29" fmla="*/ 114 h 111"/>
                <a:gd name="T30" fmla="*/ 1736 w 108"/>
                <a:gd name="T31" fmla="*/ 74 h 111"/>
                <a:gd name="T32" fmla="*/ 1454 w 108"/>
                <a:gd name="T33" fmla="*/ 43 h 111"/>
                <a:gd name="T34" fmla="*/ 1389 w 108"/>
                <a:gd name="T35" fmla="*/ 0 h 111"/>
                <a:gd name="T36" fmla="*/ 0 w 108"/>
                <a:gd name="T37" fmla="*/ 0 h 111"/>
                <a:gd name="T38" fmla="*/ 1 w 108"/>
                <a:gd name="T39" fmla="*/ 54 h 111"/>
                <a:gd name="T40" fmla="*/ 455 w 108"/>
                <a:gd name="T41" fmla="*/ 109 h 111"/>
                <a:gd name="T42" fmla="*/ 930 w 108"/>
                <a:gd name="T43" fmla="*/ 156 h 111"/>
                <a:gd name="T44" fmla="*/ 1673 w 108"/>
                <a:gd name="T45" fmla="*/ 188 h 111"/>
                <a:gd name="T46" fmla="*/ 2523 w 108"/>
                <a:gd name="T47" fmla="*/ 232 h 111"/>
                <a:gd name="T48" fmla="*/ 3544 w 108"/>
                <a:gd name="T49" fmla="*/ 256 h 111"/>
                <a:gd name="T50" fmla="*/ 4430 w 108"/>
                <a:gd name="T51" fmla="*/ 293 h 111"/>
                <a:gd name="T52" fmla="*/ 5538 w 108"/>
                <a:gd name="T53" fmla="*/ 317 h 111"/>
                <a:gd name="T54" fmla="*/ 6204 w 108"/>
                <a:gd name="T55" fmla="*/ 343 h 111"/>
                <a:gd name="T56" fmla="*/ 7266 w 108"/>
                <a:gd name="T57" fmla="*/ 374 h 111"/>
                <a:gd name="T58" fmla="*/ 8073 w 108"/>
                <a:gd name="T59" fmla="*/ 401 h 111"/>
                <a:gd name="T60" fmla="*/ 8724 w 108"/>
                <a:gd name="T61" fmla="*/ 434 h 111"/>
                <a:gd name="T62" fmla="*/ 9388 w 108"/>
                <a:gd name="T63" fmla="*/ 467 h 111"/>
                <a:gd name="T64" fmla="*/ 9798 w 108"/>
                <a:gd name="T65" fmla="*/ 493 h 111"/>
                <a:gd name="T66" fmla="*/ 9993 w 108"/>
                <a:gd name="T67" fmla="*/ 520 h 111"/>
                <a:gd name="T68" fmla="*/ 10091 w 108"/>
                <a:gd name="T69" fmla="*/ 562 h 111"/>
                <a:gd name="T70" fmla="*/ 11705 w 108"/>
                <a:gd name="T71" fmla="*/ 562 h 111"/>
                <a:gd name="T72" fmla="*/ 10091 w 108"/>
                <a:gd name="T73" fmla="*/ 562 h 1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111"/>
                <a:gd name="T113" fmla="*/ 108 w 108"/>
                <a:gd name="T114" fmla="*/ 111 h 1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111">
                  <a:moveTo>
                    <a:pt x="93" y="110"/>
                  </a:moveTo>
                  <a:lnTo>
                    <a:pt x="107" y="110"/>
                  </a:lnTo>
                  <a:lnTo>
                    <a:pt x="105" y="100"/>
                  </a:lnTo>
                  <a:lnTo>
                    <a:pt x="102" y="89"/>
                  </a:lnTo>
                  <a:lnTo>
                    <a:pt x="96" y="81"/>
                  </a:lnTo>
                  <a:lnTo>
                    <a:pt x="90" y="74"/>
                  </a:lnTo>
                  <a:lnTo>
                    <a:pt x="82" y="67"/>
                  </a:lnTo>
                  <a:lnTo>
                    <a:pt x="74" y="61"/>
                  </a:lnTo>
                  <a:lnTo>
                    <a:pt x="65" y="56"/>
                  </a:lnTo>
                  <a:lnTo>
                    <a:pt x="56" y="50"/>
                  </a:lnTo>
                  <a:lnTo>
                    <a:pt x="48" y="45"/>
                  </a:lnTo>
                  <a:lnTo>
                    <a:pt x="39" y="40"/>
                  </a:lnTo>
                  <a:lnTo>
                    <a:pt x="32" y="34"/>
                  </a:lnTo>
                  <a:lnTo>
                    <a:pt x="26" y="28"/>
                  </a:lnTo>
                  <a:lnTo>
                    <a:pt x="21" y="22"/>
                  </a:lnTo>
                  <a:lnTo>
                    <a:pt x="16" y="15"/>
                  </a:lnTo>
                  <a:lnTo>
                    <a:pt x="14" y="8"/>
                  </a:lnTo>
                  <a:lnTo>
                    <a:pt x="13" y="0"/>
                  </a:lnTo>
                  <a:lnTo>
                    <a:pt x="0" y="0"/>
                  </a:lnTo>
                  <a:lnTo>
                    <a:pt x="1" y="11"/>
                  </a:lnTo>
                  <a:lnTo>
                    <a:pt x="4" y="21"/>
                  </a:lnTo>
                  <a:lnTo>
                    <a:pt x="9" y="30"/>
                  </a:lnTo>
                  <a:lnTo>
                    <a:pt x="15" y="37"/>
                  </a:lnTo>
                  <a:lnTo>
                    <a:pt x="23" y="45"/>
                  </a:lnTo>
                  <a:lnTo>
                    <a:pt x="32" y="50"/>
                  </a:lnTo>
                  <a:lnTo>
                    <a:pt x="40" y="57"/>
                  </a:lnTo>
                  <a:lnTo>
                    <a:pt x="50" y="62"/>
                  </a:lnTo>
                  <a:lnTo>
                    <a:pt x="57" y="67"/>
                  </a:lnTo>
                  <a:lnTo>
                    <a:pt x="66" y="73"/>
                  </a:lnTo>
                  <a:lnTo>
                    <a:pt x="74" y="78"/>
                  </a:lnTo>
                  <a:lnTo>
                    <a:pt x="81" y="84"/>
                  </a:lnTo>
                  <a:lnTo>
                    <a:pt x="86" y="90"/>
                  </a:lnTo>
                  <a:lnTo>
                    <a:pt x="90" y="96"/>
                  </a:lnTo>
                  <a:lnTo>
                    <a:pt x="92" y="102"/>
                  </a:lnTo>
                  <a:lnTo>
                    <a:pt x="93" y="110"/>
                  </a:lnTo>
                  <a:lnTo>
                    <a:pt x="107" y="110"/>
                  </a:lnTo>
                  <a:lnTo>
                    <a:pt x="93" y="11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3" name="Freeform 271">
              <a:extLst>
                <a:ext uri="{FF2B5EF4-FFF2-40B4-BE49-F238E27FC236}">
                  <a16:creationId xmlns:a16="http://schemas.microsoft.com/office/drawing/2014/main" id="{68C0C31C-039D-1F18-CD0B-DF887D02AD50}"/>
                </a:ext>
              </a:extLst>
            </p:cNvPr>
            <p:cNvSpPr>
              <a:spLocks/>
            </p:cNvSpPr>
            <p:nvPr/>
          </p:nvSpPr>
          <p:spPr bwMode="auto">
            <a:xfrm>
              <a:off x="3852" y="3311"/>
              <a:ext cx="18" cy="2"/>
            </a:xfrm>
            <a:custGeom>
              <a:avLst/>
              <a:gdLst>
                <a:gd name="T0" fmla="*/ 642 w 15"/>
                <a:gd name="T1" fmla="*/ 0 h 2"/>
                <a:gd name="T2" fmla="*/ 0 w 15"/>
                <a:gd name="T3" fmla="*/ 0 h 2"/>
                <a:gd name="T4" fmla="*/ 0 w 15"/>
                <a:gd name="T5" fmla="*/ 1 h 2"/>
                <a:gd name="T6" fmla="*/ 642 w 15"/>
                <a:gd name="T7" fmla="*/ 1 h 2"/>
                <a:gd name="T8" fmla="*/ 642 w 15"/>
                <a:gd name="T9" fmla="*/ 0 h 2"/>
                <a:gd name="T10" fmla="*/ 0 w 15"/>
                <a:gd name="T11" fmla="*/ 0 h 2"/>
                <a:gd name="T12" fmla="*/ 642 w 15"/>
                <a:gd name="T13" fmla="*/ 0 h 2"/>
                <a:gd name="T14" fmla="*/ 0 60000 65536"/>
                <a:gd name="T15" fmla="*/ 0 60000 65536"/>
                <a:gd name="T16" fmla="*/ 0 60000 65536"/>
                <a:gd name="T17" fmla="*/ 0 60000 65536"/>
                <a:gd name="T18" fmla="*/ 0 60000 65536"/>
                <a:gd name="T19" fmla="*/ 0 60000 65536"/>
                <a:gd name="T20" fmla="*/ 0 60000 65536"/>
                <a:gd name="T21" fmla="*/ 0 w 15"/>
                <a:gd name="T22" fmla="*/ 0 h 2"/>
                <a:gd name="T23" fmla="*/ 15 w 15"/>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
                  <a:moveTo>
                    <a:pt x="14" y="0"/>
                  </a:moveTo>
                  <a:lnTo>
                    <a:pt x="0" y="0"/>
                  </a:lnTo>
                  <a:lnTo>
                    <a:pt x="0" y="1"/>
                  </a:lnTo>
                  <a:lnTo>
                    <a:pt x="14" y="1"/>
                  </a:lnTo>
                  <a:lnTo>
                    <a:pt x="14" y="0"/>
                  </a:lnTo>
                  <a:lnTo>
                    <a:pt x="0" y="0"/>
                  </a:lnTo>
                  <a:lnTo>
                    <a:pt x="14"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4" name="Freeform 272">
              <a:extLst>
                <a:ext uri="{FF2B5EF4-FFF2-40B4-BE49-F238E27FC236}">
                  <a16:creationId xmlns:a16="http://schemas.microsoft.com/office/drawing/2014/main" id="{F4B7D543-37D7-260F-2DEF-B72BF2C39676}"/>
                </a:ext>
              </a:extLst>
            </p:cNvPr>
            <p:cNvSpPr>
              <a:spLocks/>
            </p:cNvSpPr>
            <p:nvPr/>
          </p:nvSpPr>
          <p:spPr bwMode="auto">
            <a:xfrm>
              <a:off x="3734" y="3311"/>
              <a:ext cx="136" cy="116"/>
            </a:xfrm>
            <a:custGeom>
              <a:avLst/>
              <a:gdLst>
                <a:gd name="T0" fmla="*/ 1370 w 109"/>
                <a:gd name="T1" fmla="*/ 576 h 107"/>
                <a:gd name="T2" fmla="*/ 1573 w 109"/>
                <a:gd name="T3" fmla="*/ 531 h 107"/>
                <a:gd name="T4" fmla="*/ 1709 w 109"/>
                <a:gd name="T5" fmla="*/ 504 h 107"/>
                <a:gd name="T6" fmla="*/ 2132 w 109"/>
                <a:gd name="T7" fmla="*/ 475 h 107"/>
                <a:gd name="T8" fmla="*/ 2660 w 109"/>
                <a:gd name="T9" fmla="*/ 439 h 107"/>
                <a:gd name="T10" fmla="*/ 3457 w 109"/>
                <a:gd name="T11" fmla="*/ 405 h 107"/>
                <a:gd name="T12" fmla="*/ 4313 w 109"/>
                <a:gd name="T13" fmla="*/ 378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8 h 107"/>
                <a:gd name="T40" fmla="*/ 9154 w 109"/>
                <a:gd name="T41" fmla="*/ 121 h 107"/>
                <a:gd name="T42" fmla="*/ 8486 w 109"/>
                <a:gd name="T43" fmla="*/ 144 h 107"/>
                <a:gd name="T44" fmla="*/ 7817 w 109"/>
                <a:gd name="T45" fmla="*/ 183 h 107"/>
                <a:gd name="T46" fmla="*/ 7008 w 109"/>
                <a:gd name="T47" fmla="*/ 208 h 107"/>
                <a:gd name="T48" fmla="*/ 6155 w 109"/>
                <a:gd name="T49" fmla="*/ 244 h 107"/>
                <a:gd name="T50" fmla="*/ 5381 w 109"/>
                <a:gd name="T51" fmla="*/ 267 h 107"/>
                <a:gd name="T52" fmla="*/ 4357 w 109"/>
                <a:gd name="T53" fmla="*/ 289 h 107"/>
                <a:gd name="T54" fmla="*/ 3457 w 109"/>
                <a:gd name="T55" fmla="*/ 318 h 107"/>
                <a:gd name="T56" fmla="*/ 2633 w 109"/>
                <a:gd name="T57" fmla="*/ 345 h 107"/>
                <a:gd name="T58" fmla="*/ 1709 w 109"/>
                <a:gd name="T59" fmla="*/ 378 h 107"/>
                <a:gd name="T60" fmla="*/ 1011 w 109"/>
                <a:gd name="T61" fmla="*/ 417 h 107"/>
                <a:gd name="T62" fmla="*/ 453 w 109"/>
                <a:gd name="T63" fmla="*/ 469 h 107"/>
                <a:gd name="T64" fmla="*/ 2 w 109"/>
                <a:gd name="T65" fmla="*/ 521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7"/>
                  </a:lnTo>
                  <a:lnTo>
                    <a:pt x="26" y="81"/>
                  </a:lnTo>
                  <a:lnTo>
                    <a:pt x="33" y="75"/>
                  </a:lnTo>
                  <a:lnTo>
                    <a:pt x="41" y="70"/>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6"/>
                  </a:lnTo>
                  <a:lnTo>
                    <a:pt x="87" y="22"/>
                  </a:lnTo>
                  <a:lnTo>
                    <a:pt x="82" y="27"/>
                  </a:lnTo>
                  <a:lnTo>
                    <a:pt x="75" y="34"/>
                  </a:lnTo>
                  <a:lnTo>
                    <a:pt x="67" y="38"/>
                  </a:lnTo>
                  <a:lnTo>
                    <a:pt x="59" y="44"/>
                  </a:lnTo>
                  <a:lnTo>
                    <a:pt x="51" y="49"/>
                  </a:lnTo>
                  <a:lnTo>
                    <a:pt x="42" y="53"/>
                  </a:lnTo>
                  <a:lnTo>
                    <a:pt x="33" y="59"/>
                  </a:lnTo>
                  <a:lnTo>
                    <a:pt x="25" y="64"/>
                  </a:lnTo>
                  <a:lnTo>
                    <a:pt x="17" y="70"/>
                  </a:lnTo>
                  <a:lnTo>
                    <a:pt x="10" y="77"/>
                  </a:lnTo>
                  <a:lnTo>
                    <a:pt x="5" y="86"/>
                  </a:lnTo>
                  <a:lnTo>
                    <a:pt x="2" y="96"/>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5" name="Freeform 273">
              <a:extLst>
                <a:ext uri="{FF2B5EF4-FFF2-40B4-BE49-F238E27FC236}">
                  <a16:creationId xmlns:a16="http://schemas.microsoft.com/office/drawing/2014/main" id="{4FA1CD43-B7E1-E1E0-2850-51AA8874560A}"/>
                </a:ext>
              </a:extLst>
            </p:cNvPr>
            <p:cNvSpPr>
              <a:spLocks/>
            </p:cNvSpPr>
            <p:nvPr/>
          </p:nvSpPr>
          <p:spPr bwMode="auto">
            <a:xfrm>
              <a:off x="3734" y="3426"/>
              <a:ext cx="136" cy="115"/>
            </a:xfrm>
            <a:custGeom>
              <a:avLst/>
              <a:gdLst>
                <a:gd name="T0" fmla="*/ 11269 w 109"/>
                <a:gd name="T1" fmla="*/ 480 h 107"/>
                <a:gd name="T2" fmla="*/ 11093 w 109"/>
                <a:gd name="T3" fmla="*/ 434 h 107"/>
                <a:gd name="T4" fmla="*/ 10835 w 109"/>
                <a:gd name="T5" fmla="*/ 383 h 107"/>
                <a:gd name="T6" fmla="*/ 10188 w 109"/>
                <a:gd name="T7" fmla="*/ 350 h 107"/>
                <a:gd name="T8" fmla="*/ 9501 w 109"/>
                <a:gd name="T9" fmla="*/ 306 h 107"/>
                <a:gd name="T10" fmla="*/ 8684 w 109"/>
                <a:gd name="T11" fmla="*/ 284 h 107"/>
                <a:gd name="T12" fmla="*/ 7817 w 109"/>
                <a:gd name="T13" fmla="*/ 251 h 107"/>
                <a:gd name="T14" fmla="*/ 6801 w 109"/>
                <a:gd name="T15" fmla="*/ 230 h 107"/>
                <a:gd name="T16" fmla="*/ 6028 w 109"/>
                <a:gd name="T17" fmla="*/ 203 h 107"/>
                <a:gd name="T18" fmla="*/ 5021 w 109"/>
                <a:gd name="T19" fmla="*/ 182 h 107"/>
                <a:gd name="T20" fmla="*/ 4313 w 109"/>
                <a:gd name="T21" fmla="*/ 160 h 107"/>
                <a:gd name="T22" fmla="*/ 3457 w 109"/>
                <a:gd name="T23" fmla="*/ 139 h 107"/>
                <a:gd name="T24" fmla="*/ 2660 w 109"/>
                <a:gd name="T25" fmla="*/ 112 h 107"/>
                <a:gd name="T26" fmla="*/ 2132 w 109"/>
                <a:gd name="T27" fmla="*/ 84 h 107"/>
                <a:gd name="T28" fmla="*/ 1709 w 109"/>
                <a:gd name="T29" fmla="*/ 59 h 107"/>
                <a:gd name="T30" fmla="*/ 1573 w 109"/>
                <a:gd name="T31" fmla="*/ 38 h 107"/>
                <a:gd name="T32" fmla="*/ 1370 w 109"/>
                <a:gd name="T33" fmla="*/ 0 h 107"/>
                <a:gd name="T34" fmla="*/ 0 w 109"/>
                <a:gd name="T35" fmla="*/ 0 h 107"/>
                <a:gd name="T36" fmla="*/ 2 w 109"/>
                <a:gd name="T37" fmla="*/ 44 h 107"/>
                <a:gd name="T38" fmla="*/ 453 w 109"/>
                <a:gd name="T39" fmla="*/ 90 h 107"/>
                <a:gd name="T40" fmla="*/ 1011 w 109"/>
                <a:gd name="T41" fmla="*/ 129 h 107"/>
                <a:gd name="T42" fmla="*/ 1709 w 109"/>
                <a:gd name="T43" fmla="*/ 160 h 107"/>
                <a:gd name="T44" fmla="*/ 2633 w 109"/>
                <a:gd name="T45" fmla="*/ 185 h 107"/>
                <a:gd name="T46" fmla="*/ 3457 w 109"/>
                <a:gd name="T47" fmla="*/ 214 h 107"/>
                <a:gd name="T48" fmla="*/ 4357 w 109"/>
                <a:gd name="T49" fmla="*/ 234 h 107"/>
                <a:gd name="T50" fmla="*/ 5381 w 109"/>
                <a:gd name="T51" fmla="*/ 262 h 107"/>
                <a:gd name="T52" fmla="*/ 6155 w 109"/>
                <a:gd name="T53" fmla="*/ 284 h 107"/>
                <a:gd name="T54" fmla="*/ 7008 w 109"/>
                <a:gd name="T55" fmla="*/ 306 h 107"/>
                <a:gd name="T56" fmla="*/ 7817 w 109"/>
                <a:gd name="T57" fmla="*/ 328 h 107"/>
                <a:gd name="T58" fmla="*/ 8486 w 109"/>
                <a:gd name="T59" fmla="*/ 356 h 107"/>
                <a:gd name="T60" fmla="*/ 9154 w 109"/>
                <a:gd name="T61" fmla="*/ 380 h 107"/>
                <a:gd name="T62" fmla="*/ 9501 w 109"/>
                <a:gd name="T63" fmla="*/ 408 h 107"/>
                <a:gd name="T64" fmla="*/ 9731 w 109"/>
                <a:gd name="T65" fmla="*/ 439 h 107"/>
                <a:gd name="T66" fmla="*/ 9753 w 109"/>
                <a:gd name="T67" fmla="*/ 480 h 107"/>
                <a:gd name="T68" fmla="*/ 11269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5"/>
                  </a:lnTo>
                  <a:lnTo>
                    <a:pt x="104" y="85"/>
                  </a:lnTo>
                  <a:lnTo>
                    <a:pt x="98" y="76"/>
                  </a:lnTo>
                  <a:lnTo>
                    <a:pt x="91" y="68"/>
                  </a:lnTo>
                  <a:lnTo>
                    <a:pt x="83" y="62"/>
                  </a:lnTo>
                  <a:lnTo>
                    <a:pt x="75" y="56"/>
                  </a:lnTo>
                  <a:lnTo>
                    <a:pt x="66" y="51"/>
                  </a:lnTo>
                  <a:lnTo>
                    <a:pt x="58" y="45"/>
                  </a:lnTo>
                  <a:lnTo>
                    <a:pt x="48" y="40"/>
                  </a:lnTo>
                  <a:lnTo>
                    <a:pt x="41" y="35"/>
                  </a:lnTo>
                  <a:lnTo>
                    <a:pt x="33" y="31"/>
                  </a:lnTo>
                  <a:lnTo>
                    <a:pt x="26" y="25"/>
                  </a:lnTo>
                  <a:lnTo>
                    <a:pt x="21" y="19"/>
                  </a:lnTo>
                  <a:lnTo>
                    <a:pt x="17" y="14"/>
                  </a:lnTo>
                  <a:lnTo>
                    <a:pt x="15" y="8"/>
                  </a:lnTo>
                  <a:lnTo>
                    <a:pt x="14" y="0"/>
                  </a:lnTo>
                  <a:lnTo>
                    <a:pt x="0" y="0"/>
                  </a:lnTo>
                  <a:lnTo>
                    <a:pt x="2" y="10"/>
                  </a:lnTo>
                  <a:lnTo>
                    <a:pt x="5" y="20"/>
                  </a:lnTo>
                  <a:lnTo>
                    <a:pt x="10" y="29"/>
                  </a:lnTo>
                  <a:lnTo>
                    <a:pt x="17" y="35"/>
                  </a:lnTo>
                  <a:lnTo>
                    <a:pt x="25" y="41"/>
                  </a:lnTo>
                  <a:lnTo>
                    <a:pt x="33" y="47"/>
                  </a:lnTo>
                  <a:lnTo>
                    <a:pt x="42" y="52"/>
                  </a:lnTo>
                  <a:lnTo>
                    <a:pt x="51" y="57"/>
                  </a:lnTo>
                  <a:lnTo>
                    <a:pt x="59" y="62"/>
                  </a:lnTo>
                  <a:lnTo>
                    <a:pt x="67" y="68"/>
                  </a:lnTo>
                  <a:lnTo>
                    <a:pt x="75" y="72"/>
                  </a:lnTo>
                  <a:lnTo>
                    <a:pt x="82" y="79"/>
                  </a:lnTo>
                  <a:lnTo>
                    <a:pt x="87" y="84"/>
                  </a:lnTo>
                  <a:lnTo>
                    <a:pt x="91"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6" name="Freeform 274">
              <a:extLst>
                <a:ext uri="{FF2B5EF4-FFF2-40B4-BE49-F238E27FC236}">
                  <a16:creationId xmlns:a16="http://schemas.microsoft.com/office/drawing/2014/main" id="{E5DDD8A6-D5AC-E413-E7F2-C127C17DCBB3}"/>
                </a:ext>
              </a:extLst>
            </p:cNvPr>
            <p:cNvSpPr>
              <a:spLocks/>
            </p:cNvSpPr>
            <p:nvPr/>
          </p:nvSpPr>
          <p:spPr bwMode="auto">
            <a:xfrm>
              <a:off x="3734" y="3540"/>
              <a:ext cx="136" cy="116"/>
            </a:xfrm>
            <a:custGeom>
              <a:avLst/>
              <a:gdLst>
                <a:gd name="T0" fmla="*/ 1370 w 109"/>
                <a:gd name="T1" fmla="*/ 576 h 107"/>
                <a:gd name="T2" fmla="*/ 1573 w 109"/>
                <a:gd name="T3" fmla="*/ 531 h 107"/>
                <a:gd name="T4" fmla="*/ 1709 w 109"/>
                <a:gd name="T5" fmla="*/ 504 h 107"/>
                <a:gd name="T6" fmla="*/ 2132 w 109"/>
                <a:gd name="T7" fmla="*/ 469 h 107"/>
                <a:gd name="T8" fmla="*/ 2660 w 109"/>
                <a:gd name="T9" fmla="*/ 439 h 107"/>
                <a:gd name="T10" fmla="*/ 3457 w 109"/>
                <a:gd name="T11" fmla="*/ 405 h 107"/>
                <a:gd name="T12" fmla="*/ 4313 w 109"/>
                <a:gd name="T13" fmla="*/ 385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1 h 107"/>
                <a:gd name="T40" fmla="*/ 9154 w 109"/>
                <a:gd name="T41" fmla="*/ 121 h 107"/>
                <a:gd name="T42" fmla="*/ 8486 w 109"/>
                <a:gd name="T43" fmla="*/ 144 h 107"/>
                <a:gd name="T44" fmla="*/ 7817 w 109"/>
                <a:gd name="T45" fmla="*/ 183 h 107"/>
                <a:gd name="T46" fmla="*/ 7008 w 109"/>
                <a:gd name="T47" fmla="*/ 208 h 107"/>
                <a:gd name="T48" fmla="*/ 6155 w 109"/>
                <a:gd name="T49" fmla="*/ 233 h 107"/>
                <a:gd name="T50" fmla="*/ 5381 w 109"/>
                <a:gd name="T51" fmla="*/ 267 h 107"/>
                <a:gd name="T52" fmla="*/ 4357 w 109"/>
                <a:gd name="T53" fmla="*/ 293 h 107"/>
                <a:gd name="T54" fmla="*/ 3457 w 109"/>
                <a:gd name="T55" fmla="*/ 318 h 107"/>
                <a:gd name="T56" fmla="*/ 2633 w 109"/>
                <a:gd name="T57" fmla="*/ 349 h 107"/>
                <a:gd name="T58" fmla="*/ 1709 w 109"/>
                <a:gd name="T59" fmla="*/ 385 h 107"/>
                <a:gd name="T60" fmla="*/ 1011 w 109"/>
                <a:gd name="T61" fmla="*/ 417 h 107"/>
                <a:gd name="T62" fmla="*/ 453 w 109"/>
                <a:gd name="T63" fmla="*/ 469 h 107"/>
                <a:gd name="T64" fmla="*/ 2 w 109"/>
                <a:gd name="T65" fmla="*/ 516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6"/>
                  </a:lnTo>
                  <a:lnTo>
                    <a:pt x="26" y="81"/>
                  </a:lnTo>
                  <a:lnTo>
                    <a:pt x="33" y="75"/>
                  </a:lnTo>
                  <a:lnTo>
                    <a:pt x="41" y="71"/>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5"/>
                  </a:lnTo>
                  <a:lnTo>
                    <a:pt x="87" y="22"/>
                  </a:lnTo>
                  <a:lnTo>
                    <a:pt x="82" y="27"/>
                  </a:lnTo>
                  <a:lnTo>
                    <a:pt x="75" y="34"/>
                  </a:lnTo>
                  <a:lnTo>
                    <a:pt x="67" y="38"/>
                  </a:lnTo>
                  <a:lnTo>
                    <a:pt x="59" y="43"/>
                  </a:lnTo>
                  <a:lnTo>
                    <a:pt x="51" y="49"/>
                  </a:lnTo>
                  <a:lnTo>
                    <a:pt x="42" y="54"/>
                  </a:lnTo>
                  <a:lnTo>
                    <a:pt x="33" y="59"/>
                  </a:lnTo>
                  <a:lnTo>
                    <a:pt x="25" y="65"/>
                  </a:lnTo>
                  <a:lnTo>
                    <a:pt x="17" y="71"/>
                  </a:lnTo>
                  <a:lnTo>
                    <a:pt x="10" y="77"/>
                  </a:lnTo>
                  <a:lnTo>
                    <a:pt x="5" y="86"/>
                  </a:lnTo>
                  <a:lnTo>
                    <a:pt x="2" y="95"/>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7" name="Freeform 275">
              <a:extLst>
                <a:ext uri="{FF2B5EF4-FFF2-40B4-BE49-F238E27FC236}">
                  <a16:creationId xmlns:a16="http://schemas.microsoft.com/office/drawing/2014/main" id="{8F9F7D6D-2620-B30A-4249-D1D596A318F1}"/>
                </a:ext>
              </a:extLst>
            </p:cNvPr>
            <p:cNvSpPr>
              <a:spLocks/>
            </p:cNvSpPr>
            <p:nvPr/>
          </p:nvSpPr>
          <p:spPr bwMode="auto">
            <a:xfrm>
              <a:off x="3734" y="3655"/>
              <a:ext cx="136" cy="104"/>
            </a:xfrm>
            <a:custGeom>
              <a:avLst/>
              <a:gdLst>
                <a:gd name="T0" fmla="*/ 11269 w 109"/>
                <a:gd name="T1" fmla="*/ 512 h 96"/>
                <a:gd name="T2" fmla="*/ 10816 w 109"/>
                <a:gd name="T3" fmla="*/ 412 h 96"/>
                <a:gd name="T4" fmla="*/ 9384 w 109"/>
                <a:gd name="T5" fmla="*/ 346 h 96"/>
                <a:gd name="T6" fmla="*/ 7680 w 109"/>
                <a:gd name="T7" fmla="*/ 294 h 96"/>
                <a:gd name="T8" fmla="*/ 6028 w 109"/>
                <a:gd name="T9" fmla="*/ 246 h 96"/>
                <a:gd name="T10" fmla="*/ 4313 w 109"/>
                <a:gd name="T11" fmla="*/ 194 h 96"/>
                <a:gd name="T12" fmla="*/ 2660 w 109"/>
                <a:gd name="T13" fmla="*/ 138 h 96"/>
                <a:gd name="T14" fmla="*/ 1709 w 109"/>
                <a:gd name="T15" fmla="*/ 68 h 96"/>
                <a:gd name="T16" fmla="*/ 1370 w 109"/>
                <a:gd name="T17" fmla="*/ 0 h 96"/>
                <a:gd name="T18" fmla="*/ 0 w 109"/>
                <a:gd name="T19" fmla="*/ 0 h 96"/>
                <a:gd name="T20" fmla="*/ 453 w 109"/>
                <a:gd name="T21" fmla="*/ 110 h 96"/>
                <a:gd name="T22" fmla="*/ 1709 w 109"/>
                <a:gd name="T23" fmla="*/ 194 h 96"/>
                <a:gd name="T24" fmla="*/ 3457 w 109"/>
                <a:gd name="T25" fmla="*/ 264 h 96"/>
                <a:gd name="T26" fmla="*/ 5381 w 109"/>
                <a:gd name="T27" fmla="*/ 313 h 96"/>
                <a:gd name="T28" fmla="*/ 7126 w 109"/>
                <a:gd name="T29" fmla="*/ 365 h 96"/>
                <a:gd name="T30" fmla="*/ 8486 w 109"/>
                <a:gd name="T31" fmla="*/ 406 h 96"/>
                <a:gd name="T32" fmla="*/ 9501 w 109"/>
                <a:gd name="T33" fmla="*/ 463 h 96"/>
                <a:gd name="T34" fmla="*/ 9753 w 109"/>
                <a:gd name="T35" fmla="*/ 512 h 96"/>
                <a:gd name="T36" fmla="*/ 11269 w 109"/>
                <a:gd name="T37" fmla="*/ 512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6"/>
                <a:gd name="T59" fmla="*/ 109 w 109"/>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6">
                  <a:moveTo>
                    <a:pt x="108" y="95"/>
                  </a:moveTo>
                  <a:lnTo>
                    <a:pt x="103" y="77"/>
                  </a:lnTo>
                  <a:lnTo>
                    <a:pt x="90" y="65"/>
                  </a:lnTo>
                  <a:lnTo>
                    <a:pt x="74" y="55"/>
                  </a:lnTo>
                  <a:lnTo>
                    <a:pt x="58" y="46"/>
                  </a:lnTo>
                  <a:lnTo>
                    <a:pt x="41" y="36"/>
                  </a:lnTo>
                  <a:lnTo>
                    <a:pt x="26" y="26"/>
                  </a:lnTo>
                  <a:lnTo>
                    <a:pt x="17" y="13"/>
                  </a:lnTo>
                  <a:lnTo>
                    <a:pt x="14" y="0"/>
                  </a:lnTo>
                  <a:lnTo>
                    <a:pt x="0" y="0"/>
                  </a:lnTo>
                  <a:lnTo>
                    <a:pt x="5" y="20"/>
                  </a:lnTo>
                  <a:lnTo>
                    <a:pt x="17" y="36"/>
                  </a:lnTo>
                  <a:lnTo>
                    <a:pt x="33" y="48"/>
                  </a:lnTo>
                  <a:lnTo>
                    <a:pt x="51" y="58"/>
                  </a:lnTo>
                  <a:lnTo>
                    <a:pt x="68" y="67"/>
                  </a:lnTo>
                  <a:lnTo>
                    <a:pt x="82" y="76"/>
                  </a:lnTo>
                  <a:lnTo>
                    <a:pt x="91" y="85"/>
                  </a:lnTo>
                  <a:lnTo>
                    <a:pt x="94" y="95"/>
                  </a:lnTo>
                  <a:lnTo>
                    <a:pt x="108" y="9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8" name="Freeform 276">
              <a:extLst>
                <a:ext uri="{FF2B5EF4-FFF2-40B4-BE49-F238E27FC236}">
                  <a16:creationId xmlns:a16="http://schemas.microsoft.com/office/drawing/2014/main" id="{09C51F8C-41F9-6F6F-D58F-EB4A2590E997}"/>
                </a:ext>
              </a:extLst>
            </p:cNvPr>
            <p:cNvSpPr>
              <a:spLocks/>
            </p:cNvSpPr>
            <p:nvPr/>
          </p:nvSpPr>
          <p:spPr bwMode="auto">
            <a:xfrm>
              <a:off x="3852" y="3758"/>
              <a:ext cx="18" cy="5"/>
            </a:xfrm>
            <a:custGeom>
              <a:avLst/>
              <a:gdLst>
                <a:gd name="T0" fmla="*/ 310 w 15"/>
                <a:gd name="T1" fmla="*/ 4 h 5"/>
                <a:gd name="T2" fmla="*/ 642 w 15"/>
                <a:gd name="T3" fmla="*/ 4 h 5"/>
                <a:gd name="T4" fmla="*/ 642 w 15"/>
                <a:gd name="T5" fmla="*/ 0 h 5"/>
                <a:gd name="T6" fmla="*/ 0 w 15"/>
                <a:gd name="T7" fmla="*/ 0 h 5"/>
                <a:gd name="T8" fmla="*/ 0 w 15"/>
                <a:gd name="T9" fmla="*/ 4 h 5"/>
                <a:gd name="T10" fmla="*/ 310 w 15"/>
                <a:gd name="T11" fmla="*/ 4 h 5"/>
                <a:gd name="T12" fmla="*/ 0 60000 65536"/>
                <a:gd name="T13" fmla="*/ 0 60000 65536"/>
                <a:gd name="T14" fmla="*/ 0 60000 65536"/>
                <a:gd name="T15" fmla="*/ 0 60000 65536"/>
                <a:gd name="T16" fmla="*/ 0 60000 65536"/>
                <a:gd name="T17" fmla="*/ 0 60000 65536"/>
                <a:gd name="T18" fmla="*/ 0 w 15"/>
                <a:gd name="T19" fmla="*/ 0 h 5"/>
                <a:gd name="T20" fmla="*/ 15 w 15"/>
                <a:gd name="T21" fmla="*/ 5 h 5"/>
              </a:gdLst>
              <a:ahLst/>
              <a:cxnLst>
                <a:cxn ang="T12">
                  <a:pos x="T0" y="T1"/>
                </a:cxn>
                <a:cxn ang="T13">
                  <a:pos x="T2" y="T3"/>
                </a:cxn>
                <a:cxn ang="T14">
                  <a:pos x="T4" y="T5"/>
                </a:cxn>
                <a:cxn ang="T15">
                  <a:pos x="T6" y="T7"/>
                </a:cxn>
                <a:cxn ang="T16">
                  <a:pos x="T8" y="T9"/>
                </a:cxn>
                <a:cxn ang="T17">
                  <a:pos x="T10" y="T11"/>
                </a:cxn>
              </a:cxnLst>
              <a:rect l="T18" t="T19" r="T20" b="T21"/>
              <a:pathLst>
                <a:path w="15" h="5">
                  <a:moveTo>
                    <a:pt x="7" y="4"/>
                  </a:moveTo>
                  <a:lnTo>
                    <a:pt x="14" y="4"/>
                  </a:lnTo>
                  <a:lnTo>
                    <a:pt x="14" y="0"/>
                  </a:lnTo>
                  <a:lnTo>
                    <a:pt x="0" y="0"/>
                  </a:lnTo>
                  <a:lnTo>
                    <a:pt x="0" y="4"/>
                  </a:lnTo>
                  <a:lnTo>
                    <a:pt x="7"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29" name="Freeform 277">
              <a:extLst>
                <a:ext uri="{FF2B5EF4-FFF2-40B4-BE49-F238E27FC236}">
                  <a16:creationId xmlns:a16="http://schemas.microsoft.com/office/drawing/2014/main" id="{459CC6FC-94A5-5A5A-D70F-37FDA806155E}"/>
                </a:ext>
              </a:extLst>
            </p:cNvPr>
            <p:cNvSpPr>
              <a:spLocks/>
            </p:cNvSpPr>
            <p:nvPr/>
          </p:nvSpPr>
          <p:spPr bwMode="auto">
            <a:xfrm>
              <a:off x="3765" y="3006"/>
              <a:ext cx="92" cy="114"/>
            </a:xfrm>
            <a:custGeom>
              <a:avLst/>
              <a:gdLst>
                <a:gd name="T0" fmla="*/ 4691 w 73"/>
                <a:gd name="T1" fmla="*/ 478 h 105"/>
                <a:gd name="T2" fmla="*/ 1 w 73"/>
                <a:gd name="T3" fmla="*/ 573 h 105"/>
                <a:gd name="T4" fmla="*/ 0 w 73"/>
                <a:gd name="T5" fmla="*/ 566 h 105"/>
                <a:gd name="T6" fmla="*/ 3215 w 73"/>
                <a:gd name="T7" fmla="*/ 292 h 105"/>
                <a:gd name="T8" fmla="*/ 3467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70 w 73"/>
                <a:gd name="T33" fmla="*/ 185 h 105"/>
                <a:gd name="T34" fmla="*/ 6168 w 73"/>
                <a:gd name="T35" fmla="*/ 218 h 105"/>
                <a:gd name="T36" fmla="*/ 6328 w 73"/>
                <a:gd name="T37" fmla="*/ 257 h 105"/>
                <a:gd name="T38" fmla="*/ 6592 w 73"/>
                <a:gd name="T39" fmla="*/ 292 h 105"/>
                <a:gd name="T40" fmla="*/ 9390 w 73"/>
                <a:gd name="T41" fmla="*/ 579 h 105"/>
                <a:gd name="T42" fmla="*/ 9050 w 73"/>
                <a:gd name="T43" fmla="*/ 585 h 105"/>
                <a:gd name="T44" fmla="*/ 4691 w 73"/>
                <a:gd name="T45" fmla="*/ 478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1" y="102"/>
                  </a:lnTo>
                  <a:lnTo>
                    <a:pt x="0" y="101"/>
                  </a:lnTo>
                  <a:lnTo>
                    <a:pt x="25" y="52"/>
                  </a:lnTo>
                  <a:lnTo>
                    <a:pt x="27"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7" y="33"/>
                  </a:lnTo>
                  <a:lnTo>
                    <a:pt x="48" y="39"/>
                  </a:lnTo>
                  <a:lnTo>
                    <a:pt x="49" y="46"/>
                  </a:lnTo>
                  <a:lnTo>
                    <a:pt x="51" y="52"/>
                  </a:lnTo>
                  <a:lnTo>
                    <a:pt x="72" y="103"/>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0" name="Freeform 278">
              <a:extLst>
                <a:ext uri="{FF2B5EF4-FFF2-40B4-BE49-F238E27FC236}">
                  <a16:creationId xmlns:a16="http://schemas.microsoft.com/office/drawing/2014/main" id="{284C7BF5-4B04-14BE-F178-579E69A40A6A}"/>
                </a:ext>
              </a:extLst>
            </p:cNvPr>
            <p:cNvSpPr>
              <a:spLocks/>
            </p:cNvSpPr>
            <p:nvPr/>
          </p:nvSpPr>
          <p:spPr bwMode="auto">
            <a:xfrm>
              <a:off x="4652" y="2392"/>
              <a:ext cx="225" cy="49"/>
            </a:xfrm>
            <a:custGeom>
              <a:avLst/>
              <a:gdLst>
                <a:gd name="T0" fmla="*/ 529 w 180"/>
                <a:gd name="T1" fmla="*/ 208 h 45"/>
                <a:gd name="T2" fmla="*/ 1451 w 180"/>
                <a:gd name="T3" fmla="*/ 191 h 45"/>
                <a:gd name="T4" fmla="*/ 2170 w 180"/>
                <a:gd name="T5" fmla="*/ 177 h 45"/>
                <a:gd name="T6" fmla="*/ 2979 w 180"/>
                <a:gd name="T7" fmla="*/ 177 h 45"/>
                <a:gd name="T8" fmla="*/ 3430 w 180"/>
                <a:gd name="T9" fmla="*/ 191 h 45"/>
                <a:gd name="T10" fmla="*/ 4239 w 180"/>
                <a:gd name="T11" fmla="*/ 206 h 45"/>
                <a:gd name="T12" fmla="*/ 4806 w 180"/>
                <a:gd name="T13" fmla="*/ 210 h 45"/>
                <a:gd name="T14" fmla="*/ 5650 w 180"/>
                <a:gd name="T15" fmla="*/ 229 h 45"/>
                <a:gd name="T16" fmla="*/ 6458 w 180"/>
                <a:gd name="T17" fmla="*/ 246 h 45"/>
                <a:gd name="T18" fmla="*/ 7274 w 180"/>
                <a:gd name="T19" fmla="*/ 259 h 45"/>
                <a:gd name="T20" fmla="*/ 8486 w 180"/>
                <a:gd name="T21" fmla="*/ 266 h 45"/>
                <a:gd name="T22" fmla="*/ 9694 w 180"/>
                <a:gd name="T23" fmla="*/ 266 h 45"/>
                <a:gd name="T24" fmla="*/ 11180 w 180"/>
                <a:gd name="T25" fmla="*/ 249 h 45"/>
                <a:gd name="T26" fmla="*/ 12755 w 180"/>
                <a:gd name="T27" fmla="*/ 226 h 45"/>
                <a:gd name="T28" fmla="*/ 14786 w 180"/>
                <a:gd name="T29" fmla="*/ 191 h 45"/>
                <a:gd name="T30" fmla="*/ 16935 w 180"/>
                <a:gd name="T31" fmla="*/ 136 h 45"/>
                <a:gd name="T32" fmla="*/ 19481 w 180"/>
                <a:gd name="T33" fmla="*/ 63 h 45"/>
                <a:gd name="T34" fmla="*/ 18635 w 180"/>
                <a:gd name="T35" fmla="*/ 0 h 45"/>
                <a:gd name="T36" fmla="*/ 16358 w 180"/>
                <a:gd name="T37" fmla="*/ 63 h 45"/>
                <a:gd name="T38" fmla="*/ 14208 w 180"/>
                <a:gd name="T39" fmla="*/ 115 h 45"/>
                <a:gd name="T40" fmla="*/ 12393 w 180"/>
                <a:gd name="T41" fmla="*/ 148 h 45"/>
                <a:gd name="T42" fmla="*/ 10838 w 180"/>
                <a:gd name="T43" fmla="*/ 175 h 45"/>
                <a:gd name="T44" fmla="*/ 9538 w 180"/>
                <a:gd name="T45" fmla="*/ 189 h 45"/>
                <a:gd name="T46" fmla="*/ 8654 w 180"/>
                <a:gd name="T47" fmla="*/ 189 h 45"/>
                <a:gd name="T48" fmla="*/ 7630 w 180"/>
                <a:gd name="T49" fmla="*/ 177 h 45"/>
                <a:gd name="T50" fmla="*/ 6923 w 180"/>
                <a:gd name="T51" fmla="*/ 163 h 45"/>
                <a:gd name="T52" fmla="*/ 6008 w 180"/>
                <a:gd name="T53" fmla="*/ 150 h 45"/>
                <a:gd name="T54" fmla="*/ 5360 w 180"/>
                <a:gd name="T55" fmla="*/ 136 h 45"/>
                <a:gd name="T56" fmla="*/ 4650 w 180"/>
                <a:gd name="T57" fmla="*/ 125 h 45"/>
                <a:gd name="T58" fmla="*/ 3943 w 180"/>
                <a:gd name="T59" fmla="*/ 115 h 45"/>
                <a:gd name="T60" fmla="*/ 3076 w 180"/>
                <a:gd name="T61" fmla="*/ 106 h 45"/>
                <a:gd name="T62" fmla="*/ 2091 w 180"/>
                <a:gd name="T63" fmla="*/ 106 h 45"/>
                <a:gd name="T64" fmla="*/ 1111 w 180"/>
                <a:gd name="T65" fmla="*/ 115 h 45"/>
                <a:gd name="T66" fmla="*/ 0 w 180"/>
                <a:gd name="T67" fmla="*/ 127 h 45"/>
                <a:gd name="T68" fmla="*/ 529 w 180"/>
                <a:gd name="T69" fmla="*/ 208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0"/>
                <a:gd name="T106" fmla="*/ 0 h 45"/>
                <a:gd name="T107" fmla="*/ 180 w 18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0" h="45">
                  <a:moveTo>
                    <a:pt x="5" y="35"/>
                  </a:moveTo>
                  <a:lnTo>
                    <a:pt x="14" y="32"/>
                  </a:lnTo>
                  <a:lnTo>
                    <a:pt x="20" y="30"/>
                  </a:lnTo>
                  <a:lnTo>
                    <a:pt x="27" y="30"/>
                  </a:lnTo>
                  <a:lnTo>
                    <a:pt x="32" y="32"/>
                  </a:lnTo>
                  <a:lnTo>
                    <a:pt x="39" y="34"/>
                  </a:lnTo>
                  <a:lnTo>
                    <a:pt x="44" y="36"/>
                  </a:lnTo>
                  <a:lnTo>
                    <a:pt x="52" y="39"/>
                  </a:lnTo>
                  <a:lnTo>
                    <a:pt x="59" y="41"/>
                  </a:lnTo>
                  <a:lnTo>
                    <a:pt x="67" y="43"/>
                  </a:lnTo>
                  <a:lnTo>
                    <a:pt x="78" y="44"/>
                  </a:lnTo>
                  <a:lnTo>
                    <a:pt x="89" y="44"/>
                  </a:lnTo>
                  <a:lnTo>
                    <a:pt x="103" y="42"/>
                  </a:lnTo>
                  <a:lnTo>
                    <a:pt x="118" y="38"/>
                  </a:lnTo>
                  <a:lnTo>
                    <a:pt x="136" y="32"/>
                  </a:lnTo>
                  <a:lnTo>
                    <a:pt x="156" y="23"/>
                  </a:lnTo>
                  <a:lnTo>
                    <a:pt x="179" y="11"/>
                  </a:lnTo>
                  <a:lnTo>
                    <a:pt x="172" y="0"/>
                  </a:lnTo>
                  <a:lnTo>
                    <a:pt x="150" y="11"/>
                  </a:lnTo>
                  <a:lnTo>
                    <a:pt x="131" y="19"/>
                  </a:lnTo>
                  <a:lnTo>
                    <a:pt x="114" y="25"/>
                  </a:lnTo>
                  <a:lnTo>
                    <a:pt x="100" y="29"/>
                  </a:lnTo>
                  <a:lnTo>
                    <a:pt x="88" y="31"/>
                  </a:lnTo>
                  <a:lnTo>
                    <a:pt x="79" y="31"/>
                  </a:lnTo>
                  <a:lnTo>
                    <a:pt x="70" y="30"/>
                  </a:lnTo>
                  <a:lnTo>
                    <a:pt x="63" y="28"/>
                  </a:lnTo>
                  <a:lnTo>
                    <a:pt x="55" y="26"/>
                  </a:lnTo>
                  <a:lnTo>
                    <a:pt x="50" y="23"/>
                  </a:lnTo>
                  <a:lnTo>
                    <a:pt x="42" y="21"/>
                  </a:lnTo>
                  <a:lnTo>
                    <a:pt x="36" y="19"/>
                  </a:lnTo>
                  <a:lnTo>
                    <a:pt x="28" y="17"/>
                  </a:lnTo>
                  <a:lnTo>
                    <a:pt x="19" y="17"/>
                  </a:lnTo>
                  <a:lnTo>
                    <a:pt x="10" y="19"/>
                  </a:lnTo>
                  <a:lnTo>
                    <a:pt x="0" y="22"/>
                  </a:lnTo>
                  <a:lnTo>
                    <a:pt x="5" y="3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1" name="Freeform 279">
              <a:extLst>
                <a:ext uri="{FF2B5EF4-FFF2-40B4-BE49-F238E27FC236}">
                  <a16:creationId xmlns:a16="http://schemas.microsoft.com/office/drawing/2014/main" id="{8BA2894D-0944-F83F-8AA4-BC907AE7779B}"/>
                </a:ext>
              </a:extLst>
            </p:cNvPr>
            <p:cNvSpPr>
              <a:spLocks/>
            </p:cNvSpPr>
            <p:nvPr/>
          </p:nvSpPr>
          <p:spPr bwMode="auto">
            <a:xfrm>
              <a:off x="4565" y="2416"/>
              <a:ext cx="94" cy="148"/>
            </a:xfrm>
            <a:custGeom>
              <a:avLst/>
              <a:gdLst>
                <a:gd name="T0" fmla="*/ 577 w 75"/>
                <a:gd name="T1" fmla="*/ 692 h 137"/>
                <a:gd name="T2" fmla="*/ 1772 w 75"/>
                <a:gd name="T3" fmla="*/ 649 h 137"/>
                <a:gd name="T4" fmla="*/ 2602 w 75"/>
                <a:gd name="T5" fmla="*/ 629 h 137"/>
                <a:gd name="T6" fmla="*/ 3261 w 75"/>
                <a:gd name="T7" fmla="*/ 587 h 137"/>
                <a:gd name="T8" fmla="*/ 3722 w 75"/>
                <a:gd name="T9" fmla="*/ 543 h 137"/>
                <a:gd name="T10" fmla="*/ 4221 w 75"/>
                <a:gd name="T11" fmla="*/ 489 h 137"/>
                <a:gd name="T12" fmla="*/ 4404 w 75"/>
                <a:gd name="T13" fmla="*/ 442 h 137"/>
                <a:gd name="T14" fmla="*/ 4578 w 75"/>
                <a:gd name="T15" fmla="*/ 399 h 137"/>
                <a:gd name="T16" fmla="*/ 4665 w 75"/>
                <a:gd name="T17" fmla="*/ 351 h 137"/>
                <a:gd name="T18" fmla="*/ 4972 w 75"/>
                <a:gd name="T19" fmla="*/ 305 h 137"/>
                <a:gd name="T20" fmla="*/ 5122 w 75"/>
                <a:gd name="T21" fmla="*/ 258 h 137"/>
                <a:gd name="T22" fmla="*/ 5448 w 75"/>
                <a:gd name="T23" fmla="*/ 216 h 137"/>
                <a:gd name="T24" fmla="*/ 5738 w 75"/>
                <a:gd name="T25" fmla="*/ 184 h 137"/>
                <a:gd name="T26" fmla="*/ 6232 w 75"/>
                <a:gd name="T27" fmla="*/ 142 h 137"/>
                <a:gd name="T28" fmla="*/ 6828 w 75"/>
                <a:gd name="T29" fmla="*/ 112 h 137"/>
                <a:gd name="T30" fmla="*/ 7467 w 75"/>
                <a:gd name="T31" fmla="*/ 84 h 137"/>
                <a:gd name="T32" fmla="*/ 8558 w 75"/>
                <a:gd name="T33" fmla="*/ 62 h 137"/>
                <a:gd name="T34" fmla="*/ 7858 w 75"/>
                <a:gd name="T35" fmla="*/ 0 h 137"/>
                <a:gd name="T36" fmla="*/ 6630 w 75"/>
                <a:gd name="T37" fmla="*/ 6 h 137"/>
                <a:gd name="T38" fmla="*/ 5738 w 75"/>
                <a:gd name="T39" fmla="*/ 62 h 137"/>
                <a:gd name="T40" fmla="*/ 4972 w 75"/>
                <a:gd name="T41" fmla="*/ 106 h 137"/>
                <a:gd name="T42" fmla="*/ 4373 w 75"/>
                <a:gd name="T43" fmla="*/ 145 h 137"/>
                <a:gd name="T44" fmla="*/ 3967 w 75"/>
                <a:gd name="T45" fmla="*/ 199 h 137"/>
                <a:gd name="T46" fmla="*/ 3653 w 75"/>
                <a:gd name="T47" fmla="*/ 251 h 137"/>
                <a:gd name="T48" fmla="*/ 3489 w 75"/>
                <a:gd name="T49" fmla="*/ 294 h 137"/>
                <a:gd name="T50" fmla="*/ 3185 w 75"/>
                <a:gd name="T51" fmla="*/ 342 h 137"/>
                <a:gd name="T52" fmla="*/ 3165 w 75"/>
                <a:gd name="T53" fmla="*/ 388 h 137"/>
                <a:gd name="T54" fmla="*/ 2970 w 75"/>
                <a:gd name="T55" fmla="*/ 435 h 137"/>
                <a:gd name="T56" fmla="*/ 2784 w 75"/>
                <a:gd name="T57" fmla="*/ 470 h 137"/>
                <a:gd name="T58" fmla="*/ 2237 w 75"/>
                <a:gd name="T59" fmla="*/ 511 h 137"/>
                <a:gd name="T60" fmla="*/ 1891 w 75"/>
                <a:gd name="T61" fmla="*/ 549 h 137"/>
                <a:gd name="T62" fmla="*/ 1424 w 75"/>
                <a:gd name="T63" fmla="*/ 582 h 137"/>
                <a:gd name="T64" fmla="*/ 841 w 75"/>
                <a:gd name="T65" fmla="*/ 600 h 137"/>
                <a:gd name="T66" fmla="*/ 0 w 75"/>
                <a:gd name="T67" fmla="*/ 629 h 137"/>
                <a:gd name="T68" fmla="*/ 577 w 75"/>
                <a:gd name="T69" fmla="*/ 692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137"/>
                <a:gd name="T107" fmla="*/ 75 w 75"/>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137">
                  <a:moveTo>
                    <a:pt x="5" y="136"/>
                  </a:moveTo>
                  <a:lnTo>
                    <a:pt x="15" y="130"/>
                  </a:lnTo>
                  <a:lnTo>
                    <a:pt x="23" y="123"/>
                  </a:lnTo>
                  <a:lnTo>
                    <a:pt x="29" y="115"/>
                  </a:lnTo>
                  <a:lnTo>
                    <a:pt x="33" y="106"/>
                  </a:lnTo>
                  <a:lnTo>
                    <a:pt x="37" y="97"/>
                  </a:lnTo>
                  <a:lnTo>
                    <a:pt x="39" y="88"/>
                  </a:lnTo>
                  <a:lnTo>
                    <a:pt x="40" y="78"/>
                  </a:lnTo>
                  <a:lnTo>
                    <a:pt x="41" y="69"/>
                  </a:lnTo>
                  <a:lnTo>
                    <a:pt x="43" y="60"/>
                  </a:lnTo>
                  <a:lnTo>
                    <a:pt x="45" y="51"/>
                  </a:lnTo>
                  <a:lnTo>
                    <a:pt x="47" y="43"/>
                  </a:lnTo>
                  <a:lnTo>
                    <a:pt x="50" y="36"/>
                  </a:lnTo>
                  <a:lnTo>
                    <a:pt x="54" y="28"/>
                  </a:lnTo>
                  <a:lnTo>
                    <a:pt x="59" y="22"/>
                  </a:lnTo>
                  <a:lnTo>
                    <a:pt x="65" y="17"/>
                  </a:lnTo>
                  <a:lnTo>
                    <a:pt x="74" y="13"/>
                  </a:lnTo>
                  <a:lnTo>
                    <a:pt x="69" y="0"/>
                  </a:lnTo>
                  <a:lnTo>
                    <a:pt x="58" y="6"/>
                  </a:lnTo>
                  <a:lnTo>
                    <a:pt x="50" y="13"/>
                  </a:lnTo>
                  <a:lnTo>
                    <a:pt x="43" y="21"/>
                  </a:lnTo>
                  <a:lnTo>
                    <a:pt x="38" y="29"/>
                  </a:lnTo>
                  <a:lnTo>
                    <a:pt x="34" y="39"/>
                  </a:lnTo>
                  <a:lnTo>
                    <a:pt x="32" y="49"/>
                  </a:lnTo>
                  <a:lnTo>
                    <a:pt x="30" y="58"/>
                  </a:lnTo>
                  <a:lnTo>
                    <a:pt x="28" y="67"/>
                  </a:lnTo>
                  <a:lnTo>
                    <a:pt x="27" y="77"/>
                  </a:lnTo>
                  <a:lnTo>
                    <a:pt x="26" y="86"/>
                  </a:lnTo>
                  <a:lnTo>
                    <a:pt x="24" y="93"/>
                  </a:lnTo>
                  <a:lnTo>
                    <a:pt x="20" y="101"/>
                  </a:lnTo>
                  <a:lnTo>
                    <a:pt x="17" y="108"/>
                  </a:lnTo>
                  <a:lnTo>
                    <a:pt x="13" y="114"/>
                  </a:lnTo>
                  <a:lnTo>
                    <a:pt x="7" y="119"/>
                  </a:lnTo>
                  <a:lnTo>
                    <a:pt x="0" y="123"/>
                  </a:lnTo>
                  <a:lnTo>
                    <a:pt x="5" y="1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2" name="Freeform 280">
              <a:extLst>
                <a:ext uri="{FF2B5EF4-FFF2-40B4-BE49-F238E27FC236}">
                  <a16:creationId xmlns:a16="http://schemas.microsoft.com/office/drawing/2014/main" id="{84F6F88D-DF50-AC56-E48D-F419FC11736D}"/>
                </a:ext>
              </a:extLst>
            </p:cNvPr>
            <p:cNvSpPr>
              <a:spLocks/>
            </p:cNvSpPr>
            <p:nvPr/>
          </p:nvSpPr>
          <p:spPr bwMode="auto">
            <a:xfrm>
              <a:off x="4565" y="2549"/>
              <a:ext cx="8" cy="15"/>
            </a:xfrm>
            <a:custGeom>
              <a:avLst/>
              <a:gdLst>
                <a:gd name="T0" fmla="*/ 2069 w 6"/>
                <a:gd name="T1" fmla="*/ 54 h 14"/>
                <a:gd name="T2" fmla="*/ 873 w 6"/>
                <a:gd name="T3" fmla="*/ 6 h 14"/>
                <a:gd name="T4" fmla="*/ 0 w 6"/>
                <a:gd name="T5" fmla="*/ 0 h 14"/>
                <a:gd name="T6" fmla="*/ 2069 w 6"/>
                <a:gd name="T7" fmla="*/ 54 h 14"/>
                <a:gd name="T8" fmla="*/ 0 60000 65536"/>
                <a:gd name="T9" fmla="*/ 0 60000 65536"/>
                <a:gd name="T10" fmla="*/ 0 60000 65536"/>
                <a:gd name="T11" fmla="*/ 0 60000 65536"/>
                <a:gd name="T12" fmla="*/ 0 w 6"/>
                <a:gd name="T13" fmla="*/ 0 h 14"/>
                <a:gd name="T14" fmla="*/ 6 w 6"/>
                <a:gd name="T15" fmla="*/ 14 h 14"/>
              </a:gdLst>
              <a:ahLst/>
              <a:cxnLst>
                <a:cxn ang="T8">
                  <a:pos x="T0" y="T1"/>
                </a:cxn>
                <a:cxn ang="T9">
                  <a:pos x="T2" y="T3"/>
                </a:cxn>
                <a:cxn ang="T10">
                  <a:pos x="T4" y="T5"/>
                </a:cxn>
                <a:cxn ang="T11">
                  <a:pos x="T6" y="T7"/>
                </a:cxn>
              </a:cxnLst>
              <a:rect l="T12" t="T13" r="T14" b="T15"/>
              <a:pathLst>
                <a:path w="6" h="14">
                  <a:moveTo>
                    <a:pt x="5" y="13"/>
                  </a:moveTo>
                  <a:lnTo>
                    <a:pt x="2" y="6"/>
                  </a:lnTo>
                  <a:lnTo>
                    <a:pt x="0" y="0"/>
                  </a:lnTo>
                  <a:lnTo>
                    <a:pt x="5" y="13"/>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3" name="Freeform 281">
              <a:extLst>
                <a:ext uri="{FF2B5EF4-FFF2-40B4-BE49-F238E27FC236}">
                  <a16:creationId xmlns:a16="http://schemas.microsoft.com/office/drawing/2014/main" id="{0AA89FCE-63E7-4D0A-F970-4D26F1310769}"/>
                </a:ext>
              </a:extLst>
            </p:cNvPr>
            <p:cNvSpPr>
              <a:spLocks/>
            </p:cNvSpPr>
            <p:nvPr/>
          </p:nvSpPr>
          <p:spPr bwMode="auto">
            <a:xfrm>
              <a:off x="4376" y="2518"/>
              <a:ext cx="197" cy="51"/>
            </a:xfrm>
            <a:custGeom>
              <a:avLst/>
              <a:gdLst>
                <a:gd name="T0" fmla="*/ 597 w 157"/>
                <a:gd name="T1" fmla="*/ 62 h 48"/>
                <a:gd name="T2" fmla="*/ 1673 w 157"/>
                <a:gd name="T3" fmla="*/ 49 h 48"/>
                <a:gd name="T4" fmla="*/ 2626 w 157"/>
                <a:gd name="T5" fmla="*/ 46 h 48"/>
                <a:gd name="T6" fmla="*/ 3666 w 157"/>
                <a:gd name="T7" fmla="*/ 46 h 48"/>
                <a:gd name="T8" fmla="*/ 4443 w 157"/>
                <a:gd name="T9" fmla="*/ 52 h 48"/>
                <a:gd name="T10" fmla="*/ 5544 w 157"/>
                <a:gd name="T11" fmla="*/ 62 h 48"/>
                <a:gd name="T12" fmla="*/ 6530 w 157"/>
                <a:gd name="T13" fmla="*/ 79 h 48"/>
                <a:gd name="T14" fmla="*/ 7435 w 157"/>
                <a:gd name="T15" fmla="*/ 95 h 48"/>
                <a:gd name="T16" fmla="*/ 8570 w 157"/>
                <a:gd name="T17" fmla="*/ 107 h 48"/>
                <a:gd name="T18" fmla="*/ 9684 w 157"/>
                <a:gd name="T19" fmla="*/ 125 h 48"/>
                <a:gd name="T20" fmla="*/ 10753 w 157"/>
                <a:gd name="T21" fmla="*/ 141 h 48"/>
                <a:gd name="T22" fmla="*/ 11959 w 157"/>
                <a:gd name="T23" fmla="*/ 154 h 48"/>
                <a:gd name="T24" fmla="*/ 13207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03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4" y="14"/>
                  </a:lnTo>
                  <a:lnTo>
                    <a:pt x="22" y="13"/>
                  </a:lnTo>
                  <a:lnTo>
                    <a:pt x="31" y="13"/>
                  </a:lnTo>
                  <a:lnTo>
                    <a:pt x="38" y="15"/>
                  </a:lnTo>
                  <a:lnTo>
                    <a:pt x="47" y="18"/>
                  </a:lnTo>
                  <a:lnTo>
                    <a:pt x="56" y="22"/>
                  </a:lnTo>
                  <a:lnTo>
                    <a:pt x="64" y="26"/>
                  </a:lnTo>
                  <a:lnTo>
                    <a:pt x="73" y="30"/>
                  </a:lnTo>
                  <a:lnTo>
                    <a:pt x="83" y="35"/>
                  </a:lnTo>
                  <a:lnTo>
                    <a:pt x="92" y="39"/>
                  </a:lnTo>
                  <a:lnTo>
                    <a:pt x="102" y="42"/>
                  </a:lnTo>
                  <a:lnTo>
                    <a:pt x="112" y="46"/>
                  </a:lnTo>
                  <a:lnTo>
                    <a:pt x="123" y="47"/>
                  </a:lnTo>
                  <a:lnTo>
                    <a:pt x="134" y="47"/>
                  </a:lnTo>
                  <a:lnTo>
                    <a:pt x="145" y="46"/>
                  </a:lnTo>
                  <a:lnTo>
                    <a:pt x="156" y="42"/>
                  </a:lnTo>
                  <a:lnTo>
                    <a:pt x="151" y="29"/>
                  </a:lnTo>
                  <a:lnTo>
                    <a:pt x="141" y="33"/>
                  </a:lnTo>
                  <a:lnTo>
                    <a:pt x="133" y="34"/>
                  </a:lnTo>
                  <a:lnTo>
                    <a:pt x="124" y="34"/>
                  </a:lnTo>
                  <a:lnTo>
                    <a:pt x="115" y="33"/>
                  </a:lnTo>
                  <a:lnTo>
                    <a:pt x="106" y="29"/>
                  </a:lnTo>
                  <a:lnTo>
                    <a:pt x="97"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4" name="Freeform 282">
              <a:extLst>
                <a:ext uri="{FF2B5EF4-FFF2-40B4-BE49-F238E27FC236}">
                  <a16:creationId xmlns:a16="http://schemas.microsoft.com/office/drawing/2014/main" id="{3DDC1A71-E53E-4548-0520-BD3A35A1D4A8}"/>
                </a:ext>
              </a:extLst>
            </p:cNvPr>
            <p:cNvSpPr>
              <a:spLocks/>
            </p:cNvSpPr>
            <p:nvPr/>
          </p:nvSpPr>
          <p:spPr bwMode="auto">
            <a:xfrm>
              <a:off x="4296" y="2523"/>
              <a:ext cx="88" cy="146"/>
            </a:xfrm>
            <a:custGeom>
              <a:avLst/>
              <a:gdLst>
                <a:gd name="T0" fmla="*/ 612 w 70"/>
                <a:gd name="T1" fmla="*/ 699 h 135"/>
                <a:gd name="T2" fmla="*/ 1837 w 70"/>
                <a:gd name="T3" fmla="*/ 661 h 135"/>
                <a:gd name="T4" fmla="*/ 2903 w 70"/>
                <a:gd name="T5" fmla="*/ 636 h 135"/>
                <a:gd name="T6" fmla="*/ 3649 w 70"/>
                <a:gd name="T7" fmla="*/ 590 h 135"/>
                <a:gd name="T8" fmla="*/ 4242 w 70"/>
                <a:gd name="T9" fmla="*/ 544 h 135"/>
                <a:gd name="T10" fmla="*/ 4587 w 70"/>
                <a:gd name="T11" fmla="*/ 490 h 135"/>
                <a:gd name="T12" fmla="*/ 4807 w 70"/>
                <a:gd name="T13" fmla="*/ 437 h 135"/>
                <a:gd name="T14" fmla="*/ 5021 w 70"/>
                <a:gd name="T15" fmla="*/ 398 h 135"/>
                <a:gd name="T16" fmla="*/ 5265 w 70"/>
                <a:gd name="T17" fmla="*/ 345 h 135"/>
                <a:gd name="T18" fmla="*/ 5265 w 70"/>
                <a:gd name="T19" fmla="*/ 304 h 135"/>
                <a:gd name="T20" fmla="*/ 5333 w 70"/>
                <a:gd name="T21" fmla="*/ 260 h 135"/>
                <a:gd name="T22" fmla="*/ 5680 w 70"/>
                <a:gd name="T23" fmla="*/ 214 h 135"/>
                <a:gd name="T24" fmla="*/ 6034 w 70"/>
                <a:gd name="T25" fmla="*/ 177 h 135"/>
                <a:gd name="T26" fmla="*/ 6312 w 70"/>
                <a:gd name="T27" fmla="*/ 141 h 135"/>
                <a:gd name="T28" fmla="*/ 6836 w 70"/>
                <a:gd name="T29" fmla="*/ 114 h 135"/>
                <a:gd name="T30" fmla="*/ 7586 w 70"/>
                <a:gd name="T31" fmla="*/ 88 h 135"/>
                <a:gd name="T32" fmla="*/ 8428 w 70"/>
                <a:gd name="T33" fmla="*/ 64 h 135"/>
                <a:gd name="T34" fmla="*/ 7836 w 70"/>
                <a:gd name="T35" fmla="*/ 0 h 135"/>
                <a:gd name="T36" fmla="*/ 6619 w 70"/>
                <a:gd name="T37" fmla="*/ 6 h 135"/>
                <a:gd name="T38" fmla="*/ 5680 w 70"/>
                <a:gd name="T39" fmla="*/ 64 h 135"/>
                <a:gd name="T40" fmla="*/ 5021 w 70"/>
                <a:gd name="T41" fmla="*/ 111 h 135"/>
                <a:gd name="T42" fmla="*/ 4420 w 70"/>
                <a:gd name="T43" fmla="*/ 152 h 135"/>
                <a:gd name="T44" fmla="*/ 3994 w 70"/>
                <a:gd name="T45" fmla="*/ 191 h 135"/>
                <a:gd name="T46" fmla="*/ 3818 w 70"/>
                <a:gd name="T47" fmla="*/ 242 h 135"/>
                <a:gd name="T48" fmla="*/ 3649 w 70"/>
                <a:gd name="T49" fmla="*/ 292 h 135"/>
                <a:gd name="T50" fmla="*/ 3649 w 70"/>
                <a:gd name="T51" fmla="*/ 340 h 135"/>
                <a:gd name="T52" fmla="*/ 3374 w 70"/>
                <a:gd name="T53" fmla="*/ 385 h 135"/>
                <a:gd name="T54" fmla="*/ 3331 w 70"/>
                <a:gd name="T55" fmla="*/ 433 h 135"/>
                <a:gd name="T56" fmla="*/ 3037 w 70"/>
                <a:gd name="T57" fmla="*/ 472 h 135"/>
                <a:gd name="T58" fmla="*/ 2684 w 70"/>
                <a:gd name="T59" fmla="*/ 510 h 135"/>
                <a:gd name="T60" fmla="*/ 2225 w 70"/>
                <a:gd name="T61" fmla="*/ 547 h 135"/>
                <a:gd name="T62" fmla="*/ 1770 w 70"/>
                <a:gd name="T63" fmla="*/ 573 h 135"/>
                <a:gd name="T64" fmla="*/ 891 w 70"/>
                <a:gd name="T65" fmla="*/ 602 h 135"/>
                <a:gd name="T66" fmla="*/ 0 w 70"/>
                <a:gd name="T67" fmla="*/ 636 h 135"/>
                <a:gd name="T68" fmla="*/ 612 w 70"/>
                <a:gd name="T69" fmla="*/ 699 h 1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0"/>
                <a:gd name="T106" fmla="*/ 0 h 135"/>
                <a:gd name="T107" fmla="*/ 70 w 70"/>
                <a:gd name="T108" fmla="*/ 135 h 1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0" h="135">
                  <a:moveTo>
                    <a:pt x="5" y="134"/>
                  </a:moveTo>
                  <a:lnTo>
                    <a:pt x="15" y="128"/>
                  </a:lnTo>
                  <a:lnTo>
                    <a:pt x="24" y="121"/>
                  </a:lnTo>
                  <a:lnTo>
                    <a:pt x="30" y="113"/>
                  </a:lnTo>
                  <a:lnTo>
                    <a:pt x="35" y="104"/>
                  </a:lnTo>
                  <a:lnTo>
                    <a:pt x="38" y="95"/>
                  </a:lnTo>
                  <a:lnTo>
                    <a:pt x="40" y="85"/>
                  </a:lnTo>
                  <a:lnTo>
                    <a:pt x="41" y="76"/>
                  </a:lnTo>
                  <a:lnTo>
                    <a:pt x="43" y="67"/>
                  </a:lnTo>
                  <a:lnTo>
                    <a:pt x="43" y="58"/>
                  </a:lnTo>
                  <a:lnTo>
                    <a:pt x="44" y="50"/>
                  </a:lnTo>
                  <a:lnTo>
                    <a:pt x="46" y="41"/>
                  </a:lnTo>
                  <a:lnTo>
                    <a:pt x="49" y="34"/>
                  </a:lnTo>
                  <a:lnTo>
                    <a:pt x="52" y="27"/>
                  </a:lnTo>
                  <a:lnTo>
                    <a:pt x="56" y="22"/>
                  </a:lnTo>
                  <a:lnTo>
                    <a:pt x="62" y="17"/>
                  </a:lnTo>
                  <a:lnTo>
                    <a:pt x="69" y="13"/>
                  </a:lnTo>
                  <a:lnTo>
                    <a:pt x="64" y="0"/>
                  </a:lnTo>
                  <a:lnTo>
                    <a:pt x="54" y="6"/>
                  </a:lnTo>
                  <a:lnTo>
                    <a:pt x="46" y="13"/>
                  </a:lnTo>
                  <a:lnTo>
                    <a:pt x="41" y="21"/>
                  </a:lnTo>
                  <a:lnTo>
                    <a:pt x="36" y="29"/>
                  </a:lnTo>
                  <a:lnTo>
                    <a:pt x="33" y="37"/>
                  </a:lnTo>
                  <a:lnTo>
                    <a:pt x="31" y="47"/>
                  </a:lnTo>
                  <a:lnTo>
                    <a:pt x="30" y="56"/>
                  </a:lnTo>
                  <a:lnTo>
                    <a:pt x="30" y="65"/>
                  </a:lnTo>
                  <a:lnTo>
                    <a:pt x="28" y="74"/>
                  </a:lnTo>
                  <a:lnTo>
                    <a:pt x="27" y="83"/>
                  </a:lnTo>
                  <a:lnTo>
                    <a:pt x="25" y="91"/>
                  </a:lnTo>
                  <a:lnTo>
                    <a:pt x="22" y="98"/>
                  </a:lnTo>
                  <a:lnTo>
                    <a:pt x="18" y="105"/>
                  </a:lnTo>
                  <a:lnTo>
                    <a:pt x="14" y="111"/>
                  </a:lnTo>
                  <a:lnTo>
                    <a:pt x="7" y="117"/>
                  </a:lnTo>
                  <a:lnTo>
                    <a:pt x="0" y="121"/>
                  </a:lnTo>
                  <a:lnTo>
                    <a:pt x="5" y="13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5" name="Freeform 283">
              <a:extLst>
                <a:ext uri="{FF2B5EF4-FFF2-40B4-BE49-F238E27FC236}">
                  <a16:creationId xmlns:a16="http://schemas.microsoft.com/office/drawing/2014/main" id="{83E45094-DFD0-2886-98AA-4BB4F79991E6}"/>
                </a:ext>
              </a:extLst>
            </p:cNvPr>
            <p:cNvSpPr>
              <a:spLocks/>
            </p:cNvSpPr>
            <p:nvPr/>
          </p:nvSpPr>
          <p:spPr bwMode="auto">
            <a:xfrm>
              <a:off x="4107" y="2624"/>
              <a:ext cx="197" cy="51"/>
            </a:xfrm>
            <a:custGeom>
              <a:avLst/>
              <a:gdLst>
                <a:gd name="T0" fmla="*/ 597 w 157"/>
                <a:gd name="T1" fmla="*/ 62 h 48"/>
                <a:gd name="T2" fmla="*/ 1479 w 157"/>
                <a:gd name="T3" fmla="*/ 49 h 48"/>
                <a:gd name="T4" fmla="*/ 2626 w 157"/>
                <a:gd name="T5" fmla="*/ 46 h 48"/>
                <a:gd name="T6" fmla="*/ 3541 w 157"/>
                <a:gd name="T7" fmla="*/ 46 h 48"/>
                <a:gd name="T8" fmla="*/ 4443 w 157"/>
                <a:gd name="T9" fmla="*/ 52 h 48"/>
                <a:gd name="T10" fmla="*/ 5544 w 157"/>
                <a:gd name="T11" fmla="*/ 62 h 48"/>
                <a:gd name="T12" fmla="*/ 6530 w 157"/>
                <a:gd name="T13" fmla="*/ 79 h 48"/>
                <a:gd name="T14" fmla="*/ 7435 w 157"/>
                <a:gd name="T15" fmla="*/ 92 h 48"/>
                <a:gd name="T16" fmla="*/ 8570 w 157"/>
                <a:gd name="T17" fmla="*/ 107 h 48"/>
                <a:gd name="T18" fmla="*/ 9684 w 157"/>
                <a:gd name="T19" fmla="*/ 125 h 48"/>
                <a:gd name="T20" fmla="*/ 10952 w 157"/>
                <a:gd name="T21" fmla="*/ 141 h 48"/>
                <a:gd name="T22" fmla="*/ 11959 w 157"/>
                <a:gd name="T23" fmla="*/ 154 h 48"/>
                <a:gd name="T24" fmla="*/ 13258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75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3" y="14"/>
                  </a:lnTo>
                  <a:lnTo>
                    <a:pt x="22" y="13"/>
                  </a:lnTo>
                  <a:lnTo>
                    <a:pt x="30" y="13"/>
                  </a:lnTo>
                  <a:lnTo>
                    <a:pt x="38" y="15"/>
                  </a:lnTo>
                  <a:lnTo>
                    <a:pt x="47" y="18"/>
                  </a:lnTo>
                  <a:lnTo>
                    <a:pt x="56" y="22"/>
                  </a:lnTo>
                  <a:lnTo>
                    <a:pt x="64" y="25"/>
                  </a:lnTo>
                  <a:lnTo>
                    <a:pt x="73" y="30"/>
                  </a:lnTo>
                  <a:lnTo>
                    <a:pt x="83" y="35"/>
                  </a:lnTo>
                  <a:lnTo>
                    <a:pt x="93" y="39"/>
                  </a:lnTo>
                  <a:lnTo>
                    <a:pt x="102" y="42"/>
                  </a:lnTo>
                  <a:lnTo>
                    <a:pt x="113" y="46"/>
                  </a:lnTo>
                  <a:lnTo>
                    <a:pt x="123" y="47"/>
                  </a:lnTo>
                  <a:lnTo>
                    <a:pt x="134" y="47"/>
                  </a:lnTo>
                  <a:lnTo>
                    <a:pt x="145" y="46"/>
                  </a:lnTo>
                  <a:lnTo>
                    <a:pt x="156" y="42"/>
                  </a:lnTo>
                  <a:lnTo>
                    <a:pt x="151" y="29"/>
                  </a:lnTo>
                  <a:lnTo>
                    <a:pt x="141" y="33"/>
                  </a:lnTo>
                  <a:lnTo>
                    <a:pt x="133" y="34"/>
                  </a:lnTo>
                  <a:lnTo>
                    <a:pt x="124" y="34"/>
                  </a:lnTo>
                  <a:lnTo>
                    <a:pt x="115" y="33"/>
                  </a:lnTo>
                  <a:lnTo>
                    <a:pt x="106" y="29"/>
                  </a:lnTo>
                  <a:lnTo>
                    <a:pt x="98"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6" name="Freeform 284">
              <a:extLst>
                <a:ext uri="{FF2B5EF4-FFF2-40B4-BE49-F238E27FC236}">
                  <a16:creationId xmlns:a16="http://schemas.microsoft.com/office/drawing/2014/main" id="{B7A8C2AB-5597-6809-BC1F-409B2E05EAAB}"/>
                </a:ext>
              </a:extLst>
            </p:cNvPr>
            <p:cNvSpPr>
              <a:spLocks/>
            </p:cNvSpPr>
            <p:nvPr/>
          </p:nvSpPr>
          <p:spPr bwMode="auto">
            <a:xfrm>
              <a:off x="4039" y="2628"/>
              <a:ext cx="76" cy="141"/>
            </a:xfrm>
            <a:custGeom>
              <a:avLst/>
              <a:gdLst>
                <a:gd name="T0" fmla="*/ 1023 w 60"/>
                <a:gd name="T1" fmla="*/ 601 h 131"/>
                <a:gd name="T2" fmla="*/ 889 w 60"/>
                <a:gd name="T3" fmla="*/ 609 h 131"/>
                <a:gd name="T4" fmla="*/ 2080 w 60"/>
                <a:gd name="T5" fmla="*/ 590 h 131"/>
                <a:gd name="T6" fmla="*/ 2986 w 60"/>
                <a:gd name="T7" fmla="*/ 550 h 131"/>
                <a:gd name="T8" fmla="*/ 3671 w 60"/>
                <a:gd name="T9" fmla="*/ 517 h 131"/>
                <a:gd name="T10" fmla="*/ 3947 w 60"/>
                <a:gd name="T11" fmla="*/ 480 h 131"/>
                <a:gd name="T12" fmla="*/ 4303 w 60"/>
                <a:gd name="T13" fmla="*/ 440 h 131"/>
                <a:gd name="T14" fmla="*/ 4399 w 60"/>
                <a:gd name="T15" fmla="*/ 408 h 131"/>
                <a:gd name="T16" fmla="*/ 4650 w 60"/>
                <a:gd name="T17" fmla="*/ 358 h 131"/>
                <a:gd name="T18" fmla="*/ 4650 w 60"/>
                <a:gd name="T19" fmla="*/ 321 h 131"/>
                <a:gd name="T20" fmla="*/ 4751 w 60"/>
                <a:gd name="T21" fmla="*/ 282 h 131"/>
                <a:gd name="T22" fmla="*/ 4791 w 60"/>
                <a:gd name="T23" fmla="*/ 230 h 131"/>
                <a:gd name="T24" fmla="*/ 5114 w 60"/>
                <a:gd name="T25" fmla="*/ 196 h 131"/>
                <a:gd name="T26" fmla="*/ 5450 w 60"/>
                <a:gd name="T27" fmla="*/ 168 h 131"/>
                <a:gd name="T28" fmla="*/ 5890 w 60"/>
                <a:gd name="T29" fmla="*/ 128 h 131"/>
                <a:gd name="T30" fmla="*/ 6400 w 60"/>
                <a:gd name="T31" fmla="*/ 103 h 131"/>
                <a:gd name="T32" fmla="*/ 7461 w 60"/>
                <a:gd name="T33" fmla="*/ 83 h 131"/>
                <a:gd name="T34" fmla="*/ 8440 w 60"/>
                <a:gd name="T35" fmla="*/ 58 h 131"/>
                <a:gd name="T36" fmla="*/ 7687 w 60"/>
                <a:gd name="T37" fmla="*/ 0 h 131"/>
                <a:gd name="T38" fmla="*/ 6333 w 60"/>
                <a:gd name="T39" fmla="*/ 6 h 131"/>
                <a:gd name="T40" fmla="*/ 5114 w 60"/>
                <a:gd name="T41" fmla="*/ 58 h 131"/>
                <a:gd name="T42" fmla="*/ 4303 w 60"/>
                <a:gd name="T43" fmla="*/ 96 h 131"/>
                <a:gd name="T44" fmla="*/ 3671 w 60"/>
                <a:gd name="T45" fmla="*/ 136 h 131"/>
                <a:gd name="T46" fmla="*/ 3338 w 60"/>
                <a:gd name="T47" fmla="*/ 182 h 131"/>
                <a:gd name="T48" fmla="*/ 2986 w 60"/>
                <a:gd name="T49" fmla="*/ 227 h 131"/>
                <a:gd name="T50" fmla="*/ 2898 w 60"/>
                <a:gd name="T51" fmla="*/ 264 h 131"/>
                <a:gd name="T52" fmla="*/ 2682 w 60"/>
                <a:gd name="T53" fmla="*/ 306 h 131"/>
                <a:gd name="T54" fmla="*/ 2682 w 60"/>
                <a:gd name="T55" fmla="*/ 353 h 131"/>
                <a:gd name="T56" fmla="*/ 2635 w 60"/>
                <a:gd name="T57" fmla="*/ 392 h 131"/>
                <a:gd name="T58" fmla="*/ 2460 w 60"/>
                <a:gd name="T59" fmla="*/ 435 h 131"/>
                <a:gd name="T60" fmla="*/ 2117 w 60"/>
                <a:gd name="T61" fmla="*/ 468 h 131"/>
                <a:gd name="T62" fmla="*/ 1806 w 60"/>
                <a:gd name="T63" fmla="*/ 499 h 131"/>
                <a:gd name="T64" fmla="*/ 1426 w 60"/>
                <a:gd name="T65" fmla="*/ 511 h 131"/>
                <a:gd name="T66" fmla="*/ 889 w 60"/>
                <a:gd name="T67" fmla="*/ 538 h 131"/>
                <a:gd name="T68" fmla="*/ 1 w 60"/>
                <a:gd name="T69" fmla="*/ 549 h 131"/>
                <a:gd name="T70" fmla="*/ 0 w 60"/>
                <a:gd name="T71" fmla="*/ 550 h 131"/>
                <a:gd name="T72" fmla="*/ 1 w 60"/>
                <a:gd name="T73" fmla="*/ 549 h 131"/>
                <a:gd name="T74" fmla="*/ 1 w 60"/>
                <a:gd name="T75" fmla="*/ 550 h 131"/>
                <a:gd name="T76" fmla="*/ 0 w 60"/>
                <a:gd name="T77" fmla="*/ 550 h 131"/>
                <a:gd name="T78" fmla="*/ 1023 w 60"/>
                <a:gd name="T79" fmla="*/ 601 h 1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0"/>
                <a:gd name="T121" fmla="*/ 0 h 131"/>
                <a:gd name="T122" fmla="*/ 60 w 60"/>
                <a:gd name="T123" fmla="*/ 131 h 1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0" h="131">
                  <a:moveTo>
                    <a:pt x="7" y="129"/>
                  </a:moveTo>
                  <a:lnTo>
                    <a:pt x="6" y="130"/>
                  </a:lnTo>
                  <a:lnTo>
                    <a:pt x="14" y="125"/>
                  </a:lnTo>
                  <a:lnTo>
                    <a:pt x="21" y="118"/>
                  </a:lnTo>
                  <a:lnTo>
                    <a:pt x="25" y="111"/>
                  </a:lnTo>
                  <a:lnTo>
                    <a:pt x="28" y="103"/>
                  </a:lnTo>
                  <a:lnTo>
                    <a:pt x="30" y="94"/>
                  </a:lnTo>
                  <a:lnTo>
                    <a:pt x="31" y="86"/>
                  </a:lnTo>
                  <a:lnTo>
                    <a:pt x="32" y="77"/>
                  </a:lnTo>
                  <a:lnTo>
                    <a:pt x="32" y="68"/>
                  </a:lnTo>
                  <a:lnTo>
                    <a:pt x="33" y="59"/>
                  </a:lnTo>
                  <a:lnTo>
                    <a:pt x="34" y="50"/>
                  </a:lnTo>
                  <a:lnTo>
                    <a:pt x="36" y="42"/>
                  </a:lnTo>
                  <a:lnTo>
                    <a:pt x="38" y="35"/>
                  </a:lnTo>
                  <a:lnTo>
                    <a:pt x="41" y="28"/>
                  </a:lnTo>
                  <a:lnTo>
                    <a:pt x="45" y="22"/>
                  </a:lnTo>
                  <a:lnTo>
                    <a:pt x="52" y="18"/>
                  </a:lnTo>
                  <a:lnTo>
                    <a:pt x="59" y="13"/>
                  </a:lnTo>
                  <a:lnTo>
                    <a:pt x="54" y="0"/>
                  </a:lnTo>
                  <a:lnTo>
                    <a:pt x="44" y="6"/>
                  </a:lnTo>
                  <a:lnTo>
                    <a:pt x="36" y="13"/>
                  </a:lnTo>
                  <a:lnTo>
                    <a:pt x="30" y="20"/>
                  </a:lnTo>
                  <a:lnTo>
                    <a:pt x="25" y="29"/>
                  </a:lnTo>
                  <a:lnTo>
                    <a:pt x="23" y="39"/>
                  </a:lnTo>
                  <a:lnTo>
                    <a:pt x="21" y="48"/>
                  </a:lnTo>
                  <a:lnTo>
                    <a:pt x="20" y="57"/>
                  </a:lnTo>
                  <a:lnTo>
                    <a:pt x="19" y="66"/>
                  </a:lnTo>
                  <a:lnTo>
                    <a:pt x="19" y="75"/>
                  </a:lnTo>
                  <a:lnTo>
                    <a:pt x="18" y="84"/>
                  </a:lnTo>
                  <a:lnTo>
                    <a:pt x="17" y="92"/>
                  </a:lnTo>
                  <a:lnTo>
                    <a:pt x="15" y="99"/>
                  </a:lnTo>
                  <a:lnTo>
                    <a:pt x="13" y="105"/>
                  </a:lnTo>
                  <a:lnTo>
                    <a:pt x="10" y="110"/>
                  </a:lnTo>
                  <a:lnTo>
                    <a:pt x="6" y="114"/>
                  </a:lnTo>
                  <a:lnTo>
                    <a:pt x="1" y="117"/>
                  </a:lnTo>
                  <a:lnTo>
                    <a:pt x="0" y="118"/>
                  </a:lnTo>
                  <a:lnTo>
                    <a:pt x="1" y="117"/>
                  </a:lnTo>
                  <a:lnTo>
                    <a:pt x="1" y="118"/>
                  </a:lnTo>
                  <a:lnTo>
                    <a:pt x="0" y="118"/>
                  </a:lnTo>
                  <a:lnTo>
                    <a:pt x="7" y="129"/>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7" name="Freeform 285">
              <a:extLst>
                <a:ext uri="{FF2B5EF4-FFF2-40B4-BE49-F238E27FC236}">
                  <a16:creationId xmlns:a16="http://schemas.microsoft.com/office/drawing/2014/main" id="{BC242605-24F1-9780-93BD-ABDE726BE96E}"/>
                </a:ext>
              </a:extLst>
            </p:cNvPr>
            <p:cNvSpPr>
              <a:spLocks/>
            </p:cNvSpPr>
            <p:nvPr/>
          </p:nvSpPr>
          <p:spPr bwMode="auto">
            <a:xfrm>
              <a:off x="4034" y="2754"/>
              <a:ext cx="15" cy="17"/>
            </a:xfrm>
            <a:custGeom>
              <a:avLst/>
              <a:gdLst>
                <a:gd name="T0" fmla="*/ 364 w 12"/>
                <a:gd name="T1" fmla="*/ 100 h 15"/>
                <a:gd name="T2" fmla="*/ 744 w 12"/>
                <a:gd name="T3" fmla="*/ 186 h 15"/>
                <a:gd name="T4" fmla="*/ 1163 w 12"/>
                <a:gd name="T5" fmla="*/ 164 h 15"/>
                <a:gd name="T6" fmla="*/ 455 w 12"/>
                <a:gd name="T7" fmla="*/ 0 h 15"/>
                <a:gd name="T8" fmla="*/ 0 w 12"/>
                <a:gd name="T9" fmla="*/ 2 h 15"/>
                <a:gd name="T10" fmla="*/ 364 w 12"/>
                <a:gd name="T11" fmla="*/ 100 h 15"/>
                <a:gd name="T12" fmla="*/ 0 60000 65536"/>
                <a:gd name="T13" fmla="*/ 0 60000 65536"/>
                <a:gd name="T14" fmla="*/ 0 60000 65536"/>
                <a:gd name="T15" fmla="*/ 0 60000 65536"/>
                <a:gd name="T16" fmla="*/ 0 60000 65536"/>
                <a:gd name="T17" fmla="*/ 0 60000 65536"/>
                <a:gd name="T18" fmla="*/ 0 w 12"/>
                <a:gd name="T19" fmla="*/ 0 h 15"/>
                <a:gd name="T20" fmla="*/ 12 w 12"/>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2" h="15">
                  <a:moveTo>
                    <a:pt x="3" y="8"/>
                  </a:moveTo>
                  <a:lnTo>
                    <a:pt x="7" y="14"/>
                  </a:lnTo>
                  <a:lnTo>
                    <a:pt x="11" y="12"/>
                  </a:lnTo>
                  <a:lnTo>
                    <a:pt x="4" y="0"/>
                  </a:lnTo>
                  <a:lnTo>
                    <a:pt x="0" y="2"/>
                  </a:lnTo>
                  <a:lnTo>
                    <a:pt x="3" y="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8" name="Freeform 286">
              <a:extLst>
                <a:ext uri="{FF2B5EF4-FFF2-40B4-BE49-F238E27FC236}">
                  <a16:creationId xmlns:a16="http://schemas.microsoft.com/office/drawing/2014/main" id="{19EC78EB-6825-6B5E-0EC4-AECD90212369}"/>
                </a:ext>
              </a:extLst>
            </p:cNvPr>
            <p:cNvSpPr>
              <a:spLocks/>
            </p:cNvSpPr>
            <p:nvPr/>
          </p:nvSpPr>
          <p:spPr bwMode="auto">
            <a:xfrm>
              <a:off x="4755" y="2386"/>
              <a:ext cx="152" cy="79"/>
            </a:xfrm>
            <a:custGeom>
              <a:avLst/>
              <a:gdLst>
                <a:gd name="T0" fmla="*/ 3418 w 122"/>
                <a:gd name="T1" fmla="*/ 187 h 73"/>
                <a:gd name="T2" fmla="*/ 0 w 122"/>
                <a:gd name="T3" fmla="*/ 89 h 73"/>
                <a:gd name="T4" fmla="*/ 1 w 122"/>
                <a:gd name="T5" fmla="*/ 82 h 73"/>
                <a:gd name="T6" fmla="*/ 6299 w 122"/>
                <a:gd name="T7" fmla="*/ 60 h 73"/>
                <a:gd name="T8" fmla="*/ 6961 w 122"/>
                <a:gd name="T9" fmla="*/ 51 h 73"/>
                <a:gd name="T10" fmla="*/ 7848 w 122"/>
                <a:gd name="T11" fmla="*/ 43 h 73"/>
                <a:gd name="T12" fmla="*/ 8505 w 122"/>
                <a:gd name="T13" fmla="*/ 40 h 73"/>
                <a:gd name="T14" fmla="*/ 9349 w 122"/>
                <a:gd name="T15" fmla="*/ 6 h 73"/>
                <a:gd name="T16" fmla="*/ 10006 w 122"/>
                <a:gd name="T17" fmla="*/ 4 h 73"/>
                <a:gd name="T18" fmla="*/ 10650 w 122"/>
                <a:gd name="T19" fmla="*/ 3 h 73"/>
                <a:gd name="T20" fmla="*/ 11553 w 122"/>
                <a:gd name="T21" fmla="*/ 1 h 73"/>
                <a:gd name="T22" fmla="*/ 12285 w 122"/>
                <a:gd name="T23" fmla="*/ 0 h 73"/>
                <a:gd name="T24" fmla="*/ 11829 w 122"/>
                <a:gd name="T25" fmla="*/ 4 h 73"/>
                <a:gd name="T26" fmla="*/ 11112 w 122"/>
                <a:gd name="T27" fmla="*/ 43 h 73"/>
                <a:gd name="T28" fmla="*/ 10584 w 122"/>
                <a:gd name="T29" fmla="*/ 60 h 73"/>
                <a:gd name="T30" fmla="*/ 9860 w 122"/>
                <a:gd name="T31" fmla="*/ 82 h 73"/>
                <a:gd name="T32" fmla="*/ 9349 w 122"/>
                <a:gd name="T33" fmla="*/ 105 h 73"/>
                <a:gd name="T34" fmla="*/ 8673 w 122"/>
                <a:gd name="T35" fmla="*/ 123 h 73"/>
                <a:gd name="T36" fmla="*/ 7935 w 122"/>
                <a:gd name="T37" fmla="*/ 155 h 73"/>
                <a:gd name="T38" fmla="*/ 7391 w 122"/>
                <a:gd name="T39" fmla="*/ 169 h 73"/>
                <a:gd name="T40" fmla="*/ 3257 w 122"/>
                <a:gd name="T41" fmla="*/ 373 h 73"/>
                <a:gd name="T42" fmla="*/ 2971 w 122"/>
                <a:gd name="T43" fmla="*/ 373 h 73"/>
                <a:gd name="T44" fmla="*/ 3418 w 122"/>
                <a:gd name="T45" fmla="*/ 187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2"/>
                <a:gd name="T70" fmla="*/ 0 h 73"/>
                <a:gd name="T71" fmla="*/ 122 w 122"/>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2" h="73">
                  <a:moveTo>
                    <a:pt x="34" y="36"/>
                  </a:moveTo>
                  <a:lnTo>
                    <a:pt x="0" y="17"/>
                  </a:lnTo>
                  <a:lnTo>
                    <a:pt x="1" y="16"/>
                  </a:lnTo>
                  <a:lnTo>
                    <a:pt x="62" y="12"/>
                  </a:lnTo>
                  <a:lnTo>
                    <a:pt x="69" y="10"/>
                  </a:lnTo>
                  <a:lnTo>
                    <a:pt x="77" y="8"/>
                  </a:lnTo>
                  <a:lnTo>
                    <a:pt x="84" y="7"/>
                  </a:lnTo>
                  <a:lnTo>
                    <a:pt x="92" y="6"/>
                  </a:lnTo>
                  <a:lnTo>
                    <a:pt x="99" y="4"/>
                  </a:lnTo>
                  <a:lnTo>
                    <a:pt x="106" y="3"/>
                  </a:lnTo>
                  <a:lnTo>
                    <a:pt x="114" y="1"/>
                  </a:lnTo>
                  <a:lnTo>
                    <a:pt x="121" y="0"/>
                  </a:lnTo>
                  <a:lnTo>
                    <a:pt x="116" y="4"/>
                  </a:lnTo>
                  <a:lnTo>
                    <a:pt x="110" y="8"/>
                  </a:lnTo>
                  <a:lnTo>
                    <a:pt x="104" y="12"/>
                  </a:lnTo>
                  <a:lnTo>
                    <a:pt x="97" y="16"/>
                  </a:lnTo>
                  <a:lnTo>
                    <a:pt x="92" y="20"/>
                  </a:lnTo>
                  <a:lnTo>
                    <a:pt x="86" y="24"/>
                  </a:lnTo>
                  <a:lnTo>
                    <a:pt x="79" y="29"/>
                  </a:lnTo>
                  <a:lnTo>
                    <a:pt x="73" y="32"/>
                  </a:lnTo>
                  <a:lnTo>
                    <a:pt x="32" y="72"/>
                  </a:lnTo>
                  <a:lnTo>
                    <a:pt x="30" y="72"/>
                  </a:lnTo>
                  <a:lnTo>
                    <a:pt x="34" y="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39" name="Freeform 287">
              <a:extLst>
                <a:ext uri="{FF2B5EF4-FFF2-40B4-BE49-F238E27FC236}">
                  <a16:creationId xmlns:a16="http://schemas.microsoft.com/office/drawing/2014/main" id="{12715789-C07C-C8E1-FBD8-99742978A5DB}"/>
                </a:ext>
              </a:extLst>
            </p:cNvPr>
            <p:cNvSpPr>
              <a:spLocks/>
            </p:cNvSpPr>
            <p:nvPr/>
          </p:nvSpPr>
          <p:spPr bwMode="auto">
            <a:xfrm>
              <a:off x="2950" y="3206"/>
              <a:ext cx="146" cy="143"/>
            </a:xfrm>
            <a:custGeom>
              <a:avLst/>
              <a:gdLst>
                <a:gd name="T0" fmla="*/ 11484 w 117"/>
                <a:gd name="T1" fmla="*/ 0 h 132"/>
                <a:gd name="T2" fmla="*/ 10586 w 117"/>
                <a:gd name="T3" fmla="*/ 28 h 132"/>
                <a:gd name="T4" fmla="*/ 9767 w 117"/>
                <a:gd name="T5" fmla="*/ 63 h 132"/>
                <a:gd name="T6" fmla="*/ 9390 w 117"/>
                <a:gd name="T7" fmla="*/ 104 h 132"/>
                <a:gd name="T8" fmla="*/ 9166 w 117"/>
                <a:gd name="T9" fmla="*/ 138 h 132"/>
                <a:gd name="T10" fmla="*/ 8971 w 117"/>
                <a:gd name="T11" fmla="*/ 177 h 132"/>
                <a:gd name="T12" fmla="*/ 8900 w 117"/>
                <a:gd name="T13" fmla="*/ 209 h 132"/>
                <a:gd name="T14" fmla="*/ 8756 w 117"/>
                <a:gd name="T15" fmla="*/ 245 h 132"/>
                <a:gd name="T16" fmla="*/ 8756 w 117"/>
                <a:gd name="T17" fmla="*/ 286 h 132"/>
                <a:gd name="T18" fmla="*/ 8483 w 117"/>
                <a:gd name="T19" fmla="*/ 313 h 132"/>
                <a:gd name="T20" fmla="*/ 8119 w 117"/>
                <a:gd name="T21" fmla="*/ 343 h 132"/>
                <a:gd name="T22" fmla="*/ 7638 w 117"/>
                <a:gd name="T23" fmla="*/ 376 h 132"/>
                <a:gd name="T24" fmla="*/ 6810 w 117"/>
                <a:gd name="T25" fmla="*/ 428 h 132"/>
                <a:gd name="T26" fmla="*/ 5761 w 117"/>
                <a:gd name="T27" fmla="*/ 473 h 132"/>
                <a:gd name="T28" fmla="*/ 4321 w 117"/>
                <a:gd name="T29" fmla="*/ 518 h 132"/>
                <a:gd name="T30" fmla="*/ 2427 w 117"/>
                <a:gd name="T31" fmla="*/ 581 h 132"/>
                <a:gd name="T32" fmla="*/ 0 w 117"/>
                <a:gd name="T33" fmla="*/ 639 h 132"/>
                <a:gd name="T34" fmla="*/ 453 w 117"/>
                <a:gd name="T35" fmla="*/ 705 h 132"/>
                <a:gd name="T36" fmla="*/ 3029 w 117"/>
                <a:gd name="T37" fmla="*/ 644 h 132"/>
                <a:gd name="T38" fmla="*/ 5008 w 117"/>
                <a:gd name="T39" fmla="*/ 590 h 132"/>
                <a:gd name="T40" fmla="*/ 6689 w 117"/>
                <a:gd name="T41" fmla="*/ 523 h 132"/>
                <a:gd name="T42" fmla="*/ 7827 w 117"/>
                <a:gd name="T43" fmla="*/ 477 h 132"/>
                <a:gd name="T44" fmla="*/ 8756 w 117"/>
                <a:gd name="T45" fmla="*/ 431 h 132"/>
                <a:gd name="T46" fmla="*/ 9390 w 117"/>
                <a:gd name="T47" fmla="*/ 376 h 132"/>
                <a:gd name="T48" fmla="*/ 9767 w 117"/>
                <a:gd name="T49" fmla="*/ 339 h 132"/>
                <a:gd name="T50" fmla="*/ 10131 w 117"/>
                <a:gd name="T51" fmla="*/ 289 h 132"/>
                <a:gd name="T52" fmla="*/ 10131 w 117"/>
                <a:gd name="T53" fmla="*/ 246 h 132"/>
                <a:gd name="T54" fmla="*/ 10204 w 117"/>
                <a:gd name="T55" fmla="*/ 225 h 132"/>
                <a:gd name="T56" fmla="*/ 10416 w 117"/>
                <a:gd name="T57" fmla="*/ 192 h 132"/>
                <a:gd name="T58" fmla="*/ 10477 w 117"/>
                <a:gd name="T59" fmla="*/ 163 h 132"/>
                <a:gd name="T60" fmla="*/ 10604 w 117"/>
                <a:gd name="T61" fmla="*/ 132 h 132"/>
                <a:gd name="T62" fmla="*/ 10856 w 117"/>
                <a:gd name="T63" fmla="*/ 113 h 132"/>
                <a:gd name="T64" fmla="*/ 11484 w 117"/>
                <a:gd name="T65" fmla="*/ 82 h 132"/>
                <a:gd name="T66" fmla="*/ 12173 w 117"/>
                <a:gd name="T67" fmla="*/ 58 h 132"/>
                <a:gd name="T68" fmla="*/ 11484 w 11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7"/>
                <a:gd name="T106" fmla="*/ 0 h 132"/>
                <a:gd name="T107" fmla="*/ 117 w 11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7" h="132">
                  <a:moveTo>
                    <a:pt x="110" y="0"/>
                  </a:moveTo>
                  <a:lnTo>
                    <a:pt x="101" y="6"/>
                  </a:lnTo>
                  <a:lnTo>
                    <a:pt x="94" y="12"/>
                  </a:lnTo>
                  <a:lnTo>
                    <a:pt x="90" y="19"/>
                  </a:lnTo>
                  <a:lnTo>
                    <a:pt x="87" y="26"/>
                  </a:lnTo>
                  <a:lnTo>
                    <a:pt x="86" y="32"/>
                  </a:lnTo>
                  <a:lnTo>
                    <a:pt x="85" y="39"/>
                  </a:lnTo>
                  <a:lnTo>
                    <a:pt x="84" y="45"/>
                  </a:lnTo>
                  <a:lnTo>
                    <a:pt x="84" y="52"/>
                  </a:lnTo>
                  <a:lnTo>
                    <a:pt x="81" y="58"/>
                  </a:lnTo>
                  <a:lnTo>
                    <a:pt x="78" y="64"/>
                  </a:lnTo>
                  <a:lnTo>
                    <a:pt x="73" y="71"/>
                  </a:lnTo>
                  <a:lnTo>
                    <a:pt x="66" y="79"/>
                  </a:lnTo>
                  <a:lnTo>
                    <a:pt x="55" y="88"/>
                  </a:lnTo>
                  <a:lnTo>
                    <a:pt x="41" y="97"/>
                  </a:lnTo>
                  <a:lnTo>
                    <a:pt x="23" y="108"/>
                  </a:lnTo>
                  <a:lnTo>
                    <a:pt x="0" y="118"/>
                  </a:lnTo>
                  <a:lnTo>
                    <a:pt x="5" y="131"/>
                  </a:lnTo>
                  <a:lnTo>
                    <a:pt x="29" y="119"/>
                  </a:lnTo>
                  <a:lnTo>
                    <a:pt x="47" y="109"/>
                  </a:lnTo>
                  <a:lnTo>
                    <a:pt x="63" y="98"/>
                  </a:lnTo>
                  <a:lnTo>
                    <a:pt x="75" y="89"/>
                  </a:lnTo>
                  <a:lnTo>
                    <a:pt x="84" y="80"/>
                  </a:lnTo>
                  <a:lnTo>
                    <a:pt x="90" y="71"/>
                  </a:lnTo>
                  <a:lnTo>
                    <a:pt x="94" y="63"/>
                  </a:lnTo>
                  <a:lnTo>
                    <a:pt x="97" y="54"/>
                  </a:lnTo>
                  <a:lnTo>
                    <a:pt x="97" y="46"/>
                  </a:lnTo>
                  <a:lnTo>
                    <a:pt x="98" y="41"/>
                  </a:lnTo>
                  <a:lnTo>
                    <a:pt x="99" y="35"/>
                  </a:lnTo>
                  <a:lnTo>
                    <a:pt x="100" y="30"/>
                  </a:lnTo>
                  <a:lnTo>
                    <a:pt x="102" y="25"/>
                  </a:lnTo>
                  <a:lnTo>
                    <a:pt x="104" y="21"/>
                  </a:lnTo>
                  <a:lnTo>
                    <a:pt x="110" y="16"/>
                  </a:lnTo>
                  <a:lnTo>
                    <a:pt x="116" y="11"/>
                  </a:lnTo>
                  <a:lnTo>
                    <a:pt x="11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0" name="Freeform 288">
              <a:extLst>
                <a:ext uri="{FF2B5EF4-FFF2-40B4-BE49-F238E27FC236}">
                  <a16:creationId xmlns:a16="http://schemas.microsoft.com/office/drawing/2014/main" id="{8E633571-9C48-51BC-9EB7-71EEE2690B79}"/>
                </a:ext>
              </a:extLst>
            </p:cNvPr>
            <p:cNvSpPr>
              <a:spLocks/>
            </p:cNvSpPr>
            <p:nvPr/>
          </p:nvSpPr>
          <p:spPr bwMode="auto">
            <a:xfrm>
              <a:off x="3086" y="3197"/>
              <a:ext cx="207" cy="43"/>
            </a:xfrm>
            <a:custGeom>
              <a:avLst/>
              <a:gdLst>
                <a:gd name="T0" fmla="*/ 18363 w 165"/>
                <a:gd name="T1" fmla="*/ 95 h 40"/>
                <a:gd name="T2" fmla="*/ 17480 w 165"/>
                <a:gd name="T3" fmla="*/ 104 h 40"/>
                <a:gd name="T4" fmla="*/ 16540 w 165"/>
                <a:gd name="T5" fmla="*/ 112 h 40"/>
                <a:gd name="T6" fmla="*/ 15427 w 165"/>
                <a:gd name="T7" fmla="*/ 112 h 40"/>
                <a:gd name="T8" fmla="*/ 14615 w 165"/>
                <a:gd name="T9" fmla="*/ 110 h 40"/>
                <a:gd name="T10" fmla="*/ 13468 w 165"/>
                <a:gd name="T11" fmla="*/ 102 h 40"/>
                <a:gd name="T12" fmla="*/ 12297 w 165"/>
                <a:gd name="T13" fmla="*/ 88 h 40"/>
                <a:gd name="T14" fmla="*/ 11184 w 165"/>
                <a:gd name="T15" fmla="*/ 71 h 40"/>
                <a:gd name="T16" fmla="*/ 10031 w 165"/>
                <a:gd name="T17" fmla="*/ 53 h 40"/>
                <a:gd name="T18" fmla="*/ 8841 w 165"/>
                <a:gd name="T19" fmla="*/ 43 h 40"/>
                <a:gd name="T20" fmla="*/ 7648 w 165"/>
                <a:gd name="T21" fmla="*/ 5 h 40"/>
                <a:gd name="T22" fmla="*/ 6492 w 165"/>
                <a:gd name="T23" fmla="*/ 2 h 40"/>
                <a:gd name="T24" fmla="*/ 5175 w 165"/>
                <a:gd name="T25" fmla="*/ 1 h 40"/>
                <a:gd name="T26" fmla="*/ 3754 w 165"/>
                <a:gd name="T27" fmla="*/ 0 h 40"/>
                <a:gd name="T28" fmla="*/ 2621 w 165"/>
                <a:gd name="T29" fmla="*/ 1 h 40"/>
                <a:gd name="T30" fmla="*/ 1331 w 165"/>
                <a:gd name="T31" fmla="*/ 4 h 40"/>
                <a:gd name="T32" fmla="*/ 0 w 165"/>
                <a:gd name="T33" fmla="*/ 43 h 40"/>
                <a:gd name="T34" fmla="*/ 846 w 165"/>
                <a:gd name="T35" fmla="*/ 95 h 40"/>
                <a:gd name="T36" fmla="*/ 1791 w 165"/>
                <a:gd name="T37" fmla="*/ 76 h 40"/>
                <a:gd name="T38" fmla="*/ 2917 w 165"/>
                <a:gd name="T39" fmla="*/ 61 h 40"/>
                <a:gd name="T40" fmla="*/ 3754 w 165"/>
                <a:gd name="T41" fmla="*/ 61 h 40"/>
                <a:gd name="T42" fmla="*/ 4893 w 165"/>
                <a:gd name="T43" fmla="*/ 61 h 40"/>
                <a:gd name="T44" fmla="*/ 6096 w 165"/>
                <a:gd name="T45" fmla="*/ 66 h 40"/>
                <a:gd name="T46" fmla="*/ 7227 w 165"/>
                <a:gd name="T47" fmla="*/ 82 h 40"/>
                <a:gd name="T48" fmla="*/ 8390 w 165"/>
                <a:gd name="T49" fmla="*/ 102 h 40"/>
                <a:gd name="T50" fmla="*/ 9516 w 165"/>
                <a:gd name="T51" fmla="*/ 112 h 40"/>
                <a:gd name="T52" fmla="*/ 10625 w 165"/>
                <a:gd name="T53" fmla="*/ 129 h 40"/>
                <a:gd name="T54" fmla="*/ 11824 w 165"/>
                <a:gd name="T55" fmla="*/ 147 h 40"/>
                <a:gd name="T56" fmla="*/ 12892 w 165"/>
                <a:gd name="T57" fmla="*/ 160 h 40"/>
                <a:gd name="T58" fmla="*/ 14270 w 165"/>
                <a:gd name="T59" fmla="*/ 170 h 40"/>
                <a:gd name="T60" fmla="*/ 15427 w 165"/>
                <a:gd name="T61" fmla="*/ 181 h 40"/>
                <a:gd name="T62" fmla="*/ 16566 w 165"/>
                <a:gd name="T63" fmla="*/ 172 h 40"/>
                <a:gd name="T64" fmla="*/ 18029 w 165"/>
                <a:gd name="T65" fmla="*/ 168 h 40"/>
                <a:gd name="T66" fmla="*/ 19181 w 165"/>
                <a:gd name="T67" fmla="*/ 139 h 40"/>
                <a:gd name="T68" fmla="*/ 18363 w 165"/>
                <a:gd name="T69" fmla="*/ 95 h 4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
                <a:gd name="T106" fmla="*/ 0 h 40"/>
                <a:gd name="T107" fmla="*/ 165 w 165"/>
                <a:gd name="T108" fmla="*/ 40 h 4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 h="40">
                  <a:moveTo>
                    <a:pt x="157" y="20"/>
                  </a:moveTo>
                  <a:lnTo>
                    <a:pt x="150" y="23"/>
                  </a:lnTo>
                  <a:lnTo>
                    <a:pt x="141" y="25"/>
                  </a:lnTo>
                  <a:lnTo>
                    <a:pt x="132" y="25"/>
                  </a:lnTo>
                  <a:lnTo>
                    <a:pt x="124" y="24"/>
                  </a:lnTo>
                  <a:lnTo>
                    <a:pt x="115" y="22"/>
                  </a:lnTo>
                  <a:lnTo>
                    <a:pt x="105" y="19"/>
                  </a:lnTo>
                  <a:lnTo>
                    <a:pt x="96" y="16"/>
                  </a:lnTo>
                  <a:lnTo>
                    <a:pt x="86" y="12"/>
                  </a:lnTo>
                  <a:lnTo>
                    <a:pt x="76" y="9"/>
                  </a:lnTo>
                  <a:lnTo>
                    <a:pt x="65" y="5"/>
                  </a:lnTo>
                  <a:lnTo>
                    <a:pt x="55" y="2"/>
                  </a:lnTo>
                  <a:lnTo>
                    <a:pt x="44" y="1"/>
                  </a:lnTo>
                  <a:lnTo>
                    <a:pt x="33" y="0"/>
                  </a:lnTo>
                  <a:lnTo>
                    <a:pt x="22" y="1"/>
                  </a:lnTo>
                  <a:lnTo>
                    <a:pt x="11" y="4"/>
                  </a:lnTo>
                  <a:lnTo>
                    <a:pt x="0" y="9"/>
                  </a:lnTo>
                  <a:lnTo>
                    <a:pt x="7" y="20"/>
                  </a:lnTo>
                  <a:lnTo>
                    <a:pt x="15" y="17"/>
                  </a:lnTo>
                  <a:lnTo>
                    <a:pt x="25" y="14"/>
                  </a:lnTo>
                  <a:lnTo>
                    <a:pt x="33" y="14"/>
                  </a:lnTo>
                  <a:lnTo>
                    <a:pt x="42" y="14"/>
                  </a:lnTo>
                  <a:lnTo>
                    <a:pt x="52" y="15"/>
                  </a:lnTo>
                  <a:lnTo>
                    <a:pt x="61" y="18"/>
                  </a:lnTo>
                  <a:lnTo>
                    <a:pt x="72" y="22"/>
                  </a:lnTo>
                  <a:lnTo>
                    <a:pt x="81" y="25"/>
                  </a:lnTo>
                  <a:lnTo>
                    <a:pt x="91" y="29"/>
                  </a:lnTo>
                  <a:lnTo>
                    <a:pt x="101" y="32"/>
                  </a:lnTo>
                  <a:lnTo>
                    <a:pt x="111" y="35"/>
                  </a:lnTo>
                  <a:lnTo>
                    <a:pt x="122" y="37"/>
                  </a:lnTo>
                  <a:lnTo>
                    <a:pt x="132" y="39"/>
                  </a:lnTo>
                  <a:lnTo>
                    <a:pt x="142" y="38"/>
                  </a:lnTo>
                  <a:lnTo>
                    <a:pt x="154" y="36"/>
                  </a:lnTo>
                  <a:lnTo>
                    <a:pt x="164" y="31"/>
                  </a:lnTo>
                  <a:lnTo>
                    <a:pt x="157" y="2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1" name="Freeform 289">
              <a:extLst>
                <a:ext uri="{FF2B5EF4-FFF2-40B4-BE49-F238E27FC236}">
                  <a16:creationId xmlns:a16="http://schemas.microsoft.com/office/drawing/2014/main" id="{0A3562D7-D431-3F7F-89A5-477032FF51D2}"/>
                </a:ext>
              </a:extLst>
            </p:cNvPr>
            <p:cNvSpPr>
              <a:spLocks/>
            </p:cNvSpPr>
            <p:nvPr/>
          </p:nvSpPr>
          <p:spPr bwMode="auto">
            <a:xfrm>
              <a:off x="3284" y="3218"/>
              <a:ext cx="9" cy="14"/>
            </a:xfrm>
            <a:custGeom>
              <a:avLst/>
              <a:gdLst>
                <a:gd name="T0" fmla="*/ 0 w 7"/>
                <a:gd name="T1" fmla="*/ 0 h 13"/>
                <a:gd name="T2" fmla="*/ 567 w 7"/>
                <a:gd name="T3" fmla="*/ 6 h 13"/>
                <a:gd name="T4" fmla="*/ 1205 w 7"/>
                <a:gd name="T5" fmla="*/ 54 h 13"/>
                <a:gd name="T6" fmla="*/ 0 w 7"/>
                <a:gd name="T7" fmla="*/ 0 h 13"/>
                <a:gd name="T8" fmla="*/ 0 60000 65536"/>
                <a:gd name="T9" fmla="*/ 0 60000 65536"/>
                <a:gd name="T10" fmla="*/ 0 60000 65536"/>
                <a:gd name="T11" fmla="*/ 0 60000 65536"/>
                <a:gd name="T12" fmla="*/ 0 w 7"/>
                <a:gd name="T13" fmla="*/ 0 h 13"/>
                <a:gd name="T14" fmla="*/ 7 w 7"/>
                <a:gd name="T15" fmla="*/ 13 h 13"/>
              </a:gdLst>
              <a:ahLst/>
              <a:cxnLst>
                <a:cxn ang="T8">
                  <a:pos x="T0" y="T1"/>
                </a:cxn>
                <a:cxn ang="T9">
                  <a:pos x="T2" y="T3"/>
                </a:cxn>
                <a:cxn ang="T10">
                  <a:pos x="T4" y="T5"/>
                </a:cxn>
                <a:cxn ang="T11">
                  <a:pos x="T6" y="T7"/>
                </a:cxn>
              </a:cxnLst>
              <a:rect l="T12" t="T13" r="T14" b="T15"/>
              <a:pathLst>
                <a:path w="7" h="13">
                  <a:moveTo>
                    <a:pt x="0" y="0"/>
                  </a:moveTo>
                  <a:lnTo>
                    <a:pt x="3" y="6"/>
                  </a:lnTo>
                  <a:lnTo>
                    <a:pt x="6" y="12"/>
                  </a:lnTo>
                  <a:lnTo>
                    <a:pt x="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2" name="Freeform 290">
              <a:extLst>
                <a:ext uri="{FF2B5EF4-FFF2-40B4-BE49-F238E27FC236}">
                  <a16:creationId xmlns:a16="http://schemas.microsoft.com/office/drawing/2014/main" id="{D3F9238A-6A4E-CE27-9E21-6C9FADE83B3E}"/>
                </a:ext>
              </a:extLst>
            </p:cNvPr>
            <p:cNvSpPr>
              <a:spLocks/>
            </p:cNvSpPr>
            <p:nvPr/>
          </p:nvSpPr>
          <p:spPr bwMode="auto">
            <a:xfrm>
              <a:off x="3284" y="3082"/>
              <a:ext cx="75" cy="150"/>
            </a:xfrm>
            <a:custGeom>
              <a:avLst/>
              <a:gdLst>
                <a:gd name="T0" fmla="*/ 5813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523 w 60"/>
                <a:gd name="T23" fmla="*/ 466 h 139"/>
                <a:gd name="T24" fmla="*/ 2273 w 60"/>
                <a:gd name="T25" fmla="*/ 506 h 139"/>
                <a:gd name="T26" fmla="*/ 1818 w 60"/>
                <a:gd name="T27" fmla="*/ 543 h 139"/>
                <a:gd name="T28" fmla="*/ 1614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943 w 60"/>
                <a:gd name="T45" fmla="*/ 479 h 139"/>
                <a:gd name="T46" fmla="*/ 4085 w 60"/>
                <a:gd name="T47" fmla="*/ 432 h 139"/>
                <a:gd name="T48" fmla="*/ 4200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813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3" y="0"/>
                  </a:moveTo>
                  <a:lnTo>
                    <a:pt x="43" y="7"/>
                  </a:lnTo>
                  <a:lnTo>
                    <a:pt x="36" y="15"/>
                  </a:lnTo>
                  <a:lnTo>
                    <a:pt x="31" y="22"/>
                  </a:lnTo>
                  <a:lnTo>
                    <a:pt x="28" y="31"/>
                  </a:lnTo>
                  <a:lnTo>
                    <a:pt x="26" y="41"/>
                  </a:lnTo>
                  <a:lnTo>
                    <a:pt x="25" y="50"/>
                  </a:lnTo>
                  <a:lnTo>
                    <a:pt x="24" y="59"/>
                  </a:lnTo>
                  <a:lnTo>
                    <a:pt x="24" y="68"/>
                  </a:lnTo>
                  <a:lnTo>
                    <a:pt x="23" y="78"/>
                  </a:lnTo>
                  <a:lnTo>
                    <a:pt x="24" y="86"/>
                  </a:lnTo>
                  <a:lnTo>
                    <a:pt x="23" y="94"/>
                  </a:lnTo>
                  <a:lnTo>
                    <a:pt x="21" y="102"/>
                  </a:lnTo>
                  <a:lnTo>
                    <a:pt x="17" y="109"/>
                  </a:lnTo>
                  <a:lnTo>
                    <a:pt x="14" y="115"/>
                  </a:lnTo>
                  <a:lnTo>
                    <a:pt x="8" y="121"/>
                  </a:lnTo>
                  <a:lnTo>
                    <a:pt x="0" y="126"/>
                  </a:lnTo>
                  <a:lnTo>
                    <a:pt x="6" y="138"/>
                  </a:lnTo>
                  <a:lnTo>
                    <a:pt x="17" y="131"/>
                  </a:lnTo>
                  <a:lnTo>
                    <a:pt x="24" y="123"/>
                  </a:lnTo>
                  <a:lnTo>
                    <a:pt x="29" y="115"/>
                  </a:lnTo>
                  <a:lnTo>
                    <a:pt x="34" y="107"/>
                  </a:lnTo>
                  <a:lnTo>
                    <a:pt x="36" y="97"/>
                  </a:lnTo>
                  <a:lnTo>
                    <a:pt x="37" y="87"/>
                  </a:lnTo>
                  <a:lnTo>
                    <a:pt x="38" y="78"/>
                  </a:lnTo>
                  <a:lnTo>
                    <a:pt x="38" y="68"/>
                  </a:lnTo>
                  <a:lnTo>
                    <a:pt x="38" y="59"/>
                  </a:lnTo>
                  <a:lnTo>
                    <a:pt x="38" y="51"/>
                  </a:lnTo>
                  <a:lnTo>
                    <a:pt x="39" y="43"/>
                  </a:lnTo>
                  <a:lnTo>
                    <a:pt x="41" y="35"/>
                  </a:lnTo>
                  <a:lnTo>
                    <a:pt x="43" y="29"/>
                  </a:lnTo>
                  <a:lnTo>
                    <a:pt x="47" y="22"/>
                  </a:lnTo>
                  <a:lnTo>
                    <a:pt x="52" y="17"/>
                  </a:lnTo>
                  <a:lnTo>
                    <a:pt x="59" y="12"/>
                  </a:lnTo>
                  <a:lnTo>
                    <a:pt x="53"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3" name="Freeform 291">
              <a:extLst>
                <a:ext uri="{FF2B5EF4-FFF2-40B4-BE49-F238E27FC236}">
                  <a16:creationId xmlns:a16="http://schemas.microsoft.com/office/drawing/2014/main" id="{C7D40F0D-28A3-B50A-8BD2-3767DC220DD7}"/>
                </a:ext>
              </a:extLst>
            </p:cNvPr>
            <p:cNvSpPr>
              <a:spLocks/>
            </p:cNvSpPr>
            <p:nvPr/>
          </p:nvSpPr>
          <p:spPr bwMode="auto">
            <a:xfrm>
              <a:off x="3349" y="3073"/>
              <a:ext cx="201" cy="46"/>
            </a:xfrm>
            <a:custGeom>
              <a:avLst/>
              <a:gdLst>
                <a:gd name="T0" fmla="*/ 18273 w 160"/>
                <a:gd name="T1" fmla="*/ 138 h 42"/>
                <a:gd name="T2" fmla="*/ 17312 w 160"/>
                <a:gd name="T3" fmla="*/ 165 h 42"/>
                <a:gd name="T4" fmla="*/ 16361 w 160"/>
                <a:gd name="T5" fmla="*/ 181 h 42"/>
                <a:gd name="T6" fmla="*/ 15133 w 160"/>
                <a:gd name="T7" fmla="*/ 181 h 42"/>
                <a:gd name="T8" fmla="*/ 13986 w 160"/>
                <a:gd name="T9" fmla="*/ 181 h 42"/>
                <a:gd name="T10" fmla="*/ 13042 w 160"/>
                <a:gd name="T11" fmla="*/ 165 h 42"/>
                <a:gd name="T12" fmla="*/ 11885 w 160"/>
                <a:gd name="T13" fmla="*/ 138 h 42"/>
                <a:gd name="T14" fmla="*/ 10806 w 160"/>
                <a:gd name="T15" fmla="*/ 123 h 42"/>
                <a:gd name="T16" fmla="*/ 9708 w 160"/>
                <a:gd name="T17" fmla="*/ 93 h 42"/>
                <a:gd name="T18" fmla="*/ 8548 w 160"/>
                <a:gd name="T19" fmla="*/ 65 h 42"/>
                <a:gd name="T20" fmla="*/ 7403 w 160"/>
                <a:gd name="T21" fmla="*/ 49 h 42"/>
                <a:gd name="T22" fmla="*/ 6261 w 160"/>
                <a:gd name="T23" fmla="*/ 4 h 42"/>
                <a:gd name="T24" fmla="*/ 4984 w 160"/>
                <a:gd name="T25" fmla="*/ 2 h 42"/>
                <a:gd name="T26" fmla="*/ 3793 w 160"/>
                <a:gd name="T27" fmla="*/ 0 h 42"/>
                <a:gd name="T28" fmla="*/ 2514 w 160"/>
                <a:gd name="T29" fmla="*/ 1 h 42"/>
                <a:gd name="T30" fmla="*/ 1212 w 160"/>
                <a:gd name="T31" fmla="*/ 3 h 42"/>
                <a:gd name="T32" fmla="*/ 0 w 160"/>
                <a:gd name="T33" fmla="*/ 54 h 42"/>
                <a:gd name="T34" fmla="*/ 768 w 160"/>
                <a:gd name="T35" fmla="*/ 126 h 42"/>
                <a:gd name="T36" fmla="*/ 1742 w 160"/>
                <a:gd name="T37" fmla="*/ 112 h 42"/>
                <a:gd name="T38" fmla="*/ 2644 w 160"/>
                <a:gd name="T39" fmla="*/ 93 h 42"/>
                <a:gd name="T40" fmla="*/ 3793 w 160"/>
                <a:gd name="T41" fmla="*/ 93 h 42"/>
                <a:gd name="T42" fmla="*/ 4765 w 160"/>
                <a:gd name="T43" fmla="*/ 102 h 42"/>
                <a:gd name="T44" fmla="*/ 5705 w 160"/>
                <a:gd name="T45" fmla="*/ 115 h 42"/>
                <a:gd name="T46" fmla="*/ 6847 w 160"/>
                <a:gd name="T47" fmla="*/ 135 h 42"/>
                <a:gd name="T48" fmla="*/ 7971 w 160"/>
                <a:gd name="T49" fmla="*/ 151 h 42"/>
                <a:gd name="T50" fmla="*/ 9004 w 160"/>
                <a:gd name="T51" fmla="*/ 181 h 42"/>
                <a:gd name="T52" fmla="*/ 10192 w 160"/>
                <a:gd name="T53" fmla="*/ 212 h 42"/>
                <a:gd name="T54" fmla="*/ 11351 w 160"/>
                <a:gd name="T55" fmla="*/ 232 h 42"/>
                <a:gd name="T56" fmla="*/ 12580 w 160"/>
                <a:gd name="T57" fmla="*/ 260 h 42"/>
                <a:gd name="T58" fmla="*/ 13781 w 160"/>
                <a:gd name="T59" fmla="*/ 277 h 42"/>
                <a:gd name="T60" fmla="*/ 15133 w 160"/>
                <a:gd name="T61" fmla="*/ 278 h 42"/>
                <a:gd name="T62" fmla="*/ 16384 w 160"/>
                <a:gd name="T63" fmla="*/ 277 h 42"/>
                <a:gd name="T64" fmla="*/ 17850 w 160"/>
                <a:gd name="T65" fmla="*/ 260 h 42"/>
                <a:gd name="T66" fmla="*/ 19100 w 160"/>
                <a:gd name="T67" fmla="*/ 216 h 42"/>
                <a:gd name="T68" fmla="*/ 18273 w 160"/>
                <a:gd name="T69" fmla="*/ 138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0"/>
                <a:gd name="T106" fmla="*/ 0 h 42"/>
                <a:gd name="T107" fmla="*/ 160 w 160"/>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0" h="42">
                  <a:moveTo>
                    <a:pt x="152" y="21"/>
                  </a:moveTo>
                  <a:lnTo>
                    <a:pt x="144" y="25"/>
                  </a:lnTo>
                  <a:lnTo>
                    <a:pt x="135" y="27"/>
                  </a:lnTo>
                  <a:lnTo>
                    <a:pt x="126" y="27"/>
                  </a:lnTo>
                  <a:lnTo>
                    <a:pt x="116" y="27"/>
                  </a:lnTo>
                  <a:lnTo>
                    <a:pt x="108" y="25"/>
                  </a:lnTo>
                  <a:lnTo>
                    <a:pt x="99" y="21"/>
                  </a:lnTo>
                  <a:lnTo>
                    <a:pt x="90" y="18"/>
                  </a:lnTo>
                  <a:lnTo>
                    <a:pt x="80" y="14"/>
                  </a:lnTo>
                  <a:lnTo>
                    <a:pt x="71" y="10"/>
                  </a:lnTo>
                  <a:lnTo>
                    <a:pt x="61" y="7"/>
                  </a:lnTo>
                  <a:lnTo>
                    <a:pt x="52" y="4"/>
                  </a:lnTo>
                  <a:lnTo>
                    <a:pt x="41" y="2"/>
                  </a:lnTo>
                  <a:lnTo>
                    <a:pt x="31" y="0"/>
                  </a:lnTo>
                  <a:lnTo>
                    <a:pt x="21" y="1"/>
                  </a:lnTo>
                  <a:lnTo>
                    <a:pt x="10" y="3"/>
                  </a:lnTo>
                  <a:lnTo>
                    <a:pt x="0" y="8"/>
                  </a:lnTo>
                  <a:lnTo>
                    <a:pt x="6" y="19"/>
                  </a:lnTo>
                  <a:lnTo>
                    <a:pt x="14" y="16"/>
                  </a:lnTo>
                  <a:lnTo>
                    <a:pt x="22" y="14"/>
                  </a:lnTo>
                  <a:lnTo>
                    <a:pt x="31" y="14"/>
                  </a:lnTo>
                  <a:lnTo>
                    <a:pt x="39" y="15"/>
                  </a:lnTo>
                  <a:lnTo>
                    <a:pt x="48" y="17"/>
                  </a:lnTo>
                  <a:lnTo>
                    <a:pt x="57" y="20"/>
                  </a:lnTo>
                  <a:lnTo>
                    <a:pt x="66" y="23"/>
                  </a:lnTo>
                  <a:lnTo>
                    <a:pt x="75" y="27"/>
                  </a:lnTo>
                  <a:lnTo>
                    <a:pt x="85" y="31"/>
                  </a:lnTo>
                  <a:lnTo>
                    <a:pt x="95" y="34"/>
                  </a:lnTo>
                  <a:lnTo>
                    <a:pt x="104" y="38"/>
                  </a:lnTo>
                  <a:lnTo>
                    <a:pt x="115" y="40"/>
                  </a:lnTo>
                  <a:lnTo>
                    <a:pt x="126" y="41"/>
                  </a:lnTo>
                  <a:lnTo>
                    <a:pt x="136" y="40"/>
                  </a:lnTo>
                  <a:lnTo>
                    <a:pt x="148" y="38"/>
                  </a:lnTo>
                  <a:lnTo>
                    <a:pt x="159" y="32"/>
                  </a:lnTo>
                  <a:lnTo>
                    <a:pt x="152" y="2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4" name="Freeform 292">
              <a:extLst>
                <a:ext uri="{FF2B5EF4-FFF2-40B4-BE49-F238E27FC236}">
                  <a16:creationId xmlns:a16="http://schemas.microsoft.com/office/drawing/2014/main" id="{8FEF8B64-166F-9F4B-A6E8-E94B27132BA4}"/>
                </a:ext>
              </a:extLst>
            </p:cNvPr>
            <p:cNvSpPr>
              <a:spLocks/>
            </p:cNvSpPr>
            <p:nvPr/>
          </p:nvSpPr>
          <p:spPr bwMode="auto">
            <a:xfrm>
              <a:off x="3541" y="2960"/>
              <a:ext cx="75" cy="150"/>
            </a:xfrm>
            <a:custGeom>
              <a:avLst/>
              <a:gdLst>
                <a:gd name="T0" fmla="*/ 5650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461 w 60"/>
                <a:gd name="T23" fmla="*/ 466 h 139"/>
                <a:gd name="T24" fmla="*/ 2273 w 60"/>
                <a:gd name="T25" fmla="*/ 506 h 139"/>
                <a:gd name="T26" fmla="*/ 1818 w 60"/>
                <a:gd name="T27" fmla="*/ 543 h 139"/>
                <a:gd name="T28" fmla="*/ 1389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845 w 60"/>
                <a:gd name="T45" fmla="*/ 479 h 139"/>
                <a:gd name="T46" fmla="*/ 4085 w 60"/>
                <a:gd name="T47" fmla="*/ 432 h 139"/>
                <a:gd name="T48" fmla="*/ 4085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650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2" y="0"/>
                  </a:moveTo>
                  <a:lnTo>
                    <a:pt x="43" y="7"/>
                  </a:lnTo>
                  <a:lnTo>
                    <a:pt x="36" y="15"/>
                  </a:lnTo>
                  <a:lnTo>
                    <a:pt x="31" y="22"/>
                  </a:lnTo>
                  <a:lnTo>
                    <a:pt x="28" y="31"/>
                  </a:lnTo>
                  <a:lnTo>
                    <a:pt x="26" y="41"/>
                  </a:lnTo>
                  <a:lnTo>
                    <a:pt x="25" y="50"/>
                  </a:lnTo>
                  <a:lnTo>
                    <a:pt x="24" y="59"/>
                  </a:lnTo>
                  <a:lnTo>
                    <a:pt x="24" y="68"/>
                  </a:lnTo>
                  <a:lnTo>
                    <a:pt x="23" y="78"/>
                  </a:lnTo>
                  <a:lnTo>
                    <a:pt x="24" y="86"/>
                  </a:lnTo>
                  <a:lnTo>
                    <a:pt x="22" y="94"/>
                  </a:lnTo>
                  <a:lnTo>
                    <a:pt x="21" y="102"/>
                  </a:lnTo>
                  <a:lnTo>
                    <a:pt x="17" y="109"/>
                  </a:lnTo>
                  <a:lnTo>
                    <a:pt x="13" y="115"/>
                  </a:lnTo>
                  <a:lnTo>
                    <a:pt x="8" y="121"/>
                  </a:lnTo>
                  <a:lnTo>
                    <a:pt x="0" y="126"/>
                  </a:lnTo>
                  <a:lnTo>
                    <a:pt x="6" y="138"/>
                  </a:lnTo>
                  <a:lnTo>
                    <a:pt x="17" y="131"/>
                  </a:lnTo>
                  <a:lnTo>
                    <a:pt x="24" y="123"/>
                  </a:lnTo>
                  <a:lnTo>
                    <a:pt x="29" y="115"/>
                  </a:lnTo>
                  <a:lnTo>
                    <a:pt x="34" y="107"/>
                  </a:lnTo>
                  <a:lnTo>
                    <a:pt x="35" y="97"/>
                  </a:lnTo>
                  <a:lnTo>
                    <a:pt x="37" y="87"/>
                  </a:lnTo>
                  <a:lnTo>
                    <a:pt x="37" y="78"/>
                  </a:lnTo>
                  <a:lnTo>
                    <a:pt x="38" y="68"/>
                  </a:lnTo>
                  <a:lnTo>
                    <a:pt x="38" y="59"/>
                  </a:lnTo>
                  <a:lnTo>
                    <a:pt x="38" y="51"/>
                  </a:lnTo>
                  <a:lnTo>
                    <a:pt x="39" y="43"/>
                  </a:lnTo>
                  <a:lnTo>
                    <a:pt x="41" y="35"/>
                  </a:lnTo>
                  <a:lnTo>
                    <a:pt x="43" y="29"/>
                  </a:lnTo>
                  <a:lnTo>
                    <a:pt x="47" y="22"/>
                  </a:lnTo>
                  <a:lnTo>
                    <a:pt x="52" y="17"/>
                  </a:lnTo>
                  <a:lnTo>
                    <a:pt x="59" y="12"/>
                  </a:lnTo>
                  <a:lnTo>
                    <a:pt x="52"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5" name="Freeform 293">
              <a:extLst>
                <a:ext uri="{FF2B5EF4-FFF2-40B4-BE49-F238E27FC236}">
                  <a16:creationId xmlns:a16="http://schemas.microsoft.com/office/drawing/2014/main" id="{8A770764-163B-650A-E84A-3D5E0F713976}"/>
                </a:ext>
              </a:extLst>
            </p:cNvPr>
            <p:cNvSpPr>
              <a:spLocks/>
            </p:cNvSpPr>
            <p:nvPr/>
          </p:nvSpPr>
          <p:spPr bwMode="auto">
            <a:xfrm>
              <a:off x="3607" y="2951"/>
              <a:ext cx="187" cy="49"/>
            </a:xfrm>
            <a:custGeom>
              <a:avLst/>
              <a:gdLst>
                <a:gd name="T0" fmla="*/ 16637 w 149"/>
                <a:gd name="T1" fmla="*/ 163 h 45"/>
                <a:gd name="T2" fmla="*/ 16091 w 149"/>
                <a:gd name="T3" fmla="*/ 177 h 45"/>
                <a:gd name="T4" fmla="*/ 15256 w 149"/>
                <a:gd name="T5" fmla="*/ 189 h 45"/>
                <a:gd name="T6" fmla="*/ 14447 w 149"/>
                <a:gd name="T7" fmla="*/ 189 h 45"/>
                <a:gd name="T8" fmla="*/ 13756 w 149"/>
                <a:gd name="T9" fmla="*/ 175 h 45"/>
                <a:gd name="T10" fmla="*/ 12821 w 149"/>
                <a:gd name="T11" fmla="*/ 150 h 45"/>
                <a:gd name="T12" fmla="*/ 11722 w 149"/>
                <a:gd name="T13" fmla="*/ 136 h 45"/>
                <a:gd name="T14" fmla="*/ 10599 w 149"/>
                <a:gd name="T15" fmla="*/ 115 h 45"/>
                <a:gd name="T16" fmla="*/ 9629 w 149"/>
                <a:gd name="T17" fmla="*/ 89 h 45"/>
                <a:gd name="T18" fmla="*/ 8445 w 149"/>
                <a:gd name="T19" fmla="*/ 63 h 45"/>
                <a:gd name="T20" fmla="*/ 7308 w 149"/>
                <a:gd name="T21" fmla="*/ 45 h 45"/>
                <a:gd name="T22" fmla="*/ 6150 w 149"/>
                <a:gd name="T23" fmla="*/ 4 h 45"/>
                <a:gd name="T24" fmla="*/ 5016 w 149"/>
                <a:gd name="T25" fmla="*/ 2 h 45"/>
                <a:gd name="T26" fmla="*/ 3765 w 149"/>
                <a:gd name="T27" fmla="*/ 0 h 45"/>
                <a:gd name="T28" fmla="*/ 2402 w 149"/>
                <a:gd name="T29" fmla="*/ 2 h 45"/>
                <a:gd name="T30" fmla="*/ 1180 w 149"/>
                <a:gd name="T31" fmla="*/ 4 h 45"/>
                <a:gd name="T32" fmla="*/ 0 w 149"/>
                <a:gd name="T33" fmla="*/ 49 h 45"/>
                <a:gd name="T34" fmla="*/ 749 w 149"/>
                <a:gd name="T35" fmla="*/ 117 h 45"/>
                <a:gd name="T36" fmla="*/ 1673 w 149"/>
                <a:gd name="T37" fmla="*/ 106 h 45"/>
                <a:gd name="T38" fmla="*/ 2636 w 149"/>
                <a:gd name="T39" fmla="*/ 89 h 45"/>
                <a:gd name="T40" fmla="*/ 3765 w 149"/>
                <a:gd name="T41" fmla="*/ 89 h 45"/>
                <a:gd name="T42" fmla="*/ 4612 w 149"/>
                <a:gd name="T43" fmla="*/ 89 h 45"/>
                <a:gd name="T44" fmla="*/ 5788 w 149"/>
                <a:gd name="T45" fmla="*/ 106 h 45"/>
                <a:gd name="T46" fmla="*/ 6869 w 149"/>
                <a:gd name="T47" fmla="*/ 117 h 45"/>
                <a:gd name="T48" fmla="*/ 7900 w 149"/>
                <a:gd name="T49" fmla="*/ 138 h 45"/>
                <a:gd name="T50" fmla="*/ 8883 w 149"/>
                <a:gd name="T51" fmla="*/ 163 h 45"/>
                <a:gd name="T52" fmla="*/ 10062 w 149"/>
                <a:gd name="T53" fmla="*/ 191 h 45"/>
                <a:gd name="T54" fmla="*/ 11000 w 149"/>
                <a:gd name="T55" fmla="*/ 210 h 45"/>
                <a:gd name="T56" fmla="*/ 12156 w 149"/>
                <a:gd name="T57" fmla="*/ 229 h 45"/>
                <a:gd name="T58" fmla="*/ 13256 w 149"/>
                <a:gd name="T59" fmla="*/ 249 h 45"/>
                <a:gd name="T60" fmla="*/ 14322 w 149"/>
                <a:gd name="T61" fmla="*/ 266 h 45"/>
                <a:gd name="T62" fmla="*/ 15349 w 149"/>
                <a:gd name="T63" fmla="*/ 266 h 45"/>
                <a:gd name="T64" fmla="*/ 16535 w 149"/>
                <a:gd name="T65" fmla="*/ 259 h 45"/>
                <a:gd name="T66" fmla="*/ 17377 w 149"/>
                <a:gd name="T67" fmla="*/ 229 h 45"/>
                <a:gd name="T68" fmla="*/ 16637 w 149"/>
                <a:gd name="T69" fmla="*/ 163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9"/>
                <a:gd name="T106" fmla="*/ 0 h 45"/>
                <a:gd name="T107" fmla="*/ 149 w 149"/>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9" h="45">
                  <a:moveTo>
                    <a:pt x="141" y="28"/>
                  </a:moveTo>
                  <a:lnTo>
                    <a:pt x="136" y="30"/>
                  </a:lnTo>
                  <a:lnTo>
                    <a:pt x="129" y="31"/>
                  </a:lnTo>
                  <a:lnTo>
                    <a:pt x="123" y="31"/>
                  </a:lnTo>
                  <a:lnTo>
                    <a:pt x="116" y="29"/>
                  </a:lnTo>
                  <a:lnTo>
                    <a:pt x="108" y="26"/>
                  </a:lnTo>
                  <a:lnTo>
                    <a:pt x="99" y="23"/>
                  </a:lnTo>
                  <a:lnTo>
                    <a:pt x="90" y="19"/>
                  </a:lnTo>
                  <a:lnTo>
                    <a:pt x="81" y="15"/>
                  </a:lnTo>
                  <a:lnTo>
                    <a:pt x="72" y="11"/>
                  </a:lnTo>
                  <a:lnTo>
                    <a:pt x="62" y="7"/>
                  </a:lnTo>
                  <a:lnTo>
                    <a:pt x="52" y="4"/>
                  </a:lnTo>
                  <a:lnTo>
                    <a:pt x="42" y="2"/>
                  </a:lnTo>
                  <a:lnTo>
                    <a:pt x="32" y="0"/>
                  </a:lnTo>
                  <a:lnTo>
                    <a:pt x="21" y="2"/>
                  </a:lnTo>
                  <a:lnTo>
                    <a:pt x="10" y="4"/>
                  </a:lnTo>
                  <a:lnTo>
                    <a:pt x="0" y="8"/>
                  </a:lnTo>
                  <a:lnTo>
                    <a:pt x="6" y="20"/>
                  </a:lnTo>
                  <a:lnTo>
                    <a:pt x="14" y="17"/>
                  </a:lnTo>
                  <a:lnTo>
                    <a:pt x="23" y="15"/>
                  </a:lnTo>
                  <a:lnTo>
                    <a:pt x="32" y="15"/>
                  </a:lnTo>
                  <a:lnTo>
                    <a:pt x="39" y="15"/>
                  </a:lnTo>
                  <a:lnTo>
                    <a:pt x="49" y="17"/>
                  </a:lnTo>
                  <a:lnTo>
                    <a:pt x="58" y="20"/>
                  </a:lnTo>
                  <a:lnTo>
                    <a:pt x="67" y="24"/>
                  </a:lnTo>
                  <a:lnTo>
                    <a:pt x="76" y="28"/>
                  </a:lnTo>
                  <a:lnTo>
                    <a:pt x="85" y="32"/>
                  </a:lnTo>
                  <a:lnTo>
                    <a:pt x="93" y="36"/>
                  </a:lnTo>
                  <a:lnTo>
                    <a:pt x="103" y="39"/>
                  </a:lnTo>
                  <a:lnTo>
                    <a:pt x="112" y="42"/>
                  </a:lnTo>
                  <a:lnTo>
                    <a:pt x="121" y="44"/>
                  </a:lnTo>
                  <a:lnTo>
                    <a:pt x="130" y="44"/>
                  </a:lnTo>
                  <a:lnTo>
                    <a:pt x="140" y="43"/>
                  </a:lnTo>
                  <a:lnTo>
                    <a:pt x="148" y="39"/>
                  </a:lnTo>
                  <a:lnTo>
                    <a:pt x="141" y="2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6" name="Freeform 294">
              <a:extLst>
                <a:ext uri="{FF2B5EF4-FFF2-40B4-BE49-F238E27FC236}">
                  <a16:creationId xmlns:a16="http://schemas.microsoft.com/office/drawing/2014/main" id="{F51AC43F-2A6B-242C-C7ED-E31DF8FB851F}"/>
                </a:ext>
              </a:extLst>
            </p:cNvPr>
            <p:cNvSpPr>
              <a:spLocks/>
            </p:cNvSpPr>
            <p:nvPr/>
          </p:nvSpPr>
          <p:spPr bwMode="auto">
            <a:xfrm>
              <a:off x="3784" y="2979"/>
              <a:ext cx="15" cy="15"/>
            </a:xfrm>
            <a:custGeom>
              <a:avLst/>
              <a:gdLst>
                <a:gd name="T0" fmla="*/ 889 w 12"/>
                <a:gd name="T1" fmla="*/ 6 h 14"/>
                <a:gd name="T2" fmla="*/ 455 w 12"/>
                <a:gd name="T3" fmla="*/ 0 h 14"/>
                <a:gd name="T4" fmla="*/ 0 w 12"/>
                <a:gd name="T5" fmla="*/ 2 h 14"/>
                <a:gd name="T6" fmla="*/ 744 w 12"/>
                <a:gd name="T7" fmla="*/ 54 h 14"/>
                <a:gd name="T8" fmla="*/ 1163 w 12"/>
                <a:gd name="T9" fmla="*/ 47 h 14"/>
                <a:gd name="T10" fmla="*/ 889 w 12"/>
                <a:gd name="T11" fmla="*/ 6 h 14"/>
                <a:gd name="T12" fmla="*/ 0 60000 65536"/>
                <a:gd name="T13" fmla="*/ 0 60000 65536"/>
                <a:gd name="T14" fmla="*/ 0 60000 65536"/>
                <a:gd name="T15" fmla="*/ 0 60000 65536"/>
                <a:gd name="T16" fmla="*/ 0 60000 65536"/>
                <a:gd name="T17" fmla="*/ 0 60000 65536"/>
                <a:gd name="T18" fmla="*/ 0 w 12"/>
                <a:gd name="T19" fmla="*/ 0 h 14"/>
                <a:gd name="T20" fmla="*/ 12 w 1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2" h="14">
                  <a:moveTo>
                    <a:pt x="8" y="6"/>
                  </a:moveTo>
                  <a:lnTo>
                    <a:pt x="4" y="0"/>
                  </a:lnTo>
                  <a:lnTo>
                    <a:pt x="0" y="2"/>
                  </a:lnTo>
                  <a:lnTo>
                    <a:pt x="7" y="13"/>
                  </a:lnTo>
                  <a:lnTo>
                    <a:pt x="11" y="11"/>
                  </a:lnTo>
                  <a:lnTo>
                    <a:pt x="8" y="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647" name="Freeform 295">
              <a:extLst>
                <a:ext uri="{FF2B5EF4-FFF2-40B4-BE49-F238E27FC236}">
                  <a16:creationId xmlns:a16="http://schemas.microsoft.com/office/drawing/2014/main" id="{9FB7E7DB-BF49-2BB6-EF3E-28130A0A5616}"/>
                </a:ext>
              </a:extLst>
            </p:cNvPr>
            <p:cNvSpPr>
              <a:spLocks/>
            </p:cNvSpPr>
            <p:nvPr/>
          </p:nvSpPr>
          <p:spPr bwMode="auto">
            <a:xfrm>
              <a:off x="2869" y="3295"/>
              <a:ext cx="149" cy="104"/>
            </a:xfrm>
            <a:custGeom>
              <a:avLst/>
              <a:gdLst>
                <a:gd name="T0" fmla="*/ 9018 w 119"/>
                <a:gd name="T1" fmla="*/ 225 h 96"/>
                <a:gd name="T2" fmla="*/ 8836 w 119"/>
                <a:gd name="T3" fmla="*/ 0 h 96"/>
                <a:gd name="T4" fmla="*/ 8558 w 119"/>
                <a:gd name="T5" fmla="*/ 0 h 96"/>
                <a:gd name="T6" fmla="*/ 4739 w 119"/>
                <a:gd name="T7" fmla="*/ 271 h 96"/>
                <a:gd name="T8" fmla="*/ 4049 w 119"/>
                <a:gd name="T9" fmla="*/ 311 h 96"/>
                <a:gd name="T10" fmla="*/ 3481 w 119"/>
                <a:gd name="T11" fmla="*/ 337 h 96"/>
                <a:gd name="T12" fmla="*/ 2930 w 119"/>
                <a:gd name="T13" fmla="*/ 367 h 96"/>
                <a:gd name="T14" fmla="*/ 2340 w 119"/>
                <a:gd name="T15" fmla="*/ 395 h 96"/>
                <a:gd name="T16" fmla="*/ 1773 w 119"/>
                <a:gd name="T17" fmla="*/ 428 h 96"/>
                <a:gd name="T18" fmla="*/ 1131 w 119"/>
                <a:gd name="T19" fmla="*/ 452 h 96"/>
                <a:gd name="T20" fmla="*/ 576 w 119"/>
                <a:gd name="T21" fmla="*/ 483 h 96"/>
                <a:gd name="T22" fmla="*/ 0 w 119"/>
                <a:gd name="T23" fmla="*/ 512 h 96"/>
                <a:gd name="T24" fmla="*/ 839 w 119"/>
                <a:gd name="T25" fmla="*/ 502 h 96"/>
                <a:gd name="T26" fmla="*/ 1648 w 119"/>
                <a:gd name="T27" fmla="*/ 483 h 96"/>
                <a:gd name="T28" fmla="*/ 2340 w 119"/>
                <a:gd name="T29" fmla="*/ 464 h 96"/>
                <a:gd name="T30" fmla="*/ 3147 w 119"/>
                <a:gd name="T31" fmla="*/ 452 h 96"/>
                <a:gd name="T32" fmla="*/ 3940 w 119"/>
                <a:gd name="T33" fmla="*/ 437 h 96"/>
                <a:gd name="T34" fmla="*/ 4739 w 119"/>
                <a:gd name="T35" fmla="*/ 427 h 96"/>
                <a:gd name="T36" fmla="*/ 5458 w 119"/>
                <a:gd name="T37" fmla="*/ 403 h 96"/>
                <a:gd name="T38" fmla="*/ 6356 w 119"/>
                <a:gd name="T39" fmla="*/ 395 h 96"/>
                <a:gd name="T40" fmla="*/ 13113 w 119"/>
                <a:gd name="T41" fmla="*/ 319 h 96"/>
                <a:gd name="T42" fmla="*/ 13269 w 119"/>
                <a:gd name="T43" fmla="*/ 317 h 96"/>
                <a:gd name="T44" fmla="*/ 9018 w 119"/>
                <a:gd name="T45" fmla="*/ 225 h 9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96"/>
                <a:gd name="T71" fmla="*/ 119 w 119"/>
                <a:gd name="T72" fmla="*/ 96 h 9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96">
                  <a:moveTo>
                    <a:pt x="80" y="41"/>
                  </a:moveTo>
                  <a:lnTo>
                    <a:pt x="78" y="0"/>
                  </a:lnTo>
                  <a:lnTo>
                    <a:pt x="77" y="0"/>
                  </a:lnTo>
                  <a:lnTo>
                    <a:pt x="42" y="51"/>
                  </a:lnTo>
                  <a:lnTo>
                    <a:pt x="36" y="57"/>
                  </a:lnTo>
                  <a:lnTo>
                    <a:pt x="31" y="62"/>
                  </a:lnTo>
                  <a:lnTo>
                    <a:pt x="26" y="68"/>
                  </a:lnTo>
                  <a:lnTo>
                    <a:pt x="21" y="73"/>
                  </a:lnTo>
                  <a:lnTo>
                    <a:pt x="16" y="79"/>
                  </a:lnTo>
                  <a:lnTo>
                    <a:pt x="10" y="84"/>
                  </a:lnTo>
                  <a:lnTo>
                    <a:pt x="5" y="90"/>
                  </a:lnTo>
                  <a:lnTo>
                    <a:pt x="0" y="95"/>
                  </a:lnTo>
                  <a:lnTo>
                    <a:pt x="7" y="92"/>
                  </a:lnTo>
                  <a:lnTo>
                    <a:pt x="14" y="90"/>
                  </a:lnTo>
                  <a:lnTo>
                    <a:pt x="21" y="86"/>
                  </a:lnTo>
                  <a:lnTo>
                    <a:pt x="28" y="84"/>
                  </a:lnTo>
                  <a:lnTo>
                    <a:pt x="35" y="81"/>
                  </a:lnTo>
                  <a:lnTo>
                    <a:pt x="42" y="78"/>
                  </a:lnTo>
                  <a:lnTo>
                    <a:pt x="49" y="75"/>
                  </a:lnTo>
                  <a:lnTo>
                    <a:pt x="57" y="73"/>
                  </a:lnTo>
                  <a:lnTo>
                    <a:pt x="117" y="60"/>
                  </a:lnTo>
                  <a:lnTo>
                    <a:pt x="118" y="59"/>
                  </a:lnTo>
                  <a:lnTo>
                    <a:pt x="80" y="4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grpSp>
        <p:nvGrpSpPr>
          <p:cNvPr id="7" name="Group 296">
            <a:extLst>
              <a:ext uri="{FF2B5EF4-FFF2-40B4-BE49-F238E27FC236}">
                <a16:creationId xmlns:a16="http://schemas.microsoft.com/office/drawing/2014/main" id="{B42586FA-2AAB-9910-14B0-1AEC81BD6CCA}"/>
              </a:ext>
            </a:extLst>
          </p:cNvPr>
          <p:cNvGrpSpPr>
            <a:grpSpLocks/>
          </p:cNvGrpSpPr>
          <p:nvPr/>
        </p:nvGrpSpPr>
        <p:grpSpPr bwMode="auto">
          <a:xfrm>
            <a:off x="1738313" y="1914586"/>
            <a:ext cx="1122362" cy="833437"/>
            <a:chOff x="1341" y="978"/>
            <a:chExt cx="875" cy="612"/>
          </a:xfrm>
        </p:grpSpPr>
        <p:sp>
          <p:nvSpPr>
            <p:cNvPr id="22587" name="Freeform 297">
              <a:extLst>
                <a:ext uri="{FF2B5EF4-FFF2-40B4-BE49-F238E27FC236}">
                  <a16:creationId xmlns:a16="http://schemas.microsoft.com/office/drawing/2014/main" id="{15001CE5-480E-AD3B-9F87-6953DBC8BA5A}"/>
                </a:ext>
              </a:extLst>
            </p:cNvPr>
            <p:cNvSpPr>
              <a:spLocks/>
            </p:cNvSpPr>
            <p:nvPr/>
          </p:nvSpPr>
          <p:spPr bwMode="auto">
            <a:xfrm>
              <a:off x="1341" y="978"/>
              <a:ext cx="875" cy="612"/>
            </a:xfrm>
            <a:custGeom>
              <a:avLst/>
              <a:gdLst>
                <a:gd name="T0" fmla="*/ 10117291 w 532"/>
                <a:gd name="T1" fmla="*/ 10021 h 532"/>
                <a:gd name="T2" fmla="*/ 11875194 w 532"/>
                <a:gd name="T3" fmla="*/ 9832 h 532"/>
                <a:gd name="T4" fmla="*/ 13535286 w 532"/>
                <a:gd name="T5" fmla="*/ 9448 h 532"/>
                <a:gd name="T6" fmla="*/ 14981413 w 532"/>
                <a:gd name="T7" fmla="*/ 8921 h 532"/>
                <a:gd name="T8" fmla="*/ 16217197 w 532"/>
                <a:gd name="T9" fmla="*/ 8213 h 532"/>
                <a:gd name="T10" fmla="*/ 17221863 w 532"/>
                <a:gd name="T11" fmla="*/ 7430 h 532"/>
                <a:gd name="T12" fmla="*/ 17929457 w 532"/>
                <a:gd name="T13" fmla="*/ 6540 h 532"/>
                <a:gd name="T14" fmla="*/ 18262549 w 532"/>
                <a:gd name="T15" fmla="*/ 5537 h 532"/>
                <a:gd name="T16" fmla="*/ 18262549 w 532"/>
                <a:gd name="T17" fmla="*/ 4505 h 532"/>
                <a:gd name="T18" fmla="*/ 17929457 w 532"/>
                <a:gd name="T19" fmla="*/ 3532 h 532"/>
                <a:gd name="T20" fmla="*/ 17221863 w 532"/>
                <a:gd name="T21" fmla="*/ 2644 h 532"/>
                <a:gd name="T22" fmla="*/ 16217197 w 532"/>
                <a:gd name="T23" fmla="*/ 1839 h 532"/>
                <a:gd name="T24" fmla="*/ 14981413 w 532"/>
                <a:gd name="T25" fmla="*/ 1141 h 532"/>
                <a:gd name="T26" fmla="*/ 13535286 w 532"/>
                <a:gd name="T27" fmla="*/ 610 h 532"/>
                <a:gd name="T28" fmla="*/ 11875194 w 532"/>
                <a:gd name="T29" fmla="*/ 229 h 532"/>
                <a:gd name="T30" fmla="*/ 10117291 w 532"/>
                <a:gd name="T31" fmla="*/ 1 h 532"/>
                <a:gd name="T32" fmla="*/ 8207439 w 532"/>
                <a:gd name="T33" fmla="*/ 1 h 532"/>
                <a:gd name="T34" fmla="*/ 6414414 w 532"/>
                <a:gd name="T35" fmla="*/ 229 h 532"/>
                <a:gd name="T36" fmla="*/ 4811548 w 532"/>
                <a:gd name="T37" fmla="*/ 610 h 532"/>
                <a:gd name="T38" fmla="*/ 3358850 w 532"/>
                <a:gd name="T39" fmla="*/ 1141 h 532"/>
                <a:gd name="T40" fmla="*/ 2078640 w 532"/>
                <a:gd name="T41" fmla="*/ 1839 h 532"/>
                <a:gd name="T42" fmla="*/ 1111309 w 532"/>
                <a:gd name="T43" fmla="*/ 2644 h 532"/>
                <a:gd name="T44" fmla="*/ 418803 w 532"/>
                <a:gd name="T45" fmla="*/ 3532 h 532"/>
                <a:gd name="T46" fmla="*/ 37276 w 532"/>
                <a:gd name="T47" fmla="*/ 4505 h 532"/>
                <a:gd name="T48" fmla="*/ 37276 w 532"/>
                <a:gd name="T49" fmla="*/ 5537 h 532"/>
                <a:gd name="T50" fmla="*/ 418803 w 532"/>
                <a:gd name="T51" fmla="*/ 6540 h 532"/>
                <a:gd name="T52" fmla="*/ 1111309 w 532"/>
                <a:gd name="T53" fmla="*/ 7430 h 532"/>
                <a:gd name="T54" fmla="*/ 2078640 w 532"/>
                <a:gd name="T55" fmla="*/ 8213 h 532"/>
                <a:gd name="T56" fmla="*/ 3358850 w 532"/>
                <a:gd name="T57" fmla="*/ 8921 h 532"/>
                <a:gd name="T58" fmla="*/ 4811548 w 532"/>
                <a:gd name="T59" fmla="*/ 9448 h 532"/>
                <a:gd name="T60" fmla="*/ 6414414 w 532"/>
                <a:gd name="T61" fmla="*/ 9832 h 532"/>
                <a:gd name="T62" fmla="*/ 8207439 w 532"/>
                <a:gd name="T63" fmla="*/ 10021 h 5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2"/>
                <a:gd name="T97" fmla="*/ 0 h 532"/>
                <a:gd name="T98" fmla="*/ 532 w 532"/>
                <a:gd name="T99" fmla="*/ 532 h 5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2" h="532">
                  <a:moveTo>
                    <a:pt x="266" y="531"/>
                  </a:moveTo>
                  <a:lnTo>
                    <a:pt x="293" y="529"/>
                  </a:lnTo>
                  <a:lnTo>
                    <a:pt x="319" y="526"/>
                  </a:lnTo>
                  <a:lnTo>
                    <a:pt x="344" y="519"/>
                  </a:lnTo>
                  <a:lnTo>
                    <a:pt x="369" y="510"/>
                  </a:lnTo>
                  <a:lnTo>
                    <a:pt x="392" y="499"/>
                  </a:lnTo>
                  <a:lnTo>
                    <a:pt x="414" y="485"/>
                  </a:lnTo>
                  <a:lnTo>
                    <a:pt x="434" y="470"/>
                  </a:lnTo>
                  <a:lnTo>
                    <a:pt x="453" y="453"/>
                  </a:lnTo>
                  <a:lnTo>
                    <a:pt x="470" y="434"/>
                  </a:lnTo>
                  <a:lnTo>
                    <a:pt x="485" y="414"/>
                  </a:lnTo>
                  <a:lnTo>
                    <a:pt x="499" y="392"/>
                  </a:lnTo>
                  <a:lnTo>
                    <a:pt x="510" y="368"/>
                  </a:lnTo>
                  <a:lnTo>
                    <a:pt x="519" y="344"/>
                  </a:lnTo>
                  <a:lnTo>
                    <a:pt x="526" y="318"/>
                  </a:lnTo>
                  <a:lnTo>
                    <a:pt x="529" y="292"/>
                  </a:lnTo>
                  <a:lnTo>
                    <a:pt x="531" y="265"/>
                  </a:lnTo>
                  <a:lnTo>
                    <a:pt x="529" y="238"/>
                  </a:lnTo>
                  <a:lnTo>
                    <a:pt x="526" y="212"/>
                  </a:lnTo>
                  <a:lnTo>
                    <a:pt x="519" y="186"/>
                  </a:lnTo>
                  <a:lnTo>
                    <a:pt x="510" y="162"/>
                  </a:lnTo>
                  <a:lnTo>
                    <a:pt x="499" y="139"/>
                  </a:lnTo>
                  <a:lnTo>
                    <a:pt x="485" y="117"/>
                  </a:lnTo>
                  <a:lnTo>
                    <a:pt x="470" y="97"/>
                  </a:lnTo>
                  <a:lnTo>
                    <a:pt x="453" y="78"/>
                  </a:lnTo>
                  <a:lnTo>
                    <a:pt x="434" y="60"/>
                  </a:lnTo>
                  <a:lnTo>
                    <a:pt x="414" y="46"/>
                  </a:lnTo>
                  <a:lnTo>
                    <a:pt x="392" y="32"/>
                  </a:lnTo>
                  <a:lnTo>
                    <a:pt x="369" y="21"/>
                  </a:lnTo>
                  <a:lnTo>
                    <a:pt x="344" y="12"/>
                  </a:lnTo>
                  <a:lnTo>
                    <a:pt x="319" y="5"/>
                  </a:lnTo>
                  <a:lnTo>
                    <a:pt x="293" y="1"/>
                  </a:lnTo>
                  <a:lnTo>
                    <a:pt x="266" y="0"/>
                  </a:lnTo>
                  <a:lnTo>
                    <a:pt x="238" y="1"/>
                  </a:lnTo>
                  <a:lnTo>
                    <a:pt x="212" y="5"/>
                  </a:lnTo>
                  <a:lnTo>
                    <a:pt x="186" y="12"/>
                  </a:lnTo>
                  <a:lnTo>
                    <a:pt x="162" y="21"/>
                  </a:lnTo>
                  <a:lnTo>
                    <a:pt x="139" y="32"/>
                  </a:lnTo>
                  <a:lnTo>
                    <a:pt x="117" y="46"/>
                  </a:lnTo>
                  <a:lnTo>
                    <a:pt x="97" y="60"/>
                  </a:lnTo>
                  <a:lnTo>
                    <a:pt x="78" y="78"/>
                  </a:lnTo>
                  <a:lnTo>
                    <a:pt x="60" y="97"/>
                  </a:lnTo>
                  <a:lnTo>
                    <a:pt x="45" y="117"/>
                  </a:lnTo>
                  <a:lnTo>
                    <a:pt x="32" y="139"/>
                  </a:lnTo>
                  <a:lnTo>
                    <a:pt x="21" y="162"/>
                  </a:lnTo>
                  <a:lnTo>
                    <a:pt x="12" y="186"/>
                  </a:lnTo>
                  <a:lnTo>
                    <a:pt x="5" y="212"/>
                  </a:lnTo>
                  <a:lnTo>
                    <a:pt x="1" y="238"/>
                  </a:lnTo>
                  <a:lnTo>
                    <a:pt x="0" y="265"/>
                  </a:lnTo>
                  <a:lnTo>
                    <a:pt x="1" y="292"/>
                  </a:lnTo>
                  <a:lnTo>
                    <a:pt x="5" y="318"/>
                  </a:lnTo>
                  <a:lnTo>
                    <a:pt x="12" y="344"/>
                  </a:lnTo>
                  <a:lnTo>
                    <a:pt x="21" y="368"/>
                  </a:lnTo>
                  <a:lnTo>
                    <a:pt x="32" y="392"/>
                  </a:lnTo>
                  <a:lnTo>
                    <a:pt x="45" y="414"/>
                  </a:lnTo>
                  <a:lnTo>
                    <a:pt x="60" y="434"/>
                  </a:lnTo>
                  <a:lnTo>
                    <a:pt x="78" y="453"/>
                  </a:lnTo>
                  <a:lnTo>
                    <a:pt x="97" y="470"/>
                  </a:lnTo>
                  <a:lnTo>
                    <a:pt x="117" y="485"/>
                  </a:lnTo>
                  <a:lnTo>
                    <a:pt x="139" y="499"/>
                  </a:lnTo>
                  <a:lnTo>
                    <a:pt x="162" y="510"/>
                  </a:lnTo>
                  <a:lnTo>
                    <a:pt x="186" y="519"/>
                  </a:lnTo>
                  <a:lnTo>
                    <a:pt x="212" y="526"/>
                  </a:lnTo>
                  <a:lnTo>
                    <a:pt x="238" y="529"/>
                  </a:lnTo>
                  <a:lnTo>
                    <a:pt x="266" y="53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8" name="Rectangle 298">
              <a:extLst>
                <a:ext uri="{FF2B5EF4-FFF2-40B4-BE49-F238E27FC236}">
                  <a16:creationId xmlns:a16="http://schemas.microsoft.com/office/drawing/2014/main" id="{D40D8783-02DF-C981-0626-AE145A14B4AB}"/>
                </a:ext>
              </a:extLst>
            </p:cNvPr>
            <p:cNvSpPr>
              <a:spLocks noChangeArrowheads="1"/>
            </p:cNvSpPr>
            <p:nvPr/>
          </p:nvSpPr>
          <p:spPr bwMode="auto">
            <a:xfrm>
              <a:off x="1559" y="1158"/>
              <a:ext cx="43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600" b="1" i="0" u="none" strike="noStrike" kern="1200" cap="none" spc="0" normalizeH="0" baseline="0" noProof="0">
                  <a:ln>
                    <a:noFill/>
                  </a:ln>
                  <a:solidFill>
                    <a:srgbClr val="FC0128"/>
                  </a:solidFill>
                  <a:effectLst/>
                  <a:uLnTx/>
                  <a:uFillTx/>
                  <a:latin typeface="Arial" panose="020B0604020202020204" pitchFamily="34" charset="0"/>
                  <a:ea typeface="+mn-ea"/>
                  <a:cs typeface="+mn-cs"/>
                </a:rPr>
                <a:t>SUN</a:t>
              </a:r>
              <a:endParaRPr kumimoji="0" lang="en-GB" altLang="en-US" sz="1100" b="1" i="0" u="none" strike="noStrike" kern="1200" cap="none" spc="0" normalizeH="0" baseline="0" noProof="0">
                <a:ln>
                  <a:noFill/>
                </a:ln>
                <a:solidFill>
                  <a:srgbClr val="FC0128"/>
                </a:solidFill>
                <a:effectLst/>
                <a:uLnTx/>
                <a:uFillTx/>
                <a:latin typeface="Arial" panose="020B0604020202020204" pitchFamily="34" charset="0"/>
                <a:ea typeface="+mn-ea"/>
                <a:cs typeface="+mn-cs"/>
              </a:endParaRPr>
            </a:p>
          </p:txBody>
        </p:sp>
      </p:grpSp>
      <p:sp>
        <p:nvSpPr>
          <p:cNvPr id="139563" name="Rectangle 299">
            <a:extLst>
              <a:ext uri="{FF2B5EF4-FFF2-40B4-BE49-F238E27FC236}">
                <a16:creationId xmlns:a16="http://schemas.microsoft.com/office/drawing/2014/main" id="{17751170-EBBC-65B3-B275-AF0B065163E1}"/>
              </a:ext>
            </a:extLst>
          </p:cNvPr>
          <p:cNvSpPr>
            <a:spLocks noChangeArrowheads="1"/>
          </p:cNvSpPr>
          <p:nvPr/>
        </p:nvSpPr>
        <p:spPr bwMode="auto">
          <a:xfrm>
            <a:off x="3203575" y="2449573"/>
            <a:ext cx="2759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Some solar radiation is</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reflected by the earth’s</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surface, clouds and the atmosphere</a:t>
            </a:r>
            <a:endParaRPr kumimoji="0" lang="en-GB" altLang="en-US" sz="13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39564" name="Rectangle 300">
            <a:extLst>
              <a:ext uri="{FF2B5EF4-FFF2-40B4-BE49-F238E27FC236}">
                <a16:creationId xmlns:a16="http://schemas.microsoft.com/office/drawing/2014/main" id="{8087911E-D9A3-6542-F4E4-AA52848068D9}"/>
              </a:ext>
            </a:extLst>
          </p:cNvPr>
          <p:cNvSpPr>
            <a:spLocks noChangeArrowheads="1"/>
          </p:cNvSpPr>
          <p:nvPr/>
        </p:nvSpPr>
        <p:spPr bwMode="auto">
          <a:xfrm>
            <a:off x="4368800" y="4027548"/>
            <a:ext cx="1379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27063" rtl="0" eaLnBrk="1" fontAlgn="auto" latinLnBrk="0" hangingPunct="1">
              <a:lnSpc>
                <a:spcPct val="100000"/>
              </a:lnSpc>
              <a:spcBef>
                <a:spcPct val="0"/>
              </a:spcBef>
              <a:spcAft>
                <a:spcPts val="0"/>
              </a:spcAft>
              <a:buClrTx/>
              <a:buSzTx/>
              <a:buFontTx/>
              <a:buNone/>
              <a:tabLst/>
              <a:defRPr/>
            </a:pPr>
            <a:r>
              <a:rPr kumimoji="0" lang="en-GB" altLang="en-US" sz="1400" b="1" i="0" u="none" strike="noStrike" kern="1200" cap="none" spc="0" normalizeH="0" baseline="0" noProof="0">
                <a:ln>
                  <a:noFill/>
                </a:ln>
                <a:solidFill>
                  <a:prstClr val="black"/>
                </a:solidFill>
                <a:effectLst/>
                <a:uLnTx/>
                <a:uFillTx/>
                <a:latin typeface="Arial" panose="020B0604020202020204" pitchFamily="34" charset="0"/>
                <a:ea typeface="+mn-ea"/>
                <a:cs typeface="+mn-cs"/>
              </a:rPr>
              <a:t>ATMOSPHERE</a:t>
            </a:r>
          </a:p>
        </p:txBody>
      </p:sp>
      <p:sp>
        <p:nvSpPr>
          <p:cNvPr id="139565" name="Rectangle 301">
            <a:extLst>
              <a:ext uri="{FF2B5EF4-FFF2-40B4-BE49-F238E27FC236}">
                <a16:creationId xmlns:a16="http://schemas.microsoft.com/office/drawing/2014/main" id="{FB055E97-325B-6D87-0670-BE364335F81B}"/>
              </a:ext>
            </a:extLst>
          </p:cNvPr>
          <p:cNvSpPr>
            <a:spLocks noChangeArrowheads="1"/>
          </p:cNvSpPr>
          <p:nvPr/>
        </p:nvSpPr>
        <p:spPr bwMode="auto">
          <a:xfrm>
            <a:off x="2297113" y="5742048"/>
            <a:ext cx="14954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and is absorbed to</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warm the surface</a:t>
            </a:r>
          </a:p>
        </p:txBody>
      </p:sp>
      <p:sp>
        <p:nvSpPr>
          <p:cNvPr id="139566" name="Rectangle 302">
            <a:extLst>
              <a:ext uri="{FF2B5EF4-FFF2-40B4-BE49-F238E27FC236}">
                <a16:creationId xmlns:a16="http://schemas.microsoft.com/office/drawing/2014/main" id="{3E751BA1-A1FC-096A-9B67-561303E91854}"/>
              </a:ext>
            </a:extLst>
          </p:cNvPr>
          <p:cNvSpPr>
            <a:spLocks noChangeArrowheads="1"/>
          </p:cNvSpPr>
          <p:nvPr/>
        </p:nvSpPr>
        <p:spPr bwMode="auto">
          <a:xfrm>
            <a:off x="6586538" y="1793936"/>
            <a:ext cx="209708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Some of the infrared</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radiation is absorbed</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and re-emitted by the</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greenhouse gases.</a:t>
            </a:r>
          </a:p>
        </p:txBody>
      </p:sp>
      <p:sp>
        <p:nvSpPr>
          <p:cNvPr id="139567" name="Rectangle 303">
            <a:extLst>
              <a:ext uri="{FF2B5EF4-FFF2-40B4-BE49-F238E27FC236}">
                <a16:creationId xmlns:a16="http://schemas.microsoft.com/office/drawing/2014/main" id="{F09051D0-102E-12E8-9D96-546A5A7F9C8D}"/>
              </a:ext>
            </a:extLst>
          </p:cNvPr>
          <p:cNvSpPr>
            <a:spLocks noChangeArrowheads="1"/>
          </p:cNvSpPr>
          <p:nvPr/>
        </p:nvSpPr>
        <p:spPr bwMode="auto">
          <a:xfrm>
            <a:off x="6861175" y="4289486"/>
            <a:ext cx="19462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Terrestrial radiation</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low temperature source </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FF0066"/>
                </a:solidFill>
                <a:effectLst/>
                <a:uLnTx/>
                <a:uFillTx/>
                <a:latin typeface="Arial" panose="020B0604020202020204" pitchFamily="34" charset="0"/>
                <a:ea typeface="+mn-ea"/>
                <a:cs typeface="+mn-cs"/>
              </a:rPr>
              <a:t> Long Waves</a:t>
            </a:r>
            <a:endPar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2546" name="Text Box 304">
            <a:extLst>
              <a:ext uri="{FF2B5EF4-FFF2-40B4-BE49-F238E27FC236}">
                <a16:creationId xmlns:a16="http://schemas.microsoft.com/office/drawing/2014/main" id="{5FC3BCD6-2706-1CC0-9893-813FC3B33ACE}"/>
              </a:ext>
            </a:extLst>
          </p:cNvPr>
          <p:cNvSpPr txBox="1">
            <a:spLocks noChangeArrowheads="1"/>
          </p:cNvSpPr>
          <p:nvPr/>
        </p:nvSpPr>
        <p:spPr bwMode="auto">
          <a:xfrm>
            <a:off x="395288" y="1351023"/>
            <a:ext cx="1254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741" tIns="31371" rIns="62741" bIns="31371">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27063" rtl="0" eaLnBrk="1" fontAlgn="auto" latinLnBrk="0" hangingPunct="1">
              <a:lnSpc>
                <a:spcPct val="100000"/>
              </a:lnSpc>
              <a:spcBef>
                <a:spcPct val="0"/>
              </a:spcBef>
              <a:spcAft>
                <a:spcPts val="0"/>
              </a:spcAft>
              <a:buClrTx/>
              <a:buSzTx/>
              <a:buFontTx/>
              <a:buNone/>
              <a:tabLst/>
              <a:defRPr/>
            </a:pPr>
            <a:endParaRPr kumimoji="0" lang="en-US" altLang="en-US" sz="6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39570" name="Rectangle 306">
            <a:extLst>
              <a:ext uri="{FF2B5EF4-FFF2-40B4-BE49-F238E27FC236}">
                <a16:creationId xmlns:a16="http://schemas.microsoft.com/office/drawing/2014/main" id="{B18B9D23-E4BE-284F-104D-0B4877950B4B}"/>
              </a:ext>
            </a:extLst>
          </p:cNvPr>
          <p:cNvSpPr>
            <a:spLocks noChangeArrowheads="1"/>
          </p:cNvSpPr>
          <p:nvPr/>
        </p:nvSpPr>
        <p:spPr bwMode="auto">
          <a:xfrm>
            <a:off x="1574800" y="1360548"/>
            <a:ext cx="14874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Solar radiation</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high temp’ source </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FF0066"/>
                </a:solidFill>
                <a:effectLst/>
                <a:uLnTx/>
                <a:uFillTx/>
                <a:latin typeface="Arial" panose="020B0604020202020204" pitchFamily="34" charset="0"/>
                <a:ea typeface="+mn-ea"/>
                <a:cs typeface="+mn-cs"/>
              </a:rPr>
              <a:t>Short Waves</a:t>
            </a:r>
          </a:p>
        </p:txBody>
      </p:sp>
      <p:sp>
        <p:nvSpPr>
          <p:cNvPr id="139571" name="Rectangle 307">
            <a:extLst>
              <a:ext uri="{FF2B5EF4-FFF2-40B4-BE49-F238E27FC236}">
                <a16:creationId xmlns:a16="http://schemas.microsoft.com/office/drawing/2014/main" id="{ABB708EA-5D24-35EC-16AE-B45647CD630A}"/>
              </a:ext>
            </a:extLst>
          </p:cNvPr>
          <p:cNvSpPr>
            <a:spLocks noChangeArrowheads="1"/>
          </p:cNvSpPr>
          <p:nvPr/>
        </p:nvSpPr>
        <p:spPr bwMode="auto">
          <a:xfrm>
            <a:off x="4471988" y="1666936"/>
            <a:ext cx="1350962"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27063" rtl="0" eaLnBrk="1" fontAlgn="auto" latinLnBrk="0" hangingPunct="1">
              <a:lnSpc>
                <a:spcPct val="100000"/>
              </a:lnSpc>
              <a:spcBef>
                <a:spcPct val="0"/>
              </a:spcBef>
              <a:spcAft>
                <a:spcPts val="0"/>
              </a:spcAft>
              <a:buClrTx/>
              <a:buSzTx/>
              <a:buFontTx/>
              <a:buNone/>
              <a:tabLst/>
              <a:defRPr/>
            </a:pPr>
            <a:r>
              <a:rPr kumimoji="0" lang="en-GB" altLang="en-US" sz="1400" b="1" i="0" u="none" strike="noStrike" kern="1200" cap="none" spc="0" normalizeH="0" baseline="0" noProof="0">
                <a:ln>
                  <a:noFill/>
                </a:ln>
                <a:solidFill>
                  <a:prstClr val="black"/>
                </a:solidFill>
                <a:effectLst/>
                <a:uLnTx/>
                <a:uFillTx/>
                <a:latin typeface="Arial" panose="020B0604020202020204" pitchFamily="34" charset="0"/>
                <a:ea typeface="+mn-ea"/>
                <a:cs typeface="+mn-cs"/>
              </a:rPr>
              <a:t>SPACE</a:t>
            </a:r>
          </a:p>
        </p:txBody>
      </p:sp>
      <p:grpSp>
        <p:nvGrpSpPr>
          <p:cNvPr id="8" name="Group 308">
            <a:extLst>
              <a:ext uri="{FF2B5EF4-FFF2-40B4-BE49-F238E27FC236}">
                <a16:creationId xmlns:a16="http://schemas.microsoft.com/office/drawing/2014/main" id="{6C4660CE-20C7-7840-DC32-CAD7EAED23C0}"/>
              </a:ext>
            </a:extLst>
          </p:cNvPr>
          <p:cNvGrpSpPr>
            <a:grpSpLocks/>
          </p:cNvGrpSpPr>
          <p:nvPr/>
        </p:nvGrpSpPr>
        <p:grpSpPr bwMode="auto">
          <a:xfrm>
            <a:off x="1725613" y="2640073"/>
            <a:ext cx="711200" cy="1558925"/>
            <a:chOff x="1331" y="1511"/>
            <a:chExt cx="555" cy="1145"/>
          </a:xfrm>
        </p:grpSpPr>
        <p:grpSp>
          <p:nvGrpSpPr>
            <p:cNvPr id="22558" name="Group 309">
              <a:extLst>
                <a:ext uri="{FF2B5EF4-FFF2-40B4-BE49-F238E27FC236}">
                  <a16:creationId xmlns:a16="http://schemas.microsoft.com/office/drawing/2014/main" id="{78502FB8-0C54-12F5-436D-C7DF405DB596}"/>
                </a:ext>
              </a:extLst>
            </p:cNvPr>
            <p:cNvGrpSpPr>
              <a:grpSpLocks/>
            </p:cNvGrpSpPr>
            <p:nvPr/>
          </p:nvGrpSpPr>
          <p:grpSpPr bwMode="auto">
            <a:xfrm>
              <a:off x="1331" y="1511"/>
              <a:ext cx="543" cy="1061"/>
              <a:chOff x="1745" y="2574"/>
              <a:chExt cx="543" cy="1061"/>
            </a:xfrm>
          </p:grpSpPr>
          <p:sp>
            <p:nvSpPr>
              <p:cNvPr id="22560" name="Freeform 310">
                <a:extLst>
                  <a:ext uri="{FF2B5EF4-FFF2-40B4-BE49-F238E27FC236}">
                    <a16:creationId xmlns:a16="http://schemas.microsoft.com/office/drawing/2014/main" id="{49D49E81-9221-B2CC-310A-852620646F25}"/>
                  </a:ext>
                </a:extLst>
              </p:cNvPr>
              <p:cNvSpPr>
                <a:spLocks/>
              </p:cNvSpPr>
              <p:nvPr/>
            </p:nvSpPr>
            <p:spPr bwMode="auto">
              <a:xfrm>
                <a:off x="2210" y="3547"/>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1" name="Freeform 311">
                <a:extLst>
                  <a:ext uri="{FF2B5EF4-FFF2-40B4-BE49-F238E27FC236}">
                    <a16:creationId xmlns:a16="http://schemas.microsoft.com/office/drawing/2014/main" id="{86EEAEAD-DE8D-46CA-6C41-B527FD1EEFC9}"/>
                  </a:ext>
                </a:extLst>
              </p:cNvPr>
              <p:cNvSpPr>
                <a:spLocks/>
              </p:cNvSpPr>
              <p:nvPr/>
            </p:nvSpPr>
            <p:spPr bwMode="auto">
              <a:xfrm>
                <a:off x="2114" y="3516"/>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2" name="Freeform 312">
                <a:extLst>
                  <a:ext uri="{FF2B5EF4-FFF2-40B4-BE49-F238E27FC236}">
                    <a16:creationId xmlns:a16="http://schemas.microsoft.com/office/drawing/2014/main" id="{E37BC57F-0243-42A6-737B-9B1CA6C53D96}"/>
                  </a:ext>
                </a:extLst>
              </p:cNvPr>
              <p:cNvSpPr>
                <a:spLocks/>
              </p:cNvSpPr>
              <p:nvPr/>
            </p:nvSpPr>
            <p:spPr bwMode="auto">
              <a:xfrm>
                <a:off x="2114" y="3516"/>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3" name="Freeform 313">
                <a:extLst>
                  <a:ext uri="{FF2B5EF4-FFF2-40B4-BE49-F238E27FC236}">
                    <a16:creationId xmlns:a16="http://schemas.microsoft.com/office/drawing/2014/main" id="{8812AF30-4515-8E82-CF4C-5196C43CFB30}"/>
                  </a:ext>
                </a:extLst>
              </p:cNvPr>
              <p:cNvSpPr>
                <a:spLocks/>
              </p:cNvSpPr>
              <p:nvPr/>
            </p:nvSpPr>
            <p:spPr bwMode="auto">
              <a:xfrm>
                <a:off x="2114" y="3450"/>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4" name="Freeform 314">
                <a:extLst>
                  <a:ext uri="{FF2B5EF4-FFF2-40B4-BE49-F238E27FC236}">
                    <a16:creationId xmlns:a16="http://schemas.microsoft.com/office/drawing/2014/main" id="{B6668978-11C9-9C0C-FE78-AF3B06A9C6B0}"/>
                  </a:ext>
                </a:extLst>
              </p:cNvPr>
              <p:cNvSpPr>
                <a:spLocks/>
              </p:cNvSpPr>
              <p:nvPr/>
            </p:nvSpPr>
            <p:spPr bwMode="auto">
              <a:xfrm>
                <a:off x="2077" y="3421"/>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5" name="Freeform 315">
                <a:extLst>
                  <a:ext uri="{FF2B5EF4-FFF2-40B4-BE49-F238E27FC236}">
                    <a16:creationId xmlns:a16="http://schemas.microsoft.com/office/drawing/2014/main" id="{F5EE55BD-3534-C5CA-8081-2C6874585B19}"/>
                  </a:ext>
                </a:extLst>
              </p:cNvPr>
              <p:cNvSpPr>
                <a:spLocks/>
              </p:cNvSpPr>
              <p:nvPr/>
            </p:nvSpPr>
            <p:spPr bwMode="auto">
              <a:xfrm>
                <a:off x="2077" y="3354"/>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6" name="Freeform 316">
                <a:extLst>
                  <a:ext uri="{FF2B5EF4-FFF2-40B4-BE49-F238E27FC236}">
                    <a16:creationId xmlns:a16="http://schemas.microsoft.com/office/drawing/2014/main" id="{86A7E4BE-A554-088F-108A-E2D58F73F9F0}"/>
                  </a:ext>
                </a:extLst>
              </p:cNvPr>
              <p:cNvSpPr>
                <a:spLocks/>
              </p:cNvSpPr>
              <p:nvPr/>
            </p:nvSpPr>
            <p:spPr bwMode="auto">
              <a:xfrm>
                <a:off x="2042" y="3331"/>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7" name="Freeform 317">
                <a:extLst>
                  <a:ext uri="{FF2B5EF4-FFF2-40B4-BE49-F238E27FC236}">
                    <a16:creationId xmlns:a16="http://schemas.microsoft.com/office/drawing/2014/main" id="{EABA814C-EDB7-FE81-8A28-A592A66DB83E}"/>
                  </a:ext>
                </a:extLst>
              </p:cNvPr>
              <p:cNvSpPr>
                <a:spLocks/>
              </p:cNvSpPr>
              <p:nvPr/>
            </p:nvSpPr>
            <p:spPr bwMode="auto">
              <a:xfrm>
                <a:off x="2042" y="3329"/>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8" name="Freeform 318">
                <a:extLst>
                  <a:ext uri="{FF2B5EF4-FFF2-40B4-BE49-F238E27FC236}">
                    <a16:creationId xmlns:a16="http://schemas.microsoft.com/office/drawing/2014/main" id="{3B6F3259-884E-4AEE-AFE9-9E849CA4E501}"/>
                  </a:ext>
                </a:extLst>
              </p:cNvPr>
              <p:cNvSpPr>
                <a:spLocks/>
              </p:cNvSpPr>
              <p:nvPr/>
            </p:nvSpPr>
            <p:spPr bwMode="auto">
              <a:xfrm>
                <a:off x="2042" y="3263"/>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69" name="Freeform 319">
                <a:extLst>
                  <a:ext uri="{FF2B5EF4-FFF2-40B4-BE49-F238E27FC236}">
                    <a16:creationId xmlns:a16="http://schemas.microsoft.com/office/drawing/2014/main" id="{4B6FA4BA-706E-86F0-DDE1-8D544FE37F66}"/>
                  </a:ext>
                </a:extLst>
              </p:cNvPr>
              <p:cNvSpPr>
                <a:spLocks/>
              </p:cNvSpPr>
              <p:nvPr/>
            </p:nvSpPr>
            <p:spPr bwMode="auto">
              <a:xfrm>
                <a:off x="2002" y="3234"/>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0" name="Freeform 320">
                <a:extLst>
                  <a:ext uri="{FF2B5EF4-FFF2-40B4-BE49-F238E27FC236}">
                    <a16:creationId xmlns:a16="http://schemas.microsoft.com/office/drawing/2014/main" id="{E95F4F65-F7E5-CB8E-CCF7-EF88ECB4A645}"/>
                  </a:ext>
                </a:extLst>
              </p:cNvPr>
              <p:cNvSpPr>
                <a:spLocks/>
              </p:cNvSpPr>
              <p:nvPr/>
            </p:nvSpPr>
            <p:spPr bwMode="auto">
              <a:xfrm>
                <a:off x="2002" y="3167"/>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1" name="Freeform 321">
                <a:extLst>
                  <a:ext uri="{FF2B5EF4-FFF2-40B4-BE49-F238E27FC236}">
                    <a16:creationId xmlns:a16="http://schemas.microsoft.com/office/drawing/2014/main" id="{790416CE-5144-99BC-CC82-987515D1EA32}"/>
                  </a:ext>
                </a:extLst>
              </p:cNvPr>
              <p:cNvSpPr>
                <a:spLocks/>
              </p:cNvSpPr>
              <p:nvPr/>
            </p:nvSpPr>
            <p:spPr bwMode="auto">
              <a:xfrm>
                <a:off x="1964" y="3139"/>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2" name="Freeform 322">
                <a:extLst>
                  <a:ext uri="{FF2B5EF4-FFF2-40B4-BE49-F238E27FC236}">
                    <a16:creationId xmlns:a16="http://schemas.microsoft.com/office/drawing/2014/main" id="{06159B2A-5BC1-6C2E-E948-9FE5D67A4D80}"/>
                  </a:ext>
                </a:extLst>
              </p:cNvPr>
              <p:cNvSpPr>
                <a:spLocks/>
              </p:cNvSpPr>
              <p:nvPr/>
            </p:nvSpPr>
            <p:spPr bwMode="auto">
              <a:xfrm>
                <a:off x="1964" y="3077"/>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3" name="Freeform 323">
                <a:extLst>
                  <a:ext uri="{FF2B5EF4-FFF2-40B4-BE49-F238E27FC236}">
                    <a16:creationId xmlns:a16="http://schemas.microsoft.com/office/drawing/2014/main" id="{E397C13D-449E-3E30-B1C3-30FCB2C597BA}"/>
                  </a:ext>
                </a:extLst>
              </p:cNvPr>
              <p:cNvSpPr>
                <a:spLocks/>
              </p:cNvSpPr>
              <p:nvPr/>
            </p:nvSpPr>
            <p:spPr bwMode="auto">
              <a:xfrm>
                <a:off x="2080" y="3075"/>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4" name="Freeform 324">
                <a:extLst>
                  <a:ext uri="{FF2B5EF4-FFF2-40B4-BE49-F238E27FC236}">
                    <a16:creationId xmlns:a16="http://schemas.microsoft.com/office/drawing/2014/main" id="{E7F1F0A3-66DA-B3AD-1334-D2FA94507DAB}"/>
                  </a:ext>
                </a:extLst>
              </p:cNvPr>
              <p:cNvSpPr>
                <a:spLocks/>
              </p:cNvSpPr>
              <p:nvPr/>
            </p:nvSpPr>
            <p:spPr bwMode="auto">
              <a:xfrm>
                <a:off x="1930" y="3049"/>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5" name="Freeform 325">
                <a:extLst>
                  <a:ext uri="{FF2B5EF4-FFF2-40B4-BE49-F238E27FC236}">
                    <a16:creationId xmlns:a16="http://schemas.microsoft.com/office/drawing/2014/main" id="{FE8ACDE3-8903-BE3C-4C93-8B361CE4B5E7}"/>
                  </a:ext>
                </a:extLst>
              </p:cNvPr>
              <p:cNvSpPr>
                <a:spLocks/>
              </p:cNvSpPr>
              <p:nvPr/>
            </p:nvSpPr>
            <p:spPr bwMode="auto">
              <a:xfrm>
                <a:off x="1930" y="2982"/>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6" name="Freeform 326">
                <a:extLst>
                  <a:ext uri="{FF2B5EF4-FFF2-40B4-BE49-F238E27FC236}">
                    <a16:creationId xmlns:a16="http://schemas.microsoft.com/office/drawing/2014/main" id="{DFE05785-BBD6-7A84-52CE-42B06466B585}"/>
                  </a:ext>
                </a:extLst>
              </p:cNvPr>
              <p:cNvSpPr>
                <a:spLocks/>
              </p:cNvSpPr>
              <p:nvPr/>
            </p:nvSpPr>
            <p:spPr bwMode="auto">
              <a:xfrm>
                <a:off x="1892" y="2954"/>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7" name="Freeform 327">
                <a:extLst>
                  <a:ext uri="{FF2B5EF4-FFF2-40B4-BE49-F238E27FC236}">
                    <a16:creationId xmlns:a16="http://schemas.microsoft.com/office/drawing/2014/main" id="{3CE2B3AD-F553-D09E-9851-575F1175A5EC}"/>
                  </a:ext>
                </a:extLst>
              </p:cNvPr>
              <p:cNvSpPr>
                <a:spLocks/>
              </p:cNvSpPr>
              <p:nvPr/>
            </p:nvSpPr>
            <p:spPr bwMode="auto">
              <a:xfrm>
                <a:off x="1892" y="2889"/>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8" name="Freeform 328">
                <a:extLst>
                  <a:ext uri="{FF2B5EF4-FFF2-40B4-BE49-F238E27FC236}">
                    <a16:creationId xmlns:a16="http://schemas.microsoft.com/office/drawing/2014/main" id="{2F22A8A6-47B9-44F1-C10C-323ECD425800}"/>
                  </a:ext>
                </a:extLst>
              </p:cNvPr>
              <p:cNvSpPr>
                <a:spLocks/>
              </p:cNvSpPr>
              <p:nvPr/>
            </p:nvSpPr>
            <p:spPr bwMode="auto">
              <a:xfrm>
                <a:off x="2008" y="2888"/>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79" name="Freeform 329">
                <a:extLst>
                  <a:ext uri="{FF2B5EF4-FFF2-40B4-BE49-F238E27FC236}">
                    <a16:creationId xmlns:a16="http://schemas.microsoft.com/office/drawing/2014/main" id="{722D6559-0A5F-5FD4-B54D-788B7F341EFB}"/>
                  </a:ext>
                </a:extLst>
              </p:cNvPr>
              <p:cNvSpPr>
                <a:spLocks/>
              </p:cNvSpPr>
              <p:nvPr/>
            </p:nvSpPr>
            <p:spPr bwMode="auto">
              <a:xfrm>
                <a:off x="1859" y="2861"/>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0" name="Freeform 330">
                <a:extLst>
                  <a:ext uri="{FF2B5EF4-FFF2-40B4-BE49-F238E27FC236}">
                    <a16:creationId xmlns:a16="http://schemas.microsoft.com/office/drawing/2014/main" id="{1A280CEC-CFED-F1A8-213E-4FC21A6E4DFF}"/>
                  </a:ext>
                </a:extLst>
              </p:cNvPr>
              <p:cNvSpPr>
                <a:spLocks/>
              </p:cNvSpPr>
              <p:nvPr/>
            </p:nvSpPr>
            <p:spPr bwMode="auto">
              <a:xfrm>
                <a:off x="1859" y="2793"/>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1" name="Freeform 331">
                <a:extLst>
                  <a:ext uri="{FF2B5EF4-FFF2-40B4-BE49-F238E27FC236}">
                    <a16:creationId xmlns:a16="http://schemas.microsoft.com/office/drawing/2014/main" id="{B691025C-4D20-F46F-D629-78EFD02131F1}"/>
                  </a:ext>
                </a:extLst>
              </p:cNvPr>
              <p:cNvSpPr>
                <a:spLocks/>
              </p:cNvSpPr>
              <p:nvPr/>
            </p:nvSpPr>
            <p:spPr bwMode="auto">
              <a:xfrm>
                <a:off x="1823" y="2766"/>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2" name="Freeform 332">
                <a:extLst>
                  <a:ext uri="{FF2B5EF4-FFF2-40B4-BE49-F238E27FC236}">
                    <a16:creationId xmlns:a16="http://schemas.microsoft.com/office/drawing/2014/main" id="{2988822B-C51C-0B1D-03A6-4393163EA7AD}"/>
                  </a:ext>
                </a:extLst>
              </p:cNvPr>
              <p:cNvSpPr>
                <a:spLocks/>
              </p:cNvSpPr>
              <p:nvPr/>
            </p:nvSpPr>
            <p:spPr bwMode="auto">
              <a:xfrm>
                <a:off x="1823" y="2698"/>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3" name="Freeform 333">
                <a:extLst>
                  <a:ext uri="{FF2B5EF4-FFF2-40B4-BE49-F238E27FC236}">
                    <a16:creationId xmlns:a16="http://schemas.microsoft.com/office/drawing/2014/main" id="{28B68E40-F174-D6F0-4A70-88F6CD955D16}"/>
                  </a:ext>
                </a:extLst>
              </p:cNvPr>
              <p:cNvSpPr>
                <a:spLocks/>
              </p:cNvSpPr>
              <p:nvPr/>
            </p:nvSpPr>
            <p:spPr bwMode="auto">
              <a:xfrm>
                <a:off x="1934" y="2698"/>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4" name="Freeform 334">
                <a:extLst>
                  <a:ext uri="{FF2B5EF4-FFF2-40B4-BE49-F238E27FC236}">
                    <a16:creationId xmlns:a16="http://schemas.microsoft.com/office/drawing/2014/main" id="{8B39FD26-9002-D19E-A304-5849C6A02AB6}"/>
                  </a:ext>
                </a:extLst>
              </p:cNvPr>
              <p:cNvSpPr>
                <a:spLocks/>
              </p:cNvSpPr>
              <p:nvPr/>
            </p:nvSpPr>
            <p:spPr bwMode="auto">
              <a:xfrm>
                <a:off x="1781" y="2669"/>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5" name="Freeform 335">
                <a:extLst>
                  <a:ext uri="{FF2B5EF4-FFF2-40B4-BE49-F238E27FC236}">
                    <a16:creationId xmlns:a16="http://schemas.microsoft.com/office/drawing/2014/main" id="{C842C160-B23C-444F-91A7-621A70AD43A4}"/>
                  </a:ext>
                </a:extLst>
              </p:cNvPr>
              <p:cNvSpPr>
                <a:spLocks/>
              </p:cNvSpPr>
              <p:nvPr/>
            </p:nvSpPr>
            <p:spPr bwMode="auto">
              <a:xfrm>
                <a:off x="1781" y="2602"/>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22586" name="Freeform 336">
                <a:extLst>
                  <a:ext uri="{FF2B5EF4-FFF2-40B4-BE49-F238E27FC236}">
                    <a16:creationId xmlns:a16="http://schemas.microsoft.com/office/drawing/2014/main" id="{4855AFF6-BC3E-138B-B668-C20EB9F570C1}"/>
                  </a:ext>
                </a:extLst>
              </p:cNvPr>
              <p:cNvSpPr>
                <a:spLocks/>
              </p:cNvSpPr>
              <p:nvPr/>
            </p:nvSpPr>
            <p:spPr bwMode="auto">
              <a:xfrm>
                <a:off x="1745" y="2574"/>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sp>
          <p:nvSpPr>
            <p:cNvPr id="22559" name="Line 337">
              <a:extLst>
                <a:ext uri="{FF2B5EF4-FFF2-40B4-BE49-F238E27FC236}">
                  <a16:creationId xmlns:a16="http://schemas.microsoft.com/office/drawing/2014/main" id="{E659F188-6BD5-CECB-1D50-C2B3EBE752E8}"/>
                </a:ext>
              </a:extLst>
            </p:cNvPr>
            <p:cNvSpPr>
              <a:spLocks noChangeShapeType="1"/>
            </p:cNvSpPr>
            <p:nvPr/>
          </p:nvSpPr>
          <p:spPr bwMode="auto">
            <a:xfrm>
              <a:off x="1795" y="2520"/>
              <a:ext cx="91" cy="136"/>
            </a:xfrm>
            <a:prstGeom prst="line">
              <a:avLst/>
            </a:prstGeom>
            <a:noFill/>
            <a:ln w="412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grpSp>
      <p:sp>
        <p:nvSpPr>
          <p:cNvPr id="139602" name="Rectangle 338">
            <a:extLst>
              <a:ext uri="{FF2B5EF4-FFF2-40B4-BE49-F238E27FC236}">
                <a16:creationId xmlns:a16="http://schemas.microsoft.com/office/drawing/2014/main" id="{4735A623-DB0B-578B-3C53-C74E6C87E75D}"/>
              </a:ext>
            </a:extLst>
          </p:cNvPr>
          <p:cNvSpPr>
            <a:spLocks noChangeArrowheads="1"/>
          </p:cNvSpPr>
          <p:nvPr/>
        </p:nvSpPr>
        <p:spPr bwMode="auto">
          <a:xfrm>
            <a:off x="457200" y="3579873"/>
            <a:ext cx="17462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Some solar radiation is absorbed by clouds and other gases</a:t>
            </a:r>
          </a:p>
        </p:txBody>
      </p:sp>
      <p:sp>
        <p:nvSpPr>
          <p:cNvPr id="139603" name="Rectangle 339">
            <a:extLst>
              <a:ext uri="{FF2B5EF4-FFF2-40B4-BE49-F238E27FC236}">
                <a16:creationId xmlns:a16="http://schemas.microsoft.com/office/drawing/2014/main" id="{1B295B5C-01E1-58E2-F954-486610532D1B}"/>
              </a:ext>
            </a:extLst>
          </p:cNvPr>
          <p:cNvSpPr>
            <a:spLocks noChangeArrowheads="1"/>
          </p:cNvSpPr>
          <p:nvPr/>
        </p:nvSpPr>
        <p:spPr bwMode="auto">
          <a:xfrm>
            <a:off x="6742113" y="2840098"/>
            <a:ext cx="18034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This </a:t>
            </a:r>
            <a:r>
              <a:rPr kumimoji="0" lang="en-GB" altLang="en-US" sz="1200" b="1" i="0" u="none" strike="noStrike" kern="1200" cap="none" spc="0" normalizeH="0" baseline="0" noProof="0">
                <a:ln>
                  <a:noFill/>
                </a:ln>
                <a:solidFill>
                  <a:srgbClr val="FF0000"/>
                </a:solidFill>
                <a:effectLst/>
                <a:uLnTx/>
                <a:uFillTx/>
                <a:latin typeface="Arial" panose="020B0604020202020204" pitchFamily="34" charset="0"/>
                <a:ea typeface="+mn-ea"/>
                <a:cs typeface="+mn-cs"/>
              </a:rPr>
              <a:t>warms</a:t>
            </a: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the surface and the atmosphere</a:t>
            </a:r>
          </a:p>
        </p:txBody>
      </p:sp>
      <p:sp>
        <p:nvSpPr>
          <p:cNvPr id="139604" name="Line 340">
            <a:extLst>
              <a:ext uri="{FF2B5EF4-FFF2-40B4-BE49-F238E27FC236}">
                <a16:creationId xmlns:a16="http://schemas.microsoft.com/office/drawing/2014/main" id="{FE21747B-4C82-1721-9854-754DD2E72A2F}"/>
              </a:ext>
            </a:extLst>
          </p:cNvPr>
          <p:cNvSpPr>
            <a:spLocks noChangeShapeType="1"/>
          </p:cNvSpPr>
          <p:nvPr/>
        </p:nvSpPr>
        <p:spPr bwMode="auto">
          <a:xfrm>
            <a:off x="400050" y="3548123"/>
            <a:ext cx="8553450" cy="0"/>
          </a:xfrm>
          <a:prstGeom prst="line">
            <a:avLst/>
          </a:prstGeom>
          <a:noFill/>
          <a:ln w="15875">
            <a:solidFill>
              <a:srgbClr val="99CC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DM Sans"/>
              <a:ea typeface="+mn-ea"/>
              <a:cs typeface="+mn-cs"/>
            </a:endParaRPr>
          </a:p>
        </p:txBody>
      </p:sp>
      <p:sp>
        <p:nvSpPr>
          <p:cNvPr id="139605" name="Rectangle 341">
            <a:extLst>
              <a:ext uri="{FF2B5EF4-FFF2-40B4-BE49-F238E27FC236}">
                <a16:creationId xmlns:a16="http://schemas.microsoft.com/office/drawing/2014/main" id="{0F08C7CD-88A0-191B-C0D7-C88A70880BD2}"/>
              </a:ext>
            </a:extLst>
          </p:cNvPr>
          <p:cNvSpPr>
            <a:spLocks noChangeArrowheads="1"/>
          </p:cNvSpPr>
          <p:nvPr/>
        </p:nvSpPr>
        <p:spPr bwMode="auto">
          <a:xfrm>
            <a:off x="4452938" y="5742048"/>
            <a:ext cx="8302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600" b="1" i="0" u="none" strike="noStrike" kern="1200" cap="none" spc="0" normalizeH="0" baseline="0" noProof="0">
                <a:ln>
                  <a:noFill/>
                </a:ln>
                <a:solidFill>
                  <a:srgbClr val="712000"/>
                </a:solidFill>
                <a:effectLst/>
                <a:uLnTx/>
                <a:uFillTx/>
                <a:latin typeface="Arial" panose="020B0604020202020204" pitchFamily="34" charset="0"/>
                <a:ea typeface="+mn-ea"/>
                <a:cs typeface="+mn-cs"/>
              </a:rPr>
              <a:t>EARTH</a:t>
            </a:r>
          </a:p>
          <a:p>
            <a:pPr marL="0" marR="0" lvl="0" indent="0" algn="ctr" defTabSz="627063" rtl="0" eaLnBrk="1" fontAlgn="auto" latinLnBrk="0" hangingPunct="1">
              <a:lnSpc>
                <a:spcPct val="100000"/>
              </a:lnSpc>
              <a:spcBef>
                <a:spcPct val="0"/>
              </a:spcBef>
              <a:spcAft>
                <a:spcPts val="0"/>
              </a:spcAft>
              <a:buClrTx/>
              <a:buSzTx/>
              <a:buFontTx/>
              <a:buNone/>
              <a:tabLst/>
              <a:defRPr/>
            </a:pPr>
            <a:endParaRPr kumimoji="0" lang="en-GB" altLang="en-US" sz="1400" b="1" i="0" u="none" strike="noStrike" kern="1200" cap="none" spc="0" normalizeH="0" baseline="0" noProof="0">
              <a:ln>
                <a:noFill/>
              </a:ln>
              <a:solidFill>
                <a:srgbClr val="712000"/>
              </a:solidFill>
              <a:effectLst/>
              <a:uLnTx/>
              <a:uFillTx/>
              <a:latin typeface="Arial" panose="020B0604020202020204" pitchFamily="34" charset="0"/>
              <a:ea typeface="+mn-ea"/>
              <a:cs typeface="+mn-cs"/>
            </a:endParaRPr>
          </a:p>
        </p:txBody>
      </p:sp>
      <p:sp>
        <p:nvSpPr>
          <p:cNvPr id="139607" name="Rectangle 343">
            <a:extLst>
              <a:ext uri="{FF2B5EF4-FFF2-40B4-BE49-F238E27FC236}">
                <a16:creationId xmlns:a16="http://schemas.microsoft.com/office/drawing/2014/main" id="{57B9166E-A3AB-1986-A0EC-4962A85F6D44}"/>
              </a:ext>
            </a:extLst>
          </p:cNvPr>
          <p:cNvSpPr>
            <a:spLocks noChangeArrowheads="1"/>
          </p:cNvSpPr>
          <p:nvPr/>
        </p:nvSpPr>
        <p:spPr bwMode="auto">
          <a:xfrm>
            <a:off x="1096963" y="5000686"/>
            <a:ext cx="17875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2087" tIns="30499" rIns="62087" bIns="3049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Most solar radiation</a:t>
            </a:r>
          </a:p>
          <a:p>
            <a:pPr marL="0" marR="0" lvl="0" indent="0" algn="ctr" defTabSz="627063" rtl="0" eaLnBrk="1" fontAlgn="auto" latinLnBrk="0" hangingPunct="1">
              <a:lnSpc>
                <a:spcPct val="100000"/>
              </a:lnSpc>
              <a:spcBef>
                <a:spcPct val="0"/>
              </a:spcBef>
              <a:spcAft>
                <a:spcPts val="0"/>
              </a:spcAft>
              <a:buClrTx/>
              <a:buSzTx/>
              <a:buFontTx/>
              <a:buNone/>
              <a:tabLst/>
              <a:defRPr/>
            </a:pPr>
            <a:r>
              <a:rPr kumimoji="0" lang="en-GB" alt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Passes straight through the atmosphere</a:t>
            </a:r>
          </a:p>
        </p:txBody>
      </p:sp>
      <p:sp>
        <p:nvSpPr>
          <p:cNvPr id="9" name="Freeform 13">
            <a:extLst>
              <a:ext uri="{FF2B5EF4-FFF2-40B4-BE49-F238E27FC236}">
                <a16:creationId xmlns:a16="http://schemas.microsoft.com/office/drawing/2014/main" id="{D8B3C5BC-4E54-2575-8C58-16AD7838C89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11" name="TextBox 14">
            <a:extLst>
              <a:ext uri="{FF2B5EF4-FFF2-40B4-BE49-F238E27FC236}">
                <a16:creationId xmlns:a16="http://schemas.microsoft.com/office/drawing/2014/main" id="{C083A62F-BDCA-8A94-BC91-0E443F16BA48}"/>
              </a:ext>
            </a:extLst>
          </p:cNvPr>
          <p:cNvSpPr txBox="1"/>
          <p:nvPr/>
        </p:nvSpPr>
        <p:spPr>
          <a:xfrm>
            <a:off x="449659" y="66237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lang="en-US" sz="4000" i="1" spc="-275" dirty="0">
                <a:solidFill>
                  <a:srgbClr val="46245A"/>
                </a:solidFill>
                <a:latin typeface="DM Sans Bold"/>
              </a:rPr>
              <a:t>Last Week: </a:t>
            </a:r>
            <a:r>
              <a:rPr kumimoji="0" lang="en-US" sz="4000" b="0" i="1" u="none" strike="noStrike" kern="1200" cap="none" spc="-275" normalizeH="0" baseline="0" noProof="0" dirty="0">
                <a:ln>
                  <a:noFill/>
                </a:ln>
                <a:solidFill>
                  <a:srgbClr val="46245A"/>
                </a:solidFill>
                <a:effectLst/>
                <a:uLnTx/>
                <a:uFillTx/>
                <a:latin typeface="DM Sans Bold"/>
                <a:ea typeface="+mn-ea"/>
                <a:cs typeface="+mn-cs"/>
              </a:rPr>
              <a:t>Greenhouse Effect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39268"/>
                                        </p:tgtEl>
                                        <p:attrNameLst>
                                          <p:attrName>style.visibility</p:attrName>
                                        </p:attrNameLst>
                                      </p:cBhvr>
                                      <p:to>
                                        <p:strVal val="visible"/>
                                      </p:to>
                                    </p:set>
                                    <p:anim calcmode="lin" valueType="num">
                                      <p:cBhvr additive="base">
                                        <p:cTn id="7" dur="500" fill="hold"/>
                                        <p:tgtEl>
                                          <p:spTgt spid="139268"/>
                                        </p:tgtEl>
                                        <p:attrNameLst>
                                          <p:attrName>ppt_x</p:attrName>
                                        </p:attrNameLst>
                                      </p:cBhvr>
                                      <p:tavLst>
                                        <p:tav tm="0">
                                          <p:val>
                                            <p:strVal val="#ppt_x"/>
                                          </p:val>
                                        </p:tav>
                                        <p:tav tm="100000">
                                          <p:val>
                                            <p:strVal val="#ppt_x"/>
                                          </p:val>
                                        </p:tav>
                                      </p:tavLst>
                                    </p:anim>
                                    <p:anim calcmode="lin" valueType="num">
                                      <p:cBhvr additive="base">
                                        <p:cTn id="8" dur="500" fill="hold"/>
                                        <p:tgtEl>
                                          <p:spTgt spid="1392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605"/>
                                        </p:tgtEl>
                                        <p:attrNameLst>
                                          <p:attrName>style.visibility</p:attrName>
                                        </p:attrNameLst>
                                      </p:cBhvr>
                                      <p:to>
                                        <p:strVal val="visible"/>
                                      </p:to>
                                    </p:set>
                                    <p:anim calcmode="lin" valueType="num">
                                      <p:cBhvr additive="base">
                                        <p:cTn id="11" dur="500" fill="hold"/>
                                        <p:tgtEl>
                                          <p:spTgt spid="139605"/>
                                        </p:tgtEl>
                                        <p:attrNameLst>
                                          <p:attrName>ppt_x</p:attrName>
                                        </p:attrNameLst>
                                      </p:cBhvr>
                                      <p:tavLst>
                                        <p:tav tm="0">
                                          <p:val>
                                            <p:strVal val="#ppt_x"/>
                                          </p:val>
                                        </p:tav>
                                        <p:tav tm="100000">
                                          <p:val>
                                            <p:strVal val="#ppt_x"/>
                                          </p:val>
                                        </p:tav>
                                      </p:tavLst>
                                    </p:anim>
                                    <p:anim calcmode="lin" valueType="num">
                                      <p:cBhvr additive="base">
                                        <p:cTn id="12" dur="500" fill="hold"/>
                                        <p:tgtEl>
                                          <p:spTgt spid="13960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200"/>
                                  </p:stCondLst>
                                  <p:childTnLst>
                                    <p:set>
                                      <p:cBhvr>
                                        <p:cTn id="15" dur="1" fill="hold">
                                          <p:stCondLst>
                                            <p:cond delay="0"/>
                                          </p:stCondLst>
                                        </p:cTn>
                                        <p:tgtEl>
                                          <p:spTgt spid="139266"/>
                                        </p:tgtEl>
                                        <p:attrNameLst>
                                          <p:attrName>style.visibility</p:attrName>
                                        </p:attrNameLst>
                                      </p:cBhvr>
                                      <p:to>
                                        <p:strVal val="visible"/>
                                      </p:to>
                                    </p:set>
                                    <p:anim calcmode="lin" valueType="num">
                                      <p:cBhvr additive="base">
                                        <p:cTn id="16" dur="500" fill="hold"/>
                                        <p:tgtEl>
                                          <p:spTgt spid="139266"/>
                                        </p:tgtEl>
                                        <p:attrNameLst>
                                          <p:attrName>ppt_x</p:attrName>
                                        </p:attrNameLst>
                                      </p:cBhvr>
                                      <p:tavLst>
                                        <p:tav tm="0">
                                          <p:val>
                                            <p:strVal val="#ppt_x"/>
                                          </p:val>
                                        </p:tav>
                                        <p:tav tm="100000">
                                          <p:val>
                                            <p:strVal val="#ppt_x"/>
                                          </p:val>
                                        </p:tav>
                                      </p:tavLst>
                                    </p:anim>
                                    <p:anim calcmode="lin" valueType="num">
                                      <p:cBhvr additive="base">
                                        <p:cTn id="17" dur="500" fill="hold"/>
                                        <p:tgtEl>
                                          <p:spTgt spid="139266"/>
                                        </p:tgtEl>
                                        <p:attrNameLst>
                                          <p:attrName>ppt_y</p:attrName>
                                        </p:attrNameLst>
                                      </p:cBhvr>
                                      <p:tavLst>
                                        <p:tav tm="0">
                                          <p:val>
                                            <p:strVal val="0-#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39571"/>
                                        </p:tgtEl>
                                        <p:attrNameLst>
                                          <p:attrName>style.visibility</p:attrName>
                                        </p:attrNameLst>
                                      </p:cBhvr>
                                      <p:to>
                                        <p:strVal val="visible"/>
                                      </p:to>
                                    </p:set>
                                    <p:anim calcmode="lin" valueType="num">
                                      <p:cBhvr additive="base">
                                        <p:cTn id="20" dur="500" fill="hold"/>
                                        <p:tgtEl>
                                          <p:spTgt spid="139571"/>
                                        </p:tgtEl>
                                        <p:attrNameLst>
                                          <p:attrName>ppt_x</p:attrName>
                                        </p:attrNameLst>
                                      </p:cBhvr>
                                      <p:tavLst>
                                        <p:tav tm="0">
                                          <p:val>
                                            <p:strVal val="#ppt_x"/>
                                          </p:val>
                                        </p:tav>
                                        <p:tav tm="100000">
                                          <p:val>
                                            <p:strVal val="#ppt_x"/>
                                          </p:val>
                                        </p:tav>
                                      </p:tavLst>
                                    </p:anim>
                                    <p:anim calcmode="lin" valueType="num">
                                      <p:cBhvr additive="base">
                                        <p:cTn id="21" dur="500" fill="hold"/>
                                        <p:tgtEl>
                                          <p:spTgt spid="139571"/>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1200"/>
                            </p:stCondLst>
                            <p:childTnLst>
                              <p:par>
                                <p:cTn id="23" presetID="3" presetClass="entr" presetSubtype="10" fill="hold" grpId="0" nodeType="afterEffect">
                                  <p:stCondLst>
                                    <p:cond delay="200"/>
                                  </p:stCondLst>
                                  <p:childTnLst>
                                    <p:set>
                                      <p:cBhvr>
                                        <p:cTn id="24" dur="1" fill="hold">
                                          <p:stCondLst>
                                            <p:cond delay="0"/>
                                          </p:stCondLst>
                                        </p:cTn>
                                        <p:tgtEl>
                                          <p:spTgt spid="139267"/>
                                        </p:tgtEl>
                                        <p:attrNameLst>
                                          <p:attrName>style.visibility</p:attrName>
                                        </p:attrNameLst>
                                      </p:cBhvr>
                                      <p:to>
                                        <p:strVal val="visible"/>
                                      </p:to>
                                    </p:set>
                                    <p:animEffect transition="in" filter="blinds(horizontal)">
                                      <p:cBhvr>
                                        <p:cTn id="25" dur="500"/>
                                        <p:tgtEl>
                                          <p:spTgt spid="13926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9564"/>
                                        </p:tgtEl>
                                        <p:attrNameLst>
                                          <p:attrName>style.visibility</p:attrName>
                                        </p:attrNameLst>
                                      </p:cBhvr>
                                      <p:to>
                                        <p:strVal val="visible"/>
                                      </p:to>
                                    </p:set>
                                    <p:animEffect transition="in" filter="blinds(horizontal)">
                                      <p:cBhvr>
                                        <p:cTn id="28" dur="500"/>
                                        <p:tgtEl>
                                          <p:spTgt spid="139564"/>
                                        </p:tgtEl>
                                      </p:cBhvr>
                                    </p:animEffect>
                                  </p:childTnLst>
                                </p:cTn>
                              </p:par>
                              <p:par>
                                <p:cTn id="29" presetID="1" presetClass="entr" presetSubtype="0" fill="hold" nodeType="withEffect">
                                  <p:stCondLst>
                                    <p:cond delay="0"/>
                                  </p:stCondLst>
                                  <p:childTnLst>
                                    <p:set>
                                      <p:cBhvr>
                                        <p:cTn id="30" dur="1" fill="hold">
                                          <p:stCondLst>
                                            <p:cond delay="0"/>
                                          </p:stCondLst>
                                        </p:cTn>
                                        <p:tgtEl>
                                          <p:spTgt spid="139604"/>
                                        </p:tgtEl>
                                        <p:attrNameLst>
                                          <p:attrName>style.visibility</p:attrName>
                                        </p:attrNameLst>
                                      </p:cBhvr>
                                      <p:to>
                                        <p:strVal val="visible"/>
                                      </p:to>
                                    </p:set>
                                  </p:childTnLst>
                                </p:cTn>
                              </p:par>
                            </p:childTnLst>
                          </p:cTn>
                        </p:par>
                        <p:par>
                          <p:cTn id="31" fill="hold" nodeType="afterGroup">
                            <p:stCondLst>
                              <p:cond delay="1900"/>
                            </p:stCondLst>
                            <p:childTnLst>
                              <p:par>
                                <p:cTn id="32" presetID="6" presetClass="entr" presetSubtype="16" fill="hold" nodeType="after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circle(in)">
                                      <p:cBhvr>
                                        <p:cTn id="34" dur="500"/>
                                        <p:tgtEl>
                                          <p:spTgt spid="7"/>
                                        </p:tgtEl>
                                      </p:cBhvr>
                                    </p:animEffect>
                                  </p:childTnLst>
                                </p:cTn>
                              </p:par>
                              <p:par>
                                <p:cTn id="35" presetID="1" presetClass="entr" presetSubtype="0" fill="hold" grpId="0" nodeType="withEffect">
                                  <p:stCondLst>
                                    <p:cond delay="200"/>
                                  </p:stCondLst>
                                  <p:childTnLst>
                                    <p:set>
                                      <p:cBhvr>
                                        <p:cTn id="36" dur="1" fill="hold">
                                          <p:stCondLst>
                                            <p:cond delay="0"/>
                                          </p:stCondLst>
                                        </p:cTn>
                                        <p:tgtEl>
                                          <p:spTgt spid="139570"/>
                                        </p:tgtEl>
                                        <p:attrNameLst>
                                          <p:attrName>style.visibility</p:attrName>
                                        </p:attrNameLst>
                                      </p:cBhvr>
                                      <p:to>
                                        <p:strVal val="visible"/>
                                      </p:to>
                                    </p:set>
                                  </p:childTnLst>
                                  <p:subTnLst>
                                    <p:animClr clrSpc="rgb" dir="cw">
                                      <p:cBhvr override="childStyle">
                                        <p:cTn dur="1" fill="hold" display="0" masterRel="nextClick" afterEffect="1"/>
                                        <p:tgtEl>
                                          <p:spTgt spid="139570"/>
                                        </p:tgtEl>
                                        <p:attrNameLst>
                                          <p:attrName>ppt_c</p:attrName>
                                        </p:attrNameLst>
                                      </p:cBhvr>
                                      <p:to>
                                        <a:srgbClr val="FFCC66"/>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9607"/>
                                        </p:tgtEl>
                                        <p:attrNameLst>
                                          <p:attrName>style.visibility</p:attrName>
                                        </p:attrNameLst>
                                      </p:cBhvr>
                                      <p:to>
                                        <p:strVal val="visible"/>
                                      </p:to>
                                    </p:set>
                                    <p:animEffect transition="in" filter="fade">
                                      <p:cBhvr>
                                        <p:cTn id="41" dur="500"/>
                                        <p:tgtEl>
                                          <p:spTgt spid="139607"/>
                                        </p:tgtEl>
                                      </p:cBhvr>
                                    </p:animEffect>
                                  </p:childTnLst>
                                </p:cTn>
                              </p:par>
                            </p:childTnLst>
                          </p:cTn>
                        </p:par>
                        <p:par>
                          <p:cTn id="42" fill="hold" nodeType="afterGroup">
                            <p:stCondLst>
                              <p:cond delay="500"/>
                            </p:stCondLst>
                            <p:childTnLst>
                              <p:par>
                                <p:cTn id="43" presetID="22" presetClass="entr" presetSubtype="1" fill="hold" nodeType="afterEffect">
                                  <p:stCondLst>
                                    <p:cond delay="50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2000"/>
                                        <p:tgtEl>
                                          <p:spTgt spid="4"/>
                                        </p:tgtEl>
                                      </p:cBhvr>
                                    </p:animEffect>
                                  </p:childTnLst>
                                </p:cTn>
                              </p:par>
                            </p:childTnLst>
                          </p:cTn>
                        </p:par>
                        <p:par>
                          <p:cTn id="46" fill="hold" nodeType="afterGroup">
                            <p:stCondLst>
                              <p:cond delay="3000"/>
                            </p:stCondLst>
                            <p:childTnLst>
                              <p:par>
                                <p:cTn id="47" presetID="1" presetClass="entr" presetSubtype="0" fill="hold" nodeType="afterEffect">
                                  <p:stCondLst>
                                    <p:cond delay="500"/>
                                  </p:stCondLst>
                                  <p:childTnLst>
                                    <p:set>
                                      <p:cBhvr>
                                        <p:cTn id="48" dur="1" fill="hold">
                                          <p:stCondLst>
                                            <p:cond delay="0"/>
                                          </p:stCondLst>
                                        </p:cTn>
                                        <p:tgtEl>
                                          <p:spTgt spid="13956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mph" presetSubtype="0" grpId="1" nodeType="clickEffect">
                                  <p:stCondLst>
                                    <p:cond delay="0"/>
                                  </p:stCondLst>
                                  <p:childTnLst>
                                    <p:set>
                                      <p:cBhvr rctx="PPT">
                                        <p:cTn id="52" dur="indefinite"/>
                                        <p:tgtEl>
                                          <p:spTgt spid="139607"/>
                                        </p:tgtEl>
                                        <p:attrNameLst>
                                          <p:attrName>style.opacity</p:attrName>
                                        </p:attrNameLst>
                                      </p:cBhvr>
                                      <p:to>
                                        <p:strVal val="0.5"/>
                                      </p:to>
                                    </p:set>
                                    <p:animEffect filter="image" prLst="opacity: 0.5">
                                      <p:cBhvr rctx="IE">
                                        <p:cTn id="53" dur="indefinite"/>
                                        <p:tgtEl>
                                          <p:spTgt spid="139607"/>
                                        </p:tgtEl>
                                      </p:cBhvr>
                                    </p:animEffect>
                                  </p:childTnLst>
                                </p:cTn>
                              </p:par>
                              <p:par>
                                <p:cTn id="54" presetID="9" presetClass="emph" presetSubtype="0" grpId="0" nodeType="withEffect">
                                  <p:stCondLst>
                                    <p:cond delay="0"/>
                                  </p:stCondLst>
                                  <p:childTnLst>
                                    <p:set>
                                      <p:cBhvr rctx="PPT">
                                        <p:cTn id="55" dur="indefinite"/>
                                        <p:tgtEl>
                                          <p:spTgt spid="139565"/>
                                        </p:tgtEl>
                                        <p:attrNameLst>
                                          <p:attrName>style.opacity</p:attrName>
                                        </p:attrNameLst>
                                      </p:cBhvr>
                                      <p:to>
                                        <p:strVal val="0.5"/>
                                      </p:to>
                                    </p:set>
                                    <p:animEffect filter="image" prLst="opacity: 0.5">
                                      <p:cBhvr rctx="IE">
                                        <p:cTn id="56" dur="indefinite"/>
                                        <p:tgtEl>
                                          <p:spTgt spid="139565"/>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39563"/>
                                        </p:tgtEl>
                                        <p:attrNameLst>
                                          <p:attrName>style.visibility</p:attrName>
                                        </p:attrNameLst>
                                      </p:cBhvr>
                                      <p:to>
                                        <p:strVal val="visible"/>
                                      </p:to>
                                    </p:set>
                                  </p:childTnLst>
                                </p:cTn>
                              </p:par>
                            </p:childTnLst>
                          </p:cTn>
                        </p:par>
                        <p:par>
                          <p:cTn id="59" fill="hold" nodeType="afterGroup">
                            <p:stCondLst>
                              <p:cond delay="0"/>
                            </p:stCondLst>
                            <p:childTnLst>
                              <p:par>
                                <p:cTn id="60" presetID="22" presetClass="entr" presetSubtype="1" fill="hold" nodeType="afterEffect">
                                  <p:stCondLst>
                                    <p:cond delay="300"/>
                                  </p:stCondLst>
                                  <p:childTnLst>
                                    <p:set>
                                      <p:cBhvr>
                                        <p:cTn id="61" dur="1" fill="hold">
                                          <p:stCondLst>
                                            <p:cond delay="0"/>
                                          </p:stCondLst>
                                        </p:cTn>
                                        <p:tgtEl>
                                          <p:spTgt spid="3"/>
                                        </p:tgtEl>
                                        <p:attrNameLst>
                                          <p:attrName>style.visibility</p:attrName>
                                        </p:attrNameLst>
                                      </p:cBhvr>
                                      <p:to>
                                        <p:strVal val="visible"/>
                                      </p:to>
                                    </p:set>
                                    <p:animEffect transition="in" filter="wipe(up)">
                                      <p:cBhvr>
                                        <p:cTn id="62" dur="2000"/>
                                        <p:tgtEl>
                                          <p:spTgt spid="3"/>
                                        </p:tgtEl>
                                      </p:cBhvr>
                                    </p:animEffect>
                                  </p:childTnLst>
                                </p:cTn>
                              </p:par>
                              <p:par>
                                <p:cTn id="63" presetID="22" presetClass="entr" presetSubtype="4"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2000"/>
                                        <p:tgtEl>
                                          <p:spTgt spid="2"/>
                                        </p:tgtEl>
                                      </p:cBhvr>
                                    </p:animEffect>
                                  </p:childTnLst>
                                </p:cTn>
                              </p:par>
                              <p:par>
                                <p:cTn id="66" presetID="1" presetClass="entr" presetSubtype="0" fill="hold" nodeType="withEffect">
                                  <p:stCondLst>
                                    <p:cond delay="0"/>
                                  </p:stCondLst>
                                  <p:childTnLst>
                                    <p:set>
                                      <p:cBhvr>
                                        <p:cTn id="67" dur="1" fill="hold">
                                          <p:stCondLst>
                                            <p:cond delay="0"/>
                                          </p:stCondLst>
                                        </p:cTn>
                                        <p:tgtEl>
                                          <p:spTgt spid="139571"/>
                                        </p:tgtEl>
                                        <p:attrNameLst>
                                          <p:attrName>style.visibility</p:attrName>
                                        </p:attrNameLst>
                                      </p:cBhvr>
                                      <p:to>
                                        <p:strVal val="visible"/>
                                      </p:to>
                                    </p:set>
                                  </p:childTnLst>
                                </p:cTn>
                              </p:par>
                            </p:childTnLst>
                          </p:cTn>
                        </p:par>
                        <p:par>
                          <p:cTn id="68" fill="hold" nodeType="afterGroup">
                            <p:stCondLst>
                              <p:cond delay="2300"/>
                            </p:stCondLst>
                            <p:childTnLst>
                              <p:par>
                                <p:cTn id="69" presetID="22" presetClass="entr" presetSubtype="8" fill="hold" nodeType="afterEffect">
                                  <p:stCondLst>
                                    <p:cond delay="30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20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39602"/>
                                        </p:tgtEl>
                                        <p:attrNameLst>
                                          <p:attrName>style.visibility</p:attrName>
                                        </p:attrNameLst>
                                      </p:cBhvr>
                                      <p:to>
                                        <p:strVal val="visible"/>
                                      </p:to>
                                    </p:set>
                                  </p:childTnLst>
                                </p:cTn>
                              </p:par>
                              <p:par>
                                <p:cTn id="76" presetID="9" presetClass="emph" presetSubtype="0" grpId="1" nodeType="withEffect">
                                  <p:stCondLst>
                                    <p:cond delay="0"/>
                                  </p:stCondLst>
                                  <p:childTnLst>
                                    <p:set>
                                      <p:cBhvr rctx="PPT">
                                        <p:cTn id="77" dur="indefinite"/>
                                        <p:tgtEl>
                                          <p:spTgt spid="139563"/>
                                        </p:tgtEl>
                                        <p:attrNameLst>
                                          <p:attrName>style.opacity</p:attrName>
                                        </p:attrNameLst>
                                      </p:cBhvr>
                                      <p:to>
                                        <p:strVal val="0.5"/>
                                      </p:to>
                                    </p:set>
                                    <p:animEffect filter="image" prLst="opacity: 0.5">
                                      <p:cBhvr rctx="IE">
                                        <p:cTn id="78" dur="indefinite"/>
                                        <p:tgtEl>
                                          <p:spTgt spid="139563"/>
                                        </p:tgtEl>
                                      </p:cBhvr>
                                    </p:animEffect>
                                  </p:childTnLst>
                                </p:cTn>
                              </p:par>
                            </p:childTnLst>
                          </p:cTn>
                        </p:par>
                        <p:par>
                          <p:cTn id="79" fill="hold" nodeType="afterGroup">
                            <p:stCondLst>
                              <p:cond delay="0"/>
                            </p:stCondLst>
                            <p:childTnLst>
                              <p:par>
                                <p:cTn id="80" presetID="22" presetClass="entr" presetSubtype="1" fill="hold" nodeType="afterEffect">
                                  <p:stCondLst>
                                    <p:cond delay="20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mph" presetSubtype="0" grpId="1" nodeType="clickEffect">
                                  <p:stCondLst>
                                    <p:cond delay="0"/>
                                  </p:stCondLst>
                                  <p:childTnLst>
                                    <p:set>
                                      <p:cBhvr rctx="PPT">
                                        <p:cTn id="86" dur="indefinite"/>
                                        <p:tgtEl>
                                          <p:spTgt spid="139602"/>
                                        </p:tgtEl>
                                        <p:attrNameLst>
                                          <p:attrName>style.opacity</p:attrName>
                                        </p:attrNameLst>
                                      </p:cBhvr>
                                      <p:to>
                                        <p:strVal val="0.5"/>
                                      </p:to>
                                    </p:set>
                                    <p:animEffect filter="image" prLst="opacity: 0.5">
                                      <p:cBhvr rctx="IE">
                                        <p:cTn id="87" dur="indefinite"/>
                                        <p:tgtEl>
                                          <p:spTgt spid="139602"/>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139567"/>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139566"/>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39603"/>
                                        </p:tgtEl>
                                        <p:attrNameLst>
                                          <p:attrName>style.visibility</p:attrName>
                                        </p:attrNameLst>
                                      </p:cBhvr>
                                      <p:to>
                                        <p:strVal val="visible"/>
                                      </p:to>
                                    </p:set>
                                  </p:childTnLst>
                                </p:cTn>
                              </p:par>
                            </p:childTnLst>
                          </p:cTn>
                        </p:par>
                        <p:par>
                          <p:cTn id="100" fill="hold" nodeType="afterGroup">
                            <p:stCondLst>
                              <p:cond delay="0"/>
                            </p:stCondLst>
                            <p:childTnLst>
                              <p:par>
                                <p:cTn id="101" presetID="10" presetClass="exit" presetSubtype="0" fill="hold" grpId="1" nodeType="afterEffect">
                                  <p:stCondLst>
                                    <p:cond delay="0"/>
                                  </p:stCondLst>
                                  <p:childTnLst>
                                    <p:animEffect transition="out" filter="fade">
                                      <p:cBhvr>
                                        <p:cTn id="102" dur="2000"/>
                                        <p:tgtEl>
                                          <p:spTgt spid="139267"/>
                                        </p:tgtEl>
                                      </p:cBhvr>
                                    </p:animEffect>
                                    <p:set>
                                      <p:cBhvr>
                                        <p:cTn id="103" dur="1" fill="hold">
                                          <p:stCondLst>
                                            <p:cond delay="1999"/>
                                          </p:stCondLst>
                                        </p:cTn>
                                        <p:tgtEl>
                                          <p:spTgt spid="139267"/>
                                        </p:tgtEl>
                                        <p:attrNameLst>
                                          <p:attrName>style.visibility</p:attrName>
                                        </p:attrNameLst>
                                      </p:cBhvr>
                                      <p:to>
                                        <p:strVal val="hidden"/>
                                      </p:to>
                                    </p:set>
                                  </p:childTnLst>
                                </p:cTn>
                              </p:par>
                            </p:childTnLst>
                          </p:cTn>
                        </p:par>
                        <p:par>
                          <p:cTn id="104" fill="hold" nodeType="afterGroup">
                            <p:stCondLst>
                              <p:cond delay="2000"/>
                            </p:stCondLst>
                            <p:childTnLst>
                              <p:par>
                                <p:cTn id="105" presetID="10" presetClass="entr" presetSubtype="0" fill="hold" nodeType="afterEffect">
                                  <p:stCondLst>
                                    <p:cond delay="0"/>
                                  </p:stCondLst>
                                  <p:childTnLst>
                                    <p:set>
                                      <p:cBhvr>
                                        <p:cTn id="106" dur="1" fill="hold">
                                          <p:stCondLst>
                                            <p:cond delay="0"/>
                                          </p:stCondLst>
                                        </p:cTn>
                                        <p:tgtEl>
                                          <p:spTgt spid="139269"/>
                                        </p:tgtEl>
                                        <p:attrNameLst>
                                          <p:attrName>style.visibility</p:attrName>
                                        </p:attrNameLst>
                                      </p:cBhvr>
                                      <p:to>
                                        <p:strVal val="visible"/>
                                      </p:to>
                                    </p:set>
                                    <p:animEffect transition="in" filter="fade">
                                      <p:cBhvr>
                                        <p:cTn id="107" dur="20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nimBg="1"/>
      <p:bldP spid="139267" grpId="0" animBg="1"/>
      <p:bldP spid="139267" grpId="1" animBg="1"/>
      <p:bldP spid="139563" grpId="0"/>
      <p:bldP spid="139563" grpId="1"/>
      <p:bldP spid="139564" grpId="0"/>
      <p:bldP spid="139565" grpId="0"/>
      <p:bldP spid="139566" grpId="0"/>
      <p:bldP spid="139567" grpId="0"/>
      <p:bldP spid="139570" grpId="0"/>
      <p:bldP spid="139571" grpId="0"/>
      <p:bldP spid="139602" grpId="0"/>
      <p:bldP spid="139602" grpId="1"/>
      <p:bldP spid="139603" grpId="0"/>
      <p:bldP spid="139605" grpId="0"/>
      <p:bldP spid="139607" grpId="0"/>
      <p:bldP spid="13960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3AEC7D9-BBE8-8835-EFAC-B70899BFD82E}"/>
              </a:ext>
            </a:extLst>
          </p:cNvPr>
          <p:cNvSpPr>
            <a:spLocks noGrp="1"/>
          </p:cNvSpPr>
          <p:nvPr>
            <p:ph idx="1"/>
          </p:nvPr>
        </p:nvSpPr>
        <p:spPr>
          <a:xfrm>
            <a:off x="293870" y="3800988"/>
            <a:ext cx="10528323" cy="3220032"/>
          </a:xfrm>
        </p:spPr>
        <p:txBody>
          <a:bodyPr rtlCol="0">
            <a:normAutofit/>
          </a:bodyPr>
          <a:lstStyle/>
          <a:p>
            <a:pPr marL="0" indent="0">
              <a:buNone/>
            </a:pPr>
            <a:r>
              <a:rPr lang="en-GB" sz="1800" dirty="0">
                <a:latin typeface="Calibri" panose="020F0502020204030204" pitchFamily="34" charset="0"/>
                <a:cs typeface="Calibri" panose="020F0502020204030204" pitchFamily="34" charset="0"/>
              </a:rPr>
              <a:t>By the end of this lecture, you will be able to:</a:t>
            </a:r>
          </a:p>
          <a:p>
            <a:r>
              <a:rPr lang="en-GB" sz="1800" dirty="0">
                <a:latin typeface="Calibri" panose="020F0502020204030204" pitchFamily="34" charset="0"/>
                <a:cs typeface="Calibri" panose="020F0502020204030204" pitchFamily="34" charset="0"/>
              </a:rPr>
              <a:t>Describe the main components of the Earth’s energy budget and assess how internal and external forcings can influence them, including the timescales associated with these changes.</a:t>
            </a:r>
          </a:p>
          <a:p>
            <a:r>
              <a:rPr lang="en-GB" sz="1800" dirty="0">
                <a:latin typeface="Calibri" panose="020F0502020204030204" pitchFamily="34" charset="0"/>
                <a:cs typeface="Calibri" panose="020F0502020204030204" pitchFamily="34" charset="0"/>
              </a:rPr>
              <a:t>List anthropogenic impacts on climate beside carbon dioxide and methane</a:t>
            </a:r>
          </a:p>
          <a:p>
            <a:r>
              <a:rPr lang="en-GB" sz="1800" dirty="0">
                <a:latin typeface="Calibri" panose="020F0502020204030204" pitchFamily="34" charset="0"/>
                <a:cs typeface="Calibri" panose="020F0502020204030204" pitchFamily="34" charset="0"/>
              </a:rPr>
              <a:t>Describe the relative impact of anthropogenic changes on climate </a:t>
            </a:r>
          </a:p>
          <a:p>
            <a:r>
              <a:rPr lang="en-GB" sz="1800" dirty="0">
                <a:latin typeface="Calibri" panose="020F0502020204030204" pitchFamily="34" charset="0"/>
                <a:cs typeface="Calibri" panose="020F0502020204030204" pitchFamily="34" charset="0"/>
              </a:rPr>
              <a:t>Describe the mechanisms by which “other” (beside carbon dioxide and methane) anthropogenic changes affect Earth’s energy budget</a:t>
            </a:r>
          </a:p>
          <a:p>
            <a:pPr marL="0" indent="0">
              <a:buNone/>
            </a:pPr>
            <a:endParaRPr lang="en-GB" sz="1800" dirty="0"/>
          </a:p>
          <a:p>
            <a:pPr marL="0" indent="0">
              <a:buNone/>
            </a:pPr>
            <a:endParaRPr lang="en-GB" sz="1800" dirty="0">
              <a:latin typeface="Calibri" panose="020F0502020204030204" pitchFamily="34" charset="0"/>
              <a:cs typeface="Calibri" panose="020F0502020204030204" pitchFamily="34" charset="0"/>
            </a:endParaRPr>
          </a:p>
        </p:txBody>
      </p:sp>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293870" y="2682459"/>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chemeClr val="bg1"/>
                </a:solidFill>
                <a:latin typeface="DM Sans Bold"/>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51FE2-9108-9B8D-E28B-5707AFE78C57}"/>
            </a:ext>
          </a:extLst>
        </p:cNvPr>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2ECA590D-5D7F-9E94-2D67-153C009E08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FFC61966-15DD-C299-DA71-2EF6EDDD1A2E}"/>
              </a:ext>
            </a:extLst>
          </p:cNvPr>
          <p:cNvSpPr txBox="1"/>
          <p:nvPr/>
        </p:nvSpPr>
        <p:spPr>
          <a:xfrm>
            <a:off x="293870" y="2682459"/>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chemeClr val="bg1"/>
                </a:solidFill>
                <a:latin typeface="DM Sans Bold"/>
              </a:rPr>
              <a:t>Intended Learning Outcomes</a:t>
            </a:r>
          </a:p>
        </p:txBody>
      </p:sp>
      <p:sp>
        <p:nvSpPr>
          <p:cNvPr id="8" name="Freeform 13">
            <a:extLst>
              <a:ext uri="{FF2B5EF4-FFF2-40B4-BE49-F238E27FC236}">
                <a16:creationId xmlns:a16="http://schemas.microsoft.com/office/drawing/2014/main" id="{E4991F4B-7300-AED6-C662-2E9C336E232B}"/>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graphicFrame>
        <p:nvGraphicFramePr>
          <p:cNvPr id="7" name="Table 6">
            <a:extLst>
              <a:ext uri="{FF2B5EF4-FFF2-40B4-BE49-F238E27FC236}">
                <a16:creationId xmlns:a16="http://schemas.microsoft.com/office/drawing/2014/main" id="{C11CDACF-D713-AF70-E3B8-C43B98350726}"/>
              </a:ext>
            </a:extLst>
          </p:cNvPr>
          <p:cNvGraphicFramePr>
            <a:graphicFrameLocks noGrp="1"/>
          </p:cNvGraphicFramePr>
          <p:nvPr>
            <p:extLst>
              <p:ext uri="{D42A27DB-BD31-4B8C-83A1-F6EECF244321}">
                <p14:modId xmlns:p14="http://schemas.microsoft.com/office/powerpoint/2010/main" val="3429340215"/>
              </p:ext>
            </p:extLst>
          </p:nvPr>
        </p:nvGraphicFramePr>
        <p:xfrm>
          <a:off x="229936" y="3643423"/>
          <a:ext cx="11732127" cy="2692498"/>
        </p:xfrm>
        <a:graphic>
          <a:graphicData uri="http://schemas.openxmlformats.org/drawingml/2006/table">
            <a:tbl>
              <a:tblPr firstRow="1" bandRow="1">
                <a:tableStyleId>{5C22544A-7EE6-4342-B048-85BDC9FD1C3A}</a:tableStyleId>
              </a:tblPr>
              <a:tblGrid>
                <a:gridCol w="3910709">
                  <a:extLst>
                    <a:ext uri="{9D8B030D-6E8A-4147-A177-3AD203B41FA5}">
                      <a16:colId xmlns:a16="http://schemas.microsoft.com/office/drawing/2014/main" val="1709422570"/>
                    </a:ext>
                  </a:extLst>
                </a:gridCol>
                <a:gridCol w="3263274">
                  <a:extLst>
                    <a:ext uri="{9D8B030D-6E8A-4147-A177-3AD203B41FA5}">
                      <a16:colId xmlns:a16="http://schemas.microsoft.com/office/drawing/2014/main" val="1402844970"/>
                    </a:ext>
                  </a:extLst>
                </a:gridCol>
                <a:gridCol w="4558144">
                  <a:extLst>
                    <a:ext uri="{9D8B030D-6E8A-4147-A177-3AD203B41FA5}">
                      <a16:colId xmlns:a16="http://schemas.microsoft.com/office/drawing/2014/main" val="374782341"/>
                    </a:ext>
                  </a:extLst>
                </a:gridCol>
              </a:tblGrid>
              <a:tr h="474358">
                <a:tc>
                  <a:txBody>
                    <a:bodyPr/>
                    <a:lstStyle/>
                    <a:p>
                      <a:r>
                        <a:rPr lang="en-GB" sz="2000" dirty="0">
                          <a:latin typeface="Calibri" panose="020F0502020204030204" pitchFamily="34" charset="0"/>
                          <a:cs typeface="Calibri" panose="020F0502020204030204" pitchFamily="34" charset="0"/>
                        </a:rPr>
                        <a:t>Anthropogenic impact on climate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When Covered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Additional Reading (Canvas Linked)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7893507"/>
                  </a:ext>
                </a:extLst>
              </a:tr>
              <a:tr h="509637">
                <a:tc>
                  <a:txBody>
                    <a:bodyPr/>
                    <a:lstStyle/>
                    <a:p>
                      <a:r>
                        <a:rPr lang="en-GB" sz="2000" dirty="0">
                          <a:latin typeface="Calibri" panose="020F0502020204030204" pitchFamily="34" charset="0"/>
                          <a:cs typeface="Calibri" panose="020F0502020204030204" pitchFamily="34" charset="0"/>
                        </a:rPr>
                        <a:t>Carbon dioxide and methane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Previous lecture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20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1491757"/>
                  </a:ext>
                </a:extLst>
              </a:tr>
              <a:tr h="531449">
                <a:tc>
                  <a:txBody>
                    <a:bodyPr/>
                    <a:lstStyle/>
                    <a:p>
                      <a:r>
                        <a:rPr lang="en-GB" sz="2000" dirty="0">
                          <a:latin typeface="Calibri" panose="020F0502020204030204" pitchFamily="34" charset="0"/>
                          <a:cs typeface="Calibri" panose="020F0502020204030204" pitchFamily="34" charset="0"/>
                        </a:rPr>
                        <a:t>Aerosols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This lecture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lang="en-GB" sz="2000" dirty="0">
                          <a:latin typeface="Calibri" panose="020F0502020204030204" pitchFamily="34" charset="0"/>
                          <a:cs typeface="Calibri" panose="020F0502020204030204" pitchFamily="34" charset="0"/>
                          <a:hlinkClick r:id="rId5"/>
                        </a:rPr>
                        <a:t>Ramanathan et al. (2001)</a:t>
                      </a:r>
                      <a:endParaRPr lang="en-GB" sz="20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53725"/>
                  </a:ext>
                </a:extLst>
              </a:tr>
              <a:tr h="567115">
                <a:tc>
                  <a:txBody>
                    <a:bodyPr/>
                    <a:lstStyle/>
                    <a:p>
                      <a:r>
                        <a:rPr lang="en-GB" sz="2000" dirty="0">
                          <a:latin typeface="Calibri" panose="020F0502020204030204" pitchFamily="34" charset="0"/>
                          <a:cs typeface="Calibri" panose="020F0502020204030204" pitchFamily="34" charset="0"/>
                        </a:rPr>
                        <a:t>Ozone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This lecture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lang="en-GB" sz="2000" dirty="0">
                          <a:latin typeface="Calibri" panose="020F0502020204030204" pitchFamily="34" charset="0"/>
                          <a:cs typeface="Calibri" panose="020F0502020204030204" pitchFamily="34" charset="0"/>
                        </a:rPr>
                        <a:t>Introduction of </a:t>
                      </a:r>
                      <a:r>
                        <a:rPr lang="en-GB" sz="2000" dirty="0">
                          <a:latin typeface="Calibri" panose="020F0502020204030204" pitchFamily="34" charset="0"/>
                          <a:cs typeface="Calibri" panose="020F0502020204030204" pitchFamily="34" charset="0"/>
                          <a:hlinkClick r:id="rId6"/>
                        </a:rPr>
                        <a:t>Skeie et al. (2020)</a:t>
                      </a:r>
                      <a:endParaRPr lang="en-GB" sz="20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377232"/>
                  </a:ext>
                </a:extLst>
              </a:tr>
              <a:tr h="609939">
                <a:tc>
                  <a:txBody>
                    <a:bodyPr/>
                    <a:lstStyle/>
                    <a:p>
                      <a:r>
                        <a:rPr lang="en-GB" sz="2000" dirty="0">
                          <a:latin typeface="Calibri" panose="020F0502020204030204" pitchFamily="34" charset="0"/>
                          <a:cs typeface="Calibri" panose="020F0502020204030204" pitchFamily="34" charset="0"/>
                        </a:rPr>
                        <a:t>Land-Use 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latin typeface="Calibri" panose="020F0502020204030204" pitchFamily="34" charset="0"/>
                          <a:cs typeface="Calibri" panose="020F0502020204030204" pitchFamily="34" charset="0"/>
                        </a:rPr>
                        <a:t>This lecture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lang="en-GB" sz="2000" dirty="0">
                          <a:latin typeface="Calibri" panose="020F0502020204030204" pitchFamily="34" charset="0"/>
                          <a:cs typeface="Calibri" panose="020F0502020204030204" pitchFamily="34" charset="0"/>
                        </a:rPr>
                        <a:t>Introduction of </a:t>
                      </a:r>
                      <a:r>
                        <a:rPr lang="en-GB" sz="2000" dirty="0">
                          <a:latin typeface="Calibri" panose="020F0502020204030204" pitchFamily="34" charset="0"/>
                          <a:cs typeface="Calibri" panose="020F0502020204030204" pitchFamily="34" charset="0"/>
                          <a:hlinkClick r:id="rId7"/>
                        </a:rPr>
                        <a:t>Ghimire et al. (2014)</a:t>
                      </a:r>
                      <a:endParaRPr lang="en-GB" sz="20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5770798"/>
                  </a:ext>
                </a:extLst>
              </a:tr>
            </a:tbl>
          </a:graphicData>
        </a:graphic>
      </p:graphicFrame>
    </p:spTree>
    <p:extLst>
      <p:ext uri="{BB962C8B-B14F-4D97-AF65-F5344CB8AC3E}">
        <p14:creationId xmlns:p14="http://schemas.microsoft.com/office/powerpoint/2010/main" val="39616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65E9DD-DD00-F976-E177-3DC97499F2E6}"/>
              </a:ext>
            </a:extLst>
          </p:cNvPr>
          <p:cNvSpPr txBox="1"/>
          <p:nvPr/>
        </p:nvSpPr>
        <p:spPr>
          <a:xfrm>
            <a:off x="72736" y="3013501"/>
            <a:ext cx="5655973" cy="830997"/>
          </a:xfrm>
          <a:prstGeom prst="rect">
            <a:avLst/>
          </a:prstGeom>
          <a:noFill/>
        </p:spPr>
        <p:txBody>
          <a:bodyPr wrap="square" rtlCol="0">
            <a:spAutoFit/>
          </a:bodyPr>
          <a:lstStyle/>
          <a:p>
            <a:r>
              <a:rPr lang="en-GB" sz="2400" dirty="0"/>
              <a:t>Need to know:</a:t>
            </a:r>
          </a:p>
          <a:p>
            <a:r>
              <a:rPr lang="en-GB" sz="2400" dirty="0"/>
              <a:t>Aerosol is suspended particles in gas</a:t>
            </a:r>
          </a:p>
        </p:txBody>
      </p:sp>
      <p:pic>
        <p:nvPicPr>
          <p:cNvPr id="5" name="Picture 4" descr="Buy LED 7-Color CO2 Fog Machine Confetti Cannon Machine Handheld LED CO2  Jet Machine LED RGB CO2 Gun DJ Effects Fogger Smoke Gun for Nightclub DJ  Club Live Party Online at Lowest">
            <a:extLst>
              <a:ext uri="{FF2B5EF4-FFF2-40B4-BE49-F238E27FC236}">
                <a16:creationId xmlns:a16="http://schemas.microsoft.com/office/drawing/2014/main" id="{5BEE36FE-E7EF-CE9E-DE90-B3BB630D47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258"/>
          <a:stretch/>
        </p:blipFill>
        <p:spPr bwMode="auto">
          <a:xfrm>
            <a:off x="5655973" y="2286200"/>
            <a:ext cx="6142704" cy="29326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27B5797-517B-2091-4031-BF084A6EAFE4}"/>
              </a:ext>
            </a:extLst>
          </p:cNvPr>
          <p:cNvSpPr txBox="1"/>
          <p:nvPr/>
        </p:nvSpPr>
        <p:spPr>
          <a:xfrm>
            <a:off x="0" y="6119336"/>
            <a:ext cx="6899564" cy="738664"/>
          </a:xfrm>
          <a:prstGeom prst="rect">
            <a:avLst/>
          </a:prstGeom>
          <a:noFill/>
        </p:spPr>
        <p:txBody>
          <a:bodyPr wrap="square" rtlCol="0">
            <a:spAutoFit/>
          </a:bodyPr>
          <a:lstStyle/>
          <a:p>
            <a:pPr algn="l"/>
            <a:r>
              <a:rPr lang="en-GB" sz="1200" dirty="0">
                <a:latin typeface="Calibri" panose="020F0502020204030204" pitchFamily="34" charset="0"/>
                <a:cs typeface="Calibri" panose="020F0502020204030204" pitchFamily="34" charset="0"/>
              </a:rPr>
              <a:t>Definition from page 47 </a:t>
            </a:r>
            <a:r>
              <a:rPr lang="en-GB" sz="1200" i="0" strike="noStrike" dirty="0">
                <a:effectLst/>
                <a:latin typeface="Calibri" panose="020F0502020204030204" pitchFamily="34" charset="0"/>
                <a:cs typeface="Calibri" panose="020F0502020204030204" pitchFamily="34" charset="0"/>
              </a:rPr>
              <a:t>Atmospheric chemistry and physics: from air pollution to climate change</a:t>
            </a:r>
          </a:p>
          <a:p>
            <a:pPr algn="l"/>
            <a:r>
              <a:rPr lang="en-GB" sz="1200" i="0" strike="noStrike" dirty="0">
                <a:effectLst/>
                <a:latin typeface="Calibri" panose="020F0502020204030204" pitchFamily="34" charset="0"/>
                <a:cs typeface="Calibri" panose="020F0502020204030204" pitchFamily="34" charset="0"/>
              </a:rPr>
              <a:t>Seinfeld, John H.; </a:t>
            </a:r>
            <a:r>
              <a:rPr lang="en-GB" sz="1200" i="0" strike="noStrike" dirty="0" err="1">
                <a:effectLst/>
                <a:latin typeface="Calibri" panose="020F0502020204030204" pitchFamily="34" charset="0"/>
                <a:cs typeface="Calibri" panose="020F0502020204030204" pitchFamily="34" charset="0"/>
              </a:rPr>
              <a:t>Pandis</a:t>
            </a:r>
            <a:r>
              <a:rPr lang="en-GB" sz="1200" i="0" strike="noStrike" dirty="0">
                <a:effectLst/>
                <a:latin typeface="Calibri" panose="020F0502020204030204" pitchFamily="34" charset="0"/>
                <a:cs typeface="Calibri" panose="020F0502020204030204" pitchFamily="34" charset="0"/>
              </a:rPr>
              <a:t>, Spyros N., 1963-2016]; Third edition.</a:t>
            </a:r>
          </a:p>
          <a:p>
            <a:endParaRPr lang="en-GB" dirty="0"/>
          </a:p>
        </p:txBody>
      </p:sp>
      <p:sp>
        <p:nvSpPr>
          <p:cNvPr id="3" name="Freeform 13">
            <a:extLst>
              <a:ext uri="{FF2B5EF4-FFF2-40B4-BE49-F238E27FC236}">
                <a16:creationId xmlns:a16="http://schemas.microsoft.com/office/drawing/2014/main" id="{82FE08BE-030A-3FEB-3460-22E4278BBC8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extLst>
      <p:ext uri="{BB962C8B-B14F-4D97-AF65-F5344CB8AC3E}">
        <p14:creationId xmlns:p14="http://schemas.microsoft.com/office/powerpoint/2010/main" val="160864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B8FEA4-BE1A-6563-66C6-D2462F7C213E}"/>
              </a:ext>
            </a:extLst>
          </p:cNvPr>
          <p:cNvSpPr txBox="1"/>
          <p:nvPr/>
        </p:nvSpPr>
        <p:spPr>
          <a:xfrm>
            <a:off x="302398" y="1391118"/>
            <a:ext cx="6152918" cy="2585323"/>
          </a:xfrm>
          <a:prstGeom prst="rect">
            <a:avLst/>
          </a:prstGeom>
          <a:noFill/>
        </p:spPr>
        <p:txBody>
          <a:bodyPr wrap="square" rtlCol="0">
            <a:spAutoFit/>
          </a:bodyPr>
          <a:lstStyle/>
          <a:p>
            <a:pPr marL="285750" indent="-285750">
              <a:buFont typeface="Arial" panose="020B0604020202020204" pitchFamily="34" charset="0"/>
              <a:buChar char="•"/>
            </a:pPr>
            <a:r>
              <a:rPr lang="en-GB" dirty="0"/>
              <a:t>Aerosol is a mixture of gas and suspended particles</a:t>
            </a:r>
          </a:p>
          <a:p>
            <a:endParaRPr lang="en-GB" dirty="0"/>
          </a:p>
          <a:p>
            <a:pPr marL="285750" indent="-285750">
              <a:buFont typeface="Arial" panose="020B0604020202020204" pitchFamily="34" charset="0"/>
              <a:buChar char="•"/>
            </a:pPr>
            <a:r>
              <a:rPr lang="en-GB" dirty="0"/>
              <a:t>An airborne chemical will partition between the gas- and particle-phase</a:t>
            </a:r>
          </a:p>
          <a:p>
            <a:endParaRPr lang="en-GB" dirty="0"/>
          </a:p>
          <a:p>
            <a:pPr marL="285750" indent="-285750">
              <a:buFont typeface="Arial" panose="020B0604020202020204" pitchFamily="34" charset="0"/>
              <a:buChar char="•"/>
            </a:pPr>
            <a:r>
              <a:rPr lang="en-GB" dirty="0"/>
              <a:t>For example, black carbon has a very low volatility so is always in the particle-phase, whereas water is more volatile so is always present in the gas-phase, and often also in the particle-phase</a:t>
            </a:r>
          </a:p>
        </p:txBody>
      </p:sp>
      <p:pic>
        <p:nvPicPr>
          <p:cNvPr id="5" name="Picture 4" descr="Buy LED 7-Color CO2 Fog Machine Confetti Cannon Machine Handheld LED CO2  Jet Machine LED RGB CO2 Gun DJ Effects Fogger Smoke Gun for Nightclub DJ  Club Live Party Online at Lowest">
            <a:extLst>
              <a:ext uri="{FF2B5EF4-FFF2-40B4-BE49-F238E27FC236}">
                <a16:creationId xmlns:a16="http://schemas.microsoft.com/office/drawing/2014/main" id="{DBA07FEC-D47C-5861-A6E1-9CC63F794B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258"/>
          <a:stretch/>
        </p:blipFill>
        <p:spPr bwMode="auto">
          <a:xfrm>
            <a:off x="871029" y="4247183"/>
            <a:ext cx="4485832" cy="214162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AFCFE6CB-B95D-C7F9-9D03-3FB66D367A25}"/>
              </a:ext>
            </a:extLst>
          </p:cNvPr>
          <p:cNvCxnSpPr>
            <a:cxnSpLocks/>
          </p:cNvCxnSpPr>
          <p:nvPr/>
        </p:nvCxnSpPr>
        <p:spPr>
          <a:xfrm flipV="1">
            <a:off x="5035462" y="2460860"/>
            <a:ext cx="3734161" cy="19984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8771557-DB09-B9F0-2126-55F8627A667E}"/>
              </a:ext>
            </a:extLst>
          </p:cNvPr>
          <p:cNvCxnSpPr>
            <a:cxnSpLocks/>
          </p:cNvCxnSpPr>
          <p:nvPr/>
        </p:nvCxnSpPr>
        <p:spPr>
          <a:xfrm>
            <a:off x="5035462" y="4459264"/>
            <a:ext cx="3877163" cy="15974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96A6925-CB1F-3C85-6237-F2CC059F91AF}"/>
              </a:ext>
            </a:extLst>
          </p:cNvPr>
          <p:cNvSpPr/>
          <p:nvPr/>
        </p:nvSpPr>
        <p:spPr>
          <a:xfrm>
            <a:off x="8010393" y="2733290"/>
            <a:ext cx="1716066" cy="15098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Ball-and-stick model of glycerol">
            <a:extLst>
              <a:ext uri="{FF2B5EF4-FFF2-40B4-BE49-F238E27FC236}">
                <a16:creationId xmlns:a16="http://schemas.microsoft.com/office/drawing/2014/main" id="{6DCC6687-5315-9191-BA09-402D1AFE1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5581" y="2780459"/>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Ball-and-stick model of glycerol">
            <a:extLst>
              <a:ext uri="{FF2B5EF4-FFF2-40B4-BE49-F238E27FC236}">
                <a16:creationId xmlns:a16="http://schemas.microsoft.com/office/drawing/2014/main" id="{C27BDFEC-2455-06F0-27E7-4250DDC31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7720" y="3467596"/>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Ball-and-stick model of glycerol">
            <a:extLst>
              <a:ext uri="{FF2B5EF4-FFF2-40B4-BE49-F238E27FC236}">
                <a16:creationId xmlns:a16="http://schemas.microsoft.com/office/drawing/2014/main" id="{248BC64C-E5C7-CABE-2A61-AB16CC43A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6960" y="3164879"/>
            <a:ext cx="1047750" cy="581025"/>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a:extLst>
              <a:ext uri="{FF2B5EF4-FFF2-40B4-BE49-F238E27FC236}">
                <a16:creationId xmlns:a16="http://schemas.microsoft.com/office/drawing/2014/main" id="{541853D6-9891-2E80-228D-1CC4D7C8FD61}"/>
              </a:ext>
            </a:extLst>
          </p:cNvPr>
          <p:cNvSpPr/>
          <p:nvPr/>
        </p:nvSpPr>
        <p:spPr>
          <a:xfrm>
            <a:off x="6499515" y="3535408"/>
            <a:ext cx="1716066" cy="15098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2" descr="Ball-and-stick model of glycerol">
            <a:extLst>
              <a:ext uri="{FF2B5EF4-FFF2-40B4-BE49-F238E27FC236}">
                <a16:creationId xmlns:a16="http://schemas.microsoft.com/office/drawing/2014/main" id="{8D474ABF-F98A-4502-7AC8-113A90BB42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703" y="3582577"/>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Ball-and-stick model of glycerol">
            <a:extLst>
              <a:ext uri="{FF2B5EF4-FFF2-40B4-BE49-F238E27FC236}">
                <a16:creationId xmlns:a16="http://schemas.microsoft.com/office/drawing/2014/main" id="{8BE27EE4-BE09-C567-2CD3-27150EA36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6842" y="4269714"/>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Ball-and-stick model of glycerol">
            <a:extLst>
              <a:ext uri="{FF2B5EF4-FFF2-40B4-BE49-F238E27FC236}">
                <a16:creationId xmlns:a16="http://schemas.microsoft.com/office/drawing/2014/main" id="{3B0E4D51-F3CA-9EF1-C97A-5CDFEED45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082" y="3966997"/>
            <a:ext cx="1047750" cy="581025"/>
          </a:xfrm>
          <a:prstGeom prst="rect">
            <a:avLst/>
          </a:prstGeom>
          <a:noFill/>
          <a:extLst>
            <a:ext uri="{909E8E84-426E-40DD-AFC4-6F175D3DCCD1}">
              <a14:hiddenFill xmlns:a14="http://schemas.microsoft.com/office/drawing/2010/main">
                <a:solidFill>
                  <a:srgbClr val="FFFFFF"/>
                </a:solidFill>
              </a14:hiddenFill>
            </a:ext>
          </a:extLst>
        </p:spPr>
      </p:pic>
      <p:sp>
        <p:nvSpPr>
          <p:cNvPr id="19" name="Oval 18">
            <a:extLst>
              <a:ext uri="{FF2B5EF4-FFF2-40B4-BE49-F238E27FC236}">
                <a16:creationId xmlns:a16="http://schemas.microsoft.com/office/drawing/2014/main" id="{EDD16052-FB8B-4621-2047-85B9EEF85890}"/>
              </a:ext>
            </a:extLst>
          </p:cNvPr>
          <p:cNvSpPr/>
          <p:nvPr/>
        </p:nvSpPr>
        <p:spPr>
          <a:xfrm>
            <a:off x="8054592" y="4236512"/>
            <a:ext cx="1716066" cy="15098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2" descr="Ball-and-stick model of glycerol">
            <a:extLst>
              <a:ext uri="{FF2B5EF4-FFF2-40B4-BE49-F238E27FC236}">
                <a16:creationId xmlns:a16="http://schemas.microsoft.com/office/drawing/2014/main" id="{7689BECC-654F-056C-C3EA-031B9A93A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9780" y="4283681"/>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Ball-and-stick model of glycerol">
            <a:extLst>
              <a:ext uri="{FF2B5EF4-FFF2-40B4-BE49-F238E27FC236}">
                <a16:creationId xmlns:a16="http://schemas.microsoft.com/office/drawing/2014/main" id="{7C53FFCB-49BD-8E88-1A10-7FD84AE955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1919" y="4970818"/>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Ball-and-stick model of glycerol">
            <a:extLst>
              <a:ext uri="{FF2B5EF4-FFF2-40B4-BE49-F238E27FC236}">
                <a16:creationId xmlns:a16="http://schemas.microsoft.com/office/drawing/2014/main" id="{C9F5770E-AC81-AF1A-0FF4-B92214A9F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1159" y="4668101"/>
            <a:ext cx="1047750" cy="58102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519EC7EC-FEA9-6385-4D14-22DFE7C43156}"/>
              </a:ext>
            </a:extLst>
          </p:cNvPr>
          <p:cNvCxnSpPr>
            <a:cxnSpLocks/>
          </p:cNvCxnSpPr>
          <p:nvPr/>
        </p:nvCxnSpPr>
        <p:spPr>
          <a:xfrm flipV="1">
            <a:off x="9524540" y="3383576"/>
            <a:ext cx="582460" cy="20643"/>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5" name="Picture 2" descr="Ball-and-stick model of glycerol">
            <a:extLst>
              <a:ext uri="{FF2B5EF4-FFF2-40B4-BE49-F238E27FC236}">
                <a16:creationId xmlns:a16="http://schemas.microsoft.com/office/drawing/2014/main" id="{8256D4F2-E6E4-6475-91E3-47BFC0A83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7402" y="3001552"/>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Ball-and-stick model of glycerol">
            <a:extLst>
              <a:ext uri="{FF2B5EF4-FFF2-40B4-BE49-F238E27FC236}">
                <a16:creationId xmlns:a16="http://schemas.microsoft.com/office/drawing/2014/main" id="{2D970206-5D43-1F0A-A008-6AF05A074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5152" y="3945999"/>
            <a:ext cx="1047750" cy="5810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Ball-and-stick model of glycerol">
            <a:extLst>
              <a:ext uri="{FF2B5EF4-FFF2-40B4-BE49-F238E27FC236}">
                <a16:creationId xmlns:a16="http://schemas.microsoft.com/office/drawing/2014/main" id="{7051DE68-1394-2840-007F-F68273E62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548" y="4991461"/>
            <a:ext cx="1047750" cy="58102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8AFB3A01-1432-0DC8-B66B-BCE5AA2343C5}"/>
              </a:ext>
            </a:extLst>
          </p:cNvPr>
          <p:cNvCxnSpPr>
            <a:cxnSpLocks/>
          </p:cNvCxnSpPr>
          <p:nvPr/>
        </p:nvCxnSpPr>
        <p:spPr>
          <a:xfrm flipV="1">
            <a:off x="9600418" y="5128444"/>
            <a:ext cx="582460" cy="20643"/>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14">
            <a:extLst>
              <a:ext uri="{FF2B5EF4-FFF2-40B4-BE49-F238E27FC236}">
                <a16:creationId xmlns:a16="http://schemas.microsoft.com/office/drawing/2014/main" id="{41FD4402-BE98-F0BA-A341-60F08729838D}"/>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 introduction</a:t>
            </a:r>
          </a:p>
        </p:txBody>
      </p:sp>
      <p:sp>
        <p:nvSpPr>
          <p:cNvPr id="12" name="Freeform 13">
            <a:extLst>
              <a:ext uri="{FF2B5EF4-FFF2-40B4-BE49-F238E27FC236}">
                <a16:creationId xmlns:a16="http://schemas.microsoft.com/office/drawing/2014/main" id="{007E25B6-B3B9-C0A0-024E-D45421D5F37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extLst>
      <p:ext uri="{BB962C8B-B14F-4D97-AF65-F5344CB8AC3E}">
        <p14:creationId xmlns:p14="http://schemas.microsoft.com/office/powerpoint/2010/main" val="1992715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31C150-55F9-BDC6-7B72-572801BF2AEA}"/>
              </a:ext>
            </a:extLst>
          </p:cNvPr>
          <p:cNvSpPr>
            <a:spLocks noGrp="1"/>
          </p:cNvSpPr>
          <p:nvPr>
            <p:ph idx="1"/>
          </p:nvPr>
        </p:nvSpPr>
        <p:spPr>
          <a:xfrm>
            <a:off x="389465" y="1716028"/>
            <a:ext cx="9296400" cy="3017309"/>
          </a:xfrm>
        </p:spPr>
        <p:txBody>
          <a:bodyPr>
            <a:normAutofit/>
          </a:bodyPr>
          <a:lstStyle/>
          <a:p>
            <a:r>
              <a:rPr lang="en-GB" dirty="0"/>
              <a:t>Ozone (O</a:t>
            </a:r>
            <a:r>
              <a:rPr lang="en-GB" baseline="-25000" dirty="0"/>
              <a:t>3</a:t>
            </a:r>
            <a:r>
              <a:rPr lang="en-GB" dirty="0"/>
              <a:t>) is present in both the stratosphere and troposphere</a:t>
            </a:r>
          </a:p>
          <a:p>
            <a:r>
              <a:rPr lang="en-GB" dirty="0"/>
              <a:t>Human release of ozone-depleting-substances has acted to decrease ozone concentrations in the stratosphere at poles in winter</a:t>
            </a:r>
          </a:p>
          <a:p>
            <a:r>
              <a:rPr lang="en-GB" dirty="0"/>
              <a:t>Human release of ozone precursors has acted to increase ozone concentrations in the troposphere</a:t>
            </a:r>
          </a:p>
        </p:txBody>
      </p:sp>
      <p:pic>
        <p:nvPicPr>
          <p:cNvPr id="1026" name="Picture 2">
            <a:extLst>
              <a:ext uri="{FF2B5EF4-FFF2-40B4-BE49-F238E27FC236}">
                <a16:creationId xmlns:a16="http://schemas.microsoft.com/office/drawing/2014/main" id="{003C36A4-C092-8F9A-BF27-724493A722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1856"/>
          <a:stretch/>
        </p:blipFill>
        <p:spPr bwMode="auto">
          <a:xfrm>
            <a:off x="4344705" y="3711347"/>
            <a:ext cx="3502590" cy="2462562"/>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13">
            <a:extLst>
              <a:ext uri="{FF2B5EF4-FFF2-40B4-BE49-F238E27FC236}">
                <a16:creationId xmlns:a16="http://schemas.microsoft.com/office/drawing/2014/main" id="{79C89E06-8BEF-3FC2-73C8-142EA45E046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A200CC58-01C7-79DC-102B-FDE669D89B8A}"/>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introduction</a:t>
            </a:r>
          </a:p>
        </p:txBody>
      </p:sp>
    </p:spTree>
    <p:extLst>
      <p:ext uri="{BB962C8B-B14F-4D97-AF65-F5344CB8AC3E}">
        <p14:creationId xmlns:p14="http://schemas.microsoft.com/office/powerpoint/2010/main" val="3384742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CBC4-815C-51A8-A2C7-AAA9FFDD4D2E}"/>
            </a:ext>
          </a:extLst>
        </p:cNvPr>
        <p:cNvGrpSpPr/>
        <p:nvPr/>
      </p:nvGrpSpPr>
      <p:grpSpPr>
        <a:xfrm>
          <a:off x="0" y="0"/>
          <a:ext cx="0" cy="0"/>
          <a:chOff x="0" y="0"/>
          <a:chExt cx="0" cy="0"/>
        </a:xfrm>
      </p:grpSpPr>
      <p:sp>
        <p:nvSpPr>
          <p:cNvPr id="4" name="Freeform 13">
            <a:extLst>
              <a:ext uri="{FF2B5EF4-FFF2-40B4-BE49-F238E27FC236}">
                <a16:creationId xmlns:a16="http://schemas.microsoft.com/office/drawing/2014/main" id="{4FED502C-55B7-863F-723B-7662E26ACAE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F65F315A-F9DA-AA1C-F3DC-E05CCAE86D78}"/>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introduction</a:t>
            </a:r>
          </a:p>
        </p:txBody>
      </p:sp>
      <p:pic>
        <p:nvPicPr>
          <p:cNvPr id="6" name="Picture 5" descr="A diagram of the atmosphere&#10;&#10;Description automatically generated">
            <a:extLst>
              <a:ext uri="{FF2B5EF4-FFF2-40B4-BE49-F238E27FC236}">
                <a16:creationId xmlns:a16="http://schemas.microsoft.com/office/drawing/2014/main" id="{35BC966B-3DA9-7ED7-FF50-9D378B8AB10F}"/>
              </a:ext>
            </a:extLst>
          </p:cNvPr>
          <p:cNvPicPr>
            <a:picLocks noChangeAspect="1"/>
          </p:cNvPicPr>
          <p:nvPr/>
        </p:nvPicPr>
        <p:blipFill>
          <a:blip r:embed="rId4"/>
          <a:stretch>
            <a:fillRect/>
          </a:stretch>
        </p:blipFill>
        <p:spPr>
          <a:xfrm>
            <a:off x="389465" y="1489571"/>
            <a:ext cx="10617200" cy="4437865"/>
          </a:xfrm>
          <a:prstGeom prst="rect">
            <a:avLst/>
          </a:prstGeom>
        </p:spPr>
      </p:pic>
    </p:spTree>
    <p:extLst>
      <p:ext uri="{BB962C8B-B14F-4D97-AF65-F5344CB8AC3E}">
        <p14:creationId xmlns:p14="http://schemas.microsoft.com/office/powerpoint/2010/main" val="519865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A7872-79DD-4A5F-8456-1BC692EEA8E6}"/>
              </a:ext>
            </a:extLst>
          </p:cNvPr>
          <p:cNvSpPr>
            <a:spLocks noGrp="1"/>
          </p:cNvSpPr>
          <p:nvPr>
            <p:ph idx="1"/>
          </p:nvPr>
        </p:nvSpPr>
        <p:spPr>
          <a:xfrm>
            <a:off x="389465" y="1822571"/>
            <a:ext cx="5325535" cy="4351338"/>
          </a:xfrm>
        </p:spPr>
        <p:txBody>
          <a:bodyPr>
            <a:normAutofit/>
          </a:bodyPr>
          <a:lstStyle/>
          <a:p>
            <a:r>
              <a:rPr lang="en-GB" sz="2400" dirty="0"/>
              <a:t>Human perturbation of land cover</a:t>
            </a:r>
          </a:p>
          <a:p>
            <a:r>
              <a:rPr lang="en-GB" sz="2400" dirty="0"/>
              <a:t>Note, emissions of carbon dioxide and methane due to agriculture are included under the radiative forcing of these gases rather than under land-use change (as reported by IPCC)</a:t>
            </a:r>
          </a:p>
          <a:p>
            <a:r>
              <a:rPr lang="en-GB" sz="2400" dirty="0"/>
              <a:t>Affects radiative forcing and also vertical distribution of energy</a:t>
            </a:r>
          </a:p>
        </p:txBody>
      </p:sp>
      <p:sp>
        <p:nvSpPr>
          <p:cNvPr id="5" name="TextBox 14">
            <a:extLst>
              <a:ext uri="{FF2B5EF4-FFF2-40B4-BE49-F238E27FC236}">
                <a16:creationId xmlns:a16="http://schemas.microsoft.com/office/drawing/2014/main" id="{1C1AE8F3-80AD-03F9-1268-3A9D80305F4F}"/>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Land-Use Change introduction</a:t>
            </a:r>
          </a:p>
        </p:txBody>
      </p:sp>
      <p:pic>
        <p:nvPicPr>
          <p:cNvPr id="9" name="Picture 6" descr="Aerial view on winter bog in the middle of snowy forest. Bird eye view ...">
            <a:extLst>
              <a:ext uri="{FF2B5EF4-FFF2-40B4-BE49-F238E27FC236}">
                <a16:creationId xmlns:a16="http://schemas.microsoft.com/office/drawing/2014/main" id="{E250FAE4-D4BB-73A5-87E2-F330FB6295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729" r="18879"/>
          <a:stretch>
            <a:fillRect/>
          </a:stretch>
        </p:blipFill>
        <p:spPr bwMode="auto">
          <a:xfrm>
            <a:off x="6291944" y="10"/>
            <a:ext cx="5900056"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0" name="Freeform 13">
            <a:extLst>
              <a:ext uri="{FF2B5EF4-FFF2-40B4-BE49-F238E27FC236}">
                <a16:creationId xmlns:a16="http://schemas.microsoft.com/office/drawing/2014/main" id="{C853BD8B-0915-FDFB-1939-8A42E9678FA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extLst>
      <p:ext uri="{BB962C8B-B14F-4D97-AF65-F5344CB8AC3E}">
        <p14:creationId xmlns:p14="http://schemas.microsoft.com/office/powerpoint/2010/main" val="4122333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169D7-8AC0-1AD5-45DC-23945B97481A}"/>
              </a:ext>
            </a:extLst>
          </p:cNvPr>
          <p:cNvSpPr>
            <a:spLocks noGrp="1"/>
          </p:cNvSpPr>
          <p:nvPr>
            <p:ph idx="1"/>
          </p:nvPr>
        </p:nvSpPr>
        <p:spPr>
          <a:xfrm>
            <a:off x="389464" y="1378527"/>
            <a:ext cx="10167699" cy="888169"/>
          </a:xfrm>
        </p:spPr>
        <p:txBody>
          <a:bodyPr/>
          <a:lstStyle/>
          <a:p>
            <a:r>
              <a:rPr lang="en-GB" dirty="0"/>
              <a:t>What is radiative forcing?</a:t>
            </a:r>
          </a:p>
          <a:p>
            <a:pPr lvl="1"/>
            <a:r>
              <a:rPr lang="en-GB" dirty="0"/>
              <a:t>An effect on Earth’s radiation balance, more specifically:</a:t>
            </a:r>
          </a:p>
          <a:p>
            <a:pPr lvl="1"/>
            <a:r>
              <a:rPr lang="en-GB" dirty="0"/>
              <a:t>The change in radiation balance at the tropopause between the incoming solar radiation and the outgoing earth’s radiation (net irradiance)</a:t>
            </a:r>
          </a:p>
        </p:txBody>
      </p:sp>
      <p:pic>
        <p:nvPicPr>
          <p:cNvPr id="10" name="Picture 9" descr="Diagram&#10;&#10;Description automatically generated">
            <a:extLst>
              <a:ext uri="{FF2B5EF4-FFF2-40B4-BE49-F238E27FC236}">
                <a16:creationId xmlns:a16="http://schemas.microsoft.com/office/drawing/2014/main" id="{5C8A001E-4995-5E40-0E00-B444FFE24126}"/>
              </a:ext>
            </a:extLst>
          </p:cNvPr>
          <p:cNvPicPr>
            <a:picLocks noChangeAspect="1"/>
          </p:cNvPicPr>
          <p:nvPr/>
        </p:nvPicPr>
        <p:blipFill>
          <a:blip r:embed="rId3">
            <a:extLst>
              <a:ext uri="{28A0092B-C50C-407E-A947-70E740481C1C}">
                <a14:useLocalDpi xmlns:a14="http://schemas.microsoft.com/office/drawing/2010/main" val="0"/>
              </a:ext>
            </a:extLst>
          </a:blip>
          <a:srcRect b="18973"/>
          <a:stretch>
            <a:fillRect/>
          </a:stretch>
        </p:blipFill>
        <p:spPr>
          <a:xfrm>
            <a:off x="2417523" y="3033820"/>
            <a:ext cx="7356953" cy="3353125"/>
          </a:xfrm>
          <a:prstGeom prst="rect">
            <a:avLst/>
          </a:prstGeom>
        </p:spPr>
      </p:pic>
      <p:sp>
        <p:nvSpPr>
          <p:cNvPr id="4" name="Freeform 13">
            <a:extLst>
              <a:ext uri="{FF2B5EF4-FFF2-40B4-BE49-F238E27FC236}">
                <a16:creationId xmlns:a16="http://schemas.microsoft.com/office/drawing/2014/main" id="{21596375-63D0-443A-CE3D-9EC599ED0DC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28901CDD-FDA2-8ECE-76EC-3E8CD1355CAE}"/>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Radiative forcing</a:t>
            </a:r>
          </a:p>
        </p:txBody>
      </p:sp>
    </p:spTree>
    <p:extLst>
      <p:ext uri="{BB962C8B-B14F-4D97-AF65-F5344CB8AC3E}">
        <p14:creationId xmlns:p14="http://schemas.microsoft.com/office/powerpoint/2010/main" val="323067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5F211F-C106-B31D-3384-3E09FCD52352}"/>
              </a:ext>
            </a:extLst>
          </p:cNvPr>
          <p:cNvSpPr txBox="1"/>
          <p:nvPr/>
        </p:nvSpPr>
        <p:spPr>
          <a:xfrm>
            <a:off x="4549400" y="1521971"/>
            <a:ext cx="6679039" cy="4524315"/>
          </a:xfrm>
          <a:prstGeom prst="rect">
            <a:avLst/>
          </a:prstGeom>
          <a:noFill/>
        </p:spPr>
        <p:txBody>
          <a:bodyPr wrap="square" rtlCol="0">
            <a:spAutoFit/>
          </a:bodyPr>
          <a:lstStyle/>
          <a:p>
            <a:pPr marL="285750" indent="-285750">
              <a:buFont typeface="Arial" panose="020B0604020202020204" pitchFamily="34" charset="0"/>
              <a:buChar char="•"/>
            </a:pPr>
            <a:r>
              <a:rPr lang="en-GB" dirty="0"/>
              <a:t>Natural changes to radiative forcing can be relatively extreme (in magnitude and rate), e.g. volcanic eruption</a:t>
            </a:r>
          </a:p>
          <a:p>
            <a:endParaRPr lang="en-GB" dirty="0"/>
          </a:p>
          <a:p>
            <a:pPr marL="285750" indent="-285750">
              <a:buFont typeface="Arial" panose="020B0604020202020204" pitchFamily="34" charset="0"/>
              <a:buChar char="•"/>
            </a:pPr>
            <a:r>
              <a:rPr lang="en-GB" dirty="0"/>
              <a:t>Natural can include changes to: greenhouse gas sinks and albedo</a:t>
            </a:r>
          </a:p>
          <a:p>
            <a:endParaRPr lang="en-GB" dirty="0"/>
          </a:p>
          <a:p>
            <a:pPr marL="285750" indent="-285750">
              <a:buFont typeface="Arial" panose="020B0604020202020204" pitchFamily="34" charset="0"/>
              <a:buChar char="•"/>
            </a:pPr>
            <a:r>
              <a:rPr lang="en-GB" dirty="0"/>
              <a:t>But, for the industrial period, anthropogenic changes to radiative forcers have been much greater than natural changes</a:t>
            </a:r>
          </a:p>
          <a:p>
            <a:endParaRPr lang="en-GB" dirty="0"/>
          </a:p>
          <a:p>
            <a:pPr marL="285750" indent="-285750">
              <a:buFont typeface="Arial" panose="020B0604020202020204" pitchFamily="34" charset="0"/>
              <a:buChar char="•"/>
            </a:pPr>
            <a:r>
              <a:rPr lang="en-GB" dirty="0"/>
              <a:t>Although the sources vary between natural and anthropogenic drivers, the resulting physics (radiative forcing) is the same</a:t>
            </a:r>
          </a:p>
          <a:p>
            <a:r>
              <a:rPr lang="en-GB" dirty="0"/>
              <a:t> </a:t>
            </a:r>
          </a:p>
          <a:p>
            <a:pPr marL="285750" indent="-285750">
              <a:buFont typeface="Arial" panose="020B0604020202020204" pitchFamily="34" charset="0"/>
              <a:buChar char="•"/>
            </a:pPr>
            <a:r>
              <a:rPr lang="en-GB" dirty="0"/>
              <a:t>Today we look at ‘Other human drivers’</a:t>
            </a:r>
          </a:p>
          <a:p>
            <a:pPr marL="285750" indent="-285750">
              <a:buFont typeface="Arial" panose="020B0604020202020204" pitchFamily="34" charset="0"/>
              <a:buChar char="•"/>
            </a:pPr>
            <a:endParaRPr lang="en-GB" dirty="0"/>
          </a:p>
        </p:txBody>
      </p:sp>
      <p:sp>
        <p:nvSpPr>
          <p:cNvPr id="7" name="TextBox 6">
            <a:extLst>
              <a:ext uri="{FF2B5EF4-FFF2-40B4-BE49-F238E27FC236}">
                <a16:creationId xmlns:a16="http://schemas.microsoft.com/office/drawing/2014/main" id="{6E89B3EA-2541-8E57-DA23-B28C550616D6}"/>
              </a:ext>
            </a:extLst>
          </p:cNvPr>
          <p:cNvSpPr txBox="1"/>
          <p:nvPr/>
        </p:nvSpPr>
        <p:spPr>
          <a:xfrm>
            <a:off x="389465" y="6226263"/>
            <a:ext cx="3547766" cy="261610"/>
          </a:xfrm>
          <a:prstGeom prst="rect">
            <a:avLst/>
          </a:prstGeom>
          <a:noFill/>
        </p:spPr>
        <p:txBody>
          <a:bodyPr wrap="none" rtlCol="0">
            <a:spAutoFit/>
          </a:bodyPr>
          <a:lstStyle/>
          <a:p>
            <a:r>
              <a:rPr lang="en-GB" sz="1100" dirty="0"/>
              <a:t>Figure 2.1 d) Climate Change 2023 Synthesis Report</a:t>
            </a:r>
          </a:p>
        </p:txBody>
      </p:sp>
      <p:pic>
        <p:nvPicPr>
          <p:cNvPr id="9" name="Picture 8" descr="A screenshot of a graph&#10;&#10;AI-generated content may be incorrect.">
            <a:extLst>
              <a:ext uri="{FF2B5EF4-FFF2-40B4-BE49-F238E27FC236}">
                <a16:creationId xmlns:a16="http://schemas.microsoft.com/office/drawing/2014/main" id="{42F584BC-1775-9050-E846-5FF7BC6B8D92}"/>
              </a:ext>
            </a:extLst>
          </p:cNvPr>
          <p:cNvPicPr>
            <a:picLocks noChangeAspect="1"/>
          </p:cNvPicPr>
          <p:nvPr/>
        </p:nvPicPr>
        <p:blipFill>
          <a:blip r:embed="rId4">
            <a:extLst>
              <a:ext uri="{28A0092B-C50C-407E-A947-70E740481C1C}">
                <a14:useLocalDpi xmlns:a14="http://schemas.microsoft.com/office/drawing/2010/main" val="0"/>
              </a:ext>
            </a:extLst>
          </a:blip>
          <a:srcRect l="1783" t="3320" r="3670"/>
          <a:stretch>
            <a:fillRect/>
          </a:stretch>
        </p:blipFill>
        <p:spPr>
          <a:xfrm>
            <a:off x="480060" y="1337310"/>
            <a:ext cx="3840480" cy="4888953"/>
          </a:xfrm>
          <a:prstGeom prst="rect">
            <a:avLst/>
          </a:prstGeom>
        </p:spPr>
      </p:pic>
      <p:sp>
        <p:nvSpPr>
          <p:cNvPr id="3" name="Freeform 13">
            <a:extLst>
              <a:ext uri="{FF2B5EF4-FFF2-40B4-BE49-F238E27FC236}">
                <a16:creationId xmlns:a16="http://schemas.microsoft.com/office/drawing/2014/main" id="{4B20CBA1-631B-1566-6ACC-D59D4DB3C08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8" name="TextBox 14">
            <a:extLst>
              <a:ext uri="{FF2B5EF4-FFF2-40B4-BE49-F238E27FC236}">
                <a16:creationId xmlns:a16="http://schemas.microsoft.com/office/drawing/2014/main" id="{38443429-E2F3-2C26-00C6-0A370024B4A2}"/>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Radiative forcing</a:t>
            </a:r>
          </a:p>
        </p:txBody>
      </p:sp>
    </p:spTree>
    <p:custDataLst>
      <p:tags r:id="rId1"/>
    </p:custDataLst>
    <p:extLst>
      <p:ext uri="{BB962C8B-B14F-4D97-AF65-F5344CB8AC3E}">
        <p14:creationId xmlns:p14="http://schemas.microsoft.com/office/powerpoint/2010/main" val="231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82DC59F2-E5E7-EFA2-1F90-6EC9FC9A9A72}"/>
              </a:ext>
            </a:extLst>
          </p:cNvPr>
          <p:cNvSpPr/>
          <p:nvPr/>
        </p:nvSpPr>
        <p:spPr>
          <a:xfrm>
            <a:off x="4724400" y="1988770"/>
            <a:ext cx="2561640" cy="2880460"/>
          </a:xfrm>
          <a:prstGeom prst="ellipse">
            <a:avLst/>
          </a:prstGeom>
          <a:noFill/>
          <a:ln w="571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-Aerosol</a:t>
            </a:r>
          </a:p>
          <a:p>
            <a:pPr algn="ctr"/>
            <a:r>
              <a:rPr lang="en-GB" sz="2400" dirty="0">
                <a:solidFill>
                  <a:schemeClr val="accent3">
                    <a:lumMod val="50000"/>
                  </a:schemeClr>
                </a:solidFill>
              </a:rPr>
              <a:t>-Ozone</a:t>
            </a:r>
          </a:p>
          <a:p>
            <a:pPr algn="ctr"/>
            <a:r>
              <a:rPr lang="en-GB" sz="2400" dirty="0">
                <a:solidFill>
                  <a:schemeClr val="accent3">
                    <a:lumMod val="50000"/>
                  </a:schemeClr>
                </a:solidFill>
              </a:rPr>
              <a:t>-Land-Use Change</a:t>
            </a:r>
          </a:p>
        </p:txBody>
      </p:sp>
      <p:sp>
        <p:nvSpPr>
          <p:cNvPr id="3" name="Oval 2">
            <a:extLst>
              <a:ext uri="{FF2B5EF4-FFF2-40B4-BE49-F238E27FC236}">
                <a16:creationId xmlns:a16="http://schemas.microsoft.com/office/drawing/2014/main" id="{1B1D9948-A02A-0273-B882-8F099EA54281}"/>
              </a:ext>
            </a:extLst>
          </p:cNvPr>
          <p:cNvSpPr/>
          <p:nvPr/>
        </p:nvSpPr>
        <p:spPr>
          <a:xfrm>
            <a:off x="7763722" y="1365923"/>
            <a:ext cx="4102696" cy="3995786"/>
          </a:xfrm>
          <a:prstGeom prst="ellipse">
            <a:avLst/>
          </a:prstGeom>
          <a:noFill/>
          <a:ln w="571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-What is it?</a:t>
            </a:r>
          </a:p>
          <a:p>
            <a:pPr algn="ctr"/>
            <a:r>
              <a:rPr lang="en-GB" sz="2400" dirty="0">
                <a:solidFill>
                  <a:schemeClr val="accent3">
                    <a:lumMod val="50000"/>
                  </a:schemeClr>
                </a:solidFill>
              </a:rPr>
              <a:t>-What is the associated radiative forcing?</a:t>
            </a:r>
          </a:p>
          <a:p>
            <a:pPr algn="ctr"/>
            <a:r>
              <a:rPr lang="en-GB" sz="2400" dirty="0">
                <a:solidFill>
                  <a:schemeClr val="accent3">
                    <a:lumMod val="50000"/>
                  </a:schemeClr>
                </a:solidFill>
              </a:rPr>
              <a:t>-How does the radiative forcing come about (mechanism)?</a:t>
            </a:r>
          </a:p>
        </p:txBody>
      </p:sp>
      <p:sp>
        <p:nvSpPr>
          <p:cNvPr id="4" name="Freeform 13">
            <a:extLst>
              <a:ext uri="{FF2B5EF4-FFF2-40B4-BE49-F238E27FC236}">
                <a16:creationId xmlns:a16="http://schemas.microsoft.com/office/drawing/2014/main" id="{9A6A4000-C847-AA2D-544E-1A52E587BDA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4">
            <a:extLst>
              <a:ext uri="{FF2B5EF4-FFF2-40B4-BE49-F238E27FC236}">
                <a16:creationId xmlns:a16="http://schemas.microsoft.com/office/drawing/2014/main" id="{4BB3ACE4-F8F4-2D6E-219F-DFB433454499}"/>
              </a:ext>
            </a:extLst>
          </p:cNvPr>
          <p:cNvSpPr txBox="1"/>
          <p:nvPr/>
        </p:nvSpPr>
        <p:spPr>
          <a:xfrm>
            <a:off x="389465" y="6226263"/>
            <a:ext cx="3547766" cy="261610"/>
          </a:xfrm>
          <a:prstGeom prst="rect">
            <a:avLst/>
          </a:prstGeom>
          <a:noFill/>
        </p:spPr>
        <p:txBody>
          <a:bodyPr wrap="none" rtlCol="0">
            <a:spAutoFit/>
          </a:bodyPr>
          <a:lstStyle/>
          <a:p>
            <a:r>
              <a:rPr lang="en-GB" sz="1100" dirty="0"/>
              <a:t>Figure 2.1 d) Climate Change 2023 Synthesis Report</a:t>
            </a:r>
          </a:p>
        </p:txBody>
      </p:sp>
      <p:pic>
        <p:nvPicPr>
          <p:cNvPr id="6" name="Picture 5" descr="A screenshot of a graph&#10;&#10;AI-generated content may be incorrect.">
            <a:extLst>
              <a:ext uri="{FF2B5EF4-FFF2-40B4-BE49-F238E27FC236}">
                <a16:creationId xmlns:a16="http://schemas.microsoft.com/office/drawing/2014/main" id="{CDB65383-7C3B-86D8-106C-4F86108B1298}"/>
              </a:ext>
            </a:extLst>
          </p:cNvPr>
          <p:cNvPicPr>
            <a:picLocks noChangeAspect="1"/>
          </p:cNvPicPr>
          <p:nvPr/>
        </p:nvPicPr>
        <p:blipFill>
          <a:blip r:embed="rId3">
            <a:extLst>
              <a:ext uri="{28A0092B-C50C-407E-A947-70E740481C1C}">
                <a14:useLocalDpi xmlns:a14="http://schemas.microsoft.com/office/drawing/2010/main" val="0"/>
              </a:ext>
            </a:extLst>
          </a:blip>
          <a:srcRect l="1783" t="3320" r="3670"/>
          <a:stretch>
            <a:fillRect/>
          </a:stretch>
        </p:blipFill>
        <p:spPr>
          <a:xfrm>
            <a:off x="480060" y="1337310"/>
            <a:ext cx="3840480" cy="4888953"/>
          </a:xfrm>
          <a:prstGeom prst="rect">
            <a:avLst/>
          </a:prstGeom>
        </p:spPr>
      </p:pic>
      <p:sp>
        <p:nvSpPr>
          <p:cNvPr id="9" name="TextBox 14">
            <a:extLst>
              <a:ext uri="{FF2B5EF4-FFF2-40B4-BE49-F238E27FC236}">
                <a16:creationId xmlns:a16="http://schemas.microsoft.com/office/drawing/2014/main" id="{1C0786B7-BC19-20F9-69B8-52B21BFDDFEB}"/>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Radiative forcing</a:t>
            </a:r>
          </a:p>
        </p:txBody>
      </p:sp>
    </p:spTree>
    <p:extLst>
      <p:ext uri="{BB962C8B-B14F-4D97-AF65-F5344CB8AC3E}">
        <p14:creationId xmlns:p14="http://schemas.microsoft.com/office/powerpoint/2010/main" val="1165765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10;&#10;Description automatically generated">
            <a:extLst>
              <a:ext uri="{FF2B5EF4-FFF2-40B4-BE49-F238E27FC236}">
                <a16:creationId xmlns:a16="http://schemas.microsoft.com/office/drawing/2014/main" id="{94618D36-6BC6-69E1-5042-304DEC3782E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2390" t="14735" r="19479" b="78069"/>
          <a:stretch>
            <a:fillRect/>
          </a:stretch>
        </p:blipFill>
        <p:spPr>
          <a:xfrm>
            <a:off x="242341" y="1736275"/>
            <a:ext cx="10072927" cy="701458"/>
          </a:xfrm>
        </p:spPr>
      </p:pic>
      <p:pic>
        <p:nvPicPr>
          <p:cNvPr id="6" name="Content Placeholder 4" descr="Graphical user interface&#10;&#10;Description automatically generated">
            <a:extLst>
              <a:ext uri="{FF2B5EF4-FFF2-40B4-BE49-F238E27FC236}">
                <a16:creationId xmlns:a16="http://schemas.microsoft.com/office/drawing/2014/main" id="{F26A6DF1-BA20-AA6D-37CA-2D56687AEBC4}"/>
              </a:ext>
            </a:extLst>
          </p:cNvPr>
          <p:cNvPicPr>
            <a:picLocks noChangeAspect="1"/>
          </p:cNvPicPr>
          <p:nvPr/>
        </p:nvPicPr>
        <p:blipFill rotWithShape="1">
          <a:blip r:embed="rId3">
            <a:extLst>
              <a:ext uri="{28A0092B-C50C-407E-A947-70E740481C1C}">
                <a14:useLocalDpi xmlns:a14="http://schemas.microsoft.com/office/drawing/2010/main" val="0"/>
              </a:ext>
            </a:extLst>
          </a:blip>
          <a:srcRect l="22408" t="42291" r="23111" b="47202"/>
          <a:stretch>
            <a:fillRect/>
          </a:stretch>
        </p:blipFill>
        <p:spPr>
          <a:xfrm>
            <a:off x="242341" y="2442947"/>
            <a:ext cx="9447267" cy="1024860"/>
          </a:xfrm>
          <a:prstGeom prst="rect">
            <a:avLst/>
          </a:prstGeom>
        </p:spPr>
      </p:pic>
      <p:pic>
        <p:nvPicPr>
          <p:cNvPr id="7" name="Content Placeholder 4" descr="Graphical user interface&#10;&#10;Description automatically generated">
            <a:extLst>
              <a:ext uri="{FF2B5EF4-FFF2-40B4-BE49-F238E27FC236}">
                <a16:creationId xmlns:a16="http://schemas.microsoft.com/office/drawing/2014/main" id="{4C320D4A-6FE1-8278-1EA3-F8543F26245B}"/>
              </a:ext>
            </a:extLst>
          </p:cNvPr>
          <p:cNvPicPr>
            <a:picLocks noChangeAspect="1"/>
          </p:cNvPicPr>
          <p:nvPr/>
        </p:nvPicPr>
        <p:blipFill rotWithShape="1">
          <a:blip r:embed="rId3">
            <a:extLst>
              <a:ext uri="{28A0092B-C50C-407E-A947-70E740481C1C}">
                <a14:useLocalDpi xmlns:a14="http://schemas.microsoft.com/office/drawing/2010/main" val="0"/>
              </a:ext>
            </a:extLst>
          </a:blip>
          <a:srcRect l="23315" t="62231" r="22911" b="13048"/>
          <a:stretch>
            <a:fillRect/>
          </a:stretch>
        </p:blipFill>
        <p:spPr>
          <a:xfrm>
            <a:off x="393699" y="3453237"/>
            <a:ext cx="9319683" cy="2410080"/>
          </a:xfrm>
          <a:prstGeom prst="rect">
            <a:avLst/>
          </a:prstGeom>
        </p:spPr>
      </p:pic>
      <p:sp>
        <p:nvSpPr>
          <p:cNvPr id="8" name="TextBox 7">
            <a:extLst>
              <a:ext uri="{FF2B5EF4-FFF2-40B4-BE49-F238E27FC236}">
                <a16:creationId xmlns:a16="http://schemas.microsoft.com/office/drawing/2014/main" id="{48137825-C993-CC69-150A-801A5D7220BE}"/>
              </a:ext>
            </a:extLst>
          </p:cNvPr>
          <p:cNvSpPr txBox="1"/>
          <p:nvPr/>
        </p:nvSpPr>
        <p:spPr>
          <a:xfrm>
            <a:off x="406399" y="5916932"/>
            <a:ext cx="2151230" cy="307777"/>
          </a:xfrm>
          <a:prstGeom prst="rect">
            <a:avLst/>
          </a:prstGeom>
          <a:noFill/>
        </p:spPr>
        <p:txBody>
          <a:bodyPr wrap="none" rtlCol="0">
            <a:spAutoFit/>
          </a:bodyPr>
          <a:lstStyle/>
          <a:p>
            <a:r>
              <a:rPr lang="en-GB" sz="1400" dirty="0">
                <a:latin typeface="Calibri" panose="020F0502020204030204" pitchFamily="34" charset="0"/>
                <a:cs typeface="Calibri" panose="020F0502020204030204" pitchFamily="34" charset="0"/>
              </a:rPr>
              <a:t>FAQ 6.1, Figure 1, AR6 WGI</a:t>
            </a:r>
          </a:p>
        </p:txBody>
      </p:sp>
      <p:sp>
        <p:nvSpPr>
          <p:cNvPr id="9" name="Rectangle 8">
            <a:extLst>
              <a:ext uri="{FF2B5EF4-FFF2-40B4-BE49-F238E27FC236}">
                <a16:creationId xmlns:a16="http://schemas.microsoft.com/office/drawing/2014/main" id="{2D8AA016-F85A-20F1-05FC-C59887DEC7F2}"/>
              </a:ext>
            </a:extLst>
          </p:cNvPr>
          <p:cNvSpPr/>
          <p:nvPr/>
        </p:nvSpPr>
        <p:spPr>
          <a:xfrm>
            <a:off x="9031351" y="4017483"/>
            <a:ext cx="2567835" cy="20646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Calibri" panose="020F0502020204030204" pitchFamily="34" charset="0"/>
                <a:cs typeface="Calibri" panose="020F0502020204030204" pitchFamily="34" charset="0"/>
              </a:rPr>
              <a:t>Aerosols stay airborne on the timescale of minutes to weeks, with an average of days. Key loss processes are dry deposition and wet deposition.</a:t>
            </a:r>
          </a:p>
        </p:txBody>
      </p:sp>
      <p:cxnSp>
        <p:nvCxnSpPr>
          <p:cNvPr id="11" name="Straight Arrow Connector 10">
            <a:extLst>
              <a:ext uri="{FF2B5EF4-FFF2-40B4-BE49-F238E27FC236}">
                <a16:creationId xmlns:a16="http://schemas.microsoft.com/office/drawing/2014/main" id="{0B7370A6-2695-5395-045B-092E40D247FA}"/>
              </a:ext>
            </a:extLst>
          </p:cNvPr>
          <p:cNvCxnSpPr>
            <a:cxnSpLocks/>
            <a:stCxn id="9" idx="1"/>
          </p:cNvCxnSpPr>
          <p:nvPr/>
        </p:nvCxnSpPr>
        <p:spPr>
          <a:xfrm flipH="1" flipV="1">
            <a:off x="1789430" y="2194773"/>
            <a:ext cx="7241921" cy="2855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EE9D458-C42E-66E6-10C5-C5DAE572EEC0}"/>
              </a:ext>
            </a:extLst>
          </p:cNvPr>
          <p:cNvCxnSpPr>
            <a:cxnSpLocks/>
            <a:stCxn id="15" idx="1"/>
          </p:cNvCxnSpPr>
          <p:nvPr/>
        </p:nvCxnSpPr>
        <p:spPr>
          <a:xfrm flipH="1">
            <a:off x="8510270" y="2146251"/>
            <a:ext cx="521081" cy="9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6FC6CAA-0838-184F-D359-CEC0E4FE4E20}"/>
              </a:ext>
            </a:extLst>
          </p:cNvPr>
          <p:cNvSpPr/>
          <p:nvPr/>
        </p:nvSpPr>
        <p:spPr>
          <a:xfrm>
            <a:off x="9031351" y="1545937"/>
            <a:ext cx="2567835" cy="1200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Calibri" panose="020F0502020204030204" pitchFamily="34" charset="0"/>
                <a:cs typeface="Calibri" panose="020F0502020204030204" pitchFamily="34" charset="0"/>
              </a:rPr>
              <a:t>The colour of aerosol determines whether it absorbs or reflects incoming solar radiation</a:t>
            </a:r>
          </a:p>
        </p:txBody>
      </p:sp>
      <p:cxnSp>
        <p:nvCxnSpPr>
          <p:cNvPr id="18" name="Straight Arrow Connector 17">
            <a:extLst>
              <a:ext uri="{FF2B5EF4-FFF2-40B4-BE49-F238E27FC236}">
                <a16:creationId xmlns:a16="http://schemas.microsoft.com/office/drawing/2014/main" id="{DBA51D11-3587-4A14-70AB-27744E66A6EC}"/>
              </a:ext>
            </a:extLst>
          </p:cNvPr>
          <p:cNvCxnSpPr>
            <a:cxnSpLocks/>
            <a:stCxn id="9" idx="1"/>
          </p:cNvCxnSpPr>
          <p:nvPr/>
        </p:nvCxnSpPr>
        <p:spPr>
          <a:xfrm flipH="1" flipV="1">
            <a:off x="6201410" y="2207718"/>
            <a:ext cx="2829941" cy="2842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reeform 13">
            <a:extLst>
              <a:ext uri="{FF2B5EF4-FFF2-40B4-BE49-F238E27FC236}">
                <a16:creationId xmlns:a16="http://schemas.microsoft.com/office/drawing/2014/main" id="{0FD0F476-A54F-F3A1-A1A8-E07EFF1E678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3" name="TextBox 14">
            <a:extLst>
              <a:ext uri="{FF2B5EF4-FFF2-40B4-BE49-F238E27FC236}">
                <a16:creationId xmlns:a16="http://schemas.microsoft.com/office/drawing/2014/main" id="{D92F2CC5-A6B8-AD1F-EBF9-7BCBDA7ADD73}"/>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 summary</a:t>
            </a:r>
          </a:p>
        </p:txBody>
      </p:sp>
    </p:spTree>
    <p:extLst>
      <p:ext uri="{BB962C8B-B14F-4D97-AF65-F5344CB8AC3E}">
        <p14:creationId xmlns:p14="http://schemas.microsoft.com/office/powerpoint/2010/main" val="1252803216"/>
      </p:ext>
    </p:extLst>
  </p:cSld>
  <p:clrMapOvr>
    <a:masterClrMapping/>
  </p:clrMapOvr>
  <mc:AlternateContent xmlns:mc="http://schemas.openxmlformats.org/markup-compatibility/2006" xmlns:p14="http://schemas.microsoft.com/office/powerpoint/2010/main">
    <mc:Choice Requires="p14">
      <p:transition spd="slow" p14:dur="2000" advTm="160566"/>
    </mc:Choice>
    <mc:Fallback xmlns="">
      <p:transition spd="slow" advTm="16056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10;&#10;Description automatically generated">
            <a:extLst>
              <a:ext uri="{FF2B5EF4-FFF2-40B4-BE49-F238E27FC236}">
                <a16:creationId xmlns:a16="http://schemas.microsoft.com/office/drawing/2014/main" id="{62803378-626F-57CE-AFC5-10964F443EF0}"/>
              </a:ext>
            </a:extLst>
          </p:cNvPr>
          <p:cNvPicPr>
            <a:picLocks noChangeAspect="1"/>
          </p:cNvPicPr>
          <p:nvPr/>
        </p:nvPicPr>
        <p:blipFill rotWithShape="1">
          <a:blip r:embed="rId3">
            <a:extLst>
              <a:ext uri="{28A0092B-C50C-407E-A947-70E740481C1C}">
                <a14:useLocalDpi xmlns:a14="http://schemas.microsoft.com/office/drawing/2010/main" val="0"/>
              </a:ext>
            </a:extLst>
          </a:blip>
          <a:srcRect l="46067" t="66610" r="49098" b="24760"/>
          <a:stretch/>
        </p:blipFill>
        <p:spPr>
          <a:xfrm>
            <a:off x="1807429" y="4819942"/>
            <a:ext cx="1563207" cy="1569501"/>
          </a:xfrm>
          <a:prstGeom prst="rect">
            <a:avLst/>
          </a:prstGeom>
        </p:spPr>
      </p:pic>
      <p:sp>
        <p:nvSpPr>
          <p:cNvPr id="7" name="TextBox 6">
            <a:extLst>
              <a:ext uri="{FF2B5EF4-FFF2-40B4-BE49-F238E27FC236}">
                <a16:creationId xmlns:a16="http://schemas.microsoft.com/office/drawing/2014/main" id="{0E59AEFD-E967-3345-B9F1-446980ADFDD3}"/>
              </a:ext>
            </a:extLst>
          </p:cNvPr>
          <p:cNvSpPr txBox="1"/>
          <p:nvPr/>
        </p:nvSpPr>
        <p:spPr>
          <a:xfrm rot="20240557">
            <a:off x="2788114" y="4317420"/>
            <a:ext cx="3221463" cy="584775"/>
          </a:xfrm>
          <a:prstGeom prst="rect">
            <a:avLst/>
          </a:prstGeom>
          <a:noFill/>
        </p:spPr>
        <p:txBody>
          <a:bodyPr wrap="square" rtlCol="0">
            <a:spAutoFit/>
          </a:bodyPr>
          <a:lstStyle/>
          <a:p>
            <a:r>
              <a:rPr lang="en-GB" sz="2400" baseline="-25000" dirty="0"/>
              <a:t>Emission of particles, </a:t>
            </a:r>
          </a:p>
          <a:p>
            <a:r>
              <a:rPr lang="en-GB" sz="2400" baseline="-25000" dirty="0"/>
              <a:t>and gases that can become particle</a:t>
            </a:r>
          </a:p>
        </p:txBody>
      </p:sp>
      <p:cxnSp>
        <p:nvCxnSpPr>
          <p:cNvPr id="9" name="Straight Arrow Connector 8">
            <a:extLst>
              <a:ext uri="{FF2B5EF4-FFF2-40B4-BE49-F238E27FC236}">
                <a16:creationId xmlns:a16="http://schemas.microsoft.com/office/drawing/2014/main" id="{F3A0431E-9F6C-2248-8924-735FDC7547AD}"/>
              </a:ext>
            </a:extLst>
          </p:cNvPr>
          <p:cNvCxnSpPr>
            <a:cxnSpLocks/>
          </p:cNvCxnSpPr>
          <p:nvPr/>
        </p:nvCxnSpPr>
        <p:spPr>
          <a:xfrm flipV="1">
            <a:off x="3080472" y="4324704"/>
            <a:ext cx="2166442" cy="91087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42E10351-7274-184C-9E46-38F293F2CFFC}"/>
              </a:ext>
            </a:extLst>
          </p:cNvPr>
          <p:cNvSpPr/>
          <p:nvPr/>
        </p:nvSpPr>
        <p:spPr>
          <a:xfrm>
            <a:off x="6991222" y="3402147"/>
            <a:ext cx="367444" cy="3773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0415A46E-4D98-3B41-8566-3554D6222A20}"/>
              </a:ext>
            </a:extLst>
          </p:cNvPr>
          <p:cNvSpPr/>
          <p:nvPr/>
        </p:nvSpPr>
        <p:spPr>
          <a:xfrm>
            <a:off x="6916592" y="4188434"/>
            <a:ext cx="323786" cy="36913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C0666221-D0A3-E345-91D4-8E7314F54A78}"/>
              </a:ext>
            </a:extLst>
          </p:cNvPr>
          <p:cNvSpPr txBox="1"/>
          <p:nvPr/>
        </p:nvSpPr>
        <p:spPr>
          <a:xfrm>
            <a:off x="7009725" y="6173631"/>
            <a:ext cx="1991251" cy="369332"/>
          </a:xfrm>
          <a:prstGeom prst="rect">
            <a:avLst/>
          </a:prstGeom>
          <a:noFill/>
        </p:spPr>
        <p:txBody>
          <a:bodyPr wrap="none" rtlCol="0">
            <a:spAutoFit/>
          </a:bodyPr>
          <a:lstStyle/>
          <a:p>
            <a:r>
              <a:rPr lang="en-GB" dirty="0"/>
              <a:t>page 844 AR6 WG1</a:t>
            </a:r>
          </a:p>
        </p:txBody>
      </p:sp>
      <p:sp>
        <p:nvSpPr>
          <p:cNvPr id="10" name="TextBox 9">
            <a:extLst>
              <a:ext uri="{FF2B5EF4-FFF2-40B4-BE49-F238E27FC236}">
                <a16:creationId xmlns:a16="http://schemas.microsoft.com/office/drawing/2014/main" id="{F97BB545-0EE0-7D22-216E-8D9BDBDD06C4}"/>
              </a:ext>
            </a:extLst>
          </p:cNvPr>
          <p:cNvSpPr txBox="1"/>
          <p:nvPr/>
        </p:nvSpPr>
        <p:spPr>
          <a:xfrm>
            <a:off x="4650435" y="1634094"/>
            <a:ext cx="877163" cy="923330"/>
          </a:xfrm>
          <a:prstGeom prst="rect">
            <a:avLst/>
          </a:prstGeom>
          <a:noFill/>
        </p:spPr>
        <p:txBody>
          <a:bodyPr wrap="none" rtlCol="0">
            <a:spAutoFit/>
          </a:bodyPr>
          <a:lstStyle/>
          <a:p>
            <a:r>
              <a:rPr lang="en-GB" sz="5400" dirty="0"/>
              <a:t>☀️</a:t>
            </a:r>
          </a:p>
        </p:txBody>
      </p:sp>
      <p:sp>
        <p:nvSpPr>
          <p:cNvPr id="28" name="Right Arrow 42">
            <a:extLst>
              <a:ext uri="{FF2B5EF4-FFF2-40B4-BE49-F238E27FC236}">
                <a16:creationId xmlns:a16="http://schemas.microsoft.com/office/drawing/2014/main" id="{F5A979B4-2F2F-6D3F-0CFD-2D09D57B3CC3}"/>
              </a:ext>
            </a:extLst>
          </p:cNvPr>
          <p:cNvSpPr/>
          <p:nvPr/>
        </p:nvSpPr>
        <p:spPr>
          <a:xfrm rot="2693161">
            <a:off x="5609723" y="2581978"/>
            <a:ext cx="1538633" cy="512947"/>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ight Arrow 43">
            <a:extLst>
              <a:ext uri="{FF2B5EF4-FFF2-40B4-BE49-F238E27FC236}">
                <a16:creationId xmlns:a16="http://schemas.microsoft.com/office/drawing/2014/main" id="{6A36385C-CB8E-BBA5-EF2E-61A49A7F00B3}"/>
              </a:ext>
            </a:extLst>
          </p:cNvPr>
          <p:cNvSpPr/>
          <p:nvPr/>
        </p:nvSpPr>
        <p:spPr>
          <a:xfrm rot="18944247">
            <a:off x="7158990" y="2726774"/>
            <a:ext cx="1522937" cy="251739"/>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ight Arrow 42">
            <a:extLst>
              <a:ext uri="{FF2B5EF4-FFF2-40B4-BE49-F238E27FC236}">
                <a16:creationId xmlns:a16="http://schemas.microsoft.com/office/drawing/2014/main" id="{FE64846D-EA49-FC07-1494-803428F04495}"/>
              </a:ext>
            </a:extLst>
          </p:cNvPr>
          <p:cNvSpPr/>
          <p:nvPr/>
        </p:nvSpPr>
        <p:spPr>
          <a:xfrm rot="2693161">
            <a:off x="5116066" y="3203366"/>
            <a:ext cx="2077824" cy="512947"/>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c 30">
            <a:extLst>
              <a:ext uri="{FF2B5EF4-FFF2-40B4-BE49-F238E27FC236}">
                <a16:creationId xmlns:a16="http://schemas.microsoft.com/office/drawing/2014/main" id="{91BB34F4-77C4-BE27-61E9-46CC6F474474}"/>
              </a:ext>
            </a:extLst>
          </p:cNvPr>
          <p:cNvSpPr/>
          <p:nvPr/>
        </p:nvSpPr>
        <p:spPr>
          <a:xfrm rot="19091942">
            <a:off x="1510289" y="4947573"/>
            <a:ext cx="9289376" cy="9040766"/>
          </a:xfrm>
          <a:prstGeom prst="arc">
            <a:avLst>
              <a:gd name="adj1" fmla="val 15799027"/>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 name="Oval 20">
            <a:extLst>
              <a:ext uri="{FF2B5EF4-FFF2-40B4-BE49-F238E27FC236}">
                <a16:creationId xmlns:a16="http://schemas.microsoft.com/office/drawing/2014/main" id="{1970C01B-5A49-7BEC-BB95-1369415CEA4F}"/>
              </a:ext>
            </a:extLst>
          </p:cNvPr>
          <p:cNvSpPr>
            <a:spLocks noChangeAspect="1"/>
          </p:cNvSpPr>
          <p:nvPr/>
        </p:nvSpPr>
        <p:spPr>
          <a:xfrm>
            <a:off x="7359982" y="4209883"/>
            <a:ext cx="323786" cy="345900"/>
          </a:xfrm>
          <a:prstGeom prst="ellipse">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7">
            <a:extLst>
              <a:ext uri="{FF2B5EF4-FFF2-40B4-BE49-F238E27FC236}">
                <a16:creationId xmlns:a16="http://schemas.microsoft.com/office/drawing/2014/main" id="{B2CE72B5-C914-00B5-B2F6-FFB35C9B470E}"/>
              </a:ext>
            </a:extLst>
          </p:cNvPr>
          <p:cNvSpPr txBox="1"/>
          <p:nvPr/>
        </p:nvSpPr>
        <p:spPr>
          <a:xfrm>
            <a:off x="6140565" y="4582528"/>
            <a:ext cx="1337226" cy="323165"/>
          </a:xfrm>
          <a:prstGeom prst="rect">
            <a:avLst/>
          </a:prstGeom>
          <a:noFill/>
        </p:spPr>
        <p:txBody>
          <a:bodyPr wrap="none" rtlCol="0">
            <a:spAutoFit/>
          </a:bodyPr>
          <a:lstStyle/>
          <a:p>
            <a:r>
              <a:rPr lang="en-GB" sz="1500" dirty="0"/>
              <a:t>black carbon</a:t>
            </a:r>
          </a:p>
        </p:txBody>
      </p:sp>
      <p:sp>
        <p:nvSpPr>
          <p:cNvPr id="6" name="TextBox 7">
            <a:extLst>
              <a:ext uri="{FF2B5EF4-FFF2-40B4-BE49-F238E27FC236}">
                <a16:creationId xmlns:a16="http://schemas.microsoft.com/office/drawing/2014/main" id="{06D8766C-421C-C0BC-08A7-4956C88374AD}"/>
              </a:ext>
            </a:extLst>
          </p:cNvPr>
          <p:cNvSpPr txBox="1"/>
          <p:nvPr/>
        </p:nvSpPr>
        <p:spPr>
          <a:xfrm>
            <a:off x="7020580" y="3840485"/>
            <a:ext cx="1423788" cy="323165"/>
          </a:xfrm>
          <a:prstGeom prst="rect">
            <a:avLst/>
          </a:prstGeom>
          <a:noFill/>
        </p:spPr>
        <p:txBody>
          <a:bodyPr wrap="none" rtlCol="0">
            <a:spAutoFit/>
          </a:bodyPr>
          <a:lstStyle/>
          <a:p>
            <a:r>
              <a:rPr lang="en-GB" sz="1500" dirty="0"/>
              <a:t>brown carbon</a:t>
            </a:r>
          </a:p>
        </p:txBody>
      </p:sp>
      <p:sp>
        <p:nvSpPr>
          <p:cNvPr id="8" name="TextBox 25">
            <a:extLst>
              <a:ext uri="{FF2B5EF4-FFF2-40B4-BE49-F238E27FC236}">
                <a16:creationId xmlns:a16="http://schemas.microsoft.com/office/drawing/2014/main" id="{30A3D8EB-DD00-0B99-35CE-49A4CACE58D9}"/>
              </a:ext>
            </a:extLst>
          </p:cNvPr>
          <p:cNvSpPr txBox="1"/>
          <p:nvPr/>
        </p:nvSpPr>
        <p:spPr>
          <a:xfrm>
            <a:off x="5979969" y="1322007"/>
            <a:ext cx="1350050" cy="369332"/>
          </a:xfrm>
          <a:prstGeom prst="rect">
            <a:avLst/>
          </a:prstGeom>
          <a:noFill/>
        </p:spPr>
        <p:txBody>
          <a:bodyPr wrap="none" rtlCol="0">
            <a:spAutoFit/>
          </a:bodyPr>
          <a:lstStyle/>
          <a:p>
            <a:r>
              <a:rPr lang="en-GB" b="1" dirty="0"/>
              <a:t>Direct effect</a:t>
            </a:r>
          </a:p>
        </p:txBody>
      </p:sp>
      <p:sp>
        <p:nvSpPr>
          <p:cNvPr id="11" name="Freeform 13">
            <a:extLst>
              <a:ext uri="{FF2B5EF4-FFF2-40B4-BE49-F238E27FC236}">
                <a16:creationId xmlns:a16="http://schemas.microsoft.com/office/drawing/2014/main" id="{2BA0B8BD-86FE-4CB1-2388-2BF1096A2CB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2" name="TextBox 14">
            <a:extLst>
              <a:ext uri="{FF2B5EF4-FFF2-40B4-BE49-F238E27FC236}">
                <a16:creationId xmlns:a16="http://schemas.microsoft.com/office/drawing/2014/main" id="{651E0F54-8C52-68E5-7F2C-ED12A6D76C10}"/>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Aerosols: aerosol-radiation interaction </a:t>
            </a:r>
          </a:p>
        </p:txBody>
      </p:sp>
      <p:sp>
        <p:nvSpPr>
          <p:cNvPr id="2" name="Oval 20">
            <a:extLst>
              <a:ext uri="{FF2B5EF4-FFF2-40B4-BE49-F238E27FC236}">
                <a16:creationId xmlns:a16="http://schemas.microsoft.com/office/drawing/2014/main" id="{FBC0068B-536E-4151-4524-76E00BC441B6}"/>
              </a:ext>
            </a:extLst>
          </p:cNvPr>
          <p:cNvSpPr>
            <a:spLocks noChangeAspect="1"/>
          </p:cNvSpPr>
          <p:nvPr/>
        </p:nvSpPr>
        <p:spPr>
          <a:xfrm>
            <a:off x="7777008" y="4213779"/>
            <a:ext cx="323786" cy="34590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7">
            <a:extLst>
              <a:ext uri="{FF2B5EF4-FFF2-40B4-BE49-F238E27FC236}">
                <a16:creationId xmlns:a16="http://schemas.microsoft.com/office/drawing/2014/main" id="{B6C1FB14-D8D9-EF7F-FB98-122C5F1498DB}"/>
              </a:ext>
            </a:extLst>
          </p:cNvPr>
          <p:cNvSpPr txBox="1"/>
          <p:nvPr/>
        </p:nvSpPr>
        <p:spPr>
          <a:xfrm>
            <a:off x="7938901" y="4529859"/>
            <a:ext cx="2803973" cy="323165"/>
          </a:xfrm>
          <a:prstGeom prst="rect">
            <a:avLst/>
          </a:prstGeom>
          <a:noFill/>
        </p:spPr>
        <p:txBody>
          <a:bodyPr wrap="none" rtlCol="0">
            <a:spAutoFit/>
          </a:bodyPr>
          <a:lstStyle/>
          <a:p>
            <a:r>
              <a:rPr lang="en-GB" sz="1500" dirty="0"/>
              <a:t>salts like ammonium sulphate</a:t>
            </a:r>
          </a:p>
        </p:txBody>
      </p:sp>
    </p:spTree>
    <p:extLst>
      <p:ext uri="{BB962C8B-B14F-4D97-AF65-F5344CB8AC3E}">
        <p14:creationId xmlns:p14="http://schemas.microsoft.com/office/powerpoint/2010/main" val="175076168"/>
      </p:ext>
    </p:extLst>
  </p:cSld>
  <p:clrMapOvr>
    <a:masterClrMapping/>
  </p:clrMapOvr>
  <mc:AlternateContent xmlns:mc="http://schemas.openxmlformats.org/markup-compatibility/2006" xmlns:p14="http://schemas.microsoft.com/office/powerpoint/2010/main">
    <mc:Choice Requires="p14">
      <p:transition spd="slow" p14:dur="2000" advTm="83586"/>
    </mc:Choice>
    <mc:Fallback xmlns="">
      <p:transition spd="slow" advTm="83586"/>
    </mc:Fallback>
  </mc:AlternateContent>
  <p:extLst>
    <p:ext uri="{3A86A75C-4F4B-4683-9AE1-C65F6400EC91}">
      <p14:laserTraceLst xmlns:p14="http://schemas.microsoft.com/office/powerpoint/2010/main">
        <p14:tracePtLst>
          <p14:tracePt t="25826" x="4737100" y="3981450"/>
          <p14:tracePt t="25826" x="4724400" y="3962400"/>
          <p14:tracePt t="25826" x="4724400" y="3822700"/>
          <p14:tracePt t="25826" x="4724400" y="3657600"/>
          <p14:tracePt t="25826" x="4724400" y="3409950"/>
          <p14:tracePt t="25826" x="4724400" y="2667000"/>
          <p14:tracePt t="25826" x="4724400" y="1066800"/>
          <p14:tracePt t="25826" x="6057900" y="215900"/>
          <p14:tracePt t="25826" x="6045200" y="355600"/>
          <p14:tracePt t="25826" x="6007100" y="584200"/>
          <p14:tracePt t="25826" x="5937250" y="1136650"/>
          <p14:tracePt t="25826" x="5899150" y="1454150"/>
          <p14:tracePt t="25826" x="5867400" y="1809750"/>
          <p14:tracePt t="25826" x="5848350" y="2203450"/>
          <p14:tracePt t="25826" x="5848350" y="2400300"/>
          <p14:tracePt t="25826" x="5848350" y="2508250"/>
          <p14:tracePt t="25826" x="5829300" y="2609850"/>
          <p14:tracePt t="25826" x="5829300" y="2679700"/>
          <p14:tracePt t="25826" x="5829300" y="2717800"/>
          <p14:tracePt t="25826" x="5829300" y="2755900"/>
          <p14:tracePt t="25826" x="5829300" y="2768600"/>
          <p14:tracePt t="25826" x="5829300" y="2787650"/>
          <p14:tracePt t="25826" x="5829300" y="2806700"/>
          <p14:tracePt t="25826" x="5829300" y="2825750"/>
          <p14:tracePt t="25826" x="5829300" y="2844800"/>
          <p14:tracePt t="25826" x="5829300" y="2876550"/>
          <p14:tracePt t="25826" x="5829300" y="2914650"/>
          <p14:tracePt t="25826" x="5829300" y="2965450"/>
          <p14:tracePt t="25826" x="5810250" y="3022600"/>
          <p14:tracePt t="25826" x="5810250" y="3035300"/>
          <p14:tracePt t="25826" x="5810250" y="3073400"/>
          <p14:tracePt t="25826" x="5791200" y="3111500"/>
          <p14:tracePt t="25826" x="5778500" y="3124200"/>
          <p14:tracePt t="25826" x="5740400" y="3162300"/>
          <p14:tracePt t="25826" x="5651500" y="3162300"/>
          <p14:tracePt t="25826" x="5511800" y="3003550"/>
          <p14:tracePt t="25826" x="5295900" y="2590800"/>
          <p14:tracePt t="25826" x="5156200" y="2203450"/>
          <p14:tracePt t="25826" x="5048250" y="1866900"/>
          <p14:tracePt t="25826" x="4978400" y="1631950"/>
          <p14:tracePt t="25826" x="4921250" y="1454150"/>
          <p14:tracePt t="25826" x="4902200" y="1365250"/>
          <p14:tracePt t="25826" x="4902200" y="1352550"/>
          <p14:tracePt t="25826" x="4902200" y="1333500"/>
          <p14:tracePt t="25826" x="4902200" y="1352550"/>
          <p14:tracePt t="25826" x="4902200" y="1365250"/>
          <p14:tracePt t="25826" x="4921250" y="1403350"/>
          <p14:tracePt t="25826" x="4940300" y="1422400"/>
          <p14:tracePt t="25826" x="4978400" y="1454150"/>
          <p14:tracePt t="25826" x="5010150" y="1492250"/>
          <p14:tracePt t="25826" x="5029200" y="1511300"/>
          <p14:tracePt t="25826" x="5067300" y="1581150"/>
          <p14:tracePt t="25826" x="5080000" y="1600200"/>
          <p14:tracePt t="25826" x="5099050" y="1631950"/>
          <p14:tracePt t="25826" x="5137150" y="1670050"/>
          <p14:tracePt t="25826" x="5156200" y="1708150"/>
          <p14:tracePt t="25826" x="5168900" y="1720850"/>
          <p14:tracePt t="25826" x="5187950" y="1758950"/>
          <p14:tracePt t="25826" x="5187950" y="1778000"/>
          <p14:tracePt t="25826" x="5207000" y="1797050"/>
          <p14:tracePt t="25826" x="5226050" y="1809750"/>
          <p14:tracePt t="25826" x="5226050" y="1828800"/>
          <p14:tracePt t="25826" x="5245100" y="1828800"/>
          <p14:tracePt t="25826" x="5257800" y="1828800"/>
          <p14:tracePt t="25826" x="5276850" y="1828800"/>
          <p14:tracePt t="25826" x="5295900" y="1847850"/>
          <p14:tracePt t="25826" x="5314950" y="1847850"/>
          <p14:tracePt t="25826" x="5334000" y="1885950"/>
          <p14:tracePt t="25826" x="5365750" y="1898650"/>
          <p14:tracePt t="25826" x="5384800" y="1936750"/>
          <p14:tracePt t="25826" x="5403850" y="1974850"/>
          <p14:tracePt t="25826" x="5422900" y="2006600"/>
          <p14:tracePt t="25826" x="5454650" y="2025650"/>
          <p14:tracePt t="25826" x="5473700" y="2063750"/>
          <p14:tracePt t="25826" x="5511800" y="2133600"/>
          <p14:tracePt t="25826" x="5524500" y="2152650"/>
          <p14:tracePt t="25826" x="5562600" y="2241550"/>
          <p14:tracePt t="25826" x="5600700" y="2311400"/>
          <p14:tracePt t="25826" x="5613400" y="2330450"/>
          <p14:tracePt t="25826" x="5632450" y="2362200"/>
          <p14:tracePt t="25826" x="5651500" y="2400300"/>
          <p14:tracePt t="25826" x="5689600" y="2419350"/>
          <p14:tracePt t="25826" x="5721350" y="2470150"/>
          <p14:tracePt t="25826" x="5759450" y="2520950"/>
          <p14:tracePt t="25826" x="5810250" y="2559050"/>
          <p14:tracePt t="25826" x="5848350" y="2590800"/>
          <p14:tracePt t="25826" x="5880100" y="2628900"/>
          <p14:tracePt t="25826" x="5918200" y="2647950"/>
          <p14:tracePt t="25826" x="5937250" y="2667000"/>
          <p14:tracePt t="25826" x="5956300" y="2679700"/>
          <p14:tracePt t="25826" x="5969000" y="2698750"/>
          <p14:tracePt t="25826" x="5988050" y="2717800"/>
          <p14:tracePt t="25826" x="6026150" y="2755900"/>
          <p14:tracePt t="25826" x="6057900" y="2787650"/>
          <p14:tracePt t="25826" x="6096000" y="2825750"/>
          <p14:tracePt t="25826" x="6146800" y="2876550"/>
          <p14:tracePt t="25826" x="6165850" y="2895600"/>
          <p14:tracePt t="25826" x="6203950" y="2946400"/>
          <p14:tracePt t="25826" x="6223000" y="2965450"/>
          <p14:tracePt t="25826" x="6235700" y="2984500"/>
          <p14:tracePt t="25826" x="6254750" y="3003550"/>
          <p14:tracePt t="25826" x="6292850" y="3035300"/>
          <p14:tracePt t="25826" x="6311900" y="3054350"/>
          <p14:tracePt t="25826" x="6324600" y="3073400"/>
          <p14:tracePt t="25826" x="6324600" y="3092450"/>
          <p14:tracePt t="25826" x="6362700" y="3111500"/>
          <p14:tracePt t="25826" x="6381750" y="3124200"/>
          <p14:tracePt t="25826" x="6400800" y="3124200"/>
          <p14:tracePt t="25826" x="6470650" y="3124200"/>
          <p14:tracePt t="25826" x="6540500" y="3124200"/>
          <p14:tracePt t="25826" x="6629400" y="3124200"/>
          <p14:tracePt t="25826" x="6680200" y="3124200"/>
          <p14:tracePt t="25826" x="6769100" y="3124200"/>
          <p14:tracePt t="25826" x="6826250" y="3124200"/>
          <p14:tracePt t="25826" x="6877050" y="3143250"/>
          <p14:tracePt t="25826" x="6896100" y="3162300"/>
          <p14:tracePt t="25826" x="6915150" y="3162300"/>
          <p14:tracePt t="25826" x="6915150" y="3181350"/>
          <p14:tracePt t="25826" x="6915150" y="3200400"/>
          <p14:tracePt t="25826" x="6934200" y="3251200"/>
          <p14:tracePt t="25826" x="6946900" y="3340100"/>
          <p14:tracePt t="25826" x="6946900" y="3429000"/>
          <p14:tracePt t="25826" x="6946900" y="3498850"/>
          <p14:tracePt t="25826" x="6946900" y="3587750"/>
          <p14:tracePt t="25826" x="6946900" y="3644900"/>
          <p14:tracePt t="25826" x="6946900" y="3676650"/>
          <p14:tracePt t="25826" x="6946900" y="3714750"/>
          <p14:tracePt t="25826" x="6946900" y="3733800"/>
          <p14:tracePt t="25826" x="6934200" y="3746500"/>
          <p14:tracePt t="25826" x="6934200" y="3765550"/>
          <p14:tracePt t="25826" x="6934200" y="3784600"/>
          <p14:tracePt t="25826" x="6934200" y="3803650"/>
          <p14:tracePt t="25826" x="6934200" y="3822700"/>
          <p14:tracePt t="25826" x="6915150" y="3822700"/>
          <p14:tracePt t="25826" x="6896100" y="3822700"/>
          <p14:tracePt t="25826" x="6858000" y="3765550"/>
          <p14:tracePt t="25826" x="6826250" y="3714750"/>
          <p14:tracePt t="25826" x="6788150" y="3644900"/>
          <p14:tracePt t="25826" x="6769100" y="3556000"/>
          <p14:tracePt t="25826" x="6718300" y="3429000"/>
          <p14:tracePt t="25826" x="6648450" y="3289300"/>
          <p14:tracePt t="25826" x="6578600" y="3143250"/>
          <p14:tracePt t="25826" x="6521450" y="3003550"/>
          <p14:tracePt t="25826" x="6470650" y="2876550"/>
          <p14:tracePt t="25826" x="6413500" y="2787650"/>
          <p14:tracePt t="25826" x="6400800" y="2717800"/>
          <p14:tracePt t="25826" x="6381750" y="2679700"/>
          <p14:tracePt t="25826" x="6381750" y="2647950"/>
          <p14:tracePt t="25826" x="6362700" y="2647950"/>
          <p14:tracePt t="25826" x="6362700" y="2628900"/>
          <p14:tracePt t="25826" x="6343650" y="2628900"/>
          <p14:tracePt t="25826" x="6311900" y="2590800"/>
          <p14:tracePt t="25826" x="6273800" y="2578100"/>
          <p14:tracePt t="25826" x="6254750" y="2520950"/>
          <p14:tracePt t="25826" x="6223000" y="2489200"/>
          <p14:tracePt t="25826" x="6223000" y="2470150"/>
          <p14:tracePt t="25826" x="6203950" y="2432050"/>
          <p14:tracePt t="25826" x="6165850" y="2432050"/>
          <p14:tracePt t="25826" x="6146800" y="2432050"/>
          <p14:tracePt t="25826" x="6134100" y="2432050"/>
          <p14:tracePt t="25826" x="6096000" y="2432050"/>
          <p14:tracePt t="25826" x="6076950" y="2432050"/>
          <p14:tracePt t="25826" x="6057900" y="2451100"/>
          <p14:tracePt t="25826" x="6057900" y="2470150"/>
          <p14:tracePt t="25826" x="6045200" y="2489200"/>
          <p14:tracePt t="25826" x="6026150" y="2489200"/>
          <p14:tracePt t="25826" x="6026150" y="2508250"/>
          <p14:tracePt t="25826" x="6007100" y="2508250"/>
          <p14:tracePt t="25826" x="6007100" y="2520950"/>
          <p14:tracePt t="25826" x="6007100" y="2540000"/>
          <p14:tracePt t="25826" x="6026150" y="2559050"/>
          <p14:tracePt t="25826" x="6057900" y="2590800"/>
          <p14:tracePt t="25826" x="6146800" y="2717800"/>
          <p14:tracePt t="25826" x="6203950" y="2787650"/>
          <p14:tracePt t="25826" x="6254750" y="2844800"/>
          <p14:tracePt t="25826" x="6324600" y="2933700"/>
          <p14:tracePt t="25826" x="6362700" y="2965450"/>
          <p14:tracePt t="25826" x="6432550" y="3022600"/>
          <p14:tracePt t="25826" x="6521450" y="3111500"/>
          <p14:tracePt t="25826" x="6610350" y="3181350"/>
          <p14:tracePt t="25826" x="6699250" y="3251200"/>
          <p14:tracePt t="25826" x="6826250" y="3321050"/>
          <p14:tracePt t="25826" x="6915150" y="3409950"/>
          <p14:tracePt t="25826" x="7035800" y="3479800"/>
          <p14:tracePt t="25826" x="7124700" y="3556000"/>
          <p14:tracePt t="25826" x="7213600" y="3606800"/>
          <p14:tracePt t="25826" x="7251700" y="3625850"/>
          <p14:tracePt t="25826" x="7289800" y="3657600"/>
          <p14:tracePt t="25826" x="7321550" y="3657600"/>
          <p14:tracePt t="25826" x="7340600" y="3644900"/>
          <p14:tracePt t="25826" x="7359650" y="3644900"/>
          <p14:tracePt t="25826" x="7378700" y="3644900"/>
          <p14:tracePt t="25826" x="7391400" y="3644900"/>
          <p14:tracePt t="25826" x="7410450" y="3644900"/>
          <p14:tracePt t="25826" x="7429500" y="3644900"/>
          <p14:tracePt t="25826" x="7480300" y="3587750"/>
          <p14:tracePt t="25826" x="7588250" y="3467100"/>
          <p14:tracePt t="25826" x="7715250" y="3321050"/>
          <p14:tracePt t="25826" x="7835900" y="3200400"/>
          <p14:tracePt t="25826" x="7994650" y="3035300"/>
          <p14:tracePt t="25826" x="8172450" y="2895600"/>
          <p14:tracePt t="25826" x="8388350" y="2755900"/>
          <p14:tracePt t="25826" x="8547100" y="2628900"/>
          <p14:tracePt t="25826" x="8693150" y="2540000"/>
          <p14:tracePt t="25826" x="8794750" y="2470150"/>
          <p14:tracePt t="25826" x="8851900" y="2432050"/>
          <p14:tracePt t="25826" x="8870950" y="2419350"/>
          <p14:tracePt t="25826" x="8851900" y="2432050"/>
          <p14:tracePt t="25826" x="8832850" y="2451100"/>
          <p14:tracePt t="25826" x="8813800" y="2451100"/>
          <p14:tracePt t="25826" x="8763000" y="2470150"/>
          <p14:tracePt t="25826" x="8693150" y="2489200"/>
          <p14:tracePt t="25826" x="8616950" y="2508250"/>
          <p14:tracePt t="25826" x="8566150" y="2508250"/>
          <p14:tracePt t="25826" x="8515350" y="2508250"/>
          <p14:tracePt t="25826" x="8439150" y="2470150"/>
          <p14:tracePt t="25826" x="8318500" y="2381250"/>
          <p14:tracePt t="25826" x="8191500" y="2254250"/>
          <p14:tracePt t="25826" x="8051800" y="2114550"/>
          <p14:tracePt t="25826" x="7893050" y="1955800"/>
          <p14:tracePt t="25826" x="7747000" y="1809750"/>
          <p14:tracePt t="25826" x="7607300" y="1631950"/>
          <p14:tracePt t="25826" x="7499350" y="1441450"/>
          <p14:tracePt t="25826" x="7429500" y="1244600"/>
          <p14:tracePt t="25826" x="7340600" y="996950"/>
          <p14:tracePt t="25826" x="7289800" y="749300"/>
          <p14:tracePt t="25826" x="7251700" y="482600"/>
          <p14:tracePt t="25826" x="7213600" y="266700"/>
          <p14:tracePt t="26110" x="7092950" y="177800"/>
          <p14:tracePt t="26126" x="7092950" y="266700"/>
          <p14:tracePt t="26132" x="7092950" y="304800"/>
          <p14:tracePt t="26138" x="7092950" y="336550"/>
          <p14:tracePt t="26202" x="7073900" y="355600"/>
          <p14:tracePt t="26256" x="7073900" y="336550"/>
          <p14:tracePt t="26268" x="7054850" y="336550"/>
          <p14:tracePt t="26284" x="7004050" y="317500"/>
          <p14:tracePt t="26290" x="6946900" y="317500"/>
          <p14:tracePt t="26312" x="6788150" y="336550"/>
          <p14:tracePt t="26316" x="6699250" y="374650"/>
          <p14:tracePt t="26335" x="6578600" y="406400"/>
          <p14:tracePt t="26340" x="6400800" y="495300"/>
          <p14:tracePt t="26345" x="6324600" y="552450"/>
          <p14:tracePt t="26371" x="6203950" y="692150"/>
          <p14:tracePt t="26378" x="6134100" y="800100"/>
          <p14:tracePt t="26389" x="6096000" y="958850"/>
          <p14:tracePt t="26396" x="6045200" y="1136650"/>
          <p14:tracePt t="26405" x="6007100" y="1333500"/>
          <p14:tracePt t="26412" x="5937250" y="1720850"/>
          <p14:tracePt t="26422" x="5937250" y="1885950"/>
          <p14:tracePt t="26429" x="5899150" y="2025650"/>
          <p14:tracePt t="26438" x="5899150" y="2095500"/>
          <p14:tracePt t="26447" x="5880100" y="2133600"/>
          <p14:tracePt t="26455" x="5880100" y="2152650"/>
          <p14:tracePt t="26546" x="5880100" y="2165350"/>
          <p14:tracePt t="26559" x="5867400" y="2184400"/>
          <p14:tracePt t="26572" x="5848350" y="2222500"/>
          <p14:tracePt t="26582" x="5848350" y="2254250"/>
          <p14:tracePt t="26588" x="5829300" y="2330450"/>
          <p14:tracePt t="26596" x="5829300" y="2381250"/>
          <p14:tracePt t="26611" x="5829300" y="2432050"/>
          <p14:tracePt t="26615" x="5810250" y="2489200"/>
          <p14:tracePt t="26622" x="5810250" y="2508250"/>
          <p14:tracePt t="26629" x="5810250" y="2559050"/>
          <p14:tracePt t="26638" x="5810250" y="2609850"/>
          <p14:tracePt t="26645" x="5778500" y="2667000"/>
          <p14:tracePt t="26655" x="5778500" y="2755900"/>
          <p14:tracePt t="26662" x="5778500" y="2806700"/>
          <p14:tracePt t="26670" x="5759450" y="2857500"/>
          <p14:tracePt t="26679" x="5740400" y="2876550"/>
          <p14:tracePt t="26799" x="5740400" y="2895600"/>
          <p14:tracePt t="26811" x="5740400" y="2876550"/>
          <p14:tracePt t="26833" x="5759450" y="2876550"/>
          <p14:tracePt t="26855" x="5759450" y="2857500"/>
          <p14:tracePt t="26876" x="5778500" y="2857500"/>
          <p14:tracePt t="26902" x="5778500" y="2844800"/>
          <p14:tracePt t="26950" x="5791200" y="2825750"/>
          <p14:tracePt t="26979" x="5791200" y="2806700"/>
          <p14:tracePt t="26992" x="5810250" y="2806700"/>
          <p14:tracePt t="27004" x="5810250" y="2787650"/>
          <p14:tracePt t="27012" x="5829300" y="2787650"/>
          <p14:tracePt t="27046" x="5829300" y="2768600"/>
          <p14:tracePt t="27202" x="5848350" y="2768600"/>
          <p14:tracePt t="27233" x="5867400" y="2787650"/>
          <p14:tracePt t="27246" x="5880100" y="2787650"/>
          <p14:tracePt t="27272" x="5956300" y="2825750"/>
          <p14:tracePt t="27277" x="5969000" y="2844800"/>
          <p14:tracePt t="27281" x="5988050" y="2844800"/>
          <p14:tracePt t="27299" x="6045200" y="2876550"/>
          <p14:tracePt t="27312" x="6134100" y="2914650"/>
          <p14:tracePt t="27327" x="6184900" y="2933700"/>
          <p14:tracePt t="27339" x="6235700" y="2965450"/>
          <p14:tracePt t="27349" x="6273800" y="2984500"/>
          <p14:tracePt t="27354" x="6311900" y="3003550"/>
          <p14:tracePt t="27368" x="6381750" y="3035300"/>
          <p14:tracePt t="27378" x="6400800" y="3035300"/>
          <p14:tracePt t="27388" x="6413500" y="3054350"/>
          <p14:tracePt t="27400" x="6413500" y="3073400"/>
          <p14:tracePt t="27404" x="6432550" y="3073400"/>
          <p14:tracePt t="27413" x="6451600" y="3092450"/>
          <p14:tracePt t="27420" x="6489700" y="3111500"/>
          <p14:tracePt t="27429" x="6521450" y="3143250"/>
          <p14:tracePt t="27436" x="6591300" y="3162300"/>
          <p14:tracePt t="27457" x="6667500" y="3232150"/>
          <p14:tracePt t="27462" x="6826250" y="3302000"/>
          <p14:tracePt t="27469" x="6896100" y="3359150"/>
          <p14:tracePt t="27479" x="6946900" y="3390900"/>
          <p14:tracePt t="27487" x="7023100" y="3409950"/>
          <p14:tracePt t="27495" x="7054850" y="3448050"/>
          <p14:tracePt t="27503" x="7092950" y="3448050"/>
          <p14:tracePt t="27521" x="7112000" y="3467100"/>
          <p14:tracePt t="27574" x="7124700" y="3467100"/>
          <p14:tracePt t="27643" x="7143750" y="3479800"/>
          <p14:tracePt t="27656" x="7162800" y="3498850"/>
          <p14:tracePt t="27660" x="7181850" y="3498850"/>
          <p14:tracePt t="27665" x="7213600" y="3517900"/>
          <p14:tracePt t="27679" x="7232650" y="3536950"/>
          <p14:tracePt t="27683" x="7251700" y="3556000"/>
          <p14:tracePt t="27696" x="7289800" y="3568700"/>
          <p14:tracePt t="27701" x="7302500" y="3568700"/>
          <p14:tracePt t="27718" x="7321550" y="3568700"/>
          <p14:tracePt t="27741" x="7340600" y="3587750"/>
          <p14:tracePt t="27902" x="7359650" y="3587750"/>
          <p14:tracePt t="27913" x="7378700" y="3587750"/>
          <p14:tracePt t="27925" x="7391400" y="3568700"/>
          <p14:tracePt t="27930" x="7429500" y="3536950"/>
          <p14:tracePt t="27944" x="7569200" y="3429000"/>
          <p14:tracePt t="27957" x="7658100" y="3390900"/>
          <p14:tracePt t="27962" x="7766050" y="3321050"/>
          <p14:tracePt t="27975" x="7962900" y="3213100"/>
          <p14:tracePt t="27987" x="8070850" y="3162300"/>
          <p14:tracePt t="28002" x="8248650" y="3054350"/>
          <p14:tracePt t="28015" x="8350250" y="3003550"/>
          <p14:tracePt t="28032" x="8426450" y="2946400"/>
          <p14:tracePt t="28053" x="8439150" y="2933700"/>
          <p14:tracePt t="28072" x="8458200" y="2914650"/>
          <p14:tracePt t="28085" x="8458200" y="2895600"/>
          <p14:tracePt t="28098" x="8477250" y="2895600"/>
          <p14:tracePt t="28139" x="8477250" y="2876550"/>
          <p14:tracePt t="28149" x="8496300" y="2876550"/>
          <p14:tracePt t="28166" x="8515350" y="2844800"/>
          <p14:tracePt t="28170" x="8528050" y="2844800"/>
          <p14:tracePt t="28186" x="8547100" y="2806700"/>
          <p14:tracePt t="28204" x="8566150" y="2787650"/>
          <p14:tracePt t="28234" x="8585200" y="2768600"/>
          <p14:tracePt t="35966" x="8566150" y="2768600"/>
          <p14:tracePt t="35996" x="8547100" y="2768600"/>
          <p14:tracePt t="36004" x="8547100" y="2787650"/>
          <p14:tracePt t="36013" x="8515350" y="2806700"/>
          <p14:tracePt t="36020" x="8496300" y="2825750"/>
          <p14:tracePt t="36037" x="8458200" y="2857500"/>
          <p14:tracePt t="36046" x="8369300" y="2946400"/>
          <p14:tracePt t="36064" x="8318500" y="3003550"/>
          <p14:tracePt t="36080" x="8248650" y="3143250"/>
          <p14:tracePt t="36095" x="8140700" y="3302000"/>
          <p14:tracePt t="36112" x="8051800" y="3467100"/>
          <p14:tracePt t="36118" x="7943850" y="3657600"/>
          <p14:tracePt t="36129" x="7893050" y="3714750"/>
          <p14:tracePt t="36134" x="7854950" y="3784600"/>
          <p14:tracePt t="36146" x="7804150" y="3835400"/>
          <p14:tracePt t="36164" x="7785100" y="3873500"/>
          <p14:tracePt t="36181" x="7727950" y="3924300"/>
          <p14:tracePt t="36197" x="7715250" y="3981450"/>
          <p14:tracePt t="36214" x="7696200" y="4000500"/>
          <p14:tracePt t="36230" x="7677150" y="4032250"/>
          <p14:tracePt t="36248" x="7626350" y="4121150"/>
          <p14:tracePt t="36264" x="7588250" y="4191000"/>
          <p14:tracePt t="36281" x="7569200" y="4248150"/>
          <p14:tracePt t="36297" x="7556500" y="4279900"/>
          <p14:tracePt t="36314" x="7518400" y="4318000"/>
          <p14:tracePt t="36331" x="7480300" y="4387850"/>
          <p14:tracePt t="36349" x="7410450" y="4457700"/>
          <p14:tracePt t="36364" x="7289800" y="4616450"/>
          <p14:tracePt t="36381" x="7251700" y="4654550"/>
          <p14:tracePt t="36397" x="7213600" y="4705350"/>
          <p14:tracePt t="36416" x="7213600" y="4724400"/>
          <p14:tracePt t="36422" x="7200900" y="4724400"/>
          <p14:tracePt t="36449" x="7200900" y="4743450"/>
          <p14:tracePt t="36465" x="7181850" y="4762500"/>
          <p14:tracePt t="36482" x="7162800" y="4794250"/>
          <p14:tracePt t="36562" x="7162800" y="4813300"/>
          <p14:tracePt t="36702" x="7162800" y="4794250"/>
          <p14:tracePt t="36727" x="7162800" y="4781550"/>
          <p14:tracePt t="36739" x="7162800" y="4762500"/>
          <p14:tracePt t="36762" x="7162800" y="4743450"/>
          <p14:tracePt t="36780" x="7181850" y="4743450"/>
          <p14:tracePt t="36796" x="7181850" y="4724400"/>
          <p14:tracePt t="46747" x="7213600" y="4724400"/>
          <p14:tracePt t="46753" x="7232650" y="4705350"/>
          <p14:tracePt t="46766" x="7270750" y="4692650"/>
          <p14:tracePt t="46770" x="7302500" y="4692650"/>
          <p14:tracePt t="46784" x="7378700" y="4673600"/>
          <p14:tracePt t="46797" x="7391400" y="4673600"/>
          <p14:tracePt t="46801" x="7429500" y="4654550"/>
          <p14:tracePt t="46814" x="7467600" y="4654550"/>
          <p14:tracePt t="46942" x="7480300" y="4654550"/>
          <p14:tracePt t="46963" x="7499350" y="4654550"/>
          <p14:tracePt t="47004" x="7518400" y="4654550"/>
          <p14:tracePt t="47018" x="7537450" y="4654550"/>
          <p14:tracePt t="47031" x="7556500" y="4654550"/>
          <p14:tracePt t="50566" x="7448550" y="4603750"/>
          <p14:tracePt t="50578" x="7302500" y="4495800"/>
          <p14:tracePt t="50596" x="7143750" y="4368800"/>
          <p14:tracePt t="50600" x="6946900" y="4248150"/>
          <p14:tracePt t="50604" x="6788150" y="4140200"/>
          <p14:tracePt t="50612" x="6667500" y="4051300"/>
          <p14:tracePt t="50621" x="6559550" y="4000500"/>
          <p14:tracePt t="50629" x="6502400" y="3943350"/>
          <p14:tracePt t="50639" x="6451600" y="3924300"/>
          <p14:tracePt t="50711" x="6451600" y="3822700"/>
          <p14:tracePt t="50725" x="6502400" y="3625850"/>
          <p14:tracePt t="50729" x="6610350" y="3340100"/>
          <p14:tracePt t="50741" x="6807200" y="2667000"/>
          <p14:tracePt t="50746" x="7004050" y="1898650"/>
          <p14:tracePt t="50760" x="7359650" y="355600"/>
          <p14:tracePt t="51674" x="0" y="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descr="Graphical user interface&#10;&#10;Description automatically generated">
            <a:extLst>
              <a:ext uri="{FF2B5EF4-FFF2-40B4-BE49-F238E27FC236}">
                <a16:creationId xmlns:a16="http://schemas.microsoft.com/office/drawing/2014/main" id="{6CAF6248-BADC-5134-933C-8C389E35DB01}"/>
              </a:ext>
            </a:extLst>
          </p:cNvPr>
          <p:cNvPicPr>
            <a:picLocks noChangeAspect="1"/>
          </p:cNvPicPr>
          <p:nvPr/>
        </p:nvPicPr>
        <p:blipFill rotWithShape="1">
          <a:blip r:embed="rId4">
            <a:extLst>
              <a:ext uri="{28A0092B-C50C-407E-A947-70E740481C1C}">
                <a14:useLocalDpi xmlns:a14="http://schemas.microsoft.com/office/drawing/2010/main" val="0"/>
              </a:ext>
            </a:extLst>
          </a:blip>
          <a:srcRect l="46067" t="66610" r="49098" b="24760"/>
          <a:stretch/>
        </p:blipFill>
        <p:spPr>
          <a:xfrm>
            <a:off x="2838458" y="4838103"/>
            <a:ext cx="1563207" cy="1569501"/>
          </a:xfrm>
          <a:prstGeom prst="rect">
            <a:avLst/>
          </a:prstGeom>
        </p:spPr>
      </p:pic>
      <p:sp>
        <p:nvSpPr>
          <p:cNvPr id="8" name="TextBox 7">
            <a:extLst>
              <a:ext uri="{FF2B5EF4-FFF2-40B4-BE49-F238E27FC236}">
                <a16:creationId xmlns:a16="http://schemas.microsoft.com/office/drawing/2014/main" id="{B80395BF-8223-F1C0-8BE5-3B7519855A6A}"/>
              </a:ext>
            </a:extLst>
          </p:cNvPr>
          <p:cNvSpPr txBox="1"/>
          <p:nvPr/>
        </p:nvSpPr>
        <p:spPr>
          <a:xfrm>
            <a:off x="1269182" y="4147990"/>
            <a:ext cx="2394933" cy="830997"/>
          </a:xfrm>
          <a:prstGeom prst="rect">
            <a:avLst/>
          </a:prstGeom>
          <a:noFill/>
        </p:spPr>
        <p:txBody>
          <a:bodyPr wrap="square" rtlCol="0">
            <a:spAutoFit/>
          </a:bodyPr>
          <a:lstStyle/>
          <a:p>
            <a:pPr algn="r"/>
            <a:r>
              <a:rPr lang="en-GB" sz="2400" baseline="-25000" dirty="0"/>
              <a:t>Emission of particles, </a:t>
            </a:r>
          </a:p>
          <a:p>
            <a:pPr algn="r"/>
            <a:r>
              <a:rPr lang="en-GB" sz="2400" baseline="-25000" dirty="0"/>
              <a:t>and gases that can become particle</a:t>
            </a:r>
          </a:p>
        </p:txBody>
      </p:sp>
      <p:cxnSp>
        <p:nvCxnSpPr>
          <p:cNvPr id="9" name="Straight Arrow Connector 8">
            <a:extLst>
              <a:ext uri="{FF2B5EF4-FFF2-40B4-BE49-F238E27FC236}">
                <a16:creationId xmlns:a16="http://schemas.microsoft.com/office/drawing/2014/main" id="{EC71176C-C33D-978F-B760-FE22F8554F46}"/>
              </a:ext>
            </a:extLst>
          </p:cNvPr>
          <p:cNvCxnSpPr>
            <a:cxnSpLocks/>
          </p:cNvCxnSpPr>
          <p:nvPr/>
        </p:nvCxnSpPr>
        <p:spPr>
          <a:xfrm flipV="1">
            <a:off x="3785304" y="3965857"/>
            <a:ext cx="6032" cy="111407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14" name="Content Placeholder 4" descr="Graphical user interface&#10;&#10;Description automatically generated">
            <a:extLst>
              <a:ext uri="{FF2B5EF4-FFF2-40B4-BE49-F238E27FC236}">
                <a16:creationId xmlns:a16="http://schemas.microsoft.com/office/drawing/2014/main" id="{946B2665-2B6E-ACFC-C7E0-0F90BFB57836}"/>
              </a:ext>
            </a:extLst>
          </p:cNvPr>
          <p:cNvPicPr>
            <a:picLocks noChangeAspect="1"/>
          </p:cNvPicPr>
          <p:nvPr/>
        </p:nvPicPr>
        <p:blipFill rotWithShape="1">
          <a:blip r:embed="rId4">
            <a:extLst>
              <a:ext uri="{28A0092B-C50C-407E-A947-70E740481C1C}">
                <a14:useLocalDpi xmlns:a14="http://schemas.microsoft.com/office/drawing/2010/main" val="0"/>
              </a:ext>
            </a:extLst>
          </a:blip>
          <a:srcRect l="46067" t="66610" r="49098" b="24760"/>
          <a:stretch/>
        </p:blipFill>
        <p:spPr>
          <a:xfrm>
            <a:off x="8370825" y="4891781"/>
            <a:ext cx="1563207" cy="1569501"/>
          </a:xfrm>
          <a:prstGeom prst="rect">
            <a:avLst/>
          </a:prstGeom>
        </p:spPr>
      </p:pic>
      <p:sp>
        <p:nvSpPr>
          <p:cNvPr id="10" name="Arc 9">
            <a:extLst>
              <a:ext uri="{FF2B5EF4-FFF2-40B4-BE49-F238E27FC236}">
                <a16:creationId xmlns:a16="http://schemas.microsoft.com/office/drawing/2014/main" id="{8830A709-FB83-D2E0-BC70-1876471FE4C1}"/>
              </a:ext>
            </a:extLst>
          </p:cNvPr>
          <p:cNvSpPr/>
          <p:nvPr/>
        </p:nvSpPr>
        <p:spPr>
          <a:xfrm rot="19091942">
            <a:off x="1587862" y="5816162"/>
            <a:ext cx="9289376" cy="9040766"/>
          </a:xfrm>
          <a:prstGeom prst="arc">
            <a:avLst>
              <a:gd name="adj1" fmla="val 16363668"/>
              <a:gd name="adj2" fmla="val 2111801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TextBox 25">
            <a:extLst>
              <a:ext uri="{FF2B5EF4-FFF2-40B4-BE49-F238E27FC236}">
                <a16:creationId xmlns:a16="http://schemas.microsoft.com/office/drawing/2014/main" id="{97838118-AB65-AB11-A9B0-88A86F617BDD}"/>
              </a:ext>
            </a:extLst>
          </p:cNvPr>
          <p:cNvSpPr txBox="1"/>
          <p:nvPr/>
        </p:nvSpPr>
        <p:spPr>
          <a:xfrm>
            <a:off x="331754" y="1416811"/>
            <a:ext cx="5609228" cy="369332"/>
          </a:xfrm>
          <a:prstGeom prst="rect">
            <a:avLst/>
          </a:prstGeom>
          <a:noFill/>
        </p:spPr>
        <p:txBody>
          <a:bodyPr wrap="none" rtlCol="0">
            <a:spAutoFit/>
          </a:bodyPr>
          <a:lstStyle/>
          <a:p>
            <a:r>
              <a:rPr lang="en-GB" b="1" dirty="0"/>
              <a:t>Indirect effect: </a:t>
            </a:r>
            <a:r>
              <a:rPr lang="en-GB" dirty="0"/>
              <a:t>Cloud microphysics --&gt; cloud albedo effect</a:t>
            </a:r>
          </a:p>
        </p:txBody>
      </p:sp>
      <p:sp>
        <p:nvSpPr>
          <p:cNvPr id="27" name="TextBox 26">
            <a:extLst>
              <a:ext uri="{FF2B5EF4-FFF2-40B4-BE49-F238E27FC236}">
                <a16:creationId xmlns:a16="http://schemas.microsoft.com/office/drawing/2014/main" id="{85F5F7A3-0B75-D701-ED98-BA63679AE555}"/>
              </a:ext>
            </a:extLst>
          </p:cNvPr>
          <p:cNvSpPr txBox="1"/>
          <p:nvPr/>
        </p:nvSpPr>
        <p:spPr>
          <a:xfrm>
            <a:off x="6177394" y="1946824"/>
            <a:ext cx="3916457" cy="369332"/>
          </a:xfrm>
          <a:prstGeom prst="rect">
            <a:avLst/>
          </a:prstGeom>
          <a:noFill/>
        </p:spPr>
        <p:txBody>
          <a:bodyPr wrap="none" rtlCol="0">
            <a:spAutoFit/>
          </a:bodyPr>
          <a:lstStyle/>
          <a:p>
            <a:r>
              <a:rPr lang="en-GB" altLang="zh-CN" b="1" dirty="0"/>
              <a:t>Indirect effect: </a:t>
            </a:r>
            <a:r>
              <a:rPr lang="en-GB" dirty="0"/>
              <a:t>The cloud lifetime effect</a:t>
            </a:r>
          </a:p>
        </p:txBody>
      </p:sp>
      <p:grpSp>
        <p:nvGrpSpPr>
          <p:cNvPr id="60" name="组合 59">
            <a:extLst>
              <a:ext uri="{FF2B5EF4-FFF2-40B4-BE49-F238E27FC236}">
                <a16:creationId xmlns:a16="http://schemas.microsoft.com/office/drawing/2014/main" id="{0FD08D6A-DC76-644E-0A1D-D4980187A7C9}"/>
              </a:ext>
            </a:extLst>
          </p:cNvPr>
          <p:cNvGrpSpPr/>
          <p:nvPr/>
        </p:nvGrpSpPr>
        <p:grpSpPr>
          <a:xfrm>
            <a:off x="208628" y="1909726"/>
            <a:ext cx="4856367" cy="2228884"/>
            <a:chOff x="-95942" y="2017464"/>
            <a:chExt cx="4856367" cy="2228884"/>
          </a:xfrm>
        </p:grpSpPr>
        <p:sp>
          <p:nvSpPr>
            <p:cNvPr id="13" name="Oval 12">
              <a:extLst>
                <a:ext uri="{FF2B5EF4-FFF2-40B4-BE49-F238E27FC236}">
                  <a16:creationId xmlns:a16="http://schemas.microsoft.com/office/drawing/2014/main" id="{F428A7CC-11FE-83EC-BA9C-AE980470BA4F}"/>
                </a:ext>
              </a:extLst>
            </p:cNvPr>
            <p:cNvSpPr/>
            <p:nvPr/>
          </p:nvSpPr>
          <p:spPr>
            <a:xfrm>
              <a:off x="3778772" y="3416112"/>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9" name="组合 58">
              <a:extLst>
                <a:ext uri="{FF2B5EF4-FFF2-40B4-BE49-F238E27FC236}">
                  <a16:creationId xmlns:a16="http://schemas.microsoft.com/office/drawing/2014/main" id="{5043B3CB-1AB3-4873-42E5-EE50FF295FCE}"/>
                </a:ext>
              </a:extLst>
            </p:cNvPr>
            <p:cNvGrpSpPr/>
            <p:nvPr/>
          </p:nvGrpSpPr>
          <p:grpSpPr>
            <a:xfrm>
              <a:off x="-95942" y="2017464"/>
              <a:ext cx="4856367" cy="2228884"/>
              <a:chOff x="-95942" y="2017464"/>
              <a:chExt cx="4856367" cy="2228884"/>
            </a:xfrm>
          </p:grpSpPr>
          <p:pic>
            <p:nvPicPr>
              <p:cNvPr id="33" name="Graphic 32" descr="Cloud outline">
                <a:extLst>
                  <a:ext uri="{FF2B5EF4-FFF2-40B4-BE49-F238E27FC236}">
                    <a16:creationId xmlns:a16="http://schemas.microsoft.com/office/drawing/2014/main" id="{248F0018-F63F-D4A7-2E0E-2C93BC65C4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0458" y="2056381"/>
                <a:ext cx="2189967" cy="2189967"/>
              </a:xfrm>
              <a:prstGeom prst="rect">
                <a:avLst/>
              </a:prstGeom>
            </p:spPr>
          </p:pic>
          <p:pic>
            <p:nvPicPr>
              <p:cNvPr id="12" name="Graphic 11" descr="Cloud outline">
                <a:extLst>
                  <a:ext uri="{FF2B5EF4-FFF2-40B4-BE49-F238E27FC236}">
                    <a16:creationId xmlns:a16="http://schemas.microsoft.com/office/drawing/2014/main" id="{B6AA7B05-E58F-0AE8-631B-7EBF5338E6F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942" y="2043688"/>
                <a:ext cx="2189967" cy="2189967"/>
              </a:xfrm>
              <a:prstGeom prst="rect">
                <a:avLst/>
              </a:prstGeom>
            </p:spPr>
          </p:pic>
          <p:sp>
            <p:nvSpPr>
              <p:cNvPr id="24" name="Oval 23">
                <a:extLst>
                  <a:ext uri="{FF2B5EF4-FFF2-40B4-BE49-F238E27FC236}">
                    <a16:creationId xmlns:a16="http://schemas.microsoft.com/office/drawing/2014/main" id="{DD5FDD27-FA16-268D-7CBE-057AA3B09147}"/>
                  </a:ext>
                </a:extLst>
              </p:cNvPr>
              <p:cNvSpPr/>
              <p:nvPr/>
            </p:nvSpPr>
            <p:spPr>
              <a:xfrm>
                <a:off x="4177516" y="3326342"/>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a:extLst>
                  <a:ext uri="{FF2B5EF4-FFF2-40B4-BE49-F238E27FC236}">
                    <a16:creationId xmlns:a16="http://schemas.microsoft.com/office/drawing/2014/main" id="{202CB4F2-2B11-0CBB-241E-532E87156866}"/>
                  </a:ext>
                </a:extLst>
              </p:cNvPr>
              <p:cNvCxnSpPr>
                <a:cxnSpLocks/>
              </p:cNvCxnSpPr>
              <p:nvPr/>
            </p:nvCxnSpPr>
            <p:spPr>
              <a:xfrm>
                <a:off x="1991638" y="3373416"/>
                <a:ext cx="705954" cy="918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2" name="Oval 41">
                <a:extLst>
                  <a:ext uri="{FF2B5EF4-FFF2-40B4-BE49-F238E27FC236}">
                    <a16:creationId xmlns:a16="http://schemas.microsoft.com/office/drawing/2014/main" id="{379D6E7F-ED80-4677-8EA7-14FBE797FE44}"/>
                  </a:ext>
                </a:extLst>
              </p:cNvPr>
              <p:cNvSpPr/>
              <p:nvPr/>
            </p:nvSpPr>
            <p:spPr>
              <a:xfrm>
                <a:off x="271490" y="3253272"/>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CD4CFB24-33CF-B9BE-E3EE-0348E353BA26}"/>
                  </a:ext>
                </a:extLst>
              </p:cNvPr>
              <p:cNvSpPr/>
              <p:nvPr/>
            </p:nvSpPr>
            <p:spPr>
              <a:xfrm>
                <a:off x="674410" y="3205256"/>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45">
                <a:extLst>
                  <a:ext uri="{FF2B5EF4-FFF2-40B4-BE49-F238E27FC236}">
                    <a16:creationId xmlns:a16="http://schemas.microsoft.com/office/drawing/2014/main" id="{0721FFC3-683C-79AA-082C-9D55A51D1761}"/>
                  </a:ext>
                </a:extLst>
              </p:cNvPr>
              <p:cNvSpPr/>
              <p:nvPr/>
            </p:nvSpPr>
            <p:spPr>
              <a:xfrm>
                <a:off x="1056454" y="2961000"/>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 47">
                <a:extLst>
                  <a:ext uri="{FF2B5EF4-FFF2-40B4-BE49-F238E27FC236}">
                    <a16:creationId xmlns:a16="http://schemas.microsoft.com/office/drawing/2014/main" id="{839EFE13-954C-4B76-B5F9-9EB3A1CD1FD9}"/>
                  </a:ext>
                </a:extLst>
              </p:cNvPr>
              <p:cNvSpPr/>
              <p:nvPr/>
            </p:nvSpPr>
            <p:spPr>
              <a:xfrm>
                <a:off x="1561670" y="3315904"/>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B6C23C44-1CC5-11E4-01D6-4EA93F588C94}"/>
                  </a:ext>
                </a:extLst>
              </p:cNvPr>
              <p:cNvSpPr/>
              <p:nvPr/>
            </p:nvSpPr>
            <p:spPr>
              <a:xfrm>
                <a:off x="824724" y="2741796"/>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AE3BD9-E03F-E17A-68CC-23EA7C087559}"/>
                  </a:ext>
                </a:extLst>
              </p:cNvPr>
              <p:cNvSpPr/>
              <p:nvPr/>
            </p:nvSpPr>
            <p:spPr>
              <a:xfrm>
                <a:off x="3931172" y="299231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492B3A8D-A2D4-E63B-73D2-0788B715CB34}"/>
                  </a:ext>
                </a:extLst>
              </p:cNvPr>
              <p:cNvSpPr/>
              <p:nvPr/>
            </p:nvSpPr>
            <p:spPr>
              <a:xfrm>
                <a:off x="3532428" y="314471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6181E8D7-992F-6A0F-6563-7B18CA03E6EB}"/>
                  </a:ext>
                </a:extLst>
              </p:cNvPr>
              <p:cNvSpPr/>
              <p:nvPr/>
            </p:nvSpPr>
            <p:spPr>
              <a:xfrm>
                <a:off x="3283996" y="277102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12D15493-D01E-BD50-9A7F-42C62797AFD3}"/>
                  </a:ext>
                </a:extLst>
              </p:cNvPr>
              <p:cNvSpPr/>
              <p:nvPr/>
            </p:nvSpPr>
            <p:spPr>
              <a:xfrm>
                <a:off x="2835148" y="326162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43527F4E-5A21-5A1A-1260-0A4E582A83CA}"/>
                  </a:ext>
                </a:extLst>
              </p:cNvPr>
              <p:cNvSpPr/>
              <p:nvPr/>
            </p:nvSpPr>
            <p:spPr>
              <a:xfrm>
                <a:off x="3112808" y="3376448"/>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58FCC617-9895-FBA2-0C42-04066EA705AD}"/>
                  </a:ext>
                </a:extLst>
              </p:cNvPr>
              <p:cNvSpPr/>
              <p:nvPr/>
            </p:nvSpPr>
            <p:spPr>
              <a:xfrm>
                <a:off x="3252682" y="3077912"/>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22F29230-067E-B896-0AFF-B4E4934C10A5}"/>
                  </a:ext>
                </a:extLst>
              </p:cNvPr>
              <p:cNvSpPr/>
              <p:nvPr/>
            </p:nvSpPr>
            <p:spPr>
              <a:xfrm>
                <a:off x="4043908" y="3242838"/>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B274285C-3ABB-843C-69D3-43CA9213E92D}"/>
                  </a:ext>
                </a:extLst>
              </p:cNvPr>
              <p:cNvSpPr/>
              <p:nvPr/>
            </p:nvSpPr>
            <p:spPr>
              <a:xfrm>
                <a:off x="3357066" y="337018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A9AD6D23-C78B-58D9-6DB5-73634C7AB0A8}"/>
                  </a:ext>
                </a:extLst>
              </p:cNvPr>
              <p:cNvSpPr/>
              <p:nvPr/>
            </p:nvSpPr>
            <p:spPr>
              <a:xfrm>
                <a:off x="3509466" y="2846182"/>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ight Arrow 42">
                <a:extLst>
                  <a:ext uri="{FF2B5EF4-FFF2-40B4-BE49-F238E27FC236}">
                    <a16:creationId xmlns:a16="http://schemas.microsoft.com/office/drawing/2014/main" id="{383F5FE3-AAD9-A2C4-0474-2C4592CD4AFD}"/>
                  </a:ext>
                </a:extLst>
              </p:cNvPr>
              <p:cNvSpPr/>
              <p:nvPr/>
            </p:nvSpPr>
            <p:spPr>
              <a:xfrm rot="2693161">
                <a:off x="119823" y="2026707"/>
                <a:ext cx="815607" cy="512947"/>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ight Arrow 43">
                <a:extLst>
                  <a:ext uri="{FF2B5EF4-FFF2-40B4-BE49-F238E27FC236}">
                    <a16:creationId xmlns:a16="http://schemas.microsoft.com/office/drawing/2014/main" id="{FE252632-EF40-7487-DE12-002B98C8955C}"/>
                  </a:ext>
                </a:extLst>
              </p:cNvPr>
              <p:cNvSpPr/>
              <p:nvPr/>
            </p:nvSpPr>
            <p:spPr>
              <a:xfrm rot="18944247">
                <a:off x="1038179" y="2269086"/>
                <a:ext cx="659618" cy="208693"/>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ight Arrow 42">
                <a:extLst>
                  <a:ext uri="{FF2B5EF4-FFF2-40B4-BE49-F238E27FC236}">
                    <a16:creationId xmlns:a16="http://schemas.microsoft.com/office/drawing/2014/main" id="{7988CC6C-65EC-5D2E-55A8-7D7D01AD9D92}"/>
                  </a:ext>
                </a:extLst>
              </p:cNvPr>
              <p:cNvSpPr/>
              <p:nvPr/>
            </p:nvSpPr>
            <p:spPr>
              <a:xfrm rot="2693161">
                <a:off x="3068191" y="2017464"/>
                <a:ext cx="815607" cy="512947"/>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ight Arrow 43">
                <a:extLst>
                  <a:ext uri="{FF2B5EF4-FFF2-40B4-BE49-F238E27FC236}">
                    <a16:creationId xmlns:a16="http://schemas.microsoft.com/office/drawing/2014/main" id="{60EF52B1-60BE-E58A-3A5A-20FEFBAE40C0}"/>
                  </a:ext>
                </a:extLst>
              </p:cNvPr>
              <p:cNvSpPr/>
              <p:nvPr/>
            </p:nvSpPr>
            <p:spPr>
              <a:xfrm rot="18944247">
                <a:off x="3985240" y="2183224"/>
                <a:ext cx="659618" cy="402166"/>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cxnSp>
        <p:nvCxnSpPr>
          <p:cNvPr id="65" name="Straight Arrow Connector 15">
            <a:extLst>
              <a:ext uri="{FF2B5EF4-FFF2-40B4-BE49-F238E27FC236}">
                <a16:creationId xmlns:a16="http://schemas.microsoft.com/office/drawing/2014/main" id="{6B584B4D-2958-A833-89BA-1EE239DA42D9}"/>
              </a:ext>
            </a:extLst>
          </p:cNvPr>
          <p:cNvCxnSpPr>
            <a:cxnSpLocks/>
            <a:stCxn id="43" idx="3"/>
          </p:cNvCxnSpPr>
          <p:nvPr/>
        </p:nvCxnSpPr>
        <p:spPr>
          <a:xfrm flipH="1">
            <a:off x="869399" y="3301953"/>
            <a:ext cx="138077" cy="53566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7" name="TextBox 25">
            <a:extLst>
              <a:ext uri="{FF2B5EF4-FFF2-40B4-BE49-F238E27FC236}">
                <a16:creationId xmlns:a16="http://schemas.microsoft.com/office/drawing/2014/main" id="{B15F8163-9349-6D3F-CCB6-F3D2312F3BB9}"/>
              </a:ext>
            </a:extLst>
          </p:cNvPr>
          <p:cNvSpPr txBox="1"/>
          <p:nvPr/>
        </p:nvSpPr>
        <p:spPr>
          <a:xfrm>
            <a:off x="258815" y="3810704"/>
            <a:ext cx="3219596" cy="323165"/>
          </a:xfrm>
          <a:prstGeom prst="rect">
            <a:avLst/>
          </a:prstGeom>
          <a:noFill/>
        </p:spPr>
        <p:txBody>
          <a:bodyPr wrap="square" rtlCol="0">
            <a:spAutoFit/>
          </a:bodyPr>
          <a:lstStyle/>
          <a:p>
            <a:r>
              <a:rPr lang="en-GB" sz="1500" dirty="0"/>
              <a:t>Cloud Condensation nuclei (CCN)</a:t>
            </a:r>
          </a:p>
        </p:txBody>
      </p:sp>
      <p:sp>
        <p:nvSpPr>
          <p:cNvPr id="70" name="TextBox 7">
            <a:extLst>
              <a:ext uri="{FF2B5EF4-FFF2-40B4-BE49-F238E27FC236}">
                <a16:creationId xmlns:a16="http://schemas.microsoft.com/office/drawing/2014/main" id="{E0445990-86D0-99C9-CC3F-B3C05AC99080}"/>
              </a:ext>
            </a:extLst>
          </p:cNvPr>
          <p:cNvSpPr txBox="1"/>
          <p:nvPr/>
        </p:nvSpPr>
        <p:spPr>
          <a:xfrm>
            <a:off x="6967364" y="4134864"/>
            <a:ext cx="2394933" cy="830997"/>
          </a:xfrm>
          <a:prstGeom prst="rect">
            <a:avLst/>
          </a:prstGeom>
          <a:noFill/>
        </p:spPr>
        <p:txBody>
          <a:bodyPr wrap="square" rtlCol="0">
            <a:spAutoFit/>
          </a:bodyPr>
          <a:lstStyle/>
          <a:p>
            <a:pPr algn="r"/>
            <a:r>
              <a:rPr lang="en-GB" sz="2400" baseline="-25000" dirty="0"/>
              <a:t>Emission of particles, </a:t>
            </a:r>
          </a:p>
          <a:p>
            <a:pPr algn="r"/>
            <a:r>
              <a:rPr lang="en-GB" sz="2400" baseline="-25000" dirty="0"/>
              <a:t>and gases that can become particle</a:t>
            </a:r>
          </a:p>
        </p:txBody>
      </p:sp>
      <p:cxnSp>
        <p:nvCxnSpPr>
          <p:cNvPr id="71" name="Straight Arrow Connector 8">
            <a:extLst>
              <a:ext uri="{FF2B5EF4-FFF2-40B4-BE49-F238E27FC236}">
                <a16:creationId xmlns:a16="http://schemas.microsoft.com/office/drawing/2014/main" id="{24755E37-FB38-8158-1265-5F7F0C9CDD8C}"/>
              </a:ext>
            </a:extLst>
          </p:cNvPr>
          <p:cNvCxnSpPr>
            <a:cxnSpLocks/>
          </p:cNvCxnSpPr>
          <p:nvPr/>
        </p:nvCxnSpPr>
        <p:spPr>
          <a:xfrm flipV="1">
            <a:off x="9483486" y="3952731"/>
            <a:ext cx="6032" cy="111407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20CC75E5-2EF8-C2E1-E6BA-38DF5F2F56B6}"/>
              </a:ext>
            </a:extLst>
          </p:cNvPr>
          <p:cNvCxnSpPr>
            <a:cxnSpLocks/>
          </p:cNvCxnSpPr>
          <p:nvPr/>
        </p:nvCxnSpPr>
        <p:spPr>
          <a:xfrm>
            <a:off x="7839814" y="3291497"/>
            <a:ext cx="80110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81" name="Graphic 16" descr="Cloud outline">
            <a:extLst>
              <a:ext uri="{FF2B5EF4-FFF2-40B4-BE49-F238E27FC236}">
                <a16:creationId xmlns:a16="http://schemas.microsoft.com/office/drawing/2014/main" id="{842AD1E6-79C1-4B2A-7140-4B2A0BFD0B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20750" y="1913769"/>
            <a:ext cx="2189967" cy="2189967"/>
          </a:xfrm>
          <a:prstGeom prst="rect">
            <a:avLst/>
          </a:prstGeom>
        </p:spPr>
      </p:pic>
      <p:pic>
        <p:nvPicPr>
          <p:cNvPr id="82" name="Graphic 51" descr="Rain outline">
            <a:extLst>
              <a:ext uri="{FF2B5EF4-FFF2-40B4-BE49-F238E27FC236}">
                <a16:creationId xmlns:a16="http://schemas.microsoft.com/office/drawing/2014/main" id="{6CC07A13-E7F9-5FF5-DD52-4BC4CD7C835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48867" y="2067985"/>
            <a:ext cx="2691498" cy="2691498"/>
          </a:xfrm>
          <a:prstGeom prst="rect">
            <a:avLst/>
          </a:prstGeom>
        </p:spPr>
      </p:pic>
      <p:sp>
        <p:nvSpPr>
          <p:cNvPr id="83" name="Oval 1">
            <a:extLst>
              <a:ext uri="{FF2B5EF4-FFF2-40B4-BE49-F238E27FC236}">
                <a16:creationId xmlns:a16="http://schemas.microsoft.com/office/drawing/2014/main" id="{B9B0C8D6-8A8C-480D-6C94-B239623205CC}"/>
              </a:ext>
            </a:extLst>
          </p:cNvPr>
          <p:cNvSpPr/>
          <p:nvPr/>
        </p:nvSpPr>
        <p:spPr>
          <a:xfrm>
            <a:off x="6135259" y="3096658"/>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2">
            <a:extLst>
              <a:ext uri="{FF2B5EF4-FFF2-40B4-BE49-F238E27FC236}">
                <a16:creationId xmlns:a16="http://schemas.microsoft.com/office/drawing/2014/main" id="{DC33F3F6-B0D1-50AB-29D5-C2BB16DBAD05}"/>
              </a:ext>
            </a:extLst>
          </p:cNvPr>
          <p:cNvSpPr/>
          <p:nvPr/>
        </p:nvSpPr>
        <p:spPr>
          <a:xfrm>
            <a:off x="6625861" y="3098746"/>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3">
            <a:extLst>
              <a:ext uri="{FF2B5EF4-FFF2-40B4-BE49-F238E27FC236}">
                <a16:creationId xmlns:a16="http://schemas.microsoft.com/office/drawing/2014/main" id="{227E1594-D3B8-B77B-F1C3-5C70AC5B2E28}"/>
              </a:ext>
            </a:extLst>
          </p:cNvPr>
          <p:cNvSpPr/>
          <p:nvPr/>
        </p:nvSpPr>
        <p:spPr>
          <a:xfrm>
            <a:off x="6920223" y="2804386"/>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a:extLst>
              <a:ext uri="{FF2B5EF4-FFF2-40B4-BE49-F238E27FC236}">
                <a16:creationId xmlns:a16="http://schemas.microsoft.com/office/drawing/2014/main" id="{37586124-AB68-321B-B130-77867FC32F60}"/>
              </a:ext>
            </a:extLst>
          </p:cNvPr>
          <p:cNvSpPr/>
          <p:nvPr/>
        </p:nvSpPr>
        <p:spPr>
          <a:xfrm>
            <a:off x="7425439" y="3159290"/>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10">
            <a:extLst>
              <a:ext uri="{FF2B5EF4-FFF2-40B4-BE49-F238E27FC236}">
                <a16:creationId xmlns:a16="http://schemas.microsoft.com/office/drawing/2014/main" id="{55EBBF2E-E106-5E28-59DE-9F913406C8A0}"/>
              </a:ext>
            </a:extLst>
          </p:cNvPr>
          <p:cNvSpPr/>
          <p:nvPr/>
        </p:nvSpPr>
        <p:spPr>
          <a:xfrm>
            <a:off x="6688493" y="2585182"/>
            <a:ext cx="194582" cy="2395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38">
            <a:extLst>
              <a:ext uri="{FF2B5EF4-FFF2-40B4-BE49-F238E27FC236}">
                <a16:creationId xmlns:a16="http://schemas.microsoft.com/office/drawing/2014/main" id="{BD900601-F426-0177-9322-40483EAB272A}"/>
              </a:ext>
            </a:extLst>
          </p:cNvPr>
          <p:cNvSpPr/>
          <p:nvPr/>
        </p:nvSpPr>
        <p:spPr>
          <a:xfrm>
            <a:off x="10287492" y="3164670"/>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Oval 39">
            <a:extLst>
              <a:ext uri="{FF2B5EF4-FFF2-40B4-BE49-F238E27FC236}">
                <a16:creationId xmlns:a16="http://schemas.microsoft.com/office/drawing/2014/main" id="{5A2E40B0-5BA6-148D-CDAE-1F53647F6026}"/>
              </a:ext>
            </a:extLst>
          </p:cNvPr>
          <p:cNvSpPr/>
          <p:nvPr/>
        </p:nvSpPr>
        <p:spPr>
          <a:xfrm>
            <a:off x="9888748" y="3254440"/>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40">
            <a:extLst>
              <a:ext uri="{FF2B5EF4-FFF2-40B4-BE49-F238E27FC236}">
                <a16:creationId xmlns:a16="http://schemas.microsoft.com/office/drawing/2014/main" id="{36A18EC2-BD75-1FBB-DB37-B9DDA0FFF2B3}"/>
              </a:ext>
            </a:extLst>
          </p:cNvPr>
          <p:cNvSpPr/>
          <p:nvPr/>
        </p:nvSpPr>
        <p:spPr>
          <a:xfrm>
            <a:off x="10041148" y="283064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Oval 43">
            <a:extLst>
              <a:ext uri="{FF2B5EF4-FFF2-40B4-BE49-F238E27FC236}">
                <a16:creationId xmlns:a16="http://schemas.microsoft.com/office/drawing/2014/main" id="{5CB40964-4053-E2B1-9091-CB0940A77DA8}"/>
              </a:ext>
            </a:extLst>
          </p:cNvPr>
          <p:cNvSpPr/>
          <p:nvPr/>
        </p:nvSpPr>
        <p:spPr>
          <a:xfrm>
            <a:off x="9642404" y="298304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44">
            <a:extLst>
              <a:ext uri="{FF2B5EF4-FFF2-40B4-BE49-F238E27FC236}">
                <a16:creationId xmlns:a16="http://schemas.microsoft.com/office/drawing/2014/main" id="{A6B42A04-FF99-C443-13C1-98A6D383F2A3}"/>
              </a:ext>
            </a:extLst>
          </p:cNvPr>
          <p:cNvSpPr/>
          <p:nvPr/>
        </p:nvSpPr>
        <p:spPr>
          <a:xfrm>
            <a:off x="8945124" y="309995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Oval 46">
            <a:extLst>
              <a:ext uri="{FF2B5EF4-FFF2-40B4-BE49-F238E27FC236}">
                <a16:creationId xmlns:a16="http://schemas.microsoft.com/office/drawing/2014/main" id="{0A97DAC1-040E-4779-CC8C-C3A6788E3433}"/>
              </a:ext>
            </a:extLst>
          </p:cNvPr>
          <p:cNvSpPr/>
          <p:nvPr/>
        </p:nvSpPr>
        <p:spPr>
          <a:xfrm>
            <a:off x="9222784" y="321477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49">
            <a:extLst>
              <a:ext uri="{FF2B5EF4-FFF2-40B4-BE49-F238E27FC236}">
                <a16:creationId xmlns:a16="http://schemas.microsoft.com/office/drawing/2014/main" id="{30D697F4-EFD1-61EB-1B1E-AC84630C8AC6}"/>
              </a:ext>
            </a:extLst>
          </p:cNvPr>
          <p:cNvSpPr/>
          <p:nvPr/>
        </p:nvSpPr>
        <p:spPr>
          <a:xfrm>
            <a:off x="9362658" y="2916240"/>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50">
            <a:extLst>
              <a:ext uri="{FF2B5EF4-FFF2-40B4-BE49-F238E27FC236}">
                <a16:creationId xmlns:a16="http://schemas.microsoft.com/office/drawing/2014/main" id="{D12FE251-65DB-C8ED-6D6A-A777C53633F8}"/>
              </a:ext>
            </a:extLst>
          </p:cNvPr>
          <p:cNvSpPr/>
          <p:nvPr/>
        </p:nvSpPr>
        <p:spPr>
          <a:xfrm>
            <a:off x="10153884" y="3081166"/>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53">
            <a:extLst>
              <a:ext uri="{FF2B5EF4-FFF2-40B4-BE49-F238E27FC236}">
                <a16:creationId xmlns:a16="http://schemas.microsoft.com/office/drawing/2014/main" id="{F29A9F46-9724-C9AB-B7DA-06915A4F9495}"/>
              </a:ext>
            </a:extLst>
          </p:cNvPr>
          <p:cNvSpPr/>
          <p:nvPr/>
        </p:nvSpPr>
        <p:spPr>
          <a:xfrm>
            <a:off x="9467042" y="320851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54">
            <a:extLst>
              <a:ext uri="{FF2B5EF4-FFF2-40B4-BE49-F238E27FC236}">
                <a16:creationId xmlns:a16="http://schemas.microsoft.com/office/drawing/2014/main" id="{50992EC5-0F9B-DEE2-0854-EED67813207D}"/>
              </a:ext>
            </a:extLst>
          </p:cNvPr>
          <p:cNvSpPr/>
          <p:nvPr/>
        </p:nvSpPr>
        <p:spPr>
          <a:xfrm>
            <a:off x="9343868" y="2634404"/>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55">
            <a:extLst>
              <a:ext uri="{FF2B5EF4-FFF2-40B4-BE49-F238E27FC236}">
                <a16:creationId xmlns:a16="http://schemas.microsoft.com/office/drawing/2014/main" id="{1793CC82-D405-2CE3-FA99-0DBD6AD2012F}"/>
              </a:ext>
            </a:extLst>
          </p:cNvPr>
          <p:cNvSpPr/>
          <p:nvPr/>
        </p:nvSpPr>
        <p:spPr>
          <a:xfrm>
            <a:off x="9569338" y="2709562"/>
            <a:ext cx="134677" cy="17687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Freeform 13">
            <a:extLst>
              <a:ext uri="{FF2B5EF4-FFF2-40B4-BE49-F238E27FC236}">
                <a16:creationId xmlns:a16="http://schemas.microsoft.com/office/drawing/2014/main" id="{CC58B944-812D-D085-5EE8-6E5F9DAB204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9"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DC6C52E4-F8AB-B967-6A6C-A6B92D5ABA4E}"/>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Aerosols: aerosol-cloud interaction  </a:t>
            </a:r>
          </a:p>
        </p:txBody>
      </p:sp>
    </p:spTree>
    <p:custDataLst>
      <p:tags r:id="rId1"/>
    </p:custDataLst>
    <p:extLst>
      <p:ext uri="{BB962C8B-B14F-4D97-AF65-F5344CB8AC3E}">
        <p14:creationId xmlns:p14="http://schemas.microsoft.com/office/powerpoint/2010/main" val="1327183295"/>
      </p:ext>
    </p:extLst>
  </p:cSld>
  <p:clrMapOvr>
    <a:masterClrMapping/>
  </p:clrMapOvr>
  <mc:AlternateContent xmlns:mc="http://schemas.openxmlformats.org/markup-compatibility/2006" xmlns:p14="http://schemas.microsoft.com/office/powerpoint/2010/main">
    <mc:Choice Requires="p14">
      <p:transition spd="slow" p14:dur="2000" advTm="129788"/>
    </mc:Choice>
    <mc:Fallback xmlns="">
      <p:transition spd="slow" advTm="129788"/>
    </mc:Fallback>
  </mc:AlternateContent>
  <p:extLst>
    <p:ext uri="{3A86A75C-4F4B-4683-9AE1-C65F6400EC91}">
      <p14:laserTraceLst xmlns:p14="http://schemas.microsoft.com/office/powerpoint/2010/main">
        <p14:tracePtLst>
          <p14:tracePt t="10100" x="908050" y="1581150"/>
          <p14:tracePt t="10119" x="908050" y="1619250"/>
          <p14:tracePt t="10133" x="908050" y="1631950"/>
          <p14:tracePt t="10141" x="908050" y="1689100"/>
          <p14:tracePt t="10149" x="908050" y="1720850"/>
          <p14:tracePt t="10155" x="908050" y="1778000"/>
          <p14:tracePt t="10159" x="908050" y="1828800"/>
          <p14:tracePt t="10164" x="908050" y="1866900"/>
          <p14:tracePt t="10184" x="908050" y="1987550"/>
          <p14:tracePt t="10189" x="908050" y="2025650"/>
          <p14:tracePt t="10203" x="908050" y="2095500"/>
          <p14:tracePt t="10212" x="908050" y="2114550"/>
          <p14:tracePt t="10226" x="908050" y="2133600"/>
          <p14:tracePt t="10231" x="927100" y="2184400"/>
          <p14:tracePt t="10250" x="927100" y="2203450"/>
          <p14:tracePt t="10259" x="927100" y="2222500"/>
          <p14:tracePt t="10264" x="927100" y="2241550"/>
          <p14:tracePt t="10284" x="927100" y="2273300"/>
          <p14:tracePt t="10293" x="927100" y="2292350"/>
          <p14:tracePt t="10316" x="927100" y="2311400"/>
          <p14:tracePt t="10347" x="927100" y="2330450"/>
          <p14:tracePt t="10962" x="908050" y="2330450"/>
          <p14:tracePt t="11161" x="908050" y="2311400"/>
          <p14:tracePt t="11218" x="908050" y="2292350"/>
          <p14:tracePt t="11586" x="889000" y="2292350"/>
          <p14:tracePt t="11667" x="869950" y="2273300"/>
          <p14:tracePt t="11701" x="850900" y="2273300"/>
          <p14:tracePt t="11717" x="850900" y="2254250"/>
          <p14:tracePt t="11736" x="838200" y="2254250"/>
          <p14:tracePt t="11771" x="819150" y="2241550"/>
          <p14:tracePt t="12277" x="800100" y="2241550"/>
          <p14:tracePt t="12321" x="800100" y="2222500"/>
          <p14:tracePt t="12397" x="781050" y="2222500"/>
          <p14:tracePt t="12483" x="762000" y="2222500"/>
          <p14:tracePt t="12512" x="749300" y="2222500"/>
          <p14:tracePt t="12549" x="730250" y="2222500"/>
          <p14:tracePt t="12618" x="711200" y="2222500"/>
          <p14:tracePt t="12657" x="711200" y="2241550"/>
          <p14:tracePt t="12659" x="692150" y="2241550"/>
          <p14:tracePt t="12692" x="692150" y="2273300"/>
          <p14:tracePt t="12714" x="692150" y="2292350"/>
          <p14:tracePt t="12725" x="692150" y="2311400"/>
          <p14:tracePt t="12741" x="692150" y="2330450"/>
          <p14:tracePt t="12748" x="692150" y="2343150"/>
          <p14:tracePt t="12758" x="711200" y="2343150"/>
          <p14:tracePt t="12773" x="711200" y="2362200"/>
          <p14:tracePt t="12797" x="730250" y="2381250"/>
          <p14:tracePt t="12971" x="730250" y="2362200"/>
          <p14:tracePt t="12992" x="730250" y="2343150"/>
          <p14:tracePt t="12997" x="730250" y="2330450"/>
          <p14:tracePt t="13020" x="730250" y="2311400"/>
          <p14:tracePt t="13036" x="730250" y="2292350"/>
          <p14:tracePt t="13054" x="730250" y="2273300"/>
          <p14:tracePt t="13074" x="711200" y="2254250"/>
          <p14:tracePt t="13091" x="711200" y="2241550"/>
          <p14:tracePt t="13124" x="692150" y="2222500"/>
          <p14:tracePt t="13127" x="692150" y="2203450"/>
          <p14:tracePt t="13152" x="692150" y="2184400"/>
          <p14:tracePt t="13157" x="673100" y="2184400"/>
          <p14:tracePt t="13188" x="673100" y="2165350"/>
          <p14:tracePt t="13203" x="660400" y="2152650"/>
          <p14:tracePt t="13229" x="641350" y="2133600"/>
          <p14:tracePt t="13255" x="641350" y="2114550"/>
          <p14:tracePt t="13261" x="622300" y="2114550"/>
          <p14:tracePt t="13281" x="622300" y="2095500"/>
          <p14:tracePt t="13302" x="603250" y="2095500"/>
          <p14:tracePt t="13322" x="603250" y="2076450"/>
          <p14:tracePt t="13430" x="603250" y="2063750"/>
          <p14:tracePt t="13455" x="603250" y="2044700"/>
          <p14:tracePt t="13482" x="603250" y="2025650"/>
          <p14:tracePt t="13516" x="584200" y="2006600"/>
          <p14:tracePt t="13949" x="603250" y="2006600"/>
          <p14:tracePt t="14011" x="622300" y="2025650"/>
          <p14:tracePt t="14058" x="660400" y="2063750"/>
          <p14:tracePt t="14063" x="692150" y="2076450"/>
          <p14:tracePt t="14086" x="730250" y="2114550"/>
          <p14:tracePt t="14092" x="749300" y="2133600"/>
          <p14:tracePt t="14097" x="762000" y="2133600"/>
          <p14:tracePt t="14106" x="781050" y="2152650"/>
          <p14:tracePt t="14114" x="800100" y="2165350"/>
          <p14:tracePt t="14123" x="819150" y="2184400"/>
          <p14:tracePt t="14128" x="838200" y="2184400"/>
          <p14:tracePt t="14140" x="850900" y="2184400"/>
          <p14:tracePt t="14157" x="889000" y="2222500"/>
          <p14:tracePt t="14173" x="908050" y="2222500"/>
          <p14:tracePt t="14181" x="908050" y="2241550"/>
          <p14:tracePt t="14195" x="927100" y="2254250"/>
          <p14:tracePt t="14214" x="939800" y="2273300"/>
          <p14:tracePt t="14223" x="977900" y="2311400"/>
          <p14:tracePt t="14228" x="996950" y="2311400"/>
          <p14:tracePt t="14240" x="1016000" y="2330450"/>
          <p14:tracePt t="14247" x="1028700" y="2343150"/>
          <p14:tracePt t="14257" x="1028700" y="2362200"/>
          <p14:tracePt t="14262" x="1047750" y="2362200"/>
          <p14:tracePt t="14273" x="1047750" y="2381250"/>
          <p14:tracePt t="14281" x="1085850" y="2400300"/>
          <p14:tracePt t="14290" x="1085850" y="2419350"/>
          <p14:tracePt t="14306" x="1104900" y="2432050"/>
          <p14:tracePt t="14323" x="1117600" y="2432050"/>
          <p14:tracePt t="14328" x="1117600" y="2451100"/>
          <p14:tracePt t="14340" x="1136650" y="2470150"/>
          <p14:tracePt t="14348" x="1155700" y="2489200"/>
          <p14:tracePt t="14357" x="1174750" y="2520950"/>
          <p14:tracePt t="14361" x="1193800" y="2540000"/>
          <p14:tracePt t="14373" x="1225550" y="2559050"/>
          <p14:tracePt t="14380" x="1263650" y="2590800"/>
          <p14:tracePt t="14390" x="1282700" y="2609850"/>
          <p14:tracePt t="14395" x="1295400" y="2628900"/>
          <p14:tracePt t="14406" x="1295400" y="2647950"/>
          <p14:tracePt t="14413" x="1314450" y="2647950"/>
          <p14:tracePt t="14428" x="1314450" y="2667000"/>
          <p14:tracePt t="14492" x="1333500" y="2667000"/>
          <p14:tracePt t="14622" x="1352550" y="2667000"/>
          <p14:tracePt t="14867" x="1371600" y="2667000"/>
          <p14:tracePt t="14883" x="1403350" y="2647950"/>
          <p14:tracePt t="14899" x="1441450" y="2628900"/>
          <p14:tracePt t="14919" x="1492250" y="2578100"/>
          <p14:tracePt t="14934" x="1511300" y="2540000"/>
          <p14:tracePt t="14939" x="1543050" y="2508250"/>
          <p14:tracePt t="14948" x="1562100" y="2470150"/>
          <p14:tracePt t="14956" x="1581150" y="2451100"/>
          <p14:tracePt t="14960" x="1619250" y="2419350"/>
          <p14:tracePt t="14973" x="1631950" y="2362200"/>
          <p14:tracePt t="14980" x="1651000" y="2343150"/>
          <p14:tracePt t="14993" x="1670050" y="2330450"/>
          <p14:tracePt t="15001" x="1689100" y="2292350"/>
          <p14:tracePt t="15010" x="1720850" y="2241550"/>
          <p14:tracePt t="15015" x="1739900" y="2241550"/>
          <p14:tracePt t="15023" x="1758950" y="2203450"/>
          <p14:tracePt t="15060" x="1797050" y="2165350"/>
          <p14:tracePt t="15081" x="1809750" y="2133600"/>
          <p14:tracePt t="15125" x="1809750" y="2114550"/>
          <p14:tracePt t="15183" x="1828800" y="2114550"/>
          <p14:tracePt t="15196" x="1828800" y="2095500"/>
          <p14:tracePt t="15214" x="1847850" y="2095500"/>
          <p14:tracePt t="15223" x="1847850" y="2076450"/>
          <p14:tracePt t="15245" x="1847850" y="2063750"/>
          <p14:tracePt t="16247" x="1847850" y="2076450"/>
          <p14:tracePt t="16351" x="1828800" y="2076450"/>
          <p14:tracePt t="29201" x="1809750" y="2076450"/>
          <p14:tracePt t="30195" x="1809750" y="2095500"/>
          <p14:tracePt t="30212" x="1797050" y="2114550"/>
          <p14:tracePt t="30228" x="1797050" y="2152650"/>
          <p14:tracePt t="30246" x="1758950" y="2184400"/>
          <p14:tracePt t="30269" x="1758950" y="2203450"/>
          <p14:tracePt t="30279" x="1739900" y="2222500"/>
          <p14:tracePt t="30296" x="1739900" y="2241550"/>
          <p14:tracePt t="30313" x="1720850" y="2254250"/>
          <p14:tracePt t="30329" x="1708150" y="2273300"/>
          <p14:tracePt t="30346" x="1689100" y="2311400"/>
          <p14:tracePt t="30363" x="1670050" y="2381250"/>
          <p14:tracePt t="30379" x="1619250" y="2520950"/>
          <p14:tracePt t="30396" x="1543050" y="2698750"/>
          <p14:tracePt t="30412" x="1473200" y="2857500"/>
          <p14:tracePt t="30430" x="1441450" y="3003550"/>
          <p14:tracePt t="30446" x="1403350" y="3092450"/>
          <p14:tracePt t="30463" x="1352550" y="3213100"/>
          <p14:tracePt t="30479" x="1333500" y="3340100"/>
          <p14:tracePt t="30496" x="1295400" y="3409950"/>
          <p14:tracePt t="30513" x="1282700" y="3556000"/>
          <p14:tracePt t="30530" x="1282700" y="3606800"/>
          <p14:tracePt t="30546" x="1263650" y="3657600"/>
          <p14:tracePt t="30563" x="1263650" y="3733800"/>
          <p14:tracePt t="30579" x="1263650" y="3835400"/>
          <p14:tracePt t="30596" x="1263650" y="3924300"/>
          <p14:tracePt t="30613" x="1263650" y="4000500"/>
          <p14:tracePt t="30629" x="1263650" y="4032250"/>
          <p14:tracePt t="30646" x="1263650" y="4089400"/>
          <p14:tracePt t="30662" x="1263650" y="4102100"/>
          <p14:tracePt t="30679" x="1263650" y="4121150"/>
          <p14:tracePt t="30696" x="1263650" y="4159250"/>
          <p14:tracePt t="30713" x="1244600" y="4229100"/>
          <p14:tracePt t="30730" x="1225550" y="4318000"/>
          <p14:tracePt t="30746" x="1206500" y="4387850"/>
          <p14:tracePt t="30763" x="1206500" y="4438650"/>
          <p14:tracePt t="30833" x="1206500" y="4457700"/>
          <p14:tracePt t="30880" x="1206500" y="4476750"/>
          <p14:tracePt t="30957" x="1206500" y="4495800"/>
          <p14:tracePt t="30980" x="1206500" y="4514850"/>
          <p14:tracePt t="31012" x="1193800" y="4546600"/>
          <p14:tracePt t="31029" x="1193800" y="4565650"/>
          <p14:tracePt t="31045" x="1193800" y="4584700"/>
          <p14:tracePt t="31122" x="1193800" y="4565650"/>
          <p14:tracePt t="31144" x="1193800" y="4527550"/>
          <p14:tracePt t="31149" x="1206500" y="4514850"/>
          <p14:tracePt t="31164" x="1206500" y="4495800"/>
          <p14:tracePt t="31195" x="1206500" y="4476750"/>
          <p14:tracePt t="31310" x="1206500" y="4457700"/>
          <p14:tracePt t="31356" x="1225550" y="4457700"/>
          <p14:tracePt t="61737" x="1244600" y="4425950"/>
          <p14:tracePt t="61744" x="1352550" y="4368800"/>
          <p14:tracePt t="61750" x="1422400" y="4318000"/>
          <p14:tracePt t="61774" x="1619250" y="4178300"/>
          <p14:tracePt t="61788" x="1689100" y="4140200"/>
          <p14:tracePt t="61800" x="1720850" y="4102100"/>
          <p14:tracePt t="61805" x="1797050" y="4051300"/>
          <p14:tracePt t="61833" x="1847850" y="3962400"/>
          <p14:tracePt t="61838" x="1885950" y="3924300"/>
          <p14:tracePt t="61867" x="1955800" y="3873500"/>
          <p14:tracePt t="61871" x="1987550" y="3854450"/>
          <p14:tracePt t="61904" x="2114550" y="3765550"/>
          <p14:tracePt t="61910" x="2165350" y="3733800"/>
          <p14:tracePt t="61933" x="2203450" y="3714750"/>
          <p14:tracePt t="61938" x="2343150" y="3625850"/>
          <p14:tracePt t="61943" x="2400300" y="3606800"/>
          <p14:tracePt t="61950" x="2451100" y="3587750"/>
          <p14:tracePt t="61977" x="2520950" y="3556000"/>
          <p14:tracePt t="61983" x="2667000" y="3498850"/>
          <p14:tracePt t="61999" x="2686050" y="3479800"/>
          <p14:tracePt t="62004" x="2698750" y="3479800"/>
          <p14:tracePt t="62009" x="2717800" y="3479800"/>
          <p14:tracePt t="62040" x="2717800" y="3467100"/>
          <p14:tracePt t="62052" x="2736850" y="3467100"/>
          <p14:tracePt t="62068" x="2774950" y="3448050"/>
          <p14:tracePt t="62084" x="2806700" y="3448050"/>
          <p14:tracePt t="62103" x="2863850" y="3448050"/>
          <p14:tracePt t="62115" x="2895600" y="3429000"/>
          <p14:tracePt t="62121" x="2933700" y="3429000"/>
          <p14:tracePt t="62134" x="2952750" y="3409950"/>
          <p14:tracePt t="62139" x="2965450" y="3409950"/>
          <p14:tracePt t="62144" x="3003550" y="3409950"/>
          <p14:tracePt t="62150" x="3041650" y="3409950"/>
          <p14:tracePt t="62163" x="3054350" y="3390900"/>
          <p14:tracePt t="62183" x="3073400" y="3390900"/>
          <p14:tracePt t="62197" x="3092450" y="3390900"/>
          <p14:tracePt t="62203" x="3111500" y="3378200"/>
          <p14:tracePt t="62243" x="3130550" y="3378200"/>
          <p14:tracePt t="62340" x="3143250" y="3359150"/>
          <p14:tracePt t="62377" x="3162300" y="3359150"/>
          <p14:tracePt t="62403" x="3232150" y="3321050"/>
          <p14:tracePt t="62408" x="3251200" y="3321050"/>
          <p14:tracePt t="62416" x="3321050" y="3289300"/>
          <p14:tracePt t="62429" x="3340100" y="3289300"/>
          <p14:tracePt t="62436" x="3378200" y="3270250"/>
          <p14:tracePt t="62441" x="3397250" y="3251200"/>
          <p14:tracePt t="62462" x="3429000" y="3251200"/>
          <p14:tracePt t="62664" x="3409950" y="3270250"/>
          <p14:tracePt t="62669" x="3397250" y="3289300"/>
          <p14:tracePt t="62705" x="3378200" y="3289300"/>
          <p14:tracePt t="63178" x="3397250" y="3289300"/>
          <p14:tracePt t="63218" x="3409950" y="3289300"/>
          <p14:tracePt t="63257" x="3429000" y="3289300"/>
          <p14:tracePt t="63274" x="3448050" y="3289300"/>
          <p14:tracePt t="63290" x="3467100" y="3289300"/>
          <p14:tracePt t="63298" x="3486150" y="3289300"/>
          <p14:tracePt t="63317" x="3498850" y="3289300"/>
          <p14:tracePt t="63327" x="3498850" y="3270250"/>
          <p14:tracePt t="63331" x="3536950" y="3270250"/>
          <p14:tracePt t="63351" x="3556000" y="3270250"/>
          <p14:tracePt t="63365" x="3587750" y="3270250"/>
          <p14:tracePt t="63385" x="3606800" y="3270250"/>
          <p14:tracePt t="63407" x="3606800" y="3251200"/>
          <p14:tracePt t="63421" x="3625850" y="3251200"/>
          <p14:tracePt t="63426" x="3644900" y="3251200"/>
          <p14:tracePt t="63431" x="3663950" y="3251200"/>
          <p14:tracePt t="63461" x="3663950" y="3232150"/>
          <p14:tracePt t="63481" x="3676650" y="3232150"/>
          <p14:tracePt t="63602" x="3695700" y="3232150"/>
          <p14:tracePt t="63637" x="3714750" y="3232150"/>
          <p14:tracePt t="63663" x="3733800" y="3213100"/>
          <p14:tracePt t="63691" x="3784600" y="3213100"/>
          <p14:tracePt t="63697" x="3803650" y="3213100"/>
          <p14:tracePt t="63719" x="3803650" y="3200400"/>
          <p14:tracePt t="63915" x="3822700" y="3200400"/>
          <p14:tracePt t="63934" x="3841750" y="3200400"/>
          <p14:tracePt t="63953" x="3854450" y="3200400"/>
          <p14:tracePt t="63956" x="3854450" y="3181350"/>
          <p14:tracePt t="64642" x="3854450" y="3200400"/>
          <p14:tracePt t="64798" x="3841750" y="3213100"/>
          <p14:tracePt t="69571" x="3822700" y="3213100"/>
          <p14:tracePt t="69607" x="3803650" y="3213100"/>
          <p14:tracePt t="69638" x="3784600" y="3200400"/>
          <p14:tracePt t="69658" x="3765550" y="3143250"/>
          <p14:tracePt t="69671" x="3765550" y="3124200"/>
          <p14:tracePt t="69677" x="3765550" y="3111500"/>
          <p14:tracePt t="69688" x="3765550" y="3054350"/>
          <p14:tracePt t="69703" x="3765550" y="2965450"/>
          <p14:tracePt t="69711" x="3765550" y="2914650"/>
          <p14:tracePt t="69720" x="3765550" y="2857500"/>
          <p14:tracePt t="69725" x="3765550" y="2806700"/>
          <p14:tracePt t="69737" x="3752850" y="2755900"/>
          <p14:tracePt t="69747" x="3733800" y="2717800"/>
          <p14:tracePt t="69753" x="3733800" y="2679700"/>
          <p14:tracePt t="69759" x="3733800" y="2628900"/>
          <p14:tracePt t="69771" x="3733800" y="2609850"/>
          <p14:tracePt t="69780" x="3733800" y="2578100"/>
          <p14:tracePt t="69786" x="3733800" y="2520950"/>
          <p14:tracePt t="69792" x="3714750" y="2508250"/>
          <p14:tracePt t="69803" x="3714750" y="2489200"/>
          <p14:tracePt t="69808" x="3695700" y="2451100"/>
          <p14:tracePt t="69820" x="3695700" y="2419350"/>
          <p14:tracePt t="69836" x="3695700" y="2400300"/>
          <p14:tracePt t="69853" x="3676650" y="2381250"/>
          <p14:tracePt t="69865" x="3676650" y="2362200"/>
          <p14:tracePt t="69903" x="3676650" y="2343150"/>
          <p14:tracePt t="69913" x="3676650" y="2292350"/>
          <p14:tracePt t="69920" x="3676650" y="2273300"/>
          <p14:tracePt t="69925" x="3663950" y="2273300"/>
          <p14:tracePt t="69954" x="3644900" y="2165350"/>
          <p14:tracePt t="69982" x="3625850" y="2152650"/>
          <p14:tracePt t="69990" x="3625850" y="2133600"/>
          <p14:tracePt t="70002" x="3625850" y="2114550"/>
          <p14:tracePt t="70011" x="3625850" y="2095500"/>
          <p14:tracePt t="70019" x="3625850" y="2076450"/>
          <p14:tracePt t="70044" x="3606800" y="2063750"/>
          <p14:tracePt t="70090" x="3606800" y="2044700"/>
          <p14:tracePt t="70429" x="3587750" y="2044700"/>
          <p14:tracePt t="70450" x="3625850" y="2076450"/>
          <p14:tracePt t="70456" x="3663950" y="2095500"/>
          <p14:tracePt t="70461" x="3676650" y="2114550"/>
          <p14:tracePt t="70485" x="3714750" y="2133600"/>
          <p14:tracePt t="70503" x="3752850" y="2165350"/>
          <p14:tracePt t="70513" x="3784600" y="2184400"/>
          <p14:tracePt t="70519" x="3873500" y="2241550"/>
          <p14:tracePt t="70524" x="3911600" y="2254250"/>
          <p14:tracePt t="70546" x="3981450" y="2292350"/>
          <p14:tracePt t="70573" x="4000500" y="2292350"/>
          <p14:tracePt t="70588" x="4019550" y="2311400"/>
          <p14:tracePt t="70601" x="4032250" y="2330450"/>
          <p14:tracePt t="70615" x="4051300" y="2343150"/>
          <p14:tracePt t="70620" x="4108450" y="2381250"/>
          <p14:tracePt t="70636" x="4140200" y="2419350"/>
          <p14:tracePt t="70655" x="4210050" y="2451100"/>
          <p14:tracePt t="70668" x="4229100" y="2451100"/>
          <p14:tracePt t="70676" x="4267200" y="2489200"/>
          <p14:tracePt t="70686" x="4286250" y="2489200"/>
          <p14:tracePt t="70702" x="4298950" y="2489200"/>
          <p14:tracePt t="70711" x="4298950" y="2508250"/>
          <p14:tracePt t="70719" x="4318000" y="2508250"/>
          <p14:tracePt t="70747" x="4337050" y="2508250"/>
          <p14:tracePt t="70897" x="4356100" y="2508250"/>
          <p14:tracePt t="70934" x="4375150" y="2520950"/>
          <p14:tracePt t="70942" x="4375150" y="2540000"/>
          <p14:tracePt t="70948" x="4387850" y="2540000"/>
          <p14:tracePt t="70953" x="4406900" y="2540000"/>
          <p14:tracePt t="70969" x="4425950" y="2540000"/>
          <p14:tracePt t="70978" x="4445000" y="2540000"/>
          <p14:tracePt t="70986" x="4464050" y="2540000"/>
          <p14:tracePt t="70990" x="4464050" y="2520950"/>
          <p14:tracePt t="71002" x="4476750" y="2520950"/>
          <p14:tracePt t="71011" x="4476750" y="2508250"/>
          <p14:tracePt t="71019" x="4514850" y="2489200"/>
          <p14:tracePt t="71035" x="4533900" y="2470150"/>
          <p14:tracePt t="71044" x="4584700" y="2432050"/>
          <p14:tracePt t="71052" x="4603750" y="2419350"/>
          <p14:tracePt t="71057" x="4635500" y="2381250"/>
          <p14:tracePt t="71069" x="4654550" y="2362200"/>
          <p14:tracePt t="71077" x="4692650" y="2343150"/>
          <p14:tracePt t="71085" x="4724400" y="2311400"/>
          <p14:tracePt t="71113" x="4781550" y="2241550"/>
          <p14:tracePt t="71118" x="4800600" y="2222500"/>
          <p14:tracePt t="71141" x="4832350" y="2165350"/>
          <p14:tracePt t="71162" x="4832350" y="2152650"/>
          <p14:tracePt t="71174" x="4851400" y="2133600"/>
          <p14:tracePt t="71190" x="4851400" y="2114550"/>
          <p14:tracePt t="71219" x="4870450" y="2095500"/>
          <p14:tracePt t="71294" x="4870450" y="2076450"/>
          <p14:tracePt t="71311" x="4889500" y="2076450"/>
          <p14:tracePt t="73822" x="4870450" y="2076450"/>
          <p14:tracePt t="73855" x="4870450" y="2095500"/>
          <p14:tracePt t="73876" x="4851400" y="2095500"/>
          <p14:tracePt t="73898" x="4832350" y="2095500"/>
          <p14:tracePt t="73925" x="4832350" y="2114550"/>
          <p14:tracePt t="74426" x="4870450" y="2114550"/>
          <p14:tracePt t="74446" x="5010150" y="2114550"/>
          <p14:tracePt t="74460" x="5207000" y="2114550"/>
          <p14:tracePt t="74479" x="5295900" y="2114550"/>
          <p14:tracePt t="74485" x="5403850" y="2114550"/>
          <p14:tracePt t="74490" x="5492750" y="2114550"/>
          <p14:tracePt t="74500" x="5613400" y="2133600"/>
          <p14:tracePt t="74508" x="5689600" y="2133600"/>
          <p14:tracePt t="74517" x="5740400" y="2133600"/>
          <p14:tracePt t="74521" x="5759450" y="2133600"/>
          <p14:tracePt t="74534" x="5791200" y="2152650"/>
          <p14:tracePt t="74543" x="5829300" y="2152650"/>
          <p14:tracePt t="74550" x="5848350" y="2165350"/>
          <p14:tracePt t="74555" x="5899150" y="2165350"/>
          <p14:tracePt t="74567" x="5937250" y="2184400"/>
          <p14:tracePt t="74574" x="5969000" y="2203450"/>
          <p14:tracePt t="74584" x="6026150" y="2222500"/>
          <p14:tracePt t="74588" x="6096000" y="2222500"/>
          <p14:tracePt t="74600" x="6165850" y="2241550"/>
          <p14:tracePt t="74604" x="6381750" y="2273300"/>
          <p14:tracePt t="74629" x="6680200" y="2330450"/>
          <p14:tracePt t="74650" x="6769100" y="2362200"/>
          <p14:tracePt t="74654" x="6807200" y="2362200"/>
          <p14:tracePt t="74667" x="6826250" y="2381250"/>
          <p14:tracePt t="74683" x="6845300" y="2381250"/>
          <p14:tracePt t="74689" x="6858000" y="2400300"/>
          <p14:tracePt t="74700" x="6877050" y="2400300"/>
          <p14:tracePt t="74708" x="6934200" y="2419350"/>
          <p14:tracePt t="74716" x="6946900" y="2432050"/>
          <p14:tracePt t="74721" x="7004050" y="2432050"/>
          <p14:tracePt t="74733" x="7073900" y="2451100"/>
          <p14:tracePt t="74741" x="7112000" y="2470150"/>
          <p14:tracePt t="74750" x="7162800" y="2470150"/>
          <p14:tracePt t="74754" x="7251700" y="2470150"/>
          <p14:tracePt t="74767" x="7340600" y="2489200"/>
          <p14:tracePt t="74775" x="7448550" y="2520950"/>
          <p14:tracePt t="74784" x="7569200" y="2520950"/>
          <p14:tracePt t="74788" x="7696200" y="2559050"/>
          <p14:tracePt t="74800" x="7804150" y="2590800"/>
          <p14:tracePt t="74807" x="7943850" y="2628900"/>
          <p14:tracePt t="74817" x="8083550" y="2679700"/>
          <p14:tracePt t="74821" x="8369300" y="2755900"/>
          <p14:tracePt t="74858" x="8832850" y="2876550"/>
          <p14:tracePt t="74870" x="8851900" y="2895600"/>
          <p14:tracePt t="74959" x="8832850" y="2895600"/>
          <p14:tracePt t="74994" x="8813800" y="2895600"/>
          <p14:tracePt t="75005" x="8794750" y="2914650"/>
          <p14:tracePt t="75045" x="8782050" y="2914650"/>
          <p14:tracePt t="75070" x="8782050" y="2933700"/>
          <p14:tracePt t="75096" x="8782050" y="2946400"/>
          <p14:tracePt t="75100" x="8794750" y="2946400"/>
          <p14:tracePt t="75128" x="8794750" y="2965450"/>
          <p14:tracePt t="75132" x="8813800" y="2965450"/>
          <p14:tracePt t="75166" x="8832850" y="2965450"/>
          <p14:tracePt t="75200" x="8870950" y="2965450"/>
          <p14:tracePt t="75204" x="8883650" y="2984500"/>
          <p14:tracePt t="75221" x="8902700" y="2984500"/>
          <p14:tracePt t="75241" x="8921750" y="2984500"/>
          <p14:tracePt t="75283" x="8940800" y="2984500"/>
          <p14:tracePt t="75289" x="8972550" y="3003550"/>
          <p14:tracePt t="75316" x="9010650" y="3022600"/>
          <p14:tracePt t="75320" x="9029700" y="3035300"/>
          <p14:tracePt t="75333" x="9080500" y="3054350"/>
          <p14:tracePt t="75341" x="9099550" y="3073400"/>
          <p14:tracePt t="75349" x="9118600" y="3092450"/>
          <p14:tracePt t="75354" x="9137650" y="3111500"/>
          <p14:tracePt t="75379" x="9150350" y="3124200"/>
          <p14:tracePt t="83016" x="9150350" y="3143250"/>
          <p14:tracePt t="83021" x="9137650" y="3143250"/>
          <p14:tracePt t="83059" x="9118600" y="3143250"/>
          <p14:tracePt t="83090" x="9099550" y="3143250"/>
          <p14:tracePt t="88852" x="9080500" y="3162300"/>
          <p14:tracePt t="88864" x="9080500" y="3200400"/>
          <p14:tracePt t="88874" x="9118600" y="3213100"/>
          <p14:tracePt t="88890" x="9118600" y="3232150"/>
          <p14:tracePt t="88908" x="9137650" y="3232150"/>
          <p14:tracePt t="88923" x="9150350" y="3232150"/>
          <p14:tracePt t="88941" x="9277350" y="3251200"/>
          <p14:tracePt t="88957" x="9417050" y="3289300"/>
          <p14:tracePt t="88975" x="9544050" y="3302000"/>
          <p14:tracePt t="88992" x="9632950" y="3321050"/>
          <p14:tracePt t="89008" x="9740900" y="3390900"/>
          <p14:tracePt t="89025" x="9861550" y="3479800"/>
          <p14:tracePt t="89029" x="10007600" y="3568700"/>
          <p14:tracePt t="89044" x="10077450" y="3625850"/>
          <p14:tracePt t="89071" x="10185400" y="3714750"/>
          <p14:tracePt t="89077" x="10204450" y="3746500"/>
          <p14:tracePt t="89095" x="10236200" y="3765550"/>
          <p14:tracePt t="89107" x="10255250" y="3784600"/>
          <p14:tracePt t="89123" x="10325100" y="3835400"/>
          <p14:tracePt t="89141" x="10433050" y="3892550"/>
          <p14:tracePt t="89158" x="10502900" y="3962400"/>
          <p14:tracePt t="89175" x="10560050" y="4000500"/>
          <p14:tracePt t="89191" x="10629900" y="4051300"/>
          <p14:tracePt t="89208" x="10718800" y="4121150"/>
          <p14:tracePt t="89225" x="10985500" y="4248150"/>
          <p14:tracePt t="89241" x="11125200" y="4337050"/>
          <p14:tracePt t="89259" x="11176000" y="4387850"/>
          <p14:tracePt t="89360" x="11176000" y="4425950"/>
          <p14:tracePt t="89373" x="11176000" y="4457700"/>
          <p14:tracePt t="89389" x="11176000" y="4476750"/>
          <p14:tracePt t="89407" x="11176000" y="4584700"/>
          <p14:tracePt t="89424" x="11176000" y="4673600"/>
          <p14:tracePt t="89441" x="11214100" y="4705350"/>
          <p14:tracePt t="89453" x="11214100" y="4724400"/>
          <p14:tracePt t="89498" x="11233150" y="4724400"/>
          <p14:tracePt t="89914" x="11214100" y="4705350"/>
          <p14:tracePt t="89994" x="11195050" y="4705350"/>
          <p14:tracePt t="90012" x="11176000" y="4705350"/>
          <p14:tracePt t="90026" x="11163300" y="4724400"/>
          <p14:tracePt t="90050" x="11144250" y="4724400"/>
          <p14:tracePt t="101451" x="11163300" y="4705350"/>
          <p14:tracePt t="101464" x="11163300" y="4673600"/>
          <p14:tracePt t="101470" x="11176000" y="4616450"/>
          <p14:tracePt t="101482" x="11176000" y="4603750"/>
          <p14:tracePt t="101497" x="11176000" y="4584700"/>
          <p14:tracePt t="101502" x="11163300" y="4527550"/>
          <p14:tracePt t="101512" x="11144250" y="4457700"/>
          <p14:tracePt t="101528" x="11106150" y="4425950"/>
          <p14:tracePt t="101535" x="11036300" y="4298950"/>
          <p14:tracePt t="101545" x="10985500" y="4229100"/>
          <p14:tracePt t="101549" x="10909300" y="4121150"/>
          <p14:tracePt t="101572" x="10858500" y="4032250"/>
          <p14:tracePt t="101578" x="10680700" y="3835400"/>
          <p14:tracePt t="101586" x="10572750" y="3746500"/>
          <p14:tracePt t="101595" x="10483850" y="3676650"/>
          <p14:tracePt t="101601" x="10414000" y="3606800"/>
          <p14:tracePt t="101612" x="10325100" y="3556000"/>
          <p14:tracePt t="101616" x="10255250" y="3498850"/>
          <p14:tracePt t="101629" x="10147300" y="3409950"/>
          <p14:tracePt t="101636" x="10058400" y="3359150"/>
          <p14:tracePt t="101645" x="9988550" y="3302000"/>
          <p14:tracePt t="101649" x="9899650" y="3251200"/>
          <p14:tracePt t="101663" x="9861550" y="3232150"/>
          <p14:tracePt t="101669" x="9829800" y="3213100"/>
          <p14:tracePt t="101678" x="9810750" y="3200400"/>
          <p14:tracePt t="101682" x="9772650" y="3200400"/>
          <p14:tracePt t="101697" x="9740900" y="3162300"/>
          <p14:tracePt t="101702" x="9721850" y="3162300"/>
          <p14:tracePt t="101712" x="9702800" y="3143250"/>
          <p14:tracePt t="101762" x="9683750" y="3124200"/>
          <p14:tracePt t="101767" x="9683750" y="3111500"/>
          <p14:tracePt t="101779" x="9652000" y="3073400"/>
          <p14:tracePt t="101783" x="9652000" y="3054350"/>
          <p14:tracePt t="101794" x="9613900" y="3022600"/>
          <p14:tracePt t="101801" x="9594850" y="3003550"/>
          <p14:tracePt t="101812" x="9582150" y="2984500"/>
          <p14:tracePt t="101816" x="9544050" y="2965450"/>
          <p14:tracePt t="101829" x="9544050" y="2946400"/>
          <p14:tracePt t="101835" x="9525000" y="2914650"/>
          <p14:tracePt t="101845" x="9505950" y="2895600"/>
          <p14:tracePt t="101862" x="9474200" y="2857500"/>
          <p14:tracePt t="101869" x="9455150" y="2825750"/>
          <p14:tracePt t="101878" x="9436100" y="2806700"/>
          <p14:tracePt t="101895" x="9417050" y="2806700"/>
          <p14:tracePt t="101902" x="9385300" y="2768600"/>
          <p14:tracePt t="101915" x="9366250" y="2755900"/>
          <p14:tracePt t="101928" x="9347200" y="2755900"/>
          <p14:tracePt t="101934" x="9347200" y="2736850"/>
          <p14:tracePt t="101945" x="9328150" y="2736850"/>
          <p14:tracePt t="101949" x="9328150" y="2717800"/>
          <p14:tracePt t="102108" x="9347200" y="2717800"/>
          <p14:tracePt t="102333" x="9347200" y="2736850"/>
          <p14:tracePt t="102346" x="9366250" y="2736850"/>
          <p14:tracePt t="102356" x="9385300" y="2736850"/>
          <p14:tracePt t="102370" x="9385300" y="2755900"/>
          <p14:tracePt t="102402" x="9404350" y="2755900"/>
          <p14:tracePt t="102422" x="9417050" y="2768600"/>
          <p14:tracePt t="102441" x="9436100" y="2768600"/>
          <p14:tracePt t="102445" x="9455150" y="2768600"/>
          <p14:tracePt t="102467" x="9474200" y="2787650"/>
          <p14:tracePt t="102547" x="9493250" y="2787650"/>
          <p14:tracePt t="102577" x="9505950" y="2806700"/>
          <p14:tracePt t="102582" x="9525000" y="2806700"/>
          <p14:tracePt t="102601" x="9582150" y="2825750"/>
          <p14:tracePt t="102606" x="9632950" y="2825750"/>
          <p14:tracePt t="102611" x="9683750" y="2844800"/>
          <p14:tracePt t="102631" x="9759950" y="2844800"/>
          <p14:tracePt t="102649" x="9791700" y="2844800"/>
          <p14:tracePt t="102657" x="9810750" y="2844800"/>
          <p14:tracePt t="102659" x="9829800" y="2844800"/>
          <p14:tracePt t="102916" x="9829800" y="2857500"/>
          <p14:tracePt t="102934" x="9848850" y="2876550"/>
          <p14:tracePt t="102949" x="9861550" y="2857500"/>
          <p14:tracePt t="102968" x="9918700" y="2857500"/>
          <p14:tracePt t="102972" x="9937750" y="2857500"/>
          <p14:tracePt t="102985" x="9950450" y="2857500"/>
          <p14:tracePt t="102989" x="9969500" y="2844800"/>
          <p14:tracePt t="103248" x="9969500" y="2857500"/>
          <p14:tracePt t="103364" x="9950450" y="2876550"/>
          <p14:tracePt t="103550" x="9937750" y="2876550"/>
          <p14:tracePt t="103569" x="9937750" y="2857500"/>
          <p14:tracePt t="103574" x="9937750" y="2844800"/>
          <p14:tracePt t="103596" x="9937750" y="2825750"/>
          <p14:tracePt t="103634" x="9937750" y="2806700"/>
          <p14:tracePt t="103819" x="9937750" y="2825750"/>
          <p14:tracePt t="103834" x="9918700" y="2825750"/>
          <p14:tracePt t="103847" x="9918700" y="2844800"/>
          <p14:tracePt t="103897" x="9918700" y="2857500"/>
          <p14:tracePt t="103920" x="9918700" y="2876550"/>
          <p14:tracePt t="103924" x="9918700" y="2895600"/>
          <p14:tracePt t="103960" x="9918700" y="2914650"/>
          <p14:tracePt t="103980" x="9918700" y="2933700"/>
          <p14:tracePt t="103999" x="9918700" y="2946400"/>
          <p14:tracePt t="104022" x="9918700" y="2965450"/>
          <p14:tracePt t="104043" x="9918700" y="2984500"/>
          <p14:tracePt t="104050" x="9918700" y="3003550"/>
          <p14:tracePt t="104076" x="9918700" y="3022600"/>
          <p14:tracePt t="104093" x="9918700" y="3035300"/>
          <p14:tracePt t="104109" x="9918700" y="3054350"/>
          <p14:tracePt t="104129" x="9918700" y="3073400"/>
          <p14:tracePt t="105381" x="9937750" y="3073400"/>
          <p14:tracePt t="105399" x="10007600" y="3035300"/>
          <p14:tracePt t="105404" x="10039350" y="3003550"/>
          <p14:tracePt t="105424" x="10077450" y="2965450"/>
          <p14:tracePt t="105429" x="10096500" y="2946400"/>
          <p14:tracePt t="105441" x="10115550" y="2946400"/>
          <p14:tracePt t="105445" x="10128250" y="2933700"/>
          <p14:tracePt t="105458" x="10147300" y="2914650"/>
          <p14:tracePt t="105519" x="10147300" y="2895600"/>
          <p14:tracePt t="105531" x="10166350" y="2895600"/>
          <p14:tracePt t="105544" x="10166350" y="2876550"/>
          <p14:tracePt t="105574" x="10185400" y="2876550"/>
          <p14:tracePt t="105603" x="10185400" y="2857500"/>
          <p14:tracePt t="105607" x="10204450" y="2844800"/>
          <p14:tracePt t="105630" x="10204450" y="2825750"/>
          <p14:tracePt t="105645" x="10217150" y="2825750"/>
          <p14:tracePt t="105657" x="10217150" y="2806700"/>
          <p14:tracePt t="105684" x="10236200" y="2806700"/>
          <p14:tracePt t="105702" x="10236200" y="2787650"/>
          <p14:tracePt t="105747" x="10255250" y="2787650"/>
          <p14:tracePt t="105771" x="10274300" y="2768600"/>
          <p14:tracePt t="105789" x="10293350" y="2768600"/>
          <p14:tracePt t="105807" x="10293350" y="2755900"/>
          <p14:tracePt t="105830" x="10325100" y="2736850"/>
          <p14:tracePt t="105848" x="10344150" y="2698750"/>
          <p14:tracePt t="105853" x="10363200" y="2698750"/>
          <p14:tracePt t="105868" x="10382250" y="2698750"/>
          <p14:tracePt t="105873" x="10382250" y="2679700"/>
          <p14:tracePt t="106065" x="10382250" y="2698750"/>
          <p14:tracePt t="106093" x="10382250" y="2717800"/>
          <p14:tracePt t="106108" x="10382250" y="2736850"/>
          <p14:tracePt t="106137" x="10394950" y="2755900"/>
          <p14:tracePt t="106152" x="10394950" y="2768600"/>
          <p14:tracePt t="106161" x="10414000" y="2768600"/>
          <p14:tracePt t="106178" x="10414000" y="2787650"/>
          <p14:tracePt t="106197" x="10433050" y="2806700"/>
          <p14:tracePt t="106208" x="10433050" y="2825750"/>
          <p14:tracePt t="106212" x="10433050" y="2844800"/>
          <p14:tracePt t="106225" x="10471150" y="2876550"/>
          <p14:tracePt t="106231" x="10483850" y="2914650"/>
          <p14:tracePt t="106241" x="10502900" y="2933700"/>
          <p14:tracePt t="106244" x="10521950" y="2946400"/>
          <p14:tracePt t="106267" x="10560050" y="2984500"/>
          <p14:tracePt t="106273" x="10610850" y="3022600"/>
          <p14:tracePt t="106296" x="10648950" y="3035300"/>
          <p14:tracePt t="106307" x="10661650" y="3054350"/>
          <p14:tracePt t="106311" x="10699750" y="3073400"/>
          <p14:tracePt t="106335" x="10718800" y="3073400"/>
          <p14:tracePt t="106340" x="10769600" y="3073400"/>
          <p14:tracePt t="106345" x="10788650" y="3073400"/>
          <p14:tracePt t="106363" x="10807700" y="3092450"/>
          <p14:tracePt t="106374" x="10820400" y="3092450"/>
          <p14:tracePt t="106397" x="10820400" y="3111500"/>
          <p14:tracePt t="106407" x="10839450" y="3111500"/>
          <p14:tracePt t="106412" x="10858500" y="3111500"/>
          <p14:tracePt t="106429" x="10877550" y="3124200"/>
          <p14:tracePt t="106445" x="10896600" y="3143250"/>
          <p14:tracePt t="106477" x="10909300" y="3143250"/>
          <p14:tracePt t="106486" x="10909300" y="3162300"/>
          <p14:tracePt t="106509" x="10928350" y="3200400"/>
          <p14:tracePt t="106527" x="10928350" y="3213100"/>
          <p14:tracePt t="106542" x="10928350" y="3232150"/>
          <p14:tracePt t="106550" x="10928350" y="3251200"/>
          <p14:tracePt t="106557" x="10928350" y="3270250"/>
          <p14:tracePt t="106573" x="10928350" y="3289300"/>
          <p14:tracePt t="106591" x="10928350" y="3302000"/>
          <p14:tracePt t="106611" x="10928350" y="3321050"/>
          <p14:tracePt t="106624" x="10928350" y="3340100"/>
          <p14:tracePt t="106634" x="10909300" y="3359150"/>
          <p14:tracePt t="106678" x="10909300" y="3378200"/>
          <p14:tracePt t="106713" x="10896600" y="3378200"/>
          <p14:tracePt t="106743" x="10896600" y="3390900"/>
          <p14:tracePt t="106764" x="10877550" y="3390900"/>
          <p14:tracePt t="106793" x="10877550" y="3409950"/>
          <p14:tracePt t="106808" x="10858500" y="3409950"/>
          <p14:tracePt t="106823" x="10839450" y="3429000"/>
          <p14:tracePt t="106845" x="10820400" y="3429000"/>
          <p14:tracePt t="107437" x="10807700" y="3429000"/>
          <p14:tracePt t="107454" x="10788650" y="3429000"/>
          <p14:tracePt t="107467" x="10769600" y="3448050"/>
          <p14:tracePt t="107473" x="10750550" y="3448050"/>
          <p14:tracePt t="107494" x="10731500" y="3448050"/>
          <p14:tracePt t="109617" x="10731500" y="3467100"/>
          <p14:tracePt t="109657" x="10718800" y="3467100"/>
          <p14:tracePt t="115011" x="0" y="0"/>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10">
            <a:extLst>
              <a:ext uri="{FF2B5EF4-FFF2-40B4-BE49-F238E27FC236}">
                <a16:creationId xmlns:a16="http://schemas.microsoft.com/office/drawing/2014/main" id="{D53A7D90-B5DC-7AD3-DC52-AB696A733062}"/>
              </a:ext>
            </a:extLst>
          </p:cNvPr>
          <p:cNvGraphicFramePr>
            <a:graphicFrameLocks noGrp="1"/>
          </p:cNvGraphicFramePr>
          <p:nvPr>
            <p:extLst>
              <p:ext uri="{D42A27DB-BD31-4B8C-83A1-F6EECF244321}">
                <p14:modId xmlns:p14="http://schemas.microsoft.com/office/powerpoint/2010/main" val="3392090398"/>
              </p:ext>
            </p:extLst>
          </p:nvPr>
        </p:nvGraphicFramePr>
        <p:xfrm>
          <a:off x="1600200" y="3988435"/>
          <a:ext cx="8128000" cy="2286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40436179"/>
                    </a:ext>
                  </a:extLst>
                </a:gridCol>
                <a:gridCol w="2032000">
                  <a:extLst>
                    <a:ext uri="{9D8B030D-6E8A-4147-A177-3AD203B41FA5}">
                      <a16:colId xmlns:a16="http://schemas.microsoft.com/office/drawing/2014/main" val="4053876145"/>
                    </a:ext>
                  </a:extLst>
                </a:gridCol>
                <a:gridCol w="2032000">
                  <a:extLst>
                    <a:ext uri="{9D8B030D-6E8A-4147-A177-3AD203B41FA5}">
                      <a16:colId xmlns:a16="http://schemas.microsoft.com/office/drawing/2014/main" val="847906377"/>
                    </a:ext>
                  </a:extLst>
                </a:gridCol>
                <a:gridCol w="2032000">
                  <a:extLst>
                    <a:ext uri="{9D8B030D-6E8A-4147-A177-3AD203B41FA5}">
                      <a16:colId xmlns:a16="http://schemas.microsoft.com/office/drawing/2014/main" val="3570669781"/>
                    </a:ext>
                  </a:extLst>
                </a:gridCol>
              </a:tblGrid>
              <a:tr h="370840">
                <a:tc>
                  <a:txBody>
                    <a:bodyPr/>
                    <a:lstStyle/>
                    <a:p>
                      <a:r>
                        <a:rPr lang="en-GB" sz="1400" dirty="0"/>
                        <a:t>Effect</a:t>
                      </a:r>
                    </a:p>
                  </a:txBody>
                  <a:tcPr/>
                </a:tc>
                <a:tc>
                  <a:txBody>
                    <a:bodyPr/>
                    <a:lstStyle/>
                    <a:p>
                      <a:r>
                        <a:rPr lang="en-GB" sz="1400" dirty="0"/>
                        <a:t>Effective radiative forcing (W m</a:t>
                      </a:r>
                      <a:r>
                        <a:rPr lang="en-GB" sz="1400" baseline="30000" dirty="0"/>
                        <a:t>-2</a:t>
                      </a:r>
                      <a:r>
                        <a:rPr lang="en-GB" sz="1400" dirty="0"/>
                        <a:t>)</a:t>
                      </a:r>
                    </a:p>
                  </a:txBody>
                  <a:tcPr/>
                </a:tc>
                <a:tc>
                  <a:txBody>
                    <a:bodyPr/>
                    <a:lstStyle/>
                    <a:p>
                      <a:r>
                        <a:rPr lang="en-GB" sz="1400" dirty="0"/>
                        <a:t>Uncertainty (Wm</a:t>
                      </a:r>
                      <a:r>
                        <a:rPr lang="en-GB" sz="1400" baseline="30000" dirty="0"/>
                        <a:t>-2</a:t>
                      </a:r>
                      <a:r>
                        <a:rPr lang="en-GB" sz="1400" dirty="0"/>
                        <a:t>) (confidence level) </a:t>
                      </a:r>
                    </a:p>
                  </a:txBody>
                  <a:tcPr/>
                </a:tc>
                <a:tc>
                  <a:txBody>
                    <a:bodyPr/>
                    <a:lstStyle/>
                    <a:p>
                      <a:r>
                        <a:rPr lang="en-GB" sz="1400" dirty="0"/>
                        <a:t>Reference</a:t>
                      </a:r>
                    </a:p>
                  </a:txBody>
                  <a:tcPr/>
                </a:tc>
                <a:extLst>
                  <a:ext uri="{0D108BD9-81ED-4DB2-BD59-A6C34878D82A}">
                    <a16:rowId xmlns:a16="http://schemas.microsoft.com/office/drawing/2014/main" val="1280712850"/>
                  </a:ext>
                </a:extLst>
              </a:tr>
              <a:tr h="370840">
                <a:tc>
                  <a:txBody>
                    <a:bodyPr/>
                    <a:lstStyle/>
                    <a:p>
                      <a:r>
                        <a:rPr lang="en-GB" sz="1400" dirty="0"/>
                        <a:t>Aerosol-radiation interaction</a:t>
                      </a:r>
                    </a:p>
                  </a:txBody>
                  <a:tcPr/>
                </a:tc>
                <a:tc>
                  <a:txBody>
                    <a:bodyPr/>
                    <a:lstStyle/>
                    <a:p>
                      <a:r>
                        <a:rPr lang="en-GB" sz="1400" dirty="0"/>
                        <a:t>-0.3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±0.3 (medium confidence)</a:t>
                      </a:r>
                    </a:p>
                    <a:p>
                      <a:endParaRPr lang="en-GB" sz="1400" dirty="0"/>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Figure 7.5 and supporting text on page 955 of AR6 WG1</a:t>
                      </a:r>
                    </a:p>
                    <a:p>
                      <a:endParaRPr lang="en-GB" sz="1400" dirty="0"/>
                    </a:p>
                  </a:txBody>
                  <a:tcPr anchor="ctr"/>
                </a:tc>
                <a:extLst>
                  <a:ext uri="{0D108BD9-81ED-4DB2-BD59-A6C34878D82A}">
                    <a16:rowId xmlns:a16="http://schemas.microsoft.com/office/drawing/2014/main" val="3913789354"/>
                  </a:ext>
                </a:extLst>
              </a:tr>
              <a:tr h="370840">
                <a:tc>
                  <a:txBody>
                    <a:bodyPr/>
                    <a:lstStyle/>
                    <a:p>
                      <a:r>
                        <a:rPr lang="en-GB" sz="1400" dirty="0"/>
                        <a:t>Aerosol-cloud interaction</a:t>
                      </a:r>
                    </a:p>
                  </a:txBody>
                  <a:tcPr/>
                </a:tc>
                <a:tc>
                  <a:txBody>
                    <a:bodyPr/>
                    <a:lstStyle/>
                    <a:p>
                      <a:r>
                        <a:rPr lang="en-GB" sz="1400" dirty="0"/>
                        <a:t>-1.0</a:t>
                      </a:r>
                    </a:p>
                  </a:txBody>
                  <a:tcPr/>
                </a:tc>
                <a:tc>
                  <a:txBody>
                    <a:bodyPr/>
                    <a:lstStyle/>
                    <a:p>
                      <a:r>
                        <a:rPr lang="en-GB" sz="1400" dirty="0"/>
                        <a:t>±0.7 (medium confidence)</a:t>
                      </a:r>
                    </a:p>
                  </a:txBody>
                  <a:tcPr/>
                </a:tc>
                <a:tc vMerge="1">
                  <a:txBody>
                    <a:bodyPr/>
                    <a:lstStyle/>
                    <a:p>
                      <a:endParaRPr lang="en-GB" dirty="0"/>
                    </a:p>
                  </a:txBody>
                  <a:tcPr/>
                </a:tc>
                <a:extLst>
                  <a:ext uri="{0D108BD9-81ED-4DB2-BD59-A6C34878D82A}">
                    <a16:rowId xmlns:a16="http://schemas.microsoft.com/office/drawing/2014/main" val="1946255041"/>
                  </a:ext>
                </a:extLst>
              </a:tr>
              <a:tr h="370840">
                <a:tc>
                  <a:txBody>
                    <a:bodyPr/>
                    <a:lstStyle/>
                    <a:p>
                      <a:r>
                        <a:rPr lang="en-GB" sz="1400" dirty="0"/>
                        <a:t>Total</a:t>
                      </a:r>
                    </a:p>
                  </a:txBody>
                  <a:tcPr/>
                </a:tc>
                <a:tc>
                  <a:txBody>
                    <a:bodyPr/>
                    <a:lstStyle/>
                    <a:p>
                      <a:r>
                        <a:rPr lang="en-GB" sz="1400" dirty="0"/>
                        <a:t>-1.3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-2.0 - -0.6 (medium confidence)</a:t>
                      </a:r>
                    </a:p>
                  </a:txBody>
                  <a:tcPr/>
                </a:tc>
                <a:tc vMerge="1">
                  <a:txBody>
                    <a:bodyPr/>
                    <a:lstStyle/>
                    <a:p>
                      <a:endParaRPr lang="en-GB" dirty="0"/>
                    </a:p>
                  </a:txBody>
                  <a:tcPr/>
                </a:tc>
                <a:extLst>
                  <a:ext uri="{0D108BD9-81ED-4DB2-BD59-A6C34878D82A}">
                    <a16:rowId xmlns:a16="http://schemas.microsoft.com/office/drawing/2014/main" val="4092185913"/>
                  </a:ext>
                </a:extLst>
              </a:tr>
            </a:tbl>
          </a:graphicData>
        </a:graphic>
      </p:graphicFrame>
      <p:sp>
        <p:nvSpPr>
          <p:cNvPr id="10" name="文本框 9">
            <a:extLst>
              <a:ext uri="{FF2B5EF4-FFF2-40B4-BE49-F238E27FC236}">
                <a16:creationId xmlns:a16="http://schemas.microsoft.com/office/drawing/2014/main" id="{3C1CA8A2-B8B2-0601-DD7F-795D5C3780DA}"/>
              </a:ext>
            </a:extLst>
          </p:cNvPr>
          <p:cNvSpPr txBox="1"/>
          <p:nvPr/>
        </p:nvSpPr>
        <p:spPr>
          <a:xfrm>
            <a:off x="406400" y="1819907"/>
            <a:ext cx="10960510" cy="923330"/>
          </a:xfrm>
          <a:prstGeom prst="rect">
            <a:avLst/>
          </a:prstGeom>
          <a:noFill/>
        </p:spPr>
        <p:txBody>
          <a:bodyPr wrap="square">
            <a:spAutoFit/>
          </a:bodyPr>
          <a:lstStyle/>
          <a:p>
            <a:pPr marL="285750" indent="-285750">
              <a:buFont typeface="Wingdings" panose="05000000000000000000" pitchFamily="2" charset="2"/>
              <a:buChar char="Ø"/>
            </a:pPr>
            <a:r>
              <a:rPr lang="en-US" altLang="zh-CN" b="1" dirty="0"/>
              <a:t>Effective radiative forcing (ERF, </a:t>
            </a:r>
            <a:r>
              <a:rPr lang="en-GB" altLang="zh-CN" b="1" dirty="0"/>
              <a:t>W m</a:t>
            </a:r>
            <a:r>
              <a:rPr lang="en-GB" altLang="zh-CN" b="1" baseline="30000" dirty="0"/>
              <a:t>-2</a:t>
            </a:r>
            <a:r>
              <a:rPr lang="en-US" altLang="zh-CN" b="1" dirty="0"/>
              <a:t>): </a:t>
            </a:r>
          </a:p>
          <a:p>
            <a:r>
              <a:rPr lang="en-US" altLang="zh-CN" b="1" dirty="0"/>
              <a:t>     </a:t>
            </a:r>
            <a:r>
              <a:rPr lang="en-US" altLang="zh-CN" dirty="0"/>
              <a:t>Quantifies the change in the Earth's energy balance caused by a climate driver</a:t>
            </a:r>
          </a:p>
          <a:p>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lang="zh-CN" altLang="en-US" dirty="0"/>
          </a:p>
        </p:txBody>
      </p:sp>
      <p:sp>
        <p:nvSpPr>
          <p:cNvPr id="12" name="文本框 11">
            <a:extLst>
              <a:ext uri="{FF2B5EF4-FFF2-40B4-BE49-F238E27FC236}">
                <a16:creationId xmlns:a16="http://schemas.microsoft.com/office/drawing/2014/main" id="{9C35CF84-E429-7ED6-B70E-8DB6DDC3C6F3}"/>
              </a:ext>
            </a:extLst>
          </p:cNvPr>
          <p:cNvSpPr txBox="1"/>
          <p:nvPr/>
        </p:nvSpPr>
        <p:spPr>
          <a:xfrm>
            <a:off x="1524819" y="3619103"/>
            <a:ext cx="7541341" cy="369332"/>
          </a:xfrm>
          <a:prstGeom prst="rect">
            <a:avLst/>
          </a:prstGeom>
          <a:noFill/>
        </p:spPr>
        <p:txBody>
          <a:bodyPr wrap="square">
            <a:spAutoFit/>
          </a:bodyPr>
          <a:lstStyle/>
          <a:p>
            <a:r>
              <a:rPr lang="en-GB" altLang="zh-CN" dirty="0"/>
              <a:t>Anthropogenic ERF </a:t>
            </a:r>
            <a:r>
              <a:rPr lang="en-US" altLang="zh-CN" dirty="0"/>
              <a:t>over the industrial era (1750–2014)</a:t>
            </a:r>
            <a:endParaRPr lang="zh-CN" altLang="en-US" dirty="0"/>
          </a:p>
        </p:txBody>
      </p:sp>
      <p:sp>
        <p:nvSpPr>
          <p:cNvPr id="16" name="文本框 15">
            <a:extLst>
              <a:ext uri="{FF2B5EF4-FFF2-40B4-BE49-F238E27FC236}">
                <a16:creationId xmlns:a16="http://schemas.microsoft.com/office/drawing/2014/main" id="{9B4AACFD-9181-2DEC-C280-1A0EA319B437}"/>
              </a:ext>
            </a:extLst>
          </p:cNvPr>
          <p:cNvSpPr txBox="1"/>
          <p:nvPr/>
        </p:nvSpPr>
        <p:spPr>
          <a:xfrm>
            <a:off x="698910" y="2377629"/>
            <a:ext cx="9635613"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t>Instantaneous change in </a:t>
            </a:r>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the energy budget</a:t>
            </a:r>
            <a:endParaRPr lang="en-GB" altLang="zh-CN"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Rapid adjustments</a:t>
            </a:r>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 Rapid changes in the atmosphere (</a:t>
            </a:r>
            <a:r>
              <a:rPr lang="en-GB"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such as </a:t>
            </a:r>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changes in cloud and water vapor)</a:t>
            </a:r>
            <a:r>
              <a:rPr lang="en-GB"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that are uncoupled to</a:t>
            </a:r>
            <a:r>
              <a:rPr lang="en-GB"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 any global surface air temperature change</a:t>
            </a:r>
            <a:r>
              <a:rPr lang="en-US" altLang="zh-CN"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zh-CN" altLang="en-US" dirty="0">
              <a:solidFill>
                <a:srgbClr val="000000"/>
              </a:solidFill>
              <a:latin typeface="Calibri" panose="020F0502020204030204" pitchFamily="34" charset="0"/>
              <a:cs typeface="Calibri" panose="020F0502020204030204" pitchFamily="34" charset="0"/>
            </a:endParaRPr>
          </a:p>
        </p:txBody>
      </p:sp>
      <p:sp>
        <p:nvSpPr>
          <p:cNvPr id="3" name="Freeform 13">
            <a:extLst>
              <a:ext uri="{FF2B5EF4-FFF2-40B4-BE49-F238E27FC236}">
                <a16:creationId xmlns:a16="http://schemas.microsoft.com/office/drawing/2014/main" id="{38368317-4D4F-B189-2B7F-24AEF489F6F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2CEA5493-5A21-54EB-6184-4D7570959773}"/>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Aerosol-radiation vs. aerosol-cloud  </a:t>
            </a:r>
          </a:p>
        </p:txBody>
      </p:sp>
    </p:spTree>
    <p:extLst>
      <p:ext uri="{BB962C8B-B14F-4D97-AF65-F5344CB8AC3E}">
        <p14:creationId xmlns:p14="http://schemas.microsoft.com/office/powerpoint/2010/main" val="2519363042"/>
      </p:ext>
    </p:extLst>
  </p:cSld>
  <p:clrMapOvr>
    <a:masterClrMapping/>
  </p:clrMapOvr>
  <mc:AlternateContent xmlns:mc="http://schemas.openxmlformats.org/markup-compatibility/2006" xmlns:p14="http://schemas.microsoft.com/office/powerpoint/2010/main">
    <mc:Choice Requires="p14">
      <p:transition spd="slow" p14:dur="2000" advTm="173433"/>
    </mc:Choice>
    <mc:Fallback xmlns="">
      <p:transition spd="slow" advTm="1734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4967-67B9-C35A-4C0A-884F7F2564CE}"/>
            </a:ext>
          </a:extLst>
        </p:cNvPr>
        <p:cNvGrpSpPr/>
        <p:nvPr/>
      </p:nvGrpSpPr>
      <p:grpSpPr>
        <a:xfrm>
          <a:off x="0" y="0"/>
          <a:ext cx="0" cy="0"/>
          <a:chOff x="0" y="0"/>
          <a:chExt cx="0" cy="0"/>
        </a:xfrm>
      </p:grpSpPr>
      <p:graphicFrame>
        <p:nvGraphicFramePr>
          <p:cNvPr id="4" name="Table 10">
            <a:extLst>
              <a:ext uri="{FF2B5EF4-FFF2-40B4-BE49-F238E27FC236}">
                <a16:creationId xmlns:a16="http://schemas.microsoft.com/office/drawing/2014/main" id="{A1D5BC92-D26F-BEEA-4968-345955910A1F}"/>
              </a:ext>
            </a:extLst>
          </p:cNvPr>
          <p:cNvGraphicFramePr>
            <a:graphicFrameLocks noGrp="1"/>
          </p:cNvGraphicFramePr>
          <p:nvPr>
            <p:extLst>
              <p:ext uri="{D42A27DB-BD31-4B8C-83A1-F6EECF244321}">
                <p14:modId xmlns:p14="http://schemas.microsoft.com/office/powerpoint/2010/main" val="999245662"/>
              </p:ext>
            </p:extLst>
          </p:nvPr>
        </p:nvGraphicFramePr>
        <p:xfrm>
          <a:off x="1409377" y="2047699"/>
          <a:ext cx="8750624" cy="2790664"/>
        </p:xfrm>
        <a:graphic>
          <a:graphicData uri="http://schemas.openxmlformats.org/drawingml/2006/table">
            <a:tbl>
              <a:tblPr firstRow="1" bandRow="1">
                <a:tableStyleId>{5C22544A-7EE6-4342-B048-85BDC9FD1C3A}</a:tableStyleId>
              </a:tblPr>
              <a:tblGrid>
                <a:gridCol w="2187656">
                  <a:extLst>
                    <a:ext uri="{9D8B030D-6E8A-4147-A177-3AD203B41FA5}">
                      <a16:colId xmlns:a16="http://schemas.microsoft.com/office/drawing/2014/main" val="2840436179"/>
                    </a:ext>
                  </a:extLst>
                </a:gridCol>
                <a:gridCol w="2187656">
                  <a:extLst>
                    <a:ext uri="{9D8B030D-6E8A-4147-A177-3AD203B41FA5}">
                      <a16:colId xmlns:a16="http://schemas.microsoft.com/office/drawing/2014/main" val="4053876145"/>
                    </a:ext>
                  </a:extLst>
                </a:gridCol>
                <a:gridCol w="2187656">
                  <a:extLst>
                    <a:ext uri="{9D8B030D-6E8A-4147-A177-3AD203B41FA5}">
                      <a16:colId xmlns:a16="http://schemas.microsoft.com/office/drawing/2014/main" val="847906377"/>
                    </a:ext>
                  </a:extLst>
                </a:gridCol>
                <a:gridCol w="2187656">
                  <a:extLst>
                    <a:ext uri="{9D8B030D-6E8A-4147-A177-3AD203B41FA5}">
                      <a16:colId xmlns:a16="http://schemas.microsoft.com/office/drawing/2014/main" val="3570669781"/>
                    </a:ext>
                  </a:extLst>
                </a:gridCol>
              </a:tblGrid>
              <a:tr h="634242">
                <a:tc>
                  <a:txBody>
                    <a:bodyPr/>
                    <a:lstStyle/>
                    <a:p>
                      <a:r>
                        <a:rPr lang="en-GB" dirty="0"/>
                        <a:t>Effect</a:t>
                      </a:r>
                    </a:p>
                  </a:txBody>
                  <a:tcPr/>
                </a:tc>
                <a:tc>
                  <a:txBody>
                    <a:bodyPr/>
                    <a:lstStyle/>
                    <a:p>
                      <a:r>
                        <a:rPr lang="en-GB" dirty="0"/>
                        <a:t>Effective radiative forcing (W m</a:t>
                      </a:r>
                      <a:r>
                        <a:rPr lang="en-GB" baseline="30000" dirty="0"/>
                        <a:t>-2</a:t>
                      </a:r>
                      <a:r>
                        <a:rPr lang="en-GB" dirty="0"/>
                        <a:t>)</a:t>
                      </a:r>
                    </a:p>
                  </a:txBody>
                  <a:tcPr/>
                </a:tc>
                <a:tc>
                  <a:txBody>
                    <a:bodyPr/>
                    <a:lstStyle/>
                    <a:p>
                      <a:r>
                        <a:rPr lang="en-GB" dirty="0"/>
                        <a:t>Uncertainty (Wm</a:t>
                      </a:r>
                      <a:r>
                        <a:rPr lang="en-GB" baseline="30000" dirty="0"/>
                        <a:t>-2</a:t>
                      </a:r>
                      <a:r>
                        <a:rPr lang="en-GB" dirty="0"/>
                        <a:t>) (confidence level) </a:t>
                      </a:r>
                    </a:p>
                  </a:txBody>
                  <a:tcPr/>
                </a:tc>
                <a:tc>
                  <a:txBody>
                    <a:bodyPr/>
                    <a:lstStyle/>
                    <a:p>
                      <a:r>
                        <a:rPr lang="en-GB" dirty="0"/>
                        <a:t>Reference</a:t>
                      </a:r>
                    </a:p>
                  </a:txBody>
                  <a:tcPr/>
                </a:tc>
                <a:extLst>
                  <a:ext uri="{0D108BD9-81ED-4DB2-BD59-A6C34878D82A}">
                    <a16:rowId xmlns:a16="http://schemas.microsoft.com/office/drawing/2014/main" val="1280712850"/>
                  </a:ext>
                </a:extLst>
              </a:tr>
              <a:tr h="887938">
                <a:tc>
                  <a:txBody>
                    <a:bodyPr/>
                    <a:lstStyle/>
                    <a:p>
                      <a:r>
                        <a:rPr lang="en-GB" dirty="0"/>
                        <a:t>Aerosol-radiation interaction</a:t>
                      </a:r>
                    </a:p>
                  </a:txBody>
                  <a:tcPr/>
                </a:tc>
                <a:tc>
                  <a:txBody>
                    <a:bodyPr/>
                    <a:lstStyle/>
                    <a:p>
                      <a:r>
                        <a:rPr lang="en-GB" dirty="0"/>
                        <a:t>-0.3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±0.3 (medium confidence)</a:t>
                      </a:r>
                    </a:p>
                    <a:p>
                      <a:endParaRPr lang="en-GB" dirty="0"/>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Figure 7.5 and supporting text on page 955 of AR6 WG1</a:t>
                      </a:r>
                    </a:p>
                    <a:p>
                      <a:endParaRPr lang="en-GB" dirty="0"/>
                    </a:p>
                  </a:txBody>
                  <a:tcPr anchor="ctr"/>
                </a:tc>
                <a:extLst>
                  <a:ext uri="{0D108BD9-81ED-4DB2-BD59-A6C34878D82A}">
                    <a16:rowId xmlns:a16="http://schemas.microsoft.com/office/drawing/2014/main" val="3913789354"/>
                  </a:ext>
                </a:extLst>
              </a:tr>
              <a:tr h="634242">
                <a:tc>
                  <a:txBody>
                    <a:bodyPr/>
                    <a:lstStyle/>
                    <a:p>
                      <a:r>
                        <a:rPr lang="en-GB" dirty="0"/>
                        <a:t>Aerosol-cloud interaction</a:t>
                      </a:r>
                    </a:p>
                  </a:txBody>
                  <a:tcPr/>
                </a:tc>
                <a:tc>
                  <a:txBody>
                    <a:bodyPr/>
                    <a:lstStyle/>
                    <a:p>
                      <a:r>
                        <a:rPr lang="en-GB" dirty="0"/>
                        <a:t>-1.0</a:t>
                      </a:r>
                    </a:p>
                  </a:txBody>
                  <a:tcPr/>
                </a:tc>
                <a:tc>
                  <a:txBody>
                    <a:bodyPr/>
                    <a:lstStyle/>
                    <a:p>
                      <a:r>
                        <a:rPr lang="en-GB" dirty="0"/>
                        <a:t>±0.7 (medium confidence)</a:t>
                      </a:r>
                    </a:p>
                  </a:txBody>
                  <a:tcPr/>
                </a:tc>
                <a:tc vMerge="1">
                  <a:txBody>
                    <a:bodyPr/>
                    <a:lstStyle/>
                    <a:p>
                      <a:endParaRPr lang="en-GB" dirty="0"/>
                    </a:p>
                  </a:txBody>
                  <a:tcPr/>
                </a:tc>
                <a:extLst>
                  <a:ext uri="{0D108BD9-81ED-4DB2-BD59-A6C34878D82A}">
                    <a16:rowId xmlns:a16="http://schemas.microsoft.com/office/drawing/2014/main" val="1946255041"/>
                  </a:ext>
                </a:extLst>
              </a:tr>
              <a:tr h="634242">
                <a:tc>
                  <a:txBody>
                    <a:bodyPr/>
                    <a:lstStyle/>
                    <a:p>
                      <a:r>
                        <a:rPr lang="en-GB" dirty="0"/>
                        <a:t>Total</a:t>
                      </a:r>
                    </a:p>
                  </a:txBody>
                  <a:tcPr/>
                </a:tc>
                <a:tc>
                  <a:txBody>
                    <a:bodyPr/>
                    <a:lstStyle/>
                    <a:p>
                      <a:r>
                        <a:rPr lang="en-GB" dirty="0"/>
                        <a:t>-1.3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-2.0 - -0.6 (medium confidence)</a:t>
                      </a:r>
                    </a:p>
                  </a:txBody>
                  <a:tcPr/>
                </a:tc>
                <a:tc vMerge="1">
                  <a:txBody>
                    <a:bodyPr/>
                    <a:lstStyle/>
                    <a:p>
                      <a:endParaRPr lang="en-GB" dirty="0"/>
                    </a:p>
                  </a:txBody>
                  <a:tcPr/>
                </a:tc>
                <a:extLst>
                  <a:ext uri="{0D108BD9-81ED-4DB2-BD59-A6C34878D82A}">
                    <a16:rowId xmlns:a16="http://schemas.microsoft.com/office/drawing/2014/main" val="4092185913"/>
                  </a:ext>
                </a:extLst>
              </a:tr>
            </a:tbl>
          </a:graphicData>
        </a:graphic>
      </p:graphicFrame>
      <p:sp>
        <p:nvSpPr>
          <p:cNvPr id="3" name="TextBox 25">
            <a:extLst>
              <a:ext uri="{FF2B5EF4-FFF2-40B4-BE49-F238E27FC236}">
                <a16:creationId xmlns:a16="http://schemas.microsoft.com/office/drawing/2014/main" id="{BCC8FD9A-4524-ECF0-8065-FA67C44B95D8}"/>
              </a:ext>
            </a:extLst>
          </p:cNvPr>
          <p:cNvSpPr txBox="1"/>
          <p:nvPr/>
        </p:nvSpPr>
        <p:spPr>
          <a:xfrm>
            <a:off x="0" y="5333373"/>
            <a:ext cx="9905999" cy="1246495"/>
          </a:xfrm>
          <a:prstGeom prst="rect">
            <a:avLst/>
          </a:prstGeom>
          <a:noFill/>
        </p:spPr>
        <p:txBody>
          <a:bodyPr wrap="square" rtlCol="0">
            <a:spAutoFit/>
          </a:bodyPr>
          <a:lstStyle/>
          <a:p>
            <a:r>
              <a:rPr lang="en-GB" sz="2500" dirty="0"/>
              <a:t>Uncertainties are from properties of aerosol: composition, abundance, number-size distribution, hygroscopicity, which in turn affects aerosol-radiation and aerosol-cloud effects</a:t>
            </a:r>
          </a:p>
        </p:txBody>
      </p:sp>
      <p:sp>
        <p:nvSpPr>
          <p:cNvPr id="6" name="矩形 5">
            <a:extLst>
              <a:ext uri="{FF2B5EF4-FFF2-40B4-BE49-F238E27FC236}">
                <a16:creationId xmlns:a16="http://schemas.microsoft.com/office/drawing/2014/main" id="{93032D5F-821C-A853-415F-B3709FBE68FF}"/>
              </a:ext>
            </a:extLst>
          </p:cNvPr>
          <p:cNvSpPr/>
          <p:nvPr/>
        </p:nvSpPr>
        <p:spPr>
          <a:xfrm>
            <a:off x="5803385" y="1997266"/>
            <a:ext cx="2149124" cy="3185653"/>
          </a:xfrm>
          <a:prstGeom prst="rect">
            <a:avLst/>
          </a:prstGeom>
          <a:noFill/>
          <a:ln w="3175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0461F021-5E3F-B3D3-1C72-C36FC32C620D}"/>
              </a:ext>
            </a:extLst>
          </p:cNvPr>
          <p:cNvSpPr txBox="1"/>
          <p:nvPr/>
        </p:nvSpPr>
        <p:spPr>
          <a:xfrm>
            <a:off x="1936954" y="1593776"/>
            <a:ext cx="7541341" cy="369332"/>
          </a:xfrm>
          <a:prstGeom prst="rect">
            <a:avLst/>
          </a:prstGeom>
          <a:noFill/>
        </p:spPr>
        <p:txBody>
          <a:bodyPr wrap="square">
            <a:spAutoFit/>
          </a:bodyPr>
          <a:lstStyle/>
          <a:p>
            <a:r>
              <a:rPr lang="en-GB" altLang="zh-CN" dirty="0"/>
              <a:t>Anthropogenic ERF </a:t>
            </a:r>
            <a:r>
              <a:rPr lang="en-US" altLang="zh-CN" dirty="0"/>
              <a:t>over the industrial era (1750–2014)</a:t>
            </a:r>
            <a:endParaRPr lang="zh-CN" altLang="en-US" dirty="0"/>
          </a:p>
        </p:txBody>
      </p:sp>
      <p:sp>
        <p:nvSpPr>
          <p:cNvPr id="5" name="Freeform 13">
            <a:extLst>
              <a:ext uri="{FF2B5EF4-FFF2-40B4-BE49-F238E27FC236}">
                <a16:creationId xmlns:a16="http://schemas.microsoft.com/office/drawing/2014/main" id="{F4945205-BC8D-389A-8CEA-9B7F2D3B9A2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9" name="TextBox 14">
            <a:extLst>
              <a:ext uri="{FF2B5EF4-FFF2-40B4-BE49-F238E27FC236}">
                <a16:creationId xmlns:a16="http://schemas.microsoft.com/office/drawing/2014/main" id="{3A87231E-2801-3C44-5E40-CA194E228F62}"/>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Aerosol-Radiation vs. Aerosol-Cloud  </a:t>
            </a:r>
          </a:p>
        </p:txBody>
      </p:sp>
    </p:spTree>
    <p:extLst>
      <p:ext uri="{BB962C8B-B14F-4D97-AF65-F5344CB8AC3E}">
        <p14:creationId xmlns:p14="http://schemas.microsoft.com/office/powerpoint/2010/main" val="3184042205"/>
      </p:ext>
    </p:extLst>
  </p:cSld>
  <p:clrMapOvr>
    <a:masterClrMapping/>
  </p:clrMapOvr>
  <mc:AlternateContent xmlns:mc="http://schemas.openxmlformats.org/markup-compatibility/2006" xmlns:p14="http://schemas.microsoft.com/office/powerpoint/2010/main">
    <mc:Choice Requires="p14">
      <p:transition spd="slow" p14:dur="2000" advTm="57215"/>
    </mc:Choice>
    <mc:Fallback xmlns="">
      <p:transition spd="slow" advTm="5721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7DAA-EDF5-F214-582B-96BAE66693BF}"/>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15188B8E-3E2B-D384-90AF-D71FA901D13C}"/>
              </a:ext>
            </a:extLst>
          </p:cNvPr>
          <p:cNvPicPr>
            <a:picLocks noChangeAspect="1"/>
          </p:cNvPicPr>
          <p:nvPr/>
        </p:nvPicPr>
        <p:blipFill>
          <a:blip r:embed="rId3"/>
          <a:stretch>
            <a:fillRect/>
          </a:stretch>
        </p:blipFill>
        <p:spPr>
          <a:xfrm>
            <a:off x="286702" y="1409313"/>
            <a:ext cx="6360795" cy="4764596"/>
          </a:xfrm>
          <a:prstGeom prst="rect">
            <a:avLst/>
          </a:prstGeom>
        </p:spPr>
      </p:pic>
      <p:sp>
        <p:nvSpPr>
          <p:cNvPr id="7" name="TextBox 26">
            <a:extLst>
              <a:ext uri="{FF2B5EF4-FFF2-40B4-BE49-F238E27FC236}">
                <a16:creationId xmlns:a16="http://schemas.microsoft.com/office/drawing/2014/main" id="{24A83139-83E0-F7D8-EAD5-D64ED73B0B15}"/>
              </a:ext>
            </a:extLst>
          </p:cNvPr>
          <p:cNvSpPr txBox="1"/>
          <p:nvPr/>
        </p:nvSpPr>
        <p:spPr>
          <a:xfrm>
            <a:off x="516046" y="6124560"/>
            <a:ext cx="1990032" cy="369332"/>
          </a:xfrm>
          <a:prstGeom prst="rect">
            <a:avLst/>
          </a:prstGeom>
          <a:noFill/>
        </p:spPr>
        <p:txBody>
          <a:bodyPr wrap="none" rtlCol="0">
            <a:spAutoFit/>
          </a:bodyPr>
          <a:lstStyle/>
          <a:p>
            <a:r>
              <a:rPr lang="en-GB" dirty="0"/>
              <a:t>page 853 AR6 WG1</a:t>
            </a:r>
          </a:p>
        </p:txBody>
      </p:sp>
      <p:sp>
        <p:nvSpPr>
          <p:cNvPr id="52" name="TextBox 25">
            <a:extLst>
              <a:ext uri="{FF2B5EF4-FFF2-40B4-BE49-F238E27FC236}">
                <a16:creationId xmlns:a16="http://schemas.microsoft.com/office/drawing/2014/main" id="{6624F212-21CE-37EF-0809-B850BDD949AB}"/>
              </a:ext>
            </a:extLst>
          </p:cNvPr>
          <p:cNvSpPr txBox="1"/>
          <p:nvPr/>
        </p:nvSpPr>
        <p:spPr>
          <a:xfrm>
            <a:off x="6826455" y="2499287"/>
            <a:ext cx="1206997" cy="477054"/>
          </a:xfrm>
          <a:prstGeom prst="rect">
            <a:avLst/>
          </a:prstGeom>
          <a:noFill/>
        </p:spPr>
        <p:txBody>
          <a:bodyPr wrap="none" rtlCol="0">
            <a:spAutoFit/>
          </a:bodyPr>
          <a:lstStyle/>
          <a:p>
            <a:r>
              <a:rPr lang="en-US" sz="2500" b="1" dirty="0"/>
              <a:t>Future?</a:t>
            </a:r>
            <a:endParaRPr lang="en-GB" sz="2500" dirty="0"/>
          </a:p>
        </p:txBody>
      </p:sp>
      <p:sp>
        <p:nvSpPr>
          <p:cNvPr id="3" name="Freeform 13">
            <a:extLst>
              <a:ext uri="{FF2B5EF4-FFF2-40B4-BE49-F238E27FC236}">
                <a16:creationId xmlns:a16="http://schemas.microsoft.com/office/drawing/2014/main" id="{684310A3-CD1E-5E32-754D-56E456AB0D1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8" name="TextBox 14">
            <a:extLst>
              <a:ext uri="{FF2B5EF4-FFF2-40B4-BE49-F238E27FC236}">
                <a16:creationId xmlns:a16="http://schemas.microsoft.com/office/drawing/2014/main" id="{61AEC7E2-63AC-8213-F972-B74100A413D6}"/>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 radiative forcing</a:t>
            </a:r>
          </a:p>
        </p:txBody>
      </p:sp>
      <p:sp>
        <p:nvSpPr>
          <p:cNvPr id="2" name="TextBox 1">
            <a:extLst>
              <a:ext uri="{FF2B5EF4-FFF2-40B4-BE49-F238E27FC236}">
                <a16:creationId xmlns:a16="http://schemas.microsoft.com/office/drawing/2014/main" id="{1D08D52E-15ED-E6A5-9A70-85AB5F20DDFC}"/>
              </a:ext>
            </a:extLst>
          </p:cNvPr>
          <p:cNvSpPr txBox="1"/>
          <p:nvPr/>
        </p:nvSpPr>
        <p:spPr>
          <a:xfrm>
            <a:off x="7764836" y="4201632"/>
            <a:ext cx="3977505" cy="646331"/>
          </a:xfrm>
          <a:prstGeom prst="rect">
            <a:avLst/>
          </a:prstGeom>
          <a:noFill/>
        </p:spPr>
        <p:txBody>
          <a:bodyPr wrap="square" rtlCol="0">
            <a:spAutoFit/>
          </a:bodyPr>
          <a:lstStyle/>
          <a:p>
            <a:r>
              <a:rPr lang="en-GB" dirty="0"/>
              <a:t>Aerosol reduction offers trade-off for climate and air pollution</a:t>
            </a:r>
          </a:p>
        </p:txBody>
      </p:sp>
    </p:spTree>
    <p:extLst>
      <p:ext uri="{BB962C8B-B14F-4D97-AF65-F5344CB8AC3E}">
        <p14:creationId xmlns:p14="http://schemas.microsoft.com/office/powerpoint/2010/main" val="645658047"/>
      </p:ext>
    </p:extLst>
  </p:cSld>
  <p:clrMapOvr>
    <a:masterClrMapping/>
  </p:clrMapOvr>
  <mc:AlternateContent xmlns:mc="http://schemas.openxmlformats.org/markup-compatibility/2006" xmlns:p14="http://schemas.microsoft.com/office/powerpoint/2010/main">
    <mc:Choice Requires="p14">
      <p:transition spd="slow" p14:dur="2000" advTm="96561"/>
    </mc:Choice>
    <mc:Fallback xmlns="">
      <p:transition spd="slow" advTm="9656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3">
            <a:extLst>
              <a:ext uri="{FF2B5EF4-FFF2-40B4-BE49-F238E27FC236}">
                <a16:creationId xmlns:a16="http://schemas.microsoft.com/office/drawing/2014/main" id="{FDC39DEB-F36B-9B4B-F26D-5B9D647CD43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93C84B07-5741-5FDA-F3F8-4AA440717F3B}"/>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Aerosol: radiative forcing</a:t>
            </a:r>
          </a:p>
        </p:txBody>
      </p:sp>
      <p:pic>
        <p:nvPicPr>
          <p:cNvPr id="8" name="Picture 7" descr="A close-up of a map&#10;&#10;AI-generated content may be incorrect.">
            <a:extLst>
              <a:ext uri="{FF2B5EF4-FFF2-40B4-BE49-F238E27FC236}">
                <a16:creationId xmlns:a16="http://schemas.microsoft.com/office/drawing/2014/main" id="{7B674C81-7B14-F6E8-BFA1-82E53F178153}"/>
              </a:ext>
            </a:extLst>
          </p:cNvPr>
          <p:cNvPicPr>
            <a:picLocks noChangeAspect="1"/>
          </p:cNvPicPr>
          <p:nvPr/>
        </p:nvPicPr>
        <p:blipFill>
          <a:blip r:embed="rId3"/>
          <a:stretch>
            <a:fillRect/>
          </a:stretch>
        </p:blipFill>
        <p:spPr>
          <a:xfrm>
            <a:off x="3684004" y="1343270"/>
            <a:ext cx="7398573" cy="4650531"/>
          </a:xfrm>
          <a:prstGeom prst="rect">
            <a:avLst/>
          </a:prstGeom>
        </p:spPr>
      </p:pic>
      <p:sp>
        <p:nvSpPr>
          <p:cNvPr id="9" name="TextBox 8">
            <a:extLst>
              <a:ext uri="{FF2B5EF4-FFF2-40B4-BE49-F238E27FC236}">
                <a16:creationId xmlns:a16="http://schemas.microsoft.com/office/drawing/2014/main" id="{1EB62885-BE5F-7918-7062-3FACBADB6614}"/>
              </a:ext>
            </a:extLst>
          </p:cNvPr>
          <p:cNvSpPr txBox="1"/>
          <p:nvPr/>
        </p:nvSpPr>
        <p:spPr>
          <a:xfrm>
            <a:off x="180109" y="5721927"/>
            <a:ext cx="3729547" cy="646331"/>
          </a:xfrm>
          <a:prstGeom prst="rect">
            <a:avLst/>
          </a:prstGeom>
          <a:noFill/>
        </p:spPr>
        <p:txBody>
          <a:bodyPr wrap="none" rtlCol="0">
            <a:spAutoFit/>
          </a:bodyPr>
          <a:lstStyle/>
          <a:p>
            <a:r>
              <a:rPr lang="en-GB" dirty="0"/>
              <a:t>Fig. 2 </a:t>
            </a:r>
            <a:r>
              <a:rPr lang="en-GB" dirty="0" err="1"/>
              <a:t>Samset</a:t>
            </a:r>
            <a:r>
              <a:rPr lang="en-GB" dirty="0"/>
              <a:t> et al. 2025</a:t>
            </a:r>
          </a:p>
          <a:p>
            <a:r>
              <a:rPr lang="en-US" altLang="en-US" dirty="0" err="1">
                <a:latin typeface="-apple-system"/>
              </a:rPr>
              <a:t>doi.org</a:t>
            </a:r>
            <a:r>
              <a:rPr lang="en-US" altLang="en-US" dirty="0">
                <a:latin typeface="-apple-system"/>
              </a:rPr>
              <a:t>/10.1038/s43247-025-02527-3</a:t>
            </a:r>
            <a:endParaRPr lang="en-GB" dirty="0"/>
          </a:p>
        </p:txBody>
      </p:sp>
      <p:sp>
        <p:nvSpPr>
          <p:cNvPr id="16" name="TextBox 15">
            <a:extLst>
              <a:ext uri="{FF2B5EF4-FFF2-40B4-BE49-F238E27FC236}">
                <a16:creationId xmlns:a16="http://schemas.microsoft.com/office/drawing/2014/main" id="{24A7D1C6-9F72-0864-88C5-2096EA1E5304}"/>
              </a:ext>
            </a:extLst>
          </p:cNvPr>
          <p:cNvSpPr txBox="1"/>
          <p:nvPr/>
        </p:nvSpPr>
        <p:spPr>
          <a:xfrm>
            <a:off x="264573" y="1842655"/>
            <a:ext cx="3560618" cy="1477328"/>
          </a:xfrm>
          <a:prstGeom prst="rect">
            <a:avLst/>
          </a:prstGeom>
          <a:noFill/>
        </p:spPr>
        <p:txBody>
          <a:bodyPr wrap="square" rtlCol="0">
            <a:spAutoFit/>
          </a:bodyPr>
          <a:lstStyle/>
          <a:p>
            <a:r>
              <a:rPr lang="en-GB" dirty="0"/>
              <a:t>Baseline simulations are</a:t>
            </a:r>
          </a:p>
          <a:p>
            <a:r>
              <a:rPr lang="en-GB" dirty="0"/>
              <a:t>compared against perturbation simulations to quantify effect of changes such as East Asian aerosol emission reduction</a:t>
            </a:r>
          </a:p>
        </p:txBody>
      </p:sp>
    </p:spTree>
    <p:extLst>
      <p:ext uri="{BB962C8B-B14F-4D97-AF65-F5344CB8AC3E}">
        <p14:creationId xmlns:p14="http://schemas.microsoft.com/office/powerpoint/2010/main" val="1669137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6CB33F6-183C-0847-5C48-774EA8E2C0DB}"/>
              </a:ext>
            </a:extLst>
          </p:cNvPr>
          <p:cNvSpPr txBox="1"/>
          <p:nvPr/>
        </p:nvSpPr>
        <p:spPr>
          <a:xfrm>
            <a:off x="4654204" y="2965299"/>
            <a:ext cx="6856224" cy="1938992"/>
          </a:xfrm>
          <a:prstGeom prst="rect">
            <a:avLst/>
          </a:prstGeom>
          <a:noFill/>
          <a:ln>
            <a:solidFill>
              <a:schemeClr val="accent3">
                <a:lumMod val="75000"/>
              </a:schemeClr>
            </a:solidFill>
          </a:ln>
        </p:spPr>
        <p:txBody>
          <a:bodyPr wrap="square" rtlCol="0">
            <a:spAutoFit/>
          </a:bodyPr>
          <a:lstStyle/>
          <a:p>
            <a:r>
              <a:rPr lang="en-GB" sz="2400" dirty="0"/>
              <a:t>Most of it – as will be shown, total anthropogenic aerosol effect has a magnitude around 2x greater than ozone effect (ozone effect is positive) and 4x greater than land-use change</a:t>
            </a:r>
          </a:p>
        </p:txBody>
      </p:sp>
      <p:sp>
        <p:nvSpPr>
          <p:cNvPr id="4" name="Freeform 13">
            <a:extLst>
              <a:ext uri="{FF2B5EF4-FFF2-40B4-BE49-F238E27FC236}">
                <a16:creationId xmlns:a16="http://schemas.microsoft.com/office/drawing/2014/main" id="{178EA209-DF67-F774-DEE4-AF5B353E555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9" name="TextBox 14">
            <a:extLst>
              <a:ext uri="{FF2B5EF4-FFF2-40B4-BE49-F238E27FC236}">
                <a16:creationId xmlns:a16="http://schemas.microsoft.com/office/drawing/2014/main" id="{A165E2DF-25F1-CEBD-3FDA-AD27BFBF067F}"/>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How much from aerosol?</a:t>
            </a:r>
          </a:p>
        </p:txBody>
      </p:sp>
      <p:sp>
        <p:nvSpPr>
          <p:cNvPr id="14" name="TextBox 13">
            <a:extLst>
              <a:ext uri="{FF2B5EF4-FFF2-40B4-BE49-F238E27FC236}">
                <a16:creationId xmlns:a16="http://schemas.microsoft.com/office/drawing/2014/main" id="{DE0F6290-3C64-1A95-974A-774FE7AF95CD}"/>
              </a:ext>
            </a:extLst>
          </p:cNvPr>
          <p:cNvSpPr txBox="1"/>
          <p:nvPr/>
        </p:nvSpPr>
        <p:spPr>
          <a:xfrm>
            <a:off x="389465" y="6226263"/>
            <a:ext cx="3547766" cy="261610"/>
          </a:xfrm>
          <a:prstGeom prst="rect">
            <a:avLst/>
          </a:prstGeom>
          <a:noFill/>
        </p:spPr>
        <p:txBody>
          <a:bodyPr wrap="none" rtlCol="0">
            <a:spAutoFit/>
          </a:bodyPr>
          <a:lstStyle/>
          <a:p>
            <a:r>
              <a:rPr lang="en-GB" sz="1100" dirty="0"/>
              <a:t>Figure 2.1 d) Climate Change 2023 Synthesis Report</a:t>
            </a:r>
          </a:p>
        </p:txBody>
      </p:sp>
      <p:pic>
        <p:nvPicPr>
          <p:cNvPr id="15" name="Picture 14" descr="A screenshot of a graph&#10;&#10;AI-generated content may be incorrect.">
            <a:extLst>
              <a:ext uri="{FF2B5EF4-FFF2-40B4-BE49-F238E27FC236}">
                <a16:creationId xmlns:a16="http://schemas.microsoft.com/office/drawing/2014/main" id="{13428CC2-2C0F-98A2-3CDA-4F0920E81710}"/>
              </a:ext>
            </a:extLst>
          </p:cNvPr>
          <p:cNvPicPr>
            <a:picLocks noChangeAspect="1"/>
          </p:cNvPicPr>
          <p:nvPr/>
        </p:nvPicPr>
        <p:blipFill>
          <a:blip r:embed="rId3">
            <a:extLst>
              <a:ext uri="{28A0092B-C50C-407E-A947-70E740481C1C}">
                <a14:useLocalDpi xmlns:a14="http://schemas.microsoft.com/office/drawing/2010/main" val="0"/>
              </a:ext>
            </a:extLst>
          </a:blip>
          <a:srcRect l="1783" t="3320" r="3670"/>
          <a:stretch>
            <a:fillRect/>
          </a:stretch>
        </p:blipFill>
        <p:spPr>
          <a:xfrm>
            <a:off x="480060" y="1337310"/>
            <a:ext cx="3840480" cy="4888953"/>
          </a:xfrm>
          <a:prstGeom prst="rect">
            <a:avLst/>
          </a:prstGeom>
        </p:spPr>
      </p:pic>
      <p:cxnSp>
        <p:nvCxnSpPr>
          <p:cNvPr id="16" name="Straight Arrow Connector 15">
            <a:extLst>
              <a:ext uri="{FF2B5EF4-FFF2-40B4-BE49-F238E27FC236}">
                <a16:creationId xmlns:a16="http://schemas.microsoft.com/office/drawing/2014/main" id="{C1A6B2A3-A817-8F5D-B697-620E1D1334C6}"/>
              </a:ext>
            </a:extLst>
          </p:cNvPr>
          <p:cNvCxnSpPr>
            <a:cxnSpLocks/>
          </p:cNvCxnSpPr>
          <p:nvPr/>
        </p:nvCxnSpPr>
        <p:spPr>
          <a:xfrm flipH="1">
            <a:off x="2723547" y="1337310"/>
            <a:ext cx="1962753" cy="2606301"/>
          </a:xfrm>
          <a:prstGeom prst="straightConnector1">
            <a:avLst/>
          </a:prstGeom>
          <a:ln w="571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8C01BB90-19FD-CE11-3A4A-B9EDD8796877}"/>
              </a:ext>
            </a:extLst>
          </p:cNvPr>
          <p:cNvSpPr/>
          <p:nvPr/>
        </p:nvSpPr>
        <p:spPr>
          <a:xfrm>
            <a:off x="2281382" y="3766680"/>
            <a:ext cx="571500" cy="2242728"/>
          </a:xfrm>
          <a:prstGeom prst="ellipse">
            <a:avLst/>
          </a:prstGeom>
          <a:noFill/>
          <a:ln w="571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94617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F574A9-923B-83B6-F50F-711BD0025591}"/>
              </a:ext>
            </a:extLst>
          </p:cNvPr>
          <p:cNvSpPr>
            <a:spLocks noGrp="1"/>
          </p:cNvSpPr>
          <p:nvPr>
            <p:ph idx="1"/>
          </p:nvPr>
        </p:nvSpPr>
        <p:spPr>
          <a:xfrm>
            <a:off x="389464" y="2324100"/>
            <a:ext cx="10490200" cy="3494809"/>
          </a:xfrm>
        </p:spPr>
        <p:txBody>
          <a:bodyPr>
            <a:normAutofit/>
          </a:bodyPr>
          <a:lstStyle/>
          <a:p>
            <a:pPr marL="0" indent="0">
              <a:buNone/>
            </a:pPr>
            <a:r>
              <a:rPr lang="en-GB" dirty="0"/>
              <a:t>Your research group has funding to forecast the effect of reducing ammonium sulphate loading in the global troposphere on radiative forcing. </a:t>
            </a:r>
          </a:p>
          <a:p>
            <a:pPr marL="0" indent="0">
              <a:buNone/>
            </a:pPr>
            <a:endParaRPr lang="en-GB" dirty="0"/>
          </a:p>
          <a:p>
            <a:pPr marL="0" indent="0">
              <a:buNone/>
            </a:pPr>
            <a:r>
              <a:rPr lang="en-GB" dirty="0"/>
              <a:t>You are planning the methodology, which is based on a baseline vs. perturbation setup, what science needs to be included for an accurate forecast?</a:t>
            </a:r>
          </a:p>
          <a:p>
            <a:pPr marL="0" indent="0">
              <a:buNone/>
            </a:pPr>
            <a:r>
              <a:rPr lang="en-GB" dirty="0"/>
              <a:t>	-Consider how long into the future you will need to simulate to quantify effect</a:t>
            </a:r>
          </a:p>
          <a:p>
            <a:pPr marL="0" indent="0">
              <a:buNone/>
            </a:pPr>
            <a:r>
              <a:rPr lang="en-GB" dirty="0"/>
              <a:t>	-Consider the mechanisms that will need to be simulated</a:t>
            </a:r>
          </a:p>
          <a:p>
            <a:pPr marL="0" indent="0">
              <a:buNone/>
            </a:pPr>
            <a:r>
              <a:rPr lang="en-GB" dirty="0"/>
              <a:t>	-Consider where uncertainties will come from</a:t>
            </a:r>
          </a:p>
          <a:p>
            <a:pPr marL="0" indent="0">
              <a:buNone/>
            </a:pPr>
            <a:endParaRPr lang="en-GB" dirty="0"/>
          </a:p>
        </p:txBody>
      </p:sp>
      <p:sp>
        <p:nvSpPr>
          <p:cNvPr id="4" name="Freeform 13">
            <a:extLst>
              <a:ext uri="{FF2B5EF4-FFF2-40B4-BE49-F238E27FC236}">
                <a16:creationId xmlns:a16="http://schemas.microsoft.com/office/drawing/2014/main" id="{5139CE0B-AB9F-D38C-4004-3EDDB4E15C8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14">
            <a:extLst>
              <a:ext uri="{FF2B5EF4-FFF2-40B4-BE49-F238E27FC236}">
                <a16:creationId xmlns:a16="http://schemas.microsoft.com/office/drawing/2014/main" id="{B482BFAC-237D-B460-953C-69E27DA54CEB}"/>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1</a:t>
            </a:r>
            <a:r>
              <a:rPr lang="en-US" sz="4000" i="1" spc="-275" baseline="30000" dirty="0">
                <a:solidFill>
                  <a:srgbClr val="46245A"/>
                </a:solidFill>
                <a:latin typeface="DM Sans Bold"/>
              </a:rPr>
              <a:t>st</a:t>
            </a:r>
            <a:r>
              <a:rPr lang="en-US" sz="4000" i="1" spc="-275" dirty="0">
                <a:solidFill>
                  <a:srgbClr val="46245A"/>
                </a:solidFill>
                <a:latin typeface="DM Sans Bold"/>
              </a:rPr>
              <a:t> Workshop</a:t>
            </a:r>
          </a:p>
        </p:txBody>
      </p:sp>
    </p:spTree>
    <p:extLst>
      <p:ext uri="{BB962C8B-B14F-4D97-AF65-F5344CB8AC3E}">
        <p14:creationId xmlns:p14="http://schemas.microsoft.com/office/powerpoint/2010/main" val="898756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6CB92-0711-CB21-2102-AB29A52F837A}"/>
              </a:ext>
            </a:extLst>
          </p:cNvPr>
          <p:cNvSpPr>
            <a:spLocks noGrp="1"/>
          </p:cNvSpPr>
          <p:nvPr>
            <p:ph idx="1"/>
          </p:nvPr>
        </p:nvSpPr>
        <p:spPr>
          <a:xfrm>
            <a:off x="389464" y="1774795"/>
            <a:ext cx="10566400" cy="3017309"/>
          </a:xfrm>
        </p:spPr>
        <p:txBody>
          <a:bodyPr>
            <a:normAutofit/>
          </a:bodyPr>
          <a:lstStyle/>
          <a:p>
            <a:r>
              <a:rPr lang="en-GB" dirty="0"/>
              <a:t>10 % of atmospheric ozone is in the troposphere, whilst 90 % is in the stratosphere</a:t>
            </a:r>
          </a:p>
          <a:p>
            <a:r>
              <a:rPr lang="en-GB" dirty="0"/>
              <a:t>Anthropogenic perturbation of tropospheric ozone dominates the anthropogenic influence on ozone radiative forcing – page 947 of AR6 WG1 reports that the positive radiative forcing in the troposphere is around 20x that of the radiative forcing in the stratosphere</a:t>
            </a:r>
          </a:p>
        </p:txBody>
      </p:sp>
      <p:sp>
        <p:nvSpPr>
          <p:cNvPr id="4" name="TextBox 3">
            <a:extLst>
              <a:ext uri="{FF2B5EF4-FFF2-40B4-BE49-F238E27FC236}">
                <a16:creationId xmlns:a16="http://schemas.microsoft.com/office/drawing/2014/main" id="{0068C1B3-1BC7-7007-28C3-8DFBCFAA9254}"/>
              </a:ext>
            </a:extLst>
          </p:cNvPr>
          <p:cNvSpPr txBox="1"/>
          <p:nvPr/>
        </p:nvSpPr>
        <p:spPr>
          <a:xfrm>
            <a:off x="1413353" y="4895937"/>
            <a:ext cx="2475358" cy="830997"/>
          </a:xfrm>
          <a:prstGeom prst="rect">
            <a:avLst/>
          </a:prstGeom>
          <a:noFill/>
        </p:spPr>
        <p:txBody>
          <a:bodyPr wrap="none" rtlCol="0">
            <a:spAutoFit/>
          </a:bodyPr>
          <a:lstStyle/>
          <a:p>
            <a:r>
              <a:rPr lang="en-GB" sz="2400" dirty="0"/>
              <a:t>NO</a:t>
            </a:r>
            <a:r>
              <a:rPr lang="en-GB" sz="2400" baseline="-25000" dirty="0"/>
              <a:t>2</a:t>
            </a:r>
            <a:r>
              <a:rPr lang="en-GB" sz="2400" dirty="0"/>
              <a:t> -&gt; NO + O(</a:t>
            </a:r>
            <a:r>
              <a:rPr lang="en-GB" sz="2400" baseline="30000" dirty="0"/>
              <a:t>3</a:t>
            </a:r>
            <a:r>
              <a:rPr lang="en-GB" sz="2400" dirty="0"/>
              <a:t>P)</a:t>
            </a:r>
          </a:p>
          <a:p>
            <a:r>
              <a:rPr lang="en-GB" sz="2400" dirty="0"/>
              <a:t>O(</a:t>
            </a:r>
            <a:r>
              <a:rPr lang="en-GB" sz="2400" baseline="30000" dirty="0"/>
              <a:t>3</a:t>
            </a:r>
            <a:r>
              <a:rPr lang="en-GB" sz="2400" dirty="0"/>
              <a:t>P) + O</a:t>
            </a:r>
            <a:r>
              <a:rPr lang="en-GB" sz="2400" baseline="-25000" dirty="0"/>
              <a:t>2</a:t>
            </a:r>
            <a:r>
              <a:rPr lang="en-GB" sz="2400" dirty="0"/>
              <a:t> -&gt; O</a:t>
            </a:r>
            <a:r>
              <a:rPr lang="en-GB" sz="2400" baseline="-25000" dirty="0"/>
              <a:t>3</a:t>
            </a:r>
          </a:p>
        </p:txBody>
      </p:sp>
      <p:sp>
        <p:nvSpPr>
          <p:cNvPr id="5" name="TextBox 4">
            <a:extLst>
              <a:ext uri="{FF2B5EF4-FFF2-40B4-BE49-F238E27FC236}">
                <a16:creationId xmlns:a16="http://schemas.microsoft.com/office/drawing/2014/main" id="{E433F122-8052-D58A-0092-F50879C54265}"/>
              </a:ext>
            </a:extLst>
          </p:cNvPr>
          <p:cNvSpPr txBox="1"/>
          <p:nvPr/>
        </p:nvSpPr>
        <p:spPr>
          <a:xfrm>
            <a:off x="2038028" y="4665104"/>
            <a:ext cx="480901" cy="461665"/>
          </a:xfrm>
          <a:prstGeom prst="rect">
            <a:avLst/>
          </a:prstGeom>
          <a:noFill/>
        </p:spPr>
        <p:txBody>
          <a:bodyPr wrap="none" rtlCol="0">
            <a:spAutoFit/>
          </a:bodyPr>
          <a:lstStyle/>
          <a:p>
            <a:r>
              <a:rPr lang="en-GB" sz="2400" dirty="0"/>
              <a:t>hv</a:t>
            </a:r>
          </a:p>
        </p:txBody>
      </p:sp>
      <p:sp>
        <p:nvSpPr>
          <p:cNvPr id="6" name="TextBox 5">
            <a:extLst>
              <a:ext uri="{FF2B5EF4-FFF2-40B4-BE49-F238E27FC236}">
                <a16:creationId xmlns:a16="http://schemas.microsoft.com/office/drawing/2014/main" id="{018C5605-5E0A-6965-C03B-1F34D790424C}"/>
              </a:ext>
            </a:extLst>
          </p:cNvPr>
          <p:cNvSpPr txBox="1"/>
          <p:nvPr/>
        </p:nvSpPr>
        <p:spPr>
          <a:xfrm>
            <a:off x="4923152" y="4441833"/>
            <a:ext cx="6225436" cy="1569660"/>
          </a:xfrm>
          <a:prstGeom prst="rect">
            <a:avLst/>
          </a:prstGeom>
          <a:noFill/>
        </p:spPr>
        <p:txBody>
          <a:bodyPr wrap="square" rtlCol="0">
            <a:spAutoFit/>
          </a:bodyPr>
          <a:lstStyle/>
          <a:p>
            <a:pPr marL="285750" indent="-285750">
              <a:buFont typeface="Arial" panose="020B0604020202020204" pitchFamily="34" charset="0"/>
              <a:buChar char="•"/>
            </a:pPr>
            <a:r>
              <a:rPr lang="en-GB" sz="2400" dirty="0"/>
              <a:t>NO tends to convert to NO</a:t>
            </a:r>
            <a:r>
              <a:rPr lang="en-GB" sz="2400" baseline="-25000" dirty="0"/>
              <a:t>2</a:t>
            </a:r>
            <a:r>
              <a:rPr lang="en-GB" sz="2400" dirty="0"/>
              <a:t> in the presence of CO, CH</a:t>
            </a:r>
            <a:r>
              <a:rPr lang="en-GB" sz="2400" baseline="-25000" dirty="0"/>
              <a:t>4</a:t>
            </a:r>
            <a:r>
              <a:rPr lang="en-GB" sz="2400" dirty="0"/>
              <a:t>, VOCs</a:t>
            </a:r>
          </a:p>
          <a:p>
            <a:pPr marL="285750" indent="-285750">
              <a:buFont typeface="Arial" panose="020B0604020202020204" pitchFamily="34" charset="0"/>
              <a:buChar char="•"/>
            </a:pPr>
            <a:r>
              <a:rPr lang="en-GB" sz="2400" dirty="0"/>
              <a:t>Therefore, the precursors for O</a:t>
            </a:r>
            <a:r>
              <a:rPr lang="en-GB" sz="2400" baseline="-25000" dirty="0"/>
              <a:t>3</a:t>
            </a:r>
            <a:r>
              <a:rPr lang="en-GB" sz="2400" dirty="0"/>
              <a:t> are: NO</a:t>
            </a:r>
            <a:r>
              <a:rPr lang="en-GB" sz="2400" baseline="-25000" dirty="0"/>
              <a:t>x</a:t>
            </a:r>
            <a:r>
              <a:rPr lang="en-GB" sz="2400" dirty="0"/>
              <a:t>, CO, CH</a:t>
            </a:r>
            <a:r>
              <a:rPr lang="en-GB" sz="2400" baseline="-25000" dirty="0"/>
              <a:t>4</a:t>
            </a:r>
            <a:r>
              <a:rPr lang="en-GB" sz="2400" dirty="0"/>
              <a:t>, VOCs</a:t>
            </a:r>
          </a:p>
        </p:txBody>
      </p:sp>
      <p:sp>
        <p:nvSpPr>
          <p:cNvPr id="7" name="Rectangle 6">
            <a:extLst>
              <a:ext uri="{FF2B5EF4-FFF2-40B4-BE49-F238E27FC236}">
                <a16:creationId xmlns:a16="http://schemas.microsoft.com/office/drawing/2014/main" id="{1CF0D1C4-C7E2-B529-4628-DF99E4BDA73A}"/>
              </a:ext>
            </a:extLst>
          </p:cNvPr>
          <p:cNvSpPr/>
          <p:nvPr/>
        </p:nvSpPr>
        <p:spPr>
          <a:xfrm>
            <a:off x="1253612" y="4543321"/>
            <a:ext cx="3064387" cy="1366684"/>
          </a:xfrm>
          <a:prstGeom prst="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13">
            <a:extLst>
              <a:ext uri="{FF2B5EF4-FFF2-40B4-BE49-F238E27FC236}">
                <a16:creationId xmlns:a16="http://schemas.microsoft.com/office/drawing/2014/main" id="{0D737365-C331-06EB-D7D4-D3613CB7A0E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1" name="TextBox 14">
            <a:extLst>
              <a:ext uri="{FF2B5EF4-FFF2-40B4-BE49-F238E27FC236}">
                <a16:creationId xmlns:a16="http://schemas.microsoft.com/office/drawing/2014/main" id="{4A507CCA-1F75-A0D8-1530-75BF52ABBEB5}"/>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detail</a:t>
            </a:r>
          </a:p>
        </p:txBody>
      </p:sp>
    </p:spTree>
    <p:extLst>
      <p:ext uri="{BB962C8B-B14F-4D97-AF65-F5344CB8AC3E}">
        <p14:creationId xmlns:p14="http://schemas.microsoft.com/office/powerpoint/2010/main" val="4057497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10;&#10;Description automatically generated">
            <a:extLst>
              <a:ext uri="{FF2B5EF4-FFF2-40B4-BE49-F238E27FC236}">
                <a16:creationId xmlns:a16="http://schemas.microsoft.com/office/drawing/2014/main" id="{75195C20-549D-AB81-8810-0248C42535C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3399" t="13603" r="26877" b="78049"/>
          <a:stretch>
            <a:fillRect/>
          </a:stretch>
        </p:blipFill>
        <p:spPr>
          <a:xfrm>
            <a:off x="1587500" y="2454239"/>
            <a:ext cx="8737600" cy="825151"/>
          </a:xfrm>
        </p:spPr>
      </p:pic>
      <p:pic>
        <p:nvPicPr>
          <p:cNvPr id="6" name="Content Placeholder 4" descr="Graphical user interface&#10;&#10;Description automatically generated">
            <a:extLst>
              <a:ext uri="{FF2B5EF4-FFF2-40B4-BE49-F238E27FC236}">
                <a16:creationId xmlns:a16="http://schemas.microsoft.com/office/drawing/2014/main" id="{024C39C3-1DA9-26BF-7B47-60299581D8AA}"/>
              </a:ext>
            </a:extLst>
          </p:cNvPr>
          <p:cNvPicPr>
            <a:picLocks noChangeAspect="1"/>
          </p:cNvPicPr>
          <p:nvPr/>
        </p:nvPicPr>
        <p:blipFill rotWithShape="1">
          <a:blip r:embed="rId2">
            <a:extLst>
              <a:ext uri="{28A0092B-C50C-407E-A947-70E740481C1C}">
                <a14:useLocalDpi xmlns:a14="http://schemas.microsoft.com/office/drawing/2010/main" val="0"/>
              </a:ext>
            </a:extLst>
          </a:blip>
          <a:srcRect l="18754" t="32523" r="24875" b="57370"/>
          <a:stretch/>
        </p:blipFill>
        <p:spPr>
          <a:xfrm>
            <a:off x="751382" y="3279390"/>
            <a:ext cx="9946502" cy="1003050"/>
          </a:xfrm>
          <a:prstGeom prst="rect">
            <a:avLst/>
          </a:prstGeom>
        </p:spPr>
      </p:pic>
      <p:sp>
        <p:nvSpPr>
          <p:cNvPr id="7" name="Rectangle 6">
            <a:extLst>
              <a:ext uri="{FF2B5EF4-FFF2-40B4-BE49-F238E27FC236}">
                <a16:creationId xmlns:a16="http://schemas.microsoft.com/office/drawing/2014/main" id="{C2B66031-A368-01B3-33BF-656DA1DD8073}"/>
              </a:ext>
            </a:extLst>
          </p:cNvPr>
          <p:cNvSpPr/>
          <p:nvPr/>
        </p:nvSpPr>
        <p:spPr>
          <a:xfrm>
            <a:off x="5486401" y="471662"/>
            <a:ext cx="2693096" cy="1451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Ozone has an average atmospheric lifetime of 3 weeks, so it is not well mixed throughout the atmosphere</a:t>
            </a:r>
          </a:p>
        </p:txBody>
      </p:sp>
      <p:cxnSp>
        <p:nvCxnSpPr>
          <p:cNvPr id="8" name="Straight Arrow Connector 7">
            <a:extLst>
              <a:ext uri="{FF2B5EF4-FFF2-40B4-BE49-F238E27FC236}">
                <a16:creationId xmlns:a16="http://schemas.microsoft.com/office/drawing/2014/main" id="{DECA1489-ACFC-23CF-182E-503B5A17E5A2}"/>
              </a:ext>
            </a:extLst>
          </p:cNvPr>
          <p:cNvCxnSpPr>
            <a:cxnSpLocks/>
            <a:stCxn id="7" idx="1"/>
          </p:cNvCxnSpPr>
          <p:nvPr/>
        </p:nvCxnSpPr>
        <p:spPr>
          <a:xfrm>
            <a:off x="5486401" y="1197237"/>
            <a:ext cx="1390388" cy="1325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CBC9C29-4164-D13A-EEFC-78CF866D9801}"/>
              </a:ext>
            </a:extLst>
          </p:cNvPr>
          <p:cNvSpPr/>
          <p:nvPr/>
        </p:nvSpPr>
        <p:spPr>
          <a:xfrm>
            <a:off x="8872783" y="4965919"/>
            <a:ext cx="2567835" cy="1207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Anthropogenic influence on atmospheric ozone has caused warming</a:t>
            </a:r>
          </a:p>
        </p:txBody>
      </p:sp>
      <p:cxnSp>
        <p:nvCxnSpPr>
          <p:cNvPr id="12" name="Straight Arrow Connector 11">
            <a:extLst>
              <a:ext uri="{FF2B5EF4-FFF2-40B4-BE49-F238E27FC236}">
                <a16:creationId xmlns:a16="http://schemas.microsoft.com/office/drawing/2014/main" id="{6C281F58-0BD9-5F39-D114-15B78474E127}"/>
              </a:ext>
            </a:extLst>
          </p:cNvPr>
          <p:cNvCxnSpPr>
            <a:cxnSpLocks/>
            <a:stCxn id="11" idx="0"/>
          </p:cNvCxnSpPr>
          <p:nvPr/>
        </p:nvCxnSpPr>
        <p:spPr>
          <a:xfrm flipH="1" flipV="1">
            <a:off x="9042400" y="4204518"/>
            <a:ext cx="1114301" cy="761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ABC891B-5F00-0FB4-976D-9CE3C3345F96}"/>
              </a:ext>
            </a:extLst>
          </p:cNvPr>
          <p:cNvSpPr/>
          <p:nvPr/>
        </p:nvSpPr>
        <p:spPr>
          <a:xfrm>
            <a:off x="2809136" y="4973281"/>
            <a:ext cx="4518764" cy="1200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Warming results from the increased atmospheric concentrations of ozone precursors (NOx, CO, CH4, VOCs) due to anthropogenic emission </a:t>
            </a:r>
          </a:p>
        </p:txBody>
      </p:sp>
      <p:cxnSp>
        <p:nvCxnSpPr>
          <p:cNvPr id="19" name="Straight Arrow Connector 18">
            <a:extLst>
              <a:ext uri="{FF2B5EF4-FFF2-40B4-BE49-F238E27FC236}">
                <a16:creationId xmlns:a16="http://schemas.microsoft.com/office/drawing/2014/main" id="{2FF26279-806B-2CF7-0AE6-CC5CD2F26FD4}"/>
              </a:ext>
            </a:extLst>
          </p:cNvPr>
          <p:cNvCxnSpPr>
            <a:cxnSpLocks/>
          </p:cNvCxnSpPr>
          <p:nvPr/>
        </p:nvCxnSpPr>
        <p:spPr>
          <a:xfrm flipH="1" flipV="1">
            <a:off x="3822700" y="4064000"/>
            <a:ext cx="849508" cy="901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reeform 13">
            <a:extLst>
              <a:ext uri="{FF2B5EF4-FFF2-40B4-BE49-F238E27FC236}">
                <a16:creationId xmlns:a16="http://schemas.microsoft.com/office/drawing/2014/main" id="{62845443-90F3-4C6F-FB88-A7E0AEE90DA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0" name="TextBox 14">
            <a:extLst>
              <a:ext uri="{FF2B5EF4-FFF2-40B4-BE49-F238E27FC236}">
                <a16:creationId xmlns:a16="http://schemas.microsoft.com/office/drawing/2014/main" id="{E9228F36-C66B-3494-D5C7-0E37131C4985}"/>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detail</a:t>
            </a:r>
          </a:p>
        </p:txBody>
      </p:sp>
    </p:spTree>
    <p:extLst>
      <p:ext uri="{BB962C8B-B14F-4D97-AF65-F5344CB8AC3E}">
        <p14:creationId xmlns:p14="http://schemas.microsoft.com/office/powerpoint/2010/main" val="2074199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28977A-3D6D-9360-B18A-0CD01BF1DDAC}"/>
              </a:ext>
            </a:extLst>
          </p:cNvPr>
          <p:cNvSpPr txBox="1"/>
          <p:nvPr/>
        </p:nvSpPr>
        <p:spPr>
          <a:xfrm>
            <a:off x="389464" y="1706168"/>
            <a:ext cx="7058059" cy="4093428"/>
          </a:xfrm>
          <a:prstGeom prst="rect">
            <a:avLst/>
          </a:prstGeom>
          <a:noFill/>
        </p:spPr>
        <p:txBody>
          <a:bodyPr wrap="square" rtlCol="0">
            <a:spAutoFit/>
          </a:bodyPr>
          <a:lstStyle/>
          <a:p>
            <a:pPr marL="285750" indent="-285750">
              <a:buFont typeface="Arial" panose="020B0604020202020204" pitchFamily="34" charset="0"/>
              <a:buChar char="•"/>
            </a:pPr>
            <a:r>
              <a:rPr lang="en-GB" sz="2000" dirty="0">
                <a:latin typeface="Calibri" panose="020F0502020204030204" pitchFamily="34" charset="0"/>
                <a:cs typeface="Calibri" panose="020F0502020204030204" pitchFamily="34" charset="0"/>
              </a:rPr>
              <a:t>Ozone is able to absorb both incoming ultraviolet radiation AND outgoing infrared radiation.  Both absorption bands mean that increased tropospheric ozone has a positive effective radiative forcing (warming).</a:t>
            </a:r>
          </a:p>
          <a:p>
            <a:endParaRPr lang="en-GB"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dirty="0">
                <a:latin typeface="Calibri" panose="020F0502020204030204" pitchFamily="34" charset="0"/>
                <a:cs typeface="Calibri" panose="020F0502020204030204" pitchFamily="34" charset="0"/>
              </a:rPr>
              <a:t>Third most important greenhouse gas behind methane and carbon dioxide</a:t>
            </a:r>
          </a:p>
          <a:p>
            <a:endParaRPr lang="en-GB"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dirty="0">
                <a:latin typeface="Calibri" panose="020F0502020204030204" pitchFamily="34" charset="0"/>
                <a:cs typeface="Calibri" panose="020F0502020204030204" pitchFamily="34" charset="0"/>
              </a:rPr>
              <a:t>Shorter lived than methane and carbon dioxide (average lifetime in atmosphere of 3 weeks)</a:t>
            </a:r>
          </a:p>
          <a:p>
            <a:endParaRPr lang="en-GB"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dirty="0">
                <a:latin typeface="Calibri" panose="020F0502020204030204" pitchFamily="34" charset="0"/>
                <a:cs typeface="Calibri" panose="020F0502020204030204" pitchFamily="34" charset="0"/>
              </a:rPr>
              <a:t>The magnitude of its ERF is around half that of aerosol and around double that of land-use change</a:t>
            </a:r>
          </a:p>
        </p:txBody>
      </p:sp>
      <p:pic>
        <p:nvPicPr>
          <p:cNvPr id="5" name="Picture 4" descr="Graphical user interface, application&#10;&#10;Description automatically generated with medium confidence">
            <a:extLst>
              <a:ext uri="{FF2B5EF4-FFF2-40B4-BE49-F238E27FC236}">
                <a16:creationId xmlns:a16="http://schemas.microsoft.com/office/drawing/2014/main" id="{2C6A4980-C755-A9FA-06E5-C7C425314EE5}"/>
              </a:ext>
            </a:extLst>
          </p:cNvPr>
          <p:cNvPicPr>
            <a:picLocks noChangeAspect="1"/>
          </p:cNvPicPr>
          <p:nvPr/>
        </p:nvPicPr>
        <p:blipFill rotWithShape="1">
          <a:blip r:embed="rId2">
            <a:extLst>
              <a:ext uri="{28A0092B-C50C-407E-A947-70E740481C1C}">
                <a14:useLocalDpi xmlns:a14="http://schemas.microsoft.com/office/drawing/2010/main" val="0"/>
              </a:ext>
            </a:extLst>
          </a:blip>
          <a:srcRect l="24760" t="24653" r="28082" b="29315"/>
          <a:stretch/>
        </p:blipFill>
        <p:spPr>
          <a:xfrm>
            <a:off x="7068467" y="3831935"/>
            <a:ext cx="4914110" cy="2698221"/>
          </a:xfrm>
          <a:prstGeom prst="rect">
            <a:avLst/>
          </a:prstGeom>
        </p:spPr>
      </p:pic>
      <p:sp>
        <p:nvSpPr>
          <p:cNvPr id="6" name="TextBox 5">
            <a:extLst>
              <a:ext uri="{FF2B5EF4-FFF2-40B4-BE49-F238E27FC236}">
                <a16:creationId xmlns:a16="http://schemas.microsoft.com/office/drawing/2014/main" id="{32D971BB-E817-A2DF-CA58-EF5771B5DEE4}"/>
              </a:ext>
            </a:extLst>
          </p:cNvPr>
          <p:cNvSpPr txBox="1"/>
          <p:nvPr/>
        </p:nvSpPr>
        <p:spPr>
          <a:xfrm>
            <a:off x="9331890" y="6530157"/>
            <a:ext cx="1226554" cy="276999"/>
          </a:xfrm>
          <a:prstGeom prst="rect">
            <a:avLst/>
          </a:prstGeom>
          <a:noFill/>
        </p:spPr>
        <p:txBody>
          <a:bodyPr wrap="none" rtlCol="0">
            <a:spAutoFit/>
          </a:bodyPr>
          <a:lstStyle/>
          <a:p>
            <a:r>
              <a:rPr lang="en-GB" sz="1200" dirty="0"/>
              <a:t>Fig 7.6 AR6 WG1</a:t>
            </a:r>
          </a:p>
        </p:txBody>
      </p:sp>
      <p:pic>
        <p:nvPicPr>
          <p:cNvPr id="3" name="Picture 2" descr="A screenshot of a graph&#10;&#10;AI-generated content may be incorrect.">
            <a:extLst>
              <a:ext uri="{FF2B5EF4-FFF2-40B4-BE49-F238E27FC236}">
                <a16:creationId xmlns:a16="http://schemas.microsoft.com/office/drawing/2014/main" id="{8F3956E2-91FC-890E-0CD5-F5E1458E2322}"/>
              </a:ext>
            </a:extLst>
          </p:cNvPr>
          <p:cNvPicPr>
            <a:picLocks noChangeAspect="1"/>
          </p:cNvPicPr>
          <p:nvPr/>
        </p:nvPicPr>
        <p:blipFill>
          <a:blip r:embed="rId3">
            <a:extLst>
              <a:ext uri="{28A0092B-C50C-407E-A947-70E740481C1C}">
                <a14:useLocalDpi xmlns:a14="http://schemas.microsoft.com/office/drawing/2010/main" val="0"/>
              </a:ext>
            </a:extLst>
          </a:blip>
          <a:srcRect t="2068" r="3168"/>
          <a:stretch/>
        </p:blipFill>
        <p:spPr>
          <a:xfrm>
            <a:off x="8407498" y="548020"/>
            <a:ext cx="2482628" cy="3125808"/>
          </a:xfrm>
          <a:prstGeom prst="rect">
            <a:avLst/>
          </a:prstGeom>
        </p:spPr>
      </p:pic>
      <p:sp>
        <p:nvSpPr>
          <p:cNvPr id="8" name="TextBox 7">
            <a:extLst>
              <a:ext uri="{FF2B5EF4-FFF2-40B4-BE49-F238E27FC236}">
                <a16:creationId xmlns:a16="http://schemas.microsoft.com/office/drawing/2014/main" id="{C42FA256-C540-333D-83FF-1C2FC72FAAC4}"/>
              </a:ext>
            </a:extLst>
          </p:cNvPr>
          <p:cNvSpPr txBox="1"/>
          <p:nvPr/>
        </p:nvSpPr>
        <p:spPr>
          <a:xfrm rot="5400000">
            <a:off x="9174872" y="2181460"/>
            <a:ext cx="3684352" cy="276999"/>
          </a:xfrm>
          <a:prstGeom prst="rect">
            <a:avLst/>
          </a:prstGeom>
          <a:noFill/>
        </p:spPr>
        <p:txBody>
          <a:bodyPr wrap="square" rtlCol="0">
            <a:spAutoFit/>
          </a:bodyPr>
          <a:lstStyle/>
          <a:p>
            <a:r>
              <a:rPr lang="en-GB" sz="1200" dirty="0"/>
              <a:t>Figure 2.1 d) Climate Change 2023 Synthesis Report</a:t>
            </a:r>
          </a:p>
        </p:txBody>
      </p:sp>
      <p:sp>
        <p:nvSpPr>
          <p:cNvPr id="9" name="TextBox 14">
            <a:extLst>
              <a:ext uri="{FF2B5EF4-FFF2-40B4-BE49-F238E27FC236}">
                <a16:creationId xmlns:a16="http://schemas.microsoft.com/office/drawing/2014/main" id="{D12E5C1B-7E50-52A2-8848-4CD1D6C51424}"/>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radiative forcing</a:t>
            </a:r>
          </a:p>
        </p:txBody>
      </p:sp>
    </p:spTree>
    <p:extLst>
      <p:ext uri="{BB962C8B-B14F-4D97-AF65-F5344CB8AC3E}">
        <p14:creationId xmlns:p14="http://schemas.microsoft.com/office/powerpoint/2010/main" val="943017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a:extLst>
              <a:ext uri="{FF2B5EF4-FFF2-40B4-BE49-F238E27FC236}">
                <a16:creationId xmlns:a16="http://schemas.microsoft.com/office/drawing/2014/main" id="{020D25E0-F622-5B81-8A90-C9913E54BEA7}"/>
              </a:ext>
            </a:extLst>
          </p:cNvPr>
          <p:cNvPicPr>
            <a:picLocks noChangeAspect="1"/>
          </p:cNvPicPr>
          <p:nvPr/>
        </p:nvPicPr>
        <p:blipFill rotWithShape="1">
          <a:blip r:embed="rId2">
            <a:extLst>
              <a:ext uri="{28A0092B-C50C-407E-A947-70E740481C1C}">
                <a14:useLocalDpi xmlns:a14="http://schemas.microsoft.com/office/drawing/2010/main" val="0"/>
              </a:ext>
            </a:extLst>
          </a:blip>
          <a:srcRect l="9114" t="24653" r="44192" b="23031"/>
          <a:stretch/>
        </p:blipFill>
        <p:spPr>
          <a:xfrm>
            <a:off x="861366" y="1551709"/>
            <a:ext cx="6939371" cy="4373486"/>
          </a:xfrm>
          <a:prstGeom prst="rect">
            <a:avLst/>
          </a:prstGeom>
        </p:spPr>
      </p:pic>
      <p:sp>
        <p:nvSpPr>
          <p:cNvPr id="6" name="TextBox 5">
            <a:extLst>
              <a:ext uri="{FF2B5EF4-FFF2-40B4-BE49-F238E27FC236}">
                <a16:creationId xmlns:a16="http://schemas.microsoft.com/office/drawing/2014/main" id="{99D63BD5-9237-726B-C0B9-A5837F38A00C}"/>
              </a:ext>
            </a:extLst>
          </p:cNvPr>
          <p:cNvSpPr txBox="1"/>
          <p:nvPr/>
        </p:nvSpPr>
        <p:spPr>
          <a:xfrm>
            <a:off x="598129" y="6011174"/>
            <a:ext cx="2516395" cy="369332"/>
          </a:xfrm>
          <a:prstGeom prst="rect">
            <a:avLst/>
          </a:prstGeom>
          <a:noFill/>
        </p:spPr>
        <p:txBody>
          <a:bodyPr wrap="none" rtlCol="0">
            <a:spAutoFit/>
          </a:bodyPr>
          <a:lstStyle/>
          <a:p>
            <a:r>
              <a:rPr lang="en-GB" dirty="0">
                <a:hlinkClick r:id="rId3"/>
              </a:rPr>
              <a:t>Fig 4. of </a:t>
            </a:r>
            <a:r>
              <a:rPr lang="en-GB" dirty="0" err="1">
                <a:hlinkClick r:id="rId3"/>
              </a:rPr>
              <a:t>Skeie</a:t>
            </a:r>
            <a:r>
              <a:rPr lang="en-GB" dirty="0">
                <a:hlinkClick r:id="rId3"/>
              </a:rPr>
              <a:t> et al. 2020</a:t>
            </a:r>
            <a:endParaRPr lang="en-GB" dirty="0"/>
          </a:p>
        </p:txBody>
      </p:sp>
      <p:sp>
        <p:nvSpPr>
          <p:cNvPr id="4" name="Freeform 13">
            <a:extLst>
              <a:ext uri="{FF2B5EF4-FFF2-40B4-BE49-F238E27FC236}">
                <a16:creationId xmlns:a16="http://schemas.microsoft.com/office/drawing/2014/main" id="{282D51EB-F159-20B9-9F7D-C67BAE695C2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14">
            <a:extLst>
              <a:ext uri="{FF2B5EF4-FFF2-40B4-BE49-F238E27FC236}">
                <a16:creationId xmlns:a16="http://schemas.microsoft.com/office/drawing/2014/main" id="{8CD7EAE6-37C0-F0A8-311D-CD578D4E9BFC}"/>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Ozone: total vs only stratosphere effect </a:t>
            </a:r>
          </a:p>
        </p:txBody>
      </p:sp>
      <p:sp>
        <p:nvSpPr>
          <p:cNvPr id="9" name="TextBox 8">
            <a:extLst>
              <a:ext uri="{FF2B5EF4-FFF2-40B4-BE49-F238E27FC236}">
                <a16:creationId xmlns:a16="http://schemas.microsoft.com/office/drawing/2014/main" id="{413B6E96-5F4F-C2CC-EA01-5B739A50285F}"/>
              </a:ext>
            </a:extLst>
          </p:cNvPr>
          <p:cNvSpPr txBox="1"/>
          <p:nvPr/>
        </p:nvSpPr>
        <p:spPr>
          <a:xfrm>
            <a:off x="9218950" y="1972264"/>
            <a:ext cx="3134708" cy="1754326"/>
          </a:xfrm>
          <a:prstGeom prst="rect">
            <a:avLst/>
          </a:prstGeom>
          <a:noFill/>
        </p:spPr>
        <p:txBody>
          <a:bodyPr wrap="square" rtlCol="0">
            <a:spAutoFit/>
          </a:bodyPr>
          <a:lstStyle/>
          <a:p>
            <a:r>
              <a:rPr lang="en-GB" dirty="0"/>
              <a:t>Complicated picture, but all</a:t>
            </a:r>
          </a:p>
          <a:p>
            <a:r>
              <a:rPr lang="en-GB" dirty="0"/>
              <a:t>models agree that effect from tropospheric gain in ozone dominates over changes to stratospheric ozone</a:t>
            </a:r>
          </a:p>
        </p:txBody>
      </p:sp>
      <p:sp>
        <p:nvSpPr>
          <p:cNvPr id="10" name="TextBox 9">
            <a:extLst>
              <a:ext uri="{FF2B5EF4-FFF2-40B4-BE49-F238E27FC236}">
                <a16:creationId xmlns:a16="http://schemas.microsoft.com/office/drawing/2014/main" id="{D3056DB8-2A51-06F5-66B5-2434E4809A16}"/>
              </a:ext>
            </a:extLst>
          </p:cNvPr>
          <p:cNvSpPr txBox="1"/>
          <p:nvPr/>
        </p:nvSpPr>
        <p:spPr>
          <a:xfrm>
            <a:off x="7800737" y="4502727"/>
            <a:ext cx="3977505" cy="646331"/>
          </a:xfrm>
          <a:prstGeom prst="rect">
            <a:avLst/>
          </a:prstGeom>
          <a:noFill/>
        </p:spPr>
        <p:txBody>
          <a:bodyPr wrap="square" rtlCol="0">
            <a:spAutoFit/>
          </a:bodyPr>
          <a:lstStyle/>
          <a:p>
            <a:r>
              <a:rPr lang="en-GB" dirty="0"/>
              <a:t>Ozone offers co-benefits for climate and air pollution</a:t>
            </a:r>
          </a:p>
        </p:txBody>
      </p:sp>
      <p:sp>
        <p:nvSpPr>
          <p:cNvPr id="2" name="TextBox 1">
            <a:extLst>
              <a:ext uri="{FF2B5EF4-FFF2-40B4-BE49-F238E27FC236}">
                <a16:creationId xmlns:a16="http://schemas.microsoft.com/office/drawing/2014/main" id="{E42A3F74-7237-16D4-AF46-4956187E81D7}"/>
              </a:ext>
            </a:extLst>
          </p:cNvPr>
          <p:cNvSpPr txBox="1"/>
          <p:nvPr/>
        </p:nvSpPr>
        <p:spPr>
          <a:xfrm>
            <a:off x="1578032" y="2849427"/>
            <a:ext cx="1768840" cy="646331"/>
          </a:xfrm>
          <a:prstGeom prst="rect">
            <a:avLst/>
          </a:prstGeom>
          <a:noFill/>
        </p:spPr>
        <p:txBody>
          <a:bodyPr wrap="square" rtlCol="0">
            <a:spAutoFit/>
          </a:bodyPr>
          <a:lstStyle/>
          <a:p>
            <a:r>
              <a:rPr lang="en-GB" dirty="0"/>
              <a:t>RF from total ozone change</a:t>
            </a:r>
          </a:p>
        </p:txBody>
      </p:sp>
      <p:sp>
        <p:nvSpPr>
          <p:cNvPr id="3" name="Left Brace 2">
            <a:extLst>
              <a:ext uri="{FF2B5EF4-FFF2-40B4-BE49-F238E27FC236}">
                <a16:creationId xmlns:a16="http://schemas.microsoft.com/office/drawing/2014/main" id="{C160C612-B428-AB74-1924-A71867794BBA}"/>
              </a:ext>
            </a:extLst>
          </p:cNvPr>
          <p:cNvSpPr/>
          <p:nvPr/>
        </p:nvSpPr>
        <p:spPr>
          <a:xfrm>
            <a:off x="3125453" y="2480873"/>
            <a:ext cx="344774" cy="101488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TextBox 12">
            <a:extLst>
              <a:ext uri="{FF2B5EF4-FFF2-40B4-BE49-F238E27FC236}">
                <a16:creationId xmlns:a16="http://schemas.microsoft.com/office/drawing/2014/main" id="{14355801-FDBE-6FA8-5C66-C204C25EC7BF}"/>
              </a:ext>
            </a:extLst>
          </p:cNvPr>
          <p:cNvSpPr txBox="1"/>
          <p:nvPr/>
        </p:nvSpPr>
        <p:spPr>
          <a:xfrm>
            <a:off x="1677792" y="4525212"/>
            <a:ext cx="1768840" cy="923330"/>
          </a:xfrm>
          <a:prstGeom prst="rect">
            <a:avLst/>
          </a:prstGeom>
          <a:noFill/>
        </p:spPr>
        <p:txBody>
          <a:bodyPr wrap="square" rtlCol="0">
            <a:spAutoFit/>
          </a:bodyPr>
          <a:lstStyle/>
          <a:p>
            <a:r>
              <a:rPr lang="en-GB" dirty="0"/>
              <a:t>RF from stratospheric ozone change</a:t>
            </a:r>
          </a:p>
        </p:txBody>
      </p:sp>
      <p:sp>
        <p:nvSpPr>
          <p:cNvPr id="14" name="Left Brace 13">
            <a:extLst>
              <a:ext uri="{FF2B5EF4-FFF2-40B4-BE49-F238E27FC236}">
                <a16:creationId xmlns:a16="http://schemas.microsoft.com/office/drawing/2014/main" id="{A4408DF1-3A21-0EC0-8A03-4F78EBFC6369}"/>
              </a:ext>
            </a:extLst>
          </p:cNvPr>
          <p:cNvSpPr/>
          <p:nvPr/>
        </p:nvSpPr>
        <p:spPr>
          <a:xfrm>
            <a:off x="3109532" y="4525212"/>
            <a:ext cx="344774" cy="474008"/>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85971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5536E3-78BF-A0B1-E9BD-6BC11F575B9B}"/>
              </a:ext>
            </a:extLst>
          </p:cNvPr>
          <p:cNvSpPr>
            <a:spLocks noGrp="1"/>
          </p:cNvSpPr>
          <p:nvPr>
            <p:ph idx="1"/>
          </p:nvPr>
        </p:nvSpPr>
        <p:spPr>
          <a:xfrm>
            <a:off x="389464" y="1335397"/>
            <a:ext cx="12192000" cy="1997074"/>
          </a:xfrm>
        </p:spPr>
        <p:txBody>
          <a:bodyPr>
            <a:normAutofit/>
          </a:bodyPr>
          <a:lstStyle/>
          <a:p>
            <a:r>
              <a:rPr lang="en-GB" sz="2400" dirty="0">
                <a:latin typeface="Calibri" panose="020F0502020204030204" pitchFamily="34" charset="0"/>
                <a:cs typeface="Calibri" panose="020F0502020204030204" pitchFamily="34" charset="0"/>
              </a:rPr>
              <a:t>Section 7.3.4.1 of AR6 WG1 Report</a:t>
            </a:r>
          </a:p>
          <a:p>
            <a:r>
              <a:rPr lang="en-GB" sz="2400" dirty="0">
                <a:latin typeface="Calibri" panose="020F0502020204030204" pitchFamily="34" charset="0"/>
                <a:cs typeface="Calibri" panose="020F0502020204030204" pitchFamily="34" charset="0"/>
              </a:rPr>
              <a:t>Affects radiative forcing, mostly through albedo change</a:t>
            </a:r>
          </a:p>
          <a:p>
            <a:r>
              <a:rPr lang="en-GB" sz="2400" dirty="0">
                <a:latin typeface="Calibri" panose="020F0502020204030204" pitchFamily="34" charset="0"/>
                <a:cs typeface="Calibri" panose="020F0502020204030204" pitchFamily="34" charset="0"/>
              </a:rPr>
              <a:t>Affects vertical distribution of energy in atmosphere (this not an effect on radiative forcing)</a:t>
            </a:r>
          </a:p>
          <a:p>
            <a:r>
              <a:rPr lang="en-GB" sz="2400" dirty="0">
                <a:latin typeface="Calibri" panose="020F0502020204030204" pitchFamily="34" charset="0"/>
                <a:cs typeface="Calibri" panose="020F0502020204030204" pitchFamily="34" charset="0"/>
              </a:rPr>
              <a:t>What is lifetime of land-use change?</a:t>
            </a:r>
          </a:p>
          <a:p>
            <a:endParaRPr lang="en-GB" sz="2400" dirty="0"/>
          </a:p>
        </p:txBody>
      </p:sp>
      <p:pic>
        <p:nvPicPr>
          <p:cNvPr id="3074" name="Picture 2">
            <a:extLst>
              <a:ext uri="{FF2B5EF4-FFF2-40B4-BE49-F238E27FC236}">
                <a16:creationId xmlns:a16="http://schemas.microsoft.com/office/drawing/2014/main" id="{61BB38EB-1525-4C38-7CDA-06E196B19B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14" y="3243726"/>
            <a:ext cx="4741280" cy="32195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907740-3D34-96CE-6767-0ECDEA0F3FBF}"/>
              </a:ext>
            </a:extLst>
          </p:cNvPr>
          <p:cNvSpPr txBox="1"/>
          <p:nvPr/>
        </p:nvSpPr>
        <p:spPr>
          <a:xfrm>
            <a:off x="513714" y="6611779"/>
            <a:ext cx="3579826" cy="246221"/>
          </a:xfrm>
          <a:prstGeom prst="rect">
            <a:avLst/>
          </a:prstGeom>
          <a:noFill/>
        </p:spPr>
        <p:txBody>
          <a:bodyPr wrap="none" rtlCol="0">
            <a:spAutoFit/>
          </a:bodyPr>
          <a:lstStyle/>
          <a:p>
            <a:r>
              <a:rPr lang="en-GB" sz="1000" dirty="0"/>
              <a:t>Nepal: https://www.flickr.com/photos/wonderlane/2462899238/</a:t>
            </a:r>
          </a:p>
        </p:txBody>
      </p:sp>
      <p:pic>
        <p:nvPicPr>
          <p:cNvPr id="3076" name="Picture 4" descr="Lake District Wallpapers - Wallpaper Cave">
            <a:extLst>
              <a:ext uri="{FF2B5EF4-FFF2-40B4-BE49-F238E27FC236}">
                <a16:creationId xmlns:a16="http://schemas.microsoft.com/office/drawing/2014/main" id="{74624BED-DCB9-B3BB-8C3C-155222A6B9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9243" y="3243726"/>
            <a:ext cx="5723659" cy="32195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A9F9BD-C137-BEBF-258B-CE8DA7772341}"/>
              </a:ext>
            </a:extLst>
          </p:cNvPr>
          <p:cNvSpPr txBox="1"/>
          <p:nvPr/>
        </p:nvSpPr>
        <p:spPr>
          <a:xfrm>
            <a:off x="5278155" y="6611779"/>
            <a:ext cx="4741281" cy="246221"/>
          </a:xfrm>
          <a:prstGeom prst="rect">
            <a:avLst/>
          </a:prstGeom>
          <a:noFill/>
        </p:spPr>
        <p:txBody>
          <a:bodyPr wrap="square">
            <a:spAutoFit/>
          </a:bodyPr>
          <a:lstStyle/>
          <a:p>
            <a:r>
              <a:rPr lang="en-GB" sz="1000" dirty="0"/>
              <a:t>Lake District (UK): https://wallpapercave.com/lake-district-wallpapers</a:t>
            </a:r>
          </a:p>
        </p:txBody>
      </p:sp>
      <p:sp>
        <p:nvSpPr>
          <p:cNvPr id="5" name="Freeform 13">
            <a:extLst>
              <a:ext uri="{FF2B5EF4-FFF2-40B4-BE49-F238E27FC236}">
                <a16:creationId xmlns:a16="http://schemas.microsoft.com/office/drawing/2014/main" id="{002B393D-26FE-9545-4AF0-5C0B6675F62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14">
            <a:extLst>
              <a:ext uri="{FF2B5EF4-FFF2-40B4-BE49-F238E27FC236}">
                <a16:creationId xmlns:a16="http://schemas.microsoft.com/office/drawing/2014/main" id="{998B0784-7E19-4852-2033-5008C46D20B5}"/>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Land-Use Change detail</a:t>
            </a:r>
          </a:p>
        </p:txBody>
      </p:sp>
    </p:spTree>
    <p:extLst>
      <p:ext uri="{BB962C8B-B14F-4D97-AF65-F5344CB8AC3E}">
        <p14:creationId xmlns:p14="http://schemas.microsoft.com/office/powerpoint/2010/main" val="2748493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Aerial view on winter bog in the middle of snowy forest. Bird eye view ...">
            <a:extLst>
              <a:ext uri="{FF2B5EF4-FFF2-40B4-BE49-F238E27FC236}">
                <a16:creationId xmlns:a16="http://schemas.microsoft.com/office/drawing/2014/main" id="{A77344F7-E44F-0B1C-D57A-8D74FDB694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15" y="1466342"/>
            <a:ext cx="3911179" cy="22000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B6768AF-F15D-A4C5-F3DE-77884DFA4470}"/>
              </a:ext>
            </a:extLst>
          </p:cNvPr>
          <p:cNvSpPr txBox="1"/>
          <p:nvPr/>
        </p:nvSpPr>
        <p:spPr>
          <a:xfrm>
            <a:off x="207818" y="3914330"/>
            <a:ext cx="2589090" cy="1754326"/>
          </a:xfrm>
          <a:prstGeom prst="rect">
            <a:avLst/>
          </a:prstGeom>
          <a:noFill/>
        </p:spPr>
        <p:txBody>
          <a:bodyPr wrap="square" rtlCol="0">
            <a:spAutoFit/>
          </a:bodyPr>
          <a:lstStyle/>
          <a:p>
            <a:pPr marL="285750" indent="-285750">
              <a:buFont typeface="Arial" panose="020B0604020202020204" pitchFamily="34" charset="0"/>
              <a:buChar char="•"/>
            </a:pPr>
            <a:r>
              <a:rPr lang="en-GB" dirty="0"/>
              <a:t>Changing tree cover to farmland at higher latitudes reveals more snow-covered ground -&gt; increases albedo</a:t>
            </a:r>
          </a:p>
        </p:txBody>
      </p:sp>
      <p:pic>
        <p:nvPicPr>
          <p:cNvPr id="4098" name="Picture 2">
            <a:extLst>
              <a:ext uri="{FF2B5EF4-FFF2-40B4-BE49-F238E27FC236}">
                <a16:creationId xmlns:a16="http://schemas.microsoft.com/office/drawing/2014/main" id="{DD0B272D-74E9-198A-EF16-27B066C1FB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6171"/>
          <a:stretch>
            <a:fillRect/>
          </a:stretch>
        </p:blipFill>
        <p:spPr bwMode="auto">
          <a:xfrm>
            <a:off x="5201695" y="1281894"/>
            <a:ext cx="4009165" cy="238448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t’s January: Time for Earth’s Closest Approach to the Sun (True ...">
            <a:extLst>
              <a:ext uri="{FF2B5EF4-FFF2-40B4-BE49-F238E27FC236}">
                <a16:creationId xmlns:a16="http://schemas.microsoft.com/office/drawing/2014/main" id="{531A0172-96CD-104B-CA32-F3F562C5C3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696" y="3767080"/>
            <a:ext cx="3995886" cy="152657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21F03EF-0922-0F30-3F89-D95D9B89251D}"/>
              </a:ext>
            </a:extLst>
          </p:cNvPr>
          <p:cNvSpPr txBox="1"/>
          <p:nvPr/>
        </p:nvSpPr>
        <p:spPr>
          <a:xfrm>
            <a:off x="9379456" y="3666381"/>
            <a:ext cx="2729485" cy="2031325"/>
          </a:xfrm>
          <a:prstGeom prst="rect">
            <a:avLst/>
          </a:prstGeom>
          <a:noFill/>
        </p:spPr>
        <p:txBody>
          <a:bodyPr wrap="square" rtlCol="0">
            <a:spAutoFit/>
          </a:bodyPr>
          <a:lstStyle/>
          <a:p>
            <a:pPr marL="285750" indent="-285750">
              <a:buFont typeface="Arial" panose="020B0604020202020204" pitchFamily="34" charset="0"/>
              <a:buChar char="•"/>
            </a:pPr>
            <a:r>
              <a:rPr lang="en-GB" dirty="0"/>
              <a:t>Changing tree and shrub cover to farmland in semi-arid regions reveals soil that is brighter than leaves </a:t>
            </a:r>
          </a:p>
          <a:p>
            <a:r>
              <a:rPr lang="en-GB" dirty="0"/>
              <a:t>      -&gt; increases albedo</a:t>
            </a:r>
          </a:p>
        </p:txBody>
      </p:sp>
      <p:sp>
        <p:nvSpPr>
          <p:cNvPr id="10" name="TextBox 9">
            <a:extLst>
              <a:ext uri="{FF2B5EF4-FFF2-40B4-BE49-F238E27FC236}">
                <a16:creationId xmlns:a16="http://schemas.microsoft.com/office/drawing/2014/main" id="{D20FCA81-444F-E9F4-5F56-CCDA6C106A1A}"/>
              </a:ext>
            </a:extLst>
          </p:cNvPr>
          <p:cNvSpPr txBox="1"/>
          <p:nvPr/>
        </p:nvSpPr>
        <p:spPr>
          <a:xfrm>
            <a:off x="3867217" y="6425851"/>
            <a:ext cx="4942379" cy="246221"/>
          </a:xfrm>
          <a:prstGeom prst="rect">
            <a:avLst/>
          </a:prstGeom>
          <a:noFill/>
        </p:spPr>
        <p:txBody>
          <a:bodyPr wrap="none" rtlCol="0">
            <a:spAutoFit/>
          </a:bodyPr>
          <a:lstStyle/>
          <a:p>
            <a:r>
              <a:rPr lang="en-GB" sz="1000" dirty="0"/>
              <a:t>https://</a:t>
            </a:r>
            <a:r>
              <a:rPr lang="en-GB" sz="1000" dirty="0" err="1"/>
              <a:t>www.wunderground.com</a:t>
            </a:r>
            <a:r>
              <a:rPr lang="en-GB" sz="1000" dirty="0"/>
              <a:t>/cat6/Its-January-Time-Earths-Closest-Approach-Sun-True</a:t>
            </a:r>
          </a:p>
        </p:txBody>
      </p:sp>
      <p:sp>
        <p:nvSpPr>
          <p:cNvPr id="12" name="TextBox 11">
            <a:extLst>
              <a:ext uri="{FF2B5EF4-FFF2-40B4-BE49-F238E27FC236}">
                <a16:creationId xmlns:a16="http://schemas.microsoft.com/office/drawing/2014/main" id="{137A3802-E0B3-DE8A-A812-1E08E8ECC3B2}"/>
              </a:ext>
            </a:extLst>
          </p:cNvPr>
          <p:cNvSpPr txBox="1"/>
          <p:nvPr/>
        </p:nvSpPr>
        <p:spPr>
          <a:xfrm>
            <a:off x="3867216" y="6618197"/>
            <a:ext cx="6876983" cy="246221"/>
          </a:xfrm>
          <a:prstGeom prst="rect">
            <a:avLst/>
          </a:prstGeom>
          <a:noFill/>
        </p:spPr>
        <p:txBody>
          <a:bodyPr wrap="square">
            <a:spAutoFit/>
          </a:bodyPr>
          <a:lstStyle/>
          <a:p>
            <a:r>
              <a:rPr lang="en-GB" sz="1000" dirty="0"/>
              <a:t>https://farmingfirst.org/2019/01/what-is-the-resilience-deficit-and-how-is-it-being-tackled-in-the-sahel/</a:t>
            </a:r>
          </a:p>
        </p:txBody>
      </p:sp>
      <p:sp>
        <p:nvSpPr>
          <p:cNvPr id="3" name="Freeform 13">
            <a:extLst>
              <a:ext uri="{FF2B5EF4-FFF2-40B4-BE49-F238E27FC236}">
                <a16:creationId xmlns:a16="http://schemas.microsoft.com/office/drawing/2014/main" id="{EDAF1AE9-61FF-FAF1-52E5-EB40D1BBE33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0F972B12-AB8F-EE40-3BBC-75A6DA75ACF3}"/>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Radiative forcing for land-use change</a:t>
            </a:r>
          </a:p>
        </p:txBody>
      </p:sp>
    </p:spTree>
    <p:extLst>
      <p:ext uri="{BB962C8B-B14F-4D97-AF65-F5344CB8AC3E}">
        <p14:creationId xmlns:p14="http://schemas.microsoft.com/office/powerpoint/2010/main" val="41228709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the world&#10;&#10;AI-generated content may be incorrect.">
            <a:extLst>
              <a:ext uri="{FF2B5EF4-FFF2-40B4-BE49-F238E27FC236}">
                <a16:creationId xmlns:a16="http://schemas.microsoft.com/office/drawing/2014/main" id="{2A199268-B7F1-B96A-02AA-E2A4A7FB9DED}"/>
              </a:ext>
            </a:extLst>
          </p:cNvPr>
          <p:cNvPicPr>
            <a:picLocks noChangeAspect="1"/>
          </p:cNvPicPr>
          <p:nvPr/>
        </p:nvPicPr>
        <p:blipFill>
          <a:blip r:embed="rId2"/>
          <a:stretch>
            <a:fillRect/>
          </a:stretch>
        </p:blipFill>
        <p:spPr>
          <a:xfrm>
            <a:off x="6256973" y="1575897"/>
            <a:ext cx="5179954" cy="3706205"/>
          </a:xfrm>
          <a:prstGeom prst="rect">
            <a:avLst/>
          </a:prstGeom>
        </p:spPr>
      </p:pic>
      <p:sp>
        <p:nvSpPr>
          <p:cNvPr id="5" name="TextBox 4">
            <a:extLst>
              <a:ext uri="{FF2B5EF4-FFF2-40B4-BE49-F238E27FC236}">
                <a16:creationId xmlns:a16="http://schemas.microsoft.com/office/drawing/2014/main" id="{C06DA55A-7227-8D9D-2DEA-50EA868F88ED}"/>
              </a:ext>
            </a:extLst>
          </p:cNvPr>
          <p:cNvSpPr txBox="1"/>
          <p:nvPr/>
        </p:nvSpPr>
        <p:spPr>
          <a:xfrm>
            <a:off x="0" y="6127121"/>
            <a:ext cx="6048451" cy="276999"/>
          </a:xfrm>
          <a:prstGeom prst="rect">
            <a:avLst/>
          </a:prstGeom>
          <a:noFill/>
        </p:spPr>
        <p:txBody>
          <a:bodyPr wrap="none" rtlCol="0">
            <a:spAutoFit/>
          </a:bodyPr>
          <a:lstStyle/>
          <a:p>
            <a:r>
              <a:rPr lang="en-GB" sz="1200" dirty="0">
                <a:latin typeface="+mj-lt"/>
              </a:rPr>
              <a:t>Fig. 1c and 3d of Andrews et al. 2017 (https://</a:t>
            </a:r>
            <a:r>
              <a:rPr lang="en-GB" sz="1200" dirty="0" err="1">
                <a:latin typeface="+mj-lt"/>
              </a:rPr>
              <a:t>doi.org</a:t>
            </a:r>
            <a:r>
              <a:rPr lang="en-GB" sz="1200" dirty="0">
                <a:latin typeface="+mj-lt"/>
              </a:rPr>
              <a:t>/10.1007/s00382-016-3280-7)</a:t>
            </a:r>
          </a:p>
        </p:txBody>
      </p:sp>
      <p:pic>
        <p:nvPicPr>
          <p:cNvPr id="6" name="Picture 5" descr="A graph of a number of land use&#10;&#10;AI-generated content may be incorrect.">
            <a:extLst>
              <a:ext uri="{FF2B5EF4-FFF2-40B4-BE49-F238E27FC236}">
                <a16:creationId xmlns:a16="http://schemas.microsoft.com/office/drawing/2014/main" id="{1B2EE9C2-03AE-7F79-9448-398D5731885C}"/>
              </a:ext>
            </a:extLst>
          </p:cNvPr>
          <p:cNvPicPr>
            <a:picLocks noChangeAspect="1"/>
          </p:cNvPicPr>
          <p:nvPr/>
        </p:nvPicPr>
        <p:blipFill>
          <a:blip r:embed="rId3"/>
          <a:stretch>
            <a:fillRect/>
          </a:stretch>
        </p:blipFill>
        <p:spPr>
          <a:xfrm>
            <a:off x="661448" y="1575897"/>
            <a:ext cx="4672552" cy="3701484"/>
          </a:xfrm>
          <a:prstGeom prst="rect">
            <a:avLst/>
          </a:prstGeom>
        </p:spPr>
      </p:pic>
      <p:sp>
        <p:nvSpPr>
          <p:cNvPr id="7" name="TextBox 14">
            <a:extLst>
              <a:ext uri="{FF2B5EF4-FFF2-40B4-BE49-F238E27FC236}">
                <a16:creationId xmlns:a16="http://schemas.microsoft.com/office/drawing/2014/main" id="{77A01C88-97FA-71D5-7BF8-F7DDB5FF2329}"/>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Radiative forcing for land-use change</a:t>
            </a:r>
          </a:p>
        </p:txBody>
      </p:sp>
    </p:spTree>
    <p:extLst>
      <p:ext uri="{BB962C8B-B14F-4D97-AF65-F5344CB8AC3E}">
        <p14:creationId xmlns:p14="http://schemas.microsoft.com/office/powerpoint/2010/main" val="205221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E0AA0FC-5802-C92A-EF55-4AF7B0A6C04F}"/>
              </a:ext>
            </a:extLst>
          </p:cNvPr>
          <p:cNvGraphicFramePr>
            <a:graphicFrameLocks noGrp="1"/>
          </p:cNvGraphicFramePr>
          <p:nvPr>
            <p:ph idx="1"/>
            <p:extLst>
              <p:ext uri="{D42A27DB-BD31-4B8C-83A1-F6EECF244321}">
                <p14:modId xmlns:p14="http://schemas.microsoft.com/office/powerpoint/2010/main" val="2708865195"/>
              </p:ext>
            </p:extLst>
          </p:nvPr>
        </p:nvGraphicFramePr>
        <p:xfrm>
          <a:off x="389464" y="1371600"/>
          <a:ext cx="8395830" cy="2743200"/>
        </p:xfrm>
        <a:graphic>
          <a:graphicData uri="http://schemas.openxmlformats.org/drawingml/2006/table">
            <a:tbl>
              <a:tblPr firstRow="1" bandRow="1">
                <a:tableStyleId>{5C22544A-7EE6-4342-B048-85BDC9FD1C3A}</a:tableStyleId>
              </a:tblPr>
              <a:tblGrid>
                <a:gridCol w="4197915">
                  <a:extLst>
                    <a:ext uri="{9D8B030D-6E8A-4147-A177-3AD203B41FA5}">
                      <a16:colId xmlns:a16="http://schemas.microsoft.com/office/drawing/2014/main" val="3154488938"/>
                    </a:ext>
                  </a:extLst>
                </a:gridCol>
                <a:gridCol w="4197915">
                  <a:extLst>
                    <a:ext uri="{9D8B030D-6E8A-4147-A177-3AD203B41FA5}">
                      <a16:colId xmlns:a16="http://schemas.microsoft.com/office/drawing/2014/main" val="1574180420"/>
                    </a:ext>
                  </a:extLst>
                </a:gridCol>
              </a:tblGrid>
              <a:tr h="418465">
                <a:tc>
                  <a:txBody>
                    <a:bodyPr/>
                    <a:lstStyle/>
                    <a:p>
                      <a:r>
                        <a:rPr lang="en-GB" sz="2400" dirty="0">
                          <a:latin typeface="Calibri" panose="020F0502020204030204" pitchFamily="34" charset="0"/>
                          <a:cs typeface="Calibri" panose="020F0502020204030204" pitchFamily="34" charset="0"/>
                        </a:rPr>
                        <a:t>Surface Type</a:t>
                      </a:r>
                    </a:p>
                  </a:txBody>
                  <a:tcPr/>
                </a:tc>
                <a:tc>
                  <a:txBody>
                    <a:bodyPr/>
                    <a:lstStyle/>
                    <a:p>
                      <a:r>
                        <a:rPr lang="en-GB" sz="2400" dirty="0">
                          <a:latin typeface="Calibri" panose="020F0502020204030204" pitchFamily="34" charset="0"/>
                          <a:cs typeface="Calibri" panose="020F0502020204030204" pitchFamily="34" charset="0"/>
                        </a:rPr>
                        <a:t>Albedo</a:t>
                      </a:r>
                    </a:p>
                  </a:txBody>
                  <a:tcPr/>
                </a:tc>
                <a:extLst>
                  <a:ext uri="{0D108BD9-81ED-4DB2-BD59-A6C34878D82A}">
                    <a16:rowId xmlns:a16="http://schemas.microsoft.com/office/drawing/2014/main" val="2136691177"/>
                  </a:ext>
                </a:extLst>
              </a:tr>
              <a:tr h="370840">
                <a:tc>
                  <a:txBody>
                    <a:bodyPr/>
                    <a:lstStyle/>
                    <a:p>
                      <a:r>
                        <a:rPr lang="en-GB" sz="2400" dirty="0">
                          <a:latin typeface="Calibri" panose="020F0502020204030204" pitchFamily="34" charset="0"/>
                          <a:cs typeface="Calibri" panose="020F0502020204030204" pitchFamily="34" charset="0"/>
                        </a:rPr>
                        <a:t>Ocean</a:t>
                      </a:r>
                    </a:p>
                  </a:txBody>
                  <a:tcPr/>
                </a:tc>
                <a:tc>
                  <a:txBody>
                    <a:bodyPr/>
                    <a:lstStyle/>
                    <a:p>
                      <a:r>
                        <a:rPr lang="en-GB" sz="2400" dirty="0">
                          <a:latin typeface="Calibri" panose="020F0502020204030204" pitchFamily="34" charset="0"/>
                          <a:cs typeface="Calibri" panose="020F0502020204030204" pitchFamily="34" charset="0"/>
                        </a:rPr>
                        <a:t>0.07</a:t>
                      </a:r>
                    </a:p>
                  </a:txBody>
                  <a:tcPr/>
                </a:tc>
                <a:extLst>
                  <a:ext uri="{0D108BD9-81ED-4DB2-BD59-A6C34878D82A}">
                    <a16:rowId xmlns:a16="http://schemas.microsoft.com/office/drawing/2014/main" val="2942351611"/>
                  </a:ext>
                </a:extLst>
              </a:tr>
              <a:tr h="370840">
                <a:tc>
                  <a:txBody>
                    <a:bodyPr/>
                    <a:lstStyle/>
                    <a:p>
                      <a:r>
                        <a:rPr lang="en-GB" sz="2400" dirty="0">
                          <a:latin typeface="Calibri" panose="020F0502020204030204" pitchFamily="34" charset="0"/>
                          <a:cs typeface="Calibri" panose="020F0502020204030204" pitchFamily="34" charset="0"/>
                        </a:rPr>
                        <a:t>Coniferous forest</a:t>
                      </a:r>
                    </a:p>
                  </a:txBody>
                  <a:tcPr/>
                </a:tc>
                <a:tc>
                  <a:txBody>
                    <a:bodyPr/>
                    <a:lstStyle/>
                    <a:p>
                      <a:r>
                        <a:rPr lang="en-GB" sz="2400" dirty="0">
                          <a:latin typeface="Calibri" panose="020F0502020204030204" pitchFamily="34" charset="0"/>
                          <a:cs typeface="Calibri" panose="020F0502020204030204" pitchFamily="34" charset="0"/>
                        </a:rPr>
                        <a:t>0.16</a:t>
                      </a:r>
                    </a:p>
                  </a:txBody>
                  <a:tcPr/>
                </a:tc>
                <a:extLst>
                  <a:ext uri="{0D108BD9-81ED-4DB2-BD59-A6C34878D82A}">
                    <a16:rowId xmlns:a16="http://schemas.microsoft.com/office/drawing/2014/main" val="1419205715"/>
                  </a:ext>
                </a:extLst>
              </a:tr>
              <a:tr h="370840">
                <a:tc>
                  <a:txBody>
                    <a:bodyPr/>
                    <a:lstStyle/>
                    <a:p>
                      <a:r>
                        <a:rPr lang="en-GB" sz="2400" dirty="0">
                          <a:latin typeface="Calibri" panose="020F0502020204030204" pitchFamily="34" charset="0"/>
                          <a:cs typeface="Calibri" panose="020F0502020204030204" pitchFamily="34" charset="0"/>
                        </a:rPr>
                        <a:t>Earth average</a:t>
                      </a:r>
                    </a:p>
                  </a:txBody>
                  <a:tcPr/>
                </a:tc>
                <a:tc>
                  <a:txBody>
                    <a:bodyPr/>
                    <a:lstStyle/>
                    <a:p>
                      <a:r>
                        <a:rPr lang="en-GB" sz="2400" dirty="0">
                          <a:latin typeface="Calibri" panose="020F0502020204030204" pitchFamily="34" charset="0"/>
                          <a:cs typeface="Calibri" panose="020F0502020204030204" pitchFamily="34" charset="0"/>
                        </a:rPr>
                        <a:t>0.31</a:t>
                      </a:r>
                    </a:p>
                  </a:txBody>
                  <a:tcPr/>
                </a:tc>
                <a:extLst>
                  <a:ext uri="{0D108BD9-81ED-4DB2-BD59-A6C34878D82A}">
                    <a16:rowId xmlns:a16="http://schemas.microsoft.com/office/drawing/2014/main" val="4146287493"/>
                  </a:ext>
                </a:extLst>
              </a:tr>
              <a:tr h="370840">
                <a:tc>
                  <a:txBody>
                    <a:bodyPr/>
                    <a:lstStyle/>
                    <a:p>
                      <a:r>
                        <a:rPr lang="en-GB" sz="2400" dirty="0">
                          <a:latin typeface="Calibri" panose="020F0502020204030204" pitchFamily="34" charset="0"/>
                          <a:cs typeface="Calibri" panose="020F0502020204030204" pitchFamily="34" charset="0"/>
                        </a:rPr>
                        <a:t>Sand</a:t>
                      </a:r>
                    </a:p>
                  </a:txBody>
                  <a:tcPr/>
                </a:tc>
                <a:tc>
                  <a:txBody>
                    <a:bodyPr/>
                    <a:lstStyle/>
                    <a:p>
                      <a:r>
                        <a:rPr lang="en-GB" sz="2400" dirty="0">
                          <a:latin typeface="Calibri" panose="020F0502020204030204" pitchFamily="34" charset="0"/>
                          <a:cs typeface="Calibri" panose="020F0502020204030204" pitchFamily="34" charset="0"/>
                        </a:rPr>
                        <a:t>0.35</a:t>
                      </a:r>
                    </a:p>
                  </a:txBody>
                  <a:tcPr/>
                </a:tc>
                <a:extLst>
                  <a:ext uri="{0D108BD9-81ED-4DB2-BD59-A6C34878D82A}">
                    <a16:rowId xmlns:a16="http://schemas.microsoft.com/office/drawing/2014/main" val="4131876464"/>
                  </a:ext>
                </a:extLst>
              </a:tr>
              <a:tr h="370840">
                <a:tc>
                  <a:txBody>
                    <a:bodyPr/>
                    <a:lstStyle/>
                    <a:p>
                      <a:r>
                        <a:rPr lang="en-GB" sz="2400" dirty="0">
                          <a:latin typeface="Calibri" panose="020F0502020204030204" pitchFamily="34" charset="0"/>
                          <a:cs typeface="Calibri" panose="020F0502020204030204" pitchFamily="34" charset="0"/>
                        </a:rPr>
                        <a:t>Fresh snow</a:t>
                      </a:r>
                    </a:p>
                  </a:txBody>
                  <a:tcPr/>
                </a:tc>
                <a:tc>
                  <a:txBody>
                    <a:bodyPr/>
                    <a:lstStyle/>
                    <a:p>
                      <a:r>
                        <a:rPr lang="en-GB" sz="2400" dirty="0">
                          <a:latin typeface="Calibri" panose="020F0502020204030204" pitchFamily="34" charset="0"/>
                          <a:cs typeface="Calibri" panose="020F0502020204030204" pitchFamily="34" charset="0"/>
                        </a:rPr>
                        <a:t>0.9</a:t>
                      </a:r>
                    </a:p>
                  </a:txBody>
                  <a:tcPr/>
                </a:tc>
                <a:extLst>
                  <a:ext uri="{0D108BD9-81ED-4DB2-BD59-A6C34878D82A}">
                    <a16:rowId xmlns:a16="http://schemas.microsoft.com/office/drawing/2014/main" val="103907091"/>
                  </a:ext>
                </a:extLst>
              </a:tr>
            </a:tbl>
          </a:graphicData>
        </a:graphic>
      </p:graphicFrame>
      <p:pic>
        <p:nvPicPr>
          <p:cNvPr id="5" name="Picture 6" descr="Aerial view on winter bog in the middle of snowy forest. Bird eye view ...">
            <a:extLst>
              <a:ext uri="{FF2B5EF4-FFF2-40B4-BE49-F238E27FC236}">
                <a16:creationId xmlns:a16="http://schemas.microsoft.com/office/drawing/2014/main" id="{87DA1F08-28DE-B1F6-840F-B6154ECF5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464" y="4339403"/>
            <a:ext cx="3612095" cy="2031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CE73675-E4D1-FD95-90E7-5AA8FF74A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8119" y="4339404"/>
            <a:ext cx="4627174" cy="2031804"/>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13">
            <a:extLst>
              <a:ext uri="{FF2B5EF4-FFF2-40B4-BE49-F238E27FC236}">
                <a16:creationId xmlns:a16="http://schemas.microsoft.com/office/drawing/2014/main" id="{5C78FE77-95F7-0D5C-94EE-7764E364658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14">
            <a:extLst>
              <a:ext uri="{FF2B5EF4-FFF2-40B4-BE49-F238E27FC236}">
                <a16:creationId xmlns:a16="http://schemas.microsoft.com/office/drawing/2014/main" id="{23CA5AD6-FC57-C050-C021-9D50F912104F}"/>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Albedos</a:t>
            </a:r>
          </a:p>
        </p:txBody>
      </p:sp>
    </p:spTree>
    <p:extLst>
      <p:ext uri="{BB962C8B-B14F-4D97-AF65-F5344CB8AC3E}">
        <p14:creationId xmlns:p14="http://schemas.microsoft.com/office/powerpoint/2010/main" val="501397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A5AF2-81CC-5F42-3B16-923CF71C349E}"/>
              </a:ext>
            </a:extLst>
          </p:cNvPr>
          <p:cNvSpPr>
            <a:spLocks noGrp="1"/>
          </p:cNvSpPr>
          <p:nvPr>
            <p:ph type="title"/>
          </p:nvPr>
        </p:nvSpPr>
        <p:spPr>
          <a:xfrm>
            <a:off x="338664" y="1140924"/>
            <a:ext cx="11704207" cy="648480"/>
          </a:xfrm>
        </p:spPr>
        <p:txBody>
          <a:bodyPr/>
          <a:lstStyle/>
          <a:p>
            <a:pPr algn="l"/>
            <a:r>
              <a:rPr lang="en-GB" i="1" dirty="0">
                <a:latin typeface="Calibri" panose="020F0502020204030204" pitchFamily="34" charset="0"/>
                <a:cs typeface="Calibri" panose="020F0502020204030204" pitchFamily="34" charset="0"/>
              </a:rPr>
              <a:t>Affects vertical distribution of energy – not a radiative forcing</a:t>
            </a:r>
          </a:p>
        </p:txBody>
      </p:sp>
      <p:sp>
        <p:nvSpPr>
          <p:cNvPr id="3" name="Content Placeholder 2">
            <a:extLst>
              <a:ext uri="{FF2B5EF4-FFF2-40B4-BE49-F238E27FC236}">
                <a16:creationId xmlns:a16="http://schemas.microsoft.com/office/drawing/2014/main" id="{3034F718-8B6B-1F91-9CBC-863A5EC3286C}"/>
              </a:ext>
            </a:extLst>
          </p:cNvPr>
          <p:cNvSpPr>
            <a:spLocks noGrp="1"/>
          </p:cNvSpPr>
          <p:nvPr>
            <p:ph idx="1"/>
          </p:nvPr>
        </p:nvSpPr>
        <p:spPr>
          <a:xfrm>
            <a:off x="389464" y="2040676"/>
            <a:ext cx="12192000" cy="3918244"/>
          </a:xfrm>
        </p:spPr>
        <p:txBody>
          <a:bodyPr/>
          <a:lstStyle/>
          <a:p>
            <a:r>
              <a:rPr lang="en-GB" dirty="0"/>
              <a:t>Solar energy incident on surface is converted to sensible and latent heat</a:t>
            </a:r>
          </a:p>
          <a:p>
            <a:r>
              <a:rPr lang="en-GB" dirty="0"/>
              <a:t>Can affect local and regional climate significantly</a:t>
            </a:r>
          </a:p>
        </p:txBody>
      </p:sp>
      <p:pic>
        <p:nvPicPr>
          <p:cNvPr id="1026" name="Picture 2" descr="Dried Tree Stock-Videos und B-Roll-Filmmaterial - Getty Images">
            <a:extLst>
              <a:ext uri="{FF2B5EF4-FFF2-40B4-BE49-F238E27FC236}">
                <a16:creationId xmlns:a16="http://schemas.microsoft.com/office/drawing/2014/main" id="{75FA7D7C-4CFE-35BE-296A-CA095371D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3314" y="3163605"/>
            <a:ext cx="5348614" cy="300859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19719C4-A78F-DCF8-05AC-8C8EDFB90C0F}"/>
              </a:ext>
            </a:extLst>
          </p:cNvPr>
          <p:cNvSpPr/>
          <p:nvPr/>
        </p:nvSpPr>
        <p:spPr>
          <a:xfrm>
            <a:off x="3897320" y="4913334"/>
            <a:ext cx="1252602" cy="926635"/>
          </a:xfrm>
          <a:prstGeom prst="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12" name="Rectangle 11">
            <a:extLst>
              <a:ext uri="{FF2B5EF4-FFF2-40B4-BE49-F238E27FC236}">
                <a16:creationId xmlns:a16="http://schemas.microsoft.com/office/drawing/2014/main" id="{B7FC2A85-2794-99ED-34CA-FC8747BE068B}"/>
              </a:ext>
            </a:extLst>
          </p:cNvPr>
          <p:cNvSpPr/>
          <p:nvPr/>
        </p:nvSpPr>
        <p:spPr>
          <a:xfrm>
            <a:off x="6955755" y="3460315"/>
            <a:ext cx="1338197" cy="438412"/>
          </a:xfrm>
          <a:prstGeom prst="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13" name="TextBox 12">
            <a:extLst>
              <a:ext uri="{FF2B5EF4-FFF2-40B4-BE49-F238E27FC236}">
                <a16:creationId xmlns:a16="http://schemas.microsoft.com/office/drawing/2014/main" id="{00BD1E72-B2AF-7425-6A50-AFA4FE4B491D}"/>
              </a:ext>
            </a:extLst>
          </p:cNvPr>
          <p:cNvSpPr txBox="1"/>
          <p:nvPr/>
        </p:nvSpPr>
        <p:spPr>
          <a:xfrm>
            <a:off x="211774" y="4653255"/>
            <a:ext cx="2805830" cy="923330"/>
          </a:xfrm>
          <a:prstGeom prst="rect">
            <a:avLst/>
          </a:prstGeom>
          <a:noFill/>
        </p:spPr>
        <p:txBody>
          <a:bodyPr wrap="square" rtlCol="0">
            <a:spAutoFit/>
          </a:bodyPr>
          <a:lstStyle/>
          <a:p>
            <a:r>
              <a:rPr lang="en-GB" dirty="0"/>
              <a:t>Less liquid water available means higher sensible </a:t>
            </a:r>
            <a:r>
              <a:rPr lang="en-GB" dirty="0" err="1"/>
              <a:t>heat:latent</a:t>
            </a:r>
            <a:r>
              <a:rPr lang="en-GB" dirty="0"/>
              <a:t> heat</a:t>
            </a:r>
          </a:p>
        </p:txBody>
      </p:sp>
      <p:sp>
        <p:nvSpPr>
          <p:cNvPr id="14" name="TextBox 13">
            <a:extLst>
              <a:ext uri="{FF2B5EF4-FFF2-40B4-BE49-F238E27FC236}">
                <a16:creationId xmlns:a16="http://schemas.microsoft.com/office/drawing/2014/main" id="{0139174B-DE45-6853-9364-65775CB169A3}"/>
              </a:ext>
            </a:extLst>
          </p:cNvPr>
          <p:cNvSpPr txBox="1"/>
          <p:nvPr/>
        </p:nvSpPr>
        <p:spPr>
          <a:xfrm>
            <a:off x="8836749" y="2684895"/>
            <a:ext cx="2805830" cy="923330"/>
          </a:xfrm>
          <a:prstGeom prst="rect">
            <a:avLst/>
          </a:prstGeom>
          <a:noFill/>
        </p:spPr>
        <p:txBody>
          <a:bodyPr wrap="square" rtlCol="0">
            <a:spAutoFit/>
          </a:bodyPr>
          <a:lstStyle/>
          <a:p>
            <a:r>
              <a:rPr lang="en-GB" dirty="0"/>
              <a:t>More liquid water available means lower sensible </a:t>
            </a:r>
            <a:r>
              <a:rPr lang="en-GB" dirty="0" err="1"/>
              <a:t>heat:latent</a:t>
            </a:r>
            <a:r>
              <a:rPr lang="en-GB" dirty="0"/>
              <a:t> heat</a:t>
            </a:r>
          </a:p>
        </p:txBody>
      </p:sp>
      <p:cxnSp>
        <p:nvCxnSpPr>
          <p:cNvPr id="16" name="Straight Arrow Connector 15">
            <a:extLst>
              <a:ext uri="{FF2B5EF4-FFF2-40B4-BE49-F238E27FC236}">
                <a16:creationId xmlns:a16="http://schemas.microsoft.com/office/drawing/2014/main" id="{D50C340E-F3B8-9324-086D-BB2D7067C099}"/>
              </a:ext>
            </a:extLst>
          </p:cNvPr>
          <p:cNvCxnSpPr>
            <a:stCxn id="14" idx="1"/>
          </p:cNvCxnSpPr>
          <p:nvPr/>
        </p:nvCxnSpPr>
        <p:spPr>
          <a:xfrm flipH="1">
            <a:off x="8293952" y="3146560"/>
            <a:ext cx="542797" cy="3137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ED3CABF-4D55-1AB1-E713-C2ED2CCCD9C7}"/>
              </a:ext>
            </a:extLst>
          </p:cNvPr>
          <p:cNvCxnSpPr>
            <a:cxnSpLocks/>
          </p:cNvCxnSpPr>
          <p:nvPr/>
        </p:nvCxnSpPr>
        <p:spPr>
          <a:xfrm>
            <a:off x="2839913" y="5114920"/>
            <a:ext cx="1057407" cy="2993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Freeform 13">
            <a:extLst>
              <a:ext uri="{FF2B5EF4-FFF2-40B4-BE49-F238E27FC236}">
                <a16:creationId xmlns:a16="http://schemas.microsoft.com/office/drawing/2014/main" id="{618D2935-2E47-83BD-6E87-B0E651C1FAF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9" name="TextBox 14">
            <a:extLst>
              <a:ext uri="{FF2B5EF4-FFF2-40B4-BE49-F238E27FC236}">
                <a16:creationId xmlns:a16="http://schemas.microsoft.com/office/drawing/2014/main" id="{E7BDE0E9-5DE9-A183-E4E3-EEEAE5F220FE}"/>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Land-Use Change</a:t>
            </a:r>
          </a:p>
        </p:txBody>
      </p:sp>
    </p:spTree>
    <p:extLst>
      <p:ext uri="{BB962C8B-B14F-4D97-AF65-F5344CB8AC3E}">
        <p14:creationId xmlns:p14="http://schemas.microsoft.com/office/powerpoint/2010/main" val="2718534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34A7B2-3102-20DD-7AF2-75C35E9CDA9F}"/>
              </a:ext>
            </a:extLst>
          </p:cNvPr>
          <p:cNvSpPr>
            <a:spLocks noGrp="1"/>
          </p:cNvSpPr>
          <p:nvPr>
            <p:ph idx="1"/>
          </p:nvPr>
        </p:nvSpPr>
        <p:spPr>
          <a:xfrm>
            <a:off x="330200" y="1812970"/>
            <a:ext cx="9588500" cy="3017309"/>
          </a:xfrm>
        </p:spPr>
        <p:txBody>
          <a:bodyPr/>
          <a:lstStyle/>
          <a:p>
            <a:r>
              <a:rPr lang="en-GB" dirty="0">
                <a:latin typeface="Calibri" panose="020F0502020204030204" pitchFamily="34" charset="0"/>
                <a:cs typeface="Calibri" panose="020F0502020204030204" pitchFamily="34" charset="0"/>
              </a:rPr>
              <a:t>Deforested tropical areas warm at surface because cooling via evapotranspiration decreases, e.g. Amazon in fig. below</a:t>
            </a:r>
          </a:p>
          <a:p>
            <a:r>
              <a:rPr lang="en-GB" dirty="0">
                <a:latin typeface="Calibri" panose="020F0502020204030204" pitchFamily="34" charset="0"/>
                <a:cs typeface="Calibri" panose="020F0502020204030204" pitchFamily="34" charset="0"/>
              </a:rPr>
              <a:t>This is a local effect</a:t>
            </a:r>
          </a:p>
          <a:p>
            <a:r>
              <a:rPr lang="en-GB" dirty="0">
                <a:latin typeface="Calibri" panose="020F0502020204030204" pitchFamily="34" charset="0"/>
                <a:cs typeface="Calibri" panose="020F0502020204030204" pitchFamily="34" charset="0"/>
              </a:rPr>
              <a:t>But local feedbacks have the potential to amplify global feedbacks, e.g. decreased forest resilience in Amazon</a:t>
            </a:r>
          </a:p>
          <a:p>
            <a:endParaRPr lang="en-GB" dirty="0"/>
          </a:p>
        </p:txBody>
      </p:sp>
      <p:pic>
        <p:nvPicPr>
          <p:cNvPr id="1026" name="Picture 2">
            <a:extLst>
              <a:ext uri="{FF2B5EF4-FFF2-40B4-BE49-F238E27FC236}">
                <a16:creationId xmlns:a16="http://schemas.microsoft.com/office/drawing/2014/main" id="{74899442-CEB6-CF66-2E93-1FE247BC1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3814532"/>
            <a:ext cx="6854328" cy="26533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DD186C-7DD5-C591-C2BB-3829ED3047FB}"/>
              </a:ext>
            </a:extLst>
          </p:cNvPr>
          <p:cNvSpPr txBox="1"/>
          <p:nvPr/>
        </p:nvSpPr>
        <p:spPr>
          <a:xfrm>
            <a:off x="7361164" y="5989243"/>
            <a:ext cx="2414764" cy="369332"/>
          </a:xfrm>
          <a:prstGeom prst="rect">
            <a:avLst/>
          </a:prstGeom>
          <a:noFill/>
        </p:spPr>
        <p:txBody>
          <a:bodyPr wrap="none" rtlCol="0">
            <a:spAutoFit/>
          </a:bodyPr>
          <a:lstStyle/>
          <a:p>
            <a:r>
              <a:rPr lang="en-GB" dirty="0">
                <a:hlinkClick r:id="rId4"/>
              </a:rPr>
              <a:t>Fig. 1 of Butt et al. 2023</a:t>
            </a:r>
            <a:endParaRPr lang="en-GB" dirty="0"/>
          </a:p>
        </p:txBody>
      </p:sp>
      <p:sp>
        <p:nvSpPr>
          <p:cNvPr id="8" name="Title 1">
            <a:extLst>
              <a:ext uri="{FF2B5EF4-FFF2-40B4-BE49-F238E27FC236}">
                <a16:creationId xmlns:a16="http://schemas.microsoft.com/office/drawing/2014/main" id="{A772E8F9-1F50-6410-B05B-4B1318202423}"/>
              </a:ext>
            </a:extLst>
          </p:cNvPr>
          <p:cNvSpPr>
            <a:spLocks noGrp="1"/>
          </p:cNvSpPr>
          <p:nvPr>
            <p:ph type="title"/>
          </p:nvPr>
        </p:nvSpPr>
        <p:spPr>
          <a:xfrm>
            <a:off x="338664" y="1140924"/>
            <a:ext cx="11704207" cy="648480"/>
          </a:xfrm>
        </p:spPr>
        <p:txBody>
          <a:bodyPr/>
          <a:lstStyle/>
          <a:p>
            <a:pPr algn="l"/>
            <a:r>
              <a:rPr lang="en-GB" i="1" dirty="0">
                <a:latin typeface="Calibri" panose="020F0502020204030204" pitchFamily="34" charset="0"/>
                <a:cs typeface="Calibri" panose="020F0502020204030204" pitchFamily="34" charset="0"/>
              </a:rPr>
              <a:t>Affects vertical distribution of energy – not a radiative forcing</a:t>
            </a:r>
          </a:p>
        </p:txBody>
      </p:sp>
      <p:sp>
        <p:nvSpPr>
          <p:cNvPr id="9" name="Freeform 13">
            <a:extLst>
              <a:ext uri="{FF2B5EF4-FFF2-40B4-BE49-F238E27FC236}">
                <a16:creationId xmlns:a16="http://schemas.microsoft.com/office/drawing/2014/main" id="{C7F6AB2A-5354-D27E-9E70-22BC226A213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10" name="TextBox 14">
            <a:extLst>
              <a:ext uri="{FF2B5EF4-FFF2-40B4-BE49-F238E27FC236}">
                <a16:creationId xmlns:a16="http://schemas.microsoft.com/office/drawing/2014/main" id="{45BE59F6-8808-C2D8-C91F-922954BC979B}"/>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Land-Use Change</a:t>
            </a:r>
          </a:p>
        </p:txBody>
      </p:sp>
    </p:spTree>
    <p:extLst>
      <p:ext uri="{BB962C8B-B14F-4D97-AF65-F5344CB8AC3E}">
        <p14:creationId xmlns:p14="http://schemas.microsoft.com/office/powerpoint/2010/main" val="12725716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F62D6-773B-62CB-802D-78F8577E1818}"/>
              </a:ext>
            </a:extLst>
          </p:cNvPr>
          <p:cNvSpPr>
            <a:spLocks noGrp="1"/>
          </p:cNvSpPr>
          <p:nvPr>
            <p:ph idx="1"/>
          </p:nvPr>
        </p:nvSpPr>
        <p:spPr>
          <a:xfrm>
            <a:off x="332282" y="1918204"/>
            <a:ext cx="5486400" cy="4247699"/>
          </a:xfrm>
        </p:spPr>
        <p:txBody>
          <a:bodyPr>
            <a:normAutofit lnSpcReduction="10000"/>
          </a:bodyPr>
          <a:lstStyle/>
          <a:p>
            <a:r>
              <a:rPr lang="en-GB" sz="2400" dirty="0">
                <a:latin typeface="Calibri" panose="020F0502020204030204" pitchFamily="34" charset="0"/>
                <a:cs typeface="Calibri" panose="020F0502020204030204" pitchFamily="34" charset="0"/>
              </a:rPr>
              <a:t>Land-use change effect on clouds is mixed – sometimes increasing cloud cover (e.g. increased irrigation), sometimes decreasing (e.g. rainforest removal), therefore overall rapid adjustment is around zero</a:t>
            </a: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Effective radiative forcing from land-use change is around half the magnitude of ozone and around quarter the magnitude of aerosol</a:t>
            </a:r>
          </a:p>
          <a:p>
            <a:endParaRPr lang="en-GB" dirty="0"/>
          </a:p>
        </p:txBody>
      </p:sp>
      <p:pic>
        <p:nvPicPr>
          <p:cNvPr id="4" name="Picture 3" descr="Graphical user interface, application&#10;&#10;Description automatically generated with medium confidence">
            <a:extLst>
              <a:ext uri="{FF2B5EF4-FFF2-40B4-BE49-F238E27FC236}">
                <a16:creationId xmlns:a16="http://schemas.microsoft.com/office/drawing/2014/main" id="{91F6850C-03C6-F8E6-48F4-F85D5CB89FBC}"/>
              </a:ext>
            </a:extLst>
          </p:cNvPr>
          <p:cNvPicPr>
            <a:picLocks noChangeAspect="1"/>
          </p:cNvPicPr>
          <p:nvPr/>
        </p:nvPicPr>
        <p:blipFill rotWithShape="1">
          <a:blip r:embed="rId2">
            <a:extLst>
              <a:ext uri="{28A0092B-C50C-407E-A947-70E740481C1C}">
                <a14:useLocalDpi xmlns:a14="http://schemas.microsoft.com/office/drawing/2010/main" val="0"/>
              </a:ext>
            </a:extLst>
          </a:blip>
          <a:srcRect l="24760" t="24653" r="28082" b="29315"/>
          <a:stretch/>
        </p:blipFill>
        <p:spPr>
          <a:xfrm>
            <a:off x="5820697" y="2034808"/>
            <a:ext cx="6039021" cy="3315884"/>
          </a:xfrm>
          <a:prstGeom prst="rect">
            <a:avLst/>
          </a:prstGeom>
        </p:spPr>
      </p:pic>
      <p:sp>
        <p:nvSpPr>
          <p:cNvPr id="6" name="TextBox 5">
            <a:extLst>
              <a:ext uri="{FF2B5EF4-FFF2-40B4-BE49-F238E27FC236}">
                <a16:creationId xmlns:a16="http://schemas.microsoft.com/office/drawing/2014/main" id="{EA3FA1B5-9433-CE7E-2BE6-321CC3B48846}"/>
              </a:ext>
            </a:extLst>
          </p:cNvPr>
          <p:cNvSpPr txBox="1"/>
          <p:nvPr/>
        </p:nvSpPr>
        <p:spPr>
          <a:xfrm>
            <a:off x="6476389" y="5350692"/>
            <a:ext cx="1743491" cy="369332"/>
          </a:xfrm>
          <a:prstGeom prst="rect">
            <a:avLst/>
          </a:prstGeom>
          <a:noFill/>
        </p:spPr>
        <p:txBody>
          <a:bodyPr wrap="none" rtlCol="0">
            <a:spAutoFit/>
          </a:bodyPr>
          <a:lstStyle/>
          <a:p>
            <a:r>
              <a:rPr lang="en-GB" dirty="0"/>
              <a:t>Fig 7.6 AR6 WG1</a:t>
            </a:r>
          </a:p>
        </p:txBody>
      </p:sp>
      <p:sp>
        <p:nvSpPr>
          <p:cNvPr id="7" name="Freeform 13">
            <a:extLst>
              <a:ext uri="{FF2B5EF4-FFF2-40B4-BE49-F238E27FC236}">
                <a16:creationId xmlns:a16="http://schemas.microsoft.com/office/drawing/2014/main" id="{8F0E32BE-DDB4-4E53-7D10-AB6B66CA6A5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8" name="TextBox 14">
            <a:extLst>
              <a:ext uri="{FF2B5EF4-FFF2-40B4-BE49-F238E27FC236}">
                <a16:creationId xmlns:a16="http://schemas.microsoft.com/office/drawing/2014/main" id="{214B5EB0-2029-53C9-A43D-7483A2ABE54D}"/>
              </a:ext>
            </a:extLst>
          </p:cNvPr>
          <p:cNvSpPr txBox="1"/>
          <p:nvPr/>
        </p:nvSpPr>
        <p:spPr>
          <a:xfrm>
            <a:off x="389464" y="684091"/>
            <a:ext cx="9186336"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Land-Use Change: rapid adjustment </a:t>
            </a:r>
          </a:p>
        </p:txBody>
      </p:sp>
    </p:spTree>
    <p:extLst>
      <p:ext uri="{BB962C8B-B14F-4D97-AF65-F5344CB8AC3E}">
        <p14:creationId xmlns:p14="http://schemas.microsoft.com/office/powerpoint/2010/main" val="4170123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with medium confidence">
            <a:extLst>
              <a:ext uri="{FF2B5EF4-FFF2-40B4-BE49-F238E27FC236}">
                <a16:creationId xmlns:a16="http://schemas.microsoft.com/office/drawing/2014/main" id="{9C5618E7-3DD1-91AC-6764-353BF2C784BA}"/>
              </a:ext>
            </a:extLst>
          </p:cNvPr>
          <p:cNvPicPr>
            <a:picLocks noChangeAspect="1"/>
          </p:cNvPicPr>
          <p:nvPr/>
        </p:nvPicPr>
        <p:blipFill rotWithShape="1">
          <a:blip r:embed="rId2">
            <a:extLst>
              <a:ext uri="{28A0092B-C50C-407E-A947-70E740481C1C}">
                <a14:useLocalDpi xmlns:a14="http://schemas.microsoft.com/office/drawing/2010/main" val="0"/>
              </a:ext>
            </a:extLst>
          </a:blip>
          <a:srcRect l="24760" t="24653" r="28082" b="29315"/>
          <a:stretch/>
        </p:blipFill>
        <p:spPr>
          <a:xfrm>
            <a:off x="4973124" y="2416451"/>
            <a:ext cx="5749446" cy="3156885"/>
          </a:xfrm>
          <a:prstGeom prst="rect">
            <a:avLst/>
          </a:prstGeom>
        </p:spPr>
      </p:pic>
      <p:sp>
        <p:nvSpPr>
          <p:cNvPr id="8" name="TextBox 7">
            <a:extLst>
              <a:ext uri="{FF2B5EF4-FFF2-40B4-BE49-F238E27FC236}">
                <a16:creationId xmlns:a16="http://schemas.microsoft.com/office/drawing/2014/main" id="{78E219B0-F4D7-8546-6F48-8382F785ED36}"/>
              </a:ext>
            </a:extLst>
          </p:cNvPr>
          <p:cNvSpPr txBox="1"/>
          <p:nvPr/>
        </p:nvSpPr>
        <p:spPr>
          <a:xfrm>
            <a:off x="6726767" y="5679993"/>
            <a:ext cx="1226554" cy="276999"/>
          </a:xfrm>
          <a:prstGeom prst="rect">
            <a:avLst/>
          </a:prstGeom>
          <a:noFill/>
        </p:spPr>
        <p:txBody>
          <a:bodyPr wrap="none" rtlCol="0">
            <a:spAutoFit/>
          </a:bodyPr>
          <a:lstStyle/>
          <a:p>
            <a:r>
              <a:rPr lang="en-GB" sz="1200" dirty="0"/>
              <a:t>Fig 7.6 AR6 WG1</a:t>
            </a:r>
          </a:p>
        </p:txBody>
      </p:sp>
      <p:pic>
        <p:nvPicPr>
          <p:cNvPr id="5" name="Picture 4" descr="A screenshot of a graph&#10;&#10;AI-generated content may be incorrect.">
            <a:extLst>
              <a:ext uri="{FF2B5EF4-FFF2-40B4-BE49-F238E27FC236}">
                <a16:creationId xmlns:a16="http://schemas.microsoft.com/office/drawing/2014/main" id="{710C17A6-A240-E716-AC46-6A38D720945C}"/>
              </a:ext>
            </a:extLst>
          </p:cNvPr>
          <p:cNvPicPr>
            <a:picLocks noChangeAspect="1"/>
          </p:cNvPicPr>
          <p:nvPr/>
        </p:nvPicPr>
        <p:blipFill>
          <a:blip r:embed="rId3">
            <a:extLst>
              <a:ext uri="{28A0092B-C50C-407E-A947-70E740481C1C}">
                <a14:useLocalDpi xmlns:a14="http://schemas.microsoft.com/office/drawing/2010/main" val="0"/>
              </a:ext>
            </a:extLst>
          </a:blip>
          <a:srcRect t="2068" r="3168"/>
          <a:stretch/>
        </p:blipFill>
        <p:spPr>
          <a:xfrm>
            <a:off x="389464" y="1863901"/>
            <a:ext cx="3689733" cy="4645641"/>
          </a:xfrm>
          <a:prstGeom prst="rect">
            <a:avLst/>
          </a:prstGeom>
        </p:spPr>
      </p:pic>
      <p:sp>
        <p:nvSpPr>
          <p:cNvPr id="6" name="TextBox 5">
            <a:extLst>
              <a:ext uri="{FF2B5EF4-FFF2-40B4-BE49-F238E27FC236}">
                <a16:creationId xmlns:a16="http://schemas.microsoft.com/office/drawing/2014/main" id="{60672144-D731-7278-3461-C1E65D02A3C0}"/>
              </a:ext>
            </a:extLst>
          </p:cNvPr>
          <p:cNvSpPr txBox="1"/>
          <p:nvPr/>
        </p:nvSpPr>
        <p:spPr>
          <a:xfrm rot="5400000">
            <a:off x="2303426" y="4026068"/>
            <a:ext cx="3995781" cy="276999"/>
          </a:xfrm>
          <a:prstGeom prst="rect">
            <a:avLst/>
          </a:prstGeom>
          <a:noFill/>
        </p:spPr>
        <p:txBody>
          <a:bodyPr wrap="square" rtlCol="0">
            <a:spAutoFit/>
          </a:bodyPr>
          <a:lstStyle/>
          <a:p>
            <a:r>
              <a:rPr lang="en-GB" sz="1200" dirty="0"/>
              <a:t>Figure 2.1 d) Climate Change 2023 Synthesis Report</a:t>
            </a:r>
          </a:p>
        </p:txBody>
      </p:sp>
      <p:sp>
        <p:nvSpPr>
          <p:cNvPr id="3" name="Freeform 13">
            <a:extLst>
              <a:ext uri="{FF2B5EF4-FFF2-40B4-BE49-F238E27FC236}">
                <a16:creationId xmlns:a16="http://schemas.microsoft.com/office/drawing/2014/main" id="{A24E0F31-23B5-E668-AAD8-A7A07E28265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51192A6B-DF7E-3156-4406-AE4D4275CA69}"/>
              </a:ext>
            </a:extLst>
          </p:cNvPr>
          <p:cNvSpPr txBox="1"/>
          <p:nvPr/>
        </p:nvSpPr>
        <p:spPr>
          <a:xfrm>
            <a:off x="389464" y="684091"/>
            <a:ext cx="8132236" cy="1179810"/>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Comparison of anthropogenic effects and uncertainties </a:t>
            </a:r>
          </a:p>
        </p:txBody>
      </p:sp>
    </p:spTree>
    <p:extLst>
      <p:ext uri="{BB962C8B-B14F-4D97-AF65-F5344CB8AC3E}">
        <p14:creationId xmlns:p14="http://schemas.microsoft.com/office/powerpoint/2010/main" val="474580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128ED-1F21-D022-9450-3C0E0A8611B7}"/>
              </a:ext>
            </a:extLst>
          </p:cNvPr>
          <p:cNvSpPr>
            <a:spLocks noGrp="1"/>
          </p:cNvSpPr>
          <p:nvPr>
            <p:ph idx="1"/>
          </p:nvPr>
        </p:nvSpPr>
        <p:spPr>
          <a:xfrm>
            <a:off x="262624" y="2301345"/>
            <a:ext cx="11103875" cy="3017309"/>
          </a:xfrm>
        </p:spPr>
        <p:txBody>
          <a:bodyPr>
            <a:normAutofit fontScale="77500" lnSpcReduction="20000"/>
          </a:bodyPr>
          <a:lstStyle/>
          <a:p>
            <a:r>
              <a:rPr lang="en-GB" sz="2900" dirty="0">
                <a:latin typeface="Calibri" panose="020F0502020204030204" pitchFamily="34" charset="0"/>
                <a:cs typeface="Calibri" panose="020F0502020204030204" pitchFamily="34" charset="0"/>
              </a:rPr>
              <a:t>Define radiative forcing and describe how ozone and land-use change have affected it </a:t>
            </a:r>
            <a:r>
              <a:rPr lang="en-GB" sz="2900">
                <a:latin typeface="Calibri" panose="020F0502020204030204" pitchFamily="34" charset="0"/>
                <a:cs typeface="Calibri" panose="020F0502020204030204" pitchFamily="34" charset="0"/>
              </a:rPr>
              <a:t>since 1750</a:t>
            </a:r>
            <a:r>
              <a:rPr lang="en-GB" sz="2900" dirty="0">
                <a:latin typeface="Calibri" panose="020F0502020204030204" pitchFamily="34" charset="0"/>
                <a:cs typeface="Calibri" panose="020F0502020204030204" pitchFamily="34" charset="0"/>
              </a:rPr>
              <a:t>. In your answer consider the mechanisms by which these drivers influence radiative forcing, their lifetimes, spatial extent, and compare their radiative forcing magnitude against other important drivers.</a:t>
            </a:r>
          </a:p>
          <a:p>
            <a:endParaRPr lang="en-GB" dirty="0"/>
          </a:p>
        </p:txBody>
      </p:sp>
      <p:sp>
        <p:nvSpPr>
          <p:cNvPr id="4" name="Freeform 13">
            <a:extLst>
              <a:ext uri="{FF2B5EF4-FFF2-40B4-BE49-F238E27FC236}">
                <a16:creationId xmlns:a16="http://schemas.microsoft.com/office/drawing/2014/main" id="{44E9B1A2-B1D0-B839-84E0-79C6512E6D8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0063B2F0-C06B-81D4-254B-8896E308CFA9}"/>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2</a:t>
            </a:r>
            <a:r>
              <a:rPr lang="en-US" sz="4000" i="1" spc="-275" baseline="30000" dirty="0">
                <a:solidFill>
                  <a:srgbClr val="46245A"/>
                </a:solidFill>
                <a:latin typeface="DM Sans Bold"/>
              </a:rPr>
              <a:t>nd</a:t>
            </a:r>
            <a:r>
              <a:rPr lang="en-US" sz="4000" i="1" spc="-275" dirty="0">
                <a:solidFill>
                  <a:srgbClr val="46245A"/>
                </a:solidFill>
                <a:latin typeface="DM Sans Bold"/>
              </a:rPr>
              <a:t> Workshop</a:t>
            </a:r>
          </a:p>
        </p:txBody>
      </p:sp>
    </p:spTree>
    <p:extLst>
      <p:ext uri="{BB962C8B-B14F-4D97-AF65-F5344CB8AC3E}">
        <p14:creationId xmlns:p14="http://schemas.microsoft.com/office/powerpoint/2010/main" val="3185957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7C547AA-B51D-4EAA-2A63-0EDE0F82B3FF}"/>
              </a:ext>
            </a:extLst>
          </p:cNvPr>
          <p:cNvSpPr>
            <a:spLocks noGrp="1"/>
          </p:cNvSpPr>
          <p:nvPr>
            <p:ph idx="1"/>
          </p:nvPr>
        </p:nvSpPr>
        <p:spPr>
          <a:xfrm>
            <a:off x="389465" y="1498082"/>
            <a:ext cx="6217098" cy="5120241"/>
          </a:xfrm>
        </p:spPr>
        <p:txBody>
          <a:bodyPr rtlCol="0">
            <a:normAutofit lnSpcReduction="10000"/>
          </a:bodyPr>
          <a:lstStyle/>
          <a:p>
            <a:r>
              <a:rPr lang="en-GB" sz="2000" dirty="0">
                <a:latin typeface="Calibri" panose="020F0502020204030204" pitchFamily="34" charset="0"/>
                <a:cs typeface="Calibri" panose="020F0502020204030204" pitchFamily="34" charset="0"/>
              </a:rPr>
              <a:t>Human activities alter Earth’s climate by changing the balance between incoming solar radiation and outgoing infrared radiation through </a:t>
            </a:r>
            <a:r>
              <a:rPr lang="en-GB" sz="2000" b="1" dirty="0">
                <a:latin typeface="Calibri" panose="020F0502020204030204" pitchFamily="34" charset="0"/>
                <a:cs typeface="Calibri" panose="020F0502020204030204" pitchFamily="34" charset="0"/>
              </a:rPr>
              <a:t>aerosols, ozone, and land-use change</a:t>
            </a:r>
            <a:r>
              <a:rPr lang="en-GB" sz="2000" dirty="0">
                <a:latin typeface="Calibri" panose="020F0502020204030204" pitchFamily="34" charset="0"/>
                <a:cs typeface="Calibri" panose="020F0502020204030204" pitchFamily="34" charset="0"/>
              </a:rPr>
              <a:t>.</a:t>
            </a:r>
          </a:p>
          <a:p>
            <a:pPr lvl="1"/>
            <a:r>
              <a:rPr lang="en-GB" sz="1734" b="1" dirty="0">
                <a:latin typeface="Calibri" panose="020F0502020204030204" pitchFamily="34" charset="0"/>
                <a:cs typeface="Calibri" panose="020F0502020204030204" pitchFamily="34" charset="0"/>
              </a:rPr>
              <a:t>Aerosols</a:t>
            </a:r>
            <a:r>
              <a:rPr lang="en-GB" sz="1734" dirty="0">
                <a:latin typeface="Calibri" panose="020F0502020204030204" pitchFamily="34" charset="0"/>
                <a:cs typeface="Calibri" panose="020F0502020204030204" pitchFamily="34" charset="0"/>
              </a:rPr>
              <a:t> (days–weeks lifetime) mostly </a:t>
            </a:r>
            <a:r>
              <a:rPr lang="en-GB" sz="1734" i="1" dirty="0">
                <a:latin typeface="Calibri" panose="020F0502020204030204" pitchFamily="34" charset="0"/>
                <a:cs typeface="Calibri" panose="020F0502020204030204" pitchFamily="34" charset="0"/>
              </a:rPr>
              <a:t>cool</a:t>
            </a:r>
            <a:r>
              <a:rPr lang="en-GB" sz="1734" dirty="0">
                <a:latin typeface="Calibri" panose="020F0502020204030204" pitchFamily="34" charset="0"/>
                <a:cs typeface="Calibri" panose="020F0502020204030204" pitchFamily="34" charset="0"/>
              </a:rPr>
              <a:t> the climate via increased albedo (direct reflection and cloud effects), making them the largest non-CO₂ anthropogenic forcing.</a:t>
            </a:r>
          </a:p>
          <a:p>
            <a:pPr lvl="1"/>
            <a:r>
              <a:rPr lang="en-GB" sz="1734" b="1" dirty="0">
                <a:latin typeface="Calibri" panose="020F0502020204030204" pitchFamily="34" charset="0"/>
                <a:cs typeface="Calibri" panose="020F0502020204030204" pitchFamily="34" charset="0"/>
              </a:rPr>
              <a:t>Tropospheric ozone</a:t>
            </a:r>
            <a:r>
              <a:rPr lang="en-GB" sz="1734" dirty="0">
                <a:latin typeface="Calibri" panose="020F0502020204030204" pitchFamily="34" charset="0"/>
                <a:cs typeface="Calibri" panose="020F0502020204030204" pitchFamily="34" charset="0"/>
              </a:rPr>
              <a:t> (weeks lifetime) acts as a short-lived greenhouse gas, </a:t>
            </a:r>
            <a:r>
              <a:rPr lang="en-GB" sz="1734" i="1" dirty="0">
                <a:latin typeface="Calibri" panose="020F0502020204030204" pitchFamily="34" charset="0"/>
                <a:cs typeface="Calibri" panose="020F0502020204030204" pitchFamily="34" charset="0"/>
              </a:rPr>
              <a:t>warming</a:t>
            </a:r>
            <a:r>
              <a:rPr lang="en-GB" sz="1734" dirty="0">
                <a:latin typeface="Calibri" panose="020F0502020204030204" pitchFamily="34" charset="0"/>
                <a:cs typeface="Calibri" panose="020F0502020204030204" pitchFamily="34" charset="0"/>
              </a:rPr>
              <a:t> the climate by absorbing both UV and infrared radiation.</a:t>
            </a:r>
          </a:p>
          <a:p>
            <a:pPr lvl="1"/>
            <a:r>
              <a:rPr lang="en-GB" sz="1734" b="1" dirty="0">
                <a:latin typeface="Calibri" panose="020F0502020204030204" pitchFamily="34" charset="0"/>
                <a:cs typeface="Calibri" panose="020F0502020204030204" pitchFamily="34" charset="0"/>
              </a:rPr>
              <a:t>Land-use change</a:t>
            </a:r>
            <a:r>
              <a:rPr lang="en-GB" sz="1734" dirty="0">
                <a:latin typeface="Calibri" panose="020F0502020204030204" pitchFamily="34" charset="0"/>
                <a:cs typeface="Calibri" panose="020F0502020204030204" pitchFamily="34" charset="0"/>
              </a:rPr>
              <a:t> modifies surface albedo, generally producing a </a:t>
            </a:r>
            <a:r>
              <a:rPr lang="en-GB" sz="1734" i="1" dirty="0">
                <a:latin typeface="Calibri" panose="020F0502020204030204" pitchFamily="34" charset="0"/>
                <a:cs typeface="Calibri" panose="020F0502020204030204" pitchFamily="34" charset="0"/>
              </a:rPr>
              <a:t>net cooling</a:t>
            </a:r>
            <a:r>
              <a:rPr lang="en-GB" sz="1734" dirty="0">
                <a:latin typeface="Calibri" panose="020F0502020204030204" pitchFamily="34" charset="0"/>
                <a:cs typeface="Calibri" panose="020F0502020204030204" pitchFamily="34" charset="0"/>
              </a:rPr>
              <a:t> with strong regional variation.</a:t>
            </a:r>
          </a:p>
          <a:p>
            <a:r>
              <a:rPr lang="en-GB" sz="2000" dirty="0">
                <a:latin typeface="Calibri" panose="020F0502020204030204" pitchFamily="34" charset="0"/>
                <a:cs typeface="Calibri" panose="020F0502020204030204" pitchFamily="34" charset="0"/>
              </a:rPr>
              <a:t>Overall, these “other” anthropogenic forcings are shorter-lived than CO₂ but exert significant and, to varying extents, uncertain, influences on Earth’s energy budget </a:t>
            </a:r>
            <a:r>
              <a:rPr lang="en-GB" sz="2000">
                <a:latin typeface="Calibri" panose="020F0502020204030204" pitchFamily="34" charset="0"/>
                <a:cs typeface="Calibri" panose="020F0502020204030204" pitchFamily="34" charset="0"/>
              </a:rPr>
              <a:t>and climate.</a:t>
            </a:r>
            <a:endParaRPr lang="en-GB" sz="2000" dirty="0">
              <a:latin typeface="Calibri" panose="020F0502020204030204" pitchFamily="34" charset="0"/>
              <a:cs typeface="Calibri" panose="020F0502020204030204" pitchFamily="34" charset="0"/>
            </a:endParaRPr>
          </a:p>
          <a:p>
            <a:endParaRPr lang="en-GB" altLang="en-US" sz="1800" dirty="0"/>
          </a:p>
          <a:p>
            <a:endParaRPr lang="en-GB" sz="1800" dirty="0">
              <a:latin typeface="Calibri" panose="020F0502020204030204" pitchFamily="34" charset="0"/>
              <a:cs typeface="Calibri" panose="020F0502020204030204" pitchFamily="34" charset="0"/>
            </a:endParaRPr>
          </a:p>
        </p:txBody>
      </p:sp>
      <p:sp>
        <p:nvSpPr>
          <p:cNvPr id="3" name="TextBox 14">
            <a:extLst>
              <a:ext uri="{FF2B5EF4-FFF2-40B4-BE49-F238E27FC236}">
                <a16:creationId xmlns:a16="http://schemas.microsoft.com/office/drawing/2014/main" id="{AF68D400-DEB6-92F7-3EDB-5A9701421D5E}"/>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a:ln>
                  <a:noFill/>
                </a:ln>
                <a:solidFill>
                  <a:srgbClr val="46245A"/>
                </a:solidFill>
                <a:effectLst/>
                <a:uLnTx/>
                <a:uFillTx/>
                <a:latin typeface="DM Sans Bold"/>
                <a:ea typeface="ＭＳ Ｐゴシック" panose="020B0600070205080204" pitchFamily="34" charset="-128"/>
                <a:cs typeface="+mn-cs"/>
              </a:rPr>
              <a:t>Lecture Summary</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6832029" y="0"/>
            <a:ext cx="5356923"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8700898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293870" y="3956457"/>
            <a:ext cx="10995018" cy="2486923"/>
          </a:xfrm>
        </p:spPr>
        <p:txBody>
          <a:bodyPr rtlCol="0">
            <a:normAutofit/>
          </a:bodyPr>
          <a:lstStyle/>
          <a:p>
            <a:pPr marL="0" indent="0">
              <a:buNone/>
            </a:pPr>
            <a:r>
              <a:rPr lang="en-GB" sz="2000" b="1" dirty="0">
                <a:latin typeface="Calibri" panose="020F0502020204030204" pitchFamily="34" charset="0"/>
                <a:cs typeface="Calibri" panose="020F0502020204030204" pitchFamily="34" charset="0"/>
              </a:rPr>
              <a:t>In next week’s lecture:</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Outline the main observational records used to reconstruct temperature and carbon dioxide, and the timescales over which they apply</a:t>
            </a:r>
          </a:p>
          <a:p>
            <a:r>
              <a:rPr lang="en-GB" sz="2000" dirty="0">
                <a:latin typeface="Calibri" panose="020F0502020204030204" pitchFamily="34" charset="0"/>
                <a:cs typeface="Calibri" panose="020F0502020204030204" pitchFamily="34" charset="0"/>
              </a:rPr>
              <a:t>Explain the key lines of evidence linking human activity to rising global temperatures</a:t>
            </a:r>
          </a:p>
          <a:p>
            <a:r>
              <a:rPr lang="en-GB" sz="2000" dirty="0">
                <a:latin typeface="Calibri" panose="020F0502020204030204" pitchFamily="34" charset="0"/>
                <a:cs typeface="Calibri" panose="020F0502020204030204" pitchFamily="34" charset="0"/>
              </a:rPr>
              <a:t>Discuss the main sources of uncertainty in climate science, and why some aspects of climate change are better understood than others</a:t>
            </a: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293870" y="2682459"/>
            <a:ext cx="12191999" cy="1179810"/>
          </a:xfrm>
          <a:prstGeom prst="rect">
            <a:avLst/>
          </a:prstGeom>
        </p:spPr>
        <p:txBody>
          <a:bodyPr wrap="square" lIns="0" tIns="0" rIns="0" bIns="0" rtlCol="0" anchor="t">
            <a:spAutoFit/>
          </a:bodyPr>
          <a:lstStyle/>
          <a:p>
            <a:pPr defTabSz="609660">
              <a:lnSpc>
                <a:spcPts val="4574"/>
              </a:lnSpc>
              <a:defRPr/>
            </a:pPr>
            <a:r>
              <a:rPr kumimoji="0" lang="en-US" sz="3200" b="0" i="1" u="none" strike="noStrike" kern="1200" cap="none" spc="-275" normalizeH="0" baseline="0" noProof="0" dirty="0">
                <a:ln>
                  <a:noFill/>
                </a:ln>
                <a:solidFill>
                  <a:prstClr val="white"/>
                </a:solidFill>
                <a:effectLst/>
                <a:uLnTx/>
                <a:uFillTx/>
                <a:latin typeface="DM Sans Bold"/>
                <a:ea typeface="+mn-ea"/>
                <a:cs typeface="+mn-cs"/>
              </a:rPr>
              <a:t>Next Week: The Evidence Base for Climate Change </a:t>
            </a:r>
          </a:p>
          <a:p>
            <a:pPr marL="0" marR="0" lvl="0" indent="0" algn="l" defTabSz="609660" rtl="0" eaLnBrk="1" fontAlgn="auto" latinLnBrk="0" hangingPunct="1">
              <a:lnSpc>
                <a:spcPts val="4574"/>
              </a:lnSpc>
              <a:spcBef>
                <a:spcPts val="0"/>
              </a:spcBef>
              <a:spcAft>
                <a:spcPts val="0"/>
              </a:spcAft>
              <a:buClrTx/>
              <a:buSzTx/>
              <a:buFontTx/>
              <a:buNone/>
              <a:tabLst/>
              <a:defRPr/>
            </a:pPr>
            <a:endParaRPr kumimoji="0" lang="en-US" sz="4000" b="0" i="1" u="none" strike="noStrike" kern="1200" cap="none" spc="-275" normalizeH="0" baseline="0" noProof="0" dirty="0">
              <a:ln>
                <a:noFill/>
              </a:ln>
              <a:solidFill>
                <a:prstClr val="white"/>
              </a:solidFill>
              <a:effectLst/>
              <a:uLnTx/>
              <a:uFillTx/>
              <a:latin typeface="DM Sans Bold"/>
              <a:ea typeface="+mn-ea"/>
              <a:cs typeface="+mn-cs"/>
            </a:endParaRPr>
          </a:p>
        </p:txBody>
      </p:sp>
      <p:sp>
        <p:nvSpPr>
          <p:cNvPr id="8" name="Freeform 13">
            <a:extLst>
              <a:ext uri="{FF2B5EF4-FFF2-40B4-BE49-F238E27FC236}">
                <a16:creationId xmlns:a16="http://schemas.microsoft.com/office/drawing/2014/main" id="{3AFD2C1F-0CE2-C515-F07D-A179C1F1DDED}"/>
              </a:ext>
            </a:extLst>
          </p:cNvPr>
          <p:cNvSpPr/>
          <p:nvPr/>
        </p:nvSpPr>
        <p:spPr>
          <a:xfrm>
            <a:off x="9431867"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990502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54451E5-B158-3B70-86A4-00EDA8E3A94B}"/>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F255A2D4-D613-BDBC-AE7F-77C87DD1367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AA4401DC-A64F-FC89-9256-12FBBA2B2296}"/>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E988E693-C905-C255-0B01-1B533A0EE32B}"/>
              </a:ext>
            </a:extLst>
          </p:cNvPr>
          <p:cNvSpPr txBox="1"/>
          <p:nvPr/>
        </p:nvSpPr>
        <p:spPr>
          <a:xfrm>
            <a:off x="914400" y="4170916"/>
            <a:ext cx="8207298" cy="780214"/>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a:t>
            </a:r>
            <a:r>
              <a:rPr lang="en-US" sz="2133" b="1" dirty="0">
                <a:solidFill>
                  <a:srgbClr val="FAB700"/>
                </a:solidFill>
                <a:latin typeface="DM Sans" pitchFamily="2" charset="0"/>
              </a:rPr>
              <a:t>4</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 Questions and Answers</a:t>
            </a:r>
          </a:p>
        </p:txBody>
      </p:sp>
    </p:spTree>
    <p:extLst>
      <p:ext uri="{BB962C8B-B14F-4D97-AF65-F5344CB8AC3E}">
        <p14:creationId xmlns:p14="http://schemas.microsoft.com/office/powerpoint/2010/main" val="4185383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5|8.5|44.7|6.5|28.4|20.7"/>
</p:tagLst>
</file>

<file path=ppt/tags/tag2.xml><?xml version="1.0" encoding="utf-8"?>
<p:tagLst xmlns:a="http://schemas.openxmlformats.org/drawingml/2006/main" xmlns:r="http://schemas.openxmlformats.org/officeDocument/2006/relationships" xmlns:p="http://schemas.openxmlformats.org/presentationml/2006/main">
  <p:tag name="TIMING" val="|145.5"/>
</p:tagLst>
</file>

<file path=ppt/tags/tag3.xml><?xml version="1.0" encoding="utf-8"?>
<p:tagLst xmlns:a="http://schemas.openxmlformats.org/drawingml/2006/main" xmlns:r="http://schemas.openxmlformats.org/officeDocument/2006/relationships" xmlns:p="http://schemas.openxmlformats.org/presentationml/2006/main">
  <p:tag name="TIMING" val="|95.3"/>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1074</TotalTime>
  <Words>3720</Words>
  <Application>Microsoft Macintosh PowerPoint</Application>
  <PresentationFormat>Widescreen</PresentationFormat>
  <Paragraphs>348</Paragraphs>
  <Slides>40</Slides>
  <Notes>24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40</vt:i4>
      </vt:variant>
    </vt:vector>
  </HeadingPairs>
  <TitlesOfParts>
    <vt:vector size="53" baseType="lpstr">
      <vt:lpstr>等线</vt:lpstr>
      <vt:lpstr>-apple-system</vt:lpstr>
      <vt:lpstr>Aptos</vt:lpstr>
      <vt:lpstr>Arial</vt:lpstr>
      <vt:lpstr>Calibri</vt:lpstr>
      <vt:lpstr>DM Sans</vt:lpstr>
      <vt:lpstr>DM Sans Bold</vt:lpstr>
      <vt:lpstr>Open Sans</vt:lpstr>
      <vt:lpstr>roboto</vt:lpstr>
      <vt:lpstr>Times New Roman</vt:lpstr>
      <vt:lpstr>Wingdings</vt:lpstr>
      <vt:lpstr>1_Office Theme</vt:lpstr>
      <vt:lpstr>2_Office Theme</vt:lpstr>
      <vt:lpstr>PowerPoint Presentation</vt:lpstr>
      <vt:lpstr>Mid-Semester Surveys are Open!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Affects vertical distribution of energy – not a radiative forcing</vt:lpstr>
      <vt:lpstr>Affects vertical distribution of energy – not a radiative forcing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Simon O'Meara</cp:lastModifiedBy>
  <cp:revision>36</cp:revision>
  <dcterms:created xsi:type="dcterms:W3CDTF">2025-12-11T10:10:20Z</dcterms:created>
  <dcterms:modified xsi:type="dcterms:W3CDTF">2026-02-26T18:28:25Z</dcterms:modified>
</cp:coreProperties>
</file>