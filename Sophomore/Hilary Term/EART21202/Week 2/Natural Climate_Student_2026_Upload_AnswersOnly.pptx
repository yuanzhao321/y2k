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Lst>
  <p:notesMasterIdLst>
    <p:notesMasterId r:id="rId29"/>
  </p:notesMasterIdLst>
  <p:sldIdLst>
    <p:sldId id="679" r:id="rId6"/>
    <p:sldId id="1363" r:id="rId7"/>
    <p:sldId id="1365" r:id="rId8"/>
    <p:sldId id="1229" r:id="rId9"/>
    <p:sldId id="723" r:id="rId10"/>
    <p:sldId id="1359" r:id="rId11"/>
    <p:sldId id="1360" r:id="rId12"/>
    <p:sldId id="1230" r:id="rId13"/>
    <p:sldId id="1231" r:id="rId14"/>
    <p:sldId id="1235" r:id="rId15"/>
    <p:sldId id="1232" r:id="rId16"/>
    <p:sldId id="1242" r:id="rId17"/>
    <p:sldId id="1233" r:id="rId18"/>
    <p:sldId id="1243" r:id="rId19"/>
    <p:sldId id="1234" r:id="rId20"/>
    <p:sldId id="1244" r:id="rId21"/>
    <p:sldId id="1236" r:id="rId22"/>
    <p:sldId id="1245" r:id="rId23"/>
    <p:sldId id="1237" r:id="rId24"/>
    <p:sldId id="1357" r:id="rId25"/>
    <p:sldId id="1362" r:id="rId26"/>
    <p:sldId id="1358" r:id="rId27"/>
    <p:sldId id="1361" r:id="rId28"/>
  </p:sldIdLst>
  <p:sldSz cx="18288000" cy="10287000"/>
  <p:notesSz cx="6858000" cy="9144000"/>
  <p:embeddedFontLst>
    <p:embeddedFont>
      <p:font typeface="ＭＳ Ｐゴシック" panose="020B0600070205080204" pitchFamily="34" charset="-128"/>
      <p:regular r:id="rId30"/>
    </p:embeddedFont>
    <p:embeddedFont>
      <p:font typeface="DM Sans" pitchFamily="2" charset="77"/>
      <p:regular r:id="rId31"/>
      <p:bold r:id="rId32"/>
      <p:italic r:id="rId33"/>
      <p:boldItalic r:id="rId34"/>
    </p:embeddedFont>
    <p:embeddedFont>
      <p:font typeface="DM Sans Bold"/>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245A"/>
    <a:srgbClr val="FAB700"/>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88"/>
    <p:restoredTop sz="88647"/>
  </p:normalViewPr>
  <p:slideViewPr>
    <p:cSldViewPr snapToGrid="0">
      <p:cViewPr varScale="1">
        <p:scale>
          <a:sx n="88" d="100"/>
          <a:sy n="88" d="100"/>
        </p:scale>
        <p:origin x="1064"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font" Target="fonts/font5.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7.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S PGothic"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F77B0-4ABD-C2AE-C585-222458A05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64A27-E196-2056-0B1D-7E2AD803B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42DF3-88CC-1DBE-497F-B11121B9B179}"/>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A792EAB7-E192-6614-FFAD-1F8B19C3D4D7}"/>
              </a:ext>
            </a:extLst>
          </p:cNvPr>
          <p:cNvSpPr>
            <a:spLocks noGrp="1"/>
          </p:cNvSpPr>
          <p:nvPr>
            <p:ph type="sldNum" sz="quarter" idx="5"/>
          </p:nvPr>
        </p:nvSpPr>
        <p:spPr/>
        <p:txBody>
          <a:bodyPr/>
          <a:lstStyle/>
          <a:p>
            <a:fld id="{C6B3559C-4BE5-4262-A2E7-0EADDD5F845B}" type="slidenum">
              <a:rPr lang="en-GB" smtClean="0"/>
              <a:t>2</a:t>
            </a:fld>
            <a:endParaRPr lang="en-GB"/>
          </a:p>
        </p:txBody>
      </p:sp>
    </p:spTree>
    <p:extLst>
      <p:ext uri="{BB962C8B-B14F-4D97-AF65-F5344CB8AC3E}">
        <p14:creationId xmlns:p14="http://schemas.microsoft.com/office/powerpoint/2010/main" val="165433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4544-D2F5-5B9B-5A34-25D67FAF1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34DD9-2348-4BAC-DF8B-87C763762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59156-3EB4-85B1-4BCE-AD487A1508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E4646D-29AF-BBEB-C5E1-96AC2A88374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007668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53894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51666-D518-94F4-19D1-781492C3C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3117E-16F4-3123-AA6E-E51C1313C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DE152F-F465-4024-BF77-75096C41DC1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6848BD7-F101-EB9A-01BA-C1C30AE71E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849865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CDE58-C2BE-DBB1-303B-4B6F45C12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7C415-3878-5262-01C5-E9C5FC77B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C62B2A-8962-91C4-A2E2-761B4867E1D9}"/>
              </a:ext>
            </a:extLst>
          </p:cNvPr>
          <p:cNvSpPr>
            <a:spLocks noGrp="1"/>
          </p:cNvSpPr>
          <p:nvPr>
            <p:ph type="body" idx="1"/>
          </p:nvPr>
        </p:nvSpPr>
        <p:spPr/>
        <p:txBody>
          <a:bodyPr/>
          <a:lstStyle/>
          <a:p>
            <a:endParaRPr lang="en-GB" sz="1200" b="0" i="0" kern="1200" dirty="0">
              <a:solidFill>
                <a:schemeClr val="tx1"/>
              </a:solidFill>
              <a:effectLst/>
              <a:latin typeface="DM Sans" pitchFamily="2" charset="0"/>
              <a:ea typeface="+mn-ea"/>
              <a:cs typeface="+mn-cs"/>
            </a:endParaRPr>
          </a:p>
          <a:p>
            <a:endParaRPr lang="en-US" dirty="0"/>
          </a:p>
        </p:txBody>
      </p:sp>
      <p:sp>
        <p:nvSpPr>
          <p:cNvPr id="4" name="Slide Number Placeholder 3">
            <a:extLst>
              <a:ext uri="{FF2B5EF4-FFF2-40B4-BE49-F238E27FC236}">
                <a16:creationId xmlns:a16="http://schemas.microsoft.com/office/drawing/2014/main" id="{AD9FF928-3AFF-5D00-83A7-0D9B6AD3340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664734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FE1A-E3E4-852B-8546-14F06FB4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3E90D-FDAA-DE71-E0A4-5A152E558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67E2B-A1DB-9F1B-879D-81AF3230DF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D5E7C4F-2C28-79D8-79BD-AB9CE61D0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73353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B29C-9187-2DCC-F5CB-261B520E8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0F9D5-8C11-B9D9-0679-9B5738EA2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BFF42-5BDD-887F-9D5E-99B16E2AA2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536E1C-6165-91F4-A861-77776D5DB59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06995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D3E4C-6603-C02C-6FC8-5B901935B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2FF09-BC1D-81C5-0A83-72CF735E7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A36F1-D631-5153-EE99-FEAA48CDA48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B23C4E2-5497-BC8D-FC2F-FC58C7434C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682469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AB70-0B21-D263-3DB5-DD69349C4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85CF0-3854-9F3B-8477-0F717FC7C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3067F-2140-D771-1A0F-3204F30124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EBD038-4671-58A9-9AC1-3A3F50B277A3}"/>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526717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F7FB3-D107-1C90-C962-18723385A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C4C35-7051-A9C1-01A4-C5289F593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754BA-6239-6B05-4751-77D4F30E93C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9FA8D5B-6E9D-D1B9-B3AF-4EEF3D59E6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080167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68E7-8086-F03F-64FA-85D612E2F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846FF-C68F-B33E-21FD-E3408F5C4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7B617-012E-441A-8EBF-8A55580B52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72EE20-661B-BA70-A892-5AD887CDC4A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45151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09650-CDD4-2BB5-002E-EC2FC90E8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01D45-8126-42AA-07D1-FB8C2899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B2C704-C83A-2F0D-D0D7-2E422F6788C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18A7DF-A7CC-C441-7D74-74D33C15B2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25680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40FC3-2D0B-E2AC-0F4E-FBF6DABE3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A7812-9DFF-6E15-FA5C-3309BCEE8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3F276-7D61-8007-0181-998D5E8185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F1021C-7D98-E8BE-E1F8-BED6A687CB0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390609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085D-493A-ABC4-F19B-8554C61AE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462A7-BE7B-FDF5-CB27-5AF27AF07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CC00EA-7F72-6101-FC46-3DA1F5FA4B2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5F2913E-5988-6F69-40F0-42ED83EFB0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8624437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5632E-026B-598D-A3D3-68E2D58D6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95D1F-B238-3ADF-4042-8DCCC36DA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1DE68-7541-FD70-4589-4DCB6F94E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FE9A50-AB33-F636-B054-60576AC74F5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982249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673EB-9B2D-9AE2-A0A5-CC254991B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B4318-2B29-8465-6F0F-C4697210A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B5615F-BFEA-027A-60CD-4235B03F6C7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32C1C75-9709-8022-B549-B3EF352C79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621629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3DCB4-2B7F-19CA-83CA-E7582BF61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61AD6-9738-A462-99E4-16529E33A2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A92D0-00E9-47E3-546C-C2E6158190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AEE152-3F32-AE85-9C09-4A41E5C4601B}"/>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112225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DED09-EC79-C38C-D542-0AD9046DD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A75D7-58DF-1FF4-84C6-81ADC479CA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1BE36-6606-7357-897C-B702EE1E3A8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C0E7BBE-7B01-D077-CB63-3BC544D27B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940057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1BAAD-682C-48B9-6EE0-7E0CD5CF0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24D22-7593-E530-AC43-0F6E81AF2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C1A5BD-1BAD-031C-8EFC-B62755CC21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408C84-13BB-4A42-7925-4D276215CE87}"/>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999350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5B45-09C6-DEE5-1DBE-3F291DEA6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EA45B-62A6-0FD7-752B-E127DF16A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61F4A-558D-F1A7-6E7E-435E9D5201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5A7B782-78A0-AB7B-7E99-33560120C1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10191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FDBE-6D8F-4965-24EC-817B5C3D4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26731-50C1-142F-9F6C-6B77A10E5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A8466-A83E-8450-D48B-0998A6A71C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9E5E5F-B357-33EC-B825-D5CF7F37F69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216479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17" indent="0" algn="ctr">
              <a:buNone/>
              <a:defRPr>
                <a:solidFill>
                  <a:schemeClr val="tx1">
                    <a:tint val="75000"/>
                  </a:schemeClr>
                </a:solidFill>
              </a:defRPr>
            </a:lvl2pPr>
            <a:lvl3pPr marL="685835" indent="0" algn="ctr">
              <a:buNone/>
              <a:defRPr>
                <a:solidFill>
                  <a:schemeClr val="tx1">
                    <a:tint val="75000"/>
                  </a:schemeClr>
                </a:solidFill>
              </a:defRPr>
            </a:lvl3pPr>
            <a:lvl4pPr marL="1028753" indent="0" algn="ctr">
              <a:buNone/>
              <a:defRPr>
                <a:solidFill>
                  <a:schemeClr val="tx1">
                    <a:tint val="75000"/>
                  </a:schemeClr>
                </a:solidFill>
              </a:defRPr>
            </a:lvl4pPr>
            <a:lvl5pPr marL="1371669" indent="0" algn="ctr">
              <a:buNone/>
              <a:defRPr>
                <a:solidFill>
                  <a:schemeClr val="tx1">
                    <a:tint val="75000"/>
                  </a:schemeClr>
                </a:solidFill>
              </a:defRPr>
            </a:lvl5pPr>
            <a:lvl6pPr marL="1714586" indent="0" algn="ctr">
              <a:buNone/>
              <a:defRPr>
                <a:solidFill>
                  <a:schemeClr val="tx1">
                    <a:tint val="75000"/>
                  </a:schemeClr>
                </a:solidFill>
              </a:defRPr>
            </a:lvl6pPr>
            <a:lvl7pPr marL="2057502" indent="0" algn="ctr">
              <a:buNone/>
              <a:defRPr>
                <a:solidFill>
                  <a:schemeClr val="tx1">
                    <a:tint val="75000"/>
                  </a:schemeClr>
                </a:solidFill>
              </a:defRPr>
            </a:lvl7pPr>
            <a:lvl8pPr marL="2400420" indent="0" algn="ctr">
              <a:buNone/>
              <a:defRPr>
                <a:solidFill>
                  <a:schemeClr val="tx1">
                    <a:tint val="75000"/>
                  </a:schemeClr>
                </a:solidFill>
              </a:defRPr>
            </a:lvl8pPr>
            <a:lvl9pPr marL="274333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64942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9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17" indent="0">
              <a:buNone/>
              <a:defRPr sz="1350">
                <a:solidFill>
                  <a:schemeClr val="tx1">
                    <a:tint val="75000"/>
                  </a:schemeClr>
                </a:solidFill>
              </a:defRPr>
            </a:lvl2pPr>
            <a:lvl3pPr marL="685835" indent="0">
              <a:buNone/>
              <a:defRPr sz="1200">
                <a:solidFill>
                  <a:schemeClr val="tx1">
                    <a:tint val="75000"/>
                  </a:schemeClr>
                </a:solidFill>
              </a:defRPr>
            </a:lvl3pPr>
            <a:lvl4pPr marL="1028753" indent="0">
              <a:buNone/>
              <a:defRPr sz="1050">
                <a:solidFill>
                  <a:schemeClr val="tx1">
                    <a:tint val="75000"/>
                  </a:schemeClr>
                </a:solidFill>
              </a:defRPr>
            </a:lvl4pPr>
            <a:lvl5pPr marL="1371669" indent="0">
              <a:buNone/>
              <a:defRPr sz="1050">
                <a:solidFill>
                  <a:schemeClr val="tx1">
                    <a:tint val="75000"/>
                  </a:schemeClr>
                </a:solidFill>
              </a:defRPr>
            </a:lvl5pPr>
            <a:lvl6pPr marL="1714586" indent="0">
              <a:buNone/>
              <a:defRPr sz="1050">
                <a:solidFill>
                  <a:schemeClr val="tx1">
                    <a:tint val="75000"/>
                  </a:schemeClr>
                </a:solidFill>
              </a:defRPr>
            </a:lvl6pPr>
            <a:lvl7pPr marL="2057502" indent="0">
              <a:buNone/>
              <a:defRPr sz="1050">
                <a:solidFill>
                  <a:schemeClr val="tx1">
                    <a:tint val="75000"/>
                  </a:schemeClr>
                </a:solidFill>
              </a:defRPr>
            </a:lvl7pPr>
            <a:lvl8pPr marL="2400420" indent="0">
              <a:buNone/>
              <a:defRPr sz="1050">
                <a:solidFill>
                  <a:schemeClr val="tx1">
                    <a:tint val="75000"/>
                  </a:schemeClr>
                </a:solidFill>
              </a:defRPr>
            </a:lvl8pPr>
            <a:lvl9pPr marL="274333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57419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04766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4"/>
            <a:ext cx="4040189"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2"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6"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49292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59017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15305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4" y="273055"/>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5" cy="46910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71346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17" indent="0">
              <a:buNone/>
              <a:defRPr sz="2100"/>
            </a:lvl2pPr>
            <a:lvl3pPr marL="685835" indent="0">
              <a:buNone/>
              <a:defRPr sz="1800"/>
            </a:lvl3pPr>
            <a:lvl4pPr marL="1028753" indent="0">
              <a:buNone/>
              <a:defRPr sz="1500"/>
            </a:lvl4pPr>
            <a:lvl5pPr marL="1371669" indent="0">
              <a:buNone/>
              <a:defRPr sz="1500"/>
            </a:lvl5pPr>
            <a:lvl6pPr marL="1714586" indent="0">
              <a:buNone/>
              <a:defRPr sz="1500"/>
            </a:lvl6pPr>
            <a:lvl7pPr marL="2057502" indent="0">
              <a:buNone/>
              <a:defRPr sz="1500"/>
            </a:lvl7pPr>
            <a:lvl8pPr marL="2400420" indent="0">
              <a:buNone/>
              <a:defRPr sz="1500"/>
            </a:lvl8pPr>
            <a:lvl9pPr marL="2743338" indent="0">
              <a:buNone/>
              <a:defRPr sz="1500"/>
            </a:lvl9pPr>
          </a:lstStyle>
          <a:p>
            <a:endParaRPr lang="en-US"/>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25102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50850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20297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28114206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204747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2/9/26</a:t>
            </a:fld>
            <a:endParaRPr lang="en-US"/>
          </a:p>
        </p:txBody>
      </p:sp>
      <p:sp>
        <p:nvSpPr>
          <p:cNvPr id="5" name="Footer Placeholder 4"/>
          <p:cNvSpPr>
            <a:spLocks noGrp="1"/>
          </p:cNvSpPr>
          <p:nvPr>
            <p:ph type="ftr" sz="quarter" idx="3"/>
          </p:nvPr>
        </p:nvSpPr>
        <p:spPr>
          <a:xfrm>
            <a:off x="3124200" y="6356354"/>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4"/>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304603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85835" rtl="0" eaLnBrk="1" latinLnBrk="0" hangingPunct="1">
        <a:spcBef>
          <a:spcPct val="0"/>
        </a:spcBef>
        <a:buNone/>
        <a:defRPr sz="3300" kern="1200">
          <a:solidFill>
            <a:schemeClr val="tx1"/>
          </a:solidFill>
          <a:latin typeface="DM Sans" pitchFamily="2" charset="0"/>
          <a:ea typeface="+mj-ea"/>
          <a:cs typeface="+mj-cs"/>
        </a:defRPr>
      </a:lvl1pPr>
    </p:titleStyle>
    <p:bodyStyle>
      <a:lvl1pPr marL="257187" indent="-257187" algn="l" defTabSz="685835"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41" indent="-214325" algn="l" defTabSz="685835"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294" indent="-171459" algn="l" defTabSz="685835"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10"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128"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045"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8961"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1879"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797"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3" algn="l" defTabSz="685835" rtl="0" eaLnBrk="1" latinLnBrk="0" hangingPunct="1">
        <a:defRPr sz="1350" kern="1200">
          <a:solidFill>
            <a:schemeClr val="tx1"/>
          </a:solidFill>
          <a:latin typeface="+mn-lt"/>
          <a:ea typeface="+mn-ea"/>
          <a:cs typeface="+mn-cs"/>
        </a:defRPr>
      </a:lvl4pPr>
      <a:lvl5pPr marL="1371669"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2"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8" algn="l" defTabSz="68583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7.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0.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4.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71601" y="5143502"/>
            <a:ext cx="14764385" cy="1380443"/>
          </a:xfrm>
          <a:prstGeom prst="rect">
            <a:avLst/>
          </a:prstGeom>
        </p:spPr>
        <p:txBody>
          <a:bodyPr wrap="square" lIns="0" tIns="0" rIns="0" bIns="0" rtlCol="0" anchor="t">
            <a:spAutoFit/>
          </a:bodyPr>
          <a:lstStyle/>
          <a:p>
            <a:pPr defTabSz="914445">
              <a:lnSpc>
                <a:spcPts val="11000"/>
              </a:lnSpc>
              <a:defRPr/>
            </a:pPr>
            <a:r>
              <a:rPr lang="en-GB" altLang="en-US" sz="8801" b="1" dirty="0">
                <a:solidFill>
                  <a:prstClr val="white"/>
                </a:solidFill>
                <a:latin typeface="DM Sans"/>
                <a:ea typeface="MS PGothic" panose="020B0600070205080204" pitchFamily="34" charset="-128"/>
              </a:rPr>
              <a:t>Global Climate Change</a:t>
            </a:r>
            <a:endParaRPr lang="en-US" sz="8799" b="1" dirty="0">
              <a:solidFill>
                <a:prstClr val="white"/>
              </a:solidFill>
              <a:latin typeface="DM Sans" pitchFamily="2" charset="0"/>
              <a:ea typeface="MS PGothic" panose="020B0600070205080204" pitchFamily="34" charset="-128"/>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600" y="6256375"/>
            <a:ext cx="7772400" cy="2585901"/>
          </a:xfrm>
          <a:prstGeom prst="rect">
            <a:avLst/>
          </a:prstGeom>
        </p:spPr>
        <p:txBody>
          <a:bodyPr wrap="square" lIns="0" tIns="0" rIns="0" bIns="0" rtlCol="0" anchor="t">
            <a:spAutoFit/>
          </a:bodyPr>
          <a:lstStyle/>
          <a:p>
            <a:pPr defTabSz="914445">
              <a:lnSpc>
                <a:spcPts val="11000"/>
              </a:lnSpc>
              <a:defRPr/>
            </a:pPr>
            <a:r>
              <a:rPr lang="en-US" sz="3200" b="1" dirty="0">
                <a:solidFill>
                  <a:srgbClr val="FAB700"/>
                </a:solidFill>
                <a:latin typeface="DM Sans" pitchFamily="2" charset="0"/>
                <a:ea typeface="MS PGothic" panose="020B0600070205080204" pitchFamily="34" charset="-128"/>
              </a:rPr>
              <a:t>Week 2, Questions and Answers</a:t>
            </a:r>
          </a:p>
          <a:p>
            <a:pPr defTabSz="914445">
              <a:lnSpc>
                <a:spcPts val="11000"/>
              </a:lnSpc>
              <a:defRPr/>
            </a:pPr>
            <a:r>
              <a:rPr lang="en-US" sz="3200" b="1" dirty="0">
                <a:solidFill>
                  <a:srgbClr val="FAB700"/>
                </a:solidFill>
                <a:latin typeface="DM Sans" pitchFamily="2" charset="0"/>
                <a:ea typeface="MS PGothic" panose="020B0600070205080204" pitchFamily="34" charset="-128"/>
              </a:rPr>
              <a:t>Dr Thomas </a:t>
            </a:r>
            <a:r>
              <a:rPr lang="en-US" sz="3200" b="1" dirty="0" err="1">
                <a:solidFill>
                  <a:srgbClr val="FAB700"/>
                </a:solidFill>
                <a:latin typeface="DM Sans" pitchFamily="2" charset="0"/>
                <a:ea typeface="MS PGothic" panose="020B0600070205080204" pitchFamily="34" charset="-128"/>
              </a:rPr>
              <a:t>Bannan</a:t>
            </a:r>
            <a:r>
              <a:rPr lang="en-US" sz="3200" b="1" dirty="0">
                <a:solidFill>
                  <a:srgbClr val="FAB700"/>
                </a:solidFill>
                <a:latin typeface="DM Sans" pitchFamily="2" charset="0"/>
                <a:ea typeface="MS PGothic" panose="020B0600070205080204" pitchFamily="34" charset="-128"/>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58BD44F-1FAC-B4D6-E3D1-6252C5C17A89}"/>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DD2C2D0B-D1CF-FDD0-1A69-9189FE3990A7}"/>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3" name="Rectangle 3">
            <a:extLst>
              <a:ext uri="{FF2B5EF4-FFF2-40B4-BE49-F238E27FC236}">
                <a16:creationId xmlns:a16="http://schemas.microsoft.com/office/drawing/2014/main" id="{FC23EC79-31BD-41A4-0E10-6434D77AAF1F}"/>
              </a:ext>
            </a:extLst>
          </p:cNvPr>
          <p:cNvSpPr txBox="1">
            <a:spLocks noChangeArrowheads="1"/>
          </p:cNvSpPr>
          <p:nvPr/>
        </p:nvSpPr>
        <p:spPr>
          <a:xfrm>
            <a:off x="8733" y="-509623"/>
            <a:ext cx="17136267" cy="6788945"/>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685800" indent="-685800">
              <a:buFontTx/>
              <a:buChar char="•"/>
            </a:pPr>
            <a:endParaRPr lang="en-US" altLang="en-US" sz="2800" dirty="0">
              <a:ea typeface="ＭＳ Ｐゴシック" panose="020B0600070205080204" pitchFamily="34" charset="-128"/>
            </a:endParaRPr>
          </a:p>
        </p:txBody>
      </p:sp>
      <p:sp>
        <p:nvSpPr>
          <p:cNvPr id="4" name="TextBox 5">
            <a:extLst>
              <a:ext uri="{FF2B5EF4-FFF2-40B4-BE49-F238E27FC236}">
                <a16:creationId xmlns:a16="http://schemas.microsoft.com/office/drawing/2014/main" id="{8EB378A2-7501-4CAB-DE7E-1BBD9E57FF7E}"/>
              </a:ext>
            </a:extLst>
          </p:cNvPr>
          <p:cNvSpPr txBox="1"/>
          <p:nvPr/>
        </p:nvSpPr>
        <p:spPr>
          <a:xfrm>
            <a:off x="1012372" y="1517528"/>
            <a:ext cx="16601140" cy="859210"/>
          </a:xfrm>
          <a:prstGeom prst="rect">
            <a:avLst/>
          </a:prstGeom>
        </p:spPr>
        <p:txBody>
          <a:bodyPr wrap="square" lIns="0" tIns="0" rIns="0" bIns="0" rtlCol="0" anchor="t">
            <a:spAutoFit/>
          </a:bodyPr>
          <a:lstStyle/>
          <a:p>
            <a:pPr>
              <a:lnSpc>
                <a:spcPts val="6719"/>
              </a:lnSpc>
            </a:pPr>
            <a:r>
              <a:rPr lang="en-US" sz="5599" b="1" i="1" dirty="0">
                <a:solidFill>
                  <a:srgbClr val="46245A"/>
                </a:solidFill>
                <a:latin typeface="DM Sans" pitchFamily="2" charset="0"/>
              </a:rPr>
              <a:t>Class Discussion (5 mins) </a:t>
            </a:r>
          </a:p>
        </p:txBody>
      </p:sp>
      <p:sp>
        <p:nvSpPr>
          <p:cNvPr id="5" name="TextBox 4">
            <a:extLst>
              <a:ext uri="{FF2B5EF4-FFF2-40B4-BE49-F238E27FC236}">
                <a16:creationId xmlns:a16="http://schemas.microsoft.com/office/drawing/2014/main" id="{C91C3A1C-2F01-E482-E1EF-1E833F124350}"/>
              </a:ext>
            </a:extLst>
          </p:cNvPr>
          <p:cNvSpPr txBox="1"/>
          <p:nvPr/>
        </p:nvSpPr>
        <p:spPr>
          <a:xfrm>
            <a:off x="870857" y="2476045"/>
            <a:ext cx="13904685" cy="1569660"/>
          </a:xfrm>
          <a:prstGeom prst="rect">
            <a:avLst/>
          </a:prstGeom>
          <a:noFill/>
        </p:spPr>
        <p:txBody>
          <a:bodyPr wrap="square">
            <a:spAutoFit/>
          </a:bodyPr>
          <a:lstStyle/>
          <a:p>
            <a:pPr marL="285750" indent="-285750">
              <a:buFont typeface="Arial" panose="020B0604020202020204" pitchFamily="34" charset="0"/>
              <a:buChar char="•"/>
            </a:pPr>
            <a:r>
              <a:rPr lang="en-GB" sz="3200" dirty="0">
                <a:latin typeface="Calibri" panose="020F0502020204030204" pitchFamily="34" charset="0"/>
                <a:cs typeface="Calibri" panose="020F0502020204030204" pitchFamily="34" charset="0"/>
              </a:rPr>
              <a:t>In past climate records, does temperature change before or after CO₂?</a:t>
            </a:r>
          </a:p>
          <a:p>
            <a:pPr marL="285750" indent="-285750">
              <a:buFont typeface="Arial" panose="020B0604020202020204" pitchFamily="34" charset="0"/>
              <a:buChar char="•"/>
            </a:pPr>
            <a:r>
              <a:rPr lang="en-GB" sz="3200" dirty="0">
                <a:latin typeface="Calibri" panose="020F0502020204030204" pitchFamily="34" charset="0"/>
                <a:cs typeface="Calibri" panose="020F0502020204030204" pitchFamily="34" charset="0"/>
              </a:rPr>
              <a:t>What starts the change first: orbital changes, temperature, or CO₂?</a:t>
            </a:r>
          </a:p>
          <a:p>
            <a:pPr marL="285750" indent="-285750">
              <a:buFont typeface="Arial" panose="020B0604020202020204" pitchFamily="34" charset="0"/>
              <a:buChar char="•"/>
            </a:pPr>
            <a:r>
              <a:rPr lang="en-GB" sz="3200" dirty="0">
                <a:latin typeface="Calibri" panose="020F0502020204030204" pitchFamily="34" charset="0"/>
                <a:cs typeface="Calibri" panose="020F0502020204030204" pitchFamily="34" charset="0"/>
              </a:rPr>
              <a:t>From prior knowledge what drives these observed changes in CO</a:t>
            </a:r>
            <a:r>
              <a:rPr lang="en-GB" sz="3200" baseline="-25000" dirty="0">
                <a:latin typeface="Calibri" panose="020F0502020204030204" pitchFamily="34" charset="0"/>
                <a:cs typeface="Calibri" panose="020F0502020204030204" pitchFamily="34" charset="0"/>
              </a:rPr>
              <a:t>2</a:t>
            </a:r>
            <a:r>
              <a:rPr lang="en-GB" sz="3200" dirty="0">
                <a:latin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91E1E5DC-F51F-6187-4EFD-3B42624F9964}"/>
              </a:ext>
            </a:extLst>
          </p:cNvPr>
          <p:cNvPicPr>
            <a:picLocks noChangeAspect="1"/>
          </p:cNvPicPr>
          <p:nvPr/>
        </p:nvPicPr>
        <p:blipFill>
          <a:blip r:embed="rId5"/>
          <a:stretch>
            <a:fillRect/>
          </a:stretch>
        </p:blipFill>
        <p:spPr>
          <a:xfrm>
            <a:off x="1143000" y="4403889"/>
            <a:ext cx="9844314" cy="521336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7636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F7A23F2-3757-F4A0-25EB-C5E99FF7E0D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2406304-1482-D34B-0679-030DB1A17948}"/>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72CEDACA-24E0-5837-C4F1-6CC4568FA35F}"/>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6000" b="0" i="1" u="none" strike="noStrike" kern="1200" cap="none" spc="-413"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3D7D1AE0-6EDA-8E5C-90C5-718E5866112A}"/>
              </a:ext>
            </a:extLst>
          </p:cNvPr>
          <p:cNvSpPr txBox="1"/>
          <p:nvPr/>
        </p:nvSpPr>
        <p:spPr>
          <a:xfrm>
            <a:off x="584198" y="1910995"/>
            <a:ext cx="17369974" cy="8217634"/>
          </a:xfrm>
          <a:prstGeom prst="rect">
            <a:avLst/>
          </a:prstGeom>
          <a:noFill/>
        </p:spPr>
        <p:txBody>
          <a:bodyPr wrap="square">
            <a:spAutoFit/>
          </a:bodyPr>
          <a:lstStyle/>
          <a:p>
            <a:r>
              <a:rPr lang="en-GB" sz="2400" b="1" dirty="0">
                <a:solidFill>
                  <a:srgbClr val="FF0000"/>
                </a:solidFill>
                <a:latin typeface="Calibri" panose="020F0502020204030204" pitchFamily="34" charset="0"/>
                <a:cs typeface="Calibri" panose="020F0502020204030204" pitchFamily="34" charset="0"/>
              </a:rPr>
              <a:t>1. Orbital changes start the process</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Milankovitch cycles change how solar energy is distributed across Earth, especially at high latitudes.</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They affect seasons and ice sheets, not CO₂ directly.</a:t>
            </a:r>
          </a:p>
          <a:p>
            <a:endParaRPr lang="en-GB" sz="2400" b="1" dirty="0">
              <a:solidFill>
                <a:schemeClr val="bg1"/>
              </a:solidFill>
              <a:latin typeface="Calibri" panose="020F0502020204030204" pitchFamily="34" charset="0"/>
              <a:cs typeface="Calibri" panose="020F0502020204030204" pitchFamily="34" charset="0"/>
            </a:endParaRPr>
          </a:p>
          <a:p>
            <a:r>
              <a:rPr lang="en-GB" sz="2400" b="1" dirty="0">
                <a:solidFill>
                  <a:srgbClr val="FF0000"/>
                </a:solidFill>
                <a:latin typeface="Calibri" panose="020F0502020204030204" pitchFamily="34" charset="0"/>
                <a:cs typeface="Calibri" panose="020F0502020204030204" pitchFamily="34" charset="0"/>
              </a:rPr>
              <a:t>2. Temperature usually changes first</a:t>
            </a:r>
            <a:endParaRPr lang="en-GB" sz="2400" dirty="0">
              <a:solidFill>
                <a:srgbClr val="FF0000"/>
              </a:solidFill>
              <a:latin typeface="Calibri" panose="020F0502020204030204" pitchFamily="34" charset="0"/>
              <a:cs typeface="Calibri" panose="020F0502020204030204" pitchFamily="34" charset="0"/>
            </a:endParaRPr>
          </a:p>
          <a:p>
            <a:r>
              <a:rPr lang="en-GB" sz="2400" dirty="0">
                <a:solidFill>
                  <a:schemeClr val="bg1"/>
                </a:solidFill>
                <a:latin typeface="Calibri" panose="020F0502020204030204" pitchFamily="34" charset="0"/>
                <a:cs typeface="Calibri" panose="020F0502020204030204" pitchFamily="34" charset="0"/>
              </a:rPr>
              <a:t>Orbital changes → warming or cooling</a:t>
            </a:r>
          </a:p>
          <a:p>
            <a:r>
              <a:rPr lang="en-GB" sz="2400" dirty="0">
                <a:solidFill>
                  <a:schemeClr val="bg1"/>
                </a:solidFill>
                <a:latin typeface="Calibri" panose="020F0502020204030204" pitchFamily="34" charset="0"/>
                <a:cs typeface="Calibri" panose="020F0502020204030204" pitchFamily="34" charset="0"/>
              </a:rPr>
              <a:t>Warming → ice melts</a:t>
            </a:r>
          </a:p>
          <a:p>
            <a:r>
              <a:rPr lang="en-GB" sz="2400" dirty="0">
                <a:solidFill>
                  <a:schemeClr val="bg1"/>
                </a:solidFill>
                <a:latin typeface="Calibri" panose="020F0502020204030204" pitchFamily="34" charset="0"/>
                <a:cs typeface="Calibri" panose="020F0502020204030204" pitchFamily="34" charset="0"/>
              </a:rPr>
              <a:t>Cooling → ice grows</a:t>
            </a:r>
          </a:p>
          <a:p>
            <a:r>
              <a:rPr lang="en-GB" sz="2400" dirty="0">
                <a:solidFill>
                  <a:schemeClr val="bg1"/>
                </a:solidFill>
                <a:latin typeface="Calibri" panose="020F0502020204030204" pitchFamily="34" charset="0"/>
                <a:cs typeface="Calibri" panose="020F0502020204030204" pitchFamily="34" charset="0"/>
              </a:rPr>
              <a:t>Ice core data show that temperature often leads CO₂ by a few hundred years during ice age cycles.</a:t>
            </a:r>
          </a:p>
          <a:p>
            <a:endParaRPr lang="en-GB" sz="2400" b="1" dirty="0">
              <a:solidFill>
                <a:schemeClr val="bg1"/>
              </a:solidFill>
              <a:latin typeface="Calibri" panose="020F0502020204030204" pitchFamily="34" charset="0"/>
              <a:cs typeface="Calibri" panose="020F0502020204030204" pitchFamily="34" charset="0"/>
            </a:endParaRPr>
          </a:p>
          <a:p>
            <a:r>
              <a:rPr lang="en-GB" sz="2400" b="1" dirty="0">
                <a:solidFill>
                  <a:srgbClr val="FF0000"/>
                </a:solidFill>
                <a:latin typeface="Calibri" panose="020F0502020204030204" pitchFamily="34" charset="0"/>
                <a:cs typeface="Calibri" panose="020F0502020204030204" pitchFamily="34" charset="0"/>
              </a:rPr>
              <a:t>3. CO₂ responds, in large parts through the oceans</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The oceans store far more carbon than the atmosphere.</a:t>
            </a:r>
          </a:p>
          <a:p>
            <a:r>
              <a:rPr lang="en-GB" sz="2400" dirty="0">
                <a:solidFill>
                  <a:schemeClr val="bg1"/>
                </a:solidFill>
                <a:latin typeface="Calibri" panose="020F0502020204030204" pitchFamily="34" charset="0"/>
                <a:cs typeface="Calibri" panose="020F0502020204030204" pitchFamily="34" charset="0"/>
              </a:rPr>
              <a:t>Cold oceans absorb more CO₂</a:t>
            </a:r>
          </a:p>
          <a:p>
            <a:r>
              <a:rPr lang="en-GB" sz="2400" dirty="0">
                <a:solidFill>
                  <a:schemeClr val="bg1"/>
                </a:solidFill>
                <a:latin typeface="Calibri" panose="020F0502020204030204" pitchFamily="34" charset="0"/>
                <a:cs typeface="Calibri" panose="020F0502020204030204" pitchFamily="34" charset="0"/>
              </a:rPr>
              <a:t>Warm oceans release CO₂</a:t>
            </a:r>
          </a:p>
          <a:p>
            <a:r>
              <a:rPr lang="en-GB" sz="2400" dirty="0">
                <a:solidFill>
                  <a:schemeClr val="bg1"/>
                </a:solidFill>
                <a:latin typeface="Calibri" panose="020F0502020204030204" pitchFamily="34" charset="0"/>
                <a:cs typeface="Calibri" panose="020F0502020204030204" pitchFamily="34" charset="0"/>
              </a:rPr>
              <a:t>So when climate warms, CO₂ rises; when climate cools, CO₂ falls.</a:t>
            </a:r>
          </a:p>
          <a:p>
            <a:endParaRPr lang="en-GB" sz="2400" b="1" dirty="0">
              <a:solidFill>
                <a:schemeClr val="bg1"/>
              </a:solidFill>
              <a:latin typeface="Calibri" panose="020F0502020204030204" pitchFamily="34" charset="0"/>
              <a:cs typeface="Calibri" panose="020F0502020204030204" pitchFamily="34" charset="0"/>
            </a:endParaRPr>
          </a:p>
          <a:p>
            <a:r>
              <a:rPr lang="en-GB" sz="2400" b="1" dirty="0">
                <a:solidFill>
                  <a:srgbClr val="FF0000"/>
                </a:solidFill>
                <a:latin typeface="Calibri" panose="020F0502020204030204" pitchFamily="34" charset="0"/>
                <a:cs typeface="Calibri" panose="020F0502020204030204" pitchFamily="34" charset="0"/>
              </a:rPr>
              <a:t>4. CO₂ then acts as a feedback</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Once CO₂ increases, it amplifies warming through the greenhouse effect.</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This helps turn small orbital changes into large global temperature changes.</a:t>
            </a:r>
          </a:p>
          <a:p>
            <a:endParaRPr lang="en-GB" sz="2400" b="1" dirty="0">
              <a:solidFill>
                <a:schemeClr val="bg1"/>
              </a:solidFill>
              <a:latin typeface="Calibri" panose="020F0502020204030204" pitchFamily="34" charset="0"/>
              <a:cs typeface="Calibri" panose="020F0502020204030204" pitchFamily="34" charset="0"/>
            </a:endParaRPr>
          </a:p>
          <a:p>
            <a:r>
              <a:rPr lang="en-GB" sz="2400" b="1" dirty="0">
                <a:solidFill>
                  <a:srgbClr val="FF0000"/>
                </a:solidFill>
                <a:latin typeface="Calibri" panose="020F0502020204030204" pitchFamily="34" charset="0"/>
                <a:cs typeface="Calibri" panose="020F0502020204030204" pitchFamily="34" charset="0"/>
              </a:rPr>
              <a:t>Overall:</a:t>
            </a:r>
            <a:br>
              <a:rPr lang="en-GB" sz="2400" dirty="0">
                <a:solidFill>
                  <a:schemeClr val="bg1"/>
                </a:solidFill>
                <a:latin typeface="Calibri" panose="020F0502020204030204" pitchFamily="34" charset="0"/>
                <a:cs typeface="Calibri" panose="020F0502020204030204" pitchFamily="34" charset="0"/>
              </a:rPr>
            </a:br>
            <a:r>
              <a:rPr lang="en-GB" sz="2400" dirty="0">
                <a:solidFill>
                  <a:schemeClr val="bg1"/>
                </a:solidFill>
                <a:latin typeface="Calibri" panose="020F0502020204030204" pitchFamily="34" charset="0"/>
                <a:cs typeface="Calibri" panose="020F0502020204030204" pitchFamily="34" charset="0"/>
              </a:rPr>
              <a:t>Orbital changes trigger climate change → temperature changes first → CO₂ follows and strengthens the change.</a:t>
            </a:r>
          </a:p>
        </p:txBody>
      </p:sp>
    </p:spTree>
    <p:extLst>
      <p:ext uri="{BB962C8B-B14F-4D97-AF65-F5344CB8AC3E}">
        <p14:creationId xmlns:p14="http://schemas.microsoft.com/office/powerpoint/2010/main" val="606515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Q1. </a:t>
            </a:r>
          </a:p>
        </p:txBody>
      </p:sp>
      <p:sp>
        <p:nvSpPr>
          <p:cNvPr id="6" name="TextBox 5">
            <a:extLst>
              <a:ext uri="{FF2B5EF4-FFF2-40B4-BE49-F238E27FC236}">
                <a16:creationId xmlns:a16="http://schemas.microsoft.com/office/drawing/2014/main" id="{80322433-ED7D-589D-C1B7-3BFAE22CFBD1}"/>
              </a:ext>
            </a:extLst>
          </p:cNvPr>
          <p:cNvSpPr txBox="1"/>
          <p:nvPr/>
        </p:nvSpPr>
        <p:spPr>
          <a:xfrm>
            <a:off x="584197" y="2423345"/>
            <a:ext cx="12911669" cy="954107"/>
          </a:xfrm>
          <a:prstGeom prst="rect">
            <a:avLst/>
          </a:prstGeom>
          <a:noFill/>
        </p:spPr>
        <p:txBody>
          <a:bodyPr wrap="square">
            <a:spAutoFit/>
          </a:bodyPr>
          <a:lstStyle/>
          <a:p>
            <a:pPr algn="l"/>
            <a:r>
              <a:rPr lang="en-GB" sz="2800" i="0" u="none" strike="noStrike" dirty="0">
                <a:effectLst/>
                <a:latin typeface="Calibri" panose="020F0502020204030204" pitchFamily="34" charset="0"/>
                <a:cs typeface="Calibri" panose="020F0502020204030204" pitchFamily="34" charset="0"/>
              </a:rPr>
              <a:t>What is the difference between natural variability and human-induced climate change? How do we separate their effects in climate studies?</a:t>
            </a:r>
          </a:p>
        </p:txBody>
      </p:sp>
    </p:spTree>
    <p:extLst>
      <p:ext uri="{BB962C8B-B14F-4D97-AF65-F5344CB8AC3E}">
        <p14:creationId xmlns:p14="http://schemas.microsoft.com/office/powerpoint/2010/main" val="2396318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FD39F18-9092-6B46-5F44-8920DE86A55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68038F9-BDF9-928D-95D3-E7C1AE997699}"/>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F8191ACB-7CF4-01F6-7749-E693409166DF}"/>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Q1.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7" name="TextBox 6">
            <a:extLst>
              <a:ext uri="{FF2B5EF4-FFF2-40B4-BE49-F238E27FC236}">
                <a16:creationId xmlns:a16="http://schemas.microsoft.com/office/drawing/2014/main" id="{AEEEB59D-4EA4-E052-2925-00A23125638D}"/>
              </a:ext>
            </a:extLst>
          </p:cNvPr>
          <p:cNvSpPr txBox="1"/>
          <p:nvPr/>
        </p:nvSpPr>
        <p:spPr>
          <a:xfrm>
            <a:off x="584197" y="2423345"/>
            <a:ext cx="12911669" cy="954107"/>
          </a:xfrm>
          <a:prstGeom prst="rect">
            <a:avLst/>
          </a:prstGeom>
          <a:noFill/>
        </p:spPr>
        <p:txBody>
          <a:bodyPr wrap="square">
            <a:spAutoFit/>
          </a:bodyPr>
          <a:lstStyle/>
          <a:p>
            <a:pPr algn="l"/>
            <a:r>
              <a:rPr lang="en-GB" sz="2800" i="0" u="none" strike="noStrike" dirty="0">
                <a:solidFill>
                  <a:schemeClr val="bg1"/>
                </a:solidFill>
                <a:effectLst/>
                <a:latin typeface="Calibri" panose="020F0502020204030204" pitchFamily="34" charset="0"/>
                <a:cs typeface="Calibri" panose="020F0502020204030204" pitchFamily="34" charset="0"/>
              </a:rPr>
              <a:t>What is the difference between natural variability and human-induced climate change? How do we separate their effects in climate studies?</a:t>
            </a:r>
          </a:p>
        </p:txBody>
      </p:sp>
      <p:sp>
        <p:nvSpPr>
          <p:cNvPr id="8" name="TextBox 7">
            <a:extLst>
              <a:ext uri="{FF2B5EF4-FFF2-40B4-BE49-F238E27FC236}">
                <a16:creationId xmlns:a16="http://schemas.microsoft.com/office/drawing/2014/main" id="{BECB54D3-2734-DE7F-F2B9-296241CE9C21}"/>
              </a:ext>
            </a:extLst>
          </p:cNvPr>
          <p:cNvSpPr txBox="1"/>
          <p:nvPr/>
        </p:nvSpPr>
        <p:spPr>
          <a:xfrm>
            <a:off x="584197" y="3772297"/>
            <a:ext cx="11506203" cy="6109365"/>
          </a:xfrm>
          <a:prstGeom prst="rect">
            <a:avLst/>
          </a:prstGeom>
          <a:noFill/>
        </p:spPr>
        <p:txBody>
          <a:bodyPr wrap="square">
            <a:spAutoFit/>
          </a:bodyPr>
          <a:lstStyle/>
          <a:p>
            <a:pPr marL="285750" indent="-285750" algn="l">
              <a:buFont typeface="Arial" panose="020B0604020202020204" pitchFamily="34" charset="0"/>
              <a:buChar char="•"/>
            </a:pPr>
            <a:r>
              <a:rPr lang="en-GB" sz="2300" i="0" u="none" strike="noStrike" dirty="0">
                <a:solidFill>
                  <a:srgbClr val="FF0000"/>
                </a:solidFill>
                <a:effectLst/>
                <a:latin typeface="Calibri" panose="020F0502020204030204" pitchFamily="34" charset="0"/>
                <a:cs typeface="Calibri" panose="020F0502020204030204" pitchFamily="34" charset="0"/>
              </a:rPr>
              <a:t>Natural variability refers to changes in the climate system caused by processes such as orbital variations, ocean circulation, solar activity, and volcanic eruptions.</a:t>
            </a:r>
          </a:p>
          <a:p>
            <a:pPr marL="285750" indent="-285750" algn="l">
              <a:buFont typeface="Arial" panose="020B0604020202020204" pitchFamily="34" charset="0"/>
              <a:buChar char="•"/>
            </a:pPr>
            <a:endParaRPr lang="en-GB" sz="23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300" i="0" u="none" strike="noStrike" dirty="0">
                <a:solidFill>
                  <a:srgbClr val="FF0000"/>
                </a:solidFill>
                <a:effectLst/>
                <a:latin typeface="Calibri" panose="020F0502020204030204" pitchFamily="34" charset="0"/>
                <a:cs typeface="Calibri" panose="020F0502020204030204" pitchFamily="34" charset="0"/>
              </a:rPr>
              <a:t>Human-induced climate change, is driven from activities like burning fossil fuels, deforestation, and industrial emissions that alter greenhouse gas concentrations.</a:t>
            </a:r>
          </a:p>
          <a:p>
            <a:pPr marL="285750" indent="-285750" algn="l">
              <a:buFont typeface="Arial" panose="020B0604020202020204" pitchFamily="34" charset="0"/>
              <a:buChar char="•"/>
            </a:pPr>
            <a:endParaRPr lang="en-GB" sz="23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300" i="0" u="none" strike="noStrike" dirty="0">
                <a:solidFill>
                  <a:srgbClr val="FF0000"/>
                </a:solidFill>
                <a:effectLst/>
                <a:latin typeface="Calibri" panose="020F0502020204030204" pitchFamily="34" charset="0"/>
                <a:cs typeface="Calibri" panose="020F0502020204030204" pitchFamily="34" charset="0"/>
              </a:rPr>
              <a:t>Observational records, including temperature and precipitation data, can be compared with global climate models (</a:t>
            </a:r>
            <a:r>
              <a:rPr lang="en-GB" sz="2300" i="1" u="none" strike="noStrike" dirty="0">
                <a:solidFill>
                  <a:srgbClr val="FF0000"/>
                </a:solidFill>
                <a:effectLst/>
                <a:latin typeface="Calibri" panose="020F0502020204030204" pitchFamily="34" charset="0"/>
                <a:cs typeface="Calibri" panose="020F0502020204030204" pitchFamily="34" charset="0"/>
              </a:rPr>
              <a:t>week 7</a:t>
            </a:r>
            <a:r>
              <a:rPr lang="en-GB" sz="2300" i="0" u="none" strike="noStrike" dirty="0">
                <a:solidFill>
                  <a:srgbClr val="FF0000"/>
                </a:solidFill>
                <a:effectLst/>
                <a:latin typeface="Calibri" panose="020F0502020204030204" pitchFamily="34" charset="0"/>
                <a:cs typeface="Calibri" panose="020F0502020204030204" pitchFamily="34" charset="0"/>
              </a:rPr>
              <a:t>) to separate natural variability from anthropogenic effects.</a:t>
            </a:r>
          </a:p>
          <a:p>
            <a:pPr marL="285750" indent="-285750" algn="l">
              <a:buFont typeface="Arial" panose="020B0604020202020204" pitchFamily="34" charset="0"/>
              <a:buChar char="•"/>
            </a:pPr>
            <a:endParaRPr lang="en-GB" sz="23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300" i="0" u="none" strike="noStrike" dirty="0">
                <a:solidFill>
                  <a:srgbClr val="FF0000"/>
                </a:solidFill>
                <a:effectLst/>
                <a:latin typeface="Calibri" panose="020F0502020204030204" pitchFamily="34" charset="0"/>
                <a:cs typeface="Calibri" panose="020F0502020204030204" pitchFamily="34" charset="0"/>
              </a:rPr>
              <a:t>Fingerprinting techniques are used to identify patterns specific to human influence, such as stratospheric cooling combined with surface warming</a:t>
            </a:r>
            <a:r>
              <a:rPr lang="en-GB" sz="2300" dirty="0">
                <a:solidFill>
                  <a:srgbClr val="FF0000"/>
                </a:solidFill>
                <a:latin typeface="Calibri" panose="020F0502020204030204" pitchFamily="34" charset="0"/>
                <a:cs typeface="Calibri" panose="020F0502020204030204" pitchFamily="34" charset="0"/>
              </a:rPr>
              <a:t>, which further demonstrates that humans are driving the change that is plotted on the right-hand figure. </a:t>
            </a:r>
            <a:endParaRPr lang="en-GB" sz="23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endParaRPr lang="en-GB" sz="23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300" i="0" u="none" strike="noStrike" dirty="0">
                <a:solidFill>
                  <a:srgbClr val="FF0000"/>
                </a:solidFill>
                <a:effectLst/>
                <a:latin typeface="Calibri" panose="020F0502020204030204" pitchFamily="34" charset="0"/>
                <a:cs typeface="Calibri" panose="020F0502020204030204" pitchFamily="34" charset="0"/>
              </a:rPr>
              <a:t>Proxy records and historical data (largely from ice core data, </a:t>
            </a:r>
            <a:r>
              <a:rPr lang="en-GB" sz="2300" i="1" u="none" strike="noStrike" dirty="0">
                <a:solidFill>
                  <a:srgbClr val="FF0000"/>
                </a:solidFill>
                <a:effectLst/>
                <a:latin typeface="Calibri" panose="020F0502020204030204" pitchFamily="34" charset="0"/>
                <a:cs typeface="Calibri" panose="020F0502020204030204" pitchFamily="34" charset="0"/>
              </a:rPr>
              <a:t>more in week </a:t>
            </a:r>
            <a:r>
              <a:rPr lang="en-GB" sz="2300" i="0" u="none" strike="noStrike" dirty="0">
                <a:solidFill>
                  <a:srgbClr val="FF0000"/>
                </a:solidFill>
                <a:effectLst/>
                <a:latin typeface="Calibri" panose="020F0502020204030204" pitchFamily="34" charset="0"/>
                <a:cs typeface="Calibri" panose="020F0502020204030204" pitchFamily="34" charset="0"/>
              </a:rPr>
              <a:t>5) provides essential context for understanding natural variability and what would be happening without our influence</a:t>
            </a:r>
          </a:p>
        </p:txBody>
      </p:sp>
      <p:pic>
        <p:nvPicPr>
          <p:cNvPr id="9" name="Picture 8">
            <a:extLst>
              <a:ext uri="{FF2B5EF4-FFF2-40B4-BE49-F238E27FC236}">
                <a16:creationId xmlns:a16="http://schemas.microsoft.com/office/drawing/2014/main" id="{9DCA67D0-AC14-336F-543C-532C00DBA3B5}"/>
              </a:ext>
            </a:extLst>
          </p:cNvPr>
          <p:cNvPicPr>
            <a:picLocks noChangeAspect="1"/>
          </p:cNvPicPr>
          <p:nvPr/>
        </p:nvPicPr>
        <p:blipFill>
          <a:blip r:embed="rId5"/>
          <a:stretch>
            <a:fillRect/>
          </a:stretch>
        </p:blipFill>
        <p:spPr>
          <a:xfrm>
            <a:off x="12293727" y="3780263"/>
            <a:ext cx="5694436" cy="5694436"/>
          </a:xfrm>
          <a:prstGeom prst="rect">
            <a:avLst/>
          </a:prstGeom>
        </p:spPr>
      </p:pic>
    </p:spTree>
    <p:extLst>
      <p:ext uri="{BB962C8B-B14F-4D97-AF65-F5344CB8AC3E}">
        <p14:creationId xmlns:p14="http://schemas.microsoft.com/office/powerpoint/2010/main" val="284372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F23CC-E5FA-E66B-7164-58063852A68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6D99442-BBBC-083C-ED07-3E73EC1BFFE9}"/>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78FA95B0-1868-FE59-AB3A-6ECEB07FEF36}"/>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Q2. </a:t>
            </a:r>
          </a:p>
        </p:txBody>
      </p:sp>
      <p:sp>
        <p:nvSpPr>
          <p:cNvPr id="6" name="TextBox 5">
            <a:extLst>
              <a:ext uri="{FF2B5EF4-FFF2-40B4-BE49-F238E27FC236}">
                <a16:creationId xmlns:a16="http://schemas.microsoft.com/office/drawing/2014/main" id="{A94C5040-ADF3-20AA-0926-D46E3FEFAC7D}"/>
              </a:ext>
            </a:extLst>
          </p:cNvPr>
          <p:cNvSpPr txBox="1"/>
          <p:nvPr/>
        </p:nvSpPr>
        <p:spPr>
          <a:xfrm>
            <a:off x="584197" y="2423345"/>
            <a:ext cx="14841333" cy="523220"/>
          </a:xfrm>
          <a:prstGeom prst="rect">
            <a:avLst/>
          </a:prstGeom>
          <a:noFill/>
        </p:spPr>
        <p:txBody>
          <a:bodyPr wrap="square">
            <a:spAutoFit/>
          </a:bodyPr>
          <a:lstStyle/>
          <a:p>
            <a:r>
              <a:rPr lang="en-GB" sz="2800" i="0" u="none" strike="noStrike" dirty="0">
                <a:effectLst/>
                <a:latin typeface="Calibri" panose="020F0502020204030204" pitchFamily="34" charset="0"/>
                <a:cs typeface="Calibri" panose="020F0502020204030204" pitchFamily="34" charset="0"/>
              </a:rPr>
              <a:t>Which components of the Earth system interact to produce natural climate variability?</a:t>
            </a:r>
          </a:p>
        </p:txBody>
      </p:sp>
    </p:spTree>
    <p:extLst>
      <p:ext uri="{BB962C8B-B14F-4D97-AF65-F5344CB8AC3E}">
        <p14:creationId xmlns:p14="http://schemas.microsoft.com/office/powerpoint/2010/main" val="3494338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4C870A9B-31BE-F74D-257B-837DFBB4147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73AA233-E1A7-E5BA-673A-A58854D52E13}"/>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200C2709-C96E-9E7C-7CAB-08D35A4AEBC3}"/>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Q2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6" name="TextBox 5">
            <a:extLst>
              <a:ext uri="{FF2B5EF4-FFF2-40B4-BE49-F238E27FC236}">
                <a16:creationId xmlns:a16="http://schemas.microsoft.com/office/drawing/2014/main" id="{1FC4A498-30E8-A1E7-6D45-2813DD0BB6B0}"/>
              </a:ext>
            </a:extLst>
          </p:cNvPr>
          <p:cNvSpPr txBox="1"/>
          <p:nvPr/>
        </p:nvSpPr>
        <p:spPr>
          <a:xfrm>
            <a:off x="584197" y="2423345"/>
            <a:ext cx="15735855" cy="523220"/>
          </a:xfrm>
          <a:prstGeom prst="rect">
            <a:avLst/>
          </a:prstGeom>
          <a:noFill/>
        </p:spPr>
        <p:txBody>
          <a:bodyPr wrap="square">
            <a:spAutoFit/>
          </a:bodyPr>
          <a:lstStyle/>
          <a:p>
            <a:r>
              <a:rPr lang="en-GB" sz="2800" i="0" u="none" strike="noStrike" dirty="0">
                <a:solidFill>
                  <a:schemeClr val="bg1"/>
                </a:solidFill>
                <a:effectLst/>
                <a:latin typeface="Calibri" panose="020F0502020204030204" pitchFamily="34" charset="0"/>
                <a:cs typeface="Calibri" panose="020F0502020204030204" pitchFamily="34" charset="0"/>
              </a:rPr>
              <a:t>Which components of the Earth system interact to produce natural climate variability?</a:t>
            </a:r>
          </a:p>
        </p:txBody>
      </p:sp>
      <p:sp>
        <p:nvSpPr>
          <p:cNvPr id="5" name="TextBox 4">
            <a:extLst>
              <a:ext uri="{FF2B5EF4-FFF2-40B4-BE49-F238E27FC236}">
                <a16:creationId xmlns:a16="http://schemas.microsoft.com/office/drawing/2014/main" id="{326BCCCC-BCEB-26D9-7997-C95091FCC0A1}"/>
              </a:ext>
            </a:extLst>
          </p:cNvPr>
          <p:cNvSpPr txBox="1"/>
          <p:nvPr/>
        </p:nvSpPr>
        <p:spPr>
          <a:xfrm>
            <a:off x="584197" y="3328285"/>
            <a:ext cx="10187881" cy="6771084"/>
          </a:xfrm>
          <a:prstGeom prst="rect">
            <a:avLst/>
          </a:prstGeom>
          <a:noFill/>
        </p:spPr>
        <p:txBody>
          <a:bodyPr wrap="square">
            <a:spAutoFit/>
          </a:bodyPr>
          <a:lstStyle/>
          <a:p>
            <a:r>
              <a:rPr lang="en-GB" i="0" kern="1200" dirty="0">
                <a:solidFill>
                  <a:srgbClr val="FF0000"/>
                </a:solidFill>
                <a:effectLst/>
                <a:latin typeface="Calibri" panose="020F0502020204030204" pitchFamily="34" charset="0"/>
                <a:cs typeface="Calibri" panose="020F0502020204030204" pitchFamily="34" charset="0"/>
              </a:rPr>
              <a:t>Some of the key components of the earth system to produce </a:t>
            </a:r>
            <a:r>
              <a:rPr lang="en-GB" dirty="0">
                <a:solidFill>
                  <a:srgbClr val="FF0000"/>
                </a:solidFill>
                <a:latin typeface="Calibri" panose="020F0502020204030204" pitchFamily="34" charset="0"/>
                <a:cs typeface="Calibri" panose="020F0502020204030204" pitchFamily="34" charset="0"/>
              </a:rPr>
              <a:t>Natural climate variability are listed below. Note that these don’t just work in isolation, instead they are often driven by interactions between these components, operating over timescales from years (e.g. ENSO) to hundreds of thousands of years (e.g. orbital cycles).</a:t>
            </a:r>
            <a:endParaRPr lang="en-GB" i="0" kern="1200" dirty="0">
              <a:solidFill>
                <a:srgbClr val="FF0000"/>
              </a:solidFill>
              <a:effectLst/>
              <a:latin typeface="Calibri" panose="020F0502020204030204" pitchFamily="34" charset="0"/>
              <a:cs typeface="Calibri" panose="020F0502020204030204" pitchFamily="34" charset="0"/>
            </a:endParaRPr>
          </a:p>
          <a:p>
            <a:endParaRPr lang="en-GB" b="1" dirty="0">
              <a:solidFill>
                <a:srgbClr val="FF0000"/>
              </a:solidFill>
              <a:latin typeface="Calibri" panose="020F0502020204030204" pitchFamily="34" charset="0"/>
              <a:cs typeface="Calibri" panose="020F0502020204030204" pitchFamily="34" charset="0"/>
            </a:endParaRPr>
          </a:p>
          <a:p>
            <a:r>
              <a:rPr lang="en-GB" b="1" kern="1200" dirty="0">
                <a:solidFill>
                  <a:srgbClr val="FF0000"/>
                </a:solidFill>
                <a:effectLst/>
                <a:latin typeface="Calibri" panose="020F0502020204030204" pitchFamily="34" charset="0"/>
                <a:cs typeface="Calibri" panose="020F0502020204030204" pitchFamily="34" charset="0"/>
              </a:rPr>
              <a:t>The atmosphere</a:t>
            </a:r>
            <a:br>
              <a:rPr lang="en-GB" b="0" kern="1200" dirty="0">
                <a:solidFill>
                  <a:srgbClr val="FF0000"/>
                </a:solidFill>
                <a:effectLst/>
                <a:latin typeface="Calibri" panose="020F0502020204030204" pitchFamily="34" charset="0"/>
                <a:cs typeface="Calibri" panose="020F0502020204030204" pitchFamily="34" charset="0"/>
              </a:rPr>
            </a:br>
            <a:r>
              <a:rPr lang="en-GB" b="0" i="1" kern="1200" dirty="0">
                <a:solidFill>
                  <a:srgbClr val="FF0000"/>
                </a:solidFill>
                <a:effectLst/>
                <a:latin typeface="Calibri" panose="020F0502020204030204" pitchFamily="34" charset="0"/>
                <a:cs typeface="Calibri" panose="020F0502020204030204" pitchFamily="34" charset="0"/>
              </a:rPr>
              <a:t>Controls temperature, winds, clouds, and greenhouse gases, responding rapidly to changes in energy input.</a:t>
            </a:r>
          </a:p>
          <a:p>
            <a:endParaRPr lang="en-GB" b="1" i="0" kern="1200" dirty="0">
              <a:solidFill>
                <a:srgbClr val="FF0000"/>
              </a:solidFill>
              <a:effectLst/>
              <a:latin typeface="Calibri" panose="020F0502020204030204" pitchFamily="34" charset="0"/>
              <a:cs typeface="Calibri" panose="020F0502020204030204" pitchFamily="34" charset="0"/>
            </a:endParaRPr>
          </a:p>
          <a:p>
            <a:r>
              <a:rPr lang="en-GB" b="1" i="0" kern="1200" dirty="0">
                <a:solidFill>
                  <a:srgbClr val="FF0000"/>
                </a:solidFill>
                <a:effectLst/>
                <a:latin typeface="Calibri" panose="020F0502020204030204" pitchFamily="34" charset="0"/>
                <a:cs typeface="Calibri" panose="020F0502020204030204" pitchFamily="34" charset="0"/>
              </a:rPr>
              <a:t>The oceans</a:t>
            </a:r>
            <a:br>
              <a:rPr lang="en-GB" b="0" i="0" kern="1200" dirty="0">
                <a:solidFill>
                  <a:srgbClr val="FF0000"/>
                </a:solidFill>
                <a:effectLst/>
                <a:latin typeface="Calibri" panose="020F0502020204030204" pitchFamily="34" charset="0"/>
                <a:cs typeface="Calibri" panose="020F0502020204030204" pitchFamily="34" charset="0"/>
              </a:rPr>
            </a:br>
            <a:r>
              <a:rPr lang="en-GB" b="0" i="1" kern="1200" dirty="0">
                <a:solidFill>
                  <a:srgbClr val="FF0000"/>
                </a:solidFill>
                <a:effectLst/>
                <a:latin typeface="Calibri" panose="020F0502020204030204" pitchFamily="34" charset="0"/>
                <a:cs typeface="Calibri" panose="020F0502020204030204" pitchFamily="34" charset="0"/>
              </a:rPr>
              <a:t>Store and redistribute heat and carbon around the planet. Changes in ocean circulation (e.g. ENSO) strongly influence global and regional climate.</a:t>
            </a:r>
          </a:p>
          <a:p>
            <a:endParaRPr lang="en-GB" b="1" i="0" kern="1200" dirty="0">
              <a:solidFill>
                <a:srgbClr val="FF0000"/>
              </a:solidFill>
              <a:effectLst/>
              <a:latin typeface="Calibri" panose="020F0502020204030204" pitchFamily="34" charset="0"/>
              <a:cs typeface="Calibri" panose="020F0502020204030204" pitchFamily="34" charset="0"/>
            </a:endParaRPr>
          </a:p>
          <a:p>
            <a:r>
              <a:rPr lang="en-GB" b="1" i="0" kern="1200" dirty="0">
                <a:solidFill>
                  <a:srgbClr val="FF0000"/>
                </a:solidFill>
                <a:effectLst/>
                <a:latin typeface="Calibri" panose="020F0502020204030204" pitchFamily="34" charset="0"/>
                <a:cs typeface="Calibri" panose="020F0502020204030204" pitchFamily="34" charset="0"/>
              </a:rPr>
              <a:t>The cryosphere (ice sheets, glaciers, sea ice)</a:t>
            </a:r>
            <a:br>
              <a:rPr lang="en-GB" b="0" i="0" kern="1200" dirty="0">
                <a:solidFill>
                  <a:srgbClr val="FF0000"/>
                </a:solidFill>
                <a:effectLst/>
                <a:latin typeface="Calibri" panose="020F0502020204030204" pitchFamily="34" charset="0"/>
                <a:cs typeface="Calibri" panose="020F0502020204030204" pitchFamily="34" charset="0"/>
              </a:rPr>
            </a:br>
            <a:r>
              <a:rPr lang="en-GB" b="0" i="1" kern="1200" dirty="0">
                <a:solidFill>
                  <a:srgbClr val="FF0000"/>
                </a:solidFill>
                <a:effectLst/>
                <a:latin typeface="Calibri" panose="020F0502020204030204" pitchFamily="34" charset="0"/>
                <a:cs typeface="Calibri" panose="020F0502020204030204" pitchFamily="34" charset="0"/>
              </a:rPr>
              <a:t>Affects climate through surface albedo (reflection of sunlight) and interactions with temperature and sea level. There are some important feedback mechanisms here to explore. </a:t>
            </a:r>
          </a:p>
          <a:p>
            <a:endParaRPr lang="en-GB" b="1" i="0" kern="1200" dirty="0">
              <a:solidFill>
                <a:srgbClr val="FF0000"/>
              </a:solidFill>
              <a:effectLst/>
              <a:latin typeface="Calibri" panose="020F0502020204030204" pitchFamily="34" charset="0"/>
              <a:cs typeface="Calibri" panose="020F0502020204030204" pitchFamily="34" charset="0"/>
            </a:endParaRPr>
          </a:p>
          <a:p>
            <a:r>
              <a:rPr lang="en-GB" b="1" i="0" kern="1200" dirty="0">
                <a:solidFill>
                  <a:srgbClr val="FF0000"/>
                </a:solidFill>
                <a:effectLst/>
                <a:latin typeface="Calibri" panose="020F0502020204030204" pitchFamily="34" charset="0"/>
                <a:cs typeface="Calibri" panose="020F0502020204030204" pitchFamily="34" charset="0"/>
              </a:rPr>
              <a:t>The Sun–Earth system</a:t>
            </a:r>
            <a:br>
              <a:rPr lang="en-GB" b="0" i="0" kern="1200" dirty="0">
                <a:solidFill>
                  <a:srgbClr val="FF0000"/>
                </a:solidFill>
                <a:effectLst/>
                <a:latin typeface="Calibri" panose="020F0502020204030204" pitchFamily="34" charset="0"/>
                <a:cs typeface="Calibri" panose="020F0502020204030204" pitchFamily="34" charset="0"/>
              </a:rPr>
            </a:br>
            <a:r>
              <a:rPr lang="en-GB" b="0" i="1" kern="1200" dirty="0">
                <a:solidFill>
                  <a:srgbClr val="FF0000"/>
                </a:solidFill>
                <a:effectLst/>
                <a:latin typeface="Calibri" panose="020F0502020204030204" pitchFamily="34" charset="0"/>
                <a:cs typeface="Calibri" panose="020F0502020204030204" pitchFamily="34" charset="0"/>
              </a:rPr>
              <a:t>Variations in Earth’s orbit and tilt (Milankovitch cycles) and changes in solar output alter the amount and distribution of incoming solar radiation. Solar output changes can also be considered. </a:t>
            </a:r>
          </a:p>
          <a:p>
            <a:endParaRPr lang="en-GB" b="1" i="0" kern="1200" dirty="0">
              <a:solidFill>
                <a:srgbClr val="FF0000"/>
              </a:solidFill>
              <a:effectLst/>
              <a:latin typeface="Calibri" panose="020F0502020204030204" pitchFamily="34" charset="0"/>
              <a:cs typeface="Calibri" panose="020F0502020204030204" pitchFamily="34" charset="0"/>
            </a:endParaRPr>
          </a:p>
          <a:p>
            <a:r>
              <a:rPr lang="en-GB" b="1" i="0" kern="1200" dirty="0">
                <a:solidFill>
                  <a:srgbClr val="FF0000"/>
                </a:solidFill>
                <a:effectLst/>
                <a:latin typeface="Calibri" panose="020F0502020204030204" pitchFamily="34" charset="0"/>
                <a:cs typeface="Calibri" panose="020F0502020204030204" pitchFamily="34" charset="0"/>
              </a:rPr>
              <a:t>The biosphere</a:t>
            </a:r>
            <a:br>
              <a:rPr lang="en-GB" b="0" i="0" kern="1200" dirty="0">
                <a:solidFill>
                  <a:srgbClr val="FF0000"/>
                </a:solidFill>
                <a:effectLst/>
                <a:latin typeface="Calibri" panose="020F0502020204030204" pitchFamily="34" charset="0"/>
                <a:cs typeface="Calibri" panose="020F0502020204030204" pitchFamily="34" charset="0"/>
              </a:rPr>
            </a:br>
            <a:r>
              <a:rPr lang="en-GB" b="0" i="1" kern="1200" dirty="0">
                <a:solidFill>
                  <a:srgbClr val="FF0000"/>
                </a:solidFill>
                <a:effectLst/>
                <a:latin typeface="Calibri" panose="020F0502020204030204" pitchFamily="34" charset="0"/>
                <a:cs typeface="Calibri" panose="020F0502020204030204" pitchFamily="34" charset="0"/>
              </a:rPr>
              <a:t>Vegetation and ecosystems influence carbon storage, surface reflectivity, and exchanges of gases with the atmosphere.</a:t>
            </a:r>
            <a:br>
              <a:rPr lang="en-GB" sz="2000" b="0" i="0" kern="1200" dirty="0">
                <a:solidFill>
                  <a:srgbClr val="FF0000"/>
                </a:solidFill>
                <a:effectLst/>
                <a:latin typeface="Calibri" panose="020F0502020204030204" pitchFamily="34" charset="0"/>
                <a:cs typeface="Calibri" panose="020F0502020204030204" pitchFamily="34" charset="0"/>
              </a:rPr>
            </a:br>
            <a:endParaRPr lang="en-GB" sz="2000" b="0" i="0" kern="1200" dirty="0">
              <a:solidFill>
                <a:srgbClr val="FF0000"/>
              </a:solidFill>
              <a:effectLst/>
              <a:latin typeface="Calibri" panose="020F0502020204030204" pitchFamily="34" charset="0"/>
              <a:cs typeface="Calibri" panose="020F0502020204030204" pitchFamily="34" charset="0"/>
            </a:endParaRPr>
          </a:p>
        </p:txBody>
      </p:sp>
      <p:pic>
        <p:nvPicPr>
          <p:cNvPr id="7" name="Picture 6" descr="A diagram of the earth&#10;&#10;AI-generated content may be incorrect.">
            <a:extLst>
              <a:ext uri="{FF2B5EF4-FFF2-40B4-BE49-F238E27FC236}">
                <a16:creationId xmlns:a16="http://schemas.microsoft.com/office/drawing/2014/main" id="{08C7BF46-547F-5F1C-AD00-30AC8E05A9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7877" y="3163381"/>
            <a:ext cx="6565636" cy="6565636"/>
          </a:xfrm>
          <a:prstGeom prst="rect">
            <a:avLst/>
          </a:prstGeom>
        </p:spPr>
      </p:pic>
    </p:spTree>
    <p:extLst>
      <p:ext uri="{BB962C8B-B14F-4D97-AF65-F5344CB8AC3E}">
        <p14:creationId xmlns:p14="http://schemas.microsoft.com/office/powerpoint/2010/main" val="103422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798-5F2D-8D6E-38E7-516582793C2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A73CCA-F1E8-5E6E-E878-5B4B6371D392}"/>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8704B95F-2664-4705-EFCB-2B03D214D28C}"/>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Q3. </a:t>
            </a:r>
          </a:p>
        </p:txBody>
      </p:sp>
      <p:sp>
        <p:nvSpPr>
          <p:cNvPr id="2" name="TextBox 1">
            <a:extLst>
              <a:ext uri="{FF2B5EF4-FFF2-40B4-BE49-F238E27FC236}">
                <a16:creationId xmlns:a16="http://schemas.microsoft.com/office/drawing/2014/main" id="{BDD30659-9179-DD93-BAFA-A1DD977E8953}"/>
              </a:ext>
            </a:extLst>
          </p:cNvPr>
          <p:cNvSpPr txBox="1"/>
          <p:nvPr/>
        </p:nvSpPr>
        <p:spPr>
          <a:xfrm>
            <a:off x="584197" y="2135706"/>
            <a:ext cx="12875325" cy="954107"/>
          </a:xfrm>
          <a:prstGeom prst="rect">
            <a:avLst/>
          </a:prstGeom>
          <a:noFill/>
        </p:spPr>
        <p:txBody>
          <a:bodyPr wrap="square">
            <a:spAutoFit/>
          </a:bodyPr>
          <a:lstStyle/>
          <a:p>
            <a:pPr algn="l"/>
            <a:r>
              <a:rPr lang="en-GB" sz="2800" b="1" i="0" u="none" strike="noStrike" dirty="0">
                <a:effectLst/>
                <a:latin typeface="Calibri" panose="020F0502020204030204" pitchFamily="34" charset="0"/>
                <a:cs typeface="Calibri" panose="020F0502020204030204" pitchFamily="34" charset="0"/>
              </a:rPr>
              <a:t>How can volcanic eruptions serve as a "natural experiment" for studying climate response to aerosol forcing?</a:t>
            </a:r>
          </a:p>
        </p:txBody>
      </p:sp>
    </p:spTree>
    <p:extLst>
      <p:ext uri="{BB962C8B-B14F-4D97-AF65-F5344CB8AC3E}">
        <p14:creationId xmlns:p14="http://schemas.microsoft.com/office/powerpoint/2010/main" val="3769461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8FDAC3A-A173-0B8B-27A5-116E77AA878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BF8FB6F-F035-145F-7A30-482160CA0D35}"/>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604B632D-DB69-146C-1084-029B67C62FC5}"/>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Q3.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5" name="TextBox 4">
            <a:extLst>
              <a:ext uri="{FF2B5EF4-FFF2-40B4-BE49-F238E27FC236}">
                <a16:creationId xmlns:a16="http://schemas.microsoft.com/office/drawing/2014/main" id="{420C3AD7-166E-8F97-9B49-031D511EF32E}"/>
              </a:ext>
            </a:extLst>
          </p:cNvPr>
          <p:cNvSpPr txBox="1"/>
          <p:nvPr/>
        </p:nvSpPr>
        <p:spPr>
          <a:xfrm>
            <a:off x="584198" y="2135706"/>
            <a:ext cx="11972076" cy="954107"/>
          </a:xfrm>
          <a:prstGeom prst="rect">
            <a:avLst/>
          </a:prstGeom>
          <a:noFill/>
        </p:spPr>
        <p:txBody>
          <a:bodyPr wrap="square">
            <a:spAutoFit/>
          </a:bodyPr>
          <a:lstStyle/>
          <a:p>
            <a:pPr algn="l"/>
            <a:r>
              <a:rPr lang="en-GB" sz="2800" b="1" i="0" u="none" strike="noStrike" dirty="0">
                <a:solidFill>
                  <a:schemeClr val="bg2"/>
                </a:solidFill>
                <a:effectLst/>
                <a:latin typeface="Calibri" panose="020F0502020204030204" pitchFamily="34" charset="0"/>
                <a:cs typeface="Calibri" panose="020F0502020204030204" pitchFamily="34" charset="0"/>
              </a:rPr>
              <a:t>How can volcanic eruptions serve as a "natural experiment" for studying climate response to aerosol forcing?</a:t>
            </a:r>
          </a:p>
        </p:txBody>
      </p:sp>
      <p:sp>
        <p:nvSpPr>
          <p:cNvPr id="10" name="TextBox 9">
            <a:extLst>
              <a:ext uri="{FF2B5EF4-FFF2-40B4-BE49-F238E27FC236}">
                <a16:creationId xmlns:a16="http://schemas.microsoft.com/office/drawing/2014/main" id="{D0CB9421-BB12-BAD3-158C-2D9FCF59EE4D}"/>
              </a:ext>
            </a:extLst>
          </p:cNvPr>
          <p:cNvSpPr txBox="1"/>
          <p:nvPr/>
        </p:nvSpPr>
        <p:spPr>
          <a:xfrm>
            <a:off x="584198" y="3611505"/>
            <a:ext cx="10734290" cy="5632311"/>
          </a:xfrm>
          <a:prstGeom prst="rect">
            <a:avLst/>
          </a:prstGeom>
          <a:noFill/>
        </p:spPr>
        <p:txBody>
          <a:bodyPr wrap="square">
            <a:spAutoFit/>
          </a:bodyPr>
          <a:lstStyle/>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Volcanic eruptions inject large quantities of sulphate aerosols into the stratosphere, which temporarily cool the Earth's surface.</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These events allow scientists to observe short-term climatic responses to changes in radiative forcing.</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They provide real-world data to test and validate climate model predictions about aerosol impacts.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Eruptions highlight the importance of aerosol-cloud interactions in shaping climate responses.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Case studies, such as the eruption of Mount Pinatubo in 1991, offer valuable insights into the climate’s sensitivity to aerosol forcing, which is clearly shown in the figure to the right. </a:t>
            </a:r>
          </a:p>
        </p:txBody>
      </p:sp>
      <p:pic>
        <p:nvPicPr>
          <p:cNvPr id="11" name="Picture 5" descr="volcano temps.jpg">
            <a:extLst>
              <a:ext uri="{FF2B5EF4-FFF2-40B4-BE49-F238E27FC236}">
                <a16:creationId xmlns:a16="http://schemas.microsoft.com/office/drawing/2014/main" id="{AC7FC8DC-9BFB-1493-5C65-3E208B6D16A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1707282" y="2882242"/>
            <a:ext cx="5906231" cy="709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7917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D9DEA-4024-F886-2CDC-D21D647C993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D36630F-1BF5-C800-C183-96D4C680119E}"/>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0EA85436-2856-0B4B-430F-2E267749F311}"/>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Q4. </a:t>
            </a:r>
          </a:p>
        </p:txBody>
      </p:sp>
      <p:sp>
        <p:nvSpPr>
          <p:cNvPr id="2" name="TextBox 1">
            <a:extLst>
              <a:ext uri="{FF2B5EF4-FFF2-40B4-BE49-F238E27FC236}">
                <a16:creationId xmlns:a16="http://schemas.microsoft.com/office/drawing/2014/main" id="{DFB478BA-668B-0940-157E-B160409F296F}"/>
              </a:ext>
            </a:extLst>
          </p:cNvPr>
          <p:cNvSpPr txBox="1"/>
          <p:nvPr/>
        </p:nvSpPr>
        <p:spPr>
          <a:xfrm>
            <a:off x="584198" y="2448604"/>
            <a:ext cx="14602793" cy="523220"/>
          </a:xfrm>
          <a:prstGeom prst="rect">
            <a:avLst/>
          </a:prstGeom>
          <a:noFill/>
        </p:spPr>
        <p:txBody>
          <a:bodyPr wrap="square">
            <a:spAutoFit/>
          </a:bodyPr>
          <a:lstStyle/>
          <a:p>
            <a:pPr algn="l"/>
            <a:r>
              <a:rPr lang="en-GB" sz="2800" i="0" u="none" strike="noStrike" dirty="0">
                <a:effectLst/>
                <a:latin typeface="Calibri" panose="020F0502020204030204" pitchFamily="34" charset="0"/>
                <a:cs typeface="Calibri" panose="020F0502020204030204" pitchFamily="34" charset="0"/>
              </a:rPr>
              <a:t>How do scientists use ice cores to reconstruct long-term natural climate variability?</a:t>
            </a:r>
          </a:p>
        </p:txBody>
      </p:sp>
    </p:spTree>
    <p:extLst>
      <p:ext uri="{BB962C8B-B14F-4D97-AF65-F5344CB8AC3E}">
        <p14:creationId xmlns:p14="http://schemas.microsoft.com/office/powerpoint/2010/main" val="2308805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D6224B9-ECEE-9F71-4697-9AF2BA97067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AE1B060-3DAD-3AB0-B818-B9A6798393BB}"/>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BD2B9648-BE92-9D0F-1E07-4FF083779517}"/>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Q4.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7" name="TextBox 6">
            <a:extLst>
              <a:ext uri="{FF2B5EF4-FFF2-40B4-BE49-F238E27FC236}">
                <a16:creationId xmlns:a16="http://schemas.microsoft.com/office/drawing/2014/main" id="{D87AD6AC-A2C0-FC31-102B-2F390917DE06}"/>
              </a:ext>
            </a:extLst>
          </p:cNvPr>
          <p:cNvSpPr txBox="1"/>
          <p:nvPr/>
        </p:nvSpPr>
        <p:spPr>
          <a:xfrm>
            <a:off x="674487" y="3366908"/>
            <a:ext cx="11094893" cy="6370975"/>
          </a:xfrm>
          <a:prstGeom prst="rect">
            <a:avLst/>
          </a:prstGeom>
          <a:noFill/>
        </p:spPr>
        <p:txBody>
          <a:bodyPr wrap="square">
            <a:spAutoFit/>
          </a:bodyPr>
          <a:lstStyle/>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Ice cores trap gases like carbon dioxide and methane, offering a record of past atmospheric composition.</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Layers within the ice correspond to annual or seasonal snowfall, enabling  climate reconstructions.</a:t>
            </a:r>
          </a:p>
          <a:p>
            <a:pPr marL="285750" indent="-285750" algn="l">
              <a:buFont typeface="Arial" panose="020B0604020202020204" pitchFamily="34" charset="0"/>
              <a:buChar char="•"/>
            </a:pPr>
            <a:endParaRPr lang="en-GB" sz="2400" dirty="0">
              <a:solidFill>
                <a:srgbClr val="FF000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Temporal resolution decreases with depth as ice flow and </a:t>
            </a:r>
            <a:r>
              <a:rPr lang="en-GB" sz="2400" i="0" u="none" strike="noStrike" dirty="0" err="1">
                <a:solidFill>
                  <a:srgbClr val="FF0000"/>
                </a:solidFill>
                <a:effectLst/>
                <a:latin typeface="Calibri" panose="020F0502020204030204" pitchFamily="34" charset="0"/>
                <a:cs typeface="Calibri" panose="020F0502020204030204" pitchFamily="34" charset="0"/>
              </a:rPr>
              <a:t>firn</a:t>
            </a:r>
            <a:r>
              <a:rPr lang="en-GB" sz="2400" i="0" u="none" strike="noStrike" dirty="0">
                <a:solidFill>
                  <a:srgbClr val="FF0000"/>
                </a:solidFill>
                <a:effectLst/>
                <a:latin typeface="Calibri" panose="020F0502020204030204" pitchFamily="34" charset="0"/>
                <a:cs typeface="Calibri" panose="020F0502020204030204" pitchFamily="34" charset="0"/>
              </a:rPr>
              <a:t> diffusion smooth the signal</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Isotopes of oxygen and hydrogen provide insights into past temperature fluctuations.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The presence of volcanic ash and other particulates in ice layers helps date major climatic events such as volcanic eruptions.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When combined with other proxies (e.g., tree rings and sediment records), ice cores create a detailed picture of long-term natural variability. This is essential in supporting theories such as the Milankovitch cycles.  </a:t>
            </a:r>
          </a:p>
        </p:txBody>
      </p:sp>
      <p:sp>
        <p:nvSpPr>
          <p:cNvPr id="4" name="TextBox 3">
            <a:extLst>
              <a:ext uri="{FF2B5EF4-FFF2-40B4-BE49-F238E27FC236}">
                <a16:creationId xmlns:a16="http://schemas.microsoft.com/office/drawing/2014/main" id="{B3586EEA-F772-BFCD-E32D-E1659DE7B4DE}"/>
              </a:ext>
            </a:extLst>
          </p:cNvPr>
          <p:cNvSpPr txBox="1"/>
          <p:nvPr/>
        </p:nvSpPr>
        <p:spPr>
          <a:xfrm>
            <a:off x="584198" y="2448604"/>
            <a:ext cx="15616585" cy="523220"/>
          </a:xfrm>
          <a:prstGeom prst="rect">
            <a:avLst/>
          </a:prstGeom>
          <a:noFill/>
        </p:spPr>
        <p:txBody>
          <a:bodyPr wrap="square">
            <a:spAutoFit/>
          </a:bodyPr>
          <a:lstStyle/>
          <a:p>
            <a:pPr algn="l"/>
            <a:r>
              <a:rPr lang="en-GB" sz="2800" b="1" i="0" u="none" strike="noStrike" dirty="0">
                <a:solidFill>
                  <a:schemeClr val="bg1"/>
                </a:solidFill>
                <a:effectLst/>
                <a:latin typeface="Calibri" panose="020F0502020204030204" pitchFamily="34" charset="0"/>
                <a:cs typeface="Calibri" panose="020F0502020204030204" pitchFamily="34" charset="0"/>
              </a:rPr>
              <a:t>How do scientists use ice cores to reconstruct long-term natural climate variability?</a:t>
            </a:r>
          </a:p>
        </p:txBody>
      </p:sp>
      <p:pic>
        <p:nvPicPr>
          <p:cNvPr id="6" name="Picture 5" descr="A structure of ice layer&#10;&#10;AI-generated content may be incorrect.">
            <a:extLst>
              <a:ext uri="{FF2B5EF4-FFF2-40B4-BE49-F238E27FC236}">
                <a16:creationId xmlns:a16="http://schemas.microsoft.com/office/drawing/2014/main" id="{F9A153F8-214E-0E85-D023-ECBC972F13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40451" y="3141597"/>
            <a:ext cx="5673062" cy="6665478"/>
          </a:xfrm>
          <a:prstGeom prst="rect">
            <a:avLst/>
          </a:prstGeom>
        </p:spPr>
      </p:pic>
    </p:spTree>
    <p:extLst>
      <p:ext uri="{BB962C8B-B14F-4D97-AF65-F5344CB8AC3E}">
        <p14:creationId xmlns:p14="http://schemas.microsoft.com/office/powerpoint/2010/main" val="4139781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E29A-D970-72EC-0891-7F11F67B147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CA745B6-F6C1-1A51-DF4B-6AB88570096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117F4361-AE5F-4A04-2D6E-E4D4C2674D62}"/>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Q5. </a:t>
            </a:r>
          </a:p>
        </p:txBody>
      </p:sp>
      <p:sp>
        <p:nvSpPr>
          <p:cNvPr id="2" name="TextBox 1">
            <a:extLst>
              <a:ext uri="{FF2B5EF4-FFF2-40B4-BE49-F238E27FC236}">
                <a16:creationId xmlns:a16="http://schemas.microsoft.com/office/drawing/2014/main" id="{E7FE85A1-72DE-CA95-8576-D05ABED08C0B}"/>
              </a:ext>
            </a:extLst>
          </p:cNvPr>
          <p:cNvSpPr txBox="1"/>
          <p:nvPr/>
        </p:nvSpPr>
        <p:spPr>
          <a:xfrm>
            <a:off x="584197" y="2282869"/>
            <a:ext cx="16272568" cy="523220"/>
          </a:xfrm>
          <a:prstGeom prst="rect">
            <a:avLst/>
          </a:prstGeom>
          <a:noFill/>
        </p:spPr>
        <p:txBody>
          <a:bodyPr wrap="square">
            <a:spAutoFit/>
          </a:bodyPr>
          <a:lstStyle/>
          <a:p>
            <a:pPr algn="l"/>
            <a:r>
              <a:rPr lang="en-GB" sz="2800" b="1" i="0" u="none" strike="noStrike" dirty="0">
                <a:effectLst/>
              </a:rPr>
              <a:t>In what ways can understanding natural variability help us plan for extreme weather events?</a:t>
            </a:r>
          </a:p>
        </p:txBody>
      </p:sp>
    </p:spTree>
    <p:extLst>
      <p:ext uri="{BB962C8B-B14F-4D97-AF65-F5344CB8AC3E}">
        <p14:creationId xmlns:p14="http://schemas.microsoft.com/office/powerpoint/2010/main" val="2016151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F1E20DF-056F-08D9-B3DF-BD79F189AC5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2603C76-CCB6-779B-B8D7-0BA74FC0F9F8}"/>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23C9D645-ABF6-72DA-C967-D11C79048F0C}"/>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Q5.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5" name="TextBox 4">
            <a:extLst>
              <a:ext uri="{FF2B5EF4-FFF2-40B4-BE49-F238E27FC236}">
                <a16:creationId xmlns:a16="http://schemas.microsoft.com/office/drawing/2014/main" id="{A1DEDAC0-4FD0-79E8-D269-5D210057F434}"/>
              </a:ext>
            </a:extLst>
          </p:cNvPr>
          <p:cNvSpPr txBox="1"/>
          <p:nvPr/>
        </p:nvSpPr>
        <p:spPr>
          <a:xfrm>
            <a:off x="584197" y="3071201"/>
            <a:ext cx="10878934" cy="6555641"/>
          </a:xfrm>
          <a:prstGeom prst="rect">
            <a:avLst/>
          </a:prstGeom>
          <a:noFill/>
        </p:spPr>
        <p:txBody>
          <a:bodyPr wrap="square">
            <a:spAutoFit/>
          </a:bodyPr>
          <a:lstStyle/>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Recognising recurring patterns in natural variability, such as ENSO, improves the prediction of extreme weather events like floods, droughts, and heatwaves.</a:t>
            </a:r>
          </a:p>
          <a:p>
            <a:pPr marL="285750" indent="-285750" algn="l">
              <a:buFont typeface="Arial" panose="020B0604020202020204" pitchFamily="34" charset="0"/>
              <a:buChar char="•"/>
            </a:pPr>
            <a:endParaRPr lang="en-GB" sz="2100" b="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Understanding these patterns increases the reliability of seasonal climate forecasts, allowing governments and communities to prepare for weather-related hazards driven by natural variability.</a:t>
            </a:r>
          </a:p>
          <a:p>
            <a:pPr marL="285750" indent="-285750" algn="l">
              <a:buFont typeface="Arial" panose="020B0604020202020204" pitchFamily="34" charset="0"/>
              <a:buChar char="•"/>
            </a:pPr>
            <a:endParaRPr lang="en-GB" sz="2100" b="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Knowledge of long-term natural variability supports the design of resilient infrastructure by accounting for historically observed extremes rather than short-term averages alone.</a:t>
            </a:r>
          </a:p>
          <a:p>
            <a:pPr marL="285750" indent="-285750" algn="l">
              <a:buFont typeface="Arial" panose="020B0604020202020204" pitchFamily="34" charset="0"/>
              <a:buChar char="•"/>
            </a:pPr>
            <a:endParaRPr lang="en-GB" sz="2100" b="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Records of past climate variability help assess the likelihood of compound extreme events, such as coincident heatwaves and droughts, which have occurred under natural climate fluctuations.</a:t>
            </a:r>
          </a:p>
          <a:p>
            <a:pPr marL="285750" indent="-285750" algn="l">
              <a:buFont typeface="Arial" panose="020B0604020202020204" pitchFamily="34" charset="0"/>
              <a:buChar char="•"/>
            </a:pPr>
            <a:endParaRPr lang="en-GB" sz="2100" b="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Understanding the limits of predictability in natural systems informs emergency planning by clarifying where forecasts are reliable and where uncertainty and risk remain high.</a:t>
            </a:r>
          </a:p>
          <a:p>
            <a:pPr marL="285750" indent="-285750" algn="l">
              <a:buFont typeface="Arial" panose="020B0604020202020204" pitchFamily="34" charset="0"/>
              <a:buChar char="•"/>
            </a:pPr>
            <a:endParaRPr lang="en-GB" sz="2100" b="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100" b="0" i="0" u="none" strike="noStrike" dirty="0">
                <a:solidFill>
                  <a:srgbClr val="FF0000"/>
                </a:solidFill>
                <a:effectLst/>
                <a:latin typeface="Calibri" panose="020F0502020204030204" pitchFamily="34" charset="0"/>
                <a:cs typeface="Calibri" panose="020F0502020204030204" pitchFamily="34" charset="0"/>
              </a:rPr>
              <a:t>Considering the timescales of natural variability is essential, as short-term processes (e.g. ENSO or the 11-year solar cycle) influence near-future extremes, whereas long-term drivers (e.g. Milankovitch cycles) operate over 10s of thousands of years and provide background climate context rather than direct forecasting value.</a:t>
            </a:r>
          </a:p>
        </p:txBody>
      </p:sp>
      <p:sp>
        <p:nvSpPr>
          <p:cNvPr id="7" name="TextBox 6">
            <a:extLst>
              <a:ext uri="{FF2B5EF4-FFF2-40B4-BE49-F238E27FC236}">
                <a16:creationId xmlns:a16="http://schemas.microsoft.com/office/drawing/2014/main" id="{287B5E63-4F27-72C3-F14D-BD563C8FA662}"/>
              </a:ext>
            </a:extLst>
          </p:cNvPr>
          <p:cNvSpPr txBox="1"/>
          <p:nvPr/>
        </p:nvSpPr>
        <p:spPr>
          <a:xfrm>
            <a:off x="584197" y="2282869"/>
            <a:ext cx="16352081" cy="523220"/>
          </a:xfrm>
          <a:prstGeom prst="rect">
            <a:avLst/>
          </a:prstGeom>
          <a:noFill/>
        </p:spPr>
        <p:txBody>
          <a:bodyPr wrap="square">
            <a:spAutoFit/>
          </a:bodyPr>
          <a:lstStyle/>
          <a:p>
            <a:pPr algn="l"/>
            <a:r>
              <a:rPr lang="en-GB" sz="2800" b="1" i="0" u="none" strike="noStrike" dirty="0">
                <a:solidFill>
                  <a:schemeClr val="bg1"/>
                </a:solidFill>
                <a:effectLst/>
              </a:rPr>
              <a:t>In what ways can understanding natural variability help us plan for extreme weather events?</a:t>
            </a:r>
          </a:p>
        </p:txBody>
      </p:sp>
      <p:pic>
        <p:nvPicPr>
          <p:cNvPr id="6" name="Picture 5" descr="A planet earth in space&#10;&#10;AI-generated content may be incorrect.">
            <a:extLst>
              <a:ext uri="{FF2B5EF4-FFF2-40B4-BE49-F238E27FC236}">
                <a16:creationId xmlns:a16="http://schemas.microsoft.com/office/drawing/2014/main" id="{7F695686-399B-5317-01A6-AC86318F7F2C}"/>
              </a:ext>
            </a:extLst>
          </p:cNvPr>
          <p:cNvPicPr>
            <a:picLocks noChangeAspect="1"/>
          </p:cNvPicPr>
          <p:nvPr/>
        </p:nvPicPr>
        <p:blipFill>
          <a:blip r:embed="rId5">
            <a:extLst>
              <a:ext uri="{28A0092B-C50C-407E-A947-70E740481C1C}">
                <a14:useLocalDpi xmlns:a14="http://schemas.microsoft.com/office/drawing/2010/main" val="0"/>
              </a:ext>
            </a:extLst>
          </a:blip>
          <a:srcRect l="29114" t="18870" r="27239" b="17407"/>
          <a:stretch>
            <a:fillRect/>
          </a:stretch>
        </p:blipFill>
        <p:spPr>
          <a:xfrm>
            <a:off x="11695043" y="3291406"/>
            <a:ext cx="6334539" cy="5929700"/>
          </a:xfrm>
          <a:prstGeom prst="ellipse">
            <a:avLst/>
          </a:prstGeom>
        </p:spPr>
      </p:pic>
    </p:spTree>
    <p:extLst>
      <p:ext uri="{BB962C8B-B14F-4D97-AF65-F5344CB8AC3E}">
        <p14:creationId xmlns:p14="http://schemas.microsoft.com/office/powerpoint/2010/main" val="1931505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DAB4-9ADA-3346-4F8B-B5E333A063F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9B3DB31A-6D4D-B69C-C1F8-9C13ECE1727A}"/>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073AE401-370D-955D-9BD3-7F543CDFA64C}"/>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Q6. </a:t>
            </a:r>
          </a:p>
        </p:txBody>
      </p:sp>
      <p:sp>
        <p:nvSpPr>
          <p:cNvPr id="6" name="TextBox 5">
            <a:extLst>
              <a:ext uri="{FF2B5EF4-FFF2-40B4-BE49-F238E27FC236}">
                <a16:creationId xmlns:a16="http://schemas.microsoft.com/office/drawing/2014/main" id="{7BC72DF8-7C9C-29D5-4CA7-F108D333D0C5}"/>
              </a:ext>
            </a:extLst>
          </p:cNvPr>
          <p:cNvSpPr txBox="1"/>
          <p:nvPr/>
        </p:nvSpPr>
        <p:spPr>
          <a:xfrm>
            <a:off x="584196" y="2352118"/>
            <a:ext cx="17181289" cy="584775"/>
          </a:xfrm>
          <a:prstGeom prst="rect">
            <a:avLst/>
          </a:prstGeom>
          <a:noFill/>
        </p:spPr>
        <p:txBody>
          <a:bodyPr wrap="square">
            <a:spAutoFit/>
          </a:bodyPr>
          <a:lstStyle/>
          <a:p>
            <a:pPr algn="l"/>
            <a:r>
              <a:rPr lang="en-GB" sz="3200" b="1" i="0" u="none" strike="noStrike" dirty="0">
                <a:effectLst/>
                <a:latin typeface="Calibri" panose="020F0502020204030204" pitchFamily="34" charset="0"/>
                <a:cs typeface="Calibri" panose="020F0502020204030204" pitchFamily="34" charset="0"/>
              </a:rPr>
              <a:t>Discuss the significance of Milankovitch cycles in shaping Earth's glacial and interglacial periods.</a:t>
            </a:r>
          </a:p>
        </p:txBody>
      </p:sp>
    </p:spTree>
    <p:extLst>
      <p:ext uri="{BB962C8B-B14F-4D97-AF65-F5344CB8AC3E}">
        <p14:creationId xmlns:p14="http://schemas.microsoft.com/office/powerpoint/2010/main" val="397878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15A868C5-3B44-9364-7EBC-CFBB92246D1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750A204-8396-E8D3-2A15-C85681CC4E24}"/>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E1C95EEE-D45A-11E6-4D16-BB5B7C9A4318}"/>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Q6.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5" name="TextBox 4">
            <a:extLst>
              <a:ext uri="{FF2B5EF4-FFF2-40B4-BE49-F238E27FC236}">
                <a16:creationId xmlns:a16="http://schemas.microsoft.com/office/drawing/2014/main" id="{FB2CD602-FE03-41B0-7BD2-52EEEFADA552}"/>
              </a:ext>
            </a:extLst>
          </p:cNvPr>
          <p:cNvSpPr txBox="1"/>
          <p:nvPr/>
        </p:nvSpPr>
        <p:spPr>
          <a:xfrm>
            <a:off x="584197" y="3053003"/>
            <a:ext cx="9964534" cy="7109639"/>
          </a:xfrm>
          <a:prstGeom prst="rect">
            <a:avLst/>
          </a:prstGeom>
          <a:noFill/>
        </p:spPr>
        <p:txBody>
          <a:bodyPr wrap="square">
            <a:spAutoFit/>
          </a:bodyPr>
          <a:lstStyle/>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Orbital eccentricity alters the shape of Earth’s orbit, changing how solar radiation is distributed through the year, over ~100,000-year timescales.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dirty="0">
                <a:solidFill>
                  <a:srgbClr val="FF0000"/>
                </a:solidFill>
                <a:latin typeface="Calibri" panose="020F0502020204030204" pitchFamily="34" charset="0"/>
                <a:cs typeface="Calibri" panose="020F0502020204030204" pitchFamily="34" charset="0"/>
              </a:rPr>
              <a:t>O</a:t>
            </a:r>
            <a:r>
              <a:rPr lang="en-GB" sz="2400" i="0" u="none" strike="noStrike" dirty="0">
                <a:solidFill>
                  <a:srgbClr val="FF0000"/>
                </a:solidFill>
                <a:effectLst/>
                <a:latin typeface="Calibri" panose="020F0502020204030204" pitchFamily="34" charset="0"/>
                <a:cs typeface="Calibri" panose="020F0502020204030204" pitchFamily="34" charset="0"/>
              </a:rPr>
              <a:t>bliquity controls the contrast between seasons by redistributing incoming solar radiation between low and high latitudes, influencing the growth and decay of ice sheets.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Precession changes the timing of the seasons relative to Earth’s position in its orbit, altering the seasonal distribution of solar radiation without changing the global annual mean.</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The interaction of these orbital cycles modifies the amount, distribution, and seasonality of incoming solar radiation, driving long-term climate variability, including glacial cycles. Energy inputs can vary by as much as 25%. </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Milankovitch cycles act as a trigger, with relatively small changes in energy inputs amplified by feedbacks such as ice/albedo effects and changes in atmospheric CO₂, producing large global temperature changes. Feedbacks are key and will be discussed more in later lectures. </a:t>
            </a:r>
          </a:p>
        </p:txBody>
      </p:sp>
      <p:sp>
        <p:nvSpPr>
          <p:cNvPr id="7" name="TextBox 6">
            <a:extLst>
              <a:ext uri="{FF2B5EF4-FFF2-40B4-BE49-F238E27FC236}">
                <a16:creationId xmlns:a16="http://schemas.microsoft.com/office/drawing/2014/main" id="{2232213D-A055-B9F6-3F27-ECED740F4A95}"/>
              </a:ext>
            </a:extLst>
          </p:cNvPr>
          <p:cNvSpPr txBox="1"/>
          <p:nvPr/>
        </p:nvSpPr>
        <p:spPr>
          <a:xfrm>
            <a:off x="584197" y="2352118"/>
            <a:ext cx="17206846" cy="584775"/>
          </a:xfrm>
          <a:prstGeom prst="rect">
            <a:avLst/>
          </a:prstGeom>
          <a:noFill/>
        </p:spPr>
        <p:txBody>
          <a:bodyPr wrap="square">
            <a:spAutoFit/>
          </a:bodyPr>
          <a:lstStyle/>
          <a:p>
            <a:pPr algn="l"/>
            <a:r>
              <a:rPr lang="en-GB" sz="3200" b="1" i="0" u="none" strike="noStrike" dirty="0">
                <a:solidFill>
                  <a:schemeClr val="bg1"/>
                </a:solidFill>
                <a:effectLst/>
                <a:latin typeface="Calibri" panose="020F0502020204030204" pitchFamily="34" charset="0"/>
                <a:cs typeface="Calibri" panose="020F0502020204030204" pitchFamily="34" charset="0"/>
              </a:rPr>
              <a:t>Discuss the significance of Milankovitch cycles in shaping Earth's glacial and interglacial periods.</a:t>
            </a:r>
          </a:p>
        </p:txBody>
      </p:sp>
      <p:pic>
        <p:nvPicPr>
          <p:cNvPr id="6" name="Picture 5" descr="A diagram of the sun&#10;&#10;AI-generated content may be incorrect.">
            <a:extLst>
              <a:ext uri="{FF2B5EF4-FFF2-40B4-BE49-F238E27FC236}">
                <a16:creationId xmlns:a16="http://schemas.microsoft.com/office/drawing/2014/main" id="{FAB85FAA-EE3F-B3D2-CB71-B80E5862FC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8731" y="3795403"/>
            <a:ext cx="7474226" cy="4982817"/>
          </a:xfrm>
          <a:prstGeom prst="rect">
            <a:avLst/>
          </a:prstGeom>
        </p:spPr>
      </p:pic>
    </p:spTree>
    <p:extLst>
      <p:ext uri="{BB962C8B-B14F-4D97-AF65-F5344CB8AC3E}">
        <p14:creationId xmlns:p14="http://schemas.microsoft.com/office/powerpoint/2010/main" val="3236262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0FC20-C69A-832D-45CD-4814EDF5828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F1F7872-95B7-E1A5-5346-7B0E8E59650B}"/>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631C0AD3-2DF1-FB7C-6B52-E96C33A13F66}"/>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Q7. </a:t>
            </a:r>
          </a:p>
        </p:txBody>
      </p:sp>
      <p:sp>
        <p:nvSpPr>
          <p:cNvPr id="6" name="TextBox 5">
            <a:extLst>
              <a:ext uri="{FF2B5EF4-FFF2-40B4-BE49-F238E27FC236}">
                <a16:creationId xmlns:a16="http://schemas.microsoft.com/office/drawing/2014/main" id="{0493956A-048B-9838-77E5-18BB372E4BBD}"/>
              </a:ext>
            </a:extLst>
          </p:cNvPr>
          <p:cNvSpPr txBox="1"/>
          <p:nvPr/>
        </p:nvSpPr>
        <p:spPr>
          <a:xfrm>
            <a:off x="711199" y="2355840"/>
            <a:ext cx="11751733" cy="954107"/>
          </a:xfrm>
          <a:prstGeom prst="rect">
            <a:avLst/>
          </a:prstGeom>
          <a:noFill/>
        </p:spPr>
        <p:txBody>
          <a:bodyPr wrap="square">
            <a:spAutoFit/>
          </a:bodyPr>
          <a:lstStyle/>
          <a:p>
            <a:pPr algn="l"/>
            <a:r>
              <a:rPr lang="en-GB" sz="2800" b="1" i="0" u="none" strike="noStrike" dirty="0">
                <a:effectLst/>
              </a:rPr>
              <a:t>Can natural variability explain observed trends in global warming? Why or why not?</a:t>
            </a:r>
          </a:p>
        </p:txBody>
      </p:sp>
    </p:spTree>
    <p:extLst>
      <p:ext uri="{BB962C8B-B14F-4D97-AF65-F5344CB8AC3E}">
        <p14:creationId xmlns:p14="http://schemas.microsoft.com/office/powerpoint/2010/main" val="2409923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1BB5D09A-9284-7E5F-FFF5-3EE66FEF4B29}"/>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5DA905F-1B11-86BF-7CCA-DC8309938657}"/>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B1C66A9E-D6E6-8F21-EB02-82929298AB3E}"/>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Q7.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6" name="TextBox 5">
            <a:extLst>
              <a:ext uri="{FF2B5EF4-FFF2-40B4-BE49-F238E27FC236}">
                <a16:creationId xmlns:a16="http://schemas.microsoft.com/office/drawing/2014/main" id="{03F25462-154C-5CA6-C063-907346A97654}"/>
              </a:ext>
            </a:extLst>
          </p:cNvPr>
          <p:cNvSpPr txBox="1"/>
          <p:nvPr/>
        </p:nvSpPr>
        <p:spPr>
          <a:xfrm>
            <a:off x="711200" y="2355840"/>
            <a:ext cx="10062818" cy="954107"/>
          </a:xfrm>
          <a:prstGeom prst="rect">
            <a:avLst/>
          </a:prstGeom>
          <a:noFill/>
        </p:spPr>
        <p:txBody>
          <a:bodyPr wrap="square">
            <a:spAutoFit/>
          </a:bodyPr>
          <a:lstStyle/>
          <a:p>
            <a:pPr algn="l"/>
            <a:r>
              <a:rPr lang="en-GB" sz="2800" b="1" i="0" u="none" strike="noStrike" dirty="0">
                <a:solidFill>
                  <a:schemeClr val="bg1"/>
                </a:solidFill>
                <a:effectLst/>
                <a:latin typeface="Calibri" panose="020F0502020204030204" pitchFamily="34" charset="0"/>
                <a:cs typeface="Calibri" panose="020F0502020204030204" pitchFamily="34" charset="0"/>
              </a:rPr>
              <a:t>Can natural variability explain observed trends in global warming? Why or why not?</a:t>
            </a:r>
          </a:p>
        </p:txBody>
      </p:sp>
      <p:sp>
        <p:nvSpPr>
          <p:cNvPr id="8" name="TextBox 7">
            <a:extLst>
              <a:ext uri="{FF2B5EF4-FFF2-40B4-BE49-F238E27FC236}">
                <a16:creationId xmlns:a16="http://schemas.microsoft.com/office/drawing/2014/main" id="{69D1C114-5A32-A678-DCA9-4A2A65D08C90}"/>
              </a:ext>
            </a:extLst>
          </p:cNvPr>
          <p:cNvSpPr txBox="1"/>
          <p:nvPr/>
        </p:nvSpPr>
        <p:spPr>
          <a:xfrm>
            <a:off x="711200" y="3568153"/>
            <a:ext cx="10203544" cy="6524863"/>
          </a:xfrm>
          <a:prstGeom prst="rect">
            <a:avLst/>
          </a:prstGeom>
          <a:noFill/>
        </p:spPr>
        <p:txBody>
          <a:bodyPr wrap="square">
            <a:spAutoFit/>
          </a:bodyPr>
          <a:lstStyle/>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Natural variability can cause short-term fluctuations </a:t>
            </a:r>
            <a:r>
              <a:rPr lang="en-GB" sz="2200" dirty="0">
                <a:solidFill>
                  <a:srgbClr val="FF0000"/>
                </a:solidFill>
                <a:latin typeface="Calibri" panose="020F0502020204030204" pitchFamily="34" charset="0"/>
                <a:cs typeface="Calibri" panose="020F0502020204030204" pitchFamily="34" charset="0"/>
              </a:rPr>
              <a:t>(e.g. solar inputs/ENSO) </a:t>
            </a:r>
            <a:r>
              <a:rPr lang="en-GB" sz="2200" i="0" u="none" strike="noStrike" dirty="0">
                <a:solidFill>
                  <a:srgbClr val="FF0000"/>
                </a:solidFill>
                <a:effectLst/>
                <a:latin typeface="Calibri" panose="020F0502020204030204" pitchFamily="34" charset="0"/>
                <a:cs typeface="Calibri" panose="020F0502020204030204" pitchFamily="34" charset="0"/>
              </a:rPr>
              <a:t>but cannot account for the sustained long-term warming trend observed in recent decades.</a:t>
            </a:r>
          </a:p>
          <a:p>
            <a:pPr marL="285750" indent="-285750" algn="l">
              <a:buFont typeface="Arial" panose="020B0604020202020204" pitchFamily="34" charset="0"/>
              <a:buChar char="•"/>
            </a:pPr>
            <a:endParaRPr lang="en-GB" sz="22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The dominant driver of the current global warming trend is anthropogenic greenhouse gas emissions, which create a persistent energy imbalance (we will learn exactly why next week!)</a:t>
            </a:r>
          </a:p>
          <a:p>
            <a:pPr marL="285750" indent="-285750" algn="l">
              <a:buFont typeface="Arial" panose="020B0604020202020204" pitchFamily="34" charset="0"/>
              <a:buChar char="•"/>
            </a:pPr>
            <a:endParaRPr lang="en-GB" sz="22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Studies using fingerprinting techniques with added process understanding have shown that the observed warming patterns cannot be explained by natural variability alone.</a:t>
            </a:r>
          </a:p>
          <a:p>
            <a:pPr marL="285750" indent="-285750" algn="l">
              <a:buFont typeface="Arial" panose="020B0604020202020204" pitchFamily="34" charset="0"/>
              <a:buChar char="•"/>
            </a:pPr>
            <a:endParaRPr lang="en-GB" sz="22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Evidence from historical records reveals no precedent for the rapid warming seen over the last century.</a:t>
            </a:r>
          </a:p>
          <a:p>
            <a:pPr marL="285750" indent="-285750" algn="l">
              <a:buFont typeface="Arial" panose="020B0604020202020204" pitchFamily="34" charset="0"/>
              <a:buChar char="•"/>
            </a:pPr>
            <a:endParaRPr lang="en-GB" sz="22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Although natural variability modulates short-term trends, the overall trajectory is dominated by human influence.</a:t>
            </a:r>
          </a:p>
          <a:p>
            <a:pPr marL="285750" indent="-285750" algn="l">
              <a:buFont typeface="Arial" panose="020B0604020202020204" pitchFamily="34" charset="0"/>
              <a:buChar char="•"/>
            </a:pPr>
            <a:endParaRPr lang="en-GB" sz="2200" dirty="0">
              <a:solidFill>
                <a:srgbClr val="FF0000"/>
              </a:solidFill>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200" i="0" u="none" strike="noStrike" dirty="0">
                <a:solidFill>
                  <a:srgbClr val="FF0000"/>
                </a:solidFill>
                <a:effectLst/>
                <a:latin typeface="Calibri" panose="020F0502020204030204" pitchFamily="34" charset="0"/>
                <a:cs typeface="Calibri" panose="020F0502020204030204" pitchFamily="34" charset="0"/>
              </a:rPr>
              <a:t>This is not a 100% complete answer – what more reasons can you think of? </a:t>
            </a:r>
          </a:p>
        </p:txBody>
      </p:sp>
      <p:pic>
        <p:nvPicPr>
          <p:cNvPr id="5" name="Picture 4" descr="A graph of the temperature of the earth&#10;&#10;AI-generated content may be incorrect.">
            <a:extLst>
              <a:ext uri="{FF2B5EF4-FFF2-40B4-BE49-F238E27FC236}">
                <a16:creationId xmlns:a16="http://schemas.microsoft.com/office/drawing/2014/main" id="{3A63B2F3-3B54-E555-1C0E-C04BF8809CAF}"/>
              </a:ext>
            </a:extLst>
          </p:cNvPr>
          <p:cNvPicPr>
            <a:picLocks noChangeAspect="1"/>
          </p:cNvPicPr>
          <p:nvPr/>
        </p:nvPicPr>
        <p:blipFill>
          <a:blip r:embed="rId5">
            <a:extLst>
              <a:ext uri="{28A0092B-C50C-407E-A947-70E740481C1C}">
                <a14:useLocalDpi xmlns:a14="http://schemas.microsoft.com/office/drawing/2010/main" val="0"/>
              </a:ext>
            </a:extLst>
          </a:blip>
          <a:srcRect b="4774"/>
          <a:stretch>
            <a:fillRect/>
          </a:stretch>
        </p:blipFill>
        <p:spPr>
          <a:xfrm>
            <a:off x="11049243" y="3701558"/>
            <a:ext cx="7009915" cy="6258052"/>
          </a:xfrm>
          <a:prstGeom prst="rect">
            <a:avLst/>
          </a:prstGeom>
        </p:spPr>
      </p:pic>
    </p:spTree>
    <p:extLst>
      <p:ext uri="{BB962C8B-B14F-4D97-AF65-F5344CB8AC3E}">
        <p14:creationId xmlns:p14="http://schemas.microsoft.com/office/powerpoint/2010/main" val="4017811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82F97-9F41-CFF6-CFBA-EB68530E5443}"/>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32156AB-DBE8-0884-57DF-9ADE08FA500F}"/>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3F23AB10-F998-61DE-ADC4-C968AF942485}"/>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Q8. </a:t>
            </a:r>
          </a:p>
        </p:txBody>
      </p:sp>
      <p:sp>
        <p:nvSpPr>
          <p:cNvPr id="2" name="TextBox 1">
            <a:extLst>
              <a:ext uri="{FF2B5EF4-FFF2-40B4-BE49-F238E27FC236}">
                <a16:creationId xmlns:a16="http://schemas.microsoft.com/office/drawing/2014/main" id="{7F0F9056-B813-4B3D-6A19-9716F74572ED}"/>
              </a:ext>
            </a:extLst>
          </p:cNvPr>
          <p:cNvSpPr txBox="1"/>
          <p:nvPr/>
        </p:nvSpPr>
        <p:spPr>
          <a:xfrm>
            <a:off x="584198" y="2167452"/>
            <a:ext cx="13639802" cy="954107"/>
          </a:xfrm>
          <a:prstGeom prst="rect">
            <a:avLst/>
          </a:prstGeom>
          <a:noFill/>
        </p:spPr>
        <p:txBody>
          <a:bodyPr wrap="square">
            <a:spAutoFit/>
          </a:bodyPr>
          <a:lstStyle/>
          <a:p>
            <a:pPr algn="l"/>
            <a:r>
              <a:rPr lang="en-GB" sz="2800" b="1" i="0" u="none" strike="noStrike" dirty="0">
                <a:effectLst/>
                <a:latin typeface="Calibri" panose="020F0502020204030204" pitchFamily="34" charset="0"/>
                <a:cs typeface="Calibri" panose="020F0502020204030204" pitchFamily="34" charset="0"/>
              </a:rPr>
              <a:t>How might future changes in natural variability interact with anthropogenic climate change to influence global climates</a:t>
            </a:r>
            <a:r>
              <a:rPr lang="en-GB" sz="2800" b="1" dirty="0">
                <a:latin typeface="Calibri" panose="020F0502020204030204" pitchFamily="34" charset="0"/>
                <a:cs typeface="Calibri" panose="020F0502020204030204" pitchFamily="34" charset="0"/>
              </a:rPr>
              <a:t>?</a:t>
            </a:r>
            <a:r>
              <a:rPr lang="en-GB" sz="2800" b="1" i="0" u="none" strike="noStrike" dirty="0">
                <a:solidFill>
                  <a:schemeClr val="bg1"/>
                </a:solidFill>
                <a:effectLst/>
                <a:latin typeface="Calibri" panose="020F0502020204030204" pitchFamily="34" charset="0"/>
                <a:cs typeface="Calibri" panose="020F0502020204030204" pitchFamily="34" charset="0"/>
              </a:rPr>
              <a:t> climates</a:t>
            </a:r>
            <a:r>
              <a:rPr lang="en-GB" sz="2800" b="1" i="0" u="none" strike="noStrike" dirty="0">
                <a:solidFill>
                  <a:schemeClr val="bg1"/>
                </a:solidFill>
                <a:effectLst/>
              </a:rPr>
              <a:t>?</a:t>
            </a:r>
          </a:p>
        </p:txBody>
      </p:sp>
    </p:spTree>
    <p:extLst>
      <p:ext uri="{BB962C8B-B14F-4D97-AF65-F5344CB8AC3E}">
        <p14:creationId xmlns:p14="http://schemas.microsoft.com/office/powerpoint/2010/main" val="1060437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0CFB327-9EE4-B36B-0F15-514A2DAB66CA}"/>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EF9FA36-875A-6D0C-FBEA-AEA638D701BD}"/>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73598EB4-E433-DE54-DA32-3E1C5C018319}"/>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Q8.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5" name="TextBox 4">
            <a:extLst>
              <a:ext uri="{FF2B5EF4-FFF2-40B4-BE49-F238E27FC236}">
                <a16:creationId xmlns:a16="http://schemas.microsoft.com/office/drawing/2014/main" id="{66FCAE27-3D15-809E-7863-75B1D62CDE35}"/>
              </a:ext>
            </a:extLst>
          </p:cNvPr>
          <p:cNvSpPr txBox="1"/>
          <p:nvPr/>
        </p:nvSpPr>
        <p:spPr>
          <a:xfrm>
            <a:off x="584198" y="2167452"/>
            <a:ext cx="13639802" cy="954107"/>
          </a:xfrm>
          <a:prstGeom prst="rect">
            <a:avLst/>
          </a:prstGeom>
          <a:noFill/>
        </p:spPr>
        <p:txBody>
          <a:bodyPr wrap="square">
            <a:spAutoFit/>
          </a:bodyPr>
          <a:lstStyle/>
          <a:p>
            <a:pPr algn="l"/>
            <a:r>
              <a:rPr lang="en-GB" sz="2800" b="1" i="0" u="none" strike="noStrike" dirty="0">
                <a:solidFill>
                  <a:schemeClr val="bg1"/>
                </a:solidFill>
                <a:effectLst/>
                <a:latin typeface="Calibri" panose="020F0502020204030204" pitchFamily="34" charset="0"/>
                <a:cs typeface="Calibri" panose="020F0502020204030204" pitchFamily="34" charset="0"/>
              </a:rPr>
              <a:t>How might future changes in natural variability interact with anthropogenic climate change to influence global climates?</a:t>
            </a:r>
          </a:p>
        </p:txBody>
      </p:sp>
      <p:sp>
        <p:nvSpPr>
          <p:cNvPr id="8" name="TextBox 7">
            <a:extLst>
              <a:ext uri="{FF2B5EF4-FFF2-40B4-BE49-F238E27FC236}">
                <a16:creationId xmlns:a16="http://schemas.microsoft.com/office/drawing/2014/main" id="{D51733A9-3E13-B991-272A-3146711974D1}"/>
              </a:ext>
            </a:extLst>
          </p:cNvPr>
          <p:cNvSpPr txBox="1"/>
          <p:nvPr/>
        </p:nvSpPr>
        <p:spPr>
          <a:xfrm>
            <a:off x="584198" y="3628552"/>
            <a:ext cx="9142898" cy="5632311"/>
          </a:xfrm>
          <a:prstGeom prst="rect">
            <a:avLst/>
          </a:prstGeom>
          <a:noFill/>
        </p:spPr>
        <p:txBody>
          <a:bodyPr wrap="square">
            <a:spAutoFit/>
          </a:bodyPr>
          <a:lstStyle/>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Variability in systems like ENSO could intensify extreme weather events in a warming world.</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Changes in ocean circulation patterns may either exacerbate or moderate regional warming, depending on associated feedbacks.</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Large volcanic eruptions could temporarily offset warming by injecting reflective aerosols into the stratosphere.</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Shifts in natural variability may increase uncertainty in climate projections, complicating long-term planning.</a:t>
            </a:r>
          </a:p>
          <a:p>
            <a:pPr marL="285750" indent="-285750" algn="l">
              <a:buFont typeface="Arial" panose="020B0604020202020204" pitchFamily="34" charset="0"/>
              <a:buChar char="•"/>
            </a:pPr>
            <a:endParaRPr lang="en-GB" sz="2400" i="0" u="none" strike="noStrike" dirty="0">
              <a:solidFill>
                <a:srgbClr val="FF0000"/>
              </a:solidFill>
              <a:effectLst/>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GB" sz="2400" i="0" u="none" strike="noStrike" dirty="0">
                <a:solidFill>
                  <a:srgbClr val="FF0000"/>
                </a:solidFill>
                <a:effectLst/>
                <a:latin typeface="Calibri" panose="020F0502020204030204" pitchFamily="34" charset="0"/>
                <a:cs typeface="Calibri" panose="020F0502020204030204" pitchFamily="34" charset="0"/>
              </a:rPr>
              <a:t>Interactions between human influence and natural variability could result in non-linear climate responses, leading to unexpected regional or global outcomes.</a:t>
            </a:r>
          </a:p>
        </p:txBody>
      </p:sp>
      <p:pic>
        <p:nvPicPr>
          <p:cNvPr id="6" name="Picture 5" descr="A diagram of the earth&#10;&#10;AI-generated content may be incorrect.">
            <a:extLst>
              <a:ext uri="{FF2B5EF4-FFF2-40B4-BE49-F238E27FC236}">
                <a16:creationId xmlns:a16="http://schemas.microsoft.com/office/drawing/2014/main" id="{9A3711E2-58DE-D77D-021E-EDB2B85E3F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27861" y="3922644"/>
            <a:ext cx="8271504" cy="4818000"/>
          </a:xfrm>
          <a:prstGeom prst="rect">
            <a:avLst/>
          </a:prstGeom>
        </p:spPr>
      </p:pic>
    </p:spTree>
    <p:extLst>
      <p:ext uri="{BB962C8B-B14F-4D97-AF65-F5344CB8AC3E}">
        <p14:creationId xmlns:p14="http://schemas.microsoft.com/office/powerpoint/2010/main" val="3958463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7292-037A-2362-8FC2-CCD2CCE0BC9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0545167-0BD9-93C0-F17F-CE392974656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B6C1AB4D-1747-8788-A6A0-3ACD220F0DB7}"/>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Q9. </a:t>
            </a:r>
          </a:p>
        </p:txBody>
      </p:sp>
      <p:sp>
        <p:nvSpPr>
          <p:cNvPr id="2" name="TextBox 1">
            <a:extLst>
              <a:ext uri="{FF2B5EF4-FFF2-40B4-BE49-F238E27FC236}">
                <a16:creationId xmlns:a16="http://schemas.microsoft.com/office/drawing/2014/main" id="{DBB54484-FB24-87ED-892E-8558083394C1}"/>
              </a:ext>
            </a:extLst>
          </p:cNvPr>
          <p:cNvSpPr txBox="1"/>
          <p:nvPr/>
        </p:nvSpPr>
        <p:spPr>
          <a:xfrm>
            <a:off x="584198" y="2167452"/>
            <a:ext cx="13639802" cy="954107"/>
          </a:xfrm>
          <a:prstGeom prst="rect">
            <a:avLst/>
          </a:prstGeom>
          <a:noFill/>
        </p:spPr>
        <p:txBody>
          <a:bodyPr wrap="square">
            <a:spAutoFit/>
          </a:bodyPr>
          <a:lstStyle/>
          <a:p>
            <a:r>
              <a:rPr lang="en-GB" sz="2800" b="1" i="0" u="none" strike="noStrike" dirty="0">
                <a:effectLst/>
                <a:latin typeface="Calibri" panose="020F0502020204030204" pitchFamily="34" charset="0"/>
                <a:cs typeface="Calibri" panose="020F0502020204030204" pitchFamily="34" charset="0"/>
              </a:rPr>
              <a:t>Compare the climatic influence of solar variability and volcanic eruptions. How do their impacts differ in duration and magnitude?</a:t>
            </a:r>
            <a:endParaRPr lang="en-GB" sz="2800" b="1" i="0" u="none" strike="noStrike" dirty="0">
              <a:solidFill>
                <a:schemeClr val="bg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8444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3D18D68-F3D4-C5E0-CEC0-CDF0F7D6C87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CC5CA34-C729-1855-1405-A12CCFE2DB51}"/>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9BDF224F-1B4D-818D-8D0E-FBEB68C9BC1A}"/>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Q9.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4" name="TextBox 3">
            <a:extLst>
              <a:ext uri="{FF2B5EF4-FFF2-40B4-BE49-F238E27FC236}">
                <a16:creationId xmlns:a16="http://schemas.microsoft.com/office/drawing/2014/main" id="{681FC624-062D-1374-8377-FCE94EC32CD7}"/>
              </a:ext>
            </a:extLst>
          </p:cNvPr>
          <p:cNvSpPr txBox="1"/>
          <p:nvPr/>
        </p:nvSpPr>
        <p:spPr>
          <a:xfrm>
            <a:off x="584198" y="2167452"/>
            <a:ext cx="13639802" cy="954107"/>
          </a:xfrm>
          <a:prstGeom prst="rect">
            <a:avLst/>
          </a:prstGeom>
          <a:noFill/>
        </p:spPr>
        <p:txBody>
          <a:bodyPr wrap="square">
            <a:spAutoFit/>
          </a:bodyPr>
          <a:lstStyle/>
          <a:p>
            <a:r>
              <a:rPr lang="en-GB" sz="2800" b="1" i="0" u="none" strike="noStrike" dirty="0">
                <a:solidFill>
                  <a:schemeClr val="bg1"/>
                </a:solidFill>
                <a:effectLst/>
                <a:latin typeface="Calibri" panose="020F0502020204030204" pitchFamily="34" charset="0"/>
                <a:cs typeface="Calibri" panose="020F0502020204030204" pitchFamily="34" charset="0"/>
              </a:rPr>
              <a:t>Compare the climatic influence of solar variability and volcanic eruptions. How do their impacts differ in duration and magnitude?</a:t>
            </a:r>
          </a:p>
        </p:txBody>
      </p:sp>
      <p:sp>
        <p:nvSpPr>
          <p:cNvPr id="7" name="TextBox 6">
            <a:extLst>
              <a:ext uri="{FF2B5EF4-FFF2-40B4-BE49-F238E27FC236}">
                <a16:creationId xmlns:a16="http://schemas.microsoft.com/office/drawing/2014/main" id="{1D6B74FD-52A4-145F-BDCA-8C03841E0201}"/>
              </a:ext>
            </a:extLst>
          </p:cNvPr>
          <p:cNvSpPr txBox="1"/>
          <p:nvPr/>
        </p:nvSpPr>
        <p:spPr>
          <a:xfrm>
            <a:off x="584198" y="3285251"/>
            <a:ext cx="11276498" cy="6524863"/>
          </a:xfrm>
          <a:prstGeom prst="rect">
            <a:avLst/>
          </a:prstGeom>
          <a:noFill/>
        </p:spPr>
        <p:txBody>
          <a:bodyPr wrap="square">
            <a:spAutoFit/>
          </a:bodyPr>
          <a:lstStyle/>
          <a:p>
            <a:r>
              <a:rPr lang="en-GB" sz="2200" b="1" i="0" kern="1200" dirty="0">
                <a:solidFill>
                  <a:srgbClr val="FF0000"/>
                </a:solidFill>
                <a:effectLst/>
                <a:latin typeface="Calibri" panose="020F0502020204030204" pitchFamily="34" charset="0"/>
                <a:cs typeface="Calibri" panose="020F0502020204030204" pitchFamily="34" charset="0"/>
              </a:rPr>
              <a:t>Solar variability</a:t>
            </a:r>
            <a:endParaRPr lang="en-GB" sz="2200" b="0" i="0" kern="1200" dirty="0">
              <a:solidFill>
                <a:srgbClr val="FF0000"/>
              </a:solidFill>
              <a:effectLst/>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Involves natural changes in the Sun’s energy output, such as the 11-year sunspot cycle.</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Changes in total solar irradiance are very small (about 0.1%).</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Leads to minor temperature changes, typically around 0.01 °C.</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Effects occur over decadal timescales and do not explain recent global warming.</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Since the mid-20th century, solar output has shown no increasing trend, while temperatures have risen.</a:t>
            </a:r>
          </a:p>
          <a:p>
            <a:pPr marL="800100" lvl="1" indent="-342900">
              <a:buFont typeface="Arial" panose="020B0604020202020204" pitchFamily="34" charset="0"/>
              <a:buChar char="•"/>
            </a:pPr>
            <a:endParaRPr lang="en-GB" sz="2200" b="0" i="0" kern="1200" dirty="0">
              <a:solidFill>
                <a:srgbClr val="FF0000"/>
              </a:solidFill>
              <a:effectLst/>
              <a:latin typeface="Calibri" panose="020F0502020204030204" pitchFamily="34" charset="0"/>
              <a:cs typeface="Calibri" panose="020F0502020204030204" pitchFamily="34" charset="0"/>
            </a:endParaRPr>
          </a:p>
          <a:p>
            <a:r>
              <a:rPr lang="en-GB" sz="2200" b="1" i="0" kern="1200" dirty="0">
                <a:solidFill>
                  <a:srgbClr val="FF0000"/>
                </a:solidFill>
                <a:effectLst/>
                <a:latin typeface="Calibri" panose="020F0502020204030204" pitchFamily="34" charset="0"/>
                <a:cs typeface="Calibri" panose="020F0502020204030204" pitchFamily="34" charset="0"/>
              </a:rPr>
              <a:t>Volcanic eruptions</a:t>
            </a:r>
            <a:endParaRPr lang="en-GB" sz="2200" b="0" i="0" kern="1200" dirty="0">
              <a:solidFill>
                <a:srgbClr val="FF0000"/>
              </a:solidFill>
              <a:effectLst/>
              <a:latin typeface="Calibri" panose="020F0502020204030204" pitchFamily="34" charset="0"/>
              <a:cs typeface="Calibri" panose="020F0502020204030204" pitchFamily="34" charset="0"/>
            </a:endParaRP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Large eruptions inject sulphur dioxide into the stratosphere, forming sulphate aerosols.</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These aerosols reflect incoming solar radiation, causing global cooling.</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Cooling can reach several tenths of a degree Celsius.</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Effects are short-term, typically lasting 1–3 years.</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A single eruption causes temporary cooling; multiple eruptions would be needed for longer-lasting effects.</a:t>
            </a:r>
          </a:p>
          <a:p>
            <a:endParaRPr lang="en-GB" sz="2200" b="1" i="0" kern="1200" dirty="0">
              <a:solidFill>
                <a:srgbClr val="FF0000"/>
              </a:solidFill>
              <a:effectLst/>
              <a:latin typeface="Calibri" panose="020F0502020204030204" pitchFamily="34" charset="0"/>
              <a:cs typeface="Calibri" panose="020F0502020204030204" pitchFamily="34" charset="0"/>
            </a:endParaRPr>
          </a:p>
          <a:p>
            <a:r>
              <a:rPr lang="en-GB" sz="2200" b="1" i="0" kern="1200" dirty="0">
                <a:solidFill>
                  <a:srgbClr val="FF0000"/>
                </a:solidFill>
                <a:effectLst/>
                <a:latin typeface="Calibri" panose="020F0502020204030204" pitchFamily="34" charset="0"/>
                <a:cs typeface="Calibri" panose="020F0502020204030204" pitchFamily="34" charset="0"/>
              </a:rPr>
              <a:t>Key comparison:</a:t>
            </a:r>
          </a:p>
          <a:p>
            <a:pPr marL="800100" lvl="1" indent="-342900">
              <a:buFont typeface="Arial" panose="020B0604020202020204" pitchFamily="34" charset="0"/>
              <a:buChar char="•"/>
            </a:pPr>
            <a:r>
              <a:rPr lang="en-GB" sz="2200" i="0" kern="1200" dirty="0">
                <a:solidFill>
                  <a:srgbClr val="FF0000"/>
                </a:solidFill>
                <a:effectLst/>
                <a:latin typeface="Calibri" panose="020F0502020204030204" pitchFamily="34" charset="0"/>
                <a:cs typeface="Calibri" panose="020F0502020204030204" pitchFamily="34" charset="0"/>
              </a:rPr>
              <a:t>Solar variability has a small, long-term influence, while volcanic eruptions cause larger but short-lived climate impacts.</a:t>
            </a:r>
          </a:p>
        </p:txBody>
      </p:sp>
      <p:pic>
        <p:nvPicPr>
          <p:cNvPr id="6" name="Picture 5" descr="A diagram of a volcano erupting&#10;&#10;AI-generated content may be incorrect.">
            <a:extLst>
              <a:ext uri="{FF2B5EF4-FFF2-40B4-BE49-F238E27FC236}">
                <a16:creationId xmlns:a16="http://schemas.microsoft.com/office/drawing/2014/main" id="{8A36457B-B448-4B6D-7E12-61BA319CB613}"/>
              </a:ext>
            </a:extLst>
          </p:cNvPr>
          <p:cNvPicPr>
            <a:picLocks noChangeAspect="1"/>
          </p:cNvPicPr>
          <p:nvPr/>
        </p:nvPicPr>
        <p:blipFill>
          <a:blip r:embed="rId5">
            <a:extLst>
              <a:ext uri="{28A0092B-C50C-407E-A947-70E740481C1C}">
                <a14:useLocalDpi xmlns:a14="http://schemas.microsoft.com/office/drawing/2010/main" val="0"/>
              </a:ext>
            </a:extLst>
          </a:blip>
          <a:srcRect l="15217" r="11637"/>
          <a:stretch>
            <a:fillRect/>
          </a:stretch>
        </p:blipFill>
        <p:spPr>
          <a:xfrm>
            <a:off x="12099234" y="3856383"/>
            <a:ext cx="5811201" cy="5190527"/>
          </a:xfrm>
          <a:prstGeom prst="rect">
            <a:avLst/>
          </a:prstGeom>
        </p:spPr>
      </p:pic>
    </p:spTree>
    <p:extLst>
      <p:ext uri="{BB962C8B-B14F-4D97-AF65-F5344CB8AC3E}">
        <p14:creationId xmlns:p14="http://schemas.microsoft.com/office/powerpoint/2010/main" val="1954752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3F22-833D-C785-66A5-C8F1E82191F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93AEC4FF-81FC-8C78-75D0-978DA25818A0}"/>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ＭＳ Ｐゴシック" panose="020B0600070205080204" pitchFamily="34" charset="-128"/>
            </a:endParaRPr>
          </a:p>
        </p:txBody>
      </p:sp>
      <p:sp>
        <p:nvSpPr>
          <p:cNvPr id="5" name="TextBox 14">
            <a:extLst>
              <a:ext uri="{FF2B5EF4-FFF2-40B4-BE49-F238E27FC236}">
                <a16:creationId xmlns:a16="http://schemas.microsoft.com/office/drawing/2014/main" id="{97783A57-DBF2-CE39-8449-9CE5BE2B7041}"/>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srgbClr val="46245A"/>
                </a:solidFill>
                <a:latin typeface="DM Sans Bold"/>
                <a:ea typeface="ＭＳ Ｐゴシック" panose="020B0600070205080204" pitchFamily="34" charset="-128"/>
              </a:rPr>
              <a:t>Q10. </a:t>
            </a:r>
          </a:p>
        </p:txBody>
      </p:sp>
      <p:sp>
        <p:nvSpPr>
          <p:cNvPr id="6" name="TextBox 5">
            <a:extLst>
              <a:ext uri="{FF2B5EF4-FFF2-40B4-BE49-F238E27FC236}">
                <a16:creationId xmlns:a16="http://schemas.microsoft.com/office/drawing/2014/main" id="{D9E9F727-C196-9F8E-2F0F-5BB6737DB3D2}"/>
              </a:ext>
            </a:extLst>
          </p:cNvPr>
          <p:cNvSpPr txBox="1"/>
          <p:nvPr/>
        </p:nvSpPr>
        <p:spPr>
          <a:xfrm>
            <a:off x="584198" y="2167452"/>
            <a:ext cx="17246602" cy="523220"/>
          </a:xfrm>
          <a:prstGeom prst="rect">
            <a:avLst/>
          </a:prstGeom>
          <a:noFill/>
        </p:spPr>
        <p:txBody>
          <a:bodyPr wrap="square">
            <a:spAutoFit/>
          </a:bodyPr>
          <a:lstStyle/>
          <a:p>
            <a:r>
              <a:rPr lang="en-GB" sz="2800" b="1" i="0" u="none" strike="noStrike" dirty="0">
                <a:effectLst/>
              </a:rPr>
              <a:t>Why can’t natural climate drivers explain the observed warming since the mid-20th century?</a:t>
            </a:r>
          </a:p>
        </p:txBody>
      </p:sp>
    </p:spTree>
    <p:extLst>
      <p:ext uri="{BB962C8B-B14F-4D97-AF65-F5344CB8AC3E}">
        <p14:creationId xmlns:p14="http://schemas.microsoft.com/office/powerpoint/2010/main" val="1661012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BA37D3B3-36B1-D3B5-8FC8-2D905A7688D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1A328FC0-B18C-2788-1C16-618F8A820693}"/>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defTabSz="914445">
              <a:defRPr/>
            </a:pPr>
            <a:endParaRPr lang="en-GB">
              <a:solidFill>
                <a:prstClr val="black"/>
              </a:solidFill>
              <a:latin typeface="DM Sans" pitchFamily="2" charset="0"/>
              <a:ea typeface="MS PGothic" panose="020B0600070205080204" pitchFamily="34" charset="-128"/>
            </a:endParaRPr>
          </a:p>
        </p:txBody>
      </p:sp>
      <p:sp>
        <p:nvSpPr>
          <p:cNvPr id="2" name="TextBox 14">
            <a:extLst>
              <a:ext uri="{FF2B5EF4-FFF2-40B4-BE49-F238E27FC236}">
                <a16:creationId xmlns:a16="http://schemas.microsoft.com/office/drawing/2014/main" id="{24FDE969-B991-BB01-0D98-4DB4D94A7953}"/>
              </a:ext>
            </a:extLst>
          </p:cNvPr>
          <p:cNvSpPr txBox="1"/>
          <p:nvPr/>
        </p:nvSpPr>
        <p:spPr>
          <a:xfrm>
            <a:off x="584198" y="1026137"/>
            <a:ext cx="11004828" cy="884858"/>
          </a:xfrm>
          <a:prstGeom prst="rect">
            <a:avLst/>
          </a:prstGeom>
        </p:spPr>
        <p:txBody>
          <a:bodyPr wrap="square" lIns="0" tIns="0" rIns="0" bIns="0" rtlCol="0" anchor="t">
            <a:spAutoFit/>
          </a:bodyPr>
          <a:lstStyle/>
          <a:p>
            <a:pPr defTabSz="914445">
              <a:lnSpc>
                <a:spcPts val="6860"/>
              </a:lnSpc>
              <a:defRPr/>
            </a:pPr>
            <a:r>
              <a:rPr lang="en-US" sz="6000" i="1" spc="-413" dirty="0">
                <a:solidFill>
                  <a:prstClr val="white"/>
                </a:solidFill>
                <a:latin typeface="DM Sans Bold"/>
                <a:ea typeface="ＭＳ Ｐゴシック" panose="020B0600070205080204" pitchFamily="34" charset="-128"/>
              </a:rPr>
              <a:t>Q10. </a:t>
            </a:r>
            <a:r>
              <a:rPr lang="en-US" sz="6000" i="1" spc="-413" dirty="0">
                <a:solidFill>
                  <a:srgbClr val="FF0000"/>
                </a:solidFill>
                <a:latin typeface="DM Sans Bold"/>
                <a:ea typeface="ＭＳ Ｐゴシック" panose="020B0600070205080204" pitchFamily="34" charset="-128"/>
              </a:rPr>
              <a:t>Answer </a:t>
            </a:r>
            <a:r>
              <a:rPr lang="en-US" sz="6000" i="1" spc="-413" dirty="0">
                <a:solidFill>
                  <a:prstClr val="white"/>
                </a:solidFill>
                <a:latin typeface="DM Sans Bold"/>
                <a:ea typeface="ＭＳ Ｐゴシック" panose="020B0600070205080204" pitchFamily="34" charset="-128"/>
              </a:rPr>
              <a:t> </a:t>
            </a:r>
          </a:p>
        </p:txBody>
      </p:sp>
      <p:sp>
        <p:nvSpPr>
          <p:cNvPr id="4" name="TextBox 3">
            <a:extLst>
              <a:ext uri="{FF2B5EF4-FFF2-40B4-BE49-F238E27FC236}">
                <a16:creationId xmlns:a16="http://schemas.microsoft.com/office/drawing/2014/main" id="{7D88D9E2-0869-CD43-9A4F-FA900E9F15F8}"/>
              </a:ext>
            </a:extLst>
          </p:cNvPr>
          <p:cNvSpPr txBox="1"/>
          <p:nvPr/>
        </p:nvSpPr>
        <p:spPr>
          <a:xfrm>
            <a:off x="584197" y="2167452"/>
            <a:ext cx="17029315" cy="523220"/>
          </a:xfrm>
          <a:prstGeom prst="rect">
            <a:avLst/>
          </a:prstGeom>
          <a:noFill/>
        </p:spPr>
        <p:txBody>
          <a:bodyPr wrap="square">
            <a:spAutoFit/>
          </a:bodyPr>
          <a:lstStyle/>
          <a:p>
            <a:r>
              <a:rPr lang="en-GB" sz="2800" b="1" i="0" u="none" strike="noStrike" dirty="0">
                <a:solidFill>
                  <a:schemeClr val="bg1"/>
                </a:solidFill>
                <a:effectLst/>
              </a:rPr>
              <a:t>Why can’t natural climate drivers explain the observed warming since the mid-20th century?</a:t>
            </a:r>
          </a:p>
        </p:txBody>
      </p:sp>
      <p:sp>
        <p:nvSpPr>
          <p:cNvPr id="6" name="TextBox 5">
            <a:extLst>
              <a:ext uri="{FF2B5EF4-FFF2-40B4-BE49-F238E27FC236}">
                <a16:creationId xmlns:a16="http://schemas.microsoft.com/office/drawing/2014/main" id="{6CE22B87-DC1A-5649-AD66-BC6CFA0576E4}"/>
              </a:ext>
            </a:extLst>
          </p:cNvPr>
          <p:cNvSpPr txBox="1"/>
          <p:nvPr/>
        </p:nvSpPr>
        <p:spPr>
          <a:xfrm>
            <a:off x="584197" y="2947127"/>
            <a:ext cx="17029315" cy="6370975"/>
          </a:xfrm>
          <a:prstGeom prst="rect">
            <a:avLst/>
          </a:prstGeom>
          <a:noFill/>
        </p:spPr>
        <p:txBody>
          <a:bodyPr wrap="square">
            <a:spAutoFit/>
          </a:bodyPr>
          <a:lstStyle/>
          <a:p>
            <a:r>
              <a:rPr lang="en-GB" sz="2400" i="0" kern="1200" dirty="0">
                <a:solidFill>
                  <a:srgbClr val="FF0000"/>
                </a:solidFill>
                <a:effectLst/>
                <a:latin typeface="Calibri" panose="020F0502020204030204" pitchFamily="34" charset="0"/>
                <a:cs typeface="Calibri" panose="020F0502020204030204" pitchFamily="34" charset="0"/>
              </a:rPr>
              <a:t>Natural climate drivers (solar variability, volcanic activity, orbital changes, and ocean circulation) cause short-term or long-term fluctuations, not sustained warming.</a:t>
            </a:r>
          </a:p>
          <a:p>
            <a:endParaRPr lang="en-GB" sz="2400" i="0" kern="1200" dirty="0">
              <a:solidFill>
                <a:srgbClr val="FF0000"/>
              </a:solidFill>
              <a:effectLst/>
              <a:latin typeface="Calibri" panose="020F0502020204030204" pitchFamily="34" charset="0"/>
              <a:cs typeface="Calibri" panose="020F0502020204030204" pitchFamily="34" charset="0"/>
            </a:endParaRPr>
          </a:p>
          <a:p>
            <a:r>
              <a:rPr lang="en-GB" sz="2400" i="0" kern="1200" dirty="0">
                <a:solidFill>
                  <a:srgbClr val="FF0000"/>
                </a:solidFill>
                <a:effectLst/>
                <a:latin typeface="Calibri" panose="020F0502020204030204" pitchFamily="34" charset="0"/>
                <a:cs typeface="Calibri" panose="020F0502020204030204" pitchFamily="34" charset="0"/>
              </a:rPr>
              <a:t>Solar output has shown no increasing trend since the mid-20th century, while global temperatures have risen rapidly. If the Sun were causing warming, we would expect warming throughout the atmosphere, but observations show surface warming and stratospheric cooling, which is a greenhouse gas signature.</a:t>
            </a:r>
          </a:p>
          <a:p>
            <a:endParaRPr lang="en-GB" sz="2400" i="0" kern="1200" dirty="0">
              <a:solidFill>
                <a:srgbClr val="FF0000"/>
              </a:solidFill>
              <a:effectLst/>
              <a:latin typeface="Calibri" panose="020F0502020204030204" pitchFamily="34" charset="0"/>
              <a:cs typeface="Calibri" panose="020F0502020204030204" pitchFamily="34" charset="0"/>
            </a:endParaRPr>
          </a:p>
          <a:p>
            <a:r>
              <a:rPr lang="en-GB" sz="2400" i="0" kern="1200" dirty="0">
                <a:solidFill>
                  <a:srgbClr val="FF0000"/>
                </a:solidFill>
                <a:effectLst/>
                <a:latin typeface="Calibri" panose="020F0502020204030204" pitchFamily="34" charset="0"/>
                <a:cs typeface="Calibri" panose="020F0502020204030204" pitchFamily="34" charset="0"/>
              </a:rPr>
              <a:t>Volcanic eruptions cause short-term cooling, not long-term warming.</a:t>
            </a:r>
          </a:p>
          <a:p>
            <a:endParaRPr lang="en-GB" sz="2400" i="0" kern="1200" dirty="0">
              <a:solidFill>
                <a:srgbClr val="FF0000"/>
              </a:solidFill>
              <a:effectLst/>
              <a:latin typeface="Calibri" panose="020F0502020204030204" pitchFamily="34" charset="0"/>
              <a:cs typeface="Calibri" panose="020F0502020204030204" pitchFamily="34" charset="0"/>
            </a:endParaRPr>
          </a:p>
          <a:p>
            <a:r>
              <a:rPr lang="en-GB" sz="2400" i="0" kern="1200" dirty="0">
                <a:solidFill>
                  <a:srgbClr val="FF0000"/>
                </a:solidFill>
                <a:effectLst/>
                <a:latin typeface="Calibri" panose="020F0502020204030204" pitchFamily="34" charset="0"/>
                <a:cs typeface="Calibri" panose="020F0502020204030204" pitchFamily="34" charset="0"/>
              </a:rPr>
              <a:t>Orbital (Milankovitch) cycles operate over thousands to tens of thousands of years, far too slowly to explain recent warming.</a:t>
            </a:r>
          </a:p>
          <a:p>
            <a:endParaRPr lang="en-GB" sz="2400" i="0" kern="1200" dirty="0">
              <a:solidFill>
                <a:srgbClr val="FF0000"/>
              </a:solidFill>
              <a:effectLst/>
              <a:latin typeface="Calibri" panose="020F0502020204030204" pitchFamily="34" charset="0"/>
              <a:cs typeface="Calibri" panose="020F0502020204030204" pitchFamily="34" charset="0"/>
            </a:endParaRPr>
          </a:p>
          <a:p>
            <a:r>
              <a:rPr lang="en-GB" sz="2400" i="0" kern="1200" dirty="0">
                <a:solidFill>
                  <a:srgbClr val="FF0000"/>
                </a:solidFill>
                <a:effectLst/>
                <a:latin typeface="Calibri" panose="020F0502020204030204" pitchFamily="34" charset="0"/>
                <a:cs typeface="Calibri" panose="020F0502020204030204" pitchFamily="34" charset="0"/>
              </a:rPr>
              <a:t>The magnitude and rate of modern warming are much larger and faster than those seen in natural variability alone.</a:t>
            </a:r>
          </a:p>
          <a:p>
            <a:r>
              <a:rPr lang="en-GB" sz="2400" i="0" kern="1200" dirty="0">
                <a:solidFill>
                  <a:srgbClr val="FF0000"/>
                </a:solidFill>
                <a:effectLst/>
                <a:latin typeface="Calibri" panose="020F0502020204030204" pitchFamily="34" charset="0"/>
                <a:cs typeface="Calibri" panose="020F0502020204030204" pitchFamily="34" charset="0"/>
              </a:rPr>
              <a:t>Observations and climate models show that anthropogenic greenhouse gas emissions dominate recent warming.</a:t>
            </a:r>
          </a:p>
          <a:p>
            <a:endParaRPr lang="en-GB" sz="2400" i="0" kern="1200" dirty="0">
              <a:solidFill>
                <a:srgbClr val="FF0000"/>
              </a:solidFill>
              <a:effectLst/>
              <a:latin typeface="Calibri" panose="020F0502020204030204" pitchFamily="34" charset="0"/>
              <a:cs typeface="Calibri" panose="020F0502020204030204" pitchFamily="34" charset="0"/>
            </a:endParaRPr>
          </a:p>
          <a:p>
            <a:r>
              <a:rPr lang="en-GB" sz="2400" b="1" i="0" kern="1200" dirty="0">
                <a:solidFill>
                  <a:srgbClr val="FF0000"/>
                </a:solidFill>
                <a:effectLst/>
                <a:latin typeface="Calibri" panose="020F0502020204030204" pitchFamily="34" charset="0"/>
                <a:cs typeface="Calibri" panose="020F0502020204030204" pitchFamily="34" charset="0"/>
              </a:rPr>
              <a:t>Key conclusion:</a:t>
            </a:r>
            <a:br>
              <a:rPr lang="en-GB" sz="2400" i="0" kern="1200" dirty="0">
                <a:solidFill>
                  <a:srgbClr val="FF0000"/>
                </a:solidFill>
                <a:effectLst/>
                <a:latin typeface="Calibri" panose="020F0502020204030204" pitchFamily="34" charset="0"/>
                <a:cs typeface="Calibri" panose="020F0502020204030204" pitchFamily="34" charset="0"/>
              </a:rPr>
            </a:br>
            <a:r>
              <a:rPr lang="en-GB" sz="2400" i="0" kern="1200" dirty="0">
                <a:solidFill>
                  <a:srgbClr val="FF0000"/>
                </a:solidFill>
                <a:effectLst/>
                <a:latin typeface="Calibri" panose="020F0502020204030204" pitchFamily="34" charset="0"/>
                <a:cs typeface="Calibri" panose="020F0502020204030204" pitchFamily="34" charset="0"/>
              </a:rPr>
              <a:t>Natural variability can explain short-term fluctuations, but human-driven greenhouse gas emissions are responsible for the sustained warming </a:t>
            </a:r>
            <a:r>
              <a:rPr lang="en-GB" sz="2400" dirty="0">
                <a:solidFill>
                  <a:srgbClr val="FF0000"/>
                </a:solidFill>
                <a:latin typeface="Calibri" panose="020F0502020204030204" pitchFamily="34" charset="0"/>
                <a:cs typeface="Calibri" panose="020F0502020204030204" pitchFamily="34" charset="0"/>
              </a:rPr>
              <a:t>seen over the last 150 years. </a:t>
            </a:r>
            <a:endParaRPr lang="en-GB" sz="2400" i="0" kern="1200" dirty="0">
              <a:solidFill>
                <a:srgbClr val="FF000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3155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E3B905-089B-4AAB-92C2-9145328F7EB6}">
  <ds:schemaRefs>
    <ds:schemaRef ds:uri="http://schemas.microsoft.com/sharepoint/v3/contenttype/forms"/>
  </ds:schemaRefs>
</ds:datastoreItem>
</file>

<file path=customXml/itemProps2.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5704</TotalTime>
  <Words>2123</Words>
  <Application>Microsoft Macintosh PowerPoint</Application>
  <PresentationFormat>Custom</PresentationFormat>
  <Paragraphs>195</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DM Sans</vt:lpstr>
      <vt:lpstr>Calibri</vt:lpstr>
      <vt:lpstr>ＭＳ Ｐゴシック</vt:lpstr>
      <vt:lpstr>DM Sans Bold</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77</cp:revision>
  <dcterms:created xsi:type="dcterms:W3CDTF">2006-08-16T00:00:00Z</dcterms:created>
  <dcterms:modified xsi:type="dcterms:W3CDTF">2026-02-09T08:17:02Z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