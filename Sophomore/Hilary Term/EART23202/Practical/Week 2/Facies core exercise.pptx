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7" r:id="rId2"/>
    <p:sldId id="258" r:id="rId3"/>
    <p:sldId id="262" r:id="rId4"/>
    <p:sldId id="260" r:id="rId5"/>
    <p:sldId id="256" r:id="rId6"/>
    <p:sldId id="259" r:id="rId7"/>
    <p:sldId id="263" r:id="rId8"/>
    <p:sldId id="261"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82869" autoAdjust="0"/>
  </p:normalViewPr>
  <p:slideViewPr>
    <p:cSldViewPr snapToGrid="0">
      <p:cViewPr>
        <p:scale>
          <a:sx n="125" d="100"/>
          <a:sy n="125" d="100"/>
        </p:scale>
        <p:origin x="2784"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2AB03-C559-472E-8EB0-08855F7204AC}" type="datetimeFigureOut">
              <a:rPr lang="en-GB" smtClean="0"/>
              <a:t>14/02/2022</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5897F3-7547-49CF-BF84-A289E99A0440}" type="slidenum">
              <a:rPr lang="en-GB" smtClean="0"/>
              <a:t>‹#›</a:t>
            </a:fld>
            <a:endParaRPr lang="en-GB"/>
          </a:p>
        </p:txBody>
      </p:sp>
    </p:spTree>
    <p:extLst>
      <p:ext uri="{BB962C8B-B14F-4D97-AF65-F5344CB8AC3E}">
        <p14:creationId xmlns:p14="http://schemas.microsoft.com/office/powerpoint/2010/main" val="1606518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owlcation.com/stem/10-Bizarre-Beasts-that-Roamed-the-Carboniferous-Sea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oi.org/10.1144/GSL.MEM.2003.020.01.68"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1" kern="1200" dirty="0" err="1" smtClean="0">
                <a:solidFill>
                  <a:schemeClr val="tx1"/>
                </a:solidFill>
                <a:effectLst/>
                <a:latin typeface="+mn-lt"/>
                <a:ea typeface="+mn-ea"/>
                <a:cs typeface="+mn-cs"/>
              </a:rPr>
              <a:t>Stethacanthus</a:t>
            </a:r>
            <a:r>
              <a:rPr lang="en-GB" sz="1200" b="0" i="1" kern="1200" dirty="0" smtClean="0">
                <a:solidFill>
                  <a:schemeClr val="tx1"/>
                </a:solidFill>
                <a:effectLst/>
                <a:latin typeface="+mn-lt"/>
                <a:ea typeface="+mn-ea"/>
                <a:cs typeface="+mn-cs"/>
              </a:rPr>
              <a:t> </a:t>
            </a:r>
            <a:r>
              <a:rPr lang="en-GB" dirty="0" smtClean="0">
                <a:hlinkClick r:id="rId3"/>
              </a:rPr>
              <a:t>10 Bizarre Beasts That Roamed the Carboniferous Waters – </a:t>
            </a:r>
            <a:r>
              <a:rPr lang="en-GB" dirty="0" err="1" smtClean="0">
                <a:hlinkClick r:id="rId3"/>
              </a:rPr>
              <a:t>Owlcation</a:t>
            </a:r>
            <a:endParaRPr lang="en-GB" dirty="0" smtClean="0"/>
          </a:p>
          <a:p>
            <a:r>
              <a:rPr lang="en-GB" sz="1200" b="0" i="0" kern="1200" dirty="0" err="1" smtClean="0">
                <a:solidFill>
                  <a:schemeClr val="tx1"/>
                </a:solidFill>
                <a:effectLst/>
                <a:latin typeface="+mn-lt"/>
                <a:ea typeface="+mn-ea"/>
                <a:cs typeface="+mn-cs"/>
              </a:rPr>
              <a:t>Stethacanthus</a:t>
            </a:r>
            <a:r>
              <a:rPr lang="en-GB" sz="1200" b="0" i="0" kern="1200" dirty="0" smtClean="0">
                <a:solidFill>
                  <a:schemeClr val="tx1"/>
                </a:solidFill>
                <a:effectLst/>
                <a:latin typeface="+mn-lt"/>
                <a:ea typeface="+mn-ea"/>
                <a:cs typeface="+mn-cs"/>
              </a:rPr>
              <a:t> was a cartilaginous fish that resembled a shark in appearance. It lived from the late Devonian Period to the late Carboniferous Period (383 to 299 million years ago). Fossils of this animal have been found in Asia, Russia, North America, and Europe.</a:t>
            </a:r>
          </a:p>
          <a:p>
            <a:r>
              <a:rPr lang="en-GB" sz="1200" b="0" i="0" kern="1200" dirty="0" err="1" smtClean="0">
                <a:solidFill>
                  <a:schemeClr val="tx1"/>
                </a:solidFill>
                <a:effectLst/>
                <a:latin typeface="+mn-lt"/>
                <a:ea typeface="+mn-ea"/>
                <a:cs typeface="+mn-cs"/>
              </a:rPr>
              <a:t>Stethacanthus</a:t>
            </a:r>
            <a:r>
              <a:rPr lang="en-GB" sz="1200" b="0" i="0" kern="1200" dirty="0" smtClean="0">
                <a:solidFill>
                  <a:schemeClr val="tx1"/>
                </a:solidFill>
                <a:effectLst/>
                <a:latin typeface="+mn-lt"/>
                <a:ea typeface="+mn-ea"/>
                <a:cs typeface="+mn-cs"/>
              </a:rPr>
              <a:t> typically grew around 70 </a:t>
            </a:r>
            <a:r>
              <a:rPr lang="en-GB" sz="1200" b="0" i="0" kern="1200" dirty="0" err="1" smtClean="0">
                <a:solidFill>
                  <a:schemeClr val="tx1"/>
                </a:solidFill>
                <a:effectLst/>
                <a:latin typeface="+mn-lt"/>
                <a:ea typeface="+mn-ea"/>
                <a:cs typeface="+mn-cs"/>
              </a:rPr>
              <a:t>centimeters</a:t>
            </a:r>
            <a:r>
              <a:rPr lang="en-GB" sz="1200" b="0" i="0" kern="1200" dirty="0" smtClean="0">
                <a:solidFill>
                  <a:schemeClr val="tx1"/>
                </a:solidFill>
                <a:effectLst/>
                <a:latin typeface="+mn-lt"/>
                <a:ea typeface="+mn-ea"/>
                <a:cs typeface="+mn-cs"/>
              </a:rPr>
              <a:t> (2.3 feet) in length and is best known for its bizarre anvil-shaped dorsal fin, which has only been identified in males. Small dermal spikes covered the top of the dorsal fin and animal's head. The purpose of this large dorsal fin is still unknown. It may have played a role in attracting females or possibly was used during the mating process. It also may have been used to deter potential predators.</a:t>
            </a:r>
          </a:p>
          <a:p>
            <a:r>
              <a:rPr lang="en-GB" sz="1200" b="0" i="0" kern="1200" dirty="0" smtClean="0">
                <a:solidFill>
                  <a:schemeClr val="tx1"/>
                </a:solidFill>
                <a:effectLst/>
                <a:latin typeface="+mn-lt"/>
                <a:ea typeface="+mn-ea"/>
                <a:cs typeface="+mn-cs"/>
              </a:rPr>
              <a:t>Researchers believe </a:t>
            </a:r>
            <a:r>
              <a:rPr lang="en-GB" sz="1200" b="0" i="0" kern="1200" dirty="0" err="1" smtClean="0">
                <a:solidFill>
                  <a:schemeClr val="tx1"/>
                </a:solidFill>
                <a:effectLst/>
                <a:latin typeface="+mn-lt"/>
                <a:ea typeface="+mn-ea"/>
                <a:cs typeface="+mn-cs"/>
              </a:rPr>
              <a:t>Stethacanthus</a:t>
            </a:r>
            <a:r>
              <a:rPr lang="en-GB" sz="1200" b="0" i="0" kern="1200" dirty="0" smtClean="0">
                <a:solidFill>
                  <a:schemeClr val="tx1"/>
                </a:solidFill>
                <a:effectLst/>
                <a:latin typeface="+mn-lt"/>
                <a:ea typeface="+mn-ea"/>
                <a:cs typeface="+mn-cs"/>
              </a:rPr>
              <a:t> was a slow swimmer, as its over-sized dorsal fin likely prevented it from being able to reach high speeds in the water. Its teeth were fairly small in comparison to other predatory fish of the period, meaning that it may have been a bottom-dweller that fed on crustaceans and smaller bottom-feeding fish.</a:t>
            </a:r>
          </a:p>
          <a:p>
            <a:r>
              <a:rPr lang="en-GB" dirty="0" smtClean="0">
                <a:effectLst/>
              </a:rPr>
              <a:t/>
            </a:r>
            <a:br>
              <a:rPr lang="en-GB" dirty="0" smtClean="0">
                <a:effectLst/>
              </a:rPr>
            </a:br>
            <a:endParaRPr lang="en-GB" dirty="0"/>
          </a:p>
        </p:txBody>
      </p:sp>
      <p:sp>
        <p:nvSpPr>
          <p:cNvPr id="4" name="Slide Number Placeholder 3"/>
          <p:cNvSpPr>
            <a:spLocks noGrp="1"/>
          </p:cNvSpPr>
          <p:nvPr>
            <p:ph type="sldNum" sz="quarter" idx="10"/>
          </p:nvPr>
        </p:nvSpPr>
        <p:spPr/>
        <p:txBody>
          <a:bodyPr/>
          <a:lstStyle/>
          <a:p>
            <a:fld id="{065897F3-7547-49CF-BF84-A289E99A0440}" type="slidenum">
              <a:rPr lang="en-GB" smtClean="0"/>
              <a:t>1</a:t>
            </a:fld>
            <a:endParaRPr lang="en-GB"/>
          </a:p>
        </p:txBody>
      </p:sp>
    </p:spTree>
    <p:extLst>
      <p:ext uri="{BB962C8B-B14F-4D97-AF65-F5344CB8AC3E}">
        <p14:creationId xmlns:p14="http://schemas.microsoft.com/office/powerpoint/2010/main" val="1421282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smtClean="0">
                <a:solidFill>
                  <a:schemeClr val="tx1"/>
                </a:solidFill>
                <a:effectLst/>
                <a:latin typeface="+mn-lt"/>
                <a:ea typeface="+mn-ea"/>
                <a:cs typeface="+mn-cs"/>
              </a:rPr>
              <a:t>MMSCFD:</a:t>
            </a:r>
            <a:r>
              <a:rPr lang="en-GB" sz="1200" b="1" i="0" kern="1200" baseline="0" dirty="0" smtClean="0">
                <a:solidFill>
                  <a:schemeClr val="tx1"/>
                </a:solidFill>
                <a:effectLst/>
                <a:latin typeface="+mn-lt"/>
                <a:ea typeface="+mn-ea"/>
                <a:cs typeface="+mn-cs"/>
              </a:rPr>
              <a:t> </a:t>
            </a:r>
            <a:r>
              <a:rPr lang="en-GB" sz="1200" b="1" i="0" kern="1200" dirty="0" smtClean="0">
                <a:solidFill>
                  <a:schemeClr val="tx1"/>
                </a:solidFill>
                <a:effectLst/>
                <a:latin typeface="+mn-lt"/>
                <a:ea typeface="+mn-ea"/>
                <a:cs typeface="+mn-cs"/>
              </a:rPr>
              <a:t>Million standard cubic feet per day</a:t>
            </a:r>
          </a:p>
          <a:p>
            <a:endParaRPr lang="en-GB" sz="1200" b="1" i="0" kern="1200" dirty="0" smtClean="0">
              <a:solidFill>
                <a:schemeClr val="tx1"/>
              </a:solidFill>
              <a:effectLst/>
              <a:latin typeface="+mn-lt"/>
              <a:ea typeface="+mn-ea"/>
              <a:cs typeface="+mn-cs"/>
            </a:endParaRPr>
          </a:p>
          <a:p>
            <a:r>
              <a:rPr lang="en-GB" sz="1200" b="0" i="0" kern="1200" dirty="0" smtClean="0">
                <a:solidFill>
                  <a:schemeClr val="tx1"/>
                </a:solidFill>
                <a:effectLst/>
                <a:latin typeface="+mn-lt"/>
                <a:ea typeface="+mn-ea"/>
                <a:cs typeface="+mn-cs"/>
              </a:rPr>
              <a:t>Conway,</a:t>
            </a:r>
            <a:r>
              <a:rPr lang="en-GB" sz="1200" b="0" i="0" kern="1200" baseline="0" dirty="0" smtClean="0">
                <a:solidFill>
                  <a:schemeClr val="tx1"/>
                </a:solidFill>
                <a:effectLst/>
                <a:latin typeface="+mn-lt"/>
                <a:ea typeface="+mn-ea"/>
                <a:cs typeface="+mn-cs"/>
              </a:rPr>
              <a:t> A.M. and </a:t>
            </a:r>
            <a:r>
              <a:rPr lang="en-GB" sz="1200" b="0" i="0" kern="1200" baseline="0" dirty="0" err="1" smtClean="0">
                <a:solidFill>
                  <a:schemeClr val="tx1"/>
                </a:solidFill>
                <a:effectLst/>
                <a:latin typeface="+mn-lt"/>
                <a:ea typeface="+mn-ea"/>
                <a:cs typeface="+mn-cs"/>
              </a:rPr>
              <a:t>Valvatne</a:t>
            </a:r>
            <a:r>
              <a:rPr lang="en-GB" sz="1200" b="0" i="0" kern="1200" baseline="0" dirty="0" smtClean="0">
                <a:solidFill>
                  <a:schemeClr val="tx1"/>
                </a:solidFill>
                <a:effectLst/>
                <a:latin typeface="+mn-lt"/>
                <a:ea typeface="+mn-ea"/>
                <a:cs typeface="+mn-cs"/>
              </a:rPr>
              <a:t>, C. 2003. The </a:t>
            </a:r>
            <a:r>
              <a:rPr lang="en-GB" sz="1200" b="0" i="0" kern="1200" baseline="0" dirty="0" err="1" smtClean="0">
                <a:solidFill>
                  <a:schemeClr val="tx1"/>
                </a:solidFill>
                <a:effectLst/>
                <a:latin typeface="+mn-lt"/>
                <a:ea typeface="+mn-ea"/>
                <a:cs typeface="+mn-cs"/>
              </a:rPr>
              <a:t>Boulton</a:t>
            </a:r>
            <a:r>
              <a:rPr lang="en-GB" sz="1200" b="0" i="0" kern="1200" baseline="0" dirty="0" smtClean="0">
                <a:solidFill>
                  <a:schemeClr val="tx1"/>
                </a:solidFill>
                <a:effectLst/>
                <a:latin typeface="+mn-lt"/>
                <a:ea typeface="+mn-ea"/>
                <a:cs typeface="+mn-cs"/>
              </a:rPr>
              <a:t> Field, Block 44/21a, UK North Sea. In: </a:t>
            </a:r>
            <a:r>
              <a:rPr lang="en-GB" sz="1200" b="0" i="0" u="none" strike="noStrike" kern="1200" baseline="0" dirty="0" smtClean="0">
                <a:solidFill>
                  <a:schemeClr val="tx1"/>
                </a:solidFill>
                <a:latin typeface="+mn-lt"/>
                <a:ea typeface="+mn-ea"/>
                <a:cs typeface="+mn-cs"/>
              </a:rPr>
              <a:t>GLUYAS, J. G. &amp; </a:t>
            </a:r>
            <a:r>
              <a:rPr lang="en-GB" sz="1200" b="0" i="0" u="none" strike="noStrike" kern="1200" baseline="0" dirty="0" err="1" smtClean="0">
                <a:solidFill>
                  <a:schemeClr val="tx1"/>
                </a:solidFill>
                <a:latin typeface="+mn-lt"/>
                <a:ea typeface="+mn-ea"/>
                <a:cs typeface="+mn-cs"/>
              </a:rPr>
              <a:t>HICttENS</a:t>
            </a:r>
            <a:r>
              <a:rPr lang="en-GB" sz="1200" b="0" i="0" u="none" strike="noStrike" kern="1200" baseline="0" dirty="0" smtClean="0">
                <a:solidFill>
                  <a:schemeClr val="tx1"/>
                </a:solidFill>
                <a:latin typeface="+mn-lt"/>
                <a:ea typeface="+mn-ea"/>
                <a:cs typeface="+mn-cs"/>
              </a:rPr>
              <a:t>, H. M. (</a:t>
            </a:r>
            <a:r>
              <a:rPr lang="en-GB" sz="1200" b="0" i="0" u="none" strike="noStrike" kern="1200" baseline="0" dirty="0" err="1" smtClean="0">
                <a:solidFill>
                  <a:schemeClr val="tx1"/>
                </a:solidFill>
                <a:latin typeface="+mn-lt"/>
                <a:ea typeface="+mn-ea"/>
                <a:cs typeface="+mn-cs"/>
              </a:rPr>
              <a:t>eds</a:t>
            </a:r>
            <a:r>
              <a:rPr lang="en-GB" sz="1200" b="0" i="0" u="none" strike="noStrike" kern="1200" baseline="0" dirty="0" smtClean="0">
                <a:solidFill>
                  <a:schemeClr val="tx1"/>
                </a:solidFill>
                <a:latin typeface="+mn-lt"/>
                <a:ea typeface="+mn-ea"/>
                <a:cs typeface="+mn-cs"/>
              </a:rPr>
              <a:t>) 2003. </a:t>
            </a:r>
            <a:r>
              <a:rPr lang="en-GB" sz="1200" b="0" i="1" u="none" strike="noStrike" kern="1200" baseline="0" dirty="0" smtClean="0">
                <a:solidFill>
                  <a:schemeClr val="tx1"/>
                </a:solidFill>
                <a:latin typeface="+mn-lt"/>
                <a:ea typeface="+mn-ea"/>
                <a:cs typeface="+mn-cs"/>
              </a:rPr>
              <a:t>United Kingdom Oil and Gas Fields, Commemorative Millennium Volume. </a:t>
            </a:r>
            <a:r>
              <a:rPr lang="en-GB" sz="1200" b="0" i="0" u="none" strike="noStrike" kern="1200" baseline="0" dirty="0" smtClean="0">
                <a:solidFill>
                  <a:schemeClr val="tx1"/>
                </a:solidFill>
                <a:latin typeface="+mn-lt"/>
                <a:ea typeface="+mn-ea"/>
                <a:cs typeface="+mn-cs"/>
              </a:rPr>
              <a:t>Geological Society, London, Memoir, 20, 671-680.</a:t>
            </a:r>
          </a:p>
          <a:p>
            <a:endParaRPr lang="en-GB"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smtClean="0"/>
              <a:t>COOPER, M. M., EASTON, S. D. W., LYNCH, J. J. &amp; FOZDAR, I. M. 2005. The </a:t>
            </a:r>
            <a:r>
              <a:rPr lang="en-GB" b="0" dirty="0" err="1" smtClean="0"/>
              <a:t>Caister</a:t>
            </a:r>
            <a:r>
              <a:rPr lang="en-GB" b="0" dirty="0" smtClean="0"/>
              <a:t>–Murdoch System (CMS) III Carboniferous cluster development, UK Southern North Sea. In: DORE, A. G. &amp; VINING, B. A. (</a:t>
            </a:r>
            <a:r>
              <a:rPr lang="en-GB" b="0" dirty="0" err="1" smtClean="0"/>
              <a:t>eds</a:t>
            </a:r>
            <a:r>
              <a:rPr lang="en-GB" b="0" dirty="0" smtClean="0"/>
              <a:t>) Petroleum Geology: North-West Europe and Global Perspectives—Proceedings of the 6th Petroleum Geology Conference, 317–326. </a:t>
            </a:r>
          </a:p>
          <a:p>
            <a:endParaRPr lang="en-GB" dirty="0"/>
          </a:p>
        </p:txBody>
      </p:sp>
      <p:sp>
        <p:nvSpPr>
          <p:cNvPr id="4" name="Slide Number Placeholder 3"/>
          <p:cNvSpPr>
            <a:spLocks noGrp="1"/>
          </p:cNvSpPr>
          <p:nvPr>
            <p:ph type="sldNum" sz="quarter" idx="10"/>
          </p:nvPr>
        </p:nvSpPr>
        <p:spPr/>
        <p:txBody>
          <a:bodyPr/>
          <a:lstStyle/>
          <a:p>
            <a:fld id="{065897F3-7547-49CF-BF84-A289E99A0440}" type="slidenum">
              <a:rPr lang="en-GB" smtClean="0"/>
              <a:t>4</a:t>
            </a:fld>
            <a:endParaRPr lang="en-GB"/>
          </a:p>
        </p:txBody>
      </p:sp>
    </p:spTree>
    <p:extLst>
      <p:ext uri="{BB962C8B-B14F-4D97-AF65-F5344CB8AC3E}">
        <p14:creationId xmlns:p14="http://schemas.microsoft.com/office/powerpoint/2010/main" val="1778991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65897F3-7547-49CF-BF84-A289E99A0440}" type="slidenum">
              <a:rPr lang="en-GB" smtClean="0"/>
              <a:t>7</a:t>
            </a:fld>
            <a:endParaRPr lang="en-GB"/>
          </a:p>
        </p:txBody>
      </p:sp>
    </p:spTree>
    <p:extLst>
      <p:ext uri="{BB962C8B-B14F-4D97-AF65-F5344CB8AC3E}">
        <p14:creationId xmlns:p14="http://schemas.microsoft.com/office/powerpoint/2010/main" val="3315114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GB" sz="1200" b="0" i="0" kern="1200" dirty="0" err="1" smtClean="0">
                <a:solidFill>
                  <a:schemeClr val="tx1"/>
                </a:solidFill>
                <a:effectLst/>
                <a:latin typeface="+mn-lt"/>
                <a:ea typeface="+mn-ea"/>
                <a:cs typeface="+mn-cs"/>
              </a:rPr>
              <a:t>Moscariello</a:t>
            </a:r>
            <a:r>
              <a:rPr lang="en-GB" sz="1200" b="0" i="0" kern="1200" dirty="0" smtClean="0">
                <a:solidFill>
                  <a:schemeClr val="tx1"/>
                </a:solidFill>
                <a:effectLst/>
                <a:latin typeface="+mn-lt"/>
                <a:ea typeface="+mn-ea"/>
                <a:cs typeface="+mn-cs"/>
              </a:rPr>
              <a:t>, A. 2003.</a:t>
            </a:r>
            <a:r>
              <a:rPr lang="en-GB" sz="1200" b="0" i="0" kern="1200" baseline="0" dirty="0" smtClean="0">
                <a:solidFill>
                  <a:schemeClr val="tx1"/>
                </a:solidFill>
                <a:effectLst/>
                <a:latin typeface="+mn-lt"/>
                <a:ea typeface="+mn-ea"/>
                <a:cs typeface="+mn-cs"/>
              </a:rPr>
              <a:t> </a:t>
            </a:r>
            <a:r>
              <a:rPr lang="en-GB" sz="1200" b="1" kern="1200" dirty="0" smtClean="0">
                <a:solidFill>
                  <a:schemeClr val="tx1"/>
                </a:solidFill>
                <a:effectLst/>
                <a:latin typeface="+mn-lt"/>
                <a:ea typeface="+mn-ea"/>
                <a:cs typeface="+mn-cs"/>
              </a:rPr>
              <a:t>The Schooner Field, Blocks 44/26a, 43/30a, UK North Sea.</a:t>
            </a:r>
            <a:r>
              <a:rPr lang="en-GB" sz="1200" b="1" kern="1200" baseline="0" dirty="0" smtClean="0">
                <a:solidFill>
                  <a:schemeClr val="tx1"/>
                </a:solidFill>
                <a:effectLst/>
                <a:latin typeface="+mn-lt"/>
                <a:ea typeface="+mn-ea"/>
                <a:cs typeface="+mn-cs"/>
              </a:rPr>
              <a:t> </a:t>
            </a:r>
            <a:r>
              <a:rPr lang="en-GB" sz="1200" b="0" i="0" kern="1200" dirty="0" smtClean="0">
                <a:solidFill>
                  <a:schemeClr val="tx1"/>
                </a:solidFill>
                <a:effectLst/>
                <a:latin typeface="+mn-lt"/>
                <a:ea typeface="+mn-ea"/>
                <a:cs typeface="+mn-cs"/>
              </a:rPr>
              <a:t>Geological Society, London, Memoirs, 20, 811-824, 1 January 2003, </a:t>
            </a:r>
            <a:r>
              <a:rPr lang="en-GB" sz="1200" b="0" i="0" u="none" strike="noStrike" kern="1200" dirty="0" smtClean="0">
                <a:solidFill>
                  <a:schemeClr val="tx1"/>
                </a:solidFill>
                <a:effectLst/>
                <a:latin typeface="+mn-lt"/>
                <a:ea typeface="+mn-ea"/>
                <a:cs typeface="+mn-cs"/>
                <a:hlinkClick r:id="rId3"/>
              </a:rPr>
              <a:t>https://doi.org/10.1144/GSL.MEM.2003.020.01.68</a:t>
            </a:r>
            <a:endParaRPr lang="en-GB" sz="1200" b="0" i="0" kern="1200" dirty="0" smtClean="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065897F3-7547-49CF-BF84-A289E99A0440}" type="slidenum">
              <a:rPr lang="en-GB" smtClean="0"/>
              <a:t>8</a:t>
            </a:fld>
            <a:endParaRPr lang="en-GB"/>
          </a:p>
        </p:txBody>
      </p:sp>
    </p:spTree>
    <p:extLst>
      <p:ext uri="{BB962C8B-B14F-4D97-AF65-F5344CB8AC3E}">
        <p14:creationId xmlns:p14="http://schemas.microsoft.com/office/powerpoint/2010/main" val="967898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smtClean="0"/>
              <a:t>Besley</a:t>
            </a:r>
            <a:r>
              <a:rPr lang="en-GB" dirty="0" smtClean="0"/>
              <a:t>,</a:t>
            </a:r>
            <a:r>
              <a:rPr lang="en-GB" baseline="0" dirty="0" smtClean="0"/>
              <a:t> B.M., Burley, S.D., and Turner, P. 1993. </a:t>
            </a:r>
            <a:r>
              <a:rPr lang="en-GB" dirty="0" smtClean="0"/>
              <a:t>The late Carboniferous 'Barren Red Bed' play of the Silver Pit area, Southern North Sea. Petroleum Geology of Northwest Europe: Proceedings of the 4th Conference (edited by J. R. Parker). © 1993 Petroleum Geology '86 Ltd. Published by The Geological Society, London, pp. 727-740.</a:t>
            </a:r>
            <a:endParaRPr lang="en-GB" dirty="0"/>
          </a:p>
        </p:txBody>
      </p:sp>
      <p:sp>
        <p:nvSpPr>
          <p:cNvPr id="4" name="Slide Number Placeholder 3"/>
          <p:cNvSpPr>
            <a:spLocks noGrp="1"/>
          </p:cNvSpPr>
          <p:nvPr>
            <p:ph type="sldNum" sz="quarter" idx="10"/>
          </p:nvPr>
        </p:nvSpPr>
        <p:spPr/>
        <p:txBody>
          <a:bodyPr/>
          <a:lstStyle/>
          <a:p>
            <a:fld id="{065897F3-7547-49CF-BF84-A289E99A0440}" type="slidenum">
              <a:rPr lang="en-GB" smtClean="0"/>
              <a:t>9</a:t>
            </a:fld>
            <a:endParaRPr lang="en-GB"/>
          </a:p>
        </p:txBody>
      </p:sp>
    </p:spTree>
    <p:extLst>
      <p:ext uri="{BB962C8B-B14F-4D97-AF65-F5344CB8AC3E}">
        <p14:creationId xmlns:p14="http://schemas.microsoft.com/office/powerpoint/2010/main" val="1327262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CABD5CB-68A8-40E6-A7AF-EBFAB215BE34}" type="datetimeFigureOut">
              <a:rPr lang="en-GB" smtClean="0"/>
              <a:t>14/02/2022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E35BA27-8CA6-49F1-AE98-4C873FB9C1EA}" type="slidenum">
              <a:rPr lang="en-GB" smtClean="0"/>
              <a:t>‹#›</a:t>
            </a:fld>
            <a:endParaRPr lang="en-GB"/>
          </a:p>
        </p:txBody>
      </p:sp>
    </p:spTree>
    <p:extLst>
      <p:ext uri="{BB962C8B-B14F-4D97-AF65-F5344CB8AC3E}">
        <p14:creationId xmlns:p14="http://schemas.microsoft.com/office/powerpoint/2010/main" val="1049809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CABD5CB-68A8-40E6-A7AF-EBFAB215BE34}" type="datetimeFigureOut">
              <a:rPr lang="en-GB" smtClean="0"/>
              <a:t>14/02/2022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E35BA27-8CA6-49F1-AE98-4C873FB9C1EA}" type="slidenum">
              <a:rPr lang="en-GB" smtClean="0"/>
              <a:t>‹#›</a:t>
            </a:fld>
            <a:endParaRPr lang="en-GB"/>
          </a:p>
        </p:txBody>
      </p:sp>
    </p:spTree>
    <p:extLst>
      <p:ext uri="{BB962C8B-B14F-4D97-AF65-F5344CB8AC3E}">
        <p14:creationId xmlns:p14="http://schemas.microsoft.com/office/powerpoint/2010/main" val="3129503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CABD5CB-68A8-40E6-A7AF-EBFAB215BE34}" type="datetimeFigureOut">
              <a:rPr lang="en-GB" smtClean="0"/>
              <a:t>14/02/2022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E35BA27-8CA6-49F1-AE98-4C873FB9C1EA}" type="slidenum">
              <a:rPr lang="en-GB" smtClean="0"/>
              <a:t>‹#›</a:t>
            </a:fld>
            <a:endParaRPr lang="en-GB"/>
          </a:p>
        </p:txBody>
      </p:sp>
    </p:spTree>
    <p:extLst>
      <p:ext uri="{BB962C8B-B14F-4D97-AF65-F5344CB8AC3E}">
        <p14:creationId xmlns:p14="http://schemas.microsoft.com/office/powerpoint/2010/main" val="2296294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CABD5CB-68A8-40E6-A7AF-EBFAB215BE34}" type="datetimeFigureOut">
              <a:rPr lang="en-GB" smtClean="0"/>
              <a:t>14/02/2022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E35BA27-8CA6-49F1-AE98-4C873FB9C1EA}" type="slidenum">
              <a:rPr lang="en-GB" smtClean="0"/>
              <a:t>‹#›</a:t>
            </a:fld>
            <a:endParaRPr lang="en-GB"/>
          </a:p>
        </p:txBody>
      </p:sp>
    </p:spTree>
    <p:extLst>
      <p:ext uri="{BB962C8B-B14F-4D97-AF65-F5344CB8AC3E}">
        <p14:creationId xmlns:p14="http://schemas.microsoft.com/office/powerpoint/2010/main" val="922270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CABD5CB-68A8-40E6-A7AF-EBFAB215BE34}" type="datetimeFigureOut">
              <a:rPr lang="en-GB" smtClean="0"/>
              <a:t>14/02/2022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E35BA27-8CA6-49F1-AE98-4C873FB9C1EA}" type="slidenum">
              <a:rPr lang="en-GB" smtClean="0"/>
              <a:t>‹#›</a:t>
            </a:fld>
            <a:endParaRPr lang="en-GB"/>
          </a:p>
        </p:txBody>
      </p:sp>
    </p:spTree>
    <p:extLst>
      <p:ext uri="{BB962C8B-B14F-4D97-AF65-F5344CB8AC3E}">
        <p14:creationId xmlns:p14="http://schemas.microsoft.com/office/powerpoint/2010/main" val="3748761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CABD5CB-68A8-40E6-A7AF-EBFAB215BE34}" type="datetimeFigureOut">
              <a:rPr lang="en-GB" smtClean="0"/>
              <a:t>14/02/2022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E35BA27-8CA6-49F1-AE98-4C873FB9C1EA}" type="slidenum">
              <a:rPr lang="en-GB" smtClean="0"/>
              <a:t>‹#›</a:t>
            </a:fld>
            <a:endParaRPr lang="en-GB"/>
          </a:p>
        </p:txBody>
      </p:sp>
    </p:spTree>
    <p:extLst>
      <p:ext uri="{BB962C8B-B14F-4D97-AF65-F5344CB8AC3E}">
        <p14:creationId xmlns:p14="http://schemas.microsoft.com/office/powerpoint/2010/main" val="36066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ABD5CB-68A8-40E6-A7AF-EBFAB215BE34}" type="datetimeFigureOut">
              <a:rPr lang="en-GB" smtClean="0"/>
              <a:t>14/02/2022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E35BA27-8CA6-49F1-AE98-4C873FB9C1EA}" type="slidenum">
              <a:rPr lang="en-GB" smtClean="0"/>
              <a:t>‹#›</a:t>
            </a:fld>
            <a:endParaRPr lang="en-GB"/>
          </a:p>
        </p:txBody>
      </p:sp>
    </p:spTree>
    <p:extLst>
      <p:ext uri="{BB962C8B-B14F-4D97-AF65-F5344CB8AC3E}">
        <p14:creationId xmlns:p14="http://schemas.microsoft.com/office/powerpoint/2010/main" val="2747402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CABD5CB-68A8-40E6-A7AF-EBFAB215BE34}" type="datetimeFigureOut">
              <a:rPr lang="en-GB" smtClean="0"/>
              <a:t>14/02/2022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E35BA27-8CA6-49F1-AE98-4C873FB9C1EA}" type="slidenum">
              <a:rPr lang="en-GB" smtClean="0"/>
              <a:t>‹#›</a:t>
            </a:fld>
            <a:endParaRPr lang="en-GB"/>
          </a:p>
        </p:txBody>
      </p:sp>
    </p:spTree>
    <p:extLst>
      <p:ext uri="{BB962C8B-B14F-4D97-AF65-F5344CB8AC3E}">
        <p14:creationId xmlns:p14="http://schemas.microsoft.com/office/powerpoint/2010/main" val="1230974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CABD5CB-68A8-40E6-A7AF-EBFAB215BE34}" type="datetimeFigureOut">
              <a:rPr lang="en-GB" smtClean="0"/>
              <a:t>14/02/2022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E35BA27-8CA6-49F1-AE98-4C873FB9C1EA}" type="slidenum">
              <a:rPr lang="en-GB" smtClean="0"/>
              <a:t>‹#›</a:t>
            </a:fld>
            <a:endParaRPr lang="en-GB"/>
          </a:p>
        </p:txBody>
      </p:sp>
    </p:spTree>
    <p:extLst>
      <p:ext uri="{BB962C8B-B14F-4D97-AF65-F5344CB8AC3E}">
        <p14:creationId xmlns:p14="http://schemas.microsoft.com/office/powerpoint/2010/main" val="4256704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CABD5CB-68A8-40E6-A7AF-EBFAB215BE34}" type="datetimeFigureOut">
              <a:rPr lang="en-GB" smtClean="0"/>
              <a:t>14/02/2022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E35BA27-8CA6-49F1-AE98-4C873FB9C1EA}" type="slidenum">
              <a:rPr lang="en-GB" smtClean="0"/>
              <a:t>‹#›</a:t>
            </a:fld>
            <a:endParaRPr lang="en-GB"/>
          </a:p>
        </p:txBody>
      </p:sp>
    </p:spTree>
    <p:extLst>
      <p:ext uri="{BB962C8B-B14F-4D97-AF65-F5344CB8AC3E}">
        <p14:creationId xmlns:p14="http://schemas.microsoft.com/office/powerpoint/2010/main" val="8777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CABD5CB-68A8-40E6-A7AF-EBFAB215BE34}" type="datetimeFigureOut">
              <a:rPr lang="en-GB" smtClean="0"/>
              <a:t>14/02/2022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E35BA27-8CA6-49F1-AE98-4C873FB9C1EA}" type="slidenum">
              <a:rPr lang="en-GB" smtClean="0"/>
              <a:t>‹#›</a:t>
            </a:fld>
            <a:endParaRPr lang="en-GB"/>
          </a:p>
        </p:txBody>
      </p:sp>
    </p:spTree>
    <p:extLst>
      <p:ext uri="{BB962C8B-B14F-4D97-AF65-F5344CB8AC3E}">
        <p14:creationId xmlns:p14="http://schemas.microsoft.com/office/powerpoint/2010/main" val="121323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ABD5CB-68A8-40E6-A7AF-EBFAB215BE34}" type="datetimeFigureOut">
              <a:rPr lang="en-GB" smtClean="0"/>
              <a:t>14/02/2022</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35BA27-8CA6-49F1-AE98-4C873FB9C1EA}" type="slidenum">
              <a:rPr lang="en-GB" smtClean="0"/>
              <a:t>‹#›</a:t>
            </a:fld>
            <a:endParaRPr lang="en-GB"/>
          </a:p>
        </p:txBody>
      </p:sp>
    </p:spTree>
    <p:extLst>
      <p:ext uri="{BB962C8B-B14F-4D97-AF65-F5344CB8AC3E}">
        <p14:creationId xmlns:p14="http://schemas.microsoft.com/office/powerpoint/2010/main" val="25533354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5" name="Content Placeholder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59" y="5716"/>
            <a:ext cx="9145059" cy="6858794"/>
          </a:xfrm>
        </p:spPr>
      </p:pic>
      <p:sp>
        <p:nvSpPr>
          <p:cNvPr id="4" name="TextBox 3"/>
          <p:cNvSpPr txBox="1"/>
          <p:nvPr/>
        </p:nvSpPr>
        <p:spPr>
          <a:xfrm>
            <a:off x="395536" y="5664150"/>
            <a:ext cx="8640960" cy="1077218"/>
          </a:xfrm>
          <a:prstGeom prst="rect">
            <a:avLst/>
          </a:prstGeom>
          <a:noFill/>
        </p:spPr>
        <p:txBody>
          <a:bodyPr wrap="square" rtlCol="0">
            <a:spAutoFit/>
          </a:bodyPr>
          <a:lstStyle/>
          <a:p>
            <a:pPr algn="r"/>
            <a:r>
              <a:rPr lang="en-GB" sz="3200" b="1" i="1" dirty="0" smtClean="0">
                <a:solidFill>
                  <a:schemeClr val="bg1"/>
                </a:solidFill>
              </a:rPr>
              <a:t>Facies Exercise:</a:t>
            </a:r>
          </a:p>
          <a:p>
            <a:pPr algn="r"/>
            <a:r>
              <a:rPr lang="en-GB" sz="3200" b="1" i="1" dirty="0" smtClean="0">
                <a:solidFill>
                  <a:schemeClr val="bg1"/>
                </a:solidFill>
              </a:rPr>
              <a:t>Carboniferous </a:t>
            </a:r>
            <a:r>
              <a:rPr lang="en-GB" sz="3200" b="1" i="1" dirty="0" err="1" smtClean="0">
                <a:solidFill>
                  <a:schemeClr val="bg1"/>
                </a:solidFill>
              </a:rPr>
              <a:t>Palaeoenvironments</a:t>
            </a:r>
            <a:endParaRPr lang="en-GB" sz="3200" b="1" i="1" dirty="0">
              <a:solidFill>
                <a:schemeClr val="bg1"/>
              </a:solidFill>
            </a:endParaRPr>
          </a:p>
        </p:txBody>
      </p:sp>
    </p:spTree>
    <p:extLst>
      <p:ext uri="{BB962C8B-B14F-4D97-AF65-F5344CB8AC3E}">
        <p14:creationId xmlns:p14="http://schemas.microsoft.com/office/powerpoint/2010/main" val="550782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53034"/>
            <a:ext cx="7886700" cy="1325563"/>
          </a:xfrm>
        </p:spPr>
        <p:txBody>
          <a:bodyPr/>
          <a:lstStyle/>
          <a:p>
            <a:r>
              <a:rPr lang="en-GB" b="1" dirty="0" smtClean="0"/>
              <a:t>Your task</a:t>
            </a:r>
            <a:endParaRPr lang="en-GB" b="1" dirty="0"/>
          </a:p>
        </p:txBody>
      </p:sp>
      <p:sp>
        <p:nvSpPr>
          <p:cNvPr id="3" name="Content Placeholder 2"/>
          <p:cNvSpPr>
            <a:spLocks noGrp="1"/>
          </p:cNvSpPr>
          <p:nvPr>
            <p:ph idx="1"/>
          </p:nvPr>
        </p:nvSpPr>
        <p:spPr>
          <a:xfrm>
            <a:off x="628650" y="857885"/>
            <a:ext cx="7886700" cy="4351338"/>
          </a:xfrm>
        </p:spPr>
        <p:txBody>
          <a:bodyPr>
            <a:normAutofit fontScale="70000" lnSpcReduction="20000"/>
          </a:bodyPr>
          <a:lstStyle/>
          <a:p>
            <a:r>
              <a:rPr lang="en-GB" dirty="0" smtClean="0"/>
              <a:t>You are provided with some </a:t>
            </a:r>
            <a:r>
              <a:rPr lang="en-GB" dirty="0" smtClean="0"/>
              <a:t>cored intervals from a borehole drilled through some Westphalian-C (Carboniferous) rocks</a:t>
            </a:r>
            <a:endParaRPr lang="en-GB" dirty="0" smtClean="0"/>
          </a:p>
          <a:p>
            <a:r>
              <a:rPr lang="en-GB" dirty="0" smtClean="0"/>
              <a:t>A range of facies types are present.</a:t>
            </a:r>
          </a:p>
          <a:p>
            <a:r>
              <a:rPr lang="en-GB" dirty="0" smtClean="0"/>
              <a:t>Draw a schematic log through one (or more) of the three sections  of core.</a:t>
            </a:r>
            <a:endParaRPr lang="en-GB" dirty="0" smtClean="0"/>
          </a:p>
          <a:p>
            <a:r>
              <a:rPr lang="en-GB" dirty="0" smtClean="0"/>
              <a:t>Devise a </a:t>
            </a:r>
            <a:r>
              <a:rPr lang="en-GB" dirty="0" err="1" smtClean="0"/>
              <a:t>facies</a:t>
            </a:r>
            <a:r>
              <a:rPr lang="en-GB" dirty="0" smtClean="0"/>
              <a:t> scheme to adequately capture the variability within the cores </a:t>
            </a:r>
          </a:p>
          <a:p>
            <a:r>
              <a:rPr lang="en-GB" dirty="0" smtClean="0"/>
              <a:t>D</a:t>
            </a:r>
            <a:r>
              <a:rPr lang="en-GB" dirty="0"/>
              <a:t>e</a:t>
            </a:r>
            <a:r>
              <a:rPr lang="en-GB" dirty="0" smtClean="0"/>
              <a:t>scribe </a:t>
            </a:r>
            <a:r>
              <a:rPr lang="en-GB" dirty="0" smtClean="0"/>
              <a:t>the facies based on the key component of </a:t>
            </a:r>
            <a:r>
              <a:rPr lang="en-GB" dirty="0" err="1" smtClean="0"/>
              <a:t>facies</a:t>
            </a:r>
            <a:r>
              <a:rPr lang="en-GB" dirty="0" smtClean="0"/>
              <a:t>, i.e., </a:t>
            </a:r>
            <a:r>
              <a:rPr lang="en-GB" dirty="0" smtClean="0"/>
              <a:t>Grain </a:t>
            </a:r>
            <a:r>
              <a:rPr lang="en-GB" dirty="0"/>
              <a:t>type and composition; Grain size; Sedimentary structures; Colour; Biological structures and </a:t>
            </a:r>
            <a:r>
              <a:rPr lang="en-GB" dirty="0" smtClean="0"/>
              <a:t>content e.g. traces </a:t>
            </a:r>
            <a:r>
              <a:rPr lang="en-GB" dirty="0"/>
              <a:t>fossils, body </a:t>
            </a:r>
            <a:r>
              <a:rPr lang="en-GB" dirty="0" smtClean="0"/>
              <a:t>fossils.</a:t>
            </a:r>
          </a:p>
          <a:p>
            <a:r>
              <a:rPr lang="en-GB" dirty="0" smtClean="0"/>
              <a:t>You will be provided with a hand lens and grain size card</a:t>
            </a:r>
          </a:p>
          <a:p>
            <a:endParaRPr lang="en-GB" dirty="0"/>
          </a:p>
          <a:p>
            <a:r>
              <a:rPr lang="en-GB" dirty="0" smtClean="0"/>
              <a:t>The cored interval is Westphalian C/D in age. The specific interval is the Ketch Member of the Schooner Formation which traditionally is part of the ‘Barren Red Measures’ and overlies the Coal Measures. </a:t>
            </a:r>
            <a:endParaRPr lang="en-GB" dirty="0" smtClean="0"/>
          </a:p>
          <a:p>
            <a:endParaRPr lang="en-GB" dirty="0"/>
          </a:p>
        </p:txBody>
      </p:sp>
    </p:spTree>
    <p:extLst>
      <p:ext uri="{BB962C8B-B14F-4D97-AF65-F5344CB8AC3E}">
        <p14:creationId xmlns:p14="http://schemas.microsoft.com/office/powerpoint/2010/main" val="23063907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723902" y="114300"/>
            <a:ext cx="5148725" cy="6634162"/>
          </a:xfrm>
          <a:prstGeom prst="rect">
            <a:avLst/>
          </a:prstGeom>
        </p:spPr>
      </p:pic>
      <p:cxnSp>
        <p:nvCxnSpPr>
          <p:cNvPr id="5" name="Straight Arrow Connector 4"/>
          <p:cNvCxnSpPr>
            <a:stCxn id="6" idx="1"/>
          </p:cNvCxnSpPr>
          <p:nvPr/>
        </p:nvCxnSpPr>
        <p:spPr>
          <a:xfrm flipH="1">
            <a:off x="7010893" y="3816628"/>
            <a:ext cx="333189" cy="18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344082" y="3631962"/>
            <a:ext cx="3985260" cy="369332"/>
          </a:xfrm>
          <a:prstGeom prst="rect">
            <a:avLst/>
          </a:prstGeom>
          <a:noFill/>
        </p:spPr>
        <p:txBody>
          <a:bodyPr wrap="square" rtlCol="0">
            <a:spAutoFit/>
          </a:bodyPr>
          <a:lstStyle/>
          <a:p>
            <a:r>
              <a:rPr lang="en-GB" dirty="0" smtClean="0"/>
              <a:t>Well 44/21-4</a:t>
            </a:r>
            <a:endParaRPr lang="en-GB" dirty="0"/>
          </a:p>
        </p:txBody>
      </p:sp>
      <p:sp>
        <p:nvSpPr>
          <p:cNvPr id="8" name="TextBox 7"/>
          <p:cNvSpPr txBox="1"/>
          <p:nvPr/>
        </p:nvSpPr>
        <p:spPr>
          <a:xfrm>
            <a:off x="7086600" y="4274820"/>
            <a:ext cx="1950720" cy="1477328"/>
          </a:xfrm>
          <a:prstGeom prst="rect">
            <a:avLst/>
          </a:prstGeom>
          <a:noFill/>
        </p:spPr>
        <p:txBody>
          <a:bodyPr wrap="square" rtlCol="0">
            <a:spAutoFit/>
          </a:bodyPr>
          <a:lstStyle/>
          <a:p>
            <a:r>
              <a:rPr lang="en-GB" dirty="0" smtClean="0"/>
              <a:t>Ketch unit (or member) is broadly equivalent to the ‘Barren Red Measures’</a:t>
            </a:r>
            <a:endParaRPr lang="en-GB" dirty="0"/>
          </a:p>
        </p:txBody>
      </p:sp>
    </p:spTree>
    <p:extLst>
      <p:ext uri="{BB962C8B-B14F-4D97-AF65-F5344CB8AC3E}">
        <p14:creationId xmlns:p14="http://schemas.microsoft.com/office/powerpoint/2010/main" val="32761319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pic>
        <p:nvPicPr>
          <p:cNvPr id="4" name="Picture 3"/>
          <p:cNvPicPr>
            <a:picLocks noChangeAspect="1"/>
          </p:cNvPicPr>
          <p:nvPr/>
        </p:nvPicPr>
        <p:blipFill>
          <a:blip r:embed="rId3"/>
          <a:stretch>
            <a:fillRect/>
          </a:stretch>
        </p:blipFill>
        <p:spPr>
          <a:xfrm>
            <a:off x="141288" y="193675"/>
            <a:ext cx="4661862" cy="6664325"/>
          </a:xfrm>
          <a:prstGeom prst="rect">
            <a:avLst/>
          </a:prstGeom>
        </p:spPr>
      </p:pic>
      <p:cxnSp>
        <p:nvCxnSpPr>
          <p:cNvPr id="7" name="Straight Arrow Connector 6"/>
          <p:cNvCxnSpPr/>
          <p:nvPr/>
        </p:nvCxnSpPr>
        <p:spPr>
          <a:xfrm flipH="1">
            <a:off x="4236720" y="2181446"/>
            <a:ext cx="845820" cy="904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892040" y="163526"/>
            <a:ext cx="3985260" cy="1754326"/>
          </a:xfrm>
          <a:prstGeom prst="rect">
            <a:avLst/>
          </a:prstGeom>
          <a:noFill/>
        </p:spPr>
        <p:txBody>
          <a:bodyPr wrap="square" rtlCol="0">
            <a:spAutoFit/>
          </a:bodyPr>
          <a:lstStyle/>
          <a:p>
            <a:r>
              <a:rPr lang="en-GB" dirty="0" err="1" smtClean="0"/>
              <a:t>Boulton</a:t>
            </a:r>
            <a:r>
              <a:rPr lang="en-GB" dirty="0" smtClean="0"/>
              <a:t> Field, Well 44/21-4</a:t>
            </a:r>
          </a:p>
          <a:p>
            <a:r>
              <a:rPr lang="en-GB" dirty="0" smtClean="0"/>
              <a:t>(Quadrant 44, North Sea, Block 21, Well 4</a:t>
            </a:r>
            <a:r>
              <a:rPr lang="en-GB" dirty="0"/>
              <a:t>.). Drilled in </a:t>
            </a:r>
            <a:r>
              <a:rPr lang="en-GB" dirty="0" smtClean="0"/>
              <a:t>1988 by Conoco Phillips and partners, </a:t>
            </a:r>
            <a:r>
              <a:rPr lang="en-GB" dirty="0"/>
              <a:t>the well </a:t>
            </a:r>
            <a:r>
              <a:rPr lang="en-GB" dirty="0" smtClean="0"/>
              <a:t>successfully </a:t>
            </a:r>
            <a:r>
              <a:rPr lang="en-GB" dirty="0"/>
              <a:t>tested gas in </a:t>
            </a:r>
            <a:r>
              <a:rPr lang="en-GB" dirty="0" smtClean="0"/>
              <a:t>the Westphalian </a:t>
            </a:r>
            <a:r>
              <a:rPr lang="en-GB" dirty="0"/>
              <a:t>C/D at a rate of 33.0 MMSCFD.</a:t>
            </a:r>
          </a:p>
        </p:txBody>
      </p:sp>
      <p:sp>
        <p:nvSpPr>
          <p:cNvPr id="10" name="TextBox 9"/>
          <p:cNvSpPr txBox="1"/>
          <p:nvPr/>
        </p:nvSpPr>
        <p:spPr>
          <a:xfrm>
            <a:off x="4670430" y="6556137"/>
            <a:ext cx="4152900" cy="246221"/>
          </a:xfrm>
          <a:prstGeom prst="rect">
            <a:avLst/>
          </a:prstGeom>
          <a:noFill/>
        </p:spPr>
        <p:txBody>
          <a:bodyPr wrap="square" rtlCol="0">
            <a:spAutoFit/>
          </a:bodyPr>
          <a:lstStyle/>
          <a:p>
            <a:r>
              <a:rPr lang="en-GB" sz="1000" dirty="0" smtClean="0"/>
              <a:t>Cooper et al. 2005. Full ref in </a:t>
            </a:r>
            <a:r>
              <a:rPr lang="en-GB" sz="1000" dirty="0" err="1" smtClean="0"/>
              <a:t>ppt</a:t>
            </a:r>
            <a:r>
              <a:rPr lang="en-GB" sz="1000" dirty="0" smtClean="0"/>
              <a:t> notes below</a:t>
            </a:r>
            <a:endParaRPr lang="en-GB" sz="1000" dirty="0"/>
          </a:p>
        </p:txBody>
      </p:sp>
      <p:sp>
        <p:nvSpPr>
          <p:cNvPr id="13" name="TextBox 12"/>
          <p:cNvSpPr txBox="1"/>
          <p:nvPr/>
        </p:nvSpPr>
        <p:spPr>
          <a:xfrm>
            <a:off x="5082540" y="2010259"/>
            <a:ext cx="3985260" cy="369332"/>
          </a:xfrm>
          <a:prstGeom prst="rect">
            <a:avLst/>
          </a:prstGeom>
          <a:noFill/>
        </p:spPr>
        <p:txBody>
          <a:bodyPr wrap="square" rtlCol="0">
            <a:spAutoFit/>
          </a:bodyPr>
          <a:lstStyle/>
          <a:p>
            <a:r>
              <a:rPr lang="en-GB" dirty="0" smtClean="0"/>
              <a:t>Well 44/21-4</a:t>
            </a:r>
            <a:endParaRPr lang="en-GB" dirty="0"/>
          </a:p>
        </p:txBody>
      </p:sp>
      <p:pic>
        <p:nvPicPr>
          <p:cNvPr id="15" name="Picture 14"/>
          <p:cNvPicPr>
            <a:picLocks noChangeAspect="1"/>
          </p:cNvPicPr>
          <p:nvPr/>
        </p:nvPicPr>
        <p:blipFill>
          <a:blip r:embed="rId4"/>
          <a:stretch>
            <a:fillRect/>
          </a:stretch>
        </p:blipFill>
        <p:spPr>
          <a:xfrm>
            <a:off x="5082540" y="2379590"/>
            <a:ext cx="3328680" cy="3901445"/>
          </a:xfrm>
          <a:prstGeom prst="rect">
            <a:avLst/>
          </a:prstGeom>
        </p:spPr>
      </p:pic>
      <p:sp>
        <p:nvSpPr>
          <p:cNvPr id="17" name="TextBox 16"/>
          <p:cNvSpPr txBox="1"/>
          <p:nvPr/>
        </p:nvSpPr>
        <p:spPr>
          <a:xfrm>
            <a:off x="5783580" y="6190377"/>
            <a:ext cx="3192150" cy="246221"/>
          </a:xfrm>
          <a:prstGeom prst="rect">
            <a:avLst/>
          </a:prstGeom>
          <a:noFill/>
        </p:spPr>
        <p:txBody>
          <a:bodyPr wrap="square" rtlCol="0">
            <a:spAutoFit/>
          </a:bodyPr>
          <a:lstStyle/>
          <a:p>
            <a:r>
              <a:rPr lang="en-GB" sz="1000" dirty="0" smtClean="0"/>
              <a:t>Conway and </a:t>
            </a:r>
            <a:r>
              <a:rPr lang="en-GB" sz="1000" dirty="0" err="1" smtClean="0"/>
              <a:t>Valvatne</a:t>
            </a:r>
            <a:r>
              <a:rPr lang="en-GB" sz="1000" dirty="0" smtClean="0"/>
              <a:t>. 2003. Full ref in </a:t>
            </a:r>
            <a:r>
              <a:rPr lang="en-GB" sz="1000" dirty="0" err="1" smtClean="0"/>
              <a:t>ppt</a:t>
            </a:r>
            <a:r>
              <a:rPr lang="en-GB" sz="1000" dirty="0" smtClean="0"/>
              <a:t> notes below</a:t>
            </a:r>
            <a:endParaRPr lang="en-GB" sz="1000" dirty="0"/>
          </a:p>
        </p:txBody>
      </p:sp>
    </p:spTree>
    <p:extLst>
      <p:ext uri="{BB962C8B-B14F-4D97-AF65-F5344CB8AC3E}">
        <p14:creationId xmlns:p14="http://schemas.microsoft.com/office/powerpoint/2010/main" val="14004744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GB" dirty="0"/>
          </a:p>
        </p:txBody>
      </p:sp>
      <p:sp>
        <p:nvSpPr>
          <p:cNvPr id="3" name="Subtitle 2"/>
          <p:cNvSpPr>
            <a:spLocks noGrp="1"/>
          </p:cNvSpPr>
          <p:nvPr>
            <p:ph type="subTitle" idx="1"/>
          </p:nvPr>
        </p:nvSpPr>
        <p:spPr/>
        <p:txBody>
          <a:bodyPr/>
          <a:lstStyle/>
          <a:p>
            <a:endParaRPr lang="en-GB"/>
          </a:p>
        </p:txBody>
      </p:sp>
      <p:pic>
        <p:nvPicPr>
          <p:cNvPr id="4" name="Picture 3"/>
          <p:cNvPicPr>
            <a:picLocks noChangeAspect="1"/>
          </p:cNvPicPr>
          <p:nvPr/>
        </p:nvPicPr>
        <p:blipFill>
          <a:blip r:embed="rId2"/>
          <a:stretch>
            <a:fillRect/>
          </a:stretch>
        </p:blipFill>
        <p:spPr>
          <a:xfrm>
            <a:off x="664700" y="1122363"/>
            <a:ext cx="7507750" cy="5589420"/>
          </a:xfrm>
          <a:prstGeom prst="rect">
            <a:avLst/>
          </a:prstGeom>
        </p:spPr>
      </p:pic>
      <p:sp>
        <p:nvSpPr>
          <p:cNvPr id="6" name="Title 1"/>
          <p:cNvSpPr txBox="1">
            <a:spLocks/>
          </p:cNvSpPr>
          <p:nvPr/>
        </p:nvSpPr>
        <p:spPr>
          <a:xfrm>
            <a:off x="285750" y="-199949"/>
            <a:ext cx="78867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b="1" dirty="0" smtClean="0"/>
              <a:t>Well 44/21-4</a:t>
            </a:r>
            <a:endParaRPr lang="en-GB" b="1" dirty="0"/>
          </a:p>
        </p:txBody>
      </p:sp>
      <p:sp>
        <p:nvSpPr>
          <p:cNvPr id="7" name="Rectangle 6"/>
          <p:cNvSpPr/>
          <p:nvPr/>
        </p:nvSpPr>
        <p:spPr>
          <a:xfrm>
            <a:off x="6991557" y="6527117"/>
            <a:ext cx="2018886" cy="369332"/>
          </a:xfrm>
          <a:prstGeom prst="rect">
            <a:avLst/>
          </a:prstGeom>
        </p:spPr>
        <p:txBody>
          <a:bodyPr wrap="none">
            <a:spAutoFit/>
          </a:bodyPr>
          <a:lstStyle/>
          <a:p>
            <a:r>
              <a:rPr lang="en-GB" dirty="0"/>
              <a:t>Cooper et al. 2005. </a:t>
            </a:r>
          </a:p>
        </p:txBody>
      </p:sp>
    </p:spTree>
    <p:extLst>
      <p:ext uri="{BB962C8B-B14F-4D97-AF65-F5344CB8AC3E}">
        <p14:creationId xmlns:p14="http://schemas.microsoft.com/office/powerpoint/2010/main" val="10331334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91387" y="355600"/>
            <a:ext cx="8906528" cy="6184900"/>
          </a:xfrm>
          <a:prstGeom prst="rect">
            <a:avLst/>
          </a:prstGeom>
        </p:spPr>
      </p:pic>
      <p:sp>
        <p:nvSpPr>
          <p:cNvPr id="5" name="Rectangle 4"/>
          <p:cNvSpPr/>
          <p:nvPr/>
        </p:nvSpPr>
        <p:spPr>
          <a:xfrm>
            <a:off x="7125114" y="6488668"/>
            <a:ext cx="2018886" cy="369332"/>
          </a:xfrm>
          <a:prstGeom prst="rect">
            <a:avLst/>
          </a:prstGeom>
        </p:spPr>
        <p:txBody>
          <a:bodyPr wrap="none">
            <a:spAutoFit/>
          </a:bodyPr>
          <a:lstStyle/>
          <a:p>
            <a:r>
              <a:rPr lang="en-GB" dirty="0"/>
              <a:t>Cooper et al. 2005. </a:t>
            </a:r>
          </a:p>
        </p:txBody>
      </p:sp>
    </p:spTree>
    <p:extLst>
      <p:ext uri="{BB962C8B-B14F-4D97-AF65-F5344CB8AC3E}">
        <p14:creationId xmlns:p14="http://schemas.microsoft.com/office/powerpoint/2010/main" val="10067476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91134"/>
            <a:ext cx="7886700" cy="1325563"/>
          </a:xfrm>
        </p:spPr>
        <p:txBody>
          <a:bodyPr>
            <a:normAutofit/>
          </a:bodyPr>
          <a:lstStyle/>
          <a:p>
            <a:r>
              <a:rPr lang="en-GB" sz="2800" b="1" dirty="0" err="1" smtClean="0"/>
              <a:t>Lithofacies</a:t>
            </a:r>
            <a:r>
              <a:rPr lang="en-GB" sz="2800" b="1" dirty="0" smtClean="0"/>
              <a:t> scheme for the ‘Barren Red Measures’</a:t>
            </a:r>
            <a:endParaRPr lang="en-GB" sz="2800" b="1" dirty="0"/>
          </a:p>
        </p:txBody>
      </p:sp>
      <p:sp>
        <p:nvSpPr>
          <p:cNvPr id="3" name="Content Placeholder 2"/>
          <p:cNvSpPr>
            <a:spLocks noGrp="1"/>
          </p:cNvSpPr>
          <p:nvPr>
            <p:ph idx="1"/>
          </p:nvPr>
        </p:nvSpPr>
        <p:spPr/>
        <p:txBody>
          <a:bodyPr/>
          <a:lstStyle/>
          <a:p>
            <a:r>
              <a:rPr lang="en-GB" dirty="0" err="1"/>
              <a:t>Moscariello</a:t>
            </a:r>
            <a:r>
              <a:rPr lang="en-GB" dirty="0"/>
              <a:t> (2003).</a:t>
            </a:r>
          </a:p>
        </p:txBody>
      </p:sp>
      <p:pic>
        <p:nvPicPr>
          <p:cNvPr id="4" name="Picture 3"/>
          <p:cNvPicPr>
            <a:picLocks noChangeAspect="1"/>
          </p:cNvPicPr>
          <p:nvPr/>
        </p:nvPicPr>
        <p:blipFill>
          <a:blip r:embed="rId3"/>
          <a:stretch>
            <a:fillRect/>
          </a:stretch>
        </p:blipFill>
        <p:spPr>
          <a:xfrm>
            <a:off x="449462" y="1392794"/>
            <a:ext cx="8534636" cy="4414837"/>
          </a:xfrm>
          <a:prstGeom prst="rect">
            <a:avLst/>
          </a:prstGeom>
        </p:spPr>
      </p:pic>
      <p:sp>
        <p:nvSpPr>
          <p:cNvPr id="5" name="Rectangle 4"/>
          <p:cNvSpPr/>
          <p:nvPr/>
        </p:nvSpPr>
        <p:spPr>
          <a:xfrm>
            <a:off x="7094570" y="5942567"/>
            <a:ext cx="1995739" cy="369332"/>
          </a:xfrm>
          <a:prstGeom prst="rect">
            <a:avLst/>
          </a:prstGeom>
        </p:spPr>
        <p:txBody>
          <a:bodyPr wrap="none">
            <a:spAutoFit/>
          </a:bodyPr>
          <a:lstStyle/>
          <a:p>
            <a:r>
              <a:rPr lang="en-GB" dirty="0" err="1"/>
              <a:t>Moscariello</a:t>
            </a:r>
            <a:r>
              <a:rPr lang="en-GB" dirty="0"/>
              <a:t> (2003).</a:t>
            </a:r>
          </a:p>
        </p:txBody>
      </p:sp>
      <p:sp>
        <p:nvSpPr>
          <p:cNvPr id="6" name="TextBox 5"/>
          <p:cNvSpPr txBox="1"/>
          <p:nvPr/>
        </p:nvSpPr>
        <p:spPr>
          <a:xfrm>
            <a:off x="3751236" y="5992297"/>
            <a:ext cx="3253740" cy="369332"/>
          </a:xfrm>
          <a:prstGeom prst="rect">
            <a:avLst/>
          </a:prstGeom>
          <a:noFill/>
        </p:spPr>
        <p:txBody>
          <a:bodyPr wrap="square" rtlCol="0">
            <a:spAutoFit/>
          </a:bodyPr>
          <a:lstStyle/>
          <a:p>
            <a:r>
              <a:rPr lang="en-GB" dirty="0"/>
              <a:t>S</a:t>
            </a:r>
            <a:r>
              <a:rPr lang="en-GB" dirty="0" smtClean="0"/>
              <a:t>cale: 10 feet = 3 metres</a:t>
            </a:r>
            <a:endParaRPr lang="en-GB" dirty="0"/>
          </a:p>
        </p:txBody>
      </p:sp>
      <p:cxnSp>
        <p:nvCxnSpPr>
          <p:cNvPr id="8" name="Straight Arrow Connector 7"/>
          <p:cNvCxnSpPr/>
          <p:nvPr/>
        </p:nvCxnSpPr>
        <p:spPr>
          <a:xfrm flipV="1">
            <a:off x="5057599" y="5746989"/>
            <a:ext cx="487680" cy="319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19607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Official definition: </a:t>
            </a:r>
            <a:r>
              <a:rPr lang="en-GB" b="1" dirty="0"/>
              <a:t>British Geological Survey (BGS):</a:t>
            </a:r>
            <a:br>
              <a:rPr lang="en-GB" b="1" dirty="0"/>
            </a:br>
            <a:endParaRPr lang="en-GB" dirty="0"/>
          </a:p>
        </p:txBody>
      </p:sp>
      <p:sp>
        <p:nvSpPr>
          <p:cNvPr id="3" name="Content Placeholder 2"/>
          <p:cNvSpPr>
            <a:spLocks noGrp="1"/>
          </p:cNvSpPr>
          <p:nvPr>
            <p:ph idx="1"/>
          </p:nvPr>
        </p:nvSpPr>
        <p:spPr/>
        <p:txBody>
          <a:bodyPr>
            <a:normAutofit fontScale="55000" lnSpcReduction="20000"/>
          </a:bodyPr>
          <a:lstStyle/>
          <a:p>
            <a:pPr marL="0" indent="0">
              <a:buNone/>
            </a:pPr>
            <a:r>
              <a:rPr lang="en-GB" dirty="0" smtClean="0"/>
              <a:t>The </a:t>
            </a:r>
            <a:r>
              <a:rPr lang="en-GB" dirty="0"/>
              <a:t>Ketch Member </a:t>
            </a:r>
            <a:r>
              <a:rPr lang="en-GB" dirty="0" smtClean="0"/>
              <a:t>(</a:t>
            </a:r>
            <a:r>
              <a:rPr lang="en-GB" dirty="0"/>
              <a:t>Schooner </a:t>
            </a:r>
            <a:r>
              <a:rPr lang="en-GB" dirty="0" smtClean="0"/>
              <a:t>Formation) is </a:t>
            </a:r>
            <a:r>
              <a:rPr lang="en-GB" dirty="0"/>
              <a:t>composed of reddish brown to purple mudstones and silty mudstones, and grey, reddish-brown, or occasionally white, fine to coarse grained, sometimes pebbly sandstones. The sandstone beds occur as single and stacked channel-fill units that are mostly less than 10 m, but are exceptionally up to 20 m thick. Such sandstones are respectively associated with blocky and complex gamma-log profiles, and they constitute up to 40 per cent of the member. They are moderately or poorly sorted, and variably micaceous. Where the sandstones are pebbly, </a:t>
            </a:r>
            <a:r>
              <a:rPr lang="en-GB" dirty="0" err="1"/>
              <a:t>intraformational</a:t>
            </a:r>
            <a:r>
              <a:rPr lang="en-GB" dirty="0"/>
              <a:t> clasts of red mudstone are common, but the predominant clast type comprises well rounded quartzite, presumably derived from Caledonian massif sources. The sandstones are cemented mainly by silica and hematite, but halite and anhydrite cements have been reported locally near the top of the member. Red mudstones and siltstones occur in units that are mostly less than 40 m thick. In cores, such units are seen to include mature </a:t>
            </a:r>
            <a:r>
              <a:rPr lang="en-GB" dirty="0" err="1"/>
              <a:t>palaeosols</a:t>
            </a:r>
            <a:r>
              <a:rPr lang="en-GB" dirty="0"/>
              <a:t>, each comprising a grey, leached upper zone overlying red and grey, vertically veined and mottled beds. Units of interlaminated fine-grained sandstone and mudstone also occur and are associated with ratty gamma-log profiles. The mudstones contain root systems, oxidized remains of plant fragments, and hematite concretions that replaced early diagenetic siderite (</a:t>
            </a:r>
            <a:r>
              <a:rPr lang="en-GB" dirty="0" err="1"/>
              <a:t>Besly</a:t>
            </a:r>
            <a:r>
              <a:rPr lang="en-GB" dirty="0"/>
              <a:t> et al. 1993). Desiccation cracks occur towards the top of the red-bed section in well 44/28-1. </a:t>
            </a:r>
            <a:r>
              <a:rPr lang="en-GB" dirty="0" err="1"/>
              <a:t>Besly</a:t>
            </a:r>
            <a:r>
              <a:rPr lang="en-GB" dirty="0"/>
              <a:t> et al. (1993) reported grey, coal-bearing intercalations and prominent caliche horizons near the top of the primary red beds in well 44/21-3. Sandstone bed thickness is significantly reduced in the coal-bearing section, and gamma-ray response of the mudstones is higher than in the underlying red beds. This </a:t>
            </a:r>
            <a:r>
              <a:rPr lang="en-GB" dirty="0" err="1"/>
              <a:t>lithofacies</a:t>
            </a:r>
            <a:r>
              <a:rPr lang="en-GB" dirty="0"/>
              <a:t> is absent from other wells in the Silver Pit area, presumably due to pre-Permian erosion</a:t>
            </a:r>
            <a:r>
              <a:rPr lang="en-GB" dirty="0" smtClean="0"/>
              <a:t>.</a:t>
            </a:r>
          </a:p>
          <a:p>
            <a:pPr marL="0" indent="0">
              <a:buNone/>
            </a:pPr>
            <a:endParaRPr lang="en-GB" dirty="0"/>
          </a:p>
          <a:p>
            <a:pPr marL="0" indent="0">
              <a:buNone/>
            </a:pPr>
            <a:r>
              <a:rPr lang="en-GB" dirty="0" smtClean="0"/>
              <a:t>Lower Ketch belongs to ‘Barren Red Measures Group’ according to </a:t>
            </a:r>
            <a:r>
              <a:rPr lang="en-GB" dirty="0" err="1" smtClean="0"/>
              <a:t>Moscariello</a:t>
            </a:r>
            <a:r>
              <a:rPr lang="en-GB" dirty="0" smtClean="0"/>
              <a:t> (2003).</a:t>
            </a:r>
          </a:p>
          <a:p>
            <a:pPr marL="0" indent="0">
              <a:buNone/>
            </a:pPr>
            <a:endParaRPr lang="en-GB" dirty="0"/>
          </a:p>
        </p:txBody>
      </p:sp>
    </p:spTree>
    <p:extLst>
      <p:ext uri="{BB962C8B-B14F-4D97-AF65-F5344CB8AC3E}">
        <p14:creationId xmlns:p14="http://schemas.microsoft.com/office/powerpoint/2010/main" val="23922338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From </a:t>
            </a:r>
            <a:r>
              <a:rPr lang="en-GB" dirty="0" err="1" smtClean="0"/>
              <a:t>Besley</a:t>
            </a:r>
            <a:r>
              <a:rPr lang="en-GB" dirty="0" smtClean="0"/>
              <a:t> et al. 1993 </a:t>
            </a:r>
            <a:br>
              <a:rPr lang="en-GB" dirty="0" smtClean="0"/>
            </a:br>
            <a:endParaRPr lang="en-GB" dirty="0"/>
          </a:p>
        </p:txBody>
      </p:sp>
      <p:sp>
        <p:nvSpPr>
          <p:cNvPr id="3" name="Content Placeholder 2"/>
          <p:cNvSpPr>
            <a:spLocks noGrp="1"/>
          </p:cNvSpPr>
          <p:nvPr>
            <p:ph idx="1"/>
          </p:nvPr>
        </p:nvSpPr>
        <p:spPr/>
        <p:txBody>
          <a:bodyPr>
            <a:normAutofit fontScale="62500" lnSpcReduction="20000"/>
          </a:bodyPr>
          <a:lstStyle/>
          <a:p>
            <a:r>
              <a:rPr lang="en-GB" dirty="0"/>
              <a:t>UK Quadrant 44 A red bed sequence up to 350 m thick overlies Coal Measures of Westphalian B or early Westphalian C age (NJ zone). In Well 44/21-3 the uppermost part of the red bed sequence is </a:t>
            </a:r>
            <a:r>
              <a:rPr lang="en-GB" dirty="0" err="1"/>
              <a:t>lithostratigraphically</a:t>
            </a:r>
            <a:r>
              <a:rPr lang="en-GB" dirty="0"/>
              <a:t> distinctive and contains grey coal-bearing intercalations with a well established late Westphalian C </a:t>
            </a:r>
            <a:r>
              <a:rPr lang="en-GB" dirty="0" err="1"/>
              <a:t>palynoflora</a:t>
            </a:r>
            <a:r>
              <a:rPr lang="en-GB" dirty="0"/>
              <a:t> (upper part of SL zone). It is clear from log correlation between this and other wells (Fig. 4) that most of the red bed sequence encountered in wells in the UK sector is of Westphalian C age</a:t>
            </a:r>
            <a:r>
              <a:rPr lang="en-GB" dirty="0" smtClean="0"/>
              <a:t>.</a:t>
            </a:r>
          </a:p>
          <a:p>
            <a:r>
              <a:rPr lang="en-GB" dirty="0" smtClean="0"/>
              <a:t>Sedimentology: </a:t>
            </a:r>
            <a:r>
              <a:rPr lang="en-GB" dirty="0"/>
              <a:t>Extensive cores of the Westphalian C red bed sequence in 44/ 28-1 show the sediments to be dominantly fluvial, containing single and multi-storey braided channel deposits (Figs 7a and b), interbedded with intensely rooted overbank deposits that locally contain ferruginous </a:t>
            </a:r>
            <a:r>
              <a:rPr lang="en-GB" dirty="0" err="1"/>
              <a:t>palaeosols</a:t>
            </a:r>
            <a:r>
              <a:rPr lang="en-GB" dirty="0"/>
              <a:t> (Fig 7c; cf. </a:t>
            </a:r>
            <a:r>
              <a:rPr lang="en-GB" dirty="0" err="1"/>
              <a:t>Besly</a:t>
            </a:r>
            <a:r>
              <a:rPr lang="en-GB" dirty="0"/>
              <a:t> and Fielding 1989). However, in some parts of the succession the association of </a:t>
            </a:r>
            <a:r>
              <a:rPr lang="en-GB" dirty="0" err="1"/>
              <a:t>facies</a:t>
            </a:r>
            <a:r>
              <a:rPr lang="en-GB" dirty="0"/>
              <a:t> is strongly reminiscent of the waterlogged alluvial plain </a:t>
            </a:r>
            <a:r>
              <a:rPr lang="en-GB" dirty="0" err="1"/>
              <a:t>facies</a:t>
            </a:r>
            <a:r>
              <a:rPr lang="en-GB" dirty="0"/>
              <a:t> typically encountered in the underlying Coal Measures (Fig. 7d). This association includes </a:t>
            </a:r>
            <a:r>
              <a:rPr lang="en-GB" dirty="0" err="1"/>
              <a:t>interlaminated</a:t>
            </a:r>
            <a:r>
              <a:rPr lang="en-GB" dirty="0"/>
              <a:t> fine-grained sandstones and mudstones, showing ripple cross-lamination and varying degrees of bioturbation. The presence of </a:t>
            </a:r>
            <a:r>
              <a:rPr lang="en-GB" dirty="0" err="1"/>
              <a:t>lepidophyte</a:t>
            </a:r>
            <a:r>
              <a:rPr lang="en-GB" dirty="0"/>
              <a:t> root systems, oxidized remains of plant fragments and haematite concretions that replace early</a:t>
            </a:r>
          </a:p>
        </p:txBody>
      </p:sp>
    </p:spTree>
    <p:extLst>
      <p:ext uri="{BB962C8B-B14F-4D97-AF65-F5344CB8AC3E}">
        <p14:creationId xmlns:p14="http://schemas.microsoft.com/office/powerpoint/2010/main" val="18532024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94310" y="121920"/>
            <a:ext cx="8256270" cy="6676087"/>
          </a:xfrm>
          <a:prstGeom prst="rect">
            <a:avLst/>
          </a:prstGeom>
        </p:spPr>
      </p:pic>
    </p:spTree>
    <p:extLst>
      <p:ext uri="{BB962C8B-B14F-4D97-AF65-F5344CB8AC3E}">
        <p14:creationId xmlns:p14="http://schemas.microsoft.com/office/powerpoint/2010/main" val="12605987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161</TotalTime>
  <Words>1343</Words>
  <Application>Microsoft Office PowerPoint</Application>
  <PresentationFormat>On-screen Show (4:3)</PresentationFormat>
  <Paragraphs>49</Paragraphs>
  <Slides>10</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Your task</vt:lpstr>
      <vt:lpstr>PowerPoint Presentation</vt:lpstr>
      <vt:lpstr>PowerPoint Presentation</vt:lpstr>
      <vt:lpstr>PowerPoint Presentation</vt:lpstr>
      <vt:lpstr>PowerPoint Presentation</vt:lpstr>
      <vt:lpstr>Lithofacies scheme for the ‘Barren Red Measures’</vt:lpstr>
      <vt:lpstr>Official definition: British Geological Survey (BGS): </vt:lpstr>
      <vt:lpstr>From Besley et al. 1993  </vt:lpstr>
      <vt:lpstr>PowerPoint Presentation</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Ian Kane</dc:creator>
  <cp:lastModifiedBy>Ian Kane</cp:lastModifiedBy>
  <cp:revision>15</cp:revision>
  <dcterms:created xsi:type="dcterms:W3CDTF">2022-02-14T14:11:44Z</dcterms:created>
  <dcterms:modified xsi:type="dcterms:W3CDTF">2022-02-14T16:52:59Z</dcterms:modified>
</cp:coreProperties>
</file>