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2"/>
  </p:notesMasterIdLst>
  <p:sldIdLst>
    <p:sldId id="378" r:id="rId2"/>
    <p:sldId id="380" r:id="rId3"/>
    <p:sldId id="317" r:id="rId4"/>
    <p:sldId id="413" r:id="rId5"/>
    <p:sldId id="347" r:id="rId6"/>
    <p:sldId id="381" r:id="rId7"/>
    <p:sldId id="412" r:id="rId8"/>
    <p:sldId id="424" r:id="rId9"/>
    <p:sldId id="428" r:id="rId10"/>
    <p:sldId id="427" r:id="rId11"/>
    <p:sldId id="430" r:id="rId12"/>
    <p:sldId id="431" r:id="rId13"/>
    <p:sldId id="414" r:id="rId14"/>
    <p:sldId id="319" r:id="rId15"/>
    <p:sldId id="604" r:id="rId16"/>
    <p:sldId id="606" r:id="rId17"/>
    <p:sldId id="608" r:id="rId18"/>
    <p:sldId id="335" r:id="rId19"/>
    <p:sldId id="579" r:id="rId20"/>
    <p:sldId id="426" r:id="rId21"/>
    <p:sldId id="433" r:id="rId22"/>
    <p:sldId id="436" r:id="rId23"/>
    <p:sldId id="434" r:id="rId24"/>
    <p:sldId id="435" r:id="rId25"/>
    <p:sldId id="603" r:id="rId26"/>
    <p:sldId id="597" r:id="rId27"/>
    <p:sldId id="576" r:id="rId28"/>
    <p:sldId id="538" r:id="rId29"/>
    <p:sldId id="599" r:id="rId30"/>
    <p:sldId id="475" r:id="rId31"/>
    <p:sldId id="594" r:id="rId32"/>
    <p:sldId id="600" r:id="rId33"/>
    <p:sldId id="518" r:id="rId34"/>
    <p:sldId id="583" r:id="rId35"/>
    <p:sldId id="491" r:id="rId36"/>
    <p:sldId id="564" r:id="rId37"/>
    <p:sldId id="567" r:id="rId38"/>
    <p:sldId id="342" r:id="rId39"/>
    <p:sldId id="610" r:id="rId40"/>
    <p:sldId id="476" r:id="rId41"/>
    <p:sldId id="582" r:id="rId42"/>
    <p:sldId id="609" r:id="rId43"/>
    <p:sldId id="607" r:id="rId44"/>
    <p:sldId id="612" r:id="rId45"/>
    <p:sldId id="613" r:id="rId46"/>
    <p:sldId id="614" r:id="rId47"/>
    <p:sldId id="615" r:id="rId48"/>
    <p:sldId id="616" r:id="rId49"/>
    <p:sldId id="321" r:id="rId50"/>
    <p:sldId id="619" r:id="rId51"/>
    <p:sldId id="618" r:id="rId52"/>
    <p:sldId id="617" r:id="rId53"/>
    <p:sldId id="626" r:id="rId54"/>
    <p:sldId id="621" r:id="rId55"/>
    <p:sldId id="620" r:id="rId56"/>
    <p:sldId id="622" r:id="rId57"/>
    <p:sldId id="625" r:id="rId58"/>
    <p:sldId id="623" r:id="rId59"/>
    <p:sldId id="627" r:id="rId60"/>
    <p:sldId id="265" r:id="rId61"/>
    <p:sldId id="674" r:id="rId62"/>
    <p:sldId id="676" r:id="rId63"/>
    <p:sldId id="677" r:id="rId64"/>
    <p:sldId id="377" r:id="rId65"/>
    <p:sldId id="303" r:id="rId66"/>
    <p:sldId id="670" r:id="rId67"/>
    <p:sldId id="682" r:id="rId68"/>
    <p:sldId id="279" r:id="rId69"/>
    <p:sldId id="690" r:id="rId70"/>
    <p:sldId id="287" r:id="rId71"/>
    <p:sldId id="288" r:id="rId72"/>
    <p:sldId id="285" r:id="rId73"/>
    <p:sldId id="679" r:id="rId74"/>
    <p:sldId id="680" r:id="rId75"/>
    <p:sldId id="362" r:id="rId76"/>
    <p:sldId id="611" r:id="rId77"/>
    <p:sldId id="691" r:id="rId78"/>
    <p:sldId id="692" r:id="rId79"/>
    <p:sldId id="693" r:id="rId80"/>
    <p:sldId id="360" r:id="rId8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4660"/>
  </p:normalViewPr>
  <p:slideViewPr>
    <p:cSldViewPr>
      <p:cViewPr varScale="1">
        <p:scale>
          <a:sx n="50" d="100"/>
          <a:sy n="50" d="100"/>
        </p:scale>
        <p:origin x="-1032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B7AA58C-4E97-45FA-B908-6A54ADB81161}" type="datetimeFigureOut">
              <a:rPr lang="en-GB" smtClean="0"/>
              <a:t>12/04/2021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66C036B-9047-44E9-A829-DF988285DF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26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B5AEA2-27CE-4AC9-9C28-8B48E89FA2C7}" type="slidenum">
              <a:rPr lang="en-US"/>
              <a:pPr/>
              <a:t>5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195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42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44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414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438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34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36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522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883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65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009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C4E8F55-1F38-456F-A1BD-FA6C9CFCB9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551AA27-3193-4314-9E5F-9FB58F8A96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9E900B8-7ED9-4F9E-9600-A5AFB03697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767A7D-7AA4-421C-871A-E9C276F82A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7698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b="8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F028A-F679-465D-9596-7260E5AD08BD}" type="datetimeFigureOut">
              <a:rPr lang="en-GB" smtClean="0"/>
              <a:pPr/>
              <a:t>12/04/2021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7F467-1F09-4A40-B0FA-3699DFAFF85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56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73/pnas.95.24.14009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earthobservatory.nasa.gov/world-of-change/wax_lake.php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hyperlink" Target="https://www.youtube.com/watch?v=dkvA96mux2g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hyperlink" Target="http://sepmstrata.org/deepwater/Co-Clare-Images/Foohagh-Pt-Doonlicky-Fm/pages/001-Listric-Fault-Doonlicky-Fm-Foohagh-Point-Co-Clare.html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basin.earth.ncu.edu.tw/download/lab%20reading/Sedimentary%20environments%20and%20facies/Bhattacharya_2006_delta_SEPM_SP84.pdf" TargetMode="External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marinespecies.org/i/images/4/44/NienhuisFig2.jpg">
            <a:extLst>
              <a:ext uri="{FF2B5EF4-FFF2-40B4-BE49-F238E27FC236}">
                <a16:creationId xmlns:a16="http://schemas.microsoft.com/office/drawing/2014/main" xmlns="" id="{013275EE-F709-4959-90E8-0A05DCEB8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3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076F50B-B4EE-4AC5-A281-98385D4F84D8}"/>
              </a:ext>
            </a:extLst>
          </p:cNvPr>
          <p:cNvSpPr txBox="1">
            <a:spLocks noChangeArrowheads="1"/>
          </p:cNvSpPr>
          <p:nvPr/>
        </p:nvSpPr>
        <p:spPr>
          <a:xfrm>
            <a:off x="141920" y="1052736"/>
            <a:ext cx="8856984" cy="3312368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EART23202: Interpreting the stratigraphic record: from surface to subsurface</a:t>
            </a:r>
            <a:endParaRPr lang="en-GB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ea typeface="Adobe Fangsong Std R" pitchFamily="18" charset="-128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Shallow marine clastic environments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(a.k.a. “shelves”)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2912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wiki.statoil.no/wiki/images/c/cd/S2S_shelf.png">
            <a:extLst>
              <a:ext uri="{FF2B5EF4-FFF2-40B4-BE49-F238E27FC236}">
                <a16:creationId xmlns:a16="http://schemas.microsoft.com/office/drawing/2014/main" xmlns="" id="{5414C1F5-934F-4A03-82F0-63135B2DD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24744"/>
            <a:ext cx="8011031" cy="5460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xmlns="" id="{7E010C3D-850C-4A69-9DE4-BF22254A4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The source-to-sink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A3D1CF48-D98B-462B-A5BD-9DDC6D8834BE}"/>
              </a:ext>
            </a:extLst>
          </p:cNvPr>
          <p:cNvSpPr/>
          <p:nvPr/>
        </p:nvSpPr>
        <p:spPr>
          <a:xfrm rot="20687156">
            <a:off x="2422464" y="2405446"/>
            <a:ext cx="1083401" cy="775059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A04D076-B028-4773-9073-DD7D7A0AD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5104" y="1492462"/>
            <a:ext cx="288032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000" b="1" dirty="0">
                <a:solidFill>
                  <a:srgbClr val="00B050"/>
                </a:solidFill>
              </a:rPr>
              <a:t>Continental </a:t>
            </a:r>
          </a:p>
          <a:p>
            <a:pPr algn="ctr"/>
            <a:r>
              <a:rPr lang="en-GB" sz="2000" b="1" dirty="0">
                <a:solidFill>
                  <a:srgbClr val="00B050"/>
                </a:solidFill>
              </a:rPr>
              <a:t>(last week)</a:t>
            </a:r>
            <a:endParaRPr lang="en-GB" sz="2000" dirty="0">
              <a:solidFill>
                <a:srgbClr val="00B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C060825-ED41-4DAE-BDB6-841C8DF883D6}"/>
              </a:ext>
            </a:extLst>
          </p:cNvPr>
          <p:cNvSpPr/>
          <p:nvPr/>
        </p:nvSpPr>
        <p:spPr>
          <a:xfrm rot="20438995">
            <a:off x="910783" y="3043631"/>
            <a:ext cx="4057830" cy="1348580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F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CE5179B-1654-4FEC-8C90-D185A2D81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1834" y="2792975"/>
            <a:ext cx="1961964" cy="521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n-GB" sz="2000" b="1" dirty="0">
                <a:solidFill>
                  <a:srgbClr val="00B0F0"/>
                </a:solidFill>
              </a:rPr>
              <a:t>Shallow marine</a:t>
            </a:r>
          </a:p>
          <a:p>
            <a:pPr algn="r"/>
            <a:r>
              <a:rPr lang="en-GB" sz="2000" b="1" dirty="0">
                <a:solidFill>
                  <a:srgbClr val="00B0F0"/>
                </a:solidFill>
              </a:rPr>
              <a:t>(this week!)</a:t>
            </a:r>
            <a:endParaRPr lang="en-GB" sz="2000" dirty="0">
              <a:solidFill>
                <a:srgbClr val="00B0F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9DFC844-CA8C-4FF1-853A-FC3DFD73F2AB}"/>
              </a:ext>
            </a:extLst>
          </p:cNvPr>
          <p:cNvSpPr/>
          <p:nvPr/>
        </p:nvSpPr>
        <p:spPr>
          <a:xfrm rot="20613325">
            <a:off x="5608690" y="3030329"/>
            <a:ext cx="1958792" cy="223623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xmlns="" id="{4200F241-B563-4AB5-98C2-0F4F1287A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808" y="3146421"/>
            <a:ext cx="172819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000" b="1" dirty="0"/>
              <a:t>Deep marine</a:t>
            </a:r>
          </a:p>
          <a:p>
            <a:pPr algn="ctr"/>
            <a:r>
              <a:rPr lang="en-GB" sz="2000" b="1" dirty="0"/>
              <a:t>(next week)</a:t>
            </a:r>
          </a:p>
        </p:txBody>
      </p:sp>
    </p:spTree>
    <p:extLst>
      <p:ext uri="{BB962C8B-B14F-4D97-AF65-F5344CB8AC3E}">
        <p14:creationId xmlns:p14="http://schemas.microsoft.com/office/powerpoint/2010/main" val="2626743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http://www.sepmstrata.org/images/WaveBaseOpenU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2677886"/>
          </a:xfrm>
          <a:prstGeom prst="rect">
            <a:avLst/>
          </a:prstGeom>
          <a:noFill/>
        </p:spPr>
      </p:pic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57329" y="4221088"/>
            <a:ext cx="8677026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2800" b="1" dirty="0"/>
              <a:t>Definition 1:</a:t>
            </a:r>
          </a:p>
          <a:p>
            <a:pPr>
              <a:buFont typeface="Arial" pitchFamily="34" charset="0"/>
              <a:buChar char="•"/>
            </a:pPr>
            <a:r>
              <a:rPr lang="en-GB" sz="2800" dirty="0"/>
              <a:t>Above storm wave-base (deepest storms and tsunami).</a:t>
            </a:r>
          </a:p>
          <a:p>
            <a:pPr lvl="1"/>
            <a:r>
              <a:rPr lang="en-GB" sz="2800" dirty="0">
                <a:sym typeface="Wingdings" pitchFamily="2" charset="2"/>
              </a:rPr>
              <a:t>Influence of wave and tidal activity and their products</a:t>
            </a:r>
            <a:r>
              <a:rPr lang="en-GB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Typically above 50m water depth in the oceans</a:t>
            </a:r>
          </a:p>
          <a:p>
            <a:pPr lvl="1"/>
            <a:r>
              <a:rPr lang="en-GB" sz="2800" dirty="0">
                <a:sym typeface="Wingdings" panose="05000000000000000000" pitchFamily="2" charset="2"/>
              </a:rPr>
              <a:t>much shallower (few m’s), even in the largest lakes.</a:t>
            </a:r>
            <a:endParaRPr lang="en-GB" sz="2800" dirty="0"/>
          </a:p>
          <a:p>
            <a:pPr lvl="2"/>
            <a:endParaRPr lang="en-GB" sz="2800" dirty="0"/>
          </a:p>
        </p:txBody>
      </p:sp>
      <p:sp>
        <p:nvSpPr>
          <p:cNvPr id="8" name="Rectangle 7"/>
          <p:cNvSpPr/>
          <p:nvPr/>
        </p:nvSpPr>
        <p:spPr>
          <a:xfrm flipH="1" flipV="1">
            <a:off x="971600" y="1268760"/>
            <a:ext cx="3456384" cy="7920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4175956" y="1664804"/>
            <a:ext cx="792088" cy="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44008" y="1412776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50-200m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E5B3A6B6-5363-48E6-8EB9-4D6C9E402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What is “shallow water”?</a:t>
            </a:r>
          </a:p>
        </p:txBody>
      </p:sp>
    </p:spTree>
    <p:extLst>
      <p:ext uri="{BB962C8B-B14F-4D97-AF65-F5344CB8AC3E}">
        <p14:creationId xmlns:p14="http://schemas.microsoft.com/office/powerpoint/2010/main" val="173123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http://www.sepmstrata.org/images/WaveBaseOpenU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2677886"/>
          </a:xfrm>
          <a:prstGeom prst="rect">
            <a:avLst/>
          </a:prstGeom>
          <a:noFill/>
        </p:spPr>
      </p:pic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57328" y="4221088"/>
            <a:ext cx="8879167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2800" b="1" dirty="0"/>
              <a:t>Definition 2: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low gradient (&lt;0.05</a:t>
            </a:r>
            <a:r>
              <a:rPr lang="en-GB" sz="2800" baseline="30000" dirty="0"/>
              <a:t>o</a:t>
            </a:r>
            <a:r>
              <a:rPr lang="en-GB" sz="2800" dirty="0"/>
              <a:t>) continental shelf.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Generally 100-140 m deep (the amplitude of Quaternary sea-level changes)</a:t>
            </a:r>
            <a:r>
              <a:rPr lang="en-GB" sz="2800" dirty="0">
                <a:sym typeface="Wingdings" panose="05000000000000000000" pitchFamily="2" charset="2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ym typeface="Wingdings" panose="05000000000000000000" pitchFamily="2" charset="2"/>
              </a:rPr>
              <a:t>Few 100s m wide to 100s km.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ym typeface="Wingdings" panose="05000000000000000000" pitchFamily="2" charset="2"/>
              </a:rPr>
              <a:t>“Shelf break” happens at greater depths than this.</a:t>
            </a:r>
            <a:endParaRPr lang="en-GB" sz="2800" dirty="0"/>
          </a:p>
          <a:p>
            <a:pPr lvl="2"/>
            <a:endParaRPr lang="en-GB" sz="2800" dirty="0"/>
          </a:p>
        </p:txBody>
      </p:sp>
      <p:sp>
        <p:nvSpPr>
          <p:cNvPr id="8" name="Rectangle 7"/>
          <p:cNvSpPr/>
          <p:nvPr/>
        </p:nvSpPr>
        <p:spPr>
          <a:xfrm flipH="1" flipV="1">
            <a:off x="971600" y="1268760"/>
            <a:ext cx="6048672" cy="11521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4572000" y="1268760"/>
            <a:ext cx="0" cy="1152128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97765" y="1583214"/>
            <a:ext cx="1872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100-140m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E5B3A6B6-5363-48E6-8EB9-4D6C9E402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What is “shallow water”?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6F4DE75-53B0-4B25-B2F0-EFC867E949AA}"/>
              </a:ext>
            </a:extLst>
          </p:cNvPr>
          <p:cNvSpPr/>
          <p:nvPr/>
        </p:nvSpPr>
        <p:spPr>
          <a:xfrm flipH="1" flipV="1">
            <a:off x="971600" y="1268760"/>
            <a:ext cx="3150091" cy="7920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56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G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7" y="1123591"/>
            <a:ext cx="8919936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51520" y="6321365"/>
            <a:ext cx="3600400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Bathymetry of the North Gulf of Mexico</a:t>
            </a: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9904B0-A0F1-445D-9162-6CF63A2F5AFD}" type="slidenum">
              <a:rPr lang="en-US"/>
              <a:pPr/>
              <a:t>5</a:t>
            </a:fld>
            <a:endParaRPr lang="en-US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xmlns="" id="{0CDE0550-CDEF-438E-AFDC-C1D54E16B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7034" y="1560783"/>
            <a:ext cx="191911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Mississippi Delta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055678C-66DF-4480-9F6F-13950A6972D5}"/>
              </a:ext>
            </a:extLst>
          </p:cNvPr>
          <p:cNvCxnSpPr>
            <a:cxnSpLocks/>
          </p:cNvCxnSpPr>
          <p:nvPr/>
        </p:nvCxnSpPr>
        <p:spPr>
          <a:xfrm>
            <a:off x="2411760" y="1772816"/>
            <a:ext cx="360040" cy="172819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1E008F90-6FF9-4468-A6F0-65FB8DA67104}"/>
              </a:ext>
            </a:extLst>
          </p:cNvPr>
          <p:cNvCxnSpPr>
            <a:cxnSpLocks/>
          </p:cNvCxnSpPr>
          <p:nvPr/>
        </p:nvCxnSpPr>
        <p:spPr>
          <a:xfrm>
            <a:off x="7092280" y="2276872"/>
            <a:ext cx="216024" cy="36004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3375218-EBB9-4F40-BE8B-00C090677779}"/>
              </a:ext>
            </a:extLst>
          </p:cNvPr>
          <p:cNvSpPr txBox="1"/>
          <p:nvPr/>
        </p:nvSpPr>
        <p:spPr>
          <a:xfrm>
            <a:off x="2682934" y="2452246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220 km wide shelf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699D916-F52B-45B8-815D-DC62F0700030}"/>
              </a:ext>
            </a:extLst>
          </p:cNvPr>
          <p:cNvSpPr txBox="1"/>
          <p:nvPr/>
        </p:nvSpPr>
        <p:spPr>
          <a:xfrm>
            <a:off x="5466514" y="2336528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Nearly no shelf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xmlns="" id="{34EF0CF7-4136-43C5-88DC-CA882FE05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What is “shallow water”?</a:t>
            </a:r>
          </a:p>
        </p:txBody>
      </p:sp>
    </p:spTree>
    <p:extLst>
      <p:ext uri="{BB962C8B-B14F-4D97-AF65-F5344CB8AC3E}">
        <p14:creationId xmlns:p14="http://schemas.microsoft.com/office/powerpoint/2010/main" val="311452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9D952D59-FF17-4133-B890-C60157729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800" b="1" dirty="0">
                <a:solidFill>
                  <a:srgbClr val="FFFF00"/>
                </a:solidFill>
                <a:latin typeface="+mj-lt"/>
              </a:rPr>
              <a:t>Sediment transport in shallow seas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xmlns="" id="{EEFEC6AF-39B7-4EF0-BD2F-5001B82C6F0F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1268760"/>
            <a:ext cx="8077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Three modes:</a:t>
            </a:r>
          </a:p>
          <a:p>
            <a:pPr lvl="2"/>
            <a:r>
              <a:rPr lang="en-US" altLang="en-US" dirty="0"/>
              <a:t>Dissolved load/wash load (ions in solution - pollution)</a:t>
            </a:r>
          </a:p>
          <a:p>
            <a:pPr lvl="2"/>
            <a:r>
              <a:rPr lang="en-US" altLang="en-US" dirty="0"/>
              <a:t>Suspended load</a:t>
            </a:r>
          </a:p>
          <a:p>
            <a:pPr lvl="3"/>
            <a:r>
              <a:rPr lang="en-US" altLang="en-US" sz="2400" dirty="0"/>
              <a:t>Fine particles (sand, silt &amp; clay)</a:t>
            </a:r>
          </a:p>
          <a:p>
            <a:pPr lvl="3"/>
            <a:r>
              <a:rPr lang="en-US" altLang="en-US" sz="2400" dirty="0"/>
              <a:t>Turbulent eddies pick up, carry upward if vel. &gt; settling vel.</a:t>
            </a:r>
          </a:p>
          <a:p>
            <a:pPr lvl="2"/>
            <a:r>
              <a:rPr lang="en-US" altLang="en-US" dirty="0"/>
              <a:t>Bedload</a:t>
            </a:r>
          </a:p>
          <a:p>
            <a:pPr lvl="3"/>
            <a:r>
              <a:rPr lang="en-US" altLang="en-US" sz="2400" dirty="0"/>
              <a:t>On/near bed; rolling, bouncing (</a:t>
            </a:r>
            <a:r>
              <a:rPr lang="ja-JP" altLang="en-US" sz="2400" dirty="0">
                <a:ea typeface="ＭＳ Ｐゴシック" panose="020B0600070205080204" pitchFamily="34" charset="-128"/>
              </a:rPr>
              <a:t>‘</a:t>
            </a:r>
            <a:r>
              <a:rPr lang="en-US" altLang="ja-JP" sz="2400" dirty="0">
                <a:ea typeface="ＭＳ Ｐゴシック" panose="020B0600070205080204" pitchFamily="34" charset="-128"/>
              </a:rPr>
              <a:t>saltating</a:t>
            </a:r>
            <a:r>
              <a:rPr lang="ja-JP" altLang="en-US" sz="2400" dirty="0">
                <a:ea typeface="ＭＳ Ｐゴシック" panose="020B0600070205080204" pitchFamily="34" charset="-128"/>
              </a:rPr>
              <a:t>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), etc.</a:t>
            </a:r>
          </a:p>
          <a:p>
            <a:r>
              <a:rPr lang="en-US" altLang="en-US" dirty="0"/>
              <a:t>Suspended and bedload transport increase rapidly with flow strength (nonlinear relationship)</a:t>
            </a:r>
          </a:p>
        </p:txBody>
      </p:sp>
    </p:spTree>
    <p:extLst>
      <p:ext uri="{BB962C8B-B14F-4D97-AF65-F5344CB8AC3E}">
        <p14:creationId xmlns:p14="http://schemas.microsoft.com/office/powerpoint/2010/main" val="380238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>
            <a:extLst>
              <a:ext uri="{FF2B5EF4-FFF2-40B4-BE49-F238E27FC236}">
                <a16:creationId xmlns:a16="http://schemas.microsoft.com/office/drawing/2014/main" xmlns="" id="{D8B34D1F-6B00-4921-9C25-CB12D50F3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What drives this transport?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AEA4BE8A-BB91-4FD9-A5E7-5B5133A88993}"/>
              </a:ext>
            </a:extLst>
          </p:cNvPr>
          <p:cNvGrpSpPr/>
          <p:nvPr/>
        </p:nvGrpSpPr>
        <p:grpSpPr>
          <a:xfrm>
            <a:off x="39642" y="1082328"/>
            <a:ext cx="9179491" cy="5775672"/>
            <a:chOff x="80957" y="1098822"/>
            <a:chExt cx="9179491" cy="5775672"/>
          </a:xfrm>
        </p:grpSpPr>
        <p:pic>
          <p:nvPicPr>
            <p:cNvPr id="2050" name="Picture 2" descr="Sedimentological parameterization of shallow-marine reservoirs | Petroleum  Geoscience">
              <a:extLst>
                <a:ext uri="{FF2B5EF4-FFF2-40B4-BE49-F238E27FC236}">
                  <a16:creationId xmlns:a16="http://schemas.microsoft.com/office/drawing/2014/main" xmlns="" id="{D1E966A1-A8C4-4C8E-9094-171B4C6A47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0957" y="4869098"/>
              <a:ext cx="2376264" cy="20053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Sedimentological parameterization of shallow-marine reservoirs | Petroleum  Geoscience">
              <a:extLst>
                <a:ext uri="{FF2B5EF4-FFF2-40B4-BE49-F238E27FC236}">
                  <a16:creationId xmlns:a16="http://schemas.microsoft.com/office/drawing/2014/main" xmlns="" id="{12039563-DAF4-4D45-86A8-A9030E705A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664816" y="1098822"/>
              <a:ext cx="1998222" cy="22646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Sedimentological parameterization of shallow-marine reservoirs | Petroleum  Geoscience">
              <a:extLst>
                <a:ext uri="{FF2B5EF4-FFF2-40B4-BE49-F238E27FC236}">
                  <a16:creationId xmlns:a16="http://schemas.microsoft.com/office/drawing/2014/main" xmlns="" id="{7CBECB73-1EDE-4CE4-8793-B471E41F53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244224" y="5039636"/>
              <a:ext cx="2016224" cy="17609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EF2176E1-6A18-4C38-8C3F-D4057DF6F391}"/>
                </a:ext>
              </a:extLst>
            </p:cNvPr>
            <p:cNvSpPr/>
            <p:nvPr/>
          </p:nvSpPr>
          <p:spPr>
            <a:xfrm>
              <a:off x="7120979" y="2484839"/>
              <a:ext cx="648072" cy="997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6C4BF802-6128-49A4-90ED-3F4CF307C99A}"/>
                </a:ext>
              </a:extLst>
            </p:cNvPr>
            <p:cNvSpPr/>
            <p:nvPr/>
          </p:nvSpPr>
          <p:spPr>
            <a:xfrm>
              <a:off x="1377100" y="4370446"/>
              <a:ext cx="1260143" cy="997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330CB0AE-2F83-4F05-9A77-4C6332096870}"/>
                </a:ext>
              </a:extLst>
            </p:cNvPr>
            <p:cNvSpPr/>
            <p:nvPr/>
          </p:nvSpPr>
          <p:spPr>
            <a:xfrm>
              <a:off x="4670238" y="2872041"/>
              <a:ext cx="1260143" cy="997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06E71390-7981-4545-89AC-36C5F29B1865}"/>
                </a:ext>
              </a:extLst>
            </p:cNvPr>
            <p:cNvSpPr/>
            <p:nvPr/>
          </p:nvSpPr>
          <p:spPr>
            <a:xfrm>
              <a:off x="4543763" y="1519669"/>
              <a:ext cx="1260143" cy="997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xmlns="" id="{A0196E0B-C948-4A32-A863-AAD5864646C0}"/>
                </a:ext>
              </a:extLst>
            </p:cNvPr>
            <p:cNvSpPr/>
            <p:nvPr/>
          </p:nvSpPr>
          <p:spPr>
            <a:xfrm>
              <a:off x="3386870" y="3130352"/>
              <a:ext cx="2798780" cy="2448272"/>
            </a:xfrm>
            <a:prstGeom prst="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" name="Rectangle 9">
            <a:extLst>
              <a:ext uri="{FF2B5EF4-FFF2-40B4-BE49-F238E27FC236}">
                <a16:creationId xmlns:a16="http://schemas.microsoft.com/office/drawing/2014/main" xmlns="" id="{CEB24B0E-5B51-4B77-9B29-17B55E7F8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775" y="1596171"/>
            <a:ext cx="227034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800" b="1" dirty="0"/>
              <a:t>River dominated</a:t>
            </a:r>
            <a:endParaRPr lang="en-GB" sz="2800" dirty="0"/>
          </a:p>
          <a:p>
            <a:pPr lvl="2"/>
            <a:endParaRPr lang="en-GB" sz="2800" dirty="0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xmlns="" id="{8967EC54-5ABF-4EDE-AED1-731E063E8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65" y="4666830"/>
            <a:ext cx="227034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800" b="1" dirty="0"/>
              <a:t>Wave dominated</a:t>
            </a:r>
            <a:endParaRPr lang="en-GB" sz="2800" dirty="0"/>
          </a:p>
          <a:p>
            <a:pPr lvl="2"/>
            <a:endParaRPr lang="en-GB" sz="2800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xmlns="" id="{C292A412-CAA6-4ABA-B9A1-971F8F70F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722" y="4617033"/>
            <a:ext cx="227034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800" b="1" dirty="0"/>
              <a:t>Tide dominated</a:t>
            </a:r>
            <a:endParaRPr lang="en-GB" sz="2800" dirty="0"/>
          </a:p>
          <a:p>
            <a:pPr lvl="2"/>
            <a:endParaRPr lang="en-GB" sz="2800" dirty="0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xmlns="" id="{E75ABB77-DC88-4F30-9241-31CD26B9E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214" y="777691"/>
            <a:ext cx="3708221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Lobate coastlines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Deltas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xmlns="" id="{5B824BA3-4E39-470B-A7B7-285B5D2BF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38" y="3225963"/>
            <a:ext cx="3708221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Linear coastlines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err="1"/>
              <a:t>Strandplains</a:t>
            </a:r>
            <a:r>
              <a:rPr lang="en-GB" sz="2800" dirty="0"/>
              <a:t>, spits, beaches and lagoons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xmlns="" id="{4591B9C9-6759-4F41-BB47-7FAB6C8CA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323" y="3328799"/>
            <a:ext cx="3708221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Embayed coastlines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Estuaries and tidal flats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6EDFE396-1374-42A8-ABB9-2C1E4D00C084}"/>
              </a:ext>
            </a:extLst>
          </p:cNvPr>
          <p:cNvGrpSpPr/>
          <p:nvPr/>
        </p:nvGrpSpPr>
        <p:grpSpPr>
          <a:xfrm>
            <a:off x="-2880707" y="-758526"/>
            <a:ext cx="3348221" cy="2288584"/>
            <a:chOff x="-33573" y="76623"/>
            <a:chExt cx="3348221" cy="2288584"/>
          </a:xfrm>
        </p:grpSpPr>
        <p:sp>
          <p:nvSpPr>
            <p:cNvPr id="24" name="Explosion: 14 Points 23">
              <a:extLst>
                <a:ext uri="{FF2B5EF4-FFF2-40B4-BE49-F238E27FC236}">
                  <a16:creationId xmlns:a16="http://schemas.microsoft.com/office/drawing/2014/main" xmlns="" id="{D6E363C2-85E3-486F-B4EF-DD66D83F1C7B}"/>
                </a:ext>
              </a:extLst>
            </p:cNvPr>
            <p:cNvSpPr/>
            <p:nvPr/>
          </p:nvSpPr>
          <p:spPr bwMode="auto">
            <a:xfrm rot="21383404">
              <a:off x="-33573" y="76623"/>
              <a:ext cx="3348221" cy="2288584"/>
            </a:xfrm>
            <a:prstGeom prst="irregularSeal2">
              <a:avLst/>
            </a:prstGeom>
            <a:solidFill>
              <a:srgbClr val="FFFF00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ヒラギノ角ゴ Pro W3" pitchFamily="57" charset="-128"/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xmlns="" id="{F93A056C-07D0-46FE-9AC4-44A7A65BE4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45524">
              <a:off x="518684" y="1062560"/>
              <a:ext cx="2270340" cy="934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GB" sz="3000" b="1" dirty="0"/>
                <a:t>Key Concept!</a:t>
              </a:r>
              <a:endParaRPr lang="en-GB" sz="3000" dirty="0"/>
            </a:p>
            <a:p>
              <a:pPr lvl="2"/>
              <a:endParaRPr lang="en-GB" sz="3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xmlns="" id="{D7403FD5-7E61-40E0-B3F2-EB69B2859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2" y="1131236"/>
            <a:ext cx="8943174" cy="565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0E8A3AF-E717-4EBC-9F56-7494B57820B5}"/>
              </a:ext>
            </a:extLst>
          </p:cNvPr>
          <p:cNvSpPr txBox="1"/>
          <p:nvPr/>
        </p:nvSpPr>
        <p:spPr>
          <a:xfrm>
            <a:off x="219532" y="1265565"/>
            <a:ext cx="3808391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3000" dirty="0">
                <a:latin typeface="+mj-lt"/>
              </a:rPr>
              <a:t>These processes are not mutually exclusive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9FA1D7C-AFBF-4435-ABBB-35C124B945E1}"/>
              </a:ext>
            </a:extLst>
          </p:cNvPr>
          <p:cNvSpPr txBox="1"/>
          <p:nvPr/>
        </p:nvSpPr>
        <p:spPr>
          <a:xfrm>
            <a:off x="6588224" y="1196752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+mj-lt"/>
              </a:rPr>
              <a:t>Zambezi Delta, Mozambique.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xmlns="" id="{B0412D84-D33D-43B3-9AF2-693B82DEB3E7}"/>
              </a:ext>
            </a:extLst>
          </p:cNvPr>
          <p:cNvGrpSpPr/>
          <p:nvPr/>
        </p:nvGrpSpPr>
        <p:grpSpPr>
          <a:xfrm>
            <a:off x="1689696" y="3160410"/>
            <a:ext cx="7128283" cy="3478223"/>
            <a:chOff x="1689696" y="3160410"/>
            <a:chExt cx="7128283" cy="3478223"/>
          </a:xfrm>
        </p:grpSpPr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xmlns="" id="{57F7C1CF-626B-4469-A122-8BA28EBDC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069012">
              <a:off x="1689696" y="5999214"/>
              <a:ext cx="20039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 Black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600" b="1" dirty="0">
                  <a:latin typeface="+mj-lt"/>
                </a:rPr>
                <a:t>Spit: Longshore drift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xmlns="" id="{CB2F6B42-B438-42A2-9321-DE140E8C8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23728" y="6385399"/>
              <a:ext cx="1584176" cy="25323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D41EBCF0-3C59-4287-B823-480FF050D3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8384" y="3532616"/>
              <a:ext cx="432048" cy="133654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xmlns="" id="{908E740C-7555-4C1A-AB22-31BE9E928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411821">
              <a:off x="7677940" y="3961895"/>
              <a:ext cx="194152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 Black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600" b="1" dirty="0">
                  <a:latin typeface="+mj-lt"/>
                </a:rPr>
                <a:t>Spit: longshore drift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3727E8B2-C7DF-4262-B650-523C2AFCFE18}"/>
              </a:ext>
            </a:extLst>
          </p:cNvPr>
          <p:cNvGrpSpPr/>
          <p:nvPr/>
        </p:nvGrpSpPr>
        <p:grpSpPr>
          <a:xfrm>
            <a:off x="6444208" y="5100685"/>
            <a:ext cx="2080686" cy="1560584"/>
            <a:chOff x="6444208" y="5100685"/>
            <a:chExt cx="2080686" cy="1560584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xmlns="" id="{4802CA19-ED8A-467A-B51B-C4E7615481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4208" y="5157193"/>
              <a:ext cx="504056" cy="929529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xmlns="" id="{D86CE957-2DF6-4377-AD34-C475369C1118}"/>
                </a:ext>
              </a:extLst>
            </p:cNvPr>
            <p:cNvCxnSpPr>
              <a:cxnSpLocks/>
            </p:cNvCxnSpPr>
            <p:nvPr/>
          </p:nvCxnSpPr>
          <p:spPr>
            <a:xfrm>
              <a:off x="6588223" y="5100685"/>
              <a:ext cx="563908" cy="986037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Box 11">
              <a:extLst>
                <a:ext uri="{FF2B5EF4-FFF2-40B4-BE49-F238E27FC236}">
                  <a16:creationId xmlns:a16="http://schemas.microsoft.com/office/drawing/2014/main" xmlns="" id="{D174028B-5DB9-4EF7-9E87-A0F5DFF4B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1733" y="6076494"/>
              <a:ext cx="1623161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 Black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600" b="1" dirty="0">
                  <a:solidFill>
                    <a:schemeClr val="tx2"/>
                  </a:solidFill>
                  <a:latin typeface="+mj-lt"/>
                </a:rPr>
                <a:t>Funnel shape: tidal excavation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71CC44CC-D561-4DCD-BED0-FD75310A62BA}"/>
              </a:ext>
            </a:extLst>
          </p:cNvPr>
          <p:cNvGrpSpPr/>
          <p:nvPr/>
        </p:nvGrpSpPr>
        <p:grpSpPr>
          <a:xfrm>
            <a:off x="1699603" y="4576772"/>
            <a:ext cx="2614911" cy="1457786"/>
            <a:chOff x="1699603" y="4576772"/>
            <a:chExt cx="2614911" cy="1457786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xmlns="" id="{DDD9B7F9-E39A-4235-B22E-F1168A823FDB}"/>
                </a:ext>
              </a:extLst>
            </p:cNvPr>
            <p:cNvCxnSpPr>
              <a:cxnSpLocks/>
            </p:cNvCxnSpPr>
            <p:nvPr/>
          </p:nvCxnSpPr>
          <p:spPr>
            <a:xfrm>
              <a:off x="4221900" y="5100685"/>
              <a:ext cx="92614" cy="93387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 Box 11">
              <a:extLst>
                <a:ext uri="{FF2B5EF4-FFF2-40B4-BE49-F238E27FC236}">
                  <a16:creationId xmlns:a16="http://schemas.microsoft.com/office/drawing/2014/main" xmlns="" id="{BDEB0646-FDD2-453A-92C2-15967F824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603" y="4576772"/>
              <a:ext cx="2288300" cy="5847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 Black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600" b="1" dirty="0" err="1">
                  <a:solidFill>
                    <a:srgbClr val="FF0000"/>
                  </a:solidFill>
                  <a:latin typeface="+mj-lt"/>
                </a:rPr>
                <a:t>Mouthbar</a:t>
              </a:r>
              <a:r>
                <a:rPr lang="en-GB" sz="1600" b="1" dirty="0">
                  <a:solidFill>
                    <a:srgbClr val="FF0000"/>
                  </a:solidFill>
                  <a:latin typeface="+mj-lt"/>
                </a:rPr>
                <a:t>: Decelerating fluvial currents</a:t>
              </a:r>
            </a:p>
          </p:txBody>
        </p:sp>
      </p:grpSp>
      <p:sp>
        <p:nvSpPr>
          <p:cNvPr id="18" name="Rectangle 9">
            <a:extLst>
              <a:ext uri="{FF2B5EF4-FFF2-40B4-BE49-F238E27FC236}">
                <a16:creationId xmlns:a16="http://schemas.microsoft.com/office/drawing/2014/main" xmlns="" id="{4A8ECCA2-F63D-4194-82E1-817E18337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What drives this transport?</a:t>
            </a:r>
          </a:p>
        </p:txBody>
      </p:sp>
    </p:spTree>
    <p:extLst>
      <p:ext uri="{BB962C8B-B14F-4D97-AF65-F5344CB8AC3E}">
        <p14:creationId xmlns:p14="http://schemas.microsoft.com/office/powerpoint/2010/main" val="337667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Netherlands Map and Satellite Image">
            <a:extLst>
              <a:ext uri="{FF2B5EF4-FFF2-40B4-BE49-F238E27FC236}">
                <a16:creationId xmlns:a16="http://schemas.microsoft.com/office/drawing/2014/main" xmlns="" id="{279FA2D1-2FB4-48B2-BE81-527E37140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744520"/>
            <a:ext cx="3420484" cy="393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Bangladesh Map and Satellite Image">
            <a:extLst>
              <a:ext uri="{FF2B5EF4-FFF2-40B4-BE49-F238E27FC236}">
                <a16:creationId xmlns:a16="http://schemas.microsoft.com/office/drawing/2014/main" xmlns="" id="{B413C41E-6A20-4AF4-B67A-B960473D47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19999" y="2688456"/>
            <a:ext cx="4072481" cy="398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027">
            <a:extLst>
              <a:ext uri="{FF2B5EF4-FFF2-40B4-BE49-F238E27FC236}">
                <a16:creationId xmlns:a16="http://schemas.microsoft.com/office/drawing/2014/main" xmlns="" id="{B5D28BB5-53FC-4278-BEB2-87BD0EC58559}"/>
              </a:ext>
            </a:extLst>
          </p:cNvPr>
          <p:cNvSpPr txBox="1">
            <a:spLocks noChangeArrowheads="1"/>
          </p:cNvSpPr>
          <p:nvPr/>
        </p:nvSpPr>
        <p:spPr>
          <a:xfrm>
            <a:off x="97384" y="1124744"/>
            <a:ext cx="8795096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33% of the world’s population lives at the interface of land and sea*</a:t>
            </a:r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xmlns="" id="{0EBDDEAD-62B2-4167-8D98-49133F0CCC84}"/>
              </a:ext>
            </a:extLst>
          </p:cNvPr>
          <p:cNvSpPr txBox="1">
            <a:spLocks noChangeArrowheads="1"/>
          </p:cNvSpPr>
          <p:nvPr/>
        </p:nvSpPr>
        <p:spPr>
          <a:xfrm>
            <a:off x="207419" y="2214240"/>
            <a:ext cx="8077200" cy="43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1400" dirty="0"/>
              <a:t>*Cohen, J., Small, C. PNAS, 24, 14009-14014. </a:t>
            </a:r>
            <a:r>
              <a:rPr lang="en-GB" sz="1400" b="0" i="0" u="none" strike="noStrike" dirty="0">
                <a:solidFill>
                  <a:srgbClr val="005A96"/>
                </a:solidFill>
                <a:effectLst/>
                <a:latin typeface="Open Sans"/>
                <a:hlinkClick r:id="rId4"/>
              </a:rPr>
              <a:t>https://doi.org/10.1073/pnas.95.24.14009</a:t>
            </a:r>
            <a:endParaRPr lang="en-US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13A8E38-3278-407B-956E-A08BBD79AF91}"/>
              </a:ext>
            </a:extLst>
          </p:cNvPr>
          <p:cNvSpPr txBox="1"/>
          <p:nvPr/>
        </p:nvSpPr>
        <p:spPr>
          <a:xfrm>
            <a:off x="611560" y="6252175"/>
            <a:ext cx="108012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dirty="0" err="1">
                <a:latin typeface="+mj-lt"/>
              </a:rPr>
              <a:t>Nethelands</a:t>
            </a:r>
            <a:r>
              <a:rPr lang="en-GB" sz="1400" b="1" dirty="0">
                <a:latin typeface="+mj-lt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8A7350D-8050-4957-97C0-1B0B0F7D32B2}"/>
              </a:ext>
            </a:extLst>
          </p:cNvPr>
          <p:cNvSpPr txBox="1"/>
          <p:nvPr/>
        </p:nvSpPr>
        <p:spPr>
          <a:xfrm>
            <a:off x="4932040" y="6279260"/>
            <a:ext cx="108012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+mj-lt"/>
              </a:rPr>
              <a:t>Bangladesh.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804F269-3733-4DDF-B28F-194502E2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What’s the importance?</a:t>
            </a:r>
          </a:p>
        </p:txBody>
      </p:sp>
    </p:spTree>
    <p:extLst>
      <p:ext uri="{BB962C8B-B14F-4D97-AF65-F5344CB8AC3E}">
        <p14:creationId xmlns:p14="http://schemas.microsoft.com/office/powerpoint/2010/main" val="3235170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5FD8FBCF-5F03-4E34-8CE4-BA2BDE39A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What’s the importance?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xmlns="" id="{6F4A6154-350A-4A56-9960-5734AA856DFE}"/>
              </a:ext>
            </a:extLst>
          </p:cNvPr>
          <p:cNvSpPr txBox="1">
            <a:spLocks noChangeArrowheads="1"/>
          </p:cNvSpPr>
          <p:nvPr/>
        </p:nvSpPr>
        <p:spPr>
          <a:xfrm>
            <a:off x="158404" y="1008764"/>
            <a:ext cx="8795096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These areas are most sensitive to (relative) sea-level change, and river, wave and tidal processes are the agents of erosion and deposition. </a:t>
            </a:r>
          </a:p>
        </p:txBody>
      </p:sp>
      <p:pic>
        <p:nvPicPr>
          <p:cNvPr id="10242" name="Picture 2" descr="Galveston area under coastal flood advisory through Wednesday evening -  Laredo Morning Times">
            <a:extLst>
              <a:ext uri="{FF2B5EF4-FFF2-40B4-BE49-F238E27FC236}">
                <a16:creationId xmlns:a16="http://schemas.microsoft.com/office/drawing/2014/main" xmlns="" id="{09570198-328E-4403-8DEF-C1494BC14E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2"/>
          <a:stretch/>
        </p:blipFill>
        <p:spPr bwMode="auto">
          <a:xfrm>
            <a:off x="755576" y="2780928"/>
            <a:ext cx="7992888" cy="377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6AF8B43-06B4-4C05-8A42-53E97B034786}"/>
              </a:ext>
            </a:extLst>
          </p:cNvPr>
          <p:cNvSpPr txBox="1"/>
          <p:nvPr/>
        </p:nvSpPr>
        <p:spPr>
          <a:xfrm>
            <a:off x="6084168" y="6166452"/>
            <a:ext cx="25922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+mj-lt"/>
              </a:rPr>
              <a:t>Galveston barrier island, Texas.</a:t>
            </a:r>
          </a:p>
        </p:txBody>
      </p:sp>
    </p:spTree>
    <p:extLst>
      <p:ext uri="{BB962C8B-B14F-4D97-AF65-F5344CB8AC3E}">
        <p14:creationId xmlns:p14="http://schemas.microsoft.com/office/powerpoint/2010/main" val="385267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5FD8FBCF-5F03-4E34-8CE4-BA2BDE39A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What’s the importance?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xmlns="" id="{6F4A6154-350A-4A56-9960-5734AA856DFE}"/>
              </a:ext>
            </a:extLst>
          </p:cNvPr>
          <p:cNvSpPr txBox="1">
            <a:spLocks noChangeArrowheads="1"/>
          </p:cNvSpPr>
          <p:nvPr/>
        </p:nvSpPr>
        <p:spPr>
          <a:xfrm>
            <a:off x="348904" y="1412776"/>
            <a:ext cx="8795096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These environments are areas supremely important for food (fishing) and infrastructure (windfarms, tidal barriers) etc.</a:t>
            </a:r>
          </a:p>
        </p:txBody>
      </p:sp>
      <p:pic>
        <p:nvPicPr>
          <p:cNvPr id="12290" name="Picture 2" descr="Saint-Brieuc Bay offshore wind farm 496 MW, Brittany (France)">
            <a:extLst>
              <a:ext uri="{FF2B5EF4-FFF2-40B4-BE49-F238E27FC236}">
                <a16:creationId xmlns:a16="http://schemas.microsoft.com/office/drawing/2014/main" xmlns="" id="{4650DCF1-C8A8-4224-AFFE-C2E9410AD0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2820" y="3425552"/>
            <a:ext cx="8158360" cy="301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454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5FD8FBCF-5F03-4E34-8CE4-BA2BDE39A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What’s the importance?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xmlns="" id="{6F4A6154-350A-4A56-9960-5734AA856DFE}"/>
              </a:ext>
            </a:extLst>
          </p:cNvPr>
          <p:cNvSpPr txBox="1">
            <a:spLocks noChangeArrowheads="1"/>
          </p:cNvSpPr>
          <p:nvPr/>
        </p:nvSpPr>
        <p:spPr>
          <a:xfrm>
            <a:off x="169392" y="1268760"/>
            <a:ext cx="8795096" cy="144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The shelf is a major (often “permanent”) sink of sediment. Particulate pollutants will end up there.</a:t>
            </a:r>
          </a:p>
        </p:txBody>
      </p:sp>
      <p:pic>
        <p:nvPicPr>
          <p:cNvPr id="6" name="Picture 4" descr="http://www.sepmstrata.org/images/WaveBaseOpenU.gif">
            <a:extLst>
              <a:ext uri="{FF2B5EF4-FFF2-40B4-BE49-F238E27FC236}">
                <a16:creationId xmlns:a16="http://schemas.microsoft.com/office/drawing/2014/main" xmlns="" id="{7A2439DC-6129-4416-A097-E1DEE24E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2420888"/>
            <a:ext cx="9144000" cy="2677886"/>
          </a:xfrm>
          <a:prstGeom prst="rect">
            <a:avLst/>
          </a:prstGeom>
          <a:noFill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47DF413-A7FA-49A7-BC15-3C3D8DD5C0B8}"/>
              </a:ext>
            </a:extLst>
          </p:cNvPr>
          <p:cNvSpPr/>
          <p:nvPr/>
        </p:nvSpPr>
        <p:spPr>
          <a:xfrm flipH="1" flipV="1">
            <a:off x="979240" y="2564904"/>
            <a:ext cx="6048672" cy="11521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08875369-23D9-4C53-99C2-745D1785E12C}"/>
              </a:ext>
            </a:extLst>
          </p:cNvPr>
          <p:cNvCxnSpPr>
            <a:cxnSpLocks/>
          </p:cNvCxnSpPr>
          <p:nvPr/>
        </p:nvCxnSpPr>
        <p:spPr>
          <a:xfrm>
            <a:off x="4579640" y="2564904"/>
            <a:ext cx="0" cy="1152128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14B7BA1-4AD8-4E54-B959-5DA6BE2405E3}"/>
              </a:ext>
            </a:extLst>
          </p:cNvPr>
          <p:cNvSpPr txBox="1"/>
          <p:nvPr/>
        </p:nvSpPr>
        <p:spPr>
          <a:xfrm>
            <a:off x="4705405" y="2879358"/>
            <a:ext cx="1872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100-140m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147E1FD-B451-4A8A-9F5E-A9851455078D}"/>
              </a:ext>
            </a:extLst>
          </p:cNvPr>
          <p:cNvSpPr/>
          <p:nvPr/>
        </p:nvSpPr>
        <p:spPr>
          <a:xfrm flipH="1" flipV="1">
            <a:off x="979240" y="2564904"/>
            <a:ext cx="3150091" cy="7920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27">
            <a:extLst>
              <a:ext uri="{FF2B5EF4-FFF2-40B4-BE49-F238E27FC236}">
                <a16:creationId xmlns:a16="http://schemas.microsoft.com/office/drawing/2014/main" xmlns="" id="{AB2C7D9C-73D7-47EE-BCDE-F64F5E5690FA}"/>
              </a:ext>
            </a:extLst>
          </p:cNvPr>
          <p:cNvSpPr txBox="1">
            <a:spLocks noChangeArrowheads="1"/>
          </p:cNvSpPr>
          <p:nvPr/>
        </p:nvSpPr>
        <p:spPr>
          <a:xfrm>
            <a:off x="151508" y="5269212"/>
            <a:ext cx="8795096" cy="14401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dirty="0"/>
              <a:t>It’s important we understand the changes that happen here in response to sea-level and other environmental change, to mitigate for the future.</a:t>
            </a:r>
          </a:p>
        </p:txBody>
      </p:sp>
    </p:spTree>
    <p:extLst>
      <p:ext uri="{BB962C8B-B14F-4D97-AF65-F5344CB8AC3E}">
        <p14:creationId xmlns:p14="http://schemas.microsoft.com/office/powerpoint/2010/main" val="219055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9612A913-0D96-45E8-ABA9-E640D29C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What are we NOT talking about?</a:t>
            </a:r>
          </a:p>
        </p:txBody>
      </p:sp>
      <p:pic>
        <p:nvPicPr>
          <p:cNvPr id="6146" name="Picture 2" descr="RGS Discovering Britain: The Seven Sisters | Craghoppers Community">
            <a:extLst>
              <a:ext uri="{FF2B5EF4-FFF2-40B4-BE49-F238E27FC236}">
                <a16:creationId xmlns:a16="http://schemas.microsoft.com/office/drawing/2014/main" xmlns="" id="{0C5BC00C-2889-430D-8399-30D3E904B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8928992" cy="567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xmlns="" id="{2EFF915A-39E8-4229-9362-408F26256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692696"/>
            <a:ext cx="8568952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Rocky, eroding shorelines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Analogous to bedrock rivers – unconformity-forming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B8EB28C-0BEF-44C5-BD9C-1B13627B3104}"/>
              </a:ext>
            </a:extLst>
          </p:cNvPr>
          <p:cNvSpPr txBox="1"/>
          <p:nvPr/>
        </p:nvSpPr>
        <p:spPr>
          <a:xfrm>
            <a:off x="284448" y="6309320"/>
            <a:ext cx="19112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+mj-lt"/>
              </a:rPr>
              <a:t>Seven Sisters (Sussex)</a:t>
            </a:r>
          </a:p>
        </p:txBody>
      </p:sp>
    </p:spTree>
    <p:extLst>
      <p:ext uri="{BB962C8B-B14F-4D97-AF65-F5344CB8AC3E}">
        <p14:creationId xmlns:p14="http://schemas.microsoft.com/office/powerpoint/2010/main" val="121217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oreline-classification-plan-view-(Dalrymple-et-al-1992)">
            <a:extLst>
              <a:ext uri="{FF2B5EF4-FFF2-40B4-BE49-F238E27FC236}">
                <a16:creationId xmlns:a16="http://schemas.microsoft.com/office/drawing/2014/main" xmlns="" id="{A9A2C537-933B-4543-BA1A-83FE39899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632" y="2533890"/>
            <a:ext cx="3842836" cy="4044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30499" y="1193849"/>
            <a:ext cx="86050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j-lt"/>
              </a:rPr>
              <a:t>These environments are sensitive to sea-level change</a:t>
            </a:r>
          </a:p>
          <a:p>
            <a:pPr lvl="1"/>
            <a:r>
              <a:rPr lang="en-GB" sz="2200" dirty="0">
                <a:latin typeface="+mj-lt"/>
                <a:sym typeface="Wingdings" panose="05000000000000000000" pitchFamily="2" charset="2"/>
              </a:rPr>
              <a:t>reconstructing the rate </a:t>
            </a:r>
            <a:r>
              <a:rPr lang="en-GB" sz="2200" u="sng" dirty="0">
                <a:latin typeface="+mj-lt"/>
                <a:sym typeface="Wingdings" panose="05000000000000000000" pitchFamily="2" charset="2"/>
              </a:rPr>
              <a:t>and type </a:t>
            </a:r>
            <a:r>
              <a:rPr lang="en-GB" sz="2200" dirty="0">
                <a:latin typeface="+mj-lt"/>
                <a:sym typeface="Wingdings" panose="05000000000000000000" pitchFamily="2" charset="2"/>
              </a:rPr>
              <a:t>of change of change in the past is important to making predictions about future change.</a:t>
            </a:r>
            <a:endParaRPr lang="en-GB" sz="2200" dirty="0">
              <a:latin typeface="+mj-lt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975881F8-0A80-47C0-8D41-A44F42E7C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300" b="1" dirty="0">
                <a:solidFill>
                  <a:srgbClr val="FFFF00"/>
                </a:solidFill>
                <a:latin typeface="+mj-lt"/>
              </a:rPr>
              <a:t>Regressive and transgressive shorelines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E9937774-0950-440C-8EEB-2E21B1F2CE48}"/>
              </a:ext>
            </a:extLst>
          </p:cNvPr>
          <p:cNvGrpSpPr/>
          <p:nvPr/>
        </p:nvGrpSpPr>
        <p:grpSpPr>
          <a:xfrm rot="3531589">
            <a:off x="6156176" y="908720"/>
            <a:ext cx="3348221" cy="2288584"/>
            <a:chOff x="-33573" y="76623"/>
            <a:chExt cx="3348221" cy="2288584"/>
          </a:xfrm>
        </p:grpSpPr>
        <p:sp>
          <p:nvSpPr>
            <p:cNvPr id="6" name="Explosion: 14 Points 5">
              <a:extLst>
                <a:ext uri="{FF2B5EF4-FFF2-40B4-BE49-F238E27FC236}">
                  <a16:creationId xmlns:a16="http://schemas.microsoft.com/office/drawing/2014/main" xmlns="" id="{8037C644-7F7F-40D9-A7F0-E1301E8B6234}"/>
                </a:ext>
              </a:extLst>
            </p:cNvPr>
            <p:cNvSpPr/>
            <p:nvPr/>
          </p:nvSpPr>
          <p:spPr bwMode="auto">
            <a:xfrm rot="21383404">
              <a:off x="-33573" y="76623"/>
              <a:ext cx="3348221" cy="2288584"/>
            </a:xfrm>
            <a:prstGeom prst="irregularSeal2">
              <a:avLst/>
            </a:prstGeom>
            <a:solidFill>
              <a:srgbClr val="FFFF00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ヒラギノ角ゴ Pro W3" pitchFamily="57" charset="-128"/>
              </a:endParaRP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xmlns="" id="{594F2B05-96A4-448C-ABB1-7D21B2F417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45524">
              <a:off x="518684" y="1062560"/>
              <a:ext cx="2270340" cy="934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GB" sz="3000" b="1" dirty="0"/>
                <a:t>Key Concept!</a:t>
              </a:r>
              <a:endParaRPr lang="en-GB" sz="3000" dirty="0"/>
            </a:p>
            <a:p>
              <a:pPr lvl="2"/>
              <a:endParaRPr lang="en-GB" sz="3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89921D1-5D02-4576-A327-CC209426B167}"/>
              </a:ext>
            </a:extLst>
          </p:cNvPr>
          <p:cNvSpPr txBox="1"/>
          <p:nvPr/>
        </p:nvSpPr>
        <p:spPr>
          <a:xfrm>
            <a:off x="232064" y="2370363"/>
            <a:ext cx="45559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j-lt"/>
              </a:rPr>
              <a:t>Environments don’t simply step forward or backwards in response to sea-level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j-lt"/>
              </a:rPr>
              <a:t>Modern coastlines are simultaneously </a:t>
            </a:r>
            <a:r>
              <a:rPr lang="en-GB" sz="2200" b="1" dirty="0" err="1">
                <a:latin typeface="+mj-lt"/>
              </a:rPr>
              <a:t>prograding</a:t>
            </a:r>
            <a:r>
              <a:rPr lang="en-GB" sz="2200" b="1" dirty="0">
                <a:latin typeface="+mj-lt"/>
              </a:rPr>
              <a:t> and retrograding.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j-lt"/>
              </a:rPr>
              <a:t>Coastlines change their shape fundamentally depending on whether they are </a:t>
            </a:r>
            <a:r>
              <a:rPr lang="en-GB" sz="2200" b="1" dirty="0" err="1">
                <a:latin typeface="+mj-lt"/>
              </a:rPr>
              <a:t>prograding</a:t>
            </a:r>
            <a:r>
              <a:rPr lang="en-GB" sz="2200" b="1" dirty="0">
                <a:latin typeface="+mj-lt"/>
              </a:rPr>
              <a:t> or retrograding.</a:t>
            </a:r>
            <a:endParaRPr lang="en-GB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891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4A5C5A-79CC-4AEB-A7E5-2BD8FD66D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13" y="4310712"/>
            <a:ext cx="8941974" cy="2247490"/>
          </a:xfrm>
        </p:spPr>
        <p:txBody>
          <a:bodyPr>
            <a:noAutofit/>
          </a:bodyPr>
          <a:lstStyle/>
          <a:p>
            <a:r>
              <a:rPr lang="en-GB" sz="2500" dirty="0"/>
              <a:t>In stratigraphy, we are always talking about sediment depositing in a subsiding basin.</a:t>
            </a:r>
          </a:p>
          <a:p>
            <a:r>
              <a:rPr lang="en-GB" sz="2500" dirty="0"/>
              <a:t>This (and other reasons) accelerates transgression and retards regression (flooding  happens fast, building-out happens slow). </a:t>
            </a:r>
          </a:p>
          <a:p>
            <a:r>
              <a:rPr lang="en-GB" sz="2500" dirty="0"/>
              <a:t>Transgressive deposits are often thin or absent in the rock record.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8944897-DB0E-4671-8324-3CBD3B6B3D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22" y="1285084"/>
            <a:ext cx="4805635" cy="2611758"/>
          </a:xfrm>
          <a:prstGeom prst="rect">
            <a:avLst/>
          </a:prstGeom>
        </p:spPr>
      </p:pic>
      <p:sp>
        <p:nvSpPr>
          <p:cNvPr id="8" name="Rectangle 9">
            <a:extLst>
              <a:ext uri="{FF2B5EF4-FFF2-40B4-BE49-F238E27FC236}">
                <a16:creationId xmlns:a16="http://schemas.microsoft.com/office/drawing/2014/main" xmlns="" id="{CA68909F-E8EB-4659-B191-7942CF4C0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500" b="1" dirty="0">
                <a:solidFill>
                  <a:srgbClr val="FFFF00"/>
                </a:solidFill>
                <a:latin typeface="+mj-lt"/>
              </a:rPr>
              <a:t>The “shallowing upward” succession</a:t>
            </a:r>
          </a:p>
        </p:txBody>
      </p:sp>
      <p:pic>
        <p:nvPicPr>
          <p:cNvPr id="9" name="Picture 8" descr="shoreline-classification-plan-view-(Dalrymple-et-al-1992)">
            <a:extLst>
              <a:ext uri="{FF2B5EF4-FFF2-40B4-BE49-F238E27FC236}">
                <a16:creationId xmlns:a16="http://schemas.microsoft.com/office/drawing/2014/main" xmlns="" id="{35911A7A-5D80-46C3-8B7C-B231D4C2A0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36096" y="1111186"/>
            <a:ext cx="3189667" cy="2872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7322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ave‐influenced deltas: geomorphological implications for facies  reconstruction - Bhattacharya - 2003 - Sedimentology - Wiley Online Library">
            <a:extLst>
              <a:ext uri="{FF2B5EF4-FFF2-40B4-BE49-F238E27FC236}">
                <a16:creationId xmlns:a16="http://schemas.microsoft.com/office/drawing/2014/main" xmlns="" id="{7C660303-F5B4-4107-888C-3DDA9E82D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4762500" cy="551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horeline-classification-plan-view-(Dalrymple-et-al-1992)">
            <a:extLst>
              <a:ext uri="{FF2B5EF4-FFF2-40B4-BE49-F238E27FC236}">
                <a16:creationId xmlns:a16="http://schemas.microsoft.com/office/drawing/2014/main" xmlns="" id="{E7F5B980-1039-4A94-B885-002887420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36096" y="1111186"/>
            <a:ext cx="3189667" cy="2872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BE2D7BD-29CF-4F14-9B2F-5FA35C9A6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8858" y="4097271"/>
            <a:ext cx="4015630" cy="2247490"/>
          </a:xfrm>
        </p:spPr>
        <p:txBody>
          <a:bodyPr>
            <a:noAutofit/>
          </a:bodyPr>
          <a:lstStyle/>
          <a:p>
            <a:r>
              <a:rPr lang="en-GB" sz="2500" b="1" dirty="0"/>
              <a:t>Extremely characteristic feature of shallow marine deposits: </a:t>
            </a:r>
            <a:r>
              <a:rPr lang="en-GB" sz="2500" dirty="0"/>
              <a:t>repeated coarsening-up, thickening-up shallowing-up packages, separated by sharp (“flooding surfaces”)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xmlns="" id="{C073063D-71E3-4A80-8277-691A71A4A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500" b="1" dirty="0">
                <a:solidFill>
                  <a:srgbClr val="FFFF00"/>
                </a:solidFill>
                <a:latin typeface="+mj-lt"/>
              </a:rPr>
              <a:t>The “shallowing upward” succession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AE0568AC-AB43-4718-9872-779F0F772D2C}"/>
              </a:ext>
            </a:extLst>
          </p:cNvPr>
          <p:cNvGrpSpPr/>
          <p:nvPr/>
        </p:nvGrpSpPr>
        <p:grpSpPr>
          <a:xfrm>
            <a:off x="1979712" y="4170059"/>
            <a:ext cx="3348221" cy="2288584"/>
            <a:chOff x="-33573" y="76623"/>
            <a:chExt cx="3348221" cy="2288584"/>
          </a:xfrm>
        </p:grpSpPr>
        <p:sp>
          <p:nvSpPr>
            <p:cNvPr id="9" name="Explosion: 14 Points 8">
              <a:extLst>
                <a:ext uri="{FF2B5EF4-FFF2-40B4-BE49-F238E27FC236}">
                  <a16:creationId xmlns:a16="http://schemas.microsoft.com/office/drawing/2014/main" xmlns="" id="{29EE0ECF-FD82-48DF-8698-27BE72CCB984}"/>
                </a:ext>
              </a:extLst>
            </p:cNvPr>
            <p:cNvSpPr/>
            <p:nvPr/>
          </p:nvSpPr>
          <p:spPr bwMode="auto">
            <a:xfrm rot="21383404">
              <a:off x="-33573" y="76623"/>
              <a:ext cx="3348221" cy="2288584"/>
            </a:xfrm>
            <a:prstGeom prst="irregularSeal2">
              <a:avLst/>
            </a:prstGeom>
            <a:solidFill>
              <a:srgbClr val="FFFF00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ヒラギノ角ゴ Pro W3" pitchFamily="57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2A266B58-95C6-408F-BF12-3ED594FB46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45524">
              <a:off x="518684" y="1062560"/>
              <a:ext cx="2270340" cy="934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GB" sz="3000" b="1" dirty="0"/>
                <a:t>Key Concept!</a:t>
              </a:r>
              <a:endParaRPr lang="en-GB" sz="3000" dirty="0"/>
            </a:p>
            <a:p>
              <a:pPr lvl="2"/>
              <a:endParaRPr lang="en-GB" sz="3000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A355672-3FA7-47C6-86FC-593C5CE0580E}"/>
              </a:ext>
            </a:extLst>
          </p:cNvPr>
          <p:cNvSpPr/>
          <p:nvPr/>
        </p:nvSpPr>
        <p:spPr>
          <a:xfrm flipH="1" flipV="1">
            <a:off x="5396659" y="2395035"/>
            <a:ext cx="3229101" cy="15883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55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B4D1F916-B9B7-4457-AD3A-BDA8BCB137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FB61ED63-9C5B-45ED-8599-3F65A3218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564904"/>
            <a:ext cx="8928992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DCBD68A-7CB0-4CE9-940B-2C6789844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6381328"/>
            <a:ext cx="1632942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400" b="1" dirty="0">
                <a:latin typeface="+mj-lt"/>
              </a:rPr>
              <a:t>Lena Delta, Siberia</a:t>
            </a:r>
          </a:p>
        </p:txBody>
      </p:sp>
    </p:spTree>
    <p:extLst>
      <p:ext uri="{BB962C8B-B14F-4D97-AF65-F5344CB8AC3E}">
        <p14:creationId xmlns:p14="http://schemas.microsoft.com/office/powerpoint/2010/main" val="1285705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oreline-classification-plan-view-(Dalrymple-et-al-1992)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060848"/>
            <a:ext cx="3842836" cy="4044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 flipH="1" flipV="1">
            <a:off x="6228184" y="4083114"/>
            <a:ext cx="1921418" cy="15121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3100" y="1628800"/>
            <a:ext cx="485094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Delta are protuberances of the land into the sea (from the Greek letter </a:t>
            </a:r>
            <a:r>
              <a:rPr lang="el-GR" sz="2500" dirty="0">
                <a:latin typeface="+mj-lt"/>
              </a:rPr>
              <a:t>Δ</a:t>
            </a:r>
            <a:r>
              <a:rPr lang="en-GB" sz="2500" dirty="0">
                <a:latin typeface="+mj-lt"/>
              </a:rPr>
              <a:t> after the Nile).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They form where rivers deliver sediment faster than it can be reworked and transported away by wave and tidal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It’s the main means by which shorelines prograde: deltas are fundamentally regressive.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xmlns="" id="{535425B3-0862-45B7-B6AE-62FD2E1D8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3362660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xmlns="" id="{BE33BCF2-65CF-4770-AE6A-01ECBD62E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3090" y="6023029"/>
            <a:ext cx="7528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b="1" dirty="0">
                <a:latin typeface="+mj-lt"/>
                <a:hlinkClick r:id="rId2"/>
              </a:rPr>
              <a:t>https://earthobservatory.nasa.gov/world-of-change/wax_lake.php</a:t>
            </a:r>
            <a:endParaRPr lang="en-GB" altLang="en-US" b="1" dirty="0">
              <a:latin typeface="+mj-lt"/>
            </a:endParaRPr>
          </a:p>
          <a:p>
            <a:endParaRPr lang="en-GB" altLang="en-US" sz="1600" dirty="0"/>
          </a:p>
        </p:txBody>
      </p:sp>
      <p:pic>
        <p:nvPicPr>
          <p:cNvPr id="9220" name="Picture 2" descr="November 7, 1984">
            <a:extLst>
              <a:ext uri="{FF2B5EF4-FFF2-40B4-BE49-F238E27FC236}">
                <a16:creationId xmlns:a16="http://schemas.microsoft.com/office/drawing/2014/main" xmlns="" id="{D767CC26-1E41-47EE-8C47-BA3A7F5D8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090" y="1188497"/>
            <a:ext cx="6912768" cy="4609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utoShape 7" descr="video Icon - Free Icons">
            <a:extLst>
              <a:ext uri="{FF2B5EF4-FFF2-40B4-BE49-F238E27FC236}">
                <a16:creationId xmlns:a16="http://schemas.microsoft.com/office/drawing/2014/main" xmlns="" id="{FAF27759-DD58-418A-9C83-0ECF3EB2E7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1664568" cy="166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225" name="Picture 9">
            <a:extLst>
              <a:ext uri="{FF2B5EF4-FFF2-40B4-BE49-F238E27FC236}">
                <a16:creationId xmlns:a16="http://schemas.microsoft.com/office/drawing/2014/main" xmlns="" id="{86D0F20A-D53C-46B2-A7D4-AF177E0B4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40" y="5865440"/>
            <a:ext cx="803920" cy="80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3C06646-D3A3-4EC9-9E26-A9A1A9343F6C}"/>
              </a:ext>
            </a:extLst>
          </p:cNvPr>
          <p:cNvSpPr txBox="1"/>
          <p:nvPr/>
        </p:nvSpPr>
        <p:spPr>
          <a:xfrm>
            <a:off x="283840" y="3397042"/>
            <a:ext cx="3643877" cy="2400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500" dirty="0">
                <a:latin typeface="+mj-lt"/>
              </a:rPr>
              <a:t>In 1942 the Atchafalaya River (a distributary of the Mississippi) was diverted via an artificial outlet, and the main channel dredged.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66A1942-FA2A-4B5E-B919-0C743C8A7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BE74DA21-7FC6-4A0B-ADFC-992350BDF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728" y="5092209"/>
            <a:ext cx="8712968" cy="1577151"/>
          </a:xfrm>
        </p:spPr>
        <p:txBody>
          <a:bodyPr>
            <a:normAutofit lnSpcReduction="10000"/>
          </a:bodyPr>
          <a:lstStyle/>
          <a:p>
            <a:r>
              <a:rPr lang="en-GB" sz="2500" dirty="0"/>
              <a:t>Jet theory explains how turbulent mixing of the jet (river) on entering the standing body of water leads to energy diffusion. </a:t>
            </a:r>
          </a:p>
          <a:p>
            <a:r>
              <a:rPr lang="en-GB" sz="2500" dirty="0"/>
              <a:t>The turbulent “jet” (current) loses energy and begins to deposit bedload and suspended load at the river mouth</a:t>
            </a:r>
          </a:p>
        </p:txBody>
      </p:sp>
      <p:pic>
        <p:nvPicPr>
          <p:cNvPr id="11266" name="Picture 2" descr="model aircraft: Noise suppression ENGINE NOISE">
            <a:extLst>
              <a:ext uri="{FF2B5EF4-FFF2-40B4-BE49-F238E27FC236}">
                <a16:creationId xmlns:a16="http://schemas.microsoft.com/office/drawing/2014/main" xmlns="" id="{9E65E476-DDCB-4A8E-BEC2-96F3CE01B9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76375" y="2492896"/>
            <a:ext cx="6191250" cy="251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F10D82D3-C4A2-44F8-99C2-64F3FEAC3D52}"/>
              </a:ext>
            </a:extLst>
          </p:cNvPr>
          <p:cNvSpPr txBox="1">
            <a:spLocks/>
          </p:cNvSpPr>
          <p:nvPr/>
        </p:nvSpPr>
        <p:spPr>
          <a:xfrm>
            <a:off x="215516" y="1209048"/>
            <a:ext cx="87129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500" dirty="0"/>
              <a:t>The fundamental mechanism driving flow in deltas is the pre-existing inertia of the river as it enters the sea (or lake).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6C8731-927C-4335-8DE9-89EA0616EC0E}"/>
              </a:ext>
            </a:extLst>
          </p:cNvPr>
          <p:cNvSpPr txBox="1"/>
          <p:nvPr/>
        </p:nvSpPr>
        <p:spPr>
          <a:xfrm>
            <a:off x="202072" y="2627409"/>
            <a:ext cx="1911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+mj-lt"/>
              </a:rPr>
              <a:t>Turbulent mixing at an exhaust.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xmlns="" id="{ADA7D92D-4D5A-4856-88B2-D47228DB1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2836502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xmlns="" id="{938251C6-0451-4D46-8752-CAEAE73224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7503" y="1124744"/>
            <a:ext cx="8928993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01CFCCC-0FD6-470C-A387-772D7E30EF67}"/>
              </a:ext>
            </a:extLst>
          </p:cNvPr>
          <p:cNvSpPr txBox="1"/>
          <p:nvPr/>
        </p:nvSpPr>
        <p:spPr>
          <a:xfrm>
            <a:off x="251520" y="1268760"/>
            <a:ext cx="295232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i="0" dirty="0">
                <a:effectLst/>
                <a:latin typeface="+mj-lt"/>
              </a:rPr>
              <a:t>Taughannock Creek entering Cayuga Lake (New York). Photo by Bill Hecht.</a:t>
            </a:r>
            <a:endParaRPr lang="en-GB" sz="1400" b="1" dirty="0">
              <a:latin typeface="+mj-lt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xmlns="" id="{1CA3DDD3-D21F-4176-8829-E48E10356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618924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Outlet of the Rhone into Lake Geneva near le Bouveret: tributaries have a cooling effect on the predicted temperature increase of lakes due to climate change. Photo: Rama, Wikimedia Commons, Cc-by-sa-2.0-fr">
            <a:extLst>
              <a:ext uri="{FF2B5EF4-FFF2-40B4-BE49-F238E27FC236}">
                <a16:creationId xmlns:a16="http://schemas.microsoft.com/office/drawing/2014/main" xmlns="" id="{0687D742-4E6B-48DE-9729-A1FCFBABCF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650816" y="3343808"/>
            <a:ext cx="4356720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432A547-F06F-490F-98D8-D9FA1FEC486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16016" y="1257299"/>
            <a:ext cx="4176464" cy="18836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08F3A87-544C-46B7-BAF0-6F4F8FF27199}"/>
              </a:ext>
            </a:extLst>
          </p:cNvPr>
          <p:cNvSpPr txBox="1"/>
          <p:nvPr/>
        </p:nvSpPr>
        <p:spPr>
          <a:xfrm>
            <a:off x="5451102" y="3424230"/>
            <a:ext cx="29523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i="0" dirty="0">
                <a:effectLst/>
                <a:latin typeface="+mj-lt"/>
              </a:rPr>
              <a:t>The Rhone as it enters </a:t>
            </a:r>
            <a:r>
              <a:rPr lang="en-GB" sz="1400" b="1" dirty="0">
                <a:latin typeface="+mj-lt"/>
              </a:rPr>
              <a:t>L</a:t>
            </a:r>
            <a:r>
              <a:rPr lang="en-GB" sz="1400" b="1" i="0" dirty="0">
                <a:effectLst/>
                <a:latin typeface="+mj-lt"/>
              </a:rPr>
              <a:t>ake Geneva</a:t>
            </a:r>
            <a:endParaRPr lang="en-GB" sz="1400" b="1" dirty="0">
              <a:latin typeface="+mj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1982C5D4-515D-4D85-A27F-AF4CEA61C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80" y="1222623"/>
            <a:ext cx="4410373" cy="5472608"/>
          </a:xfrm>
        </p:spPr>
        <p:txBody>
          <a:bodyPr>
            <a:normAutofit lnSpcReduction="10000"/>
          </a:bodyPr>
          <a:lstStyle/>
          <a:p>
            <a:r>
              <a:rPr lang="en-GB" sz="2500" b="1" dirty="0"/>
              <a:t>But rivers are not all equal!</a:t>
            </a:r>
          </a:p>
          <a:p>
            <a:endParaRPr lang="en-GB" sz="2500" dirty="0"/>
          </a:p>
          <a:p>
            <a:r>
              <a:rPr lang="en-GB" sz="2500" dirty="0"/>
              <a:t>When </a:t>
            </a:r>
            <a:r>
              <a:rPr lang="el-GR" sz="2500" dirty="0"/>
              <a:t>ρ</a:t>
            </a:r>
            <a:r>
              <a:rPr lang="en-GB" sz="2500" baseline="-25000" dirty="0"/>
              <a:t>jet</a:t>
            </a:r>
            <a:r>
              <a:rPr lang="en-GB" sz="2500" dirty="0"/>
              <a:t>&gt;</a:t>
            </a:r>
            <a:r>
              <a:rPr lang="el-GR" sz="2500" dirty="0"/>
              <a:t>ρ</a:t>
            </a:r>
            <a:r>
              <a:rPr lang="en-GB" sz="2500" baseline="-25000" dirty="0"/>
              <a:t>ambient</a:t>
            </a:r>
            <a:r>
              <a:rPr lang="en-GB" sz="2500" dirty="0"/>
              <a:t> (e.g. high suspended load entering fresh water), the jet hugs the bed.</a:t>
            </a:r>
          </a:p>
          <a:p>
            <a:r>
              <a:rPr lang="en-GB" sz="2500" dirty="0"/>
              <a:t>Sediment </a:t>
            </a:r>
            <a:r>
              <a:rPr lang="en-GB" sz="2500" dirty="0" err="1"/>
              <a:t>hyperconcentration</a:t>
            </a:r>
            <a:r>
              <a:rPr lang="en-GB" sz="2500" dirty="0"/>
              <a:t> supresses jet turbulence, so inertia of the flow is maintained (especially where there is a steep gradient).</a:t>
            </a:r>
          </a:p>
          <a:p>
            <a:r>
              <a:rPr lang="en-GB" sz="2500" dirty="0"/>
              <a:t>Jet is “</a:t>
            </a:r>
            <a:r>
              <a:rPr lang="en-GB" sz="2500" b="1" u="sng" dirty="0"/>
              <a:t>hyper</a:t>
            </a:r>
            <a:r>
              <a:rPr lang="en-GB" sz="2500" b="1" dirty="0"/>
              <a:t>pycnal</a:t>
            </a:r>
            <a:r>
              <a:rPr lang="en-GB" sz="2500" dirty="0"/>
              <a:t>”.</a:t>
            </a:r>
          </a:p>
          <a:p>
            <a:r>
              <a:rPr lang="en-GB" sz="2500" dirty="0"/>
              <a:t>Doesn’t make deltas: gravity deposits – for next week.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xmlns="" id="{8416D9A3-0352-411C-A701-A875334FC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809563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8349461-869A-48C1-A7A1-2948BEFB98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9280" y="1144191"/>
            <a:ext cx="4006912" cy="223224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A62F8EA2-58E3-4A42-B0A0-AFA29D4A6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64" y="1340768"/>
            <a:ext cx="4827616" cy="4608512"/>
          </a:xfrm>
        </p:spPr>
        <p:txBody>
          <a:bodyPr>
            <a:noAutofit/>
          </a:bodyPr>
          <a:lstStyle/>
          <a:p>
            <a:r>
              <a:rPr lang="en-GB" sz="2500" dirty="0"/>
              <a:t>When </a:t>
            </a:r>
            <a:r>
              <a:rPr lang="el-GR" sz="2500" dirty="0"/>
              <a:t>ρ</a:t>
            </a:r>
            <a:r>
              <a:rPr lang="en-GB" sz="2500" baseline="-25000" dirty="0"/>
              <a:t>jet</a:t>
            </a:r>
            <a:r>
              <a:rPr lang="en-GB" sz="2500" dirty="0"/>
              <a:t>&lt;</a:t>
            </a:r>
            <a:r>
              <a:rPr lang="el-GR" sz="2500" dirty="0"/>
              <a:t>ρ</a:t>
            </a:r>
            <a:r>
              <a:rPr lang="en-GB" sz="2500" baseline="-25000" dirty="0"/>
              <a:t>ambient</a:t>
            </a:r>
            <a:r>
              <a:rPr lang="en-GB" sz="2500" dirty="0"/>
              <a:t> (e.g. sluggish, low suspended load entering salt water), the jet detaches from the bed.</a:t>
            </a:r>
          </a:p>
          <a:p>
            <a:r>
              <a:rPr lang="en-GB" sz="2500" dirty="0"/>
              <a:t>Jet is “</a:t>
            </a:r>
            <a:r>
              <a:rPr lang="en-GB" sz="2500" b="1" u="sng" dirty="0" err="1"/>
              <a:t>hypo</a:t>
            </a:r>
            <a:r>
              <a:rPr lang="en-GB" sz="2500" b="1" dirty="0" err="1"/>
              <a:t>pycnal</a:t>
            </a:r>
            <a:r>
              <a:rPr lang="en-GB" sz="2500" dirty="0"/>
              <a:t>”.</a:t>
            </a:r>
          </a:p>
          <a:p>
            <a:r>
              <a:rPr lang="en-GB" sz="2500" dirty="0"/>
              <a:t>Cannot drive bedload, </a:t>
            </a:r>
          </a:p>
          <a:p>
            <a:pPr marL="457200" lvl="1" indent="0">
              <a:buNone/>
            </a:pPr>
            <a:r>
              <a:rPr lang="en-GB" sz="2500" dirty="0">
                <a:sym typeface="Wingdings" panose="05000000000000000000" pitchFamily="2" charset="2"/>
              </a:rPr>
              <a:t>coarse load</a:t>
            </a:r>
            <a:r>
              <a:rPr lang="en-GB" sz="2500" dirty="0"/>
              <a:t> rapidly deposited at the river mouth </a:t>
            </a:r>
            <a:r>
              <a:rPr lang="en-GB" sz="2500" b="1" dirty="0"/>
              <a:t>(“mouth bars”</a:t>
            </a:r>
            <a:r>
              <a:rPr lang="en-GB" sz="2500" dirty="0"/>
              <a:t>)</a:t>
            </a:r>
          </a:p>
          <a:p>
            <a:r>
              <a:rPr lang="en-GB" sz="2500" dirty="0"/>
              <a:t>Suspended load carried out to the shelf, or reworked by tide and wave processes.</a:t>
            </a:r>
          </a:p>
          <a:p>
            <a:pPr marL="457200" lvl="1" indent="0">
              <a:buNone/>
            </a:pPr>
            <a:r>
              <a:rPr lang="en-GB" sz="2500" dirty="0">
                <a:sym typeface="Wingdings" panose="05000000000000000000" pitchFamily="2" charset="2"/>
              </a:rPr>
              <a:t></a:t>
            </a:r>
            <a:r>
              <a:rPr lang="en-GB" sz="2500" dirty="0"/>
              <a:t>Shelf muds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E6C5507-4A99-4A82-A943-5AA81D988470}"/>
              </a:ext>
            </a:extLst>
          </p:cNvPr>
          <p:cNvSpPr txBox="1"/>
          <p:nvPr/>
        </p:nvSpPr>
        <p:spPr>
          <a:xfrm>
            <a:off x="5965080" y="1217712"/>
            <a:ext cx="21353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i="0" dirty="0">
                <a:effectLst/>
                <a:latin typeface="+mj-lt"/>
              </a:rPr>
              <a:t>HYPOPYCNAL FLOW</a:t>
            </a:r>
            <a:endParaRPr lang="en-GB" b="1" dirty="0">
              <a:latin typeface="+mj-lt"/>
            </a:endParaRPr>
          </a:p>
        </p:txBody>
      </p:sp>
      <p:pic>
        <p:nvPicPr>
          <p:cNvPr id="2050" name="Picture 2" descr="Dynamics of river mouth deposits - Fagherazzi - 2015 - Reviews of  Geophysics - Wiley Online Library">
            <a:extLst>
              <a:ext uri="{FF2B5EF4-FFF2-40B4-BE49-F238E27FC236}">
                <a16:creationId xmlns:a16="http://schemas.microsoft.com/office/drawing/2014/main" xmlns="" id="{4EB2EF62-9BBA-4529-BAF7-47B67B2125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28747" y="3356992"/>
            <a:ext cx="3607978" cy="339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B9A8AF1-EC9B-4BDF-9750-35E80C5A6AF0}"/>
              </a:ext>
            </a:extLst>
          </p:cNvPr>
          <p:cNvSpPr txBox="1"/>
          <p:nvPr/>
        </p:nvSpPr>
        <p:spPr>
          <a:xfrm>
            <a:off x="5228747" y="3394348"/>
            <a:ext cx="22018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i="0" dirty="0">
                <a:solidFill>
                  <a:schemeClr val="bg1"/>
                </a:solidFill>
                <a:effectLst/>
                <a:latin typeface="+mj-lt"/>
              </a:rPr>
              <a:t>Apalachicola Delta, Florida</a:t>
            </a:r>
            <a:endParaRPr lang="en-GB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8F3F3E3-7F00-40D4-A704-78D8DFFAD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1592790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1BB46714-7301-4698-8218-7A8420B8B3A1}"/>
              </a:ext>
            </a:extLst>
          </p:cNvPr>
          <p:cNvGrpSpPr/>
          <p:nvPr/>
        </p:nvGrpSpPr>
        <p:grpSpPr>
          <a:xfrm>
            <a:off x="4972674" y="1431349"/>
            <a:ext cx="4021096" cy="1768331"/>
            <a:chOff x="4690835" y="1278288"/>
            <a:chExt cx="4156556" cy="17683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779839C3-1BA6-4B81-9839-13112474A6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690835" y="1278288"/>
              <a:ext cx="4156556" cy="176833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BD7AB827-509F-47EC-8B1A-22480FF3F783}"/>
                </a:ext>
              </a:extLst>
            </p:cNvPr>
            <p:cNvSpPr/>
            <p:nvPr/>
          </p:nvSpPr>
          <p:spPr>
            <a:xfrm>
              <a:off x="5076056" y="1278288"/>
              <a:ext cx="2592288" cy="223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C9D99EF3-DB88-4E1F-A16C-6E34CEACE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05" y="1232756"/>
            <a:ext cx="4597436" cy="4392488"/>
          </a:xfrm>
        </p:spPr>
        <p:txBody>
          <a:bodyPr>
            <a:normAutofit lnSpcReduction="10000"/>
          </a:bodyPr>
          <a:lstStyle/>
          <a:p>
            <a:r>
              <a:rPr lang="en-GB" sz="2500" dirty="0"/>
              <a:t>When </a:t>
            </a:r>
            <a:r>
              <a:rPr lang="el-GR" sz="2500" dirty="0"/>
              <a:t>ρ</a:t>
            </a:r>
            <a:r>
              <a:rPr lang="en-GB" sz="2500" baseline="-25000" dirty="0"/>
              <a:t>jet</a:t>
            </a:r>
            <a:r>
              <a:rPr lang="en-GB" sz="2500" dirty="0"/>
              <a:t>&lt;</a:t>
            </a:r>
            <a:r>
              <a:rPr lang="el-GR" sz="2500" dirty="0"/>
              <a:t>ρ</a:t>
            </a:r>
            <a:r>
              <a:rPr lang="en-GB" sz="2500" baseline="-25000" dirty="0"/>
              <a:t>ambient</a:t>
            </a:r>
            <a:endParaRPr lang="en-GB" sz="2500" dirty="0"/>
          </a:p>
          <a:p>
            <a:r>
              <a:rPr lang="en-GB" sz="2500" dirty="0"/>
              <a:t>Jet expands and decelerates rapidly in 3D, but remains in contact with the bed.</a:t>
            </a:r>
          </a:p>
          <a:p>
            <a:r>
              <a:rPr lang="en-GB" sz="2500" dirty="0"/>
              <a:t>Jet is “</a:t>
            </a:r>
            <a:r>
              <a:rPr lang="en-GB" sz="2500" b="1" u="sng" dirty="0" err="1"/>
              <a:t>homo</a:t>
            </a:r>
            <a:r>
              <a:rPr lang="en-GB" sz="2500" b="1" dirty="0" err="1"/>
              <a:t>pycnal</a:t>
            </a:r>
            <a:r>
              <a:rPr lang="en-GB" sz="2500" dirty="0"/>
              <a:t>”.</a:t>
            </a:r>
          </a:p>
          <a:p>
            <a:r>
              <a:rPr lang="en-GB" sz="2500" dirty="0"/>
              <a:t>Rapid deposition of bedload and suspended load</a:t>
            </a:r>
          </a:p>
          <a:p>
            <a:r>
              <a:rPr lang="en-GB" sz="2500" dirty="0"/>
              <a:t>Choking of the river mouth and rapid switching and migration of the distributary.</a:t>
            </a:r>
          </a:p>
          <a:p>
            <a:r>
              <a:rPr lang="en-GB" sz="2500" b="1" dirty="0"/>
              <a:t>Radial “fan” deltas</a:t>
            </a:r>
          </a:p>
        </p:txBody>
      </p:sp>
      <p:pic>
        <p:nvPicPr>
          <p:cNvPr id="13" name="Picture 5" descr="Horton River Delta, Arctic Canada">
            <a:extLst>
              <a:ext uri="{FF2B5EF4-FFF2-40B4-BE49-F238E27FC236}">
                <a16:creationId xmlns:a16="http://schemas.microsoft.com/office/drawing/2014/main" xmlns="" id="{9734E542-0B73-4654-942B-97E3709CE7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58552" y="3658320"/>
            <a:ext cx="4135217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787060B-DBBD-4AD2-B87E-AF485FAFAF1B}"/>
              </a:ext>
            </a:extLst>
          </p:cNvPr>
          <p:cNvSpPr txBox="1"/>
          <p:nvPr/>
        </p:nvSpPr>
        <p:spPr>
          <a:xfrm>
            <a:off x="188905" y="6165304"/>
            <a:ext cx="3719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effectLst/>
                <a:latin typeface="g_d0_f3"/>
              </a:rPr>
              <a:t>For further information on this model:</a:t>
            </a:r>
          </a:p>
          <a:p>
            <a:r>
              <a:rPr lang="en-GB" sz="1200" b="1" dirty="0">
                <a:effectLst/>
                <a:latin typeface="g_d0_f3"/>
              </a:rPr>
              <a:t>Orton and Reading (1993) </a:t>
            </a:r>
            <a:r>
              <a:rPr lang="en-GB" sz="1200" b="1" dirty="0">
                <a:effectLst/>
                <a:latin typeface="g_d0_f6"/>
              </a:rPr>
              <a:t>Sedimentology</a:t>
            </a:r>
            <a:r>
              <a:rPr lang="en-GB" sz="1200" b="1" dirty="0">
                <a:effectLst/>
                <a:latin typeface="g_d0_f3"/>
              </a:rPr>
              <a:t>, </a:t>
            </a:r>
            <a:r>
              <a:rPr lang="en-GB" sz="1200" b="1" dirty="0">
                <a:effectLst/>
                <a:latin typeface="g_d0_f6"/>
              </a:rPr>
              <a:t>40</a:t>
            </a:r>
            <a:r>
              <a:rPr lang="en-GB" sz="1200" b="1" dirty="0">
                <a:effectLst/>
                <a:latin typeface="g_d0_f3"/>
              </a:rPr>
              <a:t>, 475</a:t>
            </a:r>
            <a:r>
              <a:rPr lang="en-GB" sz="1200" b="1" dirty="0">
                <a:effectLst/>
                <a:latin typeface="g_d0_f4"/>
              </a:rPr>
              <a:t>–</a:t>
            </a:r>
            <a:r>
              <a:rPr lang="en-GB" sz="1200" b="1" dirty="0">
                <a:effectLst/>
                <a:latin typeface="g_d0_f3"/>
              </a:rPr>
              <a:t>512</a:t>
            </a:r>
            <a:r>
              <a:rPr lang="en-GB" sz="1200" b="1" dirty="0"/>
              <a:t> </a:t>
            </a:r>
            <a:br>
              <a:rPr lang="en-GB" sz="1200" b="1" dirty="0"/>
            </a:br>
            <a:r>
              <a:rPr lang="en-GB" sz="1200" b="1" i="0" dirty="0">
                <a:effectLst/>
                <a:latin typeface="g_d0_f3"/>
              </a:rPr>
              <a:t>Wright (1977) </a:t>
            </a:r>
            <a:r>
              <a:rPr lang="en-GB" sz="1200" b="1" i="0" dirty="0">
                <a:effectLst/>
                <a:latin typeface="g_d0_f6"/>
              </a:rPr>
              <a:t>Geol. Soc. Am. Bull.</a:t>
            </a:r>
            <a:r>
              <a:rPr lang="en-GB" sz="1200" b="1" i="0" dirty="0">
                <a:effectLst/>
                <a:latin typeface="g_d0_f3"/>
              </a:rPr>
              <a:t>, </a:t>
            </a:r>
            <a:r>
              <a:rPr lang="en-GB" sz="1200" b="1" i="0" dirty="0">
                <a:effectLst/>
                <a:latin typeface="g_d0_f6"/>
              </a:rPr>
              <a:t>88</a:t>
            </a:r>
            <a:r>
              <a:rPr lang="en-GB" sz="1200" b="1" i="0" dirty="0">
                <a:effectLst/>
                <a:latin typeface="g_d0_f3"/>
              </a:rPr>
              <a:t>, 857</a:t>
            </a:r>
            <a:r>
              <a:rPr lang="en-GB" sz="1200" b="1" i="0" dirty="0">
                <a:effectLst/>
                <a:latin typeface="g_d0_f4"/>
              </a:rPr>
              <a:t>–</a:t>
            </a:r>
            <a:r>
              <a:rPr lang="en-GB" sz="1200" b="1" i="0" dirty="0">
                <a:effectLst/>
                <a:latin typeface="g_d0_f3"/>
              </a:rPr>
              <a:t>868</a:t>
            </a:r>
            <a:endParaRPr lang="en-GB" sz="1200" b="1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65807C61-C567-4B68-9463-702F0778E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3992812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D492EA55-699A-4655-AA4B-09FA76A06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7504" y="1196752"/>
            <a:ext cx="4176464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hone River Delta Photograph by Planetobserver/science Photo Library">
            <a:extLst>
              <a:ext uri="{FF2B5EF4-FFF2-40B4-BE49-F238E27FC236}">
                <a16:creationId xmlns:a16="http://schemas.microsoft.com/office/drawing/2014/main" xmlns="" id="{B55D3732-F5BC-408E-91FA-D090F3BB6A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76514" y="1196752"/>
            <a:ext cx="4680520" cy="402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hone River Delta Photograph by Planetobserver/science Photo Library">
            <a:extLst>
              <a:ext uri="{FF2B5EF4-FFF2-40B4-BE49-F238E27FC236}">
                <a16:creationId xmlns:a16="http://schemas.microsoft.com/office/drawing/2014/main" xmlns="" id="{EF593055-1581-476C-9C78-6C7C66ECAA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76514" y="5219226"/>
            <a:ext cx="4680520" cy="73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329A312E-0898-41EE-AF6D-7B79F0D60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90" y="5974246"/>
            <a:ext cx="8982644" cy="900100"/>
          </a:xfrm>
        </p:spPr>
        <p:txBody>
          <a:bodyPr>
            <a:normAutofit/>
          </a:bodyPr>
          <a:lstStyle/>
          <a:p>
            <a:r>
              <a:rPr lang="en-GB" sz="2500" dirty="0"/>
              <a:t>Shouldn’t think of a delta as displaying one or other of these behaviours.</a:t>
            </a:r>
            <a:endParaRPr lang="en-GB" sz="2500" b="1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xmlns="" id="{BDDE713E-18E9-4090-903E-5F6211A4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3979148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onceptional formation and evolution of a terminal distributary... |  Download Scientific Diagram">
            <a:extLst>
              <a:ext uri="{FF2B5EF4-FFF2-40B4-BE49-F238E27FC236}">
                <a16:creationId xmlns:a16="http://schemas.microsoft.com/office/drawing/2014/main" xmlns="" id="{622DF509-9245-498F-A79D-B9A41DECA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6539" y="2938986"/>
            <a:ext cx="2250755" cy="156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onceptional formation and evolution of a terminal distributary... |  Download Scientific Diagram">
            <a:extLst>
              <a:ext uri="{FF2B5EF4-FFF2-40B4-BE49-F238E27FC236}">
                <a16:creationId xmlns:a16="http://schemas.microsoft.com/office/drawing/2014/main" xmlns="" id="{2F18DA5D-CF85-4B4C-8DDD-D3E6B8887C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15148" y="2794722"/>
            <a:ext cx="2321348" cy="18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onceptional formation and evolution of a terminal distributary... |  Download Scientific Diagram">
            <a:extLst>
              <a:ext uri="{FF2B5EF4-FFF2-40B4-BE49-F238E27FC236}">
                <a16:creationId xmlns:a16="http://schemas.microsoft.com/office/drawing/2014/main" xmlns="" id="{E4B54BD0-81A0-4667-A31A-2C63BDEACA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12763" y="2973981"/>
            <a:ext cx="2250755" cy="1481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onceptional formation and evolution of a terminal distributary... |  Download Scientific Diagram">
            <a:extLst>
              <a:ext uri="{FF2B5EF4-FFF2-40B4-BE49-F238E27FC236}">
                <a16:creationId xmlns:a16="http://schemas.microsoft.com/office/drawing/2014/main" xmlns="" id="{86F15FCB-D043-483A-965A-93DB1B630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98905" y="2721162"/>
            <a:ext cx="2439631" cy="2003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145B023D-690A-42B3-A438-4C54463B6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80" y="1196752"/>
            <a:ext cx="8773900" cy="997304"/>
          </a:xfrm>
        </p:spPr>
        <p:txBody>
          <a:bodyPr>
            <a:noAutofit/>
          </a:bodyPr>
          <a:lstStyle/>
          <a:p>
            <a:r>
              <a:rPr lang="en-GB" sz="2500" b="1" dirty="0"/>
              <a:t>Delta evolution via mouth bar (“mid ground” or “island bar”) formation, bifurcation and channel abandonment</a:t>
            </a:r>
            <a:endParaRPr lang="en-GB" sz="25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FE7A80CC-BA6E-4900-9E8B-38EE3BC76905}"/>
              </a:ext>
            </a:extLst>
          </p:cNvPr>
          <p:cNvCxnSpPr/>
          <p:nvPr/>
        </p:nvCxnSpPr>
        <p:spPr>
          <a:xfrm>
            <a:off x="683568" y="2492896"/>
            <a:ext cx="763284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7EC5302D-E090-4E49-94B6-BE6E7AB22F7E}"/>
              </a:ext>
            </a:extLst>
          </p:cNvPr>
          <p:cNvCxnSpPr>
            <a:cxnSpLocks/>
          </p:cNvCxnSpPr>
          <p:nvPr/>
        </p:nvCxnSpPr>
        <p:spPr>
          <a:xfrm flipV="1">
            <a:off x="1043608" y="4507320"/>
            <a:ext cx="1" cy="50405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38F4484-F1AE-4861-BF21-86136DB2241E}"/>
              </a:ext>
            </a:extLst>
          </p:cNvPr>
          <p:cNvCxnSpPr/>
          <p:nvPr/>
        </p:nvCxnSpPr>
        <p:spPr>
          <a:xfrm>
            <a:off x="1015033" y="4982801"/>
            <a:ext cx="683221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3ABB31B4-2A56-4EEF-873B-5159DD714755}"/>
              </a:ext>
            </a:extLst>
          </p:cNvPr>
          <p:cNvSpPr txBox="1">
            <a:spLocks/>
          </p:cNvSpPr>
          <p:nvPr/>
        </p:nvSpPr>
        <p:spPr>
          <a:xfrm>
            <a:off x="230251" y="5538991"/>
            <a:ext cx="8773900" cy="9973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500" b="1" dirty="0"/>
              <a:t>Results in the classical down-system bifurcating plan-view of deltas (not all channels are simultaneously active).</a:t>
            </a:r>
            <a:endParaRPr lang="en-GB" sz="2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70E36CF-31AC-4995-9453-887138AB1045}"/>
              </a:ext>
            </a:extLst>
          </p:cNvPr>
          <p:cNvSpPr txBox="1"/>
          <p:nvPr/>
        </p:nvSpPr>
        <p:spPr>
          <a:xfrm>
            <a:off x="230251" y="6536295"/>
            <a:ext cx="6885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altLang="en-US" sz="1200" b="1" dirty="0" err="1">
                <a:latin typeface="+mj-lt"/>
              </a:rPr>
              <a:t>Olariu</a:t>
            </a:r>
            <a:r>
              <a:rPr lang="en-GB" altLang="en-US" sz="1200" b="1" dirty="0">
                <a:latin typeface="+mj-lt"/>
              </a:rPr>
              <a:t> &amp; Bhattacharya (2006) </a:t>
            </a:r>
            <a:r>
              <a:rPr lang="en-GB" sz="1200" b="1" dirty="0">
                <a:latin typeface="+mj-lt"/>
              </a:rPr>
              <a:t>Journal of Sedimentary Research, 76, 212-233.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xmlns="" id="{510200BE-8309-4663-B745-7B78A9472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2182040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xmlns="" id="{813B8FEF-5F1F-408A-8D21-543D8AE2F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1412776"/>
            <a:ext cx="72024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 b="1" dirty="0">
                <a:latin typeface="+mj-lt"/>
                <a:hlinkClick r:id="rId2"/>
              </a:rPr>
              <a:t>https://www.youtube.com/watch?v=dkvA96mux2g</a:t>
            </a:r>
            <a:endParaRPr lang="en-GB" altLang="en-US" sz="2000" b="1" dirty="0">
              <a:latin typeface="+mj-lt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GB" altLang="en-US" sz="2000" dirty="0">
              <a:latin typeface="Arial Black" panose="020B0A04020102020204" pitchFamily="34" charset="0"/>
            </a:endParaRPr>
          </a:p>
        </p:txBody>
      </p:sp>
      <p:pic>
        <p:nvPicPr>
          <p:cNvPr id="10244" name="Picture 3">
            <a:extLst>
              <a:ext uri="{FF2B5EF4-FFF2-40B4-BE49-F238E27FC236}">
                <a16:creationId xmlns:a16="http://schemas.microsoft.com/office/drawing/2014/main" xmlns="" id="{A732791C-7243-456E-8DB5-F6A9CCFD4E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376" y="2031564"/>
            <a:ext cx="5520112" cy="4709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TextBox 4">
            <a:extLst>
              <a:ext uri="{FF2B5EF4-FFF2-40B4-BE49-F238E27FC236}">
                <a16:creationId xmlns:a16="http://schemas.microsoft.com/office/drawing/2014/main" xmlns="" id="{40ED2AAE-71D5-4EC4-9BEF-60D53EDA2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68" y="2996952"/>
            <a:ext cx="3024336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500" dirty="0">
                <a:latin typeface="+mj-lt"/>
              </a:rPr>
              <a:t>Repeated cycles of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</a:pPr>
            <a:r>
              <a:rPr lang="en-GB" altLang="en-US" sz="2500" dirty="0">
                <a:latin typeface="+mj-lt"/>
              </a:rPr>
              <a:t>Mouth bar formation…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</a:pPr>
            <a:r>
              <a:rPr lang="en-GB" altLang="en-US" sz="2500" dirty="0">
                <a:latin typeface="+mj-lt"/>
              </a:rPr>
              <a:t>becoming an obstruction…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</a:pPr>
            <a:r>
              <a:rPr lang="en-GB" altLang="en-US" sz="2500" dirty="0">
                <a:latin typeface="+mj-lt"/>
              </a:rPr>
              <a:t>forcing avulsion…</a:t>
            </a:r>
          </a:p>
          <a:p>
            <a:pPr>
              <a:spcBef>
                <a:spcPct val="0"/>
              </a:spcBef>
              <a:buNone/>
            </a:pPr>
            <a:endParaRPr lang="en-GB" altLang="en-US" sz="2500" dirty="0">
              <a:latin typeface="+mj-lt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2500" dirty="0">
                <a:latin typeface="+mj-lt"/>
              </a:rPr>
              <a:t>… and repeat.</a:t>
            </a:r>
          </a:p>
        </p:txBody>
      </p:sp>
      <p:pic>
        <p:nvPicPr>
          <p:cNvPr id="10248" name="Picture 8">
            <a:extLst>
              <a:ext uri="{FF2B5EF4-FFF2-40B4-BE49-F238E27FC236}">
                <a16:creationId xmlns:a16="http://schemas.microsoft.com/office/drawing/2014/main" xmlns="" id="{24D1344F-6401-4F6F-80CD-3F927A874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27644"/>
            <a:ext cx="803920" cy="80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xmlns="" id="{B91A9122-AAEC-4BAB-B592-E961FA0A0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>
            <a:extLst>
              <a:ext uri="{FF2B5EF4-FFF2-40B4-BE49-F238E27FC236}">
                <a16:creationId xmlns:a16="http://schemas.microsoft.com/office/drawing/2014/main" xmlns="" id="{8541F2CD-6133-40B8-9E51-E2B507996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71" y="1124744"/>
            <a:ext cx="4895850" cy="532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1" name="TextBox 2">
            <a:extLst>
              <a:ext uri="{FF2B5EF4-FFF2-40B4-BE49-F238E27FC236}">
                <a16:creationId xmlns:a16="http://schemas.microsoft.com/office/drawing/2014/main" xmlns="" id="{6D437CA4-A1E9-474A-A185-E53A7DEB7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080" y="1819769"/>
            <a:ext cx="3721248" cy="355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500" b="1" dirty="0">
                <a:latin typeface="+mj-lt"/>
              </a:rPr>
              <a:t>Atchafalaya Delta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500" b="1" dirty="0">
              <a:solidFill>
                <a:schemeClr val="tx2"/>
              </a:solidFill>
              <a:latin typeface="+mj-lt"/>
            </a:endParaRPr>
          </a:p>
          <a:p>
            <a:pPr marL="342900" indent="-342900">
              <a:spcBef>
                <a:spcPct val="0"/>
              </a:spcBef>
            </a:pPr>
            <a:r>
              <a:rPr lang="en-GB" altLang="en-US" sz="2500" dirty="0">
                <a:latin typeface="+mj-lt"/>
              </a:rPr>
              <a:t>Formation of multiple  mouth bars over 30 years</a:t>
            </a:r>
          </a:p>
          <a:p>
            <a:pPr marL="342900" indent="-342900">
              <a:spcBef>
                <a:spcPct val="0"/>
              </a:spcBef>
            </a:pPr>
            <a:endParaRPr lang="en-GB" altLang="en-US" sz="2500" dirty="0">
              <a:latin typeface="+mj-lt"/>
            </a:endParaRPr>
          </a:p>
          <a:p>
            <a:pPr marL="342900" indent="-342900">
              <a:spcBef>
                <a:spcPct val="0"/>
              </a:spcBef>
            </a:pPr>
            <a:r>
              <a:rPr lang="en-GB" altLang="en-US" sz="2500" dirty="0">
                <a:latin typeface="+mj-lt"/>
              </a:rPr>
              <a:t>What will the future be here?</a:t>
            </a:r>
          </a:p>
          <a:p>
            <a:pPr>
              <a:spcBef>
                <a:spcPct val="0"/>
              </a:spcBef>
              <a:buNone/>
            </a:pPr>
            <a:endParaRPr lang="en-GB" altLang="en-US" sz="2500" dirty="0">
              <a:latin typeface="+mj-lt"/>
            </a:endParaRPr>
          </a:p>
        </p:txBody>
      </p:sp>
      <p:pic>
        <p:nvPicPr>
          <p:cNvPr id="114692" name="Picture 2">
            <a:extLst>
              <a:ext uri="{FF2B5EF4-FFF2-40B4-BE49-F238E27FC236}">
                <a16:creationId xmlns:a16="http://schemas.microsoft.com/office/drawing/2014/main" xmlns="" id="{CD708D4D-7EBA-40D6-A0B1-409C2E2EB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662" y="4724698"/>
            <a:ext cx="1260475" cy="183991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62B2443-78EB-44E8-8519-5BF5BB6E930E}"/>
              </a:ext>
            </a:extLst>
          </p:cNvPr>
          <p:cNvSpPr txBox="1"/>
          <p:nvPr/>
        </p:nvSpPr>
        <p:spPr>
          <a:xfrm>
            <a:off x="206772" y="6381055"/>
            <a:ext cx="34290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altLang="en-US" sz="1200" b="1" dirty="0" err="1">
                <a:latin typeface="+mj-lt"/>
              </a:rPr>
              <a:t>Olariu</a:t>
            </a:r>
            <a:r>
              <a:rPr lang="en-GB" altLang="en-US" sz="1200" b="1" dirty="0">
                <a:latin typeface="+mj-lt"/>
              </a:rPr>
              <a:t> &amp; Bhattacharya (2006) </a:t>
            </a:r>
            <a:r>
              <a:rPr lang="en-GB" sz="1200" b="1" dirty="0">
                <a:latin typeface="+mj-lt"/>
              </a:rPr>
              <a:t>Journal of Sedimentary Research, 76, 212-233.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xmlns="" id="{41D1A7F8-566F-4F2B-A715-BFC493B25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71DAD9C-29FE-4762-93ED-15729DDAD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46683"/>
            <a:ext cx="8784976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GB" altLang="en-US" sz="2500" b="1" dirty="0">
                <a:latin typeface="+mj-lt"/>
              </a:rPr>
              <a:t>Delta deposits have two absolutely “classic” characteristics.</a:t>
            </a:r>
          </a:p>
          <a:p>
            <a:pPr marL="342900" indent="-342900">
              <a:spcBef>
                <a:spcPct val="0"/>
              </a:spcBef>
            </a:pPr>
            <a:endParaRPr lang="en-GB" altLang="en-US" sz="2500" b="1" dirty="0">
              <a:latin typeface="+mj-lt"/>
            </a:endParaRPr>
          </a:p>
          <a:p>
            <a:pPr marL="457200" indent="-457200">
              <a:spcBef>
                <a:spcPct val="0"/>
              </a:spcBef>
              <a:buAutoNum type="arabicPeriod"/>
            </a:pPr>
            <a:r>
              <a:rPr lang="en-GB" altLang="en-US" sz="2500" b="1" dirty="0">
                <a:latin typeface="+mj-lt"/>
              </a:rPr>
              <a:t>They display seaward-dipping surfaces, called </a:t>
            </a:r>
            <a:r>
              <a:rPr lang="en-GB" altLang="en-US" sz="2500" b="1" dirty="0" err="1">
                <a:latin typeface="+mj-lt"/>
              </a:rPr>
              <a:t>clinoforms</a:t>
            </a:r>
            <a:endParaRPr lang="en-GB" altLang="en-US" sz="2500" b="1" dirty="0">
              <a:latin typeface="+mj-lt"/>
            </a:endParaRPr>
          </a:p>
          <a:p>
            <a:pPr lvl="1" indent="0">
              <a:spcBef>
                <a:spcPct val="0"/>
              </a:spcBef>
              <a:buNone/>
            </a:pPr>
            <a:r>
              <a:rPr lang="en-GB" altLang="en-US" sz="2500" dirty="0">
                <a:latin typeface="+mj-lt"/>
                <a:sym typeface="Wingdings" panose="05000000000000000000" pitchFamily="2" charset="2"/>
              </a:rPr>
              <a:t>because  they are building out into deeper water</a:t>
            </a:r>
            <a:endParaRPr lang="en-GB" altLang="en-US" sz="2500" dirty="0">
              <a:latin typeface="+mj-lt"/>
            </a:endParaRPr>
          </a:p>
          <a:p>
            <a:pPr marL="342900" indent="-342900">
              <a:spcBef>
                <a:spcPct val="0"/>
              </a:spcBef>
            </a:pPr>
            <a:endParaRPr lang="en-GB" altLang="en-US" sz="2500" dirty="0"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80CAA953-9335-491A-AE61-9DF1BE1C93A0}"/>
              </a:ext>
            </a:extLst>
          </p:cNvPr>
          <p:cNvGrpSpPr/>
          <p:nvPr/>
        </p:nvGrpSpPr>
        <p:grpSpPr>
          <a:xfrm>
            <a:off x="1007604" y="2911540"/>
            <a:ext cx="7128792" cy="3861048"/>
            <a:chOff x="1691680" y="3429000"/>
            <a:chExt cx="6048672" cy="325012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xmlns="" id="{9354F9DB-1AAF-444E-A20A-90E983F9A1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691680" y="3429000"/>
              <a:ext cx="6048672" cy="3250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462A43FD-7E03-4E17-9AB8-B9811C4BE862}"/>
                </a:ext>
              </a:extLst>
            </p:cNvPr>
            <p:cNvSpPr/>
            <p:nvPr/>
          </p:nvSpPr>
          <p:spPr>
            <a:xfrm>
              <a:off x="3779912" y="3557946"/>
              <a:ext cx="1872208" cy="1686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Rectangle 9">
            <a:extLst>
              <a:ext uri="{FF2B5EF4-FFF2-40B4-BE49-F238E27FC236}">
                <a16:creationId xmlns:a16="http://schemas.microsoft.com/office/drawing/2014/main" xmlns="" id="{715347B4-13C4-4CB3-9694-2D73589C7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643503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" descr="joe brekfast 1 046.JPG">
            <a:extLst>
              <a:ext uri="{FF2B5EF4-FFF2-40B4-BE49-F238E27FC236}">
                <a16:creationId xmlns:a16="http://schemas.microsoft.com/office/drawing/2014/main" xmlns="" id="{DDB77CAA-E453-414C-9420-68321F6951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96950" y="1058912"/>
            <a:ext cx="6848475" cy="579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2">
            <a:extLst>
              <a:ext uri="{FF2B5EF4-FFF2-40B4-BE49-F238E27FC236}">
                <a16:creationId xmlns:a16="http://schemas.microsoft.com/office/drawing/2014/main" xmlns="" id="{FA3AAD9E-BEA0-4C79-A4D1-BDEC015A9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13" y="3214737"/>
            <a:ext cx="935037" cy="576263"/>
          </a:xfrm>
          <a:prstGeom prst="rect">
            <a:avLst/>
          </a:prstGeom>
          <a:solidFill>
            <a:srgbClr val="FFFFCC">
              <a:alpha val="5294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i="1" dirty="0">
                <a:latin typeface="Arial Black" panose="020B0A04020102020204" pitchFamily="34" charset="0"/>
              </a:rPr>
              <a:t>Delta top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xmlns="" id="{AE0CEC5C-87F4-4A54-8B63-2CFCDFAC3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288" y="4948287"/>
            <a:ext cx="936625" cy="576263"/>
          </a:xfrm>
          <a:prstGeom prst="rect">
            <a:avLst/>
          </a:prstGeom>
          <a:solidFill>
            <a:srgbClr val="FFFFCC">
              <a:alpha val="5294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i="1" dirty="0">
                <a:solidFill>
                  <a:schemeClr val="bg1"/>
                </a:solidFill>
                <a:latin typeface="Arial Black" panose="020B0A04020102020204" pitchFamily="34" charset="0"/>
              </a:rPr>
              <a:t>Delta front</a:t>
            </a: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xmlns="" id="{0946E54C-F70D-452F-A5B6-F2867823F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38" y="6245327"/>
            <a:ext cx="1376387" cy="393699"/>
          </a:xfrm>
          <a:prstGeom prst="rect">
            <a:avLst/>
          </a:prstGeom>
          <a:solidFill>
            <a:srgbClr val="FFFFCC">
              <a:alpha val="5294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i="1" dirty="0" err="1">
                <a:latin typeface="Arial Black" panose="020B0A04020102020204" pitchFamily="34" charset="0"/>
              </a:rPr>
              <a:t>Prodelta</a:t>
            </a:r>
            <a:endParaRPr lang="en-GB" altLang="en-US" sz="1800" i="1" dirty="0">
              <a:latin typeface="Arial Black" panose="020B0A04020102020204" pitchFamily="34" charset="0"/>
            </a:endParaRP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xmlns="" id="{E0604E3E-7467-4E0F-AB84-4C9B2426B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33" y="1191400"/>
            <a:ext cx="3195042" cy="479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400" b="1" dirty="0">
                <a:latin typeface="+mj-lt"/>
              </a:rPr>
              <a:t>Mini delta in a tidal pool on a beach in S Devon. Photo by Matthew Watkinson</a:t>
            </a: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xmlns="" id="{F7DA054B-F5EA-486E-8096-95EA879F5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913" y="6492925"/>
            <a:ext cx="21971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1 metre</a:t>
            </a:r>
          </a:p>
        </p:txBody>
      </p:sp>
      <p:cxnSp>
        <p:nvCxnSpPr>
          <p:cNvPr id="20488" name="Straight Arrow Connector 8">
            <a:extLst>
              <a:ext uri="{FF2B5EF4-FFF2-40B4-BE49-F238E27FC236}">
                <a16:creationId xmlns:a16="http://schemas.microsoft.com/office/drawing/2014/main" xmlns="" id="{813E56C8-8601-48B2-BAEC-3CB08F378B5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584575" y="6473875"/>
            <a:ext cx="3006725" cy="0"/>
          </a:xfrm>
          <a:prstGeom prst="straightConnector1">
            <a:avLst/>
          </a:prstGeom>
          <a:noFill/>
          <a:ln w="57150" algn="ctr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634D1099-D91A-4A87-98F7-874D8271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6975" y="1058912"/>
            <a:ext cx="1493838" cy="1223963"/>
          </a:xfrm>
          <a:prstGeom prst="rect">
            <a:avLst/>
          </a:prstGeom>
          <a:solidFill>
            <a:schemeClr val="tx2">
              <a:lumMod val="20000"/>
              <a:lumOff val="80000"/>
              <a:alpha val="52940"/>
            </a:schemeClr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i="1" dirty="0">
                <a:latin typeface="Arial Black" panose="020B0A04020102020204" pitchFamily="34" charset="0"/>
              </a:rPr>
              <a:t>River channel feeding the delta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33C20BD5-648F-405E-9ADF-CD080AD67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8">
            <a:extLst>
              <a:ext uri="{FF2B5EF4-FFF2-40B4-BE49-F238E27FC236}">
                <a16:creationId xmlns:a16="http://schemas.microsoft.com/office/drawing/2014/main" xmlns="" id="{453FA7AC-897C-4701-AC29-2158139B7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51964"/>
            <a:ext cx="5240974" cy="5151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Box 2">
            <a:extLst>
              <a:ext uri="{FF2B5EF4-FFF2-40B4-BE49-F238E27FC236}">
                <a16:creationId xmlns:a16="http://schemas.microsoft.com/office/drawing/2014/main" xmlns="" id="{D8B6AD55-12FF-42D0-82CA-8B055FB6D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0159" y="1434849"/>
            <a:ext cx="3914329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GB" altLang="en-US" sz="2500" dirty="0">
                <a:latin typeface="+mj-lt"/>
              </a:rPr>
              <a:t>The </a:t>
            </a:r>
            <a:r>
              <a:rPr lang="en-GB" altLang="en-US" sz="2500" dirty="0" err="1">
                <a:latin typeface="+mj-lt"/>
              </a:rPr>
              <a:t>clinoforms</a:t>
            </a:r>
            <a:r>
              <a:rPr lang="en-GB" altLang="en-US" sz="2500" dirty="0">
                <a:latin typeface="+mj-lt"/>
              </a:rPr>
              <a:t> are inclined bedding surfaces that represent time lines</a:t>
            </a:r>
          </a:p>
        </p:txBody>
      </p:sp>
      <p:pic>
        <p:nvPicPr>
          <p:cNvPr id="5" name="Picture 2" descr="http://www.adammandelman.net/wp-content/uploads/2012/03/jesse-allen-bird-foot-delta-nasa.jpg">
            <a:extLst>
              <a:ext uri="{FF2B5EF4-FFF2-40B4-BE49-F238E27FC236}">
                <a16:creationId xmlns:a16="http://schemas.microsoft.com/office/drawing/2014/main" xmlns="" id="{CD748A3A-8F11-4D28-AEE7-48B224BEC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616" y="3271739"/>
            <a:ext cx="3311872" cy="3311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397A74E-F75A-47CF-84D9-4E022DE4412C}"/>
              </a:ext>
            </a:extLst>
          </p:cNvPr>
          <p:cNvSpPr/>
          <p:nvPr/>
        </p:nvSpPr>
        <p:spPr>
          <a:xfrm rot="18632632" flipH="1" flipV="1">
            <a:off x="6615737" y="5659295"/>
            <a:ext cx="1104414" cy="3665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xmlns="" id="{532B7A0A-1206-45A9-86B8-950217B90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32408849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80CAA953-9335-491A-AE61-9DF1BE1C93A0}"/>
              </a:ext>
            </a:extLst>
          </p:cNvPr>
          <p:cNvGrpSpPr/>
          <p:nvPr/>
        </p:nvGrpSpPr>
        <p:grpSpPr>
          <a:xfrm>
            <a:off x="856159" y="3588087"/>
            <a:ext cx="7128792" cy="2799777"/>
            <a:chOff x="1691680" y="3429000"/>
            <a:chExt cx="6048672" cy="2356774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xmlns="" id="{9354F9DB-1AAF-444E-A20A-90E983F9A1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691680" y="3429000"/>
              <a:ext cx="6048672" cy="2356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462A43FD-7E03-4E17-9AB8-B9811C4BE862}"/>
                </a:ext>
              </a:extLst>
            </p:cNvPr>
            <p:cNvSpPr/>
            <p:nvPr/>
          </p:nvSpPr>
          <p:spPr>
            <a:xfrm>
              <a:off x="3779912" y="3557946"/>
              <a:ext cx="1872208" cy="1686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0E9EF387-5412-4CA6-ADE5-849B4ED12310}"/>
              </a:ext>
            </a:extLst>
          </p:cNvPr>
          <p:cNvSpPr/>
          <p:nvPr/>
        </p:nvSpPr>
        <p:spPr>
          <a:xfrm>
            <a:off x="2952750" y="4162425"/>
            <a:ext cx="4791075" cy="1428750"/>
          </a:xfrm>
          <a:custGeom>
            <a:avLst/>
            <a:gdLst>
              <a:gd name="connsiteX0" fmla="*/ 0 w 4791075"/>
              <a:gd name="connsiteY0" fmla="*/ 19050 h 1428750"/>
              <a:gd name="connsiteX1" fmla="*/ 247650 w 4791075"/>
              <a:gd name="connsiteY1" fmla="*/ 28575 h 1428750"/>
              <a:gd name="connsiteX2" fmla="*/ 285750 w 4791075"/>
              <a:gd name="connsiteY2" fmla="*/ 38100 h 1428750"/>
              <a:gd name="connsiteX3" fmla="*/ 371475 w 4791075"/>
              <a:gd name="connsiteY3" fmla="*/ 47625 h 1428750"/>
              <a:gd name="connsiteX4" fmla="*/ 695325 w 4791075"/>
              <a:gd name="connsiteY4" fmla="*/ 38100 h 1428750"/>
              <a:gd name="connsiteX5" fmla="*/ 742950 w 4791075"/>
              <a:gd name="connsiteY5" fmla="*/ 28575 h 1428750"/>
              <a:gd name="connsiteX6" fmla="*/ 857250 w 4791075"/>
              <a:gd name="connsiteY6" fmla="*/ 19050 h 1428750"/>
              <a:gd name="connsiteX7" fmla="*/ 1057275 w 4791075"/>
              <a:gd name="connsiteY7" fmla="*/ 28575 h 1428750"/>
              <a:gd name="connsiteX8" fmla="*/ 1085850 w 4791075"/>
              <a:gd name="connsiteY8" fmla="*/ 38100 h 1428750"/>
              <a:gd name="connsiteX9" fmla="*/ 1143000 w 4791075"/>
              <a:gd name="connsiteY9" fmla="*/ 47625 h 1428750"/>
              <a:gd name="connsiteX10" fmla="*/ 1304925 w 4791075"/>
              <a:gd name="connsiteY10" fmla="*/ 57150 h 1428750"/>
              <a:gd name="connsiteX11" fmla="*/ 1504950 w 4791075"/>
              <a:gd name="connsiteY11" fmla="*/ 47625 h 1428750"/>
              <a:gd name="connsiteX12" fmla="*/ 1657350 w 4791075"/>
              <a:gd name="connsiteY12" fmla="*/ 28575 h 1428750"/>
              <a:gd name="connsiteX13" fmla="*/ 1819275 w 4791075"/>
              <a:gd name="connsiteY13" fmla="*/ 38100 h 1428750"/>
              <a:gd name="connsiteX14" fmla="*/ 2009775 w 4791075"/>
              <a:gd name="connsiteY14" fmla="*/ 57150 h 1428750"/>
              <a:gd name="connsiteX15" fmla="*/ 2038350 w 4791075"/>
              <a:gd name="connsiteY15" fmla="*/ 66675 h 1428750"/>
              <a:gd name="connsiteX16" fmla="*/ 2305050 w 4791075"/>
              <a:gd name="connsiteY16" fmla="*/ 57150 h 1428750"/>
              <a:gd name="connsiteX17" fmla="*/ 2362200 w 4791075"/>
              <a:gd name="connsiteY17" fmla="*/ 47625 h 1428750"/>
              <a:gd name="connsiteX18" fmla="*/ 2390775 w 4791075"/>
              <a:gd name="connsiteY18" fmla="*/ 38100 h 1428750"/>
              <a:gd name="connsiteX19" fmla="*/ 2581275 w 4791075"/>
              <a:gd name="connsiteY19" fmla="*/ 28575 h 1428750"/>
              <a:gd name="connsiteX20" fmla="*/ 2990850 w 4791075"/>
              <a:gd name="connsiteY20" fmla="*/ 9525 h 1428750"/>
              <a:gd name="connsiteX21" fmla="*/ 3162300 w 4791075"/>
              <a:gd name="connsiteY21" fmla="*/ 0 h 1428750"/>
              <a:gd name="connsiteX22" fmla="*/ 3609975 w 4791075"/>
              <a:gd name="connsiteY22" fmla="*/ 9525 h 1428750"/>
              <a:gd name="connsiteX23" fmla="*/ 3667125 w 4791075"/>
              <a:gd name="connsiteY23" fmla="*/ 19050 h 1428750"/>
              <a:gd name="connsiteX24" fmla="*/ 3752850 w 4791075"/>
              <a:gd name="connsiteY24" fmla="*/ 28575 h 1428750"/>
              <a:gd name="connsiteX25" fmla="*/ 4391025 w 4791075"/>
              <a:gd name="connsiteY25" fmla="*/ 38100 h 1428750"/>
              <a:gd name="connsiteX26" fmla="*/ 4495800 w 4791075"/>
              <a:gd name="connsiteY26" fmla="*/ 47625 h 1428750"/>
              <a:gd name="connsiteX27" fmla="*/ 4781550 w 4791075"/>
              <a:gd name="connsiteY27" fmla="*/ 85725 h 1428750"/>
              <a:gd name="connsiteX28" fmla="*/ 4791075 w 4791075"/>
              <a:gd name="connsiteY28" fmla="*/ 114300 h 1428750"/>
              <a:gd name="connsiteX29" fmla="*/ 4781550 w 4791075"/>
              <a:gd name="connsiteY29" fmla="*/ 180975 h 1428750"/>
              <a:gd name="connsiteX30" fmla="*/ 4724400 w 4791075"/>
              <a:gd name="connsiteY30" fmla="*/ 219075 h 1428750"/>
              <a:gd name="connsiteX31" fmla="*/ 4686300 w 4791075"/>
              <a:gd name="connsiteY31" fmla="*/ 238125 h 1428750"/>
              <a:gd name="connsiteX32" fmla="*/ 4619625 w 4791075"/>
              <a:gd name="connsiteY32" fmla="*/ 257175 h 1428750"/>
              <a:gd name="connsiteX33" fmla="*/ 4648200 w 4791075"/>
              <a:gd name="connsiteY33" fmla="*/ 285750 h 1428750"/>
              <a:gd name="connsiteX34" fmla="*/ 4686300 w 4791075"/>
              <a:gd name="connsiteY34" fmla="*/ 314325 h 1428750"/>
              <a:gd name="connsiteX35" fmla="*/ 4705350 w 4791075"/>
              <a:gd name="connsiteY35" fmla="*/ 342900 h 1428750"/>
              <a:gd name="connsiteX36" fmla="*/ 4733925 w 4791075"/>
              <a:gd name="connsiteY36" fmla="*/ 371475 h 1428750"/>
              <a:gd name="connsiteX37" fmla="*/ 4743450 w 4791075"/>
              <a:gd name="connsiteY37" fmla="*/ 400050 h 1428750"/>
              <a:gd name="connsiteX38" fmla="*/ 4733925 w 4791075"/>
              <a:gd name="connsiteY38" fmla="*/ 438150 h 1428750"/>
              <a:gd name="connsiteX39" fmla="*/ 4705350 w 4791075"/>
              <a:gd name="connsiteY39" fmla="*/ 457200 h 1428750"/>
              <a:gd name="connsiteX40" fmla="*/ 4667250 w 4791075"/>
              <a:gd name="connsiteY40" fmla="*/ 485775 h 1428750"/>
              <a:gd name="connsiteX41" fmla="*/ 4610100 w 4791075"/>
              <a:gd name="connsiteY41" fmla="*/ 533400 h 1428750"/>
              <a:gd name="connsiteX42" fmla="*/ 4467225 w 4791075"/>
              <a:gd name="connsiteY42" fmla="*/ 523875 h 1428750"/>
              <a:gd name="connsiteX43" fmla="*/ 4495800 w 4791075"/>
              <a:gd name="connsiteY43" fmla="*/ 533400 h 1428750"/>
              <a:gd name="connsiteX44" fmla="*/ 4524375 w 4791075"/>
              <a:gd name="connsiteY44" fmla="*/ 552450 h 1428750"/>
              <a:gd name="connsiteX45" fmla="*/ 4543425 w 4791075"/>
              <a:gd name="connsiteY45" fmla="*/ 609600 h 1428750"/>
              <a:gd name="connsiteX46" fmla="*/ 4552950 w 4791075"/>
              <a:gd name="connsiteY46" fmla="*/ 638175 h 1428750"/>
              <a:gd name="connsiteX47" fmla="*/ 4543425 w 4791075"/>
              <a:gd name="connsiteY47" fmla="*/ 704850 h 1428750"/>
              <a:gd name="connsiteX48" fmla="*/ 4486275 w 4791075"/>
              <a:gd name="connsiteY48" fmla="*/ 742950 h 1428750"/>
              <a:gd name="connsiteX49" fmla="*/ 4457700 w 4791075"/>
              <a:gd name="connsiteY49" fmla="*/ 762000 h 1428750"/>
              <a:gd name="connsiteX50" fmla="*/ 4352925 w 4791075"/>
              <a:gd name="connsiteY50" fmla="*/ 752475 h 1428750"/>
              <a:gd name="connsiteX51" fmla="*/ 4324350 w 4791075"/>
              <a:gd name="connsiteY51" fmla="*/ 723900 h 1428750"/>
              <a:gd name="connsiteX52" fmla="*/ 4314825 w 4791075"/>
              <a:gd name="connsiteY52" fmla="*/ 762000 h 1428750"/>
              <a:gd name="connsiteX53" fmla="*/ 4314825 w 4791075"/>
              <a:gd name="connsiteY53" fmla="*/ 885825 h 1428750"/>
              <a:gd name="connsiteX54" fmla="*/ 4286250 w 4791075"/>
              <a:gd name="connsiteY54" fmla="*/ 914400 h 1428750"/>
              <a:gd name="connsiteX55" fmla="*/ 4219575 w 4791075"/>
              <a:gd name="connsiteY55" fmla="*/ 933450 h 1428750"/>
              <a:gd name="connsiteX56" fmla="*/ 4191000 w 4791075"/>
              <a:gd name="connsiteY56" fmla="*/ 942975 h 1428750"/>
              <a:gd name="connsiteX57" fmla="*/ 4152900 w 4791075"/>
              <a:gd name="connsiteY57" fmla="*/ 952500 h 1428750"/>
              <a:gd name="connsiteX58" fmla="*/ 4000500 w 4791075"/>
              <a:gd name="connsiteY58" fmla="*/ 981075 h 1428750"/>
              <a:gd name="connsiteX59" fmla="*/ 4019550 w 4791075"/>
              <a:gd name="connsiteY59" fmla="*/ 1009650 h 1428750"/>
              <a:gd name="connsiteX60" fmla="*/ 4019550 w 4791075"/>
              <a:gd name="connsiteY60" fmla="*/ 1133475 h 1428750"/>
              <a:gd name="connsiteX61" fmla="*/ 4000500 w 4791075"/>
              <a:gd name="connsiteY61" fmla="*/ 1162050 h 1428750"/>
              <a:gd name="connsiteX62" fmla="*/ 3933825 w 4791075"/>
              <a:gd name="connsiteY62" fmla="*/ 1181100 h 1428750"/>
              <a:gd name="connsiteX63" fmla="*/ 3876675 w 4791075"/>
              <a:gd name="connsiteY63" fmla="*/ 1200150 h 1428750"/>
              <a:gd name="connsiteX64" fmla="*/ 3648075 w 4791075"/>
              <a:gd name="connsiteY64" fmla="*/ 1190625 h 1428750"/>
              <a:gd name="connsiteX65" fmla="*/ 3581400 w 4791075"/>
              <a:gd name="connsiteY65" fmla="*/ 1171575 h 1428750"/>
              <a:gd name="connsiteX66" fmla="*/ 3552825 w 4791075"/>
              <a:gd name="connsiteY66" fmla="*/ 1190625 h 1428750"/>
              <a:gd name="connsiteX67" fmla="*/ 3524250 w 4791075"/>
              <a:gd name="connsiteY67" fmla="*/ 1228725 h 1428750"/>
              <a:gd name="connsiteX68" fmla="*/ 3467100 w 4791075"/>
              <a:gd name="connsiteY68" fmla="*/ 1247775 h 1428750"/>
              <a:gd name="connsiteX69" fmla="*/ 3429000 w 4791075"/>
              <a:gd name="connsiteY69" fmla="*/ 1257300 h 1428750"/>
              <a:gd name="connsiteX70" fmla="*/ 3305175 w 4791075"/>
              <a:gd name="connsiteY70" fmla="*/ 1276350 h 1428750"/>
              <a:gd name="connsiteX71" fmla="*/ 3276600 w 4791075"/>
              <a:gd name="connsiteY71" fmla="*/ 1285875 h 1428750"/>
              <a:gd name="connsiteX72" fmla="*/ 3171825 w 4791075"/>
              <a:gd name="connsiteY72" fmla="*/ 1276350 h 1428750"/>
              <a:gd name="connsiteX73" fmla="*/ 3152775 w 4791075"/>
              <a:gd name="connsiteY73" fmla="*/ 1247775 h 1428750"/>
              <a:gd name="connsiteX74" fmla="*/ 3162300 w 4791075"/>
              <a:gd name="connsiteY74" fmla="*/ 1276350 h 1428750"/>
              <a:gd name="connsiteX75" fmla="*/ 3152775 w 4791075"/>
              <a:gd name="connsiteY75" fmla="*/ 1362075 h 1428750"/>
              <a:gd name="connsiteX76" fmla="*/ 3095625 w 4791075"/>
              <a:gd name="connsiteY76" fmla="*/ 1381125 h 1428750"/>
              <a:gd name="connsiteX77" fmla="*/ 2962275 w 4791075"/>
              <a:gd name="connsiteY77" fmla="*/ 1419225 h 1428750"/>
              <a:gd name="connsiteX78" fmla="*/ 2895600 w 4791075"/>
              <a:gd name="connsiteY78" fmla="*/ 1428750 h 1428750"/>
              <a:gd name="connsiteX79" fmla="*/ 2809875 w 4791075"/>
              <a:gd name="connsiteY79" fmla="*/ 1419225 h 1428750"/>
              <a:gd name="connsiteX80" fmla="*/ 2781300 w 4791075"/>
              <a:gd name="connsiteY80" fmla="*/ 1409700 h 1428750"/>
              <a:gd name="connsiteX81" fmla="*/ 2771775 w 4791075"/>
              <a:gd name="connsiteY81" fmla="*/ 1381125 h 1428750"/>
              <a:gd name="connsiteX82" fmla="*/ 2705100 w 4791075"/>
              <a:gd name="connsiteY82" fmla="*/ 1390650 h 1428750"/>
              <a:gd name="connsiteX83" fmla="*/ 2657475 w 4791075"/>
              <a:gd name="connsiteY83" fmla="*/ 1400175 h 1428750"/>
              <a:gd name="connsiteX84" fmla="*/ 2524125 w 4791075"/>
              <a:gd name="connsiteY84" fmla="*/ 1390650 h 1428750"/>
              <a:gd name="connsiteX85" fmla="*/ 2476500 w 4791075"/>
              <a:gd name="connsiteY85" fmla="*/ 1381125 h 1428750"/>
              <a:gd name="connsiteX86" fmla="*/ 2400300 w 4791075"/>
              <a:gd name="connsiteY86" fmla="*/ 1352550 h 1428750"/>
              <a:gd name="connsiteX87" fmla="*/ 2314575 w 4791075"/>
              <a:gd name="connsiteY87" fmla="*/ 1333500 h 1428750"/>
              <a:gd name="connsiteX88" fmla="*/ 2247900 w 4791075"/>
              <a:gd name="connsiteY88" fmla="*/ 1314450 h 1428750"/>
              <a:gd name="connsiteX89" fmla="*/ 2219325 w 4791075"/>
              <a:gd name="connsiteY89" fmla="*/ 1295400 h 1428750"/>
              <a:gd name="connsiteX90" fmla="*/ 2133600 w 4791075"/>
              <a:gd name="connsiteY90" fmla="*/ 1257300 h 1428750"/>
              <a:gd name="connsiteX91" fmla="*/ 2114550 w 4791075"/>
              <a:gd name="connsiteY91" fmla="*/ 1228725 h 1428750"/>
              <a:gd name="connsiteX92" fmla="*/ 2038350 w 4791075"/>
              <a:gd name="connsiteY92" fmla="*/ 1266825 h 1428750"/>
              <a:gd name="connsiteX93" fmla="*/ 1943100 w 4791075"/>
              <a:gd name="connsiteY93" fmla="*/ 1285875 h 1428750"/>
              <a:gd name="connsiteX94" fmla="*/ 1676400 w 4791075"/>
              <a:gd name="connsiteY94" fmla="*/ 1276350 h 1428750"/>
              <a:gd name="connsiteX95" fmla="*/ 1638300 w 4791075"/>
              <a:gd name="connsiteY95" fmla="*/ 1266825 h 1428750"/>
              <a:gd name="connsiteX96" fmla="*/ 1619250 w 4791075"/>
              <a:gd name="connsiteY96" fmla="*/ 1238250 h 1428750"/>
              <a:gd name="connsiteX97" fmla="*/ 1590675 w 4791075"/>
              <a:gd name="connsiteY97" fmla="*/ 1228725 h 1428750"/>
              <a:gd name="connsiteX98" fmla="*/ 1562100 w 4791075"/>
              <a:gd name="connsiteY98" fmla="*/ 1209675 h 1428750"/>
              <a:gd name="connsiteX99" fmla="*/ 1552575 w 4791075"/>
              <a:gd name="connsiteY99" fmla="*/ 1181100 h 1428750"/>
              <a:gd name="connsiteX100" fmla="*/ 1524000 w 4791075"/>
              <a:gd name="connsiteY100" fmla="*/ 1171575 h 1428750"/>
              <a:gd name="connsiteX101" fmla="*/ 1476375 w 4791075"/>
              <a:gd name="connsiteY101" fmla="*/ 1162050 h 1428750"/>
              <a:gd name="connsiteX102" fmla="*/ 1457325 w 4791075"/>
              <a:gd name="connsiteY102" fmla="*/ 1133475 h 1428750"/>
              <a:gd name="connsiteX103" fmla="*/ 1390650 w 4791075"/>
              <a:gd name="connsiteY103" fmla="*/ 1104900 h 1428750"/>
              <a:gd name="connsiteX104" fmla="*/ 1304925 w 4791075"/>
              <a:gd name="connsiteY104" fmla="*/ 1076325 h 1428750"/>
              <a:gd name="connsiteX105" fmla="*/ 1276350 w 4791075"/>
              <a:gd name="connsiteY105" fmla="*/ 1066800 h 1428750"/>
              <a:gd name="connsiteX106" fmla="*/ 1247775 w 4791075"/>
              <a:gd name="connsiteY106" fmla="*/ 1057275 h 1428750"/>
              <a:gd name="connsiteX107" fmla="*/ 1219200 w 4791075"/>
              <a:gd name="connsiteY107" fmla="*/ 1038225 h 1428750"/>
              <a:gd name="connsiteX108" fmla="*/ 1171575 w 4791075"/>
              <a:gd name="connsiteY108" fmla="*/ 981075 h 1428750"/>
              <a:gd name="connsiteX109" fmla="*/ 1123950 w 4791075"/>
              <a:gd name="connsiteY109" fmla="*/ 933450 h 1428750"/>
              <a:gd name="connsiteX110" fmla="*/ 1104900 w 4791075"/>
              <a:gd name="connsiteY110" fmla="*/ 904875 h 1428750"/>
              <a:gd name="connsiteX111" fmla="*/ 1076325 w 4791075"/>
              <a:gd name="connsiteY111" fmla="*/ 895350 h 1428750"/>
              <a:gd name="connsiteX112" fmla="*/ 1009650 w 4791075"/>
              <a:gd name="connsiteY112" fmla="*/ 828675 h 1428750"/>
              <a:gd name="connsiteX113" fmla="*/ 990600 w 4791075"/>
              <a:gd name="connsiteY113" fmla="*/ 800100 h 1428750"/>
              <a:gd name="connsiteX114" fmla="*/ 962025 w 4791075"/>
              <a:gd name="connsiteY114" fmla="*/ 781050 h 1428750"/>
              <a:gd name="connsiteX115" fmla="*/ 952500 w 4791075"/>
              <a:gd name="connsiteY115" fmla="*/ 752475 h 1428750"/>
              <a:gd name="connsiteX116" fmla="*/ 904875 w 4791075"/>
              <a:gd name="connsiteY116" fmla="*/ 704850 h 1428750"/>
              <a:gd name="connsiteX117" fmla="*/ 866775 w 4791075"/>
              <a:gd name="connsiteY117" fmla="*/ 666750 h 1428750"/>
              <a:gd name="connsiteX118" fmla="*/ 781050 w 4791075"/>
              <a:gd name="connsiteY118" fmla="*/ 619125 h 1428750"/>
              <a:gd name="connsiteX119" fmla="*/ 742950 w 4791075"/>
              <a:gd name="connsiteY119" fmla="*/ 590550 h 1428750"/>
              <a:gd name="connsiteX120" fmla="*/ 714375 w 4791075"/>
              <a:gd name="connsiteY120" fmla="*/ 571500 h 1428750"/>
              <a:gd name="connsiteX121" fmla="*/ 657225 w 4791075"/>
              <a:gd name="connsiteY121" fmla="*/ 523875 h 1428750"/>
              <a:gd name="connsiteX122" fmla="*/ 638175 w 4791075"/>
              <a:gd name="connsiteY122" fmla="*/ 495300 h 1428750"/>
              <a:gd name="connsiteX123" fmla="*/ 609600 w 4791075"/>
              <a:gd name="connsiteY123" fmla="*/ 466725 h 1428750"/>
              <a:gd name="connsiteX124" fmla="*/ 600075 w 4791075"/>
              <a:gd name="connsiteY124" fmla="*/ 419100 h 1428750"/>
              <a:gd name="connsiteX125" fmla="*/ 571500 w 4791075"/>
              <a:gd name="connsiteY125" fmla="*/ 390525 h 1428750"/>
              <a:gd name="connsiteX126" fmla="*/ 552450 w 4791075"/>
              <a:gd name="connsiteY126" fmla="*/ 361950 h 1428750"/>
              <a:gd name="connsiteX127" fmla="*/ 495300 w 4791075"/>
              <a:gd name="connsiteY127" fmla="*/ 323850 h 1428750"/>
              <a:gd name="connsiteX128" fmla="*/ 438150 w 4791075"/>
              <a:gd name="connsiteY128" fmla="*/ 285750 h 1428750"/>
              <a:gd name="connsiteX129" fmla="*/ 381000 w 4791075"/>
              <a:gd name="connsiteY129" fmla="*/ 247650 h 1428750"/>
              <a:gd name="connsiteX130" fmla="*/ 323850 w 4791075"/>
              <a:gd name="connsiteY130" fmla="*/ 209550 h 1428750"/>
              <a:gd name="connsiteX131" fmla="*/ 295275 w 4791075"/>
              <a:gd name="connsiteY131" fmla="*/ 190500 h 1428750"/>
              <a:gd name="connsiteX132" fmla="*/ 238125 w 4791075"/>
              <a:gd name="connsiteY132" fmla="*/ 171450 h 1428750"/>
              <a:gd name="connsiteX133" fmla="*/ 209550 w 4791075"/>
              <a:gd name="connsiteY133" fmla="*/ 152400 h 1428750"/>
              <a:gd name="connsiteX134" fmla="*/ 152400 w 4791075"/>
              <a:gd name="connsiteY134" fmla="*/ 133350 h 1428750"/>
              <a:gd name="connsiteX135" fmla="*/ 123825 w 4791075"/>
              <a:gd name="connsiteY135" fmla="*/ 123825 h 1428750"/>
              <a:gd name="connsiteX136" fmla="*/ 28575 w 4791075"/>
              <a:gd name="connsiteY136" fmla="*/ 66675 h 1428750"/>
              <a:gd name="connsiteX137" fmla="*/ 0 w 4791075"/>
              <a:gd name="connsiteY137" fmla="*/ 1905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</a:cxnLst>
            <a:rect l="l" t="t" r="r" b="b"/>
            <a:pathLst>
              <a:path w="4791075" h="1428750">
                <a:moveTo>
                  <a:pt x="0" y="19050"/>
                </a:moveTo>
                <a:cubicBezTo>
                  <a:pt x="82550" y="22225"/>
                  <a:pt x="165222" y="23080"/>
                  <a:pt x="247650" y="28575"/>
                </a:cubicBezTo>
                <a:cubicBezTo>
                  <a:pt x="260712" y="29446"/>
                  <a:pt x="272811" y="36109"/>
                  <a:pt x="285750" y="38100"/>
                </a:cubicBezTo>
                <a:cubicBezTo>
                  <a:pt x="314167" y="42472"/>
                  <a:pt x="342900" y="44450"/>
                  <a:pt x="371475" y="47625"/>
                </a:cubicBezTo>
                <a:cubicBezTo>
                  <a:pt x="479425" y="44450"/>
                  <a:pt x="587470" y="43631"/>
                  <a:pt x="695325" y="38100"/>
                </a:cubicBezTo>
                <a:cubicBezTo>
                  <a:pt x="711493" y="37271"/>
                  <a:pt x="726872" y="30467"/>
                  <a:pt x="742950" y="28575"/>
                </a:cubicBezTo>
                <a:cubicBezTo>
                  <a:pt x="780920" y="24108"/>
                  <a:pt x="819150" y="22225"/>
                  <a:pt x="857250" y="19050"/>
                </a:cubicBezTo>
                <a:cubicBezTo>
                  <a:pt x="923925" y="22225"/>
                  <a:pt x="990755" y="23032"/>
                  <a:pt x="1057275" y="28575"/>
                </a:cubicBezTo>
                <a:cubicBezTo>
                  <a:pt x="1067281" y="29409"/>
                  <a:pt x="1076049" y="35922"/>
                  <a:pt x="1085850" y="38100"/>
                </a:cubicBezTo>
                <a:cubicBezTo>
                  <a:pt x="1104703" y="42290"/>
                  <a:pt x="1123760" y="45952"/>
                  <a:pt x="1143000" y="47625"/>
                </a:cubicBezTo>
                <a:cubicBezTo>
                  <a:pt x="1196865" y="52309"/>
                  <a:pt x="1250950" y="53975"/>
                  <a:pt x="1304925" y="57150"/>
                </a:cubicBezTo>
                <a:cubicBezTo>
                  <a:pt x="1371600" y="53975"/>
                  <a:pt x="1438418" y="53020"/>
                  <a:pt x="1504950" y="47625"/>
                </a:cubicBezTo>
                <a:cubicBezTo>
                  <a:pt x="1555978" y="43488"/>
                  <a:pt x="1657350" y="28575"/>
                  <a:pt x="1657350" y="28575"/>
                </a:cubicBezTo>
                <a:lnTo>
                  <a:pt x="1819275" y="38100"/>
                </a:lnTo>
                <a:cubicBezTo>
                  <a:pt x="1883015" y="42212"/>
                  <a:pt x="1947184" y="43241"/>
                  <a:pt x="2009775" y="57150"/>
                </a:cubicBezTo>
                <a:cubicBezTo>
                  <a:pt x="2019576" y="59328"/>
                  <a:pt x="2028825" y="63500"/>
                  <a:pt x="2038350" y="66675"/>
                </a:cubicBezTo>
                <a:cubicBezTo>
                  <a:pt x="2127250" y="63500"/>
                  <a:pt x="2216247" y="62374"/>
                  <a:pt x="2305050" y="57150"/>
                </a:cubicBezTo>
                <a:cubicBezTo>
                  <a:pt x="2324329" y="56016"/>
                  <a:pt x="2343347" y="51815"/>
                  <a:pt x="2362200" y="47625"/>
                </a:cubicBezTo>
                <a:cubicBezTo>
                  <a:pt x="2372001" y="45447"/>
                  <a:pt x="2380773" y="38970"/>
                  <a:pt x="2390775" y="38100"/>
                </a:cubicBezTo>
                <a:cubicBezTo>
                  <a:pt x="2454115" y="32592"/>
                  <a:pt x="2517775" y="31750"/>
                  <a:pt x="2581275" y="28575"/>
                </a:cubicBezTo>
                <a:cubicBezTo>
                  <a:pt x="2741329" y="-11438"/>
                  <a:pt x="2589385" y="23612"/>
                  <a:pt x="2990850" y="9525"/>
                </a:cubicBezTo>
                <a:cubicBezTo>
                  <a:pt x="3048053" y="7518"/>
                  <a:pt x="3105150" y="3175"/>
                  <a:pt x="3162300" y="0"/>
                </a:cubicBezTo>
                <a:lnTo>
                  <a:pt x="3609975" y="9525"/>
                </a:lnTo>
                <a:cubicBezTo>
                  <a:pt x="3629274" y="10253"/>
                  <a:pt x="3647982" y="16498"/>
                  <a:pt x="3667125" y="19050"/>
                </a:cubicBezTo>
                <a:cubicBezTo>
                  <a:pt x="3695624" y="22850"/>
                  <a:pt x="3724109" y="27819"/>
                  <a:pt x="3752850" y="28575"/>
                </a:cubicBezTo>
                <a:cubicBezTo>
                  <a:pt x="3965525" y="34172"/>
                  <a:pt x="4178300" y="34925"/>
                  <a:pt x="4391025" y="38100"/>
                </a:cubicBezTo>
                <a:cubicBezTo>
                  <a:pt x="4425950" y="41275"/>
                  <a:pt x="4460777" y="45829"/>
                  <a:pt x="4495800" y="47625"/>
                </a:cubicBezTo>
                <a:cubicBezTo>
                  <a:pt x="4639797" y="55009"/>
                  <a:pt x="4730418" y="-16538"/>
                  <a:pt x="4781550" y="85725"/>
                </a:cubicBezTo>
                <a:cubicBezTo>
                  <a:pt x="4786040" y="94705"/>
                  <a:pt x="4787900" y="104775"/>
                  <a:pt x="4791075" y="114300"/>
                </a:cubicBezTo>
                <a:cubicBezTo>
                  <a:pt x="4787900" y="136525"/>
                  <a:pt x="4793603" y="162034"/>
                  <a:pt x="4781550" y="180975"/>
                </a:cubicBezTo>
                <a:cubicBezTo>
                  <a:pt x="4769258" y="200291"/>
                  <a:pt x="4744878" y="208836"/>
                  <a:pt x="4724400" y="219075"/>
                </a:cubicBezTo>
                <a:cubicBezTo>
                  <a:pt x="4711700" y="225425"/>
                  <a:pt x="4699351" y="232532"/>
                  <a:pt x="4686300" y="238125"/>
                </a:cubicBezTo>
                <a:cubicBezTo>
                  <a:pt x="4667169" y="246324"/>
                  <a:pt x="4638959" y="252342"/>
                  <a:pt x="4619625" y="257175"/>
                </a:cubicBezTo>
                <a:cubicBezTo>
                  <a:pt x="4629150" y="266700"/>
                  <a:pt x="4637973" y="276984"/>
                  <a:pt x="4648200" y="285750"/>
                </a:cubicBezTo>
                <a:cubicBezTo>
                  <a:pt x="4660253" y="296081"/>
                  <a:pt x="4675075" y="303100"/>
                  <a:pt x="4686300" y="314325"/>
                </a:cubicBezTo>
                <a:cubicBezTo>
                  <a:pt x="4694395" y="322420"/>
                  <a:pt x="4698021" y="334106"/>
                  <a:pt x="4705350" y="342900"/>
                </a:cubicBezTo>
                <a:cubicBezTo>
                  <a:pt x="4713974" y="353248"/>
                  <a:pt x="4724400" y="361950"/>
                  <a:pt x="4733925" y="371475"/>
                </a:cubicBezTo>
                <a:cubicBezTo>
                  <a:pt x="4737100" y="381000"/>
                  <a:pt x="4743450" y="390010"/>
                  <a:pt x="4743450" y="400050"/>
                </a:cubicBezTo>
                <a:cubicBezTo>
                  <a:pt x="4743450" y="413141"/>
                  <a:pt x="4741187" y="427258"/>
                  <a:pt x="4733925" y="438150"/>
                </a:cubicBezTo>
                <a:cubicBezTo>
                  <a:pt x="4727575" y="447675"/>
                  <a:pt x="4714665" y="450546"/>
                  <a:pt x="4705350" y="457200"/>
                </a:cubicBezTo>
                <a:cubicBezTo>
                  <a:pt x="4692432" y="466427"/>
                  <a:pt x="4679303" y="475444"/>
                  <a:pt x="4667250" y="485775"/>
                </a:cubicBezTo>
                <a:cubicBezTo>
                  <a:pt x="4603078" y="540780"/>
                  <a:pt x="4673255" y="491296"/>
                  <a:pt x="4610100" y="533400"/>
                </a:cubicBezTo>
                <a:cubicBezTo>
                  <a:pt x="4562475" y="530225"/>
                  <a:pt x="4514956" y="523875"/>
                  <a:pt x="4467225" y="523875"/>
                </a:cubicBezTo>
                <a:cubicBezTo>
                  <a:pt x="4457185" y="523875"/>
                  <a:pt x="4486820" y="528910"/>
                  <a:pt x="4495800" y="533400"/>
                </a:cubicBezTo>
                <a:cubicBezTo>
                  <a:pt x="4506039" y="538520"/>
                  <a:pt x="4514850" y="546100"/>
                  <a:pt x="4524375" y="552450"/>
                </a:cubicBezTo>
                <a:lnTo>
                  <a:pt x="4543425" y="609600"/>
                </a:lnTo>
                <a:lnTo>
                  <a:pt x="4552950" y="638175"/>
                </a:lnTo>
                <a:cubicBezTo>
                  <a:pt x="4549775" y="660400"/>
                  <a:pt x="4555478" y="685909"/>
                  <a:pt x="4543425" y="704850"/>
                </a:cubicBezTo>
                <a:cubicBezTo>
                  <a:pt x="4531133" y="724166"/>
                  <a:pt x="4505325" y="730250"/>
                  <a:pt x="4486275" y="742950"/>
                </a:cubicBezTo>
                <a:lnTo>
                  <a:pt x="4457700" y="762000"/>
                </a:lnTo>
                <a:cubicBezTo>
                  <a:pt x="4422775" y="758825"/>
                  <a:pt x="4386645" y="762109"/>
                  <a:pt x="4352925" y="752475"/>
                </a:cubicBezTo>
                <a:cubicBezTo>
                  <a:pt x="4339973" y="748774"/>
                  <a:pt x="4337418" y="720633"/>
                  <a:pt x="4324350" y="723900"/>
                </a:cubicBezTo>
                <a:cubicBezTo>
                  <a:pt x="4311650" y="727075"/>
                  <a:pt x="4318000" y="749300"/>
                  <a:pt x="4314825" y="762000"/>
                </a:cubicBezTo>
                <a:cubicBezTo>
                  <a:pt x="4330864" y="810117"/>
                  <a:pt x="4336715" y="814682"/>
                  <a:pt x="4314825" y="885825"/>
                </a:cubicBezTo>
                <a:cubicBezTo>
                  <a:pt x="4310864" y="898700"/>
                  <a:pt x="4297458" y="906928"/>
                  <a:pt x="4286250" y="914400"/>
                </a:cubicBezTo>
                <a:cubicBezTo>
                  <a:pt x="4277686" y="920109"/>
                  <a:pt x="4225132" y="931862"/>
                  <a:pt x="4219575" y="933450"/>
                </a:cubicBezTo>
                <a:cubicBezTo>
                  <a:pt x="4209921" y="936208"/>
                  <a:pt x="4200654" y="940217"/>
                  <a:pt x="4191000" y="942975"/>
                </a:cubicBezTo>
                <a:cubicBezTo>
                  <a:pt x="4178413" y="946571"/>
                  <a:pt x="4165700" y="949757"/>
                  <a:pt x="4152900" y="952500"/>
                </a:cubicBezTo>
                <a:cubicBezTo>
                  <a:pt x="4072969" y="969628"/>
                  <a:pt x="4069156" y="969632"/>
                  <a:pt x="4000500" y="981075"/>
                </a:cubicBezTo>
                <a:cubicBezTo>
                  <a:pt x="4006850" y="990600"/>
                  <a:pt x="4014430" y="999411"/>
                  <a:pt x="4019550" y="1009650"/>
                </a:cubicBezTo>
                <a:cubicBezTo>
                  <a:pt x="4039300" y="1049149"/>
                  <a:pt x="4029647" y="1089720"/>
                  <a:pt x="4019550" y="1133475"/>
                </a:cubicBezTo>
                <a:cubicBezTo>
                  <a:pt x="4016976" y="1144629"/>
                  <a:pt x="4009439" y="1154899"/>
                  <a:pt x="4000500" y="1162050"/>
                </a:cubicBezTo>
                <a:cubicBezTo>
                  <a:pt x="3994098" y="1167172"/>
                  <a:pt x="3936563" y="1180279"/>
                  <a:pt x="3933825" y="1181100"/>
                </a:cubicBezTo>
                <a:cubicBezTo>
                  <a:pt x="3914591" y="1186870"/>
                  <a:pt x="3876675" y="1200150"/>
                  <a:pt x="3876675" y="1200150"/>
                </a:cubicBezTo>
                <a:cubicBezTo>
                  <a:pt x="3800475" y="1196975"/>
                  <a:pt x="3724147" y="1196059"/>
                  <a:pt x="3648075" y="1190625"/>
                </a:cubicBezTo>
                <a:cubicBezTo>
                  <a:pt x="3632853" y="1189538"/>
                  <a:pt x="3597377" y="1176901"/>
                  <a:pt x="3581400" y="1171575"/>
                </a:cubicBezTo>
                <a:cubicBezTo>
                  <a:pt x="3571875" y="1177925"/>
                  <a:pt x="3560920" y="1182530"/>
                  <a:pt x="3552825" y="1190625"/>
                </a:cubicBezTo>
                <a:cubicBezTo>
                  <a:pt x="3541600" y="1201850"/>
                  <a:pt x="3537459" y="1219919"/>
                  <a:pt x="3524250" y="1228725"/>
                </a:cubicBezTo>
                <a:cubicBezTo>
                  <a:pt x="3507542" y="1239864"/>
                  <a:pt x="3486581" y="1242905"/>
                  <a:pt x="3467100" y="1247775"/>
                </a:cubicBezTo>
                <a:cubicBezTo>
                  <a:pt x="3454400" y="1250950"/>
                  <a:pt x="3441880" y="1254958"/>
                  <a:pt x="3429000" y="1257300"/>
                </a:cubicBezTo>
                <a:cubicBezTo>
                  <a:pt x="3387223" y="1264896"/>
                  <a:pt x="3346606" y="1267143"/>
                  <a:pt x="3305175" y="1276350"/>
                </a:cubicBezTo>
                <a:cubicBezTo>
                  <a:pt x="3295374" y="1278528"/>
                  <a:pt x="3286125" y="1282700"/>
                  <a:pt x="3276600" y="1285875"/>
                </a:cubicBezTo>
                <a:cubicBezTo>
                  <a:pt x="3241675" y="1282700"/>
                  <a:pt x="3205343" y="1286663"/>
                  <a:pt x="3171825" y="1276350"/>
                </a:cubicBezTo>
                <a:cubicBezTo>
                  <a:pt x="3160884" y="1272983"/>
                  <a:pt x="3164223" y="1247775"/>
                  <a:pt x="3152775" y="1247775"/>
                </a:cubicBezTo>
                <a:cubicBezTo>
                  <a:pt x="3142735" y="1247775"/>
                  <a:pt x="3159125" y="1266825"/>
                  <a:pt x="3162300" y="1276350"/>
                </a:cubicBezTo>
                <a:cubicBezTo>
                  <a:pt x="3159125" y="1304925"/>
                  <a:pt x="3168211" y="1337819"/>
                  <a:pt x="3152775" y="1362075"/>
                </a:cubicBezTo>
                <a:cubicBezTo>
                  <a:pt x="3141994" y="1379016"/>
                  <a:pt x="3114675" y="1374775"/>
                  <a:pt x="3095625" y="1381125"/>
                </a:cubicBezTo>
                <a:cubicBezTo>
                  <a:pt x="3052789" y="1395404"/>
                  <a:pt x="3006719" y="1412876"/>
                  <a:pt x="2962275" y="1419225"/>
                </a:cubicBezTo>
                <a:lnTo>
                  <a:pt x="2895600" y="1428750"/>
                </a:lnTo>
                <a:cubicBezTo>
                  <a:pt x="2867025" y="1425575"/>
                  <a:pt x="2838235" y="1423952"/>
                  <a:pt x="2809875" y="1419225"/>
                </a:cubicBezTo>
                <a:cubicBezTo>
                  <a:pt x="2799971" y="1417574"/>
                  <a:pt x="2788400" y="1416800"/>
                  <a:pt x="2781300" y="1409700"/>
                </a:cubicBezTo>
                <a:cubicBezTo>
                  <a:pt x="2774200" y="1402600"/>
                  <a:pt x="2774950" y="1390650"/>
                  <a:pt x="2771775" y="1381125"/>
                </a:cubicBezTo>
                <a:cubicBezTo>
                  <a:pt x="2749550" y="1384300"/>
                  <a:pt x="2727245" y="1386959"/>
                  <a:pt x="2705100" y="1390650"/>
                </a:cubicBezTo>
                <a:cubicBezTo>
                  <a:pt x="2689131" y="1393312"/>
                  <a:pt x="2673664" y="1400175"/>
                  <a:pt x="2657475" y="1400175"/>
                </a:cubicBezTo>
                <a:cubicBezTo>
                  <a:pt x="2612912" y="1400175"/>
                  <a:pt x="2568575" y="1393825"/>
                  <a:pt x="2524125" y="1390650"/>
                </a:cubicBezTo>
                <a:cubicBezTo>
                  <a:pt x="2508250" y="1387475"/>
                  <a:pt x="2491859" y="1386245"/>
                  <a:pt x="2476500" y="1381125"/>
                </a:cubicBezTo>
                <a:cubicBezTo>
                  <a:pt x="2356302" y="1341059"/>
                  <a:pt x="2517071" y="1379497"/>
                  <a:pt x="2400300" y="1352550"/>
                </a:cubicBezTo>
                <a:lnTo>
                  <a:pt x="2314575" y="1333500"/>
                </a:lnTo>
                <a:cubicBezTo>
                  <a:pt x="2303240" y="1330884"/>
                  <a:pt x="2260896" y="1320948"/>
                  <a:pt x="2247900" y="1314450"/>
                </a:cubicBezTo>
                <a:cubicBezTo>
                  <a:pt x="2237661" y="1309330"/>
                  <a:pt x="2229786" y="1300049"/>
                  <a:pt x="2219325" y="1295400"/>
                </a:cubicBezTo>
                <a:cubicBezTo>
                  <a:pt x="2117310" y="1250060"/>
                  <a:pt x="2198269" y="1300413"/>
                  <a:pt x="2133600" y="1257300"/>
                </a:cubicBezTo>
                <a:cubicBezTo>
                  <a:pt x="2127250" y="1247775"/>
                  <a:pt x="2125410" y="1232345"/>
                  <a:pt x="2114550" y="1228725"/>
                </a:cubicBezTo>
                <a:cubicBezTo>
                  <a:pt x="2087638" y="1219754"/>
                  <a:pt x="2054679" y="1257494"/>
                  <a:pt x="2038350" y="1266825"/>
                </a:cubicBezTo>
                <a:cubicBezTo>
                  <a:pt x="2016184" y="1279491"/>
                  <a:pt x="1957758" y="1283781"/>
                  <a:pt x="1943100" y="1285875"/>
                </a:cubicBezTo>
                <a:cubicBezTo>
                  <a:pt x="1854200" y="1282700"/>
                  <a:pt x="1765183" y="1281899"/>
                  <a:pt x="1676400" y="1276350"/>
                </a:cubicBezTo>
                <a:cubicBezTo>
                  <a:pt x="1663335" y="1275533"/>
                  <a:pt x="1649192" y="1274087"/>
                  <a:pt x="1638300" y="1266825"/>
                </a:cubicBezTo>
                <a:cubicBezTo>
                  <a:pt x="1628775" y="1260475"/>
                  <a:pt x="1628189" y="1245401"/>
                  <a:pt x="1619250" y="1238250"/>
                </a:cubicBezTo>
                <a:cubicBezTo>
                  <a:pt x="1611410" y="1231978"/>
                  <a:pt x="1599655" y="1233215"/>
                  <a:pt x="1590675" y="1228725"/>
                </a:cubicBezTo>
                <a:cubicBezTo>
                  <a:pt x="1580436" y="1223605"/>
                  <a:pt x="1571625" y="1216025"/>
                  <a:pt x="1562100" y="1209675"/>
                </a:cubicBezTo>
                <a:cubicBezTo>
                  <a:pt x="1558925" y="1200150"/>
                  <a:pt x="1559675" y="1188200"/>
                  <a:pt x="1552575" y="1181100"/>
                </a:cubicBezTo>
                <a:cubicBezTo>
                  <a:pt x="1545475" y="1174000"/>
                  <a:pt x="1533740" y="1174010"/>
                  <a:pt x="1524000" y="1171575"/>
                </a:cubicBezTo>
                <a:cubicBezTo>
                  <a:pt x="1508294" y="1167648"/>
                  <a:pt x="1492250" y="1165225"/>
                  <a:pt x="1476375" y="1162050"/>
                </a:cubicBezTo>
                <a:cubicBezTo>
                  <a:pt x="1470025" y="1152525"/>
                  <a:pt x="1465420" y="1141570"/>
                  <a:pt x="1457325" y="1133475"/>
                </a:cubicBezTo>
                <a:cubicBezTo>
                  <a:pt x="1433578" y="1109728"/>
                  <a:pt x="1421879" y="1114269"/>
                  <a:pt x="1390650" y="1104900"/>
                </a:cubicBezTo>
                <a:lnTo>
                  <a:pt x="1304925" y="1076325"/>
                </a:lnTo>
                <a:lnTo>
                  <a:pt x="1276350" y="1066800"/>
                </a:lnTo>
                <a:cubicBezTo>
                  <a:pt x="1266825" y="1063625"/>
                  <a:pt x="1256129" y="1062844"/>
                  <a:pt x="1247775" y="1057275"/>
                </a:cubicBezTo>
                <a:lnTo>
                  <a:pt x="1219200" y="1038225"/>
                </a:lnTo>
                <a:cubicBezTo>
                  <a:pt x="1171902" y="967279"/>
                  <a:pt x="1232691" y="1054414"/>
                  <a:pt x="1171575" y="981075"/>
                </a:cubicBezTo>
                <a:cubicBezTo>
                  <a:pt x="1131888" y="933450"/>
                  <a:pt x="1176338" y="968375"/>
                  <a:pt x="1123950" y="933450"/>
                </a:cubicBezTo>
                <a:cubicBezTo>
                  <a:pt x="1117600" y="923925"/>
                  <a:pt x="1113839" y="912026"/>
                  <a:pt x="1104900" y="904875"/>
                </a:cubicBezTo>
                <a:cubicBezTo>
                  <a:pt x="1097060" y="898603"/>
                  <a:pt x="1083425" y="902450"/>
                  <a:pt x="1076325" y="895350"/>
                </a:cubicBezTo>
                <a:cubicBezTo>
                  <a:pt x="999904" y="818929"/>
                  <a:pt x="1074308" y="850228"/>
                  <a:pt x="1009650" y="828675"/>
                </a:cubicBezTo>
                <a:cubicBezTo>
                  <a:pt x="1003300" y="819150"/>
                  <a:pt x="998695" y="808195"/>
                  <a:pt x="990600" y="800100"/>
                </a:cubicBezTo>
                <a:cubicBezTo>
                  <a:pt x="982505" y="792005"/>
                  <a:pt x="969176" y="789989"/>
                  <a:pt x="962025" y="781050"/>
                </a:cubicBezTo>
                <a:cubicBezTo>
                  <a:pt x="955753" y="773210"/>
                  <a:pt x="956990" y="761455"/>
                  <a:pt x="952500" y="752475"/>
                </a:cubicBezTo>
                <a:cubicBezTo>
                  <a:pt x="936625" y="720725"/>
                  <a:pt x="933450" y="723900"/>
                  <a:pt x="904875" y="704850"/>
                </a:cubicBezTo>
                <a:cubicBezTo>
                  <a:pt x="888711" y="656359"/>
                  <a:pt x="908339" y="689841"/>
                  <a:pt x="866775" y="666750"/>
                </a:cubicBezTo>
                <a:cubicBezTo>
                  <a:pt x="768519" y="612163"/>
                  <a:pt x="845708" y="640678"/>
                  <a:pt x="781050" y="619125"/>
                </a:cubicBezTo>
                <a:cubicBezTo>
                  <a:pt x="768350" y="609600"/>
                  <a:pt x="755868" y="599777"/>
                  <a:pt x="742950" y="590550"/>
                </a:cubicBezTo>
                <a:cubicBezTo>
                  <a:pt x="733635" y="583896"/>
                  <a:pt x="723169" y="578829"/>
                  <a:pt x="714375" y="571500"/>
                </a:cubicBezTo>
                <a:cubicBezTo>
                  <a:pt x="641036" y="510384"/>
                  <a:pt x="728171" y="571173"/>
                  <a:pt x="657225" y="523875"/>
                </a:cubicBezTo>
                <a:cubicBezTo>
                  <a:pt x="650875" y="514350"/>
                  <a:pt x="645504" y="504094"/>
                  <a:pt x="638175" y="495300"/>
                </a:cubicBezTo>
                <a:cubicBezTo>
                  <a:pt x="629551" y="484952"/>
                  <a:pt x="615624" y="478773"/>
                  <a:pt x="609600" y="466725"/>
                </a:cubicBezTo>
                <a:cubicBezTo>
                  <a:pt x="602360" y="452245"/>
                  <a:pt x="607315" y="433580"/>
                  <a:pt x="600075" y="419100"/>
                </a:cubicBezTo>
                <a:cubicBezTo>
                  <a:pt x="594051" y="407052"/>
                  <a:pt x="580124" y="400873"/>
                  <a:pt x="571500" y="390525"/>
                </a:cubicBezTo>
                <a:cubicBezTo>
                  <a:pt x="564171" y="381731"/>
                  <a:pt x="561065" y="369488"/>
                  <a:pt x="552450" y="361950"/>
                </a:cubicBezTo>
                <a:cubicBezTo>
                  <a:pt x="535220" y="346873"/>
                  <a:pt x="495300" y="323850"/>
                  <a:pt x="495300" y="323850"/>
                </a:cubicBezTo>
                <a:cubicBezTo>
                  <a:pt x="458231" y="268247"/>
                  <a:pt x="499657" y="316504"/>
                  <a:pt x="438150" y="285750"/>
                </a:cubicBezTo>
                <a:cubicBezTo>
                  <a:pt x="417672" y="275511"/>
                  <a:pt x="400050" y="260350"/>
                  <a:pt x="381000" y="247650"/>
                </a:cubicBezTo>
                <a:lnTo>
                  <a:pt x="323850" y="209550"/>
                </a:lnTo>
                <a:cubicBezTo>
                  <a:pt x="314325" y="203200"/>
                  <a:pt x="306135" y="194120"/>
                  <a:pt x="295275" y="190500"/>
                </a:cubicBezTo>
                <a:cubicBezTo>
                  <a:pt x="276225" y="184150"/>
                  <a:pt x="254833" y="182589"/>
                  <a:pt x="238125" y="171450"/>
                </a:cubicBezTo>
                <a:cubicBezTo>
                  <a:pt x="228600" y="165100"/>
                  <a:pt x="220011" y="157049"/>
                  <a:pt x="209550" y="152400"/>
                </a:cubicBezTo>
                <a:cubicBezTo>
                  <a:pt x="191200" y="144245"/>
                  <a:pt x="171450" y="139700"/>
                  <a:pt x="152400" y="133350"/>
                </a:cubicBezTo>
                <a:cubicBezTo>
                  <a:pt x="142875" y="130175"/>
                  <a:pt x="132805" y="128315"/>
                  <a:pt x="123825" y="123825"/>
                </a:cubicBezTo>
                <a:cubicBezTo>
                  <a:pt x="93760" y="108793"/>
                  <a:pt x="51563" y="89663"/>
                  <a:pt x="28575" y="66675"/>
                </a:cubicBezTo>
                <a:lnTo>
                  <a:pt x="0" y="1905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xmlns="" id="{4C5DB626-9678-433E-8F5B-E694CF9AEA90}"/>
              </a:ext>
            </a:extLst>
          </p:cNvPr>
          <p:cNvSpPr/>
          <p:nvPr/>
        </p:nvSpPr>
        <p:spPr bwMode="auto">
          <a:xfrm>
            <a:off x="1475656" y="2941191"/>
            <a:ext cx="1928317" cy="537494"/>
          </a:xfrm>
          <a:prstGeom prst="wedgeRectCallout">
            <a:avLst>
              <a:gd name="adj1" fmla="val 43480"/>
              <a:gd name="adj2" fmla="val 262246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1" u="none" strike="noStrike" cap="none" normalizeH="0" baseline="0" dirty="0">
                <a:ln>
                  <a:noFill/>
                </a:ln>
                <a:solidFill>
                  <a:schemeClr val="tx1">
                    <a:lumMod val="90000"/>
                  </a:schemeClr>
                </a:solidFill>
                <a:effectLst/>
                <a:latin typeface="Arial Black" pitchFamily="34" charset="0"/>
              </a:rPr>
              <a:t>Coarse bedload deposited here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xmlns="" id="{1BC2D94A-D1B5-41F1-8299-9BF089A1BA76}"/>
              </a:ext>
            </a:extLst>
          </p:cNvPr>
          <p:cNvSpPr/>
          <p:nvPr/>
        </p:nvSpPr>
        <p:spPr bwMode="auto">
          <a:xfrm>
            <a:off x="5238110" y="2941190"/>
            <a:ext cx="2664296" cy="506037"/>
          </a:xfrm>
          <a:prstGeom prst="wedgeRectCallout">
            <a:avLst>
              <a:gd name="adj1" fmla="val -48833"/>
              <a:gd name="adj2" fmla="val 263896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1" u="none" strike="noStrike" cap="none" normalizeH="0" baseline="0" dirty="0">
                <a:ln>
                  <a:noFill/>
                </a:ln>
                <a:solidFill>
                  <a:schemeClr val="tx1">
                    <a:lumMod val="90000"/>
                  </a:schemeClr>
                </a:solidFill>
                <a:effectLst/>
                <a:latin typeface="Arial Black" pitchFamily="34" charset="0"/>
              </a:rPr>
              <a:t>Finer suspended load forms buoyant plume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CFB515C2-25E0-4D42-B48B-DA42704633BE}"/>
              </a:ext>
            </a:extLst>
          </p:cNvPr>
          <p:cNvSpPr/>
          <p:nvPr/>
        </p:nvSpPr>
        <p:spPr bwMode="auto">
          <a:xfrm>
            <a:off x="5919056" y="5145866"/>
            <a:ext cx="158247" cy="792480"/>
          </a:xfrm>
          <a:custGeom>
            <a:avLst/>
            <a:gdLst>
              <a:gd name="connsiteX0" fmla="*/ 53744 w 158247"/>
              <a:gd name="connsiteY0" fmla="*/ 0 h 792480"/>
              <a:gd name="connsiteX1" fmla="*/ 18910 w 158247"/>
              <a:gd name="connsiteY1" fmla="*/ 43543 h 792480"/>
              <a:gd name="connsiteX2" fmla="*/ 1493 w 158247"/>
              <a:gd name="connsiteY2" fmla="*/ 69669 h 792480"/>
              <a:gd name="connsiteX3" fmla="*/ 10201 w 158247"/>
              <a:gd name="connsiteY3" fmla="*/ 148046 h 792480"/>
              <a:gd name="connsiteX4" fmla="*/ 88578 w 158247"/>
              <a:gd name="connsiteY4" fmla="*/ 191589 h 792480"/>
              <a:gd name="connsiteX5" fmla="*/ 88578 w 158247"/>
              <a:gd name="connsiteY5" fmla="*/ 261257 h 792480"/>
              <a:gd name="connsiteX6" fmla="*/ 79870 w 158247"/>
              <a:gd name="connsiteY6" fmla="*/ 287383 h 792480"/>
              <a:gd name="connsiteX7" fmla="*/ 45035 w 158247"/>
              <a:gd name="connsiteY7" fmla="*/ 296092 h 792480"/>
              <a:gd name="connsiteX8" fmla="*/ 62453 w 158247"/>
              <a:gd name="connsiteY8" fmla="*/ 313509 h 792480"/>
              <a:gd name="connsiteX9" fmla="*/ 88578 w 158247"/>
              <a:gd name="connsiteY9" fmla="*/ 330926 h 792480"/>
              <a:gd name="connsiteX10" fmla="*/ 97287 w 158247"/>
              <a:gd name="connsiteY10" fmla="*/ 357052 h 792480"/>
              <a:gd name="connsiteX11" fmla="*/ 88578 w 158247"/>
              <a:gd name="connsiteY11" fmla="*/ 435429 h 792480"/>
              <a:gd name="connsiteX12" fmla="*/ 53744 w 158247"/>
              <a:gd name="connsiteY12" fmla="*/ 487680 h 792480"/>
              <a:gd name="connsiteX13" fmla="*/ 45035 w 158247"/>
              <a:gd name="connsiteY13" fmla="*/ 513806 h 792480"/>
              <a:gd name="connsiteX14" fmla="*/ 53744 w 158247"/>
              <a:gd name="connsiteY14" fmla="*/ 539932 h 792480"/>
              <a:gd name="connsiteX15" fmla="*/ 97287 w 158247"/>
              <a:gd name="connsiteY15" fmla="*/ 583475 h 792480"/>
              <a:gd name="connsiteX16" fmla="*/ 114704 w 158247"/>
              <a:gd name="connsiteY16" fmla="*/ 609600 h 792480"/>
              <a:gd name="connsiteX17" fmla="*/ 105995 w 158247"/>
              <a:gd name="connsiteY17" fmla="*/ 635726 h 792480"/>
              <a:gd name="connsiteX18" fmla="*/ 71161 w 158247"/>
              <a:gd name="connsiteY18" fmla="*/ 687977 h 792480"/>
              <a:gd name="connsiteX19" fmla="*/ 79870 w 158247"/>
              <a:gd name="connsiteY19" fmla="*/ 740229 h 792480"/>
              <a:gd name="connsiteX20" fmla="*/ 97287 w 158247"/>
              <a:gd name="connsiteY20" fmla="*/ 792480 h 792480"/>
              <a:gd name="connsiteX21" fmla="*/ 79870 w 158247"/>
              <a:gd name="connsiteY21" fmla="*/ 696686 h 792480"/>
              <a:gd name="connsiteX22" fmla="*/ 62453 w 158247"/>
              <a:gd name="connsiteY22" fmla="*/ 670560 h 792480"/>
              <a:gd name="connsiteX23" fmla="*/ 158247 w 158247"/>
              <a:gd name="connsiteY23" fmla="*/ 679269 h 792480"/>
              <a:gd name="connsiteX24" fmla="*/ 114704 w 158247"/>
              <a:gd name="connsiteY24" fmla="*/ 722812 h 792480"/>
              <a:gd name="connsiteX25" fmla="*/ 88578 w 158247"/>
              <a:gd name="connsiteY25" fmla="*/ 740229 h 792480"/>
              <a:gd name="connsiteX26" fmla="*/ 71161 w 158247"/>
              <a:gd name="connsiteY26" fmla="*/ 766355 h 792480"/>
              <a:gd name="connsiteX27" fmla="*/ 62453 w 158247"/>
              <a:gd name="connsiteY27" fmla="*/ 79248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58247" h="792480">
                <a:moveTo>
                  <a:pt x="53744" y="0"/>
                </a:moveTo>
                <a:cubicBezTo>
                  <a:pt x="42133" y="14514"/>
                  <a:pt x="30062" y="28673"/>
                  <a:pt x="18910" y="43543"/>
                </a:cubicBezTo>
                <a:cubicBezTo>
                  <a:pt x="12630" y="51916"/>
                  <a:pt x="2362" y="59239"/>
                  <a:pt x="1493" y="69669"/>
                </a:cubicBezTo>
                <a:cubicBezTo>
                  <a:pt x="-690" y="95865"/>
                  <a:pt x="-2261" y="124902"/>
                  <a:pt x="10201" y="148046"/>
                </a:cubicBezTo>
                <a:cubicBezTo>
                  <a:pt x="23301" y="172374"/>
                  <a:pt x="63113" y="183100"/>
                  <a:pt x="88578" y="191589"/>
                </a:cubicBezTo>
                <a:cubicBezTo>
                  <a:pt x="101037" y="228965"/>
                  <a:pt x="100588" y="213216"/>
                  <a:pt x="88578" y="261257"/>
                </a:cubicBezTo>
                <a:cubicBezTo>
                  <a:pt x="86352" y="270163"/>
                  <a:pt x="87038" y="281648"/>
                  <a:pt x="79870" y="287383"/>
                </a:cubicBezTo>
                <a:cubicBezTo>
                  <a:pt x="70524" y="294860"/>
                  <a:pt x="56647" y="293189"/>
                  <a:pt x="45035" y="296092"/>
                </a:cubicBezTo>
                <a:cubicBezTo>
                  <a:pt x="50841" y="301898"/>
                  <a:pt x="56042" y="308380"/>
                  <a:pt x="62453" y="313509"/>
                </a:cubicBezTo>
                <a:cubicBezTo>
                  <a:pt x="70626" y="320047"/>
                  <a:pt x="82040" y="322753"/>
                  <a:pt x="88578" y="330926"/>
                </a:cubicBezTo>
                <a:cubicBezTo>
                  <a:pt x="94313" y="338094"/>
                  <a:pt x="94384" y="348343"/>
                  <a:pt x="97287" y="357052"/>
                </a:cubicBezTo>
                <a:cubicBezTo>
                  <a:pt x="94384" y="383178"/>
                  <a:pt x="96891" y="410491"/>
                  <a:pt x="88578" y="435429"/>
                </a:cubicBezTo>
                <a:cubicBezTo>
                  <a:pt x="81958" y="455287"/>
                  <a:pt x="60364" y="467822"/>
                  <a:pt x="53744" y="487680"/>
                </a:cubicBezTo>
                <a:lnTo>
                  <a:pt x="45035" y="513806"/>
                </a:lnTo>
                <a:cubicBezTo>
                  <a:pt x="47938" y="522515"/>
                  <a:pt x="48236" y="532588"/>
                  <a:pt x="53744" y="539932"/>
                </a:cubicBezTo>
                <a:cubicBezTo>
                  <a:pt x="66060" y="556353"/>
                  <a:pt x="85901" y="566396"/>
                  <a:pt x="97287" y="583475"/>
                </a:cubicBezTo>
                <a:lnTo>
                  <a:pt x="114704" y="609600"/>
                </a:lnTo>
                <a:cubicBezTo>
                  <a:pt x="111801" y="618309"/>
                  <a:pt x="110453" y="627701"/>
                  <a:pt x="105995" y="635726"/>
                </a:cubicBezTo>
                <a:cubicBezTo>
                  <a:pt x="95829" y="654024"/>
                  <a:pt x="71161" y="687977"/>
                  <a:pt x="71161" y="687977"/>
                </a:cubicBezTo>
                <a:cubicBezTo>
                  <a:pt x="74064" y="705394"/>
                  <a:pt x="75587" y="723099"/>
                  <a:pt x="79870" y="740229"/>
                </a:cubicBezTo>
                <a:cubicBezTo>
                  <a:pt x="84323" y="758040"/>
                  <a:pt x="97287" y="792480"/>
                  <a:pt x="97287" y="792480"/>
                </a:cubicBezTo>
                <a:cubicBezTo>
                  <a:pt x="95270" y="778359"/>
                  <a:pt x="88667" y="717214"/>
                  <a:pt x="79870" y="696686"/>
                </a:cubicBezTo>
                <a:cubicBezTo>
                  <a:pt x="75747" y="687066"/>
                  <a:pt x="52236" y="672830"/>
                  <a:pt x="62453" y="670560"/>
                </a:cubicBezTo>
                <a:cubicBezTo>
                  <a:pt x="93753" y="663605"/>
                  <a:pt x="126316" y="676366"/>
                  <a:pt x="158247" y="679269"/>
                </a:cubicBezTo>
                <a:cubicBezTo>
                  <a:pt x="88578" y="725714"/>
                  <a:pt x="172761" y="664755"/>
                  <a:pt x="114704" y="722812"/>
                </a:cubicBezTo>
                <a:cubicBezTo>
                  <a:pt x="107303" y="730213"/>
                  <a:pt x="97287" y="734423"/>
                  <a:pt x="88578" y="740229"/>
                </a:cubicBezTo>
                <a:cubicBezTo>
                  <a:pt x="82772" y="748938"/>
                  <a:pt x="75842" y="756993"/>
                  <a:pt x="71161" y="766355"/>
                </a:cubicBezTo>
                <a:cubicBezTo>
                  <a:pt x="67056" y="774565"/>
                  <a:pt x="62453" y="792480"/>
                  <a:pt x="62453" y="792480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Black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521CEEC2-2D97-484D-8BBB-55355AB798A0}"/>
              </a:ext>
            </a:extLst>
          </p:cNvPr>
          <p:cNvSpPr/>
          <p:nvPr/>
        </p:nvSpPr>
        <p:spPr bwMode="auto">
          <a:xfrm>
            <a:off x="6593506" y="5171181"/>
            <a:ext cx="158247" cy="792480"/>
          </a:xfrm>
          <a:custGeom>
            <a:avLst/>
            <a:gdLst>
              <a:gd name="connsiteX0" fmla="*/ 53744 w 158247"/>
              <a:gd name="connsiteY0" fmla="*/ 0 h 792480"/>
              <a:gd name="connsiteX1" fmla="*/ 18910 w 158247"/>
              <a:gd name="connsiteY1" fmla="*/ 43543 h 792480"/>
              <a:gd name="connsiteX2" fmla="*/ 1493 w 158247"/>
              <a:gd name="connsiteY2" fmla="*/ 69669 h 792480"/>
              <a:gd name="connsiteX3" fmla="*/ 10201 w 158247"/>
              <a:gd name="connsiteY3" fmla="*/ 148046 h 792480"/>
              <a:gd name="connsiteX4" fmla="*/ 88578 w 158247"/>
              <a:gd name="connsiteY4" fmla="*/ 191589 h 792480"/>
              <a:gd name="connsiteX5" fmla="*/ 88578 w 158247"/>
              <a:gd name="connsiteY5" fmla="*/ 261257 h 792480"/>
              <a:gd name="connsiteX6" fmla="*/ 79870 w 158247"/>
              <a:gd name="connsiteY6" fmla="*/ 287383 h 792480"/>
              <a:gd name="connsiteX7" fmla="*/ 45035 w 158247"/>
              <a:gd name="connsiteY7" fmla="*/ 296092 h 792480"/>
              <a:gd name="connsiteX8" fmla="*/ 62453 w 158247"/>
              <a:gd name="connsiteY8" fmla="*/ 313509 h 792480"/>
              <a:gd name="connsiteX9" fmla="*/ 88578 w 158247"/>
              <a:gd name="connsiteY9" fmla="*/ 330926 h 792480"/>
              <a:gd name="connsiteX10" fmla="*/ 97287 w 158247"/>
              <a:gd name="connsiteY10" fmla="*/ 357052 h 792480"/>
              <a:gd name="connsiteX11" fmla="*/ 88578 w 158247"/>
              <a:gd name="connsiteY11" fmla="*/ 435429 h 792480"/>
              <a:gd name="connsiteX12" fmla="*/ 53744 w 158247"/>
              <a:gd name="connsiteY12" fmla="*/ 487680 h 792480"/>
              <a:gd name="connsiteX13" fmla="*/ 45035 w 158247"/>
              <a:gd name="connsiteY13" fmla="*/ 513806 h 792480"/>
              <a:gd name="connsiteX14" fmla="*/ 53744 w 158247"/>
              <a:gd name="connsiteY14" fmla="*/ 539932 h 792480"/>
              <a:gd name="connsiteX15" fmla="*/ 97287 w 158247"/>
              <a:gd name="connsiteY15" fmla="*/ 583475 h 792480"/>
              <a:gd name="connsiteX16" fmla="*/ 114704 w 158247"/>
              <a:gd name="connsiteY16" fmla="*/ 609600 h 792480"/>
              <a:gd name="connsiteX17" fmla="*/ 105995 w 158247"/>
              <a:gd name="connsiteY17" fmla="*/ 635726 h 792480"/>
              <a:gd name="connsiteX18" fmla="*/ 71161 w 158247"/>
              <a:gd name="connsiteY18" fmla="*/ 687977 h 792480"/>
              <a:gd name="connsiteX19" fmla="*/ 79870 w 158247"/>
              <a:gd name="connsiteY19" fmla="*/ 740229 h 792480"/>
              <a:gd name="connsiteX20" fmla="*/ 97287 w 158247"/>
              <a:gd name="connsiteY20" fmla="*/ 792480 h 792480"/>
              <a:gd name="connsiteX21" fmla="*/ 79870 w 158247"/>
              <a:gd name="connsiteY21" fmla="*/ 696686 h 792480"/>
              <a:gd name="connsiteX22" fmla="*/ 62453 w 158247"/>
              <a:gd name="connsiteY22" fmla="*/ 670560 h 792480"/>
              <a:gd name="connsiteX23" fmla="*/ 158247 w 158247"/>
              <a:gd name="connsiteY23" fmla="*/ 679269 h 792480"/>
              <a:gd name="connsiteX24" fmla="*/ 114704 w 158247"/>
              <a:gd name="connsiteY24" fmla="*/ 722812 h 792480"/>
              <a:gd name="connsiteX25" fmla="*/ 88578 w 158247"/>
              <a:gd name="connsiteY25" fmla="*/ 740229 h 792480"/>
              <a:gd name="connsiteX26" fmla="*/ 71161 w 158247"/>
              <a:gd name="connsiteY26" fmla="*/ 766355 h 792480"/>
              <a:gd name="connsiteX27" fmla="*/ 62453 w 158247"/>
              <a:gd name="connsiteY27" fmla="*/ 79248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58247" h="792480">
                <a:moveTo>
                  <a:pt x="53744" y="0"/>
                </a:moveTo>
                <a:cubicBezTo>
                  <a:pt x="42133" y="14514"/>
                  <a:pt x="30062" y="28673"/>
                  <a:pt x="18910" y="43543"/>
                </a:cubicBezTo>
                <a:cubicBezTo>
                  <a:pt x="12630" y="51916"/>
                  <a:pt x="2362" y="59239"/>
                  <a:pt x="1493" y="69669"/>
                </a:cubicBezTo>
                <a:cubicBezTo>
                  <a:pt x="-690" y="95865"/>
                  <a:pt x="-2261" y="124902"/>
                  <a:pt x="10201" y="148046"/>
                </a:cubicBezTo>
                <a:cubicBezTo>
                  <a:pt x="23301" y="172374"/>
                  <a:pt x="63113" y="183100"/>
                  <a:pt x="88578" y="191589"/>
                </a:cubicBezTo>
                <a:cubicBezTo>
                  <a:pt x="101037" y="228965"/>
                  <a:pt x="100588" y="213216"/>
                  <a:pt x="88578" y="261257"/>
                </a:cubicBezTo>
                <a:cubicBezTo>
                  <a:pt x="86352" y="270163"/>
                  <a:pt x="87038" y="281648"/>
                  <a:pt x="79870" y="287383"/>
                </a:cubicBezTo>
                <a:cubicBezTo>
                  <a:pt x="70524" y="294860"/>
                  <a:pt x="56647" y="293189"/>
                  <a:pt x="45035" y="296092"/>
                </a:cubicBezTo>
                <a:cubicBezTo>
                  <a:pt x="50841" y="301898"/>
                  <a:pt x="56042" y="308380"/>
                  <a:pt x="62453" y="313509"/>
                </a:cubicBezTo>
                <a:cubicBezTo>
                  <a:pt x="70626" y="320047"/>
                  <a:pt x="82040" y="322753"/>
                  <a:pt x="88578" y="330926"/>
                </a:cubicBezTo>
                <a:cubicBezTo>
                  <a:pt x="94313" y="338094"/>
                  <a:pt x="94384" y="348343"/>
                  <a:pt x="97287" y="357052"/>
                </a:cubicBezTo>
                <a:cubicBezTo>
                  <a:pt x="94384" y="383178"/>
                  <a:pt x="96891" y="410491"/>
                  <a:pt x="88578" y="435429"/>
                </a:cubicBezTo>
                <a:cubicBezTo>
                  <a:pt x="81958" y="455287"/>
                  <a:pt x="60364" y="467822"/>
                  <a:pt x="53744" y="487680"/>
                </a:cubicBezTo>
                <a:lnTo>
                  <a:pt x="45035" y="513806"/>
                </a:lnTo>
                <a:cubicBezTo>
                  <a:pt x="47938" y="522515"/>
                  <a:pt x="48236" y="532588"/>
                  <a:pt x="53744" y="539932"/>
                </a:cubicBezTo>
                <a:cubicBezTo>
                  <a:pt x="66060" y="556353"/>
                  <a:pt x="85901" y="566396"/>
                  <a:pt x="97287" y="583475"/>
                </a:cubicBezTo>
                <a:lnTo>
                  <a:pt x="114704" y="609600"/>
                </a:lnTo>
                <a:cubicBezTo>
                  <a:pt x="111801" y="618309"/>
                  <a:pt x="110453" y="627701"/>
                  <a:pt x="105995" y="635726"/>
                </a:cubicBezTo>
                <a:cubicBezTo>
                  <a:pt x="95829" y="654024"/>
                  <a:pt x="71161" y="687977"/>
                  <a:pt x="71161" y="687977"/>
                </a:cubicBezTo>
                <a:cubicBezTo>
                  <a:pt x="74064" y="705394"/>
                  <a:pt x="75587" y="723099"/>
                  <a:pt x="79870" y="740229"/>
                </a:cubicBezTo>
                <a:cubicBezTo>
                  <a:pt x="84323" y="758040"/>
                  <a:pt x="97287" y="792480"/>
                  <a:pt x="97287" y="792480"/>
                </a:cubicBezTo>
                <a:cubicBezTo>
                  <a:pt x="95270" y="778359"/>
                  <a:pt x="88667" y="717214"/>
                  <a:pt x="79870" y="696686"/>
                </a:cubicBezTo>
                <a:cubicBezTo>
                  <a:pt x="75747" y="687066"/>
                  <a:pt x="52236" y="672830"/>
                  <a:pt x="62453" y="670560"/>
                </a:cubicBezTo>
                <a:cubicBezTo>
                  <a:pt x="93753" y="663605"/>
                  <a:pt x="126316" y="676366"/>
                  <a:pt x="158247" y="679269"/>
                </a:cubicBezTo>
                <a:cubicBezTo>
                  <a:pt x="88578" y="725714"/>
                  <a:pt x="172761" y="664755"/>
                  <a:pt x="114704" y="722812"/>
                </a:cubicBezTo>
                <a:cubicBezTo>
                  <a:pt x="107303" y="730213"/>
                  <a:pt x="97287" y="734423"/>
                  <a:pt x="88578" y="740229"/>
                </a:cubicBezTo>
                <a:cubicBezTo>
                  <a:pt x="82772" y="748938"/>
                  <a:pt x="75842" y="756993"/>
                  <a:pt x="71161" y="766355"/>
                </a:cubicBezTo>
                <a:cubicBezTo>
                  <a:pt x="67056" y="774565"/>
                  <a:pt x="62453" y="792480"/>
                  <a:pt x="62453" y="792480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Black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944F022F-BB79-4059-B006-7C9F965BAFEC}"/>
              </a:ext>
            </a:extLst>
          </p:cNvPr>
          <p:cNvSpPr/>
          <p:nvPr/>
        </p:nvSpPr>
        <p:spPr bwMode="auto">
          <a:xfrm>
            <a:off x="5028967" y="4862528"/>
            <a:ext cx="158247" cy="792480"/>
          </a:xfrm>
          <a:custGeom>
            <a:avLst/>
            <a:gdLst>
              <a:gd name="connsiteX0" fmla="*/ 53744 w 158247"/>
              <a:gd name="connsiteY0" fmla="*/ 0 h 792480"/>
              <a:gd name="connsiteX1" fmla="*/ 18910 w 158247"/>
              <a:gd name="connsiteY1" fmla="*/ 43543 h 792480"/>
              <a:gd name="connsiteX2" fmla="*/ 1493 w 158247"/>
              <a:gd name="connsiteY2" fmla="*/ 69669 h 792480"/>
              <a:gd name="connsiteX3" fmla="*/ 10201 w 158247"/>
              <a:gd name="connsiteY3" fmla="*/ 148046 h 792480"/>
              <a:gd name="connsiteX4" fmla="*/ 88578 w 158247"/>
              <a:gd name="connsiteY4" fmla="*/ 191589 h 792480"/>
              <a:gd name="connsiteX5" fmla="*/ 88578 w 158247"/>
              <a:gd name="connsiteY5" fmla="*/ 261257 h 792480"/>
              <a:gd name="connsiteX6" fmla="*/ 79870 w 158247"/>
              <a:gd name="connsiteY6" fmla="*/ 287383 h 792480"/>
              <a:gd name="connsiteX7" fmla="*/ 45035 w 158247"/>
              <a:gd name="connsiteY7" fmla="*/ 296092 h 792480"/>
              <a:gd name="connsiteX8" fmla="*/ 62453 w 158247"/>
              <a:gd name="connsiteY8" fmla="*/ 313509 h 792480"/>
              <a:gd name="connsiteX9" fmla="*/ 88578 w 158247"/>
              <a:gd name="connsiteY9" fmla="*/ 330926 h 792480"/>
              <a:gd name="connsiteX10" fmla="*/ 97287 w 158247"/>
              <a:gd name="connsiteY10" fmla="*/ 357052 h 792480"/>
              <a:gd name="connsiteX11" fmla="*/ 88578 w 158247"/>
              <a:gd name="connsiteY11" fmla="*/ 435429 h 792480"/>
              <a:gd name="connsiteX12" fmla="*/ 53744 w 158247"/>
              <a:gd name="connsiteY12" fmla="*/ 487680 h 792480"/>
              <a:gd name="connsiteX13" fmla="*/ 45035 w 158247"/>
              <a:gd name="connsiteY13" fmla="*/ 513806 h 792480"/>
              <a:gd name="connsiteX14" fmla="*/ 53744 w 158247"/>
              <a:gd name="connsiteY14" fmla="*/ 539932 h 792480"/>
              <a:gd name="connsiteX15" fmla="*/ 97287 w 158247"/>
              <a:gd name="connsiteY15" fmla="*/ 583475 h 792480"/>
              <a:gd name="connsiteX16" fmla="*/ 114704 w 158247"/>
              <a:gd name="connsiteY16" fmla="*/ 609600 h 792480"/>
              <a:gd name="connsiteX17" fmla="*/ 105995 w 158247"/>
              <a:gd name="connsiteY17" fmla="*/ 635726 h 792480"/>
              <a:gd name="connsiteX18" fmla="*/ 71161 w 158247"/>
              <a:gd name="connsiteY18" fmla="*/ 687977 h 792480"/>
              <a:gd name="connsiteX19" fmla="*/ 79870 w 158247"/>
              <a:gd name="connsiteY19" fmla="*/ 740229 h 792480"/>
              <a:gd name="connsiteX20" fmla="*/ 97287 w 158247"/>
              <a:gd name="connsiteY20" fmla="*/ 792480 h 792480"/>
              <a:gd name="connsiteX21" fmla="*/ 79870 w 158247"/>
              <a:gd name="connsiteY21" fmla="*/ 696686 h 792480"/>
              <a:gd name="connsiteX22" fmla="*/ 62453 w 158247"/>
              <a:gd name="connsiteY22" fmla="*/ 670560 h 792480"/>
              <a:gd name="connsiteX23" fmla="*/ 158247 w 158247"/>
              <a:gd name="connsiteY23" fmla="*/ 679269 h 792480"/>
              <a:gd name="connsiteX24" fmla="*/ 114704 w 158247"/>
              <a:gd name="connsiteY24" fmla="*/ 722812 h 792480"/>
              <a:gd name="connsiteX25" fmla="*/ 88578 w 158247"/>
              <a:gd name="connsiteY25" fmla="*/ 740229 h 792480"/>
              <a:gd name="connsiteX26" fmla="*/ 71161 w 158247"/>
              <a:gd name="connsiteY26" fmla="*/ 766355 h 792480"/>
              <a:gd name="connsiteX27" fmla="*/ 62453 w 158247"/>
              <a:gd name="connsiteY27" fmla="*/ 79248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58247" h="792480">
                <a:moveTo>
                  <a:pt x="53744" y="0"/>
                </a:moveTo>
                <a:cubicBezTo>
                  <a:pt x="42133" y="14514"/>
                  <a:pt x="30062" y="28673"/>
                  <a:pt x="18910" y="43543"/>
                </a:cubicBezTo>
                <a:cubicBezTo>
                  <a:pt x="12630" y="51916"/>
                  <a:pt x="2362" y="59239"/>
                  <a:pt x="1493" y="69669"/>
                </a:cubicBezTo>
                <a:cubicBezTo>
                  <a:pt x="-690" y="95865"/>
                  <a:pt x="-2261" y="124902"/>
                  <a:pt x="10201" y="148046"/>
                </a:cubicBezTo>
                <a:cubicBezTo>
                  <a:pt x="23301" y="172374"/>
                  <a:pt x="63113" y="183100"/>
                  <a:pt x="88578" y="191589"/>
                </a:cubicBezTo>
                <a:cubicBezTo>
                  <a:pt x="101037" y="228965"/>
                  <a:pt x="100588" y="213216"/>
                  <a:pt x="88578" y="261257"/>
                </a:cubicBezTo>
                <a:cubicBezTo>
                  <a:pt x="86352" y="270163"/>
                  <a:pt x="87038" y="281648"/>
                  <a:pt x="79870" y="287383"/>
                </a:cubicBezTo>
                <a:cubicBezTo>
                  <a:pt x="70524" y="294860"/>
                  <a:pt x="56647" y="293189"/>
                  <a:pt x="45035" y="296092"/>
                </a:cubicBezTo>
                <a:cubicBezTo>
                  <a:pt x="50841" y="301898"/>
                  <a:pt x="56042" y="308380"/>
                  <a:pt x="62453" y="313509"/>
                </a:cubicBezTo>
                <a:cubicBezTo>
                  <a:pt x="70626" y="320047"/>
                  <a:pt x="82040" y="322753"/>
                  <a:pt x="88578" y="330926"/>
                </a:cubicBezTo>
                <a:cubicBezTo>
                  <a:pt x="94313" y="338094"/>
                  <a:pt x="94384" y="348343"/>
                  <a:pt x="97287" y="357052"/>
                </a:cubicBezTo>
                <a:cubicBezTo>
                  <a:pt x="94384" y="383178"/>
                  <a:pt x="96891" y="410491"/>
                  <a:pt x="88578" y="435429"/>
                </a:cubicBezTo>
                <a:cubicBezTo>
                  <a:pt x="81958" y="455287"/>
                  <a:pt x="60364" y="467822"/>
                  <a:pt x="53744" y="487680"/>
                </a:cubicBezTo>
                <a:lnTo>
                  <a:pt x="45035" y="513806"/>
                </a:lnTo>
                <a:cubicBezTo>
                  <a:pt x="47938" y="522515"/>
                  <a:pt x="48236" y="532588"/>
                  <a:pt x="53744" y="539932"/>
                </a:cubicBezTo>
                <a:cubicBezTo>
                  <a:pt x="66060" y="556353"/>
                  <a:pt x="85901" y="566396"/>
                  <a:pt x="97287" y="583475"/>
                </a:cubicBezTo>
                <a:lnTo>
                  <a:pt x="114704" y="609600"/>
                </a:lnTo>
                <a:cubicBezTo>
                  <a:pt x="111801" y="618309"/>
                  <a:pt x="110453" y="627701"/>
                  <a:pt x="105995" y="635726"/>
                </a:cubicBezTo>
                <a:cubicBezTo>
                  <a:pt x="95829" y="654024"/>
                  <a:pt x="71161" y="687977"/>
                  <a:pt x="71161" y="687977"/>
                </a:cubicBezTo>
                <a:cubicBezTo>
                  <a:pt x="74064" y="705394"/>
                  <a:pt x="75587" y="723099"/>
                  <a:pt x="79870" y="740229"/>
                </a:cubicBezTo>
                <a:cubicBezTo>
                  <a:pt x="84323" y="758040"/>
                  <a:pt x="97287" y="792480"/>
                  <a:pt x="97287" y="792480"/>
                </a:cubicBezTo>
                <a:cubicBezTo>
                  <a:pt x="95270" y="778359"/>
                  <a:pt x="88667" y="717214"/>
                  <a:pt x="79870" y="696686"/>
                </a:cubicBezTo>
                <a:cubicBezTo>
                  <a:pt x="75747" y="687066"/>
                  <a:pt x="52236" y="672830"/>
                  <a:pt x="62453" y="670560"/>
                </a:cubicBezTo>
                <a:cubicBezTo>
                  <a:pt x="93753" y="663605"/>
                  <a:pt x="126316" y="676366"/>
                  <a:pt x="158247" y="679269"/>
                </a:cubicBezTo>
                <a:cubicBezTo>
                  <a:pt x="88578" y="725714"/>
                  <a:pt x="172761" y="664755"/>
                  <a:pt x="114704" y="722812"/>
                </a:cubicBezTo>
                <a:cubicBezTo>
                  <a:pt x="107303" y="730213"/>
                  <a:pt x="97287" y="734423"/>
                  <a:pt x="88578" y="740229"/>
                </a:cubicBezTo>
                <a:cubicBezTo>
                  <a:pt x="82772" y="748938"/>
                  <a:pt x="75842" y="756993"/>
                  <a:pt x="71161" y="766355"/>
                </a:cubicBezTo>
                <a:cubicBezTo>
                  <a:pt x="67056" y="774565"/>
                  <a:pt x="62453" y="792480"/>
                  <a:pt x="62453" y="792480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Black" pitchFamily="34" charset="0"/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xmlns="" id="{F351CEF8-12E1-4E4D-B2A2-9F86C72CCC98}"/>
              </a:ext>
            </a:extLst>
          </p:cNvPr>
          <p:cNvSpPr/>
          <p:nvPr/>
        </p:nvSpPr>
        <p:spPr bwMode="auto">
          <a:xfrm>
            <a:off x="7085773" y="5456254"/>
            <a:ext cx="1765500" cy="397508"/>
          </a:xfrm>
          <a:prstGeom prst="wedgeRectCallout">
            <a:avLst>
              <a:gd name="adj1" fmla="val -65176"/>
              <a:gd name="adj2" fmla="val 4035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1" u="none" strike="noStrike" cap="none" normalizeH="0" baseline="0" dirty="0">
                <a:ln>
                  <a:noFill/>
                </a:ln>
                <a:solidFill>
                  <a:schemeClr val="tx1">
                    <a:lumMod val="90000"/>
                  </a:schemeClr>
                </a:solidFill>
                <a:effectLst/>
                <a:latin typeface="Arial Black" pitchFamily="34" charset="0"/>
              </a:rPr>
              <a:t>Settling of mud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BCC898A-7536-42EC-8729-1DF109796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46683"/>
            <a:ext cx="8856984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GB" altLang="en-US" sz="2500" b="1" dirty="0">
                <a:latin typeface="+mj-lt"/>
              </a:rPr>
              <a:t>2.     They form coarsening-upward successions</a:t>
            </a:r>
          </a:p>
          <a:p>
            <a:pPr>
              <a:spcBef>
                <a:spcPct val="0"/>
              </a:spcBef>
              <a:buNone/>
            </a:pPr>
            <a:r>
              <a:rPr lang="en-GB" altLang="en-US" sz="2500" b="1" dirty="0">
                <a:latin typeface="+mj-lt"/>
              </a:rPr>
              <a:t>	</a:t>
            </a:r>
            <a:r>
              <a:rPr lang="en-GB" altLang="en-US" sz="2500" dirty="0">
                <a:latin typeface="+mj-lt"/>
                <a:sym typeface="Wingdings" panose="05000000000000000000" pitchFamily="2" charset="2"/>
              </a:rPr>
              <a:t> because coarse bedload is deposited rapidly at the 	mouth bar, and</a:t>
            </a:r>
          </a:p>
          <a:p>
            <a:pPr>
              <a:spcBef>
                <a:spcPct val="0"/>
              </a:spcBef>
              <a:buNone/>
            </a:pPr>
            <a:r>
              <a:rPr lang="en-GB" altLang="en-US" sz="2500" dirty="0">
                <a:latin typeface="+mj-lt"/>
                <a:sym typeface="Wingdings" panose="05000000000000000000" pitchFamily="2" charset="2"/>
              </a:rPr>
              <a:t>	finer suspended load is carried further offshore.</a:t>
            </a:r>
            <a:endParaRPr lang="en-GB" altLang="en-US" sz="2500" dirty="0"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7C68C286-39E8-495D-9546-F8D6459B8FE4}"/>
              </a:ext>
            </a:extLst>
          </p:cNvPr>
          <p:cNvGrpSpPr/>
          <p:nvPr/>
        </p:nvGrpSpPr>
        <p:grpSpPr>
          <a:xfrm>
            <a:off x="3851920" y="4345155"/>
            <a:ext cx="209550" cy="334800"/>
            <a:chOff x="342900" y="2989425"/>
            <a:chExt cx="209550" cy="3348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723824C5-3991-4B82-9B3D-54C662BDB17A}"/>
                </a:ext>
              </a:extLst>
            </p:cNvPr>
            <p:cNvSpPr/>
            <p:nvPr/>
          </p:nvSpPr>
          <p:spPr>
            <a:xfrm>
              <a:off x="342900" y="2989425"/>
              <a:ext cx="209550" cy="287175"/>
            </a:xfrm>
            <a:custGeom>
              <a:avLst/>
              <a:gdLst>
                <a:gd name="connsiteX0" fmla="*/ 0 w 209550"/>
                <a:gd name="connsiteY0" fmla="*/ 125250 h 287175"/>
                <a:gd name="connsiteX1" fmla="*/ 9525 w 209550"/>
                <a:gd name="connsiteY1" fmla="*/ 30000 h 287175"/>
                <a:gd name="connsiteX2" fmla="*/ 28575 w 209550"/>
                <a:gd name="connsiteY2" fmla="*/ 1425 h 287175"/>
                <a:gd name="connsiteX3" fmla="*/ 152400 w 209550"/>
                <a:gd name="connsiteY3" fmla="*/ 10950 h 287175"/>
                <a:gd name="connsiteX4" fmla="*/ 161925 w 209550"/>
                <a:gd name="connsiteY4" fmla="*/ 39525 h 287175"/>
                <a:gd name="connsiteX5" fmla="*/ 190500 w 209550"/>
                <a:gd name="connsiteY5" fmla="*/ 58575 h 287175"/>
                <a:gd name="connsiteX6" fmla="*/ 209550 w 209550"/>
                <a:gd name="connsiteY6" fmla="*/ 115725 h 287175"/>
                <a:gd name="connsiteX7" fmla="*/ 161925 w 209550"/>
                <a:gd name="connsiteY7" fmla="*/ 230025 h 287175"/>
                <a:gd name="connsiteX8" fmla="*/ 142875 w 209550"/>
                <a:gd name="connsiteY8" fmla="*/ 258600 h 287175"/>
                <a:gd name="connsiteX9" fmla="*/ 104775 w 209550"/>
                <a:gd name="connsiteY9" fmla="*/ 287175 h 28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7175">
                  <a:moveTo>
                    <a:pt x="0" y="125250"/>
                  </a:moveTo>
                  <a:cubicBezTo>
                    <a:pt x="3175" y="93500"/>
                    <a:pt x="2350" y="61091"/>
                    <a:pt x="9525" y="30000"/>
                  </a:cubicBezTo>
                  <a:cubicBezTo>
                    <a:pt x="12099" y="18846"/>
                    <a:pt x="17228" y="2938"/>
                    <a:pt x="28575" y="1425"/>
                  </a:cubicBezTo>
                  <a:cubicBezTo>
                    <a:pt x="69609" y="-4046"/>
                    <a:pt x="111125" y="7775"/>
                    <a:pt x="152400" y="10950"/>
                  </a:cubicBezTo>
                  <a:cubicBezTo>
                    <a:pt x="155575" y="20475"/>
                    <a:pt x="155653" y="31685"/>
                    <a:pt x="161925" y="39525"/>
                  </a:cubicBezTo>
                  <a:cubicBezTo>
                    <a:pt x="169076" y="48464"/>
                    <a:pt x="184433" y="48867"/>
                    <a:pt x="190500" y="58575"/>
                  </a:cubicBezTo>
                  <a:cubicBezTo>
                    <a:pt x="201143" y="75603"/>
                    <a:pt x="209550" y="115725"/>
                    <a:pt x="209550" y="115725"/>
                  </a:cubicBezTo>
                  <a:cubicBezTo>
                    <a:pt x="196261" y="195459"/>
                    <a:pt x="210738" y="156806"/>
                    <a:pt x="161925" y="230025"/>
                  </a:cubicBezTo>
                  <a:cubicBezTo>
                    <a:pt x="155575" y="239550"/>
                    <a:pt x="153735" y="254980"/>
                    <a:pt x="142875" y="258600"/>
                  </a:cubicBezTo>
                  <a:cubicBezTo>
                    <a:pt x="107565" y="270370"/>
                    <a:pt x="118790" y="259145"/>
                    <a:pt x="104775" y="28717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7378C246-8DB2-4485-97A2-7E520ED3605D}"/>
                </a:ext>
              </a:extLst>
            </p:cNvPr>
            <p:cNvSpPr/>
            <p:nvPr/>
          </p:nvSpPr>
          <p:spPr>
            <a:xfrm>
              <a:off x="424866" y="3171825"/>
              <a:ext cx="118059" cy="152400"/>
            </a:xfrm>
            <a:custGeom>
              <a:avLst/>
              <a:gdLst>
                <a:gd name="connsiteX0" fmla="*/ 41859 w 118059"/>
                <a:gd name="connsiteY0" fmla="*/ 0 h 152400"/>
                <a:gd name="connsiteX1" fmla="*/ 13284 w 118059"/>
                <a:gd name="connsiteY1" fmla="*/ 47625 h 152400"/>
                <a:gd name="connsiteX2" fmla="*/ 3759 w 118059"/>
                <a:gd name="connsiteY2" fmla="*/ 114300 h 152400"/>
                <a:gd name="connsiteX3" fmla="*/ 51384 w 118059"/>
                <a:gd name="connsiteY3" fmla="*/ 123825 h 152400"/>
                <a:gd name="connsiteX4" fmla="*/ 118059 w 118059"/>
                <a:gd name="connsiteY4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59" h="152400">
                  <a:moveTo>
                    <a:pt x="41859" y="0"/>
                  </a:moveTo>
                  <a:cubicBezTo>
                    <a:pt x="32334" y="15875"/>
                    <a:pt x="19138" y="30062"/>
                    <a:pt x="13284" y="47625"/>
                  </a:cubicBezTo>
                  <a:cubicBezTo>
                    <a:pt x="6184" y="68924"/>
                    <a:pt x="-6281" y="94220"/>
                    <a:pt x="3759" y="114300"/>
                  </a:cubicBezTo>
                  <a:cubicBezTo>
                    <a:pt x="10999" y="128780"/>
                    <a:pt x="35765" y="119565"/>
                    <a:pt x="51384" y="123825"/>
                  </a:cubicBezTo>
                  <a:cubicBezTo>
                    <a:pt x="107676" y="139177"/>
                    <a:pt x="95479" y="129820"/>
                    <a:pt x="118059" y="1524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7FDA8C48-71CF-4679-91AE-A05E801E5825}"/>
              </a:ext>
            </a:extLst>
          </p:cNvPr>
          <p:cNvGrpSpPr/>
          <p:nvPr/>
        </p:nvGrpSpPr>
        <p:grpSpPr>
          <a:xfrm rot="3795507">
            <a:off x="4225777" y="4651682"/>
            <a:ext cx="209550" cy="334800"/>
            <a:chOff x="342900" y="2989425"/>
            <a:chExt cx="209550" cy="3348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81A8006F-DBFD-43B5-A607-A56850CF0DD0}"/>
                </a:ext>
              </a:extLst>
            </p:cNvPr>
            <p:cNvSpPr/>
            <p:nvPr/>
          </p:nvSpPr>
          <p:spPr>
            <a:xfrm>
              <a:off x="342900" y="2989425"/>
              <a:ext cx="209550" cy="287175"/>
            </a:xfrm>
            <a:custGeom>
              <a:avLst/>
              <a:gdLst>
                <a:gd name="connsiteX0" fmla="*/ 0 w 209550"/>
                <a:gd name="connsiteY0" fmla="*/ 125250 h 287175"/>
                <a:gd name="connsiteX1" fmla="*/ 9525 w 209550"/>
                <a:gd name="connsiteY1" fmla="*/ 30000 h 287175"/>
                <a:gd name="connsiteX2" fmla="*/ 28575 w 209550"/>
                <a:gd name="connsiteY2" fmla="*/ 1425 h 287175"/>
                <a:gd name="connsiteX3" fmla="*/ 152400 w 209550"/>
                <a:gd name="connsiteY3" fmla="*/ 10950 h 287175"/>
                <a:gd name="connsiteX4" fmla="*/ 161925 w 209550"/>
                <a:gd name="connsiteY4" fmla="*/ 39525 h 287175"/>
                <a:gd name="connsiteX5" fmla="*/ 190500 w 209550"/>
                <a:gd name="connsiteY5" fmla="*/ 58575 h 287175"/>
                <a:gd name="connsiteX6" fmla="*/ 209550 w 209550"/>
                <a:gd name="connsiteY6" fmla="*/ 115725 h 287175"/>
                <a:gd name="connsiteX7" fmla="*/ 161925 w 209550"/>
                <a:gd name="connsiteY7" fmla="*/ 230025 h 287175"/>
                <a:gd name="connsiteX8" fmla="*/ 142875 w 209550"/>
                <a:gd name="connsiteY8" fmla="*/ 258600 h 287175"/>
                <a:gd name="connsiteX9" fmla="*/ 104775 w 209550"/>
                <a:gd name="connsiteY9" fmla="*/ 287175 h 28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7175">
                  <a:moveTo>
                    <a:pt x="0" y="125250"/>
                  </a:moveTo>
                  <a:cubicBezTo>
                    <a:pt x="3175" y="93500"/>
                    <a:pt x="2350" y="61091"/>
                    <a:pt x="9525" y="30000"/>
                  </a:cubicBezTo>
                  <a:cubicBezTo>
                    <a:pt x="12099" y="18846"/>
                    <a:pt x="17228" y="2938"/>
                    <a:pt x="28575" y="1425"/>
                  </a:cubicBezTo>
                  <a:cubicBezTo>
                    <a:pt x="69609" y="-4046"/>
                    <a:pt x="111125" y="7775"/>
                    <a:pt x="152400" y="10950"/>
                  </a:cubicBezTo>
                  <a:cubicBezTo>
                    <a:pt x="155575" y="20475"/>
                    <a:pt x="155653" y="31685"/>
                    <a:pt x="161925" y="39525"/>
                  </a:cubicBezTo>
                  <a:cubicBezTo>
                    <a:pt x="169076" y="48464"/>
                    <a:pt x="184433" y="48867"/>
                    <a:pt x="190500" y="58575"/>
                  </a:cubicBezTo>
                  <a:cubicBezTo>
                    <a:pt x="201143" y="75603"/>
                    <a:pt x="209550" y="115725"/>
                    <a:pt x="209550" y="115725"/>
                  </a:cubicBezTo>
                  <a:cubicBezTo>
                    <a:pt x="196261" y="195459"/>
                    <a:pt x="210738" y="156806"/>
                    <a:pt x="161925" y="230025"/>
                  </a:cubicBezTo>
                  <a:cubicBezTo>
                    <a:pt x="155575" y="239550"/>
                    <a:pt x="153735" y="254980"/>
                    <a:pt x="142875" y="258600"/>
                  </a:cubicBezTo>
                  <a:cubicBezTo>
                    <a:pt x="107565" y="270370"/>
                    <a:pt x="118790" y="259145"/>
                    <a:pt x="104775" y="28717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xmlns="" id="{C1CADD54-5BFD-4CD2-85D4-F4C3B4231E1F}"/>
                </a:ext>
              </a:extLst>
            </p:cNvPr>
            <p:cNvSpPr/>
            <p:nvPr/>
          </p:nvSpPr>
          <p:spPr>
            <a:xfrm>
              <a:off x="424866" y="3171825"/>
              <a:ext cx="118059" cy="152400"/>
            </a:xfrm>
            <a:custGeom>
              <a:avLst/>
              <a:gdLst>
                <a:gd name="connsiteX0" fmla="*/ 41859 w 118059"/>
                <a:gd name="connsiteY0" fmla="*/ 0 h 152400"/>
                <a:gd name="connsiteX1" fmla="*/ 13284 w 118059"/>
                <a:gd name="connsiteY1" fmla="*/ 47625 h 152400"/>
                <a:gd name="connsiteX2" fmla="*/ 3759 w 118059"/>
                <a:gd name="connsiteY2" fmla="*/ 114300 h 152400"/>
                <a:gd name="connsiteX3" fmla="*/ 51384 w 118059"/>
                <a:gd name="connsiteY3" fmla="*/ 123825 h 152400"/>
                <a:gd name="connsiteX4" fmla="*/ 118059 w 118059"/>
                <a:gd name="connsiteY4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59" h="152400">
                  <a:moveTo>
                    <a:pt x="41859" y="0"/>
                  </a:moveTo>
                  <a:cubicBezTo>
                    <a:pt x="32334" y="15875"/>
                    <a:pt x="19138" y="30062"/>
                    <a:pt x="13284" y="47625"/>
                  </a:cubicBezTo>
                  <a:cubicBezTo>
                    <a:pt x="6184" y="68924"/>
                    <a:pt x="-6281" y="94220"/>
                    <a:pt x="3759" y="114300"/>
                  </a:cubicBezTo>
                  <a:cubicBezTo>
                    <a:pt x="10999" y="128780"/>
                    <a:pt x="35765" y="119565"/>
                    <a:pt x="51384" y="123825"/>
                  </a:cubicBezTo>
                  <a:cubicBezTo>
                    <a:pt x="107676" y="139177"/>
                    <a:pt x="95479" y="129820"/>
                    <a:pt x="118059" y="1524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03E0F77C-2022-4B3D-8CF2-83E23C648918}"/>
              </a:ext>
            </a:extLst>
          </p:cNvPr>
          <p:cNvGrpSpPr/>
          <p:nvPr/>
        </p:nvGrpSpPr>
        <p:grpSpPr>
          <a:xfrm rot="7527850">
            <a:off x="4750715" y="4366734"/>
            <a:ext cx="209550" cy="334800"/>
            <a:chOff x="342900" y="2989425"/>
            <a:chExt cx="209550" cy="3348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xmlns="" id="{F88821B2-A47F-4D9F-BF7E-7853B3703FA6}"/>
                </a:ext>
              </a:extLst>
            </p:cNvPr>
            <p:cNvSpPr/>
            <p:nvPr/>
          </p:nvSpPr>
          <p:spPr>
            <a:xfrm>
              <a:off x="342900" y="2989425"/>
              <a:ext cx="209550" cy="287175"/>
            </a:xfrm>
            <a:custGeom>
              <a:avLst/>
              <a:gdLst>
                <a:gd name="connsiteX0" fmla="*/ 0 w 209550"/>
                <a:gd name="connsiteY0" fmla="*/ 125250 h 287175"/>
                <a:gd name="connsiteX1" fmla="*/ 9525 w 209550"/>
                <a:gd name="connsiteY1" fmla="*/ 30000 h 287175"/>
                <a:gd name="connsiteX2" fmla="*/ 28575 w 209550"/>
                <a:gd name="connsiteY2" fmla="*/ 1425 h 287175"/>
                <a:gd name="connsiteX3" fmla="*/ 152400 w 209550"/>
                <a:gd name="connsiteY3" fmla="*/ 10950 h 287175"/>
                <a:gd name="connsiteX4" fmla="*/ 161925 w 209550"/>
                <a:gd name="connsiteY4" fmla="*/ 39525 h 287175"/>
                <a:gd name="connsiteX5" fmla="*/ 190500 w 209550"/>
                <a:gd name="connsiteY5" fmla="*/ 58575 h 287175"/>
                <a:gd name="connsiteX6" fmla="*/ 209550 w 209550"/>
                <a:gd name="connsiteY6" fmla="*/ 115725 h 287175"/>
                <a:gd name="connsiteX7" fmla="*/ 161925 w 209550"/>
                <a:gd name="connsiteY7" fmla="*/ 230025 h 287175"/>
                <a:gd name="connsiteX8" fmla="*/ 142875 w 209550"/>
                <a:gd name="connsiteY8" fmla="*/ 258600 h 287175"/>
                <a:gd name="connsiteX9" fmla="*/ 104775 w 209550"/>
                <a:gd name="connsiteY9" fmla="*/ 287175 h 28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7175">
                  <a:moveTo>
                    <a:pt x="0" y="125250"/>
                  </a:moveTo>
                  <a:cubicBezTo>
                    <a:pt x="3175" y="93500"/>
                    <a:pt x="2350" y="61091"/>
                    <a:pt x="9525" y="30000"/>
                  </a:cubicBezTo>
                  <a:cubicBezTo>
                    <a:pt x="12099" y="18846"/>
                    <a:pt x="17228" y="2938"/>
                    <a:pt x="28575" y="1425"/>
                  </a:cubicBezTo>
                  <a:cubicBezTo>
                    <a:pt x="69609" y="-4046"/>
                    <a:pt x="111125" y="7775"/>
                    <a:pt x="152400" y="10950"/>
                  </a:cubicBezTo>
                  <a:cubicBezTo>
                    <a:pt x="155575" y="20475"/>
                    <a:pt x="155653" y="31685"/>
                    <a:pt x="161925" y="39525"/>
                  </a:cubicBezTo>
                  <a:cubicBezTo>
                    <a:pt x="169076" y="48464"/>
                    <a:pt x="184433" y="48867"/>
                    <a:pt x="190500" y="58575"/>
                  </a:cubicBezTo>
                  <a:cubicBezTo>
                    <a:pt x="201143" y="75603"/>
                    <a:pt x="209550" y="115725"/>
                    <a:pt x="209550" y="115725"/>
                  </a:cubicBezTo>
                  <a:cubicBezTo>
                    <a:pt x="196261" y="195459"/>
                    <a:pt x="210738" y="156806"/>
                    <a:pt x="161925" y="230025"/>
                  </a:cubicBezTo>
                  <a:cubicBezTo>
                    <a:pt x="155575" y="239550"/>
                    <a:pt x="153735" y="254980"/>
                    <a:pt x="142875" y="258600"/>
                  </a:cubicBezTo>
                  <a:cubicBezTo>
                    <a:pt x="107565" y="270370"/>
                    <a:pt x="118790" y="259145"/>
                    <a:pt x="104775" y="28717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xmlns="" id="{42FB9730-21CB-4181-B1D5-E3AECC881B8F}"/>
                </a:ext>
              </a:extLst>
            </p:cNvPr>
            <p:cNvSpPr/>
            <p:nvPr/>
          </p:nvSpPr>
          <p:spPr>
            <a:xfrm>
              <a:off x="424866" y="3171825"/>
              <a:ext cx="118059" cy="152400"/>
            </a:xfrm>
            <a:custGeom>
              <a:avLst/>
              <a:gdLst>
                <a:gd name="connsiteX0" fmla="*/ 41859 w 118059"/>
                <a:gd name="connsiteY0" fmla="*/ 0 h 152400"/>
                <a:gd name="connsiteX1" fmla="*/ 13284 w 118059"/>
                <a:gd name="connsiteY1" fmla="*/ 47625 h 152400"/>
                <a:gd name="connsiteX2" fmla="*/ 3759 w 118059"/>
                <a:gd name="connsiteY2" fmla="*/ 114300 h 152400"/>
                <a:gd name="connsiteX3" fmla="*/ 51384 w 118059"/>
                <a:gd name="connsiteY3" fmla="*/ 123825 h 152400"/>
                <a:gd name="connsiteX4" fmla="*/ 118059 w 118059"/>
                <a:gd name="connsiteY4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59" h="152400">
                  <a:moveTo>
                    <a:pt x="41859" y="0"/>
                  </a:moveTo>
                  <a:cubicBezTo>
                    <a:pt x="32334" y="15875"/>
                    <a:pt x="19138" y="30062"/>
                    <a:pt x="13284" y="47625"/>
                  </a:cubicBezTo>
                  <a:cubicBezTo>
                    <a:pt x="6184" y="68924"/>
                    <a:pt x="-6281" y="94220"/>
                    <a:pt x="3759" y="114300"/>
                  </a:cubicBezTo>
                  <a:cubicBezTo>
                    <a:pt x="10999" y="128780"/>
                    <a:pt x="35765" y="119565"/>
                    <a:pt x="51384" y="123825"/>
                  </a:cubicBezTo>
                  <a:cubicBezTo>
                    <a:pt x="107676" y="139177"/>
                    <a:pt x="95479" y="129820"/>
                    <a:pt x="118059" y="1524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1F2027E1-CDFA-4A2A-BA5B-9A74264FF465}"/>
              </a:ext>
            </a:extLst>
          </p:cNvPr>
          <p:cNvGrpSpPr/>
          <p:nvPr/>
        </p:nvGrpSpPr>
        <p:grpSpPr>
          <a:xfrm rot="7527850">
            <a:off x="5401509" y="4880769"/>
            <a:ext cx="209550" cy="334800"/>
            <a:chOff x="342900" y="2989425"/>
            <a:chExt cx="209550" cy="334800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B361EBF7-01C7-45E9-B1B8-D9B96B5A9924}"/>
                </a:ext>
              </a:extLst>
            </p:cNvPr>
            <p:cNvSpPr/>
            <p:nvPr/>
          </p:nvSpPr>
          <p:spPr>
            <a:xfrm>
              <a:off x="342900" y="2989425"/>
              <a:ext cx="209550" cy="287175"/>
            </a:xfrm>
            <a:custGeom>
              <a:avLst/>
              <a:gdLst>
                <a:gd name="connsiteX0" fmla="*/ 0 w 209550"/>
                <a:gd name="connsiteY0" fmla="*/ 125250 h 287175"/>
                <a:gd name="connsiteX1" fmla="*/ 9525 w 209550"/>
                <a:gd name="connsiteY1" fmla="*/ 30000 h 287175"/>
                <a:gd name="connsiteX2" fmla="*/ 28575 w 209550"/>
                <a:gd name="connsiteY2" fmla="*/ 1425 h 287175"/>
                <a:gd name="connsiteX3" fmla="*/ 152400 w 209550"/>
                <a:gd name="connsiteY3" fmla="*/ 10950 h 287175"/>
                <a:gd name="connsiteX4" fmla="*/ 161925 w 209550"/>
                <a:gd name="connsiteY4" fmla="*/ 39525 h 287175"/>
                <a:gd name="connsiteX5" fmla="*/ 190500 w 209550"/>
                <a:gd name="connsiteY5" fmla="*/ 58575 h 287175"/>
                <a:gd name="connsiteX6" fmla="*/ 209550 w 209550"/>
                <a:gd name="connsiteY6" fmla="*/ 115725 h 287175"/>
                <a:gd name="connsiteX7" fmla="*/ 161925 w 209550"/>
                <a:gd name="connsiteY7" fmla="*/ 230025 h 287175"/>
                <a:gd name="connsiteX8" fmla="*/ 142875 w 209550"/>
                <a:gd name="connsiteY8" fmla="*/ 258600 h 287175"/>
                <a:gd name="connsiteX9" fmla="*/ 104775 w 209550"/>
                <a:gd name="connsiteY9" fmla="*/ 287175 h 28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7175">
                  <a:moveTo>
                    <a:pt x="0" y="125250"/>
                  </a:moveTo>
                  <a:cubicBezTo>
                    <a:pt x="3175" y="93500"/>
                    <a:pt x="2350" y="61091"/>
                    <a:pt x="9525" y="30000"/>
                  </a:cubicBezTo>
                  <a:cubicBezTo>
                    <a:pt x="12099" y="18846"/>
                    <a:pt x="17228" y="2938"/>
                    <a:pt x="28575" y="1425"/>
                  </a:cubicBezTo>
                  <a:cubicBezTo>
                    <a:pt x="69609" y="-4046"/>
                    <a:pt x="111125" y="7775"/>
                    <a:pt x="152400" y="10950"/>
                  </a:cubicBezTo>
                  <a:cubicBezTo>
                    <a:pt x="155575" y="20475"/>
                    <a:pt x="155653" y="31685"/>
                    <a:pt x="161925" y="39525"/>
                  </a:cubicBezTo>
                  <a:cubicBezTo>
                    <a:pt x="169076" y="48464"/>
                    <a:pt x="184433" y="48867"/>
                    <a:pt x="190500" y="58575"/>
                  </a:cubicBezTo>
                  <a:cubicBezTo>
                    <a:pt x="201143" y="75603"/>
                    <a:pt x="209550" y="115725"/>
                    <a:pt x="209550" y="115725"/>
                  </a:cubicBezTo>
                  <a:cubicBezTo>
                    <a:pt x="196261" y="195459"/>
                    <a:pt x="210738" y="156806"/>
                    <a:pt x="161925" y="230025"/>
                  </a:cubicBezTo>
                  <a:cubicBezTo>
                    <a:pt x="155575" y="239550"/>
                    <a:pt x="153735" y="254980"/>
                    <a:pt x="142875" y="258600"/>
                  </a:cubicBezTo>
                  <a:cubicBezTo>
                    <a:pt x="107565" y="270370"/>
                    <a:pt x="118790" y="259145"/>
                    <a:pt x="104775" y="28717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DB3AA3C3-E60D-4F03-A2CA-F0917B5BB5BD}"/>
                </a:ext>
              </a:extLst>
            </p:cNvPr>
            <p:cNvSpPr/>
            <p:nvPr/>
          </p:nvSpPr>
          <p:spPr>
            <a:xfrm>
              <a:off x="424866" y="3171825"/>
              <a:ext cx="118059" cy="152400"/>
            </a:xfrm>
            <a:custGeom>
              <a:avLst/>
              <a:gdLst>
                <a:gd name="connsiteX0" fmla="*/ 41859 w 118059"/>
                <a:gd name="connsiteY0" fmla="*/ 0 h 152400"/>
                <a:gd name="connsiteX1" fmla="*/ 13284 w 118059"/>
                <a:gd name="connsiteY1" fmla="*/ 47625 h 152400"/>
                <a:gd name="connsiteX2" fmla="*/ 3759 w 118059"/>
                <a:gd name="connsiteY2" fmla="*/ 114300 h 152400"/>
                <a:gd name="connsiteX3" fmla="*/ 51384 w 118059"/>
                <a:gd name="connsiteY3" fmla="*/ 123825 h 152400"/>
                <a:gd name="connsiteX4" fmla="*/ 118059 w 118059"/>
                <a:gd name="connsiteY4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59" h="152400">
                  <a:moveTo>
                    <a:pt x="41859" y="0"/>
                  </a:moveTo>
                  <a:cubicBezTo>
                    <a:pt x="32334" y="15875"/>
                    <a:pt x="19138" y="30062"/>
                    <a:pt x="13284" y="47625"/>
                  </a:cubicBezTo>
                  <a:cubicBezTo>
                    <a:pt x="6184" y="68924"/>
                    <a:pt x="-6281" y="94220"/>
                    <a:pt x="3759" y="114300"/>
                  </a:cubicBezTo>
                  <a:cubicBezTo>
                    <a:pt x="10999" y="128780"/>
                    <a:pt x="35765" y="119565"/>
                    <a:pt x="51384" y="123825"/>
                  </a:cubicBezTo>
                  <a:cubicBezTo>
                    <a:pt x="107676" y="139177"/>
                    <a:pt x="95479" y="129820"/>
                    <a:pt x="118059" y="1524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E6D16330-F9BC-4B51-A3BA-38781EAFD43F}"/>
              </a:ext>
            </a:extLst>
          </p:cNvPr>
          <p:cNvGrpSpPr/>
          <p:nvPr/>
        </p:nvGrpSpPr>
        <p:grpSpPr>
          <a:xfrm rot="2946937">
            <a:off x="5972527" y="4464930"/>
            <a:ext cx="209550" cy="334800"/>
            <a:chOff x="342900" y="2989425"/>
            <a:chExt cx="209550" cy="33480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xmlns="" id="{57940F78-1C4F-492A-AEF6-EFBBFC33E65D}"/>
                </a:ext>
              </a:extLst>
            </p:cNvPr>
            <p:cNvSpPr/>
            <p:nvPr/>
          </p:nvSpPr>
          <p:spPr>
            <a:xfrm>
              <a:off x="342900" y="2989425"/>
              <a:ext cx="209550" cy="287175"/>
            </a:xfrm>
            <a:custGeom>
              <a:avLst/>
              <a:gdLst>
                <a:gd name="connsiteX0" fmla="*/ 0 w 209550"/>
                <a:gd name="connsiteY0" fmla="*/ 125250 h 287175"/>
                <a:gd name="connsiteX1" fmla="*/ 9525 w 209550"/>
                <a:gd name="connsiteY1" fmla="*/ 30000 h 287175"/>
                <a:gd name="connsiteX2" fmla="*/ 28575 w 209550"/>
                <a:gd name="connsiteY2" fmla="*/ 1425 h 287175"/>
                <a:gd name="connsiteX3" fmla="*/ 152400 w 209550"/>
                <a:gd name="connsiteY3" fmla="*/ 10950 h 287175"/>
                <a:gd name="connsiteX4" fmla="*/ 161925 w 209550"/>
                <a:gd name="connsiteY4" fmla="*/ 39525 h 287175"/>
                <a:gd name="connsiteX5" fmla="*/ 190500 w 209550"/>
                <a:gd name="connsiteY5" fmla="*/ 58575 h 287175"/>
                <a:gd name="connsiteX6" fmla="*/ 209550 w 209550"/>
                <a:gd name="connsiteY6" fmla="*/ 115725 h 287175"/>
                <a:gd name="connsiteX7" fmla="*/ 161925 w 209550"/>
                <a:gd name="connsiteY7" fmla="*/ 230025 h 287175"/>
                <a:gd name="connsiteX8" fmla="*/ 142875 w 209550"/>
                <a:gd name="connsiteY8" fmla="*/ 258600 h 287175"/>
                <a:gd name="connsiteX9" fmla="*/ 104775 w 209550"/>
                <a:gd name="connsiteY9" fmla="*/ 287175 h 28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7175">
                  <a:moveTo>
                    <a:pt x="0" y="125250"/>
                  </a:moveTo>
                  <a:cubicBezTo>
                    <a:pt x="3175" y="93500"/>
                    <a:pt x="2350" y="61091"/>
                    <a:pt x="9525" y="30000"/>
                  </a:cubicBezTo>
                  <a:cubicBezTo>
                    <a:pt x="12099" y="18846"/>
                    <a:pt x="17228" y="2938"/>
                    <a:pt x="28575" y="1425"/>
                  </a:cubicBezTo>
                  <a:cubicBezTo>
                    <a:pt x="69609" y="-4046"/>
                    <a:pt x="111125" y="7775"/>
                    <a:pt x="152400" y="10950"/>
                  </a:cubicBezTo>
                  <a:cubicBezTo>
                    <a:pt x="155575" y="20475"/>
                    <a:pt x="155653" y="31685"/>
                    <a:pt x="161925" y="39525"/>
                  </a:cubicBezTo>
                  <a:cubicBezTo>
                    <a:pt x="169076" y="48464"/>
                    <a:pt x="184433" y="48867"/>
                    <a:pt x="190500" y="58575"/>
                  </a:cubicBezTo>
                  <a:cubicBezTo>
                    <a:pt x="201143" y="75603"/>
                    <a:pt x="209550" y="115725"/>
                    <a:pt x="209550" y="115725"/>
                  </a:cubicBezTo>
                  <a:cubicBezTo>
                    <a:pt x="196261" y="195459"/>
                    <a:pt x="210738" y="156806"/>
                    <a:pt x="161925" y="230025"/>
                  </a:cubicBezTo>
                  <a:cubicBezTo>
                    <a:pt x="155575" y="239550"/>
                    <a:pt x="153735" y="254980"/>
                    <a:pt x="142875" y="258600"/>
                  </a:cubicBezTo>
                  <a:cubicBezTo>
                    <a:pt x="107565" y="270370"/>
                    <a:pt x="118790" y="259145"/>
                    <a:pt x="104775" y="28717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800187BB-B243-402F-BA6A-3B7DB602AF6C}"/>
                </a:ext>
              </a:extLst>
            </p:cNvPr>
            <p:cNvSpPr/>
            <p:nvPr/>
          </p:nvSpPr>
          <p:spPr>
            <a:xfrm>
              <a:off x="424866" y="3171825"/>
              <a:ext cx="118059" cy="152400"/>
            </a:xfrm>
            <a:custGeom>
              <a:avLst/>
              <a:gdLst>
                <a:gd name="connsiteX0" fmla="*/ 41859 w 118059"/>
                <a:gd name="connsiteY0" fmla="*/ 0 h 152400"/>
                <a:gd name="connsiteX1" fmla="*/ 13284 w 118059"/>
                <a:gd name="connsiteY1" fmla="*/ 47625 h 152400"/>
                <a:gd name="connsiteX2" fmla="*/ 3759 w 118059"/>
                <a:gd name="connsiteY2" fmla="*/ 114300 h 152400"/>
                <a:gd name="connsiteX3" fmla="*/ 51384 w 118059"/>
                <a:gd name="connsiteY3" fmla="*/ 123825 h 152400"/>
                <a:gd name="connsiteX4" fmla="*/ 118059 w 118059"/>
                <a:gd name="connsiteY4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59" h="152400">
                  <a:moveTo>
                    <a:pt x="41859" y="0"/>
                  </a:moveTo>
                  <a:cubicBezTo>
                    <a:pt x="32334" y="15875"/>
                    <a:pt x="19138" y="30062"/>
                    <a:pt x="13284" y="47625"/>
                  </a:cubicBezTo>
                  <a:cubicBezTo>
                    <a:pt x="6184" y="68924"/>
                    <a:pt x="-6281" y="94220"/>
                    <a:pt x="3759" y="114300"/>
                  </a:cubicBezTo>
                  <a:cubicBezTo>
                    <a:pt x="10999" y="128780"/>
                    <a:pt x="35765" y="119565"/>
                    <a:pt x="51384" y="123825"/>
                  </a:cubicBezTo>
                  <a:cubicBezTo>
                    <a:pt x="107676" y="139177"/>
                    <a:pt x="95479" y="129820"/>
                    <a:pt x="118059" y="1524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xmlns="" id="{57D17171-AB2C-459C-8BD7-EA343F5B6E9D}"/>
              </a:ext>
            </a:extLst>
          </p:cNvPr>
          <p:cNvGrpSpPr/>
          <p:nvPr/>
        </p:nvGrpSpPr>
        <p:grpSpPr>
          <a:xfrm rot="19655645">
            <a:off x="6657815" y="4512554"/>
            <a:ext cx="209550" cy="334800"/>
            <a:chOff x="342900" y="2989425"/>
            <a:chExt cx="209550" cy="3348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xmlns="" id="{2A922F2F-57B4-4798-B6FE-4EA9295D004E}"/>
                </a:ext>
              </a:extLst>
            </p:cNvPr>
            <p:cNvSpPr/>
            <p:nvPr/>
          </p:nvSpPr>
          <p:spPr>
            <a:xfrm>
              <a:off x="342900" y="2989425"/>
              <a:ext cx="209550" cy="287175"/>
            </a:xfrm>
            <a:custGeom>
              <a:avLst/>
              <a:gdLst>
                <a:gd name="connsiteX0" fmla="*/ 0 w 209550"/>
                <a:gd name="connsiteY0" fmla="*/ 125250 h 287175"/>
                <a:gd name="connsiteX1" fmla="*/ 9525 w 209550"/>
                <a:gd name="connsiteY1" fmla="*/ 30000 h 287175"/>
                <a:gd name="connsiteX2" fmla="*/ 28575 w 209550"/>
                <a:gd name="connsiteY2" fmla="*/ 1425 h 287175"/>
                <a:gd name="connsiteX3" fmla="*/ 152400 w 209550"/>
                <a:gd name="connsiteY3" fmla="*/ 10950 h 287175"/>
                <a:gd name="connsiteX4" fmla="*/ 161925 w 209550"/>
                <a:gd name="connsiteY4" fmla="*/ 39525 h 287175"/>
                <a:gd name="connsiteX5" fmla="*/ 190500 w 209550"/>
                <a:gd name="connsiteY5" fmla="*/ 58575 h 287175"/>
                <a:gd name="connsiteX6" fmla="*/ 209550 w 209550"/>
                <a:gd name="connsiteY6" fmla="*/ 115725 h 287175"/>
                <a:gd name="connsiteX7" fmla="*/ 161925 w 209550"/>
                <a:gd name="connsiteY7" fmla="*/ 230025 h 287175"/>
                <a:gd name="connsiteX8" fmla="*/ 142875 w 209550"/>
                <a:gd name="connsiteY8" fmla="*/ 258600 h 287175"/>
                <a:gd name="connsiteX9" fmla="*/ 104775 w 209550"/>
                <a:gd name="connsiteY9" fmla="*/ 287175 h 28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7175">
                  <a:moveTo>
                    <a:pt x="0" y="125250"/>
                  </a:moveTo>
                  <a:cubicBezTo>
                    <a:pt x="3175" y="93500"/>
                    <a:pt x="2350" y="61091"/>
                    <a:pt x="9525" y="30000"/>
                  </a:cubicBezTo>
                  <a:cubicBezTo>
                    <a:pt x="12099" y="18846"/>
                    <a:pt x="17228" y="2938"/>
                    <a:pt x="28575" y="1425"/>
                  </a:cubicBezTo>
                  <a:cubicBezTo>
                    <a:pt x="69609" y="-4046"/>
                    <a:pt x="111125" y="7775"/>
                    <a:pt x="152400" y="10950"/>
                  </a:cubicBezTo>
                  <a:cubicBezTo>
                    <a:pt x="155575" y="20475"/>
                    <a:pt x="155653" y="31685"/>
                    <a:pt x="161925" y="39525"/>
                  </a:cubicBezTo>
                  <a:cubicBezTo>
                    <a:pt x="169076" y="48464"/>
                    <a:pt x="184433" y="48867"/>
                    <a:pt x="190500" y="58575"/>
                  </a:cubicBezTo>
                  <a:cubicBezTo>
                    <a:pt x="201143" y="75603"/>
                    <a:pt x="209550" y="115725"/>
                    <a:pt x="209550" y="115725"/>
                  </a:cubicBezTo>
                  <a:cubicBezTo>
                    <a:pt x="196261" y="195459"/>
                    <a:pt x="210738" y="156806"/>
                    <a:pt x="161925" y="230025"/>
                  </a:cubicBezTo>
                  <a:cubicBezTo>
                    <a:pt x="155575" y="239550"/>
                    <a:pt x="153735" y="254980"/>
                    <a:pt x="142875" y="258600"/>
                  </a:cubicBezTo>
                  <a:cubicBezTo>
                    <a:pt x="107565" y="270370"/>
                    <a:pt x="118790" y="259145"/>
                    <a:pt x="104775" y="28717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xmlns="" id="{800E890C-453B-4CC6-8050-C5399976CA58}"/>
                </a:ext>
              </a:extLst>
            </p:cNvPr>
            <p:cNvSpPr/>
            <p:nvPr/>
          </p:nvSpPr>
          <p:spPr>
            <a:xfrm>
              <a:off x="424866" y="3171825"/>
              <a:ext cx="118059" cy="152400"/>
            </a:xfrm>
            <a:custGeom>
              <a:avLst/>
              <a:gdLst>
                <a:gd name="connsiteX0" fmla="*/ 41859 w 118059"/>
                <a:gd name="connsiteY0" fmla="*/ 0 h 152400"/>
                <a:gd name="connsiteX1" fmla="*/ 13284 w 118059"/>
                <a:gd name="connsiteY1" fmla="*/ 47625 h 152400"/>
                <a:gd name="connsiteX2" fmla="*/ 3759 w 118059"/>
                <a:gd name="connsiteY2" fmla="*/ 114300 h 152400"/>
                <a:gd name="connsiteX3" fmla="*/ 51384 w 118059"/>
                <a:gd name="connsiteY3" fmla="*/ 123825 h 152400"/>
                <a:gd name="connsiteX4" fmla="*/ 118059 w 118059"/>
                <a:gd name="connsiteY4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59" h="152400">
                  <a:moveTo>
                    <a:pt x="41859" y="0"/>
                  </a:moveTo>
                  <a:cubicBezTo>
                    <a:pt x="32334" y="15875"/>
                    <a:pt x="19138" y="30062"/>
                    <a:pt x="13284" y="47625"/>
                  </a:cubicBezTo>
                  <a:cubicBezTo>
                    <a:pt x="6184" y="68924"/>
                    <a:pt x="-6281" y="94220"/>
                    <a:pt x="3759" y="114300"/>
                  </a:cubicBezTo>
                  <a:cubicBezTo>
                    <a:pt x="10999" y="128780"/>
                    <a:pt x="35765" y="119565"/>
                    <a:pt x="51384" y="123825"/>
                  </a:cubicBezTo>
                  <a:cubicBezTo>
                    <a:pt x="107676" y="139177"/>
                    <a:pt x="95479" y="129820"/>
                    <a:pt x="118059" y="1524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6" name="Rectangle 9">
            <a:extLst>
              <a:ext uri="{FF2B5EF4-FFF2-40B4-BE49-F238E27FC236}">
                <a16:creationId xmlns:a16="http://schemas.microsoft.com/office/drawing/2014/main" xmlns="" id="{2AF71908-1462-46F3-A2B7-68470DE7E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4239929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1" name="Picture 2" descr="http://sp.lyellcollection.org/content/vol309/issue1/images/large/1498ch08f01.jpeg">
            <a:extLst>
              <a:ext uri="{FF2B5EF4-FFF2-40B4-BE49-F238E27FC236}">
                <a16:creationId xmlns:a16="http://schemas.microsoft.com/office/drawing/2014/main" xmlns="" id="{F492DA72-6A10-4F79-95C7-D40267EEA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1196752"/>
            <a:ext cx="9030182" cy="3148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3" name="TextBox 4">
            <a:extLst>
              <a:ext uri="{FF2B5EF4-FFF2-40B4-BE49-F238E27FC236}">
                <a16:creationId xmlns:a16="http://schemas.microsoft.com/office/drawing/2014/main" xmlns="" id="{3EC640E3-35D5-4C4D-A4D1-31C7AA53D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72" y="4524258"/>
            <a:ext cx="8554044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GB" altLang="en-US" sz="2500" b="1" dirty="0">
                <a:latin typeface="+mj-lt"/>
              </a:rPr>
              <a:t>Classic delta coarsening-up succession:</a:t>
            </a:r>
          </a:p>
          <a:p>
            <a:pPr>
              <a:spcBef>
                <a:spcPct val="0"/>
              </a:spcBef>
              <a:buNone/>
            </a:pPr>
            <a:r>
              <a:rPr lang="en-GB" altLang="en-US" sz="2500" dirty="0" err="1">
                <a:latin typeface="+mj-lt"/>
              </a:rPr>
              <a:t>prodelta</a:t>
            </a:r>
            <a:r>
              <a:rPr lang="en-GB" altLang="en-US" sz="2500" dirty="0">
                <a:latin typeface="+mj-lt"/>
              </a:rPr>
              <a:t> muds </a:t>
            </a:r>
            <a:r>
              <a:rPr lang="en-GB" altLang="en-US" sz="25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GB" altLang="en-US" sz="2500" dirty="0">
                <a:latin typeface="+mj-lt"/>
              </a:rPr>
              <a:t> mouth bar (delta front) heterolith and sandstone </a:t>
            </a:r>
            <a:r>
              <a:rPr lang="en-GB" altLang="en-US" sz="25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GB" altLang="en-US" sz="2500" dirty="0">
                <a:latin typeface="+mj-lt"/>
              </a:rPr>
              <a:t> channel-based sandstones of the channels feeding the delta</a:t>
            </a:r>
          </a:p>
          <a:p>
            <a:pPr>
              <a:spcBef>
                <a:spcPct val="0"/>
              </a:spcBef>
              <a:buNone/>
            </a:pPr>
            <a:r>
              <a:rPr lang="en-GB" altLang="en-US" sz="2500" dirty="0">
                <a:latin typeface="+mj-lt"/>
              </a:rPr>
              <a:t>(Cretaceous Ferron Sandstone, Utah)</a:t>
            </a:r>
          </a:p>
        </p:txBody>
      </p:sp>
      <p:sp>
        <p:nvSpPr>
          <p:cNvPr id="94214" name="Freeform 1">
            <a:extLst>
              <a:ext uri="{FF2B5EF4-FFF2-40B4-BE49-F238E27FC236}">
                <a16:creationId xmlns:a16="http://schemas.microsoft.com/office/drawing/2014/main" xmlns="" id="{22A01578-AA1F-4A57-93BF-79C38E4B2A79}"/>
              </a:ext>
            </a:extLst>
          </p:cNvPr>
          <p:cNvSpPr>
            <a:spLocks/>
          </p:cNvSpPr>
          <p:nvPr/>
        </p:nvSpPr>
        <p:spPr bwMode="auto">
          <a:xfrm>
            <a:off x="364679" y="1911126"/>
            <a:ext cx="5303108" cy="577654"/>
          </a:xfrm>
          <a:custGeom>
            <a:avLst/>
            <a:gdLst>
              <a:gd name="T0" fmla="*/ 0 w 5915025"/>
              <a:gd name="T1" fmla="*/ 284434 h 490619"/>
              <a:gd name="T2" fmla="*/ 495300 w 5915025"/>
              <a:gd name="T3" fmla="*/ 293903 h 490619"/>
              <a:gd name="T4" fmla="*/ 790575 w 5915025"/>
              <a:gd name="T5" fmla="*/ 331835 h 490619"/>
              <a:gd name="T6" fmla="*/ 1114425 w 5915025"/>
              <a:gd name="T7" fmla="*/ 284434 h 490619"/>
              <a:gd name="T8" fmla="*/ 1571625 w 5915025"/>
              <a:gd name="T9" fmla="*/ 265468 h 490619"/>
              <a:gd name="T10" fmla="*/ 2085975 w 5915025"/>
              <a:gd name="T11" fmla="*/ 331835 h 490619"/>
              <a:gd name="T12" fmla="*/ 2514600 w 5915025"/>
              <a:gd name="T13" fmla="*/ 312869 h 490619"/>
              <a:gd name="T14" fmla="*/ 2943225 w 5915025"/>
              <a:gd name="T15" fmla="*/ 407688 h 490619"/>
              <a:gd name="T16" fmla="*/ 3114675 w 5915025"/>
              <a:gd name="T17" fmla="*/ 436134 h 490619"/>
              <a:gd name="T18" fmla="*/ 3524250 w 5915025"/>
              <a:gd name="T19" fmla="*/ 407688 h 490619"/>
              <a:gd name="T20" fmla="*/ 3743325 w 5915025"/>
              <a:gd name="T21" fmla="*/ 464569 h 490619"/>
              <a:gd name="T22" fmla="*/ 4076700 w 5915025"/>
              <a:gd name="T23" fmla="*/ 483535 h 490619"/>
              <a:gd name="T24" fmla="*/ 4552950 w 5915025"/>
              <a:gd name="T25" fmla="*/ 379236 h 490619"/>
              <a:gd name="T26" fmla="*/ 4886325 w 5915025"/>
              <a:gd name="T27" fmla="*/ 379236 h 490619"/>
              <a:gd name="T28" fmla="*/ 5162550 w 5915025"/>
              <a:gd name="T29" fmla="*/ 265468 h 490619"/>
              <a:gd name="T30" fmla="*/ 5276850 w 5915025"/>
              <a:gd name="T31" fmla="*/ 208581 h 490619"/>
              <a:gd name="T32" fmla="*/ 5534025 w 5915025"/>
              <a:gd name="T33" fmla="*/ 123265 h 490619"/>
              <a:gd name="T34" fmla="*/ 5886450 w 5915025"/>
              <a:gd name="T35" fmla="*/ 9469 h 490619"/>
              <a:gd name="T36" fmla="*/ 5915025 w 5915025"/>
              <a:gd name="T37" fmla="*/ 0 h 490619"/>
              <a:gd name="T38" fmla="*/ 5915025 w 5915025"/>
              <a:gd name="T39" fmla="*/ 0 h 49061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5915025" h="490619">
                <a:moveTo>
                  <a:pt x="0" y="285750"/>
                </a:moveTo>
                <a:cubicBezTo>
                  <a:pt x="181769" y="286544"/>
                  <a:pt x="363538" y="287338"/>
                  <a:pt x="495300" y="295275"/>
                </a:cubicBezTo>
                <a:cubicBezTo>
                  <a:pt x="627063" y="303213"/>
                  <a:pt x="687388" y="334962"/>
                  <a:pt x="790575" y="333375"/>
                </a:cubicBezTo>
                <a:cubicBezTo>
                  <a:pt x="893762" y="331788"/>
                  <a:pt x="984250" y="296862"/>
                  <a:pt x="1114425" y="285750"/>
                </a:cubicBezTo>
                <a:cubicBezTo>
                  <a:pt x="1244600" y="274638"/>
                  <a:pt x="1409700" y="258763"/>
                  <a:pt x="1571625" y="266700"/>
                </a:cubicBezTo>
                <a:cubicBezTo>
                  <a:pt x="1733550" y="274637"/>
                  <a:pt x="1928813" y="325438"/>
                  <a:pt x="2085975" y="333375"/>
                </a:cubicBezTo>
                <a:cubicBezTo>
                  <a:pt x="2243137" y="341312"/>
                  <a:pt x="2371725" y="301625"/>
                  <a:pt x="2514600" y="314325"/>
                </a:cubicBezTo>
                <a:cubicBezTo>
                  <a:pt x="2657475" y="327025"/>
                  <a:pt x="2843213" y="388938"/>
                  <a:pt x="2943225" y="409575"/>
                </a:cubicBezTo>
                <a:cubicBezTo>
                  <a:pt x="3043237" y="430212"/>
                  <a:pt x="3017838" y="438150"/>
                  <a:pt x="3114675" y="438150"/>
                </a:cubicBezTo>
                <a:cubicBezTo>
                  <a:pt x="3211512" y="438150"/>
                  <a:pt x="3419475" y="404812"/>
                  <a:pt x="3524250" y="409575"/>
                </a:cubicBezTo>
                <a:cubicBezTo>
                  <a:pt x="3629025" y="414338"/>
                  <a:pt x="3651250" y="454025"/>
                  <a:pt x="3743325" y="466725"/>
                </a:cubicBezTo>
                <a:cubicBezTo>
                  <a:pt x="3835400" y="479425"/>
                  <a:pt x="3941763" y="500062"/>
                  <a:pt x="4076700" y="485775"/>
                </a:cubicBezTo>
                <a:cubicBezTo>
                  <a:pt x="4211637" y="471488"/>
                  <a:pt x="4418013" y="398462"/>
                  <a:pt x="4552950" y="381000"/>
                </a:cubicBezTo>
                <a:cubicBezTo>
                  <a:pt x="4687887" y="363538"/>
                  <a:pt x="4784725" y="400050"/>
                  <a:pt x="4886325" y="381000"/>
                </a:cubicBezTo>
                <a:cubicBezTo>
                  <a:pt x="4987925" y="361950"/>
                  <a:pt x="5097463" y="295275"/>
                  <a:pt x="5162550" y="266700"/>
                </a:cubicBezTo>
                <a:cubicBezTo>
                  <a:pt x="5227637" y="238125"/>
                  <a:pt x="5214938" y="233362"/>
                  <a:pt x="5276850" y="209550"/>
                </a:cubicBezTo>
                <a:cubicBezTo>
                  <a:pt x="5338762" y="185738"/>
                  <a:pt x="5534025" y="123825"/>
                  <a:pt x="5534025" y="123825"/>
                </a:cubicBezTo>
                <a:lnTo>
                  <a:pt x="5886450" y="9525"/>
                </a:lnTo>
                <a:lnTo>
                  <a:pt x="5915025" y="0"/>
                </a:lnTo>
              </a:path>
            </a:pathLst>
          </a:custGeom>
          <a:noFill/>
          <a:ln w="571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20BCA04-B769-48CD-A716-F255E9E286E6}"/>
              </a:ext>
            </a:extLst>
          </p:cNvPr>
          <p:cNvSpPr txBox="1"/>
          <p:nvPr/>
        </p:nvSpPr>
        <p:spPr>
          <a:xfrm>
            <a:off x="2991321" y="1727989"/>
            <a:ext cx="1549941" cy="59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b="1" i="1" dirty="0">
                <a:solidFill>
                  <a:srgbClr val="002060"/>
                </a:solidFill>
              </a:rPr>
              <a:t>Channel</a:t>
            </a:r>
          </a:p>
          <a:p>
            <a:pPr algn="ctr">
              <a:defRPr/>
            </a:pPr>
            <a:r>
              <a:rPr lang="en-GB" sz="1600" b="1" i="1" dirty="0">
                <a:solidFill>
                  <a:srgbClr val="002060"/>
                </a:solidFill>
              </a:rPr>
              <a:t>(Delta top)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518A527-9F31-41A0-BC5B-15D3FE8A8703}"/>
              </a:ext>
            </a:extLst>
          </p:cNvPr>
          <p:cNvSpPr txBox="1"/>
          <p:nvPr/>
        </p:nvSpPr>
        <p:spPr>
          <a:xfrm>
            <a:off x="386595" y="2401665"/>
            <a:ext cx="2212942" cy="85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b="1" i="1" dirty="0">
                <a:solidFill>
                  <a:srgbClr val="002060"/>
                </a:solidFill>
              </a:rPr>
              <a:t>Mouth bar sandstone </a:t>
            </a:r>
            <a:r>
              <a:rPr lang="en-GB" sz="1600" b="1" i="1" dirty="0" err="1">
                <a:solidFill>
                  <a:srgbClr val="002060"/>
                </a:solidFill>
              </a:rPr>
              <a:t>clinoforms</a:t>
            </a:r>
            <a:endParaRPr lang="en-GB" sz="1600" b="1" i="1" dirty="0">
              <a:solidFill>
                <a:srgbClr val="002060"/>
              </a:solidFill>
            </a:endParaRPr>
          </a:p>
          <a:p>
            <a:pPr algn="ctr">
              <a:defRPr/>
            </a:pPr>
            <a:r>
              <a:rPr lang="en-GB" sz="1600" b="1" i="1" dirty="0">
                <a:solidFill>
                  <a:srgbClr val="002060"/>
                </a:solidFill>
              </a:rPr>
              <a:t>(delta 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EE13E84-FF62-445F-ACD2-DA2BE1B897A3}"/>
              </a:ext>
            </a:extLst>
          </p:cNvPr>
          <p:cNvSpPr txBox="1"/>
          <p:nvPr/>
        </p:nvSpPr>
        <p:spPr>
          <a:xfrm>
            <a:off x="3923507" y="3805438"/>
            <a:ext cx="2338480" cy="34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b="1" i="1" dirty="0" err="1">
                <a:solidFill>
                  <a:srgbClr val="002060"/>
                </a:solidFill>
              </a:rPr>
              <a:t>Prodelta</a:t>
            </a:r>
            <a:r>
              <a:rPr lang="en-GB" sz="1600" b="1" i="1" dirty="0">
                <a:solidFill>
                  <a:srgbClr val="002060"/>
                </a:solidFill>
              </a:rPr>
              <a:t> muds</a:t>
            </a:r>
          </a:p>
        </p:txBody>
      </p:sp>
      <p:cxnSp>
        <p:nvCxnSpPr>
          <p:cNvPr id="94218" name="Straight Arrow Connector 3">
            <a:extLst>
              <a:ext uri="{FF2B5EF4-FFF2-40B4-BE49-F238E27FC236}">
                <a16:creationId xmlns:a16="http://schemas.microsoft.com/office/drawing/2014/main" xmlns="" id="{8576022A-5B75-4D3C-9B35-6BFA2F4A22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0152" y="3984828"/>
            <a:ext cx="456466" cy="39066"/>
          </a:xfrm>
          <a:prstGeom prst="straightConnector1">
            <a:avLst/>
          </a:prstGeom>
          <a:noFill/>
          <a:ln w="38100" algn="ctr">
            <a:solidFill>
              <a:srgbClr val="00206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xmlns="" id="{9F6CCF6E-C65E-4474-801D-E2C7E468B4FA}"/>
              </a:ext>
            </a:extLst>
          </p:cNvPr>
          <p:cNvSpPr/>
          <p:nvPr/>
        </p:nvSpPr>
        <p:spPr>
          <a:xfrm flipV="1">
            <a:off x="8141242" y="2199953"/>
            <a:ext cx="432048" cy="2051129"/>
          </a:xfrm>
          <a:prstGeom prst="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A1BFB6BA-817F-43CD-A771-F62F9A719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154" name="Picture 2">
            <a:extLst>
              <a:ext uri="{FF2B5EF4-FFF2-40B4-BE49-F238E27FC236}">
                <a16:creationId xmlns:a16="http://schemas.microsoft.com/office/drawing/2014/main" xmlns="" id="{5DFB987E-83EB-462A-9D55-D87DF295CE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223" y="1623839"/>
            <a:ext cx="8718649" cy="3433936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E3D2AA5-08EF-4801-87F6-AD38E2DBE39C}"/>
              </a:ext>
            </a:extLst>
          </p:cNvPr>
          <p:cNvSpPr txBox="1"/>
          <p:nvPr/>
        </p:nvSpPr>
        <p:spPr>
          <a:xfrm>
            <a:off x="6228184" y="1146230"/>
            <a:ext cx="26766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https://www.geoexpro.com/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8D30C5E-AE30-45D8-98AE-1375CAD3A8C4}"/>
              </a:ext>
            </a:extLst>
          </p:cNvPr>
          <p:cNvSpPr txBox="1"/>
          <p:nvPr/>
        </p:nvSpPr>
        <p:spPr>
          <a:xfrm>
            <a:off x="221669" y="5447546"/>
            <a:ext cx="85836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1" dirty="0"/>
              <a:t>Eocene (50 ma) delta </a:t>
            </a:r>
            <a:r>
              <a:rPr lang="en-GB" sz="2500" b="1" dirty="0" err="1"/>
              <a:t>prograding</a:t>
            </a:r>
            <a:r>
              <a:rPr lang="en-GB" sz="2500" b="1" dirty="0"/>
              <a:t> to the right (east) in reflection seismic data from ~1.5km under the North Sea seabed. 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xmlns="" id="{09CBFB3D-3B54-4718-8E15-733A8D432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3325732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6E81C13-54FD-41B7-917A-E22E2D9001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0" t="8514" r="49273" b="13789"/>
          <a:stretch/>
        </p:blipFill>
        <p:spPr>
          <a:xfrm>
            <a:off x="3491880" y="1297879"/>
            <a:ext cx="2288976" cy="5083449"/>
          </a:xfrm>
          <a:prstGeom prst="rect">
            <a:avLst/>
          </a:prstGeom>
          <a:ln w="28575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CCA97D8-3B19-4A0C-9627-DF225CEF4D5A}"/>
              </a:ext>
            </a:extLst>
          </p:cNvPr>
          <p:cNvSpPr txBox="1"/>
          <p:nvPr/>
        </p:nvSpPr>
        <p:spPr>
          <a:xfrm>
            <a:off x="93878" y="1218564"/>
            <a:ext cx="32683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>
                    <a:lumMod val="50000"/>
                  </a:schemeClr>
                </a:solidFill>
              </a:rPr>
              <a:t>“Pure” delta shallowing-up delta succession (</a:t>
            </a:r>
            <a:r>
              <a:rPr lang="en-GB" sz="2000" b="1" dirty="0" err="1">
                <a:solidFill>
                  <a:schemeClr val="tx1">
                    <a:lumMod val="50000"/>
                  </a:schemeClr>
                </a:solidFill>
              </a:rPr>
              <a:t>Frewens</a:t>
            </a:r>
            <a:r>
              <a:rPr lang="en-GB" sz="2000" b="1" dirty="0">
                <a:solidFill>
                  <a:schemeClr val="tx1">
                    <a:lumMod val="50000"/>
                  </a:schemeClr>
                </a:solidFill>
              </a:rPr>
              <a:t> Sandstone, Cretaceous, Wyoming).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E800EA3-4E39-4F94-BC44-54B9903F9F6A}"/>
              </a:ext>
            </a:extLst>
          </p:cNvPr>
          <p:cNvSpPr txBox="1"/>
          <p:nvPr/>
        </p:nvSpPr>
        <p:spPr>
          <a:xfrm>
            <a:off x="6040153" y="1005408"/>
            <a:ext cx="2952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err="1"/>
              <a:t>Bhattacharaya</a:t>
            </a:r>
            <a:r>
              <a:rPr lang="en-GB" sz="1400" b="1" dirty="0"/>
              <a:t> (2010): Chapter 10 Deltas, in Facies Models 4, SEPM Special Publication, v. 84, p. 237-292.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98E963D-D93D-4E80-A560-1766BDDFBBB8}"/>
              </a:ext>
            </a:extLst>
          </p:cNvPr>
          <p:cNvSpPr txBox="1"/>
          <p:nvPr/>
        </p:nvSpPr>
        <p:spPr>
          <a:xfrm>
            <a:off x="185404" y="3098283"/>
            <a:ext cx="2669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i="1" dirty="0"/>
              <a:t>Cross bedded ripple cross laminated or massive mouth bar sandstones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xmlns="" id="{8B1EAEE4-F21D-4444-81D0-815C6C29AD55}"/>
              </a:ext>
            </a:extLst>
          </p:cNvPr>
          <p:cNvSpPr/>
          <p:nvPr/>
        </p:nvSpPr>
        <p:spPr bwMode="auto">
          <a:xfrm>
            <a:off x="2994917" y="6026993"/>
            <a:ext cx="331245" cy="354335"/>
          </a:xfrm>
          <a:prstGeom prst="leftBrac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316A21D-CA7B-4CEB-B84B-7FAFC5A77822}"/>
              </a:ext>
            </a:extLst>
          </p:cNvPr>
          <p:cNvSpPr txBox="1"/>
          <p:nvPr/>
        </p:nvSpPr>
        <p:spPr>
          <a:xfrm>
            <a:off x="143169" y="5782183"/>
            <a:ext cx="2466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i="1" dirty="0"/>
              <a:t>Offshore laminated mudstones transported by </a:t>
            </a:r>
            <a:r>
              <a:rPr lang="en-GB" sz="1600" i="1" dirty="0" err="1"/>
              <a:t>hypoycnal</a:t>
            </a:r>
            <a:r>
              <a:rPr lang="en-GB" sz="1600" i="1" dirty="0"/>
              <a:t> plumes.</a:t>
            </a:r>
          </a:p>
        </p:txBody>
      </p:sp>
      <p:pic>
        <p:nvPicPr>
          <p:cNvPr id="9" name="Picture 2" descr="Wave‐influenced deltas: geomorphological implications for facies  reconstruction - Bhattacharya - 2003 - Sedimentology - Wiley Online Library">
            <a:extLst>
              <a:ext uri="{FF2B5EF4-FFF2-40B4-BE49-F238E27FC236}">
                <a16:creationId xmlns:a16="http://schemas.microsoft.com/office/drawing/2014/main" xmlns="" id="{5CBF8BC2-4E23-4E79-ADE6-B6E10F9EC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" t="8209" r="59289" b="45635"/>
          <a:stretch/>
        </p:blipFill>
        <p:spPr bwMode="auto">
          <a:xfrm>
            <a:off x="5940505" y="1934119"/>
            <a:ext cx="3151624" cy="486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xmlns="" id="{AA16D8B7-645D-472C-9CE8-6E9FBEC0E139}"/>
              </a:ext>
            </a:extLst>
          </p:cNvPr>
          <p:cNvCxnSpPr>
            <a:cxnSpLocks/>
          </p:cNvCxnSpPr>
          <p:nvPr/>
        </p:nvCxnSpPr>
        <p:spPr>
          <a:xfrm flipV="1">
            <a:off x="5796136" y="3769694"/>
            <a:ext cx="431695" cy="306218"/>
          </a:xfrm>
          <a:prstGeom prst="bentConnector3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xmlns="" id="{7C3447F2-3DF9-4A2B-B354-CB58EA1D4EC8}"/>
              </a:ext>
            </a:extLst>
          </p:cNvPr>
          <p:cNvCxnSpPr/>
          <p:nvPr/>
        </p:nvCxnSpPr>
        <p:spPr>
          <a:xfrm>
            <a:off x="5780856" y="1556792"/>
            <a:ext cx="375320" cy="5760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xmlns="" id="{764A367D-4FE1-4BD8-A089-043814217A5D}"/>
              </a:ext>
            </a:extLst>
          </p:cNvPr>
          <p:cNvCxnSpPr>
            <a:cxnSpLocks/>
          </p:cNvCxnSpPr>
          <p:nvPr/>
        </p:nvCxnSpPr>
        <p:spPr>
          <a:xfrm flipV="1">
            <a:off x="5796136" y="4842023"/>
            <a:ext cx="444246" cy="125127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Left Brace 96">
            <a:extLst>
              <a:ext uri="{FF2B5EF4-FFF2-40B4-BE49-F238E27FC236}">
                <a16:creationId xmlns:a16="http://schemas.microsoft.com/office/drawing/2014/main" xmlns="" id="{5299CB51-51BD-4DB6-A74F-8428C9CD9D6A}"/>
              </a:ext>
            </a:extLst>
          </p:cNvPr>
          <p:cNvSpPr/>
          <p:nvPr/>
        </p:nvSpPr>
        <p:spPr bwMode="auto">
          <a:xfrm>
            <a:off x="2974372" y="4293097"/>
            <a:ext cx="258212" cy="1528898"/>
          </a:xfrm>
          <a:prstGeom prst="leftBrac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24362EC8-2CDE-4C1F-909B-39AF93BFCC50}"/>
              </a:ext>
            </a:extLst>
          </p:cNvPr>
          <p:cNvSpPr txBox="1"/>
          <p:nvPr/>
        </p:nvSpPr>
        <p:spPr>
          <a:xfrm>
            <a:off x="143169" y="4212523"/>
            <a:ext cx="28012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i="1" dirty="0"/>
              <a:t>Heterolith: laminated mud and ripple cross laminated sandstone: hyperpycnal flows, or expansion of </a:t>
            </a:r>
            <a:r>
              <a:rPr lang="en-GB" sz="1600" i="1" dirty="0" err="1"/>
              <a:t>homopycnal</a:t>
            </a:r>
            <a:r>
              <a:rPr lang="en-GB" sz="1600" i="1" dirty="0"/>
              <a:t> plume (floods) and suspension setting.</a:t>
            </a:r>
          </a:p>
        </p:txBody>
      </p:sp>
      <p:sp>
        <p:nvSpPr>
          <p:cNvPr id="99" name="Left Brace 98">
            <a:extLst>
              <a:ext uri="{FF2B5EF4-FFF2-40B4-BE49-F238E27FC236}">
                <a16:creationId xmlns:a16="http://schemas.microsoft.com/office/drawing/2014/main" xmlns="" id="{BD21C2AB-6459-4F22-AE21-A6D822CD81D6}"/>
              </a:ext>
            </a:extLst>
          </p:cNvPr>
          <p:cNvSpPr/>
          <p:nvPr/>
        </p:nvSpPr>
        <p:spPr bwMode="auto">
          <a:xfrm>
            <a:off x="2984139" y="2683625"/>
            <a:ext cx="258212" cy="1528898"/>
          </a:xfrm>
          <a:prstGeom prst="leftBrac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0" name="Rectangle 9">
            <a:extLst>
              <a:ext uri="{FF2B5EF4-FFF2-40B4-BE49-F238E27FC236}">
                <a16:creationId xmlns:a16="http://schemas.microsoft.com/office/drawing/2014/main" xmlns="" id="{B540C0A2-40A9-46A1-8E83-DDD56B433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2430179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 descr="004-Listric-Fault-Doonlicky-Fm-Foohagh-Point-Co-Clare">
            <a:hlinkClick r:id="rId2"/>
            <a:extLst>
              <a:ext uri="{FF2B5EF4-FFF2-40B4-BE49-F238E27FC236}">
                <a16:creationId xmlns:a16="http://schemas.microsoft.com/office/drawing/2014/main" xmlns="" id="{E4CBA8EE-6E5B-453E-9273-27A708028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9512" y="1162140"/>
            <a:ext cx="7992888" cy="5695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Isosceles Triangle 7">
            <a:extLst>
              <a:ext uri="{FF2B5EF4-FFF2-40B4-BE49-F238E27FC236}">
                <a16:creationId xmlns:a16="http://schemas.microsoft.com/office/drawing/2014/main" xmlns="" id="{8852E180-A38C-489F-9399-F454125A5CB0}"/>
              </a:ext>
            </a:extLst>
          </p:cNvPr>
          <p:cNvSpPr/>
          <p:nvPr/>
        </p:nvSpPr>
        <p:spPr>
          <a:xfrm flipV="1">
            <a:off x="8388424" y="1268759"/>
            <a:ext cx="628203" cy="5328592"/>
          </a:xfrm>
          <a:prstGeom prst="triangle">
            <a:avLst>
              <a:gd name="adj" fmla="val 47795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AA2C9E-BF02-454C-9E6B-42A25C63A972}"/>
              </a:ext>
            </a:extLst>
          </p:cNvPr>
          <p:cNvSpPr txBox="1"/>
          <p:nvPr/>
        </p:nvSpPr>
        <p:spPr>
          <a:xfrm>
            <a:off x="323528" y="6021288"/>
            <a:ext cx="770485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/>
              <a:t>Delta fronts are steep, so gravity processes can occur:</a:t>
            </a:r>
          </a:p>
          <a:p>
            <a:r>
              <a:rPr lang="en-GB" sz="2000" dirty="0" err="1"/>
              <a:t>Listric</a:t>
            </a:r>
            <a:r>
              <a:rPr lang="en-GB" sz="2000" dirty="0"/>
              <a:t> normal faults in the Carboniferous of the Clare Basin, Ireland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799DD46-1550-4A2F-AB29-E89263D24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1">
            <a:extLst>
              <a:ext uri="{FF2B5EF4-FFF2-40B4-BE49-F238E27FC236}">
                <a16:creationId xmlns:a16="http://schemas.microsoft.com/office/drawing/2014/main" xmlns="" id="{1678A164-7564-4BC9-8005-D3D297B0EC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" t="17006" r="1880"/>
          <a:stretch/>
        </p:blipFill>
        <p:spPr bwMode="auto">
          <a:xfrm>
            <a:off x="15652" y="1124744"/>
            <a:ext cx="9006762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2" name="TextBox 3">
            <a:extLst>
              <a:ext uri="{FF2B5EF4-FFF2-40B4-BE49-F238E27FC236}">
                <a16:creationId xmlns:a16="http://schemas.microsoft.com/office/drawing/2014/main" xmlns="" id="{9D3EA20C-439D-4D77-8C40-FE0D25F73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6518944"/>
            <a:ext cx="5761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400" b="1" dirty="0">
                <a:latin typeface="+mj-lt"/>
              </a:rPr>
              <a:t>Fielding (2015) Sedimentology, 62, 1-26.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4AC156E-1CAA-4CA5-B18F-E217E811A40D}"/>
              </a:ext>
            </a:extLst>
          </p:cNvPr>
          <p:cNvSpPr txBox="1"/>
          <p:nvPr/>
        </p:nvSpPr>
        <p:spPr>
          <a:xfrm>
            <a:off x="179512" y="5592137"/>
            <a:ext cx="871296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/>
              <a:t>Listric</a:t>
            </a:r>
            <a:r>
              <a:rPr lang="en-GB" sz="2000" dirty="0"/>
              <a:t> normal faults in delta deposits of the Cretaceous Ferron Sandstone, Utah.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xmlns="" id="{6624F3E6-F2F1-49F0-9FBF-6B79D1C38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70D6971-963E-446B-A7E7-016E911C7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81050" y="1174765"/>
            <a:ext cx="864095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GB" dirty="0">
                <a:latin typeface="+mj-lt"/>
              </a:rPr>
              <a:t>Mouth bar deposition and channel bifurcation results in choking of distributaries, which avulse forming new delta “lobes” at different length and timescales.</a:t>
            </a:r>
          </a:p>
        </p:txBody>
      </p:sp>
      <p:pic>
        <p:nvPicPr>
          <p:cNvPr id="53" name="Picture 2" descr="mississippi lobes detail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420888"/>
            <a:ext cx="3558323" cy="4170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 descr="mississippi llobe switch">
            <a:extLst>
              <a:ext uri="{FF2B5EF4-FFF2-40B4-BE49-F238E27FC236}">
                <a16:creationId xmlns:a16="http://schemas.microsoft.com/office/drawing/2014/main" xmlns="" id="{FA48B889-1205-47FE-A711-2F08C4AB8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6" t="3612" r="4716" b="7677"/>
          <a:stretch>
            <a:fillRect/>
          </a:stretch>
        </p:blipFill>
        <p:spPr bwMode="auto">
          <a:xfrm>
            <a:off x="4070522" y="2507730"/>
            <a:ext cx="4771256" cy="34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4">
            <a:extLst>
              <a:ext uri="{FF2B5EF4-FFF2-40B4-BE49-F238E27FC236}">
                <a16:creationId xmlns:a16="http://schemas.microsoft.com/office/drawing/2014/main" xmlns="" id="{D3873D1E-A7A4-47AA-8557-2B16511C4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0522" y="6286426"/>
            <a:ext cx="28853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400" b="1" dirty="0">
                <a:latin typeface="+mj-lt"/>
              </a:rPr>
              <a:t>Chapter 6 in Reading (ed), 1996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30475BA-CD46-4247-8FCC-D0695DB68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26873284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 descr="http://www.virtual-geology.info/sedshots/images/sdsh0029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986" y="2307833"/>
            <a:ext cx="5904027" cy="442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Isosceles Triangle 19"/>
          <p:cNvSpPr/>
          <p:nvPr/>
        </p:nvSpPr>
        <p:spPr>
          <a:xfrm flipV="1">
            <a:off x="4904732" y="4483476"/>
            <a:ext cx="564945" cy="1501752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5940152" y="2924944"/>
            <a:ext cx="11298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Thin coal</a:t>
            </a:r>
          </a:p>
        </p:txBody>
      </p:sp>
      <p:cxnSp>
        <p:nvCxnSpPr>
          <p:cNvPr id="23" name="Straight Arrow Connector 22"/>
          <p:cNvCxnSpPr>
            <a:stCxn id="22" idx="2"/>
          </p:cNvCxnSpPr>
          <p:nvPr/>
        </p:nvCxnSpPr>
        <p:spPr>
          <a:xfrm flipH="1">
            <a:off x="5940152" y="3294276"/>
            <a:ext cx="564946" cy="56677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</p:cNvCxnSpPr>
          <p:nvPr/>
        </p:nvCxnSpPr>
        <p:spPr>
          <a:xfrm flipH="1">
            <a:off x="6372200" y="3325634"/>
            <a:ext cx="169151" cy="119620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011845" y="2450744"/>
            <a:ext cx="30243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400" b="1" dirty="0"/>
              <a:t>Upper Carboniferous, Amroth, Pembrokeshire.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xmlns="" id="{9C0F1F5B-BD75-44EE-A33D-68F7E4DD2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50" y="1174765"/>
            <a:ext cx="864095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GB" dirty="0">
                <a:latin typeface="+mj-lt"/>
              </a:rPr>
              <a:t>Delta deposits characterised by </a:t>
            </a:r>
            <a:r>
              <a:rPr lang="en-GB" dirty="0" err="1">
                <a:latin typeface="+mj-lt"/>
              </a:rPr>
              <a:t>manye</a:t>
            </a:r>
            <a:r>
              <a:rPr lang="en-GB" dirty="0">
                <a:latin typeface="+mj-lt"/>
              </a:rPr>
              <a:t> “shallowing-up” cycles (vertically and laterally).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dirty="0">
                <a:latin typeface="+mj-lt"/>
              </a:rPr>
              <a:t>Long-term fate of the delta determined by analysis of stacking patterns.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xmlns="" id="{50A7A994-F773-4EB4-BF6A-7C8030064521}"/>
              </a:ext>
            </a:extLst>
          </p:cNvPr>
          <p:cNvSpPr/>
          <p:nvPr/>
        </p:nvSpPr>
        <p:spPr>
          <a:xfrm flipV="1">
            <a:off x="4893142" y="3732851"/>
            <a:ext cx="564945" cy="756122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CFCF7E8-1F01-4326-B556-580FEADE7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37901422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xmlns="" id="{DF412BC9-507B-4489-ABFE-E5A90AEA88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4487" y="2554560"/>
            <a:ext cx="3810000" cy="4114800"/>
          </a:xfrm>
        </p:spPr>
        <p:txBody>
          <a:bodyPr/>
          <a:lstStyle/>
          <a:p>
            <a:endParaRPr lang="en-US" altLang="en-US" sz="2800">
              <a:latin typeface="Arial" panose="020B0604020202020204" pitchFamily="34" charset="0"/>
            </a:endParaRPr>
          </a:p>
          <a:p>
            <a:pPr lvl="1"/>
            <a:endParaRPr lang="en-US" altLang="en-US" sz="2400"/>
          </a:p>
          <a:p>
            <a:pPr lvl="1"/>
            <a:endParaRPr lang="en-US" altLang="en-US" sz="2400"/>
          </a:p>
        </p:txBody>
      </p:sp>
      <p:pic>
        <p:nvPicPr>
          <p:cNvPr id="41987" name="Picture 5" descr="Ferron-I-70-D1-clinoforms.jpg">
            <a:extLst>
              <a:ext uri="{FF2B5EF4-FFF2-40B4-BE49-F238E27FC236}">
                <a16:creationId xmlns:a16="http://schemas.microsoft.com/office/drawing/2014/main" xmlns="" id="{5A8582CD-C9FF-4BAE-AFC6-E24CA6B3C7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130698"/>
            <a:ext cx="7035800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ight Brace 2">
            <a:extLst>
              <a:ext uri="{FF2B5EF4-FFF2-40B4-BE49-F238E27FC236}">
                <a16:creationId xmlns:a16="http://schemas.microsoft.com/office/drawing/2014/main" xmlns="" id="{EC583605-7CFA-4F57-8F71-FDFA76B23115}"/>
              </a:ext>
            </a:extLst>
          </p:cNvPr>
          <p:cNvSpPr>
            <a:spLocks/>
          </p:cNvSpPr>
          <p:nvPr/>
        </p:nvSpPr>
        <p:spPr bwMode="auto">
          <a:xfrm>
            <a:off x="7053387" y="5442223"/>
            <a:ext cx="215900" cy="936625"/>
          </a:xfrm>
          <a:prstGeom prst="rightBrace">
            <a:avLst>
              <a:gd name="adj1" fmla="val 8335"/>
              <a:gd name="adj2" fmla="val 50000"/>
            </a:avLst>
          </a:prstGeom>
          <a:noFill/>
          <a:ln w="381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00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49AE2CB-F602-4193-A170-589A72BF5212}"/>
              </a:ext>
            </a:extLst>
          </p:cNvPr>
          <p:cNvSpPr txBox="1"/>
          <p:nvPr/>
        </p:nvSpPr>
        <p:spPr>
          <a:xfrm>
            <a:off x="7440737" y="5586685"/>
            <a:ext cx="1631950" cy="461963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</p:spPr>
        <p:txBody>
          <a:bodyPr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defRPr/>
            </a:pPr>
            <a:r>
              <a:rPr lang="en-GB" dirty="0"/>
              <a:t>Distal delta front heterolithics</a:t>
            </a:r>
          </a:p>
        </p:txBody>
      </p:sp>
      <p:sp>
        <p:nvSpPr>
          <p:cNvPr id="41990" name="Right Brace 7">
            <a:extLst>
              <a:ext uri="{FF2B5EF4-FFF2-40B4-BE49-F238E27FC236}">
                <a16:creationId xmlns:a16="http://schemas.microsoft.com/office/drawing/2014/main" xmlns="" id="{93C74F55-973B-4946-8ED3-3E6825D3C8B6}"/>
              </a:ext>
            </a:extLst>
          </p:cNvPr>
          <p:cNvSpPr>
            <a:spLocks/>
          </p:cNvSpPr>
          <p:nvPr/>
        </p:nvSpPr>
        <p:spPr bwMode="auto">
          <a:xfrm>
            <a:off x="7097837" y="4367485"/>
            <a:ext cx="215900" cy="936625"/>
          </a:xfrm>
          <a:prstGeom prst="rightBrace">
            <a:avLst>
              <a:gd name="adj1" fmla="val 8335"/>
              <a:gd name="adj2" fmla="val 50000"/>
            </a:avLst>
          </a:prstGeom>
          <a:noFill/>
          <a:ln w="381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000">
              <a:latin typeface="Arial Black" panose="020B0A04020102020204" pitchFamily="34" charset="0"/>
            </a:endParaRPr>
          </a:p>
        </p:txBody>
      </p:sp>
      <p:sp>
        <p:nvSpPr>
          <p:cNvPr id="41991" name="TextBox 8">
            <a:extLst>
              <a:ext uri="{FF2B5EF4-FFF2-40B4-BE49-F238E27FC236}">
                <a16:creationId xmlns:a16="http://schemas.microsoft.com/office/drawing/2014/main" xmlns="" id="{E311D7E1-8777-4DDC-864A-4C6EA043C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250" y="4420298"/>
            <a:ext cx="1631950" cy="83099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Delta front sandstone (mouth bar) with </a:t>
            </a:r>
            <a:r>
              <a:rPr lang="en-GB" altLang="en-US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clinoforms</a:t>
            </a:r>
            <a:endParaRPr lang="en-GB" altLang="en-US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1995" name="Right Brace 12">
            <a:extLst>
              <a:ext uri="{FF2B5EF4-FFF2-40B4-BE49-F238E27FC236}">
                <a16:creationId xmlns:a16="http://schemas.microsoft.com/office/drawing/2014/main" xmlns="" id="{647E9B48-E251-4549-8F04-A7B3D42156C4}"/>
              </a:ext>
            </a:extLst>
          </p:cNvPr>
          <p:cNvSpPr>
            <a:spLocks/>
          </p:cNvSpPr>
          <p:nvPr/>
        </p:nvSpPr>
        <p:spPr bwMode="auto">
          <a:xfrm>
            <a:off x="7113712" y="3357835"/>
            <a:ext cx="206375" cy="936625"/>
          </a:xfrm>
          <a:prstGeom prst="rightBrace">
            <a:avLst>
              <a:gd name="adj1" fmla="val 8278"/>
              <a:gd name="adj2" fmla="val 50000"/>
            </a:avLst>
          </a:prstGeom>
          <a:noFill/>
          <a:ln w="381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000"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1878D8F-7FF4-470C-9198-34FA8353E4F2}"/>
              </a:ext>
            </a:extLst>
          </p:cNvPr>
          <p:cNvSpPr txBox="1"/>
          <p:nvPr/>
        </p:nvSpPr>
        <p:spPr>
          <a:xfrm>
            <a:off x="7453437" y="3594373"/>
            <a:ext cx="1631950" cy="46196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GB" sz="1200" dirty="0"/>
              <a:t>Distal delta front heterolithics</a:t>
            </a:r>
          </a:p>
        </p:txBody>
      </p:sp>
      <p:sp>
        <p:nvSpPr>
          <p:cNvPr id="41997" name="TextBox 14">
            <a:extLst>
              <a:ext uri="{FF2B5EF4-FFF2-40B4-BE49-F238E27FC236}">
                <a16:creationId xmlns:a16="http://schemas.microsoft.com/office/drawing/2014/main" xmlns="" id="{8AB183B8-BC9B-47E4-9368-3BF07942D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437" y="2354535"/>
            <a:ext cx="1631950" cy="10160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>
                <a:solidFill>
                  <a:schemeClr val="bg1"/>
                </a:solidFill>
                <a:latin typeface="Arial Black" panose="020B0A04020102020204" pitchFamily="34" charset="0"/>
              </a:rPr>
              <a:t>Proximal delta front sands (mouth bar) with accretion cross bedding</a:t>
            </a:r>
          </a:p>
        </p:txBody>
      </p:sp>
      <p:sp>
        <p:nvSpPr>
          <p:cNvPr id="41998" name="Right Brace 15">
            <a:extLst>
              <a:ext uri="{FF2B5EF4-FFF2-40B4-BE49-F238E27FC236}">
                <a16:creationId xmlns:a16="http://schemas.microsoft.com/office/drawing/2014/main" xmlns="" id="{C87EF4BA-D510-4B31-9D4F-D0DD5482FC91}"/>
              </a:ext>
            </a:extLst>
          </p:cNvPr>
          <p:cNvSpPr>
            <a:spLocks/>
          </p:cNvSpPr>
          <p:nvPr/>
        </p:nvSpPr>
        <p:spPr bwMode="auto">
          <a:xfrm>
            <a:off x="7097837" y="2586310"/>
            <a:ext cx="182563" cy="744538"/>
          </a:xfrm>
          <a:prstGeom prst="rightBrace">
            <a:avLst>
              <a:gd name="adj1" fmla="val 8345"/>
              <a:gd name="adj2" fmla="val 50000"/>
            </a:avLst>
          </a:prstGeom>
          <a:noFill/>
          <a:ln w="381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000">
              <a:latin typeface="Arial Black" panose="020B0A04020102020204" pitchFamily="34" charset="0"/>
            </a:endParaRPr>
          </a:p>
        </p:txBody>
      </p:sp>
      <p:sp>
        <p:nvSpPr>
          <p:cNvPr id="42001" name="Rectangle 10">
            <a:extLst>
              <a:ext uri="{FF2B5EF4-FFF2-40B4-BE49-F238E27FC236}">
                <a16:creationId xmlns:a16="http://schemas.microsoft.com/office/drawing/2014/main" xmlns="" id="{AB1E278C-E8C6-47E0-A797-8213B0A54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7" y="1281138"/>
            <a:ext cx="5184576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500" b="1" dirty="0">
                <a:latin typeface="+mj-lt"/>
              </a:rPr>
              <a:t>Ferron Sandstone, Cretaceous Utah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99C5249-B355-4726-9D03-EF32B2D9F786}"/>
              </a:ext>
            </a:extLst>
          </p:cNvPr>
          <p:cNvSpPr/>
          <p:nvPr/>
        </p:nvSpPr>
        <p:spPr bwMode="auto">
          <a:xfrm>
            <a:off x="7331200" y="1151210"/>
            <a:ext cx="1670050" cy="57626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GB" sz="1400" i="1" dirty="0"/>
              <a:t>Facies Associations</a:t>
            </a:r>
          </a:p>
        </p:txBody>
      </p:sp>
      <p:sp>
        <p:nvSpPr>
          <p:cNvPr id="42003" name="Down Arrow 16">
            <a:extLst>
              <a:ext uri="{FF2B5EF4-FFF2-40B4-BE49-F238E27FC236}">
                <a16:creationId xmlns:a16="http://schemas.microsoft.com/office/drawing/2014/main" xmlns="" id="{FB48EC28-6126-4C08-8F54-47C7BE3EE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9075" y="1678260"/>
            <a:ext cx="295275" cy="215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2000">
              <a:latin typeface="Arial Black" panose="020B0A04020102020204" pitchFamily="34" charset="0"/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xmlns="" id="{0C5E1BB7-A369-4F21-A5E9-0544191D108A}"/>
              </a:ext>
            </a:extLst>
          </p:cNvPr>
          <p:cNvSpPr/>
          <p:nvPr/>
        </p:nvSpPr>
        <p:spPr>
          <a:xfrm flipV="1">
            <a:off x="4904733" y="4149080"/>
            <a:ext cx="531364" cy="2088232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xmlns="" id="{1A1E781B-8D75-4F84-8385-23AE7814FAC7}"/>
              </a:ext>
            </a:extLst>
          </p:cNvPr>
          <p:cNvSpPr/>
          <p:nvPr/>
        </p:nvSpPr>
        <p:spPr>
          <a:xfrm>
            <a:off x="4859462" y="3817615"/>
            <a:ext cx="720650" cy="245145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xmlns="" id="{CCFBF32A-093E-4831-8477-3734B41AE43B}"/>
              </a:ext>
            </a:extLst>
          </p:cNvPr>
          <p:cNvSpPr/>
          <p:nvPr/>
        </p:nvSpPr>
        <p:spPr>
          <a:xfrm flipV="1">
            <a:off x="4941891" y="2492896"/>
            <a:ext cx="531364" cy="1291480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369175B2-ABAA-4EF1-822C-8040B079E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3" name="Picture 2">
            <a:extLst>
              <a:ext uri="{FF2B5EF4-FFF2-40B4-BE49-F238E27FC236}">
                <a16:creationId xmlns:a16="http://schemas.microsoft.com/office/drawing/2014/main" xmlns="" id="{4F82E2C2-2264-47E1-B0A5-2BB0CC053D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07704" y="3573016"/>
            <a:ext cx="5995063" cy="3221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89E56A48-63A3-40D4-A002-8C1ECDB63655}"/>
              </a:ext>
            </a:extLst>
          </p:cNvPr>
          <p:cNvSpPr txBox="1">
            <a:spLocks/>
          </p:cNvSpPr>
          <p:nvPr/>
        </p:nvSpPr>
        <p:spPr>
          <a:xfrm>
            <a:off x="107504" y="997304"/>
            <a:ext cx="8701892" cy="547260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500" b="1" dirty="0"/>
              <a:t>Summary facies model for deltas:</a:t>
            </a:r>
          </a:p>
          <a:p>
            <a:r>
              <a:rPr lang="en-GB" sz="2500" dirty="0"/>
              <a:t>Classic coarsening-up, thickening-up facies from </a:t>
            </a:r>
            <a:r>
              <a:rPr lang="en-GB" sz="2500" dirty="0" err="1"/>
              <a:t>prodelta</a:t>
            </a:r>
            <a:r>
              <a:rPr lang="en-GB" sz="2500" dirty="0"/>
              <a:t> mud, to delta front (</a:t>
            </a:r>
            <a:r>
              <a:rPr lang="en-GB" sz="2500" dirty="0" err="1"/>
              <a:t>mouthbar</a:t>
            </a:r>
            <a:r>
              <a:rPr lang="en-GB" sz="2500" dirty="0"/>
              <a:t>) sandstones, tractive sedimentary structures (cross-lamination, cross-bedding) and capped by evidence for emergence. </a:t>
            </a:r>
          </a:p>
          <a:p>
            <a:r>
              <a:rPr lang="en-GB" sz="2500" dirty="0"/>
              <a:t>Seaward dipping </a:t>
            </a:r>
            <a:r>
              <a:rPr lang="en-GB" sz="2500" dirty="0" err="1"/>
              <a:t>clinoforms</a:t>
            </a:r>
            <a:r>
              <a:rPr lang="en-GB" sz="2500" dirty="0"/>
              <a:t>, if you’ve got great exposure!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66478E0-5B19-44BF-BDE3-13D5A85C9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River-dominated systems: deltas</a:t>
            </a:r>
          </a:p>
        </p:txBody>
      </p:sp>
    </p:spTree>
    <p:extLst>
      <p:ext uri="{BB962C8B-B14F-4D97-AF65-F5344CB8AC3E}">
        <p14:creationId xmlns:p14="http://schemas.microsoft.com/office/powerpoint/2010/main" val="891545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aravelas Strandplain, Bahia Province, Brazil">
            <a:extLst>
              <a:ext uri="{FF2B5EF4-FFF2-40B4-BE49-F238E27FC236}">
                <a16:creationId xmlns:a16="http://schemas.microsoft.com/office/drawing/2014/main" xmlns="" id="{623B2EE5-3672-4233-9E4C-30D5DE867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FB61ED63-9C5B-45ED-8599-3F65A3218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431696"/>
            <a:ext cx="6408712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Wave-dominated (or “non-deltaic”) systems: </a:t>
            </a:r>
          </a:p>
          <a:p>
            <a:r>
              <a:rPr lang="en-GB" sz="5000" b="1" dirty="0">
                <a:solidFill>
                  <a:srgbClr val="FFFF00"/>
                </a:solidFill>
                <a:latin typeface="+mj-lt"/>
              </a:rPr>
              <a:t>shorefaces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3D9C7B7-3BA8-4F5B-A9EB-DA8B87518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5482" y="116632"/>
            <a:ext cx="2288604" cy="290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400" b="1" dirty="0" err="1">
                <a:latin typeface="+mj-lt"/>
              </a:rPr>
              <a:t>Caravelas</a:t>
            </a:r>
            <a:r>
              <a:rPr lang="en-GB" altLang="en-US" sz="1400" b="1" dirty="0">
                <a:latin typeface="+mj-lt"/>
              </a:rPr>
              <a:t> </a:t>
            </a:r>
            <a:r>
              <a:rPr lang="en-GB" altLang="en-US" sz="1400" b="1" dirty="0" err="1">
                <a:latin typeface="+mj-lt"/>
              </a:rPr>
              <a:t>Strandplain</a:t>
            </a:r>
            <a:r>
              <a:rPr lang="en-GB" altLang="en-US" sz="1400" b="1" dirty="0">
                <a:latin typeface="+mj-lt"/>
              </a:rPr>
              <a:t>, Brazil</a:t>
            </a:r>
          </a:p>
        </p:txBody>
      </p:sp>
    </p:spTree>
    <p:extLst>
      <p:ext uri="{BB962C8B-B14F-4D97-AF65-F5344CB8AC3E}">
        <p14:creationId xmlns:p14="http://schemas.microsoft.com/office/powerpoint/2010/main" val="1439992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oreline-classification-plan-view-(Dalrymple-et-al-1992)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060848"/>
            <a:ext cx="3842836" cy="4044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 flipH="1" flipV="1">
            <a:off x="7452320" y="2420888"/>
            <a:ext cx="1668455" cy="31743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2177" y="1459230"/>
            <a:ext cx="485095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Non-deltaic coastlines are overwhelmingly “wave dominated”*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Tidal processes are important locally, but they tend to require special circumstances:</a:t>
            </a:r>
          </a:p>
          <a:p>
            <a:pPr marL="914400" lvl="1" indent="-457200">
              <a:buAutoNum type="arabicPeriod"/>
            </a:pPr>
            <a:r>
              <a:rPr lang="en-GB" sz="2500" dirty="0">
                <a:latin typeface="+mj-lt"/>
              </a:rPr>
              <a:t>combination of tidal amplification, and</a:t>
            </a:r>
          </a:p>
          <a:p>
            <a:pPr marL="914400" lvl="1" indent="-457200">
              <a:buAutoNum type="arabicPeriod"/>
            </a:pPr>
            <a:r>
              <a:rPr lang="en-GB" sz="2500" dirty="0">
                <a:latin typeface="+mj-lt"/>
              </a:rPr>
              <a:t>an absence of wave energy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xmlns="" id="{535425B3-0862-45B7-B6AE-62FD2E1D8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055A470-17E0-4B85-B5DB-60F6185B1F66}"/>
              </a:ext>
            </a:extLst>
          </p:cNvPr>
          <p:cNvSpPr txBox="1"/>
          <p:nvPr/>
        </p:nvSpPr>
        <p:spPr>
          <a:xfrm>
            <a:off x="359379" y="6105380"/>
            <a:ext cx="4723748" cy="52322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defRPr/>
            </a:pPr>
            <a:r>
              <a:rPr lang="en-GB" sz="1400" b="1" dirty="0">
                <a:latin typeface="+mj-lt"/>
              </a:rPr>
              <a:t>*Nyberg and Howell (2016) Marine and Petroleum Geology, 71, </a:t>
            </a:r>
            <a:r>
              <a:rPr lang="en-GB" sz="1400" b="1" i="0" dirty="0">
                <a:effectLst/>
                <a:latin typeface="+mj-lt"/>
              </a:rPr>
              <a:t>6) 8 3e10 </a:t>
            </a:r>
            <a:r>
              <a:rPr lang="en-GB" sz="1400" b="1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98618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oreline-classification-plan-view-(Dalrymple-et-al-1992)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060848"/>
            <a:ext cx="3842836" cy="4044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 flipH="1" flipV="1">
            <a:off x="7380312" y="2420888"/>
            <a:ext cx="1368152" cy="11521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1848" y="1176926"/>
            <a:ext cx="86603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Consequently, they dominate in embayed coastlines…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xmlns="" id="{535425B3-0862-45B7-B6AE-62FD2E1D8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ADFF2F0-48CA-4A03-AA85-92548A080CE0}"/>
              </a:ext>
            </a:extLst>
          </p:cNvPr>
          <p:cNvSpPr txBox="1"/>
          <p:nvPr/>
        </p:nvSpPr>
        <p:spPr>
          <a:xfrm>
            <a:off x="827584" y="1581261"/>
            <a:ext cx="441391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dirty="0">
                <a:latin typeface="+mj-lt"/>
              </a:rPr>
              <a:t>… the ones that are transgressive and preserve as well</a:t>
            </a:r>
          </a:p>
        </p:txBody>
      </p:sp>
      <p:pic>
        <p:nvPicPr>
          <p:cNvPr id="6146" name="Picture 2" descr="Barrier Islands and Lagoons - Geosciences LibreTexts">
            <a:extLst>
              <a:ext uri="{FF2B5EF4-FFF2-40B4-BE49-F238E27FC236}">
                <a16:creationId xmlns:a16="http://schemas.microsoft.com/office/drawing/2014/main" xmlns="" id="{EF2040F0-56C8-47F8-B1E9-2668BEE79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27756"/>
            <a:ext cx="3312368" cy="386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071AAE5-644C-42E3-B5E4-B819BA5A25A0}"/>
              </a:ext>
            </a:extLst>
          </p:cNvPr>
          <p:cNvSpPr txBox="1"/>
          <p:nvPr/>
        </p:nvSpPr>
        <p:spPr>
          <a:xfrm>
            <a:off x="1115616" y="2944759"/>
            <a:ext cx="1800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+mj-lt"/>
              </a:rPr>
              <a:t>Venetian lagoon, Italy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48B5D677-AE06-4A6D-907A-84C790D05D69}"/>
              </a:ext>
            </a:extLst>
          </p:cNvPr>
          <p:cNvSpPr/>
          <p:nvPr/>
        </p:nvSpPr>
        <p:spPr>
          <a:xfrm flipH="1" flipV="1">
            <a:off x="5858066" y="2522583"/>
            <a:ext cx="1215033" cy="11521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01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of the Barmouth and Arthog area">
            <a:extLst>
              <a:ext uri="{FF2B5EF4-FFF2-40B4-BE49-F238E27FC236}">
                <a16:creationId xmlns:a16="http://schemas.microsoft.com/office/drawing/2014/main" xmlns="" id="{C4E26F3A-2E20-4C0C-AF87-D9D47D38D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8928992" cy="565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73260CB0-F372-4C6F-A927-4BFCA9DBE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1BB572C-8A0E-468C-A69E-B104A6C4898B}"/>
              </a:ext>
            </a:extLst>
          </p:cNvPr>
          <p:cNvSpPr txBox="1"/>
          <p:nvPr/>
        </p:nvSpPr>
        <p:spPr>
          <a:xfrm>
            <a:off x="251520" y="6309320"/>
            <a:ext cx="216024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dirty="0" err="1">
                <a:latin typeface="+mj-lt"/>
              </a:rPr>
              <a:t>Mawddach</a:t>
            </a:r>
            <a:r>
              <a:rPr lang="en-GB" sz="1400" b="1" dirty="0">
                <a:latin typeface="+mj-lt"/>
              </a:rPr>
              <a:t> Estuary, Wales</a:t>
            </a:r>
          </a:p>
        </p:txBody>
      </p:sp>
    </p:spTree>
    <p:extLst>
      <p:ext uri="{BB962C8B-B14F-4D97-AF65-F5344CB8AC3E}">
        <p14:creationId xmlns:p14="http://schemas.microsoft.com/office/powerpoint/2010/main" val="14391033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xmlns="" id="{8055EBEB-C2CD-4518-B952-A72CD2F83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052736"/>
            <a:ext cx="9001000" cy="57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A209048D-BA05-4713-BBAE-B88A2A90D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10629D1-4C0E-4C65-B9F7-1513463A9F49}"/>
              </a:ext>
            </a:extLst>
          </p:cNvPr>
          <p:cNvSpPr txBox="1"/>
          <p:nvPr/>
        </p:nvSpPr>
        <p:spPr>
          <a:xfrm>
            <a:off x="107504" y="1124744"/>
            <a:ext cx="4042120" cy="31700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The ultimate source of sediment in shorefaces are the rivers/deltas.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But waves, and associated processes provide the mechanism for transporting at depositing the sediment along coasts. </a:t>
            </a:r>
          </a:p>
        </p:txBody>
      </p:sp>
    </p:spTree>
    <p:extLst>
      <p:ext uri="{BB962C8B-B14F-4D97-AF65-F5344CB8AC3E}">
        <p14:creationId xmlns:p14="http://schemas.microsoft.com/office/powerpoint/2010/main" val="18371844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GC62VPT Eastbourne Longshore Drift (Earthcache) in South East England,  United Kingdom created by Vimmes">
            <a:extLst>
              <a:ext uri="{FF2B5EF4-FFF2-40B4-BE49-F238E27FC236}">
                <a16:creationId xmlns:a16="http://schemas.microsoft.com/office/drawing/2014/main" xmlns="" id="{2179EAD8-2A5B-414F-AFE5-692527809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56" y="2348880"/>
            <a:ext cx="7992888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A25AA9E1-F667-4821-A00F-43B4036D4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39190E-3520-41C1-8F0C-DB0F0B91703F}"/>
              </a:ext>
            </a:extLst>
          </p:cNvPr>
          <p:cNvSpPr txBox="1"/>
          <p:nvPr/>
        </p:nvSpPr>
        <p:spPr>
          <a:xfrm>
            <a:off x="251520" y="1431167"/>
            <a:ext cx="8640960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That main transport mechanism is termed “longshore drift” or “longshore currents”</a:t>
            </a:r>
          </a:p>
        </p:txBody>
      </p:sp>
    </p:spTree>
    <p:extLst>
      <p:ext uri="{BB962C8B-B14F-4D97-AF65-F5344CB8AC3E}">
        <p14:creationId xmlns:p14="http://schemas.microsoft.com/office/powerpoint/2010/main" val="2664208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What is longshore drift? - Internet Geography">
            <a:extLst>
              <a:ext uri="{FF2B5EF4-FFF2-40B4-BE49-F238E27FC236}">
                <a16:creationId xmlns:a16="http://schemas.microsoft.com/office/drawing/2014/main" xmlns="" id="{92DB06DC-EAB0-438F-812E-D682510CF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3"/>
            <a:ext cx="8460432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68DCA85-EE1A-4CE3-A8BA-3A3B62CCDD12}"/>
              </a:ext>
            </a:extLst>
          </p:cNvPr>
          <p:cNvSpPr txBox="1"/>
          <p:nvPr/>
        </p:nvSpPr>
        <p:spPr>
          <a:xfrm>
            <a:off x="161256" y="5667375"/>
            <a:ext cx="8640960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Longshore transport of sediment eradicates irregularities in the coastline, making them characteristically straight.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xmlns="" id="{4A41A86B-F297-419B-B6CB-B3FCF86A7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  <p:extLst>
      <p:ext uri="{BB962C8B-B14F-4D97-AF65-F5344CB8AC3E}">
        <p14:creationId xmlns:p14="http://schemas.microsoft.com/office/powerpoint/2010/main" val="1619257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oastal Deposition - Features | Teaching Resources">
            <a:extLst>
              <a:ext uri="{FF2B5EF4-FFF2-40B4-BE49-F238E27FC236}">
                <a16:creationId xmlns:a16="http://schemas.microsoft.com/office/drawing/2014/main" xmlns="" id="{B71D95A6-A097-4DA2-866B-4A0649328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95" y="1124744"/>
            <a:ext cx="8833210" cy="563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580112" y="4689718"/>
            <a:ext cx="3528392" cy="21236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In transgressive settings, longshore transport of sediment past the mouths of flooded valleys (estuaries and </a:t>
            </a:r>
            <a:r>
              <a:rPr lang="en-GB" sz="2200" dirty="0" err="1">
                <a:latin typeface="+mj-lt"/>
              </a:rPr>
              <a:t>embayments</a:t>
            </a:r>
            <a:r>
              <a:rPr lang="en-GB" sz="2200" dirty="0">
                <a:latin typeface="+mj-lt"/>
              </a:rPr>
              <a:t>) forms a spit</a:t>
            </a:r>
            <a:endParaRPr lang="en-GB" sz="2200" dirty="0"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D32E352-6F47-4621-BDFD-7E3CAB07D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  <p:extLst>
      <p:ext uri="{BB962C8B-B14F-4D97-AF65-F5344CB8AC3E}">
        <p14:creationId xmlns:p14="http://schemas.microsoft.com/office/powerpoint/2010/main" val="25485525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Picture 4">
            <a:extLst>
              <a:ext uri="{FF2B5EF4-FFF2-40B4-BE49-F238E27FC236}">
                <a16:creationId xmlns:a16="http://schemas.microsoft.com/office/drawing/2014/main" xmlns="" id="{9BFA91C6-9711-4C0E-B3FB-901107ECC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052736"/>
            <a:ext cx="9001000" cy="57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CF8ECF7-B270-4CA6-9AF5-2A808F2DC03B}"/>
              </a:ext>
            </a:extLst>
          </p:cNvPr>
          <p:cNvSpPr txBox="1"/>
          <p:nvPr/>
        </p:nvSpPr>
        <p:spPr>
          <a:xfrm>
            <a:off x="228204" y="1196752"/>
            <a:ext cx="4338513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Closure of the embayment by the spit leads to a barrier-lagoon complex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2268AED-75B9-431F-A913-DE79D886078C}"/>
              </a:ext>
            </a:extLst>
          </p:cNvPr>
          <p:cNvSpPr txBox="1"/>
          <p:nvPr/>
        </p:nvSpPr>
        <p:spPr>
          <a:xfrm>
            <a:off x="7205042" y="6381328"/>
            <a:ext cx="1800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+mj-lt"/>
              </a:rPr>
              <a:t>Venetian lagoon, Italy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B01C75-71D5-4C3B-9A50-13A877491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  <p:extLst>
      <p:ext uri="{BB962C8B-B14F-4D97-AF65-F5344CB8AC3E}">
        <p14:creationId xmlns:p14="http://schemas.microsoft.com/office/powerpoint/2010/main" val="1718570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0" y="1122184"/>
            <a:ext cx="9045004" cy="56190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5900" y="1313280"/>
            <a:ext cx="43385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bg1"/>
                </a:solidFill>
                <a:latin typeface="+mj-lt"/>
              </a:rPr>
              <a:t>In regressive (</a:t>
            </a:r>
            <a:r>
              <a:rPr lang="en-GB" sz="2200" dirty="0" err="1">
                <a:solidFill>
                  <a:schemeClr val="bg1"/>
                </a:solidFill>
                <a:latin typeface="+mj-lt"/>
              </a:rPr>
              <a:t>progradational</a:t>
            </a:r>
            <a:r>
              <a:rPr lang="en-GB" sz="2200" dirty="0">
                <a:solidFill>
                  <a:schemeClr val="bg1"/>
                </a:solidFill>
                <a:latin typeface="+mj-lt"/>
              </a:rPr>
              <a:t>) settings, build-out of the shoreface-beach system leads to the formation of broad </a:t>
            </a:r>
            <a:r>
              <a:rPr lang="en-GB" sz="2200" dirty="0" err="1">
                <a:solidFill>
                  <a:schemeClr val="bg1"/>
                </a:solidFill>
                <a:latin typeface="+mj-lt"/>
              </a:rPr>
              <a:t>strandplains</a:t>
            </a:r>
            <a:r>
              <a:rPr lang="en-GB" sz="22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AutoShape 2" descr="http://eoimages.gsfc.nasa.gov/images/imagerecords/3000/3827/Venice_TAS2001347_lrg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7308304" y="6165304"/>
            <a:ext cx="172819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dirty="0"/>
              <a:t>Nayarit beach-ridge strand plain, Mexico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9CAF3B7-804B-4411-B23B-AB03EF57C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  <p:extLst>
      <p:ext uri="{BB962C8B-B14F-4D97-AF65-F5344CB8AC3E}">
        <p14:creationId xmlns:p14="http://schemas.microsoft.com/office/powerpoint/2010/main" val="7322828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ttp://sepmstrata.org/marinesediments/barrierislands/MIGR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85" y="1791487"/>
            <a:ext cx="3181293" cy="4425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4" descr="http://www.scielo.br/img/revistas/aabc/v75n3/a08fig15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938" y="1181150"/>
            <a:ext cx="3597463" cy="508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1"/>
          <p:cNvSpPr txBox="1">
            <a:spLocks noChangeArrowheads="1"/>
          </p:cNvSpPr>
          <p:nvPr/>
        </p:nvSpPr>
        <p:spPr bwMode="auto">
          <a:xfrm>
            <a:off x="35496" y="6329363"/>
            <a:ext cx="48238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altLang="en-US" b="1" dirty="0">
                <a:latin typeface="+mj-lt"/>
              </a:rPr>
              <a:t>Barrier Islands/lagoons – </a:t>
            </a:r>
            <a:r>
              <a:rPr lang="en-GB" altLang="en-US" b="1" i="1" dirty="0">
                <a:latin typeface="+mj-lt"/>
              </a:rPr>
              <a:t>typically transgressive</a:t>
            </a:r>
          </a:p>
        </p:txBody>
      </p:sp>
      <p:sp>
        <p:nvSpPr>
          <p:cNvPr id="30727" name="TextBox 6"/>
          <p:cNvSpPr txBox="1">
            <a:spLocks noChangeArrowheads="1"/>
          </p:cNvSpPr>
          <p:nvPr/>
        </p:nvSpPr>
        <p:spPr bwMode="auto">
          <a:xfrm>
            <a:off x="4833938" y="6373813"/>
            <a:ext cx="3989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b="1" dirty="0">
                <a:latin typeface="+mj-lt"/>
              </a:rPr>
              <a:t>Wide </a:t>
            </a:r>
            <a:r>
              <a:rPr lang="en-GB" altLang="en-US" b="1" dirty="0" err="1">
                <a:latin typeface="+mj-lt"/>
              </a:rPr>
              <a:t>strandplains</a:t>
            </a:r>
            <a:r>
              <a:rPr lang="en-GB" altLang="en-US" b="1" dirty="0">
                <a:latin typeface="+mj-lt"/>
              </a:rPr>
              <a:t>– </a:t>
            </a:r>
            <a:r>
              <a:rPr lang="en-GB" altLang="en-US" b="1" i="1" dirty="0">
                <a:latin typeface="+mj-lt"/>
              </a:rPr>
              <a:t>typically regressive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xmlns="" id="{ACE2E405-2C1C-4D11-AE20-B14850007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97EB134-DC41-46C4-9422-45F3A8B7DF30}"/>
              </a:ext>
            </a:extLst>
          </p:cNvPr>
          <p:cNvSpPr txBox="1"/>
          <p:nvPr/>
        </p:nvSpPr>
        <p:spPr>
          <a:xfrm>
            <a:off x="235272" y="1191469"/>
            <a:ext cx="4480744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b="1" dirty="0">
                <a:latin typeface="+mj-lt"/>
              </a:rPr>
              <a:t>Main elements of shorefaces: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xmlns="" id="{0B9BA69A-17ED-409B-8F97-6C371E20F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C53D07C-2062-4F38-883B-2320873A18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4637" y="2195508"/>
            <a:ext cx="7074724" cy="4509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59F04FC-95A6-46C0-BE2B-2FF853FC3F1F}"/>
              </a:ext>
            </a:extLst>
          </p:cNvPr>
          <p:cNvSpPr txBox="1"/>
          <p:nvPr/>
        </p:nvSpPr>
        <p:spPr>
          <a:xfrm>
            <a:off x="251519" y="1157135"/>
            <a:ext cx="8640960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500" dirty="0">
                <a:latin typeface="+mj-lt"/>
              </a:rPr>
              <a:t>Shoreface systems are dominated by the action and product of waves.</a:t>
            </a:r>
          </a:p>
        </p:txBody>
      </p:sp>
    </p:spTree>
    <p:extLst>
      <p:ext uri="{BB962C8B-B14F-4D97-AF65-F5344CB8AC3E}">
        <p14:creationId xmlns:p14="http://schemas.microsoft.com/office/powerpoint/2010/main" val="24445738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littoral energy fence expl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0"/>
          <a:stretch/>
        </p:blipFill>
        <p:spPr bwMode="auto">
          <a:xfrm>
            <a:off x="2743200" y="1133541"/>
            <a:ext cx="5513565" cy="5600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Rectangular Callout 4"/>
          <p:cNvSpPr>
            <a:spLocks noChangeArrowheads="1"/>
          </p:cNvSpPr>
          <p:nvPr/>
        </p:nvSpPr>
        <p:spPr bwMode="auto">
          <a:xfrm>
            <a:off x="4835992" y="3576032"/>
            <a:ext cx="1428750" cy="642938"/>
          </a:xfrm>
          <a:prstGeom prst="wedgeRectCallout">
            <a:avLst>
              <a:gd name="adj1" fmla="val -101668"/>
              <a:gd name="adj2" fmla="val 83998"/>
            </a:avLst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lIns="91429" tIns="45715" rIns="91429" bIns="4571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Net sediment transport likely to be shoreward</a:t>
            </a:r>
          </a:p>
        </p:txBody>
      </p:sp>
      <p:sp>
        <p:nvSpPr>
          <p:cNvPr id="38920" name="Rectangular Callout 4"/>
          <p:cNvSpPr>
            <a:spLocks noChangeArrowheads="1"/>
          </p:cNvSpPr>
          <p:nvPr/>
        </p:nvSpPr>
        <p:spPr bwMode="auto">
          <a:xfrm>
            <a:off x="7241297" y="1993587"/>
            <a:ext cx="1428750" cy="642937"/>
          </a:xfrm>
          <a:prstGeom prst="wedgeRectCallout">
            <a:avLst>
              <a:gd name="adj1" fmla="val -151176"/>
              <a:gd name="adj2" fmla="val 45514"/>
            </a:avLst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lIns="91429" tIns="45715" rIns="91429" bIns="4571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>
                <a:latin typeface="Arial" panose="020B0604020202020204" pitchFamily="34" charset="0"/>
                <a:cs typeface="Arial" panose="020B0604020202020204" pitchFamily="34" charset="0"/>
              </a:rPr>
              <a:t>Orbital motion of water under waves</a:t>
            </a:r>
          </a:p>
        </p:txBody>
      </p:sp>
      <p:sp>
        <p:nvSpPr>
          <p:cNvPr id="38921" name="Rectangular Callout 4"/>
          <p:cNvSpPr>
            <a:spLocks noChangeArrowheads="1"/>
          </p:cNvSpPr>
          <p:nvPr/>
        </p:nvSpPr>
        <p:spPr bwMode="auto">
          <a:xfrm>
            <a:off x="7054081" y="2953114"/>
            <a:ext cx="1146175" cy="320675"/>
          </a:xfrm>
          <a:prstGeom prst="wedgeRectCallout">
            <a:avLst>
              <a:gd name="adj1" fmla="val -98491"/>
              <a:gd name="adj2" fmla="val -69227"/>
            </a:avLst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lIns="91429" tIns="45715" rIns="91429" bIns="4571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>
                <a:latin typeface="Arial" panose="020B0604020202020204" pitchFamily="34" charset="0"/>
                <a:cs typeface="Arial" panose="020B0604020202020204" pitchFamily="34" charset="0"/>
              </a:rPr>
              <a:t>Wave base</a:t>
            </a:r>
          </a:p>
        </p:txBody>
      </p:sp>
      <p:sp>
        <p:nvSpPr>
          <p:cNvPr id="38922" name="Freeform 1"/>
          <p:cNvSpPr>
            <a:spLocks/>
          </p:cNvSpPr>
          <p:nvPr/>
        </p:nvSpPr>
        <p:spPr bwMode="auto">
          <a:xfrm>
            <a:off x="4995962" y="2852936"/>
            <a:ext cx="1592262" cy="0"/>
          </a:xfrm>
          <a:custGeom>
            <a:avLst/>
            <a:gdLst>
              <a:gd name="T0" fmla="*/ 0 w 1591408"/>
              <a:gd name="T1" fmla="*/ 1591408 w 1591408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591408">
                <a:moveTo>
                  <a:pt x="0" y="0"/>
                </a:moveTo>
                <a:lnTo>
                  <a:pt x="1591408" y="0"/>
                </a:ln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Freeform 1"/>
          <p:cNvSpPr/>
          <p:nvPr/>
        </p:nvSpPr>
        <p:spPr bwMode="auto">
          <a:xfrm>
            <a:off x="3436170" y="5061747"/>
            <a:ext cx="4518837" cy="85061"/>
          </a:xfrm>
          <a:custGeom>
            <a:avLst/>
            <a:gdLst>
              <a:gd name="connsiteX0" fmla="*/ 0 w 4518837"/>
              <a:gd name="connsiteY0" fmla="*/ 0 h 85061"/>
              <a:gd name="connsiteX1" fmla="*/ 4518837 w 4518837"/>
              <a:gd name="connsiteY1" fmla="*/ 85061 h 85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18837" h="85061">
                <a:moveTo>
                  <a:pt x="0" y="0"/>
                </a:moveTo>
                <a:lnTo>
                  <a:pt x="4518837" y="85061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Freeform 11"/>
          <p:cNvSpPr/>
          <p:nvPr/>
        </p:nvSpPr>
        <p:spPr bwMode="auto">
          <a:xfrm>
            <a:off x="3418708" y="5560944"/>
            <a:ext cx="4455041" cy="127591"/>
          </a:xfrm>
          <a:custGeom>
            <a:avLst/>
            <a:gdLst>
              <a:gd name="connsiteX0" fmla="*/ 0 w 4518837"/>
              <a:gd name="connsiteY0" fmla="*/ 0 h 85061"/>
              <a:gd name="connsiteX1" fmla="*/ 4518837 w 4518837"/>
              <a:gd name="connsiteY1" fmla="*/ 85061 h 85061"/>
              <a:gd name="connsiteX0" fmla="*/ 0 w 4455041"/>
              <a:gd name="connsiteY0" fmla="*/ 0 h 127591"/>
              <a:gd name="connsiteX1" fmla="*/ 4455041 w 4455041"/>
              <a:gd name="connsiteY1" fmla="*/ 127591 h 127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55041" h="127591">
                <a:moveTo>
                  <a:pt x="0" y="0"/>
                </a:moveTo>
                <a:lnTo>
                  <a:pt x="4455041" y="127591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Right Arrow 2"/>
          <p:cNvSpPr/>
          <p:nvPr/>
        </p:nvSpPr>
        <p:spPr bwMode="auto">
          <a:xfrm>
            <a:off x="6402164" y="5280837"/>
            <a:ext cx="327248" cy="146078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 rot="16200000">
            <a:off x="2048285" y="3878502"/>
            <a:ext cx="261338" cy="110452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Right Arrow 14"/>
          <p:cNvSpPr/>
          <p:nvPr/>
        </p:nvSpPr>
        <p:spPr bwMode="auto">
          <a:xfrm rot="5400000">
            <a:off x="2038373" y="6199926"/>
            <a:ext cx="261338" cy="110452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25569" y="4844604"/>
            <a:ext cx="1512168" cy="16004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 Black" panose="020B0A04020102020204" pitchFamily="34" charset="0"/>
              </a:rPr>
              <a:t>Each wave:</a:t>
            </a:r>
          </a:p>
          <a:p>
            <a:r>
              <a:rPr lang="en-GB" sz="1400" dirty="0">
                <a:latin typeface="Arial Black" panose="020B0A04020102020204" pitchFamily="34" charset="0"/>
              </a:rPr>
              <a:t>More landward sediment movement than seaward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0543" y="5598245"/>
            <a:ext cx="21904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i="1" dirty="0">
                <a:solidFill>
                  <a:schemeClr val="bg1"/>
                </a:solidFill>
                <a:latin typeface="Arial Black" panose="020B0A04020102020204" pitchFamily="34" charset="0"/>
              </a:rPr>
              <a:t>Critical threshold velocity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8524" y="2880180"/>
            <a:ext cx="244640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  <a:cs typeface="Arial" panose="020B0604020202020204" pitchFamily="34" charset="0"/>
              </a:rPr>
              <a:t>Has the effect of trapping sand in the shoreface: the shelf is a trap!</a:t>
            </a:r>
          </a:p>
        </p:txBody>
      </p:sp>
      <p:sp>
        <p:nvSpPr>
          <p:cNvPr id="20" name="Rectangular Callout 4"/>
          <p:cNvSpPr>
            <a:spLocks noChangeArrowheads="1"/>
          </p:cNvSpPr>
          <p:nvPr/>
        </p:nvSpPr>
        <p:spPr bwMode="auto">
          <a:xfrm>
            <a:off x="7062812" y="4061124"/>
            <a:ext cx="1428750" cy="642938"/>
          </a:xfrm>
          <a:prstGeom prst="wedgeRectCallout">
            <a:avLst>
              <a:gd name="adj1" fmla="val -65976"/>
              <a:gd name="adj2" fmla="val 109981"/>
            </a:avLst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lIns="91429" tIns="45715" rIns="91429" bIns="4571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velocity needed to move (entrain) sand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xmlns="" id="{4790544C-588D-4EE8-9BB0-6598CA1F3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4E9352A-7919-4F16-9019-4A6E21FB0CFE}"/>
              </a:ext>
            </a:extLst>
          </p:cNvPr>
          <p:cNvSpPr txBox="1"/>
          <p:nvPr/>
        </p:nvSpPr>
        <p:spPr>
          <a:xfrm>
            <a:off x="199031" y="1189066"/>
            <a:ext cx="44807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1" dirty="0">
                <a:latin typeface="+mj-lt"/>
              </a:rPr>
              <a:t>1. The Littoral Energy Fence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30D9A7D-D334-4AD9-98C5-9424E2E0E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1720968-C641-42B8-A03F-59638E4B6529}"/>
              </a:ext>
            </a:extLst>
          </p:cNvPr>
          <p:cNvSpPr txBox="1"/>
          <p:nvPr/>
        </p:nvSpPr>
        <p:spPr>
          <a:xfrm>
            <a:off x="251519" y="1157135"/>
            <a:ext cx="8640960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500" b="1" dirty="0">
                <a:latin typeface="+mj-lt"/>
              </a:rPr>
              <a:t>2. Concept of the two “wave bases”</a:t>
            </a:r>
          </a:p>
        </p:txBody>
      </p:sp>
      <p:pic>
        <p:nvPicPr>
          <p:cNvPr id="5" name="Picture 6" descr="Related image">
            <a:extLst>
              <a:ext uri="{FF2B5EF4-FFF2-40B4-BE49-F238E27FC236}">
                <a16:creationId xmlns:a16="http://schemas.microsoft.com/office/drawing/2014/main" xmlns="" id="{64204309-8542-4D0D-AA66-3B0985531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1794020"/>
            <a:ext cx="5980507" cy="354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7DE8A6A-C4BA-42A4-BBF6-B0874C925D34}"/>
              </a:ext>
            </a:extLst>
          </p:cNvPr>
          <p:cNvSpPr txBox="1"/>
          <p:nvPr/>
        </p:nvSpPr>
        <p:spPr>
          <a:xfrm>
            <a:off x="251519" y="5445224"/>
            <a:ext cx="8640960" cy="1246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There will be “everyday” waves, which will have their own agitation depth (generally 5-15 m depth)….</a:t>
            </a:r>
          </a:p>
          <a:p>
            <a:pPr lvl="1"/>
            <a:r>
              <a:rPr lang="en-GB" sz="2500" dirty="0">
                <a:latin typeface="+mj-lt"/>
                <a:sym typeface="Wingdings" panose="05000000000000000000" pitchFamily="2" charset="2"/>
              </a:rPr>
              <a:t>Called the “</a:t>
            </a:r>
            <a:r>
              <a:rPr lang="en-GB" sz="2500" dirty="0" err="1">
                <a:latin typeface="+mj-lt"/>
                <a:sym typeface="Wingdings" panose="05000000000000000000" pitchFamily="2" charset="2"/>
              </a:rPr>
              <a:t>fairweather</a:t>
            </a:r>
            <a:r>
              <a:rPr lang="en-GB" sz="2500" dirty="0">
                <a:latin typeface="+mj-lt"/>
                <a:sym typeface="Wingdings" panose="05000000000000000000" pitchFamily="2" charset="2"/>
              </a:rPr>
              <a:t> wave base” (FWWB)</a:t>
            </a:r>
            <a:endParaRPr lang="en-GB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4122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xmlns="" id="{B4BA993C-A2A9-4D55-A927-4F7125649882}"/>
              </a:ext>
            </a:extLst>
          </p:cNvPr>
          <p:cNvSpPr txBox="1"/>
          <p:nvPr/>
        </p:nvSpPr>
        <p:spPr>
          <a:xfrm>
            <a:off x="209445" y="1034784"/>
            <a:ext cx="8640960" cy="1246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Everything above this is permanently agitated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No mud is deposited (well-sorted “clean” sands)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“The shoreface”</a:t>
            </a:r>
          </a:p>
        </p:txBody>
      </p:sp>
      <p:pic>
        <p:nvPicPr>
          <p:cNvPr id="55392" name="Picture 55391">
            <a:extLst>
              <a:ext uri="{FF2B5EF4-FFF2-40B4-BE49-F238E27FC236}">
                <a16:creationId xmlns:a16="http://schemas.microsoft.com/office/drawing/2014/main" xmlns="" id="{A3F9AF4E-2154-40EA-82EA-E202380E9C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4638" y="2264511"/>
            <a:ext cx="7074724" cy="4509120"/>
          </a:xfrm>
          <a:prstGeom prst="rect">
            <a:avLst/>
          </a:prstGeom>
        </p:spPr>
      </p:pic>
      <p:sp>
        <p:nvSpPr>
          <p:cNvPr id="190" name="Rectangle 189">
            <a:extLst>
              <a:ext uri="{FF2B5EF4-FFF2-40B4-BE49-F238E27FC236}">
                <a16:creationId xmlns:a16="http://schemas.microsoft.com/office/drawing/2014/main" xmlns="" id="{C7D7F390-911C-42FE-85E2-EE8F019EF72F}"/>
              </a:ext>
            </a:extLst>
          </p:cNvPr>
          <p:cNvSpPr/>
          <p:nvPr/>
        </p:nvSpPr>
        <p:spPr>
          <a:xfrm flipH="1" flipV="1">
            <a:off x="2555774" y="2281278"/>
            <a:ext cx="2016226" cy="20838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xmlns="" id="{B7B99EB4-C9FE-4D9C-BE7C-3014A6E91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  <p:extLst>
      <p:ext uri="{BB962C8B-B14F-4D97-AF65-F5344CB8AC3E}">
        <p14:creationId xmlns:p14="http://schemas.microsoft.com/office/powerpoint/2010/main" val="320819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xmlns="" id="{B4BA993C-A2A9-4D55-A927-4F7125649882}"/>
              </a:ext>
            </a:extLst>
          </p:cNvPr>
          <p:cNvSpPr txBox="1"/>
          <p:nvPr/>
        </p:nvSpPr>
        <p:spPr>
          <a:xfrm>
            <a:off x="179512" y="1187674"/>
            <a:ext cx="8640960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The “lower shoreface” is (the main place) where you get your classic “tuning form” symmetrical ripples.</a:t>
            </a:r>
          </a:p>
        </p:txBody>
      </p:sp>
      <p:pic>
        <p:nvPicPr>
          <p:cNvPr id="55392" name="Picture 55391">
            <a:extLst>
              <a:ext uri="{FF2B5EF4-FFF2-40B4-BE49-F238E27FC236}">
                <a16:creationId xmlns:a16="http://schemas.microsoft.com/office/drawing/2014/main" xmlns="" id="{A3F9AF4E-2154-40EA-82EA-E202380E9C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4638" y="2264511"/>
            <a:ext cx="7074724" cy="4509120"/>
          </a:xfrm>
          <a:prstGeom prst="rect">
            <a:avLst/>
          </a:prstGeom>
        </p:spPr>
      </p:pic>
      <p:sp>
        <p:nvSpPr>
          <p:cNvPr id="190" name="Rectangle 189">
            <a:extLst>
              <a:ext uri="{FF2B5EF4-FFF2-40B4-BE49-F238E27FC236}">
                <a16:creationId xmlns:a16="http://schemas.microsoft.com/office/drawing/2014/main" xmlns="" id="{C7D7F390-911C-42FE-85E2-EE8F019EF72F}"/>
              </a:ext>
            </a:extLst>
          </p:cNvPr>
          <p:cNvSpPr/>
          <p:nvPr/>
        </p:nvSpPr>
        <p:spPr>
          <a:xfrm flipH="1" flipV="1">
            <a:off x="3563888" y="2281277"/>
            <a:ext cx="1008112" cy="20838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xmlns="" id="{B7B99EB4-C9FE-4D9C-BE7C-3014A6E91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pic>
        <p:nvPicPr>
          <p:cNvPr id="6" name="Picture 2" descr="File:WaveRippleFormationFig0.jpg">
            <a:extLst>
              <a:ext uri="{FF2B5EF4-FFF2-40B4-BE49-F238E27FC236}">
                <a16:creationId xmlns:a16="http://schemas.microsoft.com/office/drawing/2014/main" xmlns="" id="{538941D6-8C20-4876-89CC-43A04ADC4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744" y="1884270"/>
            <a:ext cx="3184180" cy="2391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95750519-3759-4405-98AF-75321A61EC53}"/>
              </a:ext>
            </a:extLst>
          </p:cNvPr>
          <p:cNvGrpSpPr/>
          <p:nvPr/>
        </p:nvGrpSpPr>
        <p:grpSpPr>
          <a:xfrm>
            <a:off x="5307074" y="4329490"/>
            <a:ext cx="3706356" cy="2472111"/>
            <a:chOff x="5330140" y="1532953"/>
            <a:chExt cx="3706356" cy="2472111"/>
          </a:xfrm>
        </p:grpSpPr>
        <p:pic>
          <p:nvPicPr>
            <p:cNvPr id="9" name="Picture 14" descr="http://www.depauw.edu/acad/geosciences/tcope/SedStruct/HiRes/WaveRip.jpg">
              <a:extLst>
                <a:ext uri="{FF2B5EF4-FFF2-40B4-BE49-F238E27FC236}">
                  <a16:creationId xmlns:a16="http://schemas.microsoft.com/office/drawing/2014/main" xmlns="" id="{8903877A-96AE-43F3-8231-B042EFB980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0140" y="1532953"/>
              <a:ext cx="3706356" cy="24721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1F874D48-C7F6-4208-B3E6-F96389868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3489" y="3598579"/>
              <a:ext cx="3526398" cy="3600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Wave ripple cross-lamination. Jurassic </a:t>
              </a:r>
              <a:r>
                <a:rPr lang="en-GB" sz="1400" b="1" dirty="0" err="1">
                  <a:solidFill>
                    <a:schemeClr val="bg1"/>
                  </a:solidFill>
                </a:rPr>
                <a:t>Entrada</a:t>
              </a:r>
              <a:r>
                <a:rPr lang="en-GB" sz="1400" b="1" dirty="0">
                  <a:solidFill>
                    <a:schemeClr val="bg1"/>
                  </a:solidFill>
                </a:rPr>
                <a:t> Fm., Utah.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629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30D9A7D-D334-4AD9-98C5-9424E2E0E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1720968-C641-42B8-A03F-59638E4B6529}"/>
              </a:ext>
            </a:extLst>
          </p:cNvPr>
          <p:cNvSpPr txBox="1"/>
          <p:nvPr/>
        </p:nvSpPr>
        <p:spPr>
          <a:xfrm>
            <a:off x="251519" y="1157135"/>
            <a:ext cx="8640960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500" b="1" dirty="0">
                <a:latin typeface="+mj-lt"/>
              </a:rPr>
              <a:t>2. Concept of the two “wave bases”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7DE8A6A-C4BA-42A4-BBF6-B0874C925D34}"/>
              </a:ext>
            </a:extLst>
          </p:cNvPr>
          <p:cNvSpPr txBox="1"/>
          <p:nvPr/>
        </p:nvSpPr>
        <p:spPr>
          <a:xfrm>
            <a:off x="251519" y="5445224"/>
            <a:ext cx="8640960" cy="1246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During storms and tsunami, the agitation depth increases to a maximum (100 m or more)….</a:t>
            </a:r>
          </a:p>
          <a:p>
            <a:pPr lvl="1"/>
            <a:r>
              <a:rPr lang="en-GB" sz="2500" dirty="0">
                <a:latin typeface="+mj-lt"/>
                <a:sym typeface="Wingdings" panose="05000000000000000000" pitchFamily="2" charset="2"/>
              </a:rPr>
              <a:t>Called the “storm wave base” (SWB)</a:t>
            </a:r>
            <a:endParaRPr lang="en-GB" sz="2500" dirty="0">
              <a:latin typeface="+mj-lt"/>
            </a:endParaRPr>
          </a:p>
        </p:txBody>
      </p:sp>
      <p:pic>
        <p:nvPicPr>
          <p:cNvPr id="7" name="Picture 6" descr="Related image">
            <a:extLst>
              <a:ext uri="{FF2B5EF4-FFF2-40B4-BE49-F238E27FC236}">
                <a16:creationId xmlns:a16="http://schemas.microsoft.com/office/drawing/2014/main" xmlns="" id="{360F3DC2-E007-4EF2-B619-11992056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1794020"/>
            <a:ext cx="5980507" cy="354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97556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xmlns="" id="{B4BA993C-A2A9-4D55-A927-4F7125649882}"/>
              </a:ext>
            </a:extLst>
          </p:cNvPr>
          <p:cNvSpPr txBox="1"/>
          <p:nvPr/>
        </p:nvSpPr>
        <p:spPr>
          <a:xfrm>
            <a:off x="209445" y="1034784"/>
            <a:ext cx="8640960" cy="1246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Here, conditions are mainly quiescent with mud settling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But during storms, the seabed can become agitated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“The offshore transition zone”</a:t>
            </a:r>
          </a:p>
        </p:txBody>
      </p:sp>
      <p:pic>
        <p:nvPicPr>
          <p:cNvPr id="55392" name="Picture 55391">
            <a:extLst>
              <a:ext uri="{FF2B5EF4-FFF2-40B4-BE49-F238E27FC236}">
                <a16:creationId xmlns:a16="http://schemas.microsoft.com/office/drawing/2014/main" xmlns="" id="{A3F9AF4E-2154-40EA-82EA-E202380E9C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4638" y="2264511"/>
            <a:ext cx="7074724" cy="4509120"/>
          </a:xfrm>
          <a:prstGeom prst="rect">
            <a:avLst/>
          </a:prstGeom>
        </p:spPr>
      </p:pic>
      <p:sp>
        <p:nvSpPr>
          <p:cNvPr id="190" name="Rectangle 189">
            <a:extLst>
              <a:ext uri="{FF2B5EF4-FFF2-40B4-BE49-F238E27FC236}">
                <a16:creationId xmlns:a16="http://schemas.microsoft.com/office/drawing/2014/main" xmlns="" id="{C7D7F390-911C-42FE-85E2-EE8F019EF72F}"/>
              </a:ext>
            </a:extLst>
          </p:cNvPr>
          <p:cNvSpPr/>
          <p:nvPr/>
        </p:nvSpPr>
        <p:spPr>
          <a:xfrm flipV="1">
            <a:off x="4283968" y="2281275"/>
            <a:ext cx="1512168" cy="251587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xmlns="" id="{B7B99EB4-C9FE-4D9C-BE7C-3014A6E91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  <p:extLst>
      <p:ext uri="{BB962C8B-B14F-4D97-AF65-F5344CB8AC3E}">
        <p14:creationId xmlns:p14="http://schemas.microsoft.com/office/powerpoint/2010/main" val="386763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13" name="Group 11"/>
          <p:cNvGrpSpPr>
            <a:grpSpLocks/>
          </p:cNvGrpSpPr>
          <p:nvPr/>
        </p:nvGrpSpPr>
        <p:grpSpPr bwMode="auto">
          <a:xfrm>
            <a:off x="395536" y="1124744"/>
            <a:ext cx="4484688" cy="5645944"/>
            <a:chOff x="539552" y="29498"/>
            <a:chExt cx="4680520" cy="6741368"/>
          </a:xfrm>
        </p:grpSpPr>
        <p:grpSp>
          <p:nvGrpSpPr>
            <p:cNvPr id="47114" name="Group 7"/>
            <p:cNvGrpSpPr>
              <a:grpSpLocks/>
            </p:cNvGrpSpPr>
            <p:nvPr/>
          </p:nvGrpSpPr>
          <p:grpSpPr bwMode="auto">
            <a:xfrm>
              <a:off x="539552" y="29498"/>
              <a:ext cx="4680520" cy="6741367"/>
              <a:chOff x="610826" y="116632"/>
              <a:chExt cx="4566428" cy="6624735"/>
            </a:xfrm>
          </p:grpSpPr>
          <p:pic>
            <p:nvPicPr>
              <p:cNvPr id="47125" name="Picture 2" descr="storm processes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27" t="1659" r="3967" b="4131"/>
              <a:stretch>
                <a:fillRect/>
              </a:stretch>
            </p:blipFill>
            <p:spPr bwMode="auto">
              <a:xfrm>
                <a:off x="610826" y="116632"/>
                <a:ext cx="4566428" cy="662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126" name="Rectangle 6"/>
              <p:cNvSpPr>
                <a:spLocks noChangeArrowheads="1"/>
              </p:cNvSpPr>
              <p:nvPr/>
            </p:nvSpPr>
            <p:spPr bwMode="auto">
              <a:xfrm>
                <a:off x="971600" y="2276872"/>
                <a:ext cx="576064" cy="14401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GB" altLang="en-US" sz="2400"/>
              </a:p>
            </p:txBody>
          </p:sp>
        </p:grpSp>
        <p:sp>
          <p:nvSpPr>
            <p:cNvPr id="47115" name="Freeform 1"/>
            <p:cNvSpPr>
              <a:spLocks/>
            </p:cNvSpPr>
            <p:nvPr/>
          </p:nvSpPr>
          <p:spPr bwMode="auto">
            <a:xfrm>
              <a:off x="562708" y="967154"/>
              <a:ext cx="3631223" cy="1116623"/>
            </a:xfrm>
            <a:custGeom>
              <a:avLst/>
              <a:gdLst>
                <a:gd name="T0" fmla="*/ 0 w 3631223"/>
                <a:gd name="T1" fmla="*/ 1116623 h 1116623"/>
                <a:gd name="T2" fmla="*/ 1019907 w 3631223"/>
                <a:gd name="T3" fmla="*/ 975946 h 1116623"/>
                <a:gd name="T4" fmla="*/ 1582615 w 3631223"/>
                <a:gd name="T5" fmla="*/ 835269 h 1116623"/>
                <a:gd name="T6" fmla="*/ 1661746 w 3631223"/>
                <a:gd name="T7" fmla="*/ 685800 h 1116623"/>
                <a:gd name="T8" fmla="*/ 1820007 w 3631223"/>
                <a:gd name="T9" fmla="*/ 615461 h 1116623"/>
                <a:gd name="T10" fmla="*/ 2136530 w 3631223"/>
                <a:gd name="T11" fmla="*/ 624254 h 1116623"/>
                <a:gd name="T12" fmla="*/ 2602523 w 3631223"/>
                <a:gd name="T13" fmla="*/ 501161 h 1116623"/>
                <a:gd name="T14" fmla="*/ 3191607 w 3631223"/>
                <a:gd name="T15" fmla="*/ 342900 h 1116623"/>
                <a:gd name="T16" fmla="*/ 3631223 w 3631223"/>
                <a:gd name="T17" fmla="*/ 0 h 1116623"/>
                <a:gd name="T18" fmla="*/ 2954215 w 3631223"/>
                <a:gd name="T19" fmla="*/ 237392 h 1116623"/>
                <a:gd name="T20" fmla="*/ 2672861 w 3631223"/>
                <a:gd name="T21" fmla="*/ 307731 h 1116623"/>
                <a:gd name="T22" fmla="*/ 2497015 w 3631223"/>
                <a:gd name="T23" fmla="*/ 307731 h 1116623"/>
                <a:gd name="T24" fmla="*/ 2268415 w 3631223"/>
                <a:gd name="T25" fmla="*/ 254977 h 1116623"/>
                <a:gd name="T26" fmla="*/ 2004646 w 3631223"/>
                <a:gd name="T27" fmla="*/ 360484 h 1116623"/>
                <a:gd name="T28" fmla="*/ 1696915 w 3631223"/>
                <a:gd name="T29" fmla="*/ 307731 h 1116623"/>
                <a:gd name="T30" fmla="*/ 1547446 w 3631223"/>
                <a:gd name="T31" fmla="*/ 325315 h 1116623"/>
                <a:gd name="T32" fmla="*/ 1327638 w 3631223"/>
                <a:gd name="T33" fmla="*/ 386861 h 1116623"/>
                <a:gd name="T34" fmla="*/ 1099038 w 3631223"/>
                <a:gd name="T35" fmla="*/ 342900 h 1116623"/>
                <a:gd name="T36" fmla="*/ 1046284 w 3631223"/>
                <a:gd name="T37" fmla="*/ 334108 h 1116623"/>
                <a:gd name="T38" fmla="*/ 773723 w 3631223"/>
                <a:gd name="T39" fmla="*/ 395654 h 1116623"/>
                <a:gd name="T40" fmla="*/ 553915 w 3631223"/>
                <a:gd name="T41" fmla="*/ 378069 h 1116623"/>
                <a:gd name="T42" fmla="*/ 272561 w 3631223"/>
                <a:gd name="T43" fmla="*/ 413238 h 1116623"/>
                <a:gd name="T44" fmla="*/ 0 w 3631223"/>
                <a:gd name="T45" fmla="*/ 404446 h 1116623"/>
                <a:gd name="T46" fmla="*/ 0 w 3631223"/>
                <a:gd name="T47" fmla="*/ 1116623 h 111662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631223" h="1116623">
                  <a:moveTo>
                    <a:pt x="0" y="1116623"/>
                  </a:moveTo>
                  <a:lnTo>
                    <a:pt x="1019907" y="975946"/>
                  </a:lnTo>
                  <a:cubicBezTo>
                    <a:pt x="1257299" y="920261"/>
                    <a:pt x="1475642" y="883627"/>
                    <a:pt x="1582615" y="835269"/>
                  </a:cubicBezTo>
                  <a:cubicBezTo>
                    <a:pt x="1645626" y="786911"/>
                    <a:pt x="1595804" y="713642"/>
                    <a:pt x="1661746" y="685800"/>
                  </a:cubicBezTo>
                  <a:cubicBezTo>
                    <a:pt x="1727688" y="657958"/>
                    <a:pt x="1724757" y="641838"/>
                    <a:pt x="1820007" y="615461"/>
                  </a:cubicBezTo>
                  <a:cubicBezTo>
                    <a:pt x="1957753" y="586153"/>
                    <a:pt x="1998784" y="653562"/>
                    <a:pt x="2136530" y="624254"/>
                  </a:cubicBezTo>
                  <a:lnTo>
                    <a:pt x="2602523" y="501161"/>
                  </a:lnTo>
                  <a:lnTo>
                    <a:pt x="3191607" y="342900"/>
                  </a:lnTo>
                  <a:lnTo>
                    <a:pt x="3631223" y="0"/>
                  </a:lnTo>
                  <a:lnTo>
                    <a:pt x="2954215" y="237392"/>
                  </a:lnTo>
                  <a:lnTo>
                    <a:pt x="2672861" y="307731"/>
                  </a:lnTo>
                  <a:lnTo>
                    <a:pt x="2497015" y="307731"/>
                  </a:lnTo>
                  <a:lnTo>
                    <a:pt x="2268415" y="254977"/>
                  </a:lnTo>
                  <a:lnTo>
                    <a:pt x="2004646" y="360484"/>
                  </a:lnTo>
                  <a:lnTo>
                    <a:pt x="1696915" y="307731"/>
                  </a:lnTo>
                  <a:lnTo>
                    <a:pt x="1547446" y="325315"/>
                  </a:lnTo>
                  <a:lnTo>
                    <a:pt x="1327638" y="386861"/>
                  </a:lnTo>
                  <a:lnTo>
                    <a:pt x="1099038" y="342900"/>
                  </a:lnTo>
                  <a:lnTo>
                    <a:pt x="1046284" y="334108"/>
                  </a:lnTo>
                  <a:lnTo>
                    <a:pt x="773723" y="395654"/>
                  </a:lnTo>
                  <a:lnTo>
                    <a:pt x="553915" y="378069"/>
                  </a:lnTo>
                  <a:lnTo>
                    <a:pt x="272561" y="413238"/>
                  </a:lnTo>
                  <a:lnTo>
                    <a:pt x="0" y="404446"/>
                  </a:lnTo>
                  <a:lnTo>
                    <a:pt x="0" y="1116623"/>
                  </a:lnTo>
                  <a:close/>
                </a:path>
              </a:pathLst>
            </a:custGeom>
            <a:solidFill>
              <a:srgbClr val="0070C0">
                <a:alpha val="2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116" name="Freeform 2"/>
            <p:cNvSpPr>
              <a:spLocks/>
            </p:cNvSpPr>
            <p:nvPr/>
          </p:nvSpPr>
          <p:spPr bwMode="auto">
            <a:xfrm>
              <a:off x="4475285" y="949569"/>
              <a:ext cx="571500" cy="290146"/>
            </a:xfrm>
            <a:custGeom>
              <a:avLst/>
              <a:gdLst>
                <a:gd name="T0" fmla="*/ 0 w 571500"/>
                <a:gd name="T1" fmla="*/ 26377 h 290146"/>
                <a:gd name="T2" fmla="*/ 571500 w 571500"/>
                <a:gd name="T3" fmla="*/ 0 h 290146"/>
                <a:gd name="T4" fmla="*/ 553915 w 571500"/>
                <a:gd name="T5" fmla="*/ 290146 h 290146"/>
                <a:gd name="T6" fmla="*/ 448407 w 571500"/>
                <a:gd name="T7" fmla="*/ 290146 h 290146"/>
                <a:gd name="T8" fmla="*/ 263769 w 571500"/>
                <a:gd name="T9" fmla="*/ 237393 h 290146"/>
                <a:gd name="T10" fmla="*/ 0 w 571500"/>
                <a:gd name="T11" fmla="*/ 26377 h 2901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1500" h="290146">
                  <a:moveTo>
                    <a:pt x="0" y="26377"/>
                  </a:moveTo>
                  <a:lnTo>
                    <a:pt x="571500" y="0"/>
                  </a:lnTo>
                  <a:lnTo>
                    <a:pt x="553915" y="290146"/>
                  </a:lnTo>
                  <a:lnTo>
                    <a:pt x="448407" y="290146"/>
                  </a:lnTo>
                  <a:lnTo>
                    <a:pt x="263769" y="237393"/>
                  </a:lnTo>
                  <a:lnTo>
                    <a:pt x="0" y="26377"/>
                  </a:lnTo>
                  <a:close/>
                </a:path>
              </a:pathLst>
            </a:custGeom>
            <a:solidFill>
              <a:srgbClr val="0070C0">
                <a:alpha val="2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117" name="Freeform 3"/>
            <p:cNvSpPr>
              <a:spLocks/>
            </p:cNvSpPr>
            <p:nvPr/>
          </p:nvSpPr>
          <p:spPr bwMode="auto">
            <a:xfrm>
              <a:off x="3332285" y="861646"/>
              <a:ext cx="1714500" cy="773723"/>
            </a:xfrm>
            <a:custGeom>
              <a:avLst/>
              <a:gdLst>
                <a:gd name="T0" fmla="*/ 0 w 1714500"/>
                <a:gd name="T1" fmla="*/ 606669 h 773723"/>
                <a:gd name="T2" fmla="*/ 650630 w 1714500"/>
                <a:gd name="T3" fmla="*/ 316523 h 773723"/>
                <a:gd name="T4" fmla="*/ 888023 w 1714500"/>
                <a:gd name="T5" fmla="*/ 0 h 773723"/>
                <a:gd name="T6" fmla="*/ 984738 w 1714500"/>
                <a:gd name="T7" fmla="*/ 26377 h 773723"/>
                <a:gd name="T8" fmla="*/ 1028700 w 1714500"/>
                <a:gd name="T9" fmla="*/ 26377 h 773723"/>
                <a:gd name="T10" fmla="*/ 1389184 w 1714500"/>
                <a:gd name="T11" fmla="*/ 307731 h 773723"/>
                <a:gd name="T12" fmla="*/ 1714500 w 1714500"/>
                <a:gd name="T13" fmla="*/ 404446 h 773723"/>
                <a:gd name="T14" fmla="*/ 1389184 w 1714500"/>
                <a:gd name="T15" fmla="*/ 465992 h 773723"/>
                <a:gd name="T16" fmla="*/ 1477107 w 1714500"/>
                <a:gd name="T17" fmla="*/ 580292 h 773723"/>
                <a:gd name="T18" fmla="*/ 448407 w 1714500"/>
                <a:gd name="T19" fmla="*/ 589085 h 773723"/>
                <a:gd name="T20" fmla="*/ 61546 w 1714500"/>
                <a:gd name="T21" fmla="*/ 773723 h 773723"/>
                <a:gd name="T22" fmla="*/ 246184 w 1714500"/>
                <a:gd name="T23" fmla="*/ 606669 h 773723"/>
                <a:gd name="T24" fmla="*/ 0 w 1714500"/>
                <a:gd name="T25" fmla="*/ 606669 h 77372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14500" h="773723">
                  <a:moveTo>
                    <a:pt x="0" y="606669"/>
                  </a:moveTo>
                  <a:lnTo>
                    <a:pt x="650630" y="316523"/>
                  </a:lnTo>
                  <a:lnTo>
                    <a:pt x="888023" y="0"/>
                  </a:lnTo>
                  <a:lnTo>
                    <a:pt x="984738" y="26377"/>
                  </a:lnTo>
                  <a:lnTo>
                    <a:pt x="1028700" y="26377"/>
                  </a:lnTo>
                  <a:lnTo>
                    <a:pt x="1389184" y="307731"/>
                  </a:lnTo>
                  <a:lnTo>
                    <a:pt x="1714500" y="404446"/>
                  </a:lnTo>
                  <a:lnTo>
                    <a:pt x="1389184" y="465992"/>
                  </a:lnTo>
                  <a:lnTo>
                    <a:pt x="1477107" y="580292"/>
                  </a:lnTo>
                  <a:lnTo>
                    <a:pt x="448407" y="589085"/>
                  </a:lnTo>
                  <a:lnTo>
                    <a:pt x="61546" y="773723"/>
                  </a:lnTo>
                  <a:lnTo>
                    <a:pt x="246184" y="606669"/>
                  </a:lnTo>
                  <a:lnTo>
                    <a:pt x="0" y="606669"/>
                  </a:lnTo>
                  <a:close/>
                </a:path>
              </a:pathLst>
            </a:custGeom>
            <a:solidFill>
              <a:srgbClr val="FFFF00">
                <a:alpha val="2862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118" name="Freeform 4"/>
            <p:cNvSpPr>
              <a:spLocks/>
            </p:cNvSpPr>
            <p:nvPr/>
          </p:nvSpPr>
          <p:spPr bwMode="auto">
            <a:xfrm>
              <a:off x="2145323" y="1371600"/>
              <a:ext cx="1380392" cy="439615"/>
            </a:xfrm>
            <a:custGeom>
              <a:avLst/>
              <a:gdLst>
                <a:gd name="T0" fmla="*/ 61546 w 1380392"/>
                <a:gd name="T1" fmla="*/ 439615 h 439615"/>
                <a:gd name="T2" fmla="*/ 967154 w 1380392"/>
                <a:gd name="T3" fmla="*/ 211015 h 439615"/>
                <a:gd name="T4" fmla="*/ 1380392 w 1380392"/>
                <a:gd name="T5" fmla="*/ 0 h 439615"/>
                <a:gd name="T6" fmla="*/ 808892 w 1380392"/>
                <a:gd name="T7" fmla="*/ 167054 h 439615"/>
                <a:gd name="T8" fmla="*/ 457200 w 1380392"/>
                <a:gd name="T9" fmla="*/ 237392 h 439615"/>
                <a:gd name="T10" fmla="*/ 202223 w 1380392"/>
                <a:gd name="T11" fmla="*/ 193431 h 439615"/>
                <a:gd name="T12" fmla="*/ 79131 w 1380392"/>
                <a:gd name="T13" fmla="*/ 290146 h 439615"/>
                <a:gd name="T14" fmla="*/ 26377 w 1380392"/>
                <a:gd name="T15" fmla="*/ 342900 h 439615"/>
                <a:gd name="T16" fmla="*/ 0 w 1380392"/>
                <a:gd name="T17" fmla="*/ 386862 h 439615"/>
                <a:gd name="T18" fmla="*/ 61546 w 1380392"/>
                <a:gd name="T19" fmla="*/ 439615 h 4396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0392" h="439615">
                  <a:moveTo>
                    <a:pt x="61546" y="439615"/>
                  </a:moveTo>
                  <a:lnTo>
                    <a:pt x="967154" y="211015"/>
                  </a:lnTo>
                  <a:lnTo>
                    <a:pt x="1380392" y="0"/>
                  </a:lnTo>
                  <a:lnTo>
                    <a:pt x="808892" y="167054"/>
                  </a:lnTo>
                  <a:lnTo>
                    <a:pt x="457200" y="237392"/>
                  </a:lnTo>
                  <a:lnTo>
                    <a:pt x="202223" y="193431"/>
                  </a:lnTo>
                  <a:lnTo>
                    <a:pt x="79131" y="290146"/>
                  </a:lnTo>
                  <a:lnTo>
                    <a:pt x="26377" y="342900"/>
                  </a:lnTo>
                  <a:lnTo>
                    <a:pt x="0" y="386862"/>
                  </a:lnTo>
                  <a:lnTo>
                    <a:pt x="61546" y="439615"/>
                  </a:lnTo>
                  <a:close/>
                </a:path>
              </a:pathLst>
            </a:custGeom>
            <a:solidFill>
              <a:srgbClr val="FFFF00">
                <a:alpha val="2862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119" name="Freeform 5"/>
            <p:cNvSpPr>
              <a:spLocks/>
            </p:cNvSpPr>
            <p:nvPr/>
          </p:nvSpPr>
          <p:spPr bwMode="auto">
            <a:xfrm>
              <a:off x="2373923" y="2066192"/>
              <a:ext cx="413239" cy="105508"/>
            </a:xfrm>
            <a:custGeom>
              <a:avLst/>
              <a:gdLst>
                <a:gd name="T0" fmla="*/ 26377 w 413239"/>
                <a:gd name="T1" fmla="*/ 96716 h 105508"/>
                <a:gd name="T2" fmla="*/ 413239 w 413239"/>
                <a:gd name="T3" fmla="*/ 105508 h 105508"/>
                <a:gd name="T4" fmla="*/ 386862 w 413239"/>
                <a:gd name="T5" fmla="*/ 17585 h 105508"/>
                <a:gd name="T6" fmla="*/ 219808 w 413239"/>
                <a:gd name="T7" fmla="*/ 8793 h 105508"/>
                <a:gd name="T8" fmla="*/ 123092 w 413239"/>
                <a:gd name="T9" fmla="*/ 35170 h 105508"/>
                <a:gd name="T10" fmla="*/ 0 w 413239"/>
                <a:gd name="T11" fmla="*/ 0 h 105508"/>
                <a:gd name="T12" fmla="*/ 26377 w 413239"/>
                <a:gd name="T13" fmla="*/ 96716 h 1055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3239" h="105508">
                  <a:moveTo>
                    <a:pt x="26377" y="96716"/>
                  </a:moveTo>
                  <a:lnTo>
                    <a:pt x="413239" y="105508"/>
                  </a:lnTo>
                  <a:lnTo>
                    <a:pt x="386862" y="17585"/>
                  </a:lnTo>
                  <a:lnTo>
                    <a:pt x="219808" y="8793"/>
                  </a:lnTo>
                  <a:lnTo>
                    <a:pt x="123092" y="35170"/>
                  </a:lnTo>
                  <a:lnTo>
                    <a:pt x="0" y="0"/>
                  </a:lnTo>
                  <a:lnTo>
                    <a:pt x="26377" y="96716"/>
                  </a:lnTo>
                  <a:close/>
                </a:path>
              </a:pathLst>
            </a:custGeom>
            <a:solidFill>
              <a:srgbClr val="FFFF00">
                <a:alpha val="2862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120" name="Freeform 6"/>
            <p:cNvSpPr>
              <a:spLocks/>
            </p:cNvSpPr>
            <p:nvPr/>
          </p:nvSpPr>
          <p:spPr bwMode="auto">
            <a:xfrm>
              <a:off x="888023" y="2066192"/>
              <a:ext cx="342900" cy="175846"/>
            </a:xfrm>
            <a:custGeom>
              <a:avLst/>
              <a:gdLst>
                <a:gd name="T0" fmla="*/ 17585 w 342900"/>
                <a:gd name="T1" fmla="*/ 175846 h 175846"/>
                <a:gd name="T2" fmla="*/ 342900 w 342900"/>
                <a:gd name="T3" fmla="*/ 149470 h 175846"/>
                <a:gd name="T4" fmla="*/ 334108 w 342900"/>
                <a:gd name="T5" fmla="*/ 43962 h 175846"/>
                <a:gd name="T6" fmla="*/ 228600 w 342900"/>
                <a:gd name="T7" fmla="*/ 35170 h 175846"/>
                <a:gd name="T8" fmla="*/ 167054 w 342900"/>
                <a:gd name="T9" fmla="*/ 61546 h 175846"/>
                <a:gd name="T10" fmla="*/ 70339 w 342900"/>
                <a:gd name="T11" fmla="*/ 0 h 175846"/>
                <a:gd name="T12" fmla="*/ 0 w 342900"/>
                <a:gd name="T13" fmla="*/ 52754 h 175846"/>
                <a:gd name="T14" fmla="*/ 17585 w 342900"/>
                <a:gd name="T15" fmla="*/ 175846 h 1758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2900" h="175846">
                  <a:moveTo>
                    <a:pt x="17585" y="175846"/>
                  </a:moveTo>
                  <a:lnTo>
                    <a:pt x="342900" y="149470"/>
                  </a:lnTo>
                  <a:lnTo>
                    <a:pt x="334108" y="43962"/>
                  </a:lnTo>
                  <a:lnTo>
                    <a:pt x="228600" y="35170"/>
                  </a:lnTo>
                  <a:lnTo>
                    <a:pt x="167054" y="61546"/>
                  </a:lnTo>
                  <a:lnTo>
                    <a:pt x="70339" y="0"/>
                  </a:lnTo>
                  <a:lnTo>
                    <a:pt x="0" y="52754"/>
                  </a:lnTo>
                  <a:lnTo>
                    <a:pt x="17585" y="175846"/>
                  </a:lnTo>
                  <a:close/>
                </a:path>
              </a:pathLst>
            </a:custGeom>
            <a:solidFill>
              <a:srgbClr val="FFFF00">
                <a:alpha val="2862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121" name="Freeform 7"/>
            <p:cNvSpPr>
              <a:spLocks/>
            </p:cNvSpPr>
            <p:nvPr/>
          </p:nvSpPr>
          <p:spPr bwMode="auto">
            <a:xfrm>
              <a:off x="1943100" y="2690446"/>
              <a:ext cx="2338754" cy="808892"/>
            </a:xfrm>
            <a:custGeom>
              <a:avLst/>
              <a:gdLst>
                <a:gd name="T0" fmla="*/ 43962 w 2338754"/>
                <a:gd name="T1" fmla="*/ 808892 h 808892"/>
                <a:gd name="T2" fmla="*/ 808892 w 2338754"/>
                <a:gd name="T3" fmla="*/ 773723 h 808892"/>
                <a:gd name="T4" fmla="*/ 1441938 w 2338754"/>
                <a:gd name="T5" fmla="*/ 641839 h 808892"/>
                <a:gd name="T6" fmla="*/ 1943100 w 2338754"/>
                <a:gd name="T7" fmla="*/ 404446 h 808892"/>
                <a:gd name="T8" fmla="*/ 2338754 w 2338754"/>
                <a:gd name="T9" fmla="*/ 8792 h 808892"/>
                <a:gd name="T10" fmla="*/ 2198077 w 2338754"/>
                <a:gd name="T11" fmla="*/ 0 h 808892"/>
                <a:gd name="T12" fmla="*/ 2162908 w 2338754"/>
                <a:gd name="T13" fmla="*/ 43962 h 808892"/>
                <a:gd name="T14" fmla="*/ 2074985 w 2338754"/>
                <a:gd name="T15" fmla="*/ 35169 h 808892"/>
                <a:gd name="T16" fmla="*/ 1907931 w 2338754"/>
                <a:gd name="T17" fmla="*/ 43962 h 808892"/>
                <a:gd name="T18" fmla="*/ 1811215 w 2338754"/>
                <a:gd name="T19" fmla="*/ 79131 h 808892"/>
                <a:gd name="T20" fmla="*/ 1749669 w 2338754"/>
                <a:gd name="T21" fmla="*/ 114300 h 808892"/>
                <a:gd name="T22" fmla="*/ 1652954 w 2338754"/>
                <a:gd name="T23" fmla="*/ 43962 h 808892"/>
                <a:gd name="T24" fmla="*/ 1380392 w 2338754"/>
                <a:gd name="T25" fmla="*/ 114300 h 808892"/>
                <a:gd name="T26" fmla="*/ 1283677 w 2338754"/>
                <a:gd name="T27" fmla="*/ 79131 h 808892"/>
                <a:gd name="T28" fmla="*/ 1213338 w 2338754"/>
                <a:gd name="T29" fmla="*/ 114300 h 808892"/>
                <a:gd name="T30" fmla="*/ 923192 w 2338754"/>
                <a:gd name="T31" fmla="*/ 131885 h 808892"/>
                <a:gd name="T32" fmla="*/ 826477 w 2338754"/>
                <a:gd name="T33" fmla="*/ 140677 h 808892"/>
                <a:gd name="T34" fmla="*/ 430823 w 2338754"/>
                <a:gd name="T35" fmla="*/ 140677 h 808892"/>
                <a:gd name="T36" fmla="*/ 237392 w 2338754"/>
                <a:gd name="T37" fmla="*/ 158262 h 808892"/>
                <a:gd name="T38" fmla="*/ 0 w 2338754"/>
                <a:gd name="T39" fmla="*/ 131885 h 808892"/>
                <a:gd name="T40" fmla="*/ 43962 w 2338754"/>
                <a:gd name="T41" fmla="*/ 808892 h 80889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338754" h="808892">
                  <a:moveTo>
                    <a:pt x="43962" y="808892"/>
                  </a:moveTo>
                  <a:lnTo>
                    <a:pt x="808892" y="773723"/>
                  </a:lnTo>
                  <a:lnTo>
                    <a:pt x="1441938" y="641839"/>
                  </a:lnTo>
                  <a:lnTo>
                    <a:pt x="1943100" y="404446"/>
                  </a:lnTo>
                  <a:lnTo>
                    <a:pt x="2338754" y="8792"/>
                  </a:lnTo>
                  <a:lnTo>
                    <a:pt x="2198077" y="0"/>
                  </a:lnTo>
                  <a:lnTo>
                    <a:pt x="2162908" y="43962"/>
                  </a:lnTo>
                  <a:lnTo>
                    <a:pt x="2074985" y="35169"/>
                  </a:lnTo>
                  <a:lnTo>
                    <a:pt x="1907931" y="43962"/>
                  </a:lnTo>
                  <a:lnTo>
                    <a:pt x="1811215" y="79131"/>
                  </a:lnTo>
                  <a:lnTo>
                    <a:pt x="1749669" y="114300"/>
                  </a:lnTo>
                  <a:lnTo>
                    <a:pt x="1652954" y="43962"/>
                  </a:lnTo>
                  <a:lnTo>
                    <a:pt x="1380392" y="114300"/>
                  </a:lnTo>
                  <a:lnTo>
                    <a:pt x="1283677" y="79131"/>
                  </a:lnTo>
                  <a:lnTo>
                    <a:pt x="1213338" y="114300"/>
                  </a:lnTo>
                  <a:lnTo>
                    <a:pt x="923192" y="131885"/>
                  </a:lnTo>
                  <a:lnTo>
                    <a:pt x="826477" y="140677"/>
                  </a:lnTo>
                  <a:lnTo>
                    <a:pt x="430823" y="140677"/>
                  </a:lnTo>
                  <a:lnTo>
                    <a:pt x="237392" y="158262"/>
                  </a:lnTo>
                  <a:lnTo>
                    <a:pt x="0" y="131885"/>
                  </a:lnTo>
                  <a:lnTo>
                    <a:pt x="43962" y="808892"/>
                  </a:lnTo>
                  <a:close/>
                </a:path>
              </a:pathLst>
            </a:custGeom>
            <a:solidFill>
              <a:srgbClr val="0070C0">
                <a:alpha val="2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122" name="Freeform 8"/>
            <p:cNvSpPr>
              <a:spLocks/>
            </p:cNvSpPr>
            <p:nvPr/>
          </p:nvSpPr>
          <p:spPr bwMode="auto">
            <a:xfrm>
              <a:off x="1907931" y="2576146"/>
              <a:ext cx="2664069" cy="1151792"/>
            </a:xfrm>
            <a:custGeom>
              <a:avLst/>
              <a:gdLst>
                <a:gd name="T0" fmla="*/ 2435469 w 2664069"/>
                <a:gd name="T1" fmla="*/ 0 h 1151792"/>
                <a:gd name="T2" fmla="*/ 2110154 w 2664069"/>
                <a:gd name="T3" fmla="*/ 422031 h 1151792"/>
                <a:gd name="T4" fmla="*/ 1477107 w 2664069"/>
                <a:gd name="T5" fmla="*/ 747346 h 1151792"/>
                <a:gd name="T6" fmla="*/ 536331 w 2664069"/>
                <a:gd name="T7" fmla="*/ 923192 h 1151792"/>
                <a:gd name="T8" fmla="*/ 70338 w 2664069"/>
                <a:gd name="T9" fmla="*/ 914400 h 1151792"/>
                <a:gd name="T10" fmla="*/ 0 w 2664069"/>
                <a:gd name="T11" fmla="*/ 1099039 h 1151792"/>
                <a:gd name="T12" fmla="*/ 483577 w 2664069"/>
                <a:gd name="T13" fmla="*/ 1151792 h 1151792"/>
                <a:gd name="T14" fmla="*/ 1723292 w 2664069"/>
                <a:gd name="T15" fmla="*/ 967154 h 1151792"/>
                <a:gd name="T16" fmla="*/ 1855177 w 2664069"/>
                <a:gd name="T17" fmla="*/ 791308 h 1151792"/>
                <a:gd name="T18" fmla="*/ 2329961 w 2664069"/>
                <a:gd name="T19" fmla="*/ 808892 h 1151792"/>
                <a:gd name="T20" fmla="*/ 2347546 w 2664069"/>
                <a:gd name="T21" fmla="*/ 633046 h 1151792"/>
                <a:gd name="T22" fmla="*/ 2664069 w 2664069"/>
                <a:gd name="T23" fmla="*/ 237392 h 1151792"/>
                <a:gd name="T24" fmla="*/ 2435469 w 2664069"/>
                <a:gd name="T25" fmla="*/ 0 h 11517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664069" h="1151792">
                  <a:moveTo>
                    <a:pt x="2435469" y="0"/>
                  </a:moveTo>
                  <a:lnTo>
                    <a:pt x="2110154" y="422031"/>
                  </a:lnTo>
                  <a:lnTo>
                    <a:pt x="1477107" y="747346"/>
                  </a:lnTo>
                  <a:lnTo>
                    <a:pt x="536331" y="923192"/>
                  </a:lnTo>
                  <a:lnTo>
                    <a:pt x="70338" y="914400"/>
                  </a:lnTo>
                  <a:lnTo>
                    <a:pt x="0" y="1099039"/>
                  </a:lnTo>
                  <a:lnTo>
                    <a:pt x="483577" y="1151792"/>
                  </a:lnTo>
                  <a:lnTo>
                    <a:pt x="1723292" y="967154"/>
                  </a:lnTo>
                  <a:lnTo>
                    <a:pt x="1855177" y="791308"/>
                  </a:lnTo>
                  <a:lnTo>
                    <a:pt x="2329961" y="808892"/>
                  </a:lnTo>
                  <a:lnTo>
                    <a:pt x="2347546" y="633046"/>
                  </a:lnTo>
                  <a:lnTo>
                    <a:pt x="2664069" y="237392"/>
                  </a:lnTo>
                  <a:lnTo>
                    <a:pt x="2435469" y="0"/>
                  </a:lnTo>
                  <a:close/>
                </a:path>
              </a:pathLst>
            </a:custGeom>
            <a:solidFill>
              <a:srgbClr val="FFFF00">
                <a:alpha val="2862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123" name="Rectangle 9"/>
            <p:cNvSpPr>
              <a:spLocks noChangeArrowheads="1"/>
            </p:cNvSpPr>
            <p:nvPr/>
          </p:nvSpPr>
          <p:spPr bwMode="auto">
            <a:xfrm>
              <a:off x="562708" y="3851425"/>
              <a:ext cx="2137084" cy="2871084"/>
            </a:xfrm>
            <a:prstGeom prst="rect">
              <a:avLst/>
            </a:prstGeom>
            <a:solidFill>
              <a:srgbClr val="0070C0">
                <a:alpha val="2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 altLang="en-US"/>
            </a:p>
          </p:txBody>
        </p:sp>
        <p:sp>
          <p:nvSpPr>
            <p:cNvPr id="47124" name="Rectangle 10"/>
            <p:cNvSpPr>
              <a:spLocks noChangeArrowheads="1"/>
            </p:cNvSpPr>
            <p:nvPr/>
          </p:nvSpPr>
          <p:spPr bwMode="auto">
            <a:xfrm>
              <a:off x="2699793" y="3842238"/>
              <a:ext cx="288032" cy="2928628"/>
            </a:xfrm>
            <a:prstGeom prst="rect">
              <a:avLst/>
            </a:prstGeom>
            <a:solidFill>
              <a:srgbClr val="FFFF00">
                <a:alpha val="2862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 alt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343BF094-BD57-40AB-8463-EBA8D9DED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6DDF967-2FF5-455D-BED1-5CFFA7C7CFEC}"/>
              </a:ext>
            </a:extLst>
          </p:cNvPr>
          <p:cNvSpPr txBox="1"/>
          <p:nvPr/>
        </p:nvSpPr>
        <p:spPr>
          <a:xfrm>
            <a:off x="4773158" y="1400864"/>
            <a:ext cx="4263338" cy="509370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During storms, onshore winds and decreasing atm. pressure sets up a pressure gradient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Which “relaxes” as the storm wanes, and directs a current offshore.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Flows entrain, wane and deposit as the storm wanes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Combined unidirectional/oscillatory currents form characteristic bedforms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53CCE9-1648-4B50-A6D9-77B069538FF4}"/>
              </a:ext>
            </a:extLst>
          </p:cNvPr>
          <p:cNvSpPr txBox="1"/>
          <p:nvPr/>
        </p:nvSpPr>
        <p:spPr>
          <a:xfrm>
            <a:off x="179512" y="1123770"/>
            <a:ext cx="8784976" cy="1246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Product of the combined flows are hummocky cross stratification!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Commonly preserved in mud as conditions return to “normal”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DDA967E-3BF0-402F-B37C-8D80E06ED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033C639-D536-4CA0-A16E-FB4292FED1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4638" y="2264511"/>
            <a:ext cx="7074724" cy="4509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B98E30D-2EAE-4E59-ACB2-5EAD4AEACF72}"/>
              </a:ext>
            </a:extLst>
          </p:cNvPr>
          <p:cNvSpPr/>
          <p:nvPr/>
        </p:nvSpPr>
        <p:spPr>
          <a:xfrm flipV="1">
            <a:off x="4283968" y="2281275"/>
            <a:ext cx="1512168" cy="251587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xmlns="" id="{F177A94F-132E-4264-89F9-F746458A7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140968"/>
            <a:ext cx="4764020" cy="35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 descr="Hummocky and swaley cross-stratification | SpringerLink">
            <a:extLst>
              <a:ext uri="{FF2B5EF4-FFF2-40B4-BE49-F238E27FC236}">
                <a16:creationId xmlns:a16="http://schemas.microsoft.com/office/drawing/2014/main" xmlns="" id="{644CEAA5-F7FB-406A-99F8-B7E6FAC89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564" y="1545942"/>
            <a:ext cx="609600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80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53CCE9-1648-4B50-A6D9-77B069538FF4}"/>
              </a:ext>
            </a:extLst>
          </p:cNvPr>
          <p:cNvSpPr txBox="1"/>
          <p:nvPr/>
        </p:nvSpPr>
        <p:spPr>
          <a:xfrm>
            <a:off x="179512" y="1123770"/>
            <a:ext cx="8784976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What happens offshore?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Not much really… suspension of any mud plumes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DDA967E-3BF0-402F-B37C-8D80E06ED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033C639-D536-4CA0-A16E-FB4292FED1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4638" y="2264511"/>
            <a:ext cx="7074724" cy="4509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B98E30D-2EAE-4E59-ACB2-5EAD4AEACF72}"/>
              </a:ext>
            </a:extLst>
          </p:cNvPr>
          <p:cNvSpPr/>
          <p:nvPr/>
        </p:nvSpPr>
        <p:spPr>
          <a:xfrm flipH="1" flipV="1">
            <a:off x="5652120" y="2281274"/>
            <a:ext cx="2088232" cy="27319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1311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53CCE9-1648-4B50-A6D9-77B069538FF4}"/>
              </a:ext>
            </a:extLst>
          </p:cNvPr>
          <p:cNvSpPr txBox="1"/>
          <p:nvPr/>
        </p:nvSpPr>
        <p:spPr>
          <a:xfrm>
            <a:off x="179512" y="1123770"/>
            <a:ext cx="8784976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And the upper shoreface?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DDA967E-3BF0-402F-B37C-8D80E06ED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033C639-D536-4CA0-A16E-FB4292FED1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4638" y="2264511"/>
            <a:ext cx="7074724" cy="4509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B98E30D-2EAE-4E59-ACB2-5EAD4AEACF72}"/>
              </a:ext>
            </a:extLst>
          </p:cNvPr>
          <p:cNvSpPr/>
          <p:nvPr/>
        </p:nvSpPr>
        <p:spPr>
          <a:xfrm flipV="1">
            <a:off x="2555776" y="2281272"/>
            <a:ext cx="1152128" cy="20838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8285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 descr="Figure 1. Cross-shore (bidimensional) beach partitioning showing subaerial (focus of this study) and subaqueous environments and sub-environments (modified from [9])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780928"/>
            <a:ext cx="8623300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TextBox 3"/>
          <p:cNvSpPr txBox="1">
            <a:spLocks noChangeArrowheads="1"/>
          </p:cNvSpPr>
          <p:nvPr/>
        </p:nvSpPr>
        <p:spPr bwMode="auto">
          <a:xfrm>
            <a:off x="179388" y="6453336"/>
            <a:ext cx="48943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altLang="en-US" sz="1400" b="1" dirty="0" err="1"/>
              <a:t>Longhitano</a:t>
            </a:r>
            <a:r>
              <a:rPr lang="en-GB" altLang="en-US" sz="1400" b="1" dirty="0"/>
              <a:t> (2015) Open Journal of Marine Sciences, 5, 123-145.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D37EDDF-384F-49F3-91C3-A9F969E57871}"/>
              </a:ext>
            </a:extLst>
          </p:cNvPr>
          <p:cNvSpPr txBox="1"/>
          <p:nvPr/>
        </p:nvSpPr>
        <p:spPr>
          <a:xfrm>
            <a:off x="179512" y="1268760"/>
            <a:ext cx="8784976" cy="1246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Shoaling of the flow against the inclined bed causes overall acceleration, but high bed friction reduces velocity at the bed</a:t>
            </a:r>
          </a:p>
          <a:p>
            <a:pPr lvl="1"/>
            <a:r>
              <a:rPr lang="en-GB" sz="2500" dirty="0">
                <a:latin typeface="+mj-lt"/>
                <a:sym typeface="Wingdings" panose="05000000000000000000" pitchFamily="2" charset="2"/>
              </a:rPr>
              <a:t>breaking waves</a:t>
            </a:r>
            <a:r>
              <a:rPr lang="en-GB" sz="2500" dirty="0">
                <a:latin typeface="+mj-lt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0845529-968E-40CF-B49C-3482F3054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340768"/>
            <a:ext cx="8712968" cy="4419600"/>
          </a:xfrm>
        </p:spPr>
        <p:txBody>
          <a:bodyPr>
            <a:normAutofit/>
          </a:bodyPr>
          <a:lstStyle/>
          <a:p>
            <a:r>
              <a:rPr lang="en-GB" altLang="en-US" sz="2200" b="1" dirty="0">
                <a:latin typeface="+mj-lt"/>
              </a:rPr>
              <a:t>Variations in wave set-up height</a:t>
            </a:r>
          </a:p>
          <a:p>
            <a:pPr lvl="1"/>
            <a:r>
              <a:rPr lang="en-GB" altLang="en-US" sz="2200" dirty="0">
                <a:latin typeface="+mj-lt"/>
              </a:rPr>
              <a:t>Due to sea-floor irregularities</a:t>
            </a:r>
          </a:p>
          <a:p>
            <a:pPr lvl="1"/>
            <a:r>
              <a:rPr lang="en-GB" altLang="en-US" sz="2200" dirty="0">
                <a:latin typeface="+mj-lt"/>
              </a:rPr>
              <a:t>Cell-like circulation in nearshore</a:t>
            </a:r>
          </a:p>
          <a:p>
            <a:pPr lvl="2"/>
            <a:r>
              <a:rPr lang="en-GB" altLang="en-US" sz="2200" dirty="0">
                <a:latin typeface="+mj-lt"/>
              </a:rPr>
              <a:t>Flow from high-low pressure</a:t>
            </a:r>
          </a:p>
          <a:p>
            <a:pPr lvl="1"/>
            <a:r>
              <a:rPr lang="en-GB" altLang="en-US" sz="2200" i="1" dirty="0">
                <a:latin typeface="+mj-lt"/>
              </a:rPr>
              <a:t>Rip currents</a:t>
            </a:r>
            <a:r>
              <a:rPr lang="en-GB" altLang="en-US" sz="2200" dirty="0">
                <a:latin typeface="+mj-lt"/>
              </a:rPr>
              <a:t> where longshore currents converge</a:t>
            </a:r>
          </a:p>
          <a:p>
            <a:pPr lvl="1"/>
            <a:r>
              <a:rPr lang="en-GB" altLang="en-US" sz="2200" i="1" dirty="0">
                <a:latin typeface="+mj-lt"/>
              </a:rPr>
              <a:t>Up to 2ms</a:t>
            </a:r>
            <a:r>
              <a:rPr lang="en-GB" altLang="en-US" sz="2200" i="1" baseline="30000" dirty="0">
                <a:latin typeface="+mj-lt"/>
              </a:rPr>
              <a:t>-1</a:t>
            </a:r>
            <a:endParaRPr lang="en-US" altLang="en-US" sz="2200" i="1" baseline="30000" dirty="0">
              <a:latin typeface="+mj-lt"/>
            </a:endParaRPr>
          </a:p>
          <a:p>
            <a:r>
              <a:rPr lang="en-GB" altLang="en-US" sz="2200" dirty="0">
                <a:latin typeface="+mj-lt"/>
              </a:rPr>
              <a:t>Sediment transport rates up to 0.5 x 10</a:t>
            </a:r>
            <a:r>
              <a:rPr lang="en-GB" altLang="en-US" sz="2200" baseline="30000" dirty="0">
                <a:latin typeface="+mj-lt"/>
              </a:rPr>
              <a:t>6</a:t>
            </a:r>
            <a:r>
              <a:rPr lang="en-GB" altLang="en-US" sz="2200" dirty="0">
                <a:latin typeface="+mj-lt"/>
              </a:rPr>
              <a:t>m</a:t>
            </a:r>
            <a:r>
              <a:rPr lang="en-GB" altLang="en-US" sz="2200" baseline="30000" dirty="0">
                <a:latin typeface="+mj-lt"/>
              </a:rPr>
              <a:t>3</a:t>
            </a:r>
            <a:r>
              <a:rPr lang="en-GB" altLang="en-US" sz="2200" dirty="0">
                <a:latin typeface="+mj-lt"/>
              </a:rPr>
              <a:t> per year</a:t>
            </a:r>
            <a:endParaRPr lang="en-US" altLang="en-US" sz="2200" dirty="0">
              <a:latin typeface="+mj-lt"/>
            </a:endParaRPr>
          </a:p>
        </p:txBody>
      </p:sp>
      <p:pic>
        <p:nvPicPr>
          <p:cNvPr id="76804" name="Picture 5" descr="http://lighthouse.tamucc.edu/dnrpub/forecasts/ri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4348162"/>
            <a:ext cx="5473700" cy="250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59B8283-74FB-47BD-AF67-61B0C5E19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Rip Current Science - YouTube">
            <a:extLst>
              <a:ext uri="{FF2B5EF4-FFF2-40B4-BE49-F238E27FC236}">
                <a16:creationId xmlns:a16="http://schemas.microsoft.com/office/drawing/2014/main" xmlns="" id="{51CE647A-E3A6-43EC-A9A3-6FED3EE7C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35" y="1484784"/>
            <a:ext cx="8751163" cy="492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CE359A85-6642-4B5B-8496-359513B2C9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38637" y="1124744"/>
            <a:ext cx="1684328" cy="240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84D4A0A-63CD-4290-BB3F-67651AA55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  <p:extLst>
      <p:ext uri="{BB962C8B-B14F-4D97-AF65-F5344CB8AC3E}">
        <p14:creationId xmlns:p14="http://schemas.microsoft.com/office/powerpoint/2010/main" val="2970307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53CCE9-1648-4B50-A6D9-77B069538FF4}"/>
              </a:ext>
            </a:extLst>
          </p:cNvPr>
          <p:cNvSpPr txBox="1"/>
          <p:nvPr/>
        </p:nvSpPr>
        <p:spPr>
          <a:xfrm>
            <a:off x="179512" y="1123770"/>
            <a:ext cx="8784976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Zone is therefore dominated by high velocity, unidirectional or combined flows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DDA967E-3BF0-402F-B37C-8D80E06ED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033C639-D536-4CA0-A16E-FB4292FED1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4638" y="2264511"/>
            <a:ext cx="7074724" cy="4509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B98E30D-2EAE-4E59-ACB2-5EAD4AEACF72}"/>
              </a:ext>
            </a:extLst>
          </p:cNvPr>
          <p:cNvSpPr/>
          <p:nvPr/>
        </p:nvSpPr>
        <p:spPr>
          <a:xfrm flipV="1">
            <a:off x="2555776" y="2281272"/>
            <a:ext cx="1152128" cy="20838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8408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3D dunes banth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182688"/>
            <a:ext cx="79470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 flipH="1">
            <a:off x="5076056" y="3945692"/>
            <a:ext cx="1428624" cy="1313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TextBox 5"/>
          <p:cNvSpPr txBox="1"/>
          <p:nvPr/>
        </p:nvSpPr>
        <p:spPr>
          <a:xfrm rot="21291310">
            <a:off x="5447790" y="3651044"/>
            <a:ext cx="1045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sz="1400">
                <a:solidFill>
                  <a:schemeClr val="accent2">
                    <a:lumMod val="20000"/>
                    <a:lumOff val="80000"/>
                  </a:schemeClr>
                </a:solidFill>
              </a:rPr>
              <a:t>flow</a:t>
            </a:r>
            <a:endParaRPr lang="en-GB" sz="1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99592" y="1628800"/>
            <a:ext cx="3168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 (</a:t>
            </a:r>
            <a:r>
              <a:rPr lang="en-GB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cresentic</a:t>
            </a:r>
            <a:r>
              <a:rPr lang="en-GB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dunes – lower flow regime</a:t>
            </a:r>
          </a:p>
          <a:p>
            <a:r>
              <a:rPr lang="en-GB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 trough cross bedding in rock record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51396B0-EAA9-4886-AB55-69DA03395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53CCE9-1648-4B50-A6D9-77B069538FF4}"/>
              </a:ext>
            </a:extLst>
          </p:cNvPr>
          <p:cNvSpPr txBox="1"/>
          <p:nvPr/>
        </p:nvSpPr>
        <p:spPr>
          <a:xfrm>
            <a:off x="179512" y="1200020"/>
            <a:ext cx="8784976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Finally we have the foreshore and the backshore (aka the beach)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DDA967E-3BF0-402F-B37C-8D80E06ED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033C639-D536-4CA0-A16E-FB4292FED1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4638" y="2264511"/>
            <a:ext cx="7074724" cy="4509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B98E30D-2EAE-4E59-ACB2-5EAD4AEACF72}"/>
              </a:ext>
            </a:extLst>
          </p:cNvPr>
          <p:cNvSpPr/>
          <p:nvPr/>
        </p:nvSpPr>
        <p:spPr>
          <a:xfrm flipV="1">
            <a:off x="2555776" y="2281272"/>
            <a:ext cx="1152128" cy="20838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0080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 descr="santa rita beach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4" y="1077772"/>
            <a:ext cx="9019052" cy="571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AutoShape 3"/>
          <p:cNvSpPr>
            <a:spLocks noChangeArrowheads="1"/>
          </p:cNvSpPr>
          <p:nvPr/>
        </p:nvSpPr>
        <p:spPr bwMode="auto">
          <a:xfrm>
            <a:off x="494143" y="2803716"/>
            <a:ext cx="2444415" cy="760805"/>
          </a:xfrm>
          <a:prstGeom prst="wedgeRectCallout">
            <a:avLst>
              <a:gd name="adj1" fmla="val 31176"/>
              <a:gd name="adj2" fmla="val 13625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9" tIns="45715" rIns="91429" bIns="4571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bg1"/>
                </a:solidFill>
                <a:latin typeface="Arial Black" panose="020B0A04020102020204" pitchFamily="34" charset="0"/>
              </a:rPr>
              <a:t>foreshore</a:t>
            </a:r>
          </a:p>
        </p:txBody>
      </p:sp>
      <p:sp>
        <p:nvSpPr>
          <p:cNvPr id="80900" name="AutoShape 4"/>
          <p:cNvSpPr>
            <a:spLocks noChangeArrowheads="1"/>
          </p:cNvSpPr>
          <p:nvPr/>
        </p:nvSpPr>
        <p:spPr bwMode="auto">
          <a:xfrm>
            <a:off x="3296669" y="2803716"/>
            <a:ext cx="1685805" cy="532563"/>
          </a:xfrm>
          <a:prstGeom prst="wedgeRectCallout">
            <a:avLst>
              <a:gd name="adj1" fmla="val 28023"/>
              <a:gd name="adj2" fmla="val 15625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9" tIns="45715" rIns="91429" bIns="4571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bg1"/>
                </a:solidFill>
                <a:latin typeface="Arial Black" panose="020B0A04020102020204" pitchFamily="34" charset="0"/>
              </a:rPr>
              <a:t>berm</a:t>
            </a:r>
          </a:p>
        </p:txBody>
      </p:sp>
      <p:sp>
        <p:nvSpPr>
          <p:cNvPr id="80901" name="AutoShape 5"/>
          <p:cNvSpPr>
            <a:spLocks noChangeArrowheads="1"/>
          </p:cNvSpPr>
          <p:nvPr/>
        </p:nvSpPr>
        <p:spPr bwMode="auto">
          <a:xfrm>
            <a:off x="6250602" y="2210615"/>
            <a:ext cx="2444415" cy="760805"/>
          </a:xfrm>
          <a:prstGeom prst="wedgeRectCallout">
            <a:avLst>
              <a:gd name="adj1" fmla="val -35491"/>
              <a:gd name="adj2" fmla="val 19264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9" tIns="45715" rIns="91429" bIns="4571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bg1"/>
                </a:solidFill>
                <a:latin typeface="Arial Black" panose="020B0A04020102020204" pitchFamily="34" charset="0"/>
              </a:rPr>
              <a:t>backshore</a:t>
            </a: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3132138" y="6384751"/>
            <a:ext cx="3671887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5" rIns="91429" bIns="45715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Arial" panose="020B0604020202020204" pitchFamily="34" charset="0"/>
              </a:rPr>
              <a:t>Bedforms = plane bed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4CF5F4B-20C2-4A4A-95EE-E9531D874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C697F3C-A9BB-407B-B18A-30CE51826A3B}"/>
              </a:ext>
            </a:extLst>
          </p:cNvPr>
          <p:cNvSpPr txBox="1"/>
          <p:nvPr/>
        </p:nvSpPr>
        <p:spPr>
          <a:xfrm>
            <a:off x="126065" y="1317497"/>
            <a:ext cx="856895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Wave awash zone (upwash, backwash and </a:t>
            </a:r>
            <a:r>
              <a:rPr lang="en-GB" sz="2500" dirty="0" err="1">
                <a:latin typeface="+mj-lt"/>
              </a:rPr>
              <a:t>overwash</a:t>
            </a:r>
            <a:r>
              <a:rPr lang="en-GB" sz="2500" dirty="0">
                <a:latin typeface="+mj-lt"/>
              </a:rPr>
              <a:t>), rapidly shallowed flow: jumps into the upper flow regime</a:t>
            </a:r>
          </a:p>
          <a:p>
            <a:pPr lvl="1"/>
            <a:r>
              <a:rPr lang="en-GB" sz="2500" dirty="0">
                <a:latin typeface="+mj-lt"/>
                <a:sym typeface="Wingdings" panose="05000000000000000000" pitchFamily="2" charset="2"/>
              </a:rPr>
              <a:t>Laminar flow, upper stage plane beds</a:t>
            </a:r>
            <a:endParaRPr lang="en-GB" sz="2500" dirty="0">
              <a:latin typeface="+mj-l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santa rita beach"/>
          <p:cNvPicPr>
            <a:picLocks noChangeAspect="1" noChangeArrowheads="1"/>
          </p:cNvPicPr>
          <p:nvPr/>
        </p:nvPicPr>
        <p:blipFill>
          <a:blip r:embed="rId2">
            <a:lum bright="6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2"/>
            <a:ext cx="8001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19" name="Freeform 2"/>
          <p:cNvSpPr>
            <a:spLocks/>
          </p:cNvSpPr>
          <p:nvPr/>
        </p:nvSpPr>
        <p:spPr bwMode="auto">
          <a:xfrm>
            <a:off x="981324" y="3728815"/>
            <a:ext cx="4413250" cy="53975"/>
          </a:xfrm>
          <a:custGeom>
            <a:avLst/>
            <a:gdLst>
              <a:gd name="T0" fmla="*/ 0 w 4412512"/>
              <a:gd name="T1" fmla="*/ 57353 h 53162"/>
              <a:gd name="T2" fmla="*/ 4416202 w 4412512"/>
              <a:gd name="T3" fmla="*/ 0 h 5316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412512" h="53162">
                <a:moveTo>
                  <a:pt x="0" y="53162"/>
                </a:moveTo>
                <a:lnTo>
                  <a:pt x="4412512" y="0"/>
                </a:lnTo>
              </a:path>
            </a:pathLst>
          </a:custGeom>
          <a:noFill/>
          <a:ln w="28575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>
              <a:highlight>
                <a:srgbClr val="FFFF00"/>
              </a:highlight>
            </a:endParaRPr>
          </a:p>
        </p:txBody>
      </p:sp>
      <p:sp>
        <p:nvSpPr>
          <p:cNvPr id="86020" name="Freeform 3"/>
          <p:cNvSpPr>
            <a:spLocks/>
          </p:cNvSpPr>
          <p:nvPr/>
        </p:nvSpPr>
        <p:spPr bwMode="auto">
          <a:xfrm>
            <a:off x="6551861" y="3728815"/>
            <a:ext cx="1446213" cy="393700"/>
          </a:xfrm>
          <a:custGeom>
            <a:avLst/>
            <a:gdLst>
              <a:gd name="T0" fmla="*/ 0 w 1446028"/>
              <a:gd name="T1" fmla="*/ 0 h 393405"/>
              <a:gd name="T2" fmla="*/ 1446953 w 1446028"/>
              <a:gd name="T3" fmla="*/ 394882 h 39340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446028" h="393405">
                <a:moveTo>
                  <a:pt x="0" y="0"/>
                </a:moveTo>
                <a:lnTo>
                  <a:pt x="1446028" y="393405"/>
                </a:lnTo>
              </a:path>
            </a:pathLst>
          </a:custGeom>
          <a:noFill/>
          <a:ln w="28575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>
              <a:highlight>
                <a:srgbClr val="FFFF00"/>
              </a:highlight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341686" y="4892452"/>
            <a:ext cx="2305050" cy="863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Backshore = horizontal or landward dipping planar stratification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5950199" y="4911502"/>
            <a:ext cx="2305050" cy="15398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Foreshore = low angle seaward dipping planar stratification (low angle accretion cross bedding): dip = same as dip of beach.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DC675DC-4F3D-437C-AC92-1C6EB1DF0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 descr="transgressi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8134350" cy="536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TextBox 1"/>
          <p:cNvSpPr txBox="1">
            <a:spLocks noChangeArrowheads="1"/>
          </p:cNvSpPr>
          <p:nvPr/>
        </p:nvSpPr>
        <p:spPr bwMode="auto">
          <a:xfrm>
            <a:off x="7604125" y="3538538"/>
            <a:ext cx="1408113" cy="1077912"/>
          </a:xfrm>
          <a:prstGeom prst="rect">
            <a:avLst/>
          </a:prstGeom>
          <a:solidFill>
            <a:srgbClr val="DFDFD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Trough cross bedded U shoreface sandstones</a:t>
            </a:r>
          </a:p>
        </p:txBody>
      </p:sp>
      <p:cxnSp>
        <p:nvCxnSpPr>
          <p:cNvPr id="73733" name="Straight Arrow Connector 3"/>
          <p:cNvCxnSpPr>
            <a:cxnSpLocks noChangeShapeType="1"/>
          </p:cNvCxnSpPr>
          <p:nvPr/>
        </p:nvCxnSpPr>
        <p:spPr bwMode="auto">
          <a:xfrm>
            <a:off x="7524750" y="3141663"/>
            <a:ext cx="0" cy="1871662"/>
          </a:xfrm>
          <a:prstGeom prst="straightConnector1">
            <a:avLst/>
          </a:prstGeom>
          <a:noFill/>
          <a:ln w="28575" algn="ctr">
            <a:solidFill>
              <a:srgbClr val="FFFF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734" name="Straight Arrow Connector 6"/>
          <p:cNvCxnSpPr>
            <a:cxnSpLocks noChangeShapeType="1"/>
          </p:cNvCxnSpPr>
          <p:nvPr/>
        </p:nvCxnSpPr>
        <p:spPr bwMode="auto">
          <a:xfrm>
            <a:off x="7531100" y="1268413"/>
            <a:ext cx="0" cy="1873250"/>
          </a:xfrm>
          <a:prstGeom prst="straightConnector1">
            <a:avLst/>
          </a:prstGeom>
          <a:noFill/>
          <a:ln w="28575" algn="ctr">
            <a:solidFill>
              <a:srgbClr val="FFFF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735" name="TextBox 7"/>
          <p:cNvSpPr txBox="1">
            <a:spLocks noChangeArrowheads="1"/>
          </p:cNvSpPr>
          <p:nvPr/>
        </p:nvSpPr>
        <p:spPr bwMode="auto">
          <a:xfrm>
            <a:off x="7604125" y="1666875"/>
            <a:ext cx="1408113" cy="1076325"/>
          </a:xfrm>
          <a:prstGeom prst="rect">
            <a:avLst/>
          </a:prstGeom>
          <a:solidFill>
            <a:srgbClr val="DFDFD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Horizontally stratified foreshore sandstones</a:t>
            </a:r>
          </a:p>
        </p:txBody>
      </p:sp>
      <p:cxnSp>
        <p:nvCxnSpPr>
          <p:cNvPr id="73737" name="Straight Arrow Connector 5"/>
          <p:cNvCxnSpPr>
            <a:cxnSpLocks noChangeShapeType="1"/>
          </p:cNvCxnSpPr>
          <p:nvPr/>
        </p:nvCxnSpPr>
        <p:spPr bwMode="auto">
          <a:xfrm flipH="1">
            <a:off x="3635375" y="5157788"/>
            <a:ext cx="1117600" cy="0"/>
          </a:xfrm>
          <a:prstGeom prst="straightConnector1">
            <a:avLst/>
          </a:prstGeom>
          <a:noFill/>
          <a:ln w="38100" algn="ctr">
            <a:solidFill>
              <a:srgbClr val="0070C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738" name="TextBox 11"/>
          <p:cNvSpPr txBox="1">
            <a:spLocks noChangeArrowheads="1"/>
          </p:cNvSpPr>
          <p:nvPr/>
        </p:nvSpPr>
        <p:spPr bwMode="auto">
          <a:xfrm>
            <a:off x="2555776" y="5210905"/>
            <a:ext cx="3527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GB" altLang="en-US" sz="20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Shoaling direction</a:t>
            </a:r>
          </a:p>
        </p:txBody>
      </p:sp>
      <p:sp>
        <p:nvSpPr>
          <p:cNvPr id="73739" name="TextBox 1"/>
          <p:cNvSpPr txBox="1">
            <a:spLocks noChangeArrowheads="1"/>
          </p:cNvSpPr>
          <p:nvPr/>
        </p:nvSpPr>
        <p:spPr bwMode="auto">
          <a:xfrm>
            <a:off x="395288" y="6488113"/>
            <a:ext cx="6345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sz="1800"/>
              <a:t>Late Pleistocene Raised ‘beaches’ Saunton, North Devon.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010211B-1D2E-48FC-92F3-D5AD5D39B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0ABEC42-B5A0-4549-B892-90520B17CE9A}"/>
              </a:ext>
            </a:extLst>
          </p:cNvPr>
          <p:cNvSpPr txBox="1"/>
          <p:nvPr/>
        </p:nvSpPr>
        <p:spPr>
          <a:xfrm>
            <a:off x="179512" y="1239069"/>
            <a:ext cx="4680520" cy="201593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Shoreline progradation also forms a characteristic “shallowing-up” trend, but with a different suite of vertical facies</a:t>
            </a:r>
          </a:p>
        </p:txBody>
      </p:sp>
      <p:pic>
        <p:nvPicPr>
          <p:cNvPr id="3" name="Picture 2" descr="Wave‐influenced deltas: geomorphological implications for facies  reconstruction - Bhattacharya - 2003 - Sedimentology - Wiley Online Library">
            <a:extLst>
              <a:ext uri="{FF2B5EF4-FFF2-40B4-BE49-F238E27FC236}">
                <a16:creationId xmlns:a16="http://schemas.microsoft.com/office/drawing/2014/main" xmlns="" id="{D6C57F39-3704-442F-8910-97CED187A8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58" t="1265" r="1723" b="43897"/>
          <a:stretch/>
        </p:blipFill>
        <p:spPr bwMode="auto">
          <a:xfrm>
            <a:off x="6046787" y="1268760"/>
            <a:ext cx="2520280" cy="3024336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Wave‐influenced deltas: geomorphological implications for facies  reconstruction - Bhattacharya - 2003 - Sedimentology - Wiley Online Library">
            <a:extLst>
              <a:ext uri="{FF2B5EF4-FFF2-40B4-BE49-F238E27FC236}">
                <a16:creationId xmlns:a16="http://schemas.microsoft.com/office/drawing/2014/main" xmlns="" id="{403E4059-7DE3-4251-8A6F-A8545D4CFD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5" t="54838" r="9282" b="3421"/>
          <a:stretch/>
        </p:blipFill>
        <p:spPr bwMode="auto">
          <a:xfrm>
            <a:off x="4860032" y="4322787"/>
            <a:ext cx="4104456" cy="230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A07C28E-4C79-4F74-B293-6A858E2BE32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211" y="3501008"/>
            <a:ext cx="4608512" cy="29372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A6FA0DA-4721-48AB-8A63-A9907FB28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  <p:extLst>
      <p:ext uri="{BB962C8B-B14F-4D97-AF65-F5344CB8AC3E}">
        <p14:creationId xmlns:p14="http://schemas.microsoft.com/office/powerpoint/2010/main" val="37725040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n Online Guide to Sequence Stratigraphy">
            <a:extLst>
              <a:ext uri="{FF2B5EF4-FFF2-40B4-BE49-F238E27FC236}">
                <a16:creationId xmlns:a16="http://schemas.microsoft.com/office/drawing/2014/main" xmlns="" id="{16FBF176-C544-4F66-8E61-E3E14E709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267490"/>
            <a:ext cx="5544616" cy="41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Wave‐influenced deltas: geomorphological implications for facies  reconstruction - Bhattacharya - 2003 - Sedimentology - Wiley Online Library">
            <a:extLst>
              <a:ext uri="{FF2B5EF4-FFF2-40B4-BE49-F238E27FC236}">
                <a16:creationId xmlns:a16="http://schemas.microsoft.com/office/drawing/2014/main" xmlns="" id="{7D1FACF2-0977-430B-83E1-A64A69AA5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37" t="6104" r="3770" b="46440"/>
          <a:stretch/>
        </p:blipFill>
        <p:spPr bwMode="auto">
          <a:xfrm>
            <a:off x="5868144" y="1852954"/>
            <a:ext cx="3168352" cy="460851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ACA88BF-5BC4-4179-BFC8-A1F33F2CB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xmlns="" id="{3BB13D93-8D06-4C3D-A22F-BAA73FE1A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278250"/>
            <a:ext cx="777686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Blackhawk Formation, Cretaceous, Utah.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70FDB7EB-F61B-4EC2-9431-16BAD42362E7}"/>
              </a:ext>
            </a:extLst>
          </p:cNvPr>
          <p:cNvCxnSpPr>
            <a:cxnSpLocks/>
          </p:cNvCxnSpPr>
          <p:nvPr/>
        </p:nvCxnSpPr>
        <p:spPr>
          <a:xfrm flipH="1">
            <a:off x="5220072" y="2802861"/>
            <a:ext cx="648072" cy="1220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065B906-2E7F-4557-B6CC-6160EECABC80}"/>
              </a:ext>
            </a:extLst>
          </p:cNvPr>
          <p:cNvCxnSpPr>
            <a:cxnSpLocks/>
          </p:cNvCxnSpPr>
          <p:nvPr/>
        </p:nvCxnSpPr>
        <p:spPr>
          <a:xfrm flipH="1" flipV="1">
            <a:off x="5292080" y="4157210"/>
            <a:ext cx="576064" cy="7839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866947A0-09FE-4131-9D97-5EDE472B2688}"/>
              </a:ext>
            </a:extLst>
          </p:cNvPr>
          <p:cNvCxnSpPr>
            <a:cxnSpLocks/>
          </p:cNvCxnSpPr>
          <p:nvPr/>
        </p:nvCxnSpPr>
        <p:spPr>
          <a:xfrm flipH="1">
            <a:off x="5544108" y="5301208"/>
            <a:ext cx="396044" cy="64807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7483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 descr="ravinement ericeira"/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85" y="1195660"/>
            <a:ext cx="8208963" cy="547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1" name="Line 3"/>
          <p:cNvSpPr>
            <a:spLocks noChangeShapeType="1"/>
          </p:cNvSpPr>
          <p:nvPr/>
        </p:nvSpPr>
        <p:spPr bwMode="auto">
          <a:xfrm flipH="1" flipV="1">
            <a:off x="4259460" y="4084910"/>
            <a:ext cx="457200" cy="2286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4692" name="Line 4"/>
          <p:cNvSpPr>
            <a:spLocks noChangeShapeType="1"/>
          </p:cNvSpPr>
          <p:nvPr/>
        </p:nvSpPr>
        <p:spPr bwMode="auto">
          <a:xfrm flipH="1" flipV="1">
            <a:off x="5021460" y="2560910"/>
            <a:ext cx="381000" cy="1371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4693" name="Freeform 5"/>
          <p:cNvSpPr>
            <a:spLocks/>
          </p:cNvSpPr>
          <p:nvPr/>
        </p:nvSpPr>
        <p:spPr bwMode="auto">
          <a:xfrm>
            <a:off x="2659260" y="2484710"/>
            <a:ext cx="5676900" cy="361950"/>
          </a:xfrm>
          <a:custGeom>
            <a:avLst/>
            <a:gdLst>
              <a:gd name="T0" fmla="*/ 0 w 3576"/>
              <a:gd name="T1" fmla="*/ 2147483646 h 228"/>
              <a:gd name="T2" fmla="*/ 2147483646 w 3576"/>
              <a:gd name="T3" fmla="*/ 2147483646 h 228"/>
              <a:gd name="T4" fmla="*/ 2147483646 w 3576"/>
              <a:gd name="T5" fmla="*/ 2147483646 h 228"/>
              <a:gd name="T6" fmla="*/ 2147483646 w 3576"/>
              <a:gd name="T7" fmla="*/ 2147483646 h 228"/>
              <a:gd name="T8" fmla="*/ 2147483646 w 3576"/>
              <a:gd name="T9" fmla="*/ 2147483646 h 228"/>
              <a:gd name="T10" fmla="*/ 2147483646 w 3576"/>
              <a:gd name="T11" fmla="*/ 2147483646 h 228"/>
              <a:gd name="T12" fmla="*/ 2147483646 w 3576"/>
              <a:gd name="T13" fmla="*/ 2147483646 h 228"/>
              <a:gd name="T14" fmla="*/ 2147483646 w 3576"/>
              <a:gd name="T15" fmla="*/ 2147483646 h 228"/>
              <a:gd name="T16" fmla="*/ 2147483646 w 3576"/>
              <a:gd name="T17" fmla="*/ 2147483646 h 228"/>
              <a:gd name="T18" fmla="*/ 2147483646 w 3576"/>
              <a:gd name="T19" fmla="*/ 2147483646 h 228"/>
              <a:gd name="T20" fmla="*/ 2147483646 w 3576"/>
              <a:gd name="T21" fmla="*/ 2147483646 h 228"/>
              <a:gd name="T22" fmla="*/ 2147483646 w 3576"/>
              <a:gd name="T23" fmla="*/ 2147483646 h 228"/>
              <a:gd name="T24" fmla="*/ 2147483646 w 3576"/>
              <a:gd name="T25" fmla="*/ 2147483646 h 228"/>
              <a:gd name="T26" fmla="*/ 2147483646 w 3576"/>
              <a:gd name="T27" fmla="*/ 2147483646 h 228"/>
              <a:gd name="T28" fmla="*/ 2147483646 w 3576"/>
              <a:gd name="T29" fmla="*/ 0 h 22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576"/>
              <a:gd name="T46" fmla="*/ 0 h 228"/>
              <a:gd name="T47" fmla="*/ 3576 w 3576"/>
              <a:gd name="T48" fmla="*/ 228 h 228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576" h="228">
                <a:moveTo>
                  <a:pt x="0" y="204"/>
                </a:moveTo>
                <a:cubicBezTo>
                  <a:pt x="121" y="195"/>
                  <a:pt x="229" y="186"/>
                  <a:pt x="348" y="216"/>
                </a:cubicBezTo>
                <a:cubicBezTo>
                  <a:pt x="372" y="212"/>
                  <a:pt x="396" y="210"/>
                  <a:pt x="420" y="204"/>
                </a:cubicBezTo>
                <a:cubicBezTo>
                  <a:pt x="445" y="198"/>
                  <a:pt x="492" y="180"/>
                  <a:pt x="492" y="180"/>
                </a:cubicBezTo>
                <a:cubicBezTo>
                  <a:pt x="598" y="190"/>
                  <a:pt x="625" y="187"/>
                  <a:pt x="708" y="228"/>
                </a:cubicBezTo>
                <a:cubicBezTo>
                  <a:pt x="796" y="199"/>
                  <a:pt x="878" y="142"/>
                  <a:pt x="972" y="132"/>
                </a:cubicBezTo>
                <a:cubicBezTo>
                  <a:pt x="1028" y="126"/>
                  <a:pt x="1084" y="124"/>
                  <a:pt x="1140" y="120"/>
                </a:cubicBezTo>
                <a:cubicBezTo>
                  <a:pt x="1181" y="110"/>
                  <a:pt x="1219" y="75"/>
                  <a:pt x="1260" y="72"/>
                </a:cubicBezTo>
                <a:cubicBezTo>
                  <a:pt x="1364" y="65"/>
                  <a:pt x="1468" y="64"/>
                  <a:pt x="1572" y="60"/>
                </a:cubicBezTo>
                <a:cubicBezTo>
                  <a:pt x="1664" y="68"/>
                  <a:pt x="1708" y="76"/>
                  <a:pt x="1788" y="96"/>
                </a:cubicBezTo>
                <a:cubicBezTo>
                  <a:pt x="1944" y="92"/>
                  <a:pt x="2100" y="94"/>
                  <a:pt x="2256" y="84"/>
                </a:cubicBezTo>
                <a:cubicBezTo>
                  <a:pt x="2281" y="82"/>
                  <a:pt x="2303" y="61"/>
                  <a:pt x="2328" y="60"/>
                </a:cubicBezTo>
                <a:cubicBezTo>
                  <a:pt x="2404" y="56"/>
                  <a:pt x="2480" y="52"/>
                  <a:pt x="2556" y="48"/>
                </a:cubicBezTo>
                <a:cubicBezTo>
                  <a:pt x="2694" y="25"/>
                  <a:pt x="2684" y="25"/>
                  <a:pt x="2868" y="36"/>
                </a:cubicBezTo>
                <a:cubicBezTo>
                  <a:pt x="3114" y="28"/>
                  <a:pt x="3334" y="0"/>
                  <a:pt x="3576" y="0"/>
                </a:cubicBezTo>
              </a:path>
            </a:pathLst>
          </a:custGeom>
          <a:noFill/>
          <a:ln w="38100">
            <a:solidFill>
              <a:srgbClr val="00B05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4694" name="Freeform 6"/>
          <p:cNvSpPr>
            <a:spLocks/>
          </p:cNvSpPr>
          <p:nvPr/>
        </p:nvSpPr>
        <p:spPr bwMode="auto">
          <a:xfrm>
            <a:off x="1992510" y="3816623"/>
            <a:ext cx="6572250" cy="344487"/>
          </a:xfrm>
          <a:custGeom>
            <a:avLst/>
            <a:gdLst>
              <a:gd name="T0" fmla="*/ 0 w 4140"/>
              <a:gd name="T1" fmla="*/ 2147483646 h 217"/>
              <a:gd name="T2" fmla="*/ 2147483646 w 4140"/>
              <a:gd name="T3" fmla="*/ 2147483646 h 217"/>
              <a:gd name="T4" fmla="*/ 2147483646 w 4140"/>
              <a:gd name="T5" fmla="*/ 2147483646 h 217"/>
              <a:gd name="T6" fmla="*/ 2147483646 w 4140"/>
              <a:gd name="T7" fmla="*/ 2147483646 h 217"/>
              <a:gd name="T8" fmla="*/ 2147483646 w 4140"/>
              <a:gd name="T9" fmla="*/ 2147483646 h 217"/>
              <a:gd name="T10" fmla="*/ 2147483646 w 4140"/>
              <a:gd name="T11" fmla="*/ 2147483646 h 217"/>
              <a:gd name="T12" fmla="*/ 2147483646 w 4140"/>
              <a:gd name="T13" fmla="*/ 2147483646 h 217"/>
              <a:gd name="T14" fmla="*/ 2147483646 w 4140"/>
              <a:gd name="T15" fmla="*/ 2147483646 h 217"/>
              <a:gd name="T16" fmla="*/ 2147483646 w 4140"/>
              <a:gd name="T17" fmla="*/ 2147483646 h 217"/>
              <a:gd name="T18" fmla="*/ 2147483646 w 4140"/>
              <a:gd name="T19" fmla="*/ 2147483646 h 217"/>
              <a:gd name="T20" fmla="*/ 2147483646 w 4140"/>
              <a:gd name="T21" fmla="*/ 2147483646 h 217"/>
              <a:gd name="T22" fmla="*/ 2147483646 w 4140"/>
              <a:gd name="T23" fmla="*/ 2147483646 h 217"/>
              <a:gd name="T24" fmla="*/ 2147483646 w 4140"/>
              <a:gd name="T25" fmla="*/ 2147483646 h 217"/>
              <a:gd name="T26" fmla="*/ 2147483646 w 4140"/>
              <a:gd name="T27" fmla="*/ 2147483646 h 21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140"/>
              <a:gd name="T43" fmla="*/ 0 h 217"/>
              <a:gd name="T44" fmla="*/ 4140 w 4140"/>
              <a:gd name="T45" fmla="*/ 217 h 21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140" h="217">
                <a:moveTo>
                  <a:pt x="0" y="61"/>
                </a:moveTo>
                <a:cubicBezTo>
                  <a:pt x="56" y="65"/>
                  <a:pt x="112" y="65"/>
                  <a:pt x="168" y="73"/>
                </a:cubicBezTo>
                <a:cubicBezTo>
                  <a:pt x="201" y="77"/>
                  <a:pt x="232" y="89"/>
                  <a:pt x="264" y="97"/>
                </a:cubicBezTo>
                <a:cubicBezTo>
                  <a:pt x="280" y="101"/>
                  <a:pt x="312" y="109"/>
                  <a:pt x="312" y="109"/>
                </a:cubicBezTo>
                <a:cubicBezTo>
                  <a:pt x="366" y="100"/>
                  <a:pt x="416" y="90"/>
                  <a:pt x="468" y="73"/>
                </a:cubicBezTo>
                <a:cubicBezTo>
                  <a:pt x="717" y="90"/>
                  <a:pt x="948" y="113"/>
                  <a:pt x="1200" y="121"/>
                </a:cubicBezTo>
                <a:cubicBezTo>
                  <a:pt x="1345" y="169"/>
                  <a:pt x="1431" y="161"/>
                  <a:pt x="1608" y="169"/>
                </a:cubicBezTo>
                <a:cubicBezTo>
                  <a:pt x="1665" y="183"/>
                  <a:pt x="1719" y="203"/>
                  <a:pt x="1776" y="217"/>
                </a:cubicBezTo>
                <a:cubicBezTo>
                  <a:pt x="1924" y="206"/>
                  <a:pt x="2042" y="180"/>
                  <a:pt x="2184" y="145"/>
                </a:cubicBezTo>
                <a:cubicBezTo>
                  <a:pt x="2339" y="106"/>
                  <a:pt x="2504" y="127"/>
                  <a:pt x="2664" y="121"/>
                </a:cubicBezTo>
                <a:cubicBezTo>
                  <a:pt x="2803" y="93"/>
                  <a:pt x="2925" y="92"/>
                  <a:pt x="3072" y="85"/>
                </a:cubicBezTo>
                <a:cubicBezTo>
                  <a:pt x="3138" y="41"/>
                  <a:pt x="3223" y="20"/>
                  <a:pt x="3300" y="1"/>
                </a:cubicBezTo>
                <a:cubicBezTo>
                  <a:pt x="3447" y="7"/>
                  <a:pt x="3621" y="0"/>
                  <a:pt x="3768" y="37"/>
                </a:cubicBezTo>
                <a:cubicBezTo>
                  <a:pt x="3895" y="27"/>
                  <a:pt x="4013" y="13"/>
                  <a:pt x="4140" y="13"/>
                </a:cubicBezTo>
              </a:path>
            </a:pathLst>
          </a:custGeom>
          <a:noFill/>
          <a:ln w="38100">
            <a:solidFill>
              <a:srgbClr val="00B05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4695" name="Text Box 7"/>
          <p:cNvSpPr txBox="1">
            <a:spLocks noChangeArrowheads="1"/>
          </p:cNvSpPr>
          <p:nvPr/>
        </p:nvSpPr>
        <p:spPr bwMode="auto">
          <a:xfrm>
            <a:off x="2811660" y="530411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>
                <a:latin typeface="Arial" panose="020B0604020202020204" pitchFamily="34" charset="0"/>
              </a:rPr>
              <a:t>shoreface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114696" name="Text Box 8"/>
          <p:cNvSpPr txBox="1">
            <a:spLocks noChangeArrowheads="1"/>
          </p:cNvSpPr>
          <p:nvPr/>
        </p:nvSpPr>
        <p:spPr bwMode="auto">
          <a:xfrm>
            <a:off x="2354460" y="431351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>
                <a:latin typeface="Arial" panose="020B0604020202020204" pitchFamily="34" charset="0"/>
              </a:rPr>
              <a:t>foreshore</a:t>
            </a:r>
          </a:p>
        </p:txBody>
      </p:sp>
      <p:sp>
        <p:nvSpPr>
          <p:cNvPr id="114697" name="Text Box 9"/>
          <p:cNvSpPr txBox="1">
            <a:spLocks noChangeArrowheads="1"/>
          </p:cNvSpPr>
          <p:nvPr/>
        </p:nvSpPr>
        <p:spPr bwMode="auto">
          <a:xfrm>
            <a:off x="6012060" y="355151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>
                <a:latin typeface="Arial" panose="020B0604020202020204" pitchFamily="34" charset="0"/>
              </a:rPr>
              <a:t>offshore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114698" name="Text Box 10"/>
          <p:cNvSpPr txBox="1">
            <a:spLocks noChangeArrowheads="1"/>
          </p:cNvSpPr>
          <p:nvPr/>
        </p:nvSpPr>
        <p:spPr bwMode="auto">
          <a:xfrm>
            <a:off x="3421260" y="339911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>
                <a:latin typeface="Arial" panose="020B0604020202020204" pitchFamily="34" charset="0"/>
              </a:rPr>
              <a:t>shoreface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114699" name="Text Box 11"/>
          <p:cNvSpPr txBox="1">
            <a:spLocks noChangeArrowheads="1"/>
          </p:cNvSpPr>
          <p:nvPr/>
        </p:nvSpPr>
        <p:spPr bwMode="auto">
          <a:xfrm>
            <a:off x="3268860" y="294191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>
                <a:latin typeface="Arial" panose="020B0604020202020204" pitchFamily="34" charset="0"/>
              </a:rPr>
              <a:t>foreshore</a:t>
            </a:r>
          </a:p>
        </p:txBody>
      </p:sp>
      <p:sp>
        <p:nvSpPr>
          <p:cNvPr id="114700" name="Text Box 12"/>
          <p:cNvSpPr txBox="1">
            <a:spLocks noChangeArrowheads="1"/>
          </p:cNvSpPr>
          <p:nvPr/>
        </p:nvSpPr>
        <p:spPr bwMode="auto">
          <a:xfrm>
            <a:off x="4488060" y="187511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1">
                <a:latin typeface="Arial" panose="020B0604020202020204" pitchFamily="34" charset="0"/>
              </a:rPr>
              <a:t>shoreface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114702" name="Rectangular Callout 13"/>
          <p:cNvSpPr>
            <a:spLocks noChangeArrowheads="1"/>
          </p:cNvSpPr>
          <p:nvPr/>
        </p:nvSpPr>
        <p:spPr bwMode="auto">
          <a:xfrm>
            <a:off x="5037335" y="5402535"/>
            <a:ext cx="1295400" cy="568325"/>
          </a:xfrm>
          <a:prstGeom prst="wedgeRectCallout">
            <a:avLst>
              <a:gd name="adj1" fmla="val -93690"/>
              <a:gd name="adj2" fmla="val -59056"/>
            </a:avLst>
          </a:prstGeom>
          <a:solidFill>
            <a:schemeClr val="accent2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GB" altLang="en-US"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Shallowing up (normal regression)</a:t>
            </a:r>
          </a:p>
        </p:txBody>
      </p:sp>
      <p:sp>
        <p:nvSpPr>
          <p:cNvPr id="114703" name="Rectangular Callout 14"/>
          <p:cNvSpPr>
            <a:spLocks noChangeArrowheads="1"/>
          </p:cNvSpPr>
          <p:nvPr/>
        </p:nvSpPr>
        <p:spPr bwMode="auto">
          <a:xfrm>
            <a:off x="6156523" y="1590948"/>
            <a:ext cx="1296987" cy="568325"/>
          </a:xfrm>
          <a:prstGeom prst="wedgeRectCallout">
            <a:avLst>
              <a:gd name="adj1" fmla="val -119648"/>
              <a:gd name="adj2" fmla="val 217222"/>
            </a:avLst>
          </a:prstGeom>
          <a:solidFill>
            <a:schemeClr val="accent2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GB" altLang="en-US"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Shallowing up (normal regression)</a:t>
            </a:r>
          </a:p>
        </p:txBody>
      </p:sp>
      <p:sp>
        <p:nvSpPr>
          <p:cNvPr id="114704" name="TextBox 15"/>
          <p:cNvSpPr txBox="1">
            <a:spLocks noChangeArrowheads="1"/>
          </p:cNvSpPr>
          <p:nvPr/>
        </p:nvSpPr>
        <p:spPr bwMode="auto">
          <a:xfrm>
            <a:off x="627260" y="1337731"/>
            <a:ext cx="4651375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alt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Cretaceous, Portugal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BC724036-D90B-41A0-BE1C-CBF69A7AD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Group 188"/>
          <p:cNvGrpSpPr>
            <a:grpSpLocks/>
          </p:cNvGrpSpPr>
          <p:nvPr/>
        </p:nvGrpSpPr>
        <p:grpSpPr bwMode="auto">
          <a:xfrm>
            <a:off x="292101" y="1628799"/>
            <a:ext cx="8096324" cy="4732313"/>
            <a:chOff x="409903" y="1765097"/>
            <a:chExt cx="12039569" cy="7139960"/>
          </a:xfrm>
        </p:grpSpPr>
        <p:sp>
          <p:nvSpPr>
            <p:cNvPr id="22" name="Freeform 21"/>
            <p:cNvSpPr/>
            <p:nvPr/>
          </p:nvSpPr>
          <p:spPr>
            <a:xfrm>
              <a:off x="1638749" y="4051751"/>
              <a:ext cx="10217412" cy="2742207"/>
            </a:xfrm>
            <a:custGeom>
              <a:avLst/>
              <a:gdLst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317531 w 10216055"/>
                <a:gd name="connsiteY12" fmla="*/ 252248 h 2743200"/>
                <a:gd name="connsiteX13" fmla="*/ 2443655 w 10216055"/>
                <a:gd name="connsiteY13" fmla="*/ 189186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351283 w 10216055"/>
                <a:gd name="connsiteY25" fmla="*/ 236483 h 2743200"/>
                <a:gd name="connsiteX26" fmla="*/ 4508938 w 10216055"/>
                <a:gd name="connsiteY26" fmla="*/ 157655 h 2743200"/>
                <a:gd name="connsiteX27" fmla="*/ 4808483 w 10216055"/>
                <a:gd name="connsiteY27" fmla="*/ 236483 h 2743200"/>
                <a:gd name="connsiteX28" fmla="*/ 5108027 w 10216055"/>
                <a:gd name="connsiteY28" fmla="*/ 315310 h 2743200"/>
                <a:gd name="connsiteX29" fmla="*/ 5454869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317531 w 10216055"/>
                <a:gd name="connsiteY12" fmla="*/ 252248 h 2743200"/>
                <a:gd name="connsiteX13" fmla="*/ 2443655 w 10216055"/>
                <a:gd name="connsiteY13" fmla="*/ 189186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351283 w 10216055"/>
                <a:gd name="connsiteY25" fmla="*/ 236483 h 2743200"/>
                <a:gd name="connsiteX26" fmla="*/ 4572000 w 10216055"/>
                <a:gd name="connsiteY26" fmla="*/ 157655 h 2743200"/>
                <a:gd name="connsiteX27" fmla="*/ 4808483 w 10216055"/>
                <a:gd name="connsiteY27" fmla="*/ 236483 h 2743200"/>
                <a:gd name="connsiteX28" fmla="*/ 5108027 w 10216055"/>
                <a:gd name="connsiteY28" fmla="*/ 315310 h 2743200"/>
                <a:gd name="connsiteX29" fmla="*/ 5454869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317531 w 10216055"/>
                <a:gd name="connsiteY12" fmla="*/ 252248 h 2743200"/>
                <a:gd name="connsiteX13" fmla="*/ 2443655 w 10216055"/>
                <a:gd name="connsiteY13" fmla="*/ 189186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351283 w 10216055"/>
                <a:gd name="connsiteY25" fmla="*/ 236483 h 2743200"/>
                <a:gd name="connsiteX26" fmla="*/ 4572000 w 10216055"/>
                <a:gd name="connsiteY26" fmla="*/ 157655 h 2743200"/>
                <a:gd name="connsiteX27" fmla="*/ 4871545 w 10216055"/>
                <a:gd name="connsiteY27" fmla="*/ 204952 h 2743200"/>
                <a:gd name="connsiteX28" fmla="*/ 5108027 w 10216055"/>
                <a:gd name="connsiteY28" fmla="*/ 315310 h 2743200"/>
                <a:gd name="connsiteX29" fmla="*/ 5454869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317531 w 10216055"/>
                <a:gd name="connsiteY12" fmla="*/ 252248 h 2743200"/>
                <a:gd name="connsiteX13" fmla="*/ 2443655 w 10216055"/>
                <a:gd name="connsiteY13" fmla="*/ 189186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351283 w 10216055"/>
                <a:gd name="connsiteY25" fmla="*/ 236483 h 2743200"/>
                <a:gd name="connsiteX26" fmla="*/ 4587765 w 10216055"/>
                <a:gd name="connsiteY26" fmla="*/ 220717 h 2743200"/>
                <a:gd name="connsiteX27" fmla="*/ 4871545 w 10216055"/>
                <a:gd name="connsiteY27" fmla="*/ 204952 h 2743200"/>
                <a:gd name="connsiteX28" fmla="*/ 5108027 w 10216055"/>
                <a:gd name="connsiteY28" fmla="*/ 315310 h 2743200"/>
                <a:gd name="connsiteX29" fmla="*/ 5454869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317531 w 10216055"/>
                <a:gd name="connsiteY12" fmla="*/ 252248 h 2743200"/>
                <a:gd name="connsiteX13" fmla="*/ 2443655 w 10216055"/>
                <a:gd name="connsiteY13" fmla="*/ 189186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351283 w 10216055"/>
                <a:gd name="connsiteY25" fmla="*/ 236483 h 2743200"/>
                <a:gd name="connsiteX26" fmla="*/ 4587765 w 10216055"/>
                <a:gd name="connsiteY26" fmla="*/ 220717 h 2743200"/>
                <a:gd name="connsiteX27" fmla="*/ 4776952 w 10216055"/>
                <a:gd name="connsiteY27" fmla="*/ 252248 h 2743200"/>
                <a:gd name="connsiteX28" fmla="*/ 5108027 w 10216055"/>
                <a:gd name="connsiteY28" fmla="*/ 315310 h 2743200"/>
                <a:gd name="connsiteX29" fmla="*/ 5454869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317531 w 10216055"/>
                <a:gd name="connsiteY12" fmla="*/ 252248 h 2743200"/>
                <a:gd name="connsiteX13" fmla="*/ 2443655 w 10216055"/>
                <a:gd name="connsiteY13" fmla="*/ 189186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351283 w 10216055"/>
                <a:gd name="connsiteY25" fmla="*/ 236483 h 2743200"/>
                <a:gd name="connsiteX26" fmla="*/ 4587765 w 10216055"/>
                <a:gd name="connsiteY26" fmla="*/ 220717 h 2743200"/>
                <a:gd name="connsiteX27" fmla="*/ 4776952 w 10216055"/>
                <a:gd name="connsiteY27" fmla="*/ 252248 h 2743200"/>
                <a:gd name="connsiteX28" fmla="*/ 5108027 w 10216055"/>
                <a:gd name="connsiteY28" fmla="*/ 315310 h 2743200"/>
                <a:gd name="connsiteX29" fmla="*/ 5344510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317531 w 10216055"/>
                <a:gd name="connsiteY12" fmla="*/ 252248 h 2743200"/>
                <a:gd name="connsiteX13" fmla="*/ 2443655 w 10216055"/>
                <a:gd name="connsiteY13" fmla="*/ 189186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351283 w 10216055"/>
                <a:gd name="connsiteY25" fmla="*/ 236483 h 2743200"/>
                <a:gd name="connsiteX26" fmla="*/ 4635061 w 10216055"/>
                <a:gd name="connsiteY26" fmla="*/ 220717 h 2743200"/>
                <a:gd name="connsiteX27" fmla="*/ 4776952 w 10216055"/>
                <a:gd name="connsiteY27" fmla="*/ 252248 h 2743200"/>
                <a:gd name="connsiteX28" fmla="*/ 5108027 w 10216055"/>
                <a:gd name="connsiteY28" fmla="*/ 315310 h 2743200"/>
                <a:gd name="connsiteX29" fmla="*/ 5344510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317531 w 10216055"/>
                <a:gd name="connsiteY12" fmla="*/ 252248 h 2743200"/>
                <a:gd name="connsiteX13" fmla="*/ 2443655 w 10216055"/>
                <a:gd name="connsiteY13" fmla="*/ 189186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351283 w 10216055"/>
                <a:gd name="connsiteY25" fmla="*/ 236483 h 2743200"/>
                <a:gd name="connsiteX26" fmla="*/ 4635061 w 10216055"/>
                <a:gd name="connsiteY26" fmla="*/ 220717 h 2743200"/>
                <a:gd name="connsiteX27" fmla="*/ 4887311 w 10216055"/>
                <a:gd name="connsiteY27" fmla="*/ 252248 h 2743200"/>
                <a:gd name="connsiteX28" fmla="*/ 5108027 w 10216055"/>
                <a:gd name="connsiteY28" fmla="*/ 315310 h 2743200"/>
                <a:gd name="connsiteX29" fmla="*/ 5344510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317531 w 10216055"/>
                <a:gd name="connsiteY12" fmla="*/ 252248 h 2743200"/>
                <a:gd name="connsiteX13" fmla="*/ 2443655 w 10216055"/>
                <a:gd name="connsiteY13" fmla="*/ 189186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414345 w 10216055"/>
                <a:gd name="connsiteY25" fmla="*/ 252249 h 2743200"/>
                <a:gd name="connsiteX26" fmla="*/ 4635061 w 10216055"/>
                <a:gd name="connsiteY26" fmla="*/ 220717 h 2743200"/>
                <a:gd name="connsiteX27" fmla="*/ 4887311 w 10216055"/>
                <a:gd name="connsiteY27" fmla="*/ 252248 h 2743200"/>
                <a:gd name="connsiteX28" fmla="*/ 5108027 w 10216055"/>
                <a:gd name="connsiteY28" fmla="*/ 315310 h 2743200"/>
                <a:gd name="connsiteX29" fmla="*/ 5344510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293781 w 10216055"/>
                <a:gd name="connsiteY12" fmla="*/ 169121 h 2743200"/>
                <a:gd name="connsiteX13" fmla="*/ 2443655 w 10216055"/>
                <a:gd name="connsiteY13" fmla="*/ 189186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414345 w 10216055"/>
                <a:gd name="connsiteY25" fmla="*/ 252249 h 2743200"/>
                <a:gd name="connsiteX26" fmla="*/ 4635061 w 10216055"/>
                <a:gd name="connsiteY26" fmla="*/ 220717 h 2743200"/>
                <a:gd name="connsiteX27" fmla="*/ 4887311 w 10216055"/>
                <a:gd name="connsiteY27" fmla="*/ 252248 h 2743200"/>
                <a:gd name="connsiteX28" fmla="*/ 5108027 w 10216055"/>
                <a:gd name="connsiteY28" fmla="*/ 315310 h 2743200"/>
                <a:gd name="connsiteX29" fmla="*/ 5344510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293781 w 10216055"/>
                <a:gd name="connsiteY12" fmla="*/ 169121 h 2743200"/>
                <a:gd name="connsiteX13" fmla="*/ 2431780 w 10216055"/>
                <a:gd name="connsiteY13" fmla="*/ 117934 h 2743200"/>
                <a:gd name="connsiteX14" fmla="*/ 2569779 w 10216055"/>
                <a:gd name="connsiteY14" fmla="*/ 173421 h 2743200"/>
                <a:gd name="connsiteX15" fmla="*/ 2695903 w 10216055"/>
                <a:gd name="connsiteY15" fmla="*/ 189186 h 2743200"/>
                <a:gd name="connsiteX16" fmla="*/ 2695903 w 10216055"/>
                <a:gd name="connsiteY16" fmla="*/ 189186 h 2743200"/>
                <a:gd name="connsiteX17" fmla="*/ 2822027 w 10216055"/>
                <a:gd name="connsiteY17" fmla="*/ 252248 h 2743200"/>
                <a:gd name="connsiteX18" fmla="*/ 2963917 w 10216055"/>
                <a:gd name="connsiteY18" fmla="*/ 315310 h 2743200"/>
                <a:gd name="connsiteX19" fmla="*/ 3263462 w 10216055"/>
                <a:gd name="connsiteY19" fmla="*/ 299545 h 2743200"/>
                <a:gd name="connsiteX20" fmla="*/ 3405352 w 10216055"/>
                <a:gd name="connsiteY20" fmla="*/ 204952 h 2743200"/>
                <a:gd name="connsiteX21" fmla="*/ 3499945 w 10216055"/>
                <a:gd name="connsiteY21" fmla="*/ 189186 h 2743200"/>
                <a:gd name="connsiteX22" fmla="*/ 3720662 w 10216055"/>
                <a:gd name="connsiteY22" fmla="*/ 189186 h 2743200"/>
                <a:gd name="connsiteX23" fmla="*/ 3972910 w 10216055"/>
                <a:gd name="connsiteY23" fmla="*/ 283779 h 2743200"/>
                <a:gd name="connsiteX24" fmla="*/ 4209393 w 10216055"/>
                <a:gd name="connsiteY24" fmla="*/ 331076 h 2743200"/>
                <a:gd name="connsiteX25" fmla="*/ 4414345 w 10216055"/>
                <a:gd name="connsiteY25" fmla="*/ 252249 h 2743200"/>
                <a:gd name="connsiteX26" fmla="*/ 4635061 w 10216055"/>
                <a:gd name="connsiteY26" fmla="*/ 220717 h 2743200"/>
                <a:gd name="connsiteX27" fmla="*/ 4887311 w 10216055"/>
                <a:gd name="connsiteY27" fmla="*/ 252248 h 2743200"/>
                <a:gd name="connsiteX28" fmla="*/ 5108027 w 10216055"/>
                <a:gd name="connsiteY28" fmla="*/ 315310 h 2743200"/>
                <a:gd name="connsiteX29" fmla="*/ 5344510 w 10216055"/>
                <a:gd name="connsiteY29" fmla="*/ 252248 h 2743200"/>
                <a:gd name="connsiteX30" fmla="*/ 5549462 w 10216055"/>
                <a:gd name="connsiteY30" fmla="*/ 220717 h 2743200"/>
                <a:gd name="connsiteX31" fmla="*/ 5770179 w 10216055"/>
                <a:gd name="connsiteY31" fmla="*/ 268014 h 2743200"/>
                <a:gd name="connsiteX32" fmla="*/ 6101255 w 10216055"/>
                <a:gd name="connsiteY32" fmla="*/ 299545 h 2743200"/>
                <a:gd name="connsiteX33" fmla="*/ 6448096 w 10216055"/>
                <a:gd name="connsiteY33" fmla="*/ 236483 h 2743200"/>
                <a:gd name="connsiteX34" fmla="*/ 6605752 w 10216055"/>
                <a:gd name="connsiteY34" fmla="*/ 236483 h 2743200"/>
                <a:gd name="connsiteX35" fmla="*/ 6921062 w 10216055"/>
                <a:gd name="connsiteY35" fmla="*/ 299545 h 2743200"/>
                <a:gd name="connsiteX36" fmla="*/ 7094483 w 10216055"/>
                <a:gd name="connsiteY36" fmla="*/ 315310 h 2743200"/>
                <a:gd name="connsiteX37" fmla="*/ 7315200 w 10216055"/>
                <a:gd name="connsiteY37" fmla="*/ 268014 h 2743200"/>
                <a:gd name="connsiteX38" fmla="*/ 7551683 w 10216055"/>
                <a:gd name="connsiteY38" fmla="*/ 268014 h 2743200"/>
                <a:gd name="connsiteX39" fmla="*/ 7835462 w 10216055"/>
                <a:gd name="connsiteY39" fmla="*/ 283779 h 2743200"/>
                <a:gd name="connsiteX40" fmla="*/ 8150772 w 10216055"/>
                <a:gd name="connsiteY40" fmla="*/ 346841 h 2743200"/>
                <a:gd name="connsiteX41" fmla="*/ 8529145 w 10216055"/>
                <a:gd name="connsiteY41" fmla="*/ 331076 h 2743200"/>
                <a:gd name="connsiteX42" fmla="*/ 8828689 w 10216055"/>
                <a:gd name="connsiteY42" fmla="*/ 283779 h 2743200"/>
                <a:gd name="connsiteX43" fmla="*/ 9128234 w 10216055"/>
                <a:gd name="connsiteY43" fmla="*/ 268014 h 2743200"/>
                <a:gd name="connsiteX44" fmla="*/ 9459310 w 10216055"/>
                <a:gd name="connsiteY44" fmla="*/ 315310 h 2743200"/>
                <a:gd name="connsiteX45" fmla="*/ 9727324 w 10216055"/>
                <a:gd name="connsiteY45" fmla="*/ 346841 h 2743200"/>
                <a:gd name="connsiteX46" fmla="*/ 10216055 w 10216055"/>
                <a:gd name="connsiteY46" fmla="*/ 268014 h 2743200"/>
                <a:gd name="connsiteX47" fmla="*/ 10200289 w 10216055"/>
                <a:gd name="connsiteY47" fmla="*/ 2743200 h 2743200"/>
                <a:gd name="connsiteX48" fmla="*/ 0 w 10216055"/>
                <a:gd name="connsiteY48" fmla="*/ 1072055 h 2743200"/>
                <a:gd name="connsiteX49" fmla="*/ 693683 w 10216055"/>
                <a:gd name="connsiteY49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279242 w 10216055"/>
                <a:gd name="connsiteY12" fmla="*/ 294631 h 2743200"/>
                <a:gd name="connsiteX13" fmla="*/ 2293781 w 10216055"/>
                <a:gd name="connsiteY13" fmla="*/ 169121 h 2743200"/>
                <a:gd name="connsiteX14" fmla="*/ 2431780 w 10216055"/>
                <a:gd name="connsiteY14" fmla="*/ 117934 h 2743200"/>
                <a:gd name="connsiteX15" fmla="*/ 2569779 w 10216055"/>
                <a:gd name="connsiteY15" fmla="*/ 173421 h 2743200"/>
                <a:gd name="connsiteX16" fmla="*/ 2695903 w 10216055"/>
                <a:gd name="connsiteY16" fmla="*/ 189186 h 2743200"/>
                <a:gd name="connsiteX17" fmla="*/ 2695903 w 10216055"/>
                <a:gd name="connsiteY17" fmla="*/ 189186 h 2743200"/>
                <a:gd name="connsiteX18" fmla="*/ 2822027 w 10216055"/>
                <a:gd name="connsiteY18" fmla="*/ 252248 h 2743200"/>
                <a:gd name="connsiteX19" fmla="*/ 2963917 w 10216055"/>
                <a:gd name="connsiteY19" fmla="*/ 315310 h 2743200"/>
                <a:gd name="connsiteX20" fmla="*/ 3263462 w 10216055"/>
                <a:gd name="connsiteY20" fmla="*/ 299545 h 2743200"/>
                <a:gd name="connsiteX21" fmla="*/ 3405352 w 10216055"/>
                <a:gd name="connsiteY21" fmla="*/ 204952 h 2743200"/>
                <a:gd name="connsiteX22" fmla="*/ 3499945 w 10216055"/>
                <a:gd name="connsiteY22" fmla="*/ 189186 h 2743200"/>
                <a:gd name="connsiteX23" fmla="*/ 3720662 w 10216055"/>
                <a:gd name="connsiteY23" fmla="*/ 189186 h 2743200"/>
                <a:gd name="connsiteX24" fmla="*/ 3972910 w 10216055"/>
                <a:gd name="connsiteY24" fmla="*/ 283779 h 2743200"/>
                <a:gd name="connsiteX25" fmla="*/ 4209393 w 10216055"/>
                <a:gd name="connsiteY25" fmla="*/ 331076 h 2743200"/>
                <a:gd name="connsiteX26" fmla="*/ 4414345 w 10216055"/>
                <a:gd name="connsiteY26" fmla="*/ 252249 h 2743200"/>
                <a:gd name="connsiteX27" fmla="*/ 4635061 w 10216055"/>
                <a:gd name="connsiteY27" fmla="*/ 220717 h 2743200"/>
                <a:gd name="connsiteX28" fmla="*/ 4887311 w 10216055"/>
                <a:gd name="connsiteY28" fmla="*/ 252248 h 2743200"/>
                <a:gd name="connsiteX29" fmla="*/ 5108027 w 10216055"/>
                <a:gd name="connsiteY29" fmla="*/ 315310 h 2743200"/>
                <a:gd name="connsiteX30" fmla="*/ 5344510 w 10216055"/>
                <a:gd name="connsiteY30" fmla="*/ 252248 h 2743200"/>
                <a:gd name="connsiteX31" fmla="*/ 5549462 w 10216055"/>
                <a:gd name="connsiteY31" fmla="*/ 220717 h 2743200"/>
                <a:gd name="connsiteX32" fmla="*/ 5770179 w 10216055"/>
                <a:gd name="connsiteY32" fmla="*/ 268014 h 2743200"/>
                <a:gd name="connsiteX33" fmla="*/ 6101255 w 10216055"/>
                <a:gd name="connsiteY33" fmla="*/ 299545 h 2743200"/>
                <a:gd name="connsiteX34" fmla="*/ 6448096 w 10216055"/>
                <a:gd name="connsiteY34" fmla="*/ 236483 h 2743200"/>
                <a:gd name="connsiteX35" fmla="*/ 6605752 w 10216055"/>
                <a:gd name="connsiteY35" fmla="*/ 236483 h 2743200"/>
                <a:gd name="connsiteX36" fmla="*/ 6921062 w 10216055"/>
                <a:gd name="connsiteY36" fmla="*/ 299545 h 2743200"/>
                <a:gd name="connsiteX37" fmla="*/ 7094483 w 10216055"/>
                <a:gd name="connsiteY37" fmla="*/ 315310 h 2743200"/>
                <a:gd name="connsiteX38" fmla="*/ 7315200 w 10216055"/>
                <a:gd name="connsiteY38" fmla="*/ 268014 h 2743200"/>
                <a:gd name="connsiteX39" fmla="*/ 7551683 w 10216055"/>
                <a:gd name="connsiteY39" fmla="*/ 268014 h 2743200"/>
                <a:gd name="connsiteX40" fmla="*/ 7835462 w 10216055"/>
                <a:gd name="connsiteY40" fmla="*/ 283779 h 2743200"/>
                <a:gd name="connsiteX41" fmla="*/ 8150772 w 10216055"/>
                <a:gd name="connsiteY41" fmla="*/ 346841 h 2743200"/>
                <a:gd name="connsiteX42" fmla="*/ 8529145 w 10216055"/>
                <a:gd name="connsiteY42" fmla="*/ 331076 h 2743200"/>
                <a:gd name="connsiteX43" fmla="*/ 8828689 w 10216055"/>
                <a:gd name="connsiteY43" fmla="*/ 283779 h 2743200"/>
                <a:gd name="connsiteX44" fmla="*/ 9128234 w 10216055"/>
                <a:gd name="connsiteY44" fmla="*/ 268014 h 2743200"/>
                <a:gd name="connsiteX45" fmla="*/ 9459310 w 10216055"/>
                <a:gd name="connsiteY45" fmla="*/ 315310 h 2743200"/>
                <a:gd name="connsiteX46" fmla="*/ 9727324 w 10216055"/>
                <a:gd name="connsiteY46" fmla="*/ 346841 h 2743200"/>
                <a:gd name="connsiteX47" fmla="*/ 10216055 w 10216055"/>
                <a:gd name="connsiteY47" fmla="*/ 268014 h 2743200"/>
                <a:gd name="connsiteX48" fmla="*/ 10200289 w 10216055"/>
                <a:gd name="connsiteY48" fmla="*/ 2743200 h 2743200"/>
                <a:gd name="connsiteX49" fmla="*/ 0 w 10216055"/>
                <a:gd name="connsiteY49" fmla="*/ 1072055 h 2743200"/>
                <a:gd name="connsiteX50" fmla="*/ 693683 w 10216055"/>
                <a:gd name="connsiteY50" fmla="*/ 252248 h 2743200"/>
                <a:gd name="connsiteX0" fmla="*/ 693683 w 10216055"/>
                <a:gd name="connsiteY0" fmla="*/ 252248 h 2743200"/>
                <a:gd name="connsiteX1" fmla="*/ 1040524 w 10216055"/>
                <a:gd name="connsiteY1" fmla="*/ 173421 h 2743200"/>
                <a:gd name="connsiteX2" fmla="*/ 1229710 w 10216055"/>
                <a:gd name="connsiteY2" fmla="*/ 204952 h 2743200"/>
                <a:gd name="connsiteX3" fmla="*/ 1387365 w 10216055"/>
                <a:gd name="connsiteY3" fmla="*/ 283779 h 2743200"/>
                <a:gd name="connsiteX4" fmla="*/ 1545020 w 10216055"/>
                <a:gd name="connsiteY4" fmla="*/ 299545 h 2743200"/>
                <a:gd name="connsiteX5" fmla="*/ 1655379 w 10216055"/>
                <a:gd name="connsiteY5" fmla="*/ 252248 h 2743200"/>
                <a:gd name="connsiteX6" fmla="*/ 1623848 w 10216055"/>
                <a:gd name="connsiteY6" fmla="*/ 157655 h 2743200"/>
                <a:gd name="connsiteX7" fmla="*/ 1560786 w 10216055"/>
                <a:gd name="connsiteY7" fmla="*/ 110359 h 2743200"/>
                <a:gd name="connsiteX8" fmla="*/ 1466193 w 10216055"/>
                <a:gd name="connsiteY8" fmla="*/ 31531 h 2743200"/>
                <a:gd name="connsiteX9" fmla="*/ 1702676 w 10216055"/>
                <a:gd name="connsiteY9" fmla="*/ 0 h 2743200"/>
                <a:gd name="connsiteX10" fmla="*/ 1907627 w 10216055"/>
                <a:gd name="connsiteY10" fmla="*/ 110359 h 2743200"/>
                <a:gd name="connsiteX11" fmla="*/ 2096814 w 10216055"/>
                <a:gd name="connsiteY11" fmla="*/ 299545 h 2743200"/>
                <a:gd name="connsiteX12" fmla="*/ 2279242 w 10216055"/>
                <a:gd name="connsiteY12" fmla="*/ 294631 h 2743200"/>
                <a:gd name="connsiteX13" fmla="*/ 2293781 w 10216055"/>
                <a:gd name="connsiteY13" fmla="*/ 169121 h 2743200"/>
                <a:gd name="connsiteX14" fmla="*/ 2431780 w 10216055"/>
                <a:gd name="connsiteY14" fmla="*/ 117934 h 2743200"/>
                <a:gd name="connsiteX15" fmla="*/ 2581655 w 10216055"/>
                <a:gd name="connsiteY15" fmla="*/ 125919 h 2743200"/>
                <a:gd name="connsiteX16" fmla="*/ 2695903 w 10216055"/>
                <a:gd name="connsiteY16" fmla="*/ 189186 h 2743200"/>
                <a:gd name="connsiteX17" fmla="*/ 2695903 w 10216055"/>
                <a:gd name="connsiteY17" fmla="*/ 189186 h 2743200"/>
                <a:gd name="connsiteX18" fmla="*/ 2822027 w 10216055"/>
                <a:gd name="connsiteY18" fmla="*/ 252248 h 2743200"/>
                <a:gd name="connsiteX19" fmla="*/ 2963917 w 10216055"/>
                <a:gd name="connsiteY19" fmla="*/ 315310 h 2743200"/>
                <a:gd name="connsiteX20" fmla="*/ 3263462 w 10216055"/>
                <a:gd name="connsiteY20" fmla="*/ 299545 h 2743200"/>
                <a:gd name="connsiteX21" fmla="*/ 3405352 w 10216055"/>
                <a:gd name="connsiteY21" fmla="*/ 204952 h 2743200"/>
                <a:gd name="connsiteX22" fmla="*/ 3499945 w 10216055"/>
                <a:gd name="connsiteY22" fmla="*/ 189186 h 2743200"/>
                <a:gd name="connsiteX23" fmla="*/ 3720662 w 10216055"/>
                <a:gd name="connsiteY23" fmla="*/ 189186 h 2743200"/>
                <a:gd name="connsiteX24" fmla="*/ 3972910 w 10216055"/>
                <a:gd name="connsiteY24" fmla="*/ 283779 h 2743200"/>
                <a:gd name="connsiteX25" fmla="*/ 4209393 w 10216055"/>
                <a:gd name="connsiteY25" fmla="*/ 331076 h 2743200"/>
                <a:gd name="connsiteX26" fmla="*/ 4414345 w 10216055"/>
                <a:gd name="connsiteY26" fmla="*/ 252249 h 2743200"/>
                <a:gd name="connsiteX27" fmla="*/ 4635061 w 10216055"/>
                <a:gd name="connsiteY27" fmla="*/ 220717 h 2743200"/>
                <a:gd name="connsiteX28" fmla="*/ 4887311 w 10216055"/>
                <a:gd name="connsiteY28" fmla="*/ 252248 h 2743200"/>
                <a:gd name="connsiteX29" fmla="*/ 5108027 w 10216055"/>
                <a:gd name="connsiteY29" fmla="*/ 315310 h 2743200"/>
                <a:gd name="connsiteX30" fmla="*/ 5344510 w 10216055"/>
                <a:gd name="connsiteY30" fmla="*/ 252248 h 2743200"/>
                <a:gd name="connsiteX31" fmla="*/ 5549462 w 10216055"/>
                <a:gd name="connsiteY31" fmla="*/ 220717 h 2743200"/>
                <a:gd name="connsiteX32" fmla="*/ 5770179 w 10216055"/>
                <a:gd name="connsiteY32" fmla="*/ 268014 h 2743200"/>
                <a:gd name="connsiteX33" fmla="*/ 6101255 w 10216055"/>
                <a:gd name="connsiteY33" fmla="*/ 299545 h 2743200"/>
                <a:gd name="connsiteX34" fmla="*/ 6448096 w 10216055"/>
                <a:gd name="connsiteY34" fmla="*/ 236483 h 2743200"/>
                <a:gd name="connsiteX35" fmla="*/ 6605752 w 10216055"/>
                <a:gd name="connsiteY35" fmla="*/ 236483 h 2743200"/>
                <a:gd name="connsiteX36" fmla="*/ 6921062 w 10216055"/>
                <a:gd name="connsiteY36" fmla="*/ 299545 h 2743200"/>
                <a:gd name="connsiteX37" fmla="*/ 7094483 w 10216055"/>
                <a:gd name="connsiteY37" fmla="*/ 315310 h 2743200"/>
                <a:gd name="connsiteX38" fmla="*/ 7315200 w 10216055"/>
                <a:gd name="connsiteY38" fmla="*/ 268014 h 2743200"/>
                <a:gd name="connsiteX39" fmla="*/ 7551683 w 10216055"/>
                <a:gd name="connsiteY39" fmla="*/ 268014 h 2743200"/>
                <a:gd name="connsiteX40" fmla="*/ 7835462 w 10216055"/>
                <a:gd name="connsiteY40" fmla="*/ 283779 h 2743200"/>
                <a:gd name="connsiteX41" fmla="*/ 8150772 w 10216055"/>
                <a:gd name="connsiteY41" fmla="*/ 346841 h 2743200"/>
                <a:gd name="connsiteX42" fmla="*/ 8529145 w 10216055"/>
                <a:gd name="connsiteY42" fmla="*/ 331076 h 2743200"/>
                <a:gd name="connsiteX43" fmla="*/ 8828689 w 10216055"/>
                <a:gd name="connsiteY43" fmla="*/ 283779 h 2743200"/>
                <a:gd name="connsiteX44" fmla="*/ 9128234 w 10216055"/>
                <a:gd name="connsiteY44" fmla="*/ 268014 h 2743200"/>
                <a:gd name="connsiteX45" fmla="*/ 9459310 w 10216055"/>
                <a:gd name="connsiteY45" fmla="*/ 315310 h 2743200"/>
                <a:gd name="connsiteX46" fmla="*/ 9727324 w 10216055"/>
                <a:gd name="connsiteY46" fmla="*/ 346841 h 2743200"/>
                <a:gd name="connsiteX47" fmla="*/ 10216055 w 10216055"/>
                <a:gd name="connsiteY47" fmla="*/ 268014 h 2743200"/>
                <a:gd name="connsiteX48" fmla="*/ 10200289 w 10216055"/>
                <a:gd name="connsiteY48" fmla="*/ 2743200 h 2743200"/>
                <a:gd name="connsiteX49" fmla="*/ 0 w 10216055"/>
                <a:gd name="connsiteY49" fmla="*/ 1072055 h 2743200"/>
                <a:gd name="connsiteX50" fmla="*/ 693683 w 10216055"/>
                <a:gd name="connsiteY50" fmla="*/ 252248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0216055" h="2743200">
                  <a:moveTo>
                    <a:pt x="693683" y="252248"/>
                  </a:moveTo>
                  <a:lnTo>
                    <a:pt x="1040524" y="173421"/>
                  </a:lnTo>
                  <a:lnTo>
                    <a:pt x="1229710" y="204952"/>
                  </a:lnTo>
                  <a:lnTo>
                    <a:pt x="1387365" y="283779"/>
                  </a:lnTo>
                  <a:lnTo>
                    <a:pt x="1545020" y="299545"/>
                  </a:lnTo>
                  <a:lnTo>
                    <a:pt x="1655379" y="252248"/>
                  </a:lnTo>
                  <a:lnTo>
                    <a:pt x="1623848" y="157655"/>
                  </a:lnTo>
                  <a:lnTo>
                    <a:pt x="1560786" y="110359"/>
                  </a:lnTo>
                  <a:lnTo>
                    <a:pt x="1466193" y="31531"/>
                  </a:lnTo>
                  <a:lnTo>
                    <a:pt x="1702676" y="0"/>
                  </a:lnTo>
                  <a:lnTo>
                    <a:pt x="1907627" y="110359"/>
                  </a:lnTo>
                  <a:lnTo>
                    <a:pt x="2096814" y="299545"/>
                  </a:lnTo>
                  <a:cubicBezTo>
                    <a:pt x="2129914" y="274156"/>
                    <a:pt x="2246142" y="320020"/>
                    <a:pt x="2279242" y="294631"/>
                  </a:cubicBezTo>
                  <a:lnTo>
                    <a:pt x="2293781" y="169121"/>
                  </a:lnTo>
                  <a:lnTo>
                    <a:pt x="2431780" y="117934"/>
                  </a:lnTo>
                  <a:lnTo>
                    <a:pt x="2581655" y="125919"/>
                  </a:lnTo>
                  <a:lnTo>
                    <a:pt x="2695903" y="189186"/>
                  </a:lnTo>
                  <a:lnTo>
                    <a:pt x="2695903" y="189186"/>
                  </a:lnTo>
                  <a:lnTo>
                    <a:pt x="2822027" y="252248"/>
                  </a:lnTo>
                  <a:lnTo>
                    <a:pt x="2963917" y="315310"/>
                  </a:lnTo>
                  <a:lnTo>
                    <a:pt x="3263462" y="299545"/>
                  </a:lnTo>
                  <a:lnTo>
                    <a:pt x="3405352" y="204952"/>
                  </a:lnTo>
                  <a:lnTo>
                    <a:pt x="3499945" y="189186"/>
                  </a:lnTo>
                  <a:lnTo>
                    <a:pt x="3720662" y="189186"/>
                  </a:lnTo>
                  <a:lnTo>
                    <a:pt x="3972910" y="283779"/>
                  </a:lnTo>
                  <a:lnTo>
                    <a:pt x="4209393" y="331076"/>
                  </a:lnTo>
                  <a:lnTo>
                    <a:pt x="4414345" y="252249"/>
                  </a:lnTo>
                  <a:lnTo>
                    <a:pt x="4635061" y="220717"/>
                  </a:lnTo>
                  <a:cubicBezTo>
                    <a:pt x="4713889" y="246993"/>
                    <a:pt x="4808483" y="236483"/>
                    <a:pt x="4887311" y="252248"/>
                  </a:cubicBezTo>
                  <a:cubicBezTo>
                    <a:pt x="4966139" y="268014"/>
                    <a:pt x="5008179" y="289034"/>
                    <a:pt x="5108027" y="315310"/>
                  </a:cubicBezTo>
                  <a:lnTo>
                    <a:pt x="5344510" y="252248"/>
                  </a:lnTo>
                  <a:lnTo>
                    <a:pt x="5549462" y="220717"/>
                  </a:lnTo>
                  <a:lnTo>
                    <a:pt x="5770179" y="268014"/>
                  </a:lnTo>
                  <a:lnTo>
                    <a:pt x="6101255" y="299545"/>
                  </a:lnTo>
                  <a:lnTo>
                    <a:pt x="6448096" y="236483"/>
                  </a:lnTo>
                  <a:lnTo>
                    <a:pt x="6605752" y="236483"/>
                  </a:lnTo>
                  <a:lnTo>
                    <a:pt x="6921062" y="299545"/>
                  </a:lnTo>
                  <a:lnTo>
                    <a:pt x="7094483" y="315310"/>
                  </a:lnTo>
                  <a:lnTo>
                    <a:pt x="7315200" y="268014"/>
                  </a:lnTo>
                  <a:lnTo>
                    <a:pt x="7551683" y="268014"/>
                  </a:lnTo>
                  <a:lnTo>
                    <a:pt x="7835462" y="283779"/>
                  </a:lnTo>
                  <a:lnTo>
                    <a:pt x="8150772" y="346841"/>
                  </a:lnTo>
                  <a:lnTo>
                    <a:pt x="8529145" y="331076"/>
                  </a:lnTo>
                  <a:lnTo>
                    <a:pt x="8828689" y="283779"/>
                  </a:lnTo>
                  <a:lnTo>
                    <a:pt x="9128234" y="268014"/>
                  </a:lnTo>
                  <a:lnTo>
                    <a:pt x="9459310" y="315310"/>
                  </a:lnTo>
                  <a:lnTo>
                    <a:pt x="9727324" y="346841"/>
                  </a:lnTo>
                  <a:lnTo>
                    <a:pt x="10216055" y="268014"/>
                  </a:lnTo>
                  <a:lnTo>
                    <a:pt x="10200289" y="2743200"/>
                  </a:lnTo>
                  <a:lnTo>
                    <a:pt x="0" y="1072055"/>
                  </a:lnTo>
                  <a:lnTo>
                    <a:pt x="693683" y="25224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3" name="Freeform 2"/>
            <p:cNvSpPr/>
            <p:nvPr/>
          </p:nvSpPr>
          <p:spPr>
            <a:xfrm>
              <a:off x="787667" y="3782863"/>
              <a:ext cx="11068493" cy="3926645"/>
            </a:xfrm>
            <a:custGeom>
              <a:avLst/>
              <a:gdLst>
                <a:gd name="connsiteX0" fmla="*/ 0 w 11146221"/>
                <a:gd name="connsiteY0" fmla="*/ 0 h 3909848"/>
                <a:gd name="connsiteX1" fmla="*/ 173421 w 11146221"/>
                <a:gd name="connsiteY1" fmla="*/ 78828 h 3909848"/>
                <a:gd name="connsiteX2" fmla="*/ 457200 w 11146221"/>
                <a:gd name="connsiteY2" fmla="*/ 472966 h 3909848"/>
                <a:gd name="connsiteX3" fmla="*/ 1277007 w 11146221"/>
                <a:gd name="connsiteY3" fmla="*/ 457200 h 3909848"/>
                <a:gd name="connsiteX4" fmla="*/ 2191407 w 11146221"/>
                <a:gd name="connsiteY4" fmla="*/ 756745 h 3909848"/>
                <a:gd name="connsiteX5" fmla="*/ 3358055 w 11146221"/>
                <a:gd name="connsiteY5" fmla="*/ 977462 h 3909848"/>
                <a:gd name="connsiteX6" fmla="*/ 11130455 w 11146221"/>
                <a:gd name="connsiteY6" fmla="*/ 2301766 h 3909848"/>
                <a:gd name="connsiteX7" fmla="*/ 11146221 w 11146221"/>
                <a:gd name="connsiteY7" fmla="*/ 3909848 h 3909848"/>
                <a:gd name="connsiteX8" fmla="*/ 110358 w 11146221"/>
                <a:gd name="connsiteY8" fmla="*/ 3878317 h 3909848"/>
                <a:gd name="connsiteX9" fmla="*/ 63062 w 11146221"/>
                <a:gd name="connsiteY9" fmla="*/ 31531 h 3909848"/>
                <a:gd name="connsiteX10" fmla="*/ 63062 w 11146221"/>
                <a:gd name="connsiteY10" fmla="*/ 31531 h 3909848"/>
                <a:gd name="connsiteX0" fmla="*/ 0 w 11146221"/>
                <a:gd name="connsiteY0" fmla="*/ 0 h 3909848"/>
                <a:gd name="connsiteX1" fmla="*/ 173421 w 11146221"/>
                <a:gd name="connsiteY1" fmla="*/ 78828 h 3909848"/>
                <a:gd name="connsiteX2" fmla="*/ 457200 w 11146221"/>
                <a:gd name="connsiteY2" fmla="*/ 472966 h 3909848"/>
                <a:gd name="connsiteX3" fmla="*/ 1277007 w 11146221"/>
                <a:gd name="connsiteY3" fmla="*/ 457200 h 3909848"/>
                <a:gd name="connsiteX4" fmla="*/ 2191407 w 11146221"/>
                <a:gd name="connsiteY4" fmla="*/ 756745 h 3909848"/>
                <a:gd name="connsiteX5" fmla="*/ 3358055 w 11146221"/>
                <a:gd name="connsiteY5" fmla="*/ 977462 h 3909848"/>
                <a:gd name="connsiteX6" fmla="*/ 11083158 w 11146221"/>
                <a:gd name="connsiteY6" fmla="*/ 2585545 h 3909848"/>
                <a:gd name="connsiteX7" fmla="*/ 11146221 w 11146221"/>
                <a:gd name="connsiteY7" fmla="*/ 3909848 h 3909848"/>
                <a:gd name="connsiteX8" fmla="*/ 110358 w 11146221"/>
                <a:gd name="connsiteY8" fmla="*/ 3878317 h 3909848"/>
                <a:gd name="connsiteX9" fmla="*/ 63062 w 11146221"/>
                <a:gd name="connsiteY9" fmla="*/ 31531 h 3909848"/>
                <a:gd name="connsiteX10" fmla="*/ 63062 w 11146221"/>
                <a:gd name="connsiteY10" fmla="*/ 31531 h 3909848"/>
                <a:gd name="connsiteX0" fmla="*/ 0 w 11083158"/>
                <a:gd name="connsiteY0" fmla="*/ 0 h 3925614"/>
                <a:gd name="connsiteX1" fmla="*/ 173421 w 11083158"/>
                <a:gd name="connsiteY1" fmla="*/ 78828 h 3925614"/>
                <a:gd name="connsiteX2" fmla="*/ 457200 w 11083158"/>
                <a:gd name="connsiteY2" fmla="*/ 472966 h 3925614"/>
                <a:gd name="connsiteX3" fmla="*/ 1277007 w 11083158"/>
                <a:gd name="connsiteY3" fmla="*/ 457200 h 3925614"/>
                <a:gd name="connsiteX4" fmla="*/ 2191407 w 11083158"/>
                <a:gd name="connsiteY4" fmla="*/ 756745 h 3925614"/>
                <a:gd name="connsiteX5" fmla="*/ 3358055 w 11083158"/>
                <a:gd name="connsiteY5" fmla="*/ 977462 h 3925614"/>
                <a:gd name="connsiteX6" fmla="*/ 11083158 w 11083158"/>
                <a:gd name="connsiteY6" fmla="*/ 2585545 h 3925614"/>
                <a:gd name="connsiteX7" fmla="*/ 11067393 w 11083158"/>
                <a:gd name="connsiteY7" fmla="*/ 3925614 h 3925614"/>
                <a:gd name="connsiteX8" fmla="*/ 110358 w 11083158"/>
                <a:gd name="connsiteY8" fmla="*/ 3878317 h 3925614"/>
                <a:gd name="connsiteX9" fmla="*/ 63062 w 11083158"/>
                <a:gd name="connsiteY9" fmla="*/ 31531 h 3925614"/>
                <a:gd name="connsiteX10" fmla="*/ 63062 w 11083158"/>
                <a:gd name="connsiteY10" fmla="*/ 31531 h 3925614"/>
                <a:gd name="connsiteX0" fmla="*/ 0 w 11067393"/>
                <a:gd name="connsiteY0" fmla="*/ 0 h 3925614"/>
                <a:gd name="connsiteX1" fmla="*/ 173421 w 11067393"/>
                <a:gd name="connsiteY1" fmla="*/ 78828 h 3925614"/>
                <a:gd name="connsiteX2" fmla="*/ 457200 w 11067393"/>
                <a:gd name="connsiteY2" fmla="*/ 472966 h 3925614"/>
                <a:gd name="connsiteX3" fmla="*/ 1277007 w 11067393"/>
                <a:gd name="connsiteY3" fmla="*/ 457200 h 3925614"/>
                <a:gd name="connsiteX4" fmla="*/ 2191407 w 11067393"/>
                <a:gd name="connsiteY4" fmla="*/ 756745 h 3925614"/>
                <a:gd name="connsiteX5" fmla="*/ 3358055 w 11067393"/>
                <a:gd name="connsiteY5" fmla="*/ 977462 h 3925614"/>
                <a:gd name="connsiteX6" fmla="*/ 11051627 w 11067393"/>
                <a:gd name="connsiteY6" fmla="*/ 2569780 h 3925614"/>
                <a:gd name="connsiteX7" fmla="*/ 11067393 w 11067393"/>
                <a:gd name="connsiteY7" fmla="*/ 3925614 h 3925614"/>
                <a:gd name="connsiteX8" fmla="*/ 110358 w 11067393"/>
                <a:gd name="connsiteY8" fmla="*/ 3878317 h 3925614"/>
                <a:gd name="connsiteX9" fmla="*/ 63062 w 11067393"/>
                <a:gd name="connsiteY9" fmla="*/ 31531 h 3925614"/>
                <a:gd name="connsiteX10" fmla="*/ 63062 w 11067393"/>
                <a:gd name="connsiteY10" fmla="*/ 31531 h 392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67393" h="3925614">
                  <a:moveTo>
                    <a:pt x="0" y="0"/>
                  </a:moveTo>
                  <a:lnTo>
                    <a:pt x="173421" y="78828"/>
                  </a:lnTo>
                  <a:lnTo>
                    <a:pt x="457200" y="472966"/>
                  </a:lnTo>
                  <a:lnTo>
                    <a:pt x="1277007" y="457200"/>
                  </a:lnTo>
                  <a:lnTo>
                    <a:pt x="2191407" y="756745"/>
                  </a:lnTo>
                  <a:cubicBezTo>
                    <a:pt x="2580290" y="830317"/>
                    <a:pt x="1876097" y="672662"/>
                    <a:pt x="3358055" y="977462"/>
                  </a:cubicBezTo>
                  <a:lnTo>
                    <a:pt x="11051627" y="2569780"/>
                  </a:lnTo>
                  <a:lnTo>
                    <a:pt x="11067393" y="3925614"/>
                  </a:lnTo>
                  <a:lnTo>
                    <a:pt x="110358" y="3878317"/>
                  </a:lnTo>
                  <a:lnTo>
                    <a:pt x="63062" y="31531"/>
                  </a:lnTo>
                  <a:lnTo>
                    <a:pt x="63062" y="31531"/>
                  </a:ln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8416284" y="5693963"/>
              <a:ext cx="3566538" cy="44444"/>
            </a:xfrm>
            <a:custGeom>
              <a:avLst/>
              <a:gdLst>
                <a:gd name="connsiteX0" fmla="*/ 0 w 2081048"/>
                <a:gd name="connsiteY0" fmla="*/ 0 h 31531"/>
                <a:gd name="connsiteX1" fmla="*/ 2081048 w 2081048"/>
                <a:gd name="connsiteY1" fmla="*/ 31531 h 3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1048" h="31531">
                  <a:moveTo>
                    <a:pt x="0" y="0"/>
                  </a:moveTo>
                  <a:lnTo>
                    <a:pt x="2081048" y="31531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2049844" y="2253983"/>
              <a:ext cx="2113258" cy="64445"/>
            </a:xfrm>
            <a:custGeom>
              <a:avLst/>
              <a:gdLst>
                <a:gd name="connsiteX0" fmla="*/ 0 w 2112580"/>
                <a:gd name="connsiteY0" fmla="*/ 0 h 63062"/>
                <a:gd name="connsiteX1" fmla="*/ 0 w 2112580"/>
                <a:gd name="connsiteY1" fmla="*/ 0 h 63062"/>
                <a:gd name="connsiteX2" fmla="*/ 2112580 w 2112580"/>
                <a:gd name="connsiteY2" fmla="*/ 63062 h 6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2580" h="63062">
                  <a:moveTo>
                    <a:pt x="0" y="0"/>
                  </a:moveTo>
                  <a:lnTo>
                    <a:pt x="0" y="0"/>
                  </a:lnTo>
                  <a:lnTo>
                    <a:pt x="2112580" y="63062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2854260" y="2496205"/>
              <a:ext cx="7290851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15"/>
            <p:cNvSpPr/>
            <p:nvPr/>
          </p:nvSpPr>
          <p:spPr>
            <a:xfrm>
              <a:off x="3247580" y="2856203"/>
              <a:ext cx="6921974" cy="31111"/>
            </a:xfrm>
            <a:custGeom>
              <a:avLst/>
              <a:gdLst>
                <a:gd name="connsiteX0" fmla="*/ 0 w 6921062"/>
                <a:gd name="connsiteY0" fmla="*/ 31531 h 31531"/>
                <a:gd name="connsiteX1" fmla="*/ 0 w 6921062"/>
                <a:gd name="connsiteY1" fmla="*/ 31531 h 31531"/>
                <a:gd name="connsiteX2" fmla="*/ 1655379 w 6921062"/>
                <a:gd name="connsiteY2" fmla="*/ 15765 h 31531"/>
                <a:gd name="connsiteX3" fmla="*/ 6921062 w 6921062"/>
                <a:gd name="connsiteY3" fmla="*/ 0 h 31531"/>
                <a:gd name="connsiteX4" fmla="*/ 6921062 w 6921062"/>
                <a:gd name="connsiteY4" fmla="*/ 0 h 3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1062" h="31531">
                  <a:moveTo>
                    <a:pt x="0" y="31531"/>
                  </a:moveTo>
                  <a:lnTo>
                    <a:pt x="0" y="31531"/>
                  </a:lnTo>
                  <a:lnTo>
                    <a:pt x="1655379" y="15765"/>
                  </a:lnTo>
                  <a:lnTo>
                    <a:pt x="6921062" y="0"/>
                  </a:lnTo>
                  <a:lnTo>
                    <a:pt x="6921062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227473" y="1765097"/>
              <a:ext cx="5628688" cy="43110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>
                  <a:solidFill>
                    <a:prstClr val="black"/>
                  </a:solidFill>
                </a:rPr>
                <a:t>Shelf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92094" y="1765097"/>
              <a:ext cx="1813268" cy="43110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>
                  <a:solidFill>
                    <a:prstClr val="black"/>
                  </a:solidFill>
                </a:rPr>
                <a:t>Beach</a:t>
              </a:r>
            </a:p>
          </p:txBody>
        </p:sp>
        <p:sp>
          <p:nvSpPr>
            <p:cNvPr id="19" name="Freeform 18"/>
            <p:cNvSpPr/>
            <p:nvPr/>
          </p:nvSpPr>
          <p:spPr>
            <a:xfrm>
              <a:off x="6227473" y="5202856"/>
              <a:ext cx="5659798" cy="15555"/>
            </a:xfrm>
            <a:custGeom>
              <a:avLst/>
              <a:gdLst>
                <a:gd name="connsiteX0" fmla="*/ 0 w 5659821"/>
                <a:gd name="connsiteY0" fmla="*/ 0 h 15765"/>
                <a:gd name="connsiteX1" fmla="*/ 5659821 w 5659821"/>
                <a:gd name="connsiteY1" fmla="*/ 15765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59821" h="15765">
                  <a:moveTo>
                    <a:pt x="0" y="0"/>
                  </a:moveTo>
                  <a:lnTo>
                    <a:pt x="5659821" y="15765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3105363" y="4540637"/>
              <a:ext cx="8797462" cy="44444"/>
            </a:xfrm>
            <a:custGeom>
              <a:avLst/>
              <a:gdLst>
                <a:gd name="connsiteX0" fmla="*/ 0 w 8797159"/>
                <a:gd name="connsiteY0" fmla="*/ 0 h 15765"/>
                <a:gd name="connsiteX1" fmla="*/ 8797159 w 8797159"/>
                <a:gd name="connsiteY1" fmla="*/ 15765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97159" h="15765">
                  <a:moveTo>
                    <a:pt x="0" y="0"/>
                  </a:moveTo>
                  <a:lnTo>
                    <a:pt x="8797159" y="15765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16413" y="3760641"/>
              <a:ext cx="3599871" cy="3924422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416284" y="3678420"/>
              <a:ext cx="3439877" cy="4006643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5363" y="3760641"/>
              <a:ext cx="3122110" cy="3939978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287650" y="3760641"/>
              <a:ext cx="1833267" cy="3924422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98507" y="3760641"/>
              <a:ext cx="3457654" cy="3924422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 rot="16200000">
              <a:off x="1852051" y="2485108"/>
              <a:ext cx="1575546" cy="97552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>
                  <a:solidFill>
                    <a:prstClr val="black"/>
                  </a:solidFill>
                </a:rPr>
                <a:t>Foreshore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 rot="16200000">
              <a:off x="948749" y="2528440"/>
              <a:ext cx="1575546" cy="88885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>
                  <a:solidFill>
                    <a:prstClr val="black"/>
                  </a:solidFill>
                </a:rPr>
                <a:t>Backshore</a:t>
              </a:r>
            </a:p>
          </p:txBody>
        </p:sp>
        <p:sp>
          <p:nvSpPr>
            <p:cNvPr id="25" name="Rectangle 24"/>
            <p:cNvSpPr/>
            <p:nvPr/>
          </p:nvSpPr>
          <p:spPr>
            <a:xfrm rot="16200000">
              <a:off x="3167559" y="2122899"/>
              <a:ext cx="1586658" cy="1711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>
                  <a:solidFill>
                    <a:prstClr val="black"/>
                  </a:solidFill>
                </a:rPr>
                <a:t>Upper</a:t>
              </a: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 err="1">
                  <a:solidFill>
                    <a:prstClr val="black"/>
                  </a:solidFill>
                </a:rPr>
                <a:t>Shoreface</a:t>
              </a:r>
              <a:r>
                <a:rPr lang="en-GB" sz="1800" dirty="0">
                  <a:solidFill>
                    <a:prstClr val="black"/>
                  </a:solidFill>
                </a:rPr>
                <a:t> </a:t>
              </a:r>
            </a:p>
          </p:txBody>
        </p:sp>
        <p:sp>
          <p:nvSpPr>
            <p:cNvPr id="26" name="Rectangle 25"/>
            <p:cNvSpPr/>
            <p:nvPr/>
          </p:nvSpPr>
          <p:spPr>
            <a:xfrm rot="16200000">
              <a:off x="4733057" y="2277339"/>
              <a:ext cx="1586658" cy="1402171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>
                  <a:solidFill>
                    <a:prstClr val="black"/>
                  </a:solidFill>
                </a:rPr>
                <a:t>Lower</a:t>
              </a: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 err="1">
                  <a:solidFill>
                    <a:prstClr val="black"/>
                  </a:solidFill>
                </a:rPr>
                <a:t>Shoreface</a:t>
              </a:r>
              <a:r>
                <a:rPr lang="en-GB" sz="1800" dirty="0">
                  <a:solidFill>
                    <a:prstClr val="black"/>
                  </a:solidFill>
                </a:rPr>
                <a:t> </a:t>
              </a:r>
            </a:p>
          </p:txBody>
        </p:sp>
        <p:sp>
          <p:nvSpPr>
            <p:cNvPr id="28" name="Rectangle 27"/>
            <p:cNvSpPr/>
            <p:nvPr/>
          </p:nvSpPr>
          <p:spPr>
            <a:xfrm rot="16200000">
              <a:off x="6519660" y="1892908"/>
              <a:ext cx="1586658" cy="217103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>
                  <a:solidFill>
                    <a:prstClr val="black"/>
                  </a:solidFill>
                </a:rPr>
                <a:t>Offshore Transition</a:t>
              </a:r>
            </a:p>
          </p:txBody>
        </p:sp>
        <p:sp>
          <p:nvSpPr>
            <p:cNvPr id="29" name="Rectangle 28"/>
            <p:cNvSpPr/>
            <p:nvPr/>
          </p:nvSpPr>
          <p:spPr>
            <a:xfrm rot="16200000">
              <a:off x="9339560" y="1244042"/>
              <a:ext cx="1575546" cy="34576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>
                  <a:solidFill>
                    <a:prstClr val="black"/>
                  </a:solidFill>
                </a:rPr>
                <a:t>Offshore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105363" y="1765097"/>
              <a:ext cx="3122110" cy="419998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dirty="0" err="1">
                  <a:solidFill>
                    <a:prstClr val="black"/>
                  </a:solidFill>
                </a:rPr>
                <a:t>Shoreface</a:t>
              </a:r>
              <a:endParaRPr lang="en-GB" sz="1800" dirty="0">
                <a:solidFill>
                  <a:prstClr val="black"/>
                </a:solidFill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421014" y="3640642"/>
              <a:ext cx="10926275" cy="4068866"/>
            </a:xfrm>
            <a:custGeom>
              <a:avLst/>
              <a:gdLst>
                <a:gd name="connsiteX0" fmla="*/ 5407572 w 10531365"/>
                <a:gd name="connsiteY0" fmla="*/ 1340069 h 3909848"/>
                <a:gd name="connsiteX1" fmla="*/ 4840014 w 10531365"/>
                <a:gd name="connsiteY1" fmla="*/ 1891862 h 3909848"/>
                <a:gd name="connsiteX2" fmla="*/ 6243145 w 10531365"/>
                <a:gd name="connsiteY2" fmla="*/ 2144110 h 3909848"/>
                <a:gd name="connsiteX3" fmla="*/ 5076496 w 10531365"/>
                <a:gd name="connsiteY3" fmla="*/ 2270235 h 3909848"/>
                <a:gd name="connsiteX4" fmla="*/ 9774621 w 10531365"/>
                <a:gd name="connsiteY4" fmla="*/ 2979683 h 3909848"/>
                <a:gd name="connsiteX5" fmla="*/ 4761186 w 10531365"/>
                <a:gd name="connsiteY5" fmla="*/ 2427890 h 3909848"/>
                <a:gd name="connsiteX6" fmla="*/ 10531365 w 10531365"/>
                <a:gd name="connsiteY6" fmla="*/ 3421117 h 3909848"/>
                <a:gd name="connsiteX7" fmla="*/ 4776952 w 10531365"/>
                <a:gd name="connsiteY7" fmla="*/ 2711669 h 3909848"/>
                <a:gd name="connsiteX8" fmla="*/ 9979572 w 10531365"/>
                <a:gd name="connsiteY8" fmla="*/ 3626069 h 3909848"/>
                <a:gd name="connsiteX9" fmla="*/ 4603531 w 10531365"/>
                <a:gd name="connsiteY9" fmla="*/ 3011214 h 3909848"/>
                <a:gd name="connsiteX10" fmla="*/ 9412014 w 10531365"/>
                <a:gd name="connsiteY10" fmla="*/ 3752193 h 3909848"/>
                <a:gd name="connsiteX11" fmla="*/ 4635062 w 10531365"/>
                <a:gd name="connsiteY11" fmla="*/ 3389586 h 3909848"/>
                <a:gd name="connsiteX12" fmla="*/ 7882759 w 10531365"/>
                <a:gd name="connsiteY12" fmla="*/ 3815255 h 3909848"/>
                <a:gd name="connsiteX13" fmla="*/ 4871545 w 10531365"/>
                <a:gd name="connsiteY13" fmla="*/ 3799490 h 3909848"/>
                <a:gd name="connsiteX14" fmla="*/ 5139559 w 10531365"/>
                <a:gd name="connsiteY14" fmla="*/ 3909848 h 3909848"/>
                <a:gd name="connsiteX15" fmla="*/ 78827 w 10531365"/>
                <a:gd name="connsiteY15" fmla="*/ 3878317 h 3909848"/>
                <a:gd name="connsiteX16" fmla="*/ 0 w 10531365"/>
                <a:gd name="connsiteY16" fmla="*/ 0 h 3909848"/>
                <a:gd name="connsiteX17" fmla="*/ 189186 w 10531365"/>
                <a:gd name="connsiteY17" fmla="*/ 126124 h 3909848"/>
                <a:gd name="connsiteX18" fmla="*/ 409903 w 10531365"/>
                <a:gd name="connsiteY18" fmla="*/ 488731 h 3909848"/>
                <a:gd name="connsiteX19" fmla="*/ 1324303 w 10531365"/>
                <a:gd name="connsiteY19" fmla="*/ 472966 h 3909848"/>
                <a:gd name="connsiteX20" fmla="*/ 2317531 w 10531365"/>
                <a:gd name="connsiteY20" fmla="*/ 772510 h 3909848"/>
                <a:gd name="connsiteX21" fmla="*/ 5391807 w 10531365"/>
                <a:gd name="connsiteY21" fmla="*/ 1403131 h 3909848"/>
                <a:gd name="connsiteX22" fmla="*/ 5407572 w 10531365"/>
                <a:gd name="connsiteY22" fmla="*/ 1340069 h 3909848"/>
                <a:gd name="connsiteX0" fmla="*/ 5391807 w 10531365"/>
                <a:gd name="connsiteY0" fmla="*/ 1466193 h 3909848"/>
                <a:gd name="connsiteX1" fmla="*/ 4840014 w 10531365"/>
                <a:gd name="connsiteY1" fmla="*/ 1891862 h 3909848"/>
                <a:gd name="connsiteX2" fmla="*/ 6243145 w 10531365"/>
                <a:gd name="connsiteY2" fmla="*/ 2144110 h 3909848"/>
                <a:gd name="connsiteX3" fmla="*/ 5076496 w 10531365"/>
                <a:gd name="connsiteY3" fmla="*/ 2270235 h 3909848"/>
                <a:gd name="connsiteX4" fmla="*/ 9774621 w 10531365"/>
                <a:gd name="connsiteY4" fmla="*/ 2979683 h 3909848"/>
                <a:gd name="connsiteX5" fmla="*/ 4761186 w 10531365"/>
                <a:gd name="connsiteY5" fmla="*/ 2427890 h 3909848"/>
                <a:gd name="connsiteX6" fmla="*/ 10531365 w 10531365"/>
                <a:gd name="connsiteY6" fmla="*/ 3421117 h 3909848"/>
                <a:gd name="connsiteX7" fmla="*/ 4776952 w 10531365"/>
                <a:gd name="connsiteY7" fmla="*/ 2711669 h 3909848"/>
                <a:gd name="connsiteX8" fmla="*/ 9979572 w 10531365"/>
                <a:gd name="connsiteY8" fmla="*/ 3626069 h 3909848"/>
                <a:gd name="connsiteX9" fmla="*/ 4603531 w 10531365"/>
                <a:gd name="connsiteY9" fmla="*/ 3011214 h 3909848"/>
                <a:gd name="connsiteX10" fmla="*/ 9412014 w 10531365"/>
                <a:gd name="connsiteY10" fmla="*/ 3752193 h 3909848"/>
                <a:gd name="connsiteX11" fmla="*/ 4635062 w 10531365"/>
                <a:gd name="connsiteY11" fmla="*/ 3389586 h 3909848"/>
                <a:gd name="connsiteX12" fmla="*/ 7882759 w 10531365"/>
                <a:gd name="connsiteY12" fmla="*/ 3815255 h 3909848"/>
                <a:gd name="connsiteX13" fmla="*/ 4871545 w 10531365"/>
                <a:gd name="connsiteY13" fmla="*/ 3799490 h 3909848"/>
                <a:gd name="connsiteX14" fmla="*/ 5139559 w 10531365"/>
                <a:gd name="connsiteY14" fmla="*/ 3909848 h 3909848"/>
                <a:gd name="connsiteX15" fmla="*/ 78827 w 10531365"/>
                <a:gd name="connsiteY15" fmla="*/ 3878317 h 3909848"/>
                <a:gd name="connsiteX16" fmla="*/ 0 w 10531365"/>
                <a:gd name="connsiteY16" fmla="*/ 0 h 3909848"/>
                <a:gd name="connsiteX17" fmla="*/ 189186 w 10531365"/>
                <a:gd name="connsiteY17" fmla="*/ 126124 h 3909848"/>
                <a:gd name="connsiteX18" fmla="*/ 409903 w 10531365"/>
                <a:gd name="connsiteY18" fmla="*/ 488731 h 3909848"/>
                <a:gd name="connsiteX19" fmla="*/ 1324303 w 10531365"/>
                <a:gd name="connsiteY19" fmla="*/ 472966 h 3909848"/>
                <a:gd name="connsiteX20" fmla="*/ 2317531 w 10531365"/>
                <a:gd name="connsiteY20" fmla="*/ 772510 h 3909848"/>
                <a:gd name="connsiteX21" fmla="*/ 5391807 w 10531365"/>
                <a:gd name="connsiteY21" fmla="*/ 1403131 h 3909848"/>
                <a:gd name="connsiteX22" fmla="*/ 5391807 w 10531365"/>
                <a:gd name="connsiteY22" fmla="*/ 1466193 h 3909848"/>
                <a:gd name="connsiteX0" fmla="*/ 5391807 w 10531365"/>
                <a:gd name="connsiteY0" fmla="*/ 1466193 h 3909848"/>
                <a:gd name="connsiteX1" fmla="*/ 4840014 w 10531365"/>
                <a:gd name="connsiteY1" fmla="*/ 1891862 h 3909848"/>
                <a:gd name="connsiteX2" fmla="*/ 6243145 w 10531365"/>
                <a:gd name="connsiteY2" fmla="*/ 2144110 h 3909848"/>
                <a:gd name="connsiteX3" fmla="*/ 5076496 w 10531365"/>
                <a:gd name="connsiteY3" fmla="*/ 2270235 h 3909848"/>
                <a:gd name="connsiteX4" fmla="*/ 9774621 w 10531365"/>
                <a:gd name="connsiteY4" fmla="*/ 2979683 h 3909848"/>
                <a:gd name="connsiteX5" fmla="*/ 4761186 w 10531365"/>
                <a:gd name="connsiteY5" fmla="*/ 2427890 h 3909848"/>
                <a:gd name="connsiteX6" fmla="*/ 10531365 w 10531365"/>
                <a:gd name="connsiteY6" fmla="*/ 3421117 h 3909848"/>
                <a:gd name="connsiteX7" fmla="*/ 4776952 w 10531365"/>
                <a:gd name="connsiteY7" fmla="*/ 2711669 h 3909848"/>
                <a:gd name="connsiteX8" fmla="*/ 9979572 w 10531365"/>
                <a:gd name="connsiteY8" fmla="*/ 3626069 h 3909848"/>
                <a:gd name="connsiteX9" fmla="*/ 4603531 w 10531365"/>
                <a:gd name="connsiteY9" fmla="*/ 3011214 h 3909848"/>
                <a:gd name="connsiteX10" fmla="*/ 9412014 w 10531365"/>
                <a:gd name="connsiteY10" fmla="*/ 3752193 h 3909848"/>
                <a:gd name="connsiteX11" fmla="*/ 4635062 w 10531365"/>
                <a:gd name="connsiteY11" fmla="*/ 3389586 h 3909848"/>
                <a:gd name="connsiteX12" fmla="*/ 7882759 w 10531365"/>
                <a:gd name="connsiteY12" fmla="*/ 3815255 h 3909848"/>
                <a:gd name="connsiteX13" fmla="*/ 4871545 w 10531365"/>
                <a:gd name="connsiteY13" fmla="*/ 3799490 h 3909848"/>
                <a:gd name="connsiteX14" fmla="*/ 5139559 w 10531365"/>
                <a:gd name="connsiteY14" fmla="*/ 3909848 h 3909848"/>
                <a:gd name="connsiteX15" fmla="*/ 78827 w 10531365"/>
                <a:gd name="connsiteY15" fmla="*/ 3878317 h 3909848"/>
                <a:gd name="connsiteX16" fmla="*/ 0 w 10531365"/>
                <a:gd name="connsiteY16" fmla="*/ 0 h 3909848"/>
                <a:gd name="connsiteX17" fmla="*/ 189186 w 10531365"/>
                <a:gd name="connsiteY17" fmla="*/ 126124 h 3909848"/>
                <a:gd name="connsiteX18" fmla="*/ 409903 w 10531365"/>
                <a:gd name="connsiteY18" fmla="*/ 488731 h 3909848"/>
                <a:gd name="connsiteX19" fmla="*/ 1324303 w 10531365"/>
                <a:gd name="connsiteY19" fmla="*/ 472966 h 3909848"/>
                <a:gd name="connsiteX20" fmla="*/ 2317531 w 10531365"/>
                <a:gd name="connsiteY20" fmla="*/ 772510 h 3909848"/>
                <a:gd name="connsiteX21" fmla="*/ 5202621 w 10531365"/>
                <a:gd name="connsiteY21" fmla="*/ 1403131 h 3909848"/>
                <a:gd name="connsiteX22" fmla="*/ 5391807 w 10531365"/>
                <a:gd name="connsiteY22" fmla="*/ 1466193 h 3909848"/>
                <a:gd name="connsiteX0" fmla="*/ 5391807 w 10531365"/>
                <a:gd name="connsiteY0" fmla="*/ 1466193 h 3957144"/>
                <a:gd name="connsiteX1" fmla="*/ 4840014 w 10531365"/>
                <a:gd name="connsiteY1" fmla="*/ 1891862 h 3957144"/>
                <a:gd name="connsiteX2" fmla="*/ 6243145 w 10531365"/>
                <a:gd name="connsiteY2" fmla="*/ 2144110 h 3957144"/>
                <a:gd name="connsiteX3" fmla="*/ 5076496 w 10531365"/>
                <a:gd name="connsiteY3" fmla="*/ 2270235 h 3957144"/>
                <a:gd name="connsiteX4" fmla="*/ 9774621 w 10531365"/>
                <a:gd name="connsiteY4" fmla="*/ 2979683 h 3957144"/>
                <a:gd name="connsiteX5" fmla="*/ 4761186 w 10531365"/>
                <a:gd name="connsiteY5" fmla="*/ 2427890 h 3957144"/>
                <a:gd name="connsiteX6" fmla="*/ 10531365 w 10531365"/>
                <a:gd name="connsiteY6" fmla="*/ 3421117 h 3957144"/>
                <a:gd name="connsiteX7" fmla="*/ 4776952 w 10531365"/>
                <a:gd name="connsiteY7" fmla="*/ 2711669 h 3957144"/>
                <a:gd name="connsiteX8" fmla="*/ 9979572 w 10531365"/>
                <a:gd name="connsiteY8" fmla="*/ 3626069 h 3957144"/>
                <a:gd name="connsiteX9" fmla="*/ 4603531 w 10531365"/>
                <a:gd name="connsiteY9" fmla="*/ 3011214 h 3957144"/>
                <a:gd name="connsiteX10" fmla="*/ 9412014 w 10531365"/>
                <a:gd name="connsiteY10" fmla="*/ 3752193 h 3957144"/>
                <a:gd name="connsiteX11" fmla="*/ 4635062 w 10531365"/>
                <a:gd name="connsiteY11" fmla="*/ 3389586 h 3957144"/>
                <a:gd name="connsiteX12" fmla="*/ 7882759 w 10531365"/>
                <a:gd name="connsiteY12" fmla="*/ 3815255 h 3957144"/>
                <a:gd name="connsiteX13" fmla="*/ 4871545 w 10531365"/>
                <a:gd name="connsiteY13" fmla="*/ 3799490 h 3957144"/>
                <a:gd name="connsiteX14" fmla="*/ 5139559 w 10531365"/>
                <a:gd name="connsiteY14" fmla="*/ 3909848 h 3957144"/>
                <a:gd name="connsiteX15" fmla="*/ 78827 w 10531365"/>
                <a:gd name="connsiteY15" fmla="*/ 3957144 h 3957144"/>
                <a:gd name="connsiteX16" fmla="*/ 0 w 10531365"/>
                <a:gd name="connsiteY16" fmla="*/ 0 h 3957144"/>
                <a:gd name="connsiteX17" fmla="*/ 189186 w 10531365"/>
                <a:gd name="connsiteY17" fmla="*/ 126124 h 3957144"/>
                <a:gd name="connsiteX18" fmla="*/ 409903 w 10531365"/>
                <a:gd name="connsiteY18" fmla="*/ 488731 h 3957144"/>
                <a:gd name="connsiteX19" fmla="*/ 1324303 w 10531365"/>
                <a:gd name="connsiteY19" fmla="*/ 472966 h 3957144"/>
                <a:gd name="connsiteX20" fmla="*/ 2317531 w 10531365"/>
                <a:gd name="connsiteY20" fmla="*/ 772510 h 3957144"/>
                <a:gd name="connsiteX21" fmla="*/ 5202621 w 10531365"/>
                <a:gd name="connsiteY21" fmla="*/ 1403131 h 3957144"/>
                <a:gd name="connsiteX22" fmla="*/ 5391807 w 10531365"/>
                <a:gd name="connsiteY22" fmla="*/ 1466193 h 3957144"/>
                <a:gd name="connsiteX0" fmla="*/ 5391807 w 10531365"/>
                <a:gd name="connsiteY0" fmla="*/ 1466193 h 4004441"/>
                <a:gd name="connsiteX1" fmla="*/ 4840014 w 10531365"/>
                <a:gd name="connsiteY1" fmla="*/ 1891862 h 4004441"/>
                <a:gd name="connsiteX2" fmla="*/ 6243145 w 10531365"/>
                <a:gd name="connsiteY2" fmla="*/ 2144110 h 4004441"/>
                <a:gd name="connsiteX3" fmla="*/ 5076496 w 10531365"/>
                <a:gd name="connsiteY3" fmla="*/ 2270235 h 4004441"/>
                <a:gd name="connsiteX4" fmla="*/ 9774621 w 10531365"/>
                <a:gd name="connsiteY4" fmla="*/ 2979683 h 4004441"/>
                <a:gd name="connsiteX5" fmla="*/ 4761186 w 10531365"/>
                <a:gd name="connsiteY5" fmla="*/ 2427890 h 4004441"/>
                <a:gd name="connsiteX6" fmla="*/ 10531365 w 10531365"/>
                <a:gd name="connsiteY6" fmla="*/ 3421117 h 4004441"/>
                <a:gd name="connsiteX7" fmla="*/ 4776952 w 10531365"/>
                <a:gd name="connsiteY7" fmla="*/ 2711669 h 4004441"/>
                <a:gd name="connsiteX8" fmla="*/ 9979572 w 10531365"/>
                <a:gd name="connsiteY8" fmla="*/ 3626069 h 4004441"/>
                <a:gd name="connsiteX9" fmla="*/ 4603531 w 10531365"/>
                <a:gd name="connsiteY9" fmla="*/ 3011214 h 4004441"/>
                <a:gd name="connsiteX10" fmla="*/ 9412014 w 10531365"/>
                <a:gd name="connsiteY10" fmla="*/ 3752193 h 4004441"/>
                <a:gd name="connsiteX11" fmla="*/ 4635062 w 10531365"/>
                <a:gd name="connsiteY11" fmla="*/ 3389586 h 4004441"/>
                <a:gd name="connsiteX12" fmla="*/ 7882759 w 10531365"/>
                <a:gd name="connsiteY12" fmla="*/ 3815255 h 4004441"/>
                <a:gd name="connsiteX13" fmla="*/ 4871545 w 10531365"/>
                <a:gd name="connsiteY13" fmla="*/ 3799490 h 4004441"/>
                <a:gd name="connsiteX14" fmla="*/ 5328745 w 10531365"/>
                <a:gd name="connsiteY14" fmla="*/ 4004441 h 4004441"/>
                <a:gd name="connsiteX15" fmla="*/ 78827 w 10531365"/>
                <a:gd name="connsiteY15" fmla="*/ 3957144 h 4004441"/>
                <a:gd name="connsiteX16" fmla="*/ 0 w 10531365"/>
                <a:gd name="connsiteY16" fmla="*/ 0 h 4004441"/>
                <a:gd name="connsiteX17" fmla="*/ 189186 w 10531365"/>
                <a:gd name="connsiteY17" fmla="*/ 126124 h 4004441"/>
                <a:gd name="connsiteX18" fmla="*/ 409903 w 10531365"/>
                <a:gd name="connsiteY18" fmla="*/ 488731 h 4004441"/>
                <a:gd name="connsiteX19" fmla="*/ 1324303 w 10531365"/>
                <a:gd name="connsiteY19" fmla="*/ 472966 h 4004441"/>
                <a:gd name="connsiteX20" fmla="*/ 2317531 w 10531365"/>
                <a:gd name="connsiteY20" fmla="*/ 772510 h 4004441"/>
                <a:gd name="connsiteX21" fmla="*/ 5202621 w 10531365"/>
                <a:gd name="connsiteY21" fmla="*/ 1403131 h 4004441"/>
                <a:gd name="connsiteX22" fmla="*/ 5391807 w 10531365"/>
                <a:gd name="connsiteY22" fmla="*/ 1466193 h 4004441"/>
                <a:gd name="connsiteX0" fmla="*/ 5391807 w 10531365"/>
                <a:gd name="connsiteY0" fmla="*/ 1466193 h 4004441"/>
                <a:gd name="connsiteX1" fmla="*/ 4840014 w 10531365"/>
                <a:gd name="connsiteY1" fmla="*/ 1891862 h 4004441"/>
                <a:gd name="connsiteX2" fmla="*/ 6243145 w 10531365"/>
                <a:gd name="connsiteY2" fmla="*/ 2144110 h 4004441"/>
                <a:gd name="connsiteX3" fmla="*/ 5076496 w 10531365"/>
                <a:gd name="connsiteY3" fmla="*/ 2270235 h 4004441"/>
                <a:gd name="connsiteX4" fmla="*/ 9774621 w 10531365"/>
                <a:gd name="connsiteY4" fmla="*/ 2979683 h 4004441"/>
                <a:gd name="connsiteX5" fmla="*/ 4761186 w 10531365"/>
                <a:gd name="connsiteY5" fmla="*/ 2427890 h 4004441"/>
                <a:gd name="connsiteX6" fmla="*/ 10531365 w 10531365"/>
                <a:gd name="connsiteY6" fmla="*/ 3421117 h 4004441"/>
                <a:gd name="connsiteX7" fmla="*/ 4776952 w 10531365"/>
                <a:gd name="connsiteY7" fmla="*/ 2711669 h 4004441"/>
                <a:gd name="connsiteX8" fmla="*/ 9979572 w 10531365"/>
                <a:gd name="connsiteY8" fmla="*/ 3626069 h 4004441"/>
                <a:gd name="connsiteX9" fmla="*/ 4603531 w 10531365"/>
                <a:gd name="connsiteY9" fmla="*/ 3011214 h 4004441"/>
                <a:gd name="connsiteX10" fmla="*/ 9412014 w 10531365"/>
                <a:gd name="connsiteY10" fmla="*/ 3752193 h 4004441"/>
                <a:gd name="connsiteX11" fmla="*/ 4635062 w 10531365"/>
                <a:gd name="connsiteY11" fmla="*/ 3389586 h 4004441"/>
                <a:gd name="connsiteX12" fmla="*/ 5742748 w 10531365"/>
                <a:gd name="connsiteY12" fmla="*/ 3594720 h 4004441"/>
                <a:gd name="connsiteX13" fmla="*/ 7882759 w 10531365"/>
                <a:gd name="connsiteY13" fmla="*/ 3815255 h 4004441"/>
                <a:gd name="connsiteX14" fmla="*/ 4871545 w 10531365"/>
                <a:gd name="connsiteY14" fmla="*/ 3799490 h 4004441"/>
                <a:gd name="connsiteX15" fmla="*/ 5328745 w 10531365"/>
                <a:gd name="connsiteY15" fmla="*/ 4004441 h 4004441"/>
                <a:gd name="connsiteX16" fmla="*/ 78827 w 10531365"/>
                <a:gd name="connsiteY16" fmla="*/ 3957144 h 4004441"/>
                <a:gd name="connsiteX17" fmla="*/ 0 w 10531365"/>
                <a:gd name="connsiteY17" fmla="*/ 0 h 4004441"/>
                <a:gd name="connsiteX18" fmla="*/ 189186 w 10531365"/>
                <a:gd name="connsiteY18" fmla="*/ 126124 h 4004441"/>
                <a:gd name="connsiteX19" fmla="*/ 409903 w 10531365"/>
                <a:gd name="connsiteY19" fmla="*/ 488731 h 4004441"/>
                <a:gd name="connsiteX20" fmla="*/ 1324303 w 10531365"/>
                <a:gd name="connsiteY20" fmla="*/ 472966 h 4004441"/>
                <a:gd name="connsiteX21" fmla="*/ 2317531 w 10531365"/>
                <a:gd name="connsiteY21" fmla="*/ 772510 h 4004441"/>
                <a:gd name="connsiteX22" fmla="*/ 5202621 w 10531365"/>
                <a:gd name="connsiteY22" fmla="*/ 1403131 h 4004441"/>
                <a:gd name="connsiteX23" fmla="*/ 5391807 w 10531365"/>
                <a:gd name="connsiteY23" fmla="*/ 1466193 h 4004441"/>
                <a:gd name="connsiteX0" fmla="*/ 5391807 w 10531365"/>
                <a:gd name="connsiteY0" fmla="*/ 1466193 h 4004441"/>
                <a:gd name="connsiteX1" fmla="*/ 4840014 w 10531365"/>
                <a:gd name="connsiteY1" fmla="*/ 1891862 h 4004441"/>
                <a:gd name="connsiteX2" fmla="*/ 6243145 w 10531365"/>
                <a:gd name="connsiteY2" fmla="*/ 2144110 h 4004441"/>
                <a:gd name="connsiteX3" fmla="*/ 5076496 w 10531365"/>
                <a:gd name="connsiteY3" fmla="*/ 2270235 h 4004441"/>
                <a:gd name="connsiteX4" fmla="*/ 9774621 w 10531365"/>
                <a:gd name="connsiteY4" fmla="*/ 2979683 h 4004441"/>
                <a:gd name="connsiteX5" fmla="*/ 4761186 w 10531365"/>
                <a:gd name="connsiteY5" fmla="*/ 2427890 h 4004441"/>
                <a:gd name="connsiteX6" fmla="*/ 10531365 w 10531365"/>
                <a:gd name="connsiteY6" fmla="*/ 3421117 h 4004441"/>
                <a:gd name="connsiteX7" fmla="*/ 4776952 w 10531365"/>
                <a:gd name="connsiteY7" fmla="*/ 2711669 h 4004441"/>
                <a:gd name="connsiteX8" fmla="*/ 9979572 w 10531365"/>
                <a:gd name="connsiteY8" fmla="*/ 3626069 h 4004441"/>
                <a:gd name="connsiteX9" fmla="*/ 4603531 w 10531365"/>
                <a:gd name="connsiteY9" fmla="*/ 3011214 h 4004441"/>
                <a:gd name="connsiteX10" fmla="*/ 9412014 w 10531365"/>
                <a:gd name="connsiteY10" fmla="*/ 3752193 h 4004441"/>
                <a:gd name="connsiteX11" fmla="*/ 4635062 w 10531365"/>
                <a:gd name="connsiteY11" fmla="*/ 3389586 h 4004441"/>
                <a:gd name="connsiteX12" fmla="*/ 5017534 w 10531365"/>
                <a:gd name="connsiteY12" fmla="*/ 3515892 h 4004441"/>
                <a:gd name="connsiteX13" fmla="*/ 5742748 w 10531365"/>
                <a:gd name="connsiteY13" fmla="*/ 3594720 h 4004441"/>
                <a:gd name="connsiteX14" fmla="*/ 7882759 w 10531365"/>
                <a:gd name="connsiteY14" fmla="*/ 3815255 h 4004441"/>
                <a:gd name="connsiteX15" fmla="*/ 4871545 w 10531365"/>
                <a:gd name="connsiteY15" fmla="*/ 3799490 h 4004441"/>
                <a:gd name="connsiteX16" fmla="*/ 5328745 w 10531365"/>
                <a:gd name="connsiteY16" fmla="*/ 4004441 h 4004441"/>
                <a:gd name="connsiteX17" fmla="*/ 78827 w 10531365"/>
                <a:gd name="connsiteY17" fmla="*/ 3957144 h 4004441"/>
                <a:gd name="connsiteX18" fmla="*/ 0 w 10531365"/>
                <a:gd name="connsiteY18" fmla="*/ 0 h 4004441"/>
                <a:gd name="connsiteX19" fmla="*/ 189186 w 10531365"/>
                <a:gd name="connsiteY19" fmla="*/ 126124 h 4004441"/>
                <a:gd name="connsiteX20" fmla="*/ 409903 w 10531365"/>
                <a:gd name="connsiteY20" fmla="*/ 488731 h 4004441"/>
                <a:gd name="connsiteX21" fmla="*/ 1324303 w 10531365"/>
                <a:gd name="connsiteY21" fmla="*/ 472966 h 4004441"/>
                <a:gd name="connsiteX22" fmla="*/ 2317531 w 10531365"/>
                <a:gd name="connsiteY22" fmla="*/ 772510 h 4004441"/>
                <a:gd name="connsiteX23" fmla="*/ 5202621 w 10531365"/>
                <a:gd name="connsiteY23" fmla="*/ 1403131 h 4004441"/>
                <a:gd name="connsiteX24" fmla="*/ 5391807 w 10531365"/>
                <a:gd name="connsiteY24" fmla="*/ 1466193 h 4004441"/>
                <a:gd name="connsiteX0" fmla="*/ 5391807 w 10531365"/>
                <a:gd name="connsiteY0" fmla="*/ 1466193 h 4004441"/>
                <a:gd name="connsiteX1" fmla="*/ 4840014 w 10531365"/>
                <a:gd name="connsiteY1" fmla="*/ 1891862 h 4004441"/>
                <a:gd name="connsiteX2" fmla="*/ 6243145 w 10531365"/>
                <a:gd name="connsiteY2" fmla="*/ 2144110 h 4004441"/>
                <a:gd name="connsiteX3" fmla="*/ 5076496 w 10531365"/>
                <a:gd name="connsiteY3" fmla="*/ 2270235 h 4004441"/>
                <a:gd name="connsiteX4" fmla="*/ 9774621 w 10531365"/>
                <a:gd name="connsiteY4" fmla="*/ 2979683 h 4004441"/>
                <a:gd name="connsiteX5" fmla="*/ 4761186 w 10531365"/>
                <a:gd name="connsiteY5" fmla="*/ 2427890 h 4004441"/>
                <a:gd name="connsiteX6" fmla="*/ 10531365 w 10531365"/>
                <a:gd name="connsiteY6" fmla="*/ 3421117 h 4004441"/>
                <a:gd name="connsiteX7" fmla="*/ 4776952 w 10531365"/>
                <a:gd name="connsiteY7" fmla="*/ 2711669 h 4004441"/>
                <a:gd name="connsiteX8" fmla="*/ 9979572 w 10531365"/>
                <a:gd name="connsiteY8" fmla="*/ 3626069 h 4004441"/>
                <a:gd name="connsiteX9" fmla="*/ 4603531 w 10531365"/>
                <a:gd name="connsiteY9" fmla="*/ 3011214 h 4004441"/>
                <a:gd name="connsiteX10" fmla="*/ 5837341 w 10531365"/>
                <a:gd name="connsiteY10" fmla="*/ 3279410 h 4004441"/>
                <a:gd name="connsiteX11" fmla="*/ 9412014 w 10531365"/>
                <a:gd name="connsiteY11" fmla="*/ 3752193 h 4004441"/>
                <a:gd name="connsiteX12" fmla="*/ 4635062 w 10531365"/>
                <a:gd name="connsiteY12" fmla="*/ 3389586 h 4004441"/>
                <a:gd name="connsiteX13" fmla="*/ 5017534 w 10531365"/>
                <a:gd name="connsiteY13" fmla="*/ 3515892 h 4004441"/>
                <a:gd name="connsiteX14" fmla="*/ 5742748 w 10531365"/>
                <a:gd name="connsiteY14" fmla="*/ 3594720 h 4004441"/>
                <a:gd name="connsiteX15" fmla="*/ 7882759 w 10531365"/>
                <a:gd name="connsiteY15" fmla="*/ 3815255 h 4004441"/>
                <a:gd name="connsiteX16" fmla="*/ 4871545 w 10531365"/>
                <a:gd name="connsiteY16" fmla="*/ 3799490 h 4004441"/>
                <a:gd name="connsiteX17" fmla="*/ 5328745 w 10531365"/>
                <a:gd name="connsiteY17" fmla="*/ 4004441 h 4004441"/>
                <a:gd name="connsiteX18" fmla="*/ 78827 w 10531365"/>
                <a:gd name="connsiteY18" fmla="*/ 3957144 h 4004441"/>
                <a:gd name="connsiteX19" fmla="*/ 0 w 10531365"/>
                <a:gd name="connsiteY19" fmla="*/ 0 h 4004441"/>
                <a:gd name="connsiteX20" fmla="*/ 189186 w 10531365"/>
                <a:gd name="connsiteY20" fmla="*/ 126124 h 4004441"/>
                <a:gd name="connsiteX21" fmla="*/ 409903 w 10531365"/>
                <a:gd name="connsiteY21" fmla="*/ 488731 h 4004441"/>
                <a:gd name="connsiteX22" fmla="*/ 1324303 w 10531365"/>
                <a:gd name="connsiteY22" fmla="*/ 472966 h 4004441"/>
                <a:gd name="connsiteX23" fmla="*/ 2317531 w 10531365"/>
                <a:gd name="connsiteY23" fmla="*/ 772510 h 4004441"/>
                <a:gd name="connsiteX24" fmla="*/ 5202621 w 10531365"/>
                <a:gd name="connsiteY24" fmla="*/ 1403131 h 4004441"/>
                <a:gd name="connsiteX25" fmla="*/ 5391807 w 10531365"/>
                <a:gd name="connsiteY25" fmla="*/ 1466193 h 4004441"/>
                <a:gd name="connsiteX0" fmla="*/ 5391807 w 10531365"/>
                <a:gd name="connsiteY0" fmla="*/ 1466193 h 4004441"/>
                <a:gd name="connsiteX1" fmla="*/ 4840014 w 10531365"/>
                <a:gd name="connsiteY1" fmla="*/ 1891862 h 4004441"/>
                <a:gd name="connsiteX2" fmla="*/ 7551683 w 10531365"/>
                <a:gd name="connsiteY2" fmla="*/ 2427889 h 4004441"/>
                <a:gd name="connsiteX3" fmla="*/ 5076496 w 10531365"/>
                <a:gd name="connsiteY3" fmla="*/ 2270235 h 4004441"/>
                <a:gd name="connsiteX4" fmla="*/ 9774621 w 10531365"/>
                <a:gd name="connsiteY4" fmla="*/ 2979683 h 4004441"/>
                <a:gd name="connsiteX5" fmla="*/ 4761186 w 10531365"/>
                <a:gd name="connsiteY5" fmla="*/ 2427890 h 4004441"/>
                <a:gd name="connsiteX6" fmla="*/ 10531365 w 10531365"/>
                <a:gd name="connsiteY6" fmla="*/ 3421117 h 4004441"/>
                <a:gd name="connsiteX7" fmla="*/ 4776952 w 10531365"/>
                <a:gd name="connsiteY7" fmla="*/ 2711669 h 4004441"/>
                <a:gd name="connsiteX8" fmla="*/ 9979572 w 10531365"/>
                <a:gd name="connsiteY8" fmla="*/ 3626069 h 4004441"/>
                <a:gd name="connsiteX9" fmla="*/ 4603531 w 10531365"/>
                <a:gd name="connsiteY9" fmla="*/ 3011214 h 4004441"/>
                <a:gd name="connsiteX10" fmla="*/ 5837341 w 10531365"/>
                <a:gd name="connsiteY10" fmla="*/ 3279410 h 4004441"/>
                <a:gd name="connsiteX11" fmla="*/ 9412014 w 10531365"/>
                <a:gd name="connsiteY11" fmla="*/ 3752193 h 4004441"/>
                <a:gd name="connsiteX12" fmla="*/ 4635062 w 10531365"/>
                <a:gd name="connsiteY12" fmla="*/ 3389586 h 4004441"/>
                <a:gd name="connsiteX13" fmla="*/ 5017534 w 10531365"/>
                <a:gd name="connsiteY13" fmla="*/ 3515892 h 4004441"/>
                <a:gd name="connsiteX14" fmla="*/ 5742748 w 10531365"/>
                <a:gd name="connsiteY14" fmla="*/ 3594720 h 4004441"/>
                <a:gd name="connsiteX15" fmla="*/ 7882759 w 10531365"/>
                <a:gd name="connsiteY15" fmla="*/ 3815255 h 4004441"/>
                <a:gd name="connsiteX16" fmla="*/ 4871545 w 10531365"/>
                <a:gd name="connsiteY16" fmla="*/ 3799490 h 4004441"/>
                <a:gd name="connsiteX17" fmla="*/ 5328745 w 10531365"/>
                <a:gd name="connsiteY17" fmla="*/ 4004441 h 4004441"/>
                <a:gd name="connsiteX18" fmla="*/ 78827 w 10531365"/>
                <a:gd name="connsiteY18" fmla="*/ 3957144 h 4004441"/>
                <a:gd name="connsiteX19" fmla="*/ 0 w 10531365"/>
                <a:gd name="connsiteY19" fmla="*/ 0 h 4004441"/>
                <a:gd name="connsiteX20" fmla="*/ 189186 w 10531365"/>
                <a:gd name="connsiteY20" fmla="*/ 126124 h 4004441"/>
                <a:gd name="connsiteX21" fmla="*/ 409903 w 10531365"/>
                <a:gd name="connsiteY21" fmla="*/ 488731 h 4004441"/>
                <a:gd name="connsiteX22" fmla="*/ 1324303 w 10531365"/>
                <a:gd name="connsiteY22" fmla="*/ 472966 h 4004441"/>
                <a:gd name="connsiteX23" fmla="*/ 2317531 w 10531365"/>
                <a:gd name="connsiteY23" fmla="*/ 772510 h 4004441"/>
                <a:gd name="connsiteX24" fmla="*/ 5202621 w 10531365"/>
                <a:gd name="connsiteY24" fmla="*/ 1403131 h 4004441"/>
                <a:gd name="connsiteX25" fmla="*/ 5391807 w 10531365"/>
                <a:gd name="connsiteY25" fmla="*/ 1466193 h 4004441"/>
                <a:gd name="connsiteX0" fmla="*/ 5391807 w 10531365"/>
                <a:gd name="connsiteY0" fmla="*/ 1466193 h 4004441"/>
                <a:gd name="connsiteX1" fmla="*/ 4840014 w 10531365"/>
                <a:gd name="connsiteY1" fmla="*/ 1891862 h 4004441"/>
                <a:gd name="connsiteX2" fmla="*/ 7551683 w 10531365"/>
                <a:gd name="connsiteY2" fmla="*/ 2427889 h 4004441"/>
                <a:gd name="connsiteX3" fmla="*/ 6184183 w 10531365"/>
                <a:gd name="connsiteY3" fmla="*/ 2270417 h 4004441"/>
                <a:gd name="connsiteX4" fmla="*/ 5076496 w 10531365"/>
                <a:gd name="connsiteY4" fmla="*/ 2270235 h 4004441"/>
                <a:gd name="connsiteX5" fmla="*/ 9774621 w 10531365"/>
                <a:gd name="connsiteY5" fmla="*/ 2979683 h 4004441"/>
                <a:gd name="connsiteX6" fmla="*/ 4761186 w 10531365"/>
                <a:gd name="connsiteY6" fmla="*/ 2427890 h 4004441"/>
                <a:gd name="connsiteX7" fmla="*/ 10531365 w 10531365"/>
                <a:gd name="connsiteY7" fmla="*/ 3421117 h 4004441"/>
                <a:gd name="connsiteX8" fmla="*/ 4776952 w 10531365"/>
                <a:gd name="connsiteY8" fmla="*/ 2711669 h 4004441"/>
                <a:gd name="connsiteX9" fmla="*/ 9979572 w 10531365"/>
                <a:gd name="connsiteY9" fmla="*/ 3626069 h 4004441"/>
                <a:gd name="connsiteX10" fmla="*/ 4603531 w 10531365"/>
                <a:gd name="connsiteY10" fmla="*/ 3011214 h 4004441"/>
                <a:gd name="connsiteX11" fmla="*/ 5837341 w 10531365"/>
                <a:gd name="connsiteY11" fmla="*/ 3279410 h 4004441"/>
                <a:gd name="connsiteX12" fmla="*/ 9412014 w 10531365"/>
                <a:gd name="connsiteY12" fmla="*/ 3752193 h 4004441"/>
                <a:gd name="connsiteX13" fmla="*/ 4635062 w 10531365"/>
                <a:gd name="connsiteY13" fmla="*/ 3389586 h 4004441"/>
                <a:gd name="connsiteX14" fmla="*/ 5017534 w 10531365"/>
                <a:gd name="connsiteY14" fmla="*/ 3515892 h 4004441"/>
                <a:gd name="connsiteX15" fmla="*/ 5742748 w 10531365"/>
                <a:gd name="connsiteY15" fmla="*/ 3594720 h 4004441"/>
                <a:gd name="connsiteX16" fmla="*/ 7882759 w 10531365"/>
                <a:gd name="connsiteY16" fmla="*/ 3815255 h 4004441"/>
                <a:gd name="connsiteX17" fmla="*/ 4871545 w 10531365"/>
                <a:gd name="connsiteY17" fmla="*/ 3799490 h 4004441"/>
                <a:gd name="connsiteX18" fmla="*/ 5328745 w 10531365"/>
                <a:gd name="connsiteY18" fmla="*/ 4004441 h 4004441"/>
                <a:gd name="connsiteX19" fmla="*/ 78827 w 10531365"/>
                <a:gd name="connsiteY19" fmla="*/ 3957144 h 4004441"/>
                <a:gd name="connsiteX20" fmla="*/ 0 w 10531365"/>
                <a:gd name="connsiteY20" fmla="*/ 0 h 4004441"/>
                <a:gd name="connsiteX21" fmla="*/ 189186 w 10531365"/>
                <a:gd name="connsiteY21" fmla="*/ 126124 h 4004441"/>
                <a:gd name="connsiteX22" fmla="*/ 409903 w 10531365"/>
                <a:gd name="connsiteY22" fmla="*/ 488731 h 4004441"/>
                <a:gd name="connsiteX23" fmla="*/ 1324303 w 10531365"/>
                <a:gd name="connsiteY23" fmla="*/ 472966 h 4004441"/>
                <a:gd name="connsiteX24" fmla="*/ 2317531 w 10531365"/>
                <a:gd name="connsiteY24" fmla="*/ 772510 h 4004441"/>
                <a:gd name="connsiteX25" fmla="*/ 5202621 w 10531365"/>
                <a:gd name="connsiteY25" fmla="*/ 1403131 h 4004441"/>
                <a:gd name="connsiteX26" fmla="*/ 5391807 w 10531365"/>
                <a:gd name="connsiteY26" fmla="*/ 1466193 h 4004441"/>
                <a:gd name="connsiteX0" fmla="*/ 5391807 w 10531365"/>
                <a:gd name="connsiteY0" fmla="*/ 1466193 h 4004441"/>
                <a:gd name="connsiteX1" fmla="*/ 4840014 w 10531365"/>
                <a:gd name="connsiteY1" fmla="*/ 1891862 h 4004441"/>
                <a:gd name="connsiteX2" fmla="*/ 7551683 w 10531365"/>
                <a:gd name="connsiteY2" fmla="*/ 2427889 h 4004441"/>
                <a:gd name="connsiteX3" fmla="*/ 6184183 w 10531365"/>
                <a:gd name="connsiteY3" fmla="*/ 2270417 h 4004441"/>
                <a:gd name="connsiteX4" fmla="*/ 5364376 w 10531365"/>
                <a:gd name="connsiteY4" fmla="*/ 2175823 h 4004441"/>
                <a:gd name="connsiteX5" fmla="*/ 5076496 w 10531365"/>
                <a:gd name="connsiteY5" fmla="*/ 2270235 h 4004441"/>
                <a:gd name="connsiteX6" fmla="*/ 9774621 w 10531365"/>
                <a:gd name="connsiteY6" fmla="*/ 2979683 h 4004441"/>
                <a:gd name="connsiteX7" fmla="*/ 4761186 w 10531365"/>
                <a:gd name="connsiteY7" fmla="*/ 2427890 h 4004441"/>
                <a:gd name="connsiteX8" fmla="*/ 10531365 w 10531365"/>
                <a:gd name="connsiteY8" fmla="*/ 3421117 h 4004441"/>
                <a:gd name="connsiteX9" fmla="*/ 4776952 w 10531365"/>
                <a:gd name="connsiteY9" fmla="*/ 2711669 h 4004441"/>
                <a:gd name="connsiteX10" fmla="*/ 9979572 w 10531365"/>
                <a:gd name="connsiteY10" fmla="*/ 3626069 h 4004441"/>
                <a:gd name="connsiteX11" fmla="*/ 4603531 w 10531365"/>
                <a:gd name="connsiteY11" fmla="*/ 3011214 h 4004441"/>
                <a:gd name="connsiteX12" fmla="*/ 5837341 w 10531365"/>
                <a:gd name="connsiteY12" fmla="*/ 3279410 h 4004441"/>
                <a:gd name="connsiteX13" fmla="*/ 9412014 w 10531365"/>
                <a:gd name="connsiteY13" fmla="*/ 3752193 h 4004441"/>
                <a:gd name="connsiteX14" fmla="*/ 4635062 w 10531365"/>
                <a:gd name="connsiteY14" fmla="*/ 3389586 h 4004441"/>
                <a:gd name="connsiteX15" fmla="*/ 5017534 w 10531365"/>
                <a:gd name="connsiteY15" fmla="*/ 3515892 h 4004441"/>
                <a:gd name="connsiteX16" fmla="*/ 5742748 w 10531365"/>
                <a:gd name="connsiteY16" fmla="*/ 3594720 h 4004441"/>
                <a:gd name="connsiteX17" fmla="*/ 7882759 w 10531365"/>
                <a:gd name="connsiteY17" fmla="*/ 3815255 h 4004441"/>
                <a:gd name="connsiteX18" fmla="*/ 4871545 w 10531365"/>
                <a:gd name="connsiteY18" fmla="*/ 3799490 h 4004441"/>
                <a:gd name="connsiteX19" fmla="*/ 5328745 w 10531365"/>
                <a:gd name="connsiteY19" fmla="*/ 4004441 h 4004441"/>
                <a:gd name="connsiteX20" fmla="*/ 78827 w 10531365"/>
                <a:gd name="connsiteY20" fmla="*/ 3957144 h 4004441"/>
                <a:gd name="connsiteX21" fmla="*/ 0 w 10531365"/>
                <a:gd name="connsiteY21" fmla="*/ 0 h 4004441"/>
                <a:gd name="connsiteX22" fmla="*/ 189186 w 10531365"/>
                <a:gd name="connsiteY22" fmla="*/ 126124 h 4004441"/>
                <a:gd name="connsiteX23" fmla="*/ 409903 w 10531365"/>
                <a:gd name="connsiteY23" fmla="*/ 488731 h 4004441"/>
                <a:gd name="connsiteX24" fmla="*/ 1324303 w 10531365"/>
                <a:gd name="connsiteY24" fmla="*/ 472966 h 4004441"/>
                <a:gd name="connsiteX25" fmla="*/ 2317531 w 10531365"/>
                <a:gd name="connsiteY25" fmla="*/ 772510 h 4004441"/>
                <a:gd name="connsiteX26" fmla="*/ 5202621 w 10531365"/>
                <a:gd name="connsiteY26" fmla="*/ 1403131 h 4004441"/>
                <a:gd name="connsiteX27" fmla="*/ 5391807 w 10531365"/>
                <a:gd name="connsiteY27" fmla="*/ 1466193 h 4004441"/>
                <a:gd name="connsiteX0" fmla="*/ 5391807 w 10531365"/>
                <a:gd name="connsiteY0" fmla="*/ 1466193 h 4004441"/>
                <a:gd name="connsiteX1" fmla="*/ 4840014 w 10531365"/>
                <a:gd name="connsiteY1" fmla="*/ 1891862 h 4004441"/>
                <a:gd name="connsiteX2" fmla="*/ 8607972 w 10531365"/>
                <a:gd name="connsiteY2" fmla="*/ 2601309 h 4004441"/>
                <a:gd name="connsiteX3" fmla="*/ 6184183 w 10531365"/>
                <a:gd name="connsiteY3" fmla="*/ 2270417 h 4004441"/>
                <a:gd name="connsiteX4" fmla="*/ 5364376 w 10531365"/>
                <a:gd name="connsiteY4" fmla="*/ 2175823 h 4004441"/>
                <a:gd name="connsiteX5" fmla="*/ 5076496 w 10531365"/>
                <a:gd name="connsiteY5" fmla="*/ 2270235 h 4004441"/>
                <a:gd name="connsiteX6" fmla="*/ 9774621 w 10531365"/>
                <a:gd name="connsiteY6" fmla="*/ 2979683 h 4004441"/>
                <a:gd name="connsiteX7" fmla="*/ 4761186 w 10531365"/>
                <a:gd name="connsiteY7" fmla="*/ 2427890 h 4004441"/>
                <a:gd name="connsiteX8" fmla="*/ 10531365 w 10531365"/>
                <a:gd name="connsiteY8" fmla="*/ 3421117 h 4004441"/>
                <a:gd name="connsiteX9" fmla="*/ 4776952 w 10531365"/>
                <a:gd name="connsiteY9" fmla="*/ 2711669 h 4004441"/>
                <a:gd name="connsiteX10" fmla="*/ 9979572 w 10531365"/>
                <a:gd name="connsiteY10" fmla="*/ 3626069 h 4004441"/>
                <a:gd name="connsiteX11" fmla="*/ 4603531 w 10531365"/>
                <a:gd name="connsiteY11" fmla="*/ 3011214 h 4004441"/>
                <a:gd name="connsiteX12" fmla="*/ 5837341 w 10531365"/>
                <a:gd name="connsiteY12" fmla="*/ 3279410 h 4004441"/>
                <a:gd name="connsiteX13" fmla="*/ 9412014 w 10531365"/>
                <a:gd name="connsiteY13" fmla="*/ 3752193 h 4004441"/>
                <a:gd name="connsiteX14" fmla="*/ 4635062 w 10531365"/>
                <a:gd name="connsiteY14" fmla="*/ 3389586 h 4004441"/>
                <a:gd name="connsiteX15" fmla="*/ 5017534 w 10531365"/>
                <a:gd name="connsiteY15" fmla="*/ 3515892 h 4004441"/>
                <a:gd name="connsiteX16" fmla="*/ 5742748 w 10531365"/>
                <a:gd name="connsiteY16" fmla="*/ 3594720 h 4004441"/>
                <a:gd name="connsiteX17" fmla="*/ 7882759 w 10531365"/>
                <a:gd name="connsiteY17" fmla="*/ 3815255 h 4004441"/>
                <a:gd name="connsiteX18" fmla="*/ 4871545 w 10531365"/>
                <a:gd name="connsiteY18" fmla="*/ 3799490 h 4004441"/>
                <a:gd name="connsiteX19" fmla="*/ 5328745 w 10531365"/>
                <a:gd name="connsiteY19" fmla="*/ 4004441 h 4004441"/>
                <a:gd name="connsiteX20" fmla="*/ 78827 w 10531365"/>
                <a:gd name="connsiteY20" fmla="*/ 3957144 h 4004441"/>
                <a:gd name="connsiteX21" fmla="*/ 0 w 10531365"/>
                <a:gd name="connsiteY21" fmla="*/ 0 h 4004441"/>
                <a:gd name="connsiteX22" fmla="*/ 189186 w 10531365"/>
                <a:gd name="connsiteY22" fmla="*/ 126124 h 4004441"/>
                <a:gd name="connsiteX23" fmla="*/ 409903 w 10531365"/>
                <a:gd name="connsiteY23" fmla="*/ 488731 h 4004441"/>
                <a:gd name="connsiteX24" fmla="*/ 1324303 w 10531365"/>
                <a:gd name="connsiteY24" fmla="*/ 472966 h 4004441"/>
                <a:gd name="connsiteX25" fmla="*/ 2317531 w 10531365"/>
                <a:gd name="connsiteY25" fmla="*/ 772510 h 4004441"/>
                <a:gd name="connsiteX26" fmla="*/ 5202621 w 10531365"/>
                <a:gd name="connsiteY26" fmla="*/ 1403131 h 4004441"/>
                <a:gd name="connsiteX27" fmla="*/ 5391807 w 10531365"/>
                <a:gd name="connsiteY27" fmla="*/ 1466193 h 4004441"/>
                <a:gd name="connsiteX0" fmla="*/ 5391807 w 10531365"/>
                <a:gd name="connsiteY0" fmla="*/ 1466193 h 4004441"/>
                <a:gd name="connsiteX1" fmla="*/ 8722431 w 10531365"/>
                <a:gd name="connsiteY1" fmla="*/ 2365010 h 4004441"/>
                <a:gd name="connsiteX2" fmla="*/ 4840014 w 10531365"/>
                <a:gd name="connsiteY2" fmla="*/ 1891862 h 4004441"/>
                <a:gd name="connsiteX3" fmla="*/ 8607972 w 10531365"/>
                <a:gd name="connsiteY3" fmla="*/ 2601309 h 4004441"/>
                <a:gd name="connsiteX4" fmla="*/ 6184183 w 10531365"/>
                <a:gd name="connsiteY4" fmla="*/ 2270417 h 4004441"/>
                <a:gd name="connsiteX5" fmla="*/ 5364376 w 10531365"/>
                <a:gd name="connsiteY5" fmla="*/ 2175823 h 4004441"/>
                <a:gd name="connsiteX6" fmla="*/ 5076496 w 10531365"/>
                <a:gd name="connsiteY6" fmla="*/ 2270235 h 4004441"/>
                <a:gd name="connsiteX7" fmla="*/ 9774621 w 10531365"/>
                <a:gd name="connsiteY7" fmla="*/ 2979683 h 4004441"/>
                <a:gd name="connsiteX8" fmla="*/ 4761186 w 10531365"/>
                <a:gd name="connsiteY8" fmla="*/ 2427890 h 4004441"/>
                <a:gd name="connsiteX9" fmla="*/ 10531365 w 10531365"/>
                <a:gd name="connsiteY9" fmla="*/ 3421117 h 4004441"/>
                <a:gd name="connsiteX10" fmla="*/ 4776952 w 10531365"/>
                <a:gd name="connsiteY10" fmla="*/ 2711669 h 4004441"/>
                <a:gd name="connsiteX11" fmla="*/ 9979572 w 10531365"/>
                <a:gd name="connsiteY11" fmla="*/ 3626069 h 4004441"/>
                <a:gd name="connsiteX12" fmla="*/ 4603531 w 10531365"/>
                <a:gd name="connsiteY12" fmla="*/ 3011214 h 4004441"/>
                <a:gd name="connsiteX13" fmla="*/ 5837341 w 10531365"/>
                <a:gd name="connsiteY13" fmla="*/ 3279410 h 4004441"/>
                <a:gd name="connsiteX14" fmla="*/ 9412014 w 10531365"/>
                <a:gd name="connsiteY14" fmla="*/ 3752193 h 4004441"/>
                <a:gd name="connsiteX15" fmla="*/ 4635062 w 10531365"/>
                <a:gd name="connsiteY15" fmla="*/ 3389586 h 4004441"/>
                <a:gd name="connsiteX16" fmla="*/ 5017534 w 10531365"/>
                <a:gd name="connsiteY16" fmla="*/ 3515892 h 4004441"/>
                <a:gd name="connsiteX17" fmla="*/ 5742748 w 10531365"/>
                <a:gd name="connsiteY17" fmla="*/ 3594720 h 4004441"/>
                <a:gd name="connsiteX18" fmla="*/ 7882759 w 10531365"/>
                <a:gd name="connsiteY18" fmla="*/ 3815255 h 4004441"/>
                <a:gd name="connsiteX19" fmla="*/ 4871545 w 10531365"/>
                <a:gd name="connsiteY19" fmla="*/ 3799490 h 4004441"/>
                <a:gd name="connsiteX20" fmla="*/ 5328745 w 10531365"/>
                <a:gd name="connsiteY20" fmla="*/ 4004441 h 4004441"/>
                <a:gd name="connsiteX21" fmla="*/ 78827 w 10531365"/>
                <a:gd name="connsiteY21" fmla="*/ 3957144 h 4004441"/>
                <a:gd name="connsiteX22" fmla="*/ 0 w 10531365"/>
                <a:gd name="connsiteY22" fmla="*/ 0 h 4004441"/>
                <a:gd name="connsiteX23" fmla="*/ 189186 w 10531365"/>
                <a:gd name="connsiteY23" fmla="*/ 126124 h 4004441"/>
                <a:gd name="connsiteX24" fmla="*/ 409903 w 10531365"/>
                <a:gd name="connsiteY24" fmla="*/ 488731 h 4004441"/>
                <a:gd name="connsiteX25" fmla="*/ 1324303 w 10531365"/>
                <a:gd name="connsiteY25" fmla="*/ 472966 h 4004441"/>
                <a:gd name="connsiteX26" fmla="*/ 2317531 w 10531365"/>
                <a:gd name="connsiteY26" fmla="*/ 772510 h 4004441"/>
                <a:gd name="connsiteX27" fmla="*/ 5202621 w 10531365"/>
                <a:gd name="connsiteY27" fmla="*/ 1403131 h 4004441"/>
                <a:gd name="connsiteX28" fmla="*/ 5391807 w 10531365"/>
                <a:gd name="connsiteY28" fmla="*/ 1466193 h 4004441"/>
                <a:gd name="connsiteX0" fmla="*/ 5391807 w 10531365"/>
                <a:gd name="connsiteY0" fmla="*/ 1466193 h 4004441"/>
                <a:gd name="connsiteX1" fmla="*/ 8722431 w 10531365"/>
                <a:gd name="connsiteY1" fmla="*/ 2365010 h 4004441"/>
                <a:gd name="connsiteX2" fmla="*/ 5506265 w 10531365"/>
                <a:gd name="connsiteY2" fmla="*/ 1828982 h 4004441"/>
                <a:gd name="connsiteX3" fmla="*/ 4840014 w 10531365"/>
                <a:gd name="connsiteY3" fmla="*/ 1891862 h 4004441"/>
                <a:gd name="connsiteX4" fmla="*/ 8607972 w 10531365"/>
                <a:gd name="connsiteY4" fmla="*/ 2601309 h 4004441"/>
                <a:gd name="connsiteX5" fmla="*/ 6184183 w 10531365"/>
                <a:gd name="connsiteY5" fmla="*/ 2270417 h 4004441"/>
                <a:gd name="connsiteX6" fmla="*/ 5364376 w 10531365"/>
                <a:gd name="connsiteY6" fmla="*/ 2175823 h 4004441"/>
                <a:gd name="connsiteX7" fmla="*/ 5076496 w 10531365"/>
                <a:gd name="connsiteY7" fmla="*/ 2270235 h 4004441"/>
                <a:gd name="connsiteX8" fmla="*/ 9774621 w 10531365"/>
                <a:gd name="connsiteY8" fmla="*/ 2979683 h 4004441"/>
                <a:gd name="connsiteX9" fmla="*/ 4761186 w 10531365"/>
                <a:gd name="connsiteY9" fmla="*/ 2427890 h 4004441"/>
                <a:gd name="connsiteX10" fmla="*/ 10531365 w 10531365"/>
                <a:gd name="connsiteY10" fmla="*/ 3421117 h 4004441"/>
                <a:gd name="connsiteX11" fmla="*/ 4776952 w 10531365"/>
                <a:gd name="connsiteY11" fmla="*/ 2711669 h 4004441"/>
                <a:gd name="connsiteX12" fmla="*/ 9979572 w 10531365"/>
                <a:gd name="connsiteY12" fmla="*/ 3626069 h 4004441"/>
                <a:gd name="connsiteX13" fmla="*/ 4603531 w 10531365"/>
                <a:gd name="connsiteY13" fmla="*/ 3011214 h 4004441"/>
                <a:gd name="connsiteX14" fmla="*/ 5837341 w 10531365"/>
                <a:gd name="connsiteY14" fmla="*/ 3279410 h 4004441"/>
                <a:gd name="connsiteX15" fmla="*/ 9412014 w 10531365"/>
                <a:gd name="connsiteY15" fmla="*/ 3752193 h 4004441"/>
                <a:gd name="connsiteX16" fmla="*/ 4635062 w 10531365"/>
                <a:gd name="connsiteY16" fmla="*/ 3389586 h 4004441"/>
                <a:gd name="connsiteX17" fmla="*/ 5017534 w 10531365"/>
                <a:gd name="connsiteY17" fmla="*/ 3515892 h 4004441"/>
                <a:gd name="connsiteX18" fmla="*/ 5742748 w 10531365"/>
                <a:gd name="connsiteY18" fmla="*/ 3594720 h 4004441"/>
                <a:gd name="connsiteX19" fmla="*/ 7882759 w 10531365"/>
                <a:gd name="connsiteY19" fmla="*/ 3815255 h 4004441"/>
                <a:gd name="connsiteX20" fmla="*/ 4871545 w 10531365"/>
                <a:gd name="connsiteY20" fmla="*/ 3799490 h 4004441"/>
                <a:gd name="connsiteX21" fmla="*/ 5328745 w 10531365"/>
                <a:gd name="connsiteY21" fmla="*/ 4004441 h 4004441"/>
                <a:gd name="connsiteX22" fmla="*/ 78827 w 10531365"/>
                <a:gd name="connsiteY22" fmla="*/ 3957144 h 4004441"/>
                <a:gd name="connsiteX23" fmla="*/ 0 w 10531365"/>
                <a:gd name="connsiteY23" fmla="*/ 0 h 4004441"/>
                <a:gd name="connsiteX24" fmla="*/ 189186 w 10531365"/>
                <a:gd name="connsiteY24" fmla="*/ 126124 h 4004441"/>
                <a:gd name="connsiteX25" fmla="*/ 409903 w 10531365"/>
                <a:gd name="connsiteY25" fmla="*/ 488731 h 4004441"/>
                <a:gd name="connsiteX26" fmla="*/ 1324303 w 10531365"/>
                <a:gd name="connsiteY26" fmla="*/ 472966 h 4004441"/>
                <a:gd name="connsiteX27" fmla="*/ 2317531 w 10531365"/>
                <a:gd name="connsiteY27" fmla="*/ 772510 h 4004441"/>
                <a:gd name="connsiteX28" fmla="*/ 5202621 w 10531365"/>
                <a:gd name="connsiteY28" fmla="*/ 1403131 h 4004441"/>
                <a:gd name="connsiteX29" fmla="*/ 5391807 w 10531365"/>
                <a:gd name="connsiteY29" fmla="*/ 1466193 h 4004441"/>
                <a:gd name="connsiteX0" fmla="*/ 5391807 w 10531365"/>
                <a:gd name="connsiteY0" fmla="*/ 1466193 h 3957145"/>
                <a:gd name="connsiteX1" fmla="*/ 8722431 w 10531365"/>
                <a:gd name="connsiteY1" fmla="*/ 2365010 h 3957145"/>
                <a:gd name="connsiteX2" fmla="*/ 5506265 w 10531365"/>
                <a:gd name="connsiteY2" fmla="*/ 1828982 h 3957145"/>
                <a:gd name="connsiteX3" fmla="*/ 4840014 w 10531365"/>
                <a:gd name="connsiteY3" fmla="*/ 1891862 h 3957145"/>
                <a:gd name="connsiteX4" fmla="*/ 8607972 w 10531365"/>
                <a:gd name="connsiteY4" fmla="*/ 2601309 h 3957145"/>
                <a:gd name="connsiteX5" fmla="*/ 6184183 w 10531365"/>
                <a:gd name="connsiteY5" fmla="*/ 2270417 h 3957145"/>
                <a:gd name="connsiteX6" fmla="*/ 5364376 w 10531365"/>
                <a:gd name="connsiteY6" fmla="*/ 2175823 h 3957145"/>
                <a:gd name="connsiteX7" fmla="*/ 5076496 w 10531365"/>
                <a:gd name="connsiteY7" fmla="*/ 2270235 h 3957145"/>
                <a:gd name="connsiteX8" fmla="*/ 9774621 w 10531365"/>
                <a:gd name="connsiteY8" fmla="*/ 2979683 h 3957145"/>
                <a:gd name="connsiteX9" fmla="*/ 4761186 w 10531365"/>
                <a:gd name="connsiteY9" fmla="*/ 2427890 h 3957145"/>
                <a:gd name="connsiteX10" fmla="*/ 10531365 w 10531365"/>
                <a:gd name="connsiteY10" fmla="*/ 3421117 h 3957145"/>
                <a:gd name="connsiteX11" fmla="*/ 4776952 w 10531365"/>
                <a:gd name="connsiteY11" fmla="*/ 2711669 h 3957145"/>
                <a:gd name="connsiteX12" fmla="*/ 9979572 w 10531365"/>
                <a:gd name="connsiteY12" fmla="*/ 3626069 h 3957145"/>
                <a:gd name="connsiteX13" fmla="*/ 4603531 w 10531365"/>
                <a:gd name="connsiteY13" fmla="*/ 3011214 h 3957145"/>
                <a:gd name="connsiteX14" fmla="*/ 5837341 w 10531365"/>
                <a:gd name="connsiteY14" fmla="*/ 3279410 h 3957145"/>
                <a:gd name="connsiteX15" fmla="*/ 9412014 w 10531365"/>
                <a:gd name="connsiteY15" fmla="*/ 3752193 h 3957145"/>
                <a:gd name="connsiteX16" fmla="*/ 4635062 w 10531365"/>
                <a:gd name="connsiteY16" fmla="*/ 3389586 h 3957145"/>
                <a:gd name="connsiteX17" fmla="*/ 5017534 w 10531365"/>
                <a:gd name="connsiteY17" fmla="*/ 3515892 h 3957145"/>
                <a:gd name="connsiteX18" fmla="*/ 5742748 w 10531365"/>
                <a:gd name="connsiteY18" fmla="*/ 3594720 h 3957145"/>
                <a:gd name="connsiteX19" fmla="*/ 7882759 w 10531365"/>
                <a:gd name="connsiteY19" fmla="*/ 3815255 h 3957145"/>
                <a:gd name="connsiteX20" fmla="*/ 4871545 w 10531365"/>
                <a:gd name="connsiteY20" fmla="*/ 3799490 h 3957145"/>
                <a:gd name="connsiteX21" fmla="*/ 5423338 w 10531365"/>
                <a:gd name="connsiteY21" fmla="*/ 3957145 h 3957145"/>
                <a:gd name="connsiteX22" fmla="*/ 78827 w 10531365"/>
                <a:gd name="connsiteY22" fmla="*/ 3957144 h 3957145"/>
                <a:gd name="connsiteX23" fmla="*/ 0 w 10531365"/>
                <a:gd name="connsiteY23" fmla="*/ 0 h 3957145"/>
                <a:gd name="connsiteX24" fmla="*/ 189186 w 10531365"/>
                <a:gd name="connsiteY24" fmla="*/ 126124 h 3957145"/>
                <a:gd name="connsiteX25" fmla="*/ 409903 w 10531365"/>
                <a:gd name="connsiteY25" fmla="*/ 488731 h 3957145"/>
                <a:gd name="connsiteX26" fmla="*/ 1324303 w 10531365"/>
                <a:gd name="connsiteY26" fmla="*/ 472966 h 3957145"/>
                <a:gd name="connsiteX27" fmla="*/ 2317531 w 10531365"/>
                <a:gd name="connsiteY27" fmla="*/ 772510 h 3957145"/>
                <a:gd name="connsiteX28" fmla="*/ 5202621 w 10531365"/>
                <a:gd name="connsiteY28" fmla="*/ 1403131 h 3957145"/>
                <a:gd name="connsiteX29" fmla="*/ 5391807 w 10531365"/>
                <a:gd name="connsiteY29" fmla="*/ 1466193 h 3957145"/>
                <a:gd name="connsiteX0" fmla="*/ 5391807 w 10531365"/>
                <a:gd name="connsiteY0" fmla="*/ 1466193 h 3957145"/>
                <a:gd name="connsiteX1" fmla="*/ 8722431 w 10531365"/>
                <a:gd name="connsiteY1" fmla="*/ 2365010 h 3957145"/>
                <a:gd name="connsiteX2" fmla="*/ 5506265 w 10531365"/>
                <a:gd name="connsiteY2" fmla="*/ 1828982 h 3957145"/>
                <a:gd name="connsiteX3" fmla="*/ 4840014 w 10531365"/>
                <a:gd name="connsiteY3" fmla="*/ 1891862 h 3957145"/>
                <a:gd name="connsiteX4" fmla="*/ 8607972 w 10531365"/>
                <a:gd name="connsiteY4" fmla="*/ 2601309 h 3957145"/>
                <a:gd name="connsiteX5" fmla="*/ 6184183 w 10531365"/>
                <a:gd name="connsiteY5" fmla="*/ 2270417 h 3957145"/>
                <a:gd name="connsiteX6" fmla="*/ 5364376 w 10531365"/>
                <a:gd name="connsiteY6" fmla="*/ 2175823 h 3957145"/>
                <a:gd name="connsiteX7" fmla="*/ 5076496 w 10531365"/>
                <a:gd name="connsiteY7" fmla="*/ 2270235 h 3957145"/>
                <a:gd name="connsiteX8" fmla="*/ 9774621 w 10531365"/>
                <a:gd name="connsiteY8" fmla="*/ 2979683 h 3957145"/>
                <a:gd name="connsiteX9" fmla="*/ 4761186 w 10531365"/>
                <a:gd name="connsiteY9" fmla="*/ 2427890 h 3957145"/>
                <a:gd name="connsiteX10" fmla="*/ 10531365 w 10531365"/>
                <a:gd name="connsiteY10" fmla="*/ 3421117 h 3957145"/>
                <a:gd name="connsiteX11" fmla="*/ 4776952 w 10531365"/>
                <a:gd name="connsiteY11" fmla="*/ 2711669 h 3957145"/>
                <a:gd name="connsiteX12" fmla="*/ 9979572 w 10531365"/>
                <a:gd name="connsiteY12" fmla="*/ 3626069 h 3957145"/>
                <a:gd name="connsiteX13" fmla="*/ 4603531 w 10531365"/>
                <a:gd name="connsiteY13" fmla="*/ 3011214 h 3957145"/>
                <a:gd name="connsiteX14" fmla="*/ 5837341 w 10531365"/>
                <a:gd name="connsiteY14" fmla="*/ 3279410 h 3957145"/>
                <a:gd name="connsiteX15" fmla="*/ 9412014 w 10531365"/>
                <a:gd name="connsiteY15" fmla="*/ 3752193 h 3957145"/>
                <a:gd name="connsiteX16" fmla="*/ 4635062 w 10531365"/>
                <a:gd name="connsiteY16" fmla="*/ 3389586 h 3957145"/>
                <a:gd name="connsiteX17" fmla="*/ 5017534 w 10531365"/>
                <a:gd name="connsiteY17" fmla="*/ 3515892 h 3957145"/>
                <a:gd name="connsiteX18" fmla="*/ 5742748 w 10531365"/>
                <a:gd name="connsiteY18" fmla="*/ 3594720 h 3957145"/>
                <a:gd name="connsiteX19" fmla="*/ 7882759 w 10531365"/>
                <a:gd name="connsiteY19" fmla="*/ 3815255 h 3957145"/>
                <a:gd name="connsiteX20" fmla="*/ 4871545 w 10531365"/>
                <a:gd name="connsiteY20" fmla="*/ 3799490 h 3957145"/>
                <a:gd name="connsiteX21" fmla="*/ 5423338 w 10531365"/>
                <a:gd name="connsiteY21" fmla="*/ 3957145 h 3957145"/>
                <a:gd name="connsiteX22" fmla="*/ 78827 w 10531365"/>
                <a:gd name="connsiteY22" fmla="*/ 3909848 h 3957145"/>
                <a:gd name="connsiteX23" fmla="*/ 0 w 10531365"/>
                <a:gd name="connsiteY23" fmla="*/ 0 h 3957145"/>
                <a:gd name="connsiteX24" fmla="*/ 189186 w 10531365"/>
                <a:gd name="connsiteY24" fmla="*/ 126124 h 3957145"/>
                <a:gd name="connsiteX25" fmla="*/ 409903 w 10531365"/>
                <a:gd name="connsiteY25" fmla="*/ 488731 h 3957145"/>
                <a:gd name="connsiteX26" fmla="*/ 1324303 w 10531365"/>
                <a:gd name="connsiteY26" fmla="*/ 472966 h 3957145"/>
                <a:gd name="connsiteX27" fmla="*/ 2317531 w 10531365"/>
                <a:gd name="connsiteY27" fmla="*/ 772510 h 3957145"/>
                <a:gd name="connsiteX28" fmla="*/ 5202621 w 10531365"/>
                <a:gd name="connsiteY28" fmla="*/ 1403131 h 3957145"/>
                <a:gd name="connsiteX29" fmla="*/ 5391807 w 10531365"/>
                <a:gd name="connsiteY29" fmla="*/ 1466193 h 3957145"/>
                <a:gd name="connsiteX0" fmla="*/ 5391807 w 10531365"/>
                <a:gd name="connsiteY0" fmla="*/ 1466193 h 3957145"/>
                <a:gd name="connsiteX1" fmla="*/ 8722431 w 10531365"/>
                <a:gd name="connsiteY1" fmla="*/ 2365010 h 3957145"/>
                <a:gd name="connsiteX2" fmla="*/ 5506265 w 10531365"/>
                <a:gd name="connsiteY2" fmla="*/ 1828982 h 3957145"/>
                <a:gd name="connsiteX3" fmla="*/ 4840014 w 10531365"/>
                <a:gd name="connsiteY3" fmla="*/ 1891862 h 3957145"/>
                <a:gd name="connsiteX4" fmla="*/ 8607972 w 10531365"/>
                <a:gd name="connsiteY4" fmla="*/ 2601309 h 3957145"/>
                <a:gd name="connsiteX5" fmla="*/ 6184183 w 10531365"/>
                <a:gd name="connsiteY5" fmla="*/ 2270417 h 3957145"/>
                <a:gd name="connsiteX6" fmla="*/ 5364376 w 10531365"/>
                <a:gd name="connsiteY6" fmla="*/ 2175823 h 3957145"/>
                <a:gd name="connsiteX7" fmla="*/ 5076496 w 10531365"/>
                <a:gd name="connsiteY7" fmla="*/ 2270235 h 3957145"/>
                <a:gd name="connsiteX8" fmla="*/ 9774621 w 10531365"/>
                <a:gd name="connsiteY8" fmla="*/ 2979683 h 3957145"/>
                <a:gd name="connsiteX9" fmla="*/ 4761186 w 10531365"/>
                <a:gd name="connsiteY9" fmla="*/ 2427890 h 3957145"/>
                <a:gd name="connsiteX10" fmla="*/ 10531365 w 10531365"/>
                <a:gd name="connsiteY10" fmla="*/ 3421117 h 3957145"/>
                <a:gd name="connsiteX11" fmla="*/ 4776952 w 10531365"/>
                <a:gd name="connsiteY11" fmla="*/ 2711669 h 3957145"/>
                <a:gd name="connsiteX12" fmla="*/ 9979572 w 10531365"/>
                <a:gd name="connsiteY12" fmla="*/ 3626069 h 3957145"/>
                <a:gd name="connsiteX13" fmla="*/ 4603531 w 10531365"/>
                <a:gd name="connsiteY13" fmla="*/ 3011214 h 3957145"/>
                <a:gd name="connsiteX14" fmla="*/ 5837341 w 10531365"/>
                <a:gd name="connsiteY14" fmla="*/ 3279410 h 3957145"/>
                <a:gd name="connsiteX15" fmla="*/ 9412014 w 10531365"/>
                <a:gd name="connsiteY15" fmla="*/ 3752193 h 3957145"/>
                <a:gd name="connsiteX16" fmla="*/ 4635062 w 10531365"/>
                <a:gd name="connsiteY16" fmla="*/ 3389586 h 3957145"/>
                <a:gd name="connsiteX17" fmla="*/ 5017534 w 10531365"/>
                <a:gd name="connsiteY17" fmla="*/ 3515892 h 3957145"/>
                <a:gd name="connsiteX18" fmla="*/ 5742748 w 10531365"/>
                <a:gd name="connsiteY18" fmla="*/ 3594720 h 3957145"/>
                <a:gd name="connsiteX19" fmla="*/ 7882759 w 10531365"/>
                <a:gd name="connsiteY19" fmla="*/ 3815255 h 3957145"/>
                <a:gd name="connsiteX20" fmla="*/ 4871545 w 10531365"/>
                <a:gd name="connsiteY20" fmla="*/ 3799490 h 3957145"/>
                <a:gd name="connsiteX21" fmla="*/ 5423338 w 10531365"/>
                <a:gd name="connsiteY21" fmla="*/ 3957145 h 3957145"/>
                <a:gd name="connsiteX22" fmla="*/ 78827 w 10531365"/>
                <a:gd name="connsiteY22" fmla="*/ 3957144 h 3957145"/>
                <a:gd name="connsiteX23" fmla="*/ 0 w 10531365"/>
                <a:gd name="connsiteY23" fmla="*/ 0 h 3957145"/>
                <a:gd name="connsiteX24" fmla="*/ 189186 w 10531365"/>
                <a:gd name="connsiteY24" fmla="*/ 126124 h 3957145"/>
                <a:gd name="connsiteX25" fmla="*/ 409903 w 10531365"/>
                <a:gd name="connsiteY25" fmla="*/ 488731 h 3957145"/>
                <a:gd name="connsiteX26" fmla="*/ 1324303 w 10531365"/>
                <a:gd name="connsiteY26" fmla="*/ 472966 h 3957145"/>
                <a:gd name="connsiteX27" fmla="*/ 2317531 w 10531365"/>
                <a:gd name="connsiteY27" fmla="*/ 772510 h 3957145"/>
                <a:gd name="connsiteX28" fmla="*/ 5202621 w 10531365"/>
                <a:gd name="connsiteY28" fmla="*/ 1403131 h 3957145"/>
                <a:gd name="connsiteX29" fmla="*/ 5391807 w 10531365"/>
                <a:gd name="connsiteY29" fmla="*/ 1466193 h 3957145"/>
                <a:gd name="connsiteX0" fmla="*/ 5391808 w 10531366"/>
                <a:gd name="connsiteY0" fmla="*/ 1466193 h 3957145"/>
                <a:gd name="connsiteX1" fmla="*/ 8722432 w 10531366"/>
                <a:gd name="connsiteY1" fmla="*/ 2365010 h 3957145"/>
                <a:gd name="connsiteX2" fmla="*/ 5506266 w 10531366"/>
                <a:gd name="connsiteY2" fmla="*/ 1828982 h 3957145"/>
                <a:gd name="connsiteX3" fmla="*/ 4840015 w 10531366"/>
                <a:gd name="connsiteY3" fmla="*/ 1891862 h 3957145"/>
                <a:gd name="connsiteX4" fmla="*/ 8607973 w 10531366"/>
                <a:gd name="connsiteY4" fmla="*/ 2601309 h 3957145"/>
                <a:gd name="connsiteX5" fmla="*/ 6184184 w 10531366"/>
                <a:gd name="connsiteY5" fmla="*/ 2270417 h 3957145"/>
                <a:gd name="connsiteX6" fmla="*/ 5364377 w 10531366"/>
                <a:gd name="connsiteY6" fmla="*/ 2175823 h 3957145"/>
                <a:gd name="connsiteX7" fmla="*/ 5076497 w 10531366"/>
                <a:gd name="connsiteY7" fmla="*/ 2270235 h 3957145"/>
                <a:gd name="connsiteX8" fmla="*/ 9774622 w 10531366"/>
                <a:gd name="connsiteY8" fmla="*/ 2979683 h 3957145"/>
                <a:gd name="connsiteX9" fmla="*/ 4761187 w 10531366"/>
                <a:gd name="connsiteY9" fmla="*/ 2427890 h 3957145"/>
                <a:gd name="connsiteX10" fmla="*/ 10531366 w 10531366"/>
                <a:gd name="connsiteY10" fmla="*/ 3421117 h 3957145"/>
                <a:gd name="connsiteX11" fmla="*/ 4776953 w 10531366"/>
                <a:gd name="connsiteY11" fmla="*/ 2711669 h 3957145"/>
                <a:gd name="connsiteX12" fmla="*/ 9979573 w 10531366"/>
                <a:gd name="connsiteY12" fmla="*/ 3626069 h 3957145"/>
                <a:gd name="connsiteX13" fmla="*/ 4603532 w 10531366"/>
                <a:gd name="connsiteY13" fmla="*/ 3011214 h 3957145"/>
                <a:gd name="connsiteX14" fmla="*/ 5837342 w 10531366"/>
                <a:gd name="connsiteY14" fmla="*/ 3279410 h 3957145"/>
                <a:gd name="connsiteX15" fmla="*/ 9412015 w 10531366"/>
                <a:gd name="connsiteY15" fmla="*/ 3752193 h 3957145"/>
                <a:gd name="connsiteX16" fmla="*/ 4635063 w 10531366"/>
                <a:gd name="connsiteY16" fmla="*/ 3389586 h 3957145"/>
                <a:gd name="connsiteX17" fmla="*/ 5017535 w 10531366"/>
                <a:gd name="connsiteY17" fmla="*/ 3515892 h 3957145"/>
                <a:gd name="connsiteX18" fmla="*/ 5742749 w 10531366"/>
                <a:gd name="connsiteY18" fmla="*/ 3594720 h 3957145"/>
                <a:gd name="connsiteX19" fmla="*/ 7882760 w 10531366"/>
                <a:gd name="connsiteY19" fmla="*/ 3815255 h 3957145"/>
                <a:gd name="connsiteX20" fmla="*/ 4871546 w 10531366"/>
                <a:gd name="connsiteY20" fmla="*/ 3799490 h 3957145"/>
                <a:gd name="connsiteX21" fmla="*/ 5423339 w 10531366"/>
                <a:gd name="connsiteY21" fmla="*/ 3957145 h 3957145"/>
                <a:gd name="connsiteX22" fmla="*/ 0 w 10531366"/>
                <a:gd name="connsiteY22" fmla="*/ 3941378 h 3957145"/>
                <a:gd name="connsiteX23" fmla="*/ 1 w 10531366"/>
                <a:gd name="connsiteY23" fmla="*/ 0 h 3957145"/>
                <a:gd name="connsiteX24" fmla="*/ 189187 w 10531366"/>
                <a:gd name="connsiteY24" fmla="*/ 126124 h 3957145"/>
                <a:gd name="connsiteX25" fmla="*/ 409904 w 10531366"/>
                <a:gd name="connsiteY25" fmla="*/ 488731 h 3957145"/>
                <a:gd name="connsiteX26" fmla="*/ 1324304 w 10531366"/>
                <a:gd name="connsiteY26" fmla="*/ 472966 h 3957145"/>
                <a:gd name="connsiteX27" fmla="*/ 2317532 w 10531366"/>
                <a:gd name="connsiteY27" fmla="*/ 772510 h 3957145"/>
                <a:gd name="connsiteX28" fmla="*/ 5202622 w 10531366"/>
                <a:gd name="connsiteY28" fmla="*/ 1403131 h 3957145"/>
                <a:gd name="connsiteX29" fmla="*/ 5391808 w 10531366"/>
                <a:gd name="connsiteY29" fmla="*/ 1466193 h 3957145"/>
                <a:gd name="connsiteX0" fmla="*/ 5722883 w 10862441"/>
                <a:gd name="connsiteY0" fmla="*/ 1481958 h 3972910"/>
                <a:gd name="connsiteX1" fmla="*/ 9053507 w 10862441"/>
                <a:gd name="connsiteY1" fmla="*/ 2380775 h 3972910"/>
                <a:gd name="connsiteX2" fmla="*/ 5837341 w 10862441"/>
                <a:gd name="connsiteY2" fmla="*/ 1844747 h 3972910"/>
                <a:gd name="connsiteX3" fmla="*/ 5171090 w 10862441"/>
                <a:gd name="connsiteY3" fmla="*/ 1907627 h 3972910"/>
                <a:gd name="connsiteX4" fmla="*/ 8939048 w 10862441"/>
                <a:gd name="connsiteY4" fmla="*/ 2617074 h 3972910"/>
                <a:gd name="connsiteX5" fmla="*/ 6515259 w 10862441"/>
                <a:gd name="connsiteY5" fmla="*/ 2286182 h 3972910"/>
                <a:gd name="connsiteX6" fmla="*/ 5695452 w 10862441"/>
                <a:gd name="connsiteY6" fmla="*/ 2191588 h 3972910"/>
                <a:gd name="connsiteX7" fmla="*/ 5407572 w 10862441"/>
                <a:gd name="connsiteY7" fmla="*/ 2286000 h 3972910"/>
                <a:gd name="connsiteX8" fmla="*/ 10105697 w 10862441"/>
                <a:gd name="connsiteY8" fmla="*/ 2995448 h 3972910"/>
                <a:gd name="connsiteX9" fmla="*/ 5092262 w 10862441"/>
                <a:gd name="connsiteY9" fmla="*/ 2443655 h 3972910"/>
                <a:gd name="connsiteX10" fmla="*/ 10862441 w 10862441"/>
                <a:gd name="connsiteY10" fmla="*/ 3436882 h 3972910"/>
                <a:gd name="connsiteX11" fmla="*/ 5108028 w 10862441"/>
                <a:gd name="connsiteY11" fmla="*/ 2727434 h 3972910"/>
                <a:gd name="connsiteX12" fmla="*/ 10310648 w 10862441"/>
                <a:gd name="connsiteY12" fmla="*/ 3641834 h 3972910"/>
                <a:gd name="connsiteX13" fmla="*/ 4934607 w 10862441"/>
                <a:gd name="connsiteY13" fmla="*/ 3026979 h 3972910"/>
                <a:gd name="connsiteX14" fmla="*/ 6168417 w 10862441"/>
                <a:gd name="connsiteY14" fmla="*/ 3295175 h 3972910"/>
                <a:gd name="connsiteX15" fmla="*/ 9743090 w 10862441"/>
                <a:gd name="connsiteY15" fmla="*/ 3767958 h 3972910"/>
                <a:gd name="connsiteX16" fmla="*/ 4966138 w 10862441"/>
                <a:gd name="connsiteY16" fmla="*/ 3405351 h 3972910"/>
                <a:gd name="connsiteX17" fmla="*/ 5348610 w 10862441"/>
                <a:gd name="connsiteY17" fmla="*/ 3531657 h 3972910"/>
                <a:gd name="connsiteX18" fmla="*/ 6073824 w 10862441"/>
                <a:gd name="connsiteY18" fmla="*/ 3610485 h 3972910"/>
                <a:gd name="connsiteX19" fmla="*/ 8213835 w 10862441"/>
                <a:gd name="connsiteY19" fmla="*/ 3831020 h 3972910"/>
                <a:gd name="connsiteX20" fmla="*/ 5202621 w 10862441"/>
                <a:gd name="connsiteY20" fmla="*/ 3815255 h 3972910"/>
                <a:gd name="connsiteX21" fmla="*/ 5754414 w 10862441"/>
                <a:gd name="connsiteY21" fmla="*/ 3972910 h 3972910"/>
                <a:gd name="connsiteX22" fmla="*/ 331075 w 10862441"/>
                <a:gd name="connsiteY22" fmla="*/ 3957143 h 3972910"/>
                <a:gd name="connsiteX23" fmla="*/ 0 w 10862441"/>
                <a:gd name="connsiteY23" fmla="*/ 0 h 3972910"/>
                <a:gd name="connsiteX24" fmla="*/ 520262 w 10862441"/>
                <a:gd name="connsiteY24" fmla="*/ 141889 h 3972910"/>
                <a:gd name="connsiteX25" fmla="*/ 740979 w 10862441"/>
                <a:gd name="connsiteY25" fmla="*/ 504496 h 3972910"/>
                <a:gd name="connsiteX26" fmla="*/ 1655379 w 10862441"/>
                <a:gd name="connsiteY26" fmla="*/ 488731 h 3972910"/>
                <a:gd name="connsiteX27" fmla="*/ 2648607 w 10862441"/>
                <a:gd name="connsiteY27" fmla="*/ 788275 h 3972910"/>
                <a:gd name="connsiteX28" fmla="*/ 5533697 w 10862441"/>
                <a:gd name="connsiteY28" fmla="*/ 1418896 h 3972910"/>
                <a:gd name="connsiteX29" fmla="*/ 5722883 w 10862441"/>
                <a:gd name="connsiteY29" fmla="*/ 1481958 h 3972910"/>
                <a:gd name="connsiteX0" fmla="*/ 5754415 w 10893973"/>
                <a:gd name="connsiteY0" fmla="*/ 1481958 h 3972910"/>
                <a:gd name="connsiteX1" fmla="*/ 9085039 w 10893973"/>
                <a:gd name="connsiteY1" fmla="*/ 2380775 h 3972910"/>
                <a:gd name="connsiteX2" fmla="*/ 5868873 w 10893973"/>
                <a:gd name="connsiteY2" fmla="*/ 1844747 h 3972910"/>
                <a:gd name="connsiteX3" fmla="*/ 5202622 w 10893973"/>
                <a:gd name="connsiteY3" fmla="*/ 1907627 h 3972910"/>
                <a:gd name="connsiteX4" fmla="*/ 8970580 w 10893973"/>
                <a:gd name="connsiteY4" fmla="*/ 2617074 h 3972910"/>
                <a:gd name="connsiteX5" fmla="*/ 6546791 w 10893973"/>
                <a:gd name="connsiteY5" fmla="*/ 2286182 h 3972910"/>
                <a:gd name="connsiteX6" fmla="*/ 5726984 w 10893973"/>
                <a:gd name="connsiteY6" fmla="*/ 2191588 h 3972910"/>
                <a:gd name="connsiteX7" fmla="*/ 5439104 w 10893973"/>
                <a:gd name="connsiteY7" fmla="*/ 2286000 h 3972910"/>
                <a:gd name="connsiteX8" fmla="*/ 10137229 w 10893973"/>
                <a:gd name="connsiteY8" fmla="*/ 2995448 h 3972910"/>
                <a:gd name="connsiteX9" fmla="*/ 5123794 w 10893973"/>
                <a:gd name="connsiteY9" fmla="*/ 2443655 h 3972910"/>
                <a:gd name="connsiteX10" fmla="*/ 10893973 w 10893973"/>
                <a:gd name="connsiteY10" fmla="*/ 3436882 h 3972910"/>
                <a:gd name="connsiteX11" fmla="*/ 5139560 w 10893973"/>
                <a:gd name="connsiteY11" fmla="*/ 2727434 h 3972910"/>
                <a:gd name="connsiteX12" fmla="*/ 10342180 w 10893973"/>
                <a:gd name="connsiteY12" fmla="*/ 3641834 h 3972910"/>
                <a:gd name="connsiteX13" fmla="*/ 4966139 w 10893973"/>
                <a:gd name="connsiteY13" fmla="*/ 3026979 h 3972910"/>
                <a:gd name="connsiteX14" fmla="*/ 6199949 w 10893973"/>
                <a:gd name="connsiteY14" fmla="*/ 3295175 h 3972910"/>
                <a:gd name="connsiteX15" fmla="*/ 9774622 w 10893973"/>
                <a:gd name="connsiteY15" fmla="*/ 3767958 h 3972910"/>
                <a:gd name="connsiteX16" fmla="*/ 4997670 w 10893973"/>
                <a:gd name="connsiteY16" fmla="*/ 3405351 h 3972910"/>
                <a:gd name="connsiteX17" fmla="*/ 5380142 w 10893973"/>
                <a:gd name="connsiteY17" fmla="*/ 3531657 h 3972910"/>
                <a:gd name="connsiteX18" fmla="*/ 6105356 w 10893973"/>
                <a:gd name="connsiteY18" fmla="*/ 3610485 h 3972910"/>
                <a:gd name="connsiteX19" fmla="*/ 8245367 w 10893973"/>
                <a:gd name="connsiteY19" fmla="*/ 3831020 h 3972910"/>
                <a:gd name="connsiteX20" fmla="*/ 5234153 w 10893973"/>
                <a:gd name="connsiteY20" fmla="*/ 3815255 h 3972910"/>
                <a:gd name="connsiteX21" fmla="*/ 5785946 w 10893973"/>
                <a:gd name="connsiteY21" fmla="*/ 3972910 h 3972910"/>
                <a:gd name="connsiteX22" fmla="*/ 0 w 10893973"/>
                <a:gd name="connsiteY22" fmla="*/ 3957143 h 3972910"/>
                <a:gd name="connsiteX23" fmla="*/ 31532 w 10893973"/>
                <a:gd name="connsiteY23" fmla="*/ 0 h 3972910"/>
                <a:gd name="connsiteX24" fmla="*/ 551794 w 10893973"/>
                <a:gd name="connsiteY24" fmla="*/ 141889 h 3972910"/>
                <a:gd name="connsiteX25" fmla="*/ 772511 w 10893973"/>
                <a:gd name="connsiteY25" fmla="*/ 504496 h 3972910"/>
                <a:gd name="connsiteX26" fmla="*/ 1686911 w 10893973"/>
                <a:gd name="connsiteY26" fmla="*/ 488731 h 3972910"/>
                <a:gd name="connsiteX27" fmla="*/ 2680139 w 10893973"/>
                <a:gd name="connsiteY27" fmla="*/ 788275 h 3972910"/>
                <a:gd name="connsiteX28" fmla="*/ 5565229 w 10893973"/>
                <a:gd name="connsiteY28" fmla="*/ 1418896 h 3972910"/>
                <a:gd name="connsiteX29" fmla="*/ 5754415 w 10893973"/>
                <a:gd name="connsiteY29" fmla="*/ 1481958 h 3972910"/>
                <a:gd name="connsiteX0" fmla="*/ 5785945 w 10925503"/>
                <a:gd name="connsiteY0" fmla="*/ 1576551 h 4067503"/>
                <a:gd name="connsiteX1" fmla="*/ 9116569 w 10925503"/>
                <a:gd name="connsiteY1" fmla="*/ 2475368 h 4067503"/>
                <a:gd name="connsiteX2" fmla="*/ 5900403 w 10925503"/>
                <a:gd name="connsiteY2" fmla="*/ 1939340 h 4067503"/>
                <a:gd name="connsiteX3" fmla="*/ 5234152 w 10925503"/>
                <a:gd name="connsiteY3" fmla="*/ 2002220 h 4067503"/>
                <a:gd name="connsiteX4" fmla="*/ 9002110 w 10925503"/>
                <a:gd name="connsiteY4" fmla="*/ 2711667 h 4067503"/>
                <a:gd name="connsiteX5" fmla="*/ 6578321 w 10925503"/>
                <a:gd name="connsiteY5" fmla="*/ 2380775 h 4067503"/>
                <a:gd name="connsiteX6" fmla="*/ 5758514 w 10925503"/>
                <a:gd name="connsiteY6" fmla="*/ 2286181 h 4067503"/>
                <a:gd name="connsiteX7" fmla="*/ 5470634 w 10925503"/>
                <a:gd name="connsiteY7" fmla="*/ 2380593 h 4067503"/>
                <a:gd name="connsiteX8" fmla="*/ 10168759 w 10925503"/>
                <a:gd name="connsiteY8" fmla="*/ 3090041 h 4067503"/>
                <a:gd name="connsiteX9" fmla="*/ 5155324 w 10925503"/>
                <a:gd name="connsiteY9" fmla="*/ 2538248 h 4067503"/>
                <a:gd name="connsiteX10" fmla="*/ 10925503 w 10925503"/>
                <a:gd name="connsiteY10" fmla="*/ 3531475 h 4067503"/>
                <a:gd name="connsiteX11" fmla="*/ 5171090 w 10925503"/>
                <a:gd name="connsiteY11" fmla="*/ 2822027 h 4067503"/>
                <a:gd name="connsiteX12" fmla="*/ 10373710 w 10925503"/>
                <a:gd name="connsiteY12" fmla="*/ 3736427 h 4067503"/>
                <a:gd name="connsiteX13" fmla="*/ 4997669 w 10925503"/>
                <a:gd name="connsiteY13" fmla="*/ 3121572 h 4067503"/>
                <a:gd name="connsiteX14" fmla="*/ 6231479 w 10925503"/>
                <a:gd name="connsiteY14" fmla="*/ 3389768 h 4067503"/>
                <a:gd name="connsiteX15" fmla="*/ 9806152 w 10925503"/>
                <a:gd name="connsiteY15" fmla="*/ 3862551 h 4067503"/>
                <a:gd name="connsiteX16" fmla="*/ 5029200 w 10925503"/>
                <a:gd name="connsiteY16" fmla="*/ 3499944 h 4067503"/>
                <a:gd name="connsiteX17" fmla="*/ 5411672 w 10925503"/>
                <a:gd name="connsiteY17" fmla="*/ 3626250 h 4067503"/>
                <a:gd name="connsiteX18" fmla="*/ 6136886 w 10925503"/>
                <a:gd name="connsiteY18" fmla="*/ 3705078 h 4067503"/>
                <a:gd name="connsiteX19" fmla="*/ 8276897 w 10925503"/>
                <a:gd name="connsiteY19" fmla="*/ 3925613 h 4067503"/>
                <a:gd name="connsiteX20" fmla="*/ 5265683 w 10925503"/>
                <a:gd name="connsiteY20" fmla="*/ 3909848 h 4067503"/>
                <a:gd name="connsiteX21" fmla="*/ 5817476 w 10925503"/>
                <a:gd name="connsiteY21" fmla="*/ 4067503 h 4067503"/>
                <a:gd name="connsiteX22" fmla="*/ 31530 w 10925503"/>
                <a:gd name="connsiteY22" fmla="*/ 4051736 h 4067503"/>
                <a:gd name="connsiteX23" fmla="*/ 0 w 10925503"/>
                <a:gd name="connsiteY23" fmla="*/ 0 h 4067503"/>
                <a:gd name="connsiteX24" fmla="*/ 583324 w 10925503"/>
                <a:gd name="connsiteY24" fmla="*/ 236482 h 4067503"/>
                <a:gd name="connsiteX25" fmla="*/ 804041 w 10925503"/>
                <a:gd name="connsiteY25" fmla="*/ 599089 h 4067503"/>
                <a:gd name="connsiteX26" fmla="*/ 1718441 w 10925503"/>
                <a:gd name="connsiteY26" fmla="*/ 583324 h 4067503"/>
                <a:gd name="connsiteX27" fmla="*/ 2711669 w 10925503"/>
                <a:gd name="connsiteY27" fmla="*/ 882868 h 4067503"/>
                <a:gd name="connsiteX28" fmla="*/ 5596759 w 10925503"/>
                <a:gd name="connsiteY28" fmla="*/ 1513489 h 4067503"/>
                <a:gd name="connsiteX29" fmla="*/ 5785945 w 10925503"/>
                <a:gd name="connsiteY29" fmla="*/ 1576551 h 4067503"/>
                <a:gd name="connsiteX0" fmla="*/ 5785946 w 10925504"/>
                <a:gd name="connsiteY0" fmla="*/ 1576551 h 4067503"/>
                <a:gd name="connsiteX1" fmla="*/ 9116570 w 10925504"/>
                <a:gd name="connsiteY1" fmla="*/ 2475368 h 4067503"/>
                <a:gd name="connsiteX2" fmla="*/ 5900404 w 10925504"/>
                <a:gd name="connsiteY2" fmla="*/ 1939340 h 4067503"/>
                <a:gd name="connsiteX3" fmla="*/ 5234153 w 10925504"/>
                <a:gd name="connsiteY3" fmla="*/ 2002220 h 4067503"/>
                <a:gd name="connsiteX4" fmla="*/ 9002111 w 10925504"/>
                <a:gd name="connsiteY4" fmla="*/ 2711667 h 4067503"/>
                <a:gd name="connsiteX5" fmla="*/ 6578322 w 10925504"/>
                <a:gd name="connsiteY5" fmla="*/ 2380775 h 4067503"/>
                <a:gd name="connsiteX6" fmla="*/ 5758515 w 10925504"/>
                <a:gd name="connsiteY6" fmla="*/ 2286181 h 4067503"/>
                <a:gd name="connsiteX7" fmla="*/ 5470635 w 10925504"/>
                <a:gd name="connsiteY7" fmla="*/ 2380593 h 4067503"/>
                <a:gd name="connsiteX8" fmla="*/ 10168760 w 10925504"/>
                <a:gd name="connsiteY8" fmla="*/ 3090041 h 4067503"/>
                <a:gd name="connsiteX9" fmla="*/ 5155325 w 10925504"/>
                <a:gd name="connsiteY9" fmla="*/ 2538248 h 4067503"/>
                <a:gd name="connsiteX10" fmla="*/ 10925504 w 10925504"/>
                <a:gd name="connsiteY10" fmla="*/ 3531475 h 4067503"/>
                <a:gd name="connsiteX11" fmla="*/ 5171091 w 10925504"/>
                <a:gd name="connsiteY11" fmla="*/ 2822027 h 4067503"/>
                <a:gd name="connsiteX12" fmla="*/ 10373711 w 10925504"/>
                <a:gd name="connsiteY12" fmla="*/ 3736427 h 4067503"/>
                <a:gd name="connsiteX13" fmla="*/ 4997670 w 10925504"/>
                <a:gd name="connsiteY13" fmla="*/ 3121572 h 4067503"/>
                <a:gd name="connsiteX14" fmla="*/ 6231480 w 10925504"/>
                <a:gd name="connsiteY14" fmla="*/ 3389768 h 4067503"/>
                <a:gd name="connsiteX15" fmla="*/ 9806153 w 10925504"/>
                <a:gd name="connsiteY15" fmla="*/ 3862551 h 4067503"/>
                <a:gd name="connsiteX16" fmla="*/ 5029201 w 10925504"/>
                <a:gd name="connsiteY16" fmla="*/ 3499944 h 4067503"/>
                <a:gd name="connsiteX17" fmla="*/ 5411673 w 10925504"/>
                <a:gd name="connsiteY17" fmla="*/ 3626250 h 4067503"/>
                <a:gd name="connsiteX18" fmla="*/ 6136887 w 10925504"/>
                <a:gd name="connsiteY18" fmla="*/ 3705078 h 4067503"/>
                <a:gd name="connsiteX19" fmla="*/ 8276898 w 10925504"/>
                <a:gd name="connsiteY19" fmla="*/ 3925613 h 4067503"/>
                <a:gd name="connsiteX20" fmla="*/ 5265684 w 10925504"/>
                <a:gd name="connsiteY20" fmla="*/ 3909848 h 4067503"/>
                <a:gd name="connsiteX21" fmla="*/ 5817477 w 10925504"/>
                <a:gd name="connsiteY21" fmla="*/ 4067503 h 4067503"/>
                <a:gd name="connsiteX22" fmla="*/ 0 w 10925504"/>
                <a:gd name="connsiteY22" fmla="*/ 4035971 h 4067503"/>
                <a:gd name="connsiteX23" fmla="*/ 1 w 10925504"/>
                <a:gd name="connsiteY23" fmla="*/ 0 h 4067503"/>
                <a:gd name="connsiteX24" fmla="*/ 583325 w 10925504"/>
                <a:gd name="connsiteY24" fmla="*/ 236482 h 4067503"/>
                <a:gd name="connsiteX25" fmla="*/ 804042 w 10925504"/>
                <a:gd name="connsiteY25" fmla="*/ 599089 h 4067503"/>
                <a:gd name="connsiteX26" fmla="*/ 1718442 w 10925504"/>
                <a:gd name="connsiteY26" fmla="*/ 583324 h 4067503"/>
                <a:gd name="connsiteX27" fmla="*/ 2711670 w 10925504"/>
                <a:gd name="connsiteY27" fmla="*/ 882868 h 4067503"/>
                <a:gd name="connsiteX28" fmla="*/ 5596760 w 10925504"/>
                <a:gd name="connsiteY28" fmla="*/ 1513489 h 4067503"/>
                <a:gd name="connsiteX29" fmla="*/ 5785946 w 10925504"/>
                <a:gd name="connsiteY29" fmla="*/ 1576551 h 4067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925504" h="4067503">
                  <a:moveTo>
                    <a:pt x="5785946" y="1576551"/>
                  </a:moveTo>
                  <a:cubicBezTo>
                    <a:pt x="5703230" y="1639674"/>
                    <a:pt x="9199286" y="2412245"/>
                    <a:pt x="9116570" y="2475368"/>
                  </a:cubicBezTo>
                  <a:cubicBezTo>
                    <a:pt x="8112832" y="2343989"/>
                    <a:pt x="6904142" y="2070719"/>
                    <a:pt x="5900404" y="1939340"/>
                  </a:cubicBezTo>
                  <a:lnTo>
                    <a:pt x="5234153" y="2002220"/>
                  </a:lnTo>
                  <a:lnTo>
                    <a:pt x="9002111" y="2711667"/>
                  </a:lnTo>
                  <a:cubicBezTo>
                    <a:pt x="8572553" y="2669687"/>
                    <a:pt x="7007880" y="2422755"/>
                    <a:pt x="6578322" y="2380775"/>
                  </a:cubicBezTo>
                  <a:cubicBezTo>
                    <a:pt x="6336584" y="2375520"/>
                    <a:pt x="6000253" y="2291436"/>
                    <a:pt x="5758515" y="2286181"/>
                  </a:cubicBezTo>
                  <a:lnTo>
                    <a:pt x="5470635" y="2380593"/>
                  </a:lnTo>
                  <a:lnTo>
                    <a:pt x="10168760" y="3090041"/>
                  </a:lnTo>
                  <a:lnTo>
                    <a:pt x="5155325" y="2538248"/>
                  </a:lnTo>
                  <a:lnTo>
                    <a:pt x="10925504" y="3531475"/>
                  </a:lnTo>
                  <a:lnTo>
                    <a:pt x="5171091" y="2822027"/>
                  </a:lnTo>
                  <a:lnTo>
                    <a:pt x="10373711" y="3736427"/>
                  </a:lnTo>
                  <a:lnTo>
                    <a:pt x="4997670" y="3121572"/>
                  </a:lnTo>
                  <a:cubicBezTo>
                    <a:pt x="5450981" y="3195205"/>
                    <a:pt x="5778169" y="3316135"/>
                    <a:pt x="6231480" y="3389768"/>
                  </a:cubicBezTo>
                  <a:lnTo>
                    <a:pt x="9806153" y="3862551"/>
                  </a:lnTo>
                  <a:lnTo>
                    <a:pt x="5029201" y="3499944"/>
                  </a:lnTo>
                  <a:cubicBezTo>
                    <a:pt x="4312553" y="3457933"/>
                    <a:pt x="5227059" y="3592061"/>
                    <a:pt x="5411673" y="3626250"/>
                  </a:cubicBezTo>
                  <a:cubicBezTo>
                    <a:pt x="5596287" y="3660439"/>
                    <a:pt x="5675115" y="3652557"/>
                    <a:pt x="6136887" y="3705078"/>
                  </a:cubicBezTo>
                  <a:lnTo>
                    <a:pt x="8276898" y="3925613"/>
                  </a:lnTo>
                  <a:lnTo>
                    <a:pt x="5265684" y="3909848"/>
                  </a:lnTo>
                  <a:lnTo>
                    <a:pt x="5817477" y="4067503"/>
                  </a:lnTo>
                  <a:lnTo>
                    <a:pt x="0" y="4035971"/>
                  </a:lnTo>
                  <a:cubicBezTo>
                    <a:pt x="0" y="2722178"/>
                    <a:pt x="1" y="1313793"/>
                    <a:pt x="1" y="0"/>
                  </a:cubicBezTo>
                  <a:lnTo>
                    <a:pt x="583325" y="236482"/>
                  </a:lnTo>
                  <a:lnTo>
                    <a:pt x="804042" y="599089"/>
                  </a:lnTo>
                  <a:lnTo>
                    <a:pt x="1718442" y="583324"/>
                  </a:lnTo>
                  <a:lnTo>
                    <a:pt x="2711670" y="882868"/>
                  </a:lnTo>
                  <a:lnTo>
                    <a:pt x="5596760" y="1513489"/>
                  </a:lnTo>
                  <a:lnTo>
                    <a:pt x="5785946" y="1576551"/>
                  </a:lnTo>
                  <a:close/>
                </a:path>
              </a:pathLst>
            </a:custGeom>
            <a:pattFill prst="pct5">
              <a:fgClr>
                <a:schemeClr val="tx1"/>
              </a:fgClr>
              <a:bgClr>
                <a:srgbClr val="FFFF00"/>
              </a:bgClr>
            </a:patt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423236" y="6640625"/>
              <a:ext cx="5830902" cy="306665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300" dirty="0">
                  <a:solidFill>
                    <a:prstClr val="black"/>
                  </a:solidFill>
                </a:rPr>
                <a:t>Sandy (non-heterolithic) facies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 rot="16200000">
              <a:off x="2379811" y="2890649"/>
              <a:ext cx="1424437" cy="151106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Mean Low Water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798635" y="4471748"/>
              <a:ext cx="1455503" cy="124444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000" dirty="0">
                  <a:solidFill>
                    <a:prstClr val="black"/>
                  </a:solidFill>
                </a:rPr>
                <a:t>Mean Low Water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314101" y="5085078"/>
              <a:ext cx="2604351" cy="17777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000" dirty="0" err="1">
                  <a:solidFill>
                    <a:prstClr val="black"/>
                  </a:solidFill>
                </a:rPr>
                <a:t>Fairweather</a:t>
              </a:r>
              <a:r>
                <a:rPr lang="en-GB" sz="1000" dirty="0">
                  <a:solidFill>
                    <a:prstClr val="black"/>
                  </a:solidFill>
                </a:rPr>
                <a:t> wave base (FWWB)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451802" y="5627297"/>
              <a:ext cx="1895487" cy="131111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000" dirty="0">
                  <a:solidFill>
                    <a:prstClr val="black"/>
                  </a:solidFill>
                </a:rPr>
                <a:t>Storm wave base</a:t>
              </a:r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7655178" y="2830651"/>
              <a:ext cx="1448881" cy="24665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000" dirty="0">
                  <a:solidFill>
                    <a:prstClr val="black"/>
                  </a:solidFill>
                </a:rPr>
                <a:t>Storm wave base</a:t>
              </a:r>
            </a:p>
          </p:txBody>
        </p:sp>
        <p:sp>
          <p:nvSpPr>
            <p:cNvPr id="41" name="Rectangle 40"/>
            <p:cNvSpPr/>
            <p:nvPr/>
          </p:nvSpPr>
          <p:spPr>
            <a:xfrm rot="16200000">
              <a:off x="5555253" y="2766209"/>
              <a:ext cx="1388882" cy="41776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 err="1">
                  <a:solidFill>
                    <a:prstClr val="black"/>
                  </a:solidFill>
                </a:rPr>
                <a:t>Fairweather</a:t>
              </a:r>
              <a:r>
                <a:rPr lang="en-GB" sz="900" dirty="0">
                  <a:solidFill>
                    <a:prstClr val="black"/>
                  </a:solidFill>
                </a:rPr>
                <a:t>  wave base (FWWB)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287650" y="6947290"/>
              <a:ext cx="893301" cy="19577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Horizontal Planar stratification. Parting lineation.  Low angle erosion surfaces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180951" y="6947290"/>
              <a:ext cx="899967" cy="19577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Low angle Planar stratification (sea-ward dipping). Parting lineation.  Low angle erosion surfaces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080918" y="6947290"/>
              <a:ext cx="1717717" cy="19577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Trough cross bedding. Erosion surfaces. Some vertical burrows </a:t>
              </a:r>
              <a:r>
                <a:rPr lang="en-GB" sz="900" i="1" dirty="0">
                  <a:solidFill>
                    <a:prstClr val="black"/>
                  </a:solidFill>
                </a:rPr>
                <a:t>(</a:t>
              </a:r>
              <a:r>
                <a:rPr lang="en-GB" sz="900" i="1" dirty="0" err="1">
                  <a:solidFill>
                    <a:prstClr val="black"/>
                  </a:solidFill>
                </a:rPr>
                <a:t>Skolithos</a:t>
              </a:r>
              <a:r>
                <a:rPr lang="en-GB" sz="900" dirty="0">
                  <a:solidFill>
                    <a:prstClr val="black"/>
                  </a:solidFill>
                </a:rPr>
                <a:t>) possible.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798635" y="6947290"/>
              <a:ext cx="1428837" cy="19577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Current cross lamination.  Combined ripples possible. Bioturbation.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227473" y="6947290"/>
              <a:ext cx="2188811" cy="19577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Lower </a:t>
              </a:r>
              <a:r>
                <a:rPr lang="en-GB" sz="900" dirty="0" err="1">
                  <a:solidFill>
                    <a:prstClr val="black"/>
                  </a:solidFill>
                </a:rPr>
                <a:t>Mud:Sand</a:t>
              </a:r>
              <a:r>
                <a:rPr lang="en-GB" sz="900" dirty="0">
                  <a:solidFill>
                    <a:prstClr val="black"/>
                  </a:solidFill>
                </a:rPr>
                <a:t> Ratio (more sand beds)</a:t>
              </a: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Coarser sands</a:t>
              </a: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Sand beds thicker.</a:t>
              </a: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900" dirty="0">
                <a:solidFill>
                  <a:prstClr val="black"/>
                </a:solidFill>
              </a:endParaRP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In Sands: Hummocky cross stratification +/- wave ripples.  </a:t>
              </a: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900" dirty="0">
                <a:solidFill>
                  <a:prstClr val="black"/>
                </a:solidFill>
              </a:endParaRP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Muds: bioturbation (</a:t>
              </a:r>
              <a:r>
                <a:rPr lang="en-GB" sz="900" i="1" dirty="0" err="1">
                  <a:solidFill>
                    <a:prstClr val="black"/>
                  </a:solidFill>
                </a:rPr>
                <a:t>Cruziana</a:t>
              </a:r>
              <a:r>
                <a:rPr lang="en-GB" sz="900" dirty="0">
                  <a:solidFill>
                    <a:prstClr val="black"/>
                  </a:solidFill>
                </a:rPr>
                <a:t> </a:t>
              </a:r>
              <a:r>
                <a:rPr lang="en-GB" sz="900" dirty="0" err="1">
                  <a:solidFill>
                    <a:prstClr val="black"/>
                  </a:solidFill>
                </a:rPr>
                <a:t>ichnofacies</a:t>
              </a:r>
              <a:r>
                <a:rPr lang="en-GB" sz="900" dirty="0">
                  <a:solidFill>
                    <a:prstClr val="black"/>
                  </a:solidFill>
                </a:rPr>
                <a:t>).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416284" y="6933956"/>
              <a:ext cx="3439877" cy="19711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High </a:t>
              </a:r>
              <a:r>
                <a:rPr lang="en-GB" sz="900" dirty="0" err="1">
                  <a:solidFill>
                    <a:prstClr val="black"/>
                  </a:solidFill>
                </a:rPr>
                <a:t>Mud:Sand</a:t>
              </a:r>
              <a:r>
                <a:rPr lang="en-GB" sz="900" dirty="0">
                  <a:solidFill>
                    <a:prstClr val="black"/>
                  </a:solidFill>
                </a:rPr>
                <a:t> ratio .</a:t>
              </a: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Thinner and finer sand beds</a:t>
              </a: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900" dirty="0">
                <a:solidFill>
                  <a:prstClr val="black"/>
                </a:solidFill>
              </a:endParaRP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In Sands: Graded beds with </a:t>
              </a:r>
              <a:r>
                <a:rPr lang="en-GB" sz="900" i="1" dirty="0">
                  <a:solidFill>
                    <a:prstClr val="black"/>
                  </a:solidFill>
                </a:rPr>
                <a:t>current </a:t>
              </a:r>
              <a:r>
                <a:rPr lang="en-GB" sz="900" dirty="0">
                  <a:solidFill>
                    <a:prstClr val="black"/>
                  </a:solidFill>
                </a:rPr>
                <a:t>generated sedimentary structures (current ripples, horizontal stratification).  No evidence for wave action.</a:t>
              </a: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900" dirty="0">
                <a:solidFill>
                  <a:prstClr val="black"/>
                </a:solidFill>
              </a:endParaRPr>
            </a:p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Muds: bioturbation (</a:t>
              </a:r>
              <a:r>
                <a:rPr lang="en-GB" sz="900" i="1" dirty="0" err="1">
                  <a:solidFill>
                    <a:prstClr val="black"/>
                  </a:solidFill>
                </a:rPr>
                <a:t>Cruziana</a:t>
              </a:r>
              <a:r>
                <a:rPr lang="en-GB" sz="900" dirty="0">
                  <a:solidFill>
                    <a:prstClr val="black"/>
                  </a:solidFill>
                </a:rPr>
                <a:t> </a:t>
              </a:r>
              <a:r>
                <a:rPr lang="en-GB" sz="900" dirty="0" err="1">
                  <a:solidFill>
                    <a:prstClr val="black"/>
                  </a:solidFill>
                </a:rPr>
                <a:t>ichnofacies</a:t>
              </a:r>
              <a:r>
                <a:rPr lang="en-GB" sz="900" dirty="0">
                  <a:solidFill>
                    <a:prstClr val="black"/>
                  </a:solidFill>
                </a:rPr>
                <a:t>).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3236" y="6947290"/>
              <a:ext cx="868858" cy="19577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000" dirty="0">
                  <a:solidFill>
                    <a:prstClr val="black"/>
                  </a:solidFill>
                </a:rPr>
                <a:t>Large scale trough cross bedding. Impact ripples.</a:t>
              </a:r>
            </a:p>
          </p:txBody>
        </p:sp>
        <p:sp>
          <p:nvSpPr>
            <p:cNvPr id="47" name="Rectangle 46"/>
            <p:cNvSpPr/>
            <p:nvPr/>
          </p:nvSpPr>
          <p:spPr>
            <a:xfrm rot="16200000">
              <a:off x="206558" y="2390663"/>
              <a:ext cx="1291103" cy="879968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300" dirty="0">
                  <a:solidFill>
                    <a:prstClr val="black"/>
                  </a:solidFill>
                </a:rPr>
                <a:t>Aeolian* Dunes possible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09903" y="1765097"/>
              <a:ext cx="882191" cy="419998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prstClr val="black"/>
                  </a:solidFill>
                </a:rPr>
                <a:t>Land</a:t>
              </a:r>
            </a:p>
          </p:txBody>
        </p:sp>
        <p:sp>
          <p:nvSpPr>
            <p:cNvPr id="12" name="Freeform 11"/>
            <p:cNvSpPr/>
            <p:nvPr/>
          </p:nvSpPr>
          <p:spPr>
            <a:xfrm>
              <a:off x="2143174" y="4453971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49694" y="6640625"/>
              <a:ext cx="5606467" cy="3066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300" dirty="0">
                  <a:solidFill>
                    <a:prstClr val="black"/>
                  </a:solidFill>
                </a:rPr>
                <a:t>Heterolithic facies (muds  interbedded with sands)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 rot="10800000">
              <a:off x="11856161" y="1765097"/>
              <a:ext cx="593311" cy="20066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300" dirty="0">
                  <a:solidFill>
                    <a:prstClr val="black"/>
                  </a:solidFill>
                </a:rPr>
                <a:t>Environment</a:t>
              </a:r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43174" y="4329527"/>
              <a:ext cx="962188" cy="282221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43174" y="4596192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43174" y="4738413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43174" y="4867302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53" name="Freeform 52"/>
            <p:cNvSpPr/>
            <p:nvPr/>
          </p:nvSpPr>
          <p:spPr>
            <a:xfrm>
              <a:off x="2143174" y="5060634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54" name="Freeform 53"/>
            <p:cNvSpPr/>
            <p:nvPr/>
          </p:nvSpPr>
          <p:spPr>
            <a:xfrm>
              <a:off x="2143174" y="5249522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55" name="Freeform 54"/>
            <p:cNvSpPr/>
            <p:nvPr/>
          </p:nvSpPr>
          <p:spPr>
            <a:xfrm>
              <a:off x="2143174" y="5389521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56" name="Freeform 55"/>
            <p:cNvSpPr/>
            <p:nvPr/>
          </p:nvSpPr>
          <p:spPr>
            <a:xfrm>
              <a:off x="2143174" y="5693963"/>
              <a:ext cx="962188" cy="282221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57" name="Freeform 56"/>
            <p:cNvSpPr/>
            <p:nvPr/>
          </p:nvSpPr>
          <p:spPr>
            <a:xfrm>
              <a:off x="2143174" y="5531743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58" name="Freeform 57"/>
            <p:cNvSpPr/>
            <p:nvPr/>
          </p:nvSpPr>
          <p:spPr>
            <a:xfrm>
              <a:off x="2143174" y="5956184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59" name="Freeform 58"/>
            <p:cNvSpPr/>
            <p:nvPr/>
          </p:nvSpPr>
          <p:spPr>
            <a:xfrm>
              <a:off x="2143174" y="5796185"/>
              <a:ext cx="962188" cy="282221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0" name="Freeform 59"/>
            <p:cNvSpPr/>
            <p:nvPr/>
          </p:nvSpPr>
          <p:spPr>
            <a:xfrm>
              <a:off x="2143174" y="6302849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>
              <a:off x="2143174" y="6142850"/>
              <a:ext cx="962188" cy="284443"/>
            </a:xfrm>
            <a:custGeom>
              <a:avLst/>
              <a:gdLst>
                <a:gd name="connsiteX0" fmla="*/ 0 w 961697"/>
                <a:gd name="connsiteY0" fmla="*/ 0 h 283780"/>
                <a:gd name="connsiteX1" fmla="*/ 961697 w 961697"/>
                <a:gd name="connsiteY1" fmla="*/ 283780 h 28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1697" h="283780">
                  <a:moveTo>
                    <a:pt x="0" y="0"/>
                  </a:moveTo>
                  <a:lnTo>
                    <a:pt x="961697" y="28378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2143174" y="6431737"/>
              <a:ext cx="584424" cy="173332"/>
            </a:xfrm>
            <a:custGeom>
              <a:avLst/>
              <a:gdLst>
                <a:gd name="connsiteX0" fmla="*/ 0 w 583324"/>
                <a:gd name="connsiteY0" fmla="*/ 0 h 173421"/>
                <a:gd name="connsiteX1" fmla="*/ 583324 w 583324"/>
                <a:gd name="connsiteY1" fmla="*/ 173421 h 17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3324" h="173421">
                  <a:moveTo>
                    <a:pt x="0" y="0"/>
                  </a:moveTo>
                  <a:lnTo>
                    <a:pt x="583324" y="173421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2143174" y="6542848"/>
              <a:ext cx="268880" cy="62222"/>
            </a:xfrm>
            <a:custGeom>
              <a:avLst/>
              <a:gdLst>
                <a:gd name="connsiteX0" fmla="*/ 0 w 268014"/>
                <a:gd name="connsiteY0" fmla="*/ 0 h 63062"/>
                <a:gd name="connsiteX1" fmla="*/ 268014 w 268014"/>
                <a:gd name="connsiteY1" fmla="*/ 63062 h 6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8014" h="63062">
                  <a:moveTo>
                    <a:pt x="0" y="0"/>
                  </a:moveTo>
                  <a:lnTo>
                    <a:pt x="268014" y="63062"/>
                  </a:ln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2" name="Freeform 61"/>
            <p:cNvSpPr/>
            <p:nvPr/>
          </p:nvSpPr>
          <p:spPr>
            <a:xfrm>
              <a:off x="1245429" y="4351749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>
              <a:off x="1245429" y="4462859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>
              <a:off x="1245429" y="4571748"/>
              <a:ext cx="882191" cy="15555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5" name="Freeform 64"/>
            <p:cNvSpPr/>
            <p:nvPr/>
          </p:nvSpPr>
          <p:spPr>
            <a:xfrm>
              <a:off x="1245429" y="4716191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>
              <a:off x="1245429" y="4845079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7" name="Freeform 66"/>
            <p:cNvSpPr/>
            <p:nvPr/>
          </p:nvSpPr>
          <p:spPr>
            <a:xfrm>
              <a:off x="1245429" y="5136190"/>
              <a:ext cx="882191" cy="15555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8" name="Freeform 67"/>
            <p:cNvSpPr/>
            <p:nvPr/>
          </p:nvSpPr>
          <p:spPr>
            <a:xfrm>
              <a:off x="1245429" y="5278411"/>
              <a:ext cx="882191" cy="15555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>
              <a:off x="1245429" y="5405076"/>
              <a:ext cx="882191" cy="17778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70" name="Freeform 69"/>
            <p:cNvSpPr/>
            <p:nvPr/>
          </p:nvSpPr>
          <p:spPr>
            <a:xfrm>
              <a:off x="1245429" y="5022856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>
              <a:off x="1245429" y="5533964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>
              <a:off x="1245429" y="5693963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73" name="Freeform 72"/>
            <p:cNvSpPr/>
            <p:nvPr/>
          </p:nvSpPr>
          <p:spPr>
            <a:xfrm>
              <a:off x="1245429" y="5836185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74" name="Freeform 73"/>
            <p:cNvSpPr/>
            <p:nvPr/>
          </p:nvSpPr>
          <p:spPr>
            <a:xfrm>
              <a:off x="1245429" y="5976185"/>
              <a:ext cx="882191" cy="15555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75" name="Freeform 74"/>
            <p:cNvSpPr/>
            <p:nvPr/>
          </p:nvSpPr>
          <p:spPr>
            <a:xfrm>
              <a:off x="1245429" y="6102850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76" name="Freeform 75"/>
            <p:cNvSpPr/>
            <p:nvPr/>
          </p:nvSpPr>
          <p:spPr>
            <a:xfrm>
              <a:off x="1245429" y="6242850"/>
              <a:ext cx="882191" cy="15555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77" name="Freeform 76"/>
            <p:cNvSpPr/>
            <p:nvPr/>
          </p:nvSpPr>
          <p:spPr>
            <a:xfrm>
              <a:off x="1245429" y="6409515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78" name="Freeform 77"/>
            <p:cNvSpPr/>
            <p:nvPr/>
          </p:nvSpPr>
          <p:spPr>
            <a:xfrm>
              <a:off x="1245429" y="6529514"/>
              <a:ext cx="882191" cy="15556"/>
            </a:xfrm>
            <a:custGeom>
              <a:avLst/>
              <a:gdLst>
                <a:gd name="connsiteX0" fmla="*/ 0 w 882869"/>
                <a:gd name="connsiteY0" fmla="*/ 15765 h 15765"/>
                <a:gd name="connsiteX1" fmla="*/ 882869 w 882869"/>
                <a:gd name="connsiteY1" fmla="*/ 0 h 1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869" h="15765">
                  <a:moveTo>
                    <a:pt x="0" y="15765"/>
                  </a:moveTo>
                  <a:lnTo>
                    <a:pt x="882869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79" name="Freeform 78"/>
            <p:cNvSpPr/>
            <p:nvPr/>
          </p:nvSpPr>
          <p:spPr>
            <a:xfrm>
              <a:off x="4211990" y="5313966"/>
              <a:ext cx="551091" cy="104443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80" name="Freeform 79"/>
            <p:cNvSpPr/>
            <p:nvPr/>
          </p:nvSpPr>
          <p:spPr>
            <a:xfrm>
              <a:off x="3318688" y="4809524"/>
              <a:ext cx="551091" cy="104445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81" name="Freeform 80"/>
            <p:cNvSpPr/>
            <p:nvPr/>
          </p:nvSpPr>
          <p:spPr>
            <a:xfrm>
              <a:off x="3663120" y="5029524"/>
              <a:ext cx="553314" cy="106666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82" name="Freeform 81"/>
            <p:cNvSpPr/>
            <p:nvPr/>
          </p:nvSpPr>
          <p:spPr>
            <a:xfrm>
              <a:off x="3294244" y="5202856"/>
              <a:ext cx="553314" cy="104443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83" name="Freeform 82"/>
            <p:cNvSpPr/>
            <p:nvPr/>
          </p:nvSpPr>
          <p:spPr>
            <a:xfrm>
              <a:off x="3798671" y="5518410"/>
              <a:ext cx="551091" cy="104443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84" name="Freeform 83"/>
            <p:cNvSpPr/>
            <p:nvPr/>
          </p:nvSpPr>
          <p:spPr>
            <a:xfrm>
              <a:off x="3387574" y="5691742"/>
              <a:ext cx="551091" cy="104443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85" name="Freeform 84"/>
            <p:cNvSpPr/>
            <p:nvPr/>
          </p:nvSpPr>
          <p:spPr>
            <a:xfrm>
              <a:off x="3780894" y="5973962"/>
              <a:ext cx="551091" cy="104445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>
              <a:off x="3269801" y="6145073"/>
              <a:ext cx="551091" cy="106666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87" name="Freeform 86"/>
            <p:cNvSpPr/>
            <p:nvPr/>
          </p:nvSpPr>
          <p:spPr>
            <a:xfrm>
              <a:off x="3756450" y="6311738"/>
              <a:ext cx="551091" cy="106666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88" name="Freeform 87"/>
            <p:cNvSpPr/>
            <p:nvPr/>
          </p:nvSpPr>
          <p:spPr>
            <a:xfrm>
              <a:off x="3140917" y="6391737"/>
              <a:ext cx="553313" cy="106666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89" name="Freeform 88"/>
            <p:cNvSpPr/>
            <p:nvPr/>
          </p:nvSpPr>
          <p:spPr>
            <a:xfrm>
              <a:off x="3149806" y="5400632"/>
              <a:ext cx="551091" cy="106666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90" name="Freeform 89"/>
            <p:cNvSpPr/>
            <p:nvPr/>
          </p:nvSpPr>
          <p:spPr>
            <a:xfrm>
              <a:off x="3149806" y="5007301"/>
              <a:ext cx="551091" cy="106666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91" name="Freeform 90"/>
            <p:cNvSpPr/>
            <p:nvPr/>
          </p:nvSpPr>
          <p:spPr>
            <a:xfrm>
              <a:off x="3269801" y="5829519"/>
              <a:ext cx="551091" cy="106666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92" name="Freeform 91"/>
            <p:cNvSpPr/>
            <p:nvPr/>
          </p:nvSpPr>
          <p:spPr>
            <a:xfrm>
              <a:off x="3149806" y="4691748"/>
              <a:ext cx="551091" cy="106666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93" name="Freeform 92"/>
            <p:cNvSpPr/>
            <p:nvPr/>
          </p:nvSpPr>
          <p:spPr>
            <a:xfrm>
              <a:off x="4145326" y="4916190"/>
              <a:ext cx="553313" cy="106666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>
              <a:off x="4180880" y="5747297"/>
              <a:ext cx="551091" cy="104445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95" name="Freeform 94"/>
            <p:cNvSpPr/>
            <p:nvPr/>
          </p:nvSpPr>
          <p:spPr>
            <a:xfrm>
              <a:off x="4163103" y="6167295"/>
              <a:ext cx="551091" cy="104443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96" name="Freeform 95"/>
            <p:cNvSpPr/>
            <p:nvPr/>
          </p:nvSpPr>
          <p:spPr>
            <a:xfrm>
              <a:off x="4271987" y="6389516"/>
              <a:ext cx="553314" cy="106666"/>
            </a:xfrm>
            <a:custGeom>
              <a:avLst/>
              <a:gdLst>
                <a:gd name="connsiteX0" fmla="*/ 0 w 851338"/>
                <a:gd name="connsiteY0" fmla="*/ 0 h 211406"/>
                <a:gd name="connsiteX1" fmla="*/ 204952 w 851338"/>
                <a:gd name="connsiteY1" fmla="*/ 157655 h 211406"/>
                <a:gd name="connsiteX2" fmla="*/ 567559 w 851338"/>
                <a:gd name="connsiteY2" fmla="*/ 204951 h 211406"/>
                <a:gd name="connsiteX3" fmla="*/ 851338 w 851338"/>
                <a:gd name="connsiteY3" fmla="*/ 31531 h 21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1338" h="211406">
                  <a:moveTo>
                    <a:pt x="0" y="0"/>
                  </a:moveTo>
                  <a:cubicBezTo>
                    <a:pt x="55179" y="61748"/>
                    <a:pt x="110359" y="123497"/>
                    <a:pt x="204952" y="157655"/>
                  </a:cubicBezTo>
                  <a:cubicBezTo>
                    <a:pt x="299545" y="191814"/>
                    <a:pt x="459828" y="225972"/>
                    <a:pt x="567559" y="204951"/>
                  </a:cubicBezTo>
                  <a:cubicBezTo>
                    <a:pt x="675290" y="183930"/>
                    <a:pt x="763314" y="107730"/>
                    <a:pt x="851338" y="3153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grpSp>
          <p:nvGrpSpPr>
            <p:cNvPr id="55398" name="Group 99"/>
            <p:cNvGrpSpPr>
              <a:grpSpLocks/>
            </p:cNvGrpSpPr>
            <p:nvPr/>
          </p:nvGrpSpPr>
          <p:grpSpPr bwMode="auto">
            <a:xfrm>
              <a:off x="5539159" y="5348387"/>
              <a:ext cx="362606" cy="86842"/>
              <a:chOff x="5108028" y="9222563"/>
              <a:chExt cx="835572" cy="173686"/>
            </a:xfrm>
          </p:grpSpPr>
          <p:sp>
            <p:nvSpPr>
              <p:cNvPr id="101" name="Freeform 100"/>
              <p:cNvSpPr/>
              <p:nvPr/>
            </p:nvSpPr>
            <p:spPr>
              <a:xfrm>
                <a:off x="5106760" y="9153722"/>
                <a:ext cx="834659" cy="244445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02" name="Freeform 101"/>
              <p:cNvSpPr/>
              <p:nvPr/>
            </p:nvSpPr>
            <p:spPr>
              <a:xfrm>
                <a:off x="5470324" y="9269278"/>
                <a:ext cx="250908" cy="128888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399" name="Group 102"/>
            <p:cNvGrpSpPr>
              <a:grpSpLocks/>
            </p:cNvGrpSpPr>
            <p:nvPr/>
          </p:nvGrpSpPr>
          <p:grpSpPr bwMode="auto">
            <a:xfrm>
              <a:off x="5084082" y="5239270"/>
              <a:ext cx="362606" cy="86842"/>
              <a:chOff x="5108028" y="9222563"/>
              <a:chExt cx="835572" cy="173686"/>
            </a:xfrm>
          </p:grpSpPr>
          <p:sp>
            <p:nvSpPr>
              <p:cNvPr id="104" name="Freeform 103"/>
              <p:cNvSpPr/>
              <p:nvPr/>
            </p:nvSpPr>
            <p:spPr>
              <a:xfrm>
                <a:off x="5105696" y="9220847"/>
                <a:ext cx="839778" cy="173333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Freeform 104"/>
              <p:cNvSpPr/>
              <p:nvPr/>
            </p:nvSpPr>
            <p:spPr>
              <a:xfrm>
                <a:off x="5469257" y="9269735"/>
                <a:ext cx="256030" cy="124445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00" name="Group 105"/>
            <p:cNvGrpSpPr>
              <a:grpSpLocks/>
            </p:cNvGrpSpPr>
            <p:nvPr/>
          </p:nvGrpSpPr>
          <p:grpSpPr bwMode="auto">
            <a:xfrm>
              <a:off x="5019384" y="5553392"/>
              <a:ext cx="362606" cy="86842"/>
              <a:chOff x="5108028" y="9222563"/>
              <a:chExt cx="835572" cy="173686"/>
            </a:xfrm>
          </p:grpSpPr>
          <p:sp>
            <p:nvSpPr>
              <p:cNvPr id="107" name="Freeform 106"/>
              <p:cNvSpPr/>
              <p:nvPr/>
            </p:nvSpPr>
            <p:spPr>
              <a:xfrm>
                <a:off x="5106283" y="9223708"/>
                <a:ext cx="839778" cy="173333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08" name="Freeform 107"/>
              <p:cNvSpPr/>
              <p:nvPr/>
            </p:nvSpPr>
            <p:spPr>
              <a:xfrm>
                <a:off x="5469847" y="9272596"/>
                <a:ext cx="256030" cy="124445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01" name="Group 108"/>
            <p:cNvGrpSpPr>
              <a:grpSpLocks/>
            </p:cNvGrpSpPr>
            <p:nvPr/>
          </p:nvGrpSpPr>
          <p:grpSpPr bwMode="auto">
            <a:xfrm>
              <a:off x="5434005" y="5804866"/>
              <a:ext cx="362606" cy="86842"/>
              <a:chOff x="5108028" y="9222563"/>
              <a:chExt cx="835572" cy="173686"/>
            </a:xfrm>
          </p:grpSpPr>
          <p:sp>
            <p:nvSpPr>
              <p:cNvPr id="110" name="Freeform 109"/>
              <p:cNvSpPr/>
              <p:nvPr/>
            </p:nvSpPr>
            <p:spPr>
              <a:xfrm>
                <a:off x="5108405" y="9222980"/>
                <a:ext cx="834656" cy="173336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11" name="Freeform 110"/>
              <p:cNvSpPr/>
              <p:nvPr/>
            </p:nvSpPr>
            <p:spPr>
              <a:xfrm>
                <a:off x="5471966" y="9271871"/>
                <a:ext cx="250911" cy="124445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02" name="Group 111"/>
            <p:cNvGrpSpPr>
              <a:grpSpLocks/>
            </p:cNvGrpSpPr>
            <p:nvPr/>
          </p:nvGrpSpPr>
          <p:grpSpPr bwMode="auto">
            <a:xfrm>
              <a:off x="4926725" y="5976708"/>
              <a:ext cx="362606" cy="86842"/>
              <a:chOff x="5108028" y="9222563"/>
              <a:chExt cx="835572" cy="173686"/>
            </a:xfrm>
          </p:grpSpPr>
          <p:sp>
            <p:nvSpPr>
              <p:cNvPr id="113" name="Freeform 112"/>
              <p:cNvSpPr/>
              <p:nvPr/>
            </p:nvSpPr>
            <p:spPr>
              <a:xfrm>
                <a:off x="5109860" y="9221516"/>
                <a:ext cx="834656" cy="173333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14" name="Freeform 113"/>
              <p:cNvSpPr/>
              <p:nvPr/>
            </p:nvSpPr>
            <p:spPr>
              <a:xfrm>
                <a:off x="5473421" y="9270404"/>
                <a:ext cx="250911" cy="124445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03" name="Group 114"/>
            <p:cNvGrpSpPr>
              <a:grpSpLocks/>
            </p:cNvGrpSpPr>
            <p:nvPr/>
          </p:nvGrpSpPr>
          <p:grpSpPr bwMode="auto">
            <a:xfrm>
              <a:off x="5475393" y="6276418"/>
              <a:ext cx="362606" cy="86842"/>
              <a:chOff x="5108028" y="9222563"/>
              <a:chExt cx="835572" cy="173686"/>
            </a:xfrm>
          </p:grpSpPr>
          <p:sp>
            <p:nvSpPr>
              <p:cNvPr id="116" name="Freeform 115"/>
              <p:cNvSpPr/>
              <p:nvPr/>
            </p:nvSpPr>
            <p:spPr>
              <a:xfrm>
                <a:off x="5110321" y="9222093"/>
                <a:ext cx="834659" cy="173336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17" name="Freeform 116"/>
              <p:cNvSpPr/>
              <p:nvPr/>
            </p:nvSpPr>
            <p:spPr>
              <a:xfrm>
                <a:off x="5473885" y="9270983"/>
                <a:ext cx="250908" cy="124445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04" name="Group 117"/>
            <p:cNvGrpSpPr>
              <a:grpSpLocks/>
            </p:cNvGrpSpPr>
            <p:nvPr/>
          </p:nvGrpSpPr>
          <p:grpSpPr bwMode="auto">
            <a:xfrm>
              <a:off x="4933566" y="6402065"/>
              <a:ext cx="362606" cy="86842"/>
              <a:chOff x="5108028" y="9222563"/>
              <a:chExt cx="835572" cy="173686"/>
            </a:xfrm>
          </p:grpSpPr>
          <p:sp>
            <p:nvSpPr>
              <p:cNvPr id="119" name="Freeform 118"/>
              <p:cNvSpPr/>
              <p:nvPr/>
            </p:nvSpPr>
            <p:spPr>
              <a:xfrm>
                <a:off x="5109457" y="9224131"/>
                <a:ext cx="834659" cy="173333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20" name="Freeform 119"/>
              <p:cNvSpPr/>
              <p:nvPr/>
            </p:nvSpPr>
            <p:spPr>
              <a:xfrm>
                <a:off x="5473021" y="9273019"/>
                <a:ext cx="250908" cy="124445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05" name="Group 120"/>
            <p:cNvGrpSpPr>
              <a:grpSpLocks/>
            </p:cNvGrpSpPr>
            <p:nvPr/>
          </p:nvGrpSpPr>
          <p:grpSpPr bwMode="auto">
            <a:xfrm>
              <a:off x="4838081" y="5044822"/>
              <a:ext cx="362606" cy="86842"/>
              <a:chOff x="5108028" y="9222563"/>
              <a:chExt cx="835572" cy="173686"/>
            </a:xfrm>
          </p:grpSpPr>
          <p:sp>
            <p:nvSpPr>
              <p:cNvPr id="122" name="Freeform 121"/>
              <p:cNvSpPr/>
              <p:nvPr/>
            </p:nvSpPr>
            <p:spPr>
              <a:xfrm>
                <a:off x="5109302" y="9223075"/>
                <a:ext cx="834656" cy="173336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23" name="Freeform 122"/>
              <p:cNvSpPr/>
              <p:nvPr/>
            </p:nvSpPr>
            <p:spPr>
              <a:xfrm>
                <a:off x="5472863" y="9271966"/>
                <a:ext cx="250911" cy="124445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06" name="Group 123"/>
            <p:cNvGrpSpPr>
              <a:grpSpLocks/>
            </p:cNvGrpSpPr>
            <p:nvPr/>
          </p:nvGrpSpPr>
          <p:grpSpPr bwMode="auto">
            <a:xfrm>
              <a:off x="8417025" y="5848979"/>
              <a:ext cx="362606" cy="86842"/>
              <a:chOff x="5108028" y="9222563"/>
              <a:chExt cx="835572" cy="173686"/>
            </a:xfrm>
          </p:grpSpPr>
          <p:sp>
            <p:nvSpPr>
              <p:cNvPr id="125" name="Freeform 124"/>
              <p:cNvSpPr/>
              <p:nvPr/>
            </p:nvSpPr>
            <p:spPr>
              <a:xfrm>
                <a:off x="5106318" y="9223641"/>
                <a:ext cx="839778" cy="173336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26" name="Freeform 125"/>
              <p:cNvSpPr/>
              <p:nvPr/>
            </p:nvSpPr>
            <p:spPr>
              <a:xfrm>
                <a:off x="5469879" y="9272532"/>
                <a:ext cx="256030" cy="124445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07" name="Group 126"/>
            <p:cNvGrpSpPr>
              <a:grpSpLocks/>
            </p:cNvGrpSpPr>
            <p:nvPr/>
          </p:nvGrpSpPr>
          <p:grpSpPr bwMode="auto">
            <a:xfrm>
              <a:off x="8502545" y="6432331"/>
              <a:ext cx="362606" cy="86842"/>
              <a:chOff x="5108028" y="9222563"/>
              <a:chExt cx="835572" cy="173686"/>
            </a:xfrm>
          </p:grpSpPr>
          <p:sp>
            <p:nvSpPr>
              <p:cNvPr id="128" name="Freeform 127"/>
              <p:cNvSpPr/>
              <p:nvPr/>
            </p:nvSpPr>
            <p:spPr>
              <a:xfrm>
                <a:off x="5108954" y="9221376"/>
                <a:ext cx="834659" cy="173336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29" name="Freeform 128"/>
              <p:cNvSpPr/>
              <p:nvPr/>
            </p:nvSpPr>
            <p:spPr>
              <a:xfrm>
                <a:off x="5472518" y="9270267"/>
                <a:ext cx="250908" cy="124445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08" name="Group 129"/>
            <p:cNvGrpSpPr>
              <a:grpSpLocks/>
            </p:cNvGrpSpPr>
            <p:nvPr/>
          </p:nvGrpSpPr>
          <p:grpSpPr bwMode="auto">
            <a:xfrm>
              <a:off x="8629115" y="6213357"/>
              <a:ext cx="362606" cy="86842"/>
              <a:chOff x="5108028" y="9222563"/>
              <a:chExt cx="835572" cy="173686"/>
            </a:xfrm>
          </p:grpSpPr>
          <p:sp>
            <p:nvSpPr>
              <p:cNvPr id="131" name="Freeform 130"/>
              <p:cNvSpPr/>
              <p:nvPr/>
            </p:nvSpPr>
            <p:spPr>
              <a:xfrm>
                <a:off x="5109167" y="9223770"/>
                <a:ext cx="834656" cy="173336"/>
              </a:xfrm>
              <a:custGeom>
                <a:avLst/>
                <a:gdLst>
                  <a:gd name="connsiteX0" fmla="*/ 0 w 835572"/>
                  <a:gd name="connsiteY0" fmla="*/ 173685 h 173685"/>
                  <a:gd name="connsiteX1" fmla="*/ 520262 w 835572"/>
                  <a:gd name="connsiteY1" fmla="*/ 265 h 173685"/>
                  <a:gd name="connsiteX2" fmla="*/ 835572 w 835572"/>
                  <a:gd name="connsiteY2" fmla="*/ 142154 h 17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5572" h="173685">
                    <a:moveTo>
                      <a:pt x="0" y="173685"/>
                    </a:moveTo>
                    <a:cubicBezTo>
                      <a:pt x="190500" y="89602"/>
                      <a:pt x="381000" y="5520"/>
                      <a:pt x="520262" y="265"/>
                    </a:cubicBezTo>
                    <a:cubicBezTo>
                      <a:pt x="659524" y="-4990"/>
                      <a:pt x="747548" y="68582"/>
                      <a:pt x="835572" y="142154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32" name="Freeform 131"/>
              <p:cNvSpPr/>
              <p:nvPr/>
            </p:nvSpPr>
            <p:spPr>
              <a:xfrm>
                <a:off x="5472728" y="9272660"/>
                <a:ext cx="250911" cy="124445"/>
              </a:xfrm>
              <a:custGeom>
                <a:avLst/>
                <a:gdLst>
                  <a:gd name="connsiteX0" fmla="*/ 0 w 315311"/>
                  <a:gd name="connsiteY0" fmla="*/ 0 h 157655"/>
                  <a:gd name="connsiteX1" fmla="*/ 315311 w 315311"/>
                  <a:gd name="connsiteY1" fmla="*/ 157655 h 157655"/>
                  <a:gd name="connsiteX0" fmla="*/ 0 w 252249"/>
                  <a:gd name="connsiteY0" fmla="*/ 0 h 126124"/>
                  <a:gd name="connsiteX1" fmla="*/ 252249 w 252249"/>
                  <a:gd name="connsiteY1" fmla="*/ 126124 h 1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249" h="126124">
                    <a:moveTo>
                      <a:pt x="0" y="0"/>
                    </a:moveTo>
                    <a:lnTo>
                      <a:pt x="252249" y="126124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33" name="Freeform 132"/>
            <p:cNvSpPr/>
            <p:nvPr/>
          </p:nvSpPr>
          <p:spPr>
            <a:xfrm>
              <a:off x="9538465" y="6100629"/>
              <a:ext cx="1308843" cy="253332"/>
            </a:xfrm>
            <a:custGeom>
              <a:avLst/>
              <a:gdLst>
                <a:gd name="connsiteX0" fmla="*/ 0 w 1308538"/>
                <a:gd name="connsiteY0" fmla="*/ 0 h 252248"/>
                <a:gd name="connsiteX1" fmla="*/ 1308538 w 1308538"/>
                <a:gd name="connsiteY1" fmla="*/ 252248 h 25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8538" h="252248">
                  <a:moveTo>
                    <a:pt x="0" y="0"/>
                  </a:moveTo>
                  <a:lnTo>
                    <a:pt x="1308538" y="252248"/>
                  </a:ln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grpSp>
          <p:nvGrpSpPr>
            <p:cNvPr id="55410" name="Group 136"/>
            <p:cNvGrpSpPr>
              <a:grpSpLocks/>
            </p:cNvGrpSpPr>
            <p:nvPr/>
          </p:nvGrpSpPr>
          <p:grpSpPr bwMode="auto">
            <a:xfrm>
              <a:off x="6243145" y="6415636"/>
              <a:ext cx="504497" cy="110459"/>
              <a:chOff x="6243145" y="9254258"/>
              <a:chExt cx="945931" cy="126345"/>
            </a:xfrm>
          </p:grpSpPr>
          <p:sp>
            <p:nvSpPr>
              <p:cNvPr id="138" name="Freeform 137"/>
              <p:cNvSpPr/>
              <p:nvPr/>
            </p:nvSpPr>
            <p:spPr>
              <a:xfrm>
                <a:off x="6242927" y="9254882"/>
                <a:ext cx="945797" cy="109296"/>
              </a:xfrm>
              <a:custGeom>
                <a:avLst/>
                <a:gdLst>
                  <a:gd name="connsiteX0" fmla="*/ 0 w 945931"/>
                  <a:gd name="connsiteY0" fmla="*/ 94694 h 110459"/>
                  <a:gd name="connsiteX1" fmla="*/ 441434 w 945931"/>
                  <a:gd name="connsiteY1" fmla="*/ 101 h 110459"/>
                  <a:gd name="connsiteX2" fmla="*/ 945931 w 945931"/>
                  <a:gd name="connsiteY2" fmla="*/ 110459 h 110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45931" h="110459">
                    <a:moveTo>
                      <a:pt x="0" y="94694"/>
                    </a:moveTo>
                    <a:cubicBezTo>
                      <a:pt x="141889" y="46084"/>
                      <a:pt x="283779" y="-2526"/>
                      <a:pt x="441434" y="101"/>
                    </a:cubicBezTo>
                    <a:cubicBezTo>
                      <a:pt x="599089" y="2728"/>
                      <a:pt x="772510" y="56593"/>
                      <a:pt x="945931" y="110459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39" name="Freeform 138"/>
              <p:cNvSpPr/>
              <p:nvPr/>
            </p:nvSpPr>
            <p:spPr>
              <a:xfrm>
                <a:off x="6430419" y="9285384"/>
                <a:ext cx="504149" cy="94045"/>
              </a:xfrm>
              <a:custGeom>
                <a:avLst/>
                <a:gdLst>
                  <a:gd name="connsiteX0" fmla="*/ 0 w 504497"/>
                  <a:gd name="connsiteY0" fmla="*/ 0 h 94713"/>
                  <a:gd name="connsiteX1" fmla="*/ 236483 w 504497"/>
                  <a:gd name="connsiteY1" fmla="*/ 94593 h 94713"/>
                  <a:gd name="connsiteX2" fmla="*/ 504497 w 504497"/>
                  <a:gd name="connsiteY2" fmla="*/ 15765 h 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497" h="94713">
                    <a:moveTo>
                      <a:pt x="0" y="0"/>
                    </a:moveTo>
                    <a:cubicBezTo>
                      <a:pt x="76200" y="45983"/>
                      <a:pt x="152400" y="91966"/>
                      <a:pt x="236483" y="94593"/>
                    </a:cubicBezTo>
                    <a:cubicBezTo>
                      <a:pt x="320566" y="97220"/>
                      <a:pt x="412531" y="56492"/>
                      <a:pt x="504497" y="15765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11" name="Group 139"/>
            <p:cNvGrpSpPr>
              <a:grpSpLocks/>
            </p:cNvGrpSpPr>
            <p:nvPr/>
          </p:nvGrpSpPr>
          <p:grpSpPr bwMode="auto">
            <a:xfrm>
              <a:off x="6495393" y="5471166"/>
              <a:ext cx="504497" cy="110459"/>
              <a:chOff x="6243145" y="9254258"/>
              <a:chExt cx="945931" cy="126345"/>
            </a:xfrm>
          </p:grpSpPr>
          <p:sp>
            <p:nvSpPr>
              <p:cNvPr id="141" name="Freeform 140"/>
              <p:cNvSpPr/>
              <p:nvPr/>
            </p:nvSpPr>
            <p:spPr>
              <a:xfrm>
                <a:off x="6244943" y="9254918"/>
                <a:ext cx="945797" cy="109298"/>
              </a:xfrm>
              <a:custGeom>
                <a:avLst/>
                <a:gdLst>
                  <a:gd name="connsiteX0" fmla="*/ 0 w 945931"/>
                  <a:gd name="connsiteY0" fmla="*/ 94694 h 110459"/>
                  <a:gd name="connsiteX1" fmla="*/ 441434 w 945931"/>
                  <a:gd name="connsiteY1" fmla="*/ 101 h 110459"/>
                  <a:gd name="connsiteX2" fmla="*/ 945931 w 945931"/>
                  <a:gd name="connsiteY2" fmla="*/ 110459 h 110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45931" h="110459">
                    <a:moveTo>
                      <a:pt x="0" y="94694"/>
                    </a:moveTo>
                    <a:cubicBezTo>
                      <a:pt x="141889" y="46084"/>
                      <a:pt x="283779" y="-2526"/>
                      <a:pt x="441434" y="101"/>
                    </a:cubicBezTo>
                    <a:cubicBezTo>
                      <a:pt x="599089" y="2728"/>
                      <a:pt x="772510" y="56593"/>
                      <a:pt x="945931" y="110459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42" name="Freeform 141"/>
              <p:cNvSpPr/>
              <p:nvPr/>
            </p:nvSpPr>
            <p:spPr>
              <a:xfrm>
                <a:off x="6432435" y="9285419"/>
                <a:ext cx="504149" cy="94047"/>
              </a:xfrm>
              <a:custGeom>
                <a:avLst/>
                <a:gdLst>
                  <a:gd name="connsiteX0" fmla="*/ 0 w 504497"/>
                  <a:gd name="connsiteY0" fmla="*/ 0 h 94713"/>
                  <a:gd name="connsiteX1" fmla="*/ 236483 w 504497"/>
                  <a:gd name="connsiteY1" fmla="*/ 94593 h 94713"/>
                  <a:gd name="connsiteX2" fmla="*/ 504497 w 504497"/>
                  <a:gd name="connsiteY2" fmla="*/ 15765 h 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497" h="94713">
                    <a:moveTo>
                      <a:pt x="0" y="0"/>
                    </a:moveTo>
                    <a:cubicBezTo>
                      <a:pt x="76200" y="45983"/>
                      <a:pt x="152400" y="91966"/>
                      <a:pt x="236483" y="94593"/>
                    </a:cubicBezTo>
                    <a:cubicBezTo>
                      <a:pt x="320566" y="97220"/>
                      <a:pt x="412531" y="56492"/>
                      <a:pt x="504497" y="15765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12" name="Group 142"/>
            <p:cNvGrpSpPr>
              <a:grpSpLocks/>
            </p:cNvGrpSpPr>
            <p:nvPr/>
          </p:nvGrpSpPr>
          <p:grpSpPr bwMode="auto">
            <a:xfrm>
              <a:off x="7339857" y="5628189"/>
              <a:ext cx="504497" cy="110459"/>
              <a:chOff x="6243145" y="9254258"/>
              <a:chExt cx="945931" cy="126345"/>
            </a:xfrm>
          </p:grpSpPr>
          <p:sp>
            <p:nvSpPr>
              <p:cNvPr id="144" name="Freeform 143"/>
              <p:cNvSpPr/>
              <p:nvPr/>
            </p:nvSpPr>
            <p:spPr>
              <a:xfrm>
                <a:off x="6244851" y="9253238"/>
                <a:ext cx="945797" cy="111839"/>
              </a:xfrm>
              <a:custGeom>
                <a:avLst/>
                <a:gdLst>
                  <a:gd name="connsiteX0" fmla="*/ 0 w 945931"/>
                  <a:gd name="connsiteY0" fmla="*/ 94694 h 110459"/>
                  <a:gd name="connsiteX1" fmla="*/ 441434 w 945931"/>
                  <a:gd name="connsiteY1" fmla="*/ 101 h 110459"/>
                  <a:gd name="connsiteX2" fmla="*/ 945931 w 945931"/>
                  <a:gd name="connsiteY2" fmla="*/ 110459 h 110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45931" h="110459">
                    <a:moveTo>
                      <a:pt x="0" y="94694"/>
                    </a:moveTo>
                    <a:cubicBezTo>
                      <a:pt x="141889" y="46084"/>
                      <a:pt x="283779" y="-2526"/>
                      <a:pt x="441434" y="101"/>
                    </a:cubicBezTo>
                    <a:cubicBezTo>
                      <a:pt x="599089" y="2728"/>
                      <a:pt x="772510" y="56593"/>
                      <a:pt x="945931" y="110459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45" name="Freeform 144"/>
              <p:cNvSpPr/>
              <p:nvPr/>
            </p:nvSpPr>
            <p:spPr>
              <a:xfrm>
                <a:off x="6432343" y="9286282"/>
                <a:ext cx="504149" cy="94045"/>
              </a:xfrm>
              <a:custGeom>
                <a:avLst/>
                <a:gdLst>
                  <a:gd name="connsiteX0" fmla="*/ 0 w 504497"/>
                  <a:gd name="connsiteY0" fmla="*/ 0 h 94713"/>
                  <a:gd name="connsiteX1" fmla="*/ 236483 w 504497"/>
                  <a:gd name="connsiteY1" fmla="*/ 94593 h 94713"/>
                  <a:gd name="connsiteX2" fmla="*/ 504497 w 504497"/>
                  <a:gd name="connsiteY2" fmla="*/ 15765 h 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497" h="94713">
                    <a:moveTo>
                      <a:pt x="0" y="0"/>
                    </a:moveTo>
                    <a:cubicBezTo>
                      <a:pt x="76200" y="45983"/>
                      <a:pt x="152400" y="91966"/>
                      <a:pt x="236483" y="94593"/>
                    </a:cubicBezTo>
                    <a:cubicBezTo>
                      <a:pt x="320566" y="97220"/>
                      <a:pt x="412531" y="56492"/>
                      <a:pt x="504497" y="15765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13" name="Group 145"/>
            <p:cNvGrpSpPr>
              <a:grpSpLocks/>
            </p:cNvGrpSpPr>
            <p:nvPr/>
          </p:nvGrpSpPr>
          <p:grpSpPr bwMode="auto">
            <a:xfrm>
              <a:off x="6455979" y="5834790"/>
              <a:ext cx="504497" cy="110459"/>
              <a:chOff x="6243145" y="9254258"/>
              <a:chExt cx="945931" cy="126345"/>
            </a:xfrm>
          </p:grpSpPr>
          <p:sp>
            <p:nvSpPr>
              <p:cNvPr id="147" name="Freeform 146"/>
              <p:cNvSpPr/>
              <p:nvPr/>
            </p:nvSpPr>
            <p:spPr>
              <a:xfrm>
                <a:off x="6243848" y="9253312"/>
                <a:ext cx="945797" cy="111839"/>
              </a:xfrm>
              <a:custGeom>
                <a:avLst/>
                <a:gdLst>
                  <a:gd name="connsiteX0" fmla="*/ 0 w 945931"/>
                  <a:gd name="connsiteY0" fmla="*/ 94694 h 110459"/>
                  <a:gd name="connsiteX1" fmla="*/ 441434 w 945931"/>
                  <a:gd name="connsiteY1" fmla="*/ 101 h 110459"/>
                  <a:gd name="connsiteX2" fmla="*/ 945931 w 945931"/>
                  <a:gd name="connsiteY2" fmla="*/ 110459 h 110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45931" h="110459">
                    <a:moveTo>
                      <a:pt x="0" y="94694"/>
                    </a:moveTo>
                    <a:cubicBezTo>
                      <a:pt x="141889" y="46084"/>
                      <a:pt x="283779" y="-2526"/>
                      <a:pt x="441434" y="101"/>
                    </a:cubicBezTo>
                    <a:cubicBezTo>
                      <a:pt x="599089" y="2728"/>
                      <a:pt x="772510" y="56593"/>
                      <a:pt x="945931" y="110459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48" name="Freeform 147"/>
              <p:cNvSpPr/>
              <p:nvPr/>
            </p:nvSpPr>
            <p:spPr>
              <a:xfrm>
                <a:off x="6431340" y="9286354"/>
                <a:ext cx="504149" cy="94047"/>
              </a:xfrm>
              <a:custGeom>
                <a:avLst/>
                <a:gdLst>
                  <a:gd name="connsiteX0" fmla="*/ 0 w 504497"/>
                  <a:gd name="connsiteY0" fmla="*/ 0 h 94713"/>
                  <a:gd name="connsiteX1" fmla="*/ 236483 w 504497"/>
                  <a:gd name="connsiteY1" fmla="*/ 94593 h 94713"/>
                  <a:gd name="connsiteX2" fmla="*/ 504497 w 504497"/>
                  <a:gd name="connsiteY2" fmla="*/ 15765 h 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497" h="94713">
                    <a:moveTo>
                      <a:pt x="0" y="0"/>
                    </a:moveTo>
                    <a:cubicBezTo>
                      <a:pt x="76200" y="45983"/>
                      <a:pt x="152400" y="91966"/>
                      <a:pt x="236483" y="94593"/>
                    </a:cubicBezTo>
                    <a:cubicBezTo>
                      <a:pt x="320566" y="97220"/>
                      <a:pt x="412531" y="56492"/>
                      <a:pt x="504497" y="15765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414" name="Group 148"/>
            <p:cNvGrpSpPr>
              <a:grpSpLocks/>
            </p:cNvGrpSpPr>
            <p:nvPr/>
          </p:nvGrpSpPr>
          <p:grpSpPr bwMode="auto">
            <a:xfrm>
              <a:off x="6651470" y="6196344"/>
              <a:ext cx="504497" cy="110459"/>
              <a:chOff x="6243145" y="9254258"/>
              <a:chExt cx="945931" cy="126345"/>
            </a:xfrm>
          </p:grpSpPr>
          <p:sp>
            <p:nvSpPr>
              <p:cNvPr id="150" name="Freeform 149"/>
              <p:cNvSpPr/>
              <p:nvPr/>
            </p:nvSpPr>
            <p:spPr>
              <a:xfrm>
                <a:off x="6243956" y="9254074"/>
                <a:ext cx="945797" cy="111839"/>
              </a:xfrm>
              <a:custGeom>
                <a:avLst/>
                <a:gdLst>
                  <a:gd name="connsiteX0" fmla="*/ 0 w 945931"/>
                  <a:gd name="connsiteY0" fmla="*/ 94694 h 110459"/>
                  <a:gd name="connsiteX1" fmla="*/ 441434 w 945931"/>
                  <a:gd name="connsiteY1" fmla="*/ 101 h 110459"/>
                  <a:gd name="connsiteX2" fmla="*/ 945931 w 945931"/>
                  <a:gd name="connsiteY2" fmla="*/ 110459 h 110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45931" h="110459">
                    <a:moveTo>
                      <a:pt x="0" y="94694"/>
                    </a:moveTo>
                    <a:cubicBezTo>
                      <a:pt x="141889" y="46084"/>
                      <a:pt x="283779" y="-2526"/>
                      <a:pt x="441434" y="101"/>
                    </a:cubicBezTo>
                    <a:cubicBezTo>
                      <a:pt x="599089" y="2728"/>
                      <a:pt x="772510" y="56593"/>
                      <a:pt x="945931" y="110459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51" name="Freeform 150"/>
              <p:cNvSpPr/>
              <p:nvPr/>
            </p:nvSpPr>
            <p:spPr>
              <a:xfrm>
                <a:off x="6431448" y="9287118"/>
                <a:ext cx="504149" cy="94045"/>
              </a:xfrm>
              <a:custGeom>
                <a:avLst/>
                <a:gdLst>
                  <a:gd name="connsiteX0" fmla="*/ 0 w 504497"/>
                  <a:gd name="connsiteY0" fmla="*/ 0 h 94713"/>
                  <a:gd name="connsiteX1" fmla="*/ 236483 w 504497"/>
                  <a:gd name="connsiteY1" fmla="*/ 94593 h 94713"/>
                  <a:gd name="connsiteX2" fmla="*/ 504497 w 504497"/>
                  <a:gd name="connsiteY2" fmla="*/ 15765 h 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4497" h="94713">
                    <a:moveTo>
                      <a:pt x="0" y="0"/>
                    </a:moveTo>
                    <a:cubicBezTo>
                      <a:pt x="76200" y="45983"/>
                      <a:pt x="152400" y="91966"/>
                      <a:pt x="236483" y="94593"/>
                    </a:cubicBezTo>
                    <a:cubicBezTo>
                      <a:pt x="320566" y="97220"/>
                      <a:pt x="412531" y="56492"/>
                      <a:pt x="504497" y="15765"/>
                    </a:cubicBezTo>
                  </a:path>
                </a:pathLst>
              </a:cu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07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8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3" name="Freeform 152"/>
            <p:cNvSpPr/>
            <p:nvPr/>
          </p:nvSpPr>
          <p:spPr>
            <a:xfrm>
              <a:off x="7138551" y="6542848"/>
              <a:ext cx="259991" cy="111110"/>
            </a:xfrm>
            <a:custGeom>
              <a:avLst/>
              <a:gdLst>
                <a:gd name="connsiteX0" fmla="*/ 0 w 520262"/>
                <a:gd name="connsiteY0" fmla="*/ 94593 h 110359"/>
                <a:gd name="connsiteX1" fmla="*/ 252248 w 520262"/>
                <a:gd name="connsiteY1" fmla="*/ 0 h 110359"/>
                <a:gd name="connsiteX2" fmla="*/ 520262 w 520262"/>
                <a:gd name="connsiteY2" fmla="*/ 110359 h 11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0262" h="110359">
                  <a:moveTo>
                    <a:pt x="0" y="94593"/>
                  </a:moveTo>
                  <a:lnTo>
                    <a:pt x="252248" y="0"/>
                  </a:lnTo>
                  <a:lnTo>
                    <a:pt x="520262" y="11035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7714087" y="6338404"/>
              <a:ext cx="259990" cy="108889"/>
            </a:xfrm>
            <a:custGeom>
              <a:avLst/>
              <a:gdLst>
                <a:gd name="connsiteX0" fmla="*/ 0 w 520262"/>
                <a:gd name="connsiteY0" fmla="*/ 94593 h 110359"/>
                <a:gd name="connsiteX1" fmla="*/ 252248 w 520262"/>
                <a:gd name="connsiteY1" fmla="*/ 0 h 110359"/>
                <a:gd name="connsiteX2" fmla="*/ 520262 w 520262"/>
                <a:gd name="connsiteY2" fmla="*/ 110359 h 11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0262" h="110359">
                  <a:moveTo>
                    <a:pt x="0" y="94593"/>
                  </a:moveTo>
                  <a:lnTo>
                    <a:pt x="252248" y="0"/>
                  </a:lnTo>
                  <a:lnTo>
                    <a:pt x="520262" y="11035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8000742" y="5782852"/>
              <a:ext cx="259991" cy="111110"/>
            </a:xfrm>
            <a:custGeom>
              <a:avLst/>
              <a:gdLst>
                <a:gd name="connsiteX0" fmla="*/ 0 w 520262"/>
                <a:gd name="connsiteY0" fmla="*/ 94593 h 110359"/>
                <a:gd name="connsiteX1" fmla="*/ 252248 w 520262"/>
                <a:gd name="connsiteY1" fmla="*/ 0 h 110359"/>
                <a:gd name="connsiteX2" fmla="*/ 520262 w 520262"/>
                <a:gd name="connsiteY2" fmla="*/ 110359 h 11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0262" h="110359">
                  <a:moveTo>
                    <a:pt x="0" y="94593"/>
                  </a:moveTo>
                  <a:lnTo>
                    <a:pt x="252248" y="0"/>
                  </a:lnTo>
                  <a:lnTo>
                    <a:pt x="520262" y="110359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472123" y="3989529"/>
              <a:ext cx="773306" cy="424441"/>
            </a:xfrm>
            <a:custGeom>
              <a:avLst/>
              <a:gdLst>
                <a:gd name="connsiteX0" fmla="*/ 0 w 772510"/>
                <a:gd name="connsiteY0" fmla="*/ 0 h 426174"/>
                <a:gd name="connsiteX1" fmla="*/ 141889 w 772510"/>
                <a:gd name="connsiteY1" fmla="*/ 220717 h 426174"/>
                <a:gd name="connsiteX2" fmla="*/ 457200 w 772510"/>
                <a:gd name="connsiteY2" fmla="*/ 394138 h 426174"/>
                <a:gd name="connsiteX3" fmla="*/ 772510 w 772510"/>
                <a:gd name="connsiteY3" fmla="*/ 425669 h 42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2510" h="426174">
                  <a:moveTo>
                    <a:pt x="0" y="0"/>
                  </a:moveTo>
                  <a:cubicBezTo>
                    <a:pt x="32844" y="77513"/>
                    <a:pt x="65689" y="155027"/>
                    <a:pt x="141889" y="220717"/>
                  </a:cubicBezTo>
                  <a:cubicBezTo>
                    <a:pt x="218089" y="286407"/>
                    <a:pt x="352097" y="359979"/>
                    <a:pt x="457200" y="394138"/>
                  </a:cubicBezTo>
                  <a:cubicBezTo>
                    <a:pt x="562304" y="428297"/>
                    <a:pt x="667407" y="426983"/>
                    <a:pt x="772510" y="425669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487679" y="4887302"/>
              <a:ext cx="757750" cy="346665"/>
            </a:xfrm>
            <a:custGeom>
              <a:avLst/>
              <a:gdLst>
                <a:gd name="connsiteX0" fmla="*/ 0 w 756745"/>
                <a:gd name="connsiteY0" fmla="*/ 346842 h 346842"/>
                <a:gd name="connsiteX1" fmla="*/ 394138 w 756745"/>
                <a:gd name="connsiteY1" fmla="*/ 252249 h 346842"/>
                <a:gd name="connsiteX2" fmla="*/ 756745 w 756745"/>
                <a:gd name="connsiteY2" fmla="*/ 0 h 346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6745" h="346842">
                  <a:moveTo>
                    <a:pt x="0" y="346842"/>
                  </a:moveTo>
                  <a:cubicBezTo>
                    <a:pt x="134007" y="328449"/>
                    <a:pt x="268014" y="310056"/>
                    <a:pt x="394138" y="252249"/>
                  </a:cubicBezTo>
                  <a:cubicBezTo>
                    <a:pt x="520262" y="194442"/>
                    <a:pt x="638503" y="97221"/>
                    <a:pt x="756745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629896" y="5280633"/>
              <a:ext cx="584423" cy="315554"/>
            </a:xfrm>
            <a:custGeom>
              <a:avLst/>
              <a:gdLst>
                <a:gd name="connsiteX0" fmla="*/ 0 w 583324"/>
                <a:gd name="connsiteY0" fmla="*/ 0 h 315311"/>
                <a:gd name="connsiteX1" fmla="*/ 189186 w 583324"/>
                <a:gd name="connsiteY1" fmla="*/ 173421 h 315311"/>
                <a:gd name="connsiteX2" fmla="*/ 583324 w 583324"/>
                <a:gd name="connsiteY2" fmla="*/ 315311 h 31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3324" h="315311">
                  <a:moveTo>
                    <a:pt x="0" y="0"/>
                  </a:moveTo>
                  <a:cubicBezTo>
                    <a:pt x="45982" y="60434"/>
                    <a:pt x="91965" y="120869"/>
                    <a:pt x="189186" y="173421"/>
                  </a:cubicBezTo>
                  <a:cubicBezTo>
                    <a:pt x="286407" y="225973"/>
                    <a:pt x="434865" y="270642"/>
                    <a:pt x="583324" y="31531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60" name="Freeform 159"/>
            <p:cNvSpPr/>
            <p:nvPr/>
          </p:nvSpPr>
          <p:spPr>
            <a:xfrm>
              <a:off x="472123" y="5753964"/>
              <a:ext cx="757751" cy="299998"/>
            </a:xfrm>
            <a:custGeom>
              <a:avLst/>
              <a:gdLst>
                <a:gd name="connsiteX0" fmla="*/ 0 w 756744"/>
                <a:gd name="connsiteY0" fmla="*/ 299545 h 299545"/>
                <a:gd name="connsiteX1" fmla="*/ 425668 w 756744"/>
                <a:gd name="connsiteY1" fmla="*/ 204952 h 299545"/>
                <a:gd name="connsiteX2" fmla="*/ 756744 w 756744"/>
                <a:gd name="connsiteY2" fmla="*/ 0 h 299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6744" h="299545">
                  <a:moveTo>
                    <a:pt x="0" y="299545"/>
                  </a:moveTo>
                  <a:cubicBezTo>
                    <a:pt x="149772" y="277210"/>
                    <a:pt x="299544" y="254876"/>
                    <a:pt x="425668" y="204952"/>
                  </a:cubicBezTo>
                  <a:cubicBezTo>
                    <a:pt x="551792" y="155028"/>
                    <a:pt x="654268" y="77514"/>
                    <a:pt x="756744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694337" y="6053961"/>
              <a:ext cx="488871" cy="377776"/>
            </a:xfrm>
            <a:custGeom>
              <a:avLst/>
              <a:gdLst>
                <a:gd name="connsiteX0" fmla="*/ 0 w 488731"/>
                <a:gd name="connsiteY0" fmla="*/ 0 h 378372"/>
                <a:gd name="connsiteX1" fmla="*/ 157655 w 488731"/>
                <a:gd name="connsiteY1" fmla="*/ 236482 h 378372"/>
                <a:gd name="connsiteX2" fmla="*/ 488731 w 488731"/>
                <a:gd name="connsiteY2" fmla="*/ 378372 h 378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731" h="378372">
                  <a:moveTo>
                    <a:pt x="0" y="0"/>
                  </a:moveTo>
                  <a:cubicBezTo>
                    <a:pt x="38100" y="86710"/>
                    <a:pt x="76200" y="173420"/>
                    <a:pt x="157655" y="236482"/>
                  </a:cubicBezTo>
                  <a:cubicBezTo>
                    <a:pt x="239110" y="299544"/>
                    <a:pt x="363920" y="338958"/>
                    <a:pt x="488731" y="37837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505456" y="4587303"/>
              <a:ext cx="631089" cy="397776"/>
            </a:xfrm>
            <a:custGeom>
              <a:avLst/>
              <a:gdLst>
                <a:gd name="connsiteX0" fmla="*/ 0 w 631535"/>
                <a:gd name="connsiteY0" fmla="*/ 0 h 396576"/>
                <a:gd name="connsiteX1" fmla="*/ 126124 w 631535"/>
                <a:gd name="connsiteY1" fmla="*/ 189186 h 396576"/>
                <a:gd name="connsiteX2" fmla="*/ 551793 w 631535"/>
                <a:gd name="connsiteY2" fmla="*/ 378372 h 396576"/>
                <a:gd name="connsiteX3" fmla="*/ 630620 w 631535"/>
                <a:gd name="connsiteY3" fmla="*/ 378372 h 39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535" h="396576">
                  <a:moveTo>
                    <a:pt x="0" y="0"/>
                  </a:moveTo>
                  <a:cubicBezTo>
                    <a:pt x="17079" y="63062"/>
                    <a:pt x="34159" y="126124"/>
                    <a:pt x="126124" y="189186"/>
                  </a:cubicBezTo>
                  <a:cubicBezTo>
                    <a:pt x="218090" y="252248"/>
                    <a:pt x="467710" y="346841"/>
                    <a:pt x="551793" y="378372"/>
                  </a:cubicBezTo>
                  <a:cubicBezTo>
                    <a:pt x="635876" y="409903"/>
                    <a:pt x="633248" y="394137"/>
                    <a:pt x="630620" y="378372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409903" y="6369515"/>
              <a:ext cx="535537" cy="266665"/>
            </a:xfrm>
            <a:custGeom>
              <a:avLst/>
              <a:gdLst>
                <a:gd name="connsiteX0" fmla="*/ 0 w 536028"/>
                <a:gd name="connsiteY0" fmla="*/ 268014 h 268014"/>
                <a:gd name="connsiteX1" fmla="*/ 378373 w 536028"/>
                <a:gd name="connsiteY1" fmla="*/ 157655 h 268014"/>
                <a:gd name="connsiteX2" fmla="*/ 536028 w 536028"/>
                <a:gd name="connsiteY2" fmla="*/ 0 h 26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6028" h="268014">
                  <a:moveTo>
                    <a:pt x="0" y="268014"/>
                  </a:moveTo>
                  <a:cubicBezTo>
                    <a:pt x="144517" y="235169"/>
                    <a:pt x="289035" y="202324"/>
                    <a:pt x="378373" y="157655"/>
                  </a:cubicBezTo>
                  <a:cubicBezTo>
                    <a:pt x="467711" y="112986"/>
                    <a:pt x="501869" y="56493"/>
                    <a:pt x="536028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7200771" y="4202862"/>
              <a:ext cx="1513280" cy="164444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000" dirty="0">
                  <a:solidFill>
                    <a:prstClr val="black"/>
                  </a:solidFill>
                </a:rPr>
                <a:t>Mean High Water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 rot="16200000">
              <a:off x="1484289" y="2846204"/>
              <a:ext cx="1404436" cy="126661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900" dirty="0">
                  <a:solidFill>
                    <a:prstClr val="black"/>
                  </a:solidFill>
                </a:rPr>
                <a:t>Mean High Water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 rot="10800000">
              <a:off x="11856161" y="6629514"/>
              <a:ext cx="593311" cy="22755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100" i="1" dirty="0">
                  <a:solidFill>
                    <a:prstClr val="black"/>
                  </a:solidFill>
                </a:rPr>
                <a:t>Typical Sedimentary Structures</a:t>
              </a:r>
            </a:p>
          </p:txBody>
        </p:sp>
        <p:sp>
          <p:nvSpPr>
            <p:cNvPr id="170" name="Freeform 169"/>
            <p:cNvSpPr/>
            <p:nvPr/>
          </p:nvSpPr>
          <p:spPr>
            <a:xfrm>
              <a:off x="4011997" y="5947295"/>
              <a:ext cx="255546" cy="197777"/>
            </a:xfrm>
            <a:custGeom>
              <a:avLst/>
              <a:gdLst>
                <a:gd name="connsiteX0" fmla="*/ 0 w 299545"/>
                <a:gd name="connsiteY0" fmla="*/ 43205 h 398611"/>
                <a:gd name="connsiteX1" fmla="*/ 126124 w 299545"/>
                <a:gd name="connsiteY1" fmla="*/ 11674 h 398611"/>
                <a:gd name="connsiteX2" fmla="*/ 110359 w 299545"/>
                <a:gd name="connsiteY2" fmla="*/ 216626 h 398611"/>
                <a:gd name="connsiteX3" fmla="*/ 126124 w 299545"/>
                <a:gd name="connsiteY3" fmla="*/ 390047 h 398611"/>
                <a:gd name="connsiteX4" fmla="*/ 204952 w 299545"/>
                <a:gd name="connsiteY4" fmla="*/ 342750 h 398611"/>
                <a:gd name="connsiteX5" fmla="*/ 204952 w 299545"/>
                <a:gd name="connsiteY5" fmla="*/ 90502 h 398611"/>
                <a:gd name="connsiteX6" fmla="*/ 204952 w 299545"/>
                <a:gd name="connsiteY6" fmla="*/ 27440 h 398611"/>
                <a:gd name="connsiteX7" fmla="*/ 299545 w 299545"/>
                <a:gd name="connsiteY7" fmla="*/ 11674 h 39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9545" h="398611">
                  <a:moveTo>
                    <a:pt x="0" y="43205"/>
                  </a:moveTo>
                  <a:cubicBezTo>
                    <a:pt x="53865" y="12988"/>
                    <a:pt x="107731" y="-17229"/>
                    <a:pt x="126124" y="11674"/>
                  </a:cubicBezTo>
                  <a:cubicBezTo>
                    <a:pt x="144517" y="40577"/>
                    <a:pt x="110359" y="153564"/>
                    <a:pt x="110359" y="216626"/>
                  </a:cubicBezTo>
                  <a:cubicBezTo>
                    <a:pt x="110359" y="279688"/>
                    <a:pt x="110358" y="369026"/>
                    <a:pt x="126124" y="390047"/>
                  </a:cubicBezTo>
                  <a:cubicBezTo>
                    <a:pt x="141890" y="411068"/>
                    <a:pt x="191814" y="392674"/>
                    <a:pt x="204952" y="342750"/>
                  </a:cubicBezTo>
                  <a:cubicBezTo>
                    <a:pt x="218090" y="292826"/>
                    <a:pt x="204952" y="90502"/>
                    <a:pt x="204952" y="90502"/>
                  </a:cubicBezTo>
                  <a:cubicBezTo>
                    <a:pt x="204952" y="37950"/>
                    <a:pt x="189187" y="40578"/>
                    <a:pt x="204952" y="27440"/>
                  </a:cubicBezTo>
                  <a:cubicBezTo>
                    <a:pt x="220717" y="14302"/>
                    <a:pt x="260131" y="12988"/>
                    <a:pt x="299545" y="11674"/>
                  </a:cubicBezTo>
                </a:path>
              </a:pathLst>
            </a:custGeom>
            <a:solidFill>
              <a:srgbClr val="FFFF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71" name="Freeform 170"/>
            <p:cNvSpPr/>
            <p:nvPr/>
          </p:nvSpPr>
          <p:spPr>
            <a:xfrm>
              <a:off x="3463127" y="5127301"/>
              <a:ext cx="255547" cy="197776"/>
            </a:xfrm>
            <a:custGeom>
              <a:avLst/>
              <a:gdLst>
                <a:gd name="connsiteX0" fmla="*/ 0 w 299545"/>
                <a:gd name="connsiteY0" fmla="*/ 43205 h 398611"/>
                <a:gd name="connsiteX1" fmla="*/ 126124 w 299545"/>
                <a:gd name="connsiteY1" fmla="*/ 11674 h 398611"/>
                <a:gd name="connsiteX2" fmla="*/ 110359 w 299545"/>
                <a:gd name="connsiteY2" fmla="*/ 216626 h 398611"/>
                <a:gd name="connsiteX3" fmla="*/ 126124 w 299545"/>
                <a:gd name="connsiteY3" fmla="*/ 390047 h 398611"/>
                <a:gd name="connsiteX4" fmla="*/ 204952 w 299545"/>
                <a:gd name="connsiteY4" fmla="*/ 342750 h 398611"/>
                <a:gd name="connsiteX5" fmla="*/ 204952 w 299545"/>
                <a:gd name="connsiteY5" fmla="*/ 90502 h 398611"/>
                <a:gd name="connsiteX6" fmla="*/ 204952 w 299545"/>
                <a:gd name="connsiteY6" fmla="*/ 27440 h 398611"/>
                <a:gd name="connsiteX7" fmla="*/ 299545 w 299545"/>
                <a:gd name="connsiteY7" fmla="*/ 11674 h 39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9545" h="398611">
                  <a:moveTo>
                    <a:pt x="0" y="43205"/>
                  </a:moveTo>
                  <a:cubicBezTo>
                    <a:pt x="53865" y="12988"/>
                    <a:pt x="107731" y="-17229"/>
                    <a:pt x="126124" y="11674"/>
                  </a:cubicBezTo>
                  <a:cubicBezTo>
                    <a:pt x="144517" y="40577"/>
                    <a:pt x="110359" y="153564"/>
                    <a:pt x="110359" y="216626"/>
                  </a:cubicBezTo>
                  <a:cubicBezTo>
                    <a:pt x="110359" y="279688"/>
                    <a:pt x="110358" y="369026"/>
                    <a:pt x="126124" y="390047"/>
                  </a:cubicBezTo>
                  <a:cubicBezTo>
                    <a:pt x="141890" y="411068"/>
                    <a:pt x="191814" y="392674"/>
                    <a:pt x="204952" y="342750"/>
                  </a:cubicBezTo>
                  <a:cubicBezTo>
                    <a:pt x="218090" y="292826"/>
                    <a:pt x="204952" y="90502"/>
                    <a:pt x="204952" y="90502"/>
                  </a:cubicBezTo>
                  <a:cubicBezTo>
                    <a:pt x="204952" y="37950"/>
                    <a:pt x="189187" y="40578"/>
                    <a:pt x="204952" y="27440"/>
                  </a:cubicBezTo>
                  <a:cubicBezTo>
                    <a:pt x="220717" y="14302"/>
                    <a:pt x="260131" y="12988"/>
                    <a:pt x="299545" y="11674"/>
                  </a:cubicBezTo>
                </a:path>
              </a:pathLst>
            </a:custGeom>
            <a:solidFill>
              <a:srgbClr val="FFFF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72" name="Freeform 171"/>
            <p:cNvSpPr/>
            <p:nvPr/>
          </p:nvSpPr>
          <p:spPr>
            <a:xfrm>
              <a:off x="4131993" y="4907301"/>
              <a:ext cx="255546" cy="199999"/>
            </a:xfrm>
            <a:custGeom>
              <a:avLst/>
              <a:gdLst>
                <a:gd name="connsiteX0" fmla="*/ 0 w 299545"/>
                <a:gd name="connsiteY0" fmla="*/ 43205 h 398611"/>
                <a:gd name="connsiteX1" fmla="*/ 126124 w 299545"/>
                <a:gd name="connsiteY1" fmla="*/ 11674 h 398611"/>
                <a:gd name="connsiteX2" fmla="*/ 110359 w 299545"/>
                <a:gd name="connsiteY2" fmla="*/ 216626 h 398611"/>
                <a:gd name="connsiteX3" fmla="*/ 126124 w 299545"/>
                <a:gd name="connsiteY3" fmla="*/ 390047 h 398611"/>
                <a:gd name="connsiteX4" fmla="*/ 204952 w 299545"/>
                <a:gd name="connsiteY4" fmla="*/ 342750 h 398611"/>
                <a:gd name="connsiteX5" fmla="*/ 204952 w 299545"/>
                <a:gd name="connsiteY5" fmla="*/ 90502 h 398611"/>
                <a:gd name="connsiteX6" fmla="*/ 204952 w 299545"/>
                <a:gd name="connsiteY6" fmla="*/ 27440 h 398611"/>
                <a:gd name="connsiteX7" fmla="*/ 299545 w 299545"/>
                <a:gd name="connsiteY7" fmla="*/ 11674 h 39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9545" h="398611">
                  <a:moveTo>
                    <a:pt x="0" y="43205"/>
                  </a:moveTo>
                  <a:cubicBezTo>
                    <a:pt x="53865" y="12988"/>
                    <a:pt x="107731" y="-17229"/>
                    <a:pt x="126124" y="11674"/>
                  </a:cubicBezTo>
                  <a:cubicBezTo>
                    <a:pt x="144517" y="40577"/>
                    <a:pt x="110359" y="153564"/>
                    <a:pt x="110359" y="216626"/>
                  </a:cubicBezTo>
                  <a:cubicBezTo>
                    <a:pt x="110359" y="279688"/>
                    <a:pt x="110358" y="369026"/>
                    <a:pt x="126124" y="390047"/>
                  </a:cubicBezTo>
                  <a:cubicBezTo>
                    <a:pt x="141890" y="411068"/>
                    <a:pt x="191814" y="392674"/>
                    <a:pt x="204952" y="342750"/>
                  </a:cubicBezTo>
                  <a:cubicBezTo>
                    <a:pt x="218090" y="292826"/>
                    <a:pt x="204952" y="90502"/>
                    <a:pt x="204952" y="90502"/>
                  </a:cubicBezTo>
                  <a:cubicBezTo>
                    <a:pt x="204952" y="37950"/>
                    <a:pt x="189187" y="40578"/>
                    <a:pt x="204952" y="27440"/>
                  </a:cubicBezTo>
                  <a:cubicBezTo>
                    <a:pt x="220717" y="14302"/>
                    <a:pt x="260131" y="12988"/>
                    <a:pt x="299545" y="11674"/>
                  </a:cubicBezTo>
                </a:path>
              </a:pathLst>
            </a:custGeom>
            <a:solidFill>
              <a:srgbClr val="FFFF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74" name="Freeform 173"/>
            <p:cNvSpPr/>
            <p:nvPr/>
          </p:nvSpPr>
          <p:spPr>
            <a:xfrm>
              <a:off x="5345283" y="6273961"/>
              <a:ext cx="119996" cy="213332"/>
            </a:xfrm>
            <a:custGeom>
              <a:avLst/>
              <a:gdLst>
                <a:gd name="connsiteX0" fmla="*/ 0 w 126170"/>
                <a:gd name="connsiteY0" fmla="*/ 425669 h 425669"/>
                <a:gd name="connsiteX1" fmla="*/ 126125 w 126170"/>
                <a:gd name="connsiteY1" fmla="*/ 283779 h 425669"/>
                <a:gd name="connsiteX2" fmla="*/ 15766 w 126170"/>
                <a:gd name="connsiteY2" fmla="*/ 141890 h 425669"/>
                <a:gd name="connsiteX3" fmla="*/ 126125 w 126170"/>
                <a:gd name="connsiteY3" fmla="*/ 0 h 42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70" h="425669">
                  <a:moveTo>
                    <a:pt x="0" y="425669"/>
                  </a:moveTo>
                  <a:cubicBezTo>
                    <a:pt x="61748" y="378372"/>
                    <a:pt x="123497" y="331075"/>
                    <a:pt x="126125" y="283779"/>
                  </a:cubicBezTo>
                  <a:cubicBezTo>
                    <a:pt x="128753" y="236482"/>
                    <a:pt x="15766" y="189186"/>
                    <a:pt x="15766" y="141890"/>
                  </a:cubicBezTo>
                  <a:cubicBezTo>
                    <a:pt x="15766" y="94594"/>
                    <a:pt x="70945" y="47297"/>
                    <a:pt x="126125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75" name="Freeform 174"/>
            <p:cNvSpPr/>
            <p:nvPr/>
          </p:nvSpPr>
          <p:spPr>
            <a:xfrm>
              <a:off x="5236397" y="5676186"/>
              <a:ext cx="119996" cy="213332"/>
            </a:xfrm>
            <a:custGeom>
              <a:avLst/>
              <a:gdLst>
                <a:gd name="connsiteX0" fmla="*/ 0 w 126170"/>
                <a:gd name="connsiteY0" fmla="*/ 425669 h 425669"/>
                <a:gd name="connsiteX1" fmla="*/ 126125 w 126170"/>
                <a:gd name="connsiteY1" fmla="*/ 283779 h 425669"/>
                <a:gd name="connsiteX2" fmla="*/ 15766 w 126170"/>
                <a:gd name="connsiteY2" fmla="*/ 141890 h 425669"/>
                <a:gd name="connsiteX3" fmla="*/ 126125 w 126170"/>
                <a:gd name="connsiteY3" fmla="*/ 0 h 42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70" h="425669">
                  <a:moveTo>
                    <a:pt x="0" y="425669"/>
                  </a:moveTo>
                  <a:cubicBezTo>
                    <a:pt x="61748" y="378372"/>
                    <a:pt x="123497" y="331075"/>
                    <a:pt x="126125" y="283779"/>
                  </a:cubicBezTo>
                  <a:cubicBezTo>
                    <a:pt x="128753" y="236482"/>
                    <a:pt x="15766" y="189186"/>
                    <a:pt x="15766" y="141890"/>
                  </a:cubicBezTo>
                  <a:cubicBezTo>
                    <a:pt x="15766" y="94594"/>
                    <a:pt x="70945" y="47297"/>
                    <a:pt x="126125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5885263" y="5202856"/>
              <a:ext cx="119996" cy="213332"/>
            </a:xfrm>
            <a:custGeom>
              <a:avLst/>
              <a:gdLst>
                <a:gd name="connsiteX0" fmla="*/ 0 w 126170"/>
                <a:gd name="connsiteY0" fmla="*/ 425669 h 425669"/>
                <a:gd name="connsiteX1" fmla="*/ 126125 w 126170"/>
                <a:gd name="connsiteY1" fmla="*/ 283779 h 425669"/>
                <a:gd name="connsiteX2" fmla="*/ 15766 w 126170"/>
                <a:gd name="connsiteY2" fmla="*/ 141890 h 425669"/>
                <a:gd name="connsiteX3" fmla="*/ 126125 w 126170"/>
                <a:gd name="connsiteY3" fmla="*/ 0 h 42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70" h="425669">
                  <a:moveTo>
                    <a:pt x="0" y="425669"/>
                  </a:moveTo>
                  <a:cubicBezTo>
                    <a:pt x="61748" y="378372"/>
                    <a:pt x="123497" y="331075"/>
                    <a:pt x="126125" y="283779"/>
                  </a:cubicBezTo>
                  <a:cubicBezTo>
                    <a:pt x="128753" y="236482"/>
                    <a:pt x="15766" y="189186"/>
                    <a:pt x="15766" y="141890"/>
                  </a:cubicBezTo>
                  <a:cubicBezTo>
                    <a:pt x="15766" y="94594"/>
                    <a:pt x="70945" y="47297"/>
                    <a:pt x="126125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9856232" y="6307293"/>
              <a:ext cx="122217" cy="211111"/>
            </a:xfrm>
            <a:custGeom>
              <a:avLst/>
              <a:gdLst>
                <a:gd name="connsiteX0" fmla="*/ 0 w 126170"/>
                <a:gd name="connsiteY0" fmla="*/ 425669 h 425669"/>
                <a:gd name="connsiteX1" fmla="*/ 126125 w 126170"/>
                <a:gd name="connsiteY1" fmla="*/ 283779 h 425669"/>
                <a:gd name="connsiteX2" fmla="*/ 15766 w 126170"/>
                <a:gd name="connsiteY2" fmla="*/ 141890 h 425669"/>
                <a:gd name="connsiteX3" fmla="*/ 126125 w 126170"/>
                <a:gd name="connsiteY3" fmla="*/ 0 h 42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70" h="425669">
                  <a:moveTo>
                    <a:pt x="0" y="425669"/>
                  </a:moveTo>
                  <a:cubicBezTo>
                    <a:pt x="61748" y="378372"/>
                    <a:pt x="123497" y="331075"/>
                    <a:pt x="126125" y="283779"/>
                  </a:cubicBezTo>
                  <a:cubicBezTo>
                    <a:pt x="128753" y="236482"/>
                    <a:pt x="15766" y="189186"/>
                    <a:pt x="15766" y="141890"/>
                  </a:cubicBezTo>
                  <a:cubicBezTo>
                    <a:pt x="15766" y="94594"/>
                    <a:pt x="70945" y="47297"/>
                    <a:pt x="126125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7576314" y="5833963"/>
              <a:ext cx="119996" cy="213332"/>
            </a:xfrm>
            <a:custGeom>
              <a:avLst/>
              <a:gdLst>
                <a:gd name="connsiteX0" fmla="*/ 0 w 126170"/>
                <a:gd name="connsiteY0" fmla="*/ 425669 h 425669"/>
                <a:gd name="connsiteX1" fmla="*/ 126125 w 126170"/>
                <a:gd name="connsiteY1" fmla="*/ 283779 h 425669"/>
                <a:gd name="connsiteX2" fmla="*/ 15766 w 126170"/>
                <a:gd name="connsiteY2" fmla="*/ 141890 h 425669"/>
                <a:gd name="connsiteX3" fmla="*/ 126125 w 126170"/>
                <a:gd name="connsiteY3" fmla="*/ 0 h 42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70" h="425669">
                  <a:moveTo>
                    <a:pt x="0" y="425669"/>
                  </a:moveTo>
                  <a:cubicBezTo>
                    <a:pt x="61748" y="378372"/>
                    <a:pt x="123497" y="331075"/>
                    <a:pt x="126125" y="283779"/>
                  </a:cubicBezTo>
                  <a:cubicBezTo>
                    <a:pt x="128753" y="236482"/>
                    <a:pt x="15766" y="189186"/>
                    <a:pt x="15766" y="141890"/>
                  </a:cubicBezTo>
                  <a:cubicBezTo>
                    <a:pt x="15766" y="94594"/>
                    <a:pt x="70945" y="47297"/>
                    <a:pt x="126125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11109521" y="6307293"/>
              <a:ext cx="119996" cy="211111"/>
            </a:xfrm>
            <a:custGeom>
              <a:avLst/>
              <a:gdLst>
                <a:gd name="connsiteX0" fmla="*/ 0 w 126170"/>
                <a:gd name="connsiteY0" fmla="*/ 425669 h 425669"/>
                <a:gd name="connsiteX1" fmla="*/ 126125 w 126170"/>
                <a:gd name="connsiteY1" fmla="*/ 283779 h 425669"/>
                <a:gd name="connsiteX2" fmla="*/ 15766 w 126170"/>
                <a:gd name="connsiteY2" fmla="*/ 141890 h 425669"/>
                <a:gd name="connsiteX3" fmla="*/ 126125 w 126170"/>
                <a:gd name="connsiteY3" fmla="*/ 0 h 42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70" h="425669">
                  <a:moveTo>
                    <a:pt x="0" y="425669"/>
                  </a:moveTo>
                  <a:cubicBezTo>
                    <a:pt x="61748" y="378372"/>
                    <a:pt x="123497" y="331075"/>
                    <a:pt x="126125" y="283779"/>
                  </a:cubicBezTo>
                  <a:cubicBezTo>
                    <a:pt x="128753" y="236482"/>
                    <a:pt x="15766" y="189186"/>
                    <a:pt x="15766" y="141890"/>
                  </a:cubicBezTo>
                  <a:cubicBezTo>
                    <a:pt x="15766" y="94594"/>
                    <a:pt x="70945" y="47297"/>
                    <a:pt x="126125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9538465" y="6022851"/>
              <a:ext cx="119996" cy="213332"/>
            </a:xfrm>
            <a:custGeom>
              <a:avLst/>
              <a:gdLst>
                <a:gd name="connsiteX0" fmla="*/ 0 w 126170"/>
                <a:gd name="connsiteY0" fmla="*/ 425669 h 425669"/>
                <a:gd name="connsiteX1" fmla="*/ 126125 w 126170"/>
                <a:gd name="connsiteY1" fmla="*/ 283779 h 425669"/>
                <a:gd name="connsiteX2" fmla="*/ 15766 w 126170"/>
                <a:gd name="connsiteY2" fmla="*/ 141890 h 425669"/>
                <a:gd name="connsiteX3" fmla="*/ 126125 w 126170"/>
                <a:gd name="connsiteY3" fmla="*/ 0 h 42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70" h="425669">
                  <a:moveTo>
                    <a:pt x="0" y="425669"/>
                  </a:moveTo>
                  <a:cubicBezTo>
                    <a:pt x="61748" y="378372"/>
                    <a:pt x="123497" y="331075"/>
                    <a:pt x="126125" y="283779"/>
                  </a:cubicBezTo>
                  <a:cubicBezTo>
                    <a:pt x="128753" y="236482"/>
                    <a:pt x="15766" y="189186"/>
                    <a:pt x="15766" y="141890"/>
                  </a:cubicBezTo>
                  <a:cubicBezTo>
                    <a:pt x="15766" y="94594"/>
                    <a:pt x="70945" y="47297"/>
                    <a:pt x="126125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8338508" y="6418404"/>
              <a:ext cx="119996" cy="211111"/>
            </a:xfrm>
            <a:custGeom>
              <a:avLst/>
              <a:gdLst>
                <a:gd name="connsiteX0" fmla="*/ 0 w 126170"/>
                <a:gd name="connsiteY0" fmla="*/ 425669 h 425669"/>
                <a:gd name="connsiteX1" fmla="*/ 126125 w 126170"/>
                <a:gd name="connsiteY1" fmla="*/ 283779 h 425669"/>
                <a:gd name="connsiteX2" fmla="*/ 15766 w 126170"/>
                <a:gd name="connsiteY2" fmla="*/ 141890 h 425669"/>
                <a:gd name="connsiteX3" fmla="*/ 126125 w 126170"/>
                <a:gd name="connsiteY3" fmla="*/ 0 h 42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70" h="425669">
                  <a:moveTo>
                    <a:pt x="0" y="425669"/>
                  </a:moveTo>
                  <a:cubicBezTo>
                    <a:pt x="61748" y="378372"/>
                    <a:pt x="123497" y="331075"/>
                    <a:pt x="126125" y="283779"/>
                  </a:cubicBezTo>
                  <a:cubicBezTo>
                    <a:pt x="128753" y="236482"/>
                    <a:pt x="15766" y="189186"/>
                    <a:pt x="15766" y="141890"/>
                  </a:cubicBezTo>
                  <a:cubicBezTo>
                    <a:pt x="15766" y="94594"/>
                    <a:pt x="70945" y="47297"/>
                    <a:pt x="126125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8020742" y="6133961"/>
              <a:ext cx="119996" cy="213332"/>
            </a:xfrm>
            <a:custGeom>
              <a:avLst/>
              <a:gdLst>
                <a:gd name="connsiteX0" fmla="*/ 0 w 126170"/>
                <a:gd name="connsiteY0" fmla="*/ 425669 h 425669"/>
                <a:gd name="connsiteX1" fmla="*/ 126125 w 126170"/>
                <a:gd name="connsiteY1" fmla="*/ 283779 h 425669"/>
                <a:gd name="connsiteX2" fmla="*/ 15766 w 126170"/>
                <a:gd name="connsiteY2" fmla="*/ 141890 h 425669"/>
                <a:gd name="connsiteX3" fmla="*/ 126125 w 126170"/>
                <a:gd name="connsiteY3" fmla="*/ 0 h 42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70" h="425669">
                  <a:moveTo>
                    <a:pt x="0" y="425669"/>
                  </a:moveTo>
                  <a:cubicBezTo>
                    <a:pt x="61748" y="378372"/>
                    <a:pt x="123497" y="331075"/>
                    <a:pt x="126125" y="283779"/>
                  </a:cubicBezTo>
                  <a:cubicBezTo>
                    <a:pt x="128753" y="236482"/>
                    <a:pt x="15766" y="189186"/>
                    <a:pt x="15766" y="141890"/>
                  </a:cubicBezTo>
                  <a:cubicBezTo>
                    <a:pt x="15766" y="94594"/>
                    <a:pt x="70945" y="47297"/>
                    <a:pt x="126125" y="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800">
                <a:solidFill>
                  <a:prstClr val="white"/>
                </a:solidFill>
              </a:endParaRPr>
            </a:p>
          </p:txBody>
        </p:sp>
        <p:sp>
          <p:nvSpPr>
            <p:cNvPr id="183" name="Rectangle 182"/>
            <p:cNvSpPr/>
            <p:nvPr/>
          </p:nvSpPr>
          <p:spPr>
            <a:xfrm rot="10800000">
              <a:off x="11856161" y="3760641"/>
              <a:ext cx="593311" cy="28755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100" dirty="0">
                  <a:solidFill>
                    <a:prstClr val="black"/>
                  </a:solidFill>
                </a:rPr>
                <a:t>Critical Depth Interfaces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1858740" y="3887308"/>
              <a:ext cx="766640" cy="126665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0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000" dirty="0">
                  <a:solidFill>
                    <a:prstClr val="black"/>
                  </a:solidFill>
                </a:rPr>
                <a:t>Berm</a:t>
              </a:r>
            </a:p>
          </p:txBody>
        </p:sp>
        <p:cxnSp>
          <p:nvCxnSpPr>
            <p:cNvPr id="186" name="Straight Arrow Connector 185"/>
            <p:cNvCxnSpPr>
              <a:stCxn id="184" idx="2"/>
              <a:endCxn id="4" idx="26"/>
            </p:cNvCxnSpPr>
            <p:nvPr/>
          </p:nvCxnSpPr>
          <p:spPr>
            <a:xfrm flipH="1">
              <a:off x="2140953" y="4013973"/>
              <a:ext cx="99996" cy="21111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/>
          <p:cNvSpPr/>
          <p:nvPr/>
        </p:nvSpPr>
        <p:spPr>
          <a:xfrm>
            <a:off x="3914377" y="954355"/>
            <a:ext cx="4474048" cy="771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290" tIns="32645" rIns="65290" bIns="32645" anchor="ctr"/>
          <a:lstStyle/>
          <a:p>
            <a:pPr algn="ctr" defTabSz="9140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800" b="1" dirty="0">
                <a:solidFill>
                  <a:prstClr val="black"/>
                </a:solidFill>
              </a:rPr>
              <a:t>Summary processes, sub-environments and facies in a wave-dominated nearshore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7839" y="6611459"/>
            <a:ext cx="1770790" cy="2386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290" tIns="32645" rIns="65290" bIns="32645" anchor="ctr"/>
          <a:lstStyle/>
          <a:p>
            <a:pPr defTabSz="9140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00" i="1" dirty="0">
                <a:solidFill>
                  <a:prstClr val="black"/>
                </a:solidFill>
              </a:rPr>
              <a:t>*Aeolian dunes not necessarily present (may be vegetated land)</a:t>
            </a:r>
          </a:p>
        </p:txBody>
      </p:sp>
      <p:cxnSp>
        <p:nvCxnSpPr>
          <p:cNvPr id="134" name="Elbow Connector 133"/>
          <p:cNvCxnSpPr>
            <a:stCxn id="9" idx="1"/>
            <a:endCxn id="8" idx="2"/>
          </p:cNvCxnSpPr>
          <p:nvPr/>
        </p:nvCxnSpPr>
        <p:spPr>
          <a:xfrm rot="10800000" flipH="1">
            <a:off x="477838" y="6361113"/>
            <a:ext cx="115371" cy="369649"/>
          </a:xfrm>
          <a:prstGeom prst="bentConnector4">
            <a:avLst>
              <a:gd name="adj1" fmla="val -198143"/>
              <a:gd name="adj2" fmla="val 66137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440041" y="1236281"/>
            <a:ext cx="515547" cy="191472"/>
          </a:xfrm>
          <a:prstGeom prst="rect">
            <a:avLst/>
          </a:prstGeom>
          <a:pattFill prst="pct5">
            <a:fgClr>
              <a:schemeClr val="tx1"/>
            </a:fgClr>
            <a:bgClr>
              <a:srgbClr val="FFFF00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290" tIns="32645" rIns="65290" bIns="32645" anchor="ctr"/>
          <a:lstStyle/>
          <a:p>
            <a:pPr algn="ctr" defTabSz="9140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>
              <a:solidFill>
                <a:prstClr val="white"/>
              </a:solidFill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2124984" y="1199445"/>
            <a:ext cx="515547" cy="191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290" tIns="32645" rIns="65290" bIns="32645" anchor="ctr"/>
          <a:lstStyle/>
          <a:p>
            <a:pPr algn="ctr" defTabSz="9140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>
              <a:solidFill>
                <a:prstClr val="white"/>
              </a:solidFill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1124254" y="1236281"/>
            <a:ext cx="644059" cy="1914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290" tIns="32645" rIns="65290" bIns="32645" anchor="ctr"/>
          <a:lstStyle/>
          <a:p>
            <a:pPr defTabSz="9140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prstClr val="black"/>
                </a:solidFill>
              </a:rPr>
              <a:t>Sand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798084" y="1224484"/>
            <a:ext cx="1231335" cy="166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290" tIns="32645" rIns="65290" bIns="32645" anchor="ctr"/>
          <a:lstStyle/>
          <a:p>
            <a:pPr defTabSz="9140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00" dirty="0">
                <a:solidFill>
                  <a:prstClr val="black"/>
                </a:solidFill>
              </a:rPr>
              <a:t>Mud (silt &amp; clay)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xmlns="" id="{5180E31A-3862-40A3-9637-AC82EE313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marinespecies.org/i/images/4/44/NienhuisFig2.jpg">
            <a:extLst>
              <a:ext uri="{FF2B5EF4-FFF2-40B4-BE49-F238E27FC236}">
                <a16:creationId xmlns:a16="http://schemas.microsoft.com/office/drawing/2014/main" xmlns="" id="{E74EB499-9305-4564-9BFE-FFC5F3B36A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083156"/>
            <a:ext cx="9144001" cy="577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855A4AB-D5F1-4E16-883C-2C7CD3229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xmlns="" id="{5D888742-59E0-4203-9C05-E09070882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268760"/>
            <a:ext cx="6176988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alt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this a delta or a shoreface system?</a:t>
            </a:r>
          </a:p>
        </p:txBody>
      </p:sp>
    </p:spTree>
    <p:extLst>
      <p:ext uri="{BB962C8B-B14F-4D97-AF65-F5344CB8AC3E}">
        <p14:creationId xmlns:p14="http://schemas.microsoft.com/office/powerpoint/2010/main" val="1092281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95AE80D3-D3D7-47AE-A65F-F97AE78A9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060847"/>
            <a:ext cx="7025609" cy="472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A13F9A8-9D79-4D9C-833A-9CA2F823D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Wave-dominated systems - shorefaces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065753E8-95B9-4FB9-89AD-ABE9EBE33409}"/>
              </a:ext>
            </a:extLst>
          </p:cNvPr>
          <p:cNvCxnSpPr/>
          <p:nvPr/>
        </p:nvCxnSpPr>
        <p:spPr>
          <a:xfrm>
            <a:off x="1331640" y="1196752"/>
            <a:ext cx="669674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7CEA9B26-2D83-464F-9D05-88CAD592881A}"/>
              </a:ext>
            </a:extLst>
          </p:cNvPr>
          <p:cNvCxnSpPr>
            <a:cxnSpLocks/>
          </p:cNvCxnSpPr>
          <p:nvPr/>
        </p:nvCxnSpPr>
        <p:spPr>
          <a:xfrm flipH="1">
            <a:off x="1331640" y="1844824"/>
            <a:ext cx="640871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5">
            <a:extLst>
              <a:ext uri="{FF2B5EF4-FFF2-40B4-BE49-F238E27FC236}">
                <a16:creationId xmlns:a16="http://schemas.microsoft.com/office/drawing/2014/main" xmlns="" id="{77067DB3-CF1B-4101-82FB-037CA25D8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1196752"/>
            <a:ext cx="61769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Increasing wave processes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xmlns="" id="{FF9DEAA5-8CD1-41AA-9F41-B6BFFE44C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434" y="1471763"/>
            <a:ext cx="61769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Increasing river processes</a:t>
            </a:r>
          </a:p>
        </p:txBody>
      </p:sp>
    </p:spTree>
    <p:extLst>
      <p:ext uri="{BB962C8B-B14F-4D97-AF65-F5344CB8AC3E}">
        <p14:creationId xmlns:p14="http://schemas.microsoft.com/office/powerpoint/2010/main" val="41319289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A3D9964-1F36-4B62-9280-195150491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573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890E64B-C79D-4FA2-BFF6-3941905BD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8928992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400" b="1" dirty="0">
                <a:solidFill>
                  <a:srgbClr val="FFFF00"/>
                </a:solidFill>
                <a:latin typeface="+mj-lt"/>
              </a:rPr>
              <a:t>Task:</a:t>
            </a: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xmlns="" id="{D22D0CB9-2459-48B2-98E1-FF09BED85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412776"/>
            <a:ext cx="6768752" cy="4770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Read-up on tidal systems and processes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0837456-DAE3-4F86-9572-D47BC2754467}"/>
              </a:ext>
            </a:extLst>
          </p:cNvPr>
          <p:cNvSpPr/>
          <p:nvPr/>
        </p:nvSpPr>
        <p:spPr bwMode="auto">
          <a:xfrm>
            <a:off x="7020272" y="6453336"/>
            <a:ext cx="2016224" cy="30676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GB" sz="1400" b="1" dirty="0" err="1">
                <a:latin typeface="+mj-lt"/>
                <a:cs typeface="Arial" panose="020B0604020202020204" pitchFamily="34" charset="0"/>
              </a:rPr>
              <a:t>Sundebans</a:t>
            </a:r>
            <a:r>
              <a:rPr lang="en-GB" sz="1400" b="1" dirty="0">
                <a:latin typeface="+mj-lt"/>
                <a:cs typeface="Arial" panose="020B0604020202020204" pitchFamily="34" charset="0"/>
              </a:rPr>
              <a:t>, Bangladesh</a:t>
            </a:r>
          </a:p>
        </p:txBody>
      </p:sp>
    </p:spTree>
    <p:extLst>
      <p:ext uri="{BB962C8B-B14F-4D97-AF65-F5344CB8AC3E}">
        <p14:creationId xmlns:p14="http://schemas.microsoft.com/office/powerpoint/2010/main" val="10587169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7" descr="Reading 1996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84610" y="1196752"/>
            <a:ext cx="2113822" cy="2664296"/>
          </a:xfrm>
          <a:prstGeom prst="rect">
            <a:avLst/>
          </a:prstGeom>
          <a:noFill/>
        </p:spPr>
      </p:pic>
      <p:sp>
        <p:nvSpPr>
          <p:cNvPr id="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0"/>
            <a:ext cx="8579296" cy="1143001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GB" sz="5000" b="1" dirty="0">
                <a:solidFill>
                  <a:srgbClr val="FFFF00"/>
                </a:solidFill>
              </a:rPr>
              <a:t>Further reading</a:t>
            </a:r>
          </a:p>
        </p:txBody>
      </p:sp>
      <p:sp>
        <p:nvSpPr>
          <p:cNvPr id="56" name="Rectangle 2"/>
          <p:cNvSpPr txBox="1">
            <a:spLocks noChangeArrowheads="1"/>
          </p:cNvSpPr>
          <p:nvPr/>
        </p:nvSpPr>
        <p:spPr>
          <a:xfrm>
            <a:off x="63500" y="1124744"/>
            <a:ext cx="6596732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Reading, H. G. (2006) Sedimentary Environments: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processes, </a:t>
            </a:r>
            <a:r>
              <a:rPr kumimoji="0" lang="en-GB" sz="20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facies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and </a:t>
            </a:r>
            <a:r>
              <a:rPr kumimoji="0" lang="en-GB" sz="20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stratigraphy</a:t>
            </a:r>
            <a:r>
              <a:rPr lang="en-GB" sz="2000" dirty="0">
                <a:latin typeface="+mj-lt"/>
                <a:ea typeface="+mj-ea"/>
                <a:cs typeface="+mj-cs"/>
              </a:rPr>
              <a:t>, 3</a:t>
            </a:r>
            <a:r>
              <a:rPr lang="en-GB" sz="2000" baseline="30000" dirty="0">
                <a:latin typeface="+mj-lt"/>
                <a:ea typeface="+mj-ea"/>
                <a:cs typeface="+mj-cs"/>
              </a:rPr>
              <a:t>rd</a:t>
            </a:r>
            <a:r>
              <a:rPr lang="en-GB" sz="2000" dirty="0">
                <a:latin typeface="+mj-lt"/>
                <a:ea typeface="+mj-ea"/>
                <a:cs typeface="+mj-cs"/>
              </a:rPr>
              <a:t> Edition, Blackwell Publishing.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GB" sz="2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Chapters 6 and 7.	</a:t>
            </a:r>
            <a:r>
              <a:rPr kumimoji="0" lang="en-GB" sz="20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	</a:t>
            </a:r>
            <a:endParaRPr kumimoji="0" lang="en-GB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AutoShape 2" descr="https://www.gac.ca/publications/covers/212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1939" y="2267745"/>
            <a:ext cx="2318996" cy="295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565195" y="3140968"/>
            <a:ext cx="4023029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James, N.P. and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Dalrymple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, R.W. (2010)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Facies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Models 4, Geological Society of Canada</a:t>
            </a:r>
            <a:r>
              <a:rPr lang="en-GB" sz="2000" dirty="0">
                <a:latin typeface="+mj-lt"/>
                <a:ea typeface="+mj-ea"/>
                <a:cs typeface="+mj-cs"/>
              </a:rPr>
              <a:t>.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GB" sz="2000" b="1" dirty="0">
                <a:latin typeface="+mj-lt"/>
                <a:ea typeface="+mj-ea"/>
                <a:cs typeface="+mj-cs"/>
              </a:rPr>
              <a:t>Chapters 8-11</a:t>
            </a:r>
            <a:r>
              <a:rPr kumimoji="0" lang="en-GB" sz="2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.	</a:t>
            </a:r>
            <a:endParaRPr kumimoji="0" lang="en-GB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E0F72A1-4570-4B0B-A61A-A7DA34C5082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9010" y="4283969"/>
            <a:ext cx="4220920" cy="2385391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xmlns="" id="{DFE7B3A0-30FD-408B-90FA-D3693EF04428}"/>
              </a:ext>
            </a:extLst>
          </p:cNvPr>
          <p:cNvSpPr txBox="1">
            <a:spLocks noChangeArrowheads="1"/>
          </p:cNvSpPr>
          <p:nvPr/>
        </p:nvSpPr>
        <p:spPr>
          <a:xfrm>
            <a:off x="384442" y="5622538"/>
            <a:ext cx="4023029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Bhattacharya, J. P. (2006) </a:t>
            </a:r>
            <a:r>
              <a:rPr lang="en-GB" sz="2000" dirty="0"/>
              <a:t>Facies Models Revisited SEPM Special Publication No. 84, p. 237–292.</a:t>
            </a:r>
          </a:p>
          <a:p>
            <a:pPr>
              <a:spcBef>
                <a:spcPct val="0"/>
              </a:spcBef>
              <a:defRPr/>
            </a:pPr>
            <a:r>
              <a:rPr lang="en-GB" altLang="en-US" sz="1200" dirty="0">
                <a:latin typeface="+mj-lt"/>
                <a:hlinkClick r:id="rId5"/>
              </a:rPr>
              <a:t>http://basin.earth.ncu.edu.tw/download/lab%20reading/Sedimentary%20environments%20and%20facies/Bhattacharya_2006_delta_SEPM_SP84.pdf</a:t>
            </a:r>
            <a:endParaRPr lang="en-GB" altLang="en-US" sz="1200" dirty="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	</a:t>
            </a:r>
            <a:endParaRPr kumimoji="0" lang="en-GB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19599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2462</TotalTime>
  <Words>2963</Words>
  <Application>Microsoft Office PowerPoint</Application>
  <PresentationFormat>On-screen Show (4:3)</PresentationFormat>
  <Paragraphs>416</Paragraphs>
  <Slides>80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Further reading</vt:lpstr>
    </vt:vector>
  </TitlesOfParts>
  <Company>University of Manchester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mbessrj5</dc:creator>
  <cp:lastModifiedBy>Ian Kane</cp:lastModifiedBy>
  <cp:revision>135</cp:revision>
  <cp:lastPrinted>2015-02-16T12:05:55Z</cp:lastPrinted>
  <dcterms:created xsi:type="dcterms:W3CDTF">2014-02-16T13:49:27Z</dcterms:created>
  <dcterms:modified xsi:type="dcterms:W3CDTF">2021-04-12T08:22:45Z</dcterms:modified>
</cp:coreProperties>
</file>