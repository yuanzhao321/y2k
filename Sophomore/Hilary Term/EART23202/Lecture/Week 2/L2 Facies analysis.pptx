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8" r:id="rId3"/>
    <p:sldId id="259" r:id="rId4"/>
    <p:sldId id="265" r:id="rId5"/>
    <p:sldId id="260" r:id="rId6"/>
    <p:sldId id="261" r:id="rId7"/>
    <p:sldId id="263" r:id="rId8"/>
    <p:sldId id="262" r:id="rId9"/>
    <p:sldId id="266" r:id="rId10"/>
    <p:sldId id="272" r:id="rId11"/>
    <p:sldId id="276" r:id="rId12"/>
    <p:sldId id="267" r:id="rId13"/>
    <p:sldId id="275" r:id="rId14"/>
    <p:sldId id="283" r:id="rId15"/>
    <p:sldId id="269" r:id="rId16"/>
    <p:sldId id="271" r:id="rId17"/>
    <p:sldId id="281" r:id="rId18"/>
    <p:sldId id="280" r:id="rId19"/>
    <p:sldId id="282" r:id="rId20"/>
    <p:sldId id="278" r:id="rId21"/>
    <p:sldId id="279" r:id="rId22"/>
    <p:sldId id="284" r:id="rId23"/>
    <p:sldId id="290" r:id="rId24"/>
    <p:sldId id="288" r:id="rId25"/>
    <p:sldId id="286" r:id="rId26"/>
    <p:sldId id="343" r:id="rId27"/>
    <p:sldId id="344" r:id="rId28"/>
    <p:sldId id="285" r:id="rId29"/>
    <p:sldId id="264" r:id="rId30"/>
    <p:sldId id="287"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613" autoAdjust="0"/>
  </p:normalViewPr>
  <p:slideViewPr>
    <p:cSldViewPr>
      <p:cViewPr varScale="1">
        <p:scale>
          <a:sx n="53" d="100"/>
          <a:sy n="53" d="100"/>
        </p:scale>
        <p:origin x="1660" y="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A93371-B358-4519-9A6F-FD86BD00C560}" type="datetimeFigureOut">
              <a:rPr lang="en-GB" smtClean="0"/>
              <a:t>06/02/2023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8F2BD1-CE4C-4088-A7C5-8B384BFF8D23}" type="slidenum">
              <a:rPr lang="en-GB" smtClean="0"/>
              <a:t>‹#›</a:t>
            </a:fld>
            <a:endParaRPr lang="en-GB"/>
          </a:p>
        </p:txBody>
      </p:sp>
    </p:spTree>
    <p:extLst>
      <p:ext uri="{BB962C8B-B14F-4D97-AF65-F5344CB8AC3E}">
        <p14:creationId xmlns:p14="http://schemas.microsoft.com/office/powerpoint/2010/main" val="87158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In science, it is critical to distinguish between data (what’s there - </a:t>
            </a:r>
            <a:r>
              <a:rPr lang="en-GB" sz="1200" b="0" i="0" u="none" strike="noStrike" kern="1200" baseline="0" dirty="0" err="1">
                <a:solidFill>
                  <a:schemeClr val="tx1"/>
                </a:solidFill>
                <a:latin typeface="+mn-lt"/>
                <a:ea typeface="+mn-ea"/>
                <a:cs typeface="+mn-cs"/>
              </a:rPr>
              <a:t>lithofacies</a:t>
            </a:r>
            <a:r>
              <a:rPr lang="en-GB" sz="1200" b="0" i="0" u="none" strike="noStrike" kern="1200" baseline="0" dirty="0">
                <a:solidFill>
                  <a:schemeClr val="tx1"/>
                </a:solidFill>
                <a:latin typeface="+mn-lt"/>
                <a:ea typeface="+mn-ea"/>
                <a:cs typeface="+mn-cs"/>
              </a:rPr>
              <a:t>) and interpretations (how you think it got there – depositional environment). </a:t>
            </a:r>
            <a:endParaRPr lang="en-GB" dirty="0"/>
          </a:p>
        </p:txBody>
      </p:sp>
      <p:sp>
        <p:nvSpPr>
          <p:cNvPr id="4" name="Slide Number Placeholder 3"/>
          <p:cNvSpPr>
            <a:spLocks noGrp="1"/>
          </p:cNvSpPr>
          <p:nvPr>
            <p:ph type="sldNum" sz="quarter" idx="10"/>
          </p:nvPr>
        </p:nvSpPr>
        <p:spPr/>
        <p:txBody>
          <a:bodyPr/>
          <a:lstStyle/>
          <a:p>
            <a:fld id="{328F2BD1-CE4C-4088-A7C5-8B384BFF8D23}" type="slidenum">
              <a:rPr lang="en-GB" smtClean="0"/>
              <a:t>8</a:t>
            </a:fld>
            <a:endParaRPr lang="en-GB"/>
          </a:p>
        </p:txBody>
      </p:sp>
    </p:spTree>
    <p:extLst>
      <p:ext uri="{BB962C8B-B14F-4D97-AF65-F5344CB8AC3E}">
        <p14:creationId xmlns:p14="http://schemas.microsoft.com/office/powerpoint/2010/main" val="779493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don’t use my own papers because I’ve got a huge</a:t>
            </a:r>
            <a:r>
              <a:rPr lang="en-GB" baseline="0" dirty="0"/>
              <a:t> ego, it’s because I know them best!</a:t>
            </a:r>
            <a:endParaRPr lang="en-GB" dirty="0"/>
          </a:p>
        </p:txBody>
      </p:sp>
      <p:sp>
        <p:nvSpPr>
          <p:cNvPr id="4" name="Slide Number Placeholder 3"/>
          <p:cNvSpPr>
            <a:spLocks noGrp="1"/>
          </p:cNvSpPr>
          <p:nvPr>
            <p:ph type="sldNum" sz="quarter" idx="10"/>
          </p:nvPr>
        </p:nvSpPr>
        <p:spPr/>
        <p:txBody>
          <a:bodyPr/>
          <a:lstStyle/>
          <a:p>
            <a:fld id="{328F2BD1-CE4C-4088-A7C5-8B384BFF8D23}" type="slidenum">
              <a:rPr lang="en-GB" smtClean="0"/>
              <a:t>10</a:t>
            </a:fld>
            <a:endParaRPr lang="en-GB"/>
          </a:p>
        </p:txBody>
      </p:sp>
    </p:spTree>
    <p:extLst>
      <p:ext uri="{BB962C8B-B14F-4D97-AF65-F5344CB8AC3E}">
        <p14:creationId xmlns:p14="http://schemas.microsoft.com/office/powerpoint/2010/main" val="93234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Representative turbidite facies. (A) Thick-bedded turbidite with a sharp base, weak normal grading and</a:t>
            </a:r>
          </a:p>
          <a:p>
            <a:r>
              <a:rPr lang="en-GB" sz="1200" b="0" i="0" u="none" strike="noStrike" kern="1200" baseline="0" dirty="0">
                <a:solidFill>
                  <a:schemeClr val="tx1"/>
                </a:solidFill>
                <a:latin typeface="+mn-lt"/>
                <a:ea typeface="+mn-ea"/>
                <a:cs typeface="+mn-cs"/>
              </a:rPr>
              <a:t>with a clast-rich upper part; clasts are partly disaggregated generating clay-rich patches within the sandstone.</a:t>
            </a:r>
          </a:p>
          <a:p>
            <a:r>
              <a:rPr lang="en-GB" sz="1200" b="0" i="0" u="none" strike="noStrike" kern="1200" baseline="0" dirty="0">
                <a:solidFill>
                  <a:schemeClr val="tx1"/>
                </a:solidFill>
                <a:latin typeface="+mn-lt"/>
                <a:ea typeface="+mn-ea"/>
                <a:cs typeface="+mn-cs"/>
              </a:rPr>
              <a:t>(B) Erosional bed bases typically plane out on mudstones and cut downward in a stepwise manner through</a:t>
            </a:r>
          </a:p>
          <a:p>
            <a:r>
              <a:rPr lang="en-GB" sz="1200" b="0" i="0" u="none" strike="noStrike" kern="1200" baseline="0" dirty="0">
                <a:solidFill>
                  <a:schemeClr val="tx1"/>
                </a:solidFill>
                <a:latin typeface="+mn-lt"/>
                <a:ea typeface="+mn-ea"/>
                <a:cs typeface="+mn-cs"/>
              </a:rPr>
              <a:t>thin-bedded intervals, occasionally with contemporaneous lateral injection. (C) Erosional step at base of med-</a:t>
            </a:r>
          </a:p>
          <a:p>
            <a:r>
              <a:rPr lang="en-GB" sz="1200" b="0" i="0" u="none" strike="noStrike" kern="1200" baseline="0" dirty="0" err="1">
                <a:solidFill>
                  <a:schemeClr val="tx1"/>
                </a:solidFill>
                <a:latin typeface="+mn-lt"/>
                <a:ea typeface="+mn-ea"/>
                <a:cs typeface="+mn-cs"/>
              </a:rPr>
              <a:t>ium</a:t>
            </a:r>
            <a:r>
              <a:rPr lang="en-GB" sz="1200" b="0" i="0" u="none" strike="noStrike" kern="1200" baseline="0" dirty="0">
                <a:solidFill>
                  <a:schemeClr val="tx1"/>
                </a:solidFill>
                <a:latin typeface="+mn-lt"/>
                <a:ea typeface="+mn-ea"/>
                <a:cs typeface="+mn-cs"/>
              </a:rPr>
              <a:t>-bedded sandstone which is loaded into underlying thin-bedded silty turbidites. (D) Thin-bedded very fine-</a:t>
            </a:r>
          </a:p>
          <a:p>
            <a:r>
              <a:rPr lang="en-GB" sz="1200" b="0" i="0" u="none" strike="noStrike" kern="1200" baseline="0" dirty="0">
                <a:solidFill>
                  <a:schemeClr val="tx1"/>
                </a:solidFill>
                <a:latin typeface="+mn-lt"/>
                <a:ea typeface="+mn-ea"/>
                <a:cs typeface="+mn-cs"/>
              </a:rPr>
              <a:t>grained low-density turbidites. Lens cap is 55 mm in diameter. (E) Rippled bed top to low-density turbidite. (F)</a:t>
            </a:r>
          </a:p>
          <a:p>
            <a:r>
              <a:rPr lang="en-GB" sz="1200" b="0" i="0" u="none" strike="noStrike" kern="1200" baseline="0" dirty="0">
                <a:solidFill>
                  <a:schemeClr val="tx1"/>
                </a:solidFill>
                <a:latin typeface="+mn-lt"/>
                <a:ea typeface="+mn-ea"/>
                <a:cs typeface="+mn-cs"/>
              </a:rPr>
              <a:t>Plant imprints in an intra-bed division.</a:t>
            </a:r>
            <a:endParaRPr lang="en-GB" dirty="0"/>
          </a:p>
        </p:txBody>
      </p:sp>
      <p:sp>
        <p:nvSpPr>
          <p:cNvPr id="4" name="Slide Number Placeholder 3"/>
          <p:cNvSpPr>
            <a:spLocks noGrp="1"/>
          </p:cNvSpPr>
          <p:nvPr>
            <p:ph type="sldNum" sz="quarter" idx="10"/>
          </p:nvPr>
        </p:nvSpPr>
        <p:spPr/>
        <p:txBody>
          <a:bodyPr/>
          <a:lstStyle/>
          <a:p>
            <a:fld id="{328F2BD1-CE4C-4088-A7C5-8B384BFF8D23}" type="slidenum">
              <a:rPr lang="en-GB" smtClean="0"/>
              <a:t>12</a:t>
            </a:fld>
            <a:endParaRPr lang="en-GB"/>
          </a:p>
        </p:txBody>
      </p:sp>
    </p:spTree>
    <p:extLst>
      <p:ext uri="{BB962C8B-B14F-4D97-AF65-F5344CB8AC3E}">
        <p14:creationId xmlns:p14="http://schemas.microsoft.com/office/powerpoint/2010/main" val="992766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Representative hybrid-bed photographs (‘B’ and ‘T’ symbols indicate base and top of beds). (A) Bed showing</a:t>
            </a:r>
          </a:p>
          <a:p>
            <a:r>
              <a:rPr lang="en-GB" sz="1200" b="0" i="0" u="none" strike="noStrike" kern="1200" baseline="0" dirty="0">
                <a:solidFill>
                  <a:schemeClr val="tx1"/>
                </a:solidFill>
                <a:latin typeface="+mn-lt"/>
                <a:ea typeface="+mn-ea"/>
                <a:cs typeface="+mn-cs"/>
              </a:rPr>
              <a:t>intense interaction with the substrate and muddy upper part, these are typical in medial lobe settings. Pencil is 145</a:t>
            </a:r>
          </a:p>
          <a:p>
            <a:r>
              <a:rPr lang="en-GB" sz="1200" b="0" i="0" u="none" strike="noStrike" kern="1200" baseline="0" dirty="0">
                <a:solidFill>
                  <a:schemeClr val="tx1"/>
                </a:solidFill>
                <a:latin typeface="+mn-lt"/>
                <a:ea typeface="+mn-ea"/>
                <a:cs typeface="+mn-cs"/>
              </a:rPr>
              <a:t>mm long. (B) and (C) Hybrid beds with thick laminar/high-concentration flow deposits in their upper parts; these are</a:t>
            </a:r>
          </a:p>
          <a:p>
            <a:r>
              <a:rPr lang="en-GB" sz="1200" b="0" i="0" u="none" strike="noStrike" kern="1200" baseline="0" dirty="0">
                <a:solidFill>
                  <a:schemeClr val="tx1"/>
                </a:solidFill>
                <a:latin typeface="+mn-lt"/>
                <a:ea typeface="+mn-ea"/>
                <a:cs typeface="+mn-cs"/>
              </a:rPr>
              <a:t>typical in medial to distal settings. Lens cap is 55 mm in diameter. (D) Hybrid beds with large rafts of siltstone and</a:t>
            </a:r>
          </a:p>
          <a:p>
            <a:r>
              <a:rPr lang="en-GB" sz="1200" b="0" i="0" u="none" strike="noStrike" kern="1200" baseline="0" dirty="0">
                <a:solidFill>
                  <a:schemeClr val="tx1"/>
                </a:solidFill>
                <a:latin typeface="+mn-lt"/>
                <a:ea typeface="+mn-ea"/>
                <a:cs typeface="+mn-cs"/>
              </a:rPr>
              <a:t>mudstone. (E) and (F) Thin hybrid beds characteristic of the distal facies, with thin relatively clean sands at bed</a:t>
            </a:r>
          </a:p>
          <a:p>
            <a:r>
              <a:rPr lang="en-GB" sz="1200" b="0" i="0" u="none" strike="noStrike" kern="1200" baseline="0" dirty="0">
                <a:solidFill>
                  <a:schemeClr val="tx1"/>
                </a:solidFill>
                <a:latin typeface="+mn-lt"/>
                <a:ea typeface="+mn-ea"/>
                <a:cs typeface="+mn-cs"/>
              </a:rPr>
              <a:t>bases and overlying layers of varying mud content. Hammer handle is 150 mm long.</a:t>
            </a:r>
            <a:endParaRPr lang="en-GB" dirty="0"/>
          </a:p>
        </p:txBody>
      </p:sp>
      <p:sp>
        <p:nvSpPr>
          <p:cNvPr id="4" name="Slide Number Placeholder 3"/>
          <p:cNvSpPr>
            <a:spLocks noGrp="1"/>
          </p:cNvSpPr>
          <p:nvPr>
            <p:ph type="sldNum" sz="quarter" idx="10"/>
          </p:nvPr>
        </p:nvSpPr>
        <p:spPr/>
        <p:txBody>
          <a:bodyPr/>
          <a:lstStyle/>
          <a:p>
            <a:fld id="{328F2BD1-CE4C-4088-A7C5-8B384BFF8D23}" type="slidenum">
              <a:rPr lang="en-GB" smtClean="0"/>
              <a:t>13</a:t>
            </a:fld>
            <a:endParaRPr lang="en-GB"/>
          </a:p>
        </p:txBody>
      </p:sp>
    </p:spTree>
    <p:extLst>
      <p:ext uri="{BB962C8B-B14F-4D97-AF65-F5344CB8AC3E}">
        <p14:creationId xmlns:p14="http://schemas.microsoft.com/office/powerpoint/2010/main" val="1128762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6B3CAFA-F40C-45AA-AD32-4442F86B7071}" type="datetimeFigureOut">
              <a:rPr lang="en-GB" smtClean="0"/>
              <a:t>06/02/2023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59E3A86-00A9-4558-A82A-8362524D4609}" type="slidenum">
              <a:rPr lang="en-GB" smtClean="0"/>
              <a:t>‹#›</a:t>
            </a:fld>
            <a:endParaRPr lang="en-GB"/>
          </a:p>
        </p:txBody>
      </p:sp>
    </p:spTree>
    <p:extLst>
      <p:ext uri="{BB962C8B-B14F-4D97-AF65-F5344CB8AC3E}">
        <p14:creationId xmlns:p14="http://schemas.microsoft.com/office/powerpoint/2010/main" val="521499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6B3CAFA-F40C-45AA-AD32-4442F86B7071}" type="datetimeFigureOut">
              <a:rPr lang="en-GB" smtClean="0"/>
              <a:t>06/02/2023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59E3A86-00A9-4558-A82A-8362524D4609}" type="slidenum">
              <a:rPr lang="en-GB" smtClean="0"/>
              <a:t>‹#›</a:t>
            </a:fld>
            <a:endParaRPr lang="en-GB"/>
          </a:p>
        </p:txBody>
      </p:sp>
    </p:spTree>
    <p:extLst>
      <p:ext uri="{BB962C8B-B14F-4D97-AF65-F5344CB8AC3E}">
        <p14:creationId xmlns:p14="http://schemas.microsoft.com/office/powerpoint/2010/main" val="158156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B3CAFA-F40C-45AA-AD32-4442F86B7071}" type="datetimeFigureOut">
              <a:rPr lang="en-GB" smtClean="0"/>
              <a:t>06/02/2023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59E3A86-00A9-4558-A82A-8362524D4609}" type="slidenum">
              <a:rPr lang="en-GB" smtClean="0"/>
              <a:t>‹#›</a:t>
            </a:fld>
            <a:endParaRPr lang="en-GB"/>
          </a:p>
        </p:txBody>
      </p:sp>
    </p:spTree>
    <p:extLst>
      <p:ext uri="{BB962C8B-B14F-4D97-AF65-F5344CB8AC3E}">
        <p14:creationId xmlns:p14="http://schemas.microsoft.com/office/powerpoint/2010/main" val="3026728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16B3CAFA-F40C-45AA-AD32-4442F86B7071}" type="datetimeFigureOut">
              <a:rPr lang="en-GB" smtClean="0"/>
              <a:t>06/02/2023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59E3A86-00A9-4558-A82A-8362524D4609}" type="slidenum">
              <a:rPr lang="en-GB" smtClean="0"/>
              <a:t>‹#›</a:t>
            </a:fld>
            <a:endParaRPr lang="en-GB"/>
          </a:p>
        </p:txBody>
      </p:sp>
    </p:spTree>
    <p:extLst>
      <p:ext uri="{BB962C8B-B14F-4D97-AF65-F5344CB8AC3E}">
        <p14:creationId xmlns:p14="http://schemas.microsoft.com/office/powerpoint/2010/main" val="2724085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6B3CAFA-F40C-45AA-AD32-4442F86B7071}" type="datetimeFigureOut">
              <a:rPr lang="en-GB" smtClean="0"/>
              <a:t>06/02/2023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59E3A86-00A9-4558-A82A-8362524D4609}" type="slidenum">
              <a:rPr lang="en-GB" smtClean="0"/>
              <a:t>‹#›</a:t>
            </a:fld>
            <a:endParaRPr lang="en-GB"/>
          </a:p>
        </p:txBody>
      </p:sp>
    </p:spTree>
    <p:extLst>
      <p:ext uri="{BB962C8B-B14F-4D97-AF65-F5344CB8AC3E}">
        <p14:creationId xmlns:p14="http://schemas.microsoft.com/office/powerpoint/2010/main" val="1561962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6B3CAFA-F40C-45AA-AD32-4442F86B7071}" type="datetimeFigureOut">
              <a:rPr lang="en-GB" smtClean="0"/>
              <a:t>06/02/2023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59E3A86-00A9-4558-A82A-8362524D4609}" type="slidenum">
              <a:rPr lang="en-GB" smtClean="0"/>
              <a:t>‹#›</a:t>
            </a:fld>
            <a:endParaRPr lang="en-GB"/>
          </a:p>
        </p:txBody>
      </p:sp>
    </p:spTree>
    <p:extLst>
      <p:ext uri="{BB962C8B-B14F-4D97-AF65-F5344CB8AC3E}">
        <p14:creationId xmlns:p14="http://schemas.microsoft.com/office/powerpoint/2010/main" val="3770972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B3CAFA-F40C-45AA-AD32-4442F86B7071}" type="datetimeFigureOut">
              <a:rPr lang="en-GB" smtClean="0"/>
              <a:t>06/02/2023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59E3A86-00A9-4558-A82A-8362524D4609}" type="slidenum">
              <a:rPr lang="en-GB" smtClean="0"/>
              <a:t>‹#›</a:t>
            </a:fld>
            <a:endParaRPr lang="en-GB"/>
          </a:p>
        </p:txBody>
      </p:sp>
    </p:spTree>
    <p:extLst>
      <p:ext uri="{BB962C8B-B14F-4D97-AF65-F5344CB8AC3E}">
        <p14:creationId xmlns:p14="http://schemas.microsoft.com/office/powerpoint/2010/main" val="2983062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B3CAFA-F40C-45AA-AD32-4442F86B7071}" type="datetimeFigureOut">
              <a:rPr lang="en-GB" smtClean="0"/>
              <a:t>06/02/2023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59E3A86-00A9-4558-A82A-8362524D4609}" type="slidenum">
              <a:rPr lang="en-GB" smtClean="0"/>
              <a:t>‹#›</a:t>
            </a:fld>
            <a:endParaRPr lang="en-GB"/>
          </a:p>
        </p:txBody>
      </p:sp>
    </p:spTree>
    <p:extLst>
      <p:ext uri="{BB962C8B-B14F-4D97-AF65-F5344CB8AC3E}">
        <p14:creationId xmlns:p14="http://schemas.microsoft.com/office/powerpoint/2010/main" val="791251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B3CAFA-F40C-45AA-AD32-4442F86B7071}" type="datetimeFigureOut">
              <a:rPr lang="en-GB" smtClean="0"/>
              <a:t>06/02/2023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59E3A86-00A9-4558-A82A-8362524D4609}" type="slidenum">
              <a:rPr lang="en-GB" smtClean="0"/>
              <a:t>‹#›</a:t>
            </a:fld>
            <a:endParaRPr lang="en-GB"/>
          </a:p>
        </p:txBody>
      </p:sp>
    </p:spTree>
    <p:extLst>
      <p:ext uri="{BB962C8B-B14F-4D97-AF65-F5344CB8AC3E}">
        <p14:creationId xmlns:p14="http://schemas.microsoft.com/office/powerpoint/2010/main" val="2246146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6B3CAFA-F40C-45AA-AD32-4442F86B7071}" type="datetimeFigureOut">
              <a:rPr lang="en-GB" smtClean="0"/>
              <a:t>06/02/2023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59E3A86-00A9-4558-A82A-8362524D4609}" type="slidenum">
              <a:rPr lang="en-GB" smtClean="0"/>
              <a:t>‹#›</a:t>
            </a:fld>
            <a:endParaRPr lang="en-GB"/>
          </a:p>
        </p:txBody>
      </p:sp>
    </p:spTree>
    <p:extLst>
      <p:ext uri="{BB962C8B-B14F-4D97-AF65-F5344CB8AC3E}">
        <p14:creationId xmlns:p14="http://schemas.microsoft.com/office/powerpoint/2010/main" val="3864225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6B3CAFA-F40C-45AA-AD32-4442F86B7071}" type="datetimeFigureOut">
              <a:rPr lang="en-GB" smtClean="0"/>
              <a:t>06/02/2023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59E3A86-00A9-4558-A82A-8362524D4609}" type="slidenum">
              <a:rPr lang="en-GB" smtClean="0"/>
              <a:t>‹#›</a:t>
            </a:fld>
            <a:endParaRPr lang="en-GB"/>
          </a:p>
        </p:txBody>
      </p:sp>
    </p:spTree>
    <p:extLst>
      <p:ext uri="{BB962C8B-B14F-4D97-AF65-F5344CB8AC3E}">
        <p14:creationId xmlns:p14="http://schemas.microsoft.com/office/powerpoint/2010/main" val="2759959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B3CAFA-F40C-45AA-AD32-4442F86B7071}" type="datetimeFigureOut">
              <a:rPr lang="en-GB" smtClean="0"/>
              <a:t>06/02/2023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9E3A86-00A9-4558-A82A-8362524D4609}" type="slidenum">
              <a:rPr lang="en-GB" smtClean="0"/>
              <a:t>‹#›</a:t>
            </a:fld>
            <a:endParaRPr lang="en-GB"/>
          </a:p>
        </p:txBody>
      </p:sp>
    </p:spTree>
    <p:extLst>
      <p:ext uri="{BB962C8B-B14F-4D97-AF65-F5344CB8AC3E}">
        <p14:creationId xmlns:p14="http://schemas.microsoft.com/office/powerpoint/2010/main" val="1309737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4" Type="http://schemas.openxmlformats.org/officeDocument/2006/relationships/image" Target="../media/image23.jpeg"/></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31374" t="5532" r="11755" b="46133"/>
          <a:stretch/>
        </p:blipFill>
        <p:spPr bwMode="auto">
          <a:xfrm>
            <a:off x="0" y="0"/>
            <a:ext cx="9144000"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79512" y="116632"/>
            <a:ext cx="8856984" cy="646331"/>
          </a:xfrm>
          <a:prstGeom prst="rect">
            <a:avLst/>
          </a:prstGeom>
          <a:noFill/>
        </p:spPr>
        <p:txBody>
          <a:bodyPr wrap="square" rtlCol="0">
            <a:spAutoFit/>
          </a:bodyPr>
          <a:lstStyle/>
          <a:p>
            <a:r>
              <a:rPr lang="en-GB" sz="3600" b="1" dirty="0">
                <a:solidFill>
                  <a:schemeClr val="bg1"/>
                </a:solidFill>
              </a:rPr>
              <a:t>Facies and Facies analysis</a:t>
            </a:r>
          </a:p>
        </p:txBody>
      </p:sp>
      <p:sp>
        <p:nvSpPr>
          <p:cNvPr id="6" name="TextBox 5"/>
          <p:cNvSpPr txBox="1"/>
          <p:nvPr/>
        </p:nvSpPr>
        <p:spPr>
          <a:xfrm>
            <a:off x="107504" y="6309320"/>
            <a:ext cx="6768752" cy="461665"/>
          </a:xfrm>
          <a:prstGeom prst="rect">
            <a:avLst/>
          </a:prstGeom>
          <a:noFill/>
        </p:spPr>
        <p:txBody>
          <a:bodyPr wrap="square" rtlCol="0">
            <a:spAutoFit/>
          </a:bodyPr>
          <a:lstStyle/>
          <a:p>
            <a:r>
              <a:rPr lang="en-GB" sz="2400" b="1" dirty="0">
                <a:solidFill>
                  <a:schemeClr val="bg1"/>
                </a:solidFill>
              </a:rPr>
              <a:t>EART23202, Ian Kane.</a:t>
            </a:r>
          </a:p>
        </p:txBody>
      </p:sp>
    </p:spTree>
    <p:extLst>
      <p:ext uri="{BB962C8B-B14F-4D97-AF65-F5344CB8AC3E}">
        <p14:creationId xmlns:p14="http://schemas.microsoft.com/office/powerpoint/2010/main" val="2175639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Facies</a:t>
            </a:r>
          </a:p>
        </p:txBody>
      </p:sp>
      <p:sp>
        <p:nvSpPr>
          <p:cNvPr id="4" name="TextBox 3"/>
          <p:cNvSpPr txBox="1"/>
          <p:nvPr/>
        </p:nvSpPr>
        <p:spPr>
          <a:xfrm>
            <a:off x="467544" y="1340768"/>
            <a:ext cx="8280920" cy="1200329"/>
          </a:xfrm>
          <a:prstGeom prst="rect">
            <a:avLst/>
          </a:prstGeom>
          <a:noFill/>
        </p:spPr>
        <p:txBody>
          <a:bodyPr wrap="square" rtlCol="0">
            <a:spAutoFit/>
          </a:bodyPr>
          <a:lstStyle/>
          <a:p>
            <a:r>
              <a:rPr lang="en-GB" sz="2400" dirty="0"/>
              <a:t>Facies: a body of sediment or rock characterised by a particular combination of lithological, physical and biological characteristics that distinguishes it from units above, below or adjacent to it.</a:t>
            </a:r>
          </a:p>
        </p:txBody>
      </p:sp>
      <p:pic>
        <p:nvPicPr>
          <p:cNvPr id="1026" name="Picture 2" descr="F:\Back up 26_01_2016\Annot\Annot\Ben &amp; Students\Pudding Stones and Fan Delta Feeder\Annot Day 7 014.jpg"/>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rightnessContrast bright="-12000" contrast="52000"/>
                    </a14:imgEffect>
                  </a14:imgLayer>
                </a14:imgProps>
              </a:ext>
              <a:ext uri="{28A0092B-C50C-407E-A947-70E740481C1C}">
                <a14:useLocalDpi xmlns:a14="http://schemas.microsoft.com/office/drawing/2010/main" val="0"/>
              </a:ext>
            </a:extLst>
          </a:blip>
          <a:srcRect l="8124" t="22311" r="11689" b="13511"/>
          <a:stretch/>
        </p:blipFill>
        <p:spPr bwMode="auto">
          <a:xfrm>
            <a:off x="4211960" y="2908330"/>
            <a:ext cx="4561224" cy="29689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67544" y="2780928"/>
            <a:ext cx="3600400" cy="4524315"/>
          </a:xfrm>
          <a:prstGeom prst="rect">
            <a:avLst/>
          </a:prstGeom>
          <a:noFill/>
        </p:spPr>
        <p:txBody>
          <a:bodyPr wrap="square" rtlCol="0">
            <a:spAutoFit/>
          </a:bodyPr>
          <a:lstStyle/>
          <a:p>
            <a:r>
              <a:rPr lang="en-GB" b="1" dirty="0"/>
              <a:t>What descriptors might we use?</a:t>
            </a:r>
          </a:p>
          <a:p>
            <a:endParaRPr lang="en-GB" dirty="0"/>
          </a:p>
          <a:p>
            <a:pPr marL="285750" indent="-285750">
              <a:buFont typeface="Arial" panose="020B0604020202020204" pitchFamily="34" charset="0"/>
              <a:buChar char="•"/>
            </a:pPr>
            <a:r>
              <a:rPr lang="en-GB" dirty="0"/>
              <a:t>Grain type and composition</a:t>
            </a:r>
          </a:p>
          <a:p>
            <a:pPr marL="285750" indent="-285750">
              <a:buFont typeface="Arial" panose="020B0604020202020204" pitchFamily="34" charset="0"/>
              <a:buChar char="•"/>
            </a:pPr>
            <a:r>
              <a:rPr lang="en-GB" dirty="0"/>
              <a:t>Texture (grain size, sorting, roundness)</a:t>
            </a:r>
          </a:p>
          <a:p>
            <a:pPr marL="285750" indent="-285750">
              <a:buFont typeface="Arial" panose="020B0604020202020204" pitchFamily="34" charset="0"/>
              <a:buChar char="•"/>
            </a:pPr>
            <a:r>
              <a:rPr lang="en-GB" dirty="0"/>
              <a:t>Sedimentary structures</a:t>
            </a:r>
          </a:p>
          <a:p>
            <a:pPr marL="285750" indent="-285750">
              <a:buFont typeface="Arial" panose="020B0604020202020204" pitchFamily="34" charset="0"/>
              <a:buChar char="•"/>
            </a:pPr>
            <a:r>
              <a:rPr lang="en-GB" dirty="0"/>
              <a:t>Colour</a:t>
            </a:r>
          </a:p>
          <a:p>
            <a:pPr marL="285750" indent="-285750">
              <a:buFont typeface="Arial" panose="020B0604020202020204" pitchFamily="34" charset="0"/>
              <a:buChar char="•"/>
            </a:pPr>
            <a:r>
              <a:rPr lang="en-GB" dirty="0"/>
              <a:t>Biological structures and content (traces fossils, body fossils)</a:t>
            </a:r>
          </a:p>
          <a:p>
            <a:endParaRPr lang="en-GB" dirty="0"/>
          </a:p>
          <a:p>
            <a:r>
              <a:rPr lang="en-GB" b="1" dirty="0"/>
              <a:t>What’s the point of facies?</a:t>
            </a:r>
          </a:p>
          <a:p>
            <a:endParaRPr lang="en-GB" b="1" dirty="0"/>
          </a:p>
          <a:p>
            <a:r>
              <a:rPr lang="en-GB" b="1" dirty="0"/>
              <a:t>What determines the scale of facies?</a:t>
            </a:r>
          </a:p>
          <a:p>
            <a:endParaRPr lang="en-GB" b="1" dirty="0"/>
          </a:p>
          <a:p>
            <a:endParaRPr lang="en-GB" dirty="0"/>
          </a:p>
        </p:txBody>
      </p:sp>
      <p:sp>
        <p:nvSpPr>
          <p:cNvPr id="7" name="TextBox 6"/>
          <p:cNvSpPr txBox="1"/>
          <p:nvPr/>
        </p:nvSpPr>
        <p:spPr>
          <a:xfrm>
            <a:off x="5364088" y="5877272"/>
            <a:ext cx="3779912" cy="646331"/>
          </a:xfrm>
          <a:prstGeom prst="rect">
            <a:avLst/>
          </a:prstGeom>
          <a:noFill/>
        </p:spPr>
        <p:txBody>
          <a:bodyPr wrap="square" rtlCol="0">
            <a:spAutoFit/>
          </a:bodyPr>
          <a:lstStyle/>
          <a:p>
            <a:r>
              <a:rPr lang="en-GB" dirty="0"/>
              <a:t>Fan-delta sandstones, Oligocene, St Antonin, France (photo: IK).</a:t>
            </a:r>
          </a:p>
        </p:txBody>
      </p:sp>
    </p:spTree>
    <p:extLst>
      <p:ext uri="{BB962C8B-B14F-4D97-AF65-F5344CB8AC3E}">
        <p14:creationId xmlns:p14="http://schemas.microsoft.com/office/powerpoint/2010/main" val="2708613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Back up 26_01_2016\Annot\Annot\IK Photos\Braux\1\Picture 09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normAutofit/>
          </a:bodyPr>
          <a:lstStyle/>
          <a:p>
            <a:r>
              <a:rPr lang="en-GB" b="1" dirty="0"/>
              <a:t>Let’s have a go –what’s this facies?</a:t>
            </a:r>
          </a:p>
        </p:txBody>
      </p:sp>
      <p:sp>
        <p:nvSpPr>
          <p:cNvPr id="4" name="TextBox 3"/>
          <p:cNvSpPr txBox="1"/>
          <p:nvPr/>
        </p:nvSpPr>
        <p:spPr>
          <a:xfrm>
            <a:off x="4499992" y="6341258"/>
            <a:ext cx="5004048" cy="400110"/>
          </a:xfrm>
          <a:prstGeom prst="rect">
            <a:avLst/>
          </a:prstGeom>
          <a:noFill/>
        </p:spPr>
        <p:txBody>
          <a:bodyPr wrap="square" rtlCol="0">
            <a:spAutoFit/>
          </a:bodyPr>
          <a:lstStyle/>
          <a:p>
            <a:r>
              <a:rPr lang="en-GB" sz="2000" b="1" dirty="0" err="1">
                <a:solidFill>
                  <a:schemeClr val="bg1"/>
                </a:solidFill>
              </a:rPr>
              <a:t>Gres</a:t>
            </a:r>
            <a:r>
              <a:rPr lang="en-GB" sz="2000" b="1" dirty="0">
                <a:solidFill>
                  <a:schemeClr val="bg1"/>
                </a:solidFill>
              </a:rPr>
              <a:t> </a:t>
            </a:r>
            <a:r>
              <a:rPr lang="en-GB" sz="2000" b="1" dirty="0" err="1">
                <a:solidFill>
                  <a:schemeClr val="bg1"/>
                </a:solidFill>
              </a:rPr>
              <a:t>d’Annot</a:t>
            </a:r>
            <a:r>
              <a:rPr lang="en-GB" sz="2000" b="1" dirty="0">
                <a:solidFill>
                  <a:schemeClr val="bg1"/>
                </a:solidFill>
              </a:rPr>
              <a:t>, Annot, S. France (photo: IK).</a:t>
            </a:r>
          </a:p>
        </p:txBody>
      </p:sp>
    </p:spTree>
    <p:extLst>
      <p:ext uri="{BB962C8B-B14F-4D97-AF65-F5344CB8AC3E}">
        <p14:creationId xmlns:p14="http://schemas.microsoft.com/office/powerpoint/2010/main" val="2708613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Back up 26_01_2016\Annot\Annot\IK Photos\Braux\1\Picture 095.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5166"/>
          <a:stretch/>
        </p:blipFill>
        <p:spPr bwMode="auto">
          <a:xfrm>
            <a:off x="4130040" y="0"/>
            <a:ext cx="501396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44624"/>
            <a:ext cx="8229600" cy="1143000"/>
          </a:xfrm>
        </p:spPr>
        <p:txBody>
          <a:bodyPr>
            <a:normAutofit fontScale="90000"/>
          </a:bodyPr>
          <a:lstStyle/>
          <a:p>
            <a:r>
              <a:rPr lang="en-GB" b="1" dirty="0"/>
              <a:t>Let’s have a go   – what’s this facies?</a:t>
            </a:r>
          </a:p>
        </p:txBody>
      </p:sp>
      <p:sp>
        <p:nvSpPr>
          <p:cNvPr id="3" name="TextBox 2"/>
          <p:cNvSpPr txBox="1"/>
          <p:nvPr/>
        </p:nvSpPr>
        <p:spPr>
          <a:xfrm>
            <a:off x="179512" y="1412776"/>
            <a:ext cx="3950528" cy="5878532"/>
          </a:xfrm>
          <a:prstGeom prst="rect">
            <a:avLst/>
          </a:prstGeom>
          <a:noFill/>
        </p:spPr>
        <p:txBody>
          <a:bodyPr wrap="square" rtlCol="0">
            <a:spAutoFit/>
          </a:bodyPr>
          <a:lstStyle/>
          <a:p>
            <a:pPr marL="285750" indent="-285750">
              <a:buFont typeface="Arial" panose="020B0604020202020204" pitchFamily="34" charset="0"/>
              <a:buChar char="•"/>
            </a:pPr>
            <a:r>
              <a:rPr lang="en-GB" sz="2000" b="1" dirty="0"/>
              <a:t>Grain type and composition</a:t>
            </a:r>
          </a:p>
          <a:p>
            <a:r>
              <a:rPr lang="en-GB" sz="2000" dirty="0"/>
              <a:t>Quartz, feldspar, mica (sandstone)</a:t>
            </a:r>
          </a:p>
          <a:p>
            <a:pPr marL="285750" indent="-285750">
              <a:buFont typeface="Arial" panose="020B0604020202020204" pitchFamily="34" charset="0"/>
              <a:buChar char="•"/>
            </a:pPr>
            <a:r>
              <a:rPr lang="en-GB" sz="2000" b="1" dirty="0"/>
              <a:t>Texture</a:t>
            </a:r>
          </a:p>
          <a:p>
            <a:r>
              <a:rPr lang="en-GB" sz="2000" dirty="0"/>
              <a:t>Fine sand &lt;125Mu, well sorted, well rounded</a:t>
            </a:r>
          </a:p>
          <a:p>
            <a:pPr marL="285750" indent="-285750">
              <a:buFont typeface="Arial" panose="020B0604020202020204" pitchFamily="34" charset="0"/>
              <a:buChar char="•"/>
            </a:pPr>
            <a:r>
              <a:rPr lang="en-GB" sz="2000" b="1" dirty="0"/>
              <a:t>Sedimentary structures</a:t>
            </a:r>
          </a:p>
          <a:p>
            <a:r>
              <a:rPr lang="en-GB" sz="2000" dirty="0"/>
              <a:t>Plane-parallel lamination</a:t>
            </a:r>
          </a:p>
          <a:p>
            <a:r>
              <a:rPr lang="en-GB" sz="2000" dirty="0"/>
              <a:t>Ripple cross lamination</a:t>
            </a:r>
          </a:p>
          <a:p>
            <a:pPr marL="285750" indent="-285750">
              <a:buFont typeface="Arial" panose="020B0604020202020204" pitchFamily="34" charset="0"/>
              <a:buChar char="•"/>
            </a:pPr>
            <a:r>
              <a:rPr lang="en-GB" sz="2000" b="1" dirty="0"/>
              <a:t>Colour</a:t>
            </a:r>
          </a:p>
          <a:p>
            <a:r>
              <a:rPr lang="en-GB" sz="2000" dirty="0"/>
              <a:t>Beige-brown layers</a:t>
            </a:r>
          </a:p>
          <a:p>
            <a:pPr marL="285750" indent="-285750">
              <a:buFont typeface="Arial" panose="020B0604020202020204" pitchFamily="34" charset="0"/>
              <a:buChar char="•"/>
            </a:pPr>
            <a:r>
              <a:rPr lang="en-GB" sz="2000" b="1" dirty="0"/>
              <a:t>Biological structures and content </a:t>
            </a:r>
            <a:r>
              <a:rPr lang="en-GB" sz="2000" dirty="0"/>
              <a:t>(traces fossils, body fossils)</a:t>
            </a:r>
          </a:p>
          <a:p>
            <a:r>
              <a:rPr lang="en-GB" sz="2000" dirty="0"/>
              <a:t>Nothing obvious in this photo</a:t>
            </a:r>
          </a:p>
          <a:p>
            <a:endParaRPr lang="en-GB" sz="2000" dirty="0"/>
          </a:p>
          <a:p>
            <a:r>
              <a:rPr lang="en-GB" sz="2000" b="1" dirty="0"/>
              <a:t>Facies: </a:t>
            </a:r>
          </a:p>
          <a:p>
            <a:r>
              <a:rPr lang="en-GB" sz="2000" i="1" dirty="0"/>
              <a:t>Fine-grained, laminated and cross laminated sandstone</a:t>
            </a:r>
          </a:p>
          <a:p>
            <a:endParaRPr lang="en-GB" dirty="0"/>
          </a:p>
          <a:p>
            <a:endParaRPr lang="en-GB" dirty="0"/>
          </a:p>
        </p:txBody>
      </p:sp>
    </p:spTree>
    <p:extLst>
      <p:ext uri="{BB962C8B-B14F-4D97-AF65-F5344CB8AC3E}">
        <p14:creationId xmlns:p14="http://schemas.microsoft.com/office/powerpoint/2010/main" val="3569408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3232" cy="1143000"/>
          </a:xfrm>
        </p:spPr>
        <p:txBody>
          <a:bodyPr>
            <a:normAutofit/>
          </a:bodyPr>
          <a:lstStyle/>
          <a:p>
            <a:r>
              <a:rPr lang="en-GB" b="1" dirty="0"/>
              <a:t>We have defined a ‘</a:t>
            </a:r>
            <a:r>
              <a:rPr lang="en-GB" b="1" dirty="0" err="1"/>
              <a:t>lithofacies</a:t>
            </a:r>
            <a:r>
              <a:rPr lang="en-GB" b="1" dirty="0"/>
              <a:t>’</a:t>
            </a:r>
          </a:p>
        </p:txBody>
      </p:sp>
      <p:sp>
        <p:nvSpPr>
          <p:cNvPr id="4" name="TextBox 3"/>
          <p:cNvSpPr txBox="1"/>
          <p:nvPr/>
        </p:nvSpPr>
        <p:spPr>
          <a:xfrm>
            <a:off x="179512" y="1556792"/>
            <a:ext cx="4140460" cy="6401753"/>
          </a:xfrm>
          <a:prstGeom prst="rect">
            <a:avLst/>
          </a:prstGeom>
          <a:noFill/>
        </p:spPr>
        <p:txBody>
          <a:bodyPr wrap="square" rtlCol="0">
            <a:spAutoFit/>
          </a:bodyPr>
          <a:lstStyle/>
          <a:p>
            <a:pPr marL="285750" indent="-285750">
              <a:buFont typeface="Arial" panose="020B0604020202020204" pitchFamily="34" charset="0"/>
              <a:buChar char="•"/>
            </a:pPr>
            <a:r>
              <a:rPr lang="en-GB" sz="2000" dirty="0"/>
              <a:t>The facies name we chose reflects the characters of the rock that are observable</a:t>
            </a:r>
          </a:p>
          <a:p>
            <a:pPr marL="285750" indent="-285750">
              <a:buFont typeface="Arial" panose="020B0604020202020204" pitchFamily="34" charset="0"/>
              <a:buChar char="•"/>
            </a:pPr>
            <a:endParaRPr lang="en-GB" sz="2000" i="1" dirty="0"/>
          </a:p>
          <a:p>
            <a:pPr marL="285750" indent="-285750">
              <a:buFont typeface="Arial" panose="020B0604020202020204" pitchFamily="34" charset="0"/>
              <a:buChar char="•"/>
            </a:pPr>
            <a:r>
              <a:rPr lang="en-GB" sz="2000" i="1" dirty="0"/>
              <a:t>What does it tell us? </a:t>
            </a:r>
            <a:r>
              <a:rPr lang="en-GB" sz="2000" dirty="0"/>
              <a:t>It gives us a bucket into which we can put similar observations when rapidly logging or mapping, or following more detailed section measurements.</a:t>
            </a:r>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r>
              <a:rPr lang="en-GB" sz="2000" dirty="0"/>
              <a:t>We can use this facies subdivision to analyse vertical and or lateral trends in the distribution of facies</a:t>
            </a:r>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r>
              <a:rPr lang="en-GB" sz="2000" dirty="0"/>
              <a:t>What scale does facies apply to?</a:t>
            </a:r>
          </a:p>
          <a:p>
            <a:pPr lvl="1"/>
            <a:endParaRPr lang="en-GB" b="1" dirty="0"/>
          </a:p>
          <a:p>
            <a:endParaRPr lang="en-GB" b="1" dirty="0"/>
          </a:p>
          <a:p>
            <a:endParaRPr lang="en-GB" dirty="0"/>
          </a:p>
          <a:p>
            <a:endParaRPr lang="en-GB" dirty="0"/>
          </a:p>
          <a:p>
            <a:endParaRPr lang="en-GB" dirty="0"/>
          </a:p>
        </p:txBody>
      </p:sp>
      <p:pic>
        <p:nvPicPr>
          <p:cNvPr id="3074" name="Picture 2" descr="F:\Back up 26_01_2016\Annot\Annot\IK Photos\Chalufy\1\Picture 045.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8167" t="13731" r="24000"/>
          <a:stretch/>
        </p:blipFill>
        <p:spPr bwMode="auto">
          <a:xfrm>
            <a:off x="4572000" y="1234440"/>
            <a:ext cx="4373880" cy="525893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608512" y="6444044"/>
            <a:ext cx="5004048" cy="369332"/>
          </a:xfrm>
          <a:prstGeom prst="rect">
            <a:avLst/>
          </a:prstGeom>
          <a:noFill/>
        </p:spPr>
        <p:txBody>
          <a:bodyPr wrap="square" rtlCol="0">
            <a:spAutoFit/>
          </a:bodyPr>
          <a:lstStyle/>
          <a:p>
            <a:r>
              <a:rPr lang="en-GB" b="1" dirty="0" err="1"/>
              <a:t>Gres</a:t>
            </a:r>
            <a:r>
              <a:rPr lang="en-GB" b="1" dirty="0"/>
              <a:t> </a:t>
            </a:r>
            <a:r>
              <a:rPr lang="en-GB" b="1" dirty="0" err="1"/>
              <a:t>d’Annot,Chalufy</a:t>
            </a:r>
            <a:r>
              <a:rPr lang="en-GB" b="1" dirty="0"/>
              <a:t>, S. France (photo: IK).</a:t>
            </a:r>
          </a:p>
        </p:txBody>
      </p:sp>
    </p:spTree>
    <p:extLst>
      <p:ext uri="{BB962C8B-B14F-4D97-AF65-F5344CB8AC3E}">
        <p14:creationId xmlns:p14="http://schemas.microsoft.com/office/powerpoint/2010/main" val="2708613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862772" cy="1143000"/>
          </a:xfrm>
        </p:spPr>
        <p:txBody>
          <a:bodyPr/>
          <a:lstStyle/>
          <a:p>
            <a:pPr algn="l"/>
            <a:r>
              <a:rPr lang="en-GB" b="1" dirty="0"/>
              <a:t>Scale</a:t>
            </a:r>
          </a:p>
        </p:txBody>
      </p:sp>
      <p:sp>
        <p:nvSpPr>
          <p:cNvPr id="3" name="TextBox 2"/>
          <p:cNvSpPr txBox="1"/>
          <p:nvPr/>
        </p:nvSpPr>
        <p:spPr>
          <a:xfrm>
            <a:off x="179512" y="1556792"/>
            <a:ext cx="3528392" cy="6678751"/>
          </a:xfrm>
          <a:prstGeom prst="rect">
            <a:avLst/>
          </a:prstGeom>
          <a:noFill/>
        </p:spPr>
        <p:txBody>
          <a:bodyPr wrap="square" rtlCol="0">
            <a:spAutoFit/>
          </a:bodyPr>
          <a:lstStyle/>
          <a:p>
            <a:pPr marL="285750" indent="-285750">
              <a:buFont typeface="Arial" panose="020B0604020202020204" pitchFamily="34" charset="0"/>
              <a:buChar char="•"/>
            </a:pPr>
            <a:r>
              <a:rPr lang="en-GB" sz="2000" b="1" dirty="0"/>
              <a:t>What are we trying to achieve?</a:t>
            </a:r>
          </a:p>
          <a:p>
            <a:pPr marL="285750" indent="-285750">
              <a:buFont typeface="Arial" panose="020B0604020202020204" pitchFamily="34" charset="0"/>
              <a:buChar char="•"/>
            </a:pPr>
            <a:endParaRPr lang="en-GB" sz="2000" b="1" dirty="0"/>
          </a:p>
          <a:p>
            <a:pPr marL="742950" lvl="1" indent="-285750">
              <a:buFont typeface="Arial" panose="020B0604020202020204" pitchFamily="34" charset="0"/>
              <a:buChar char="•"/>
            </a:pPr>
            <a:r>
              <a:rPr lang="en-GB" sz="2000" dirty="0"/>
              <a:t>Broad, arm-wavy discussion</a:t>
            </a:r>
          </a:p>
          <a:p>
            <a:pPr marL="742950" lvl="1" indent="-285750">
              <a:buFont typeface="Arial" panose="020B0604020202020204" pitchFamily="34" charset="0"/>
              <a:buChar char="•"/>
            </a:pPr>
            <a:r>
              <a:rPr lang="en-GB" sz="2000" dirty="0"/>
              <a:t>Regional mapping</a:t>
            </a:r>
          </a:p>
          <a:p>
            <a:pPr marL="742950" lvl="1" indent="-285750">
              <a:buFont typeface="Arial" panose="020B0604020202020204" pitchFamily="34" charset="0"/>
              <a:buChar char="•"/>
            </a:pPr>
            <a:r>
              <a:rPr lang="en-GB" sz="2000" dirty="0"/>
              <a:t>Quantified characterisation of facies distribution? For what purpose?</a:t>
            </a:r>
          </a:p>
          <a:p>
            <a:pPr marL="742950" lvl="1" indent="-285750">
              <a:buFont typeface="Arial" panose="020B0604020202020204" pitchFamily="34" charset="0"/>
              <a:buChar char="•"/>
            </a:pPr>
            <a:endParaRPr lang="en-GB" sz="2000" b="1" dirty="0"/>
          </a:p>
          <a:p>
            <a:pPr marL="285750" indent="-285750">
              <a:buFont typeface="Arial" panose="020B0604020202020204" pitchFamily="34" charset="0"/>
              <a:buChar char="•"/>
            </a:pPr>
            <a:r>
              <a:rPr lang="en-GB" sz="2000" b="1" dirty="0"/>
              <a:t>The scale is arbitrary and driven by pragmatism (time, effort, money, and the ultimate purpose of the work)</a:t>
            </a:r>
          </a:p>
          <a:p>
            <a:pPr marL="742950" lvl="1" indent="-285750">
              <a:buFont typeface="Arial" panose="020B0604020202020204" pitchFamily="34" charset="0"/>
              <a:buChar char="•"/>
            </a:pPr>
            <a:endParaRPr lang="en-GB" b="1" dirty="0"/>
          </a:p>
          <a:p>
            <a:pPr lvl="1"/>
            <a:endParaRPr lang="en-GB" b="1" dirty="0"/>
          </a:p>
          <a:p>
            <a:endParaRPr lang="en-GB" b="1" dirty="0"/>
          </a:p>
          <a:p>
            <a:endParaRPr lang="en-GB" dirty="0"/>
          </a:p>
          <a:p>
            <a:endParaRPr lang="en-GB" dirty="0"/>
          </a:p>
          <a:p>
            <a:endParaRPr lang="en-GB" dirty="0"/>
          </a:p>
        </p:txBody>
      </p:sp>
      <p:pic>
        <p:nvPicPr>
          <p:cNvPr id="4098" name="Picture 2" descr="F:\Back up 26_01_2016\Annot\Annot\IK Photos\Chalufy\1\Picture 005.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22663" b="38266"/>
          <a:stretch/>
        </p:blipFill>
        <p:spPr bwMode="auto">
          <a:xfrm>
            <a:off x="4008389" y="233420"/>
            <a:ext cx="4922467" cy="261951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008389" y="2992298"/>
            <a:ext cx="4922467" cy="5909310"/>
          </a:xfrm>
          <a:prstGeom prst="rect">
            <a:avLst/>
          </a:prstGeom>
          <a:noFill/>
        </p:spPr>
        <p:txBody>
          <a:bodyPr wrap="square" rtlCol="0">
            <a:spAutoFit/>
          </a:bodyPr>
          <a:lstStyle/>
          <a:p>
            <a:r>
              <a:rPr lang="en-GB" dirty="0"/>
              <a:t>&gt;Entire exposure = clastic facies</a:t>
            </a:r>
          </a:p>
          <a:p>
            <a:endParaRPr lang="en-GB" dirty="0"/>
          </a:p>
          <a:p>
            <a:r>
              <a:rPr lang="en-GB" dirty="0"/>
              <a:t>&gt;&gt;Can be split into 2: Carbonate mudstone and Siliciclastic sandstone facies</a:t>
            </a:r>
          </a:p>
          <a:p>
            <a:endParaRPr lang="en-GB" dirty="0"/>
          </a:p>
          <a:p>
            <a:r>
              <a:rPr lang="en-GB" dirty="0"/>
              <a:t>&gt;&gt;&gt;</a:t>
            </a:r>
            <a:r>
              <a:rPr lang="en-GB" dirty="0" err="1"/>
              <a:t>Siliciclastics</a:t>
            </a:r>
            <a:r>
              <a:rPr lang="en-GB" dirty="0"/>
              <a:t> can be split into 2: Thinly-bedded sandstone facies and thickly bedded sandstone facies</a:t>
            </a:r>
          </a:p>
          <a:p>
            <a:endParaRPr lang="en-GB" dirty="0"/>
          </a:p>
          <a:p>
            <a:r>
              <a:rPr lang="en-GB" dirty="0"/>
              <a:t>&gt;&gt;&gt;&gt;Thinly bedded facies can be split into many varieties, for example: Fine-grained, laminated and cross laminated sandstone</a:t>
            </a:r>
          </a:p>
          <a:p>
            <a:endParaRPr lang="en-GB" b="1" dirty="0"/>
          </a:p>
          <a:p>
            <a:endParaRPr lang="en-GB" b="1" dirty="0"/>
          </a:p>
          <a:p>
            <a:endParaRPr lang="en-GB" b="1" dirty="0"/>
          </a:p>
          <a:p>
            <a:pPr marL="742950" lvl="1" indent="-285750">
              <a:buFont typeface="Arial" panose="020B0604020202020204" pitchFamily="34" charset="0"/>
              <a:buChar char="•"/>
            </a:pPr>
            <a:endParaRPr lang="en-GB" b="1" dirty="0"/>
          </a:p>
          <a:p>
            <a:pPr lvl="1"/>
            <a:endParaRPr lang="en-GB" b="1" dirty="0"/>
          </a:p>
          <a:p>
            <a:endParaRPr lang="en-GB" b="1" dirty="0"/>
          </a:p>
          <a:p>
            <a:endParaRPr lang="en-GB" dirty="0"/>
          </a:p>
          <a:p>
            <a:endParaRPr lang="en-GB" dirty="0"/>
          </a:p>
          <a:p>
            <a:endParaRPr lang="en-GB" dirty="0"/>
          </a:p>
        </p:txBody>
      </p:sp>
    </p:spTree>
    <p:extLst>
      <p:ext uri="{BB962C8B-B14F-4D97-AF65-F5344CB8AC3E}">
        <p14:creationId xmlns:p14="http://schemas.microsoft.com/office/powerpoint/2010/main" val="2708613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8024" y="274638"/>
            <a:ext cx="3898776" cy="1143000"/>
          </a:xfrm>
        </p:spPr>
        <p:txBody>
          <a:bodyPr>
            <a:normAutofit fontScale="90000"/>
          </a:bodyPr>
          <a:lstStyle/>
          <a:p>
            <a:r>
              <a:rPr lang="en-GB" b="1" dirty="0"/>
              <a:t>Facies and problems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25879"/>
            <a:ext cx="4752528" cy="66605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5148064" y="1772816"/>
            <a:ext cx="3528392" cy="4801314"/>
          </a:xfrm>
          <a:prstGeom prst="rect">
            <a:avLst/>
          </a:prstGeom>
          <a:noFill/>
        </p:spPr>
        <p:txBody>
          <a:bodyPr wrap="square" rtlCol="0">
            <a:spAutoFit/>
          </a:bodyPr>
          <a:lstStyle/>
          <a:p>
            <a:r>
              <a:rPr lang="en-GB" dirty="0"/>
              <a:t>Facies are  defined based on observations</a:t>
            </a:r>
          </a:p>
          <a:p>
            <a:endParaRPr lang="en-GB" dirty="0"/>
          </a:p>
          <a:p>
            <a:r>
              <a:rPr lang="en-GB" dirty="0"/>
              <a:t>It is commonly suggested that a single facies type is characteristic of a depositional environment BUT facies often non-unique</a:t>
            </a:r>
          </a:p>
          <a:p>
            <a:endParaRPr lang="en-GB" dirty="0"/>
          </a:p>
          <a:p>
            <a:r>
              <a:rPr lang="en-GB" dirty="0"/>
              <a:t>It is therefore more logical to tentatively assign processes to individual facies</a:t>
            </a:r>
          </a:p>
          <a:p>
            <a:endParaRPr lang="en-GB" dirty="0"/>
          </a:p>
          <a:p>
            <a:r>
              <a:rPr lang="en-GB" dirty="0"/>
              <a:t>Bear in mind that similar facies may be created by different processes!</a:t>
            </a:r>
          </a:p>
          <a:p>
            <a:endParaRPr lang="en-GB" dirty="0"/>
          </a:p>
          <a:p>
            <a:endParaRPr lang="en-GB" dirty="0"/>
          </a:p>
          <a:p>
            <a:endParaRPr lang="en-GB" dirty="0"/>
          </a:p>
        </p:txBody>
      </p:sp>
      <p:sp>
        <p:nvSpPr>
          <p:cNvPr id="4" name="TextBox 3"/>
          <p:cNvSpPr txBox="1"/>
          <p:nvPr/>
        </p:nvSpPr>
        <p:spPr>
          <a:xfrm>
            <a:off x="6444208" y="6309320"/>
            <a:ext cx="2448272" cy="369332"/>
          </a:xfrm>
          <a:prstGeom prst="rect">
            <a:avLst/>
          </a:prstGeom>
          <a:noFill/>
        </p:spPr>
        <p:txBody>
          <a:bodyPr wrap="square" rtlCol="0">
            <a:spAutoFit/>
          </a:bodyPr>
          <a:lstStyle/>
          <a:p>
            <a:r>
              <a:rPr lang="en-GB" dirty="0"/>
              <a:t>A typical facies scheme</a:t>
            </a:r>
          </a:p>
        </p:txBody>
      </p:sp>
      <p:cxnSp>
        <p:nvCxnSpPr>
          <p:cNvPr id="6" name="Straight Arrow Connector 5"/>
          <p:cNvCxnSpPr/>
          <p:nvPr/>
        </p:nvCxnSpPr>
        <p:spPr>
          <a:xfrm flipH="1" flipV="1">
            <a:off x="4788024" y="6309320"/>
            <a:ext cx="1656184" cy="184666"/>
          </a:xfrm>
          <a:prstGeom prst="straightConnector1">
            <a:avLst/>
          </a:prstGeom>
          <a:ln w="57150">
            <a:solidFill>
              <a:srgbClr val="00206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8613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Facies to environment</a:t>
            </a: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546" y="1268760"/>
            <a:ext cx="9016351" cy="5112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8613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Facies Associations</a:t>
            </a:r>
          </a:p>
        </p:txBody>
      </p:sp>
      <p:sp>
        <p:nvSpPr>
          <p:cNvPr id="3" name="Content Placeholder 2"/>
          <p:cNvSpPr>
            <a:spLocks noGrp="1"/>
          </p:cNvSpPr>
          <p:nvPr>
            <p:ph idx="1"/>
          </p:nvPr>
        </p:nvSpPr>
        <p:spPr>
          <a:xfrm>
            <a:off x="457200" y="1600200"/>
            <a:ext cx="8507288" cy="4525963"/>
          </a:xfrm>
        </p:spPr>
        <p:txBody>
          <a:bodyPr>
            <a:normAutofit lnSpcReduction="10000"/>
          </a:bodyPr>
          <a:lstStyle/>
          <a:p>
            <a:pPr marL="0" indent="0">
              <a:buNone/>
            </a:pPr>
            <a:r>
              <a:rPr lang="en-GB" b="1" i="1" dirty="0"/>
              <a:t>Definition: </a:t>
            </a:r>
            <a:r>
              <a:rPr lang="en-GB" i="1" dirty="0"/>
              <a:t>a collection of multiple, genetically-related facies formed within a single depositional system.</a:t>
            </a:r>
          </a:p>
          <a:p>
            <a:pPr marL="0" indent="0">
              <a:buNone/>
            </a:pPr>
            <a:endParaRPr lang="en-GB" i="1" dirty="0"/>
          </a:p>
          <a:p>
            <a:pPr marL="0" indent="0">
              <a:buNone/>
            </a:pPr>
            <a:r>
              <a:rPr lang="en-GB" dirty="0"/>
              <a:t>Now we are adding an interpretation, based on our process interpretation plus environmental  interpretation &amp; actual data, e.g. fossils.</a:t>
            </a:r>
          </a:p>
          <a:p>
            <a:pPr marL="0" indent="0">
              <a:buNone/>
            </a:pPr>
            <a:endParaRPr lang="en-GB" dirty="0"/>
          </a:p>
          <a:p>
            <a:pPr marL="0" indent="0">
              <a:buNone/>
            </a:pPr>
            <a:r>
              <a:rPr lang="en-GB" dirty="0"/>
              <a:t>House of cards anyone?</a:t>
            </a:r>
          </a:p>
          <a:p>
            <a:endParaRPr lang="en-GB" i="1" dirty="0"/>
          </a:p>
        </p:txBody>
      </p:sp>
    </p:spTree>
    <p:extLst>
      <p:ext uri="{BB962C8B-B14F-4D97-AF65-F5344CB8AC3E}">
        <p14:creationId xmlns:p14="http://schemas.microsoft.com/office/powerpoint/2010/main" val="768585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52400" y="-99392"/>
            <a:ext cx="8229600" cy="1143000"/>
          </a:xfrm>
        </p:spPr>
        <p:txBody>
          <a:bodyPr/>
          <a:lstStyle/>
          <a:p>
            <a:r>
              <a:rPr lang="en-GB" b="1" dirty="0"/>
              <a:t>Facies Associations - example</a:t>
            </a:r>
          </a:p>
        </p:txBody>
      </p:sp>
      <p:pic>
        <p:nvPicPr>
          <p:cNvPr id="7171" name="Picture 3" descr="F:\Back up 26_01_2016\Karoo TFD PAPER\Pre Review\Figures\Manuscript figs - FINAL\Fig 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9049" y="980728"/>
            <a:ext cx="7361167" cy="532859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646864" y="6309320"/>
            <a:ext cx="6480720" cy="369332"/>
          </a:xfrm>
          <a:prstGeom prst="rect">
            <a:avLst/>
          </a:prstGeom>
          <a:noFill/>
        </p:spPr>
        <p:txBody>
          <a:bodyPr wrap="square" rtlCol="0">
            <a:spAutoFit/>
          </a:bodyPr>
          <a:lstStyle/>
          <a:p>
            <a:r>
              <a:rPr lang="en-GB" dirty="0"/>
              <a:t>For details see Kane et al. (2017) Sedimentology. – Paper is on Bb</a:t>
            </a:r>
          </a:p>
        </p:txBody>
      </p:sp>
    </p:spTree>
    <p:extLst>
      <p:ext uri="{BB962C8B-B14F-4D97-AF65-F5344CB8AC3E}">
        <p14:creationId xmlns:p14="http://schemas.microsoft.com/office/powerpoint/2010/main" val="1130092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52400" y="-99392"/>
            <a:ext cx="8229600" cy="1143000"/>
          </a:xfrm>
        </p:spPr>
        <p:txBody>
          <a:bodyPr/>
          <a:lstStyle/>
          <a:p>
            <a:r>
              <a:rPr lang="en-GB" b="1" dirty="0"/>
              <a:t>Facies Associations - example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0" y="94488"/>
            <a:ext cx="798576" cy="6669024"/>
          </a:xfrm>
          <a:prstGeom prst="rect">
            <a:avLst/>
          </a:prstGeom>
        </p:spPr>
      </p:pic>
      <p:pic>
        <p:nvPicPr>
          <p:cNvPr id="7171" name="Picture 3" descr="F:\Back up 26_01_2016\Karoo TFD PAPER\Pre Review\Figures\Manuscript figs - FINAL\Fig 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9049" y="980728"/>
            <a:ext cx="7361167" cy="532859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646864" y="6309320"/>
            <a:ext cx="6480720" cy="369332"/>
          </a:xfrm>
          <a:prstGeom prst="rect">
            <a:avLst/>
          </a:prstGeom>
          <a:noFill/>
        </p:spPr>
        <p:txBody>
          <a:bodyPr wrap="square" rtlCol="0">
            <a:spAutoFit/>
          </a:bodyPr>
          <a:lstStyle/>
          <a:p>
            <a:r>
              <a:rPr lang="en-GB" dirty="0"/>
              <a:t>For details see Kane et al. (2017) Sedimentology. – Paper is on Bb</a:t>
            </a:r>
          </a:p>
        </p:txBody>
      </p:sp>
    </p:spTree>
    <p:extLst>
      <p:ext uri="{BB962C8B-B14F-4D97-AF65-F5344CB8AC3E}">
        <p14:creationId xmlns:p14="http://schemas.microsoft.com/office/powerpoint/2010/main" val="1219633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52400" y="-99392"/>
            <a:ext cx="8229600" cy="1143000"/>
          </a:xfrm>
        </p:spPr>
        <p:txBody>
          <a:bodyPr/>
          <a:lstStyle/>
          <a:p>
            <a:r>
              <a:rPr lang="en-GB" b="1" dirty="0"/>
              <a:t>Facies Associations</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20" y="94488"/>
            <a:ext cx="798576" cy="6669024"/>
          </a:xfrm>
          <a:prstGeom prst="rect">
            <a:avLst/>
          </a:prstGeom>
        </p:spPr>
      </p:pic>
      <p:pic>
        <p:nvPicPr>
          <p:cNvPr id="4099" name="Picture 3" descr="F:\Back up 26_01_2016\Karoo TFD PAPER\Pre Review\Figures\Manuscript figs - FINAL\Fig 6.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50539" y="0"/>
            <a:ext cx="606182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987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52400" y="-99392"/>
            <a:ext cx="8229600" cy="1143000"/>
          </a:xfrm>
        </p:spPr>
        <p:txBody>
          <a:bodyPr/>
          <a:lstStyle/>
          <a:p>
            <a:r>
              <a:rPr lang="en-GB" b="1" dirty="0"/>
              <a:t>Facies Associations</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20" y="94488"/>
            <a:ext cx="798576" cy="6669024"/>
          </a:xfrm>
          <a:prstGeom prst="rect">
            <a:avLst/>
          </a:prstGeom>
        </p:spPr>
      </p:pic>
      <p:pic>
        <p:nvPicPr>
          <p:cNvPr id="6146" name="Picture 2" descr="F:\Back up 26_01_2016\Karoo TFD PAPER\Pre Review\Figures\Manuscript figs - FINAL\Fig 7.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39756" y="0"/>
            <a:ext cx="60644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8404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1520" y="90399"/>
            <a:ext cx="3384376" cy="6722977"/>
          </a:xfrm>
        </p:spPr>
      </p:pic>
    </p:spTree>
    <p:extLst>
      <p:ext uri="{BB962C8B-B14F-4D97-AF65-F5344CB8AC3E}">
        <p14:creationId xmlns:p14="http://schemas.microsoft.com/office/powerpoint/2010/main" val="3441357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0" y="94488"/>
            <a:ext cx="798576" cy="6669024"/>
          </a:xfrm>
          <a:prstGeom prst="rect">
            <a:avLst/>
          </a:prstGeom>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20" y="71628"/>
            <a:ext cx="5416296" cy="6714744"/>
          </a:xfrm>
          <a:prstGeom prst="rect">
            <a:avLst/>
          </a:prstGeom>
        </p:spPr>
      </p:pic>
    </p:spTree>
    <p:extLst>
      <p:ext uri="{BB962C8B-B14F-4D97-AF65-F5344CB8AC3E}">
        <p14:creationId xmlns:p14="http://schemas.microsoft.com/office/powerpoint/2010/main" val="432837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52400" y="-99392"/>
            <a:ext cx="8229600" cy="1143000"/>
          </a:xfrm>
        </p:spPr>
        <p:txBody>
          <a:bodyPr/>
          <a:lstStyle/>
          <a:p>
            <a:r>
              <a:rPr lang="en-GB" b="1" dirty="0"/>
              <a:t>Facies Associations - context</a:t>
            </a:r>
          </a:p>
        </p:txBody>
      </p:sp>
      <p:pic>
        <p:nvPicPr>
          <p:cNvPr id="8194" name="Picture 2" descr="F:\Back up 26_01_2016\Karoo TFD PAPER\Pre Review\Figures\Manuscript figs - FINAL\Fig 2.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40000"/>
          <a:stretch/>
        </p:blipFill>
        <p:spPr bwMode="auto">
          <a:xfrm>
            <a:off x="242352" y="836712"/>
            <a:ext cx="8541310" cy="581118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796136" y="908720"/>
            <a:ext cx="504056" cy="3600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32837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52400" y="-99392"/>
            <a:ext cx="8229600" cy="1143000"/>
          </a:xfrm>
        </p:spPr>
        <p:txBody>
          <a:bodyPr/>
          <a:lstStyle/>
          <a:p>
            <a:r>
              <a:rPr lang="en-GB" b="1" dirty="0"/>
              <a:t>Facies Associations - context</a:t>
            </a:r>
          </a:p>
        </p:txBody>
      </p:sp>
      <p:pic>
        <p:nvPicPr>
          <p:cNvPr id="8194" name="Picture 2" descr="F:\Back up 26_01_2016\Karoo TFD PAPER\Pre Review\Figures\Manuscript figs - FINAL\Fig 2.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60123" b="-1197"/>
          <a:stretch/>
        </p:blipFill>
        <p:spPr bwMode="auto">
          <a:xfrm>
            <a:off x="-2969" y="1340768"/>
            <a:ext cx="8967457" cy="417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2291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0" y="94488"/>
            <a:ext cx="798576" cy="6669024"/>
          </a:xfrm>
          <a:prstGeom prst="rect">
            <a:avLst/>
          </a:prstGeom>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20" y="71628"/>
            <a:ext cx="5416296" cy="6714744"/>
          </a:xfrm>
          <a:prstGeom prst="rect">
            <a:avLst/>
          </a:prstGeom>
        </p:spPr>
      </p:pic>
      <p:sp>
        <p:nvSpPr>
          <p:cNvPr id="3" name="TextBox 2"/>
          <p:cNvSpPr txBox="1"/>
          <p:nvPr/>
        </p:nvSpPr>
        <p:spPr>
          <a:xfrm>
            <a:off x="6084168" y="980728"/>
            <a:ext cx="2592288" cy="2862322"/>
          </a:xfrm>
          <a:prstGeom prst="rect">
            <a:avLst/>
          </a:prstGeom>
          <a:noFill/>
        </p:spPr>
        <p:txBody>
          <a:bodyPr wrap="square" rtlCol="0">
            <a:spAutoFit/>
          </a:bodyPr>
          <a:lstStyle/>
          <a:p>
            <a:r>
              <a:rPr lang="en-GB" b="1" dirty="0"/>
              <a:t>How do we make the leap to an environmental interpretation?</a:t>
            </a:r>
          </a:p>
          <a:p>
            <a:endParaRPr lang="en-GB" dirty="0"/>
          </a:p>
          <a:p>
            <a:r>
              <a:rPr lang="en-GB" dirty="0"/>
              <a:t>Analogues:</a:t>
            </a:r>
          </a:p>
          <a:p>
            <a:endParaRPr lang="en-GB" dirty="0"/>
          </a:p>
          <a:p>
            <a:r>
              <a:rPr lang="en-GB" dirty="0"/>
              <a:t>Modern</a:t>
            </a:r>
          </a:p>
          <a:p>
            <a:r>
              <a:rPr lang="en-GB" dirty="0"/>
              <a:t>Ancient</a:t>
            </a:r>
          </a:p>
          <a:p>
            <a:r>
              <a:rPr lang="en-GB" dirty="0"/>
              <a:t>Theoretical</a:t>
            </a:r>
          </a:p>
          <a:p>
            <a:r>
              <a:rPr lang="en-GB" dirty="0"/>
              <a:t>Experimental</a:t>
            </a:r>
          </a:p>
        </p:txBody>
      </p:sp>
    </p:spTree>
    <p:extLst>
      <p:ext uri="{BB962C8B-B14F-4D97-AF65-F5344CB8AC3E}">
        <p14:creationId xmlns:p14="http://schemas.microsoft.com/office/powerpoint/2010/main" val="1539159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0" y="94488"/>
            <a:ext cx="798576" cy="6669024"/>
          </a:xfrm>
          <a:prstGeom prst="rect">
            <a:avLst/>
          </a:prstGeom>
        </p:spPr>
      </p:pic>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20" y="71628"/>
            <a:ext cx="5416296" cy="6714744"/>
          </a:xfrm>
          <a:prstGeom prst="rect">
            <a:avLst/>
          </a:prstGeom>
        </p:spPr>
      </p:pic>
      <p:sp>
        <p:nvSpPr>
          <p:cNvPr id="3" name="TextBox 2"/>
          <p:cNvSpPr txBox="1"/>
          <p:nvPr/>
        </p:nvSpPr>
        <p:spPr>
          <a:xfrm>
            <a:off x="6084168" y="980728"/>
            <a:ext cx="2592288" cy="4247317"/>
          </a:xfrm>
          <a:prstGeom prst="rect">
            <a:avLst/>
          </a:prstGeom>
          <a:noFill/>
        </p:spPr>
        <p:txBody>
          <a:bodyPr wrap="square" rtlCol="0">
            <a:spAutoFit/>
          </a:bodyPr>
          <a:lstStyle/>
          <a:p>
            <a:r>
              <a:rPr lang="en-GB" dirty="0"/>
              <a:t>Marine</a:t>
            </a:r>
          </a:p>
          <a:p>
            <a:r>
              <a:rPr lang="en-GB" dirty="0"/>
              <a:t>No major erosion</a:t>
            </a:r>
          </a:p>
          <a:p>
            <a:r>
              <a:rPr lang="en-GB" dirty="0"/>
              <a:t>Widespread near tabular beds</a:t>
            </a:r>
          </a:p>
          <a:p>
            <a:r>
              <a:rPr lang="en-GB" dirty="0"/>
              <a:t>Decelerating turbidity currents </a:t>
            </a:r>
          </a:p>
          <a:p>
            <a:r>
              <a:rPr lang="en-GB" dirty="0"/>
              <a:t>Deposits pinch out (wedge)</a:t>
            </a:r>
          </a:p>
          <a:p>
            <a:r>
              <a:rPr lang="en-GB" dirty="0"/>
              <a:t>Must be terminal part of the system</a:t>
            </a:r>
          </a:p>
          <a:p>
            <a:endParaRPr lang="en-GB" dirty="0"/>
          </a:p>
          <a:p>
            <a:r>
              <a:rPr lang="en-GB" dirty="0"/>
              <a:t>Facies Association:</a:t>
            </a:r>
          </a:p>
          <a:p>
            <a:endParaRPr lang="en-GB" dirty="0"/>
          </a:p>
          <a:p>
            <a:r>
              <a:rPr lang="en-GB" dirty="0"/>
              <a:t>Deep-marine lobe</a:t>
            </a:r>
          </a:p>
          <a:p>
            <a:endParaRPr lang="en-GB" dirty="0"/>
          </a:p>
        </p:txBody>
      </p:sp>
    </p:spTree>
    <p:extLst>
      <p:ext uri="{BB962C8B-B14F-4D97-AF65-F5344CB8AC3E}">
        <p14:creationId xmlns:p14="http://schemas.microsoft.com/office/powerpoint/2010/main" val="27648357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Back up 26_01_2016\Karoo TFD PAPER\Pre Review\Figures\Manuscript figs - FINAL\Fig 18.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37860"/>
          <a:stretch/>
        </p:blipFill>
        <p:spPr bwMode="auto">
          <a:xfrm>
            <a:off x="1691680" y="908720"/>
            <a:ext cx="5529432" cy="529988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1896" y="51045"/>
            <a:ext cx="798576" cy="6669024"/>
          </a:xfrm>
          <a:prstGeom prst="rect">
            <a:avLst/>
          </a:prstGeom>
        </p:spPr>
      </p:pic>
      <p:sp>
        <p:nvSpPr>
          <p:cNvPr id="6" name="Title 1"/>
          <p:cNvSpPr txBox="1">
            <a:spLocks/>
          </p:cNvSpPr>
          <p:nvPr/>
        </p:nvSpPr>
        <p:spPr>
          <a:xfrm>
            <a:off x="-17952" y="-51139"/>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dirty="0"/>
              <a:t>Deep-marine lobe Facies Association</a:t>
            </a:r>
          </a:p>
        </p:txBody>
      </p:sp>
      <p:sp>
        <p:nvSpPr>
          <p:cNvPr id="8" name="Rectangle 7"/>
          <p:cNvSpPr/>
          <p:nvPr/>
        </p:nvSpPr>
        <p:spPr>
          <a:xfrm>
            <a:off x="4456396" y="5892512"/>
            <a:ext cx="2764716"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179512" y="6165304"/>
            <a:ext cx="7704856" cy="646331"/>
          </a:xfrm>
          <a:prstGeom prst="rect">
            <a:avLst/>
          </a:prstGeom>
        </p:spPr>
        <p:txBody>
          <a:bodyPr wrap="square">
            <a:spAutoFit/>
          </a:bodyPr>
          <a:lstStyle/>
          <a:p>
            <a:r>
              <a:rPr lang="en-GB" dirty="0"/>
              <a:t>Facies association: a collection of multiple, genetically-related facies</a:t>
            </a:r>
          </a:p>
          <a:p>
            <a:r>
              <a:rPr lang="en-GB" dirty="0"/>
              <a:t>formed within a single depositional system.</a:t>
            </a:r>
          </a:p>
        </p:txBody>
      </p:sp>
    </p:spTree>
    <p:extLst>
      <p:ext uri="{BB962C8B-B14F-4D97-AF65-F5344CB8AC3E}">
        <p14:creationId xmlns:p14="http://schemas.microsoft.com/office/powerpoint/2010/main" val="2251254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Bed scale facies associations</a:t>
            </a:r>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632" y="1124744"/>
            <a:ext cx="6552728" cy="46747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72008" y="5746030"/>
            <a:ext cx="9036496" cy="923330"/>
          </a:xfrm>
          <a:prstGeom prst="rect">
            <a:avLst/>
          </a:prstGeom>
        </p:spPr>
        <p:txBody>
          <a:bodyPr wrap="square">
            <a:spAutoFit/>
          </a:bodyPr>
          <a:lstStyle/>
          <a:p>
            <a:r>
              <a:rPr lang="en-GB" dirty="0"/>
              <a:t>Some facies associations are found repetitively in the stratigraphic record and, therefore, have informally been given names, such as the Bouma sequence. Often thought of as synonymous with ‘turbidite’ but it’s just one collection an organisation of these facies </a:t>
            </a:r>
          </a:p>
        </p:txBody>
      </p:sp>
    </p:spTree>
    <p:extLst>
      <p:ext uri="{BB962C8B-B14F-4D97-AF65-F5344CB8AC3E}">
        <p14:creationId xmlns:p14="http://schemas.microsoft.com/office/powerpoint/2010/main" val="2247010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609600" y="-162272"/>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dirty="0"/>
              <a:t>Typical ‘point-bar’ facies association</a:t>
            </a:r>
          </a:p>
        </p:txBody>
      </p:sp>
      <p:pic>
        <p:nvPicPr>
          <p:cNvPr id="1126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53831" t="7778" r="-2"/>
          <a:stretch/>
        </p:blipFill>
        <p:spPr bwMode="auto">
          <a:xfrm>
            <a:off x="-113608" y="808019"/>
            <a:ext cx="9257608" cy="60773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3975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609600" y="-162272"/>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dirty="0"/>
              <a:t>Typical ‘point-bar’ facies association</a:t>
            </a:r>
          </a:p>
        </p:txBody>
      </p:sp>
      <p:pic>
        <p:nvPicPr>
          <p:cNvPr id="1945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3682" t="8445"/>
          <a:stretch/>
        </p:blipFill>
        <p:spPr bwMode="auto">
          <a:xfrm>
            <a:off x="0" y="917404"/>
            <a:ext cx="9144000" cy="5940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4139952" y="1698536"/>
            <a:ext cx="2304256" cy="461665"/>
          </a:xfrm>
          <a:prstGeom prst="rect">
            <a:avLst/>
          </a:prstGeom>
          <a:noFill/>
        </p:spPr>
        <p:txBody>
          <a:bodyPr wrap="square" rtlCol="0">
            <a:spAutoFit/>
          </a:bodyPr>
          <a:lstStyle/>
          <a:p>
            <a:r>
              <a:rPr lang="en-GB" sz="2400" b="1" dirty="0">
                <a:solidFill>
                  <a:schemeClr val="bg1"/>
                </a:solidFill>
              </a:rPr>
              <a:t>Cut bank</a:t>
            </a:r>
          </a:p>
        </p:txBody>
      </p:sp>
      <p:sp>
        <p:nvSpPr>
          <p:cNvPr id="6" name="TextBox 5"/>
          <p:cNvSpPr txBox="1"/>
          <p:nvPr/>
        </p:nvSpPr>
        <p:spPr>
          <a:xfrm>
            <a:off x="2249056" y="3656869"/>
            <a:ext cx="2304256" cy="461665"/>
          </a:xfrm>
          <a:prstGeom prst="rect">
            <a:avLst/>
          </a:prstGeom>
          <a:noFill/>
        </p:spPr>
        <p:txBody>
          <a:bodyPr wrap="square" rtlCol="0">
            <a:spAutoFit/>
          </a:bodyPr>
          <a:lstStyle/>
          <a:p>
            <a:r>
              <a:rPr lang="en-GB" sz="2400" b="1" dirty="0">
                <a:solidFill>
                  <a:schemeClr val="bg1"/>
                </a:solidFill>
              </a:rPr>
              <a:t>Point Bar</a:t>
            </a:r>
          </a:p>
        </p:txBody>
      </p:sp>
    </p:spTree>
    <p:extLst>
      <p:ext uri="{BB962C8B-B14F-4D97-AF65-F5344CB8AC3E}">
        <p14:creationId xmlns:p14="http://schemas.microsoft.com/office/powerpoint/2010/main" val="1384720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620688"/>
            <a:ext cx="8208912" cy="61005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itle 1"/>
          <p:cNvSpPr txBox="1">
            <a:spLocks/>
          </p:cNvSpPr>
          <p:nvPr/>
        </p:nvSpPr>
        <p:spPr>
          <a:xfrm>
            <a:off x="609600" y="-162272"/>
            <a:ext cx="8229600" cy="1143000"/>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b="1" dirty="0"/>
              <a:t>Typical ‘point-bar’ facies association</a:t>
            </a:r>
          </a:p>
        </p:txBody>
      </p:sp>
    </p:spTree>
    <p:extLst>
      <p:ext uri="{BB962C8B-B14F-4D97-AF65-F5344CB8AC3E}">
        <p14:creationId xmlns:p14="http://schemas.microsoft.com/office/powerpoint/2010/main" val="2720227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5780" y="4437112"/>
            <a:ext cx="8676456" cy="1754326"/>
          </a:xfrm>
          <a:prstGeom prst="rect">
            <a:avLst/>
          </a:prstGeom>
        </p:spPr>
        <p:txBody>
          <a:bodyPr wrap="square">
            <a:spAutoFit/>
          </a:bodyPr>
          <a:lstStyle/>
          <a:p>
            <a:r>
              <a:rPr lang="en-GB" dirty="0"/>
              <a:t>Cross Section of Point Bar. At any point in time in the natural history of a meandering stream system, each of the environments in a point bar sequence is present, including channel lag, fining upwards sand accretions, and ridge and swale topography on the surface. As the channel migrates laterally, the sequence accumulates and is eventually buried beneath overbank material such as natural levee sediments. (From Davis 1983, p. 256)</a:t>
            </a:r>
          </a:p>
        </p:txBody>
      </p:sp>
      <p:pic>
        <p:nvPicPr>
          <p:cNvPr id="1843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7110" t="32889" r="6293" b="10889"/>
          <a:stretch/>
        </p:blipFill>
        <p:spPr bwMode="auto">
          <a:xfrm>
            <a:off x="-36512" y="332656"/>
            <a:ext cx="9361040" cy="3712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359812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48C0B86-DB59-79B6-E4D1-AD1BB98882F6}"/>
              </a:ext>
            </a:extLst>
          </p:cNvPr>
          <p:cNvSpPr>
            <a:spLocks noGrp="1" noChangeArrowheads="1"/>
          </p:cNvSpPr>
          <p:nvPr>
            <p:ph type="title"/>
          </p:nvPr>
        </p:nvSpPr>
        <p:spPr>
          <a:xfrm>
            <a:off x="685800" y="40105"/>
            <a:ext cx="7772400" cy="838200"/>
          </a:xfrm>
        </p:spPr>
        <p:txBody>
          <a:bodyPr/>
          <a:lstStyle/>
          <a:p>
            <a:pPr eaLnBrk="1" hangingPunct="1"/>
            <a:r>
              <a:rPr lang="en-GB" altLang="en-US" sz="4000" b="1" dirty="0"/>
              <a:t>Stratigraphy and Walther’s Law</a:t>
            </a:r>
          </a:p>
        </p:txBody>
      </p:sp>
      <p:sp>
        <p:nvSpPr>
          <p:cNvPr id="8195" name="Text Box 3">
            <a:extLst>
              <a:ext uri="{FF2B5EF4-FFF2-40B4-BE49-F238E27FC236}">
                <a16:creationId xmlns:a16="http://schemas.microsoft.com/office/drawing/2014/main" id="{1AD69D7F-6383-6974-D654-7B928FC1718C}"/>
              </a:ext>
            </a:extLst>
          </p:cNvPr>
          <p:cNvSpPr txBox="1">
            <a:spLocks noChangeArrowheads="1"/>
          </p:cNvSpPr>
          <p:nvPr/>
        </p:nvSpPr>
        <p:spPr bwMode="auto">
          <a:xfrm>
            <a:off x="250825" y="1052513"/>
            <a:ext cx="856932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latin typeface="Andalus" pitchFamily="18" charset="0"/>
                <a:cs typeface="Andalus" pitchFamily="18" charset="0"/>
              </a:rPr>
              <a:t>‘</a:t>
            </a:r>
            <a:r>
              <a:rPr lang="en-GB" altLang="en-US" sz="2400">
                <a:latin typeface="Andalus" pitchFamily="18" charset="0"/>
                <a:cs typeface="Andalus" pitchFamily="18" charset="0"/>
              </a:rPr>
              <a:t>The various deposits of the same (environmental) area and, similarly, the sum of the rocks of different environmental areas were formed beside each other in time and space, but in crustal (i.e. vertical) profile we can see them lying on top of each other….it is a basic statement of far-reaching significance that </a:t>
            </a:r>
            <a:r>
              <a:rPr lang="en-GB" altLang="en-US" sz="2400" b="1">
                <a:latin typeface="Andalus" pitchFamily="18" charset="0"/>
                <a:cs typeface="Andalus" pitchFamily="18" charset="0"/>
              </a:rPr>
              <a:t>only those environmental areas can be superimposed that are observed side-by-side at the present time’</a:t>
            </a:r>
          </a:p>
        </p:txBody>
      </p:sp>
      <p:sp>
        <p:nvSpPr>
          <p:cNvPr id="8196" name="Text Box 4">
            <a:extLst>
              <a:ext uri="{FF2B5EF4-FFF2-40B4-BE49-F238E27FC236}">
                <a16:creationId xmlns:a16="http://schemas.microsoft.com/office/drawing/2014/main" id="{586513D9-E9F4-B99F-4466-2F928D09F854}"/>
              </a:ext>
            </a:extLst>
          </p:cNvPr>
          <p:cNvSpPr txBox="1">
            <a:spLocks noChangeArrowheads="1"/>
          </p:cNvSpPr>
          <p:nvPr/>
        </p:nvSpPr>
        <p:spPr bwMode="auto">
          <a:xfrm>
            <a:off x="252413" y="4221163"/>
            <a:ext cx="8445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i="1" dirty="0"/>
              <a:t>Walther’s Law 1894.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5">
            <a:extLst>
              <a:ext uri="{FF2B5EF4-FFF2-40B4-BE49-F238E27FC236}">
                <a16:creationId xmlns:a16="http://schemas.microsoft.com/office/drawing/2014/main" id="{D92C95D4-3126-C502-70F5-BDFF1C30E3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2375" y="4229100"/>
            <a:ext cx="5000625"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Text Box 6">
            <a:extLst>
              <a:ext uri="{FF2B5EF4-FFF2-40B4-BE49-F238E27FC236}">
                <a16:creationId xmlns:a16="http://schemas.microsoft.com/office/drawing/2014/main" id="{F72FC33C-F625-413F-1367-8CDB74AD423C}"/>
              </a:ext>
            </a:extLst>
          </p:cNvPr>
          <p:cNvSpPr txBox="1">
            <a:spLocks noChangeArrowheads="1"/>
          </p:cNvSpPr>
          <p:nvPr/>
        </p:nvSpPr>
        <p:spPr bwMode="auto">
          <a:xfrm>
            <a:off x="296863" y="106363"/>
            <a:ext cx="895508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b="1"/>
              <a:t>Walther’s Law: Applied to progradation of a river delta</a:t>
            </a:r>
          </a:p>
        </p:txBody>
      </p:sp>
      <p:sp>
        <p:nvSpPr>
          <p:cNvPr id="9220" name="Text Box 7">
            <a:extLst>
              <a:ext uri="{FF2B5EF4-FFF2-40B4-BE49-F238E27FC236}">
                <a16:creationId xmlns:a16="http://schemas.microsoft.com/office/drawing/2014/main" id="{B7121EDA-2ED6-CD3A-4FA9-7B4C9EC694F1}"/>
              </a:ext>
            </a:extLst>
          </p:cNvPr>
          <p:cNvSpPr txBox="1">
            <a:spLocks noChangeArrowheads="1"/>
          </p:cNvSpPr>
          <p:nvPr/>
        </p:nvSpPr>
        <p:spPr bwMode="auto">
          <a:xfrm>
            <a:off x="136525" y="5165725"/>
            <a:ext cx="3381375"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1600"/>
              <a:t>The vertical succession records the</a:t>
            </a:r>
          </a:p>
          <a:p>
            <a:pPr>
              <a:spcBef>
                <a:spcPct val="0"/>
              </a:spcBef>
              <a:buFontTx/>
              <a:buNone/>
            </a:pPr>
            <a:r>
              <a:rPr lang="en-GB" altLang="en-US" sz="1600"/>
              <a:t>outbuilding of (in this case) a river</a:t>
            </a:r>
          </a:p>
          <a:p>
            <a:pPr>
              <a:spcBef>
                <a:spcPct val="0"/>
              </a:spcBef>
              <a:buFontTx/>
              <a:buNone/>
            </a:pPr>
            <a:r>
              <a:rPr lang="en-GB" altLang="en-US" sz="1600"/>
              <a:t>delta, over time, past a fixed point</a:t>
            </a:r>
          </a:p>
          <a:p>
            <a:pPr>
              <a:spcBef>
                <a:spcPct val="0"/>
              </a:spcBef>
              <a:buFontTx/>
              <a:buNone/>
            </a:pPr>
            <a:r>
              <a:rPr lang="en-GB" altLang="en-US" sz="1600"/>
              <a:t>in space. Therefore the beds above</a:t>
            </a:r>
          </a:p>
          <a:p>
            <a:pPr>
              <a:spcBef>
                <a:spcPct val="0"/>
              </a:spcBef>
              <a:buFontTx/>
              <a:buNone/>
            </a:pPr>
            <a:r>
              <a:rPr lang="en-GB" altLang="en-US" sz="1600"/>
              <a:t>each other represent depositional</a:t>
            </a:r>
          </a:p>
          <a:p>
            <a:pPr>
              <a:spcBef>
                <a:spcPct val="0"/>
              </a:spcBef>
              <a:buFontTx/>
              <a:buNone/>
            </a:pPr>
            <a:r>
              <a:rPr lang="en-GB" altLang="en-US" sz="1600"/>
              <a:t>areas that were laterally adjacent</a:t>
            </a:r>
            <a:endParaRPr lang="en-GB" altLang="en-US" sz="2400"/>
          </a:p>
        </p:txBody>
      </p:sp>
      <p:sp>
        <p:nvSpPr>
          <p:cNvPr id="9221" name="Line 8">
            <a:extLst>
              <a:ext uri="{FF2B5EF4-FFF2-40B4-BE49-F238E27FC236}">
                <a16:creationId xmlns:a16="http://schemas.microsoft.com/office/drawing/2014/main" id="{21364279-D6AA-EE45-DF81-B5BEA2237061}"/>
              </a:ext>
            </a:extLst>
          </p:cNvPr>
          <p:cNvSpPr>
            <a:spLocks noChangeShapeType="1"/>
          </p:cNvSpPr>
          <p:nvPr/>
        </p:nvSpPr>
        <p:spPr bwMode="auto">
          <a:xfrm>
            <a:off x="4787900" y="5661025"/>
            <a:ext cx="0" cy="360363"/>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grpSp>
        <p:nvGrpSpPr>
          <p:cNvPr id="9222" name="Group 10">
            <a:extLst>
              <a:ext uri="{FF2B5EF4-FFF2-40B4-BE49-F238E27FC236}">
                <a16:creationId xmlns:a16="http://schemas.microsoft.com/office/drawing/2014/main" id="{B2F3FB3E-2073-D808-3024-1D4B72576683}"/>
              </a:ext>
            </a:extLst>
          </p:cNvPr>
          <p:cNvGrpSpPr>
            <a:grpSpLocks/>
          </p:cNvGrpSpPr>
          <p:nvPr/>
        </p:nvGrpSpPr>
        <p:grpSpPr bwMode="auto">
          <a:xfrm>
            <a:off x="1187450" y="1268413"/>
            <a:ext cx="1296988" cy="3744912"/>
            <a:chOff x="1187624" y="1268760"/>
            <a:chExt cx="1296144" cy="3744416"/>
          </a:xfrm>
        </p:grpSpPr>
        <p:pic>
          <p:nvPicPr>
            <p:cNvPr id="9233" name="Picture 2">
              <a:extLst>
                <a:ext uri="{FF2B5EF4-FFF2-40B4-BE49-F238E27FC236}">
                  <a16:creationId xmlns:a16="http://schemas.microsoft.com/office/drawing/2014/main" id="{906E2630-947B-34D7-AFA3-B6E80C0C72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69267" b="4466"/>
            <a:stretch>
              <a:fillRect/>
            </a:stretch>
          </p:blipFill>
          <p:spPr bwMode="auto">
            <a:xfrm>
              <a:off x="1187624" y="1268760"/>
              <a:ext cx="925512" cy="374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0E350D7E-A96E-0C71-C79C-37C5CA62CE7C}"/>
                </a:ext>
              </a:extLst>
            </p:cNvPr>
            <p:cNvSpPr/>
            <p:nvPr/>
          </p:nvSpPr>
          <p:spPr>
            <a:xfrm>
              <a:off x="1968166" y="1484631"/>
              <a:ext cx="515602" cy="32428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grpSp>
      <p:grpSp>
        <p:nvGrpSpPr>
          <p:cNvPr id="9223" name="Group 13">
            <a:extLst>
              <a:ext uri="{FF2B5EF4-FFF2-40B4-BE49-F238E27FC236}">
                <a16:creationId xmlns:a16="http://schemas.microsoft.com/office/drawing/2014/main" id="{A2666F61-3E60-2672-CCFF-DA3150D9BBC9}"/>
              </a:ext>
            </a:extLst>
          </p:cNvPr>
          <p:cNvGrpSpPr>
            <a:grpSpLocks/>
          </p:cNvGrpSpPr>
          <p:nvPr/>
        </p:nvGrpSpPr>
        <p:grpSpPr bwMode="auto">
          <a:xfrm>
            <a:off x="2741613" y="930275"/>
            <a:ext cx="6169025" cy="3074988"/>
            <a:chOff x="3419872" y="930465"/>
            <a:chExt cx="5490492" cy="2736304"/>
          </a:xfrm>
        </p:grpSpPr>
        <p:sp>
          <p:nvSpPr>
            <p:cNvPr id="9224" name="Line 9">
              <a:extLst>
                <a:ext uri="{FF2B5EF4-FFF2-40B4-BE49-F238E27FC236}">
                  <a16:creationId xmlns:a16="http://schemas.microsoft.com/office/drawing/2014/main" id="{DC0BA84A-957C-12A1-4460-4FC09BA21163}"/>
                </a:ext>
              </a:extLst>
            </p:cNvPr>
            <p:cNvSpPr>
              <a:spLocks noChangeShapeType="1"/>
            </p:cNvSpPr>
            <p:nvPr/>
          </p:nvSpPr>
          <p:spPr bwMode="auto">
            <a:xfrm>
              <a:off x="5334000" y="1828800"/>
              <a:ext cx="0" cy="990600"/>
            </a:xfrm>
            <a:prstGeom prst="line">
              <a:avLst/>
            </a:prstGeom>
            <a:noFill/>
            <a:ln w="28575">
              <a:solidFill>
                <a:srgbClr val="FFFF66"/>
              </a:solidFill>
              <a:round/>
              <a:headEnd/>
              <a:tailEnd/>
            </a:ln>
            <a:extLst>
              <a:ext uri="{909E8E84-426E-40DD-AFC4-6F175D3DCCD1}">
                <a14:hiddenFill xmlns:a14="http://schemas.microsoft.com/office/drawing/2010/main">
                  <a:noFill/>
                </a14:hiddenFill>
              </a:ext>
            </a:extLst>
          </p:spPr>
          <p:txBody>
            <a:bodyPr wrap="none" anchor="ctr"/>
            <a:lstStyle/>
            <a:p>
              <a:endParaRPr lang="en-GB"/>
            </a:p>
          </p:txBody>
        </p:sp>
        <p:pic>
          <p:nvPicPr>
            <p:cNvPr id="9225" name="Picture 13" descr="http://www.bsrg.org.uk/photo_archive/fullsize/jah056.jpg">
              <a:extLst>
                <a:ext uri="{FF2B5EF4-FFF2-40B4-BE49-F238E27FC236}">
                  <a16:creationId xmlns:a16="http://schemas.microsoft.com/office/drawing/2014/main" id="{D4B1B5F3-1AC4-5589-3582-03D7A549C9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872" y="930465"/>
              <a:ext cx="5490492"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AC29C8CF-7CDF-C339-3E85-33E754880354}"/>
                </a:ext>
              </a:extLst>
            </p:cNvPr>
            <p:cNvCxnSpPr/>
            <p:nvPr/>
          </p:nvCxnSpPr>
          <p:spPr>
            <a:xfrm>
              <a:off x="3517361" y="2132631"/>
              <a:ext cx="4871646" cy="166693"/>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22138D1-A110-19AB-EDA6-A565C6005523}"/>
                </a:ext>
              </a:extLst>
            </p:cNvPr>
            <p:cNvCxnSpPr/>
            <p:nvPr/>
          </p:nvCxnSpPr>
          <p:spPr>
            <a:xfrm>
              <a:off x="8831242" y="3038139"/>
              <a:ext cx="0" cy="432271"/>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sp>
          <p:nvSpPr>
            <p:cNvPr id="9228" name="TextBox 7">
              <a:extLst>
                <a:ext uri="{FF2B5EF4-FFF2-40B4-BE49-F238E27FC236}">
                  <a16:creationId xmlns:a16="http://schemas.microsoft.com/office/drawing/2014/main" id="{7D06A5F4-8DFC-3188-2E67-62D52B92D6C6}"/>
                </a:ext>
              </a:extLst>
            </p:cNvPr>
            <p:cNvSpPr txBox="1">
              <a:spLocks noChangeArrowheads="1"/>
            </p:cNvSpPr>
            <p:nvPr/>
          </p:nvSpPr>
          <p:spPr bwMode="auto">
            <a:xfrm rot="-5400000">
              <a:off x="8213050" y="2998019"/>
              <a:ext cx="8640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FFFF00"/>
                  </a:solidFill>
                </a:rPr>
                <a:t>10 m</a:t>
              </a:r>
            </a:p>
          </p:txBody>
        </p:sp>
        <p:sp>
          <p:nvSpPr>
            <p:cNvPr id="9" name="Right Arrow 8">
              <a:extLst>
                <a:ext uri="{FF2B5EF4-FFF2-40B4-BE49-F238E27FC236}">
                  <a16:creationId xmlns:a16="http://schemas.microsoft.com/office/drawing/2014/main" id="{3B176066-A052-259F-C7EA-AC363524D660}"/>
                </a:ext>
              </a:extLst>
            </p:cNvPr>
            <p:cNvSpPr/>
            <p:nvPr/>
          </p:nvSpPr>
          <p:spPr>
            <a:xfrm>
              <a:off x="6803744" y="1484224"/>
              <a:ext cx="1729378" cy="72046"/>
            </a:xfrm>
            <a:prstGeom prst="rightArrow">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9230" name="TextBox 10">
              <a:extLst>
                <a:ext uri="{FF2B5EF4-FFF2-40B4-BE49-F238E27FC236}">
                  <a16:creationId xmlns:a16="http://schemas.microsoft.com/office/drawing/2014/main" id="{F07C2C97-8677-BBF0-0FFC-E0A91E2C4451}"/>
                </a:ext>
              </a:extLst>
            </p:cNvPr>
            <p:cNvSpPr txBox="1">
              <a:spLocks noChangeArrowheads="1"/>
            </p:cNvSpPr>
            <p:nvPr/>
          </p:nvSpPr>
          <p:spPr bwMode="auto">
            <a:xfrm>
              <a:off x="7056276" y="1184275"/>
              <a:ext cx="12241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FFFF00"/>
                  </a:solidFill>
                </a:rPr>
                <a:t>seaward</a:t>
              </a:r>
            </a:p>
          </p:txBody>
        </p:sp>
        <p:sp>
          <p:nvSpPr>
            <p:cNvPr id="12" name="Freeform 11">
              <a:extLst>
                <a:ext uri="{FF2B5EF4-FFF2-40B4-BE49-F238E27FC236}">
                  <a16:creationId xmlns:a16="http://schemas.microsoft.com/office/drawing/2014/main" id="{82614C58-8378-8F06-677E-FF65FD877CD0}"/>
                </a:ext>
              </a:extLst>
            </p:cNvPr>
            <p:cNvSpPr/>
            <p:nvPr/>
          </p:nvSpPr>
          <p:spPr>
            <a:xfrm>
              <a:off x="3904493" y="2150995"/>
              <a:ext cx="560918" cy="377178"/>
            </a:xfrm>
            <a:custGeom>
              <a:avLst/>
              <a:gdLst>
                <a:gd name="connsiteX0" fmla="*/ 0 w 560165"/>
                <a:gd name="connsiteY0" fmla="*/ 0 h 377586"/>
                <a:gd name="connsiteX1" fmla="*/ 52465 w 560165"/>
                <a:gd name="connsiteY1" fmla="*/ 104931 h 377586"/>
                <a:gd name="connsiteX2" fmla="*/ 172387 w 560165"/>
                <a:gd name="connsiteY2" fmla="*/ 239842 h 377586"/>
                <a:gd name="connsiteX3" fmla="*/ 532151 w 560165"/>
                <a:gd name="connsiteY3" fmla="*/ 359763 h 377586"/>
                <a:gd name="connsiteX4" fmla="*/ 509665 w 560165"/>
                <a:gd name="connsiteY4" fmla="*/ 374754 h 377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0165" h="377586">
                  <a:moveTo>
                    <a:pt x="0" y="0"/>
                  </a:moveTo>
                  <a:cubicBezTo>
                    <a:pt x="11867" y="32478"/>
                    <a:pt x="23734" y="64957"/>
                    <a:pt x="52465" y="104931"/>
                  </a:cubicBezTo>
                  <a:cubicBezTo>
                    <a:pt x="81196" y="144905"/>
                    <a:pt x="92439" y="197370"/>
                    <a:pt x="172387" y="239842"/>
                  </a:cubicBezTo>
                  <a:cubicBezTo>
                    <a:pt x="252335" y="282314"/>
                    <a:pt x="475938" y="337278"/>
                    <a:pt x="532151" y="359763"/>
                  </a:cubicBezTo>
                  <a:cubicBezTo>
                    <a:pt x="588364" y="382248"/>
                    <a:pt x="549014" y="378501"/>
                    <a:pt x="509665" y="374754"/>
                  </a:cubicBezTo>
                </a:path>
              </a:pathLst>
            </a:custGeom>
            <a:noFill/>
            <a:ln w="12700">
              <a:solidFill>
                <a:srgbClr val="FFFF0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p>
          </p:txBody>
        </p:sp>
        <p:sp>
          <p:nvSpPr>
            <p:cNvPr id="9232" name="TextBox 12">
              <a:extLst>
                <a:ext uri="{FF2B5EF4-FFF2-40B4-BE49-F238E27FC236}">
                  <a16:creationId xmlns:a16="http://schemas.microsoft.com/office/drawing/2014/main" id="{0BCB00AD-1A33-DE59-3991-E26D7AE07675}"/>
                </a:ext>
              </a:extLst>
            </p:cNvPr>
            <p:cNvSpPr txBox="1">
              <a:spLocks noChangeArrowheads="1"/>
            </p:cNvSpPr>
            <p:nvPr/>
          </p:nvSpPr>
          <p:spPr bwMode="auto">
            <a:xfrm>
              <a:off x="3517900" y="2528675"/>
              <a:ext cx="20882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GB" altLang="en-US" sz="1800">
                  <a:solidFill>
                    <a:srgbClr val="FFFF00"/>
                  </a:solidFill>
                </a:rPr>
                <a:t>Dipping clinoform</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1143000"/>
          </a:xfrm>
        </p:spPr>
        <p:txBody>
          <a:bodyPr>
            <a:normAutofit fontScale="90000"/>
          </a:bodyPr>
          <a:lstStyle/>
          <a:p>
            <a:r>
              <a:rPr lang="en-GB" dirty="0"/>
              <a:t>Facies Associations to Architectural elements</a:t>
            </a:r>
          </a:p>
        </p:txBody>
      </p:sp>
      <p:sp>
        <p:nvSpPr>
          <p:cNvPr id="4" name="Rectangle 3"/>
          <p:cNvSpPr/>
          <p:nvPr/>
        </p:nvSpPr>
        <p:spPr>
          <a:xfrm>
            <a:off x="467544" y="6218874"/>
            <a:ext cx="8064896" cy="646331"/>
          </a:xfrm>
          <a:prstGeom prst="rect">
            <a:avLst/>
          </a:prstGeom>
        </p:spPr>
        <p:txBody>
          <a:bodyPr wrap="square">
            <a:spAutoFit/>
          </a:bodyPr>
          <a:lstStyle/>
          <a:p>
            <a:r>
              <a:rPr lang="en-GB" dirty="0" err="1"/>
              <a:t>Miall</a:t>
            </a:r>
            <a:r>
              <a:rPr lang="en-GB" dirty="0"/>
              <a:t> (1985) formalized facies associations for fluvial systems. These are used</a:t>
            </a:r>
          </a:p>
          <a:p>
            <a:r>
              <a:rPr lang="en-GB" dirty="0"/>
              <a:t>widely (with modification).</a:t>
            </a:r>
          </a:p>
        </p:txBody>
      </p:sp>
      <p:pic>
        <p:nvPicPr>
          <p:cNvPr id="12292"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50803" t="18222" r="12167" b="1555"/>
          <a:stretch/>
        </p:blipFill>
        <p:spPr bwMode="auto">
          <a:xfrm>
            <a:off x="683568" y="1300174"/>
            <a:ext cx="7297454" cy="4896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631966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Overview</a:t>
            </a:r>
          </a:p>
        </p:txBody>
      </p:sp>
      <p:pic>
        <p:nvPicPr>
          <p:cNvPr id="3076" name="Picture 4" descr="Image result for facies mod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039" y="116632"/>
            <a:ext cx="6951737" cy="5506666"/>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a:spLocks/>
          </p:cNvSpPr>
          <p:nvPr/>
        </p:nvSpPr>
        <p:spPr>
          <a:xfrm>
            <a:off x="296104" y="5715000"/>
            <a:ext cx="8526760" cy="1143000"/>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dirty="0"/>
              <a:t>Facies Associations from a glaciated margin (</a:t>
            </a:r>
            <a:r>
              <a:rPr lang="en-GB" dirty="0" err="1"/>
              <a:t>Miall</a:t>
            </a:r>
            <a:r>
              <a:rPr lang="en-GB" dirty="0"/>
              <a:t>, 2015)</a:t>
            </a:r>
          </a:p>
        </p:txBody>
      </p:sp>
    </p:spTree>
    <p:extLst>
      <p:ext uri="{BB962C8B-B14F-4D97-AF65-F5344CB8AC3E}">
        <p14:creationId xmlns:p14="http://schemas.microsoft.com/office/powerpoint/2010/main" val="2708613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Summary</a:t>
            </a:r>
            <a:r>
              <a:rPr lang="en-GB" dirty="0"/>
              <a:t>	</a:t>
            </a:r>
          </a:p>
        </p:txBody>
      </p:sp>
      <p:sp>
        <p:nvSpPr>
          <p:cNvPr id="3" name="Content Placeholder 2"/>
          <p:cNvSpPr>
            <a:spLocks noGrp="1"/>
          </p:cNvSpPr>
          <p:nvPr>
            <p:ph idx="1"/>
          </p:nvPr>
        </p:nvSpPr>
        <p:spPr>
          <a:xfrm>
            <a:off x="457200" y="1600200"/>
            <a:ext cx="5410944" cy="4525963"/>
          </a:xfrm>
        </p:spPr>
        <p:txBody>
          <a:bodyPr>
            <a:normAutofit fontScale="70000" lnSpcReduction="20000"/>
          </a:bodyPr>
          <a:lstStyle/>
          <a:p>
            <a:r>
              <a:rPr lang="en-GB" dirty="0"/>
              <a:t>Facies: a body of sediment or rock characterised by a particular combination of lithological, physical and biological characteristics that distinguishes it from units above, below or adjacent to it.</a:t>
            </a:r>
          </a:p>
          <a:p>
            <a:r>
              <a:rPr lang="en-GB" dirty="0"/>
              <a:t>a collection of multiple, genetically-related facies formed within a single depositional system.</a:t>
            </a:r>
          </a:p>
          <a:p>
            <a:r>
              <a:rPr lang="en-GB" dirty="0"/>
              <a:t>Always separate and make it clear – what is an observation and what is an interpretation!</a:t>
            </a:r>
          </a:p>
          <a:p>
            <a:r>
              <a:rPr lang="en-GB" dirty="0"/>
              <a:t>Recommended Reading: Sedimentary Environments (Harold Reading) </a:t>
            </a:r>
          </a:p>
          <a:p>
            <a:endParaRPr lang="en-GB" dirty="0"/>
          </a:p>
          <a:p>
            <a:endParaRPr lang="en-GB" dirty="0"/>
          </a:p>
        </p:txBody>
      </p:sp>
      <p:pic>
        <p:nvPicPr>
          <p:cNvPr id="20482" name="Picture 2" descr="Image result for Sedimentary Environments: Processes, Facies and Stratigraph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2160" y="1772816"/>
            <a:ext cx="2708659" cy="3456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81148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783</TotalTime>
  <Words>1332</Words>
  <Application>Microsoft Office PowerPoint</Application>
  <PresentationFormat>On-screen Show (4:3)</PresentationFormat>
  <Paragraphs>167</Paragraphs>
  <Slides>30</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Andalus</vt:lpstr>
      <vt:lpstr>Arial</vt:lpstr>
      <vt:lpstr>Calibri</vt:lpstr>
      <vt:lpstr>Office Theme</vt:lpstr>
      <vt:lpstr>PowerPoint Presentation</vt:lpstr>
      <vt:lpstr>Facies</vt:lpstr>
      <vt:lpstr>Let’s have a go –what’s this facies?</vt:lpstr>
      <vt:lpstr>Let’s have a go   – what’s this facies?</vt:lpstr>
      <vt:lpstr>We have defined a ‘lithofacies’</vt:lpstr>
      <vt:lpstr>Scale</vt:lpstr>
      <vt:lpstr>Facies and problems</vt:lpstr>
      <vt:lpstr>Facies to environment</vt:lpstr>
      <vt:lpstr>Facies Associations</vt:lpstr>
      <vt:lpstr>Facies Associations - example</vt:lpstr>
      <vt:lpstr>Facies Associations - example</vt:lpstr>
      <vt:lpstr>Facies Associations</vt:lpstr>
      <vt:lpstr>Facies Associations</vt:lpstr>
      <vt:lpstr>PowerPoint Presentation</vt:lpstr>
      <vt:lpstr>PowerPoint Presentation</vt:lpstr>
      <vt:lpstr>Facies Associations - context</vt:lpstr>
      <vt:lpstr>Facies Associations - context</vt:lpstr>
      <vt:lpstr>PowerPoint Presentation</vt:lpstr>
      <vt:lpstr>PowerPoint Presentation</vt:lpstr>
      <vt:lpstr>PowerPoint Presentation</vt:lpstr>
      <vt:lpstr>Bed scale facies associations</vt:lpstr>
      <vt:lpstr>PowerPoint Presentation</vt:lpstr>
      <vt:lpstr>PowerPoint Presentation</vt:lpstr>
      <vt:lpstr>PowerPoint Presentation</vt:lpstr>
      <vt:lpstr>PowerPoint Presentation</vt:lpstr>
      <vt:lpstr>Stratigraphy and Walther’s Law</vt:lpstr>
      <vt:lpstr>PowerPoint Presentation</vt:lpstr>
      <vt:lpstr>Facies Associations to Architectural elements</vt:lpstr>
      <vt:lpstr>Overview</vt:lpstr>
      <vt:lpstr>Summary </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Ian Kane</dc:creator>
  <cp:lastModifiedBy>Ian Kane</cp:lastModifiedBy>
  <cp:revision>25</cp:revision>
  <dcterms:created xsi:type="dcterms:W3CDTF">2020-07-03T09:35:46Z</dcterms:created>
  <dcterms:modified xsi:type="dcterms:W3CDTF">2023-02-06T17:36:00Z</dcterms:modified>
</cp:coreProperties>
</file>