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60" r:id="rId4"/>
    <p:sldId id="259" r:id="rId5"/>
    <p:sldId id="261" r:id="rId6"/>
    <p:sldId id="262" r:id="rId7"/>
    <p:sldId id="294" r:id="rId8"/>
    <p:sldId id="295" r:id="rId9"/>
    <p:sldId id="264" r:id="rId10"/>
    <p:sldId id="296" r:id="rId11"/>
    <p:sldId id="265" r:id="rId12"/>
    <p:sldId id="267" r:id="rId13"/>
    <p:sldId id="268" r:id="rId14"/>
    <p:sldId id="269" r:id="rId15"/>
    <p:sldId id="270" r:id="rId16"/>
    <p:sldId id="300" r:id="rId17"/>
    <p:sldId id="301" r:id="rId18"/>
    <p:sldId id="271" r:id="rId19"/>
    <p:sldId id="272" r:id="rId20"/>
    <p:sldId id="302" r:id="rId21"/>
    <p:sldId id="274" r:id="rId22"/>
    <p:sldId id="275" r:id="rId23"/>
    <p:sldId id="303" r:id="rId24"/>
    <p:sldId id="304" r:id="rId25"/>
    <p:sldId id="276" r:id="rId26"/>
    <p:sldId id="277" r:id="rId27"/>
    <p:sldId id="278" r:id="rId28"/>
    <p:sldId id="279" r:id="rId29"/>
    <p:sldId id="280" r:id="rId30"/>
    <p:sldId id="299" r:id="rId31"/>
    <p:sldId id="306" r:id="rId32"/>
    <p:sldId id="281" r:id="rId33"/>
    <p:sldId id="282" r:id="rId34"/>
    <p:sldId id="283" r:id="rId35"/>
    <p:sldId id="284" r:id="rId36"/>
    <p:sldId id="305" r:id="rId37"/>
    <p:sldId id="285" r:id="rId38"/>
    <p:sldId id="286" r:id="rId39"/>
    <p:sldId id="308" r:id="rId40"/>
    <p:sldId id="287" r:id="rId41"/>
    <p:sldId id="288" r:id="rId42"/>
    <p:sldId id="289" r:id="rId43"/>
    <p:sldId id="290" r:id="rId44"/>
    <p:sldId id="291" r:id="rId45"/>
    <p:sldId id="292" r:id="rId46"/>
    <p:sldId id="309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1913" autoAdjust="0"/>
  </p:normalViewPr>
  <p:slideViewPr>
    <p:cSldViewPr>
      <p:cViewPr>
        <p:scale>
          <a:sx n="50" d="100"/>
          <a:sy n="50" d="100"/>
        </p:scale>
        <p:origin x="-2242" y="-8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9FE2A-BF96-4069-BBD5-9FAFA243AC4F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587C4-BFF8-4500-8BC0-69E37E470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57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xmlns="" id="{9566EFC2-7B0E-413A-9483-71E5AB5CAB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xmlns="" id="{007E69B4-748E-43E5-96B7-E8F89402F8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7058A0-E03E-4E95-8970-FEEB4853F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57D68F-4678-48EE-AC25-ED7A772AEF29}" type="slidenum">
              <a:rPr lang="nb-NO" altLang="nb-NO"/>
              <a:pPr eaLnBrk="1" hangingPunct="1"/>
              <a:t>3</a:t>
            </a:fld>
            <a:endParaRPr lang="nb-NO" altLang="nb-NO"/>
          </a:p>
        </p:txBody>
      </p:sp>
    </p:spTree>
    <p:extLst>
      <p:ext uri="{BB962C8B-B14F-4D97-AF65-F5344CB8AC3E}">
        <p14:creationId xmlns:p14="http://schemas.microsoft.com/office/powerpoint/2010/main" val="3856224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xmlns="" id="{6DA7A8CF-A574-4039-9BD6-AB33D234A1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xmlns="" id="{E65F7C9F-FF35-4985-A394-71CDBC60C1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FFF7B0-AF46-4E39-A75E-DABCD9428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FB4015A-8589-4260-BF55-89C81A6A2956}" type="slidenum">
              <a:rPr lang="nb-NO" altLang="nb-NO"/>
              <a:pPr eaLnBrk="1" hangingPunct="1"/>
              <a:t>5</a:t>
            </a:fld>
            <a:endParaRPr lang="nb-NO" altLang="nb-NO"/>
          </a:p>
        </p:txBody>
      </p:sp>
    </p:spTree>
    <p:extLst>
      <p:ext uri="{BB962C8B-B14F-4D97-AF65-F5344CB8AC3E}">
        <p14:creationId xmlns:p14="http://schemas.microsoft.com/office/powerpoint/2010/main" val="2921153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The </a:t>
            </a:r>
            <a:r>
              <a:rPr lang="en-GB" dirty="0" err="1" smtClean="0"/>
              <a:t>Hjulström</a:t>
            </a:r>
            <a:r>
              <a:rPr lang="en-GB" dirty="0" smtClean="0"/>
              <a:t> curve, named after Filip </a:t>
            </a:r>
            <a:r>
              <a:rPr lang="en-GB" dirty="0" err="1" smtClean="0"/>
              <a:t>Hjulström</a:t>
            </a:r>
            <a:r>
              <a:rPr lang="en-GB" dirty="0" smtClean="0"/>
              <a:t>, is a graph used by hydrologists and geologists to determine whether a river will erode, transport, or deposit sediment. It was originally published in his doctoral thesis "Studies of the morphological activity of rivers as illustrated by the River </a:t>
            </a:r>
            <a:r>
              <a:rPr lang="en-GB" dirty="0" err="1" smtClean="0"/>
              <a:t>Fyris</a:t>
            </a:r>
            <a:r>
              <a:rPr lang="en-GB" dirty="0" smtClean="0"/>
              <a:t>." in 1935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581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Photo: Charles </a:t>
            </a:r>
            <a:r>
              <a:rPr lang="en-GB" dirty="0" err="1" smtClean="0"/>
              <a:t>Platiau</a:t>
            </a:r>
            <a:r>
              <a:rPr lang="en-GB" dirty="0" smtClean="0"/>
              <a:t>/Reuters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447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 Location: 29°43'6.46"N  115°38'52.68"W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33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 Location: 29°43'6.46"N  115°38'52.68"W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29339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 26°35'31.85"N  90°12'59.69"E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7105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Portage la </a:t>
            </a:r>
            <a:r>
              <a:rPr lang="en-GB" dirty="0" err="1" smtClean="0"/>
              <a:t>Pairie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1587C4-BFF8-4500-8BC0-69E37E47006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014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49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5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6728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08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9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972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062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25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6146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225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95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3CAFA-F40C-45AA-AD32-4442F86B7071}" type="datetimeFigureOut">
              <a:rPr lang="en-GB" smtClean="0"/>
              <a:t>16/02/2021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E3A86-00A9-4558-A82A-8362524D4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73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blogs.agu.org/landslideblog/2016/01/24/the-greatest-ever-debris-flow-video-aconcagua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24" t="11125" r="7464" b="8000"/>
          <a:stretch/>
        </p:blipFill>
        <p:spPr bwMode="auto">
          <a:xfrm>
            <a:off x="0" y="-5368"/>
            <a:ext cx="9144000" cy="6863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9512" y="116632"/>
            <a:ext cx="885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 smtClean="0">
                <a:solidFill>
                  <a:schemeClr val="bg1"/>
                </a:solidFill>
              </a:rPr>
              <a:t>Continental Clastic Environments</a:t>
            </a:r>
            <a:endParaRPr lang="en-GB" sz="36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6309320"/>
            <a:ext cx="6768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solidFill>
                  <a:schemeClr val="bg1"/>
                </a:solidFill>
              </a:rPr>
              <a:t>EART23202, Ian Kane.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63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Range of clastic environments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Rivers – fluvial, alluvial</a:t>
            </a:r>
          </a:p>
          <a:p>
            <a:r>
              <a:rPr lang="en-GB" dirty="0" smtClean="0"/>
              <a:t>Lakes - Lacustrine</a:t>
            </a:r>
          </a:p>
          <a:p>
            <a:r>
              <a:rPr lang="en-GB" dirty="0" smtClean="0"/>
              <a:t>Glacial - moraine, outwash</a:t>
            </a:r>
          </a:p>
          <a:p>
            <a:r>
              <a:rPr lang="en-GB" dirty="0" smtClean="0"/>
              <a:t>Desert – </a:t>
            </a:r>
            <a:r>
              <a:rPr lang="en-GB" dirty="0" err="1" smtClean="0"/>
              <a:t>aeolian</a:t>
            </a:r>
            <a:endParaRPr lang="en-GB" dirty="0" smtClean="0"/>
          </a:p>
          <a:p>
            <a:r>
              <a:rPr lang="en-GB" dirty="0" smtClean="0"/>
              <a:t>Volcanic – </a:t>
            </a:r>
            <a:r>
              <a:rPr lang="en-GB" dirty="0" err="1" smtClean="0"/>
              <a:t>pyroclastics</a:t>
            </a:r>
            <a:r>
              <a:rPr lang="en-GB" dirty="0" smtClean="0"/>
              <a:t>, debris flows</a:t>
            </a:r>
          </a:p>
          <a:p>
            <a:r>
              <a:rPr lang="en-GB" dirty="0" smtClean="0"/>
              <a:t>Soils</a:t>
            </a:r>
          </a:p>
          <a:p>
            <a:r>
              <a:rPr lang="en-GB" dirty="0" smtClean="0"/>
              <a:t>Natural, urban, and </a:t>
            </a:r>
            <a:r>
              <a:rPr lang="en-GB" dirty="0" err="1" smtClean="0"/>
              <a:t>inbetween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1975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2">
            <a:extLst>
              <a:ext uri="{FF2B5EF4-FFF2-40B4-BE49-F238E27FC236}">
                <a16:creationId xmlns:a16="http://schemas.microsoft.com/office/drawing/2014/main" xmlns="" id="{49977952-8ACD-46F2-9C3B-8249661EE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4433473"/>
            <a:ext cx="4387832" cy="2259664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7" name="TextBox 8">
            <a:extLst>
              <a:ext uri="{FF2B5EF4-FFF2-40B4-BE49-F238E27FC236}">
                <a16:creationId xmlns:a16="http://schemas.microsoft.com/office/drawing/2014/main" xmlns="" id="{FF9F73EC-0891-46C6-88B1-C7288970D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687" y="5383579"/>
            <a:ext cx="25193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b-NO" altLang="nb-NO" sz="1200" dirty="0" err="1"/>
              <a:t>Guillocheau</a:t>
            </a:r>
            <a:r>
              <a:rPr lang="nb-NO" altLang="nb-NO" sz="1200" dirty="0"/>
              <a:t> et al., 2011</a:t>
            </a:r>
            <a:endParaRPr lang="en-GB" altLang="nb-NO" sz="1200" dirty="0"/>
          </a:p>
        </p:txBody>
      </p:sp>
      <p:pic>
        <p:nvPicPr>
          <p:cNvPr id="13318" name="Picture 3">
            <a:extLst>
              <a:ext uri="{FF2B5EF4-FFF2-40B4-BE49-F238E27FC236}">
                <a16:creationId xmlns:a16="http://schemas.microsoft.com/office/drawing/2014/main" xmlns="" id="{8ED697E1-BB2B-4859-ADF9-6ECE1484A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1268760"/>
            <a:ext cx="2195745" cy="2938526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9" name="TextBox 10">
            <a:extLst>
              <a:ext uri="{FF2B5EF4-FFF2-40B4-BE49-F238E27FC236}">
                <a16:creationId xmlns:a16="http://schemas.microsoft.com/office/drawing/2014/main" xmlns="" id="{883644C9-9254-414C-A07B-1E7F80420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4217572"/>
            <a:ext cx="1230313" cy="18466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b-NO" altLang="nb-NO" sz="1200" dirty="0"/>
              <a:t>Goodbred, 2003</a:t>
            </a:r>
            <a:endParaRPr lang="en-GB" altLang="nb-NO" sz="1200" dirty="0"/>
          </a:p>
        </p:txBody>
      </p:sp>
      <p:pic>
        <p:nvPicPr>
          <p:cNvPr id="13320" name="Picture 2">
            <a:extLst>
              <a:ext uri="{FF2B5EF4-FFF2-40B4-BE49-F238E27FC236}">
                <a16:creationId xmlns:a16="http://schemas.microsoft.com/office/drawing/2014/main" xmlns="" id="{ABC747F3-3CF6-4811-A9C9-DAF950601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6" y="1279871"/>
            <a:ext cx="1793856" cy="292741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21" name="TextBox 13">
            <a:extLst>
              <a:ext uri="{FF2B5EF4-FFF2-40B4-BE49-F238E27FC236}">
                <a16:creationId xmlns:a16="http://schemas.microsoft.com/office/drawing/2014/main" xmlns="" id="{ACF2926F-0C1B-4F0A-A392-8769A5ED3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4471" y="4185434"/>
            <a:ext cx="180022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nb-NO" altLang="nb-NO" sz="1200" dirty="0"/>
              <a:t>Allen, 2008</a:t>
            </a:r>
            <a:endParaRPr lang="en-GB" altLang="nb-NO" sz="1200" dirty="0"/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xmlns="" id="{B9A0419C-A857-4B38-A05A-326DC76B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242" y="1437896"/>
            <a:ext cx="4032250" cy="5411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ts val="2000"/>
              </a:spcBef>
              <a:buFontTx/>
              <a:buChar char="•"/>
              <a:defRPr/>
            </a:pPr>
            <a:r>
              <a:rPr lang="en-GB" dirty="0">
                <a:latin typeface="Arial" pitchFamily="34" charset="0"/>
              </a:rPr>
              <a:t>Meade (1972) was among the first to apply the source-to-sink terminology when investigating suspended sediment dispersal along the eastern US margin </a:t>
            </a:r>
          </a:p>
          <a:p>
            <a:pPr eaLnBrk="1" hangingPunct="1">
              <a:spcBef>
                <a:spcPts val="2000"/>
              </a:spcBef>
              <a:buFontTx/>
              <a:buChar char="•"/>
              <a:defRPr/>
            </a:pPr>
            <a:r>
              <a:rPr lang="en-GB" dirty="0">
                <a:latin typeface="Arial" pitchFamily="34" charset="0"/>
              </a:rPr>
              <a:t>Has later been used to:</a:t>
            </a:r>
          </a:p>
          <a:p>
            <a:pPr marL="285750" indent="-285750" eaLnBrk="1" hangingPunct="1">
              <a:spcBef>
                <a:spcPts val="2000"/>
              </a:spcBef>
              <a:buFontTx/>
              <a:buChar char="-"/>
              <a:defRPr/>
            </a:pPr>
            <a:r>
              <a:rPr lang="en-GB" dirty="0">
                <a:latin typeface="Arial" pitchFamily="34" charset="0"/>
              </a:rPr>
              <a:t>study seasonal flux from near-shore to shelf</a:t>
            </a:r>
          </a:p>
          <a:p>
            <a:pPr marL="285750" indent="-285750" eaLnBrk="1" hangingPunct="1">
              <a:spcBef>
                <a:spcPts val="2000"/>
              </a:spcBef>
              <a:buFontTx/>
              <a:buChar char="-"/>
              <a:defRPr/>
            </a:pPr>
            <a:r>
              <a:rPr lang="en-GB" dirty="0">
                <a:latin typeface="Arial" pitchFamily="34" charset="0"/>
              </a:rPr>
              <a:t>study 10-100 my denudation and basin filling along continental margins</a:t>
            </a:r>
          </a:p>
          <a:p>
            <a:pPr marL="285750" indent="-285750" eaLnBrk="1" hangingPunct="1">
              <a:spcBef>
                <a:spcPts val="2000"/>
              </a:spcBef>
              <a:buFont typeface="Arial" pitchFamily="34" charset="0"/>
              <a:buChar char="•"/>
              <a:defRPr/>
            </a:pPr>
            <a:r>
              <a:rPr lang="en-GB" dirty="0">
                <a:latin typeface="Arial" pitchFamily="34" charset="0"/>
              </a:rPr>
              <a:t>investigating processes, signal transfer, response to perturbations, sediment budget, provenance</a:t>
            </a:r>
          </a:p>
          <a:p>
            <a:pPr marL="0" indent="0" eaLnBrk="1" hangingPunct="1">
              <a:spcBef>
                <a:spcPct val="50000"/>
              </a:spcBef>
              <a:defRPr/>
            </a:pPr>
            <a:endParaRPr lang="en-GB" dirty="0">
              <a:latin typeface="Arial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xmlns="" id="{E45740A1-5815-41E3-BD34-A800265D3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188640"/>
            <a:ext cx="8640762" cy="900112"/>
          </a:xfrm>
        </p:spPr>
        <p:txBody>
          <a:bodyPr/>
          <a:lstStyle/>
          <a:p>
            <a:r>
              <a:rPr lang="nb-NO" dirty="0" smtClean="0"/>
              <a:t>Source-to-sink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90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250" y="-171400"/>
            <a:ext cx="8229600" cy="1143000"/>
          </a:xfrm>
        </p:spPr>
        <p:txBody>
          <a:bodyPr/>
          <a:lstStyle/>
          <a:p>
            <a:r>
              <a:rPr lang="en-GB" dirty="0" smtClean="0"/>
              <a:t>The Source-to-Sink system</a:t>
            </a:r>
            <a:endParaRPr lang="en-GB" dirty="0"/>
          </a:p>
        </p:txBody>
      </p:sp>
      <p:pic>
        <p:nvPicPr>
          <p:cNvPr id="5" name="Picture 2" descr="http://wiki.statoil.no/wiki/images/c/cd/S2S_shel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877072"/>
            <a:ext cx="8586001" cy="585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850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 Box 8">
            <a:extLst>
              <a:ext uri="{FF2B5EF4-FFF2-40B4-BE49-F238E27FC236}">
                <a16:creationId xmlns:a16="http://schemas.microsoft.com/office/drawing/2014/main" xmlns="" id="{CBEF840F-41DC-4B8C-B325-EEA24FDA6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479445"/>
            <a:ext cx="50419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7800" indent="-1778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nb-NO">
                <a:latin typeface="Arial" panose="020B0604020202020204" pitchFamily="34" charset="0"/>
              </a:rPr>
              <a:t>The complete sediment routing system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nb-NO">
                <a:latin typeface="Arial" panose="020B0604020202020204" pitchFamily="34" charset="0"/>
              </a:rPr>
              <a:t>A holistic approach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nb-NO">
                <a:latin typeface="Arial" panose="020B0604020202020204" pitchFamily="34" charset="0"/>
              </a:rPr>
              <a:t>Integration of multiple data sources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nb-NO">
                <a:latin typeface="Arial" panose="020B0604020202020204" pitchFamily="34" charset="0"/>
              </a:rPr>
              <a:t>Focus on link between segments/  depositional environments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GB" altLang="nb-NO">
                <a:latin typeface="Arial" panose="020B0604020202020204" pitchFamily="34" charset="0"/>
              </a:rPr>
              <a:t>Link between processes and stratigraphy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4C258079-BE28-4A04-ADEB-F056AD0B7F5E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034945"/>
            <a:ext cx="3671888" cy="3168650"/>
            <a:chOff x="5076825" y="765175"/>
            <a:chExt cx="3671888" cy="3168650"/>
          </a:xfrm>
        </p:grpSpPr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xmlns="" id="{2A78D40A-3DE0-4F96-B1CC-F3921D50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6825" y="1209675"/>
              <a:ext cx="3671888" cy="272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77800" indent="-1778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GB" dirty="0">
                  <a:latin typeface="Arial" pitchFamily="34" charset="0"/>
                </a:rPr>
                <a:t>Improve understanding of landscape and seascape evolution in 3D</a:t>
              </a:r>
            </a:p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GB" dirty="0">
                  <a:latin typeface="Arial" pitchFamily="34" charset="0"/>
                </a:rPr>
                <a:t>Encourage thinking</a:t>
              </a:r>
              <a:r>
                <a:rPr lang="nb-NO" dirty="0">
                  <a:latin typeface="Arial" pitchFamily="34" charset="0"/>
                </a:rPr>
                <a:t> </a:t>
              </a:r>
              <a:r>
                <a:rPr lang="nb-NO" dirty="0" err="1">
                  <a:latin typeface="Arial" pitchFamily="34" charset="0"/>
                </a:rPr>
                <a:t>across</a:t>
              </a:r>
              <a:r>
                <a:rPr lang="nb-NO" dirty="0">
                  <a:latin typeface="Arial" pitchFamily="34" charset="0"/>
                </a:rPr>
                <a:t> </a:t>
              </a:r>
              <a:r>
                <a:rPr lang="en-GB" dirty="0">
                  <a:latin typeface="Arial" pitchFamily="34" charset="0"/>
                </a:rPr>
                <a:t>disciplines</a:t>
              </a:r>
            </a:p>
            <a:p>
              <a:pPr eaLnBrk="1" hangingPunct="1">
                <a:spcBef>
                  <a:spcPct val="50000"/>
                </a:spcBef>
                <a:buFontTx/>
                <a:buChar char="•"/>
                <a:defRPr/>
              </a:pPr>
              <a:r>
                <a:rPr lang="en-GB" dirty="0">
                  <a:latin typeface="Arial" pitchFamily="34" charset="0"/>
                </a:rPr>
                <a:t>Improve predictability in ancient systems</a:t>
              </a:r>
            </a:p>
            <a:p>
              <a:pPr marL="0" indent="0" eaLnBrk="1" hangingPunct="1">
                <a:spcBef>
                  <a:spcPct val="50000"/>
                </a:spcBef>
                <a:defRPr/>
              </a:pPr>
              <a:endParaRPr lang="en-GB" dirty="0">
                <a:latin typeface="Arial" pitchFamily="34" charset="0"/>
              </a:endParaRPr>
            </a:p>
          </p:txBody>
        </p:sp>
        <p:sp>
          <p:nvSpPr>
            <p:cNvPr id="14345" name="Text Box 8">
              <a:extLst>
                <a:ext uri="{FF2B5EF4-FFF2-40B4-BE49-F238E27FC236}">
                  <a16:creationId xmlns:a16="http://schemas.microsoft.com/office/drawing/2014/main" xmlns="" id="{58BCAF20-CF17-4E5B-A59C-5772717801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1700" y="765175"/>
              <a:ext cx="19431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GB" altLang="nb-NO" b="1">
                  <a:latin typeface="Arial" panose="020B0604020202020204" pitchFamily="34" charset="0"/>
                </a:rPr>
                <a:t>Why it is useful</a:t>
              </a:r>
            </a:p>
          </p:txBody>
        </p:sp>
      </p:grpSp>
      <p:sp>
        <p:nvSpPr>
          <p:cNvPr id="14342" name="Text Box 8">
            <a:extLst>
              <a:ext uri="{FF2B5EF4-FFF2-40B4-BE49-F238E27FC236}">
                <a16:creationId xmlns:a16="http://schemas.microsoft.com/office/drawing/2014/main" xmlns="" id="{584849C3-9CE3-4919-A73D-9C6781D1EA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025420"/>
            <a:ext cx="1943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nb-NO" b="1">
                <a:latin typeface="Arial" panose="020B0604020202020204" pitchFamily="34" charset="0"/>
              </a:rPr>
              <a:t>What it involves</a:t>
            </a:r>
          </a:p>
        </p:txBody>
      </p:sp>
      <p:pic>
        <p:nvPicPr>
          <p:cNvPr id="14343" name="Picture 344" descr="source to sink segments">
            <a:extLst>
              <a:ext uri="{FF2B5EF4-FFF2-40B4-BE49-F238E27FC236}">
                <a16:creationId xmlns:a16="http://schemas.microsoft.com/office/drawing/2014/main" xmlns="" id="{62649814-7610-4F4D-BF53-FA0CEEC3F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" t="237" r="102" b="237"/>
          <a:stretch>
            <a:fillRect/>
          </a:stretch>
        </p:blipFill>
        <p:spPr bwMode="auto">
          <a:xfrm>
            <a:off x="1625600" y="3788370"/>
            <a:ext cx="582612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xmlns="" id="{F5D9DF0B-6900-419D-85B3-39F79335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281" y="-28478"/>
            <a:ext cx="8640762" cy="900112"/>
          </a:xfrm>
        </p:spPr>
        <p:txBody>
          <a:bodyPr/>
          <a:lstStyle/>
          <a:p>
            <a:r>
              <a:rPr lang="nb-NO" dirty="0" err="1"/>
              <a:t>What</a:t>
            </a:r>
            <a:r>
              <a:rPr lang="nb-NO" dirty="0"/>
              <a:t> is </a:t>
            </a:r>
            <a:r>
              <a:rPr lang="nb-NO" dirty="0" err="1"/>
              <a:t>source</a:t>
            </a:r>
            <a:r>
              <a:rPr lang="nb-NO" dirty="0"/>
              <a:t> to sink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12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 descr="https://www.uib.no/sites/w3.uib.no/files/styles/content_main/public/w2/th/the_golo_sediment_dispersal_system._1.png?itok=j4twSNQ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-459432"/>
            <a:ext cx="7992888" cy="794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60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Focus on Fluvial systems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Why important:</a:t>
            </a:r>
          </a:p>
          <a:p>
            <a:pPr lvl="1"/>
            <a:r>
              <a:rPr lang="en-GB" dirty="0" smtClean="0"/>
              <a:t>Deliver vast majority of terrestrial sediment, organic carbon, and pollutants to the coast.</a:t>
            </a:r>
          </a:p>
          <a:p>
            <a:pPr lvl="1"/>
            <a:r>
              <a:rPr lang="en-GB" dirty="0" smtClean="0"/>
              <a:t>Provide water</a:t>
            </a:r>
          </a:p>
          <a:p>
            <a:pPr lvl="1"/>
            <a:r>
              <a:rPr lang="en-GB" dirty="0" smtClean="0"/>
              <a:t>Flooding</a:t>
            </a:r>
          </a:p>
          <a:p>
            <a:pPr lvl="1"/>
            <a:r>
              <a:rPr lang="en-GB" dirty="0" smtClean="0"/>
              <a:t>Power generation</a:t>
            </a:r>
          </a:p>
          <a:p>
            <a:pPr lvl="1"/>
            <a:r>
              <a:rPr lang="en-GB" dirty="0" smtClean="0"/>
              <a:t>Fishing</a:t>
            </a:r>
          </a:p>
          <a:p>
            <a:pPr lvl="1"/>
            <a:r>
              <a:rPr lang="en-GB" dirty="0" err="1" smtClean="0"/>
              <a:t>Etc</a:t>
            </a:r>
            <a:endParaRPr lang="en-GB" dirty="0" smtClean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014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Definitions: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River: a ‘large’ conduit for the flow of water and sediment </a:t>
            </a:r>
          </a:p>
          <a:p>
            <a:r>
              <a:rPr lang="en-GB" dirty="0" smtClean="0"/>
              <a:t>Fluvial: processes and </a:t>
            </a:r>
            <a:r>
              <a:rPr lang="en-GB" dirty="0" err="1" smtClean="0"/>
              <a:t>bedforms</a:t>
            </a:r>
            <a:r>
              <a:rPr lang="en-GB" dirty="0" smtClean="0"/>
              <a:t> relating to rivers</a:t>
            </a:r>
          </a:p>
          <a:p>
            <a:r>
              <a:rPr lang="en-GB" dirty="0" smtClean="0"/>
              <a:t>Alluvial: processes and deposits related to rivers but </a:t>
            </a:r>
            <a:r>
              <a:rPr lang="en-GB" dirty="0" err="1" smtClean="0"/>
              <a:t>occuring</a:t>
            </a:r>
            <a:r>
              <a:rPr lang="en-GB" dirty="0" smtClean="0"/>
              <a:t> outside of the channel itself (floodplains, deltas)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529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 descr="4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38200"/>
            <a:ext cx="4267200" cy="390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4724400" y="381000"/>
            <a:ext cx="4038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</a:pPr>
            <a:r>
              <a:rPr lang="en-US" altLang="en-US" b="1" dirty="0">
                <a:latin typeface="Tahoma" pitchFamily="34" charset="0"/>
              </a:rPr>
              <a:t>Reynolds number</a:t>
            </a:r>
            <a:r>
              <a:rPr lang="en-US" altLang="en-US" sz="2000" dirty="0">
                <a:latin typeface="Tahoma" pitchFamily="34" charset="0"/>
              </a:rPr>
              <a:t> (laminar vs. turbulent flow)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altLang="en-US" sz="2000" dirty="0">
              <a:latin typeface="Tahoma" pitchFamily="34" charset="0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altLang="en-US" dirty="0">
                <a:latin typeface="Tahoma" pitchFamily="34" charset="0"/>
                <a:sym typeface="Symbol" pitchFamily="18" charset="2"/>
              </a:rPr>
              <a:t>u=flow velocity; l=characteristic length (flow depth); </a:t>
            </a:r>
            <a:r>
              <a:rPr lang="en-US" altLang="en-US" dirty="0">
                <a:latin typeface="Tahoma" pitchFamily="34" charset="0"/>
              </a:rPr>
              <a:t>=kinematic</a:t>
            </a:r>
          </a:p>
          <a:p>
            <a:pPr algn="ctr" eaLnBrk="1" hangingPunct="1">
              <a:spcBef>
                <a:spcPct val="20000"/>
              </a:spcBef>
              <a:buClr>
                <a:schemeClr val="tx1"/>
              </a:buClr>
            </a:pPr>
            <a:r>
              <a:rPr lang="en-US" altLang="en-US" dirty="0">
                <a:latin typeface="Tahoma" pitchFamily="34" charset="0"/>
              </a:rPr>
              <a:t>viscosity (dynamic viscosity/fluid density)</a:t>
            </a:r>
          </a:p>
          <a:p>
            <a:pPr algn="ctr" eaLnBrk="1" hangingPunct="1">
              <a:spcBef>
                <a:spcPct val="20000"/>
              </a:spcBef>
              <a:buClr>
                <a:schemeClr val="tx1"/>
              </a:buClr>
            </a:pPr>
            <a:r>
              <a:rPr lang="en-US" altLang="en-US" dirty="0">
                <a:latin typeface="Tahoma" pitchFamily="34" charset="0"/>
              </a:rPr>
              <a:t>(water ~ 1.5x10</a:t>
            </a:r>
            <a:r>
              <a:rPr lang="en-US" altLang="en-US" baseline="30000" dirty="0">
                <a:latin typeface="Tahoma" pitchFamily="34" charset="0"/>
              </a:rPr>
              <a:t>-6</a:t>
            </a:r>
            <a:r>
              <a:rPr lang="en-US" altLang="en-US" dirty="0">
                <a:latin typeface="Tahoma" pitchFamily="34" charset="0"/>
              </a:rPr>
              <a:t> m</a:t>
            </a:r>
            <a:r>
              <a:rPr lang="en-US" altLang="en-US" baseline="30000" dirty="0">
                <a:latin typeface="Tahoma" pitchFamily="34" charset="0"/>
              </a:rPr>
              <a:t>2</a:t>
            </a:r>
            <a:r>
              <a:rPr lang="en-US" altLang="en-US" dirty="0">
                <a:latin typeface="Tahoma" pitchFamily="34" charset="0"/>
              </a:rPr>
              <a:t>/s)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altLang="en-US" sz="2000" dirty="0">
                <a:latin typeface="Tahoma" pitchFamily="34" charset="0"/>
              </a:rPr>
              <a:t>Turbulence is promoted by high flow velocities and flow depths, and low viscosities (Re&gt;2000); laminar flow occurs at Re&lt;500</a:t>
            </a: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altLang="en-US" sz="2000" dirty="0">
                <a:latin typeface="Tahoma" pitchFamily="34" charset="0"/>
              </a:rPr>
              <a:t>Air and water are nearly always turbulent</a:t>
            </a:r>
          </a:p>
        </p:txBody>
      </p:sp>
      <p:pic>
        <p:nvPicPr>
          <p:cNvPr id="14339" name="Picture 4" descr="Picture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181600"/>
            <a:ext cx="1295400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589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hlinkClick r:id="rId2"/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666" r="69532"/>
          <a:stretch/>
        </p:blipFill>
        <p:spPr bwMode="auto">
          <a:xfrm>
            <a:off x="-25545" y="0"/>
            <a:ext cx="916954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652120" y="5801488"/>
            <a:ext cx="40747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b="1" dirty="0" smtClean="0"/>
              <a:t>Click me!</a:t>
            </a:r>
            <a:endParaRPr lang="en-GB" sz="6000" b="1" dirty="0"/>
          </a:p>
        </p:txBody>
      </p:sp>
    </p:spTree>
    <p:extLst>
      <p:ext uri="{BB962C8B-B14F-4D97-AF65-F5344CB8AC3E}">
        <p14:creationId xmlns:p14="http://schemas.microsoft.com/office/powerpoint/2010/main" val="989266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609600"/>
          </a:xfrm>
        </p:spPr>
        <p:txBody>
          <a:bodyPr/>
          <a:lstStyle/>
          <a:p>
            <a:r>
              <a:rPr lang="en-US" altLang="en-US" sz="2800" dirty="0" smtClean="0">
                <a:latin typeface="Helvetica" charset="0"/>
              </a:rPr>
              <a:t>Sediment transport in a river</a:t>
            </a:r>
            <a:endParaRPr lang="en-US" altLang="en-US" sz="2800" dirty="0" smtClean="0">
              <a:latin typeface="Helvetica" charset="0"/>
            </a:endParaRPr>
          </a:p>
        </p:txBody>
      </p:sp>
      <p:pic>
        <p:nvPicPr>
          <p:cNvPr id="15363" name="Picture 2" descr="4-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041525"/>
            <a:ext cx="4800600" cy="429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3" descr="4-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965325"/>
            <a:ext cx="41148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341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Rivers: Sediment transport</a:t>
            </a:r>
          </a:p>
        </p:txBody>
      </p:sp>
      <p:sp>
        <p:nvSpPr>
          <p:cNvPr id="17410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Three modes:</a:t>
            </a:r>
          </a:p>
          <a:p>
            <a:pPr lvl="2" eaLnBrk="1" hangingPunct="1"/>
            <a:r>
              <a:rPr lang="en-US" altLang="en-US" dirty="0" smtClean="0"/>
              <a:t>Dissolved load/wash load (ions in solution - pollution)</a:t>
            </a:r>
          </a:p>
          <a:p>
            <a:pPr lvl="2" eaLnBrk="1" hangingPunct="1"/>
            <a:r>
              <a:rPr lang="en-US" altLang="en-US" dirty="0" smtClean="0"/>
              <a:t>Suspended load</a:t>
            </a:r>
          </a:p>
          <a:p>
            <a:pPr lvl="3" eaLnBrk="1" hangingPunct="1"/>
            <a:r>
              <a:rPr lang="en-US" altLang="en-US" sz="2400" dirty="0" smtClean="0"/>
              <a:t>Fine particles (sand, silt &amp; clay)</a:t>
            </a:r>
          </a:p>
          <a:p>
            <a:pPr lvl="3" eaLnBrk="1" hangingPunct="1"/>
            <a:r>
              <a:rPr lang="en-US" altLang="en-US" sz="2400" dirty="0" smtClean="0"/>
              <a:t>Turbulent eddies pick up, carry upward if vel. &gt; settling vel.</a:t>
            </a:r>
          </a:p>
          <a:p>
            <a:pPr lvl="2" eaLnBrk="1" hangingPunct="1"/>
            <a:r>
              <a:rPr lang="en-US" altLang="en-US" dirty="0" smtClean="0"/>
              <a:t>Bedload</a:t>
            </a:r>
          </a:p>
          <a:p>
            <a:pPr lvl="3" eaLnBrk="1" hangingPunct="1"/>
            <a:r>
              <a:rPr lang="en-US" altLang="en-US" sz="2400" dirty="0" smtClean="0"/>
              <a:t>On/near bed; rolling, bouncing (</a:t>
            </a:r>
            <a:r>
              <a:rPr lang="ja-JP" altLang="en-US" sz="2400" dirty="0" smtClean="0"/>
              <a:t>‘</a:t>
            </a:r>
            <a:r>
              <a:rPr lang="en-US" altLang="ja-JP" sz="2400" dirty="0" err="1" smtClean="0"/>
              <a:t>saltating</a:t>
            </a:r>
            <a:r>
              <a:rPr lang="ja-JP" altLang="en-US" sz="2400" dirty="0" smtClean="0"/>
              <a:t>’</a:t>
            </a:r>
            <a:r>
              <a:rPr lang="en-US" altLang="ja-JP" sz="2400" dirty="0" smtClean="0"/>
              <a:t>), etc.</a:t>
            </a:r>
          </a:p>
          <a:p>
            <a:pPr eaLnBrk="1" hangingPunct="1"/>
            <a:r>
              <a:rPr lang="en-US" altLang="en-US" dirty="0" smtClean="0"/>
              <a:t>Suspended and bedload </a:t>
            </a:r>
            <a:r>
              <a:rPr lang="en-US" altLang="en-US" dirty="0" smtClean="0"/>
              <a:t>transport increase </a:t>
            </a:r>
            <a:r>
              <a:rPr lang="en-US" altLang="en-US" dirty="0" smtClean="0"/>
              <a:t>rapidly with flow strength (nonlinear relationship)</a:t>
            </a:r>
          </a:p>
        </p:txBody>
      </p:sp>
    </p:spTree>
    <p:extLst>
      <p:ext uri="{BB962C8B-B14F-4D97-AF65-F5344CB8AC3E}">
        <p14:creationId xmlns:p14="http://schemas.microsoft.com/office/powerpoint/2010/main" val="300627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Rivers: Two main kinds</a:t>
            </a:r>
          </a:p>
        </p:txBody>
      </p:sp>
      <p:sp>
        <p:nvSpPr>
          <p:cNvPr id="18434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Alluvial rivers; bed consists of sediment (</a:t>
            </a:r>
            <a:r>
              <a:rPr lang="ja-JP" altLang="en-US" dirty="0" smtClean="0"/>
              <a:t>‘</a:t>
            </a:r>
            <a:r>
              <a:rPr lang="en-US" altLang="ja-JP" dirty="0" smtClean="0"/>
              <a:t>alluvium</a:t>
            </a:r>
            <a:r>
              <a:rPr lang="ja-JP" altLang="en-US" dirty="0" smtClean="0"/>
              <a:t>’</a:t>
            </a:r>
            <a:r>
              <a:rPr lang="en-US" altLang="ja-JP" dirty="0" smtClean="0"/>
              <a:t> = river-associated sediment)</a:t>
            </a:r>
          </a:p>
          <a:p>
            <a:pPr lvl="1" eaLnBrk="1" hangingPunct="1"/>
            <a:r>
              <a:rPr lang="en-US" altLang="en-US" dirty="0" smtClean="0"/>
              <a:t>Downstream reaches </a:t>
            </a:r>
            <a:endParaRPr lang="en-US" altLang="en-US" dirty="0" smtClean="0"/>
          </a:p>
          <a:p>
            <a:pPr lvl="1" eaLnBrk="1" hangingPunct="1"/>
            <a:endParaRPr lang="en-US" altLang="en-US" dirty="0" smtClean="0"/>
          </a:p>
          <a:p>
            <a:pPr eaLnBrk="1" hangingPunct="1"/>
            <a:r>
              <a:rPr lang="en-US" altLang="en-US" dirty="0" smtClean="0"/>
              <a:t>Bedrock rivers; part of the bed is bare rock, </a:t>
            </a:r>
            <a:r>
              <a:rPr lang="en-US" altLang="en-US" dirty="0" smtClean="0"/>
              <a:t>which the </a:t>
            </a:r>
            <a:r>
              <a:rPr lang="en-US" altLang="en-US" dirty="0" smtClean="0"/>
              <a:t>river </a:t>
            </a:r>
            <a:r>
              <a:rPr lang="en-US" altLang="en-US" dirty="0" smtClean="0"/>
              <a:t>has eroded into cutting </a:t>
            </a:r>
            <a:r>
              <a:rPr lang="en-US" altLang="en-US" dirty="0" smtClean="0"/>
              <a:t>down </a:t>
            </a:r>
          </a:p>
          <a:p>
            <a:pPr lvl="1" eaLnBrk="1" hangingPunct="1"/>
            <a:r>
              <a:rPr lang="en-US" altLang="en-US" dirty="0" smtClean="0"/>
              <a:t>generally in upper reaches of </a:t>
            </a:r>
            <a:r>
              <a:rPr lang="en-US" altLang="en-US" dirty="0" smtClean="0"/>
              <a:t>rivers</a:t>
            </a:r>
          </a:p>
          <a:p>
            <a:pPr lvl="1" eaLnBrk="1" hangingPunct="1"/>
            <a:endParaRPr lang="en-US" altLang="en-US" dirty="0"/>
          </a:p>
          <a:p>
            <a:pPr marL="0" indent="0"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5894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9" b="6383"/>
          <a:stretch>
            <a:fillRect/>
          </a:stretch>
        </p:blipFill>
        <p:spPr bwMode="auto">
          <a:xfrm>
            <a:off x="0" y="809451"/>
            <a:ext cx="9144000" cy="600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376" y="37267"/>
            <a:ext cx="10153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Bedrock incised to alluvial incised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54003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smtClean="0"/>
              <a:t>Bedrock Rivers</a:t>
            </a:r>
          </a:p>
        </p:txBody>
      </p:sp>
      <p:sp>
        <p:nvSpPr>
          <p:cNvPr id="2048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smtClean="0"/>
              <a:t>Erosion rate depends on slope</a:t>
            </a:r>
          </a:p>
          <a:p>
            <a:pPr eaLnBrk="1" hangingPunct="1"/>
            <a:r>
              <a:rPr lang="en-US" altLang="en-US" smtClean="0"/>
              <a:t>Presence of sediment (‘tools’) increases erosion</a:t>
            </a:r>
          </a:p>
        </p:txBody>
      </p:sp>
      <p:pic>
        <p:nvPicPr>
          <p:cNvPr id="20483" name="Picture 2" descr="IMAGE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667000"/>
            <a:ext cx="26638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2" descr="Image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825750"/>
            <a:ext cx="5334000" cy="363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155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rand Canyon horse sho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1475656" y="6030416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>
                <a:solidFill>
                  <a:schemeClr val="bg1"/>
                </a:solidFill>
              </a:rPr>
              <a:t>Colorado River, Horseshoe Bend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1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27" t="7556"/>
          <a:stretch/>
        </p:blipFill>
        <p:spPr bwMode="auto">
          <a:xfrm>
            <a:off x="0" y="0"/>
            <a:ext cx="91805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/>
          <p:cNvSpPr txBox="1">
            <a:spLocks noChangeArrowheads="1"/>
          </p:cNvSpPr>
          <p:nvPr/>
        </p:nvSpPr>
        <p:spPr>
          <a:xfrm>
            <a:off x="-1908720" y="5877272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>
                <a:solidFill>
                  <a:schemeClr val="bg1"/>
                </a:solidFill>
              </a:rPr>
              <a:t>Colorado River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93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0" t="7334"/>
          <a:stretch/>
        </p:blipFill>
        <p:spPr bwMode="auto">
          <a:xfrm>
            <a:off x="0" y="-20216"/>
            <a:ext cx="9123744" cy="687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-1908720" y="-171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bg1"/>
                </a:solidFill>
              </a:rPr>
              <a:t>Alluvial Rivers</a:t>
            </a: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-1184176" y="6174432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 smtClean="0">
                <a:solidFill>
                  <a:schemeClr val="bg1"/>
                </a:solidFill>
              </a:rPr>
              <a:t>Arroyo San Fernando (Mexico)</a:t>
            </a:r>
            <a:endParaRPr lang="en-US" altLang="en-US" sz="3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74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6" descr="floodplain1"/>
          <p:cNvPicPr>
            <a:picLocks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560" y="692696"/>
            <a:ext cx="8337690" cy="6165304"/>
          </a:xfrm>
          <a:noFill/>
        </p:spPr>
      </p:pic>
      <p:sp>
        <p:nvSpPr>
          <p:cNvPr id="22529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Landform: Floodplain</a:t>
            </a:r>
          </a:p>
        </p:txBody>
      </p:sp>
    </p:spTree>
    <p:extLst>
      <p:ext uri="{BB962C8B-B14F-4D97-AF65-F5344CB8AC3E}">
        <p14:creationId xmlns:p14="http://schemas.microsoft.com/office/powerpoint/2010/main" val="392118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600" t="7334"/>
          <a:stretch/>
        </p:blipFill>
        <p:spPr bwMode="auto">
          <a:xfrm>
            <a:off x="0" y="-20216"/>
            <a:ext cx="9123744" cy="6878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-1908720" y="-171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chemeClr val="bg1"/>
                </a:solidFill>
              </a:rPr>
              <a:t>Alluvial Rivers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292080" y="530120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</a:rPr>
              <a:t>Floodplain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84168" y="3418892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</a:rPr>
              <a:t>Tributary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2200" y="134076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</a:rPr>
              <a:t>Bedrock</a:t>
            </a:r>
            <a:endParaRPr lang="en-GB" sz="2800" b="1" dirty="0">
              <a:solidFill>
                <a:schemeClr val="bg1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6948264" y="5634826"/>
            <a:ext cx="648072" cy="98430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1459280" y="4463534"/>
            <a:ext cx="4104456" cy="909682"/>
          </a:xfrm>
          <a:prstGeom prst="straightConnector1">
            <a:avLst/>
          </a:prstGeom>
          <a:ln w="28575"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99592" y="1079158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</a:rPr>
              <a:t>Bedrock</a:t>
            </a:r>
            <a:endParaRPr lang="en-GB" sz="28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55976" y="116404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>
                <a:solidFill>
                  <a:schemeClr val="bg1"/>
                </a:solidFill>
              </a:rPr>
              <a:t>River</a:t>
            </a:r>
            <a:endParaRPr lang="en-GB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68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99" t="8222"/>
          <a:stretch/>
        </p:blipFill>
        <p:spPr bwMode="auto">
          <a:xfrm>
            <a:off x="0" y="0"/>
            <a:ext cx="9144000" cy="6861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776264" y="-90264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 smtClean="0">
                <a:solidFill>
                  <a:schemeClr val="bg1"/>
                </a:solidFill>
              </a:rPr>
              <a:t>Braided Rivers</a:t>
            </a:r>
            <a:endParaRPr lang="en-US" altLang="en-US" dirty="0" smtClean="0">
              <a:solidFill>
                <a:schemeClr val="bg1"/>
              </a:solidFill>
            </a:endParaRPr>
          </a:p>
        </p:txBody>
      </p:sp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-1184176" y="6174432"/>
            <a:ext cx="77724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200" dirty="0" smtClean="0">
                <a:solidFill>
                  <a:schemeClr val="bg1"/>
                </a:solidFill>
              </a:rPr>
              <a:t>Rovuma River (Mozambique)</a:t>
            </a:r>
            <a:endParaRPr lang="en-US" altLang="en-US" sz="3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056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97" t="6889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3263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44" t="7000"/>
          <a:stretch/>
        </p:blipFill>
        <p:spPr bwMode="auto">
          <a:xfrm>
            <a:off x="0" y="0"/>
            <a:ext cx="918051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951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3" t="7334"/>
          <a:stretch/>
        </p:blipFill>
        <p:spPr bwMode="auto">
          <a:xfrm>
            <a:off x="-14988" y="0"/>
            <a:ext cx="968756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589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2" descr="IMAGE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800"/>
            <a:ext cx="4368800" cy="656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962400"/>
            <a:ext cx="304323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1027"/>
          <p:cNvSpPr txBox="1">
            <a:spLocks noChangeArrowheads="1"/>
          </p:cNvSpPr>
          <p:nvPr/>
        </p:nvSpPr>
        <p:spPr bwMode="auto">
          <a:xfrm>
            <a:off x="4876800" y="304800"/>
            <a:ext cx="42672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/>
              <a:t>Braided streams are bedload dominated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3200"/>
              <a:t>Nonlinear sediment transport laws result in dynamic feedbacks</a:t>
            </a:r>
          </a:p>
        </p:txBody>
      </p:sp>
    </p:spTree>
    <p:extLst>
      <p:ext uri="{BB962C8B-B14F-4D97-AF65-F5344CB8AC3E}">
        <p14:creationId xmlns:p14="http://schemas.microsoft.com/office/powerpoint/2010/main" val="2842514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21001"/>
          <a:stretch>
            <a:fillRect/>
          </a:stretch>
        </p:blipFill>
        <p:spPr bwMode="auto">
          <a:xfrm>
            <a:off x="381000" y="457200"/>
            <a:ext cx="6096000" cy="269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762000" y="152400"/>
            <a:ext cx="6553200" cy="533400"/>
          </a:xfrm>
        </p:spPr>
        <p:txBody>
          <a:bodyPr/>
          <a:lstStyle/>
          <a:p>
            <a:pPr eaLnBrk="1" hangingPunct="1"/>
            <a:r>
              <a:rPr lang="en-US" altLang="en-US" sz="2400" smtClean="0"/>
              <a:t>Meandering stream; Point Bar and Cut Bank</a:t>
            </a:r>
            <a:endParaRPr lang="en-US" altLang="en-US" smtClean="0"/>
          </a:p>
        </p:txBody>
      </p:sp>
      <p:pic>
        <p:nvPicPr>
          <p:cNvPr id="276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8129588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2888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 rotWithShape="1">
          <a:blip r:embed="rId2">
            <a:lum bright="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" t="4306" b="2203"/>
          <a:stretch/>
        </p:blipFill>
        <p:spPr bwMode="auto">
          <a:xfrm>
            <a:off x="0" y="766465"/>
            <a:ext cx="9158916" cy="5657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6660232" y="6499919"/>
            <a:ext cx="2400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800">
                <a:latin typeface="+mj-lt"/>
              </a:rPr>
              <a:t>Photo by Duncan Heron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23528" y="116632"/>
            <a:ext cx="42207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3200" dirty="0">
                <a:latin typeface="+mj-lt"/>
              </a:rPr>
              <a:t>Point Bars and </a:t>
            </a:r>
            <a:r>
              <a:rPr lang="en-US" altLang="en-US" sz="3200" dirty="0" err="1" smtClean="0">
                <a:latin typeface="+mj-lt"/>
              </a:rPr>
              <a:t>Cutbanks</a:t>
            </a:r>
            <a:endParaRPr lang="en-US" altLang="en-US" sz="3200" dirty="0">
              <a:latin typeface="+mj-lt"/>
            </a:endParaRP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395536" y="6423719"/>
            <a:ext cx="21671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>
                <a:latin typeface="+mj-lt"/>
              </a:rPr>
              <a:t>Santee River, SC</a:t>
            </a:r>
          </a:p>
        </p:txBody>
      </p:sp>
    </p:spTree>
    <p:extLst>
      <p:ext uri="{BB962C8B-B14F-4D97-AF65-F5344CB8AC3E}">
        <p14:creationId xmlns:p14="http://schemas.microsoft.com/office/powerpoint/2010/main" val="1928508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2" descr="neuse_pointba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434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8" name="Text Box 3"/>
          <p:cNvSpPr txBox="1">
            <a:spLocks noChangeArrowheads="1"/>
          </p:cNvSpPr>
          <p:nvPr/>
        </p:nvSpPr>
        <p:spPr bwMode="auto">
          <a:xfrm>
            <a:off x="4953000" y="609600"/>
            <a:ext cx="34369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sz="3600" b="1"/>
              <a:t>Neuse River, NC</a:t>
            </a:r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5181600" y="4003675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US" altLang="en-US" b="1"/>
              <a:t>Note point bars</a:t>
            </a:r>
          </a:p>
        </p:txBody>
      </p:sp>
      <p:sp>
        <p:nvSpPr>
          <p:cNvPr id="29700" name="Text Box 5"/>
          <p:cNvSpPr txBox="1">
            <a:spLocks noChangeArrowheads="1"/>
          </p:cNvSpPr>
          <p:nvPr/>
        </p:nvSpPr>
        <p:spPr bwMode="auto">
          <a:xfrm>
            <a:off x="6096000" y="6248400"/>
            <a:ext cx="2400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800">
                <a:latin typeface="Times" charset="0"/>
              </a:rPr>
              <a:t>Photo by Duncan Heron</a:t>
            </a:r>
          </a:p>
        </p:txBody>
      </p:sp>
    </p:spTree>
    <p:extLst>
      <p:ext uri="{BB962C8B-B14F-4D97-AF65-F5344CB8AC3E}">
        <p14:creationId xmlns:p14="http://schemas.microsoft.com/office/powerpoint/2010/main" val="2754459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50" t="385" r="31001" b="25999"/>
          <a:stretch>
            <a:fillRect/>
          </a:stretch>
        </p:blipFill>
        <p:spPr bwMode="auto">
          <a:xfrm>
            <a:off x="152400" y="577552"/>
            <a:ext cx="38862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28600"/>
            <a:ext cx="299085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038600"/>
            <a:ext cx="4953000" cy="208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-756592" y="-99392"/>
            <a:ext cx="6552728" cy="7620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 smtClean="0"/>
              <a:t>Oxbow lake formation</a:t>
            </a:r>
          </a:p>
        </p:txBody>
      </p:sp>
    </p:spTree>
    <p:extLst>
      <p:ext uri="{BB962C8B-B14F-4D97-AF65-F5344CB8AC3E}">
        <p14:creationId xmlns:p14="http://schemas.microsoft.com/office/powerpoint/2010/main" val="41466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63" t="6666" b="2445"/>
          <a:stretch/>
        </p:blipFill>
        <p:spPr bwMode="auto">
          <a:xfrm>
            <a:off x="-1658163" y="-99392"/>
            <a:ext cx="10838675" cy="6957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84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75" t="7702" r="-22" b="-369"/>
          <a:stretch/>
        </p:blipFill>
        <p:spPr bwMode="auto">
          <a:xfrm>
            <a:off x="0" y="0"/>
            <a:ext cx="9144000" cy="688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1520" y="36771"/>
            <a:ext cx="49485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600" b="1" dirty="0">
                <a:solidFill>
                  <a:schemeClr val="bg1"/>
                </a:solidFill>
              </a:rPr>
              <a:t>Portage la </a:t>
            </a:r>
            <a:r>
              <a:rPr lang="en-GB" sz="3600" b="1" dirty="0" err="1" smtClean="0">
                <a:solidFill>
                  <a:schemeClr val="bg1"/>
                </a:solidFill>
              </a:rPr>
              <a:t>Pairie</a:t>
            </a:r>
            <a:r>
              <a:rPr lang="en-GB" sz="3600" b="1" dirty="0" smtClean="0">
                <a:solidFill>
                  <a:schemeClr val="bg1"/>
                </a:solidFill>
              </a:rPr>
              <a:t>, Canada</a:t>
            </a:r>
            <a:endParaRPr lang="en-GB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525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52400"/>
            <a:ext cx="29718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Incised Meanders</a:t>
            </a:r>
          </a:p>
        </p:txBody>
      </p:sp>
      <p:pic>
        <p:nvPicPr>
          <p:cNvPr id="3174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914775"/>
            <a:ext cx="4648200" cy="291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63" y="1828800"/>
            <a:ext cx="5465762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762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r="5000"/>
          <a:stretch>
            <a:fillRect/>
          </a:stretch>
        </p:blipFill>
        <p:spPr bwMode="auto">
          <a:xfrm>
            <a:off x="0" y="800100"/>
            <a:ext cx="5715000" cy="476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0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4" t="3969" r="8333" b="2592"/>
          <a:stretch/>
        </p:blipFill>
        <p:spPr bwMode="auto">
          <a:xfrm>
            <a:off x="5562600" y="1371599"/>
            <a:ext cx="3400425" cy="37774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4038600" y="228600"/>
            <a:ext cx="4191000" cy="381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smtClean="0"/>
              <a:t>Natural Levee formation</a:t>
            </a:r>
          </a:p>
        </p:txBody>
      </p:sp>
    </p:spTree>
    <p:extLst>
      <p:ext uri="{BB962C8B-B14F-4D97-AF65-F5344CB8AC3E}">
        <p14:creationId xmlns:p14="http://schemas.microsoft.com/office/powerpoint/2010/main" val="3088480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469188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4" name="Text Box 1027"/>
          <p:cNvSpPr txBox="1">
            <a:spLocks noChangeArrowheads="1"/>
          </p:cNvSpPr>
          <p:nvPr/>
        </p:nvSpPr>
        <p:spPr bwMode="auto">
          <a:xfrm>
            <a:off x="6096000" y="6248400"/>
            <a:ext cx="2400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 sz="1800">
                <a:latin typeface="Times" charset="0"/>
              </a:rPr>
              <a:t>Photo by Duncan Heron</a:t>
            </a:r>
          </a:p>
        </p:txBody>
      </p:sp>
    </p:spTree>
    <p:extLst>
      <p:ext uri="{BB962C8B-B14F-4D97-AF65-F5344CB8AC3E}">
        <p14:creationId xmlns:p14="http://schemas.microsoft.com/office/powerpoint/2010/main" val="3587407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gerryco23.files.wordpress.com/2012/08/northenden-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34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300192" y="36771"/>
            <a:ext cx="28438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 smtClean="0"/>
              <a:t>River Mersey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9136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36" t="7778"/>
          <a:stretch/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469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09600"/>
            <a:ext cx="39624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3315603"/>
            <a:ext cx="6461720" cy="3522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680" y="0"/>
            <a:ext cx="3810000" cy="2519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-108520" y="152400"/>
            <a:ext cx="2403376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dirty="0" smtClean="0"/>
              <a:t>Levee Failures</a:t>
            </a:r>
          </a:p>
        </p:txBody>
      </p:sp>
      <p:pic>
        <p:nvPicPr>
          <p:cNvPr id="13314" name="Picture 2" descr="Prime Minister Boris Johnson visited the overflow storage basin alongside the River Merse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609600"/>
            <a:ext cx="4797857" cy="269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019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ChangeArrowheads="1"/>
          </p:cNvSpPr>
          <p:nvPr/>
        </p:nvSpPr>
        <p:spPr bwMode="auto">
          <a:xfrm>
            <a:off x="1825625" y="609600"/>
            <a:ext cx="54911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r>
              <a:rPr lang="en-US" altLang="en-US">
                <a:latin typeface="Times" charset="0"/>
              </a:rPr>
              <a:t>Crevasse Splay Deposits, Mississippi River</a:t>
            </a:r>
          </a:p>
        </p:txBody>
      </p:sp>
      <p:pic>
        <p:nvPicPr>
          <p:cNvPr id="12289" name="Picture 1" descr="C:\Users\mbessik3\AppData\Local\Temp\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82014" y="0"/>
            <a:ext cx="1110802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697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00" t="6889"/>
          <a:stretch/>
        </p:blipFill>
        <p:spPr bwMode="auto">
          <a:xfrm>
            <a:off x="0" y="-27384"/>
            <a:ext cx="9180512" cy="6885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7504" y="36771"/>
            <a:ext cx="51845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600" b="1" dirty="0" smtClean="0">
                <a:solidFill>
                  <a:schemeClr val="bg1"/>
                </a:solidFill>
              </a:rPr>
              <a:t>Columbia River, Canada</a:t>
            </a:r>
            <a:endParaRPr lang="en-GB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8216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Natural River - 1948</a:t>
            </a:r>
          </a:p>
        </p:txBody>
      </p:sp>
      <p:pic>
        <p:nvPicPr>
          <p:cNvPr id="37890" name="Picture 5" descr="redwood creek 1948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306513"/>
            <a:ext cx="5159375" cy="5399087"/>
          </a:xfrm>
          <a:noFill/>
        </p:spPr>
      </p:pic>
    </p:spTree>
    <p:extLst>
      <p:ext uri="{BB962C8B-B14F-4D97-AF65-F5344CB8AC3E}">
        <p14:creationId xmlns:p14="http://schemas.microsoft.com/office/powerpoint/2010/main" val="383189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mtClean="0"/>
              <a:t>1964</a:t>
            </a:r>
          </a:p>
        </p:txBody>
      </p:sp>
      <p:pic>
        <p:nvPicPr>
          <p:cNvPr id="38914" name="Picture 5" descr="redwood creek 1964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32750" cy="5356225"/>
          </a:xfrm>
          <a:noFill/>
        </p:spPr>
      </p:pic>
    </p:spTree>
    <p:extLst>
      <p:ext uri="{BB962C8B-B14F-4D97-AF65-F5344CB8AC3E}">
        <p14:creationId xmlns:p14="http://schemas.microsoft.com/office/powerpoint/2010/main" val="237035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6" descr="drainagebasin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524000"/>
            <a:ext cx="3435350" cy="4114800"/>
          </a:xfrm>
          <a:noFill/>
        </p:spPr>
      </p:pic>
      <p:pic>
        <p:nvPicPr>
          <p:cNvPr id="3993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00" y="1295400"/>
            <a:ext cx="48895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685800" y="76200"/>
            <a:ext cx="7772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2800" kern="0" dirty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rPr>
              <a:t>Drainage Basins</a:t>
            </a:r>
          </a:p>
        </p:txBody>
      </p:sp>
    </p:spTree>
    <p:extLst>
      <p:ext uri="{BB962C8B-B14F-4D97-AF65-F5344CB8AC3E}">
        <p14:creationId xmlns:p14="http://schemas.microsoft.com/office/powerpoint/2010/main" val="87227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5" descr="south_prairie_gradient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4350" y="2438400"/>
            <a:ext cx="6064250" cy="4167188"/>
          </a:xfrm>
          <a:noFill/>
        </p:spPr>
      </p:pic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3600" kern="0">
                <a:solidFill>
                  <a:schemeClr val="tx2"/>
                </a:solidFill>
                <a:latin typeface="Helvetica"/>
                <a:ea typeface="ＭＳ Ｐゴシック" charset="-128"/>
                <a:cs typeface="Helvetica"/>
              </a:rPr>
              <a:t>Graded Stream Profile</a:t>
            </a:r>
            <a:endParaRPr lang="en-US" sz="3600" kern="0" dirty="0">
              <a:solidFill>
                <a:schemeClr val="tx2"/>
              </a:solidFill>
              <a:latin typeface="Helvetica"/>
              <a:ea typeface="ＭＳ Ｐゴシック" charset="-128"/>
              <a:cs typeface="Helvetica"/>
            </a:endParaRPr>
          </a:p>
        </p:txBody>
      </p:sp>
      <p:sp>
        <p:nvSpPr>
          <p:cNvPr id="40963" name="Rectangle 3"/>
          <p:cNvSpPr txBox="1">
            <a:spLocks noChangeArrowheads="1"/>
          </p:cNvSpPr>
          <p:nvPr/>
        </p:nvSpPr>
        <p:spPr bwMode="auto">
          <a:xfrm>
            <a:off x="685800" y="1066800"/>
            <a:ext cx="8077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Helvetica" charset="0"/>
              </a:rPr>
              <a:t>Flow increases downstream (tributaries)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Helvetica" charset="0"/>
              </a:rPr>
              <a:t>Velocity Increases</a:t>
            </a:r>
          </a:p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sz="2800">
                <a:latin typeface="Helvetica" charset="0"/>
              </a:rPr>
              <a:t>Equilibrium slope reduces as flow increases</a:t>
            </a:r>
            <a:endParaRPr lang="en-US" altLang="en-US" sz="2000">
              <a:latin typeface="Helvetica" charset="0"/>
            </a:endParaRPr>
          </a:p>
          <a:p>
            <a:pPr lvl="2" eaLnBrk="1" hangingPunct="1">
              <a:spcBef>
                <a:spcPct val="20000"/>
              </a:spcBef>
              <a:buFontTx/>
              <a:buChar char="•"/>
            </a:pPr>
            <a:endParaRPr lang="en-US" altLang="en-US"/>
          </a:p>
        </p:txBody>
      </p:sp>
      <p:pic>
        <p:nvPicPr>
          <p:cNvPr id="409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3124200"/>
            <a:ext cx="3322637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4169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3600" smtClean="0">
                <a:latin typeface="Helvetica" charset="0"/>
              </a:rPr>
              <a:t>Graded Stream Profile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8077200" cy="5181600"/>
          </a:xfrm>
        </p:spPr>
        <p:txBody>
          <a:bodyPr/>
          <a:lstStyle/>
          <a:p>
            <a:pPr eaLnBrk="1" hangingPunct="1"/>
            <a:r>
              <a:rPr lang="en-US" altLang="en-US" sz="2800" smtClean="0">
                <a:latin typeface="Helvetica" charset="0"/>
              </a:rPr>
              <a:t>Each stretch of alluvial river tends to have slope adjusted to transport sediment delivered to it</a:t>
            </a:r>
          </a:p>
          <a:p>
            <a:pPr lvl="2" eaLnBrk="1" hangingPunct="1"/>
            <a:r>
              <a:rPr lang="en-US" altLang="en-US" smtClean="0">
                <a:latin typeface="Helvetica" charset="0"/>
              </a:rPr>
              <a:t>Slope too low, sediment piles up at upstream end</a:t>
            </a:r>
          </a:p>
          <a:p>
            <a:pPr lvl="2" eaLnBrk="1" hangingPunct="1">
              <a:buFontTx/>
              <a:buNone/>
            </a:pPr>
            <a:r>
              <a:rPr lang="en-US" altLang="en-US" smtClean="0">
                <a:latin typeface="Helvetica" charset="0"/>
              </a:rPr>
              <a:t>		-&gt; slope increases</a:t>
            </a:r>
          </a:p>
          <a:p>
            <a:pPr lvl="2" eaLnBrk="1" hangingPunct="1"/>
            <a:r>
              <a:rPr lang="en-US" altLang="en-US" smtClean="0">
                <a:latin typeface="Helvetica" charset="0"/>
              </a:rPr>
              <a:t>Slope too high, erosion (less in than out) at upstream end</a:t>
            </a:r>
          </a:p>
          <a:p>
            <a:pPr lvl="2" eaLnBrk="1" hangingPunct="1">
              <a:buFontTx/>
              <a:buNone/>
            </a:pPr>
            <a:r>
              <a:rPr lang="en-US" altLang="en-US" smtClean="0">
                <a:latin typeface="Helvetica" charset="0"/>
              </a:rPr>
              <a:t>		-&gt; slope decreases</a:t>
            </a:r>
          </a:p>
          <a:p>
            <a:pPr eaLnBrk="1" hangingPunct="1"/>
            <a:r>
              <a:rPr lang="en-US" altLang="en-US" sz="2800" smtClean="0">
                <a:latin typeface="Helvetica" charset="0"/>
              </a:rPr>
              <a:t>Need steeper slope with</a:t>
            </a:r>
          </a:p>
          <a:p>
            <a:pPr lvl="2" eaLnBrk="1" hangingPunct="1"/>
            <a:r>
              <a:rPr lang="en-US" altLang="en-US" smtClean="0">
                <a:latin typeface="Helvetica" charset="0"/>
              </a:rPr>
              <a:t>Less flow</a:t>
            </a:r>
          </a:p>
          <a:p>
            <a:pPr lvl="2" eaLnBrk="1" hangingPunct="1"/>
            <a:r>
              <a:rPr lang="en-US" altLang="en-US" smtClean="0">
                <a:latin typeface="Helvetica" charset="0"/>
              </a:rPr>
              <a:t>Larger grains</a:t>
            </a:r>
            <a:endParaRPr lang="en-US" altLang="en-US" sz="2000" smtClean="0">
              <a:latin typeface="Helvetica" charset="0"/>
            </a:endParaRPr>
          </a:p>
          <a:p>
            <a:pPr lvl="2"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535568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3" descr="06FigBaseLevel"/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060450"/>
            <a:ext cx="7391400" cy="3206750"/>
          </a:xfrm>
          <a:noFill/>
        </p:spPr>
      </p:pic>
      <p:pic>
        <p:nvPicPr>
          <p:cNvPr id="43010" name="Picture 3" descr="07FigBaseLev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25" y="4006850"/>
            <a:ext cx="77501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85800" y="762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3600" kern="0" dirty="0">
                <a:solidFill>
                  <a:schemeClr val="tx2"/>
                </a:solidFill>
                <a:latin typeface="Helvetica"/>
                <a:ea typeface="ＭＳ Ｐゴシック" charset="-128"/>
                <a:cs typeface="Helvetica"/>
              </a:rPr>
              <a:t>Base Level Changes</a:t>
            </a:r>
          </a:p>
        </p:txBody>
      </p:sp>
    </p:spTree>
    <p:extLst>
      <p:ext uri="{BB962C8B-B14F-4D97-AF65-F5344CB8AC3E}">
        <p14:creationId xmlns:p14="http://schemas.microsoft.com/office/powerpoint/2010/main" val="212768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Summary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344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700</Words>
  <Application>Microsoft Office PowerPoint</Application>
  <PresentationFormat>On-screen Show (4:3)</PresentationFormat>
  <Paragraphs>134</Paragraphs>
  <Slides>46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Range of clastic environments</vt:lpstr>
      <vt:lpstr>Source-to-sink</vt:lpstr>
      <vt:lpstr>The Source-to-Sink system</vt:lpstr>
      <vt:lpstr>What is source to sink</vt:lpstr>
      <vt:lpstr>PowerPoint Presentation</vt:lpstr>
      <vt:lpstr>Focus on Fluvial systems </vt:lpstr>
      <vt:lpstr>Definitions:</vt:lpstr>
      <vt:lpstr>PowerPoint Presentation</vt:lpstr>
      <vt:lpstr>PowerPoint Presentation</vt:lpstr>
      <vt:lpstr>Sediment transport in a river</vt:lpstr>
      <vt:lpstr>Rivers: Sediment transport</vt:lpstr>
      <vt:lpstr>Rivers: Two main kinds</vt:lpstr>
      <vt:lpstr>PowerPoint Presentation</vt:lpstr>
      <vt:lpstr>Bedrock Rivers</vt:lpstr>
      <vt:lpstr>PowerPoint Presentation</vt:lpstr>
      <vt:lpstr>PowerPoint Presentation</vt:lpstr>
      <vt:lpstr>Alluvial Rivers</vt:lpstr>
      <vt:lpstr>Landform: Floodplain</vt:lpstr>
      <vt:lpstr>Alluvial Rivers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Meandering stream; Point Bar and Cut Bank</vt:lpstr>
      <vt:lpstr>PowerPoint Presentation</vt:lpstr>
      <vt:lpstr>PowerPoint Presentation</vt:lpstr>
      <vt:lpstr>Oxbow lake formation</vt:lpstr>
      <vt:lpstr>PowerPoint Presentation</vt:lpstr>
      <vt:lpstr>PowerPoint Presentation</vt:lpstr>
      <vt:lpstr>Incised Meanders</vt:lpstr>
      <vt:lpstr>Natural Levee formation</vt:lpstr>
      <vt:lpstr>PowerPoint Presentation</vt:lpstr>
      <vt:lpstr>PowerPoint Presentation</vt:lpstr>
      <vt:lpstr>PowerPoint Presentation</vt:lpstr>
      <vt:lpstr>Levee Failures</vt:lpstr>
      <vt:lpstr>PowerPoint Presentation</vt:lpstr>
      <vt:lpstr>PowerPoint Presentation</vt:lpstr>
      <vt:lpstr>Natural River - 1948</vt:lpstr>
      <vt:lpstr>1964</vt:lpstr>
      <vt:lpstr>PowerPoint Presentation</vt:lpstr>
      <vt:lpstr>PowerPoint Presentation</vt:lpstr>
      <vt:lpstr>Graded Stream Profile</vt:lpstr>
      <vt:lpstr>PowerPoint Presentation</vt:lpstr>
      <vt:lpstr>Summary</vt:lpstr>
    </vt:vector>
  </TitlesOfParts>
  <Company>University of Manchester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Ian Kane</dc:creator>
  <cp:lastModifiedBy>Ian Kane</cp:lastModifiedBy>
  <cp:revision>19</cp:revision>
  <dcterms:created xsi:type="dcterms:W3CDTF">2020-07-03T09:35:46Z</dcterms:created>
  <dcterms:modified xsi:type="dcterms:W3CDTF">2021-02-16T17:23:45Z</dcterms:modified>
</cp:coreProperties>
</file>