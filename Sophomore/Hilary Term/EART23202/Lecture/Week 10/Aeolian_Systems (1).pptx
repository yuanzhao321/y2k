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93" r:id="rId3"/>
    <p:sldId id="380" r:id="rId4"/>
    <p:sldId id="260" r:id="rId5"/>
    <p:sldId id="272" r:id="rId6"/>
    <p:sldId id="286" r:id="rId7"/>
    <p:sldId id="282" r:id="rId8"/>
    <p:sldId id="376" r:id="rId9"/>
    <p:sldId id="262" r:id="rId10"/>
    <p:sldId id="259" r:id="rId11"/>
    <p:sldId id="261" r:id="rId12"/>
    <p:sldId id="258" r:id="rId13"/>
    <p:sldId id="301" r:id="rId14"/>
    <p:sldId id="302" r:id="rId15"/>
    <p:sldId id="339" r:id="rId16"/>
    <p:sldId id="285" r:id="rId17"/>
    <p:sldId id="263" r:id="rId18"/>
    <p:sldId id="284" r:id="rId19"/>
    <p:sldId id="267" r:id="rId20"/>
    <p:sldId id="264" r:id="rId21"/>
    <p:sldId id="266" r:id="rId22"/>
    <p:sldId id="265" r:id="rId23"/>
    <p:sldId id="268" r:id="rId24"/>
    <p:sldId id="381" r:id="rId25"/>
    <p:sldId id="291" r:id="rId26"/>
    <p:sldId id="299" r:id="rId27"/>
    <p:sldId id="300" r:id="rId28"/>
    <p:sldId id="270" r:id="rId29"/>
    <p:sldId id="365" r:id="rId30"/>
    <p:sldId id="287" r:id="rId31"/>
    <p:sldId id="374" r:id="rId32"/>
    <p:sldId id="288" r:id="rId33"/>
    <p:sldId id="290" r:id="rId34"/>
    <p:sldId id="289" r:id="rId35"/>
    <p:sldId id="296" r:id="rId36"/>
    <p:sldId id="295" r:id="rId37"/>
    <p:sldId id="375" r:id="rId38"/>
    <p:sldId id="377" r:id="rId39"/>
    <p:sldId id="308" r:id="rId40"/>
    <p:sldId id="309" r:id="rId41"/>
    <p:sldId id="366" r:id="rId42"/>
    <p:sldId id="307" r:id="rId43"/>
    <p:sldId id="318" r:id="rId44"/>
    <p:sldId id="317" r:id="rId45"/>
    <p:sldId id="310" r:id="rId46"/>
    <p:sldId id="305" r:id="rId47"/>
    <p:sldId id="369" r:id="rId48"/>
    <p:sldId id="306" r:id="rId49"/>
    <p:sldId id="382" r:id="rId50"/>
    <p:sldId id="303" r:id="rId51"/>
    <p:sldId id="283" r:id="rId52"/>
    <p:sldId id="304" r:id="rId53"/>
    <p:sldId id="36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ace Cosgrove" initials="GC" lastIdx="5" clrIdx="0">
    <p:extLst>
      <p:ext uri="{19B8F6BF-5375-455C-9EA6-DF929625EA0E}">
        <p15:presenceInfo xmlns:p15="http://schemas.microsoft.com/office/powerpoint/2012/main" userId="S-1-5-21-1390067357-1993962763-725345543-7354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86957" autoAdjust="0"/>
  </p:normalViewPr>
  <p:slideViewPr>
    <p:cSldViewPr snapToGrid="0">
      <p:cViewPr varScale="1">
        <p:scale>
          <a:sx n="142" d="100"/>
          <a:sy n="142" d="100"/>
        </p:scale>
        <p:origin x="109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8C01A-0AC5-4EAE-8E25-905B4AB5B9D9}" type="datetimeFigureOut">
              <a:rPr lang="en-GB" smtClean="0"/>
              <a:t>13/12/2024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6FF2A3-3A2C-4C6E-9F89-E75AB2802133}" type="slidenum">
              <a:rPr lang="en-GB" smtClean="0"/>
              <a:t>‹#›</a:t>
            </a:fld>
            <a:endParaRPr lang="en-GB"/>
          </a:p>
        </p:txBody>
      </p:sp>
    </p:spTree>
    <p:extLst>
      <p:ext uri="{BB962C8B-B14F-4D97-AF65-F5344CB8AC3E}">
        <p14:creationId xmlns:p14="http://schemas.microsoft.com/office/powerpoint/2010/main" val="3654936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By Ed </a:t>
            </a:r>
            <a:r>
              <a:rPr lang="en-GB" sz="1200" dirty="0" err="1"/>
              <a:t>Stevenhagen</a:t>
            </a:r>
            <a:r>
              <a:rPr lang="en-GB" sz="1200" dirty="0"/>
              <a:t> (</a:t>
            </a:r>
            <a:r>
              <a:rPr lang="en-GB" sz="1200" dirty="0" err="1"/>
              <a:t>Overleg</a:t>
            </a:r>
            <a:r>
              <a:rPr lang="en-GB" sz="1200" dirty="0"/>
              <a:t>) . - from </a:t>
            </a:r>
            <a:r>
              <a:rPr lang="en-GB" sz="1200" dirty="0" err="1"/>
              <a:t>nl.wikipedia</a:t>
            </a:r>
            <a:r>
              <a:rPr lang="en-GB" sz="1200" dirty="0"/>
              <a:t> Afbeelding:Aeolus1.jpg, Public Domain, https://commons.wikimedia.org/w/index.php?curid=764432</a:t>
            </a:r>
          </a:p>
          <a:p>
            <a:endParaRPr lang="en-GB" dirty="0"/>
          </a:p>
        </p:txBody>
      </p:sp>
      <p:sp>
        <p:nvSpPr>
          <p:cNvPr id="4" name="Slide Number Placeholder 3"/>
          <p:cNvSpPr>
            <a:spLocks noGrp="1"/>
          </p:cNvSpPr>
          <p:nvPr>
            <p:ph type="sldNum" sz="quarter" idx="5"/>
          </p:nvPr>
        </p:nvSpPr>
        <p:spPr/>
        <p:txBody>
          <a:bodyPr/>
          <a:lstStyle/>
          <a:p>
            <a:fld id="{656FF2A3-3A2C-4C6E-9F89-E75AB2802133}" type="slidenum">
              <a:rPr lang="en-GB" smtClean="0"/>
              <a:t>4</a:t>
            </a:fld>
            <a:endParaRPr lang="en-GB"/>
          </a:p>
        </p:txBody>
      </p:sp>
    </p:spTree>
    <p:extLst>
      <p:ext uri="{BB962C8B-B14F-4D97-AF65-F5344CB8AC3E}">
        <p14:creationId xmlns:p14="http://schemas.microsoft.com/office/powerpoint/2010/main" val="4263331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6D509B3-9493-4A89-BD27-96EAFEACA001}" type="datetimeFigureOut">
              <a:rPr lang="en-GB" smtClean="0"/>
              <a:t>13/12/2024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3885391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6D509B3-9493-4A89-BD27-96EAFEACA001}" type="datetimeFigureOut">
              <a:rPr lang="en-GB" smtClean="0"/>
              <a:t>13/12/2024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52605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6D509B3-9493-4A89-BD27-96EAFEACA001}" type="datetimeFigureOut">
              <a:rPr lang="en-GB" smtClean="0"/>
              <a:t>13/12/2024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4148093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6D509B3-9493-4A89-BD27-96EAFEACA001}" type="datetimeFigureOut">
              <a:rPr lang="en-GB" smtClean="0"/>
              <a:t>13/12/2024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428797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6D509B3-9493-4A89-BD27-96EAFEACA001}" type="datetimeFigureOut">
              <a:rPr lang="en-GB" smtClean="0"/>
              <a:t>13/12/2024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46751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6D509B3-9493-4A89-BD27-96EAFEACA001}" type="datetimeFigureOut">
              <a:rPr lang="en-GB" smtClean="0"/>
              <a:t>13/12/2024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3212017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D509B3-9493-4A89-BD27-96EAFEACA001}" type="datetimeFigureOut">
              <a:rPr lang="en-GB" smtClean="0"/>
              <a:t>13/12/2024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1993372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D509B3-9493-4A89-BD27-96EAFEACA001}" type="datetimeFigureOut">
              <a:rPr lang="en-GB" smtClean="0"/>
              <a:t>13/12/2024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128948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D509B3-9493-4A89-BD27-96EAFEACA001}" type="datetimeFigureOut">
              <a:rPr lang="en-GB" smtClean="0"/>
              <a:t>13/12/2024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3735066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6D509B3-9493-4A89-BD27-96EAFEACA001}" type="datetimeFigureOut">
              <a:rPr lang="en-GB" smtClean="0"/>
              <a:t>13/12/2024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78336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6D509B3-9493-4A89-BD27-96EAFEACA001}" type="datetimeFigureOut">
              <a:rPr lang="en-GB" smtClean="0"/>
              <a:t>13/12/2024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BA503D-1922-4404-A524-F9AD215A8BE8}" type="slidenum">
              <a:rPr lang="en-GB" smtClean="0"/>
              <a:t>‹#›</a:t>
            </a:fld>
            <a:endParaRPr lang="en-GB"/>
          </a:p>
        </p:txBody>
      </p:sp>
    </p:spTree>
    <p:extLst>
      <p:ext uri="{BB962C8B-B14F-4D97-AF65-F5344CB8AC3E}">
        <p14:creationId xmlns:p14="http://schemas.microsoft.com/office/powerpoint/2010/main" val="652092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D509B3-9493-4A89-BD27-96EAFEACA001}" type="datetimeFigureOut">
              <a:rPr lang="en-GB" smtClean="0"/>
              <a:t>13/12/2024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BA503D-1922-4404-A524-F9AD215A8BE8}" type="slidenum">
              <a:rPr lang="en-GB" smtClean="0"/>
              <a:t>‹#›</a:t>
            </a:fld>
            <a:endParaRPr lang="en-GB"/>
          </a:p>
        </p:txBody>
      </p:sp>
    </p:spTree>
    <p:extLst>
      <p:ext uri="{BB962C8B-B14F-4D97-AF65-F5344CB8AC3E}">
        <p14:creationId xmlns:p14="http://schemas.microsoft.com/office/powerpoint/2010/main" val="2851285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7.jp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When the Sahara Was Green by Martin Williams review – the sands of time |  Science and nature books | The Guardian">
            <a:extLst>
              <a:ext uri="{FF2B5EF4-FFF2-40B4-BE49-F238E27FC236}">
                <a16:creationId xmlns:a16="http://schemas.microsoft.com/office/drawing/2014/main" id="{AC5321B3-4D26-F908-B65D-DBA57DEDDC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979693" y="1616807"/>
            <a:ext cx="9964966" cy="2123658"/>
          </a:xfrm>
          <a:prstGeom prst="rect">
            <a:avLst/>
          </a:prstGeom>
          <a:noFill/>
        </p:spPr>
        <p:txBody>
          <a:bodyPr wrap="square" lIns="91440" tIns="45720" rIns="91440" bIns="45720">
            <a:spAutoFit/>
          </a:bodyPr>
          <a:lstStyle/>
          <a:p>
            <a:pPr algn="ctr"/>
            <a:r>
              <a:rPr lang="en-GB" sz="6600" b="1" cap="none" spc="0" dirty="0">
                <a:ln w="0"/>
                <a:solidFill>
                  <a:schemeClr val="bg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Aeolian Systems: Processes and Deposits</a:t>
            </a:r>
          </a:p>
        </p:txBody>
      </p:sp>
      <p:sp>
        <p:nvSpPr>
          <p:cNvPr id="7" name="Subtitle 2"/>
          <p:cNvSpPr txBox="1">
            <a:spLocks/>
          </p:cNvSpPr>
          <p:nvPr/>
        </p:nvSpPr>
        <p:spPr>
          <a:xfrm>
            <a:off x="1510145" y="5933124"/>
            <a:ext cx="9171709"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400" b="1" dirty="0">
                <a:solidFill>
                  <a:schemeClr val="bg1"/>
                </a:solidFill>
                <a:latin typeface="Arial" panose="020B0604020202020204" pitchFamily="34" charset="0"/>
                <a:cs typeface="Arial" panose="020B0604020202020204" pitchFamily="34" charset="0"/>
              </a:rPr>
              <a:t>Ian Kane &amp; Grace Cosgrove</a:t>
            </a:r>
          </a:p>
        </p:txBody>
      </p:sp>
    </p:spTree>
    <p:extLst>
      <p:ext uri="{BB962C8B-B14F-4D97-AF65-F5344CB8AC3E}">
        <p14:creationId xmlns:p14="http://schemas.microsoft.com/office/powerpoint/2010/main" val="717539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en the Sahara Was Green by Martin Williams review – the sands of time |  Science and nature books | The Guardian">
            <a:extLst>
              <a:ext uri="{FF2B5EF4-FFF2-40B4-BE49-F238E27FC236}">
                <a16:creationId xmlns:a16="http://schemas.microsoft.com/office/drawing/2014/main" id="{825F375D-D9E0-B143-C360-EF15B14131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0"/>
            <a:ext cx="12228944" cy="6858000"/>
          </a:xfrm>
          <a:prstGeom prst="rect">
            <a:avLst/>
          </a:prstGeom>
          <a:solidFill>
            <a:schemeClr val="bg2">
              <a:alpha val="58000"/>
            </a:schemeClr>
          </a:solidFill>
          <a:ln>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Box 10">
            <a:extLst>
              <a:ext uri="{FF2B5EF4-FFF2-40B4-BE49-F238E27FC236}">
                <a16:creationId xmlns:a16="http://schemas.microsoft.com/office/drawing/2014/main" id="{8C2C7ECF-B667-4009-BB69-AD6C5CDCFE78}"/>
              </a:ext>
            </a:extLst>
          </p:cNvPr>
          <p:cNvSpPr txBox="1">
            <a:spLocks noChangeArrowheads="1"/>
          </p:cNvSpPr>
          <p:nvPr/>
        </p:nvSpPr>
        <p:spPr bwMode="auto">
          <a:xfrm>
            <a:off x="326136" y="2042021"/>
            <a:ext cx="115397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ctr" eaLnBrk="1" hangingPunct="1">
              <a:spcBef>
                <a:spcPct val="50000"/>
              </a:spcBef>
            </a:pPr>
            <a:endParaRPr lang="en-GB" altLang="en-US" sz="1800" b="1" dirty="0">
              <a:latin typeface="Arial" panose="020B0604020202020204" pitchFamily="34" charset="0"/>
            </a:endParaRPr>
          </a:p>
          <a:p>
            <a:pPr algn="ctr" eaLnBrk="1" hangingPunct="1">
              <a:spcBef>
                <a:spcPct val="50000"/>
              </a:spcBef>
              <a:buFontTx/>
              <a:buChar char="•"/>
            </a:pPr>
            <a:r>
              <a:rPr lang="en-GB" altLang="en-US" b="1" dirty="0">
                <a:latin typeface="Arial" panose="020B0604020202020204" pitchFamily="34" charset="0"/>
              </a:rPr>
              <a:t>What are aeolian transport processes and where do they operate?</a:t>
            </a:r>
          </a:p>
          <a:p>
            <a:pPr marL="0" indent="0" algn="ctr" eaLnBrk="1" hangingPunct="1">
              <a:spcBef>
                <a:spcPct val="50000"/>
              </a:spcBef>
            </a:pPr>
            <a:endParaRPr lang="en-GB" altLang="en-US" b="1" dirty="0">
              <a:latin typeface="Arial" panose="020B0604020202020204" pitchFamily="34" charset="0"/>
            </a:endParaRPr>
          </a:p>
          <a:p>
            <a:pPr algn="ctr" eaLnBrk="1" hangingPunct="1">
              <a:spcBef>
                <a:spcPct val="50000"/>
              </a:spcBef>
              <a:buFontTx/>
              <a:buChar char="•"/>
            </a:pPr>
            <a:r>
              <a:rPr lang="en-GB" altLang="en-US" b="1" dirty="0">
                <a:latin typeface="Arial" panose="020B0604020202020204" pitchFamily="34" charset="0"/>
              </a:rPr>
              <a:t>How do aeolian bedforms develop?</a:t>
            </a:r>
          </a:p>
          <a:p>
            <a:pPr algn="ctr" eaLnBrk="1" hangingPunct="1">
              <a:spcBef>
                <a:spcPct val="50000"/>
              </a:spcBef>
              <a:buFontTx/>
              <a:buChar char="•"/>
            </a:pPr>
            <a:endParaRPr lang="en-GB" altLang="en-US" b="1" dirty="0">
              <a:latin typeface="Arial" panose="020B0604020202020204" pitchFamily="34" charset="0"/>
            </a:endParaRPr>
          </a:p>
          <a:p>
            <a:pPr algn="ctr" eaLnBrk="1" hangingPunct="1">
              <a:spcBef>
                <a:spcPct val="50000"/>
              </a:spcBef>
              <a:buFontTx/>
              <a:buChar char="•"/>
            </a:pPr>
            <a:r>
              <a:rPr lang="en-GB" altLang="en-US" b="1" dirty="0">
                <a:latin typeface="Arial" panose="020B0604020202020204" pitchFamily="34" charset="0"/>
              </a:rPr>
              <a:t>How do migrating bedforms in active dune fields form sediment accumulations?</a:t>
            </a:r>
          </a:p>
          <a:p>
            <a:pPr algn="ctr" eaLnBrk="1" hangingPunct="1">
              <a:spcBef>
                <a:spcPct val="50000"/>
              </a:spcBef>
              <a:buFontTx/>
              <a:buChar char="•"/>
            </a:pPr>
            <a:endParaRPr lang="en-GB" altLang="en-US" b="1" dirty="0">
              <a:latin typeface="Arial" panose="020B0604020202020204" pitchFamily="34" charset="0"/>
            </a:endParaRPr>
          </a:p>
        </p:txBody>
      </p:sp>
      <p:sp>
        <p:nvSpPr>
          <p:cNvPr id="6" name="Rectangle 5">
            <a:extLst>
              <a:ext uri="{FF2B5EF4-FFF2-40B4-BE49-F238E27FC236}">
                <a16:creationId xmlns:a16="http://schemas.microsoft.com/office/drawing/2014/main" id="{EC34CCD6-3989-E4A4-07FB-2C4D03A1045F}"/>
              </a:ext>
            </a:extLst>
          </p:cNvPr>
          <p:cNvSpPr/>
          <p:nvPr/>
        </p:nvSpPr>
        <p:spPr>
          <a:xfrm>
            <a:off x="1373393" y="0"/>
            <a:ext cx="9964966" cy="2123658"/>
          </a:xfrm>
          <a:prstGeom prst="rect">
            <a:avLst/>
          </a:prstGeom>
          <a:noFill/>
        </p:spPr>
        <p:txBody>
          <a:bodyPr wrap="square" lIns="91440" tIns="45720" rIns="91440" bIns="45720">
            <a:spAutoFit/>
          </a:bodyPr>
          <a:lstStyle/>
          <a:p>
            <a:pPr algn="ctr"/>
            <a:r>
              <a:rPr lang="en-GB" sz="6600" b="1" cap="none" spc="0" dirty="0">
                <a:ln w="0"/>
                <a:solidFill>
                  <a:schemeClr val="bg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Aeolian Systems: Processes and Deposits</a:t>
            </a:r>
          </a:p>
        </p:txBody>
      </p:sp>
    </p:spTree>
    <p:extLst>
      <p:ext uri="{BB962C8B-B14F-4D97-AF65-F5344CB8AC3E}">
        <p14:creationId xmlns:p14="http://schemas.microsoft.com/office/powerpoint/2010/main" val="4089305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en the Sahara Was Green by Martin Williams review – the sands of time |  Science and nature books | The Guardian">
            <a:extLst>
              <a:ext uri="{FF2B5EF4-FFF2-40B4-BE49-F238E27FC236}">
                <a16:creationId xmlns:a16="http://schemas.microsoft.com/office/drawing/2014/main" id="{825F375D-D9E0-B143-C360-EF15B14131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0"/>
            <a:ext cx="12228944" cy="6858000"/>
          </a:xfrm>
          <a:prstGeom prst="rect">
            <a:avLst/>
          </a:prstGeom>
          <a:solidFill>
            <a:schemeClr val="bg2">
              <a:alpha val="58000"/>
            </a:schemeClr>
          </a:solidFill>
          <a:ln>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Box 10">
            <a:extLst>
              <a:ext uri="{FF2B5EF4-FFF2-40B4-BE49-F238E27FC236}">
                <a16:creationId xmlns:a16="http://schemas.microsoft.com/office/drawing/2014/main" id="{8C2C7ECF-B667-4009-BB69-AD6C5CDCFE78}"/>
              </a:ext>
            </a:extLst>
          </p:cNvPr>
          <p:cNvSpPr txBox="1">
            <a:spLocks noChangeArrowheads="1"/>
          </p:cNvSpPr>
          <p:nvPr/>
        </p:nvSpPr>
        <p:spPr bwMode="auto">
          <a:xfrm>
            <a:off x="326136" y="2042021"/>
            <a:ext cx="115397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ctr" eaLnBrk="1" hangingPunct="1">
              <a:spcBef>
                <a:spcPct val="50000"/>
              </a:spcBef>
            </a:pPr>
            <a:endParaRPr lang="en-GB" altLang="en-US" sz="1800" b="1" dirty="0">
              <a:latin typeface="Arial" panose="020B0604020202020204" pitchFamily="34" charset="0"/>
            </a:endParaRPr>
          </a:p>
          <a:p>
            <a:pPr algn="ctr" eaLnBrk="1" hangingPunct="1">
              <a:spcBef>
                <a:spcPct val="50000"/>
              </a:spcBef>
              <a:buFontTx/>
              <a:buChar char="•"/>
            </a:pPr>
            <a:r>
              <a:rPr lang="en-GB" altLang="en-US" b="1" dirty="0">
                <a:latin typeface="Arial" panose="020B0604020202020204" pitchFamily="34" charset="0"/>
              </a:rPr>
              <a:t>What are aeolian transport processes and where do they operate?</a:t>
            </a:r>
          </a:p>
          <a:p>
            <a:pPr marL="0" indent="0" algn="ctr" eaLnBrk="1" hangingPunct="1">
              <a:spcBef>
                <a:spcPct val="50000"/>
              </a:spcBef>
            </a:pPr>
            <a:endParaRPr lang="en-GB" altLang="en-US" b="1" dirty="0">
              <a:latin typeface="Arial" panose="020B0604020202020204" pitchFamily="34" charset="0"/>
            </a:endParaRPr>
          </a:p>
          <a:p>
            <a:pPr algn="ctr" eaLnBrk="1" hangingPunct="1">
              <a:spcBef>
                <a:spcPct val="50000"/>
              </a:spcBef>
              <a:buFontTx/>
              <a:buChar char="•"/>
            </a:pPr>
            <a:r>
              <a:rPr lang="en-GB" altLang="en-US" b="1" dirty="0">
                <a:solidFill>
                  <a:schemeClr val="bg2">
                    <a:lumMod val="90000"/>
                  </a:schemeClr>
                </a:solidFill>
                <a:latin typeface="Arial" panose="020B0604020202020204" pitchFamily="34" charset="0"/>
              </a:rPr>
              <a:t>How do aeolian bedforms develop?</a:t>
            </a:r>
          </a:p>
          <a:p>
            <a:pPr algn="ctr" eaLnBrk="1" hangingPunct="1">
              <a:spcBef>
                <a:spcPct val="50000"/>
              </a:spcBef>
              <a:buFontTx/>
              <a:buChar char="•"/>
            </a:pPr>
            <a:endParaRPr lang="en-GB" altLang="en-US" b="1" dirty="0">
              <a:solidFill>
                <a:schemeClr val="bg2">
                  <a:lumMod val="90000"/>
                </a:schemeClr>
              </a:solidFill>
              <a:latin typeface="Arial" panose="020B0604020202020204" pitchFamily="34" charset="0"/>
            </a:endParaRPr>
          </a:p>
          <a:p>
            <a:pPr algn="ctr" eaLnBrk="1" hangingPunct="1">
              <a:spcBef>
                <a:spcPct val="50000"/>
              </a:spcBef>
              <a:buFontTx/>
              <a:buChar char="•"/>
            </a:pPr>
            <a:r>
              <a:rPr lang="en-GB" altLang="en-US" b="1" dirty="0">
                <a:solidFill>
                  <a:schemeClr val="bg2">
                    <a:lumMod val="90000"/>
                  </a:schemeClr>
                </a:solidFill>
                <a:latin typeface="Arial" panose="020B0604020202020204" pitchFamily="34" charset="0"/>
              </a:rPr>
              <a:t>How do migrating bedforms in active dune fields form sediment accumulations?</a:t>
            </a:r>
          </a:p>
          <a:p>
            <a:pPr algn="ctr" eaLnBrk="1" hangingPunct="1">
              <a:spcBef>
                <a:spcPct val="50000"/>
              </a:spcBef>
              <a:buFontTx/>
              <a:buChar char="•"/>
            </a:pPr>
            <a:endParaRPr lang="en-GB" altLang="en-US" b="1" dirty="0">
              <a:latin typeface="Arial" panose="020B0604020202020204" pitchFamily="34" charset="0"/>
            </a:endParaRPr>
          </a:p>
        </p:txBody>
      </p:sp>
      <p:sp>
        <p:nvSpPr>
          <p:cNvPr id="6" name="Rectangle 5">
            <a:extLst>
              <a:ext uri="{FF2B5EF4-FFF2-40B4-BE49-F238E27FC236}">
                <a16:creationId xmlns:a16="http://schemas.microsoft.com/office/drawing/2014/main" id="{EC34CCD6-3989-E4A4-07FB-2C4D03A1045F}"/>
              </a:ext>
            </a:extLst>
          </p:cNvPr>
          <p:cNvSpPr/>
          <p:nvPr/>
        </p:nvSpPr>
        <p:spPr>
          <a:xfrm>
            <a:off x="1373393" y="0"/>
            <a:ext cx="9964966" cy="2123658"/>
          </a:xfrm>
          <a:prstGeom prst="rect">
            <a:avLst/>
          </a:prstGeom>
          <a:noFill/>
        </p:spPr>
        <p:txBody>
          <a:bodyPr wrap="square" lIns="91440" tIns="45720" rIns="91440" bIns="45720">
            <a:spAutoFit/>
          </a:bodyPr>
          <a:lstStyle/>
          <a:p>
            <a:pPr algn="ctr"/>
            <a:r>
              <a:rPr lang="en-GB" sz="6600" b="1" cap="none" spc="0" dirty="0">
                <a:ln w="0"/>
                <a:solidFill>
                  <a:schemeClr val="bg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Aeolian Systems: Processes and Deposits</a:t>
            </a:r>
          </a:p>
        </p:txBody>
      </p:sp>
    </p:spTree>
    <p:extLst>
      <p:ext uri="{BB962C8B-B14F-4D97-AF65-F5344CB8AC3E}">
        <p14:creationId xmlns:p14="http://schemas.microsoft.com/office/powerpoint/2010/main" val="97594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1154" y="1089891"/>
            <a:ext cx="2884055" cy="5551054"/>
          </a:xfrm>
        </p:spPr>
        <p:txBody>
          <a:bodyPr>
            <a:normAutofit fontScale="92500" lnSpcReduction="10000"/>
          </a:bodyPr>
          <a:lstStyle/>
          <a:p>
            <a:pPr>
              <a:buFont typeface="Wingdings" panose="05000000000000000000" pitchFamily="2" charset="2"/>
              <a:buChar char="§"/>
            </a:pPr>
            <a:r>
              <a:rPr lang="en-GB" dirty="0"/>
              <a:t>The adjective, </a:t>
            </a:r>
            <a:r>
              <a:rPr lang="en-GB" b="1" dirty="0"/>
              <a:t>aeolian </a:t>
            </a:r>
            <a:r>
              <a:rPr lang="en-GB" dirty="0"/>
              <a:t>describes genetic processes and products of, erosion, entrainment, transportation and deposition by the wind. </a:t>
            </a:r>
          </a:p>
          <a:p>
            <a:pPr>
              <a:buFont typeface="Wingdings" panose="05000000000000000000" pitchFamily="2" charset="2"/>
              <a:buChar char="§"/>
            </a:pPr>
            <a:r>
              <a:rPr lang="en-GB" dirty="0"/>
              <a:t>The term derives from the Latin </a:t>
            </a:r>
            <a:r>
              <a:rPr lang="en-GB" dirty="0" err="1"/>
              <a:t>Æolus</a:t>
            </a:r>
            <a:r>
              <a:rPr lang="en-GB" dirty="0"/>
              <a:t>, god of the winds (itself borrowed from Greek </a:t>
            </a:r>
            <a:r>
              <a:rPr lang="en-GB" dirty="0" err="1"/>
              <a:t>Αἴολος</a:t>
            </a:r>
            <a:r>
              <a:rPr lang="en-GB" dirty="0"/>
              <a:t>, lord of the winds).</a:t>
            </a:r>
          </a:p>
          <a:p>
            <a:pPr marL="0" indent="0">
              <a:buNone/>
            </a:pPr>
            <a:endParaRPr lang="en-GB" dirty="0"/>
          </a:p>
        </p:txBody>
      </p:sp>
      <p:pic>
        <p:nvPicPr>
          <p:cNvPr id="3074" name="Picture 2"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881" y="1021648"/>
            <a:ext cx="8610210" cy="561929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9"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What are aeolian environments?</a:t>
            </a:r>
          </a:p>
        </p:txBody>
      </p:sp>
    </p:spTree>
    <p:extLst>
      <p:ext uri="{BB962C8B-B14F-4D97-AF65-F5344CB8AC3E}">
        <p14:creationId xmlns:p14="http://schemas.microsoft.com/office/powerpoint/2010/main" val="3082597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25512" y="956944"/>
            <a:ext cx="4495800" cy="5809616"/>
          </a:xfrm>
        </p:spPr>
        <p:txBody>
          <a:bodyPr>
            <a:normAutofit fontScale="85000" lnSpcReduction="20000"/>
          </a:bodyPr>
          <a:lstStyle/>
          <a:p>
            <a:r>
              <a:rPr lang="en-GB" dirty="0"/>
              <a:t>Aeolian sediment entrainment occurs when and where wind forces are able to overcome the effects of surface stabilisation. </a:t>
            </a:r>
          </a:p>
          <a:p>
            <a:r>
              <a:rPr lang="en-GB" dirty="0"/>
              <a:t>For grains of sand and finer grade, ballistic impacts and aerodynamic lift promote entrainment, whereas particle weight, friction, drag, and cohesive inter-particle forces retard entrainment.</a:t>
            </a:r>
          </a:p>
          <a:p>
            <a:r>
              <a:rPr lang="en-GB" dirty="0"/>
              <a:t>Drag and lift are generated by fluid flow over and around particles, whereas weight, friction and cohesion are determined by particle size, density, shape, packing, moisture content, mineralogy and degree of inter-particle cementation (Lancaster, 1995).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transport processes</a:t>
            </a:r>
          </a:p>
        </p:txBody>
      </p:sp>
      <p:pic>
        <p:nvPicPr>
          <p:cNvPr id="2" name="Picture 1"/>
          <p:cNvPicPr>
            <a:picLocks noChangeAspect="1"/>
          </p:cNvPicPr>
          <p:nvPr/>
        </p:nvPicPr>
        <p:blipFill>
          <a:blip r:embed="rId3"/>
          <a:stretch>
            <a:fillRect/>
          </a:stretch>
        </p:blipFill>
        <p:spPr>
          <a:xfrm>
            <a:off x="80818" y="870856"/>
            <a:ext cx="7418206" cy="4716128"/>
          </a:xfrm>
          <a:prstGeom prst="rect">
            <a:avLst/>
          </a:prstGeom>
        </p:spPr>
      </p:pic>
      <p:sp>
        <p:nvSpPr>
          <p:cNvPr id="7" name="TextBox 6"/>
          <p:cNvSpPr txBox="1"/>
          <p:nvPr/>
        </p:nvSpPr>
        <p:spPr>
          <a:xfrm>
            <a:off x="219456" y="5495544"/>
            <a:ext cx="6647688" cy="369332"/>
          </a:xfrm>
          <a:prstGeom prst="rect">
            <a:avLst/>
          </a:prstGeom>
          <a:noFill/>
        </p:spPr>
        <p:txBody>
          <a:bodyPr wrap="square" rtlCol="0">
            <a:spAutoFit/>
          </a:bodyPr>
          <a:lstStyle/>
          <a:p>
            <a:r>
              <a:rPr lang="en-GB" dirty="0"/>
              <a:t>L = lift, C = cohesion, D = aerodynamic drag, W = weight, I = impact.</a:t>
            </a:r>
          </a:p>
        </p:txBody>
      </p:sp>
      <p:sp>
        <p:nvSpPr>
          <p:cNvPr id="8" name="TextBox 7"/>
          <p:cNvSpPr txBox="1"/>
          <p:nvPr/>
        </p:nvSpPr>
        <p:spPr>
          <a:xfrm>
            <a:off x="219456" y="5792962"/>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3340907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transport processes</a:t>
            </a:r>
          </a:p>
        </p:txBody>
      </p:sp>
      <p:sp>
        <p:nvSpPr>
          <p:cNvPr id="2" name="Content Placeholder 1"/>
          <p:cNvSpPr>
            <a:spLocks noGrp="1"/>
          </p:cNvSpPr>
          <p:nvPr>
            <p:ph idx="1"/>
          </p:nvPr>
        </p:nvSpPr>
        <p:spPr>
          <a:xfrm>
            <a:off x="7008674" y="1021648"/>
            <a:ext cx="5061406" cy="4351338"/>
          </a:xfrm>
        </p:spPr>
        <p:txBody>
          <a:bodyPr>
            <a:normAutofit/>
          </a:bodyPr>
          <a:lstStyle/>
          <a:p>
            <a:r>
              <a:rPr lang="en-GB" sz="2000" dirty="0"/>
              <a:t>The construction of dunes and sandsheets requires the availability of abundant sand grains, which are mostly transported as </a:t>
            </a:r>
            <a:r>
              <a:rPr lang="en-GB" sz="2000" dirty="0" err="1"/>
              <a:t>bedload</a:t>
            </a:r>
            <a:r>
              <a:rPr lang="en-GB" sz="2000" dirty="0"/>
              <a:t> prior to deposition. </a:t>
            </a:r>
          </a:p>
          <a:p>
            <a:r>
              <a:rPr lang="en-GB" sz="2000" dirty="0"/>
              <a:t>By contrast,  silt and clay fractions are mostly transported aloft in suspension. </a:t>
            </a:r>
          </a:p>
          <a:p>
            <a:r>
              <a:rPr lang="en-GB" sz="2000" dirty="0"/>
              <a:t>Under most wind conditions, gravel and coarser sediments are not moved, and are left </a:t>
            </a:r>
            <a:r>
              <a:rPr lang="en-GB" sz="2000" i="1" dirty="0"/>
              <a:t>in situ</a:t>
            </a:r>
            <a:r>
              <a:rPr lang="en-GB" sz="2000" dirty="0"/>
              <a:t> as a deflation lag deposit: a </a:t>
            </a:r>
            <a:r>
              <a:rPr lang="en-GB" sz="2000" i="1" dirty="0" err="1"/>
              <a:t>reg</a:t>
            </a:r>
            <a:r>
              <a:rPr lang="en-GB" sz="2000" dirty="0"/>
              <a:t> or </a:t>
            </a:r>
            <a:r>
              <a:rPr lang="en-GB" sz="2000" i="1" dirty="0" err="1"/>
              <a:t>serir</a:t>
            </a:r>
            <a:r>
              <a:rPr lang="en-GB" sz="2000" dirty="0"/>
              <a:t>. </a:t>
            </a:r>
          </a:p>
          <a:p>
            <a:endParaRPr lang="en-GB" sz="2000" dirty="0"/>
          </a:p>
        </p:txBody>
      </p:sp>
      <p:pic>
        <p:nvPicPr>
          <p:cNvPr id="11" name="Picture 10"/>
          <p:cNvPicPr>
            <a:picLocks noChangeAspect="1"/>
          </p:cNvPicPr>
          <p:nvPr/>
        </p:nvPicPr>
        <p:blipFill>
          <a:blip r:embed="rId3"/>
          <a:stretch>
            <a:fillRect/>
          </a:stretch>
        </p:blipFill>
        <p:spPr>
          <a:xfrm>
            <a:off x="123231" y="957640"/>
            <a:ext cx="6885443" cy="5155315"/>
          </a:xfrm>
          <a:prstGeom prst="rect">
            <a:avLst/>
          </a:prstGeom>
        </p:spPr>
      </p:pic>
      <p:pic>
        <p:nvPicPr>
          <p:cNvPr id="12" name="Picture 11"/>
          <p:cNvPicPr>
            <a:picLocks noChangeAspect="1"/>
          </p:cNvPicPr>
          <p:nvPr/>
        </p:nvPicPr>
        <p:blipFill>
          <a:blip r:embed="rId4"/>
          <a:stretch>
            <a:fillRect/>
          </a:stretch>
        </p:blipFill>
        <p:spPr>
          <a:xfrm>
            <a:off x="7223346" y="4168001"/>
            <a:ext cx="4871514" cy="2534551"/>
          </a:xfrm>
          <a:prstGeom prst="rect">
            <a:avLst/>
          </a:prstGeom>
        </p:spPr>
      </p:pic>
      <p:sp>
        <p:nvSpPr>
          <p:cNvPr id="13" name="TextBox 12"/>
          <p:cNvSpPr txBox="1"/>
          <p:nvPr/>
        </p:nvSpPr>
        <p:spPr>
          <a:xfrm>
            <a:off x="123231" y="6039074"/>
            <a:ext cx="6885443" cy="738664"/>
          </a:xfrm>
          <a:prstGeom prst="rect">
            <a:avLst/>
          </a:prstGeom>
          <a:noFill/>
        </p:spPr>
        <p:txBody>
          <a:bodyPr wrap="square" rtlCol="0">
            <a:spAutoFit/>
          </a:bodyPr>
          <a:lstStyle/>
          <a:p>
            <a:r>
              <a:rPr lang="en-GB" sz="1400" dirty="0"/>
              <a:t>Above: Schematic representation of the main modes of aeolian sediment transport with typical grain sizes indicated. Modified after </a:t>
            </a:r>
            <a:r>
              <a:rPr lang="en-GB" sz="1400" dirty="0" err="1"/>
              <a:t>Pye</a:t>
            </a:r>
            <a:r>
              <a:rPr lang="en-GB" sz="1400" dirty="0"/>
              <a:t> (1987). Left: </a:t>
            </a:r>
            <a:r>
              <a:rPr lang="en-GB" sz="1400" dirty="0" err="1"/>
              <a:t>Reg</a:t>
            </a:r>
            <a:r>
              <a:rPr lang="en-GB" sz="1400" dirty="0"/>
              <a:t> in Mojave Desert, Southern California (Image courtesy of Wilson44691)</a:t>
            </a:r>
          </a:p>
        </p:txBody>
      </p:sp>
    </p:spTree>
    <p:extLst>
      <p:ext uri="{BB962C8B-B14F-4D97-AF65-F5344CB8AC3E}">
        <p14:creationId xmlns:p14="http://schemas.microsoft.com/office/powerpoint/2010/main" val="3506913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56831" y="944008"/>
            <a:ext cx="5422393" cy="5580320"/>
          </a:xfrm>
        </p:spPr>
        <p:txBody>
          <a:bodyPr>
            <a:noAutofit/>
          </a:bodyPr>
          <a:lstStyle/>
          <a:p>
            <a:r>
              <a:rPr lang="en-GB" sz="2400" dirty="0"/>
              <a:t>Sand carried as </a:t>
            </a:r>
            <a:r>
              <a:rPr lang="en-GB" sz="2400" dirty="0" err="1"/>
              <a:t>bedload</a:t>
            </a:r>
            <a:r>
              <a:rPr lang="en-GB" sz="2400" dirty="0"/>
              <a:t> may be transported by one or more of the following processes: </a:t>
            </a:r>
          </a:p>
          <a:p>
            <a:r>
              <a:rPr lang="en-GB" sz="2400" dirty="0"/>
              <a:t>(1) rolling or creep due to drag directly on the bed</a:t>
            </a:r>
          </a:p>
          <a:p>
            <a:r>
              <a:rPr lang="en-GB" sz="2400" dirty="0"/>
              <a:t>(2) saltation whereby particles are temporarily lifted into the airflow and then collide with other particles in the flow, thereby inducing a chain reaction of </a:t>
            </a:r>
            <a:r>
              <a:rPr lang="en-GB" sz="2400" dirty="0" err="1"/>
              <a:t>interparticle</a:t>
            </a:r>
            <a:r>
              <a:rPr lang="en-GB" sz="2400" dirty="0"/>
              <a:t> collisions</a:t>
            </a:r>
          </a:p>
          <a:p>
            <a:r>
              <a:rPr lang="en-GB" sz="2400" dirty="0"/>
              <a:t>(3) </a:t>
            </a:r>
            <a:r>
              <a:rPr lang="en-GB" sz="2400" dirty="0" err="1"/>
              <a:t>reptation</a:t>
            </a:r>
            <a:r>
              <a:rPr lang="en-GB" sz="2400" dirty="0"/>
              <a:t> whereby saltating particles that return to the bed impact and nudge other particles and cause them to hop short distances downwind.</a:t>
            </a:r>
          </a:p>
          <a:p>
            <a:endParaRPr lang="en-GB"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transport processes</a:t>
            </a:r>
          </a:p>
        </p:txBody>
      </p:sp>
      <p:pic>
        <p:nvPicPr>
          <p:cNvPr id="2" name="Picture 1"/>
          <p:cNvPicPr>
            <a:picLocks noChangeAspect="1"/>
          </p:cNvPicPr>
          <p:nvPr/>
        </p:nvPicPr>
        <p:blipFill>
          <a:blip r:embed="rId3"/>
          <a:stretch>
            <a:fillRect/>
          </a:stretch>
        </p:blipFill>
        <p:spPr>
          <a:xfrm>
            <a:off x="163115" y="870856"/>
            <a:ext cx="4593612" cy="2657194"/>
          </a:xfrm>
          <a:prstGeom prst="rect">
            <a:avLst/>
          </a:prstGeom>
        </p:spPr>
      </p:pic>
      <p:pic>
        <p:nvPicPr>
          <p:cNvPr id="6" name="Picture 5"/>
          <p:cNvPicPr>
            <a:picLocks noChangeAspect="1"/>
          </p:cNvPicPr>
          <p:nvPr/>
        </p:nvPicPr>
        <p:blipFill>
          <a:blip r:embed="rId4"/>
          <a:stretch>
            <a:fillRect/>
          </a:stretch>
        </p:blipFill>
        <p:spPr>
          <a:xfrm>
            <a:off x="163115" y="3698001"/>
            <a:ext cx="6493717" cy="3159999"/>
          </a:xfrm>
          <a:prstGeom prst="rect">
            <a:avLst/>
          </a:prstGeom>
        </p:spPr>
      </p:pic>
      <p:sp>
        <p:nvSpPr>
          <p:cNvPr id="8" name="TextBox 7"/>
          <p:cNvSpPr txBox="1"/>
          <p:nvPr/>
        </p:nvSpPr>
        <p:spPr>
          <a:xfrm>
            <a:off x="4837545" y="944008"/>
            <a:ext cx="1450940" cy="2031325"/>
          </a:xfrm>
          <a:prstGeom prst="rect">
            <a:avLst/>
          </a:prstGeom>
          <a:noFill/>
        </p:spPr>
        <p:txBody>
          <a:bodyPr wrap="square" rtlCol="0">
            <a:spAutoFit/>
          </a:bodyPr>
          <a:lstStyle/>
          <a:p>
            <a:r>
              <a:rPr lang="en-GB" dirty="0"/>
              <a:t>L = lift, C = cohesion, D = aerodynamic drag, W = weight, I = impact.</a:t>
            </a:r>
          </a:p>
          <a:p>
            <a:endParaRPr lang="en-GB" dirty="0"/>
          </a:p>
        </p:txBody>
      </p:sp>
    </p:spTree>
    <p:extLst>
      <p:ext uri="{BB962C8B-B14F-4D97-AF65-F5344CB8AC3E}">
        <p14:creationId xmlns:p14="http://schemas.microsoft.com/office/powerpoint/2010/main" val="4259140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92291" y="944008"/>
            <a:ext cx="4486934" cy="5580320"/>
          </a:xfrm>
        </p:spPr>
        <p:txBody>
          <a:bodyPr>
            <a:noAutofit/>
          </a:bodyPr>
          <a:lstStyle/>
          <a:p>
            <a:r>
              <a:rPr lang="en-GB" sz="1900" dirty="0"/>
              <a:t>Of these processes, saltation is especially important in the aeolian transport of sand; wind impact ripples (discussed later) owe their distinctive form to this process.</a:t>
            </a:r>
          </a:p>
          <a:p>
            <a:endParaRPr lang="en-GB" sz="19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transport processes</a:t>
            </a:r>
          </a:p>
        </p:txBody>
      </p:sp>
      <p:pic>
        <p:nvPicPr>
          <p:cNvPr id="100354" name="Picture 2" descr="Soil particles can move through saltation, creep, and suspensio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94" y="944008"/>
            <a:ext cx="10593984" cy="52720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10994" y="6339902"/>
            <a:ext cx="11722388" cy="338554"/>
          </a:xfrm>
          <a:prstGeom prst="rect">
            <a:avLst/>
          </a:prstGeom>
          <a:noFill/>
        </p:spPr>
        <p:txBody>
          <a:bodyPr wrap="square" rtlCol="0">
            <a:spAutoFit/>
          </a:bodyPr>
          <a:lstStyle/>
          <a:p>
            <a:r>
              <a:rPr lang="en-GB" sz="1600" dirty="0" err="1"/>
              <a:t>Tatarko</a:t>
            </a:r>
            <a:r>
              <a:rPr lang="en-GB" sz="1600" dirty="0"/>
              <a:t>, John &amp; Presley, </a:t>
            </a:r>
            <a:r>
              <a:rPr lang="en-GB" sz="1600" dirty="0" err="1"/>
              <a:t>Deann</a:t>
            </a:r>
            <a:r>
              <a:rPr lang="en-GB" sz="1600" dirty="0"/>
              <a:t>. (2009). Principles of Wind Erosion and its Control. K-State Research and Extension Publication. MF-2860. </a:t>
            </a:r>
          </a:p>
        </p:txBody>
      </p:sp>
    </p:spTree>
    <p:extLst>
      <p:ext uri="{BB962C8B-B14F-4D97-AF65-F5344CB8AC3E}">
        <p14:creationId xmlns:p14="http://schemas.microsoft.com/office/powerpoint/2010/main" val="965155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85248" y="1021648"/>
            <a:ext cx="2063589" cy="5683952"/>
          </a:xfrm>
        </p:spPr>
        <p:txBody>
          <a:bodyPr>
            <a:noAutofit/>
          </a:bodyPr>
          <a:lstStyle/>
          <a:p>
            <a:pPr>
              <a:buFont typeface="Wingdings" panose="05000000000000000000" pitchFamily="2" charset="2"/>
              <a:buChar char="§"/>
            </a:pPr>
            <a:r>
              <a:rPr lang="en-GB" sz="1400" dirty="0"/>
              <a:t>Aeolian processes operate in a variety settings:</a:t>
            </a:r>
          </a:p>
          <a:p>
            <a:pPr>
              <a:buFont typeface="Wingdings" panose="05000000000000000000" pitchFamily="2" charset="2"/>
              <a:buChar char="§"/>
            </a:pPr>
            <a:r>
              <a:rPr lang="en-GB" sz="1400" dirty="0"/>
              <a:t>Hot and cold climatic deserts, coastal region, fluvial and glacial outwash plains, volcanic regions and aeolian systems supply sediment to the deep ocean. </a:t>
            </a:r>
          </a:p>
          <a:p>
            <a:pPr>
              <a:buFont typeface="Wingdings" panose="05000000000000000000" pitchFamily="2" charset="2"/>
              <a:buChar char="§"/>
            </a:pPr>
            <a:r>
              <a:rPr lang="en-GB" sz="1400" dirty="0"/>
              <a:t>Although aeolian processes operate in various climate regimes, they are currently most active and widespread in arid, hot and cold deserts.</a:t>
            </a:r>
          </a:p>
          <a:p>
            <a:pPr>
              <a:buFont typeface="Wingdings" panose="05000000000000000000" pitchFamily="2" charset="2"/>
              <a:buChar char="§"/>
            </a:pPr>
            <a:r>
              <a:rPr lang="en-GB" sz="1400" dirty="0"/>
              <a:t> In these settings, dry sandy substrates that lack significant vegetation cover are prone to sediment erosion, transport and deposition via the wind.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Where do aeolian processes operate?</a:t>
            </a:r>
          </a:p>
        </p:txBody>
      </p:sp>
      <p:pic>
        <p:nvPicPr>
          <p:cNvPr id="7" name="Picture 6"/>
          <p:cNvPicPr>
            <a:picLocks noChangeAspect="1"/>
          </p:cNvPicPr>
          <p:nvPr/>
        </p:nvPicPr>
        <p:blipFill>
          <a:blip r:embed="rId3"/>
          <a:stretch>
            <a:fillRect/>
          </a:stretch>
        </p:blipFill>
        <p:spPr>
          <a:xfrm>
            <a:off x="80818" y="956993"/>
            <a:ext cx="9822134" cy="5591588"/>
          </a:xfrm>
          <a:prstGeom prst="rect">
            <a:avLst/>
          </a:prstGeom>
        </p:spPr>
      </p:pic>
      <p:sp>
        <p:nvSpPr>
          <p:cNvPr id="6" name="TextBox 5"/>
          <p:cNvSpPr txBox="1"/>
          <p:nvPr/>
        </p:nvSpPr>
        <p:spPr>
          <a:xfrm>
            <a:off x="80818" y="6450052"/>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2918010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30395" y="1021648"/>
            <a:ext cx="3278477" cy="5771746"/>
          </a:xfrm>
        </p:spPr>
        <p:txBody>
          <a:bodyPr>
            <a:normAutofit/>
          </a:bodyPr>
          <a:lstStyle/>
          <a:p>
            <a:pPr>
              <a:buFont typeface="Wingdings" panose="05000000000000000000" pitchFamily="2" charset="2"/>
              <a:buChar char="§"/>
            </a:pPr>
            <a:r>
              <a:rPr lang="en-GB" sz="1800" dirty="0"/>
              <a:t>Aeolian processes and resultant deposits are most widespread in the world’s climatic desert regions. </a:t>
            </a:r>
          </a:p>
          <a:p>
            <a:pPr>
              <a:buFont typeface="Wingdings" panose="05000000000000000000" pitchFamily="2" charset="2"/>
              <a:buChar char="§"/>
            </a:pPr>
            <a:r>
              <a:rPr lang="en-GB" sz="1800" dirty="0"/>
              <a:t>Approximately 30% of the present-day land surface is characterised by arid or semi-arid climatic conditions </a:t>
            </a:r>
          </a:p>
          <a:p>
            <a:pPr>
              <a:buFont typeface="Wingdings" panose="05000000000000000000" pitchFamily="2" charset="2"/>
              <a:buChar char="§"/>
            </a:pPr>
            <a:r>
              <a:rPr lang="en-GB" sz="1800" dirty="0"/>
              <a:t>Of this 30%, aeolian sand deposits cover 20% of these regions  (6% of the Earth surface). </a:t>
            </a:r>
          </a:p>
          <a:p>
            <a:pPr>
              <a:buFont typeface="Wingdings" panose="05000000000000000000" pitchFamily="2" charset="2"/>
              <a:buChar char="§"/>
            </a:pPr>
            <a:r>
              <a:rPr lang="en-GB" sz="1800" dirty="0"/>
              <a:t>In these arid and semi-arid regions, low amounts of precipitation result in a dry substrate with relatively sparse vegetation cover. This allows the wind to entrain and transport loose surface sediment.</a:t>
            </a:r>
            <a:r>
              <a:rPr lang="en-GB" sz="1800" dirty="0">
                <a:effectLst/>
              </a:rPr>
              <a:t> </a:t>
            </a:r>
            <a:r>
              <a:rPr lang="en-GB" sz="1800" dirty="0"/>
              <a:t> </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315" t="5859" r="751" b="3452"/>
          <a:stretch/>
        </p:blipFill>
        <p:spPr>
          <a:xfrm>
            <a:off x="193452" y="949056"/>
            <a:ext cx="8524309" cy="3083194"/>
          </a:xfrm>
          <a:prstGeom prst="rect">
            <a:avLst/>
          </a:prstGeom>
        </p:spPr>
      </p:pic>
      <p:sp>
        <p:nvSpPr>
          <p:cNvPr id="5" name="TextBox 4"/>
          <p:cNvSpPr txBox="1"/>
          <p:nvPr/>
        </p:nvSpPr>
        <p:spPr>
          <a:xfrm>
            <a:off x="5560721" y="3806536"/>
            <a:ext cx="3269673" cy="430887"/>
          </a:xfrm>
          <a:prstGeom prst="rect">
            <a:avLst/>
          </a:prstGeom>
          <a:noFill/>
        </p:spPr>
        <p:txBody>
          <a:bodyPr wrap="square" rtlCol="0">
            <a:spAutoFit/>
          </a:bodyPr>
          <a:lstStyle/>
          <a:p>
            <a:pPr algn="ctr"/>
            <a:r>
              <a:rPr lang="en-GB" sz="1100" dirty="0">
                <a:ea typeface="Cambria" panose="02040503050406030204" pitchFamily="18" charset="0"/>
              </a:rPr>
              <a:t>Modern distribution of  aeolian sand (</a:t>
            </a:r>
            <a:r>
              <a:rPr lang="en-GB" sz="1100" dirty="0" err="1">
                <a:ea typeface="Cambria" panose="02040503050406030204" pitchFamily="18" charset="0"/>
              </a:rPr>
              <a:t>Muhs</a:t>
            </a:r>
            <a:r>
              <a:rPr lang="en-GB" sz="1100" dirty="0">
                <a:ea typeface="Cambria" panose="02040503050406030204" pitchFamily="18" charset="0"/>
              </a:rPr>
              <a:t>, 2009)</a:t>
            </a:r>
          </a:p>
          <a:p>
            <a:pPr algn="ctr"/>
            <a:endParaRPr lang="en-GB" sz="1100" dirty="0">
              <a:ea typeface="Cambria" panose="020405030504060302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7"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Desert aeolian environments</a:t>
            </a:r>
          </a:p>
        </p:txBody>
      </p:sp>
      <p:pic>
        <p:nvPicPr>
          <p:cNvPr id="10" name="Picture 9"/>
          <p:cNvPicPr>
            <a:picLocks noChangeAspect="1"/>
          </p:cNvPicPr>
          <p:nvPr/>
        </p:nvPicPr>
        <p:blipFill>
          <a:blip r:embed="rId4"/>
          <a:stretch>
            <a:fillRect/>
          </a:stretch>
        </p:blipFill>
        <p:spPr>
          <a:xfrm>
            <a:off x="193451" y="4110450"/>
            <a:ext cx="8524309" cy="2682944"/>
          </a:xfrm>
          <a:prstGeom prst="rect">
            <a:avLst/>
          </a:prstGeom>
        </p:spPr>
      </p:pic>
      <p:sp>
        <p:nvSpPr>
          <p:cNvPr id="11" name="TextBox 10"/>
          <p:cNvSpPr txBox="1"/>
          <p:nvPr/>
        </p:nvSpPr>
        <p:spPr>
          <a:xfrm>
            <a:off x="5100701" y="4126605"/>
            <a:ext cx="3729693" cy="261610"/>
          </a:xfrm>
          <a:prstGeom prst="rect">
            <a:avLst/>
          </a:prstGeom>
          <a:noFill/>
        </p:spPr>
        <p:txBody>
          <a:bodyPr wrap="square" rtlCol="0">
            <a:spAutoFit/>
          </a:bodyPr>
          <a:lstStyle/>
          <a:p>
            <a:r>
              <a:rPr lang="en-GB" sz="1100" dirty="0"/>
              <a:t>Rub’ Al Kali Desert (mage from www.wildfrontierstravel.com)</a:t>
            </a:r>
          </a:p>
        </p:txBody>
      </p:sp>
    </p:spTree>
    <p:extLst>
      <p:ext uri="{BB962C8B-B14F-4D97-AF65-F5344CB8AC3E}">
        <p14:creationId xmlns:p14="http://schemas.microsoft.com/office/powerpoint/2010/main" val="2592644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16" name="Title 1"/>
          <p:cNvSpPr txBox="1">
            <a:spLocks/>
          </p:cNvSpPr>
          <p:nvPr/>
        </p:nvSpPr>
        <p:spPr>
          <a:xfrm>
            <a:off x="80818" y="-150793"/>
            <a:ext cx="1177895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Desert Environments</a:t>
            </a:r>
          </a:p>
        </p:txBody>
      </p:sp>
      <p:pic>
        <p:nvPicPr>
          <p:cNvPr id="2" name="Picture 1"/>
          <p:cNvPicPr>
            <a:picLocks noChangeAspect="1"/>
          </p:cNvPicPr>
          <p:nvPr/>
        </p:nvPicPr>
        <p:blipFill rotWithShape="1">
          <a:blip r:embed="rId3"/>
          <a:srcRect b="1379"/>
          <a:stretch/>
        </p:blipFill>
        <p:spPr>
          <a:xfrm>
            <a:off x="644080" y="846749"/>
            <a:ext cx="9934575" cy="4828350"/>
          </a:xfrm>
          <a:prstGeom prst="rect">
            <a:avLst/>
          </a:prstGeom>
        </p:spPr>
      </p:pic>
      <p:sp>
        <p:nvSpPr>
          <p:cNvPr id="3" name="TextBox 2"/>
          <p:cNvSpPr txBox="1"/>
          <p:nvPr/>
        </p:nvSpPr>
        <p:spPr>
          <a:xfrm>
            <a:off x="80818" y="1021648"/>
            <a:ext cx="3905966" cy="1200329"/>
          </a:xfrm>
          <a:prstGeom prst="rect">
            <a:avLst/>
          </a:prstGeom>
          <a:noFill/>
        </p:spPr>
        <p:txBody>
          <a:bodyPr wrap="square" rtlCol="0">
            <a:spAutoFit/>
          </a:bodyPr>
          <a:lstStyle/>
          <a:p>
            <a:r>
              <a:rPr lang="en-GB" dirty="0" err="1"/>
              <a:t>Dunefields</a:t>
            </a:r>
            <a:r>
              <a:rPr lang="en-GB" dirty="0"/>
              <a:t> can be divided into central and marginal regions; these regions have distinct characteristics that differentiate them from each other. </a:t>
            </a:r>
          </a:p>
        </p:txBody>
      </p:sp>
      <p:sp>
        <p:nvSpPr>
          <p:cNvPr id="4" name="TextBox 3"/>
          <p:cNvSpPr txBox="1"/>
          <p:nvPr/>
        </p:nvSpPr>
        <p:spPr>
          <a:xfrm>
            <a:off x="80818" y="5650992"/>
            <a:ext cx="11778950" cy="1477328"/>
          </a:xfrm>
          <a:prstGeom prst="rect">
            <a:avLst/>
          </a:prstGeom>
          <a:noFill/>
        </p:spPr>
        <p:txBody>
          <a:bodyPr wrap="square" rtlCol="0">
            <a:spAutoFit/>
          </a:bodyPr>
          <a:lstStyle/>
          <a:p>
            <a:r>
              <a:rPr lang="en-GB" dirty="0"/>
              <a:t>The back-erg represents the trailing, upwind margin of the erg; the fore-erg represents the leading, downwind margin of the dune-field (Porter, 1987). The central erg is located in the core of the dune-field between the leading edge (fore erg) and trailing edge (back erg) of the dune system. Collectively, the fore- and back-erg, and the lateral margins of the central erg make up the erg margin, which surrounds the central erg at the core of the </a:t>
            </a:r>
            <a:r>
              <a:rPr lang="en-GB" dirty="0" err="1"/>
              <a:t>dunefield</a:t>
            </a:r>
            <a:r>
              <a:rPr lang="en-GB" dirty="0"/>
              <a:t> </a:t>
            </a:r>
          </a:p>
          <a:p>
            <a:endParaRPr lang="en-GB" dirty="0"/>
          </a:p>
        </p:txBody>
      </p:sp>
    </p:spTree>
    <p:extLst>
      <p:ext uri="{BB962C8B-B14F-4D97-AF65-F5344CB8AC3E}">
        <p14:creationId xmlns:p14="http://schemas.microsoft.com/office/powerpoint/2010/main" val="49141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8"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Desert aeolian environments</a:t>
            </a:r>
          </a:p>
        </p:txBody>
      </p:sp>
      <p:sp>
        <p:nvSpPr>
          <p:cNvPr id="9" name="TextBox 8"/>
          <p:cNvSpPr txBox="1"/>
          <p:nvPr/>
        </p:nvSpPr>
        <p:spPr>
          <a:xfrm>
            <a:off x="8146472" y="1008339"/>
            <a:ext cx="3953164" cy="5632311"/>
          </a:xfrm>
          <a:prstGeom prst="rect">
            <a:avLst/>
          </a:prstGeom>
          <a:noFill/>
        </p:spPr>
        <p:txBody>
          <a:bodyPr wrap="square" rtlCol="0">
            <a:spAutoFit/>
          </a:bodyPr>
          <a:lstStyle/>
          <a:p>
            <a:pPr marL="285750" indent="-285750">
              <a:buFont typeface="Wingdings" panose="05000000000000000000" pitchFamily="2" charset="2"/>
              <a:buChar char="§"/>
            </a:pPr>
            <a:r>
              <a:rPr lang="en-GB" dirty="0"/>
              <a:t>Most larger deserts are subdivided into a series of distinct geomorphic elements, defined by net sediment erosion, transport (bypass), or  deposition.</a:t>
            </a:r>
          </a:p>
          <a:p>
            <a:pPr marL="285750" indent="-285750">
              <a:buFont typeface="Wingdings" panose="05000000000000000000" pitchFamily="2" charset="2"/>
              <a:buChar char="§"/>
            </a:pPr>
            <a:r>
              <a:rPr lang="en-GB" dirty="0"/>
              <a:t> Geomorphic elements characterised by net aeolian sand deposition may develop as sand seas or ergs.</a:t>
            </a:r>
          </a:p>
          <a:p>
            <a:pPr marL="285750" indent="-285750">
              <a:buFont typeface="Wingdings" panose="05000000000000000000" pitchFamily="2" charset="2"/>
              <a:buChar char="§"/>
            </a:pPr>
            <a:r>
              <a:rPr lang="en-GB" dirty="0"/>
              <a:t>Ergs are wind-formed desert landscapes characterized by extensive sand dunes that cover the terrain. </a:t>
            </a:r>
          </a:p>
          <a:p>
            <a:pPr marL="285750" indent="-285750">
              <a:buFont typeface="Wingdings" panose="05000000000000000000" pitchFamily="2" charset="2"/>
              <a:buChar char="§"/>
            </a:pPr>
            <a:r>
              <a:rPr lang="en-GB" dirty="0"/>
              <a:t>Sand dunes can also be associated with other geomorphic elements, such as </a:t>
            </a:r>
            <a:r>
              <a:rPr lang="en-GB" dirty="0" err="1"/>
              <a:t>zibars</a:t>
            </a:r>
            <a:r>
              <a:rPr lang="en-GB" dirty="0"/>
              <a:t>, sandsheets, interdunes and a suite of non-aeolian environments (such as rivers, playa lakes etc.).</a:t>
            </a:r>
          </a:p>
          <a:p>
            <a:pPr marL="285750" indent="-285750">
              <a:buFont typeface="Wingdings" panose="05000000000000000000" pitchFamily="2" charset="2"/>
              <a:buChar char="§"/>
            </a:pPr>
            <a:r>
              <a:rPr lang="en-GB" dirty="0"/>
              <a:t>These geomorphic elements will be discussed later on.</a:t>
            </a:r>
          </a:p>
        </p:txBody>
      </p:sp>
      <p:pic>
        <p:nvPicPr>
          <p:cNvPr id="11" name="Picture 10"/>
          <p:cNvPicPr>
            <a:picLocks noChangeAspect="1"/>
          </p:cNvPicPr>
          <p:nvPr/>
        </p:nvPicPr>
        <p:blipFill rotWithShape="1">
          <a:blip r:embed="rId3"/>
          <a:srcRect t="-1" b="39136"/>
          <a:stretch/>
        </p:blipFill>
        <p:spPr>
          <a:xfrm>
            <a:off x="80817" y="917067"/>
            <a:ext cx="7963591" cy="2805187"/>
          </a:xfrm>
          <a:prstGeom prst="rect">
            <a:avLst/>
          </a:prstGeom>
        </p:spPr>
      </p:pic>
      <p:cxnSp>
        <p:nvCxnSpPr>
          <p:cNvPr id="12" name="Straight Connector 11"/>
          <p:cNvCxnSpPr/>
          <p:nvPr/>
        </p:nvCxnSpPr>
        <p:spPr>
          <a:xfrm>
            <a:off x="7046924" y="3582665"/>
            <a:ext cx="901886" cy="11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134331" y="3208212"/>
            <a:ext cx="910077" cy="369332"/>
          </a:xfrm>
          <a:prstGeom prst="rect">
            <a:avLst/>
          </a:prstGeom>
          <a:noFill/>
        </p:spPr>
        <p:txBody>
          <a:bodyPr wrap="square" rtlCol="0">
            <a:spAutoFit/>
          </a:bodyPr>
          <a:lstStyle/>
          <a:p>
            <a:r>
              <a:rPr lang="en-GB" dirty="0"/>
              <a:t>10 km</a:t>
            </a:r>
          </a:p>
        </p:txBody>
      </p:sp>
      <p:sp>
        <p:nvSpPr>
          <p:cNvPr id="14" name="TextBox 13"/>
          <p:cNvSpPr txBox="1"/>
          <p:nvPr/>
        </p:nvSpPr>
        <p:spPr>
          <a:xfrm>
            <a:off x="80816" y="907183"/>
            <a:ext cx="3573170" cy="646331"/>
          </a:xfrm>
          <a:prstGeom prst="rect">
            <a:avLst/>
          </a:prstGeom>
          <a:noFill/>
        </p:spPr>
        <p:txBody>
          <a:bodyPr wrap="square" rtlCol="0">
            <a:spAutoFit/>
          </a:bodyPr>
          <a:lstStyle/>
          <a:p>
            <a:r>
              <a:rPr lang="en-GB" b="1" dirty="0">
                <a:ea typeface="Cambria" panose="02040503050406030204" pitchFamily="18" charset="0"/>
              </a:rPr>
              <a:t>Rub’ al Khali, Oman </a:t>
            </a:r>
          </a:p>
          <a:p>
            <a:r>
              <a:rPr lang="en-GB" dirty="0">
                <a:ea typeface="Cambria" panose="02040503050406030204" pitchFamily="18" charset="0"/>
              </a:rPr>
              <a:t>(Image ISS027-E-34290)</a:t>
            </a:r>
          </a:p>
        </p:txBody>
      </p:sp>
      <p:pic>
        <p:nvPicPr>
          <p:cNvPr id="15" name="Picture 14"/>
          <p:cNvPicPr>
            <a:picLocks noChangeAspect="1"/>
          </p:cNvPicPr>
          <p:nvPr/>
        </p:nvPicPr>
        <p:blipFill rotWithShape="1">
          <a:blip r:embed="rId4"/>
          <a:srcRect b="33144"/>
          <a:stretch/>
        </p:blipFill>
        <p:spPr>
          <a:xfrm>
            <a:off x="80816" y="3808392"/>
            <a:ext cx="7963592" cy="2941402"/>
          </a:xfrm>
          <a:prstGeom prst="rect">
            <a:avLst/>
          </a:prstGeom>
        </p:spPr>
      </p:pic>
      <p:cxnSp>
        <p:nvCxnSpPr>
          <p:cNvPr id="16" name="Straight Connector 15"/>
          <p:cNvCxnSpPr/>
          <p:nvPr/>
        </p:nvCxnSpPr>
        <p:spPr>
          <a:xfrm>
            <a:off x="5920509" y="6689754"/>
            <a:ext cx="2028301" cy="3733"/>
          </a:xfrm>
          <a:prstGeom prst="line">
            <a:avLst/>
          </a:prstGeom>
          <a:ln w="38100"/>
        </p:spPr>
        <p:style>
          <a:lnRef idx="3">
            <a:schemeClr val="dk1"/>
          </a:lnRef>
          <a:fillRef idx="0">
            <a:schemeClr val="dk1"/>
          </a:fillRef>
          <a:effectRef idx="2">
            <a:schemeClr val="dk1"/>
          </a:effectRef>
          <a:fontRef idx="minor">
            <a:schemeClr val="tx1"/>
          </a:fontRef>
        </p:style>
      </p:cxnSp>
      <p:sp>
        <p:nvSpPr>
          <p:cNvPr id="17" name="TextBox 16"/>
          <p:cNvSpPr txBox="1"/>
          <p:nvPr/>
        </p:nvSpPr>
        <p:spPr>
          <a:xfrm>
            <a:off x="6609450" y="6355876"/>
            <a:ext cx="1182033" cy="369332"/>
          </a:xfrm>
          <a:prstGeom prst="rect">
            <a:avLst/>
          </a:prstGeom>
          <a:noFill/>
        </p:spPr>
        <p:txBody>
          <a:bodyPr wrap="square" rtlCol="0">
            <a:spAutoFit/>
          </a:bodyPr>
          <a:lstStyle/>
          <a:p>
            <a:r>
              <a:rPr lang="en-GB" dirty="0"/>
              <a:t>5 km</a:t>
            </a:r>
          </a:p>
        </p:txBody>
      </p:sp>
      <p:sp>
        <p:nvSpPr>
          <p:cNvPr id="18" name="TextBox 17"/>
          <p:cNvSpPr txBox="1"/>
          <p:nvPr/>
        </p:nvSpPr>
        <p:spPr>
          <a:xfrm>
            <a:off x="80816" y="3824494"/>
            <a:ext cx="6814771" cy="646331"/>
          </a:xfrm>
          <a:prstGeom prst="rect">
            <a:avLst/>
          </a:prstGeom>
          <a:noFill/>
        </p:spPr>
        <p:txBody>
          <a:bodyPr wrap="square" rtlCol="0">
            <a:spAutoFit/>
          </a:bodyPr>
          <a:lstStyle/>
          <a:p>
            <a:r>
              <a:rPr lang="en-GB" b="1" dirty="0" err="1"/>
              <a:t>Tenéré</a:t>
            </a:r>
            <a:r>
              <a:rPr lang="en-GB" b="1" dirty="0"/>
              <a:t> Desert, larger Sahara Desert, Niger </a:t>
            </a:r>
          </a:p>
          <a:p>
            <a:r>
              <a:rPr lang="en-GB" dirty="0"/>
              <a:t>(Image ISS022-E-5258)</a:t>
            </a:r>
          </a:p>
        </p:txBody>
      </p:sp>
      <p:sp>
        <p:nvSpPr>
          <p:cNvPr id="24" name="TextBox 23"/>
          <p:cNvSpPr txBox="1"/>
          <p:nvPr/>
        </p:nvSpPr>
        <p:spPr>
          <a:xfrm>
            <a:off x="184727" y="4673600"/>
            <a:ext cx="1209964" cy="369332"/>
          </a:xfrm>
          <a:prstGeom prst="rect">
            <a:avLst/>
          </a:prstGeom>
          <a:solidFill>
            <a:schemeClr val="bg1"/>
          </a:solidFill>
        </p:spPr>
        <p:txBody>
          <a:bodyPr wrap="square" rtlCol="0">
            <a:spAutoFit/>
          </a:bodyPr>
          <a:lstStyle/>
          <a:p>
            <a:r>
              <a:rPr lang="en-GB" b="1" dirty="0"/>
              <a:t>sandsheet</a:t>
            </a:r>
          </a:p>
        </p:txBody>
      </p:sp>
      <p:sp>
        <p:nvSpPr>
          <p:cNvPr id="25" name="TextBox 24"/>
          <p:cNvSpPr txBox="1"/>
          <p:nvPr/>
        </p:nvSpPr>
        <p:spPr>
          <a:xfrm>
            <a:off x="5724236" y="5792466"/>
            <a:ext cx="743528" cy="369332"/>
          </a:xfrm>
          <a:prstGeom prst="rect">
            <a:avLst/>
          </a:prstGeom>
          <a:solidFill>
            <a:schemeClr val="bg1"/>
          </a:solidFill>
        </p:spPr>
        <p:txBody>
          <a:bodyPr wrap="square" rtlCol="0">
            <a:spAutoFit/>
          </a:bodyPr>
          <a:lstStyle/>
          <a:p>
            <a:r>
              <a:rPr lang="en-GB" b="1" dirty="0" err="1"/>
              <a:t>zibar</a:t>
            </a:r>
            <a:endParaRPr lang="en-GB" b="1" dirty="0"/>
          </a:p>
        </p:txBody>
      </p:sp>
      <p:cxnSp>
        <p:nvCxnSpPr>
          <p:cNvPr id="27" name="Straight Arrow Connector 26"/>
          <p:cNvCxnSpPr>
            <a:stCxn id="25" idx="0"/>
          </p:cNvCxnSpPr>
          <p:nvPr/>
        </p:nvCxnSpPr>
        <p:spPr>
          <a:xfrm flipH="1" flipV="1">
            <a:off x="5421746" y="5228685"/>
            <a:ext cx="674254" cy="56378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4821384" y="5528860"/>
            <a:ext cx="902852" cy="41232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3412642" y="3298766"/>
            <a:ext cx="1169680" cy="369332"/>
          </a:xfrm>
          <a:prstGeom prst="rect">
            <a:avLst/>
          </a:prstGeom>
          <a:solidFill>
            <a:schemeClr val="bg1"/>
          </a:solidFill>
        </p:spPr>
        <p:txBody>
          <a:bodyPr wrap="square" rtlCol="0">
            <a:spAutoFit/>
          </a:bodyPr>
          <a:lstStyle/>
          <a:p>
            <a:r>
              <a:rPr lang="en-GB" b="1" dirty="0"/>
              <a:t>interdune</a:t>
            </a:r>
          </a:p>
        </p:txBody>
      </p:sp>
      <p:cxnSp>
        <p:nvCxnSpPr>
          <p:cNvPr id="34" name="Straight Arrow Connector 33"/>
          <p:cNvCxnSpPr>
            <a:stCxn id="33" idx="0"/>
          </p:cNvCxnSpPr>
          <p:nvPr/>
        </p:nvCxnSpPr>
        <p:spPr>
          <a:xfrm flipH="1" flipV="1">
            <a:off x="2778102" y="2533796"/>
            <a:ext cx="1219380" cy="76497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flipH="1" flipV="1">
            <a:off x="2509790" y="3035160"/>
            <a:ext cx="902852" cy="41232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9" name="TextBox 38"/>
          <p:cNvSpPr txBox="1"/>
          <p:nvPr/>
        </p:nvSpPr>
        <p:spPr>
          <a:xfrm>
            <a:off x="4679018" y="2228034"/>
            <a:ext cx="742727" cy="369332"/>
          </a:xfrm>
          <a:prstGeom prst="rect">
            <a:avLst/>
          </a:prstGeom>
          <a:solidFill>
            <a:schemeClr val="bg1"/>
          </a:solidFill>
        </p:spPr>
        <p:txBody>
          <a:bodyPr wrap="square" rtlCol="0">
            <a:spAutoFit/>
          </a:bodyPr>
          <a:lstStyle/>
          <a:p>
            <a:r>
              <a:rPr lang="en-GB" b="1" dirty="0"/>
              <a:t>dune</a:t>
            </a:r>
          </a:p>
        </p:txBody>
      </p:sp>
      <p:cxnSp>
        <p:nvCxnSpPr>
          <p:cNvPr id="40" name="Straight Arrow Connector 39"/>
          <p:cNvCxnSpPr>
            <a:stCxn id="39" idx="0"/>
          </p:cNvCxnSpPr>
          <p:nvPr/>
        </p:nvCxnSpPr>
        <p:spPr>
          <a:xfrm flipH="1" flipV="1">
            <a:off x="4376530" y="1664254"/>
            <a:ext cx="673852" cy="56378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flipV="1">
            <a:off x="4004765" y="2108093"/>
            <a:ext cx="674254" cy="268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24" idx="2"/>
          </p:cNvCxnSpPr>
          <p:nvPr/>
        </p:nvCxnSpPr>
        <p:spPr>
          <a:xfrm flipH="1">
            <a:off x="412766" y="5042932"/>
            <a:ext cx="376943" cy="36121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46090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Dune Types</a:t>
            </a:r>
          </a:p>
        </p:txBody>
      </p:sp>
      <p:pic>
        <p:nvPicPr>
          <p:cNvPr id="3" name="Picture 2"/>
          <p:cNvPicPr>
            <a:picLocks noChangeAspect="1"/>
          </p:cNvPicPr>
          <p:nvPr/>
        </p:nvPicPr>
        <p:blipFill>
          <a:blip r:embed="rId3"/>
          <a:stretch>
            <a:fillRect/>
          </a:stretch>
        </p:blipFill>
        <p:spPr>
          <a:xfrm>
            <a:off x="182880" y="1021647"/>
            <a:ext cx="11759184" cy="5381321"/>
          </a:xfrm>
          <a:prstGeom prst="rect">
            <a:avLst/>
          </a:prstGeom>
        </p:spPr>
      </p:pic>
      <p:sp>
        <p:nvSpPr>
          <p:cNvPr id="6" name="TextBox 5"/>
          <p:cNvSpPr txBox="1"/>
          <p:nvPr/>
        </p:nvSpPr>
        <p:spPr>
          <a:xfrm>
            <a:off x="268422" y="6369093"/>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1160201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Dune Types</a:t>
            </a:r>
          </a:p>
        </p:txBody>
      </p:sp>
      <p:pic>
        <p:nvPicPr>
          <p:cNvPr id="2" name="Picture 1"/>
          <p:cNvPicPr>
            <a:picLocks noChangeAspect="1"/>
          </p:cNvPicPr>
          <p:nvPr/>
        </p:nvPicPr>
        <p:blipFill>
          <a:blip r:embed="rId3"/>
          <a:stretch>
            <a:fillRect/>
          </a:stretch>
        </p:blipFill>
        <p:spPr>
          <a:xfrm>
            <a:off x="198310" y="948495"/>
            <a:ext cx="11795379" cy="5384303"/>
          </a:xfrm>
          <a:prstGeom prst="rect">
            <a:avLst/>
          </a:prstGeom>
        </p:spPr>
      </p:pic>
      <p:sp>
        <p:nvSpPr>
          <p:cNvPr id="6" name="TextBox 5"/>
          <p:cNvSpPr txBox="1"/>
          <p:nvPr/>
        </p:nvSpPr>
        <p:spPr>
          <a:xfrm>
            <a:off x="198310" y="6332798"/>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67237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Dune Types</a:t>
            </a:r>
          </a:p>
        </p:txBody>
      </p:sp>
      <p:pic>
        <p:nvPicPr>
          <p:cNvPr id="3" name="Picture 2"/>
          <p:cNvPicPr>
            <a:picLocks noChangeAspect="1"/>
          </p:cNvPicPr>
          <p:nvPr/>
        </p:nvPicPr>
        <p:blipFill>
          <a:blip r:embed="rId3"/>
          <a:stretch>
            <a:fillRect/>
          </a:stretch>
        </p:blipFill>
        <p:spPr>
          <a:xfrm>
            <a:off x="155448" y="1021648"/>
            <a:ext cx="11667744" cy="4680888"/>
          </a:xfrm>
          <a:prstGeom prst="rect">
            <a:avLst/>
          </a:prstGeom>
        </p:spPr>
      </p:pic>
      <p:sp>
        <p:nvSpPr>
          <p:cNvPr id="6" name="TextBox 5"/>
          <p:cNvSpPr txBox="1"/>
          <p:nvPr/>
        </p:nvSpPr>
        <p:spPr>
          <a:xfrm>
            <a:off x="155448" y="5788152"/>
            <a:ext cx="11466576" cy="646331"/>
          </a:xfrm>
          <a:prstGeom prst="rect">
            <a:avLst/>
          </a:prstGeom>
          <a:noFill/>
        </p:spPr>
        <p:txBody>
          <a:bodyPr wrap="square" rtlCol="0">
            <a:spAutoFit/>
          </a:bodyPr>
          <a:lstStyle/>
          <a:p>
            <a:r>
              <a:rPr lang="en-GB" dirty="0"/>
              <a:t>Discrimination of dune types in relation to a plot of Equivalent Sand Thickness (EST) versus Resultant Drift Potential (RDP)/Drift Potential (DP). Modified after Wasson &amp; Hyde (1983).</a:t>
            </a:r>
          </a:p>
        </p:txBody>
      </p:sp>
    </p:spTree>
    <p:extLst>
      <p:ext uri="{BB962C8B-B14F-4D97-AF65-F5344CB8AC3E}">
        <p14:creationId xmlns:p14="http://schemas.microsoft.com/office/powerpoint/2010/main" val="189610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7782" y="1021648"/>
            <a:ext cx="6747810" cy="4351338"/>
          </a:xfrm>
        </p:spPr>
        <p:txBody>
          <a:bodyPr>
            <a:noAutofit/>
          </a:bodyPr>
          <a:lstStyle/>
          <a:p>
            <a:r>
              <a:rPr lang="en-GB" sz="1800" dirty="0"/>
              <a:t>Both present-day aeolian systems and their preserved successions are commonly classified as dry, wet or stabilising types (</a:t>
            </a:r>
            <a:r>
              <a:rPr lang="en-GB" sz="1800" dirty="0" err="1"/>
              <a:t>Kocurek</a:t>
            </a:r>
            <a:r>
              <a:rPr lang="en-GB" sz="1800" dirty="0"/>
              <a:t> &amp; </a:t>
            </a:r>
            <a:r>
              <a:rPr lang="en-GB" sz="1800" dirty="0" err="1"/>
              <a:t>Havholm</a:t>
            </a:r>
            <a:r>
              <a:rPr lang="en-GB" sz="1800" dirty="0"/>
              <a:t>, 1993). </a:t>
            </a:r>
          </a:p>
          <a:p>
            <a:endParaRPr lang="en-GB" sz="1800" dirty="0"/>
          </a:p>
          <a:p>
            <a:r>
              <a:rPr lang="en-GB" sz="1800" dirty="0"/>
              <a:t>Dry aeolian systems develop where accumulation is controlled solely by aerodynamic configuration. Down-wind airflow deceleration causes sediment-laden winds to deposit some of their load. </a:t>
            </a:r>
          </a:p>
          <a:p>
            <a:endParaRPr lang="en-GB" sz="1800" dirty="0"/>
          </a:p>
          <a:p>
            <a:r>
              <a:rPr lang="en-GB" sz="1800" dirty="0"/>
              <a:t>Wet aeolian systems develop where accumulation is controlled by progressive water-table rise concomitant with ongoing aeolian activity – notably, dune migration. </a:t>
            </a:r>
          </a:p>
          <a:p>
            <a:endParaRPr lang="en-GB" sz="1800" dirty="0"/>
          </a:p>
          <a:p>
            <a:r>
              <a:rPr lang="en-GB" sz="1800" dirty="0"/>
              <a:t>Stabilising aeolian systems develop where physical, chemical or biogenic agents promote aeolian system construction and accumulation. For example, where vegetation or surface cements act to restrict the transport capacity of the wind.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Desert aeolian environments</a:t>
            </a:r>
          </a:p>
        </p:txBody>
      </p:sp>
      <p:pic>
        <p:nvPicPr>
          <p:cNvPr id="8" name="Picture 7"/>
          <p:cNvPicPr>
            <a:picLocks noChangeAspect="1"/>
          </p:cNvPicPr>
          <p:nvPr/>
        </p:nvPicPr>
        <p:blipFill>
          <a:blip r:embed="rId3"/>
          <a:stretch>
            <a:fillRect/>
          </a:stretch>
        </p:blipFill>
        <p:spPr>
          <a:xfrm>
            <a:off x="267854" y="2913988"/>
            <a:ext cx="4415813" cy="1823749"/>
          </a:xfrm>
          <a:prstGeom prst="rect">
            <a:avLst/>
          </a:prstGeom>
        </p:spPr>
      </p:pic>
      <p:pic>
        <p:nvPicPr>
          <p:cNvPr id="9" name="Picture 8"/>
          <p:cNvPicPr>
            <a:picLocks noChangeAspect="1"/>
          </p:cNvPicPr>
          <p:nvPr/>
        </p:nvPicPr>
        <p:blipFill>
          <a:blip r:embed="rId4"/>
          <a:stretch>
            <a:fillRect/>
          </a:stretch>
        </p:blipFill>
        <p:spPr>
          <a:xfrm>
            <a:off x="267854" y="4838224"/>
            <a:ext cx="4415813" cy="1722765"/>
          </a:xfrm>
          <a:prstGeom prst="rect">
            <a:avLst/>
          </a:prstGeom>
        </p:spPr>
      </p:pic>
      <p:sp>
        <p:nvSpPr>
          <p:cNvPr id="10" name="TextBox 9"/>
          <p:cNvSpPr txBox="1"/>
          <p:nvPr/>
        </p:nvSpPr>
        <p:spPr>
          <a:xfrm>
            <a:off x="393543" y="5057657"/>
            <a:ext cx="4162108" cy="261610"/>
          </a:xfrm>
          <a:prstGeom prst="rect">
            <a:avLst/>
          </a:prstGeom>
          <a:solidFill>
            <a:schemeClr val="bg2"/>
          </a:solidFill>
        </p:spPr>
        <p:txBody>
          <a:bodyPr wrap="square" rtlCol="0">
            <a:spAutoFit/>
          </a:bodyPr>
          <a:lstStyle/>
          <a:p>
            <a:r>
              <a:rPr lang="en-GB" sz="1100" b="1" dirty="0"/>
              <a:t>Stabilising aeolian system: </a:t>
            </a:r>
            <a:r>
              <a:rPr lang="en-GB" sz="1100" b="1" dirty="0" err="1"/>
              <a:t>Baleal</a:t>
            </a:r>
            <a:r>
              <a:rPr lang="en-GB" sz="1100" b="1" dirty="0"/>
              <a:t>, </a:t>
            </a:r>
            <a:r>
              <a:rPr lang="en-GB" sz="1100" b="1" dirty="0" err="1"/>
              <a:t>Peniche</a:t>
            </a:r>
            <a:r>
              <a:rPr lang="en-GB" sz="1100" b="1" dirty="0"/>
              <a:t>, Portugal</a:t>
            </a:r>
          </a:p>
        </p:txBody>
      </p:sp>
      <p:pic>
        <p:nvPicPr>
          <p:cNvPr id="11" name="Picture 10"/>
          <p:cNvPicPr>
            <a:picLocks noChangeAspect="1"/>
          </p:cNvPicPr>
          <p:nvPr/>
        </p:nvPicPr>
        <p:blipFill rotWithShape="1">
          <a:blip r:embed="rId5"/>
          <a:srcRect b="33144"/>
          <a:stretch/>
        </p:blipFill>
        <p:spPr>
          <a:xfrm>
            <a:off x="314466" y="990790"/>
            <a:ext cx="4409428" cy="1690861"/>
          </a:xfrm>
          <a:prstGeom prst="rect">
            <a:avLst/>
          </a:prstGeom>
        </p:spPr>
      </p:pic>
      <p:sp>
        <p:nvSpPr>
          <p:cNvPr id="14" name="TextBox 13"/>
          <p:cNvSpPr txBox="1"/>
          <p:nvPr/>
        </p:nvSpPr>
        <p:spPr>
          <a:xfrm>
            <a:off x="538271" y="1039567"/>
            <a:ext cx="3698614" cy="261610"/>
          </a:xfrm>
          <a:prstGeom prst="rect">
            <a:avLst/>
          </a:prstGeom>
          <a:solidFill>
            <a:schemeClr val="bg2"/>
          </a:solidFill>
        </p:spPr>
        <p:txBody>
          <a:bodyPr wrap="square" rtlCol="0">
            <a:spAutoFit/>
          </a:bodyPr>
          <a:lstStyle/>
          <a:p>
            <a:r>
              <a:rPr lang="en-GB" sz="1100" b="1" dirty="0" err="1"/>
              <a:t>Tenéré</a:t>
            </a:r>
            <a:r>
              <a:rPr lang="en-GB" sz="1100" b="1" dirty="0"/>
              <a:t> Desert, larger Sahara Desert, Niger </a:t>
            </a:r>
          </a:p>
        </p:txBody>
      </p:sp>
      <p:sp>
        <p:nvSpPr>
          <p:cNvPr id="24" name="TextBox 23"/>
          <p:cNvSpPr txBox="1"/>
          <p:nvPr/>
        </p:nvSpPr>
        <p:spPr>
          <a:xfrm>
            <a:off x="456706" y="2680059"/>
            <a:ext cx="3566181" cy="430887"/>
          </a:xfrm>
          <a:prstGeom prst="rect">
            <a:avLst/>
          </a:prstGeom>
          <a:noFill/>
        </p:spPr>
        <p:txBody>
          <a:bodyPr wrap="square" rtlCol="0">
            <a:spAutoFit/>
          </a:bodyPr>
          <a:lstStyle/>
          <a:p>
            <a:r>
              <a:rPr lang="en-GB" sz="1100" dirty="0"/>
              <a:t>(Image ISS022-E-5258)</a:t>
            </a:r>
          </a:p>
          <a:p>
            <a:endParaRPr lang="en-GB" sz="1100" dirty="0"/>
          </a:p>
        </p:txBody>
      </p:sp>
      <p:sp>
        <p:nvSpPr>
          <p:cNvPr id="25" name="TextBox 24"/>
          <p:cNvSpPr txBox="1"/>
          <p:nvPr/>
        </p:nvSpPr>
        <p:spPr>
          <a:xfrm>
            <a:off x="264104" y="6530671"/>
            <a:ext cx="4510152" cy="261610"/>
          </a:xfrm>
          <a:prstGeom prst="rect">
            <a:avLst/>
          </a:prstGeom>
          <a:noFill/>
        </p:spPr>
        <p:txBody>
          <a:bodyPr wrap="square" rtlCol="0">
            <a:spAutoFit/>
          </a:bodyPr>
          <a:lstStyle/>
          <a:p>
            <a:r>
              <a:rPr lang="en-GB" sz="1100" dirty="0"/>
              <a:t>Image courtesy of </a:t>
            </a:r>
            <a:r>
              <a:rPr lang="en-GB" sz="1100" dirty="0" err="1"/>
              <a:t>Júlio</a:t>
            </a:r>
            <a:r>
              <a:rPr lang="en-GB" sz="1100" dirty="0"/>
              <a:t> Reis (CC BY-SA 3.0)</a:t>
            </a:r>
          </a:p>
        </p:txBody>
      </p:sp>
    </p:spTree>
    <p:extLst>
      <p:ext uri="{BB962C8B-B14F-4D97-AF65-F5344CB8AC3E}">
        <p14:creationId xmlns:p14="http://schemas.microsoft.com/office/powerpoint/2010/main" val="2408313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Coastal aeolian environments</a:t>
            </a:r>
          </a:p>
        </p:txBody>
      </p:sp>
      <p:sp>
        <p:nvSpPr>
          <p:cNvPr id="6" name="TextBox 5"/>
          <p:cNvSpPr txBox="1"/>
          <p:nvPr/>
        </p:nvSpPr>
        <p:spPr>
          <a:xfrm>
            <a:off x="9272016" y="1021648"/>
            <a:ext cx="2733501" cy="5632311"/>
          </a:xfrm>
          <a:prstGeom prst="rect">
            <a:avLst/>
          </a:prstGeom>
          <a:noFill/>
        </p:spPr>
        <p:txBody>
          <a:bodyPr wrap="square" rtlCol="0">
            <a:spAutoFit/>
          </a:bodyPr>
          <a:lstStyle/>
          <a:p>
            <a:pPr marL="285750" indent="-285750">
              <a:buFont typeface="Wingdings" panose="05000000000000000000" pitchFamily="2" charset="2"/>
              <a:buChar char="§"/>
            </a:pPr>
            <a:r>
              <a:rPr lang="en-GB" dirty="0"/>
              <a:t>Coastal dune fields may be composed of siliciclastic material, carbonates, or mixed carbonate and siliciclastic material.</a:t>
            </a:r>
          </a:p>
          <a:p>
            <a:pPr marL="285750" indent="-285750">
              <a:buFont typeface="Wingdings" panose="05000000000000000000" pitchFamily="2" charset="2"/>
              <a:buChar char="§"/>
            </a:pPr>
            <a:r>
              <a:rPr lang="en-GB" dirty="0"/>
              <a:t>Siliciclastic coastal dune fields typically occur along humid, mid-high latitude coasts.</a:t>
            </a:r>
          </a:p>
          <a:p>
            <a:pPr marL="285750" indent="-285750">
              <a:buFont typeface="Wingdings" panose="05000000000000000000" pitchFamily="2" charset="2"/>
              <a:buChar char="§"/>
            </a:pPr>
            <a:r>
              <a:rPr lang="en-GB" dirty="0"/>
              <a:t>Carbonate dune fields form preferentially along mid-low latitude coasts, especially those bordering productive shallow-marine platforms, which provide an ample supply of carbonate sediment.</a:t>
            </a:r>
          </a:p>
        </p:txBody>
      </p:sp>
      <p:pic>
        <p:nvPicPr>
          <p:cNvPr id="7" name="Picture 6"/>
          <p:cNvPicPr>
            <a:picLocks noChangeAspect="1"/>
          </p:cNvPicPr>
          <p:nvPr/>
        </p:nvPicPr>
        <p:blipFill>
          <a:blip r:embed="rId3"/>
          <a:stretch>
            <a:fillRect/>
          </a:stretch>
        </p:blipFill>
        <p:spPr>
          <a:xfrm>
            <a:off x="80818" y="939351"/>
            <a:ext cx="8996108" cy="5714607"/>
          </a:xfrm>
          <a:prstGeom prst="rect">
            <a:avLst/>
          </a:prstGeom>
        </p:spPr>
      </p:pic>
      <p:sp>
        <p:nvSpPr>
          <p:cNvPr id="8" name="TextBox 7"/>
          <p:cNvSpPr txBox="1"/>
          <p:nvPr/>
        </p:nvSpPr>
        <p:spPr>
          <a:xfrm>
            <a:off x="0" y="6653958"/>
            <a:ext cx="6364224" cy="261610"/>
          </a:xfrm>
          <a:prstGeom prst="rect">
            <a:avLst/>
          </a:prstGeom>
          <a:noFill/>
        </p:spPr>
        <p:txBody>
          <a:bodyPr wrap="square" rtlCol="0">
            <a:spAutoFit/>
          </a:bodyPr>
          <a:lstStyle/>
          <a:p>
            <a:r>
              <a:rPr lang="en-GB" sz="1100" dirty="0"/>
              <a:t>https://www.science.org/content/article/nasa-aircraft-probe-namibian-clouds-solve-global-warming-puzzle</a:t>
            </a:r>
          </a:p>
        </p:txBody>
      </p:sp>
      <p:sp>
        <p:nvSpPr>
          <p:cNvPr id="2" name="TextBox 1"/>
          <p:cNvSpPr txBox="1"/>
          <p:nvPr/>
        </p:nvSpPr>
        <p:spPr>
          <a:xfrm>
            <a:off x="143348" y="1021648"/>
            <a:ext cx="6077527" cy="1477328"/>
          </a:xfrm>
          <a:prstGeom prst="rect">
            <a:avLst/>
          </a:prstGeom>
          <a:noFill/>
        </p:spPr>
        <p:txBody>
          <a:bodyPr wrap="square" rtlCol="0">
            <a:spAutoFit/>
          </a:bodyPr>
          <a:lstStyle/>
          <a:p>
            <a:r>
              <a:rPr lang="en-GB" dirty="0"/>
              <a:t>The Namib Desert borders the South Atlantic Ocean. It stretches along the western coast of Namibia, which is a country located in </a:t>
            </a:r>
            <a:r>
              <a:rPr lang="en-GB" dirty="0" err="1"/>
              <a:t>southwestern</a:t>
            </a:r>
            <a:r>
              <a:rPr lang="en-GB" dirty="0"/>
              <a:t> Africa. The cold waters of the South Atlantic Ocean have a significant influence on the climate and weather patterns of the Namib Desert region.</a:t>
            </a:r>
          </a:p>
        </p:txBody>
      </p:sp>
    </p:spTree>
    <p:extLst>
      <p:ext uri="{BB962C8B-B14F-4D97-AF65-F5344CB8AC3E}">
        <p14:creationId xmlns:p14="http://schemas.microsoft.com/office/powerpoint/2010/main" val="160008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Coastal aeolian environments</a:t>
            </a:r>
          </a:p>
        </p:txBody>
      </p:sp>
      <p:pic>
        <p:nvPicPr>
          <p:cNvPr id="2" name="Picture 1"/>
          <p:cNvPicPr>
            <a:picLocks noChangeAspect="1"/>
          </p:cNvPicPr>
          <p:nvPr/>
        </p:nvPicPr>
        <p:blipFill>
          <a:blip r:embed="rId3"/>
          <a:stretch>
            <a:fillRect/>
          </a:stretch>
        </p:blipFill>
        <p:spPr>
          <a:xfrm>
            <a:off x="80818" y="1021648"/>
            <a:ext cx="6205189" cy="4771047"/>
          </a:xfrm>
          <a:prstGeom prst="rect">
            <a:avLst/>
          </a:prstGeom>
        </p:spPr>
      </p:pic>
      <p:sp>
        <p:nvSpPr>
          <p:cNvPr id="3" name="TextBox 2"/>
          <p:cNvSpPr txBox="1"/>
          <p:nvPr/>
        </p:nvSpPr>
        <p:spPr>
          <a:xfrm>
            <a:off x="0" y="5792695"/>
            <a:ext cx="6205189" cy="830997"/>
          </a:xfrm>
          <a:prstGeom prst="rect">
            <a:avLst/>
          </a:prstGeom>
          <a:noFill/>
        </p:spPr>
        <p:txBody>
          <a:bodyPr wrap="square" rtlCol="0">
            <a:spAutoFit/>
          </a:bodyPr>
          <a:lstStyle/>
          <a:p>
            <a:r>
              <a:rPr lang="en-GB" sz="1200" dirty="0"/>
              <a:t>A)  Changes in coastal siliciclastic sand dunes with distance inland. Modified after www.internetgeography.net. B) A Grey dune in </a:t>
            </a:r>
            <a:r>
              <a:rPr lang="en-GB" sz="1200" dirty="0" err="1"/>
              <a:t>Baleal</a:t>
            </a:r>
            <a:r>
              <a:rPr lang="en-GB" sz="1200" dirty="0"/>
              <a:t>, </a:t>
            </a:r>
            <a:r>
              <a:rPr lang="en-GB" sz="1200" dirty="0" err="1"/>
              <a:t>Peniche</a:t>
            </a:r>
            <a:r>
              <a:rPr lang="en-GB" sz="1200" dirty="0"/>
              <a:t>, Portugal. Image courtesy of </a:t>
            </a:r>
            <a:r>
              <a:rPr lang="en-GB" sz="1200" dirty="0" err="1"/>
              <a:t>Júlio</a:t>
            </a:r>
            <a:r>
              <a:rPr lang="en-GB" sz="1200" dirty="0"/>
              <a:t> Reis (CC BY-SA 3.0). C) A yellow dune with Marram Grass in </a:t>
            </a:r>
            <a:r>
              <a:rPr lang="en-GB" sz="1200" dirty="0" err="1"/>
              <a:t>Grenen</a:t>
            </a:r>
            <a:r>
              <a:rPr lang="en-GB" sz="1200" dirty="0"/>
              <a:t>, Denmark. Image courtesy of </a:t>
            </a:r>
            <a:r>
              <a:rPr lang="en-GB" sz="1200" dirty="0" err="1"/>
              <a:t>Malene</a:t>
            </a:r>
            <a:r>
              <a:rPr lang="en-GB" sz="1200" dirty="0"/>
              <a:t> </a:t>
            </a:r>
            <a:r>
              <a:rPr lang="en-GB" sz="1200" dirty="0" err="1"/>
              <a:t>Thyssen</a:t>
            </a:r>
            <a:r>
              <a:rPr lang="en-GB" sz="1200" dirty="0"/>
              <a:t> (CC BY-SA 3.0)</a:t>
            </a:r>
          </a:p>
        </p:txBody>
      </p:sp>
      <p:pic>
        <p:nvPicPr>
          <p:cNvPr id="9" name="Picture 8"/>
          <p:cNvPicPr>
            <a:picLocks noChangeAspect="1"/>
          </p:cNvPicPr>
          <p:nvPr/>
        </p:nvPicPr>
        <p:blipFill>
          <a:blip r:embed="rId4"/>
          <a:stretch>
            <a:fillRect/>
          </a:stretch>
        </p:blipFill>
        <p:spPr>
          <a:xfrm>
            <a:off x="6286007" y="1014984"/>
            <a:ext cx="5729210" cy="4799762"/>
          </a:xfrm>
          <a:prstGeom prst="rect">
            <a:avLst/>
          </a:prstGeom>
        </p:spPr>
      </p:pic>
      <p:sp>
        <p:nvSpPr>
          <p:cNvPr id="10" name="TextBox 9"/>
          <p:cNvSpPr txBox="1"/>
          <p:nvPr/>
        </p:nvSpPr>
        <p:spPr>
          <a:xfrm>
            <a:off x="6286007" y="5792695"/>
            <a:ext cx="5729210" cy="830997"/>
          </a:xfrm>
          <a:prstGeom prst="rect">
            <a:avLst/>
          </a:prstGeom>
          <a:noFill/>
        </p:spPr>
        <p:txBody>
          <a:bodyPr wrap="square" rtlCol="0">
            <a:spAutoFit/>
          </a:bodyPr>
          <a:lstStyle/>
          <a:p>
            <a:r>
              <a:rPr lang="en-GB" sz="1200" dirty="0"/>
              <a:t> A) </a:t>
            </a:r>
            <a:r>
              <a:rPr lang="en-GB" sz="1200" dirty="0" err="1"/>
              <a:t>Aeolianite</a:t>
            </a:r>
            <a:r>
              <a:rPr lang="en-GB" sz="1200" dirty="0"/>
              <a:t>, </a:t>
            </a:r>
            <a:r>
              <a:rPr lang="en-GB" sz="1200" dirty="0" err="1"/>
              <a:t>Aikerness</a:t>
            </a:r>
            <a:r>
              <a:rPr lang="en-GB" sz="1200" dirty="0"/>
              <a:t> on the island of Orkney, Scotland. Image courtesy of  W. L. </a:t>
            </a:r>
            <a:r>
              <a:rPr lang="en-GB" sz="1200" dirty="0" err="1"/>
              <a:t>Tarbert</a:t>
            </a:r>
            <a:r>
              <a:rPr lang="en-GB" sz="1200" dirty="0"/>
              <a:t> (CC BY-SA 3.0). B) Holocene </a:t>
            </a:r>
            <a:r>
              <a:rPr lang="en-GB" sz="1200" dirty="0" err="1"/>
              <a:t>aeolianite</a:t>
            </a:r>
            <a:r>
              <a:rPr lang="en-GB" sz="1200" dirty="0"/>
              <a:t>, Long Island, Bahamas. Image courtesy of Mark A. Wilson. C) </a:t>
            </a:r>
            <a:r>
              <a:rPr lang="en-GB" sz="1200" dirty="0" err="1"/>
              <a:t>Aeolianite</a:t>
            </a:r>
            <a:r>
              <a:rPr lang="en-GB" sz="1200" dirty="0"/>
              <a:t>, Horseshoe Bay, Bermuda. Image courtesy of Pi3.124 (CC BY-SA 4.0).</a:t>
            </a:r>
          </a:p>
        </p:txBody>
      </p:sp>
    </p:spTree>
    <p:extLst>
      <p:ext uri="{BB962C8B-B14F-4D97-AF65-F5344CB8AC3E}">
        <p14:creationId xmlns:p14="http://schemas.microsoft.com/office/powerpoint/2010/main" val="2970005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Non-desert aeolian environments</a:t>
            </a:r>
          </a:p>
        </p:txBody>
      </p:sp>
      <p:sp>
        <p:nvSpPr>
          <p:cNvPr id="6" name="TextBox 5"/>
          <p:cNvSpPr txBox="1"/>
          <p:nvPr/>
        </p:nvSpPr>
        <p:spPr>
          <a:xfrm>
            <a:off x="8860536" y="875344"/>
            <a:ext cx="3191256" cy="6001643"/>
          </a:xfrm>
          <a:prstGeom prst="rect">
            <a:avLst/>
          </a:prstGeom>
          <a:noFill/>
        </p:spPr>
        <p:txBody>
          <a:bodyPr wrap="square" rtlCol="0">
            <a:spAutoFit/>
          </a:bodyPr>
          <a:lstStyle/>
          <a:p>
            <a:pPr marL="285750" indent="-285750">
              <a:buFont typeface="Wingdings" panose="05000000000000000000" pitchFamily="2" charset="2"/>
              <a:buChar char="§"/>
            </a:pPr>
            <a:r>
              <a:rPr lang="en-GB" sz="1600" dirty="0"/>
              <a:t>Aeolian processes are also widespread in many humid settings where there exists a surfeit of sediment available for transport and   the wind velocity is sufficiently great to overcome resistive forces induced by the presence of moisture on sediment surfaces. </a:t>
            </a:r>
          </a:p>
          <a:p>
            <a:pPr marL="285750" indent="-285750">
              <a:buFont typeface="Wingdings" panose="05000000000000000000" pitchFamily="2" charset="2"/>
              <a:buChar char="§"/>
            </a:pPr>
            <a:r>
              <a:rPr lang="en-GB" sz="1600" dirty="0"/>
              <a:t>Notable this includes pro-glacial regions (McKenna-</a:t>
            </a:r>
            <a:r>
              <a:rPr lang="en-GB" sz="1600" dirty="0" err="1"/>
              <a:t>Neuman</a:t>
            </a:r>
            <a:r>
              <a:rPr lang="en-GB" sz="1600" dirty="0"/>
              <a:t> &amp; Gilbert, 1986). </a:t>
            </a:r>
          </a:p>
          <a:p>
            <a:pPr marL="285750" indent="-285750">
              <a:buFont typeface="Wingdings" panose="05000000000000000000" pitchFamily="2" charset="2"/>
              <a:buChar char="§"/>
            </a:pPr>
            <a:r>
              <a:rPr lang="en-GB" sz="1600" dirty="0"/>
              <a:t>In many humid settings, however, the presence of vegetation can have a stabilizing effect on depositional surfaces, thus inhibiting aeolian processes.  </a:t>
            </a:r>
            <a:r>
              <a:rPr lang="en-GB" sz="1600" dirty="0">
                <a:effectLst/>
              </a:rPr>
              <a:t> </a:t>
            </a:r>
            <a:r>
              <a:rPr lang="en-GB" sz="1600" dirty="0"/>
              <a:t> </a:t>
            </a:r>
          </a:p>
          <a:p>
            <a:pPr marL="285750" indent="-285750">
              <a:buFont typeface="Wingdings" panose="05000000000000000000" pitchFamily="2" charset="2"/>
              <a:buChar char="§"/>
            </a:pPr>
            <a:r>
              <a:rPr lang="en-GB" sz="1600" dirty="0"/>
              <a:t>In the example here, high wind speeds enable significant aeolian sand transport, despite the overall humid climate setting and a generally high water-table level.</a:t>
            </a:r>
          </a:p>
        </p:txBody>
      </p:sp>
      <p:pic>
        <p:nvPicPr>
          <p:cNvPr id="2" name="Picture 1"/>
          <p:cNvPicPr>
            <a:picLocks noChangeAspect="1"/>
          </p:cNvPicPr>
          <p:nvPr/>
        </p:nvPicPr>
        <p:blipFill>
          <a:blip r:embed="rId3"/>
          <a:stretch>
            <a:fillRect/>
          </a:stretch>
        </p:blipFill>
        <p:spPr>
          <a:xfrm>
            <a:off x="138380" y="1021648"/>
            <a:ext cx="8722155" cy="5516312"/>
          </a:xfrm>
          <a:prstGeom prst="rect">
            <a:avLst/>
          </a:prstGeom>
        </p:spPr>
      </p:pic>
    </p:spTree>
    <p:extLst>
      <p:ext uri="{BB962C8B-B14F-4D97-AF65-F5344CB8AC3E}">
        <p14:creationId xmlns:p14="http://schemas.microsoft.com/office/powerpoint/2010/main" val="3376544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Extra-terrestrial aeolian environments</a:t>
            </a:r>
          </a:p>
        </p:txBody>
      </p:sp>
      <p:sp>
        <p:nvSpPr>
          <p:cNvPr id="6" name="TextBox 5"/>
          <p:cNvSpPr txBox="1"/>
          <p:nvPr/>
        </p:nvSpPr>
        <p:spPr>
          <a:xfrm>
            <a:off x="9259435" y="995206"/>
            <a:ext cx="2673966" cy="5355312"/>
          </a:xfrm>
          <a:prstGeom prst="rect">
            <a:avLst/>
          </a:prstGeom>
          <a:noFill/>
        </p:spPr>
        <p:txBody>
          <a:bodyPr wrap="square" rtlCol="0">
            <a:spAutoFit/>
          </a:bodyPr>
          <a:lstStyle/>
          <a:p>
            <a:pPr marL="285750" indent="-285750">
              <a:buFont typeface="Wingdings" panose="05000000000000000000" pitchFamily="2" charset="2"/>
              <a:buChar char="§"/>
            </a:pPr>
            <a:r>
              <a:rPr lang="en-GB" dirty="0"/>
              <a:t>Extra-terrestrial aeolian environments are not limited to planets alone. They exist on various celestial bodies, including Mars, Venus, Earth's Moon, Titan (Saturn's moon), and asteroids like Eros and Itokawa.</a:t>
            </a:r>
          </a:p>
          <a:p>
            <a:pPr marL="285750" indent="-285750">
              <a:buFont typeface="Wingdings" panose="05000000000000000000" pitchFamily="2" charset="2"/>
              <a:buChar char="§"/>
            </a:pPr>
            <a:r>
              <a:rPr lang="en-GB" dirty="0"/>
              <a:t>Active aeolian bedforms of the Bagnold dune field (35 km long, by 2 km wide) in the Gale crater have been investigated in detail by the NASA Curiosity Rover.</a:t>
            </a:r>
          </a:p>
          <a:p>
            <a:pPr marL="285750" indent="-285750">
              <a:buFont typeface="Wingdings" panose="05000000000000000000" pitchFamily="2" charset="2"/>
              <a:buChar char="§"/>
            </a:pPr>
            <a:endParaRPr lang="en-GB" dirty="0"/>
          </a:p>
        </p:txBody>
      </p:sp>
      <p:pic>
        <p:nvPicPr>
          <p:cNvPr id="7" name="Picture 6"/>
          <p:cNvPicPr>
            <a:picLocks noChangeAspect="1"/>
          </p:cNvPicPr>
          <p:nvPr/>
        </p:nvPicPr>
        <p:blipFill>
          <a:blip r:embed="rId3"/>
          <a:stretch>
            <a:fillRect/>
          </a:stretch>
        </p:blipFill>
        <p:spPr>
          <a:xfrm>
            <a:off x="169655" y="1021648"/>
            <a:ext cx="9074815" cy="5671760"/>
          </a:xfrm>
          <a:prstGeom prst="rect">
            <a:avLst/>
          </a:prstGeom>
        </p:spPr>
      </p:pic>
      <p:sp>
        <p:nvSpPr>
          <p:cNvPr id="8" name="TextBox 7"/>
          <p:cNvSpPr txBox="1"/>
          <p:nvPr/>
        </p:nvSpPr>
        <p:spPr>
          <a:xfrm>
            <a:off x="246888" y="1062562"/>
            <a:ext cx="2852928" cy="923330"/>
          </a:xfrm>
          <a:prstGeom prst="rect">
            <a:avLst/>
          </a:prstGeom>
          <a:noFill/>
        </p:spPr>
        <p:txBody>
          <a:bodyPr wrap="square" rtlCol="0">
            <a:spAutoFit/>
          </a:bodyPr>
          <a:lstStyle/>
          <a:p>
            <a:r>
              <a:rPr lang="en-GB" dirty="0" err="1"/>
              <a:t>HiRise</a:t>
            </a:r>
            <a:r>
              <a:rPr lang="en-GB" dirty="0"/>
              <a:t> false colour image of </a:t>
            </a:r>
            <a:r>
              <a:rPr lang="en-GB" dirty="0" err="1"/>
              <a:t>barchan</a:t>
            </a:r>
            <a:r>
              <a:rPr lang="en-GB" dirty="0"/>
              <a:t> dunes on Mars</a:t>
            </a:r>
          </a:p>
          <a:p>
            <a:r>
              <a:rPr lang="en-GB" dirty="0"/>
              <a:t>(Image: NASA-PIA17981)</a:t>
            </a:r>
          </a:p>
        </p:txBody>
      </p:sp>
    </p:spTree>
    <p:extLst>
      <p:ext uri="{BB962C8B-B14F-4D97-AF65-F5344CB8AC3E}">
        <p14:creationId xmlns:p14="http://schemas.microsoft.com/office/powerpoint/2010/main" val="468251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loess environments</a:t>
            </a:r>
          </a:p>
        </p:txBody>
      </p:sp>
      <p:sp>
        <p:nvSpPr>
          <p:cNvPr id="2" name="TextBox 1"/>
          <p:cNvSpPr txBox="1"/>
          <p:nvPr/>
        </p:nvSpPr>
        <p:spPr>
          <a:xfrm>
            <a:off x="6259358" y="870856"/>
            <a:ext cx="5849513" cy="7017306"/>
          </a:xfrm>
          <a:prstGeom prst="rect">
            <a:avLst/>
          </a:prstGeom>
          <a:noFill/>
        </p:spPr>
        <p:txBody>
          <a:bodyPr wrap="square" rtlCol="0">
            <a:spAutoFit/>
          </a:bodyPr>
          <a:lstStyle/>
          <a:p>
            <a:pPr marL="285750" indent="-285750">
              <a:buFont typeface="Wingdings" panose="05000000000000000000" pitchFamily="2" charset="2"/>
              <a:buChar char="§"/>
            </a:pPr>
            <a:r>
              <a:rPr lang="en-GB" dirty="0"/>
              <a:t>Loess is composed of fine, wind-blown silt and clay particles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Loess deposits are found in various regions around the world, but they are most commonly associated with areas that have experienced extensive glacial activity during past ice ages.</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Prominent loess regions include the American Midwest, the Loess Plateau in China, the Russian steppes, and parts of Europe.</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 Loess formation typically occurs in areas where strong winds carry fine-grained sediment from exposed surfaces, such as glacial outwash plains, river valleys, and deserts.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Loess is known for its high fertility due to its mineral-rich composition and ability to retain moisture. Despite its fertility, loess can be vulnerable to erosion, especially when exposed by agricultural practices or construction activities. </a:t>
            </a:r>
          </a:p>
          <a:p>
            <a:pPr algn="ctr"/>
            <a:endParaRPr lang="en-GB" dirty="0"/>
          </a:p>
          <a:p>
            <a:pPr algn="ctr"/>
            <a:endParaRPr lang="en-GB" dirty="0"/>
          </a:p>
          <a:p>
            <a:pPr algn="ctr"/>
            <a:endParaRPr lang="en-GB" dirty="0"/>
          </a:p>
          <a:p>
            <a:pPr algn="ctr"/>
            <a:endParaRPr lang="en-GB" dirty="0"/>
          </a:p>
        </p:txBody>
      </p:sp>
      <p:pic>
        <p:nvPicPr>
          <p:cNvPr id="6" name="Picture 5"/>
          <p:cNvPicPr>
            <a:picLocks noChangeAspect="1"/>
          </p:cNvPicPr>
          <p:nvPr/>
        </p:nvPicPr>
        <p:blipFill>
          <a:blip r:embed="rId3"/>
          <a:stretch>
            <a:fillRect/>
          </a:stretch>
        </p:blipFill>
        <p:spPr>
          <a:xfrm>
            <a:off x="80818" y="957639"/>
            <a:ext cx="6155390" cy="5584999"/>
          </a:xfrm>
          <a:prstGeom prst="rect">
            <a:avLst/>
          </a:prstGeom>
        </p:spPr>
      </p:pic>
      <p:sp>
        <p:nvSpPr>
          <p:cNvPr id="7" name="TextBox 6"/>
          <p:cNvSpPr txBox="1"/>
          <p:nvPr/>
        </p:nvSpPr>
        <p:spPr>
          <a:xfrm>
            <a:off x="80818" y="1021648"/>
            <a:ext cx="1517904" cy="646331"/>
          </a:xfrm>
          <a:prstGeom prst="rect">
            <a:avLst/>
          </a:prstGeom>
          <a:noFill/>
        </p:spPr>
        <p:txBody>
          <a:bodyPr wrap="square" rtlCol="0">
            <a:spAutoFit/>
          </a:bodyPr>
          <a:lstStyle/>
          <a:p>
            <a:r>
              <a:rPr lang="en-GB" dirty="0"/>
              <a:t>Chinese Loess Plateau</a:t>
            </a:r>
          </a:p>
        </p:txBody>
      </p:sp>
      <p:sp>
        <p:nvSpPr>
          <p:cNvPr id="8" name="TextBox 7"/>
          <p:cNvSpPr txBox="1"/>
          <p:nvPr/>
        </p:nvSpPr>
        <p:spPr>
          <a:xfrm>
            <a:off x="57668" y="6542639"/>
            <a:ext cx="5968228" cy="430887"/>
          </a:xfrm>
          <a:prstGeom prst="rect">
            <a:avLst/>
          </a:prstGeom>
          <a:noFill/>
        </p:spPr>
        <p:txBody>
          <a:bodyPr wrap="square" rtlCol="0">
            <a:spAutoFit/>
          </a:bodyPr>
          <a:lstStyle/>
          <a:p>
            <a:r>
              <a:rPr lang="en-GB" sz="1100" dirty="0"/>
              <a:t>Image by I, Till </a:t>
            </a:r>
            <a:r>
              <a:rPr lang="en-GB" sz="1100" dirty="0" err="1"/>
              <a:t>Niermann</a:t>
            </a:r>
            <a:r>
              <a:rPr lang="en-GB" sz="1100" dirty="0"/>
              <a:t>, CC BY-SA 3.0, https://commons.wikimedia.org/w/index.php?curid=2299288</a:t>
            </a:r>
          </a:p>
          <a:p>
            <a:endParaRPr lang="en-GB" sz="1100" dirty="0"/>
          </a:p>
        </p:txBody>
      </p:sp>
    </p:spTree>
    <p:extLst>
      <p:ext uri="{BB962C8B-B14F-4D97-AF65-F5344CB8AC3E}">
        <p14:creationId xmlns:p14="http://schemas.microsoft.com/office/powerpoint/2010/main" val="3332064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contributions to other systems</a:t>
            </a:r>
          </a:p>
        </p:txBody>
      </p:sp>
      <p:sp>
        <p:nvSpPr>
          <p:cNvPr id="2" name="TextBox 1"/>
          <p:cNvSpPr txBox="1"/>
          <p:nvPr/>
        </p:nvSpPr>
        <p:spPr>
          <a:xfrm>
            <a:off x="7434073" y="1098566"/>
            <a:ext cx="4681728" cy="5909310"/>
          </a:xfrm>
          <a:prstGeom prst="rect">
            <a:avLst/>
          </a:prstGeom>
          <a:noFill/>
        </p:spPr>
        <p:txBody>
          <a:bodyPr wrap="square" rtlCol="0">
            <a:spAutoFit/>
          </a:bodyPr>
          <a:lstStyle/>
          <a:p>
            <a:pPr marL="285750" indent="-285750">
              <a:buFont typeface="Wingdings" panose="05000000000000000000" pitchFamily="2" charset="2"/>
              <a:buChar char="§"/>
            </a:pPr>
            <a:r>
              <a:rPr lang="en-GB" dirty="0"/>
              <a:t>Aeolian transport of dust occurs where strong winds lift and carry large amounts of dust in the atmosphere, typically in arid or semi-arid regions with loose, dry soil or sandy terrain.</a:t>
            </a:r>
          </a:p>
          <a:p>
            <a:pPr marL="285750" indent="-285750">
              <a:buFont typeface="Wingdings" panose="05000000000000000000" pitchFamily="2" charset="2"/>
              <a:buChar char="§"/>
            </a:pPr>
            <a:r>
              <a:rPr lang="en-GB" dirty="0"/>
              <a:t>Dust can reach atmospheric concentrations in excess of 6000 </a:t>
            </a:r>
            <a:r>
              <a:rPr lang="en-GB" dirty="0" err="1"/>
              <a:t>μg</a:t>
            </a:r>
            <a:r>
              <a:rPr lang="en-GB" dirty="0"/>
              <a:t> m−3 in severe events (Song et al ., 2007). </a:t>
            </a:r>
          </a:p>
          <a:p>
            <a:pPr marL="285750" indent="-285750">
              <a:buFont typeface="Wingdings" panose="05000000000000000000" pitchFamily="2" charset="2"/>
              <a:buChar char="§"/>
            </a:pPr>
            <a:r>
              <a:rPr lang="en-GB" dirty="0"/>
              <a:t>Dust storms can have significant societal impacts, including reduced visibility and transportation disruptions, reduced productivity in agricultural regions, and dust-related respiratory diseases. </a:t>
            </a:r>
          </a:p>
          <a:p>
            <a:pPr marL="285750" indent="-285750">
              <a:buFont typeface="Wingdings" panose="05000000000000000000" pitchFamily="2" charset="2"/>
              <a:buChar char="§"/>
            </a:pPr>
            <a:r>
              <a:rPr lang="en-GB" dirty="0"/>
              <a:t>Sand and dust storms play an important role in ocean fertilization (Han et al., 2008), carrying significant amounts of nutrient-rich dust particles into the ocean, which can stimulate the growth of phytoplankton – the primary producers in the oceanic food chain. This process is known as ocean fertilization.</a:t>
            </a:r>
          </a:p>
          <a:p>
            <a:r>
              <a:rPr lang="en-GB" dirty="0"/>
              <a:t> </a:t>
            </a:r>
          </a:p>
        </p:txBody>
      </p:sp>
      <p:pic>
        <p:nvPicPr>
          <p:cNvPr id="3" name="Picture 2"/>
          <p:cNvPicPr>
            <a:picLocks noChangeAspect="1"/>
          </p:cNvPicPr>
          <p:nvPr/>
        </p:nvPicPr>
        <p:blipFill>
          <a:blip r:embed="rId3"/>
          <a:stretch>
            <a:fillRect/>
          </a:stretch>
        </p:blipFill>
        <p:spPr>
          <a:xfrm>
            <a:off x="80818" y="1021648"/>
            <a:ext cx="7353255" cy="5616896"/>
          </a:xfrm>
          <a:prstGeom prst="rect">
            <a:avLst/>
          </a:prstGeom>
        </p:spPr>
      </p:pic>
      <p:sp>
        <p:nvSpPr>
          <p:cNvPr id="6" name="TextBox 5"/>
          <p:cNvSpPr txBox="1"/>
          <p:nvPr/>
        </p:nvSpPr>
        <p:spPr>
          <a:xfrm>
            <a:off x="164592" y="5715214"/>
            <a:ext cx="3044952" cy="923330"/>
          </a:xfrm>
          <a:prstGeom prst="rect">
            <a:avLst/>
          </a:prstGeom>
          <a:noFill/>
        </p:spPr>
        <p:txBody>
          <a:bodyPr wrap="square" rtlCol="0">
            <a:spAutoFit/>
          </a:bodyPr>
          <a:lstStyle/>
          <a:p>
            <a:r>
              <a:rPr lang="en-GB" dirty="0">
                <a:solidFill>
                  <a:schemeClr val="bg1"/>
                </a:solidFill>
              </a:rPr>
              <a:t>Dust storm from the Namib Desert. Image from </a:t>
            </a:r>
            <a:r>
              <a:rPr lang="en-GB" dirty="0" err="1">
                <a:solidFill>
                  <a:schemeClr val="bg1"/>
                </a:solidFill>
              </a:rPr>
              <a:t>Pfiz</a:t>
            </a:r>
            <a:r>
              <a:rPr lang="en-GB" dirty="0">
                <a:solidFill>
                  <a:schemeClr val="bg1"/>
                </a:solidFill>
              </a:rPr>
              <a:t> et al. (2010)</a:t>
            </a:r>
          </a:p>
        </p:txBody>
      </p:sp>
    </p:spTree>
    <p:extLst>
      <p:ext uri="{BB962C8B-B14F-4D97-AF65-F5344CB8AC3E}">
        <p14:creationId xmlns:p14="http://schemas.microsoft.com/office/powerpoint/2010/main" val="196643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contributions to other systems</a:t>
            </a:r>
          </a:p>
        </p:txBody>
      </p:sp>
      <p:sp>
        <p:nvSpPr>
          <p:cNvPr id="2" name="TextBox 1"/>
          <p:cNvSpPr txBox="1"/>
          <p:nvPr/>
        </p:nvSpPr>
        <p:spPr>
          <a:xfrm>
            <a:off x="5883564" y="1021648"/>
            <a:ext cx="6114471" cy="5355312"/>
          </a:xfrm>
          <a:prstGeom prst="rect">
            <a:avLst/>
          </a:prstGeom>
          <a:noFill/>
        </p:spPr>
        <p:txBody>
          <a:bodyPr wrap="square" rtlCol="0">
            <a:spAutoFit/>
          </a:bodyPr>
          <a:lstStyle/>
          <a:p>
            <a:pPr marL="285750" indent="-285750">
              <a:buFont typeface="Wingdings" panose="05000000000000000000" pitchFamily="2" charset="2"/>
              <a:buChar char="§"/>
            </a:pPr>
            <a:r>
              <a:rPr lang="en-GB" dirty="0"/>
              <a:t>Aeolian transport of volcanic ash can occur over 100s – 1000s km, depending on eruption magnitude, wind patterns, and atmospheric conditions.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Fine ash particles (&lt;0.1 mm) can remain airborne for extended periods and be transported over vast distances, while coarser particles tend to settle closer to the source of eruption.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Particle density and shape influence the settling velocity and suspension characteristics of volcanic ash.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Lighter, more irregularly shaped particles have greater potential for prolonged suspension and long-distance transport.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Ash plumes can spread across entire regions or even continents, affecting air quality, visibility, and human activities. </a:t>
            </a:r>
          </a:p>
        </p:txBody>
      </p:sp>
      <p:pic>
        <p:nvPicPr>
          <p:cNvPr id="3" name="Picture 2"/>
          <p:cNvPicPr>
            <a:picLocks noChangeAspect="1"/>
          </p:cNvPicPr>
          <p:nvPr/>
        </p:nvPicPr>
        <p:blipFill>
          <a:blip r:embed="rId3"/>
          <a:stretch>
            <a:fillRect/>
          </a:stretch>
        </p:blipFill>
        <p:spPr>
          <a:xfrm>
            <a:off x="132230" y="994233"/>
            <a:ext cx="5591914" cy="2821686"/>
          </a:xfrm>
          <a:prstGeom prst="rect">
            <a:avLst/>
          </a:prstGeom>
        </p:spPr>
      </p:pic>
      <p:sp>
        <p:nvSpPr>
          <p:cNvPr id="6" name="TextBox 5"/>
          <p:cNvSpPr txBox="1"/>
          <p:nvPr/>
        </p:nvSpPr>
        <p:spPr>
          <a:xfrm>
            <a:off x="80818" y="3758558"/>
            <a:ext cx="3145536" cy="261610"/>
          </a:xfrm>
          <a:prstGeom prst="rect">
            <a:avLst/>
          </a:prstGeom>
          <a:noFill/>
        </p:spPr>
        <p:txBody>
          <a:bodyPr wrap="square" rtlCol="0">
            <a:spAutoFit/>
          </a:bodyPr>
          <a:lstStyle/>
          <a:p>
            <a:r>
              <a:rPr lang="en-GB" sz="1100" cap="all" dirty="0"/>
              <a:t>WIKIIMAGES/PIXABAY.COM</a:t>
            </a:r>
            <a:endParaRPr lang="en-GB" sz="1100" dirty="0"/>
          </a:p>
        </p:txBody>
      </p:sp>
      <p:pic>
        <p:nvPicPr>
          <p:cNvPr id="7" name="Picture 6"/>
          <p:cNvPicPr>
            <a:picLocks noChangeAspect="1"/>
          </p:cNvPicPr>
          <p:nvPr/>
        </p:nvPicPr>
        <p:blipFill>
          <a:blip r:embed="rId4"/>
          <a:stretch>
            <a:fillRect/>
          </a:stretch>
        </p:blipFill>
        <p:spPr>
          <a:xfrm>
            <a:off x="132230" y="3965304"/>
            <a:ext cx="5591914" cy="2688655"/>
          </a:xfrm>
          <a:prstGeom prst="rect">
            <a:avLst/>
          </a:prstGeom>
        </p:spPr>
      </p:pic>
      <p:sp>
        <p:nvSpPr>
          <p:cNvPr id="8" name="TextBox 7"/>
          <p:cNvSpPr txBox="1"/>
          <p:nvPr/>
        </p:nvSpPr>
        <p:spPr>
          <a:xfrm>
            <a:off x="80818" y="6596390"/>
            <a:ext cx="4974336" cy="261610"/>
          </a:xfrm>
          <a:prstGeom prst="rect">
            <a:avLst/>
          </a:prstGeom>
          <a:noFill/>
        </p:spPr>
        <p:txBody>
          <a:bodyPr wrap="square" rtlCol="0">
            <a:spAutoFit/>
          </a:bodyPr>
          <a:lstStyle/>
          <a:p>
            <a:r>
              <a:rPr lang="en-GB" sz="1100" dirty="0"/>
              <a:t>https://kuwaittimes.com/indonesian-volcano-erupts-again-spewing-ash-cloud/</a:t>
            </a:r>
          </a:p>
        </p:txBody>
      </p:sp>
    </p:spTree>
    <p:extLst>
      <p:ext uri="{BB962C8B-B14F-4D97-AF65-F5344CB8AC3E}">
        <p14:creationId xmlns:p14="http://schemas.microsoft.com/office/powerpoint/2010/main" val="2751192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en the Sahara Was Green by Martin Williams review – the sands of time |  Science and nature books | The Guardian">
            <a:extLst>
              <a:ext uri="{FF2B5EF4-FFF2-40B4-BE49-F238E27FC236}">
                <a16:creationId xmlns:a16="http://schemas.microsoft.com/office/drawing/2014/main" id="{825F375D-D9E0-B143-C360-EF15B14131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0"/>
            <a:ext cx="12228944" cy="6858000"/>
          </a:xfrm>
          <a:prstGeom prst="rect">
            <a:avLst/>
          </a:prstGeom>
          <a:solidFill>
            <a:schemeClr val="bg2">
              <a:alpha val="58000"/>
            </a:schemeClr>
          </a:solidFill>
          <a:ln>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Box 10">
            <a:extLst>
              <a:ext uri="{FF2B5EF4-FFF2-40B4-BE49-F238E27FC236}">
                <a16:creationId xmlns:a16="http://schemas.microsoft.com/office/drawing/2014/main" id="{8C2C7ECF-B667-4009-BB69-AD6C5CDCFE78}"/>
              </a:ext>
            </a:extLst>
          </p:cNvPr>
          <p:cNvSpPr txBox="1">
            <a:spLocks noChangeArrowheads="1"/>
          </p:cNvSpPr>
          <p:nvPr/>
        </p:nvSpPr>
        <p:spPr bwMode="auto">
          <a:xfrm>
            <a:off x="326136" y="2042021"/>
            <a:ext cx="115397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ctr" eaLnBrk="1" hangingPunct="1">
              <a:spcBef>
                <a:spcPct val="50000"/>
              </a:spcBef>
            </a:pPr>
            <a:endParaRPr lang="en-GB" altLang="en-US" sz="1800" b="1" dirty="0">
              <a:latin typeface="Arial" panose="020B0604020202020204" pitchFamily="34" charset="0"/>
            </a:endParaRPr>
          </a:p>
          <a:p>
            <a:pPr algn="ctr" eaLnBrk="1" hangingPunct="1">
              <a:spcBef>
                <a:spcPct val="50000"/>
              </a:spcBef>
              <a:buFontTx/>
              <a:buChar char="•"/>
            </a:pPr>
            <a:r>
              <a:rPr lang="en-GB" altLang="en-US" b="1" dirty="0">
                <a:solidFill>
                  <a:schemeClr val="bg2">
                    <a:lumMod val="90000"/>
                  </a:schemeClr>
                </a:solidFill>
                <a:latin typeface="Arial" panose="020B0604020202020204" pitchFamily="34" charset="0"/>
              </a:rPr>
              <a:t>What are aeolian transport processes and where do they operate?</a:t>
            </a:r>
          </a:p>
          <a:p>
            <a:pPr marL="0" indent="0" algn="ctr" eaLnBrk="1" hangingPunct="1">
              <a:spcBef>
                <a:spcPct val="50000"/>
              </a:spcBef>
            </a:pPr>
            <a:endParaRPr lang="en-GB" altLang="en-US" b="1" dirty="0">
              <a:latin typeface="Arial" panose="020B0604020202020204" pitchFamily="34" charset="0"/>
            </a:endParaRPr>
          </a:p>
          <a:p>
            <a:pPr algn="ctr" eaLnBrk="1" hangingPunct="1">
              <a:spcBef>
                <a:spcPct val="50000"/>
              </a:spcBef>
              <a:buFontTx/>
              <a:buChar char="•"/>
            </a:pPr>
            <a:r>
              <a:rPr lang="en-GB" altLang="en-US" b="1" dirty="0">
                <a:latin typeface="Arial" panose="020B0604020202020204" pitchFamily="34" charset="0"/>
              </a:rPr>
              <a:t>How do aeolian bedforms develop?</a:t>
            </a:r>
          </a:p>
          <a:p>
            <a:pPr algn="ctr" eaLnBrk="1" hangingPunct="1">
              <a:spcBef>
                <a:spcPct val="50000"/>
              </a:spcBef>
              <a:buFontTx/>
              <a:buChar char="•"/>
            </a:pPr>
            <a:endParaRPr lang="en-GB" altLang="en-US" b="1" dirty="0">
              <a:solidFill>
                <a:schemeClr val="bg2">
                  <a:lumMod val="90000"/>
                </a:schemeClr>
              </a:solidFill>
              <a:latin typeface="Arial" panose="020B0604020202020204" pitchFamily="34" charset="0"/>
            </a:endParaRPr>
          </a:p>
          <a:p>
            <a:pPr algn="ctr" eaLnBrk="1" hangingPunct="1">
              <a:spcBef>
                <a:spcPct val="50000"/>
              </a:spcBef>
              <a:buFontTx/>
              <a:buChar char="•"/>
            </a:pPr>
            <a:r>
              <a:rPr lang="en-GB" altLang="en-US" b="1" dirty="0">
                <a:solidFill>
                  <a:schemeClr val="bg2">
                    <a:lumMod val="90000"/>
                  </a:schemeClr>
                </a:solidFill>
                <a:latin typeface="Arial" panose="020B0604020202020204" pitchFamily="34" charset="0"/>
              </a:rPr>
              <a:t>How do migrating bedforms in active dune fields form sediment accumulations?</a:t>
            </a:r>
          </a:p>
          <a:p>
            <a:pPr algn="ctr" eaLnBrk="1" hangingPunct="1">
              <a:spcBef>
                <a:spcPct val="50000"/>
              </a:spcBef>
              <a:buFontTx/>
              <a:buChar char="•"/>
            </a:pPr>
            <a:endParaRPr lang="en-GB" altLang="en-US" b="1" dirty="0">
              <a:latin typeface="Arial" panose="020B0604020202020204" pitchFamily="34" charset="0"/>
            </a:endParaRPr>
          </a:p>
        </p:txBody>
      </p:sp>
      <p:sp>
        <p:nvSpPr>
          <p:cNvPr id="6" name="Rectangle 5">
            <a:extLst>
              <a:ext uri="{FF2B5EF4-FFF2-40B4-BE49-F238E27FC236}">
                <a16:creationId xmlns:a16="http://schemas.microsoft.com/office/drawing/2014/main" id="{EC34CCD6-3989-E4A4-07FB-2C4D03A1045F}"/>
              </a:ext>
            </a:extLst>
          </p:cNvPr>
          <p:cNvSpPr/>
          <p:nvPr/>
        </p:nvSpPr>
        <p:spPr>
          <a:xfrm>
            <a:off x="1373393" y="0"/>
            <a:ext cx="9964966" cy="2123658"/>
          </a:xfrm>
          <a:prstGeom prst="rect">
            <a:avLst/>
          </a:prstGeom>
          <a:noFill/>
        </p:spPr>
        <p:txBody>
          <a:bodyPr wrap="square" lIns="91440" tIns="45720" rIns="91440" bIns="45720">
            <a:spAutoFit/>
          </a:bodyPr>
          <a:lstStyle/>
          <a:p>
            <a:pPr algn="ctr"/>
            <a:r>
              <a:rPr lang="en-GB" sz="6600" b="1" cap="none" spc="0" dirty="0">
                <a:ln w="0"/>
                <a:solidFill>
                  <a:schemeClr val="bg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Aeolian Systems: Processes and Deposits</a:t>
            </a:r>
          </a:p>
        </p:txBody>
      </p:sp>
    </p:spTree>
    <p:extLst>
      <p:ext uri="{BB962C8B-B14F-4D97-AF65-F5344CB8AC3E}">
        <p14:creationId xmlns:p14="http://schemas.microsoft.com/office/powerpoint/2010/main" val="2224168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945" y="5989456"/>
            <a:ext cx="11840695" cy="819274"/>
          </a:xfrm>
        </p:spPr>
        <p:txBody>
          <a:bodyPr>
            <a:normAutofit fontScale="62500" lnSpcReduction="20000"/>
          </a:bodyPr>
          <a:lstStyle/>
          <a:p>
            <a:pPr marL="0" indent="0">
              <a:buNone/>
            </a:pPr>
            <a:r>
              <a:rPr lang="en-GB" dirty="0"/>
              <a:t>Three distinct scales of aeolian bedform that commonly occur on Earth: ripples, dunes and </a:t>
            </a:r>
            <a:r>
              <a:rPr lang="en-GB" dirty="0" err="1"/>
              <a:t>megadunes</a:t>
            </a:r>
            <a:r>
              <a:rPr lang="en-GB" dirty="0"/>
              <a:t> (</a:t>
            </a:r>
            <a:r>
              <a:rPr lang="en-GB" dirty="0" err="1"/>
              <a:t>draa</a:t>
            </a:r>
            <a:r>
              <a:rPr lang="en-GB" dirty="0"/>
              <a:t>). A) Grainsize (coarsest twenty-percentile) versus wavelength for aeolian bedforms. Modified after Wilson (1972). Note that bedforms developed at scales between the three fields depicted in the graph do occur on Earth, but are less common.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a:t>
            </a:r>
          </a:p>
        </p:txBody>
      </p:sp>
      <p:pic>
        <p:nvPicPr>
          <p:cNvPr id="2" name="Picture 1"/>
          <p:cNvPicPr>
            <a:picLocks noChangeAspect="1"/>
          </p:cNvPicPr>
          <p:nvPr/>
        </p:nvPicPr>
        <p:blipFill>
          <a:blip r:embed="rId3"/>
          <a:stretch>
            <a:fillRect/>
          </a:stretch>
        </p:blipFill>
        <p:spPr>
          <a:xfrm>
            <a:off x="137945" y="942047"/>
            <a:ext cx="11916110" cy="4976218"/>
          </a:xfrm>
          <a:prstGeom prst="rect">
            <a:avLst/>
          </a:prstGeom>
        </p:spPr>
      </p:pic>
    </p:spTree>
    <p:extLst>
      <p:ext uri="{BB962C8B-B14F-4D97-AF65-F5344CB8AC3E}">
        <p14:creationId xmlns:p14="http://schemas.microsoft.com/office/powerpoint/2010/main" val="3781716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a:t>
            </a:r>
          </a:p>
        </p:txBody>
      </p:sp>
      <p:sp>
        <p:nvSpPr>
          <p:cNvPr id="6" name="Content Placeholder 5"/>
          <p:cNvSpPr>
            <a:spLocks noGrp="1"/>
          </p:cNvSpPr>
          <p:nvPr>
            <p:ph idx="1"/>
          </p:nvPr>
        </p:nvSpPr>
        <p:spPr>
          <a:xfrm>
            <a:off x="6903720" y="1106424"/>
            <a:ext cx="5111496" cy="5070539"/>
          </a:xfrm>
        </p:spPr>
        <p:txBody>
          <a:bodyPr>
            <a:noAutofit/>
          </a:bodyPr>
          <a:lstStyle/>
          <a:p>
            <a:r>
              <a:rPr lang="en-GB" sz="2000" dirty="0"/>
              <a:t>Aeolian ripples, dunes and </a:t>
            </a:r>
            <a:r>
              <a:rPr lang="en-GB" sz="2000" dirty="0" err="1"/>
              <a:t>megadunes</a:t>
            </a:r>
            <a:r>
              <a:rPr lang="en-GB" sz="2000" dirty="0"/>
              <a:t> (</a:t>
            </a:r>
            <a:r>
              <a:rPr lang="en-GB" sz="2000" dirty="0" err="1"/>
              <a:t>draa</a:t>
            </a:r>
            <a:r>
              <a:rPr lang="en-GB" sz="2000" dirty="0"/>
              <a:t>) form a hierarchy of equilibrium bedforms and one or more of these types are present in the great majority of depositional aeolian environments </a:t>
            </a:r>
          </a:p>
          <a:p>
            <a:r>
              <a:rPr lang="en-GB" sz="2000" dirty="0"/>
              <a:t>Bedform size provides a basis for initial bedform classification and description. </a:t>
            </a:r>
          </a:p>
          <a:p>
            <a:r>
              <a:rPr lang="en-GB" sz="2000" dirty="0"/>
              <a:t>Almost all dunes and </a:t>
            </a:r>
            <a:r>
              <a:rPr lang="en-GB" sz="2000" dirty="0" err="1"/>
              <a:t>megadunes</a:t>
            </a:r>
            <a:r>
              <a:rPr lang="en-GB" sz="2000" dirty="0"/>
              <a:t> have ripples present on many parts of their sloping surfaces, and ripples are also common on sandsheet surfaces and in interdunes. </a:t>
            </a:r>
          </a:p>
          <a:p>
            <a:r>
              <a:rPr lang="en-GB" sz="2000" dirty="0"/>
              <a:t>Three morphologically distinct types of small-scale ripple structure occur on wind-blown surfaces: impact ripples, </a:t>
            </a:r>
            <a:r>
              <a:rPr lang="en-GB" sz="2000" dirty="0" err="1"/>
              <a:t>megaripples</a:t>
            </a:r>
            <a:r>
              <a:rPr lang="en-GB" sz="2000" dirty="0"/>
              <a:t>, adhesion ripples.</a:t>
            </a:r>
          </a:p>
          <a:p>
            <a:r>
              <a:rPr lang="en-GB" sz="2000" dirty="0"/>
              <a:t> Each are also recognised in vertical section, where they produce different types of aeolian ripple lamination or stratification.</a:t>
            </a:r>
          </a:p>
        </p:txBody>
      </p:sp>
      <p:pic>
        <p:nvPicPr>
          <p:cNvPr id="7" name="Picture 6"/>
          <p:cNvPicPr>
            <a:picLocks noChangeAspect="1"/>
          </p:cNvPicPr>
          <p:nvPr/>
        </p:nvPicPr>
        <p:blipFill>
          <a:blip r:embed="rId3"/>
          <a:stretch>
            <a:fillRect/>
          </a:stretch>
        </p:blipFill>
        <p:spPr>
          <a:xfrm>
            <a:off x="231776" y="870856"/>
            <a:ext cx="6657975" cy="3573128"/>
          </a:xfrm>
          <a:prstGeom prst="rect">
            <a:avLst/>
          </a:prstGeom>
        </p:spPr>
      </p:pic>
      <p:sp>
        <p:nvSpPr>
          <p:cNvPr id="8" name="TextBox 7"/>
          <p:cNvSpPr txBox="1"/>
          <p:nvPr/>
        </p:nvSpPr>
        <p:spPr>
          <a:xfrm>
            <a:off x="384047" y="4338025"/>
            <a:ext cx="5969381" cy="646331"/>
          </a:xfrm>
          <a:prstGeom prst="rect">
            <a:avLst/>
          </a:prstGeom>
          <a:noFill/>
        </p:spPr>
        <p:txBody>
          <a:bodyPr wrap="square" rtlCol="0">
            <a:spAutoFit/>
          </a:bodyPr>
          <a:lstStyle/>
          <a:p>
            <a:r>
              <a:rPr lang="en-GB" dirty="0"/>
              <a:t>Badain </a:t>
            </a:r>
            <a:r>
              <a:rPr lang="en-GB" dirty="0" err="1"/>
              <a:t>Jaran</a:t>
            </a:r>
            <a:r>
              <a:rPr lang="en-GB" dirty="0"/>
              <a:t> Sand Sea; from Dong et al. (2022)</a:t>
            </a:r>
          </a:p>
          <a:p>
            <a:endParaRPr lang="en-GB" dirty="0"/>
          </a:p>
        </p:txBody>
      </p:sp>
      <p:pic>
        <p:nvPicPr>
          <p:cNvPr id="9" name="Picture 8"/>
          <p:cNvPicPr>
            <a:picLocks noChangeAspect="1"/>
          </p:cNvPicPr>
          <p:nvPr/>
        </p:nvPicPr>
        <p:blipFill rotWithShape="1">
          <a:blip r:embed="rId4"/>
          <a:srcRect r="8687" b="50000"/>
          <a:stretch/>
        </p:blipFill>
        <p:spPr>
          <a:xfrm>
            <a:off x="300271" y="4647358"/>
            <a:ext cx="6520983" cy="1887476"/>
          </a:xfrm>
          <a:prstGeom prst="rect">
            <a:avLst/>
          </a:prstGeom>
        </p:spPr>
      </p:pic>
      <p:sp>
        <p:nvSpPr>
          <p:cNvPr id="10" name="TextBox 9"/>
          <p:cNvSpPr txBox="1"/>
          <p:nvPr/>
        </p:nvSpPr>
        <p:spPr>
          <a:xfrm>
            <a:off x="217805" y="6507170"/>
            <a:ext cx="5751576" cy="369332"/>
          </a:xfrm>
          <a:prstGeom prst="rect">
            <a:avLst/>
          </a:prstGeom>
          <a:noFill/>
        </p:spPr>
        <p:txBody>
          <a:bodyPr wrap="square" rtlCol="0">
            <a:spAutoFit/>
          </a:bodyPr>
          <a:lstStyle/>
          <a:p>
            <a:r>
              <a:rPr lang="it-IT" dirty="0"/>
              <a:t>Dune in Morocco near Merzouga; from Yizhaq et al. (2021)</a:t>
            </a:r>
            <a:endParaRPr lang="en-GB" dirty="0"/>
          </a:p>
        </p:txBody>
      </p:sp>
    </p:spTree>
    <p:extLst>
      <p:ext uri="{BB962C8B-B14F-4D97-AF65-F5344CB8AC3E}">
        <p14:creationId xmlns:p14="http://schemas.microsoft.com/office/powerpoint/2010/main" val="2060744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 Migration</a:t>
            </a:r>
          </a:p>
        </p:txBody>
      </p:sp>
      <p:pic>
        <p:nvPicPr>
          <p:cNvPr id="7" name="Picture 6"/>
          <p:cNvPicPr>
            <a:picLocks noChangeAspect="1"/>
          </p:cNvPicPr>
          <p:nvPr/>
        </p:nvPicPr>
        <p:blipFill>
          <a:blip r:embed="rId3"/>
          <a:stretch>
            <a:fillRect/>
          </a:stretch>
        </p:blipFill>
        <p:spPr>
          <a:xfrm>
            <a:off x="146350" y="870857"/>
            <a:ext cx="11942018" cy="4496672"/>
          </a:xfrm>
          <a:prstGeom prst="rect">
            <a:avLst/>
          </a:prstGeom>
        </p:spPr>
      </p:pic>
      <p:sp>
        <p:nvSpPr>
          <p:cNvPr id="9" name="Content Placeholder 5"/>
          <p:cNvSpPr txBox="1">
            <a:spLocks/>
          </p:cNvSpPr>
          <p:nvPr/>
        </p:nvSpPr>
        <p:spPr>
          <a:xfrm>
            <a:off x="80818" y="5435917"/>
            <a:ext cx="11740896" cy="1422083"/>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Ripples, dunes and </a:t>
            </a:r>
            <a:r>
              <a:rPr lang="en-GB" dirty="0" err="1"/>
              <a:t>megadunes</a:t>
            </a:r>
            <a:r>
              <a:rPr lang="en-GB" dirty="0"/>
              <a:t> (</a:t>
            </a:r>
            <a:r>
              <a:rPr lang="en-GB" dirty="0" err="1"/>
              <a:t>draas</a:t>
            </a:r>
            <a:r>
              <a:rPr lang="en-GB" dirty="0"/>
              <a:t>) that are migrating under the influence of the airflow comprise the sediment that is in transport. Although such bedforms may be large and slow moving, over longer time scales (months, years, or longer) they can move significant distances. </a:t>
            </a:r>
          </a:p>
          <a:p>
            <a:pPr marL="0" indent="0">
              <a:buNone/>
            </a:pPr>
            <a:r>
              <a:rPr lang="en-GB" dirty="0"/>
              <a:t>Ripples, dunes and </a:t>
            </a:r>
            <a:r>
              <a:rPr lang="en-GB" dirty="0" err="1"/>
              <a:t>megadunes</a:t>
            </a:r>
            <a:r>
              <a:rPr lang="en-GB" dirty="0"/>
              <a:t> commonly develop into a train of regularly spaced and repeated bedforms that records the response of a sand bed to the shearing action of the wind. A train of bedforms records a stage towards  dynamic equilibrium in response to a varying but consistent fluctuation in the flow pattern (e.g., Jimenez et al., 1999).</a:t>
            </a:r>
          </a:p>
        </p:txBody>
      </p:sp>
      <p:sp>
        <p:nvSpPr>
          <p:cNvPr id="6" name="TextBox 5"/>
          <p:cNvSpPr txBox="1"/>
          <p:nvPr/>
        </p:nvSpPr>
        <p:spPr>
          <a:xfrm>
            <a:off x="9079913" y="3493107"/>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2238319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 Migration</a:t>
            </a:r>
          </a:p>
        </p:txBody>
      </p:sp>
      <p:pic>
        <p:nvPicPr>
          <p:cNvPr id="2" name="Picture 1"/>
          <p:cNvPicPr>
            <a:picLocks noChangeAspect="1"/>
          </p:cNvPicPr>
          <p:nvPr/>
        </p:nvPicPr>
        <p:blipFill>
          <a:blip r:embed="rId3"/>
          <a:stretch>
            <a:fillRect/>
          </a:stretch>
        </p:blipFill>
        <p:spPr>
          <a:xfrm>
            <a:off x="146481" y="950976"/>
            <a:ext cx="5275911" cy="5413527"/>
          </a:xfrm>
          <a:prstGeom prst="rect">
            <a:avLst/>
          </a:prstGeom>
        </p:spPr>
      </p:pic>
      <p:sp>
        <p:nvSpPr>
          <p:cNvPr id="6" name="TextBox 5"/>
          <p:cNvSpPr txBox="1"/>
          <p:nvPr/>
        </p:nvSpPr>
        <p:spPr>
          <a:xfrm>
            <a:off x="161544" y="6426614"/>
            <a:ext cx="5260848" cy="338554"/>
          </a:xfrm>
          <a:prstGeom prst="rect">
            <a:avLst/>
          </a:prstGeom>
          <a:noFill/>
        </p:spPr>
        <p:txBody>
          <a:bodyPr wrap="square" rtlCol="0">
            <a:spAutoFit/>
          </a:bodyPr>
          <a:lstStyle/>
          <a:p>
            <a:r>
              <a:rPr lang="en-GB" sz="1600" dirty="0"/>
              <a:t>Migration of </a:t>
            </a:r>
            <a:r>
              <a:rPr lang="en-GB" sz="1600" dirty="0" err="1"/>
              <a:t>barchan</a:t>
            </a:r>
            <a:r>
              <a:rPr lang="en-GB" sz="1600" dirty="0"/>
              <a:t> dunes in Qatar (from Engel et al., 2018)</a:t>
            </a:r>
          </a:p>
        </p:txBody>
      </p:sp>
      <p:pic>
        <p:nvPicPr>
          <p:cNvPr id="7" name="Picture 6"/>
          <p:cNvPicPr>
            <a:picLocks noChangeAspect="1"/>
          </p:cNvPicPr>
          <p:nvPr/>
        </p:nvPicPr>
        <p:blipFill rotWithShape="1">
          <a:blip r:embed="rId4"/>
          <a:srcRect l="1867" t="12705" r="2042" b="17993"/>
          <a:stretch/>
        </p:blipFill>
        <p:spPr>
          <a:xfrm>
            <a:off x="5724144" y="1554479"/>
            <a:ext cx="6089904" cy="3291841"/>
          </a:xfrm>
          <a:prstGeom prst="rect">
            <a:avLst/>
          </a:prstGeom>
        </p:spPr>
      </p:pic>
      <p:sp>
        <p:nvSpPr>
          <p:cNvPr id="8" name="TextBox 7"/>
          <p:cNvSpPr txBox="1"/>
          <p:nvPr/>
        </p:nvSpPr>
        <p:spPr>
          <a:xfrm>
            <a:off x="5724144" y="6457670"/>
            <a:ext cx="6217920" cy="307777"/>
          </a:xfrm>
          <a:prstGeom prst="rect">
            <a:avLst/>
          </a:prstGeom>
          <a:noFill/>
        </p:spPr>
        <p:txBody>
          <a:bodyPr wrap="square" rtlCol="0">
            <a:spAutoFit/>
          </a:bodyPr>
          <a:lstStyle/>
          <a:p>
            <a:r>
              <a:rPr lang="en-GB" sz="1400" dirty="0"/>
              <a:t>From: https://www.pamhage.com/post/2016/11/22/building-your-world-dunes</a:t>
            </a:r>
          </a:p>
        </p:txBody>
      </p:sp>
    </p:spTree>
    <p:extLst>
      <p:ext uri="{BB962C8B-B14F-4D97-AF65-F5344CB8AC3E}">
        <p14:creationId xmlns:p14="http://schemas.microsoft.com/office/powerpoint/2010/main" val="2056623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945" y="5989456"/>
            <a:ext cx="11840695" cy="819274"/>
          </a:xfrm>
        </p:spPr>
        <p:txBody>
          <a:bodyPr>
            <a:normAutofit fontScale="62500" lnSpcReduction="20000"/>
          </a:bodyPr>
          <a:lstStyle/>
          <a:p>
            <a:pPr marL="0" indent="0">
              <a:buNone/>
            </a:pPr>
            <a:r>
              <a:rPr lang="en-GB" dirty="0"/>
              <a:t>Three distinct scales of aeolian bedform that commonly occur on Earth: ripples, dunes and </a:t>
            </a:r>
            <a:r>
              <a:rPr lang="en-GB" dirty="0" err="1"/>
              <a:t>megadunes</a:t>
            </a:r>
            <a:r>
              <a:rPr lang="en-GB" dirty="0"/>
              <a:t> (</a:t>
            </a:r>
            <a:r>
              <a:rPr lang="en-GB" dirty="0" err="1"/>
              <a:t>draa</a:t>
            </a:r>
            <a:r>
              <a:rPr lang="en-GB" dirty="0"/>
              <a:t>). A) Grainsize (coarsest twenty-percentile) versus wavelength for aeolian bedforms. Modified after Wilson (1972). Note that bedforms developed at scales between the three fields depicted in the graph do occur on Earth, but are less common.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a:t>
            </a:r>
          </a:p>
        </p:txBody>
      </p:sp>
      <p:pic>
        <p:nvPicPr>
          <p:cNvPr id="2" name="Picture 1"/>
          <p:cNvPicPr>
            <a:picLocks noChangeAspect="1"/>
          </p:cNvPicPr>
          <p:nvPr/>
        </p:nvPicPr>
        <p:blipFill>
          <a:blip r:embed="rId3"/>
          <a:stretch>
            <a:fillRect/>
          </a:stretch>
        </p:blipFill>
        <p:spPr>
          <a:xfrm>
            <a:off x="137945" y="942047"/>
            <a:ext cx="11916110" cy="4976218"/>
          </a:xfrm>
          <a:prstGeom prst="rect">
            <a:avLst/>
          </a:prstGeom>
        </p:spPr>
      </p:pic>
      <p:sp>
        <p:nvSpPr>
          <p:cNvPr id="6" name="Oval 5"/>
          <p:cNvSpPr/>
          <p:nvPr/>
        </p:nvSpPr>
        <p:spPr>
          <a:xfrm>
            <a:off x="858982" y="1274618"/>
            <a:ext cx="5357091" cy="405476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65666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wind-ripple strata</a:t>
            </a:r>
          </a:p>
        </p:txBody>
      </p:sp>
      <p:sp>
        <p:nvSpPr>
          <p:cNvPr id="7" name="Content Placeholder 6"/>
          <p:cNvSpPr>
            <a:spLocks noGrp="1"/>
          </p:cNvSpPr>
          <p:nvPr>
            <p:ph idx="1"/>
          </p:nvPr>
        </p:nvSpPr>
        <p:spPr>
          <a:xfrm>
            <a:off x="4590432" y="1174770"/>
            <a:ext cx="7369920" cy="4351338"/>
          </a:xfrm>
        </p:spPr>
        <p:txBody>
          <a:bodyPr>
            <a:noAutofit/>
          </a:bodyPr>
          <a:lstStyle/>
          <a:p>
            <a:r>
              <a:rPr lang="en-GB" sz="1800" dirty="0"/>
              <a:t>Wind ripples are the most widespread ripple type developed in aeolian environments (Hunter, 1977a, b; 1981). </a:t>
            </a:r>
          </a:p>
          <a:p>
            <a:r>
              <a:rPr lang="en-GB" sz="1800" dirty="0"/>
              <a:t>They have low relief, and form preferentially from the coarser-grained fraction of the sand in transport. </a:t>
            </a:r>
          </a:p>
          <a:p>
            <a:r>
              <a:rPr lang="en-GB" sz="1800" dirty="0"/>
              <a:t>They typically have wavelengths of 50 to 200 mm and heights of 5 to 10 mm, rarely up to 30 mm.</a:t>
            </a:r>
          </a:p>
          <a:p>
            <a:r>
              <a:rPr lang="en-GB" sz="1800" dirty="0"/>
              <a:t> They exhibit a high ripple-form index (ratio of wavelength to height), typically between 12 and 50. </a:t>
            </a:r>
          </a:p>
          <a:p>
            <a:r>
              <a:rPr lang="en-GB" sz="1800" dirty="0"/>
              <a:t>They may have straight or curved (in some cases sinuous), continuous </a:t>
            </a:r>
            <a:r>
              <a:rPr lang="en-GB" sz="1800" dirty="0" err="1"/>
              <a:t>crestlines</a:t>
            </a:r>
            <a:r>
              <a:rPr lang="en-GB" sz="1800" dirty="0"/>
              <a:t>, usually oriented transverse to the local wind direction. </a:t>
            </a:r>
          </a:p>
          <a:p>
            <a:r>
              <a:rPr lang="en-GB" sz="1800" dirty="0"/>
              <a:t>Wind ripples are slightly asymmetrical in profile, though with their lee faces inclined at relatively low gradients (&lt;20°), below the angle of repose for loose dry sand.</a:t>
            </a:r>
          </a:p>
          <a:p>
            <a:r>
              <a:rPr lang="en-GB" sz="1800" dirty="0"/>
              <a:t>Impact ripples develop through a combination of saltation and </a:t>
            </a:r>
            <a:r>
              <a:rPr lang="en-GB" sz="1800" dirty="0" err="1"/>
              <a:t>reptation</a:t>
            </a:r>
            <a:r>
              <a:rPr lang="en-GB" sz="1800" dirty="0"/>
              <a:t>.   </a:t>
            </a:r>
          </a:p>
          <a:p>
            <a:r>
              <a:rPr lang="en-GB" sz="1800" dirty="0"/>
              <a:t>Left: Wind ripples on crescent-shaped sand dunes (Barchans) in Southwest Afghanistan (</a:t>
            </a:r>
            <a:r>
              <a:rPr lang="en-GB" sz="1800" dirty="0" err="1"/>
              <a:t>Sistan</a:t>
            </a:r>
            <a:r>
              <a:rPr lang="en-GB" sz="1800" dirty="0"/>
              <a:t>).</a:t>
            </a:r>
          </a:p>
          <a:p>
            <a:r>
              <a:rPr lang="en-GB" sz="1800" dirty="0"/>
              <a:t>Image courtesy of </a:t>
            </a:r>
            <a:r>
              <a:rPr lang="en-GB" sz="1800" dirty="0" err="1"/>
              <a:t>Kempf</a:t>
            </a:r>
            <a:r>
              <a:rPr lang="en-GB" sz="1800" dirty="0"/>
              <a:t> EK</a:t>
            </a:r>
          </a:p>
          <a:p>
            <a:endParaRPr lang="en-GB" sz="1800" dirty="0"/>
          </a:p>
          <a:p>
            <a:endParaRPr lang="en-GB" sz="1800" dirty="0"/>
          </a:p>
        </p:txBody>
      </p:sp>
      <p:pic>
        <p:nvPicPr>
          <p:cNvPr id="9" name="Picture 8"/>
          <p:cNvPicPr>
            <a:picLocks noChangeAspect="1"/>
          </p:cNvPicPr>
          <p:nvPr/>
        </p:nvPicPr>
        <p:blipFill>
          <a:blip r:embed="rId3"/>
          <a:stretch>
            <a:fillRect/>
          </a:stretch>
        </p:blipFill>
        <p:spPr>
          <a:xfrm>
            <a:off x="309562" y="1174770"/>
            <a:ext cx="4052126" cy="5229560"/>
          </a:xfrm>
          <a:prstGeom prst="rect">
            <a:avLst/>
          </a:prstGeom>
        </p:spPr>
      </p:pic>
    </p:spTree>
    <p:extLst>
      <p:ext uri="{BB962C8B-B14F-4D97-AF65-F5344CB8AC3E}">
        <p14:creationId xmlns:p14="http://schemas.microsoft.com/office/powerpoint/2010/main" val="4121363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wind ripple strata</a:t>
            </a:r>
          </a:p>
        </p:txBody>
      </p:sp>
      <p:pic>
        <p:nvPicPr>
          <p:cNvPr id="3" name="Picture 2"/>
          <p:cNvPicPr>
            <a:picLocks noChangeAspect="1"/>
          </p:cNvPicPr>
          <p:nvPr/>
        </p:nvPicPr>
        <p:blipFill rotWithShape="1">
          <a:blip r:embed="rId3"/>
          <a:srcRect b="55962"/>
          <a:stretch/>
        </p:blipFill>
        <p:spPr>
          <a:xfrm>
            <a:off x="80818" y="870856"/>
            <a:ext cx="11925254" cy="1715326"/>
          </a:xfrm>
          <a:prstGeom prst="rect">
            <a:avLst/>
          </a:prstGeom>
        </p:spPr>
      </p:pic>
      <p:sp>
        <p:nvSpPr>
          <p:cNvPr id="6" name="TextBox 5"/>
          <p:cNvSpPr txBox="1"/>
          <p:nvPr/>
        </p:nvSpPr>
        <p:spPr>
          <a:xfrm>
            <a:off x="42764" y="2633716"/>
            <a:ext cx="6000681" cy="3785652"/>
          </a:xfrm>
          <a:prstGeom prst="rect">
            <a:avLst/>
          </a:prstGeom>
          <a:noFill/>
        </p:spPr>
        <p:txBody>
          <a:bodyPr wrap="square" rtlCol="0">
            <a:spAutoFit/>
          </a:bodyPr>
          <a:lstStyle/>
          <a:p>
            <a:pPr marL="342900" indent="-342900">
              <a:buAutoNum type="alphaUcParenR"/>
            </a:pPr>
            <a:r>
              <a:rPr lang="en-GB" sz="2000" dirty="0"/>
              <a:t>Perturbations on a bed expressed as surface roughness influence how grains landing from saltation arrange themselves on the bed. This initiates the onset of ripple development. </a:t>
            </a:r>
          </a:p>
          <a:p>
            <a:pPr marL="342900" indent="-342900">
              <a:buAutoNum type="alphaUcParenR"/>
            </a:pPr>
            <a:r>
              <a:rPr lang="en-GB" sz="2000" dirty="0"/>
              <a:t>Impact ripple spacing is determined by the saltation path length, which is a function of grain size, shape and density, and mean wind velocity and gustiness close to the bed. </a:t>
            </a:r>
          </a:p>
          <a:p>
            <a:pPr marL="342900" indent="-342900">
              <a:buAutoNum type="alphaUcParenR"/>
            </a:pPr>
            <a:r>
              <a:rPr lang="en-GB" sz="2000" dirty="0"/>
              <a:t>Aeolian impact ripples have upwind-facing </a:t>
            </a:r>
            <a:r>
              <a:rPr lang="en-GB" sz="2000" dirty="0" err="1"/>
              <a:t>stoss</a:t>
            </a:r>
            <a:r>
              <a:rPr lang="en-GB" sz="2000" dirty="0"/>
              <a:t> slopes subject to impact of incoming grains and downwind-facing lee slopes where shadow zones develop. Modified after Anderson (1987).</a:t>
            </a:r>
          </a:p>
        </p:txBody>
      </p:sp>
      <p:sp>
        <p:nvSpPr>
          <p:cNvPr id="7" name="TextBox 6"/>
          <p:cNvSpPr txBox="1"/>
          <p:nvPr/>
        </p:nvSpPr>
        <p:spPr>
          <a:xfrm>
            <a:off x="417854" y="1013871"/>
            <a:ext cx="3454400" cy="369332"/>
          </a:xfrm>
          <a:prstGeom prst="rect">
            <a:avLst/>
          </a:prstGeom>
          <a:noFill/>
        </p:spPr>
        <p:txBody>
          <a:bodyPr wrap="square" rtlCol="0">
            <a:spAutoFit/>
          </a:bodyPr>
          <a:lstStyle/>
          <a:p>
            <a:r>
              <a:rPr lang="en-GB" dirty="0"/>
              <a:t>Image: Mountney et al., 2023</a:t>
            </a:r>
          </a:p>
        </p:txBody>
      </p:sp>
      <p:pic>
        <p:nvPicPr>
          <p:cNvPr id="2" name="Picture 1"/>
          <p:cNvPicPr>
            <a:picLocks noChangeAspect="1"/>
          </p:cNvPicPr>
          <p:nvPr/>
        </p:nvPicPr>
        <p:blipFill rotWithShape="1">
          <a:blip r:embed="rId4"/>
          <a:srcRect t="29458"/>
          <a:stretch/>
        </p:blipFill>
        <p:spPr>
          <a:xfrm>
            <a:off x="5941845" y="2729713"/>
            <a:ext cx="4282810" cy="3898006"/>
          </a:xfrm>
          <a:prstGeom prst="rect">
            <a:avLst/>
          </a:prstGeom>
        </p:spPr>
      </p:pic>
      <p:sp>
        <p:nvSpPr>
          <p:cNvPr id="9" name="TextBox 8"/>
          <p:cNvSpPr txBox="1"/>
          <p:nvPr/>
        </p:nvSpPr>
        <p:spPr>
          <a:xfrm>
            <a:off x="10372436" y="2807855"/>
            <a:ext cx="1633636" cy="3139321"/>
          </a:xfrm>
          <a:prstGeom prst="rect">
            <a:avLst/>
          </a:prstGeom>
          <a:noFill/>
        </p:spPr>
        <p:txBody>
          <a:bodyPr wrap="square" rtlCol="0">
            <a:spAutoFit/>
          </a:bodyPr>
          <a:lstStyle/>
          <a:p>
            <a:r>
              <a:rPr lang="en-GB" dirty="0"/>
              <a:t>Left: Wind ripples on crescent-shaped sand dunes (Barchans) in Southwest Afghanistan (</a:t>
            </a:r>
            <a:r>
              <a:rPr lang="en-GB" dirty="0" err="1"/>
              <a:t>Sistan</a:t>
            </a:r>
            <a:r>
              <a:rPr lang="en-GB" dirty="0"/>
              <a:t>).</a:t>
            </a:r>
          </a:p>
          <a:p>
            <a:r>
              <a:rPr lang="en-GB" dirty="0"/>
              <a:t>Image courtesy of </a:t>
            </a:r>
            <a:r>
              <a:rPr lang="en-GB" dirty="0" err="1"/>
              <a:t>Kempf</a:t>
            </a:r>
            <a:r>
              <a:rPr lang="en-GB" dirty="0"/>
              <a:t> EK</a:t>
            </a:r>
          </a:p>
        </p:txBody>
      </p:sp>
    </p:spTree>
    <p:extLst>
      <p:ext uri="{BB962C8B-B14F-4D97-AF65-F5344CB8AC3E}">
        <p14:creationId xmlns:p14="http://schemas.microsoft.com/office/powerpoint/2010/main" val="2047102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wind ripple strata</a:t>
            </a:r>
          </a:p>
        </p:txBody>
      </p:sp>
      <p:pic>
        <p:nvPicPr>
          <p:cNvPr id="3" name="Picture 2"/>
          <p:cNvPicPr>
            <a:picLocks noChangeAspect="1"/>
          </p:cNvPicPr>
          <p:nvPr/>
        </p:nvPicPr>
        <p:blipFill rotWithShape="1">
          <a:blip r:embed="rId3"/>
          <a:srcRect t="43090"/>
          <a:stretch/>
        </p:blipFill>
        <p:spPr>
          <a:xfrm>
            <a:off x="98366" y="1021648"/>
            <a:ext cx="11925254" cy="2216672"/>
          </a:xfrm>
          <a:prstGeom prst="rect">
            <a:avLst/>
          </a:prstGeom>
        </p:spPr>
      </p:pic>
      <p:sp>
        <p:nvSpPr>
          <p:cNvPr id="8" name="TextBox 7"/>
          <p:cNvSpPr txBox="1"/>
          <p:nvPr/>
        </p:nvSpPr>
        <p:spPr>
          <a:xfrm>
            <a:off x="80818" y="3261986"/>
            <a:ext cx="5945078" cy="3416320"/>
          </a:xfrm>
          <a:prstGeom prst="rect">
            <a:avLst/>
          </a:prstGeom>
          <a:noFill/>
        </p:spPr>
        <p:txBody>
          <a:bodyPr wrap="square" rtlCol="0">
            <a:spAutoFit/>
          </a:bodyPr>
          <a:lstStyle/>
          <a:p>
            <a:r>
              <a:rPr lang="en-GB" dirty="0"/>
              <a:t>D) Wind ripples generated by ballistic impact of incoming (i.e. landing) saltating grains. The ripple spacing relates in a general way to the saltation path length</a:t>
            </a:r>
          </a:p>
          <a:p>
            <a:endParaRPr lang="en-GB" dirty="0"/>
          </a:p>
          <a:p>
            <a:r>
              <a:rPr lang="en-GB" dirty="0"/>
              <a:t>E) The impact angle of saltating sand grains differs between </a:t>
            </a:r>
            <a:r>
              <a:rPr lang="en-GB" dirty="0" err="1"/>
              <a:t>stoss</a:t>
            </a:r>
            <a:r>
              <a:rPr lang="en-GB" dirty="0"/>
              <a:t> and lee slopes. High-angle impacts on the </a:t>
            </a:r>
            <a:r>
              <a:rPr lang="en-GB" dirty="0" err="1"/>
              <a:t>stoss</a:t>
            </a:r>
            <a:r>
              <a:rPr lang="en-GB" dirty="0"/>
              <a:t> slope of the impact ripples promotes creep of coarser grains towards the ripple crest. Downwind-facing lee slopes form a shadow zone where relatively few low angle impacts occur, thereby allowing the accumulation of finer grains in ripple troughs. As ripples migrate downwind this sorting mechanism generates lamination with inverse grading. </a:t>
            </a:r>
          </a:p>
        </p:txBody>
      </p:sp>
      <p:sp>
        <p:nvSpPr>
          <p:cNvPr id="9" name="TextBox 8"/>
          <p:cNvSpPr txBox="1"/>
          <p:nvPr/>
        </p:nvSpPr>
        <p:spPr>
          <a:xfrm>
            <a:off x="8950036" y="1065500"/>
            <a:ext cx="3454400" cy="369332"/>
          </a:xfrm>
          <a:prstGeom prst="rect">
            <a:avLst/>
          </a:prstGeom>
          <a:noFill/>
        </p:spPr>
        <p:txBody>
          <a:bodyPr wrap="square" rtlCol="0">
            <a:spAutoFit/>
          </a:bodyPr>
          <a:lstStyle/>
          <a:p>
            <a:r>
              <a:rPr lang="en-GB" dirty="0"/>
              <a:t>Image: Mountney et al., 2023</a:t>
            </a:r>
          </a:p>
        </p:txBody>
      </p:sp>
      <p:pic>
        <p:nvPicPr>
          <p:cNvPr id="2" name="Picture 1"/>
          <p:cNvPicPr>
            <a:picLocks noChangeAspect="1"/>
          </p:cNvPicPr>
          <p:nvPr/>
        </p:nvPicPr>
        <p:blipFill rotWithShape="1">
          <a:blip r:embed="rId4"/>
          <a:srcRect t="19594" b="25396"/>
          <a:stretch/>
        </p:blipFill>
        <p:spPr>
          <a:xfrm>
            <a:off x="6142181" y="3282172"/>
            <a:ext cx="5588001" cy="2850773"/>
          </a:xfrm>
          <a:prstGeom prst="rect">
            <a:avLst/>
          </a:prstGeom>
        </p:spPr>
      </p:pic>
      <p:cxnSp>
        <p:nvCxnSpPr>
          <p:cNvPr id="11" name="Straight Connector 10"/>
          <p:cNvCxnSpPr/>
          <p:nvPr/>
        </p:nvCxnSpPr>
        <p:spPr>
          <a:xfrm>
            <a:off x="6142181" y="5255491"/>
            <a:ext cx="5588001" cy="20320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2" idx="3"/>
          </p:cNvCxnSpPr>
          <p:nvPr/>
        </p:nvCxnSpPr>
        <p:spPr>
          <a:xfrm>
            <a:off x="6156035" y="4378037"/>
            <a:ext cx="5574147" cy="32952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156035" y="6216073"/>
            <a:ext cx="5684983" cy="584775"/>
          </a:xfrm>
          <a:prstGeom prst="rect">
            <a:avLst/>
          </a:prstGeom>
          <a:noFill/>
        </p:spPr>
        <p:txBody>
          <a:bodyPr wrap="square" rtlCol="0">
            <a:spAutoFit/>
          </a:bodyPr>
          <a:lstStyle/>
          <a:p>
            <a:r>
              <a:rPr lang="en-GB" sz="1600" dirty="0"/>
              <a:t>Climbing wind-ripple strata in Navajo Sandstone. From Samson (1992)</a:t>
            </a:r>
          </a:p>
        </p:txBody>
      </p:sp>
    </p:spTree>
    <p:extLst>
      <p:ext uri="{BB962C8B-B14F-4D97-AF65-F5344CB8AC3E}">
        <p14:creationId xmlns:p14="http://schemas.microsoft.com/office/powerpoint/2010/main" val="3031982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wind ripple strata</a:t>
            </a:r>
          </a:p>
        </p:txBody>
      </p:sp>
      <p:pic>
        <p:nvPicPr>
          <p:cNvPr id="2" name="Picture 1"/>
          <p:cNvPicPr>
            <a:picLocks noChangeAspect="1"/>
          </p:cNvPicPr>
          <p:nvPr/>
        </p:nvPicPr>
        <p:blipFill>
          <a:blip r:embed="rId3"/>
          <a:stretch>
            <a:fillRect/>
          </a:stretch>
        </p:blipFill>
        <p:spPr>
          <a:xfrm>
            <a:off x="80818" y="870856"/>
            <a:ext cx="7965902" cy="5949230"/>
          </a:xfrm>
          <a:prstGeom prst="rect">
            <a:avLst/>
          </a:prstGeom>
        </p:spPr>
      </p:pic>
      <p:sp>
        <p:nvSpPr>
          <p:cNvPr id="7" name="TextBox 6"/>
          <p:cNvSpPr txBox="1"/>
          <p:nvPr/>
        </p:nvSpPr>
        <p:spPr>
          <a:xfrm>
            <a:off x="8046720" y="869971"/>
            <a:ext cx="4050792" cy="5509200"/>
          </a:xfrm>
          <a:prstGeom prst="rect">
            <a:avLst/>
          </a:prstGeom>
          <a:noFill/>
        </p:spPr>
        <p:txBody>
          <a:bodyPr wrap="square" rtlCol="0">
            <a:spAutoFit/>
          </a:bodyPr>
          <a:lstStyle/>
          <a:p>
            <a:pPr marL="342900" indent="-342900">
              <a:buAutoNum type="alphaUcParenR"/>
            </a:pPr>
            <a:r>
              <a:rPr lang="en-GB" sz="1600" dirty="0"/>
              <a:t>Aeolian truncated ripple-</a:t>
            </a:r>
            <a:r>
              <a:rPr lang="en-GB" sz="1600" dirty="0" err="1"/>
              <a:t>foreset</a:t>
            </a:r>
            <a:r>
              <a:rPr lang="en-GB" sz="1600" dirty="0"/>
              <a:t> cross-laminae. Jurassic Navajo Sandstone, Utah, USA.</a:t>
            </a:r>
          </a:p>
          <a:p>
            <a:pPr marL="342900" indent="-342900">
              <a:buAutoNum type="alphaUcParenR"/>
            </a:pPr>
            <a:r>
              <a:rPr lang="en-GB" sz="1600" dirty="0" err="1"/>
              <a:t>Subcritically</a:t>
            </a:r>
            <a:r>
              <a:rPr lang="en-GB" sz="1600" dirty="0"/>
              <a:t> climbing </a:t>
            </a:r>
            <a:r>
              <a:rPr lang="en-GB" sz="1600" dirty="0" err="1"/>
              <a:t>translatent</a:t>
            </a:r>
            <a:r>
              <a:rPr lang="en-GB" sz="1600" dirty="0"/>
              <a:t> strata for which no ripple-</a:t>
            </a:r>
            <a:r>
              <a:rPr lang="en-GB" sz="1600" dirty="0" err="1"/>
              <a:t>foreset</a:t>
            </a:r>
            <a:r>
              <a:rPr lang="en-GB" sz="1600" dirty="0"/>
              <a:t> cross-laminae are evident. Permian Cedar Mesa Sandstone, Utah, USA.</a:t>
            </a:r>
          </a:p>
          <a:p>
            <a:pPr marL="342900" indent="-342900">
              <a:buAutoNum type="alphaUcParenR"/>
            </a:pPr>
            <a:r>
              <a:rPr lang="en-GB" sz="1600" dirty="0"/>
              <a:t>Pinstripe lamination representing the accumulated deposits of aeolian ripples that climbed over one another at very low subcritical angles. Each stripe records the passage and accumulation of one ripple in a train, whereby slightly finer-grained fractions represent the passage of the ripple troughs and slightly coarser-grained fractions represent the passage of the ripple crests. </a:t>
            </a:r>
            <a:r>
              <a:rPr lang="en-GB" sz="1600" dirty="0" err="1"/>
              <a:t>Twyfelfontein</a:t>
            </a:r>
            <a:r>
              <a:rPr lang="en-GB" sz="1600" dirty="0"/>
              <a:t> Formation (formerly </a:t>
            </a:r>
            <a:r>
              <a:rPr lang="en-GB" sz="1600" dirty="0" err="1"/>
              <a:t>Etjo</a:t>
            </a:r>
            <a:r>
              <a:rPr lang="en-GB" sz="1600" dirty="0"/>
              <a:t> Sandstone), Namibia. </a:t>
            </a:r>
          </a:p>
          <a:p>
            <a:pPr marL="342900" indent="-342900">
              <a:buAutoNum type="alphaUcParenR"/>
            </a:pPr>
            <a:r>
              <a:rPr lang="en-GB" sz="1600" dirty="0"/>
              <a:t>Packages of wind-ripple strata on the low-angle-inclined lower flanks of a cross-bedded aeolian dune set. Jurassic Navajo Sandstone, Utah, USA.</a:t>
            </a:r>
          </a:p>
        </p:txBody>
      </p:sp>
      <p:sp>
        <p:nvSpPr>
          <p:cNvPr id="6" name="TextBox 5"/>
          <p:cNvSpPr txBox="1"/>
          <p:nvPr/>
        </p:nvSpPr>
        <p:spPr>
          <a:xfrm>
            <a:off x="8127538" y="6379171"/>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7869097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Associated aeolian facies: </a:t>
            </a:r>
            <a:r>
              <a:rPr lang="en-GB" dirty="0" err="1">
                <a:solidFill>
                  <a:schemeClr val="bg1"/>
                </a:solidFill>
              </a:rPr>
              <a:t>grainflow</a:t>
            </a:r>
            <a:r>
              <a:rPr lang="en-GB" dirty="0">
                <a:solidFill>
                  <a:schemeClr val="bg1"/>
                </a:solidFill>
              </a:rPr>
              <a:t> strata</a:t>
            </a:r>
          </a:p>
        </p:txBody>
      </p:sp>
      <p:pic>
        <p:nvPicPr>
          <p:cNvPr id="7" name="Picture 6"/>
          <p:cNvPicPr>
            <a:picLocks noChangeAspect="1"/>
          </p:cNvPicPr>
          <p:nvPr/>
        </p:nvPicPr>
        <p:blipFill>
          <a:blip r:embed="rId3"/>
          <a:stretch>
            <a:fillRect/>
          </a:stretch>
        </p:blipFill>
        <p:spPr>
          <a:xfrm>
            <a:off x="202738" y="950976"/>
            <a:ext cx="11989262" cy="4434840"/>
          </a:xfrm>
          <a:prstGeom prst="rect">
            <a:avLst/>
          </a:prstGeom>
        </p:spPr>
      </p:pic>
      <p:sp>
        <p:nvSpPr>
          <p:cNvPr id="9" name="TextBox 8"/>
          <p:cNvSpPr txBox="1"/>
          <p:nvPr/>
        </p:nvSpPr>
        <p:spPr>
          <a:xfrm>
            <a:off x="202738" y="5465936"/>
            <a:ext cx="11932920" cy="1200329"/>
          </a:xfrm>
          <a:prstGeom prst="rect">
            <a:avLst/>
          </a:prstGeom>
          <a:noFill/>
        </p:spPr>
        <p:txBody>
          <a:bodyPr wrap="square" rtlCol="0">
            <a:spAutoFit/>
          </a:bodyPr>
          <a:lstStyle/>
          <a:p>
            <a:r>
              <a:rPr lang="en-GB" dirty="0"/>
              <a:t>The gravitational collapse of dry, loose sand on aeolian dune and </a:t>
            </a:r>
            <a:r>
              <a:rPr lang="en-GB" dirty="0" err="1"/>
              <a:t>megadune</a:t>
            </a:r>
            <a:r>
              <a:rPr lang="en-GB" dirty="0"/>
              <a:t> lee slopes inclined at the angle of repose (typically 32-36°) generates </a:t>
            </a:r>
            <a:r>
              <a:rPr lang="en-GB" dirty="0" err="1"/>
              <a:t>grainflow</a:t>
            </a:r>
            <a:r>
              <a:rPr lang="en-GB" dirty="0"/>
              <a:t> sand avalanches. </a:t>
            </a:r>
            <a:r>
              <a:rPr lang="en-GB" dirty="0" err="1"/>
              <a:t>Grainflows</a:t>
            </a:r>
            <a:r>
              <a:rPr lang="en-GB" dirty="0"/>
              <a:t> gather momentum as they pass down the lee slope and may run out onto lower-angle-inclined bedform plinths and flanks. </a:t>
            </a:r>
            <a:r>
              <a:rPr lang="en-GB" dirty="0" err="1"/>
              <a:t>Grainflow</a:t>
            </a:r>
            <a:r>
              <a:rPr lang="en-GB" dirty="0"/>
              <a:t> avalanches generate sediment units that are inclined at 18-36° within cross-bedded </a:t>
            </a:r>
            <a:r>
              <a:rPr lang="en-GB" dirty="0" err="1"/>
              <a:t>foreset</a:t>
            </a:r>
            <a:r>
              <a:rPr lang="en-GB" dirty="0"/>
              <a:t> deposits (the inclination is reduced by sediment compaction in ancient strata). </a:t>
            </a:r>
          </a:p>
        </p:txBody>
      </p:sp>
      <p:sp>
        <p:nvSpPr>
          <p:cNvPr id="12" name="TextBox 11"/>
          <p:cNvSpPr txBox="1"/>
          <p:nvPr/>
        </p:nvSpPr>
        <p:spPr>
          <a:xfrm>
            <a:off x="9183624" y="2549780"/>
            <a:ext cx="2952034" cy="738664"/>
          </a:xfrm>
          <a:prstGeom prst="rect">
            <a:avLst/>
          </a:prstGeom>
          <a:noFill/>
        </p:spPr>
        <p:txBody>
          <a:bodyPr wrap="square" rtlCol="0">
            <a:spAutoFit/>
          </a:bodyPr>
          <a:lstStyle/>
          <a:p>
            <a:r>
              <a:rPr lang="en-GB" sz="1400" dirty="0"/>
              <a:t>From: https://www.pamhage.com/post/2016/11/22/building-your-world-dunes</a:t>
            </a:r>
          </a:p>
        </p:txBody>
      </p:sp>
      <p:sp>
        <p:nvSpPr>
          <p:cNvPr id="8" name="TextBox 7"/>
          <p:cNvSpPr txBox="1"/>
          <p:nvPr/>
        </p:nvSpPr>
        <p:spPr>
          <a:xfrm>
            <a:off x="9183624" y="1021648"/>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27329214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pic>
        <p:nvPicPr>
          <p:cNvPr id="2" name="Picture 1"/>
          <p:cNvPicPr>
            <a:picLocks noChangeAspect="1"/>
          </p:cNvPicPr>
          <p:nvPr/>
        </p:nvPicPr>
        <p:blipFill>
          <a:blip r:embed="rId3"/>
          <a:stretch>
            <a:fillRect/>
          </a:stretch>
        </p:blipFill>
        <p:spPr>
          <a:xfrm>
            <a:off x="80818" y="848325"/>
            <a:ext cx="8541974" cy="5869456"/>
          </a:xfrm>
          <a:prstGeom prst="rect">
            <a:avLst/>
          </a:prstGeom>
        </p:spPr>
      </p:pic>
      <p:sp>
        <p:nvSpPr>
          <p:cNvPr id="3" name="TextBox 2"/>
          <p:cNvSpPr txBox="1"/>
          <p:nvPr/>
        </p:nvSpPr>
        <p:spPr>
          <a:xfrm>
            <a:off x="8695944" y="948690"/>
            <a:ext cx="3346704" cy="5909310"/>
          </a:xfrm>
          <a:prstGeom prst="rect">
            <a:avLst/>
          </a:prstGeom>
          <a:noFill/>
        </p:spPr>
        <p:txBody>
          <a:bodyPr wrap="square" rtlCol="0">
            <a:spAutoFit/>
          </a:bodyPr>
          <a:lstStyle/>
          <a:p>
            <a:r>
              <a:rPr lang="en-GB" dirty="0"/>
              <a:t>Aeolian </a:t>
            </a:r>
            <a:r>
              <a:rPr lang="en-GB" dirty="0" err="1"/>
              <a:t>grainflow</a:t>
            </a:r>
            <a:r>
              <a:rPr lang="en-GB" dirty="0"/>
              <a:t> stratification. </a:t>
            </a:r>
          </a:p>
          <a:p>
            <a:r>
              <a:rPr lang="en-GB" dirty="0"/>
              <a:t>A) Thick package of multiple stacked aeolian </a:t>
            </a:r>
            <a:r>
              <a:rPr lang="en-GB" dirty="0" err="1"/>
              <a:t>grainflow</a:t>
            </a:r>
            <a:r>
              <a:rPr lang="en-GB" dirty="0"/>
              <a:t> avalanche deposits, </a:t>
            </a:r>
            <a:r>
              <a:rPr lang="en-GB" dirty="0" err="1"/>
              <a:t>Twyfelfontein</a:t>
            </a:r>
            <a:r>
              <a:rPr lang="en-GB" dirty="0"/>
              <a:t> Formation (formerly </a:t>
            </a:r>
            <a:r>
              <a:rPr lang="en-GB" dirty="0" err="1"/>
              <a:t>Etjo</a:t>
            </a:r>
            <a:r>
              <a:rPr lang="en-GB" dirty="0"/>
              <a:t> Sandstone), Namibia. </a:t>
            </a:r>
          </a:p>
          <a:p>
            <a:r>
              <a:rPr lang="en-GB" dirty="0"/>
              <a:t>B) </a:t>
            </a:r>
            <a:r>
              <a:rPr lang="en-GB" dirty="0" err="1"/>
              <a:t>Grainflow</a:t>
            </a:r>
            <a:r>
              <a:rPr lang="en-GB" dirty="0"/>
              <a:t> strata with many </a:t>
            </a:r>
            <a:r>
              <a:rPr lang="en-GB" dirty="0" err="1"/>
              <a:t>indivdual</a:t>
            </a:r>
            <a:r>
              <a:rPr lang="en-GB" dirty="0"/>
              <a:t> stratum delineated by thin grainfall laminae. Jurassic Entrada Sandstone, Utah, USA. </a:t>
            </a:r>
          </a:p>
          <a:p>
            <a:r>
              <a:rPr lang="en-GB" dirty="0"/>
              <a:t>C) Internally structureless </a:t>
            </a:r>
            <a:r>
              <a:rPr lang="en-GB" dirty="0" err="1"/>
              <a:t>grainflow</a:t>
            </a:r>
            <a:r>
              <a:rPr lang="en-GB" dirty="0"/>
              <a:t> deposits intercalated with wind-ripple </a:t>
            </a:r>
            <a:r>
              <a:rPr lang="en-GB" dirty="0" err="1"/>
              <a:t>translatent</a:t>
            </a:r>
            <a:r>
              <a:rPr lang="en-GB" dirty="0"/>
              <a:t> strata.</a:t>
            </a:r>
          </a:p>
          <a:p>
            <a:r>
              <a:rPr lang="en-GB" dirty="0"/>
              <a:t> D) Wider view of the same intercalated package of </a:t>
            </a:r>
            <a:r>
              <a:rPr lang="en-GB" dirty="0" err="1"/>
              <a:t>grainflow</a:t>
            </a:r>
            <a:r>
              <a:rPr lang="en-GB" dirty="0"/>
              <a:t> and wind-ripple strata revealing their arrangement in the lower part of a cross-bedded aeolian dune set. C and D: Permian Cedar Mesa Sandstone, Utah, USA.</a:t>
            </a:r>
          </a:p>
        </p:txBody>
      </p:sp>
      <p:sp>
        <p:nvSpPr>
          <p:cNvPr id="6" name="TextBox 5"/>
          <p:cNvSpPr txBox="1"/>
          <p:nvPr/>
        </p:nvSpPr>
        <p:spPr>
          <a:xfrm>
            <a:off x="80818" y="6533115"/>
            <a:ext cx="3454400" cy="369332"/>
          </a:xfrm>
          <a:prstGeom prst="rect">
            <a:avLst/>
          </a:prstGeom>
          <a:noFill/>
        </p:spPr>
        <p:txBody>
          <a:bodyPr wrap="square" rtlCol="0">
            <a:spAutoFit/>
          </a:bodyPr>
          <a:lstStyle/>
          <a:p>
            <a:r>
              <a:rPr lang="en-GB" dirty="0"/>
              <a:t>Image: Mountney et al., 2023</a:t>
            </a:r>
          </a:p>
        </p:txBody>
      </p:sp>
      <p:sp>
        <p:nvSpPr>
          <p:cNvPr id="7"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Associated aeolian facies: </a:t>
            </a:r>
            <a:r>
              <a:rPr lang="en-GB" dirty="0" err="1">
                <a:solidFill>
                  <a:schemeClr val="bg1"/>
                </a:solidFill>
              </a:rPr>
              <a:t>grainflow</a:t>
            </a:r>
            <a:r>
              <a:rPr lang="en-GB" dirty="0">
                <a:solidFill>
                  <a:schemeClr val="bg1"/>
                </a:solidFill>
              </a:rPr>
              <a:t> strata</a:t>
            </a:r>
          </a:p>
        </p:txBody>
      </p:sp>
    </p:spTree>
    <p:extLst>
      <p:ext uri="{BB962C8B-B14F-4D97-AF65-F5344CB8AC3E}">
        <p14:creationId xmlns:p14="http://schemas.microsoft.com/office/powerpoint/2010/main" val="2229195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pic>
        <p:nvPicPr>
          <p:cNvPr id="2" name="Picture 1"/>
          <p:cNvPicPr>
            <a:picLocks noChangeAspect="1"/>
          </p:cNvPicPr>
          <p:nvPr/>
        </p:nvPicPr>
        <p:blipFill>
          <a:blip r:embed="rId3"/>
          <a:stretch>
            <a:fillRect/>
          </a:stretch>
        </p:blipFill>
        <p:spPr>
          <a:xfrm>
            <a:off x="80818" y="870856"/>
            <a:ext cx="7042357" cy="5987144"/>
          </a:xfrm>
          <a:prstGeom prst="rect">
            <a:avLst/>
          </a:prstGeom>
        </p:spPr>
      </p:pic>
      <p:sp>
        <p:nvSpPr>
          <p:cNvPr id="3" name="TextBox 2"/>
          <p:cNvSpPr txBox="1"/>
          <p:nvPr/>
        </p:nvSpPr>
        <p:spPr>
          <a:xfrm>
            <a:off x="7123176" y="1021648"/>
            <a:ext cx="5029200" cy="5509200"/>
          </a:xfrm>
          <a:prstGeom prst="rect">
            <a:avLst/>
          </a:prstGeom>
          <a:noFill/>
        </p:spPr>
        <p:txBody>
          <a:bodyPr wrap="square" rtlCol="0">
            <a:spAutoFit/>
          </a:bodyPr>
          <a:lstStyle/>
          <a:p>
            <a:pPr marL="342900" indent="-342900">
              <a:buAutoNum type="alphaUcParenR"/>
            </a:pPr>
            <a:r>
              <a:rPr lang="en-GB" sz="1600" dirty="0"/>
              <a:t>Gravity-driven grainfall occurs commonly where the wind carries clouds of saltating grains over a dune brink. The airflow decelerates as it passes into the lee-side depression resulting in a reduction in sediment carrying capacity. Modern dune, Namib Desert, Namibia. </a:t>
            </a:r>
          </a:p>
          <a:p>
            <a:pPr marL="342900" indent="-342900">
              <a:buAutoNum type="alphaUcParenR"/>
            </a:pPr>
            <a:r>
              <a:rPr lang="en-GB" sz="1600" dirty="0"/>
              <a:t>Grainfall may additionally occur on the flanks or apron of a dune where secondary cross-wind airflow is insufficient to form ripples. Arm of a star </a:t>
            </a:r>
            <a:r>
              <a:rPr lang="en-GB" sz="1600" dirty="0" err="1"/>
              <a:t>draa</a:t>
            </a:r>
            <a:r>
              <a:rPr lang="en-GB" sz="1600" dirty="0"/>
              <a:t>, northwest Gran </a:t>
            </a:r>
            <a:r>
              <a:rPr lang="en-GB" sz="1600" dirty="0" err="1"/>
              <a:t>Desierto</a:t>
            </a:r>
            <a:r>
              <a:rPr lang="en-GB" sz="1600" dirty="0"/>
              <a:t>, Mexico. Modified after Brookfield &amp; </a:t>
            </a:r>
            <a:r>
              <a:rPr lang="en-GB" sz="1600" dirty="0" err="1"/>
              <a:t>Silvestro</a:t>
            </a:r>
            <a:r>
              <a:rPr lang="en-GB" sz="1600" dirty="0"/>
              <a:t> (2010). </a:t>
            </a:r>
          </a:p>
          <a:p>
            <a:pPr marL="342900" indent="-342900">
              <a:buAutoNum type="alphaUcParenR"/>
            </a:pPr>
            <a:r>
              <a:rPr lang="en-GB" sz="1600" dirty="0"/>
              <a:t>Ancient example of grainfall stratification extending uninterrupted down to the base of the lee slope and blanketing </a:t>
            </a:r>
            <a:r>
              <a:rPr lang="en-GB" sz="1600" dirty="0" err="1"/>
              <a:t>grainflow</a:t>
            </a:r>
            <a:r>
              <a:rPr lang="en-GB" sz="1600" dirty="0"/>
              <a:t> stratification. Jurassic Page Sandstone, Arizona, USA. The white lines indicate set-bounding surfaces. The pink line indicates a reactivation surface, which records a period of lee-face erosion bounded by packages representing lee-face deposition. </a:t>
            </a:r>
          </a:p>
          <a:p>
            <a:pPr marL="342900" indent="-342900">
              <a:buAutoNum type="alphaUcParenR"/>
            </a:pPr>
            <a:r>
              <a:rPr lang="en-GB" sz="1600" dirty="0"/>
              <a:t>Detail of individual units of </a:t>
            </a:r>
            <a:r>
              <a:rPr lang="en-GB" sz="1600" dirty="0" err="1"/>
              <a:t>grainflow</a:t>
            </a:r>
            <a:r>
              <a:rPr lang="en-GB" sz="1600" dirty="0"/>
              <a:t> stratification, each separated by thin, tabular units of grainfall stratification. Modified after Cardenas et al. (2019).</a:t>
            </a:r>
          </a:p>
        </p:txBody>
      </p:sp>
      <p:sp>
        <p:nvSpPr>
          <p:cNvPr id="6" name="TextBox 5"/>
          <p:cNvSpPr txBox="1"/>
          <p:nvPr/>
        </p:nvSpPr>
        <p:spPr>
          <a:xfrm>
            <a:off x="7038676" y="6467578"/>
            <a:ext cx="3454400" cy="369332"/>
          </a:xfrm>
          <a:prstGeom prst="rect">
            <a:avLst/>
          </a:prstGeom>
          <a:noFill/>
        </p:spPr>
        <p:txBody>
          <a:bodyPr wrap="square" rtlCol="0">
            <a:spAutoFit/>
          </a:bodyPr>
          <a:lstStyle/>
          <a:p>
            <a:r>
              <a:rPr lang="en-GB" dirty="0"/>
              <a:t>Image: Mountney et al., 2023</a:t>
            </a:r>
          </a:p>
        </p:txBody>
      </p:sp>
      <p:sp>
        <p:nvSpPr>
          <p:cNvPr id="8"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Associated aeolian facies: grainfall strata</a:t>
            </a:r>
          </a:p>
        </p:txBody>
      </p:sp>
    </p:spTree>
    <p:extLst>
      <p:ext uri="{BB962C8B-B14F-4D97-AF65-F5344CB8AC3E}">
        <p14:creationId xmlns:p14="http://schemas.microsoft.com/office/powerpoint/2010/main" val="3313346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Dune Facies</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135" y="1795691"/>
            <a:ext cx="9215023" cy="3986273"/>
          </a:xfrm>
          <a:prstGeom prst="rect">
            <a:avLst/>
          </a:prstGeom>
        </p:spPr>
      </p:pic>
    </p:spTree>
    <p:extLst>
      <p:ext uri="{BB962C8B-B14F-4D97-AF65-F5344CB8AC3E}">
        <p14:creationId xmlns:p14="http://schemas.microsoft.com/office/powerpoint/2010/main" val="16775732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Dune Facies</a:t>
            </a:r>
          </a:p>
        </p:txBody>
      </p:sp>
      <p:grpSp>
        <p:nvGrpSpPr>
          <p:cNvPr id="6" name="Group 5"/>
          <p:cNvGrpSpPr/>
          <p:nvPr/>
        </p:nvGrpSpPr>
        <p:grpSpPr>
          <a:xfrm>
            <a:off x="7539423" y="944055"/>
            <a:ext cx="3987595" cy="4268598"/>
            <a:chOff x="184732" y="515524"/>
            <a:chExt cx="3180768" cy="4484361"/>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12150" t="6666" r="49369" b="50865"/>
            <a:stretch/>
          </p:blipFill>
          <p:spPr>
            <a:xfrm>
              <a:off x="184732" y="515524"/>
              <a:ext cx="3180768" cy="4484361"/>
            </a:xfrm>
            <a:prstGeom prst="rect">
              <a:avLst/>
            </a:prstGeom>
          </p:spPr>
        </p:pic>
        <p:sp>
          <p:nvSpPr>
            <p:cNvPr id="8" name="TextBox 7"/>
            <p:cNvSpPr txBox="1"/>
            <p:nvPr/>
          </p:nvSpPr>
          <p:spPr>
            <a:xfrm>
              <a:off x="184732" y="3503027"/>
              <a:ext cx="292068" cy="246221"/>
            </a:xfrm>
            <a:prstGeom prst="rect">
              <a:avLst/>
            </a:prstGeom>
            <a:noFill/>
          </p:spPr>
          <p:txBody>
            <a:bodyPr wrap="none" rtlCol="0">
              <a:spAutoFit/>
            </a:bodyPr>
            <a:lstStyle/>
            <a:p>
              <a:r>
                <a:rPr lang="en-GB" sz="1000" dirty="0"/>
                <a:t>m</a:t>
              </a:r>
            </a:p>
          </p:txBody>
        </p:sp>
        <p:sp>
          <p:nvSpPr>
            <p:cNvPr id="9" name="TextBox 8"/>
            <p:cNvSpPr txBox="1"/>
            <p:nvPr/>
          </p:nvSpPr>
          <p:spPr>
            <a:xfrm>
              <a:off x="927237" y="4615343"/>
              <a:ext cx="292068" cy="246221"/>
            </a:xfrm>
            <a:prstGeom prst="rect">
              <a:avLst/>
            </a:prstGeom>
            <a:noFill/>
          </p:spPr>
          <p:txBody>
            <a:bodyPr wrap="none" rtlCol="0">
              <a:spAutoFit/>
            </a:bodyPr>
            <a:lstStyle/>
            <a:p>
              <a:r>
                <a:rPr lang="en-GB" sz="1000" dirty="0"/>
                <a:t>m</a:t>
              </a:r>
            </a:p>
          </p:txBody>
        </p:sp>
        <p:sp>
          <p:nvSpPr>
            <p:cNvPr id="10" name="TextBox 9"/>
            <p:cNvSpPr txBox="1"/>
            <p:nvPr/>
          </p:nvSpPr>
          <p:spPr>
            <a:xfrm>
              <a:off x="2504400" y="4581490"/>
              <a:ext cx="292068" cy="246221"/>
            </a:xfrm>
            <a:prstGeom prst="rect">
              <a:avLst/>
            </a:prstGeom>
            <a:noFill/>
          </p:spPr>
          <p:txBody>
            <a:bodyPr wrap="none" rtlCol="0">
              <a:spAutoFit/>
            </a:bodyPr>
            <a:lstStyle/>
            <a:p>
              <a:r>
                <a:rPr lang="en-GB" sz="1000" dirty="0"/>
                <a:t>m</a:t>
              </a:r>
            </a:p>
          </p:txBody>
        </p:sp>
        <p:sp>
          <p:nvSpPr>
            <p:cNvPr id="11" name="TextBox 10"/>
            <p:cNvSpPr txBox="1"/>
            <p:nvPr/>
          </p:nvSpPr>
          <p:spPr>
            <a:xfrm>
              <a:off x="195366" y="1557270"/>
              <a:ext cx="292068" cy="246221"/>
            </a:xfrm>
            <a:prstGeom prst="rect">
              <a:avLst/>
            </a:prstGeom>
            <a:noFill/>
          </p:spPr>
          <p:txBody>
            <a:bodyPr wrap="none" rtlCol="0">
              <a:spAutoFit/>
            </a:bodyPr>
            <a:lstStyle/>
            <a:p>
              <a:r>
                <a:rPr lang="en-GB" sz="1000" dirty="0"/>
                <a:t>m</a:t>
              </a:r>
            </a:p>
          </p:txBody>
        </p:sp>
        <p:sp>
          <p:nvSpPr>
            <p:cNvPr id="12" name="TextBox 11"/>
            <p:cNvSpPr txBox="1"/>
            <p:nvPr/>
          </p:nvSpPr>
          <p:spPr>
            <a:xfrm>
              <a:off x="937871" y="2669586"/>
              <a:ext cx="292068" cy="246221"/>
            </a:xfrm>
            <a:prstGeom prst="rect">
              <a:avLst/>
            </a:prstGeom>
            <a:noFill/>
          </p:spPr>
          <p:txBody>
            <a:bodyPr wrap="none" rtlCol="0">
              <a:spAutoFit/>
            </a:bodyPr>
            <a:lstStyle/>
            <a:p>
              <a:r>
                <a:rPr lang="en-GB" sz="1000" dirty="0"/>
                <a:t>m</a:t>
              </a:r>
            </a:p>
          </p:txBody>
        </p:sp>
        <p:sp>
          <p:nvSpPr>
            <p:cNvPr id="14" name="TextBox 13"/>
            <p:cNvSpPr txBox="1"/>
            <p:nvPr/>
          </p:nvSpPr>
          <p:spPr>
            <a:xfrm>
              <a:off x="2515034" y="2635733"/>
              <a:ext cx="292068" cy="246221"/>
            </a:xfrm>
            <a:prstGeom prst="rect">
              <a:avLst/>
            </a:prstGeom>
            <a:noFill/>
          </p:spPr>
          <p:txBody>
            <a:bodyPr wrap="none" rtlCol="0">
              <a:spAutoFit/>
            </a:bodyPr>
            <a:lstStyle/>
            <a:p>
              <a:r>
                <a:rPr lang="en-GB" sz="1000" dirty="0"/>
                <a:t>m</a:t>
              </a:r>
            </a:p>
          </p:txBody>
        </p:sp>
      </p:grpSp>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11094" t="7442" r="11798" b="57554"/>
          <a:stretch/>
        </p:blipFill>
        <p:spPr>
          <a:xfrm>
            <a:off x="2859513" y="3972888"/>
            <a:ext cx="4185561" cy="2427244"/>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0756" y="1356590"/>
            <a:ext cx="3326249" cy="2616298"/>
          </a:xfrm>
          <a:prstGeom prst="rect">
            <a:avLst/>
          </a:prstGeom>
        </p:spPr>
      </p:pic>
      <p:sp>
        <p:nvSpPr>
          <p:cNvPr id="17" name="TextBox 16"/>
          <p:cNvSpPr txBox="1"/>
          <p:nvPr/>
        </p:nvSpPr>
        <p:spPr>
          <a:xfrm>
            <a:off x="2954340" y="3664707"/>
            <a:ext cx="1182666" cy="276999"/>
          </a:xfrm>
          <a:prstGeom prst="rect">
            <a:avLst/>
          </a:prstGeom>
          <a:noFill/>
        </p:spPr>
        <p:txBody>
          <a:bodyPr wrap="square" rtlCol="0">
            <a:spAutoFit/>
          </a:bodyPr>
          <a:lstStyle/>
          <a:p>
            <a:r>
              <a:rPr lang="en-GB" sz="1200" dirty="0"/>
              <a:t>McKee (1966)</a:t>
            </a:r>
          </a:p>
        </p:txBody>
      </p:sp>
      <p:sp>
        <p:nvSpPr>
          <p:cNvPr id="18" name="TextBox 17"/>
          <p:cNvSpPr txBox="1"/>
          <p:nvPr/>
        </p:nvSpPr>
        <p:spPr>
          <a:xfrm>
            <a:off x="4305649" y="3522127"/>
            <a:ext cx="2151024" cy="523220"/>
          </a:xfrm>
          <a:prstGeom prst="rect">
            <a:avLst/>
          </a:prstGeom>
          <a:noFill/>
        </p:spPr>
        <p:txBody>
          <a:bodyPr wrap="square" rtlCol="0">
            <a:spAutoFit/>
          </a:bodyPr>
          <a:lstStyle/>
          <a:p>
            <a:r>
              <a:rPr lang="en-GB" sz="1400" b="1" dirty="0"/>
              <a:t>Below.</a:t>
            </a:r>
            <a:r>
              <a:rPr lang="en-GB" sz="1400" dirty="0"/>
              <a:t> 2D GPR profiles, </a:t>
            </a:r>
            <a:r>
              <a:rPr lang="en-GB" sz="1400" dirty="0" err="1"/>
              <a:t>barchan</a:t>
            </a:r>
            <a:r>
              <a:rPr lang="en-GB" sz="1400" dirty="0"/>
              <a:t> dune, Morocco</a:t>
            </a:r>
          </a:p>
        </p:txBody>
      </p:sp>
      <p:sp>
        <p:nvSpPr>
          <p:cNvPr id="19" name="TextBox 18"/>
          <p:cNvSpPr txBox="1"/>
          <p:nvPr/>
        </p:nvSpPr>
        <p:spPr>
          <a:xfrm>
            <a:off x="4476401" y="1325562"/>
            <a:ext cx="1951181" cy="2031325"/>
          </a:xfrm>
          <a:prstGeom prst="rect">
            <a:avLst/>
          </a:prstGeom>
          <a:noFill/>
        </p:spPr>
        <p:txBody>
          <a:bodyPr wrap="square" rtlCol="0">
            <a:spAutoFit/>
          </a:bodyPr>
          <a:lstStyle/>
          <a:p>
            <a:r>
              <a:rPr lang="en-GB" sz="1400" b="1" dirty="0"/>
              <a:t>Right.</a:t>
            </a:r>
            <a:r>
              <a:rPr lang="en-GB" sz="1400" dirty="0"/>
              <a:t> 3D GPR data imaging superimposition surfaces arising form the migration of transverse dunes along the flanks for a larger </a:t>
            </a:r>
            <a:r>
              <a:rPr lang="en-GB" sz="1400" dirty="0" err="1"/>
              <a:t>megadune</a:t>
            </a:r>
            <a:r>
              <a:rPr lang="en-GB" sz="1400" dirty="0"/>
              <a:t>, Namib Sand Sea.</a:t>
            </a:r>
          </a:p>
        </p:txBody>
      </p:sp>
      <p:sp>
        <p:nvSpPr>
          <p:cNvPr id="20" name="TextBox 19"/>
          <p:cNvSpPr txBox="1"/>
          <p:nvPr/>
        </p:nvSpPr>
        <p:spPr>
          <a:xfrm>
            <a:off x="810756" y="4108380"/>
            <a:ext cx="2048758" cy="1600438"/>
          </a:xfrm>
          <a:prstGeom prst="rect">
            <a:avLst/>
          </a:prstGeom>
          <a:noFill/>
        </p:spPr>
        <p:txBody>
          <a:bodyPr wrap="square" rtlCol="0">
            <a:spAutoFit/>
          </a:bodyPr>
          <a:lstStyle/>
          <a:p>
            <a:r>
              <a:rPr lang="en-GB" sz="1400" b="1" dirty="0"/>
              <a:t>Above.</a:t>
            </a:r>
            <a:r>
              <a:rPr lang="en-GB" sz="1400" dirty="0"/>
              <a:t> The old days… trenching through dune sands with weak gypsum cement using unusual sedimentological field equipment, White Sands, New Mexico.  </a:t>
            </a:r>
          </a:p>
        </p:txBody>
      </p:sp>
      <p:sp>
        <p:nvSpPr>
          <p:cNvPr id="21" name="TextBox 20"/>
          <p:cNvSpPr txBox="1"/>
          <p:nvPr/>
        </p:nvSpPr>
        <p:spPr>
          <a:xfrm>
            <a:off x="8424690" y="5336547"/>
            <a:ext cx="2036135" cy="276999"/>
          </a:xfrm>
          <a:prstGeom prst="rect">
            <a:avLst/>
          </a:prstGeom>
          <a:noFill/>
        </p:spPr>
        <p:txBody>
          <a:bodyPr wrap="none" rtlCol="0">
            <a:spAutoFit/>
          </a:bodyPr>
          <a:lstStyle/>
          <a:p>
            <a:r>
              <a:rPr lang="en-GB" sz="1200" dirty="0"/>
              <a:t>Bristow &amp; Mountney (2012)</a:t>
            </a:r>
          </a:p>
        </p:txBody>
      </p:sp>
    </p:spTree>
    <p:extLst>
      <p:ext uri="{BB962C8B-B14F-4D97-AF65-F5344CB8AC3E}">
        <p14:creationId xmlns:p14="http://schemas.microsoft.com/office/powerpoint/2010/main" val="905047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Dune Facies</a:t>
            </a:r>
          </a:p>
        </p:txBody>
      </p:sp>
      <p:pic>
        <p:nvPicPr>
          <p:cNvPr id="6" name="Picture 5"/>
          <p:cNvPicPr>
            <a:picLocks noChangeAspect="1"/>
          </p:cNvPicPr>
          <p:nvPr/>
        </p:nvPicPr>
        <p:blipFill>
          <a:blip r:embed="rId3"/>
          <a:stretch>
            <a:fillRect/>
          </a:stretch>
        </p:blipFill>
        <p:spPr>
          <a:xfrm>
            <a:off x="1" y="870856"/>
            <a:ext cx="7150608" cy="5144148"/>
          </a:xfrm>
          <a:prstGeom prst="rect">
            <a:avLst/>
          </a:prstGeom>
        </p:spPr>
      </p:pic>
      <p:sp>
        <p:nvSpPr>
          <p:cNvPr id="7" name="TextBox 6"/>
          <p:cNvSpPr txBox="1"/>
          <p:nvPr/>
        </p:nvSpPr>
        <p:spPr>
          <a:xfrm>
            <a:off x="80818" y="6015004"/>
            <a:ext cx="6996638" cy="738664"/>
          </a:xfrm>
          <a:prstGeom prst="rect">
            <a:avLst/>
          </a:prstGeom>
          <a:noFill/>
        </p:spPr>
        <p:txBody>
          <a:bodyPr wrap="square" rtlCol="0">
            <a:spAutoFit/>
          </a:bodyPr>
          <a:lstStyle/>
          <a:p>
            <a:r>
              <a:rPr lang="en-GB" sz="1400" dirty="0"/>
              <a:t>Cross-stratification arising from aeolian dune migration and accumulation. Schematic block diagram showing the different small-scale structures of </a:t>
            </a:r>
            <a:r>
              <a:rPr lang="en-GB" sz="1400" dirty="0" err="1"/>
              <a:t>foresets</a:t>
            </a:r>
            <a:r>
              <a:rPr lang="en-GB" sz="1400" dirty="0"/>
              <a:t> of different type: simple cone-shape </a:t>
            </a:r>
            <a:r>
              <a:rPr lang="en-GB" sz="1400" dirty="0" err="1"/>
              <a:t>grainflow</a:t>
            </a:r>
            <a:r>
              <a:rPr lang="en-GB" sz="1400" dirty="0"/>
              <a:t> strata, grainfall strata and climbing-ripple strata. </a:t>
            </a:r>
          </a:p>
        </p:txBody>
      </p:sp>
      <p:pic>
        <p:nvPicPr>
          <p:cNvPr id="8" name="Picture 7"/>
          <p:cNvPicPr>
            <a:picLocks noChangeAspect="1"/>
          </p:cNvPicPr>
          <p:nvPr/>
        </p:nvPicPr>
        <p:blipFill>
          <a:blip r:embed="rId4"/>
          <a:stretch>
            <a:fillRect/>
          </a:stretch>
        </p:blipFill>
        <p:spPr>
          <a:xfrm>
            <a:off x="7231426" y="948496"/>
            <a:ext cx="4743504" cy="2464542"/>
          </a:xfrm>
          <a:prstGeom prst="rect">
            <a:avLst/>
          </a:prstGeom>
        </p:spPr>
      </p:pic>
      <p:pic>
        <p:nvPicPr>
          <p:cNvPr id="9" name="Picture 8"/>
          <p:cNvPicPr>
            <a:picLocks noChangeAspect="1"/>
          </p:cNvPicPr>
          <p:nvPr/>
        </p:nvPicPr>
        <p:blipFill>
          <a:blip r:embed="rId5"/>
          <a:stretch>
            <a:fillRect/>
          </a:stretch>
        </p:blipFill>
        <p:spPr>
          <a:xfrm>
            <a:off x="7231426" y="3442931"/>
            <a:ext cx="4743504" cy="2445806"/>
          </a:xfrm>
          <a:prstGeom prst="rect">
            <a:avLst/>
          </a:prstGeom>
        </p:spPr>
      </p:pic>
      <p:sp>
        <p:nvSpPr>
          <p:cNvPr id="10" name="TextBox 9"/>
          <p:cNvSpPr txBox="1"/>
          <p:nvPr/>
        </p:nvSpPr>
        <p:spPr>
          <a:xfrm>
            <a:off x="7077456" y="5876505"/>
            <a:ext cx="5213558" cy="1015663"/>
          </a:xfrm>
          <a:prstGeom prst="rect">
            <a:avLst/>
          </a:prstGeom>
          <a:noFill/>
        </p:spPr>
        <p:txBody>
          <a:bodyPr wrap="square" rtlCol="0">
            <a:spAutoFit/>
          </a:bodyPr>
          <a:lstStyle/>
          <a:p>
            <a:r>
              <a:rPr lang="en-GB" sz="1200" dirty="0"/>
              <a:t>Top: Tongues of mixed </a:t>
            </a:r>
            <a:r>
              <a:rPr lang="en-GB" sz="1200" dirty="0" err="1"/>
              <a:t>grainflow</a:t>
            </a:r>
            <a:r>
              <a:rPr lang="en-GB" sz="1200" dirty="0"/>
              <a:t> and grainfall strata interbedded with and pinching out into wind-ripple strata at the toe of a cross-stratified dune set. Permian lower Cutler beds, Utah, USA. Bottom: Sharply defined tongues of </a:t>
            </a:r>
            <a:r>
              <a:rPr lang="en-GB" sz="1200" dirty="0" err="1"/>
              <a:t>grainflow</a:t>
            </a:r>
            <a:r>
              <a:rPr lang="en-GB" sz="1200" dirty="0"/>
              <a:t> strata interbedded with and pinching out into wind-ripple strata at the toe of a cross-stratified dune set. Permian Cedar Mesa Sandstone, Utah, USA. </a:t>
            </a:r>
          </a:p>
        </p:txBody>
      </p:sp>
      <p:sp>
        <p:nvSpPr>
          <p:cNvPr id="11" name="TextBox 10"/>
          <p:cNvSpPr txBox="1"/>
          <p:nvPr/>
        </p:nvSpPr>
        <p:spPr>
          <a:xfrm>
            <a:off x="7222835" y="948496"/>
            <a:ext cx="3454400" cy="369332"/>
          </a:xfrm>
          <a:prstGeom prst="rect">
            <a:avLst/>
          </a:prstGeom>
          <a:noFill/>
        </p:spPr>
        <p:txBody>
          <a:bodyPr wrap="square" rtlCol="0">
            <a:spAutoFit/>
          </a:bodyPr>
          <a:lstStyle/>
          <a:p>
            <a:r>
              <a:rPr lang="en-GB" dirty="0"/>
              <a:t>Images: Mountney et al., 2023</a:t>
            </a:r>
          </a:p>
        </p:txBody>
      </p:sp>
    </p:spTree>
    <p:extLst>
      <p:ext uri="{BB962C8B-B14F-4D97-AF65-F5344CB8AC3E}">
        <p14:creationId xmlns:p14="http://schemas.microsoft.com/office/powerpoint/2010/main" val="2632030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Dune Facies</a:t>
            </a:r>
          </a:p>
        </p:txBody>
      </p:sp>
      <p:sp>
        <p:nvSpPr>
          <p:cNvPr id="13" name="Text Box 4">
            <a:extLst>
              <a:ext uri="{FF2B5EF4-FFF2-40B4-BE49-F238E27FC236}">
                <a16:creationId xmlns:a16="http://schemas.microsoft.com/office/drawing/2014/main" id="{17060F27-BE6C-4801-9851-98F10F4B23BB}"/>
              </a:ext>
            </a:extLst>
          </p:cNvPr>
          <p:cNvSpPr txBox="1">
            <a:spLocks noChangeArrowheads="1"/>
          </p:cNvSpPr>
          <p:nvPr/>
        </p:nvSpPr>
        <p:spPr bwMode="auto">
          <a:xfrm>
            <a:off x="319506" y="-524083"/>
            <a:ext cx="605326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altLang="en-US" sz="2100" b="1" dirty="0"/>
              <a:t>Bedform climbing in a dry aeolian succession</a:t>
            </a:r>
          </a:p>
        </p:txBody>
      </p:sp>
      <p:pic>
        <p:nvPicPr>
          <p:cNvPr id="2" name="Picture 1"/>
          <p:cNvPicPr>
            <a:picLocks noChangeAspect="1"/>
          </p:cNvPicPr>
          <p:nvPr/>
        </p:nvPicPr>
        <p:blipFill>
          <a:blip r:embed="rId3"/>
          <a:stretch>
            <a:fillRect/>
          </a:stretch>
        </p:blipFill>
        <p:spPr>
          <a:xfrm>
            <a:off x="1322435" y="870856"/>
            <a:ext cx="9144793" cy="5974598"/>
          </a:xfrm>
          <a:prstGeom prst="rect">
            <a:avLst/>
          </a:prstGeom>
        </p:spPr>
      </p:pic>
      <p:sp>
        <p:nvSpPr>
          <p:cNvPr id="22" name="Text Box 3">
            <a:extLst>
              <a:ext uri="{FF2B5EF4-FFF2-40B4-BE49-F238E27FC236}">
                <a16:creationId xmlns:a16="http://schemas.microsoft.com/office/drawing/2014/main" id="{142EE3A9-E705-4D4C-9518-13E85D71FF9C}"/>
              </a:ext>
            </a:extLst>
          </p:cNvPr>
          <p:cNvSpPr txBox="1">
            <a:spLocks noChangeArrowheads="1"/>
          </p:cNvSpPr>
          <p:nvPr/>
        </p:nvSpPr>
        <p:spPr bwMode="auto">
          <a:xfrm>
            <a:off x="1950794" y="6273406"/>
            <a:ext cx="2606804" cy="484748"/>
          </a:xfrm>
          <a:prstGeom prst="rect">
            <a:avLst/>
          </a:prstGeom>
          <a:solidFill>
            <a:srgbClr val="FFFFFF">
              <a:alpha val="50000"/>
            </a:srgbClr>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altLang="en-US" sz="1275"/>
              <a:t>Large scale cross-bedding;</a:t>
            </a:r>
          </a:p>
          <a:p>
            <a:pPr eaLnBrk="0" hangingPunct="0"/>
            <a:r>
              <a:rPr lang="en-GB" altLang="en-US" sz="1275"/>
              <a:t>Jurassic Navajo Sandstone, Utah</a:t>
            </a:r>
          </a:p>
        </p:txBody>
      </p:sp>
      <p:sp>
        <p:nvSpPr>
          <p:cNvPr id="23" name="Text Box 8">
            <a:extLst>
              <a:ext uri="{FF2B5EF4-FFF2-40B4-BE49-F238E27FC236}">
                <a16:creationId xmlns:a16="http://schemas.microsoft.com/office/drawing/2014/main" id="{930B14E1-3CAE-4E3B-97AD-982E801267C4}"/>
              </a:ext>
            </a:extLst>
          </p:cNvPr>
          <p:cNvSpPr txBox="1">
            <a:spLocks noChangeArrowheads="1"/>
          </p:cNvSpPr>
          <p:nvPr/>
        </p:nvSpPr>
        <p:spPr bwMode="auto">
          <a:xfrm>
            <a:off x="3603814" y="4336542"/>
            <a:ext cx="1356122" cy="415498"/>
          </a:xfrm>
          <a:prstGeom prst="rect">
            <a:avLst/>
          </a:prstGeom>
          <a:solidFill>
            <a:srgbClr val="FFFF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050" dirty="0"/>
              <a:t>Low-angle-inclined bounding surfaces</a:t>
            </a:r>
          </a:p>
        </p:txBody>
      </p:sp>
      <p:sp>
        <p:nvSpPr>
          <p:cNvPr id="24" name="Text Box 9">
            <a:extLst>
              <a:ext uri="{FF2B5EF4-FFF2-40B4-BE49-F238E27FC236}">
                <a16:creationId xmlns:a16="http://schemas.microsoft.com/office/drawing/2014/main" id="{531FE122-BD00-4861-9251-96935C7784EA}"/>
              </a:ext>
            </a:extLst>
          </p:cNvPr>
          <p:cNvSpPr txBox="1">
            <a:spLocks noChangeArrowheads="1"/>
          </p:cNvSpPr>
          <p:nvPr/>
        </p:nvSpPr>
        <p:spPr bwMode="auto">
          <a:xfrm>
            <a:off x="7885844" y="5924836"/>
            <a:ext cx="1356122" cy="415498"/>
          </a:xfrm>
          <a:prstGeom prst="rect">
            <a:avLst/>
          </a:prstGeom>
          <a:solidFill>
            <a:srgbClr val="FFFF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050"/>
              <a:t>Climbing cross-bedded sets</a:t>
            </a:r>
          </a:p>
        </p:txBody>
      </p:sp>
      <p:sp>
        <p:nvSpPr>
          <p:cNvPr id="25" name="Line 10">
            <a:extLst>
              <a:ext uri="{FF2B5EF4-FFF2-40B4-BE49-F238E27FC236}">
                <a16:creationId xmlns:a16="http://schemas.microsoft.com/office/drawing/2014/main" id="{C8C3816A-9A9F-4C6F-8168-007FDBF1ACF2}"/>
              </a:ext>
            </a:extLst>
          </p:cNvPr>
          <p:cNvSpPr>
            <a:spLocks noChangeShapeType="1"/>
          </p:cNvSpPr>
          <p:nvPr/>
        </p:nvSpPr>
        <p:spPr bwMode="auto">
          <a:xfrm flipH="1" flipV="1">
            <a:off x="7618059" y="5356875"/>
            <a:ext cx="528530" cy="55724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 name="Line 11">
            <a:extLst>
              <a:ext uri="{FF2B5EF4-FFF2-40B4-BE49-F238E27FC236}">
                <a16:creationId xmlns:a16="http://schemas.microsoft.com/office/drawing/2014/main" id="{86A2E06E-B22E-483C-B20C-E39D181E597C}"/>
              </a:ext>
            </a:extLst>
          </p:cNvPr>
          <p:cNvSpPr>
            <a:spLocks noChangeShapeType="1"/>
          </p:cNvSpPr>
          <p:nvPr/>
        </p:nvSpPr>
        <p:spPr bwMode="auto">
          <a:xfrm flipV="1">
            <a:off x="4961127" y="4165125"/>
            <a:ext cx="641097" cy="41549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 name="Line 12">
            <a:extLst>
              <a:ext uri="{FF2B5EF4-FFF2-40B4-BE49-F238E27FC236}">
                <a16:creationId xmlns:a16="http://schemas.microsoft.com/office/drawing/2014/main" id="{9FC04F25-971E-441D-B2A6-78665DC16B57}"/>
              </a:ext>
            </a:extLst>
          </p:cNvPr>
          <p:cNvSpPr>
            <a:spLocks noChangeShapeType="1"/>
          </p:cNvSpPr>
          <p:nvPr/>
        </p:nvSpPr>
        <p:spPr bwMode="auto">
          <a:xfrm flipV="1">
            <a:off x="4946839" y="4531805"/>
            <a:ext cx="919163" cy="1095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28" name="Group 17">
            <a:extLst>
              <a:ext uri="{FF2B5EF4-FFF2-40B4-BE49-F238E27FC236}">
                <a16:creationId xmlns:a16="http://schemas.microsoft.com/office/drawing/2014/main" id="{947CEAA5-DF4A-438D-8549-916B3FD595D5}"/>
              </a:ext>
            </a:extLst>
          </p:cNvPr>
          <p:cNvGrpSpPr>
            <a:grpSpLocks/>
          </p:cNvGrpSpPr>
          <p:nvPr/>
        </p:nvGrpSpPr>
        <p:grpSpPr bwMode="auto">
          <a:xfrm>
            <a:off x="4460299" y="2767774"/>
            <a:ext cx="1356122" cy="457200"/>
            <a:chOff x="3079" y="794"/>
            <a:chExt cx="1139" cy="384"/>
          </a:xfrm>
        </p:grpSpPr>
        <p:sp>
          <p:nvSpPr>
            <p:cNvPr id="29" name="Line 15">
              <a:extLst>
                <a:ext uri="{FF2B5EF4-FFF2-40B4-BE49-F238E27FC236}">
                  <a16:creationId xmlns:a16="http://schemas.microsoft.com/office/drawing/2014/main" id="{EB437F32-7C99-43E6-B55D-0AB3C6480E42}"/>
                </a:ext>
              </a:extLst>
            </p:cNvPr>
            <p:cNvSpPr>
              <a:spLocks noChangeShapeType="1"/>
            </p:cNvSpPr>
            <p:nvPr/>
          </p:nvSpPr>
          <p:spPr bwMode="auto">
            <a:xfrm flipV="1">
              <a:off x="3281" y="1177"/>
              <a:ext cx="785"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 name="Text Box 16">
              <a:extLst>
                <a:ext uri="{FF2B5EF4-FFF2-40B4-BE49-F238E27FC236}">
                  <a16:creationId xmlns:a16="http://schemas.microsoft.com/office/drawing/2014/main" id="{3082F941-0FDB-4784-A895-874904BD9C7A}"/>
                </a:ext>
              </a:extLst>
            </p:cNvPr>
            <p:cNvSpPr txBox="1">
              <a:spLocks noChangeArrowheads="1"/>
            </p:cNvSpPr>
            <p:nvPr/>
          </p:nvSpPr>
          <p:spPr bwMode="auto">
            <a:xfrm>
              <a:off x="3079" y="794"/>
              <a:ext cx="1139" cy="349"/>
            </a:xfrm>
            <a:prstGeom prst="rect">
              <a:avLst/>
            </a:prstGeom>
            <a:solidFill>
              <a:srgbClr val="FFFF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050"/>
                <a:t>Palaeo-bedform migration direction</a:t>
              </a:r>
            </a:p>
          </p:txBody>
        </p:sp>
      </p:grpSp>
    </p:spTree>
    <p:extLst>
      <p:ext uri="{BB962C8B-B14F-4D97-AF65-F5344CB8AC3E}">
        <p14:creationId xmlns:p14="http://schemas.microsoft.com/office/powerpoint/2010/main" val="484047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945" y="5989456"/>
            <a:ext cx="11840695" cy="819274"/>
          </a:xfrm>
        </p:spPr>
        <p:txBody>
          <a:bodyPr>
            <a:normAutofit fontScale="62500" lnSpcReduction="20000"/>
          </a:bodyPr>
          <a:lstStyle/>
          <a:p>
            <a:pPr marL="0" indent="0">
              <a:buNone/>
            </a:pPr>
            <a:r>
              <a:rPr lang="en-GB" dirty="0"/>
              <a:t>Three distinct scales of aeolian bedform that commonly occur on Earth: ripples, dunes and </a:t>
            </a:r>
            <a:r>
              <a:rPr lang="en-GB" dirty="0" err="1"/>
              <a:t>megadunes</a:t>
            </a:r>
            <a:r>
              <a:rPr lang="en-GB" dirty="0"/>
              <a:t> (</a:t>
            </a:r>
            <a:r>
              <a:rPr lang="en-GB" dirty="0" err="1"/>
              <a:t>draa</a:t>
            </a:r>
            <a:r>
              <a:rPr lang="en-GB" dirty="0"/>
              <a:t>). A) Grainsize (coarsest twenty-percentile) versus wavelength for aeolian bedforms. Modified after Wilson (1972). Note that bedforms developed at scales between the three fields depicted in the graph do occur on Earth, but are less common.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a:t>
            </a:r>
          </a:p>
        </p:txBody>
      </p:sp>
      <p:pic>
        <p:nvPicPr>
          <p:cNvPr id="2" name="Picture 1"/>
          <p:cNvPicPr>
            <a:picLocks noChangeAspect="1"/>
          </p:cNvPicPr>
          <p:nvPr/>
        </p:nvPicPr>
        <p:blipFill>
          <a:blip r:embed="rId3"/>
          <a:stretch>
            <a:fillRect/>
          </a:stretch>
        </p:blipFill>
        <p:spPr>
          <a:xfrm>
            <a:off x="137945" y="942047"/>
            <a:ext cx="11916110" cy="4976218"/>
          </a:xfrm>
          <a:prstGeom prst="rect">
            <a:avLst/>
          </a:prstGeom>
        </p:spPr>
      </p:pic>
      <p:sp>
        <p:nvSpPr>
          <p:cNvPr id="6" name="Oval 5"/>
          <p:cNvSpPr/>
          <p:nvPr/>
        </p:nvSpPr>
        <p:spPr>
          <a:xfrm>
            <a:off x="6880168" y="1402774"/>
            <a:ext cx="4120342" cy="405476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6874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 dunes</a:t>
            </a:r>
          </a:p>
        </p:txBody>
      </p:sp>
      <p:sp>
        <p:nvSpPr>
          <p:cNvPr id="668" name="TextBox 667"/>
          <p:cNvSpPr txBox="1"/>
          <p:nvPr/>
        </p:nvSpPr>
        <p:spPr>
          <a:xfrm>
            <a:off x="6556248" y="902626"/>
            <a:ext cx="5202936" cy="5078313"/>
          </a:xfrm>
          <a:prstGeom prst="rect">
            <a:avLst/>
          </a:prstGeom>
          <a:noFill/>
        </p:spPr>
        <p:txBody>
          <a:bodyPr wrap="square" rtlCol="0">
            <a:spAutoFit/>
          </a:bodyPr>
          <a:lstStyle/>
          <a:p>
            <a:pPr marL="285750" indent="-285750">
              <a:buFont typeface="Wingdings" panose="05000000000000000000" pitchFamily="2" charset="2"/>
              <a:buChar char="§"/>
            </a:pPr>
            <a:r>
              <a:rPr lang="en-GB" dirty="0"/>
              <a:t>In situations where the net aeolian sediment budget is positive, accumulation occurs such that bedforms may climb over one another at various angles, thereby accumulating sets and </a:t>
            </a:r>
            <a:r>
              <a:rPr lang="en-GB" dirty="0" err="1"/>
              <a:t>cosets</a:t>
            </a:r>
            <a:r>
              <a:rPr lang="en-GB" dirty="0"/>
              <a:t> of cross strata, and associated bounding surfaces (Brookfield, 1977; Rubin &amp; Hunter, 1982; Rubin, 1987a).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These sets and </a:t>
            </a:r>
            <a:r>
              <a:rPr lang="en-GB" dirty="0" err="1"/>
              <a:t>cosets</a:t>
            </a:r>
            <a:r>
              <a:rPr lang="en-GB" dirty="0"/>
              <a:t> are themselves internally composed of smaller-scale facies units of wind-ripple, </a:t>
            </a:r>
            <a:r>
              <a:rPr lang="en-GB" dirty="0" err="1"/>
              <a:t>grainflow</a:t>
            </a:r>
            <a:r>
              <a:rPr lang="en-GB" dirty="0"/>
              <a:t>, grainfall and plane-bedded strata, the relative proportions and distributions of which are determined by how processes operated upon the formative bedforms.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Thus, dune elements are larger-scale </a:t>
            </a:r>
            <a:r>
              <a:rPr lang="en-GB" dirty="0" err="1"/>
              <a:t>stratal</a:t>
            </a:r>
            <a:r>
              <a:rPr lang="en-GB" dirty="0"/>
              <a:t> units composed of a variety of arrangements of smaller scale bodies.</a:t>
            </a:r>
          </a:p>
        </p:txBody>
      </p:sp>
      <p:pic>
        <p:nvPicPr>
          <p:cNvPr id="669" name="Picture 668"/>
          <p:cNvPicPr>
            <a:picLocks noChangeAspect="1"/>
          </p:cNvPicPr>
          <p:nvPr/>
        </p:nvPicPr>
        <p:blipFill rotWithShape="1">
          <a:blip r:embed="rId3"/>
          <a:srcRect l="577" r="703"/>
          <a:stretch/>
        </p:blipFill>
        <p:spPr>
          <a:xfrm>
            <a:off x="259865" y="1325562"/>
            <a:ext cx="6281412" cy="4023678"/>
          </a:xfrm>
          <a:prstGeom prst="rect">
            <a:avLst/>
          </a:prstGeom>
        </p:spPr>
      </p:pic>
      <p:sp>
        <p:nvSpPr>
          <p:cNvPr id="670" name="TextBox 669"/>
          <p:cNvSpPr txBox="1"/>
          <p:nvPr/>
        </p:nvSpPr>
        <p:spPr>
          <a:xfrm>
            <a:off x="80818" y="830036"/>
            <a:ext cx="2880360" cy="307777"/>
          </a:xfrm>
          <a:prstGeom prst="rect">
            <a:avLst/>
          </a:prstGeom>
          <a:noFill/>
        </p:spPr>
        <p:txBody>
          <a:bodyPr wrap="square" rtlCol="0">
            <a:spAutoFit/>
          </a:bodyPr>
          <a:lstStyle/>
          <a:p>
            <a:r>
              <a:rPr lang="en-GB" sz="1400" dirty="0"/>
              <a:t>Modified after Cain (2009)</a:t>
            </a:r>
          </a:p>
        </p:txBody>
      </p:sp>
      <p:cxnSp>
        <p:nvCxnSpPr>
          <p:cNvPr id="672" name="Straight Connector 671"/>
          <p:cNvCxnSpPr/>
          <p:nvPr/>
        </p:nvCxnSpPr>
        <p:spPr>
          <a:xfrm>
            <a:off x="1563624" y="3200400"/>
            <a:ext cx="1161288" cy="265176"/>
          </a:xfrm>
          <a:prstGeom prst="line">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4283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 dunes</a:t>
            </a:r>
          </a:p>
        </p:txBody>
      </p:sp>
      <p:sp>
        <p:nvSpPr>
          <p:cNvPr id="668" name="TextBox 667"/>
          <p:cNvSpPr txBox="1"/>
          <p:nvPr/>
        </p:nvSpPr>
        <p:spPr>
          <a:xfrm>
            <a:off x="8476488" y="902626"/>
            <a:ext cx="3282696" cy="5909310"/>
          </a:xfrm>
          <a:prstGeom prst="rect">
            <a:avLst/>
          </a:prstGeom>
          <a:noFill/>
        </p:spPr>
        <p:txBody>
          <a:bodyPr wrap="square" rtlCol="0">
            <a:spAutoFit/>
          </a:bodyPr>
          <a:lstStyle/>
          <a:p>
            <a:pPr marL="285750" indent="-285750">
              <a:buFont typeface="Wingdings" panose="05000000000000000000" pitchFamily="2" charset="2"/>
              <a:buChar char="§"/>
            </a:pPr>
            <a:r>
              <a:rPr lang="en-GB" dirty="0"/>
              <a:t>Where bedforms migrate over one another, typically as part of a bedform train, they commonly climb at low angles such that the lowermost cross-bedded deposits of one bedform are accumulated as a second bedform overrides them. </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Cross strata generated by the first bedform are partly truncated by the passage of the second. The level of truncation (cut-off) generates a set of cross-strata bounded at its top by an erosional surface, a so-called bounding surface (Brookfield, 1977; Rubin &amp; Hunter, 1982; discussed later). </a:t>
            </a:r>
          </a:p>
        </p:txBody>
      </p:sp>
      <p:pic>
        <p:nvPicPr>
          <p:cNvPr id="2" name="Picture 1"/>
          <p:cNvPicPr>
            <a:picLocks noChangeAspect="1"/>
          </p:cNvPicPr>
          <p:nvPr/>
        </p:nvPicPr>
        <p:blipFill>
          <a:blip r:embed="rId3"/>
          <a:stretch>
            <a:fillRect/>
          </a:stretch>
        </p:blipFill>
        <p:spPr>
          <a:xfrm>
            <a:off x="268855" y="1021648"/>
            <a:ext cx="8019597" cy="3217443"/>
          </a:xfrm>
          <a:prstGeom prst="rect">
            <a:avLst/>
          </a:prstGeom>
        </p:spPr>
      </p:pic>
      <p:sp>
        <p:nvSpPr>
          <p:cNvPr id="3" name="TextBox 2"/>
          <p:cNvSpPr txBox="1"/>
          <p:nvPr/>
        </p:nvSpPr>
        <p:spPr>
          <a:xfrm>
            <a:off x="342007" y="3958996"/>
            <a:ext cx="6922008" cy="430887"/>
          </a:xfrm>
          <a:prstGeom prst="rect">
            <a:avLst/>
          </a:prstGeom>
          <a:noFill/>
        </p:spPr>
        <p:txBody>
          <a:bodyPr wrap="square" rtlCol="0">
            <a:spAutoFit/>
          </a:bodyPr>
          <a:lstStyle/>
          <a:p>
            <a:r>
              <a:rPr lang="en-GB" sz="1100" dirty="0">
                <a:solidFill>
                  <a:schemeClr val="bg1"/>
                </a:solidFill>
                <a:latin typeface="Cambria" panose="02040503050406030204" pitchFamily="18" charset="0"/>
                <a:ea typeface="Cambria" panose="02040503050406030204" pitchFamily="18" charset="0"/>
              </a:rPr>
              <a:t>Photo shows cross-bedded dune-sets in the Navajo Sandstone, Utah, USA. Image courtesy of Jim Elder.</a:t>
            </a:r>
          </a:p>
          <a:p>
            <a:endParaRPr lang="en-GB" sz="1100" dirty="0">
              <a:solidFill>
                <a:schemeClr val="bg1"/>
              </a:solidFill>
            </a:endParaRPr>
          </a:p>
        </p:txBody>
      </p:sp>
      <p:pic>
        <p:nvPicPr>
          <p:cNvPr id="7" name="Picture 6"/>
          <p:cNvPicPr>
            <a:picLocks noChangeAspect="1"/>
          </p:cNvPicPr>
          <p:nvPr/>
        </p:nvPicPr>
        <p:blipFill rotWithShape="1">
          <a:blip r:embed="rId4"/>
          <a:srcRect l="2323" t="11377" r="2756" b="50743"/>
          <a:stretch/>
        </p:blipFill>
        <p:spPr>
          <a:xfrm>
            <a:off x="268855" y="4307587"/>
            <a:ext cx="8054179" cy="1865376"/>
          </a:xfrm>
          <a:prstGeom prst="rect">
            <a:avLst/>
          </a:prstGeom>
        </p:spPr>
      </p:pic>
      <p:sp>
        <p:nvSpPr>
          <p:cNvPr id="8" name="TextBox 7"/>
          <p:cNvSpPr txBox="1"/>
          <p:nvPr/>
        </p:nvSpPr>
        <p:spPr>
          <a:xfrm>
            <a:off x="172259" y="6165605"/>
            <a:ext cx="8596838" cy="646331"/>
          </a:xfrm>
          <a:prstGeom prst="rect">
            <a:avLst/>
          </a:prstGeom>
          <a:noFill/>
        </p:spPr>
        <p:txBody>
          <a:bodyPr wrap="square" rtlCol="0">
            <a:spAutoFit/>
          </a:bodyPr>
          <a:lstStyle/>
          <a:p>
            <a:r>
              <a:rPr lang="en-GB" sz="1200" dirty="0"/>
              <a:t>Idealised sections in tabular cross-stratified aeolian dune sets oriented parallel to flow. A) Planar </a:t>
            </a:r>
            <a:r>
              <a:rPr lang="en-GB" sz="1200" dirty="0" err="1"/>
              <a:t>foresets</a:t>
            </a:r>
            <a:r>
              <a:rPr lang="en-GB" sz="1200" dirty="0"/>
              <a:t> with angular bases. Common. May be generated by the migration of small transverse aeolian dunes. B) Curved </a:t>
            </a:r>
            <a:r>
              <a:rPr lang="en-GB" sz="1200" dirty="0" err="1"/>
              <a:t>foresets</a:t>
            </a:r>
            <a:r>
              <a:rPr lang="en-GB" sz="1200" dirty="0"/>
              <a:t> with asymptotic of tangential bases. Very common. May be generated by the migration of small or large aeolian dunes of various type. This type is a useful way-up indicator. </a:t>
            </a:r>
          </a:p>
        </p:txBody>
      </p:sp>
      <p:sp>
        <p:nvSpPr>
          <p:cNvPr id="9" name="TextBox 8"/>
          <p:cNvSpPr txBox="1"/>
          <p:nvPr/>
        </p:nvSpPr>
        <p:spPr>
          <a:xfrm>
            <a:off x="348611" y="5727777"/>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23079535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 interdunes</a:t>
            </a:r>
          </a:p>
        </p:txBody>
      </p:sp>
      <p:sp>
        <p:nvSpPr>
          <p:cNvPr id="2" name="TextBox 1"/>
          <p:cNvSpPr txBox="1"/>
          <p:nvPr/>
        </p:nvSpPr>
        <p:spPr>
          <a:xfrm>
            <a:off x="8831822" y="1136313"/>
            <a:ext cx="3111750" cy="5355312"/>
          </a:xfrm>
          <a:prstGeom prst="rect">
            <a:avLst/>
          </a:prstGeom>
          <a:noFill/>
        </p:spPr>
        <p:txBody>
          <a:bodyPr wrap="square" rtlCol="0">
            <a:spAutoFit/>
          </a:bodyPr>
          <a:lstStyle/>
          <a:p>
            <a:pPr marL="285750" indent="-285750">
              <a:buFont typeface="Wingdings" panose="05000000000000000000" pitchFamily="2" charset="2"/>
              <a:buChar char="§"/>
            </a:pPr>
            <a:r>
              <a:rPr lang="en-GB" dirty="0"/>
              <a:t>Aeolian interdunes are elongated, relatively flat, and sandy landforms that exist between larger sand dunes in desert and arid environments. They typically form in the low-lying areas between dune crests.</a:t>
            </a:r>
          </a:p>
          <a:p>
            <a:pPr marL="285750" indent="-285750">
              <a:buFont typeface="Wingdings" panose="05000000000000000000" pitchFamily="2" charset="2"/>
              <a:buChar char="§"/>
            </a:pPr>
            <a:r>
              <a:rPr lang="en-GB" dirty="0"/>
              <a:t>Dry interdune: water table is not in contact with the depositional surface</a:t>
            </a:r>
          </a:p>
          <a:p>
            <a:pPr marL="285750" indent="-285750">
              <a:buFont typeface="Wingdings" panose="05000000000000000000" pitchFamily="2" charset="2"/>
              <a:buChar char="§"/>
            </a:pPr>
            <a:r>
              <a:rPr lang="en-GB" dirty="0"/>
              <a:t>Damp interdune: capillary fringes of the water table are in contact with depositional surface </a:t>
            </a:r>
          </a:p>
          <a:p>
            <a:pPr marL="285750" indent="-285750">
              <a:buFont typeface="Wingdings" panose="05000000000000000000" pitchFamily="2" charset="2"/>
              <a:buChar char="§"/>
            </a:pPr>
            <a:r>
              <a:rPr lang="en-GB" dirty="0"/>
              <a:t>Wet interdune: water table is in contact with the depositional surface</a:t>
            </a:r>
          </a:p>
        </p:txBody>
      </p:sp>
      <p:pic>
        <p:nvPicPr>
          <p:cNvPr id="7" name="Picture 3">
            <a:extLst>
              <a:ext uri="{FF2B5EF4-FFF2-40B4-BE49-F238E27FC236}">
                <a16:creationId xmlns:a16="http://schemas.microsoft.com/office/drawing/2014/main" id="{B316A784-85C5-4A5A-A57E-24201276F5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6417" y="1092402"/>
            <a:ext cx="4122211" cy="324127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a:extLst>
              <a:ext uri="{FF2B5EF4-FFF2-40B4-BE49-F238E27FC236}">
                <a16:creationId xmlns:a16="http://schemas.microsoft.com/office/drawing/2014/main" id="{273D5010-48D0-457D-A827-B2FFB6F062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10500" t="5428" r="11655" b="16090"/>
          <a:stretch>
            <a:fillRect/>
          </a:stretch>
        </p:blipFill>
        <p:spPr bwMode="auto">
          <a:xfrm>
            <a:off x="123187" y="1143551"/>
            <a:ext cx="4249883" cy="323961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 name="Rectangle 5">
            <a:extLst>
              <a:ext uri="{FF2B5EF4-FFF2-40B4-BE49-F238E27FC236}">
                <a16:creationId xmlns:a16="http://schemas.microsoft.com/office/drawing/2014/main" id="{89BB8185-369F-42A9-8903-9C27D2D3F890}"/>
              </a:ext>
            </a:extLst>
          </p:cNvPr>
          <p:cNvSpPr>
            <a:spLocks noChangeArrowheads="1"/>
          </p:cNvSpPr>
          <p:nvPr/>
        </p:nvSpPr>
        <p:spPr bwMode="auto">
          <a:xfrm>
            <a:off x="6654837" y="1727221"/>
            <a:ext cx="45719" cy="8485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i="1"/>
          </a:p>
        </p:txBody>
      </p:sp>
      <p:sp>
        <p:nvSpPr>
          <p:cNvPr id="10" name="Text Box 6">
            <a:extLst>
              <a:ext uri="{FF2B5EF4-FFF2-40B4-BE49-F238E27FC236}">
                <a16:creationId xmlns:a16="http://schemas.microsoft.com/office/drawing/2014/main" id="{4C670AD1-FE0B-46F3-BA57-0419020C5F46}"/>
              </a:ext>
            </a:extLst>
          </p:cNvPr>
          <p:cNvSpPr txBox="1">
            <a:spLocks noChangeArrowheads="1"/>
          </p:cNvSpPr>
          <p:nvPr/>
        </p:nvSpPr>
        <p:spPr bwMode="auto">
          <a:xfrm>
            <a:off x="6297649" y="1737936"/>
            <a:ext cx="3330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1200" b="1">
                <a:solidFill>
                  <a:schemeClr val="bg1"/>
                </a:solidFill>
              </a:rPr>
              <a:t>6 m</a:t>
            </a:r>
          </a:p>
        </p:txBody>
      </p:sp>
      <p:sp>
        <p:nvSpPr>
          <p:cNvPr id="11" name="Text Box 7">
            <a:extLst>
              <a:ext uri="{FF2B5EF4-FFF2-40B4-BE49-F238E27FC236}">
                <a16:creationId xmlns:a16="http://schemas.microsoft.com/office/drawing/2014/main" id="{91FF07EF-C4FF-42AD-8BC3-2DBE8178C3E7}"/>
              </a:ext>
            </a:extLst>
          </p:cNvPr>
          <p:cNvSpPr txBox="1">
            <a:spLocks noChangeArrowheads="1"/>
          </p:cNvSpPr>
          <p:nvPr/>
        </p:nvSpPr>
        <p:spPr bwMode="auto">
          <a:xfrm>
            <a:off x="4427311" y="4314600"/>
            <a:ext cx="404038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1500" dirty="0"/>
              <a:t>Wet aeolian system:  </a:t>
            </a:r>
            <a:r>
              <a:rPr lang="en-GB" altLang="en-US" sz="1500" dirty="0" err="1"/>
              <a:t>Askja</a:t>
            </a:r>
            <a:r>
              <a:rPr lang="en-GB" altLang="en-US" sz="1500" dirty="0"/>
              <a:t>, NE Iceland (modern)</a:t>
            </a:r>
          </a:p>
        </p:txBody>
      </p:sp>
      <p:sp>
        <p:nvSpPr>
          <p:cNvPr id="12" name="Text Box 8">
            <a:extLst>
              <a:ext uri="{FF2B5EF4-FFF2-40B4-BE49-F238E27FC236}">
                <a16:creationId xmlns:a16="http://schemas.microsoft.com/office/drawing/2014/main" id="{EB64CDC2-8AC9-4BB0-96C5-9B4A33E1B49B}"/>
              </a:ext>
            </a:extLst>
          </p:cNvPr>
          <p:cNvSpPr txBox="1">
            <a:spLocks noChangeArrowheads="1"/>
          </p:cNvSpPr>
          <p:nvPr/>
        </p:nvSpPr>
        <p:spPr bwMode="auto">
          <a:xfrm>
            <a:off x="26524" y="4408050"/>
            <a:ext cx="4323606" cy="31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1400" dirty="0"/>
              <a:t>Dry aeolian system: Navajo Sandstone, SE Utah (Jurassic)</a:t>
            </a:r>
          </a:p>
        </p:txBody>
      </p:sp>
      <p:grpSp>
        <p:nvGrpSpPr>
          <p:cNvPr id="13" name="Group 9">
            <a:extLst>
              <a:ext uri="{FF2B5EF4-FFF2-40B4-BE49-F238E27FC236}">
                <a16:creationId xmlns:a16="http://schemas.microsoft.com/office/drawing/2014/main" id="{34C9CE90-BA7E-432C-BCFE-F94EB6023406}"/>
              </a:ext>
            </a:extLst>
          </p:cNvPr>
          <p:cNvGrpSpPr>
            <a:grpSpLocks noChangeAspect="1"/>
          </p:cNvGrpSpPr>
          <p:nvPr/>
        </p:nvGrpSpPr>
        <p:grpSpPr bwMode="auto">
          <a:xfrm>
            <a:off x="72710" y="4810362"/>
            <a:ext cx="4204670" cy="1396011"/>
            <a:chOff x="204" y="1298"/>
            <a:chExt cx="3583" cy="1190"/>
          </a:xfrm>
        </p:grpSpPr>
        <p:sp>
          <p:nvSpPr>
            <p:cNvPr id="14" name="AutoShape 10">
              <a:extLst>
                <a:ext uri="{FF2B5EF4-FFF2-40B4-BE49-F238E27FC236}">
                  <a16:creationId xmlns:a16="http://schemas.microsoft.com/office/drawing/2014/main" id="{7AC71758-F7CB-42E7-B9BF-CBBE366F20BA}"/>
                </a:ext>
              </a:extLst>
            </p:cNvPr>
            <p:cNvSpPr>
              <a:spLocks noChangeAspect="1" noChangeArrowheads="1" noTextEdit="1"/>
            </p:cNvSpPr>
            <p:nvPr/>
          </p:nvSpPr>
          <p:spPr bwMode="auto">
            <a:xfrm>
              <a:off x="204" y="1298"/>
              <a:ext cx="3583" cy="1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grpSp>
          <p:nvGrpSpPr>
            <p:cNvPr id="15" name="Group 11">
              <a:extLst>
                <a:ext uri="{FF2B5EF4-FFF2-40B4-BE49-F238E27FC236}">
                  <a16:creationId xmlns:a16="http://schemas.microsoft.com/office/drawing/2014/main" id="{0DA1B515-A793-419D-9D7B-CF9FEB70889B}"/>
                </a:ext>
              </a:extLst>
            </p:cNvPr>
            <p:cNvGrpSpPr>
              <a:grpSpLocks/>
            </p:cNvGrpSpPr>
            <p:nvPr/>
          </p:nvGrpSpPr>
          <p:grpSpPr bwMode="auto">
            <a:xfrm>
              <a:off x="223" y="1311"/>
              <a:ext cx="3551" cy="1161"/>
              <a:chOff x="223" y="1311"/>
              <a:chExt cx="3551" cy="1161"/>
            </a:xfrm>
          </p:grpSpPr>
          <p:sp>
            <p:nvSpPr>
              <p:cNvPr id="139" name="Freeform 12">
                <a:extLst>
                  <a:ext uri="{FF2B5EF4-FFF2-40B4-BE49-F238E27FC236}">
                    <a16:creationId xmlns:a16="http://schemas.microsoft.com/office/drawing/2014/main" id="{8DA6D60F-E1C9-485D-9EE6-5AD204F0FC56}"/>
                  </a:ext>
                </a:extLst>
              </p:cNvPr>
              <p:cNvSpPr>
                <a:spLocks/>
              </p:cNvSpPr>
              <p:nvPr/>
            </p:nvSpPr>
            <p:spPr bwMode="auto">
              <a:xfrm>
                <a:off x="223" y="1314"/>
                <a:ext cx="3545" cy="1158"/>
              </a:xfrm>
              <a:custGeom>
                <a:avLst/>
                <a:gdLst>
                  <a:gd name="T0" fmla="*/ 0 w 3545"/>
                  <a:gd name="T1" fmla="*/ 965 h 1158"/>
                  <a:gd name="T2" fmla="*/ 2533 w 3545"/>
                  <a:gd name="T3" fmla="*/ 1158 h 1158"/>
                  <a:gd name="T4" fmla="*/ 3545 w 3545"/>
                  <a:gd name="T5" fmla="*/ 356 h 1158"/>
                  <a:gd name="T6" fmla="*/ 3545 w 3545"/>
                  <a:gd name="T7" fmla="*/ 174 h 1158"/>
                  <a:gd name="T8" fmla="*/ 3081 w 3545"/>
                  <a:gd name="T9" fmla="*/ 144 h 1158"/>
                  <a:gd name="T10" fmla="*/ 3038 w 3545"/>
                  <a:gd name="T11" fmla="*/ 64 h 1158"/>
                  <a:gd name="T12" fmla="*/ 2795 w 3545"/>
                  <a:gd name="T13" fmla="*/ 64 h 1158"/>
                  <a:gd name="T14" fmla="*/ 2619 w 3545"/>
                  <a:gd name="T15" fmla="*/ 75 h 1158"/>
                  <a:gd name="T16" fmla="*/ 2429 w 3545"/>
                  <a:gd name="T17" fmla="*/ 96 h 1158"/>
                  <a:gd name="T18" fmla="*/ 2274 w 3545"/>
                  <a:gd name="T19" fmla="*/ 118 h 1158"/>
                  <a:gd name="T20" fmla="*/ 1687 w 3545"/>
                  <a:gd name="T21" fmla="*/ 86 h 1158"/>
                  <a:gd name="T22" fmla="*/ 1623 w 3545"/>
                  <a:gd name="T23" fmla="*/ 0 h 1158"/>
                  <a:gd name="T24" fmla="*/ 1340 w 3545"/>
                  <a:gd name="T25" fmla="*/ 37 h 1158"/>
                  <a:gd name="T26" fmla="*/ 1118 w 3545"/>
                  <a:gd name="T27" fmla="*/ 86 h 1158"/>
                  <a:gd name="T28" fmla="*/ 854 w 3545"/>
                  <a:gd name="T29" fmla="*/ 139 h 1158"/>
                  <a:gd name="T30" fmla="*/ 731 w 3545"/>
                  <a:gd name="T31" fmla="*/ 174 h 1158"/>
                  <a:gd name="T32" fmla="*/ 0 w 3545"/>
                  <a:gd name="T33" fmla="*/ 800 h 1158"/>
                  <a:gd name="T34" fmla="*/ 0 w 3545"/>
                  <a:gd name="T35" fmla="*/ 965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45" h="1158">
                    <a:moveTo>
                      <a:pt x="0" y="965"/>
                    </a:moveTo>
                    <a:lnTo>
                      <a:pt x="2533" y="1158"/>
                    </a:lnTo>
                    <a:lnTo>
                      <a:pt x="3545" y="356"/>
                    </a:lnTo>
                    <a:lnTo>
                      <a:pt x="3545" y="174"/>
                    </a:lnTo>
                    <a:lnTo>
                      <a:pt x="3081" y="144"/>
                    </a:lnTo>
                    <a:lnTo>
                      <a:pt x="3038" y="64"/>
                    </a:lnTo>
                    <a:lnTo>
                      <a:pt x="2795" y="64"/>
                    </a:lnTo>
                    <a:lnTo>
                      <a:pt x="2619" y="75"/>
                    </a:lnTo>
                    <a:lnTo>
                      <a:pt x="2429" y="96"/>
                    </a:lnTo>
                    <a:lnTo>
                      <a:pt x="2274" y="118"/>
                    </a:lnTo>
                    <a:lnTo>
                      <a:pt x="1687" y="86"/>
                    </a:lnTo>
                    <a:lnTo>
                      <a:pt x="1623" y="0"/>
                    </a:lnTo>
                    <a:lnTo>
                      <a:pt x="1340" y="37"/>
                    </a:lnTo>
                    <a:lnTo>
                      <a:pt x="1118" y="86"/>
                    </a:lnTo>
                    <a:lnTo>
                      <a:pt x="854" y="139"/>
                    </a:lnTo>
                    <a:lnTo>
                      <a:pt x="731" y="174"/>
                    </a:lnTo>
                    <a:lnTo>
                      <a:pt x="0" y="800"/>
                    </a:lnTo>
                    <a:lnTo>
                      <a:pt x="0" y="965"/>
                    </a:lnTo>
                    <a:close/>
                  </a:path>
                </a:pathLst>
              </a:custGeom>
              <a:solidFill>
                <a:srgbClr val="F9D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0" name="Freeform 13">
                <a:extLst>
                  <a:ext uri="{FF2B5EF4-FFF2-40B4-BE49-F238E27FC236}">
                    <a16:creationId xmlns:a16="http://schemas.microsoft.com/office/drawing/2014/main" id="{E1FC2B04-CB54-412B-B840-074608F72391}"/>
                  </a:ext>
                </a:extLst>
              </p:cNvPr>
              <p:cNvSpPr>
                <a:spLocks/>
              </p:cNvSpPr>
              <p:nvPr/>
            </p:nvSpPr>
            <p:spPr bwMode="auto">
              <a:xfrm>
                <a:off x="223" y="1314"/>
                <a:ext cx="3545" cy="1158"/>
              </a:xfrm>
              <a:custGeom>
                <a:avLst/>
                <a:gdLst>
                  <a:gd name="T0" fmla="*/ 0 w 3545"/>
                  <a:gd name="T1" fmla="*/ 965 h 1158"/>
                  <a:gd name="T2" fmla="*/ 2533 w 3545"/>
                  <a:gd name="T3" fmla="*/ 1158 h 1158"/>
                  <a:gd name="T4" fmla="*/ 3545 w 3545"/>
                  <a:gd name="T5" fmla="*/ 356 h 1158"/>
                  <a:gd name="T6" fmla="*/ 3545 w 3545"/>
                  <a:gd name="T7" fmla="*/ 174 h 1158"/>
                  <a:gd name="T8" fmla="*/ 3081 w 3545"/>
                  <a:gd name="T9" fmla="*/ 144 h 1158"/>
                  <a:gd name="T10" fmla="*/ 3038 w 3545"/>
                  <a:gd name="T11" fmla="*/ 64 h 1158"/>
                  <a:gd name="T12" fmla="*/ 2795 w 3545"/>
                  <a:gd name="T13" fmla="*/ 64 h 1158"/>
                  <a:gd name="T14" fmla="*/ 2619 w 3545"/>
                  <a:gd name="T15" fmla="*/ 75 h 1158"/>
                  <a:gd name="T16" fmla="*/ 2429 w 3545"/>
                  <a:gd name="T17" fmla="*/ 96 h 1158"/>
                  <a:gd name="T18" fmla="*/ 2274 w 3545"/>
                  <a:gd name="T19" fmla="*/ 118 h 1158"/>
                  <a:gd name="T20" fmla="*/ 1687 w 3545"/>
                  <a:gd name="T21" fmla="*/ 86 h 1158"/>
                  <a:gd name="T22" fmla="*/ 1623 w 3545"/>
                  <a:gd name="T23" fmla="*/ 0 h 1158"/>
                  <a:gd name="T24" fmla="*/ 1340 w 3545"/>
                  <a:gd name="T25" fmla="*/ 37 h 1158"/>
                  <a:gd name="T26" fmla="*/ 1118 w 3545"/>
                  <a:gd name="T27" fmla="*/ 86 h 1158"/>
                  <a:gd name="T28" fmla="*/ 854 w 3545"/>
                  <a:gd name="T29" fmla="*/ 139 h 1158"/>
                  <a:gd name="T30" fmla="*/ 731 w 3545"/>
                  <a:gd name="T31" fmla="*/ 174 h 1158"/>
                  <a:gd name="T32" fmla="*/ 0 w 3545"/>
                  <a:gd name="T33" fmla="*/ 800 h 1158"/>
                  <a:gd name="T34" fmla="*/ 0 w 3545"/>
                  <a:gd name="T35" fmla="*/ 965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45" h="1158">
                    <a:moveTo>
                      <a:pt x="0" y="965"/>
                    </a:moveTo>
                    <a:lnTo>
                      <a:pt x="2533" y="1158"/>
                    </a:lnTo>
                    <a:lnTo>
                      <a:pt x="3545" y="356"/>
                    </a:lnTo>
                    <a:lnTo>
                      <a:pt x="3545" y="174"/>
                    </a:lnTo>
                    <a:lnTo>
                      <a:pt x="3081" y="144"/>
                    </a:lnTo>
                    <a:lnTo>
                      <a:pt x="3038" y="64"/>
                    </a:lnTo>
                    <a:lnTo>
                      <a:pt x="2795" y="64"/>
                    </a:lnTo>
                    <a:lnTo>
                      <a:pt x="2619" y="75"/>
                    </a:lnTo>
                    <a:lnTo>
                      <a:pt x="2429" y="96"/>
                    </a:lnTo>
                    <a:lnTo>
                      <a:pt x="2274" y="118"/>
                    </a:lnTo>
                    <a:lnTo>
                      <a:pt x="1687" y="86"/>
                    </a:lnTo>
                    <a:lnTo>
                      <a:pt x="1623" y="0"/>
                    </a:lnTo>
                    <a:lnTo>
                      <a:pt x="1340" y="37"/>
                    </a:lnTo>
                    <a:lnTo>
                      <a:pt x="1118" y="86"/>
                    </a:lnTo>
                    <a:lnTo>
                      <a:pt x="854" y="139"/>
                    </a:lnTo>
                    <a:lnTo>
                      <a:pt x="731" y="174"/>
                    </a:lnTo>
                    <a:lnTo>
                      <a:pt x="0" y="800"/>
                    </a:lnTo>
                    <a:lnTo>
                      <a:pt x="0" y="965"/>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1" name="Freeform 14">
                <a:extLst>
                  <a:ext uri="{FF2B5EF4-FFF2-40B4-BE49-F238E27FC236}">
                    <a16:creationId xmlns:a16="http://schemas.microsoft.com/office/drawing/2014/main" id="{323539C7-3FAC-4A74-8F36-E91BAE487D59}"/>
                  </a:ext>
                </a:extLst>
              </p:cNvPr>
              <p:cNvSpPr>
                <a:spLocks/>
              </p:cNvSpPr>
              <p:nvPr/>
            </p:nvSpPr>
            <p:spPr bwMode="auto">
              <a:xfrm>
                <a:off x="933" y="1865"/>
                <a:ext cx="547" cy="332"/>
              </a:xfrm>
              <a:custGeom>
                <a:avLst/>
                <a:gdLst>
                  <a:gd name="T0" fmla="*/ 443 w 547"/>
                  <a:gd name="T1" fmla="*/ 5 h 332"/>
                  <a:gd name="T2" fmla="*/ 400 w 547"/>
                  <a:gd name="T3" fmla="*/ 13 h 332"/>
                  <a:gd name="T4" fmla="*/ 358 w 547"/>
                  <a:gd name="T5" fmla="*/ 21 h 332"/>
                  <a:gd name="T6" fmla="*/ 315 w 547"/>
                  <a:gd name="T7" fmla="*/ 32 h 332"/>
                  <a:gd name="T8" fmla="*/ 272 w 547"/>
                  <a:gd name="T9" fmla="*/ 45 h 332"/>
                  <a:gd name="T10" fmla="*/ 240 w 547"/>
                  <a:gd name="T11" fmla="*/ 56 h 332"/>
                  <a:gd name="T12" fmla="*/ 205 w 547"/>
                  <a:gd name="T13" fmla="*/ 69 h 332"/>
                  <a:gd name="T14" fmla="*/ 173 w 547"/>
                  <a:gd name="T15" fmla="*/ 83 h 332"/>
                  <a:gd name="T16" fmla="*/ 141 w 547"/>
                  <a:gd name="T17" fmla="*/ 99 h 332"/>
                  <a:gd name="T18" fmla="*/ 117 w 547"/>
                  <a:gd name="T19" fmla="*/ 110 h 332"/>
                  <a:gd name="T20" fmla="*/ 93 w 547"/>
                  <a:gd name="T21" fmla="*/ 123 h 332"/>
                  <a:gd name="T22" fmla="*/ 67 w 547"/>
                  <a:gd name="T23" fmla="*/ 139 h 332"/>
                  <a:gd name="T24" fmla="*/ 45 w 547"/>
                  <a:gd name="T25" fmla="*/ 155 h 332"/>
                  <a:gd name="T26" fmla="*/ 24 w 547"/>
                  <a:gd name="T27" fmla="*/ 176 h 332"/>
                  <a:gd name="T28" fmla="*/ 5 w 547"/>
                  <a:gd name="T29" fmla="*/ 200 h 332"/>
                  <a:gd name="T30" fmla="*/ 0 w 547"/>
                  <a:gd name="T31" fmla="*/ 214 h 332"/>
                  <a:gd name="T32" fmla="*/ 0 w 547"/>
                  <a:gd name="T33" fmla="*/ 227 h 332"/>
                  <a:gd name="T34" fmla="*/ 0 w 547"/>
                  <a:gd name="T35" fmla="*/ 281 h 332"/>
                  <a:gd name="T36" fmla="*/ 3 w 547"/>
                  <a:gd name="T37" fmla="*/ 313 h 332"/>
                  <a:gd name="T38" fmla="*/ 5 w 547"/>
                  <a:gd name="T39" fmla="*/ 323 h 332"/>
                  <a:gd name="T40" fmla="*/ 8 w 547"/>
                  <a:gd name="T41" fmla="*/ 329 h 332"/>
                  <a:gd name="T42" fmla="*/ 13 w 547"/>
                  <a:gd name="T43" fmla="*/ 332 h 332"/>
                  <a:gd name="T44" fmla="*/ 19 w 547"/>
                  <a:gd name="T45" fmla="*/ 329 h 332"/>
                  <a:gd name="T46" fmla="*/ 32 w 547"/>
                  <a:gd name="T47" fmla="*/ 323 h 332"/>
                  <a:gd name="T48" fmla="*/ 48 w 547"/>
                  <a:gd name="T49" fmla="*/ 313 h 332"/>
                  <a:gd name="T50" fmla="*/ 61 w 547"/>
                  <a:gd name="T51" fmla="*/ 307 h 332"/>
                  <a:gd name="T52" fmla="*/ 72 w 547"/>
                  <a:gd name="T53" fmla="*/ 305 h 332"/>
                  <a:gd name="T54" fmla="*/ 85 w 547"/>
                  <a:gd name="T55" fmla="*/ 305 h 332"/>
                  <a:gd name="T56" fmla="*/ 101 w 547"/>
                  <a:gd name="T57" fmla="*/ 305 h 332"/>
                  <a:gd name="T58" fmla="*/ 133 w 547"/>
                  <a:gd name="T59" fmla="*/ 310 h 332"/>
                  <a:gd name="T60" fmla="*/ 165 w 547"/>
                  <a:gd name="T61" fmla="*/ 313 h 332"/>
                  <a:gd name="T62" fmla="*/ 184 w 547"/>
                  <a:gd name="T63" fmla="*/ 315 h 332"/>
                  <a:gd name="T64" fmla="*/ 192 w 547"/>
                  <a:gd name="T65" fmla="*/ 315 h 332"/>
                  <a:gd name="T66" fmla="*/ 200 w 547"/>
                  <a:gd name="T67" fmla="*/ 313 h 332"/>
                  <a:gd name="T68" fmla="*/ 216 w 547"/>
                  <a:gd name="T69" fmla="*/ 310 h 332"/>
                  <a:gd name="T70" fmla="*/ 229 w 547"/>
                  <a:gd name="T71" fmla="*/ 307 h 332"/>
                  <a:gd name="T72" fmla="*/ 243 w 547"/>
                  <a:gd name="T73" fmla="*/ 299 h 332"/>
                  <a:gd name="T74" fmla="*/ 256 w 547"/>
                  <a:gd name="T75" fmla="*/ 291 h 332"/>
                  <a:gd name="T76" fmla="*/ 270 w 547"/>
                  <a:gd name="T77" fmla="*/ 283 h 332"/>
                  <a:gd name="T78" fmla="*/ 294 w 547"/>
                  <a:gd name="T79" fmla="*/ 265 h 332"/>
                  <a:gd name="T80" fmla="*/ 318 w 547"/>
                  <a:gd name="T81" fmla="*/ 251 h 332"/>
                  <a:gd name="T82" fmla="*/ 342 w 547"/>
                  <a:gd name="T83" fmla="*/ 241 h 332"/>
                  <a:gd name="T84" fmla="*/ 363 w 547"/>
                  <a:gd name="T85" fmla="*/ 230 h 332"/>
                  <a:gd name="T86" fmla="*/ 384 w 547"/>
                  <a:gd name="T87" fmla="*/ 219 h 332"/>
                  <a:gd name="T88" fmla="*/ 406 w 547"/>
                  <a:gd name="T89" fmla="*/ 206 h 332"/>
                  <a:gd name="T90" fmla="*/ 430 w 547"/>
                  <a:gd name="T91" fmla="*/ 190 h 332"/>
                  <a:gd name="T92" fmla="*/ 454 w 547"/>
                  <a:gd name="T93" fmla="*/ 174 h 332"/>
                  <a:gd name="T94" fmla="*/ 475 w 547"/>
                  <a:gd name="T95" fmla="*/ 158 h 332"/>
                  <a:gd name="T96" fmla="*/ 496 w 547"/>
                  <a:gd name="T97" fmla="*/ 139 h 332"/>
                  <a:gd name="T98" fmla="*/ 510 w 547"/>
                  <a:gd name="T99" fmla="*/ 126 h 332"/>
                  <a:gd name="T100" fmla="*/ 523 w 547"/>
                  <a:gd name="T101" fmla="*/ 110 h 332"/>
                  <a:gd name="T102" fmla="*/ 534 w 547"/>
                  <a:gd name="T103" fmla="*/ 94 h 332"/>
                  <a:gd name="T104" fmla="*/ 542 w 547"/>
                  <a:gd name="T105" fmla="*/ 77 h 332"/>
                  <a:gd name="T106" fmla="*/ 547 w 547"/>
                  <a:gd name="T107" fmla="*/ 59 h 332"/>
                  <a:gd name="T108" fmla="*/ 547 w 547"/>
                  <a:gd name="T109" fmla="*/ 37 h 332"/>
                  <a:gd name="T110" fmla="*/ 545 w 547"/>
                  <a:gd name="T111" fmla="*/ 24 h 332"/>
                  <a:gd name="T112" fmla="*/ 539 w 547"/>
                  <a:gd name="T113" fmla="*/ 13 h 332"/>
                  <a:gd name="T114" fmla="*/ 529 w 547"/>
                  <a:gd name="T115" fmla="*/ 8 h 332"/>
                  <a:gd name="T116" fmla="*/ 521 w 547"/>
                  <a:gd name="T117" fmla="*/ 5 h 332"/>
                  <a:gd name="T118" fmla="*/ 510 w 547"/>
                  <a:gd name="T119" fmla="*/ 3 h 332"/>
                  <a:gd name="T120" fmla="*/ 502 w 547"/>
                  <a:gd name="T121" fmla="*/ 0 h 332"/>
                  <a:gd name="T122" fmla="*/ 472 w 547"/>
                  <a:gd name="T123" fmla="*/ 0 h 332"/>
                  <a:gd name="T124" fmla="*/ 443 w 547"/>
                  <a:gd name="T125" fmla="*/ 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7" h="332">
                    <a:moveTo>
                      <a:pt x="443" y="5"/>
                    </a:moveTo>
                    <a:lnTo>
                      <a:pt x="400" y="13"/>
                    </a:lnTo>
                    <a:lnTo>
                      <a:pt x="358" y="21"/>
                    </a:lnTo>
                    <a:lnTo>
                      <a:pt x="315" y="32"/>
                    </a:lnTo>
                    <a:lnTo>
                      <a:pt x="272" y="45"/>
                    </a:lnTo>
                    <a:lnTo>
                      <a:pt x="240" y="56"/>
                    </a:lnTo>
                    <a:lnTo>
                      <a:pt x="205" y="69"/>
                    </a:lnTo>
                    <a:lnTo>
                      <a:pt x="173" y="83"/>
                    </a:lnTo>
                    <a:lnTo>
                      <a:pt x="141" y="99"/>
                    </a:lnTo>
                    <a:lnTo>
                      <a:pt x="117" y="110"/>
                    </a:lnTo>
                    <a:lnTo>
                      <a:pt x="93" y="123"/>
                    </a:lnTo>
                    <a:lnTo>
                      <a:pt x="67" y="139"/>
                    </a:lnTo>
                    <a:lnTo>
                      <a:pt x="45" y="155"/>
                    </a:lnTo>
                    <a:lnTo>
                      <a:pt x="24" y="176"/>
                    </a:lnTo>
                    <a:lnTo>
                      <a:pt x="5" y="200"/>
                    </a:lnTo>
                    <a:lnTo>
                      <a:pt x="0" y="214"/>
                    </a:lnTo>
                    <a:lnTo>
                      <a:pt x="0" y="227"/>
                    </a:lnTo>
                    <a:lnTo>
                      <a:pt x="0" y="281"/>
                    </a:lnTo>
                    <a:lnTo>
                      <a:pt x="3" y="313"/>
                    </a:lnTo>
                    <a:lnTo>
                      <a:pt x="5" y="323"/>
                    </a:lnTo>
                    <a:lnTo>
                      <a:pt x="8" y="329"/>
                    </a:lnTo>
                    <a:lnTo>
                      <a:pt x="13" y="332"/>
                    </a:lnTo>
                    <a:lnTo>
                      <a:pt x="19" y="329"/>
                    </a:lnTo>
                    <a:lnTo>
                      <a:pt x="32" y="323"/>
                    </a:lnTo>
                    <a:lnTo>
                      <a:pt x="48" y="313"/>
                    </a:lnTo>
                    <a:lnTo>
                      <a:pt x="61" y="307"/>
                    </a:lnTo>
                    <a:lnTo>
                      <a:pt x="72" y="305"/>
                    </a:lnTo>
                    <a:lnTo>
                      <a:pt x="85" y="305"/>
                    </a:lnTo>
                    <a:lnTo>
                      <a:pt x="101" y="305"/>
                    </a:lnTo>
                    <a:lnTo>
                      <a:pt x="133" y="310"/>
                    </a:lnTo>
                    <a:lnTo>
                      <a:pt x="165" y="313"/>
                    </a:lnTo>
                    <a:lnTo>
                      <a:pt x="184" y="315"/>
                    </a:lnTo>
                    <a:lnTo>
                      <a:pt x="192" y="315"/>
                    </a:lnTo>
                    <a:lnTo>
                      <a:pt x="200" y="313"/>
                    </a:lnTo>
                    <a:lnTo>
                      <a:pt x="216" y="310"/>
                    </a:lnTo>
                    <a:lnTo>
                      <a:pt x="229" y="307"/>
                    </a:lnTo>
                    <a:lnTo>
                      <a:pt x="243" y="299"/>
                    </a:lnTo>
                    <a:lnTo>
                      <a:pt x="256" y="291"/>
                    </a:lnTo>
                    <a:lnTo>
                      <a:pt x="270" y="283"/>
                    </a:lnTo>
                    <a:lnTo>
                      <a:pt x="294" y="265"/>
                    </a:lnTo>
                    <a:lnTo>
                      <a:pt x="318" y="251"/>
                    </a:lnTo>
                    <a:lnTo>
                      <a:pt x="342" y="241"/>
                    </a:lnTo>
                    <a:lnTo>
                      <a:pt x="363" y="230"/>
                    </a:lnTo>
                    <a:lnTo>
                      <a:pt x="384" y="219"/>
                    </a:lnTo>
                    <a:lnTo>
                      <a:pt x="406" y="206"/>
                    </a:lnTo>
                    <a:lnTo>
                      <a:pt x="430" y="190"/>
                    </a:lnTo>
                    <a:lnTo>
                      <a:pt x="454" y="174"/>
                    </a:lnTo>
                    <a:lnTo>
                      <a:pt x="475" y="158"/>
                    </a:lnTo>
                    <a:lnTo>
                      <a:pt x="496" y="139"/>
                    </a:lnTo>
                    <a:lnTo>
                      <a:pt x="510" y="126"/>
                    </a:lnTo>
                    <a:lnTo>
                      <a:pt x="523" y="110"/>
                    </a:lnTo>
                    <a:lnTo>
                      <a:pt x="534" y="94"/>
                    </a:lnTo>
                    <a:lnTo>
                      <a:pt x="542" y="77"/>
                    </a:lnTo>
                    <a:lnTo>
                      <a:pt x="547" y="59"/>
                    </a:lnTo>
                    <a:lnTo>
                      <a:pt x="547" y="37"/>
                    </a:lnTo>
                    <a:lnTo>
                      <a:pt x="545" y="24"/>
                    </a:lnTo>
                    <a:lnTo>
                      <a:pt x="539" y="13"/>
                    </a:lnTo>
                    <a:lnTo>
                      <a:pt x="529" y="8"/>
                    </a:lnTo>
                    <a:lnTo>
                      <a:pt x="521" y="5"/>
                    </a:lnTo>
                    <a:lnTo>
                      <a:pt x="510" y="3"/>
                    </a:lnTo>
                    <a:lnTo>
                      <a:pt x="502" y="0"/>
                    </a:lnTo>
                    <a:lnTo>
                      <a:pt x="472" y="0"/>
                    </a:lnTo>
                    <a:lnTo>
                      <a:pt x="443" y="5"/>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2" name="Freeform 15">
                <a:extLst>
                  <a:ext uri="{FF2B5EF4-FFF2-40B4-BE49-F238E27FC236}">
                    <a16:creationId xmlns:a16="http://schemas.microsoft.com/office/drawing/2014/main" id="{FB69C539-E63F-478E-A155-32BFF9CCF5B3}"/>
                  </a:ext>
                </a:extLst>
              </p:cNvPr>
              <p:cNvSpPr>
                <a:spLocks/>
              </p:cNvSpPr>
              <p:nvPr/>
            </p:nvSpPr>
            <p:spPr bwMode="auto">
              <a:xfrm>
                <a:off x="933" y="1865"/>
                <a:ext cx="547" cy="332"/>
              </a:xfrm>
              <a:custGeom>
                <a:avLst/>
                <a:gdLst>
                  <a:gd name="T0" fmla="*/ 443 w 547"/>
                  <a:gd name="T1" fmla="*/ 5 h 332"/>
                  <a:gd name="T2" fmla="*/ 400 w 547"/>
                  <a:gd name="T3" fmla="*/ 13 h 332"/>
                  <a:gd name="T4" fmla="*/ 358 w 547"/>
                  <a:gd name="T5" fmla="*/ 21 h 332"/>
                  <a:gd name="T6" fmla="*/ 315 w 547"/>
                  <a:gd name="T7" fmla="*/ 32 h 332"/>
                  <a:gd name="T8" fmla="*/ 272 w 547"/>
                  <a:gd name="T9" fmla="*/ 45 h 332"/>
                  <a:gd name="T10" fmla="*/ 240 w 547"/>
                  <a:gd name="T11" fmla="*/ 56 h 332"/>
                  <a:gd name="T12" fmla="*/ 205 w 547"/>
                  <a:gd name="T13" fmla="*/ 69 h 332"/>
                  <a:gd name="T14" fmla="*/ 173 w 547"/>
                  <a:gd name="T15" fmla="*/ 83 h 332"/>
                  <a:gd name="T16" fmla="*/ 141 w 547"/>
                  <a:gd name="T17" fmla="*/ 99 h 332"/>
                  <a:gd name="T18" fmla="*/ 117 w 547"/>
                  <a:gd name="T19" fmla="*/ 110 h 332"/>
                  <a:gd name="T20" fmla="*/ 93 w 547"/>
                  <a:gd name="T21" fmla="*/ 123 h 332"/>
                  <a:gd name="T22" fmla="*/ 67 w 547"/>
                  <a:gd name="T23" fmla="*/ 139 h 332"/>
                  <a:gd name="T24" fmla="*/ 45 w 547"/>
                  <a:gd name="T25" fmla="*/ 155 h 332"/>
                  <a:gd name="T26" fmla="*/ 24 w 547"/>
                  <a:gd name="T27" fmla="*/ 176 h 332"/>
                  <a:gd name="T28" fmla="*/ 5 w 547"/>
                  <a:gd name="T29" fmla="*/ 200 h 332"/>
                  <a:gd name="T30" fmla="*/ 0 w 547"/>
                  <a:gd name="T31" fmla="*/ 214 h 332"/>
                  <a:gd name="T32" fmla="*/ 0 w 547"/>
                  <a:gd name="T33" fmla="*/ 227 h 332"/>
                  <a:gd name="T34" fmla="*/ 0 w 547"/>
                  <a:gd name="T35" fmla="*/ 281 h 332"/>
                  <a:gd name="T36" fmla="*/ 3 w 547"/>
                  <a:gd name="T37" fmla="*/ 313 h 332"/>
                  <a:gd name="T38" fmla="*/ 5 w 547"/>
                  <a:gd name="T39" fmla="*/ 323 h 332"/>
                  <a:gd name="T40" fmla="*/ 8 w 547"/>
                  <a:gd name="T41" fmla="*/ 329 h 332"/>
                  <a:gd name="T42" fmla="*/ 13 w 547"/>
                  <a:gd name="T43" fmla="*/ 332 h 332"/>
                  <a:gd name="T44" fmla="*/ 19 w 547"/>
                  <a:gd name="T45" fmla="*/ 329 h 332"/>
                  <a:gd name="T46" fmla="*/ 32 w 547"/>
                  <a:gd name="T47" fmla="*/ 323 h 332"/>
                  <a:gd name="T48" fmla="*/ 48 w 547"/>
                  <a:gd name="T49" fmla="*/ 313 h 332"/>
                  <a:gd name="T50" fmla="*/ 61 w 547"/>
                  <a:gd name="T51" fmla="*/ 307 h 332"/>
                  <a:gd name="T52" fmla="*/ 72 w 547"/>
                  <a:gd name="T53" fmla="*/ 305 h 332"/>
                  <a:gd name="T54" fmla="*/ 85 w 547"/>
                  <a:gd name="T55" fmla="*/ 305 h 332"/>
                  <a:gd name="T56" fmla="*/ 101 w 547"/>
                  <a:gd name="T57" fmla="*/ 305 h 332"/>
                  <a:gd name="T58" fmla="*/ 133 w 547"/>
                  <a:gd name="T59" fmla="*/ 310 h 332"/>
                  <a:gd name="T60" fmla="*/ 165 w 547"/>
                  <a:gd name="T61" fmla="*/ 313 h 332"/>
                  <a:gd name="T62" fmla="*/ 184 w 547"/>
                  <a:gd name="T63" fmla="*/ 315 h 332"/>
                  <a:gd name="T64" fmla="*/ 192 w 547"/>
                  <a:gd name="T65" fmla="*/ 315 h 332"/>
                  <a:gd name="T66" fmla="*/ 200 w 547"/>
                  <a:gd name="T67" fmla="*/ 313 h 332"/>
                  <a:gd name="T68" fmla="*/ 216 w 547"/>
                  <a:gd name="T69" fmla="*/ 310 h 332"/>
                  <a:gd name="T70" fmla="*/ 229 w 547"/>
                  <a:gd name="T71" fmla="*/ 307 h 332"/>
                  <a:gd name="T72" fmla="*/ 243 w 547"/>
                  <a:gd name="T73" fmla="*/ 299 h 332"/>
                  <a:gd name="T74" fmla="*/ 256 w 547"/>
                  <a:gd name="T75" fmla="*/ 291 h 332"/>
                  <a:gd name="T76" fmla="*/ 270 w 547"/>
                  <a:gd name="T77" fmla="*/ 283 h 332"/>
                  <a:gd name="T78" fmla="*/ 294 w 547"/>
                  <a:gd name="T79" fmla="*/ 265 h 332"/>
                  <a:gd name="T80" fmla="*/ 318 w 547"/>
                  <a:gd name="T81" fmla="*/ 251 h 332"/>
                  <a:gd name="T82" fmla="*/ 342 w 547"/>
                  <a:gd name="T83" fmla="*/ 241 h 332"/>
                  <a:gd name="T84" fmla="*/ 363 w 547"/>
                  <a:gd name="T85" fmla="*/ 230 h 332"/>
                  <a:gd name="T86" fmla="*/ 384 w 547"/>
                  <a:gd name="T87" fmla="*/ 219 h 332"/>
                  <a:gd name="T88" fmla="*/ 406 w 547"/>
                  <a:gd name="T89" fmla="*/ 206 h 332"/>
                  <a:gd name="T90" fmla="*/ 430 w 547"/>
                  <a:gd name="T91" fmla="*/ 190 h 332"/>
                  <a:gd name="T92" fmla="*/ 454 w 547"/>
                  <a:gd name="T93" fmla="*/ 174 h 332"/>
                  <a:gd name="T94" fmla="*/ 475 w 547"/>
                  <a:gd name="T95" fmla="*/ 158 h 332"/>
                  <a:gd name="T96" fmla="*/ 496 w 547"/>
                  <a:gd name="T97" fmla="*/ 139 h 332"/>
                  <a:gd name="T98" fmla="*/ 510 w 547"/>
                  <a:gd name="T99" fmla="*/ 126 h 332"/>
                  <a:gd name="T100" fmla="*/ 523 w 547"/>
                  <a:gd name="T101" fmla="*/ 110 h 332"/>
                  <a:gd name="T102" fmla="*/ 534 w 547"/>
                  <a:gd name="T103" fmla="*/ 94 h 332"/>
                  <a:gd name="T104" fmla="*/ 542 w 547"/>
                  <a:gd name="T105" fmla="*/ 77 h 332"/>
                  <a:gd name="T106" fmla="*/ 547 w 547"/>
                  <a:gd name="T107" fmla="*/ 59 h 332"/>
                  <a:gd name="T108" fmla="*/ 547 w 547"/>
                  <a:gd name="T109" fmla="*/ 37 h 332"/>
                  <a:gd name="T110" fmla="*/ 545 w 547"/>
                  <a:gd name="T111" fmla="*/ 24 h 332"/>
                  <a:gd name="T112" fmla="*/ 539 w 547"/>
                  <a:gd name="T113" fmla="*/ 13 h 332"/>
                  <a:gd name="T114" fmla="*/ 529 w 547"/>
                  <a:gd name="T115" fmla="*/ 8 h 332"/>
                  <a:gd name="T116" fmla="*/ 521 w 547"/>
                  <a:gd name="T117" fmla="*/ 5 h 332"/>
                  <a:gd name="T118" fmla="*/ 510 w 547"/>
                  <a:gd name="T119" fmla="*/ 3 h 332"/>
                  <a:gd name="T120" fmla="*/ 502 w 547"/>
                  <a:gd name="T121" fmla="*/ 0 h 332"/>
                  <a:gd name="T122" fmla="*/ 472 w 547"/>
                  <a:gd name="T123" fmla="*/ 0 h 332"/>
                  <a:gd name="T124" fmla="*/ 443 w 547"/>
                  <a:gd name="T125" fmla="*/ 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7" h="332">
                    <a:moveTo>
                      <a:pt x="443" y="5"/>
                    </a:moveTo>
                    <a:lnTo>
                      <a:pt x="400" y="13"/>
                    </a:lnTo>
                    <a:lnTo>
                      <a:pt x="358" y="21"/>
                    </a:lnTo>
                    <a:lnTo>
                      <a:pt x="315" y="32"/>
                    </a:lnTo>
                    <a:lnTo>
                      <a:pt x="272" y="45"/>
                    </a:lnTo>
                    <a:lnTo>
                      <a:pt x="240" y="56"/>
                    </a:lnTo>
                    <a:lnTo>
                      <a:pt x="205" y="69"/>
                    </a:lnTo>
                    <a:lnTo>
                      <a:pt x="173" y="83"/>
                    </a:lnTo>
                    <a:lnTo>
                      <a:pt x="141" y="99"/>
                    </a:lnTo>
                    <a:lnTo>
                      <a:pt x="117" y="110"/>
                    </a:lnTo>
                    <a:lnTo>
                      <a:pt x="93" y="123"/>
                    </a:lnTo>
                    <a:lnTo>
                      <a:pt x="67" y="139"/>
                    </a:lnTo>
                    <a:lnTo>
                      <a:pt x="45" y="155"/>
                    </a:lnTo>
                    <a:lnTo>
                      <a:pt x="24" y="176"/>
                    </a:lnTo>
                    <a:lnTo>
                      <a:pt x="5" y="200"/>
                    </a:lnTo>
                    <a:lnTo>
                      <a:pt x="0" y="214"/>
                    </a:lnTo>
                    <a:lnTo>
                      <a:pt x="0" y="227"/>
                    </a:lnTo>
                    <a:lnTo>
                      <a:pt x="0" y="281"/>
                    </a:lnTo>
                    <a:lnTo>
                      <a:pt x="3" y="313"/>
                    </a:lnTo>
                    <a:lnTo>
                      <a:pt x="5" y="323"/>
                    </a:lnTo>
                    <a:lnTo>
                      <a:pt x="8" y="329"/>
                    </a:lnTo>
                    <a:lnTo>
                      <a:pt x="13" y="332"/>
                    </a:lnTo>
                    <a:lnTo>
                      <a:pt x="19" y="329"/>
                    </a:lnTo>
                    <a:lnTo>
                      <a:pt x="32" y="323"/>
                    </a:lnTo>
                    <a:lnTo>
                      <a:pt x="48" y="313"/>
                    </a:lnTo>
                    <a:lnTo>
                      <a:pt x="61" y="307"/>
                    </a:lnTo>
                    <a:lnTo>
                      <a:pt x="72" y="305"/>
                    </a:lnTo>
                    <a:lnTo>
                      <a:pt x="85" y="305"/>
                    </a:lnTo>
                    <a:lnTo>
                      <a:pt x="101" y="305"/>
                    </a:lnTo>
                    <a:lnTo>
                      <a:pt x="133" y="310"/>
                    </a:lnTo>
                    <a:lnTo>
                      <a:pt x="165" y="313"/>
                    </a:lnTo>
                    <a:lnTo>
                      <a:pt x="184" y="315"/>
                    </a:lnTo>
                    <a:lnTo>
                      <a:pt x="192" y="315"/>
                    </a:lnTo>
                    <a:lnTo>
                      <a:pt x="200" y="313"/>
                    </a:lnTo>
                    <a:lnTo>
                      <a:pt x="216" y="310"/>
                    </a:lnTo>
                    <a:lnTo>
                      <a:pt x="229" y="307"/>
                    </a:lnTo>
                    <a:lnTo>
                      <a:pt x="243" y="299"/>
                    </a:lnTo>
                    <a:lnTo>
                      <a:pt x="256" y="291"/>
                    </a:lnTo>
                    <a:lnTo>
                      <a:pt x="270" y="283"/>
                    </a:lnTo>
                    <a:lnTo>
                      <a:pt x="294" y="265"/>
                    </a:lnTo>
                    <a:lnTo>
                      <a:pt x="318" y="251"/>
                    </a:lnTo>
                    <a:lnTo>
                      <a:pt x="342" y="241"/>
                    </a:lnTo>
                    <a:lnTo>
                      <a:pt x="363" y="230"/>
                    </a:lnTo>
                    <a:lnTo>
                      <a:pt x="384" y="219"/>
                    </a:lnTo>
                    <a:lnTo>
                      <a:pt x="406" y="206"/>
                    </a:lnTo>
                    <a:lnTo>
                      <a:pt x="430" y="190"/>
                    </a:lnTo>
                    <a:lnTo>
                      <a:pt x="454" y="174"/>
                    </a:lnTo>
                    <a:lnTo>
                      <a:pt x="475" y="158"/>
                    </a:lnTo>
                    <a:lnTo>
                      <a:pt x="496" y="139"/>
                    </a:lnTo>
                    <a:lnTo>
                      <a:pt x="510" y="126"/>
                    </a:lnTo>
                    <a:lnTo>
                      <a:pt x="523" y="110"/>
                    </a:lnTo>
                    <a:lnTo>
                      <a:pt x="534" y="94"/>
                    </a:lnTo>
                    <a:lnTo>
                      <a:pt x="542" y="77"/>
                    </a:lnTo>
                    <a:lnTo>
                      <a:pt x="547" y="59"/>
                    </a:lnTo>
                    <a:lnTo>
                      <a:pt x="547" y="37"/>
                    </a:lnTo>
                    <a:lnTo>
                      <a:pt x="545" y="24"/>
                    </a:lnTo>
                    <a:lnTo>
                      <a:pt x="539" y="13"/>
                    </a:lnTo>
                    <a:lnTo>
                      <a:pt x="529" y="8"/>
                    </a:lnTo>
                    <a:lnTo>
                      <a:pt x="521" y="5"/>
                    </a:lnTo>
                    <a:lnTo>
                      <a:pt x="510" y="3"/>
                    </a:lnTo>
                    <a:lnTo>
                      <a:pt x="502" y="0"/>
                    </a:lnTo>
                    <a:lnTo>
                      <a:pt x="472" y="0"/>
                    </a:lnTo>
                    <a:lnTo>
                      <a:pt x="443" y="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3" name="Freeform 16">
                <a:extLst>
                  <a:ext uri="{FF2B5EF4-FFF2-40B4-BE49-F238E27FC236}">
                    <a16:creationId xmlns:a16="http://schemas.microsoft.com/office/drawing/2014/main" id="{EEE2126B-EF85-4115-AEC1-8911CCE30DF6}"/>
                  </a:ext>
                </a:extLst>
              </p:cNvPr>
              <p:cNvSpPr>
                <a:spLocks/>
              </p:cNvSpPr>
              <p:nvPr/>
            </p:nvSpPr>
            <p:spPr bwMode="auto">
              <a:xfrm>
                <a:off x="1440" y="1432"/>
                <a:ext cx="694" cy="289"/>
              </a:xfrm>
              <a:custGeom>
                <a:avLst/>
                <a:gdLst>
                  <a:gd name="T0" fmla="*/ 649 w 694"/>
                  <a:gd name="T1" fmla="*/ 13 h 289"/>
                  <a:gd name="T2" fmla="*/ 625 w 694"/>
                  <a:gd name="T3" fmla="*/ 5 h 289"/>
                  <a:gd name="T4" fmla="*/ 598 w 694"/>
                  <a:gd name="T5" fmla="*/ 0 h 289"/>
                  <a:gd name="T6" fmla="*/ 566 w 694"/>
                  <a:gd name="T7" fmla="*/ 0 h 289"/>
                  <a:gd name="T8" fmla="*/ 537 w 694"/>
                  <a:gd name="T9" fmla="*/ 2 h 289"/>
                  <a:gd name="T10" fmla="*/ 515 w 694"/>
                  <a:gd name="T11" fmla="*/ 2 h 289"/>
                  <a:gd name="T12" fmla="*/ 491 w 694"/>
                  <a:gd name="T13" fmla="*/ 5 h 289"/>
                  <a:gd name="T14" fmla="*/ 470 w 694"/>
                  <a:gd name="T15" fmla="*/ 10 h 289"/>
                  <a:gd name="T16" fmla="*/ 449 w 694"/>
                  <a:gd name="T17" fmla="*/ 13 h 289"/>
                  <a:gd name="T18" fmla="*/ 419 w 694"/>
                  <a:gd name="T19" fmla="*/ 18 h 289"/>
                  <a:gd name="T20" fmla="*/ 390 w 694"/>
                  <a:gd name="T21" fmla="*/ 26 h 289"/>
                  <a:gd name="T22" fmla="*/ 361 w 694"/>
                  <a:gd name="T23" fmla="*/ 34 h 289"/>
                  <a:gd name="T24" fmla="*/ 331 w 694"/>
                  <a:gd name="T25" fmla="*/ 42 h 289"/>
                  <a:gd name="T26" fmla="*/ 294 w 694"/>
                  <a:gd name="T27" fmla="*/ 53 h 289"/>
                  <a:gd name="T28" fmla="*/ 254 w 694"/>
                  <a:gd name="T29" fmla="*/ 61 h 289"/>
                  <a:gd name="T30" fmla="*/ 216 w 694"/>
                  <a:gd name="T31" fmla="*/ 75 h 289"/>
                  <a:gd name="T32" fmla="*/ 179 w 694"/>
                  <a:gd name="T33" fmla="*/ 88 h 289"/>
                  <a:gd name="T34" fmla="*/ 150 w 694"/>
                  <a:gd name="T35" fmla="*/ 99 h 289"/>
                  <a:gd name="T36" fmla="*/ 118 w 694"/>
                  <a:gd name="T37" fmla="*/ 112 h 289"/>
                  <a:gd name="T38" fmla="*/ 88 w 694"/>
                  <a:gd name="T39" fmla="*/ 128 h 289"/>
                  <a:gd name="T40" fmla="*/ 62 w 694"/>
                  <a:gd name="T41" fmla="*/ 147 h 289"/>
                  <a:gd name="T42" fmla="*/ 46 w 694"/>
                  <a:gd name="T43" fmla="*/ 157 h 289"/>
                  <a:gd name="T44" fmla="*/ 30 w 694"/>
                  <a:gd name="T45" fmla="*/ 171 h 289"/>
                  <a:gd name="T46" fmla="*/ 16 w 694"/>
                  <a:gd name="T47" fmla="*/ 187 h 289"/>
                  <a:gd name="T48" fmla="*/ 6 w 694"/>
                  <a:gd name="T49" fmla="*/ 203 h 289"/>
                  <a:gd name="T50" fmla="*/ 0 w 694"/>
                  <a:gd name="T51" fmla="*/ 211 h 289"/>
                  <a:gd name="T52" fmla="*/ 0 w 694"/>
                  <a:gd name="T53" fmla="*/ 219 h 289"/>
                  <a:gd name="T54" fmla="*/ 0 w 694"/>
                  <a:gd name="T55" fmla="*/ 230 h 289"/>
                  <a:gd name="T56" fmla="*/ 3 w 694"/>
                  <a:gd name="T57" fmla="*/ 238 h 289"/>
                  <a:gd name="T58" fmla="*/ 8 w 694"/>
                  <a:gd name="T59" fmla="*/ 251 h 289"/>
                  <a:gd name="T60" fmla="*/ 16 w 694"/>
                  <a:gd name="T61" fmla="*/ 262 h 289"/>
                  <a:gd name="T62" fmla="*/ 27 w 694"/>
                  <a:gd name="T63" fmla="*/ 272 h 289"/>
                  <a:gd name="T64" fmla="*/ 40 w 694"/>
                  <a:gd name="T65" fmla="*/ 278 h 289"/>
                  <a:gd name="T66" fmla="*/ 56 w 694"/>
                  <a:gd name="T67" fmla="*/ 286 h 289"/>
                  <a:gd name="T68" fmla="*/ 75 w 694"/>
                  <a:gd name="T69" fmla="*/ 289 h 289"/>
                  <a:gd name="T70" fmla="*/ 94 w 694"/>
                  <a:gd name="T71" fmla="*/ 289 h 289"/>
                  <a:gd name="T72" fmla="*/ 112 w 694"/>
                  <a:gd name="T73" fmla="*/ 289 h 289"/>
                  <a:gd name="T74" fmla="*/ 160 w 694"/>
                  <a:gd name="T75" fmla="*/ 286 h 289"/>
                  <a:gd name="T76" fmla="*/ 206 w 694"/>
                  <a:gd name="T77" fmla="*/ 278 h 289"/>
                  <a:gd name="T78" fmla="*/ 251 w 694"/>
                  <a:gd name="T79" fmla="*/ 270 h 289"/>
                  <a:gd name="T80" fmla="*/ 294 w 694"/>
                  <a:gd name="T81" fmla="*/ 262 h 289"/>
                  <a:gd name="T82" fmla="*/ 347 w 694"/>
                  <a:gd name="T83" fmla="*/ 248 h 289"/>
                  <a:gd name="T84" fmla="*/ 401 w 694"/>
                  <a:gd name="T85" fmla="*/ 235 h 289"/>
                  <a:gd name="T86" fmla="*/ 451 w 694"/>
                  <a:gd name="T87" fmla="*/ 219 h 289"/>
                  <a:gd name="T88" fmla="*/ 505 w 694"/>
                  <a:gd name="T89" fmla="*/ 203 h 289"/>
                  <a:gd name="T90" fmla="*/ 545 w 694"/>
                  <a:gd name="T91" fmla="*/ 187 h 289"/>
                  <a:gd name="T92" fmla="*/ 585 w 694"/>
                  <a:gd name="T93" fmla="*/ 168 h 289"/>
                  <a:gd name="T94" fmla="*/ 625 w 694"/>
                  <a:gd name="T95" fmla="*/ 147 h 289"/>
                  <a:gd name="T96" fmla="*/ 662 w 694"/>
                  <a:gd name="T97" fmla="*/ 125 h 289"/>
                  <a:gd name="T98" fmla="*/ 673 w 694"/>
                  <a:gd name="T99" fmla="*/ 115 h 289"/>
                  <a:gd name="T100" fmla="*/ 684 w 694"/>
                  <a:gd name="T101" fmla="*/ 101 h 289"/>
                  <a:gd name="T102" fmla="*/ 689 w 694"/>
                  <a:gd name="T103" fmla="*/ 88 h 289"/>
                  <a:gd name="T104" fmla="*/ 694 w 694"/>
                  <a:gd name="T105" fmla="*/ 75 h 289"/>
                  <a:gd name="T106" fmla="*/ 694 w 694"/>
                  <a:gd name="T107" fmla="*/ 61 h 289"/>
                  <a:gd name="T108" fmla="*/ 694 w 694"/>
                  <a:gd name="T109" fmla="*/ 51 h 289"/>
                  <a:gd name="T110" fmla="*/ 692 w 694"/>
                  <a:gd name="T111" fmla="*/ 37 h 289"/>
                  <a:gd name="T112" fmla="*/ 686 w 694"/>
                  <a:gd name="T113" fmla="*/ 29 h 289"/>
                  <a:gd name="T114" fmla="*/ 678 w 694"/>
                  <a:gd name="T115" fmla="*/ 21 h 289"/>
                  <a:gd name="T116" fmla="*/ 670 w 694"/>
                  <a:gd name="T117" fmla="*/ 18 h 289"/>
                  <a:gd name="T118" fmla="*/ 660 w 694"/>
                  <a:gd name="T119" fmla="*/ 16 h 289"/>
                  <a:gd name="T120" fmla="*/ 649 w 694"/>
                  <a:gd name="T121" fmla="*/ 1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94" h="289">
                    <a:moveTo>
                      <a:pt x="649" y="13"/>
                    </a:moveTo>
                    <a:lnTo>
                      <a:pt x="625" y="5"/>
                    </a:lnTo>
                    <a:lnTo>
                      <a:pt x="598" y="0"/>
                    </a:lnTo>
                    <a:lnTo>
                      <a:pt x="566" y="0"/>
                    </a:lnTo>
                    <a:lnTo>
                      <a:pt x="537" y="2"/>
                    </a:lnTo>
                    <a:lnTo>
                      <a:pt x="515" y="2"/>
                    </a:lnTo>
                    <a:lnTo>
                      <a:pt x="491" y="5"/>
                    </a:lnTo>
                    <a:lnTo>
                      <a:pt x="470" y="10"/>
                    </a:lnTo>
                    <a:lnTo>
                      <a:pt x="449" y="13"/>
                    </a:lnTo>
                    <a:lnTo>
                      <a:pt x="419" y="18"/>
                    </a:lnTo>
                    <a:lnTo>
                      <a:pt x="390" y="26"/>
                    </a:lnTo>
                    <a:lnTo>
                      <a:pt x="361" y="34"/>
                    </a:lnTo>
                    <a:lnTo>
                      <a:pt x="331" y="42"/>
                    </a:lnTo>
                    <a:lnTo>
                      <a:pt x="294" y="53"/>
                    </a:lnTo>
                    <a:lnTo>
                      <a:pt x="254" y="61"/>
                    </a:lnTo>
                    <a:lnTo>
                      <a:pt x="216" y="75"/>
                    </a:lnTo>
                    <a:lnTo>
                      <a:pt x="179" y="88"/>
                    </a:lnTo>
                    <a:lnTo>
                      <a:pt x="150" y="99"/>
                    </a:lnTo>
                    <a:lnTo>
                      <a:pt x="118" y="112"/>
                    </a:lnTo>
                    <a:lnTo>
                      <a:pt x="88" y="128"/>
                    </a:lnTo>
                    <a:lnTo>
                      <a:pt x="62" y="147"/>
                    </a:lnTo>
                    <a:lnTo>
                      <a:pt x="46" y="157"/>
                    </a:lnTo>
                    <a:lnTo>
                      <a:pt x="30" y="171"/>
                    </a:lnTo>
                    <a:lnTo>
                      <a:pt x="16" y="187"/>
                    </a:lnTo>
                    <a:lnTo>
                      <a:pt x="6" y="203"/>
                    </a:lnTo>
                    <a:lnTo>
                      <a:pt x="0" y="211"/>
                    </a:lnTo>
                    <a:lnTo>
                      <a:pt x="0" y="219"/>
                    </a:lnTo>
                    <a:lnTo>
                      <a:pt x="0" y="230"/>
                    </a:lnTo>
                    <a:lnTo>
                      <a:pt x="3" y="238"/>
                    </a:lnTo>
                    <a:lnTo>
                      <a:pt x="8" y="251"/>
                    </a:lnTo>
                    <a:lnTo>
                      <a:pt x="16" y="262"/>
                    </a:lnTo>
                    <a:lnTo>
                      <a:pt x="27" y="272"/>
                    </a:lnTo>
                    <a:lnTo>
                      <a:pt x="40" y="278"/>
                    </a:lnTo>
                    <a:lnTo>
                      <a:pt x="56" y="286"/>
                    </a:lnTo>
                    <a:lnTo>
                      <a:pt x="75" y="289"/>
                    </a:lnTo>
                    <a:lnTo>
                      <a:pt x="94" y="289"/>
                    </a:lnTo>
                    <a:lnTo>
                      <a:pt x="112" y="289"/>
                    </a:lnTo>
                    <a:lnTo>
                      <a:pt x="160" y="286"/>
                    </a:lnTo>
                    <a:lnTo>
                      <a:pt x="206" y="278"/>
                    </a:lnTo>
                    <a:lnTo>
                      <a:pt x="251" y="270"/>
                    </a:lnTo>
                    <a:lnTo>
                      <a:pt x="294" y="262"/>
                    </a:lnTo>
                    <a:lnTo>
                      <a:pt x="347" y="248"/>
                    </a:lnTo>
                    <a:lnTo>
                      <a:pt x="401" y="235"/>
                    </a:lnTo>
                    <a:lnTo>
                      <a:pt x="451" y="219"/>
                    </a:lnTo>
                    <a:lnTo>
                      <a:pt x="505" y="203"/>
                    </a:lnTo>
                    <a:lnTo>
                      <a:pt x="545" y="187"/>
                    </a:lnTo>
                    <a:lnTo>
                      <a:pt x="585" y="168"/>
                    </a:lnTo>
                    <a:lnTo>
                      <a:pt x="625" y="147"/>
                    </a:lnTo>
                    <a:lnTo>
                      <a:pt x="662" y="125"/>
                    </a:lnTo>
                    <a:lnTo>
                      <a:pt x="673" y="115"/>
                    </a:lnTo>
                    <a:lnTo>
                      <a:pt x="684" y="101"/>
                    </a:lnTo>
                    <a:lnTo>
                      <a:pt x="689" y="88"/>
                    </a:lnTo>
                    <a:lnTo>
                      <a:pt x="694" y="75"/>
                    </a:lnTo>
                    <a:lnTo>
                      <a:pt x="694" y="61"/>
                    </a:lnTo>
                    <a:lnTo>
                      <a:pt x="694" y="51"/>
                    </a:lnTo>
                    <a:lnTo>
                      <a:pt x="692" y="37"/>
                    </a:lnTo>
                    <a:lnTo>
                      <a:pt x="686" y="29"/>
                    </a:lnTo>
                    <a:lnTo>
                      <a:pt x="678" y="21"/>
                    </a:lnTo>
                    <a:lnTo>
                      <a:pt x="670" y="18"/>
                    </a:lnTo>
                    <a:lnTo>
                      <a:pt x="660" y="16"/>
                    </a:lnTo>
                    <a:lnTo>
                      <a:pt x="649" y="13"/>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4" name="Freeform 17">
                <a:extLst>
                  <a:ext uri="{FF2B5EF4-FFF2-40B4-BE49-F238E27FC236}">
                    <a16:creationId xmlns:a16="http://schemas.microsoft.com/office/drawing/2014/main" id="{ACBA61FC-30E1-47F2-8617-7AF4561E05BA}"/>
                  </a:ext>
                </a:extLst>
              </p:cNvPr>
              <p:cNvSpPr>
                <a:spLocks/>
              </p:cNvSpPr>
              <p:nvPr/>
            </p:nvSpPr>
            <p:spPr bwMode="auto">
              <a:xfrm>
                <a:off x="1440" y="1432"/>
                <a:ext cx="694" cy="289"/>
              </a:xfrm>
              <a:custGeom>
                <a:avLst/>
                <a:gdLst>
                  <a:gd name="T0" fmla="*/ 649 w 694"/>
                  <a:gd name="T1" fmla="*/ 13 h 289"/>
                  <a:gd name="T2" fmla="*/ 625 w 694"/>
                  <a:gd name="T3" fmla="*/ 5 h 289"/>
                  <a:gd name="T4" fmla="*/ 598 w 694"/>
                  <a:gd name="T5" fmla="*/ 0 h 289"/>
                  <a:gd name="T6" fmla="*/ 566 w 694"/>
                  <a:gd name="T7" fmla="*/ 0 h 289"/>
                  <a:gd name="T8" fmla="*/ 537 w 694"/>
                  <a:gd name="T9" fmla="*/ 2 h 289"/>
                  <a:gd name="T10" fmla="*/ 515 w 694"/>
                  <a:gd name="T11" fmla="*/ 2 h 289"/>
                  <a:gd name="T12" fmla="*/ 491 w 694"/>
                  <a:gd name="T13" fmla="*/ 5 h 289"/>
                  <a:gd name="T14" fmla="*/ 470 w 694"/>
                  <a:gd name="T15" fmla="*/ 10 h 289"/>
                  <a:gd name="T16" fmla="*/ 449 w 694"/>
                  <a:gd name="T17" fmla="*/ 13 h 289"/>
                  <a:gd name="T18" fmla="*/ 419 w 694"/>
                  <a:gd name="T19" fmla="*/ 18 h 289"/>
                  <a:gd name="T20" fmla="*/ 390 w 694"/>
                  <a:gd name="T21" fmla="*/ 26 h 289"/>
                  <a:gd name="T22" fmla="*/ 361 w 694"/>
                  <a:gd name="T23" fmla="*/ 34 h 289"/>
                  <a:gd name="T24" fmla="*/ 331 w 694"/>
                  <a:gd name="T25" fmla="*/ 42 h 289"/>
                  <a:gd name="T26" fmla="*/ 294 w 694"/>
                  <a:gd name="T27" fmla="*/ 53 h 289"/>
                  <a:gd name="T28" fmla="*/ 254 w 694"/>
                  <a:gd name="T29" fmla="*/ 61 h 289"/>
                  <a:gd name="T30" fmla="*/ 216 w 694"/>
                  <a:gd name="T31" fmla="*/ 75 h 289"/>
                  <a:gd name="T32" fmla="*/ 179 w 694"/>
                  <a:gd name="T33" fmla="*/ 88 h 289"/>
                  <a:gd name="T34" fmla="*/ 150 w 694"/>
                  <a:gd name="T35" fmla="*/ 99 h 289"/>
                  <a:gd name="T36" fmla="*/ 118 w 694"/>
                  <a:gd name="T37" fmla="*/ 112 h 289"/>
                  <a:gd name="T38" fmla="*/ 88 w 694"/>
                  <a:gd name="T39" fmla="*/ 128 h 289"/>
                  <a:gd name="T40" fmla="*/ 62 w 694"/>
                  <a:gd name="T41" fmla="*/ 147 h 289"/>
                  <a:gd name="T42" fmla="*/ 46 w 694"/>
                  <a:gd name="T43" fmla="*/ 157 h 289"/>
                  <a:gd name="T44" fmla="*/ 30 w 694"/>
                  <a:gd name="T45" fmla="*/ 171 h 289"/>
                  <a:gd name="T46" fmla="*/ 16 w 694"/>
                  <a:gd name="T47" fmla="*/ 187 h 289"/>
                  <a:gd name="T48" fmla="*/ 6 w 694"/>
                  <a:gd name="T49" fmla="*/ 203 h 289"/>
                  <a:gd name="T50" fmla="*/ 0 w 694"/>
                  <a:gd name="T51" fmla="*/ 211 h 289"/>
                  <a:gd name="T52" fmla="*/ 0 w 694"/>
                  <a:gd name="T53" fmla="*/ 219 h 289"/>
                  <a:gd name="T54" fmla="*/ 0 w 694"/>
                  <a:gd name="T55" fmla="*/ 230 h 289"/>
                  <a:gd name="T56" fmla="*/ 3 w 694"/>
                  <a:gd name="T57" fmla="*/ 238 h 289"/>
                  <a:gd name="T58" fmla="*/ 8 w 694"/>
                  <a:gd name="T59" fmla="*/ 251 h 289"/>
                  <a:gd name="T60" fmla="*/ 16 w 694"/>
                  <a:gd name="T61" fmla="*/ 262 h 289"/>
                  <a:gd name="T62" fmla="*/ 27 w 694"/>
                  <a:gd name="T63" fmla="*/ 272 h 289"/>
                  <a:gd name="T64" fmla="*/ 40 w 694"/>
                  <a:gd name="T65" fmla="*/ 278 h 289"/>
                  <a:gd name="T66" fmla="*/ 56 w 694"/>
                  <a:gd name="T67" fmla="*/ 286 h 289"/>
                  <a:gd name="T68" fmla="*/ 75 w 694"/>
                  <a:gd name="T69" fmla="*/ 289 h 289"/>
                  <a:gd name="T70" fmla="*/ 94 w 694"/>
                  <a:gd name="T71" fmla="*/ 289 h 289"/>
                  <a:gd name="T72" fmla="*/ 112 w 694"/>
                  <a:gd name="T73" fmla="*/ 289 h 289"/>
                  <a:gd name="T74" fmla="*/ 160 w 694"/>
                  <a:gd name="T75" fmla="*/ 286 h 289"/>
                  <a:gd name="T76" fmla="*/ 206 w 694"/>
                  <a:gd name="T77" fmla="*/ 278 h 289"/>
                  <a:gd name="T78" fmla="*/ 251 w 694"/>
                  <a:gd name="T79" fmla="*/ 270 h 289"/>
                  <a:gd name="T80" fmla="*/ 294 w 694"/>
                  <a:gd name="T81" fmla="*/ 262 h 289"/>
                  <a:gd name="T82" fmla="*/ 347 w 694"/>
                  <a:gd name="T83" fmla="*/ 248 h 289"/>
                  <a:gd name="T84" fmla="*/ 401 w 694"/>
                  <a:gd name="T85" fmla="*/ 235 h 289"/>
                  <a:gd name="T86" fmla="*/ 451 w 694"/>
                  <a:gd name="T87" fmla="*/ 219 h 289"/>
                  <a:gd name="T88" fmla="*/ 505 w 694"/>
                  <a:gd name="T89" fmla="*/ 203 h 289"/>
                  <a:gd name="T90" fmla="*/ 545 w 694"/>
                  <a:gd name="T91" fmla="*/ 187 h 289"/>
                  <a:gd name="T92" fmla="*/ 585 w 694"/>
                  <a:gd name="T93" fmla="*/ 168 h 289"/>
                  <a:gd name="T94" fmla="*/ 625 w 694"/>
                  <a:gd name="T95" fmla="*/ 147 h 289"/>
                  <a:gd name="T96" fmla="*/ 662 w 694"/>
                  <a:gd name="T97" fmla="*/ 125 h 289"/>
                  <a:gd name="T98" fmla="*/ 673 w 694"/>
                  <a:gd name="T99" fmla="*/ 115 h 289"/>
                  <a:gd name="T100" fmla="*/ 684 w 694"/>
                  <a:gd name="T101" fmla="*/ 101 h 289"/>
                  <a:gd name="T102" fmla="*/ 689 w 694"/>
                  <a:gd name="T103" fmla="*/ 88 h 289"/>
                  <a:gd name="T104" fmla="*/ 694 w 694"/>
                  <a:gd name="T105" fmla="*/ 75 h 289"/>
                  <a:gd name="T106" fmla="*/ 694 w 694"/>
                  <a:gd name="T107" fmla="*/ 61 h 289"/>
                  <a:gd name="T108" fmla="*/ 694 w 694"/>
                  <a:gd name="T109" fmla="*/ 51 h 289"/>
                  <a:gd name="T110" fmla="*/ 692 w 694"/>
                  <a:gd name="T111" fmla="*/ 37 h 289"/>
                  <a:gd name="T112" fmla="*/ 686 w 694"/>
                  <a:gd name="T113" fmla="*/ 29 h 289"/>
                  <a:gd name="T114" fmla="*/ 678 w 694"/>
                  <a:gd name="T115" fmla="*/ 21 h 289"/>
                  <a:gd name="T116" fmla="*/ 670 w 694"/>
                  <a:gd name="T117" fmla="*/ 18 h 289"/>
                  <a:gd name="T118" fmla="*/ 660 w 694"/>
                  <a:gd name="T119" fmla="*/ 16 h 289"/>
                  <a:gd name="T120" fmla="*/ 649 w 694"/>
                  <a:gd name="T121" fmla="*/ 1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94" h="289">
                    <a:moveTo>
                      <a:pt x="649" y="13"/>
                    </a:moveTo>
                    <a:lnTo>
                      <a:pt x="625" y="5"/>
                    </a:lnTo>
                    <a:lnTo>
                      <a:pt x="598" y="0"/>
                    </a:lnTo>
                    <a:lnTo>
                      <a:pt x="566" y="0"/>
                    </a:lnTo>
                    <a:lnTo>
                      <a:pt x="537" y="2"/>
                    </a:lnTo>
                    <a:lnTo>
                      <a:pt x="515" y="2"/>
                    </a:lnTo>
                    <a:lnTo>
                      <a:pt x="491" y="5"/>
                    </a:lnTo>
                    <a:lnTo>
                      <a:pt x="470" y="10"/>
                    </a:lnTo>
                    <a:lnTo>
                      <a:pt x="449" y="13"/>
                    </a:lnTo>
                    <a:lnTo>
                      <a:pt x="419" y="18"/>
                    </a:lnTo>
                    <a:lnTo>
                      <a:pt x="390" y="26"/>
                    </a:lnTo>
                    <a:lnTo>
                      <a:pt x="361" y="34"/>
                    </a:lnTo>
                    <a:lnTo>
                      <a:pt x="331" y="42"/>
                    </a:lnTo>
                    <a:lnTo>
                      <a:pt x="294" y="53"/>
                    </a:lnTo>
                    <a:lnTo>
                      <a:pt x="254" y="61"/>
                    </a:lnTo>
                    <a:lnTo>
                      <a:pt x="216" y="75"/>
                    </a:lnTo>
                    <a:lnTo>
                      <a:pt x="179" y="88"/>
                    </a:lnTo>
                    <a:lnTo>
                      <a:pt x="150" y="99"/>
                    </a:lnTo>
                    <a:lnTo>
                      <a:pt x="118" y="112"/>
                    </a:lnTo>
                    <a:lnTo>
                      <a:pt x="88" y="128"/>
                    </a:lnTo>
                    <a:lnTo>
                      <a:pt x="62" y="147"/>
                    </a:lnTo>
                    <a:lnTo>
                      <a:pt x="46" y="157"/>
                    </a:lnTo>
                    <a:lnTo>
                      <a:pt x="30" y="171"/>
                    </a:lnTo>
                    <a:lnTo>
                      <a:pt x="16" y="187"/>
                    </a:lnTo>
                    <a:lnTo>
                      <a:pt x="6" y="203"/>
                    </a:lnTo>
                    <a:lnTo>
                      <a:pt x="0" y="211"/>
                    </a:lnTo>
                    <a:lnTo>
                      <a:pt x="0" y="219"/>
                    </a:lnTo>
                    <a:lnTo>
                      <a:pt x="0" y="230"/>
                    </a:lnTo>
                    <a:lnTo>
                      <a:pt x="3" y="238"/>
                    </a:lnTo>
                    <a:lnTo>
                      <a:pt x="8" y="251"/>
                    </a:lnTo>
                    <a:lnTo>
                      <a:pt x="16" y="262"/>
                    </a:lnTo>
                    <a:lnTo>
                      <a:pt x="27" y="272"/>
                    </a:lnTo>
                    <a:lnTo>
                      <a:pt x="40" y="278"/>
                    </a:lnTo>
                    <a:lnTo>
                      <a:pt x="56" y="286"/>
                    </a:lnTo>
                    <a:lnTo>
                      <a:pt x="75" y="289"/>
                    </a:lnTo>
                    <a:lnTo>
                      <a:pt x="94" y="289"/>
                    </a:lnTo>
                    <a:lnTo>
                      <a:pt x="112" y="289"/>
                    </a:lnTo>
                    <a:lnTo>
                      <a:pt x="160" y="286"/>
                    </a:lnTo>
                    <a:lnTo>
                      <a:pt x="206" y="278"/>
                    </a:lnTo>
                    <a:lnTo>
                      <a:pt x="251" y="270"/>
                    </a:lnTo>
                    <a:lnTo>
                      <a:pt x="294" y="262"/>
                    </a:lnTo>
                    <a:lnTo>
                      <a:pt x="347" y="248"/>
                    </a:lnTo>
                    <a:lnTo>
                      <a:pt x="401" y="235"/>
                    </a:lnTo>
                    <a:lnTo>
                      <a:pt x="451" y="219"/>
                    </a:lnTo>
                    <a:lnTo>
                      <a:pt x="505" y="203"/>
                    </a:lnTo>
                    <a:lnTo>
                      <a:pt x="545" y="187"/>
                    </a:lnTo>
                    <a:lnTo>
                      <a:pt x="585" y="168"/>
                    </a:lnTo>
                    <a:lnTo>
                      <a:pt x="625" y="147"/>
                    </a:lnTo>
                    <a:lnTo>
                      <a:pt x="662" y="125"/>
                    </a:lnTo>
                    <a:lnTo>
                      <a:pt x="673" y="115"/>
                    </a:lnTo>
                    <a:lnTo>
                      <a:pt x="684" y="101"/>
                    </a:lnTo>
                    <a:lnTo>
                      <a:pt x="689" y="88"/>
                    </a:lnTo>
                    <a:lnTo>
                      <a:pt x="694" y="75"/>
                    </a:lnTo>
                    <a:lnTo>
                      <a:pt x="694" y="61"/>
                    </a:lnTo>
                    <a:lnTo>
                      <a:pt x="694" y="51"/>
                    </a:lnTo>
                    <a:lnTo>
                      <a:pt x="692" y="37"/>
                    </a:lnTo>
                    <a:lnTo>
                      <a:pt x="686" y="29"/>
                    </a:lnTo>
                    <a:lnTo>
                      <a:pt x="678" y="21"/>
                    </a:lnTo>
                    <a:lnTo>
                      <a:pt x="670" y="18"/>
                    </a:lnTo>
                    <a:lnTo>
                      <a:pt x="660" y="16"/>
                    </a:lnTo>
                    <a:lnTo>
                      <a:pt x="649" y="13"/>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5" name="Freeform 18">
                <a:extLst>
                  <a:ext uri="{FF2B5EF4-FFF2-40B4-BE49-F238E27FC236}">
                    <a16:creationId xmlns:a16="http://schemas.microsoft.com/office/drawing/2014/main" id="{82D60F42-527F-4088-84A6-8F9DE7E86177}"/>
                  </a:ext>
                </a:extLst>
              </p:cNvPr>
              <p:cNvSpPr>
                <a:spLocks/>
              </p:cNvSpPr>
              <p:nvPr/>
            </p:nvSpPr>
            <p:spPr bwMode="auto">
              <a:xfrm>
                <a:off x="225" y="1483"/>
                <a:ext cx="3549" cy="802"/>
              </a:xfrm>
              <a:custGeom>
                <a:avLst/>
                <a:gdLst>
                  <a:gd name="T0" fmla="*/ 0 w 3549"/>
                  <a:gd name="T1" fmla="*/ 631 h 802"/>
                  <a:gd name="T2" fmla="*/ 668 w 3549"/>
                  <a:gd name="T3" fmla="*/ 684 h 802"/>
                  <a:gd name="T4" fmla="*/ 2534 w 3549"/>
                  <a:gd name="T5" fmla="*/ 802 h 802"/>
                  <a:gd name="T6" fmla="*/ 3549 w 3549"/>
                  <a:gd name="T7" fmla="*/ 0 h 802"/>
                </a:gdLst>
                <a:ahLst/>
                <a:cxnLst>
                  <a:cxn ang="0">
                    <a:pos x="T0" y="T1"/>
                  </a:cxn>
                  <a:cxn ang="0">
                    <a:pos x="T2" y="T3"/>
                  </a:cxn>
                  <a:cxn ang="0">
                    <a:pos x="T4" y="T5"/>
                  </a:cxn>
                  <a:cxn ang="0">
                    <a:pos x="T6" y="T7"/>
                  </a:cxn>
                </a:cxnLst>
                <a:rect l="0" t="0" r="r" b="b"/>
                <a:pathLst>
                  <a:path w="3549" h="802">
                    <a:moveTo>
                      <a:pt x="0" y="631"/>
                    </a:moveTo>
                    <a:lnTo>
                      <a:pt x="668" y="684"/>
                    </a:lnTo>
                    <a:lnTo>
                      <a:pt x="2534" y="802"/>
                    </a:lnTo>
                    <a:lnTo>
                      <a:pt x="3549"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6" name="Freeform 19">
                <a:extLst>
                  <a:ext uri="{FF2B5EF4-FFF2-40B4-BE49-F238E27FC236}">
                    <a16:creationId xmlns:a16="http://schemas.microsoft.com/office/drawing/2014/main" id="{74E22DDE-8075-4E52-ADB4-E0984000BCCE}"/>
                  </a:ext>
                </a:extLst>
              </p:cNvPr>
              <p:cNvSpPr>
                <a:spLocks/>
              </p:cNvSpPr>
              <p:nvPr/>
            </p:nvSpPr>
            <p:spPr bwMode="auto">
              <a:xfrm>
                <a:off x="1224" y="1378"/>
                <a:ext cx="2096" cy="891"/>
              </a:xfrm>
              <a:custGeom>
                <a:avLst/>
                <a:gdLst>
                  <a:gd name="T0" fmla="*/ 2096 w 2096"/>
                  <a:gd name="T1" fmla="*/ 86 h 891"/>
                  <a:gd name="T2" fmla="*/ 2045 w 2096"/>
                  <a:gd name="T3" fmla="*/ 0 h 891"/>
                  <a:gd name="T4" fmla="*/ 1757 w 2096"/>
                  <a:gd name="T5" fmla="*/ 0 h 891"/>
                  <a:gd name="T6" fmla="*/ 1645 w 2096"/>
                  <a:gd name="T7" fmla="*/ 8 h 891"/>
                  <a:gd name="T8" fmla="*/ 1458 w 2096"/>
                  <a:gd name="T9" fmla="*/ 30 h 891"/>
                  <a:gd name="T10" fmla="*/ 1340 w 2096"/>
                  <a:gd name="T11" fmla="*/ 46 h 891"/>
                  <a:gd name="T12" fmla="*/ 1183 w 2096"/>
                  <a:gd name="T13" fmla="*/ 51 h 891"/>
                  <a:gd name="T14" fmla="*/ 1052 w 2096"/>
                  <a:gd name="T15" fmla="*/ 75 h 891"/>
                  <a:gd name="T16" fmla="*/ 985 w 2096"/>
                  <a:gd name="T17" fmla="*/ 118 h 891"/>
                  <a:gd name="T18" fmla="*/ 961 w 2096"/>
                  <a:gd name="T19" fmla="*/ 182 h 891"/>
                  <a:gd name="T20" fmla="*/ 918 w 2096"/>
                  <a:gd name="T21" fmla="*/ 268 h 891"/>
                  <a:gd name="T22" fmla="*/ 806 w 2096"/>
                  <a:gd name="T23" fmla="*/ 334 h 891"/>
                  <a:gd name="T24" fmla="*/ 702 w 2096"/>
                  <a:gd name="T25" fmla="*/ 372 h 891"/>
                  <a:gd name="T26" fmla="*/ 571 w 2096"/>
                  <a:gd name="T27" fmla="*/ 399 h 891"/>
                  <a:gd name="T28" fmla="*/ 400 w 2096"/>
                  <a:gd name="T29" fmla="*/ 439 h 891"/>
                  <a:gd name="T30" fmla="*/ 339 w 2096"/>
                  <a:gd name="T31" fmla="*/ 492 h 891"/>
                  <a:gd name="T32" fmla="*/ 315 w 2096"/>
                  <a:gd name="T33" fmla="*/ 621 h 891"/>
                  <a:gd name="T34" fmla="*/ 227 w 2096"/>
                  <a:gd name="T35" fmla="*/ 712 h 891"/>
                  <a:gd name="T36" fmla="*/ 0 w 2096"/>
                  <a:gd name="T37" fmla="*/ 810 h 891"/>
                  <a:gd name="T38" fmla="*/ 1281 w 2096"/>
                  <a:gd name="T39" fmla="*/ 891 h 891"/>
                  <a:gd name="T40" fmla="*/ 1351 w 2096"/>
                  <a:gd name="T41" fmla="*/ 821 h 891"/>
                  <a:gd name="T42" fmla="*/ 1476 w 2096"/>
                  <a:gd name="T43" fmla="*/ 768 h 891"/>
                  <a:gd name="T44" fmla="*/ 1575 w 2096"/>
                  <a:gd name="T45" fmla="*/ 741 h 891"/>
                  <a:gd name="T46" fmla="*/ 1596 w 2096"/>
                  <a:gd name="T47" fmla="*/ 701 h 891"/>
                  <a:gd name="T48" fmla="*/ 1575 w 2096"/>
                  <a:gd name="T49" fmla="*/ 669 h 891"/>
                  <a:gd name="T50" fmla="*/ 1530 w 2096"/>
                  <a:gd name="T51" fmla="*/ 623 h 891"/>
                  <a:gd name="T52" fmla="*/ 1538 w 2096"/>
                  <a:gd name="T53" fmla="*/ 543 h 891"/>
                  <a:gd name="T54" fmla="*/ 1594 w 2096"/>
                  <a:gd name="T55" fmla="*/ 484 h 891"/>
                  <a:gd name="T56" fmla="*/ 1706 w 2096"/>
                  <a:gd name="T57" fmla="*/ 449 h 891"/>
                  <a:gd name="T58" fmla="*/ 1815 w 2096"/>
                  <a:gd name="T59" fmla="*/ 409 h 891"/>
                  <a:gd name="T60" fmla="*/ 1930 w 2096"/>
                  <a:gd name="T61" fmla="*/ 391 h 891"/>
                  <a:gd name="T62" fmla="*/ 2024 w 2096"/>
                  <a:gd name="T63" fmla="*/ 380 h 891"/>
                  <a:gd name="T64" fmla="*/ 2069 w 2096"/>
                  <a:gd name="T65" fmla="*/ 367 h 891"/>
                  <a:gd name="T66" fmla="*/ 2085 w 2096"/>
                  <a:gd name="T67" fmla="*/ 340 h 891"/>
                  <a:gd name="T68" fmla="*/ 2050 w 2096"/>
                  <a:gd name="T69" fmla="*/ 305 h 891"/>
                  <a:gd name="T70" fmla="*/ 2010 w 2096"/>
                  <a:gd name="T71" fmla="*/ 252 h 891"/>
                  <a:gd name="T72" fmla="*/ 2010 w 2096"/>
                  <a:gd name="T73" fmla="*/ 230 h 891"/>
                  <a:gd name="T74" fmla="*/ 2021 w 2096"/>
                  <a:gd name="T75" fmla="*/ 169 h 891"/>
                  <a:gd name="T76" fmla="*/ 2096 w 2096"/>
                  <a:gd name="T77" fmla="*/ 86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96" h="891">
                    <a:moveTo>
                      <a:pt x="2096" y="86"/>
                    </a:moveTo>
                    <a:lnTo>
                      <a:pt x="2045" y="0"/>
                    </a:lnTo>
                    <a:lnTo>
                      <a:pt x="1757" y="0"/>
                    </a:lnTo>
                    <a:lnTo>
                      <a:pt x="1645" y="8"/>
                    </a:lnTo>
                    <a:lnTo>
                      <a:pt x="1458" y="30"/>
                    </a:lnTo>
                    <a:lnTo>
                      <a:pt x="1340" y="46"/>
                    </a:lnTo>
                    <a:lnTo>
                      <a:pt x="1183" y="51"/>
                    </a:lnTo>
                    <a:lnTo>
                      <a:pt x="1052" y="75"/>
                    </a:lnTo>
                    <a:lnTo>
                      <a:pt x="985" y="118"/>
                    </a:lnTo>
                    <a:lnTo>
                      <a:pt x="961" y="182"/>
                    </a:lnTo>
                    <a:lnTo>
                      <a:pt x="918" y="268"/>
                    </a:lnTo>
                    <a:lnTo>
                      <a:pt x="806" y="334"/>
                    </a:lnTo>
                    <a:lnTo>
                      <a:pt x="702" y="372"/>
                    </a:lnTo>
                    <a:lnTo>
                      <a:pt x="571" y="399"/>
                    </a:lnTo>
                    <a:lnTo>
                      <a:pt x="400" y="439"/>
                    </a:lnTo>
                    <a:lnTo>
                      <a:pt x="339" y="492"/>
                    </a:lnTo>
                    <a:lnTo>
                      <a:pt x="315" y="621"/>
                    </a:lnTo>
                    <a:lnTo>
                      <a:pt x="227" y="712"/>
                    </a:lnTo>
                    <a:lnTo>
                      <a:pt x="0" y="810"/>
                    </a:lnTo>
                    <a:lnTo>
                      <a:pt x="1281" y="891"/>
                    </a:lnTo>
                    <a:lnTo>
                      <a:pt x="1351" y="821"/>
                    </a:lnTo>
                    <a:lnTo>
                      <a:pt x="1476" y="768"/>
                    </a:lnTo>
                    <a:lnTo>
                      <a:pt x="1575" y="741"/>
                    </a:lnTo>
                    <a:lnTo>
                      <a:pt x="1596" y="701"/>
                    </a:lnTo>
                    <a:lnTo>
                      <a:pt x="1575" y="669"/>
                    </a:lnTo>
                    <a:lnTo>
                      <a:pt x="1530" y="623"/>
                    </a:lnTo>
                    <a:lnTo>
                      <a:pt x="1538" y="543"/>
                    </a:lnTo>
                    <a:lnTo>
                      <a:pt x="1594" y="484"/>
                    </a:lnTo>
                    <a:lnTo>
                      <a:pt x="1706" y="449"/>
                    </a:lnTo>
                    <a:lnTo>
                      <a:pt x="1815" y="409"/>
                    </a:lnTo>
                    <a:lnTo>
                      <a:pt x="1930" y="391"/>
                    </a:lnTo>
                    <a:lnTo>
                      <a:pt x="2024" y="380"/>
                    </a:lnTo>
                    <a:lnTo>
                      <a:pt x="2069" y="367"/>
                    </a:lnTo>
                    <a:lnTo>
                      <a:pt x="2085" y="340"/>
                    </a:lnTo>
                    <a:lnTo>
                      <a:pt x="2050" y="305"/>
                    </a:lnTo>
                    <a:lnTo>
                      <a:pt x="2010" y="252"/>
                    </a:lnTo>
                    <a:lnTo>
                      <a:pt x="2010" y="230"/>
                    </a:lnTo>
                    <a:lnTo>
                      <a:pt x="2021" y="169"/>
                    </a:lnTo>
                    <a:lnTo>
                      <a:pt x="2096" y="86"/>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7" name="Freeform 20">
                <a:extLst>
                  <a:ext uri="{FF2B5EF4-FFF2-40B4-BE49-F238E27FC236}">
                    <a16:creationId xmlns:a16="http://schemas.microsoft.com/office/drawing/2014/main" id="{E209D157-BC41-4832-863D-579F08A3F6C1}"/>
                  </a:ext>
                </a:extLst>
              </p:cNvPr>
              <p:cNvSpPr>
                <a:spLocks/>
              </p:cNvSpPr>
              <p:nvPr/>
            </p:nvSpPr>
            <p:spPr bwMode="auto">
              <a:xfrm>
                <a:off x="1224" y="1378"/>
                <a:ext cx="2096" cy="891"/>
              </a:xfrm>
              <a:custGeom>
                <a:avLst/>
                <a:gdLst>
                  <a:gd name="T0" fmla="*/ 2096 w 2096"/>
                  <a:gd name="T1" fmla="*/ 86 h 891"/>
                  <a:gd name="T2" fmla="*/ 2045 w 2096"/>
                  <a:gd name="T3" fmla="*/ 0 h 891"/>
                  <a:gd name="T4" fmla="*/ 1757 w 2096"/>
                  <a:gd name="T5" fmla="*/ 0 h 891"/>
                  <a:gd name="T6" fmla="*/ 1645 w 2096"/>
                  <a:gd name="T7" fmla="*/ 8 h 891"/>
                  <a:gd name="T8" fmla="*/ 1458 w 2096"/>
                  <a:gd name="T9" fmla="*/ 30 h 891"/>
                  <a:gd name="T10" fmla="*/ 1340 w 2096"/>
                  <a:gd name="T11" fmla="*/ 46 h 891"/>
                  <a:gd name="T12" fmla="*/ 1183 w 2096"/>
                  <a:gd name="T13" fmla="*/ 51 h 891"/>
                  <a:gd name="T14" fmla="*/ 1052 w 2096"/>
                  <a:gd name="T15" fmla="*/ 75 h 891"/>
                  <a:gd name="T16" fmla="*/ 985 w 2096"/>
                  <a:gd name="T17" fmla="*/ 118 h 891"/>
                  <a:gd name="T18" fmla="*/ 961 w 2096"/>
                  <a:gd name="T19" fmla="*/ 182 h 891"/>
                  <a:gd name="T20" fmla="*/ 918 w 2096"/>
                  <a:gd name="T21" fmla="*/ 268 h 891"/>
                  <a:gd name="T22" fmla="*/ 806 w 2096"/>
                  <a:gd name="T23" fmla="*/ 334 h 891"/>
                  <a:gd name="T24" fmla="*/ 702 w 2096"/>
                  <a:gd name="T25" fmla="*/ 372 h 891"/>
                  <a:gd name="T26" fmla="*/ 571 w 2096"/>
                  <a:gd name="T27" fmla="*/ 399 h 891"/>
                  <a:gd name="T28" fmla="*/ 400 w 2096"/>
                  <a:gd name="T29" fmla="*/ 439 h 891"/>
                  <a:gd name="T30" fmla="*/ 339 w 2096"/>
                  <a:gd name="T31" fmla="*/ 492 h 891"/>
                  <a:gd name="T32" fmla="*/ 315 w 2096"/>
                  <a:gd name="T33" fmla="*/ 621 h 891"/>
                  <a:gd name="T34" fmla="*/ 227 w 2096"/>
                  <a:gd name="T35" fmla="*/ 712 h 891"/>
                  <a:gd name="T36" fmla="*/ 0 w 2096"/>
                  <a:gd name="T37" fmla="*/ 810 h 891"/>
                  <a:gd name="T38" fmla="*/ 1281 w 2096"/>
                  <a:gd name="T39" fmla="*/ 891 h 891"/>
                  <a:gd name="T40" fmla="*/ 1351 w 2096"/>
                  <a:gd name="T41" fmla="*/ 821 h 891"/>
                  <a:gd name="T42" fmla="*/ 1476 w 2096"/>
                  <a:gd name="T43" fmla="*/ 768 h 891"/>
                  <a:gd name="T44" fmla="*/ 1575 w 2096"/>
                  <a:gd name="T45" fmla="*/ 741 h 891"/>
                  <a:gd name="T46" fmla="*/ 1596 w 2096"/>
                  <a:gd name="T47" fmla="*/ 701 h 891"/>
                  <a:gd name="T48" fmla="*/ 1575 w 2096"/>
                  <a:gd name="T49" fmla="*/ 669 h 891"/>
                  <a:gd name="T50" fmla="*/ 1530 w 2096"/>
                  <a:gd name="T51" fmla="*/ 623 h 891"/>
                  <a:gd name="T52" fmla="*/ 1538 w 2096"/>
                  <a:gd name="T53" fmla="*/ 543 h 891"/>
                  <a:gd name="T54" fmla="*/ 1594 w 2096"/>
                  <a:gd name="T55" fmla="*/ 484 h 891"/>
                  <a:gd name="T56" fmla="*/ 1706 w 2096"/>
                  <a:gd name="T57" fmla="*/ 449 h 891"/>
                  <a:gd name="T58" fmla="*/ 1815 w 2096"/>
                  <a:gd name="T59" fmla="*/ 409 h 891"/>
                  <a:gd name="T60" fmla="*/ 1930 w 2096"/>
                  <a:gd name="T61" fmla="*/ 391 h 891"/>
                  <a:gd name="T62" fmla="*/ 2024 w 2096"/>
                  <a:gd name="T63" fmla="*/ 380 h 891"/>
                  <a:gd name="T64" fmla="*/ 2069 w 2096"/>
                  <a:gd name="T65" fmla="*/ 367 h 891"/>
                  <a:gd name="T66" fmla="*/ 2085 w 2096"/>
                  <a:gd name="T67" fmla="*/ 340 h 891"/>
                  <a:gd name="T68" fmla="*/ 2050 w 2096"/>
                  <a:gd name="T69" fmla="*/ 305 h 891"/>
                  <a:gd name="T70" fmla="*/ 2010 w 2096"/>
                  <a:gd name="T71" fmla="*/ 252 h 891"/>
                  <a:gd name="T72" fmla="*/ 2010 w 2096"/>
                  <a:gd name="T73" fmla="*/ 230 h 891"/>
                  <a:gd name="T74" fmla="*/ 2021 w 2096"/>
                  <a:gd name="T75" fmla="*/ 169 h 891"/>
                  <a:gd name="T76" fmla="*/ 2096 w 2096"/>
                  <a:gd name="T77" fmla="*/ 86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96" h="891">
                    <a:moveTo>
                      <a:pt x="2096" y="86"/>
                    </a:moveTo>
                    <a:lnTo>
                      <a:pt x="2045" y="0"/>
                    </a:lnTo>
                    <a:lnTo>
                      <a:pt x="1757" y="0"/>
                    </a:lnTo>
                    <a:lnTo>
                      <a:pt x="1645" y="8"/>
                    </a:lnTo>
                    <a:lnTo>
                      <a:pt x="1458" y="30"/>
                    </a:lnTo>
                    <a:lnTo>
                      <a:pt x="1340" y="46"/>
                    </a:lnTo>
                    <a:lnTo>
                      <a:pt x="1183" y="51"/>
                    </a:lnTo>
                    <a:lnTo>
                      <a:pt x="1052" y="75"/>
                    </a:lnTo>
                    <a:lnTo>
                      <a:pt x="985" y="118"/>
                    </a:lnTo>
                    <a:lnTo>
                      <a:pt x="961" y="182"/>
                    </a:lnTo>
                    <a:lnTo>
                      <a:pt x="918" y="268"/>
                    </a:lnTo>
                    <a:lnTo>
                      <a:pt x="806" y="334"/>
                    </a:lnTo>
                    <a:lnTo>
                      <a:pt x="702" y="372"/>
                    </a:lnTo>
                    <a:lnTo>
                      <a:pt x="571" y="399"/>
                    </a:lnTo>
                    <a:lnTo>
                      <a:pt x="400" y="439"/>
                    </a:lnTo>
                    <a:lnTo>
                      <a:pt x="339" y="492"/>
                    </a:lnTo>
                    <a:lnTo>
                      <a:pt x="315" y="621"/>
                    </a:lnTo>
                    <a:lnTo>
                      <a:pt x="227" y="712"/>
                    </a:lnTo>
                    <a:lnTo>
                      <a:pt x="0" y="810"/>
                    </a:lnTo>
                    <a:lnTo>
                      <a:pt x="1281" y="891"/>
                    </a:lnTo>
                    <a:lnTo>
                      <a:pt x="1351" y="821"/>
                    </a:lnTo>
                    <a:lnTo>
                      <a:pt x="1476" y="768"/>
                    </a:lnTo>
                    <a:lnTo>
                      <a:pt x="1575" y="741"/>
                    </a:lnTo>
                    <a:lnTo>
                      <a:pt x="1596" y="701"/>
                    </a:lnTo>
                    <a:lnTo>
                      <a:pt x="1575" y="669"/>
                    </a:lnTo>
                    <a:lnTo>
                      <a:pt x="1530" y="623"/>
                    </a:lnTo>
                    <a:lnTo>
                      <a:pt x="1538" y="543"/>
                    </a:lnTo>
                    <a:lnTo>
                      <a:pt x="1594" y="484"/>
                    </a:lnTo>
                    <a:lnTo>
                      <a:pt x="1706" y="449"/>
                    </a:lnTo>
                    <a:lnTo>
                      <a:pt x="1815" y="409"/>
                    </a:lnTo>
                    <a:lnTo>
                      <a:pt x="1930" y="391"/>
                    </a:lnTo>
                    <a:lnTo>
                      <a:pt x="2024" y="380"/>
                    </a:lnTo>
                    <a:lnTo>
                      <a:pt x="2069" y="367"/>
                    </a:lnTo>
                    <a:lnTo>
                      <a:pt x="2085" y="340"/>
                    </a:lnTo>
                    <a:lnTo>
                      <a:pt x="2050" y="305"/>
                    </a:lnTo>
                    <a:lnTo>
                      <a:pt x="2010" y="252"/>
                    </a:lnTo>
                    <a:lnTo>
                      <a:pt x="2010" y="230"/>
                    </a:lnTo>
                    <a:lnTo>
                      <a:pt x="2021" y="169"/>
                    </a:lnTo>
                    <a:lnTo>
                      <a:pt x="2096" y="86"/>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8" name="Freeform 21">
                <a:extLst>
                  <a:ext uri="{FF2B5EF4-FFF2-40B4-BE49-F238E27FC236}">
                    <a16:creationId xmlns:a16="http://schemas.microsoft.com/office/drawing/2014/main" id="{E244284D-60DD-4E66-A089-637DADB2DC81}"/>
                  </a:ext>
                </a:extLst>
              </p:cNvPr>
              <p:cNvSpPr>
                <a:spLocks/>
              </p:cNvSpPr>
              <p:nvPr/>
            </p:nvSpPr>
            <p:spPr bwMode="auto">
              <a:xfrm>
                <a:off x="223" y="1311"/>
                <a:ext cx="1687" cy="856"/>
              </a:xfrm>
              <a:custGeom>
                <a:avLst/>
                <a:gdLst>
                  <a:gd name="T0" fmla="*/ 1687 w 1687"/>
                  <a:gd name="T1" fmla="*/ 89 h 856"/>
                  <a:gd name="T2" fmla="*/ 1626 w 1687"/>
                  <a:gd name="T3" fmla="*/ 0 h 856"/>
                  <a:gd name="T4" fmla="*/ 1433 w 1687"/>
                  <a:gd name="T5" fmla="*/ 22 h 856"/>
                  <a:gd name="T6" fmla="*/ 1308 w 1687"/>
                  <a:gd name="T7" fmla="*/ 43 h 856"/>
                  <a:gd name="T8" fmla="*/ 1156 w 1687"/>
                  <a:gd name="T9" fmla="*/ 78 h 856"/>
                  <a:gd name="T10" fmla="*/ 964 w 1687"/>
                  <a:gd name="T11" fmla="*/ 118 h 856"/>
                  <a:gd name="T12" fmla="*/ 731 w 1687"/>
                  <a:gd name="T13" fmla="*/ 172 h 856"/>
                  <a:gd name="T14" fmla="*/ 0 w 1687"/>
                  <a:gd name="T15" fmla="*/ 803 h 856"/>
                  <a:gd name="T16" fmla="*/ 670 w 1687"/>
                  <a:gd name="T17" fmla="*/ 856 h 856"/>
                  <a:gd name="T18" fmla="*/ 619 w 1687"/>
                  <a:gd name="T19" fmla="*/ 837 h 856"/>
                  <a:gd name="T20" fmla="*/ 614 w 1687"/>
                  <a:gd name="T21" fmla="*/ 808 h 856"/>
                  <a:gd name="T22" fmla="*/ 651 w 1687"/>
                  <a:gd name="T23" fmla="*/ 720 h 856"/>
                  <a:gd name="T24" fmla="*/ 771 w 1687"/>
                  <a:gd name="T25" fmla="*/ 623 h 856"/>
                  <a:gd name="T26" fmla="*/ 886 w 1687"/>
                  <a:gd name="T27" fmla="*/ 551 h 856"/>
                  <a:gd name="T28" fmla="*/ 1022 w 1687"/>
                  <a:gd name="T29" fmla="*/ 511 h 856"/>
                  <a:gd name="T30" fmla="*/ 1129 w 1687"/>
                  <a:gd name="T31" fmla="*/ 484 h 856"/>
                  <a:gd name="T32" fmla="*/ 1180 w 1687"/>
                  <a:gd name="T33" fmla="*/ 476 h 856"/>
                  <a:gd name="T34" fmla="*/ 1204 w 1687"/>
                  <a:gd name="T35" fmla="*/ 452 h 856"/>
                  <a:gd name="T36" fmla="*/ 1198 w 1687"/>
                  <a:gd name="T37" fmla="*/ 436 h 856"/>
                  <a:gd name="T38" fmla="*/ 1134 w 1687"/>
                  <a:gd name="T39" fmla="*/ 404 h 856"/>
                  <a:gd name="T40" fmla="*/ 1100 w 1687"/>
                  <a:gd name="T41" fmla="*/ 351 h 856"/>
                  <a:gd name="T42" fmla="*/ 1105 w 1687"/>
                  <a:gd name="T43" fmla="*/ 313 h 856"/>
                  <a:gd name="T44" fmla="*/ 1150 w 1687"/>
                  <a:gd name="T45" fmla="*/ 268 h 856"/>
                  <a:gd name="T46" fmla="*/ 1233 w 1687"/>
                  <a:gd name="T47" fmla="*/ 214 h 856"/>
                  <a:gd name="T48" fmla="*/ 1399 w 1687"/>
                  <a:gd name="T49" fmla="*/ 158 h 856"/>
                  <a:gd name="T50" fmla="*/ 1556 w 1687"/>
                  <a:gd name="T51" fmla="*/ 118 h 856"/>
                  <a:gd name="T52" fmla="*/ 1687 w 1687"/>
                  <a:gd name="T53" fmla="*/ 89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87" h="856">
                    <a:moveTo>
                      <a:pt x="1687" y="89"/>
                    </a:moveTo>
                    <a:lnTo>
                      <a:pt x="1626" y="0"/>
                    </a:lnTo>
                    <a:lnTo>
                      <a:pt x="1433" y="22"/>
                    </a:lnTo>
                    <a:lnTo>
                      <a:pt x="1308" y="43"/>
                    </a:lnTo>
                    <a:lnTo>
                      <a:pt x="1156" y="78"/>
                    </a:lnTo>
                    <a:lnTo>
                      <a:pt x="964" y="118"/>
                    </a:lnTo>
                    <a:lnTo>
                      <a:pt x="731" y="172"/>
                    </a:lnTo>
                    <a:lnTo>
                      <a:pt x="0" y="803"/>
                    </a:lnTo>
                    <a:lnTo>
                      <a:pt x="670" y="856"/>
                    </a:lnTo>
                    <a:lnTo>
                      <a:pt x="619" y="837"/>
                    </a:lnTo>
                    <a:lnTo>
                      <a:pt x="614" y="808"/>
                    </a:lnTo>
                    <a:lnTo>
                      <a:pt x="651" y="720"/>
                    </a:lnTo>
                    <a:lnTo>
                      <a:pt x="771" y="623"/>
                    </a:lnTo>
                    <a:lnTo>
                      <a:pt x="886" y="551"/>
                    </a:lnTo>
                    <a:lnTo>
                      <a:pt x="1022" y="511"/>
                    </a:lnTo>
                    <a:lnTo>
                      <a:pt x="1129" y="484"/>
                    </a:lnTo>
                    <a:lnTo>
                      <a:pt x="1180" y="476"/>
                    </a:lnTo>
                    <a:lnTo>
                      <a:pt x="1204" y="452"/>
                    </a:lnTo>
                    <a:lnTo>
                      <a:pt x="1198" y="436"/>
                    </a:lnTo>
                    <a:lnTo>
                      <a:pt x="1134" y="404"/>
                    </a:lnTo>
                    <a:lnTo>
                      <a:pt x="1100" y="351"/>
                    </a:lnTo>
                    <a:lnTo>
                      <a:pt x="1105" y="313"/>
                    </a:lnTo>
                    <a:lnTo>
                      <a:pt x="1150" y="268"/>
                    </a:lnTo>
                    <a:lnTo>
                      <a:pt x="1233" y="214"/>
                    </a:lnTo>
                    <a:lnTo>
                      <a:pt x="1399" y="158"/>
                    </a:lnTo>
                    <a:lnTo>
                      <a:pt x="1556" y="118"/>
                    </a:lnTo>
                    <a:lnTo>
                      <a:pt x="1687" y="89"/>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9" name="Freeform 22">
                <a:extLst>
                  <a:ext uri="{FF2B5EF4-FFF2-40B4-BE49-F238E27FC236}">
                    <a16:creationId xmlns:a16="http://schemas.microsoft.com/office/drawing/2014/main" id="{B8B1643A-A6B3-446F-9AF9-E1BF563D292C}"/>
                  </a:ext>
                </a:extLst>
              </p:cNvPr>
              <p:cNvSpPr>
                <a:spLocks/>
              </p:cNvSpPr>
              <p:nvPr/>
            </p:nvSpPr>
            <p:spPr bwMode="auto">
              <a:xfrm>
                <a:off x="223" y="1311"/>
                <a:ext cx="1687" cy="856"/>
              </a:xfrm>
              <a:custGeom>
                <a:avLst/>
                <a:gdLst>
                  <a:gd name="T0" fmla="*/ 1687 w 1687"/>
                  <a:gd name="T1" fmla="*/ 89 h 856"/>
                  <a:gd name="T2" fmla="*/ 1626 w 1687"/>
                  <a:gd name="T3" fmla="*/ 0 h 856"/>
                  <a:gd name="T4" fmla="*/ 1433 w 1687"/>
                  <a:gd name="T5" fmla="*/ 22 h 856"/>
                  <a:gd name="T6" fmla="*/ 1308 w 1687"/>
                  <a:gd name="T7" fmla="*/ 43 h 856"/>
                  <a:gd name="T8" fmla="*/ 1156 w 1687"/>
                  <a:gd name="T9" fmla="*/ 78 h 856"/>
                  <a:gd name="T10" fmla="*/ 964 w 1687"/>
                  <a:gd name="T11" fmla="*/ 118 h 856"/>
                  <a:gd name="T12" fmla="*/ 731 w 1687"/>
                  <a:gd name="T13" fmla="*/ 172 h 856"/>
                  <a:gd name="T14" fmla="*/ 0 w 1687"/>
                  <a:gd name="T15" fmla="*/ 803 h 856"/>
                  <a:gd name="T16" fmla="*/ 670 w 1687"/>
                  <a:gd name="T17" fmla="*/ 856 h 856"/>
                  <a:gd name="T18" fmla="*/ 619 w 1687"/>
                  <a:gd name="T19" fmla="*/ 837 h 856"/>
                  <a:gd name="T20" fmla="*/ 614 w 1687"/>
                  <a:gd name="T21" fmla="*/ 808 h 856"/>
                  <a:gd name="T22" fmla="*/ 651 w 1687"/>
                  <a:gd name="T23" fmla="*/ 720 h 856"/>
                  <a:gd name="T24" fmla="*/ 771 w 1687"/>
                  <a:gd name="T25" fmla="*/ 623 h 856"/>
                  <a:gd name="T26" fmla="*/ 886 w 1687"/>
                  <a:gd name="T27" fmla="*/ 551 h 856"/>
                  <a:gd name="T28" fmla="*/ 1022 w 1687"/>
                  <a:gd name="T29" fmla="*/ 511 h 856"/>
                  <a:gd name="T30" fmla="*/ 1129 w 1687"/>
                  <a:gd name="T31" fmla="*/ 484 h 856"/>
                  <a:gd name="T32" fmla="*/ 1180 w 1687"/>
                  <a:gd name="T33" fmla="*/ 476 h 856"/>
                  <a:gd name="T34" fmla="*/ 1204 w 1687"/>
                  <a:gd name="T35" fmla="*/ 452 h 856"/>
                  <a:gd name="T36" fmla="*/ 1198 w 1687"/>
                  <a:gd name="T37" fmla="*/ 436 h 856"/>
                  <a:gd name="T38" fmla="*/ 1134 w 1687"/>
                  <a:gd name="T39" fmla="*/ 404 h 856"/>
                  <a:gd name="T40" fmla="*/ 1100 w 1687"/>
                  <a:gd name="T41" fmla="*/ 351 h 856"/>
                  <a:gd name="T42" fmla="*/ 1105 w 1687"/>
                  <a:gd name="T43" fmla="*/ 313 h 856"/>
                  <a:gd name="T44" fmla="*/ 1150 w 1687"/>
                  <a:gd name="T45" fmla="*/ 268 h 856"/>
                  <a:gd name="T46" fmla="*/ 1233 w 1687"/>
                  <a:gd name="T47" fmla="*/ 214 h 856"/>
                  <a:gd name="T48" fmla="*/ 1399 w 1687"/>
                  <a:gd name="T49" fmla="*/ 158 h 856"/>
                  <a:gd name="T50" fmla="*/ 1556 w 1687"/>
                  <a:gd name="T51" fmla="*/ 118 h 856"/>
                  <a:gd name="T52" fmla="*/ 1687 w 1687"/>
                  <a:gd name="T53" fmla="*/ 89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87" h="856">
                    <a:moveTo>
                      <a:pt x="1687" y="89"/>
                    </a:moveTo>
                    <a:lnTo>
                      <a:pt x="1626" y="0"/>
                    </a:lnTo>
                    <a:lnTo>
                      <a:pt x="1433" y="22"/>
                    </a:lnTo>
                    <a:lnTo>
                      <a:pt x="1308" y="43"/>
                    </a:lnTo>
                    <a:lnTo>
                      <a:pt x="1156" y="78"/>
                    </a:lnTo>
                    <a:lnTo>
                      <a:pt x="964" y="118"/>
                    </a:lnTo>
                    <a:lnTo>
                      <a:pt x="731" y="172"/>
                    </a:lnTo>
                    <a:lnTo>
                      <a:pt x="0" y="803"/>
                    </a:lnTo>
                    <a:lnTo>
                      <a:pt x="670" y="856"/>
                    </a:lnTo>
                    <a:lnTo>
                      <a:pt x="619" y="837"/>
                    </a:lnTo>
                    <a:lnTo>
                      <a:pt x="614" y="808"/>
                    </a:lnTo>
                    <a:lnTo>
                      <a:pt x="651" y="720"/>
                    </a:lnTo>
                    <a:lnTo>
                      <a:pt x="771" y="623"/>
                    </a:lnTo>
                    <a:lnTo>
                      <a:pt x="886" y="551"/>
                    </a:lnTo>
                    <a:lnTo>
                      <a:pt x="1022" y="511"/>
                    </a:lnTo>
                    <a:lnTo>
                      <a:pt x="1129" y="484"/>
                    </a:lnTo>
                    <a:lnTo>
                      <a:pt x="1180" y="476"/>
                    </a:lnTo>
                    <a:lnTo>
                      <a:pt x="1204" y="452"/>
                    </a:lnTo>
                    <a:lnTo>
                      <a:pt x="1198" y="436"/>
                    </a:lnTo>
                    <a:lnTo>
                      <a:pt x="1134" y="404"/>
                    </a:lnTo>
                    <a:lnTo>
                      <a:pt x="1100" y="351"/>
                    </a:lnTo>
                    <a:lnTo>
                      <a:pt x="1105" y="313"/>
                    </a:lnTo>
                    <a:lnTo>
                      <a:pt x="1150" y="268"/>
                    </a:lnTo>
                    <a:lnTo>
                      <a:pt x="1233" y="214"/>
                    </a:lnTo>
                    <a:lnTo>
                      <a:pt x="1399" y="158"/>
                    </a:lnTo>
                    <a:lnTo>
                      <a:pt x="1556" y="118"/>
                    </a:lnTo>
                    <a:lnTo>
                      <a:pt x="1687" y="89"/>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50" name="Freeform 23">
                <a:extLst>
                  <a:ext uri="{FF2B5EF4-FFF2-40B4-BE49-F238E27FC236}">
                    <a16:creationId xmlns:a16="http://schemas.microsoft.com/office/drawing/2014/main" id="{EAD85965-BE41-47E0-8143-55DC36D19449}"/>
                  </a:ext>
                </a:extLst>
              </p:cNvPr>
              <p:cNvSpPr>
                <a:spLocks/>
              </p:cNvSpPr>
              <p:nvPr/>
            </p:nvSpPr>
            <p:spPr bwMode="auto">
              <a:xfrm>
                <a:off x="1187" y="1319"/>
                <a:ext cx="651" cy="396"/>
              </a:xfrm>
              <a:custGeom>
                <a:avLst/>
                <a:gdLst>
                  <a:gd name="T0" fmla="*/ 651 w 651"/>
                  <a:gd name="T1" fmla="*/ 0 h 396"/>
                  <a:gd name="T2" fmla="*/ 485 w 651"/>
                  <a:gd name="T3" fmla="*/ 41 h 396"/>
                  <a:gd name="T4" fmla="*/ 360 w 651"/>
                  <a:gd name="T5" fmla="*/ 78 h 396"/>
                  <a:gd name="T6" fmla="*/ 245 w 651"/>
                  <a:gd name="T7" fmla="*/ 115 h 396"/>
                  <a:gd name="T8" fmla="*/ 125 w 651"/>
                  <a:gd name="T9" fmla="*/ 147 h 396"/>
                  <a:gd name="T10" fmla="*/ 56 w 651"/>
                  <a:gd name="T11" fmla="*/ 188 h 396"/>
                  <a:gd name="T12" fmla="*/ 13 w 651"/>
                  <a:gd name="T13" fmla="*/ 217 h 396"/>
                  <a:gd name="T14" fmla="*/ 2 w 651"/>
                  <a:gd name="T15" fmla="*/ 238 h 396"/>
                  <a:gd name="T16" fmla="*/ 0 w 651"/>
                  <a:gd name="T17" fmla="*/ 257 h 396"/>
                  <a:gd name="T18" fmla="*/ 5 w 651"/>
                  <a:gd name="T19" fmla="*/ 295 h 396"/>
                  <a:gd name="T20" fmla="*/ 34 w 651"/>
                  <a:gd name="T21" fmla="*/ 343 h 396"/>
                  <a:gd name="T22" fmla="*/ 104 w 651"/>
                  <a:gd name="T23" fmla="*/ 377 h 396"/>
                  <a:gd name="T24" fmla="*/ 162 w 651"/>
                  <a:gd name="T25" fmla="*/ 3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1" h="396">
                    <a:moveTo>
                      <a:pt x="651" y="0"/>
                    </a:moveTo>
                    <a:lnTo>
                      <a:pt x="485" y="41"/>
                    </a:lnTo>
                    <a:lnTo>
                      <a:pt x="360" y="78"/>
                    </a:lnTo>
                    <a:lnTo>
                      <a:pt x="245" y="115"/>
                    </a:lnTo>
                    <a:lnTo>
                      <a:pt x="125" y="147"/>
                    </a:lnTo>
                    <a:lnTo>
                      <a:pt x="56" y="188"/>
                    </a:lnTo>
                    <a:lnTo>
                      <a:pt x="13" y="217"/>
                    </a:lnTo>
                    <a:lnTo>
                      <a:pt x="2" y="238"/>
                    </a:lnTo>
                    <a:lnTo>
                      <a:pt x="0" y="257"/>
                    </a:lnTo>
                    <a:lnTo>
                      <a:pt x="5" y="295"/>
                    </a:lnTo>
                    <a:lnTo>
                      <a:pt x="34" y="343"/>
                    </a:lnTo>
                    <a:lnTo>
                      <a:pt x="104" y="377"/>
                    </a:lnTo>
                    <a:lnTo>
                      <a:pt x="162" y="39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51" name="Freeform 24">
                <a:extLst>
                  <a:ext uri="{FF2B5EF4-FFF2-40B4-BE49-F238E27FC236}">
                    <a16:creationId xmlns:a16="http://schemas.microsoft.com/office/drawing/2014/main" id="{F2B19D45-2B8D-48E9-8B8D-42D0EE0B7FA1}"/>
                  </a:ext>
                </a:extLst>
              </p:cNvPr>
              <p:cNvSpPr>
                <a:spLocks/>
              </p:cNvSpPr>
              <p:nvPr/>
            </p:nvSpPr>
            <p:spPr bwMode="auto">
              <a:xfrm>
                <a:off x="751" y="1771"/>
                <a:ext cx="614" cy="375"/>
              </a:xfrm>
              <a:custGeom>
                <a:avLst/>
                <a:gdLst>
                  <a:gd name="T0" fmla="*/ 614 w 614"/>
                  <a:gd name="T1" fmla="*/ 14 h 375"/>
                  <a:gd name="T2" fmla="*/ 510 w 614"/>
                  <a:gd name="T3" fmla="*/ 0 h 375"/>
                  <a:gd name="T4" fmla="*/ 398 w 614"/>
                  <a:gd name="T5" fmla="*/ 3 h 375"/>
                  <a:gd name="T6" fmla="*/ 281 w 614"/>
                  <a:gd name="T7" fmla="*/ 24 h 375"/>
                  <a:gd name="T8" fmla="*/ 136 w 614"/>
                  <a:gd name="T9" fmla="*/ 83 h 375"/>
                  <a:gd name="T10" fmla="*/ 62 w 614"/>
                  <a:gd name="T11" fmla="*/ 147 h 375"/>
                  <a:gd name="T12" fmla="*/ 14 w 614"/>
                  <a:gd name="T13" fmla="*/ 217 h 375"/>
                  <a:gd name="T14" fmla="*/ 0 w 614"/>
                  <a:gd name="T15" fmla="*/ 268 h 375"/>
                  <a:gd name="T16" fmla="*/ 6 w 614"/>
                  <a:gd name="T17" fmla="*/ 303 h 375"/>
                  <a:gd name="T18" fmla="*/ 83 w 614"/>
                  <a:gd name="T19" fmla="*/ 375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4" h="375">
                    <a:moveTo>
                      <a:pt x="614" y="14"/>
                    </a:moveTo>
                    <a:lnTo>
                      <a:pt x="510" y="0"/>
                    </a:lnTo>
                    <a:lnTo>
                      <a:pt x="398" y="3"/>
                    </a:lnTo>
                    <a:lnTo>
                      <a:pt x="281" y="24"/>
                    </a:lnTo>
                    <a:lnTo>
                      <a:pt x="136" y="83"/>
                    </a:lnTo>
                    <a:lnTo>
                      <a:pt x="62" y="147"/>
                    </a:lnTo>
                    <a:lnTo>
                      <a:pt x="14" y="217"/>
                    </a:lnTo>
                    <a:lnTo>
                      <a:pt x="0" y="268"/>
                    </a:lnTo>
                    <a:lnTo>
                      <a:pt x="6" y="303"/>
                    </a:lnTo>
                    <a:lnTo>
                      <a:pt x="83" y="37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52" name="Freeform 25">
                <a:extLst>
                  <a:ext uri="{FF2B5EF4-FFF2-40B4-BE49-F238E27FC236}">
                    <a16:creationId xmlns:a16="http://schemas.microsoft.com/office/drawing/2014/main" id="{8431CF29-270C-460C-85A6-A4310854879E}"/>
                  </a:ext>
                </a:extLst>
              </p:cNvPr>
              <p:cNvSpPr>
                <a:spLocks/>
              </p:cNvSpPr>
              <p:nvPr/>
            </p:nvSpPr>
            <p:spPr bwMode="auto">
              <a:xfrm>
                <a:off x="2503" y="1640"/>
                <a:ext cx="248" cy="137"/>
              </a:xfrm>
              <a:custGeom>
                <a:avLst/>
                <a:gdLst>
                  <a:gd name="T0" fmla="*/ 248 w 248"/>
                  <a:gd name="T1" fmla="*/ 0 h 137"/>
                  <a:gd name="T2" fmla="*/ 216 w 248"/>
                  <a:gd name="T3" fmla="*/ 0 h 137"/>
                  <a:gd name="T4" fmla="*/ 187 w 248"/>
                  <a:gd name="T5" fmla="*/ 0 h 137"/>
                  <a:gd name="T6" fmla="*/ 147 w 248"/>
                  <a:gd name="T7" fmla="*/ 11 h 137"/>
                  <a:gd name="T8" fmla="*/ 107 w 248"/>
                  <a:gd name="T9" fmla="*/ 22 h 137"/>
                  <a:gd name="T10" fmla="*/ 83 w 248"/>
                  <a:gd name="T11" fmla="*/ 35 h 137"/>
                  <a:gd name="T12" fmla="*/ 59 w 248"/>
                  <a:gd name="T13" fmla="*/ 46 h 137"/>
                  <a:gd name="T14" fmla="*/ 34 w 248"/>
                  <a:gd name="T15" fmla="*/ 56 h 137"/>
                  <a:gd name="T16" fmla="*/ 8 w 248"/>
                  <a:gd name="T17" fmla="*/ 67 h 137"/>
                  <a:gd name="T18" fmla="*/ 5 w 248"/>
                  <a:gd name="T19" fmla="*/ 78 h 137"/>
                  <a:gd name="T20" fmla="*/ 0 w 248"/>
                  <a:gd name="T21" fmla="*/ 89 h 137"/>
                  <a:gd name="T22" fmla="*/ 2 w 248"/>
                  <a:gd name="T23" fmla="*/ 102 h 137"/>
                  <a:gd name="T24" fmla="*/ 5 w 248"/>
                  <a:gd name="T25" fmla="*/ 113 h 137"/>
                  <a:gd name="T26" fmla="*/ 42 w 248"/>
                  <a:gd name="T27" fmla="*/ 123 h 137"/>
                  <a:gd name="T28" fmla="*/ 77 w 248"/>
                  <a:gd name="T29" fmla="*/ 134 h 137"/>
                  <a:gd name="T30" fmla="*/ 99 w 248"/>
                  <a:gd name="T31" fmla="*/ 134 h 137"/>
                  <a:gd name="T32" fmla="*/ 123 w 248"/>
                  <a:gd name="T33" fmla="*/ 134 h 137"/>
                  <a:gd name="T34" fmla="*/ 147 w 248"/>
                  <a:gd name="T35" fmla="*/ 134 h 137"/>
                  <a:gd name="T36" fmla="*/ 171 w 248"/>
                  <a:gd name="T37" fmla="*/ 137 h 137"/>
                  <a:gd name="T38" fmla="*/ 165 w 248"/>
                  <a:gd name="T39" fmla="*/ 123 h 137"/>
                  <a:gd name="T40" fmla="*/ 160 w 248"/>
                  <a:gd name="T41" fmla="*/ 107 h 137"/>
                  <a:gd name="T42" fmla="*/ 157 w 248"/>
                  <a:gd name="T43" fmla="*/ 86 h 137"/>
                  <a:gd name="T44" fmla="*/ 155 w 248"/>
                  <a:gd name="T45" fmla="*/ 62 h 137"/>
                  <a:gd name="T46" fmla="*/ 163 w 248"/>
                  <a:gd name="T47" fmla="*/ 51 h 137"/>
                  <a:gd name="T48" fmla="*/ 171 w 248"/>
                  <a:gd name="T49" fmla="*/ 40 h 137"/>
                  <a:gd name="T50" fmla="*/ 211 w 248"/>
                  <a:gd name="T51" fmla="*/ 19 h 137"/>
                  <a:gd name="T52" fmla="*/ 248 w 248"/>
                  <a:gd name="T5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137">
                    <a:moveTo>
                      <a:pt x="248" y="0"/>
                    </a:moveTo>
                    <a:lnTo>
                      <a:pt x="216" y="0"/>
                    </a:lnTo>
                    <a:lnTo>
                      <a:pt x="187" y="0"/>
                    </a:lnTo>
                    <a:lnTo>
                      <a:pt x="147" y="11"/>
                    </a:lnTo>
                    <a:lnTo>
                      <a:pt x="107" y="22"/>
                    </a:lnTo>
                    <a:lnTo>
                      <a:pt x="83" y="35"/>
                    </a:lnTo>
                    <a:lnTo>
                      <a:pt x="59" y="46"/>
                    </a:lnTo>
                    <a:lnTo>
                      <a:pt x="34" y="56"/>
                    </a:lnTo>
                    <a:lnTo>
                      <a:pt x="8" y="67"/>
                    </a:lnTo>
                    <a:lnTo>
                      <a:pt x="5" y="78"/>
                    </a:lnTo>
                    <a:lnTo>
                      <a:pt x="0" y="89"/>
                    </a:lnTo>
                    <a:lnTo>
                      <a:pt x="2" y="102"/>
                    </a:lnTo>
                    <a:lnTo>
                      <a:pt x="5" y="113"/>
                    </a:lnTo>
                    <a:lnTo>
                      <a:pt x="42" y="123"/>
                    </a:lnTo>
                    <a:lnTo>
                      <a:pt x="77" y="134"/>
                    </a:lnTo>
                    <a:lnTo>
                      <a:pt x="99" y="134"/>
                    </a:lnTo>
                    <a:lnTo>
                      <a:pt x="123" y="134"/>
                    </a:lnTo>
                    <a:lnTo>
                      <a:pt x="147" y="134"/>
                    </a:lnTo>
                    <a:lnTo>
                      <a:pt x="171" y="137"/>
                    </a:lnTo>
                    <a:lnTo>
                      <a:pt x="165" y="123"/>
                    </a:lnTo>
                    <a:lnTo>
                      <a:pt x="160" y="107"/>
                    </a:lnTo>
                    <a:lnTo>
                      <a:pt x="157" y="86"/>
                    </a:lnTo>
                    <a:lnTo>
                      <a:pt x="155" y="62"/>
                    </a:lnTo>
                    <a:lnTo>
                      <a:pt x="163" y="51"/>
                    </a:lnTo>
                    <a:lnTo>
                      <a:pt x="171" y="40"/>
                    </a:lnTo>
                    <a:lnTo>
                      <a:pt x="211" y="19"/>
                    </a:lnTo>
                    <a:lnTo>
                      <a:pt x="248"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3" name="Freeform 26">
                <a:extLst>
                  <a:ext uri="{FF2B5EF4-FFF2-40B4-BE49-F238E27FC236}">
                    <a16:creationId xmlns:a16="http://schemas.microsoft.com/office/drawing/2014/main" id="{12FA70B8-2481-4D0D-A1BA-CF8D44098387}"/>
                  </a:ext>
                </a:extLst>
              </p:cNvPr>
              <p:cNvSpPr>
                <a:spLocks/>
              </p:cNvSpPr>
              <p:nvPr/>
            </p:nvSpPr>
            <p:spPr bwMode="auto">
              <a:xfrm>
                <a:off x="2503" y="1640"/>
                <a:ext cx="248" cy="137"/>
              </a:xfrm>
              <a:custGeom>
                <a:avLst/>
                <a:gdLst>
                  <a:gd name="T0" fmla="*/ 248 w 248"/>
                  <a:gd name="T1" fmla="*/ 0 h 137"/>
                  <a:gd name="T2" fmla="*/ 216 w 248"/>
                  <a:gd name="T3" fmla="*/ 0 h 137"/>
                  <a:gd name="T4" fmla="*/ 187 w 248"/>
                  <a:gd name="T5" fmla="*/ 0 h 137"/>
                  <a:gd name="T6" fmla="*/ 147 w 248"/>
                  <a:gd name="T7" fmla="*/ 11 h 137"/>
                  <a:gd name="T8" fmla="*/ 107 w 248"/>
                  <a:gd name="T9" fmla="*/ 22 h 137"/>
                  <a:gd name="T10" fmla="*/ 83 w 248"/>
                  <a:gd name="T11" fmla="*/ 35 h 137"/>
                  <a:gd name="T12" fmla="*/ 59 w 248"/>
                  <a:gd name="T13" fmla="*/ 46 h 137"/>
                  <a:gd name="T14" fmla="*/ 34 w 248"/>
                  <a:gd name="T15" fmla="*/ 56 h 137"/>
                  <a:gd name="T16" fmla="*/ 8 w 248"/>
                  <a:gd name="T17" fmla="*/ 67 h 137"/>
                  <a:gd name="T18" fmla="*/ 5 w 248"/>
                  <a:gd name="T19" fmla="*/ 78 h 137"/>
                  <a:gd name="T20" fmla="*/ 0 w 248"/>
                  <a:gd name="T21" fmla="*/ 89 h 137"/>
                  <a:gd name="T22" fmla="*/ 2 w 248"/>
                  <a:gd name="T23" fmla="*/ 102 h 137"/>
                  <a:gd name="T24" fmla="*/ 5 w 248"/>
                  <a:gd name="T25" fmla="*/ 113 h 137"/>
                  <a:gd name="T26" fmla="*/ 42 w 248"/>
                  <a:gd name="T27" fmla="*/ 123 h 137"/>
                  <a:gd name="T28" fmla="*/ 77 w 248"/>
                  <a:gd name="T29" fmla="*/ 134 h 137"/>
                  <a:gd name="T30" fmla="*/ 99 w 248"/>
                  <a:gd name="T31" fmla="*/ 134 h 137"/>
                  <a:gd name="T32" fmla="*/ 123 w 248"/>
                  <a:gd name="T33" fmla="*/ 134 h 137"/>
                  <a:gd name="T34" fmla="*/ 147 w 248"/>
                  <a:gd name="T35" fmla="*/ 134 h 137"/>
                  <a:gd name="T36" fmla="*/ 171 w 248"/>
                  <a:gd name="T37" fmla="*/ 137 h 137"/>
                  <a:gd name="T38" fmla="*/ 165 w 248"/>
                  <a:gd name="T39" fmla="*/ 123 h 137"/>
                  <a:gd name="T40" fmla="*/ 160 w 248"/>
                  <a:gd name="T41" fmla="*/ 107 h 137"/>
                  <a:gd name="T42" fmla="*/ 157 w 248"/>
                  <a:gd name="T43" fmla="*/ 86 h 137"/>
                  <a:gd name="T44" fmla="*/ 155 w 248"/>
                  <a:gd name="T45" fmla="*/ 62 h 137"/>
                  <a:gd name="T46" fmla="*/ 163 w 248"/>
                  <a:gd name="T47" fmla="*/ 51 h 137"/>
                  <a:gd name="T48" fmla="*/ 171 w 248"/>
                  <a:gd name="T49" fmla="*/ 40 h 137"/>
                  <a:gd name="T50" fmla="*/ 211 w 248"/>
                  <a:gd name="T51" fmla="*/ 19 h 137"/>
                  <a:gd name="T52" fmla="*/ 248 w 248"/>
                  <a:gd name="T5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137">
                    <a:moveTo>
                      <a:pt x="248" y="0"/>
                    </a:moveTo>
                    <a:lnTo>
                      <a:pt x="216" y="0"/>
                    </a:lnTo>
                    <a:lnTo>
                      <a:pt x="187" y="0"/>
                    </a:lnTo>
                    <a:lnTo>
                      <a:pt x="147" y="11"/>
                    </a:lnTo>
                    <a:lnTo>
                      <a:pt x="107" y="22"/>
                    </a:lnTo>
                    <a:lnTo>
                      <a:pt x="83" y="35"/>
                    </a:lnTo>
                    <a:lnTo>
                      <a:pt x="59" y="46"/>
                    </a:lnTo>
                    <a:lnTo>
                      <a:pt x="34" y="56"/>
                    </a:lnTo>
                    <a:lnTo>
                      <a:pt x="8" y="67"/>
                    </a:lnTo>
                    <a:lnTo>
                      <a:pt x="5" y="78"/>
                    </a:lnTo>
                    <a:lnTo>
                      <a:pt x="0" y="89"/>
                    </a:lnTo>
                    <a:lnTo>
                      <a:pt x="2" y="102"/>
                    </a:lnTo>
                    <a:lnTo>
                      <a:pt x="5" y="113"/>
                    </a:lnTo>
                    <a:lnTo>
                      <a:pt x="42" y="123"/>
                    </a:lnTo>
                    <a:lnTo>
                      <a:pt x="77" y="134"/>
                    </a:lnTo>
                    <a:lnTo>
                      <a:pt x="99" y="134"/>
                    </a:lnTo>
                    <a:lnTo>
                      <a:pt x="123" y="134"/>
                    </a:lnTo>
                    <a:lnTo>
                      <a:pt x="147" y="134"/>
                    </a:lnTo>
                    <a:lnTo>
                      <a:pt x="171" y="137"/>
                    </a:lnTo>
                    <a:lnTo>
                      <a:pt x="165" y="123"/>
                    </a:lnTo>
                    <a:lnTo>
                      <a:pt x="160" y="107"/>
                    </a:lnTo>
                    <a:lnTo>
                      <a:pt x="157" y="86"/>
                    </a:lnTo>
                    <a:lnTo>
                      <a:pt x="155" y="62"/>
                    </a:lnTo>
                    <a:lnTo>
                      <a:pt x="163" y="51"/>
                    </a:lnTo>
                    <a:lnTo>
                      <a:pt x="171" y="40"/>
                    </a:lnTo>
                    <a:lnTo>
                      <a:pt x="211" y="19"/>
                    </a:lnTo>
                    <a:lnTo>
                      <a:pt x="248"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54" name="Freeform 27">
                <a:extLst>
                  <a:ext uri="{FF2B5EF4-FFF2-40B4-BE49-F238E27FC236}">
                    <a16:creationId xmlns:a16="http://schemas.microsoft.com/office/drawing/2014/main" id="{D59B1ACC-BEAB-4226-8AA9-94D064510608}"/>
                  </a:ext>
                </a:extLst>
              </p:cNvPr>
              <p:cNvSpPr>
                <a:spLocks/>
              </p:cNvSpPr>
              <p:nvPr/>
            </p:nvSpPr>
            <p:spPr bwMode="auto">
              <a:xfrm>
                <a:off x="2623" y="1640"/>
                <a:ext cx="123" cy="134"/>
              </a:xfrm>
              <a:custGeom>
                <a:avLst/>
                <a:gdLst>
                  <a:gd name="T0" fmla="*/ 123 w 123"/>
                  <a:gd name="T1" fmla="*/ 0 h 134"/>
                  <a:gd name="T2" fmla="*/ 53 w 123"/>
                  <a:gd name="T3" fmla="*/ 14 h 134"/>
                  <a:gd name="T4" fmla="*/ 21 w 123"/>
                  <a:gd name="T5" fmla="*/ 38 h 134"/>
                  <a:gd name="T6" fmla="*/ 5 w 123"/>
                  <a:gd name="T7" fmla="*/ 67 h 134"/>
                  <a:gd name="T8" fmla="*/ 0 w 123"/>
                  <a:gd name="T9" fmla="*/ 94 h 134"/>
                  <a:gd name="T10" fmla="*/ 11 w 123"/>
                  <a:gd name="T11" fmla="*/ 115 h 134"/>
                  <a:gd name="T12" fmla="*/ 48 w 123"/>
                  <a:gd name="T13" fmla="*/ 134 h 134"/>
                </a:gdLst>
                <a:ahLst/>
                <a:cxnLst>
                  <a:cxn ang="0">
                    <a:pos x="T0" y="T1"/>
                  </a:cxn>
                  <a:cxn ang="0">
                    <a:pos x="T2" y="T3"/>
                  </a:cxn>
                  <a:cxn ang="0">
                    <a:pos x="T4" y="T5"/>
                  </a:cxn>
                  <a:cxn ang="0">
                    <a:pos x="T6" y="T7"/>
                  </a:cxn>
                  <a:cxn ang="0">
                    <a:pos x="T8" y="T9"/>
                  </a:cxn>
                  <a:cxn ang="0">
                    <a:pos x="T10" y="T11"/>
                  </a:cxn>
                  <a:cxn ang="0">
                    <a:pos x="T12" y="T13"/>
                  </a:cxn>
                </a:cxnLst>
                <a:rect l="0" t="0" r="r" b="b"/>
                <a:pathLst>
                  <a:path w="123" h="134">
                    <a:moveTo>
                      <a:pt x="123" y="0"/>
                    </a:moveTo>
                    <a:lnTo>
                      <a:pt x="53" y="14"/>
                    </a:lnTo>
                    <a:lnTo>
                      <a:pt x="21" y="38"/>
                    </a:lnTo>
                    <a:lnTo>
                      <a:pt x="5" y="67"/>
                    </a:lnTo>
                    <a:lnTo>
                      <a:pt x="0" y="94"/>
                    </a:lnTo>
                    <a:lnTo>
                      <a:pt x="11" y="115"/>
                    </a:lnTo>
                    <a:lnTo>
                      <a:pt x="48" y="134"/>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55" name="Line 28">
                <a:extLst>
                  <a:ext uri="{FF2B5EF4-FFF2-40B4-BE49-F238E27FC236}">
                    <a16:creationId xmlns:a16="http://schemas.microsoft.com/office/drawing/2014/main" id="{AC99ADE0-2FAB-43B7-9526-70AC7590FE52}"/>
                  </a:ext>
                </a:extLst>
              </p:cNvPr>
              <p:cNvSpPr>
                <a:spLocks noChangeShapeType="1"/>
              </p:cNvSpPr>
              <p:nvPr/>
            </p:nvSpPr>
            <p:spPr bwMode="auto">
              <a:xfrm>
                <a:off x="2727" y="1643"/>
                <a:ext cx="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56" name="Line 29">
                <a:extLst>
                  <a:ext uri="{FF2B5EF4-FFF2-40B4-BE49-F238E27FC236}">
                    <a16:creationId xmlns:a16="http://schemas.microsoft.com/office/drawing/2014/main" id="{BD095DD7-0A7A-4E3C-9276-29CE43DE0E29}"/>
                  </a:ext>
                </a:extLst>
              </p:cNvPr>
              <p:cNvSpPr>
                <a:spLocks noChangeShapeType="1"/>
              </p:cNvSpPr>
              <p:nvPr/>
            </p:nvSpPr>
            <p:spPr bwMode="auto">
              <a:xfrm>
                <a:off x="2708" y="1648"/>
                <a:ext cx="3"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57" name="Line 30">
                <a:extLst>
                  <a:ext uri="{FF2B5EF4-FFF2-40B4-BE49-F238E27FC236}">
                    <a16:creationId xmlns:a16="http://schemas.microsoft.com/office/drawing/2014/main" id="{7A29AC74-93A2-4D26-9BAC-BBBF37644248}"/>
                  </a:ext>
                </a:extLst>
              </p:cNvPr>
              <p:cNvSpPr>
                <a:spLocks noChangeShapeType="1"/>
              </p:cNvSpPr>
              <p:nvPr/>
            </p:nvSpPr>
            <p:spPr bwMode="auto">
              <a:xfrm>
                <a:off x="2684" y="1654"/>
                <a:ext cx="11" cy="1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58" name="Line 31">
                <a:extLst>
                  <a:ext uri="{FF2B5EF4-FFF2-40B4-BE49-F238E27FC236}">
                    <a16:creationId xmlns:a16="http://schemas.microsoft.com/office/drawing/2014/main" id="{C3DCDDC2-EA50-4331-AA60-628AEDC02EE9}"/>
                  </a:ext>
                </a:extLst>
              </p:cNvPr>
              <p:cNvSpPr>
                <a:spLocks noChangeShapeType="1"/>
              </p:cNvSpPr>
              <p:nvPr/>
            </p:nvSpPr>
            <p:spPr bwMode="auto">
              <a:xfrm>
                <a:off x="2666" y="1662"/>
                <a:ext cx="13" cy="1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59" name="Line 32">
                <a:extLst>
                  <a:ext uri="{FF2B5EF4-FFF2-40B4-BE49-F238E27FC236}">
                    <a16:creationId xmlns:a16="http://schemas.microsoft.com/office/drawing/2014/main" id="{A8C6042B-07C0-4259-A766-9FF55E59F180}"/>
                  </a:ext>
                </a:extLst>
              </p:cNvPr>
              <p:cNvSpPr>
                <a:spLocks noChangeShapeType="1"/>
              </p:cNvSpPr>
              <p:nvPr/>
            </p:nvSpPr>
            <p:spPr bwMode="auto">
              <a:xfrm>
                <a:off x="2652" y="1675"/>
                <a:ext cx="19"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0" name="Line 33">
                <a:extLst>
                  <a:ext uri="{FF2B5EF4-FFF2-40B4-BE49-F238E27FC236}">
                    <a16:creationId xmlns:a16="http://schemas.microsoft.com/office/drawing/2014/main" id="{5ED0F098-B4AA-45E6-BE68-304C9AACDC94}"/>
                  </a:ext>
                </a:extLst>
              </p:cNvPr>
              <p:cNvSpPr>
                <a:spLocks noChangeShapeType="1"/>
              </p:cNvSpPr>
              <p:nvPr/>
            </p:nvSpPr>
            <p:spPr bwMode="auto">
              <a:xfrm>
                <a:off x="2642" y="1686"/>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1" name="Line 34">
                <a:extLst>
                  <a:ext uri="{FF2B5EF4-FFF2-40B4-BE49-F238E27FC236}">
                    <a16:creationId xmlns:a16="http://schemas.microsoft.com/office/drawing/2014/main" id="{3AF9245F-AE62-4ECF-A598-68523B4C5657}"/>
                  </a:ext>
                </a:extLst>
              </p:cNvPr>
              <p:cNvSpPr>
                <a:spLocks noChangeShapeType="1"/>
              </p:cNvSpPr>
              <p:nvPr/>
            </p:nvSpPr>
            <p:spPr bwMode="auto">
              <a:xfrm>
                <a:off x="2634" y="1699"/>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2" name="Line 35">
                <a:extLst>
                  <a:ext uri="{FF2B5EF4-FFF2-40B4-BE49-F238E27FC236}">
                    <a16:creationId xmlns:a16="http://schemas.microsoft.com/office/drawing/2014/main" id="{DF39A0A8-EC98-486E-B428-A70759DC7C1B}"/>
                  </a:ext>
                </a:extLst>
              </p:cNvPr>
              <p:cNvSpPr>
                <a:spLocks noChangeShapeType="1"/>
              </p:cNvSpPr>
              <p:nvPr/>
            </p:nvSpPr>
            <p:spPr bwMode="auto">
              <a:xfrm>
                <a:off x="2628" y="1715"/>
                <a:ext cx="27"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3" name="Line 36">
                <a:extLst>
                  <a:ext uri="{FF2B5EF4-FFF2-40B4-BE49-F238E27FC236}">
                    <a16:creationId xmlns:a16="http://schemas.microsoft.com/office/drawing/2014/main" id="{C2FA046D-DF2E-46B8-B083-527A8C1964B9}"/>
                  </a:ext>
                </a:extLst>
              </p:cNvPr>
              <p:cNvSpPr>
                <a:spLocks noChangeShapeType="1"/>
              </p:cNvSpPr>
              <p:nvPr/>
            </p:nvSpPr>
            <p:spPr bwMode="auto">
              <a:xfrm>
                <a:off x="2623" y="1734"/>
                <a:ext cx="35"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4" name="Line 37">
                <a:extLst>
                  <a:ext uri="{FF2B5EF4-FFF2-40B4-BE49-F238E27FC236}">
                    <a16:creationId xmlns:a16="http://schemas.microsoft.com/office/drawing/2014/main" id="{67B0CA94-55F6-4E20-B5E6-8AEA5744D578}"/>
                  </a:ext>
                </a:extLst>
              </p:cNvPr>
              <p:cNvSpPr>
                <a:spLocks noChangeShapeType="1"/>
              </p:cNvSpPr>
              <p:nvPr/>
            </p:nvSpPr>
            <p:spPr bwMode="auto">
              <a:xfrm>
                <a:off x="2636" y="1753"/>
                <a:ext cx="24"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5" name="Line 38">
                <a:extLst>
                  <a:ext uri="{FF2B5EF4-FFF2-40B4-BE49-F238E27FC236}">
                    <a16:creationId xmlns:a16="http://schemas.microsoft.com/office/drawing/2014/main" id="{3C86F3E7-C6E1-4B1A-8058-69C34E239C45}"/>
                  </a:ext>
                </a:extLst>
              </p:cNvPr>
              <p:cNvSpPr>
                <a:spLocks noChangeShapeType="1"/>
              </p:cNvSpPr>
              <p:nvPr/>
            </p:nvSpPr>
            <p:spPr bwMode="auto">
              <a:xfrm>
                <a:off x="2655" y="1763"/>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66" name="Freeform 39">
                <a:extLst>
                  <a:ext uri="{FF2B5EF4-FFF2-40B4-BE49-F238E27FC236}">
                    <a16:creationId xmlns:a16="http://schemas.microsoft.com/office/drawing/2014/main" id="{6F327090-F633-4A62-9D7D-069B5C4F8CCB}"/>
                  </a:ext>
                </a:extLst>
              </p:cNvPr>
              <p:cNvSpPr>
                <a:spLocks/>
              </p:cNvSpPr>
              <p:nvPr/>
            </p:nvSpPr>
            <p:spPr bwMode="auto">
              <a:xfrm>
                <a:off x="2564" y="1469"/>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6 h 104"/>
                  <a:gd name="T10" fmla="*/ 46 w 192"/>
                  <a:gd name="T11" fmla="*/ 35 h 104"/>
                  <a:gd name="T12" fmla="*/ 8 w 192"/>
                  <a:gd name="T13" fmla="*/ 51 h 104"/>
                  <a:gd name="T14" fmla="*/ 6 w 192"/>
                  <a:gd name="T15" fmla="*/ 59 h 104"/>
                  <a:gd name="T16" fmla="*/ 0 w 192"/>
                  <a:gd name="T17" fmla="*/ 67 h 104"/>
                  <a:gd name="T18" fmla="*/ 3 w 192"/>
                  <a:gd name="T19" fmla="*/ 78 h 104"/>
                  <a:gd name="T20" fmla="*/ 6 w 192"/>
                  <a:gd name="T21" fmla="*/ 86 h 104"/>
                  <a:gd name="T22" fmla="*/ 32 w 192"/>
                  <a:gd name="T23" fmla="*/ 94 h 104"/>
                  <a:gd name="T24" fmla="*/ 62 w 192"/>
                  <a:gd name="T25" fmla="*/ 102 h 104"/>
                  <a:gd name="T26" fmla="*/ 96 w 192"/>
                  <a:gd name="T27" fmla="*/ 102 h 104"/>
                  <a:gd name="T28" fmla="*/ 131 w 192"/>
                  <a:gd name="T29" fmla="*/ 104 h 104"/>
                  <a:gd name="T30" fmla="*/ 128 w 192"/>
                  <a:gd name="T31" fmla="*/ 94 h 104"/>
                  <a:gd name="T32" fmla="*/ 123 w 192"/>
                  <a:gd name="T33" fmla="*/ 83 h 104"/>
                  <a:gd name="T34" fmla="*/ 123 w 192"/>
                  <a:gd name="T35" fmla="*/ 64 h 104"/>
                  <a:gd name="T36" fmla="*/ 120 w 192"/>
                  <a:gd name="T37" fmla="*/ 48 h 104"/>
                  <a:gd name="T38" fmla="*/ 126 w 192"/>
                  <a:gd name="T39" fmla="*/ 38 h 104"/>
                  <a:gd name="T40" fmla="*/ 134 w 192"/>
                  <a:gd name="T41" fmla="*/ 30 h 104"/>
                  <a:gd name="T42" fmla="*/ 163 w 192"/>
                  <a:gd name="T43" fmla="*/ 14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6"/>
                    </a:lnTo>
                    <a:lnTo>
                      <a:pt x="46" y="35"/>
                    </a:lnTo>
                    <a:lnTo>
                      <a:pt x="8" y="51"/>
                    </a:lnTo>
                    <a:lnTo>
                      <a:pt x="6" y="59"/>
                    </a:lnTo>
                    <a:lnTo>
                      <a:pt x="0" y="67"/>
                    </a:lnTo>
                    <a:lnTo>
                      <a:pt x="3" y="78"/>
                    </a:lnTo>
                    <a:lnTo>
                      <a:pt x="6" y="86"/>
                    </a:lnTo>
                    <a:lnTo>
                      <a:pt x="32" y="94"/>
                    </a:lnTo>
                    <a:lnTo>
                      <a:pt x="62" y="102"/>
                    </a:lnTo>
                    <a:lnTo>
                      <a:pt x="96" y="102"/>
                    </a:lnTo>
                    <a:lnTo>
                      <a:pt x="131" y="104"/>
                    </a:lnTo>
                    <a:lnTo>
                      <a:pt x="128" y="94"/>
                    </a:lnTo>
                    <a:lnTo>
                      <a:pt x="123" y="83"/>
                    </a:lnTo>
                    <a:lnTo>
                      <a:pt x="123" y="64"/>
                    </a:lnTo>
                    <a:lnTo>
                      <a:pt x="120" y="48"/>
                    </a:lnTo>
                    <a:lnTo>
                      <a:pt x="126" y="38"/>
                    </a:lnTo>
                    <a:lnTo>
                      <a:pt x="134" y="30"/>
                    </a:lnTo>
                    <a:lnTo>
                      <a:pt x="163" y="14"/>
                    </a:lnTo>
                    <a:lnTo>
                      <a:pt x="192"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7" name="Freeform 40">
                <a:extLst>
                  <a:ext uri="{FF2B5EF4-FFF2-40B4-BE49-F238E27FC236}">
                    <a16:creationId xmlns:a16="http://schemas.microsoft.com/office/drawing/2014/main" id="{9A184242-B02A-43B7-A9A0-2805219FF337}"/>
                  </a:ext>
                </a:extLst>
              </p:cNvPr>
              <p:cNvSpPr>
                <a:spLocks/>
              </p:cNvSpPr>
              <p:nvPr/>
            </p:nvSpPr>
            <p:spPr bwMode="auto">
              <a:xfrm>
                <a:off x="2564" y="1469"/>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6 h 104"/>
                  <a:gd name="T10" fmla="*/ 46 w 192"/>
                  <a:gd name="T11" fmla="*/ 35 h 104"/>
                  <a:gd name="T12" fmla="*/ 8 w 192"/>
                  <a:gd name="T13" fmla="*/ 51 h 104"/>
                  <a:gd name="T14" fmla="*/ 6 w 192"/>
                  <a:gd name="T15" fmla="*/ 59 h 104"/>
                  <a:gd name="T16" fmla="*/ 0 w 192"/>
                  <a:gd name="T17" fmla="*/ 67 h 104"/>
                  <a:gd name="T18" fmla="*/ 3 w 192"/>
                  <a:gd name="T19" fmla="*/ 78 h 104"/>
                  <a:gd name="T20" fmla="*/ 6 w 192"/>
                  <a:gd name="T21" fmla="*/ 86 h 104"/>
                  <a:gd name="T22" fmla="*/ 32 w 192"/>
                  <a:gd name="T23" fmla="*/ 94 h 104"/>
                  <a:gd name="T24" fmla="*/ 62 w 192"/>
                  <a:gd name="T25" fmla="*/ 102 h 104"/>
                  <a:gd name="T26" fmla="*/ 96 w 192"/>
                  <a:gd name="T27" fmla="*/ 102 h 104"/>
                  <a:gd name="T28" fmla="*/ 131 w 192"/>
                  <a:gd name="T29" fmla="*/ 104 h 104"/>
                  <a:gd name="T30" fmla="*/ 128 w 192"/>
                  <a:gd name="T31" fmla="*/ 94 h 104"/>
                  <a:gd name="T32" fmla="*/ 123 w 192"/>
                  <a:gd name="T33" fmla="*/ 83 h 104"/>
                  <a:gd name="T34" fmla="*/ 123 w 192"/>
                  <a:gd name="T35" fmla="*/ 64 h 104"/>
                  <a:gd name="T36" fmla="*/ 120 w 192"/>
                  <a:gd name="T37" fmla="*/ 48 h 104"/>
                  <a:gd name="T38" fmla="*/ 126 w 192"/>
                  <a:gd name="T39" fmla="*/ 38 h 104"/>
                  <a:gd name="T40" fmla="*/ 134 w 192"/>
                  <a:gd name="T41" fmla="*/ 30 h 104"/>
                  <a:gd name="T42" fmla="*/ 163 w 192"/>
                  <a:gd name="T43" fmla="*/ 14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6"/>
                    </a:lnTo>
                    <a:lnTo>
                      <a:pt x="46" y="35"/>
                    </a:lnTo>
                    <a:lnTo>
                      <a:pt x="8" y="51"/>
                    </a:lnTo>
                    <a:lnTo>
                      <a:pt x="6" y="59"/>
                    </a:lnTo>
                    <a:lnTo>
                      <a:pt x="0" y="67"/>
                    </a:lnTo>
                    <a:lnTo>
                      <a:pt x="3" y="78"/>
                    </a:lnTo>
                    <a:lnTo>
                      <a:pt x="6" y="86"/>
                    </a:lnTo>
                    <a:lnTo>
                      <a:pt x="32" y="94"/>
                    </a:lnTo>
                    <a:lnTo>
                      <a:pt x="62" y="102"/>
                    </a:lnTo>
                    <a:lnTo>
                      <a:pt x="96" y="102"/>
                    </a:lnTo>
                    <a:lnTo>
                      <a:pt x="131" y="104"/>
                    </a:lnTo>
                    <a:lnTo>
                      <a:pt x="128" y="94"/>
                    </a:lnTo>
                    <a:lnTo>
                      <a:pt x="123" y="83"/>
                    </a:lnTo>
                    <a:lnTo>
                      <a:pt x="123" y="64"/>
                    </a:lnTo>
                    <a:lnTo>
                      <a:pt x="120" y="48"/>
                    </a:lnTo>
                    <a:lnTo>
                      <a:pt x="126" y="38"/>
                    </a:lnTo>
                    <a:lnTo>
                      <a:pt x="134" y="30"/>
                    </a:lnTo>
                    <a:lnTo>
                      <a:pt x="163" y="14"/>
                    </a:lnTo>
                    <a:lnTo>
                      <a:pt x="192"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68" name="Freeform 41">
                <a:extLst>
                  <a:ext uri="{FF2B5EF4-FFF2-40B4-BE49-F238E27FC236}">
                    <a16:creationId xmlns:a16="http://schemas.microsoft.com/office/drawing/2014/main" id="{071D9322-347C-4740-A9FE-0038ED48A24B}"/>
                  </a:ext>
                </a:extLst>
              </p:cNvPr>
              <p:cNvSpPr>
                <a:spLocks/>
              </p:cNvSpPr>
              <p:nvPr/>
            </p:nvSpPr>
            <p:spPr bwMode="auto">
              <a:xfrm>
                <a:off x="2658" y="1469"/>
                <a:ext cx="93" cy="102"/>
              </a:xfrm>
              <a:custGeom>
                <a:avLst/>
                <a:gdLst>
                  <a:gd name="T0" fmla="*/ 93 w 93"/>
                  <a:gd name="T1" fmla="*/ 0 h 102"/>
                  <a:gd name="T2" fmla="*/ 42 w 93"/>
                  <a:gd name="T3" fmla="*/ 8 h 102"/>
                  <a:gd name="T4" fmla="*/ 16 w 93"/>
                  <a:gd name="T5" fmla="*/ 27 h 102"/>
                  <a:gd name="T6" fmla="*/ 2 w 93"/>
                  <a:gd name="T7" fmla="*/ 51 h 102"/>
                  <a:gd name="T8" fmla="*/ 0 w 93"/>
                  <a:gd name="T9" fmla="*/ 70 h 102"/>
                  <a:gd name="T10" fmla="*/ 10 w 93"/>
                  <a:gd name="T11" fmla="*/ 88 h 102"/>
                  <a:gd name="T12" fmla="*/ 37 w 93"/>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3" h="102">
                    <a:moveTo>
                      <a:pt x="93" y="0"/>
                    </a:moveTo>
                    <a:lnTo>
                      <a:pt x="42" y="8"/>
                    </a:lnTo>
                    <a:lnTo>
                      <a:pt x="16" y="27"/>
                    </a:lnTo>
                    <a:lnTo>
                      <a:pt x="2" y="51"/>
                    </a:lnTo>
                    <a:lnTo>
                      <a:pt x="0" y="70"/>
                    </a:lnTo>
                    <a:lnTo>
                      <a:pt x="10" y="88"/>
                    </a:lnTo>
                    <a:lnTo>
                      <a:pt x="37" y="10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69" name="Line 42">
                <a:extLst>
                  <a:ext uri="{FF2B5EF4-FFF2-40B4-BE49-F238E27FC236}">
                    <a16:creationId xmlns:a16="http://schemas.microsoft.com/office/drawing/2014/main" id="{34E055D3-AD4F-4F1F-B72D-5FCF13D96E86}"/>
                  </a:ext>
                </a:extLst>
              </p:cNvPr>
              <p:cNvSpPr>
                <a:spLocks noChangeShapeType="1"/>
              </p:cNvSpPr>
              <p:nvPr/>
            </p:nvSpPr>
            <p:spPr bwMode="auto">
              <a:xfrm>
                <a:off x="2738" y="1472"/>
                <a:ext cx="2"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0" name="Line 43">
                <a:extLst>
                  <a:ext uri="{FF2B5EF4-FFF2-40B4-BE49-F238E27FC236}">
                    <a16:creationId xmlns:a16="http://schemas.microsoft.com/office/drawing/2014/main" id="{51A57835-9DCD-438F-868A-947179A6DC5E}"/>
                  </a:ext>
                </a:extLst>
              </p:cNvPr>
              <p:cNvSpPr>
                <a:spLocks noChangeShapeType="1"/>
              </p:cNvSpPr>
              <p:nvPr/>
            </p:nvSpPr>
            <p:spPr bwMode="auto">
              <a:xfrm>
                <a:off x="2724" y="1474"/>
                <a:ext cx="3" cy="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1" name="Line 44">
                <a:extLst>
                  <a:ext uri="{FF2B5EF4-FFF2-40B4-BE49-F238E27FC236}">
                    <a16:creationId xmlns:a16="http://schemas.microsoft.com/office/drawing/2014/main" id="{ABFAE828-C6D5-4307-BF49-CB56583CBE29}"/>
                  </a:ext>
                </a:extLst>
              </p:cNvPr>
              <p:cNvSpPr>
                <a:spLocks noChangeShapeType="1"/>
              </p:cNvSpPr>
              <p:nvPr/>
            </p:nvSpPr>
            <p:spPr bwMode="auto">
              <a:xfrm>
                <a:off x="2706" y="1477"/>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2" name="Line 45">
                <a:extLst>
                  <a:ext uri="{FF2B5EF4-FFF2-40B4-BE49-F238E27FC236}">
                    <a16:creationId xmlns:a16="http://schemas.microsoft.com/office/drawing/2014/main" id="{F638F8D5-A045-4052-8658-EA543D87A5DF}"/>
                  </a:ext>
                </a:extLst>
              </p:cNvPr>
              <p:cNvSpPr>
                <a:spLocks noChangeShapeType="1"/>
              </p:cNvSpPr>
              <p:nvPr/>
            </p:nvSpPr>
            <p:spPr bwMode="auto">
              <a:xfrm>
                <a:off x="2690" y="1485"/>
                <a:ext cx="13"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3" name="Line 46">
                <a:extLst>
                  <a:ext uri="{FF2B5EF4-FFF2-40B4-BE49-F238E27FC236}">
                    <a16:creationId xmlns:a16="http://schemas.microsoft.com/office/drawing/2014/main" id="{DDCAD712-66BB-4CDB-984F-E30CDE14A441}"/>
                  </a:ext>
                </a:extLst>
              </p:cNvPr>
              <p:cNvSpPr>
                <a:spLocks noChangeShapeType="1"/>
              </p:cNvSpPr>
              <p:nvPr/>
            </p:nvSpPr>
            <p:spPr bwMode="auto">
              <a:xfrm>
                <a:off x="2682" y="1493"/>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4" name="Line 47">
                <a:extLst>
                  <a:ext uri="{FF2B5EF4-FFF2-40B4-BE49-F238E27FC236}">
                    <a16:creationId xmlns:a16="http://schemas.microsoft.com/office/drawing/2014/main" id="{E62694C8-387B-463D-9C0F-14A0E8C17926}"/>
                  </a:ext>
                </a:extLst>
              </p:cNvPr>
              <p:cNvSpPr>
                <a:spLocks noChangeShapeType="1"/>
              </p:cNvSpPr>
              <p:nvPr/>
            </p:nvSpPr>
            <p:spPr bwMode="auto">
              <a:xfrm>
                <a:off x="2674" y="1504"/>
                <a:ext cx="10"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5" name="Line 48">
                <a:extLst>
                  <a:ext uri="{FF2B5EF4-FFF2-40B4-BE49-F238E27FC236}">
                    <a16:creationId xmlns:a16="http://schemas.microsoft.com/office/drawing/2014/main" id="{33FAF1CE-6C6B-46BD-B014-B2A4DC00230B}"/>
                  </a:ext>
                </a:extLst>
              </p:cNvPr>
              <p:cNvSpPr>
                <a:spLocks noChangeShapeType="1"/>
              </p:cNvSpPr>
              <p:nvPr/>
            </p:nvSpPr>
            <p:spPr bwMode="auto">
              <a:xfrm>
                <a:off x="2666" y="1512"/>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6" name="Line 49">
                <a:extLst>
                  <a:ext uri="{FF2B5EF4-FFF2-40B4-BE49-F238E27FC236}">
                    <a16:creationId xmlns:a16="http://schemas.microsoft.com/office/drawing/2014/main" id="{859FF3AD-F7BD-4456-82F6-EE86B9C16AAF}"/>
                  </a:ext>
                </a:extLst>
              </p:cNvPr>
              <p:cNvSpPr>
                <a:spLocks noChangeShapeType="1"/>
              </p:cNvSpPr>
              <p:nvPr/>
            </p:nvSpPr>
            <p:spPr bwMode="auto">
              <a:xfrm>
                <a:off x="2660" y="1525"/>
                <a:ext cx="2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7" name="Line 50">
                <a:extLst>
                  <a:ext uri="{FF2B5EF4-FFF2-40B4-BE49-F238E27FC236}">
                    <a16:creationId xmlns:a16="http://schemas.microsoft.com/office/drawing/2014/main" id="{B9B70EDF-E07F-4978-A683-76BD46D3ABD7}"/>
                  </a:ext>
                </a:extLst>
              </p:cNvPr>
              <p:cNvSpPr>
                <a:spLocks noChangeShapeType="1"/>
              </p:cNvSpPr>
              <p:nvPr/>
            </p:nvSpPr>
            <p:spPr bwMode="auto">
              <a:xfrm>
                <a:off x="2658" y="1539"/>
                <a:ext cx="26"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8" name="Line 51">
                <a:extLst>
                  <a:ext uri="{FF2B5EF4-FFF2-40B4-BE49-F238E27FC236}">
                    <a16:creationId xmlns:a16="http://schemas.microsoft.com/office/drawing/2014/main" id="{BCDEFC3C-FF36-4611-B2A1-BA244D8ED6E3}"/>
                  </a:ext>
                </a:extLst>
              </p:cNvPr>
              <p:cNvSpPr>
                <a:spLocks noChangeShapeType="1"/>
              </p:cNvSpPr>
              <p:nvPr/>
            </p:nvSpPr>
            <p:spPr bwMode="auto">
              <a:xfrm>
                <a:off x="2668" y="1555"/>
                <a:ext cx="19"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9" name="Line 52">
                <a:extLst>
                  <a:ext uri="{FF2B5EF4-FFF2-40B4-BE49-F238E27FC236}">
                    <a16:creationId xmlns:a16="http://schemas.microsoft.com/office/drawing/2014/main" id="{DAF05C5F-DFCA-457C-B96D-8C7B64C5FECC}"/>
                  </a:ext>
                </a:extLst>
              </p:cNvPr>
              <p:cNvSpPr>
                <a:spLocks noChangeShapeType="1"/>
              </p:cNvSpPr>
              <p:nvPr/>
            </p:nvSpPr>
            <p:spPr bwMode="auto">
              <a:xfrm>
                <a:off x="2682" y="1563"/>
                <a:ext cx="10"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0" name="Freeform 53">
                <a:extLst>
                  <a:ext uri="{FF2B5EF4-FFF2-40B4-BE49-F238E27FC236}">
                    <a16:creationId xmlns:a16="http://schemas.microsoft.com/office/drawing/2014/main" id="{80821AB3-1FAE-4BB9-8719-4063C0055403}"/>
                  </a:ext>
                </a:extLst>
              </p:cNvPr>
              <p:cNvSpPr>
                <a:spLocks/>
              </p:cNvSpPr>
              <p:nvPr/>
            </p:nvSpPr>
            <p:spPr bwMode="auto">
              <a:xfrm>
                <a:off x="2909" y="1402"/>
                <a:ext cx="192" cy="105"/>
              </a:xfrm>
              <a:custGeom>
                <a:avLst/>
                <a:gdLst>
                  <a:gd name="T0" fmla="*/ 192 w 192"/>
                  <a:gd name="T1" fmla="*/ 0 h 105"/>
                  <a:gd name="T2" fmla="*/ 168 w 192"/>
                  <a:gd name="T3" fmla="*/ 0 h 105"/>
                  <a:gd name="T4" fmla="*/ 144 w 192"/>
                  <a:gd name="T5" fmla="*/ 0 h 105"/>
                  <a:gd name="T6" fmla="*/ 114 w 192"/>
                  <a:gd name="T7" fmla="*/ 11 h 105"/>
                  <a:gd name="T8" fmla="*/ 82 w 192"/>
                  <a:gd name="T9" fmla="*/ 19 h 105"/>
                  <a:gd name="T10" fmla="*/ 45 w 192"/>
                  <a:gd name="T11" fmla="*/ 35 h 105"/>
                  <a:gd name="T12" fmla="*/ 8 w 192"/>
                  <a:gd name="T13" fmla="*/ 54 h 105"/>
                  <a:gd name="T14" fmla="*/ 5 w 192"/>
                  <a:gd name="T15" fmla="*/ 62 h 105"/>
                  <a:gd name="T16" fmla="*/ 0 w 192"/>
                  <a:gd name="T17" fmla="*/ 70 h 105"/>
                  <a:gd name="T18" fmla="*/ 2 w 192"/>
                  <a:gd name="T19" fmla="*/ 78 h 105"/>
                  <a:gd name="T20" fmla="*/ 5 w 192"/>
                  <a:gd name="T21" fmla="*/ 89 h 105"/>
                  <a:gd name="T22" fmla="*/ 32 w 192"/>
                  <a:gd name="T23" fmla="*/ 97 h 105"/>
                  <a:gd name="T24" fmla="*/ 61 w 192"/>
                  <a:gd name="T25" fmla="*/ 105 h 105"/>
                  <a:gd name="T26" fmla="*/ 96 w 192"/>
                  <a:gd name="T27" fmla="*/ 105 h 105"/>
                  <a:gd name="T28" fmla="*/ 130 w 192"/>
                  <a:gd name="T29" fmla="*/ 105 h 105"/>
                  <a:gd name="T30" fmla="*/ 128 w 192"/>
                  <a:gd name="T31" fmla="*/ 94 h 105"/>
                  <a:gd name="T32" fmla="*/ 122 w 192"/>
                  <a:gd name="T33" fmla="*/ 83 h 105"/>
                  <a:gd name="T34" fmla="*/ 122 w 192"/>
                  <a:gd name="T35" fmla="*/ 67 h 105"/>
                  <a:gd name="T36" fmla="*/ 120 w 192"/>
                  <a:gd name="T37" fmla="*/ 48 h 105"/>
                  <a:gd name="T38" fmla="*/ 125 w 192"/>
                  <a:gd name="T39" fmla="*/ 40 h 105"/>
                  <a:gd name="T40" fmla="*/ 133 w 192"/>
                  <a:gd name="T41" fmla="*/ 32 h 105"/>
                  <a:gd name="T42" fmla="*/ 162 w 192"/>
                  <a:gd name="T43" fmla="*/ 16 h 105"/>
                  <a:gd name="T44" fmla="*/ 192 w 192"/>
                  <a:gd name="T45"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5">
                    <a:moveTo>
                      <a:pt x="192" y="0"/>
                    </a:moveTo>
                    <a:lnTo>
                      <a:pt x="168" y="0"/>
                    </a:lnTo>
                    <a:lnTo>
                      <a:pt x="144" y="0"/>
                    </a:lnTo>
                    <a:lnTo>
                      <a:pt x="114" y="11"/>
                    </a:lnTo>
                    <a:lnTo>
                      <a:pt x="82" y="19"/>
                    </a:lnTo>
                    <a:lnTo>
                      <a:pt x="45" y="35"/>
                    </a:lnTo>
                    <a:lnTo>
                      <a:pt x="8" y="54"/>
                    </a:lnTo>
                    <a:lnTo>
                      <a:pt x="5" y="62"/>
                    </a:lnTo>
                    <a:lnTo>
                      <a:pt x="0" y="70"/>
                    </a:lnTo>
                    <a:lnTo>
                      <a:pt x="2" y="78"/>
                    </a:lnTo>
                    <a:lnTo>
                      <a:pt x="5" y="89"/>
                    </a:lnTo>
                    <a:lnTo>
                      <a:pt x="32" y="97"/>
                    </a:lnTo>
                    <a:lnTo>
                      <a:pt x="61" y="105"/>
                    </a:lnTo>
                    <a:lnTo>
                      <a:pt x="96" y="105"/>
                    </a:lnTo>
                    <a:lnTo>
                      <a:pt x="130" y="105"/>
                    </a:lnTo>
                    <a:lnTo>
                      <a:pt x="128" y="94"/>
                    </a:lnTo>
                    <a:lnTo>
                      <a:pt x="122" y="83"/>
                    </a:lnTo>
                    <a:lnTo>
                      <a:pt x="122" y="67"/>
                    </a:lnTo>
                    <a:lnTo>
                      <a:pt x="120" y="48"/>
                    </a:lnTo>
                    <a:lnTo>
                      <a:pt x="125" y="40"/>
                    </a:lnTo>
                    <a:lnTo>
                      <a:pt x="133" y="32"/>
                    </a:lnTo>
                    <a:lnTo>
                      <a:pt x="162" y="16"/>
                    </a:lnTo>
                    <a:lnTo>
                      <a:pt x="192"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1" name="Freeform 54">
                <a:extLst>
                  <a:ext uri="{FF2B5EF4-FFF2-40B4-BE49-F238E27FC236}">
                    <a16:creationId xmlns:a16="http://schemas.microsoft.com/office/drawing/2014/main" id="{1A25A834-5A1C-45ED-99A0-BF50570DB056}"/>
                  </a:ext>
                </a:extLst>
              </p:cNvPr>
              <p:cNvSpPr>
                <a:spLocks/>
              </p:cNvSpPr>
              <p:nvPr/>
            </p:nvSpPr>
            <p:spPr bwMode="auto">
              <a:xfrm>
                <a:off x="2909" y="1402"/>
                <a:ext cx="192" cy="105"/>
              </a:xfrm>
              <a:custGeom>
                <a:avLst/>
                <a:gdLst>
                  <a:gd name="T0" fmla="*/ 192 w 192"/>
                  <a:gd name="T1" fmla="*/ 0 h 105"/>
                  <a:gd name="T2" fmla="*/ 168 w 192"/>
                  <a:gd name="T3" fmla="*/ 0 h 105"/>
                  <a:gd name="T4" fmla="*/ 144 w 192"/>
                  <a:gd name="T5" fmla="*/ 0 h 105"/>
                  <a:gd name="T6" fmla="*/ 114 w 192"/>
                  <a:gd name="T7" fmla="*/ 11 h 105"/>
                  <a:gd name="T8" fmla="*/ 82 w 192"/>
                  <a:gd name="T9" fmla="*/ 19 h 105"/>
                  <a:gd name="T10" fmla="*/ 45 w 192"/>
                  <a:gd name="T11" fmla="*/ 35 h 105"/>
                  <a:gd name="T12" fmla="*/ 8 w 192"/>
                  <a:gd name="T13" fmla="*/ 54 h 105"/>
                  <a:gd name="T14" fmla="*/ 5 w 192"/>
                  <a:gd name="T15" fmla="*/ 62 h 105"/>
                  <a:gd name="T16" fmla="*/ 0 w 192"/>
                  <a:gd name="T17" fmla="*/ 70 h 105"/>
                  <a:gd name="T18" fmla="*/ 2 w 192"/>
                  <a:gd name="T19" fmla="*/ 78 h 105"/>
                  <a:gd name="T20" fmla="*/ 5 w 192"/>
                  <a:gd name="T21" fmla="*/ 89 h 105"/>
                  <a:gd name="T22" fmla="*/ 32 w 192"/>
                  <a:gd name="T23" fmla="*/ 97 h 105"/>
                  <a:gd name="T24" fmla="*/ 61 w 192"/>
                  <a:gd name="T25" fmla="*/ 105 h 105"/>
                  <a:gd name="T26" fmla="*/ 96 w 192"/>
                  <a:gd name="T27" fmla="*/ 105 h 105"/>
                  <a:gd name="T28" fmla="*/ 130 w 192"/>
                  <a:gd name="T29" fmla="*/ 105 h 105"/>
                  <a:gd name="T30" fmla="*/ 128 w 192"/>
                  <a:gd name="T31" fmla="*/ 94 h 105"/>
                  <a:gd name="T32" fmla="*/ 122 w 192"/>
                  <a:gd name="T33" fmla="*/ 83 h 105"/>
                  <a:gd name="T34" fmla="*/ 122 w 192"/>
                  <a:gd name="T35" fmla="*/ 67 h 105"/>
                  <a:gd name="T36" fmla="*/ 120 w 192"/>
                  <a:gd name="T37" fmla="*/ 48 h 105"/>
                  <a:gd name="T38" fmla="*/ 125 w 192"/>
                  <a:gd name="T39" fmla="*/ 40 h 105"/>
                  <a:gd name="T40" fmla="*/ 133 w 192"/>
                  <a:gd name="T41" fmla="*/ 32 h 105"/>
                  <a:gd name="T42" fmla="*/ 162 w 192"/>
                  <a:gd name="T43" fmla="*/ 16 h 105"/>
                  <a:gd name="T44" fmla="*/ 192 w 192"/>
                  <a:gd name="T45"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5">
                    <a:moveTo>
                      <a:pt x="192" y="0"/>
                    </a:moveTo>
                    <a:lnTo>
                      <a:pt x="168" y="0"/>
                    </a:lnTo>
                    <a:lnTo>
                      <a:pt x="144" y="0"/>
                    </a:lnTo>
                    <a:lnTo>
                      <a:pt x="114" y="11"/>
                    </a:lnTo>
                    <a:lnTo>
                      <a:pt x="82" y="19"/>
                    </a:lnTo>
                    <a:lnTo>
                      <a:pt x="45" y="35"/>
                    </a:lnTo>
                    <a:lnTo>
                      <a:pt x="8" y="54"/>
                    </a:lnTo>
                    <a:lnTo>
                      <a:pt x="5" y="62"/>
                    </a:lnTo>
                    <a:lnTo>
                      <a:pt x="0" y="70"/>
                    </a:lnTo>
                    <a:lnTo>
                      <a:pt x="2" y="78"/>
                    </a:lnTo>
                    <a:lnTo>
                      <a:pt x="5" y="89"/>
                    </a:lnTo>
                    <a:lnTo>
                      <a:pt x="32" y="97"/>
                    </a:lnTo>
                    <a:lnTo>
                      <a:pt x="61" y="105"/>
                    </a:lnTo>
                    <a:lnTo>
                      <a:pt x="96" y="105"/>
                    </a:lnTo>
                    <a:lnTo>
                      <a:pt x="130" y="105"/>
                    </a:lnTo>
                    <a:lnTo>
                      <a:pt x="128" y="94"/>
                    </a:lnTo>
                    <a:lnTo>
                      <a:pt x="122" y="83"/>
                    </a:lnTo>
                    <a:lnTo>
                      <a:pt x="122" y="67"/>
                    </a:lnTo>
                    <a:lnTo>
                      <a:pt x="120" y="48"/>
                    </a:lnTo>
                    <a:lnTo>
                      <a:pt x="125" y="40"/>
                    </a:lnTo>
                    <a:lnTo>
                      <a:pt x="133" y="32"/>
                    </a:lnTo>
                    <a:lnTo>
                      <a:pt x="162" y="16"/>
                    </a:lnTo>
                    <a:lnTo>
                      <a:pt x="192"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82" name="Freeform 55">
                <a:extLst>
                  <a:ext uri="{FF2B5EF4-FFF2-40B4-BE49-F238E27FC236}">
                    <a16:creationId xmlns:a16="http://schemas.microsoft.com/office/drawing/2014/main" id="{3EFEC9D7-D246-47E8-9D22-57A13998FB75}"/>
                  </a:ext>
                </a:extLst>
              </p:cNvPr>
              <p:cNvSpPr>
                <a:spLocks/>
              </p:cNvSpPr>
              <p:nvPr/>
            </p:nvSpPr>
            <p:spPr bwMode="auto">
              <a:xfrm>
                <a:off x="3002" y="1405"/>
                <a:ext cx="93" cy="102"/>
              </a:xfrm>
              <a:custGeom>
                <a:avLst/>
                <a:gdLst>
                  <a:gd name="T0" fmla="*/ 93 w 93"/>
                  <a:gd name="T1" fmla="*/ 0 h 102"/>
                  <a:gd name="T2" fmla="*/ 43 w 93"/>
                  <a:gd name="T3" fmla="*/ 8 h 102"/>
                  <a:gd name="T4" fmla="*/ 16 w 93"/>
                  <a:gd name="T5" fmla="*/ 27 h 102"/>
                  <a:gd name="T6" fmla="*/ 3 w 93"/>
                  <a:gd name="T7" fmla="*/ 51 h 102"/>
                  <a:gd name="T8" fmla="*/ 0 w 93"/>
                  <a:gd name="T9" fmla="*/ 69 h 102"/>
                  <a:gd name="T10" fmla="*/ 8 w 93"/>
                  <a:gd name="T11" fmla="*/ 88 h 102"/>
                  <a:gd name="T12" fmla="*/ 37 w 93"/>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3" h="102">
                    <a:moveTo>
                      <a:pt x="93" y="0"/>
                    </a:moveTo>
                    <a:lnTo>
                      <a:pt x="43" y="8"/>
                    </a:lnTo>
                    <a:lnTo>
                      <a:pt x="16" y="27"/>
                    </a:lnTo>
                    <a:lnTo>
                      <a:pt x="3" y="51"/>
                    </a:lnTo>
                    <a:lnTo>
                      <a:pt x="0" y="69"/>
                    </a:lnTo>
                    <a:lnTo>
                      <a:pt x="8" y="88"/>
                    </a:lnTo>
                    <a:lnTo>
                      <a:pt x="37" y="10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83" name="Line 56">
                <a:extLst>
                  <a:ext uri="{FF2B5EF4-FFF2-40B4-BE49-F238E27FC236}">
                    <a16:creationId xmlns:a16="http://schemas.microsoft.com/office/drawing/2014/main" id="{9A12C339-A4C0-4447-A192-1BB374ED4896}"/>
                  </a:ext>
                </a:extLst>
              </p:cNvPr>
              <p:cNvSpPr>
                <a:spLocks noChangeShapeType="1"/>
              </p:cNvSpPr>
              <p:nvPr/>
            </p:nvSpPr>
            <p:spPr bwMode="auto">
              <a:xfrm>
                <a:off x="3082" y="1405"/>
                <a:ext cx="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 name="Line 57">
                <a:extLst>
                  <a:ext uri="{FF2B5EF4-FFF2-40B4-BE49-F238E27FC236}">
                    <a16:creationId xmlns:a16="http://schemas.microsoft.com/office/drawing/2014/main" id="{16CB4E3A-6B6B-4FBB-ACD2-A0C93470D1BA}"/>
                  </a:ext>
                </a:extLst>
              </p:cNvPr>
              <p:cNvSpPr>
                <a:spLocks noChangeShapeType="1"/>
              </p:cNvSpPr>
              <p:nvPr/>
            </p:nvSpPr>
            <p:spPr bwMode="auto">
              <a:xfrm>
                <a:off x="3069" y="1408"/>
                <a:ext cx="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5" name="Line 58">
                <a:extLst>
                  <a:ext uri="{FF2B5EF4-FFF2-40B4-BE49-F238E27FC236}">
                    <a16:creationId xmlns:a16="http://schemas.microsoft.com/office/drawing/2014/main" id="{C75AF0A6-6061-45D0-A6A5-EA904659E47B}"/>
                  </a:ext>
                </a:extLst>
              </p:cNvPr>
              <p:cNvSpPr>
                <a:spLocks noChangeShapeType="1"/>
              </p:cNvSpPr>
              <p:nvPr/>
            </p:nvSpPr>
            <p:spPr bwMode="auto">
              <a:xfrm>
                <a:off x="3050" y="1413"/>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6" name="Line 59">
                <a:extLst>
                  <a:ext uri="{FF2B5EF4-FFF2-40B4-BE49-F238E27FC236}">
                    <a16:creationId xmlns:a16="http://schemas.microsoft.com/office/drawing/2014/main" id="{4C25AB09-3249-4280-B387-11974AC598C4}"/>
                  </a:ext>
                </a:extLst>
              </p:cNvPr>
              <p:cNvSpPr>
                <a:spLocks noChangeShapeType="1"/>
              </p:cNvSpPr>
              <p:nvPr/>
            </p:nvSpPr>
            <p:spPr bwMode="auto">
              <a:xfrm>
                <a:off x="3034" y="1421"/>
                <a:ext cx="13"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7" name="Line 60">
                <a:extLst>
                  <a:ext uri="{FF2B5EF4-FFF2-40B4-BE49-F238E27FC236}">
                    <a16:creationId xmlns:a16="http://schemas.microsoft.com/office/drawing/2014/main" id="{E17E7C81-DBDF-4393-B632-CC5FD6B93CDC}"/>
                  </a:ext>
                </a:extLst>
              </p:cNvPr>
              <p:cNvSpPr>
                <a:spLocks noChangeShapeType="1"/>
              </p:cNvSpPr>
              <p:nvPr/>
            </p:nvSpPr>
            <p:spPr bwMode="auto">
              <a:xfrm>
                <a:off x="3026" y="1429"/>
                <a:ext cx="1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8" name="Line 61">
                <a:extLst>
                  <a:ext uri="{FF2B5EF4-FFF2-40B4-BE49-F238E27FC236}">
                    <a16:creationId xmlns:a16="http://schemas.microsoft.com/office/drawing/2014/main" id="{595E54F7-2A0F-48D6-A518-A401BEC33551}"/>
                  </a:ext>
                </a:extLst>
              </p:cNvPr>
              <p:cNvSpPr>
                <a:spLocks noChangeShapeType="1"/>
              </p:cNvSpPr>
              <p:nvPr/>
            </p:nvSpPr>
            <p:spPr bwMode="auto">
              <a:xfrm>
                <a:off x="3018" y="1440"/>
                <a:ext cx="11"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9" name="Line 62">
                <a:extLst>
                  <a:ext uri="{FF2B5EF4-FFF2-40B4-BE49-F238E27FC236}">
                    <a16:creationId xmlns:a16="http://schemas.microsoft.com/office/drawing/2014/main" id="{B30822A5-89B3-4538-B74F-2B62B875742E}"/>
                  </a:ext>
                </a:extLst>
              </p:cNvPr>
              <p:cNvSpPr>
                <a:spLocks noChangeShapeType="1"/>
              </p:cNvSpPr>
              <p:nvPr/>
            </p:nvSpPr>
            <p:spPr bwMode="auto">
              <a:xfrm>
                <a:off x="3010" y="1448"/>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0" name="Line 63">
                <a:extLst>
                  <a:ext uri="{FF2B5EF4-FFF2-40B4-BE49-F238E27FC236}">
                    <a16:creationId xmlns:a16="http://schemas.microsoft.com/office/drawing/2014/main" id="{23777733-67FB-42B0-8B59-A235C9131525}"/>
                  </a:ext>
                </a:extLst>
              </p:cNvPr>
              <p:cNvSpPr>
                <a:spLocks noChangeShapeType="1"/>
              </p:cNvSpPr>
              <p:nvPr/>
            </p:nvSpPr>
            <p:spPr bwMode="auto">
              <a:xfrm>
                <a:off x="3005" y="1461"/>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1" name="Line 64">
                <a:extLst>
                  <a:ext uri="{FF2B5EF4-FFF2-40B4-BE49-F238E27FC236}">
                    <a16:creationId xmlns:a16="http://schemas.microsoft.com/office/drawing/2014/main" id="{6983BBBE-A865-4D79-8F0E-531155EB39D6}"/>
                  </a:ext>
                </a:extLst>
              </p:cNvPr>
              <p:cNvSpPr>
                <a:spLocks noChangeShapeType="1"/>
              </p:cNvSpPr>
              <p:nvPr/>
            </p:nvSpPr>
            <p:spPr bwMode="auto">
              <a:xfrm>
                <a:off x="3002" y="1474"/>
                <a:ext cx="27"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2" name="Line 65">
                <a:extLst>
                  <a:ext uri="{FF2B5EF4-FFF2-40B4-BE49-F238E27FC236}">
                    <a16:creationId xmlns:a16="http://schemas.microsoft.com/office/drawing/2014/main" id="{E142F5E8-F8F5-4171-AA84-43AEAA31C243}"/>
                  </a:ext>
                </a:extLst>
              </p:cNvPr>
              <p:cNvSpPr>
                <a:spLocks noChangeShapeType="1"/>
              </p:cNvSpPr>
              <p:nvPr/>
            </p:nvSpPr>
            <p:spPr bwMode="auto">
              <a:xfrm>
                <a:off x="3013" y="1491"/>
                <a:ext cx="18"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3" name="Line 66">
                <a:extLst>
                  <a:ext uri="{FF2B5EF4-FFF2-40B4-BE49-F238E27FC236}">
                    <a16:creationId xmlns:a16="http://schemas.microsoft.com/office/drawing/2014/main" id="{BD5B98A1-C61E-4459-8C29-A1EBD7FB563C}"/>
                  </a:ext>
                </a:extLst>
              </p:cNvPr>
              <p:cNvSpPr>
                <a:spLocks noChangeShapeType="1"/>
              </p:cNvSpPr>
              <p:nvPr/>
            </p:nvSpPr>
            <p:spPr bwMode="auto">
              <a:xfrm>
                <a:off x="3026" y="1499"/>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4" name="Freeform 67">
                <a:extLst>
                  <a:ext uri="{FF2B5EF4-FFF2-40B4-BE49-F238E27FC236}">
                    <a16:creationId xmlns:a16="http://schemas.microsoft.com/office/drawing/2014/main" id="{33FB7C86-3EAC-411E-8A2D-FF69EAD2AFDD}"/>
                  </a:ext>
                </a:extLst>
              </p:cNvPr>
              <p:cNvSpPr>
                <a:spLocks/>
              </p:cNvSpPr>
              <p:nvPr/>
            </p:nvSpPr>
            <p:spPr bwMode="auto">
              <a:xfrm>
                <a:off x="2810" y="1571"/>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8 h 104"/>
                  <a:gd name="T10" fmla="*/ 45 w 192"/>
                  <a:gd name="T11" fmla="*/ 35 h 104"/>
                  <a:gd name="T12" fmla="*/ 8 w 192"/>
                  <a:gd name="T13" fmla="*/ 53 h 104"/>
                  <a:gd name="T14" fmla="*/ 5 w 192"/>
                  <a:gd name="T15" fmla="*/ 61 h 104"/>
                  <a:gd name="T16" fmla="*/ 0 w 192"/>
                  <a:gd name="T17" fmla="*/ 69 h 104"/>
                  <a:gd name="T18" fmla="*/ 2 w 192"/>
                  <a:gd name="T19" fmla="*/ 77 h 104"/>
                  <a:gd name="T20" fmla="*/ 5 w 192"/>
                  <a:gd name="T21" fmla="*/ 88 h 104"/>
                  <a:gd name="T22" fmla="*/ 32 w 192"/>
                  <a:gd name="T23" fmla="*/ 96 h 104"/>
                  <a:gd name="T24" fmla="*/ 59 w 192"/>
                  <a:gd name="T25" fmla="*/ 101 h 104"/>
                  <a:gd name="T26" fmla="*/ 96 w 192"/>
                  <a:gd name="T27" fmla="*/ 104 h 104"/>
                  <a:gd name="T28" fmla="*/ 131 w 192"/>
                  <a:gd name="T29" fmla="*/ 104 h 104"/>
                  <a:gd name="T30" fmla="*/ 128 w 192"/>
                  <a:gd name="T31" fmla="*/ 93 h 104"/>
                  <a:gd name="T32" fmla="*/ 123 w 192"/>
                  <a:gd name="T33" fmla="*/ 83 h 104"/>
                  <a:gd name="T34" fmla="*/ 123 w 192"/>
                  <a:gd name="T35" fmla="*/ 67 h 104"/>
                  <a:gd name="T36" fmla="*/ 120 w 192"/>
                  <a:gd name="T37" fmla="*/ 48 h 104"/>
                  <a:gd name="T38" fmla="*/ 125 w 192"/>
                  <a:gd name="T39" fmla="*/ 40 h 104"/>
                  <a:gd name="T40" fmla="*/ 133 w 192"/>
                  <a:gd name="T41" fmla="*/ 32 h 104"/>
                  <a:gd name="T42" fmla="*/ 163 w 192"/>
                  <a:gd name="T43" fmla="*/ 16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8"/>
                    </a:lnTo>
                    <a:lnTo>
                      <a:pt x="45" y="35"/>
                    </a:lnTo>
                    <a:lnTo>
                      <a:pt x="8" y="53"/>
                    </a:lnTo>
                    <a:lnTo>
                      <a:pt x="5" y="61"/>
                    </a:lnTo>
                    <a:lnTo>
                      <a:pt x="0" y="69"/>
                    </a:lnTo>
                    <a:lnTo>
                      <a:pt x="2" y="77"/>
                    </a:lnTo>
                    <a:lnTo>
                      <a:pt x="5" y="88"/>
                    </a:lnTo>
                    <a:lnTo>
                      <a:pt x="32" y="96"/>
                    </a:lnTo>
                    <a:lnTo>
                      <a:pt x="59" y="101"/>
                    </a:lnTo>
                    <a:lnTo>
                      <a:pt x="96" y="104"/>
                    </a:lnTo>
                    <a:lnTo>
                      <a:pt x="131" y="104"/>
                    </a:lnTo>
                    <a:lnTo>
                      <a:pt x="128" y="93"/>
                    </a:lnTo>
                    <a:lnTo>
                      <a:pt x="123" y="83"/>
                    </a:lnTo>
                    <a:lnTo>
                      <a:pt x="123" y="67"/>
                    </a:lnTo>
                    <a:lnTo>
                      <a:pt x="120" y="48"/>
                    </a:lnTo>
                    <a:lnTo>
                      <a:pt x="125" y="40"/>
                    </a:lnTo>
                    <a:lnTo>
                      <a:pt x="133" y="32"/>
                    </a:lnTo>
                    <a:lnTo>
                      <a:pt x="163" y="16"/>
                    </a:lnTo>
                    <a:lnTo>
                      <a:pt x="192"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5" name="Freeform 68">
                <a:extLst>
                  <a:ext uri="{FF2B5EF4-FFF2-40B4-BE49-F238E27FC236}">
                    <a16:creationId xmlns:a16="http://schemas.microsoft.com/office/drawing/2014/main" id="{03ED4E60-DB63-41D5-A530-2CD2C8CE5F16}"/>
                  </a:ext>
                </a:extLst>
              </p:cNvPr>
              <p:cNvSpPr>
                <a:spLocks/>
              </p:cNvSpPr>
              <p:nvPr/>
            </p:nvSpPr>
            <p:spPr bwMode="auto">
              <a:xfrm>
                <a:off x="2810" y="1571"/>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8 h 104"/>
                  <a:gd name="T10" fmla="*/ 45 w 192"/>
                  <a:gd name="T11" fmla="*/ 35 h 104"/>
                  <a:gd name="T12" fmla="*/ 8 w 192"/>
                  <a:gd name="T13" fmla="*/ 53 h 104"/>
                  <a:gd name="T14" fmla="*/ 5 w 192"/>
                  <a:gd name="T15" fmla="*/ 61 h 104"/>
                  <a:gd name="T16" fmla="*/ 0 w 192"/>
                  <a:gd name="T17" fmla="*/ 69 h 104"/>
                  <a:gd name="T18" fmla="*/ 2 w 192"/>
                  <a:gd name="T19" fmla="*/ 77 h 104"/>
                  <a:gd name="T20" fmla="*/ 5 w 192"/>
                  <a:gd name="T21" fmla="*/ 88 h 104"/>
                  <a:gd name="T22" fmla="*/ 32 w 192"/>
                  <a:gd name="T23" fmla="*/ 96 h 104"/>
                  <a:gd name="T24" fmla="*/ 59 w 192"/>
                  <a:gd name="T25" fmla="*/ 101 h 104"/>
                  <a:gd name="T26" fmla="*/ 96 w 192"/>
                  <a:gd name="T27" fmla="*/ 104 h 104"/>
                  <a:gd name="T28" fmla="*/ 131 w 192"/>
                  <a:gd name="T29" fmla="*/ 104 h 104"/>
                  <a:gd name="T30" fmla="*/ 128 w 192"/>
                  <a:gd name="T31" fmla="*/ 93 h 104"/>
                  <a:gd name="T32" fmla="*/ 123 w 192"/>
                  <a:gd name="T33" fmla="*/ 83 h 104"/>
                  <a:gd name="T34" fmla="*/ 123 w 192"/>
                  <a:gd name="T35" fmla="*/ 67 h 104"/>
                  <a:gd name="T36" fmla="*/ 120 w 192"/>
                  <a:gd name="T37" fmla="*/ 48 h 104"/>
                  <a:gd name="T38" fmla="*/ 125 w 192"/>
                  <a:gd name="T39" fmla="*/ 40 h 104"/>
                  <a:gd name="T40" fmla="*/ 133 w 192"/>
                  <a:gd name="T41" fmla="*/ 32 h 104"/>
                  <a:gd name="T42" fmla="*/ 163 w 192"/>
                  <a:gd name="T43" fmla="*/ 16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8"/>
                    </a:lnTo>
                    <a:lnTo>
                      <a:pt x="45" y="35"/>
                    </a:lnTo>
                    <a:lnTo>
                      <a:pt x="8" y="53"/>
                    </a:lnTo>
                    <a:lnTo>
                      <a:pt x="5" y="61"/>
                    </a:lnTo>
                    <a:lnTo>
                      <a:pt x="0" y="69"/>
                    </a:lnTo>
                    <a:lnTo>
                      <a:pt x="2" y="77"/>
                    </a:lnTo>
                    <a:lnTo>
                      <a:pt x="5" y="88"/>
                    </a:lnTo>
                    <a:lnTo>
                      <a:pt x="32" y="96"/>
                    </a:lnTo>
                    <a:lnTo>
                      <a:pt x="59" y="101"/>
                    </a:lnTo>
                    <a:lnTo>
                      <a:pt x="96" y="104"/>
                    </a:lnTo>
                    <a:lnTo>
                      <a:pt x="131" y="104"/>
                    </a:lnTo>
                    <a:lnTo>
                      <a:pt x="128" y="93"/>
                    </a:lnTo>
                    <a:lnTo>
                      <a:pt x="123" y="83"/>
                    </a:lnTo>
                    <a:lnTo>
                      <a:pt x="123" y="67"/>
                    </a:lnTo>
                    <a:lnTo>
                      <a:pt x="120" y="48"/>
                    </a:lnTo>
                    <a:lnTo>
                      <a:pt x="125" y="40"/>
                    </a:lnTo>
                    <a:lnTo>
                      <a:pt x="133" y="32"/>
                    </a:lnTo>
                    <a:lnTo>
                      <a:pt x="163" y="16"/>
                    </a:lnTo>
                    <a:lnTo>
                      <a:pt x="192"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96" name="Freeform 69">
                <a:extLst>
                  <a:ext uri="{FF2B5EF4-FFF2-40B4-BE49-F238E27FC236}">
                    <a16:creationId xmlns:a16="http://schemas.microsoft.com/office/drawing/2014/main" id="{A73794ED-F34C-4EEC-9E6F-759F322F58CB}"/>
                  </a:ext>
                </a:extLst>
              </p:cNvPr>
              <p:cNvSpPr>
                <a:spLocks/>
              </p:cNvSpPr>
              <p:nvPr/>
            </p:nvSpPr>
            <p:spPr bwMode="auto">
              <a:xfrm>
                <a:off x="2903" y="1573"/>
                <a:ext cx="94" cy="102"/>
              </a:xfrm>
              <a:custGeom>
                <a:avLst/>
                <a:gdLst>
                  <a:gd name="T0" fmla="*/ 94 w 94"/>
                  <a:gd name="T1" fmla="*/ 0 h 102"/>
                  <a:gd name="T2" fmla="*/ 43 w 94"/>
                  <a:gd name="T3" fmla="*/ 8 h 102"/>
                  <a:gd name="T4" fmla="*/ 16 w 94"/>
                  <a:gd name="T5" fmla="*/ 27 h 102"/>
                  <a:gd name="T6" fmla="*/ 3 w 94"/>
                  <a:gd name="T7" fmla="*/ 51 h 102"/>
                  <a:gd name="T8" fmla="*/ 0 w 94"/>
                  <a:gd name="T9" fmla="*/ 70 h 102"/>
                  <a:gd name="T10" fmla="*/ 8 w 94"/>
                  <a:gd name="T11" fmla="*/ 89 h 102"/>
                  <a:gd name="T12" fmla="*/ 38 w 94"/>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4" h="102">
                    <a:moveTo>
                      <a:pt x="94" y="0"/>
                    </a:moveTo>
                    <a:lnTo>
                      <a:pt x="43" y="8"/>
                    </a:lnTo>
                    <a:lnTo>
                      <a:pt x="16" y="27"/>
                    </a:lnTo>
                    <a:lnTo>
                      <a:pt x="3" y="51"/>
                    </a:lnTo>
                    <a:lnTo>
                      <a:pt x="0" y="70"/>
                    </a:lnTo>
                    <a:lnTo>
                      <a:pt x="8" y="89"/>
                    </a:lnTo>
                    <a:lnTo>
                      <a:pt x="38" y="10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97" name="Line 70">
                <a:extLst>
                  <a:ext uri="{FF2B5EF4-FFF2-40B4-BE49-F238E27FC236}">
                    <a16:creationId xmlns:a16="http://schemas.microsoft.com/office/drawing/2014/main" id="{23FEB1DB-3EAE-4841-82F0-02378A72F52C}"/>
                  </a:ext>
                </a:extLst>
              </p:cNvPr>
              <p:cNvSpPr>
                <a:spLocks noChangeShapeType="1"/>
              </p:cNvSpPr>
              <p:nvPr/>
            </p:nvSpPr>
            <p:spPr bwMode="auto">
              <a:xfrm>
                <a:off x="2983" y="1573"/>
                <a:ext cx="3"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8" name="Line 71">
                <a:extLst>
                  <a:ext uri="{FF2B5EF4-FFF2-40B4-BE49-F238E27FC236}">
                    <a16:creationId xmlns:a16="http://schemas.microsoft.com/office/drawing/2014/main" id="{9818879C-95C4-4448-9E9C-C51A95B3DC4E}"/>
                  </a:ext>
                </a:extLst>
              </p:cNvPr>
              <p:cNvSpPr>
                <a:spLocks noChangeShapeType="1"/>
              </p:cNvSpPr>
              <p:nvPr/>
            </p:nvSpPr>
            <p:spPr bwMode="auto">
              <a:xfrm>
                <a:off x="2967" y="1576"/>
                <a:ext cx="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9" name="Line 72">
                <a:extLst>
                  <a:ext uri="{FF2B5EF4-FFF2-40B4-BE49-F238E27FC236}">
                    <a16:creationId xmlns:a16="http://schemas.microsoft.com/office/drawing/2014/main" id="{2FA27C01-6777-46BA-A94A-372C2700D7FD}"/>
                  </a:ext>
                </a:extLst>
              </p:cNvPr>
              <p:cNvSpPr>
                <a:spLocks noChangeShapeType="1"/>
              </p:cNvSpPr>
              <p:nvPr/>
            </p:nvSpPr>
            <p:spPr bwMode="auto">
              <a:xfrm>
                <a:off x="2951" y="1581"/>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0" name="Line 73">
                <a:extLst>
                  <a:ext uri="{FF2B5EF4-FFF2-40B4-BE49-F238E27FC236}">
                    <a16:creationId xmlns:a16="http://schemas.microsoft.com/office/drawing/2014/main" id="{EC0CBBA4-191C-4F9B-9A7E-FD21BD532AFD}"/>
                  </a:ext>
                </a:extLst>
              </p:cNvPr>
              <p:cNvSpPr>
                <a:spLocks noChangeShapeType="1"/>
              </p:cNvSpPr>
              <p:nvPr/>
            </p:nvSpPr>
            <p:spPr bwMode="auto">
              <a:xfrm>
                <a:off x="2935" y="1589"/>
                <a:ext cx="11" cy="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1" name="Line 74">
                <a:extLst>
                  <a:ext uri="{FF2B5EF4-FFF2-40B4-BE49-F238E27FC236}">
                    <a16:creationId xmlns:a16="http://schemas.microsoft.com/office/drawing/2014/main" id="{A9E7A918-9F3F-402F-8DD2-667693800904}"/>
                  </a:ext>
                </a:extLst>
              </p:cNvPr>
              <p:cNvSpPr>
                <a:spLocks noChangeShapeType="1"/>
              </p:cNvSpPr>
              <p:nvPr/>
            </p:nvSpPr>
            <p:spPr bwMode="auto">
              <a:xfrm>
                <a:off x="2925" y="1598"/>
                <a:ext cx="1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2" name="Line 75">
                <a:extLst>
                  <a:ext uri="{FF2B5EF4-FFF2-40B4-BE49-F238E27FC236}">
                    <a16:creationId xmlns:a16="http://schemas.microsoft.com/office/drawing/2014/main" id="{36113659-8799-4414-8921-B9732EFBAD42}"/>
                  </a:ext>
                </a:extLst>
              </p:cNvPr>
              <p:cNvSpPr>
                <a:spLocks noChangeShapeType="1"/>
              </p:cNvSpPr>
              <p:nvPr/>
            </p:nvSpPr>
            <p:spPr bwMode="auto">
              <a:xfrm>
                <a:off x="2919" y="1608"/>
                <a:ext cx="11"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3" name="Line 76">
                <a:extLst>
                  <a:ext uri="{FF2B5EF4-FFF2-40B4-BE49-F238E27FC236}">
                    <a16:creationId xmlns:a16="http://schemas.microsoft.com/office/drawing/2014/main" id="{D0A8D458-545B-4ADA-B85D-F4A782A338C5}"/>
                  </a:ext>
                </a:extLst>
              </p:cNvPr>
              <p:cNvSpPr>
                <a:spLocks noChangeShapeType="1"/>
              </p:cNvSpPr>
              <p:nvPr/>
            </p:nvSpPr>
            <p:spPr bwMode="auto">
              <a:xfrm>
                <a:off x="2911" y="1616"/>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4" name="Line 77">
                <a:extLst>
                  <a:ext uri="{FF2B5EF4-FFF2-40B4-BE49-F238E27FC236}">
                    <a16:creationId xmlns:a16="http://schemas.microsoft.com/office/drawing/2014/main" id="{DB575900-0F6B-401A-8A98-31EE8B5FFB34}"/>
                  </a:ext>
                </a:extLst>
              </p:cNvPr>
              <p:cNvSpPr>
                <a:spLocks noChangeShapeType="1"/>
              </p:cNvSpPr>
              <p:nvPr/>
            </p:nvSpPr>
            <p:spPr bwMode="auto">
              <a:xfrm>
                <a:off x="2906" y="1630"/>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 name="Line 78">
                <a:extLst>
                  <a:ext uri="{FF2B5EF4-FFF2-40B4-BE49-F238E27FC236}">
                    <a16:creationId xmlns:a16="http://schemas.microsoft.com/office/drawing/2014/main" id="{DFF1B43A-6BA1-4CF2-80C3-DDB7F0BFF138}"/>
                  </a:ext>
                </a:extLst>
              </p:cNvPr>
              <p:cNvSpPr>
                <a:spLocks noChangeShapeType="1"/>
              </p:cNvSpPr>
              <p:nvPr/>
            </p:nvSpPr>
            <p:spPr bwMode="auto">
              <a:xfrm>
                <a:off x="2903" y="1643"/>
                <a:ext cx="27"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6" name="Line 79">
                <a:extLst>
                  <a:ext uri="{FF2B5EF4-FFF2-40B4-BE49-F238E27FC236}">
                    <a16:creationId xmlns:a16="http://schemas.microsoft.com/office/drawing/2014/main" id="{324E19EC-DDA6-49D0-98BA-032796531AA1}"/>
                  </a:ext>
                </a:extLst>
              </p:cNvPr>
              <p:cNvSpPr>
                <a:spLocks noChangeShapeType="1"/>
              </p:cNvSpPr>
              <p:nvPr/>
            </p:nvSpPr>
            <p:spPr bwMode="auto">
              <a:xfrm>
                <a:off x="2914" y="1656"/>
                <a:ext cx="19"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7" name="Line 80">
                <a:extLst>
                  <a:ext uri="{FF2B5EF4-FFF2-40B4-BE49-F238E27FC236}">
                    <a16:creationId xmlns:a16="http://schemas.microsoft.com/office/drawing/2014/main" id="{5EE6110D-9103-4D85-B4AE-59B38D6CE9AC}"/>
                  </a:ext>
                </a:extLst>
              </p:cNvPr>
              <p:cNvSpPr>
                <a:spLocks noChangeShapeType="1"/>
              </p:cNvSpPr>
              <p:nvPr/>
            </p:nvSpPr>
            <p:spPr bwMode="auto">
              <a:xfrm>
                <a:off x="2927" y="1667"/>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8" name="Freeform 81">
                <a:extLst>
                  <a:ext uri="{FF2B5EF4-FFF2-40B4-BE49-F238E27FC236}">
                    <a16:creationId xmlns:a16="http://schemas.microsoft.com/office/drawing/2014/main" id="{9E7686D4-EE1D-4F60-91D0-329ED6A9546A}"/>
                  </a:ext>
                </a:extLst>
              </p:cNvPr>
              <p:cNvSpPr>
                <a:spLocks/>
              </p:cNvSpPr>
              <p:nvPr/>
            </p:nvSpPr>
            <p:spPr bwMode="auto">
              <a:xfrm>
                <a:off x="1891" y="1811"/>
                <a:ext cx="249" cy="134"/>
              </a:xfrm>
              <a:custGeom>
                <a:avLst/>
                <a:gdLst>
                  <a:gd name="T0" fmla="*/ 249 w 249"/>
                  <a:gd name="T1" fmla="*/ 0 h 134"/>
                  <a:gd name="T2" fmla="*/ 219 w 249"/>
                  <a:gd name="T3" fmla="*/ 0 h 134"/>
                  <a:gd name="T4" fmla="*/ 187 w 249"/>
                  <a:gd name="T5" fmla="*/ 0 h 134"/>
                  <a:gd name="T6" fmla="*/ 147 w 249"/>
                  <a:gd name="T7" fmla="*/ 11 h 134"/>
                  <a:gd name="T8" fmla="*/ 107 w 249"/>
                  <a:gd name="T9" fmla="*/ 22 h 134"/>
                  <a:gd name="T10" fmla="*/ 83 w 249"/>
                  <a:gd name="T11" fmla="*/ 33 h 134"/>
                  <a:gd name="T12" fmla="*/ 59 w 249"/>
                  <a:gd name="T13" fmla="*/ 46 h 134"/>
                  <a:gd name="T14" fmla="*/ 35 w 249"/>
                  <a:gd name="T15" fmla="*/ 57 h 134"/>
                  <a:gd name="T16" fmla="*/ 11 w 249"/>
                  <a:gd name="T17" fmla="*/ 67 h 134"/>
                  <a:gd name="T18" fmla="*/ 6 w 249"/>
                  <a:gd name="T19" fmla="*/ 78 h 134"/>
                  <a:gd name="T20" fmla="*/ 0 w 249"/>
                  <a:gd name="T21" fmla="*/ 89 h 134"/>
                  <a:gd name="T22" fmla="*/ 3 w 249"/>
                  <a:gd name="T23" fmla="*/ 99 h 134"/>
                  <a:gd name="T24" fmla="*/ 8 w 249"/>
                  <a:gd name="T25" fmla="*/ 113 h 134"/>
                  <a:gd name="T26" fmla="*/ 43 w 249"/>
                  <a:gd name="T27" fmla="*/ 123 h 134"/>
                  <a:gd name="T28" fmla="*/ 78 w 249"/>
                  <a:gd name="T29" fmla="*/ 131 h 134"/>
                  <a:gd name="T30" fmla="*/ 102 w 249"/>
                  <a:gd name="T31" fmla="*/ 134 h 134"/>
                  <a:gd name="T32" fmla="*/ 126 w 249"/>
                  <a:gd name="T33" fmla="*/ 134 h 134"/>
                  <a:gd name="T34" fmla="*/ 147 w 249"/>
                  <a:gd name="T35" fmla="*/ 134 h 134"/>
                  <a:gd name="T36" fmla="*/ 171 w 249"/>
                  <a:gd name="T37" fmla="*/ 134 h 134"/>
                  <a:gd name="T38" fmla="*/ 166 w 249"/>
                  <a:gd name="T39" fmla="*/ 121 h 134"/>
                  <a:gd name="T40" fmla="*/ 161 w 249"/>
                  <a:gd name="T41" fmla="*/ 107 h 134"/>
                  <a:gd name="T42" fmla="*/ 158 w 249"/>
                  <a:gd name="T43" fmla="*/ 86 h 134"/>
                  <a:gd name="T44" fmla="*/ 155 w 249"/>
                  <a:gd name="T45" fmla="*/ 62 h 134"/>
                  <a:gd name="T46" fmla="*/ 163 w 249"/>
                  <a:gd name="T47" fmla="*/ 51 h 134"/>
                  <a:gd name="T48" fmla="*/ 174 w 249"/>
                  <a:gd name="T49" fmla="*/ 41 h 134"/>
                  <a:gd name="T50" fmla="*/ 211 w 249"/>
                  <a:gd name="T51" fmla="*/ 19 h 134"/>
                  <a:gd name="T52" fmla="*/ 249 w 249"/>
                  <a:gd name="T53"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9" h="134">
                    <a:moveTo>
                      <a:pt x="249" y="0"/>
                    </a:moveTo>
                    <a:lnTo>
                      <a:pt x="219" y="0"/>
                    </a:lnTo>
                    <a:lnTo>
                      <a:pt x="187" y="0"/>
                    </a:lnTo>
                    <a:lnTo>
                      <a:pt x="147" y="11"/>
                    </a:lnTo>
                    <a:lnTo>
                      <a:pt x="107" y="22"/>
                    </a:lnTo>
                    <a:lnTo>
                      <a:pt x="83" y="33"/>
                    </a:lnTo>
                    <a:lnTo>
                      <a:pt x="59" y="46"/>
                    </a:lnTo>
                    <a:lnTo>
                      <a:pt x="35" y="57"/>
                    </a:lnTo>
                    <a:lnTo>
                      <a:pt x="11" y="67"/>
                    </a:lnTo>
                    <a:lnTo>
                      <a:pt x="6" y="78"/>
                    </a:lnTo>
                    <a:lnTo>
                      <a:pt x="0" y="89"/>
                    </a:lnTo>
                    <a:lnTo>
                      <a:pt x="3" y="99"/>
                    </a:lnTo>
                    <a:lnTo>
                      <a:pt x="8" y="113"/>
                    </a:lnTo>
                    <a:lnTo>
                      <a:pt x="43" y="123"/>
                    </a:lnTo>
                    <a:lnTo>
                      <a:pt x="78" y="131"/>
                    </a:lnTo>
                    <a:lnTo>
                      <a:pt x="102" y="134"/>
                    </a:lnTo>
                    <a:lnTo>
                      <a:pt x="126" y="134"/>
                    </a:lnTo>
                    <a:lnTo>
                      <a:pt x="147" y="134"/>
                    </a:lnTo>
                    <a:lnTo>
                      <a:pt x="171" y="134"/>
                    </a:lnTo>
                    <a:lnTo>
                      <a:pt x="166" y="121"/>
                    </a:lnTo>
                    <a:lnTo>
                      <a:pt x="161" y="107"/>
                    </a:lnTo>
                    <a:lnTo>
                      <a:pt x="158" y="86"/>
                    </a:lnTo>
                    <a:lnTo>
                      <a:pt x="155" y="62"/>
                    </a:lnTo>
                    <a:lnTo>
                      <a:pt x="163" y="51"/>
                    </a:lnTo>
                    <a:lnTo>
                      <a:pt x="174" y="41"/>
                    </a:lnTo>
                    <a:lnTo>
                      <a:pt x="211" y="19"/>
                    </a:lnTo>
                    <a:lnTo>
                      <a:pt x="249"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9" name="Freeform 82">
                <a:extLst>
                  <a:ext uri="{FF2B5EF4-FFF2-40B4-BE49-F238E27FC236}">
                    <a16:creationId xmlns:a16="http://schemas.microsoft.com/office/drawing/2014/main" id="{E496FB56-0EF7-447C-A97A-B94472D0AFFD}"/>
                  </a:ext>
                </a:extLst>
              </p:cNvPr>
              <p:cNvSpPr>
                <a:spLocks/>
              </p:cNvSpPr>
              <p:nvPr/>
            </p:nvSpPr>
            <p:spPr bwMode="auto">
              <a:xfrm>
                <a:off x="1891" y="1811"/>
                <a:ext cx="249" cy="134"/>
              </a:xfrm>
              <a:custGeom>
                <a:avLst/>
                <a:gdLst>
                  <a:gd name="T0" fmla="*/ 249 w 249"/>
                  <a:gd name="T1" fmla="*/ 0 h 134"/>
                  <a:gd name="T2" fmla="*/ 219 w 249"/>
                  <a:gd name="T3" fmla="*/ 0 h 134"/>
                  <a:gd name="T4" fmla="*/ 187 w 249"/>
                  <a:gd name="T5" fmla="*/ 0 h 134"/>
                  <a:gd name="T6" fmla="*/ 147 w 249"/>
                  <a:gd name="T7" fmla="*/ 11 h 134"/>
                  <a:gd name="T8" fmla="*/ 107 w 249"/>
                  <a:gd name="T9" fmla="*/ 22 h 134"/>
                  <a:gd name="T10" fmla="*/ 83 w 249"/>
                  <a:gd name="T11" fmla="*/ 33 h 134"/>
                  <a:gd name="T12" fmla="*/ 59 w 249"/>
                  <a:gd name="T13" fmla="*/ 46 h 134"/>
                  <a:gd name="T14" fmla="*/ 35 w 249"/>
                  <a:gd name="T15" fmla="*/ 57 h 134"/>
                  <a:gd name="T16" fmla="*/ 11 w 249"/>
                  <a:gd name="T17" fmla="*/ 67 h 134"/>
                  <a:gd name="T18" fmla="*/ 6 w 249"/>
                  <a:gd name="T19" fmla="*/ 78 h 134"/>
                  <a:gd name="T20" fmla="*/ 0 w 249"/>
                  <a:gd name="T21" fmla="*/ 89 h 134"/>
                  <a:gd name="T22" fmla="*/ 3 w 249"/>
                  <a:gd name="T23" fmla="*/ 99 h 134"/>
                  <a:gd name="T24" fmla="*/ 8 w 249"/>
                  <a:gd name="T25" fmla="*/ 113 h 134"/>
                  <a:gd name="T26" fmla="*/ 43 w 249"/>
                  <a:gd name="T27" fmla="*/ 123 h 134"/>
                  <a:gd name="T28" fmla="*/ 78 w 249"/>
                  <a:gd name="T29" fmla="*/ 131 h 134"/>
                  <a:gd name="T30" fmla="*/ 102 w 249"/>
                  <a:gd name="T31" fmla="*/ 134 h 134"/>
                  <a:gd name="T32" fmla="*/ 126 w 249"/>
                  <a:gd name="T33" fmla="*/ 134 h 134"/>
                  <a:gd name="T34" fmla="*/ 147 w 249"/>
                  <a:gd name="T35" fmla="*/ 134 h 134"/>
                  <a:gd name="T36" fmla="*/ 171 w 249"/>
                  <a:gd name="T37" fmla="*/ 134 h 134"/>
                  <a:gd name="T38" fmla="*/ 166 w 249"/>
                  <a:gd name="T39" fmla="*/ 121 h 134"/>
                  <a:gd name="T40" fmla="*/ 161 w 249"/>
                  <a:gd name="T41" fmla="*/ 107 h 134"/>
                  <a:gd name="T42" fmla="*/ 158 w 249"/>
                  <a:gd name="T43" fmla="*/ 86 h 134"/>
                  <a:gd name="T44" fmla="*/ 155 w 249"/>
                  <a:gd name="T45" fmla="*/ 62 h 134"/>
                  <a:gd name="T46" fmla="*/ 163 w 249"/>
                  <a:gd name="T47" fmla="*/ 51 h 134"/>
                  <a:gd name="T48" fmla="*/ 174 w 249"/>
                  <a:gd name="T49" fmla="*/ 41 h 134"/>
                  <a:gd name="T50" fmla="*/ 211 w 249"/>
                  <a:gd name="T51" fmla="*/ 19 h 134"/>
                  <a:gd name="T52" fmla="*/ 249 w 249"/>
                  <a:gd name="T53"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9" h="134">
                    <a:moveTo>
                      <a:pt x="249" y="0"/>
                    </a:moveTo>
                    <a:lnTo>
                      <a:pt x="219" y="0"/>
                    </a:lnTo>
                    <a:lnTo>
                      <a:pt x="187" y="0"/>
                    </a:lnTo>
                    <a:lnTo>
                      <a:pt x="147" y="11"/>
                    </a:lnTo>
                    <a:lnTo>
                      <a:pt x="107" y="22"/>
                    </a:lnTo>
                    <a:lnTo>
                      <a:pt x="83" y="33"/>
                    </a:lnTo>
                    <a:lnTo>
                      <a:pt x="59" y="46"/>
                    </a:lnTo>
                    <a:lnTo>
                      <a:pt x="35" y="57"/>
                    </a:lnTo>
                    <a:lnTo>
                      <a:pt x="11" y="67"/>
                    </a:lnTo>
                    <a:lnTo>
                      <a:pt x="6" y="78"/>
                    </a:lnTo>
                    <a:lnTo>
                      <a:pt x="0" y="89"/>
                    </a:lnTo>
                    <a:lnTo>
                      <a:pt x="3" y="99"/>
                    </a:lnTo>
                    <a:lnTo>
                      <a:pt x="8" y="113"/>
                    </a:lnTo>
                    <a:lnTo>
                      <a:pt x="43" y="123"/>
                    </a:lnTo>
                    <a:lnTo>
                      <a:pt x="78" y="131"/>
                    </a:lnTo>
                    <a:lnTo>
                      <a:pt x="102" y="134"/>
                    </a:lnTo>
                    <a:lnTo>
                      <a:pt x="126" y="134"/>
                    </a:lnTo>
                    <a:lnTo>
                      <a:pt x="147" y="134"/>
                    </a:lnTo>
                    <a:lnTo>
                      <a:pt x="171" y="134"/>
                    </a:lnTo>
                    <a:lnTo>
                      <a:pt x="166" y="121"/>
                    </a:lnTo>
                    <a:lnTo>
                      <a:pt x="161" y="107"/>
                    </a:lnTo>
                    <a:lnTo>
                      <a:pt x="158" y="86"/>
                    </a:lnTo>
                    <a:lnTo>
                      <a:pt x="155" y="62"/>
                    </a:lnTo>
                    <a:lnTo>
                      <a:pt x="163" y="51"/>
                    </a:lnTo>
                    <a:lnTo>
                      <a:pt x="174" y="41"/>
                    </a:lnTo>
                    <a:lnTo>
                      <a:pt x="211" y="19"/>
                    </a:lnTo>
                    <a:lnTo>
                      <a:pt x="249"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10" name="Freeform 83">
                <a:extLst>
                  <a:ext uri="{FF2B5EF4-FFF2-40B4-BE49-F238E27FC236}">
                    <a16:creationId xmlns:a16="http://schemas.microsoft.com/office/drawing/2014/main" id="{5E7A634B-07C5-4529-998E-CFD8F92F02D3}"/>
                  </a:ext>
                </a:extLst>
              </p:cNvPr>
              <p:cNvSpPr>
                <a:spLocks/>
              </p:cNvSpPr>
              <p:nvPr/>
            </p:nvSpPr>
            <p:spPr bwMode="auto">
              <a:xfrm>
                <a:off x="2012" y="1811"/>
                <a:ext cx="122" cy="134"/>
              </a:xfrm>
              <a:custGeom>
                <a:avLst/>
                <a:gdLst>
                  <a:gd name="T0" fmla="*/ 122 w 122"/>
                  <a:gd name="T1" fmla="*/ 0 h 134"/>
                  <a:gd name="T2" fmla="*/ 56 w 122"/>
                  <a:gd name="T3" fmla="*/ 11 h 134"/>
                  <a:gd name="T4" fmla="*/ 24 w 122"/>
                  <a:gd name="T5" fmla="*/ 38 h 134"/>
                  <a:gd name="T6" fmla="*/ 5 w 122"/>
                  <a:gd name="T7" fmla="*/ 67 h 134"/>
                  <a:gd name="T8" fmla="*/ 0 w 122"/>
                  <a:gd name="T9" fmla="*/ 91 h 134"/>
                  <a:gd name="T10" fmla="*/ 13 w 122"/>
                  <a:gd name="T11" fmla="*/ 115 h 134"/>
                  <a:gd name="T12" fmla="*/ 48 w 122"/>
                  <a:gd name="T13" fmla="*/ 134 h 134"/>
                </a:gdLst>
                <a:ahLst/>
                <a:cxnLst>
                  <a:cxn ang="0">
                    <a:pos x="T0" y="T1"/>
                  </a:cxn>
                  <a:cxn ang="0">
                    <a:pos x="T2" y="T3"/>
                  </a:cxn>
                  <a:cxn ang="0">
                    <a:pos x="T4" y="T5"/>
                  </a:cxn>
                  <a:cxn ang="0">
                    <a:pos x="T6" y="T7"/>
                  </a:cxn>
                  <a:cxn ang="0">
                    <a:pos x="T8" y="T9"/>
                  </a:cxn>
                  <a:cxn ang="0">
                    <a:pos x="T10" y="T11"/>
                  </a:cxn>
                  <a:cxn ang="0">
                    <a:pos x="T12" y="T13"/>
                  </a:cxn>
                </a:cxnLst>
                <a:rect l="0" t="0" r="r" b="b"/>
                <a:pathLst>
                  <a:path w="122" h="134">
                    <a:moveTo>
                      <a:pt x="122" y="0"/>
                    </a:moveTo>
                    <a:lnTo>
                      <a:pt x="56" y="11"/>
                    </a:lnTo>
                    <a:lnTo>
                      <a:pt x="24" y="38"/>
                    </a:lnTo>
                    <a:lnTo>
                      <a:pt x="5" y="67"/>
                    </a:lnTo>
                    <a:lnTo>
                      <a:pt x="0" y="91"/>
                    </a:lnTo>
                    <a:lnTo>
                      <a:pt x="13" y="115"/>
                    </a:lnTo>
                    <a:lnTo>
                      <a:pt x="48" y="134"/>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11" name="Line 84">
                <a:extLst>
                  <a:ext uri="{FF2B5EF4-FFF2-40B4-BE49-F238E27FC236}">
                    <a16:creationId xmlns:a16="http://schemas.microsoft.com/office/drawing/2014/main" id="{F8B34C19-B281-48AB-9DBB-D5EB9D66BE9B}"/>
                  </a:ext>
                </a:extLst>
              </p:cNvPr>
              <p:cNvSpPr>
                <a:spLocks noChangeShapeType="1"/>
              </p:cNvSpPr>
              <p:nvPr/>
            </p:nvSpPr>
            <p:spPr bwMode="auto">
              <a:xfrm>
                <a:off x="2116" y="1814"/>
                <a:ext cx="2"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2" name="Line 85">
                <a:extLst>
                  <a:ext uri="{FF2B5EF4-FFF2-40B4-BE49-F238E27FC236}">
                    <a16:creationId xmlns:a16="http://schemas.microsoft.com/office/drawing/2014/main" id="{2218A69B-640A-4DA8-B27B-100F31EB07EB}"/>
                  </a:ext>
                </a:extLst>
              </p:cNvPr>
              <p:cNvSpPr>
                <a:spLocks noChangeShapeType="1"/>
              </p:cNvSpPr>
              <p:nvPr/>
            </p:nvSpPr>
            <p:spPr bwMode="auto">
              <a:xfrm>
                <a:off x="2097" y="1817"/>
                <a:ext cx="5"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3" name="Line 86">
                <a:extLst>
                  <a:ext uri="{FF2B5EF4-FFF2-40B4-BE49-F238E27FC236}">
                    <a16:creationId xmlns:a16="http://schemas.microsoft.com/office/drawing/2014/main" id="{4ADD1FF6-0836-4F42-BD25-4C6DEE373536}"/>
                  </a:ext>
                </a:extLst>
              </p:cNvPr>
              <p:cNvSpPr>
                <a:spLocks noChangeShapeType="1"/>
              </p:cNvSpPr>
              <p:nvPr/>
            </p:nvSpPr>
            <p:spPr bwMode="auto">
              <a:xfrm>
                <a:off x="2073" y="1822"/>
                <a:ext cx="11"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4" name="Line 87">
                <a:extLst>
                  <a:ext uri="{FF2B5EF4-FFF2-40B4-BE49-F238E27FC236}">
                    <a16:creationId xmlns:a16="http://schemas.microsoft.com/office/drawing/2014/main" id="{756545EA-0F67-4A1F-A714-7A3A36F0BBD0}"/>
                  </a:ext>
                </a:extLst>
              </p:cNvPr>
              <p:cNvSpPr>
                <a:spLocks noChangeShapeType="1"/>
              </p:cNvSpPr>
              <p:nvPr/>
            </p:nvSpPr>
            <p:spPr bwMode="auto">
              <a:xfrm>
                <a:off x="2054" y="1833"/>
                <a:ext cx="16" cy="1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 name="Line 88">
                <a:extLst>
                  <a:ext uri="{FF2B5EF4-FFF2-40B4-BE49-F238E27FC236}">
                    <a16:creationId xmlns:a16="http://schemas.microsoft.com/office/drawing/2014/main" id="{A9834640-5DE6-46E8-A581-419D5685EE5D}"/>
                  </a:ext>
                </a:extLst>
              </p:cNvPr>
              <p:cNvSpPr>
                <a:spLocks noChangeShapeType="1"/>
              </p:cNvSpPr>
              <p:nvPr/>
            </p:nvSpPr>
            <p:spPr bwMode="auto">
              <a:xfrm>
                <a:off x="2041" y="1844"/>
                <a:ext cx="19"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6" name="Line 89">
                <a:extLst>
                  <a:ext uri="{FF2B5EF4-FFF2-40B4-BE49-F238E27FC236}">
                    <a16:creationId xmlns:a16="http://schemas.microsoft.com/office/drawing/2014/main" id="{6D51DF63-07ED-4AC2-9803-9FC1B1212B72}"/>
                  </a:ext>
                </a:extLst>
              </p:cNvPr>
              <p:cNvSpPr>
                <a:spLocks noChangeShapeType="1"/>
              </p:cNvSpPr>
              <p:nvPr/>
            </p:nvSpPr>
            <p:spPr bwMode="auto">
              <a:xfrm>
                <a:off x="2033" y="1857"/>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7" name="Line 90">
                <a:extLst>
                  <a:ext uri="{FF2B5EF4-FFF2-40B4-BE49-F238E27FC236}">
                    <a16:creationId xmlns:a16="http://schemas.microsoft.com/office/drawing/2014/main" id="{BB27AD37-A271-4A52-939F-D9B0395C439F}"/>
                  </a:ext>
                </a:extLst>
              </p:cNvPr>
              <p:cNvSpPr>
                <a:spLocks noChangeShapeType="1"/>
              </p:cNvSpPr>
              <p:nvPr/>
            </p:nvSpPr>
            <p:spPr bwMode="auto">
              <a:xfrm>
                <a:off x="2022" y="1868"/>
                <a:ext cx="22"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8" name="Line 91">
                <a:extLst>
                  <a:ext uri="{FF2B5EF4-FFF2-40B4-BE49-F238E27FC236}">
                    <a16:creationId xmlns:a16="http://schemas.microsoft.com/office/drawing/2014/main" id="{850EDDD9-D9F9-4469-B678-956A16DE088D}"/>
                  </a:ext>
                </a:extLst>
              </p:cNvPr>
              <p:cNvSpPr>
                <a:spLocks noChangeShapeType="1"/>
              </p:cNvSpPr>
              <p:nvPr/>
            </p:nvSpPr>
            <p:spPr bwMode="auto">
              <a:xfrm>
                <a:off x="2017" y="1886"/>
                <a:ext cx="27"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9" name="Line 92">
                <a:extLst>
                  <a:ext uri="{FF2B5EF4-FFF2-40B4-BE49-F238E27FC236}">
                    <a16:creationId xmlns:a16="http://schemas.microsoft.com/office/drawing/2014/main" id="{949EA34D-C2C6-47F8-9341-F5A94B488133}"/>
                  </a:ext>
                </a:extLst>
              </p:cNvPr>
              <p:cNvSpPr>
                <a:spLocks noChangeShapeType="1"/>
              </p:cNvSpPr>
              <p:nvPr/>
            </p:nvSpPr>
            <p:spPr bwMode="auto">
              <a:xfrm>
                <a:off x="2014" y="1902"/>
                <a:ext cx="32"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0" name="Line 93">
                <a:extLst>
                  <a:ext uri="{FF2B5EF4-FFF2-40B4-BE49-F238E27FC236}">
                    <a16:creationId xmlns:a16="http://schemas.microsoft.com/office/drawing/2014/main" id="{B1F33587-C73B-42C6-8405-74A31BAAB3F1}"/>
                  </a:ext>
                </a:extLst>
              </p:cNvPr>
              <p:cNvSpPr>
                <a:spLocks noChangeShapeType="1"/>
              </p:cNvSpPr>
              <p:nvPr/>
            </p:nvSpPr>
            <p:spPr bwMode="auto">
              <a:xfrm>
                <a:off x="2025" y="1924"/>
                <a:ext cx="24"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1" name="Line 94">
                <a:extLst>
                  <a:ext uri="{FF2B5EF4-FFF2-40B4-BE49-F238E27FC236}">
                    <a16:creationId xmlns:a16="http://schemas.microsoft.com/office/drawing/2014/main" id="{02F64D9D-A93A-4A8D-AF59-DAC55EB8B9DF}"/>
                  </a:ext>
                </a:extLst>
              </p:cNvPr>
              <p:cNvSpPr>
                <a:spLocks noChangeShapeType="1"/>
              </p:cNvSpPr>
              <p:nvPr/>
            </p:nvSpPr>
            <p:spPr bwMode="auto">
              <a:xfrm>
                <a:off x="2044" y="1934"/>
                <a:ext cx="13"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2" name="Freeform 95">
                <a:extLst>
                  <a:ext uri="{FF2B5EF4-FFF2-40B4-BE49-F238E27FC236}">
                    <a16:creationId xmlns:a16="http://schemas.microsoft.com/office/drawing/2014/main" id="{784690EB-D178-48F8-B6F1-3C0F6D5FC7AB}"/>
                  </a:ext>
                </a:extLst>
              </p:cNvPr>
              <p:cNvSpPr>
                <a:spLocks/>
              </p:cNvSpPr>
              <p:nvPr/>
            </p:nvSpPr>
            <p:spPr bwMode="auto">
              <a:xfrm>
                <a:off x="2142" y="1916"/>
                <a:ext cx="347" cy="190"/>
              </a:xfrm>
              <a:custGeom>
                <a:avLst/>
                <a:gdLst>
                  <a:gd name="T0" fmla="*/ 347 w 347"/>
                  <a:gd name="T1" fmla="*/ 0 h 190"/>
                  <a:gd name="T2" fmla="*/ 326 w 347"/>
                  <a:gd name="T3" fmla="*/ 0 h 190"/>
                  <a:gd name="T4" fmla="*/ 305 w 347"/>
                  <a:gd name="T5" fmla="*/ 0 h 190"/>
                  <a:gd name="T6" fmla="*/ 283 w 347"/>
                  <a:gd name="T7" fmla="*/ 0 h 190"/>
                  <a:gd name="T8" fmla="*/ 262 w 347"/>
                  <a:gd name="T9" fmla="*/ 0 h 190"/>
                  <a:gd name="T10" fmla="*/ 235 w 347"/>
                  <a:gd name="T11" fmla="*/ 8 h 190"/>
                  <a:gd name="T12" fmla="*/ 206 w 347"/>
                  <a:gd name="T13" fmla="*/ 16 h 190"/>
                  <a:gd name="T14" fmla="*/ 179 w 347"/>
                  <a:gd name="T15" fmla="*/ 24 h 190"/>
                  <a:gd name="T16" fmla="*/ 150 w 347"/>
                  <a:gd name="T17" fmla="*/ 32 h 190"/>
                  <a:gd name="T18" fmla="*/ 115 w 347"/>
                  <a:gd name="T19" fmla="*/ 48 h 190"/>
                  <a:gd name="T20" fmla="*/ 83 w 347"/>
                  <a:gd name="T21" fmla="*/ 64 h 190"/>
                  <a:gd name="T22" fmla="*/ 48 w 347"/>
                  <a:gd name="T23" fmla="*/ 80 h 190"/>
                  <a:gd name="T24" fmla="*/ 14 w 347"/>
                  <a:gd name="T25" fmla="*/ 96 h 190"/>
                  <a:gd name="T26" fmla="*/ 6 w 347"/>
                  <a:gd name="T27" fmla="*/ 109 h 190"/>
                  <a:gd name="T28" fmla="*/ 0 w 347"/>
                  <a:gd name="T29" fmla="*/ 125 h 190"/>
                  <a:gd name="T30" fmla="*/ 6 w 347"/>
                  <a:gd name="T31" fmla="*/ 141 h 190"/>
                  <a:gd name="T32" fmla="*/ 8 w 347"/>
                  <a:gd name="T33" fmla="*/ 160 h 190"/>
                  <a:gd name="T34" fmla="*/ 35 w 347"/>
                  <a:gd name="T35" fmla="*/ 166 h 190"/>
                  <a:gd name="T36" fmla="*/ 59 w 347"/>
                  <a:gd name="T37" fmla="*/ 174 h 190"/>
                  <a:gd name="T38" fmla="*/ 83 w 347"/>
                  <a:gd name="T39" fmla="*/ 179 h 190"/>
                  <a:gd name="T40" fmla="*/ 107 w 347"/>
                  <a:gd name="T41" fmla="*/ 187 h 190"/>
                  <a:gd name="T42" fmla="*/ 142 w 347"/>
                  <a:gd name="T43" fmla="*/ 187 h 190"/>
                  <a:gd name="T44" fmla="*/ 174 w 347"/>
                  <a:gd name="T45" fmla="*/ 190 h 190"/>
                  <a:gd name="T46" fmla="*/ 206 w 347"/>
                  <a:gd name="T47" fmla="*/ 190 h 190"/>
                  <a:gd name="T48" fmla="*/ 238 w 347"/>
                  <a:gd name="T49" fmla="*/ 190 h 190"/>
                  <a:gd name="T50" fmla="*/ 230 w 347"/>
                  <a:gd name="T51" fmla="*/ 171 h 190"/>
                  <a:gd name="T52" fmla="*/ 225 w 347"/>
                  <a:gd name="T53" fmla="*/ 152 h 190"/>
                  <a:gd name="T54" fmla="*/ 219 w 347"/>
                  <a:gd name="T55" fmla="*/ 120 h 190"/>
                  <a:gd name="T56" fmla="*/ 217 w 347"/>
                  <a:gd name="T57" fmla="*/ 88 h 190"/>
                  <a:gd name="T58" fmla="*/ 230 w 347"/>
                  <a:gd name="T59" fmla="*/ 72 h 190"/>
                  <a:gd name="T60" fmla="*/ 241 w 347"/>
                  <a:gd name="T61" fmla="*/ 56 h 190"/>
                  <a:gd name="T62" fmla="*/ 267 w 347"/>
                  <a:gd name="T63" fmla="*/ 43 h 190"/>
                  <a:gd name="T64" fmla="*/ 294 w 347"/>
                  <a:gd name="T65" fmla="*/ 29 h 190"/>
                  <a:gd name="T66" fmla="*/ 321 w 347"/>
                  <a:gd name="T67" fmla="*/ 16 h 190"/>
                  <a:gd name="T68" fmla="*/ 347 w 347"/>
                  <a:gd name="T69"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7" h="190">
                    <a:moveTo>
                      <a:pt x="347" y="0"/>
                    </a:moveTo>
                    <a:lnTo>
                      <a:pt x="326" y="0"/>
                    </a:lnTo>
                    <a:lnTo>
                      <a:pt x="305" y="0"/>
                    </a:lnTo>
                    <a:lnTo>
                      <a:pt x="283" y="0"/>
                    </a:lnTo>
                    <a:lnTo>
                      <a:pt x="262" y="0"/>
                    </a:lnTo>
                    <a:lnTo>
                      <a:pt x="235" y="8"/>
                    </a:lnTo>
                    <a:lnTo>
                      <a:pt x="206" y="16"/>
                    </a:lnTo>
                    <a:lnTo>
                      <a:pt x="179" y="24"/>
                    </a:lnTo>
                    <a:lnTo>
                      <a:pt x="150" y="32"/>
                    </a:lnTo>
                    <a:lnTo>
                      <a:pt x="115" y="48"/>
                    </a:lnTo>
                    <a:lnTo>
                      <a:pt x="83" y="64"/>
                    </a:lnTo>
                    <a:lnTo>
                      <a:pt x="48" y="80"/>
                    </a:lnTo>
                    <a:lnTo>
                      <a:pt x="14" y="96"/>
                    </a:lnTo>
                    <a:lnTo>
                      <a:pt x="6" y="109"/>
                    </a:lnTo>
                    <a:lnTo>
                      <a:pt x="0" y="125"/>
                    </a:lnTo>
                    <a:lnTo>
                      <a:pt x="6" y="141"/>
                    </a:lnTo>
                    <a:lnTo>
                      <a:pt x="8" y="160"/>
                    </a:lnTo>
                    <a:lnTo>
                      <a:pt x="35" y="166"/>
                    </a:lnTo>
                    <a:lnTo>
                      <a:pt x="59" y="174"/>
                    </a:lnTo>
                    <a:lnTo>
                      <a:pt x="83" y="179"/>
                    </a:lnTo>
                    <a:lnTo>
                      <a:pt x="107" y="187"/>
                    </a:lnTo>
                    <a:lnTo>
                      <a:pt x="142" y="187"/>
                    </a:lnTo>
                    <a:lnTo>
                      <a:pt x="174" y="190"/>
                    </a:lnTo>
                    <a:lnTo>
                      <a:pt x="206" y="190"/>
                    </a:lnTo>
                    <a:lnTo>
                      <a:pt x="238" y="190"/>
                    </a:lnTo>
                    <a:lnTo>
                      <a:pt x="230" y="171"/>
                    </a:lnTo>
                    <a:lnTo>
                      <a:pt x="225" y="152"/>
                    </a:lnTo>
                    <a:lnTo>
                      <a:pt x="219" y="120"/>
                    </a:lnTo>
                    <a:lnTo>
                      <a:pt x="217" y="88"/>
                    </a:lnTo>
                    <a:lnTo>
                      <a:pt x="230" y="72"/>
                    </a:lnTo>
                    <a:lnTo>
                      <a:pt x="241" y="56"/>
                    </a:lnTo>
                    <a:lnTo>
                      <a:pt x="267" y="43"/>
                    </a:lnTo>
                    <a:lnTo>
                      <a:pt x="294" y="29"/>
                    </a:lnTo>
                    <a:lnTo>
                      <a:pt x="321" y="16"/>
                    </a:lnTo>
                    <a:lnTo>
                      <a:pt x="347"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3" name="Freeform 96">
                <a:extLst>
                  <a:ext uri="{FF2B5EF4-FFF2-40B4-BE49-F238E27FC236}">
                    <a16:creationId xmlns:a16="http://schemas.microsoft.com/office/drawing/2014/main" id="{320A48F6-2B1E-4061-B12D-0A0F61D96376}"/>
                  </a:ext>
                </a:extLst>
              </p:cNvPr>
              <p:cNvSpPr>
                <a:spLocks/>
              </p:cNvSpPr>
              <p:nvPr/>
            </p:nvSpPr>
            <p:spPr bwMode="auto">
              <a:xfrm>
                <a:off x="2142" y="1916"/>
                <a:ext cx="347" cy="190"/>
              </a:xfrm>
              <a:custGeom>
                <a:avLst/>
                <a:gdLst>
                  <a:gd name="T0" fmla="*/ 347 w 347"/>
                  <a:gd name="T1" fmla="*/ 0 h 190"/>
                  <a:gd name="T2" fmla="*/ 326 w 347"/>
                  <a:gd name="T3" fmla="*/ 0 h 190"/>
                  <a:gd name="T4" fmla="*/ 305 w 347"/>
                  <a:gd name="T5" fmla="*/ 0 h 190"/>
                  <a:gd name="T6" fmla="*/ 283 w 347"/>
                  <a:gd name="T7" fmla="*/ 0 h 190"/>
                  <a:gd name="T8" fmla="*/ 262 w 347"/>
                  <a:gd name="T9" fmla="*/ 0 h 190"/>
                  <a:gd name="T10" fmla="*/ 235 w 347"/>
                  <a:gd name="T11" fmla="*/ 8 h 190"/>
                  <a:gd name="T12" fmla="*/ 206 w 347"/>
                  <a:gd name="T13" fmla="*/ 16 h 190"/>
                  <a:gd name="T14" fmla="*/ 179 w 347"/>
                  <a:gd name="T15" fmla="*/ 24 h 190"/>
                  <a:gd name="T16" fmla="*/ 150 w 347"/>
                  <a:gd name="T17" fmla="*/ 32 h 190"/>
                  <a:gd name="T18" fmla="*/ 115 w 347"/>
                  <a:gd name="T19" fmla="*/ 48 h 190"/>
                  <a:gd name="T20" fmla="*/ 83 w 347"/>
                  <a:gd name="T21" fmla="*/ 64 h 190"/>
                  <a:gd name="T22" fmla="*/ 48 w 347"/>
                  <a:gd name="T23" fmla="*/ 80 h 190"/>
                  <a:gd name="T24" fmla="*/ 14 w 347"/>
                  <a:gd name="T25" fmla="*/ 96 h 190"/>
                  <a:gd name="T26" fmla="*/ 6 w 347"/>
                  <a:gd name="T27" fmla="*/ 109 h 190"/>
                  <a:gd name="T28" fmla="*/ 0 w 347"/>
                  <a:gd name="T29" fmla="*/ 125 h 190"/>
                  <a:gd name="T30" fmla="*/ 6 w 347"/>
                  <a:gd name="T31" fmla="*/ 141 h 190"/>
                  <a:gd name="T32" fmla="*/ 8 w 347"/>
                  <a:gd name="T33" fmla="*/ 160 h 190"/>
                  <a:gd name="T34" fmla="*/ 35 w 347"/>
                  <a:gd name="T35" fmla="*/ 166 h 190"/>
                  <a:gd name="T36" fmla="*/ 59 w 347"/>
                  <a:gd name="T37" fmla="*/ 174 h 190"/>
                  <a:gd name="T38" fmla="*/ 83 w 347"/>
                  <a:gd name="T39" fmla="*/ 179 h 190"/>
                  <a:gd name="T40" fmla="*/ 107 w 347"/>
                  <a:gd name="T41" fmla="*/ 187 h 190"/>
                  <a:gd name="T42" fmla="*/ 142 w 347"/>
                  <a:gd name="T43" fmla="*/ 187 h 190"/>
                  <a:gd name="T44" fmla="*/ 174 w 347"/>
                  <a:gd name="T45" fmla="*/ 190 h 190"/>
                  <a:gd name="T46" fmla="*/ 206 w 347"/>
                  <a:gd name="T47" fmla="*/ 190 h 190"/>
                  <a:gd name="T48" fmla="*/ 238 w 347"/>
                  <a:gd name="T49" fmla="*/ 190 h 190"/>
                  <a:gd name="T50" fmla="*/ 230 w 347"/>
                  <a:gd name="T51" fmla="*/ 171 h 190"/>
                  <a:gd name="T52" fmla="*/ 225 w 347"/>
                  <a:gd name="T53" fmla="*/ 152 h 190"/>
                  <a:gd name="T54" fmla="*/ 219 w 347"/>
                  <a:gd name="T55" fmla="*/ 120 h 190"/>
                  <a:gd name="T56" fmla="*/ 217 w 347"/>
                  <a:gd name="T57" fmla="*/ 88 h 190"/>
                  <a:gd name="T58" fmla="*/ 230 w 347"/>
                  <a:gd name="T59" fmla="*/ 72 h 190"/>
                  <a:gd name="T60" fmla="*/ 241 w 347"/>
                  <a:gd name="T61" fmla="*/ 56 h 190"/>
                  <a:gd name="T62" fmla="*/ 267 w 347"/>
                  <a:gd name="T63" fmla="*/ 43 h 190"/>
                  <a:gd name="T64" fmla="*/ 294 w 347"/>
                  <a:gd name="T65" fmla="*/ 29 h 190"/>
                  <a:gd name="T66" fmla="*/ 321 w 347"/>
                  <a:gd name="T67" fmla="*/ 16 h 190"/>
                  <a:gd name="T68" fmla="*/ 347 w 347"/>
                  <a:gd name="T69"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7" h="190">
                    <a:moveTo>
                      <a:pt x="347" y="0"/>
                    </a:moveTo>
                    <a:lnTo>
                      <a:pt x="326" y="0"/>
                    </a:lnTo>
                    <a:lnTo>
                      <a:pt x="305" y="0"/>
                    </a:lnTo>
                    <a:lnTo>
                      <a:pt x="283" y="0"/>
                    </a:lnTo>
                    <a:lnTo>
                      <a:pt x="262" y="0"/>
                    </a:lnTo>
                    <a:lnTo>
                      <a:pt x="235" y="8"/>
                    </a:lnTo>
                    <a:lnTo>
                      <a:pt x="206" y="16"/>
                    </a:lnTo>
                    <a:lnTo>
                      <a:pt x="179" y="24"/>
                    </a:lnTo>
                    <a:lnTo>
                      <a:pt x="150" y="32"/>
                    </a:lnTo>
                    <a:lnTo>
                      <a:pt x="115" y="48"/>
                    </a:lnTo>
                    <a:lnTo>
                      <a:pt x="83" y="64"/>
                    </a:lnTo>
                    <a:lnTo>
                      <a:pt x="48" y="80"/>
                    </a:lnTo>
                    <a:lnTo>
                      <a:pt x="14" y="96"/>
                    </a:lnTo>
                    <a:lnTo>
                      <a:pt x="6" y="109"/>
                    </a:lnTo>
                    <a:lnTo>
                      <a:pt x="0" y="125"/>
                    </a:lnTo>
                    <a:lnTo>
                      <a:pt x="6" y="141"/>
                    </a:lnTo>
                    <a:lnTo>
                      <a:pt x="8" y="160"/>
                    </a:lnTo>
                    <a:lnTo>
                      <a:pt x="35" y="166"/>
                    </a:lnTo>
                    <a:lnTo>
                      <a:pt x="59" y="174"/>
                    </a:lnTo>
                    <a:lnTo>
                      <a:pt x="83" y="179"/>
                    </a:lnTo>
                    <a:lnTo>
                      <a:pt x="107" y="187"/>
                    </a:lnTo>
                    <a:lnTo>
                      <a:pt x="142" y="187"/>
                    </a:lnTo>
                    <a:lnTo>
                      <a:pt x="174" y="190"/>
                    </a:lnTo>
                    <a:lnTo>
                      <a:pt x="206" y="190"/>
                    </a:lnTo>
                    <a:lnTo>
                      <a:pt x="238" y="190"/>
                    </a:lnTo>
                    <a:lnTo>
                      <a:pt x="230" y="171"/>
                    </a:lnTo>
                    <a:lnTo>
                      <a:pt x="225" y="152"/>
                    </a:lnTo>
                    <a:lnTo>
                      <a:pt x="219" y="120"/>
                    </a:lnTo>
                    <a:lnTo>
                      <a:pt x="217" y="88"/>
                    </a:lnTo>
                    <a:lnTo>
                      <a:pt x="230" y="72"/>
                    </a:lnTo>
                    <a:lnTo>
                      <a:pt x="241" y="56"/>
                    </a:lnTo>
                    <a:lnTo>
                      <a:pt x="267" y="43"/>
                    </a:lnTo>
                    <a:lnTo>
                      <a:pt x="294" y="29"/>
                    </a:lnTo>
                    <a:lnTo>
                      <a:pt x="321" y="16"/>
                    </a:lnTo>
                    <a:lnTo>
                      <a:pt x="347"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24" name="Freeform 97">
                <a:extLst>
                  <a:ext uri="{FF2B5EF4-FFF2-40B4-BE49-F238E27FC236}">
                    <a16:creationId xmlns:a16="http://schemas.microsoft.com/office/drawing/2014/main" id="{923343DD-638E-4457-987E-DF0EE48822AE}"/>
                  </a:ext>
                </a:extLst>
              </p:cNvPr>
              <p:cNvSpPr>
                <a:spLocks/>
              </p:cNvSpPr>
              <p:nvPr/>
            </p:nvSpPr>
            <p:spPr bwMode="auto">
              <a:xfrm>
                <a:off x="2311" y="1918"/>
                <a:ext cx="170" cy="188"/>
              </a:xfrm>
              <a:custGeom>
                <a:avLst/>
                <a:gdLst>
                  <a:gd name="T0" fmla="*/ 170 w 170"/>
                  <a:gd name="T1" fmla="*/ 0 h 188"/>
                  <a:gd name="T2" fmla="*/ 74 w 170"/>
                  <a:gd name="T3" fmla="*/ 16 h 188"/>
                  <a:gd name="T4" fmla="*/ 32 w 170"/>
                  <a:gd name="T5" fmla="*/ 51 h 188"/>
                  <a:gd name="T6" fmla="*/ 5 w 170"/>
                  <a:gd name="T7" fmla="*/ 94 h 188"/>
                  <a:gd name="T8" fmla="*/ 0 w 170"/>
                  <a:gd name="T9" fmla="*/ 129 h 188"/>
                  <a:gd name="T10" fmla="*/ 16 w 170"/>
                  <a:gd name="T11" fmla="*/ 161 h 188"/>
                  <a:gd name="T12" fmla="*/ 66 w 170"/>
                  <a:gd name="T13" fmla="*/ 188 h 188"/>
                </a:gdLst>
                <a:ahLst/>
                <a:cxnLst>
                  <a:cxn ang="0">
                    <a:pos x="T0" y="T1"/>
                  </a:cxn>
                  <a:cxn ang="0">
                    <a:pos x="T2" y="T3"/>
                  </a:cxn>
                  <a:cxn ang="0">
                    <a:pos x="T4" y="T5"/>
                  </a:cxn>
                  <a:cxn ang="0">
                    <a:pos x="T6" y="T7"/>
                  </a:cxn>
                  <a:cxn ang="0">
                    <a:pos x="T8" y="T9"/>
                  </a:cxn>
                  <a:cxn ang="0">
                    <a:pos x="T10" y="T11"/>
                  </a:cxn>
                  <a:cxn ang="0">
                    <a:pos x="T12" y="T13"/>
                  </a:cxn>
                </a:cxnLst>
                <a:rect l="0" t="0" r="r" b="b"/>
                <a:pathLst>
                  <a:path w="170" h="188">
                    <a:moveTo>
                      <a:pt x="170" y="0"/>
                    </a:moveTo>
                    <a:lnTo>
                      <a:pt x="74" y="16"/>
                    </a:lnTo>
                    <a:lnTo>
                      <a:pt x="32" y="51"/>
                    </a:lnTo>
                    <a:lnTo>
                      <a:pt x="5" y="94"/>
                    </a:lnTo>
                    <a:lnTo>
                      <a:pt x="0" y="129"/>
                    </a:lnTo>
                    <a:lnTo>
                      <a:pt x="16" y="161"/>
                    </a:lnTo>
                    <a:lnTo>
                      <a:pt x="66" y="188"/>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25" name="Line 98">
                <a:extLst>
                  <a:ext uri="{FF2B5EF4-FFF2-40B4-BE49-F238E27FC236}">
                    <a16:creationId xmlns:a16="http://schemas.microsoft.com/office/drawing/2014/main" id="{66C85618-DE80-4B40-8BF1-02C830B2FE1A}"/>
                  </a:ext>
                </a:extLst>
              </p:cNvPr>
              <p:cNvSpPr>
                <a:spLocks noChangeShapeType="1"/>
              </p:cNvSpPr>
              <p:nvPr/>
            </p:nvSpPr>
            <p:spPr bwMode="auto">
              <a:xfrm>
                <a:off x="2455" y="1921"/>
                <a:ext cx="5"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6" name="Line 99">
                <a:extLst>
                  <a:ext uri="{FF2B5EF4-FFF2-40B4-BE49-F238E27FC236}">
                    <a16:creationId xmlns:a16="http://schemas.microsoft.com/office/drawing/2014/main" id="{E25D4C7F-A858-4388-B6F6-8DC92BF8412F}"/>
                  </a:ext>
                </a:extLst>
              </p:cNvPr>
              <p:cNvSpPr>
                <a:spLocks noChangeShapeType="1"/>
              </p:cNvSpPr>
              <p:nvPr/>
            </p:nvSpPr>
            <p:spPr bwMode="auto">
              <a:xfrm>
                <a:off x="2431" y="1926"/>
                <a:ext cx="5"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7" name="Line 100">
                <a:extLst>
                  <a:ext uri="{FF2B5EF4-FFF2-40B4-BE49-F238E27FC236}">
                    <a16:creationId xmlns:a16="http://schemas.microsoft.com/office/drawing/2014/main" id="{060E5843-D02D-4F21-9FEE-5F9896AF89B6}"/>
                  </a:ext>
                </a:extLst>
              </p:cNvPr>
              <p:cNvSpPr>
                <a:spLocks noChangeShapeType="1"/>
              </p:cNvSpPr>
              <p:nvPr/>
            </p:nvSpPr>
            <p:spPr bwMode="auto">
              <a:xfrm>
                <a:off x="2396" y="1934"/>
                <a:ext cx="16" cy="2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8" name="Line 101">
                <a:extLst>
                  <a:ext uri="{FF2B5EF4-FFF2-40B4-BE49-F238E27FC236}">
                    <a16:creationId xmlns:a16="http://schemas.microsoft.com/office/drawing/2014/main" id="{D9F34183-595E-46B8-A01A-3E73D7F9624B}"/>
                  </a:ext>
                </a:extLst>
              </p:cNvPr>
              <p:cNvSpPr>
                <a:spLocks noChangeShapeType="1"/>
              </p:cNvSpPr>
              <p:nvPr/>
            </p:nvSpPr>
            <p:spPr bwMode="auto">
              <a:xfrm>
                <a:off x="2369" y="1948"/>
                <a:ext cx="22" cy="1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9" name="Line 102">
                <a:extLst>
                  <a:ext uri="{FF2B5EF4-FFF2-40B4-BE49-F238E27FC236}">
                    <a16:creationId xmlns:a16="http://schemas.microsoft.com/office/drawing/2014/main" id="{761496F6-590A-4DD5-97D4-30117307ABF5}"/>
                  </a:ext>
                </a:extLst>
              </p:cNvPr>
              <p:cNvSpPr>
                <a:spLocks noChangeShapeType="1"/>
              </p:cNvSpPr>
              <p:nvPr/>
            </p:nvSpPr>
            <p:spPr bwMode="auto">
              <a:xfrm>
                <a:off x="2353" y="1964"/>
                <a:ext cx="24"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0" name="Line 103">
                <a:extLst>
                  <a:ext uri="{FF2B5EF4-FFF2-40B4-BE49-F238E27FC236}">
                    <a16:creationId xmlns:a16="http://schemas.microsoft.com/office/drawing/2014/main" id="{A93773F3-7ACE-4BCB-BC1C-23B0074A7317}"/>
                  </a:ext>
                </a:extLst>
              </p:cNvPr>
              <p:cNvSpPr>
                <a:spLocks noChangeShapeType="1"/>
              </p:cNvSpPr>
              <p:nvPr/>
            </p:nvSpPr>
            <p:spPr bwMode="auto">
              <a:xfrm>
                <a:off x="2337" y="1983"/>
                <a:ext cx="24"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1" name="Line 104">
                <a:extLst>
                  <a:ext uri="{FF2B5EF4-FFF2-40B4-BE49-F238E27FC236}">
                    <a16:creationId xmlns:a16="http://schemas.microsoft.com/office/drawing/2014/main" id="{5E2A03A7-E2DD-4692-9484-F1E4B4824A4F}"/>
                  </a:ext>
                </a:extLst>
              </p:cNvPr>
              <p:cNvSpPr>
                <a:spLocks noChangeShapeType="1"/>
              </p:cNvSpPr>
              <p:nvPr/>
            </p:nvSpPr>
            <p:spPr bwMode="auto">
              <a:xfrm>
                <a:off x="2327" y="1996"/>
                <a:ext cx="29"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2" name="Line 105">
                <a:extLst>
                  <a:ext uri="{FF2B5EF4-FFF2-40B4-BE49-F238E27FC236}">
                    <a16:creationId xmlns:a16="http://schemas.microsoft.com/office/drawing/2014/main" id="{C641E45C-FD4C-4324-94DD-5888FEA1C143}"/>
                  </a:ext>
                </a:extLst>
              </p:cNvPr>
              <p:cNvSpPr>
                <a:spLocks noChangeShapeType="1"/>
              </p:cNvSpPr>
              <p:nvPr/>
            </p:nvSpPr>
            <p:spPr bwMode="auto">
              <a:xfrm>
                <a:off x="2316" y="2023"/>
                <a:ext cx="40"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3" name="Line 106">
                <a:extLst>
                  <a:ext uri="{FF2B5EF4-FFF2-40B4-BE49-F238E27FC236}">
                    <a16:creationId xmlns:a16="http://schemas.microsoft.com/office/drawing/2014/main" id="{D8B8D78B-8064-48E3-9C87-D67C188D2A18}"/>
                  </a:ext>
                </a:extLst>
              </p:cNvPr>
              <p:cNvSpPr>
                <a:spLocks noChangeShapeType="1"/>
              </p:cNvSpPr>
              <p:nvPr/>
            </p:nvSpPr>
            <p:spPr bwMode="auto">
              <a:xfrm>
                <a:off x="2311" y="2047"/>
                <a:ext cx="48"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4" name="Line 107">
                <a:extLst>
                  <a:ext uri="{FF2B5EF4-FFF2-40B4-BE49-F238E27FC236}">
                    <a16:creationId xmlns:a16="http://schemas.microsoft.com/office/drawing/2014/main" id="{51C5A47D-6630-49A8-96C1-0B86BA5AE57A}"/>
                  </a:ext>
                </a:extLst>
              </p:cNvPr>
              <p:cNvSpPr>
                <a:spLocks noChangeShapeType="1"/>
              </p:cNvSpPr>
              <p:nvPr/>
            </p:nvSpPr>
            <p:spPr bwMode="auto">
              <a:xfrm>
                <a:off x="2329" y="2074"/>
                <a:ext cx="35"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 name="Line 108">
                <a:extLst>
                  <a:ext uri="{FF2B5EF4-FFF2-40B4-BE49-F238E27FC236}">
                    <a16:creationId xmlns:a16="http://schemas.microsoft.com/office/drawing/2014/main" id="{3D2F19A7-190D-428F-8F7A-7111518C0ADA}"/>
                  </a:ext>
                </a:extLst>
              </p:cNvPr>
              <p:cNvSpPr>
                <a:spLocks noChangeShapeType="1"/>
              </p:cNvSpPr>
              <p:nvPr/>
            </p:nvSpPr>
            <p:spPr bwMode="auto">
              <a:xfrm>
                <a:off x="2356" y="2090"/>
                <a:ext cx="16"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 name="Freeform 109">
                <a:extLst>
                  <a:ext uri="{FF2B5EF4-FFF2-40B4-BE49-F238E27FC236}">
                    <a16:creationId xmlns:a16="http://schemas.microsoft.com/office/drawing/2014/main" id="{94E93069-7485-43A4-88A5-76433E4400D3}"/>
                  </a:ext>
                </a:extLst>
              </p:cNvPr>
              <p:cNvSpPr>
                <a:spLocks/>
              </p:cNvSpPr>
              <p:nvPr/>
            </p:nvSpPr>
            <p:spPr bwMode="auto">
              <a:xfrm>
                <a:off x="637" y="1779"/>
                <a:ext cx="213" cy="115"/>
              </a:xfrm>
              <a:custGeom>
                <a:avLst/>
                <a:gdLst>
                  <a:gd name="T0" fmla="*/ 213 w 213"/>
                  <a:gd name="T1" fmla="*/ 0 h 115"/>
                  <a:gd name="T2" fmla="*/ 186 w 213"/>
                  <a:gd name="T3" fmla="*/ 0 h 115"/>
                  <a:gd name="T4" fmla="*/ 160 w 213"/>
                  <a:gd name="T5" fmla="*/ 0 h 115"/>
                  <a:gd name="T6" fmla="*/ 125 w 213"/>
                  <a:gd name="T7" fmla="*/ 8 h 115"/>
                  <a:gd name="T8" fmla="*/ 93 w 213"/>
                  <a:gd name="T9" fmla="*/ 19 h 115"/>
                  <a:gd name="T10" fmla="*/ 72 w 213"/>
                  <a:gd name="T11" fmla="*/ 27 h 115"/>
                  <a:gd name="T12" fmla="*/ 50 w 213"/>
                  <a:gd name="T13" fmla="*/ 38 h 115"/>
                  <a:gd name="T14" fmla="*/ 29 w 213"/>
                  <a:gd name="T15" fmla="*/ 48 h 115"/>
                  <a:gd name="T16" fmla="*/ 8 w 213"/>
                  <a:gd name="T17" fmla="*/ 57 h 115"/>
                  <a:gd name="T18" fmla="*/ 5 w 213"/>
                  <a:gd name="T19" fmla="*/ 67 h 115"/>
                  <a:gd name="T20" fmla="*/ 0 w 213"/>
                  <a:gd name="T21" fmla="*/ 75 h 115"/>
                  <a:gd name="T22" fmla="*/ 2 w 213"/>
                  <a:gd name="T23" fmla="*/ 86 h 115"/>
                  <a:gd name="T24" fmla="*/ 5 w 213"/>
                  <a:gd name="T25" fmla="*/ 97 h 115"/>
                  <a:gd name="T26" fmla="*/ 37 w 213"/>
                  <a:gd name="T27" fmla="*/ 105 h 115"/>
                  <a:gd name="T28" fmla="*/ 66 w 213"/>
                  <a:gd name="T29" fmla="*/ 113 h 115"/>
                  <a:gd name="T30" fmla="*/ 106 w 213"/>
                  <a:gd name="T31" fmla="*/ 115 h 115"/>
                  <a:gd name="T32" fmla="*/ 146 w 213"/>
                  <a:gd name="T33" fmla="*/ 115 h 115"/>
                  <a:gd name="T34" fmla="*/ 141 w 213"/>
                  <a:gd name="T35" fmla="*/ 105 h 115"/>
                  <a:gd name="T36" fmla="*/ 136 w 213"/>
                  <a:gd name="T37" fmla="*/ 91 h 115"/>
                  <a:gd name="T38" fmla="*/ 136 w 213"/>
                  <a:gd name="T39" fmla="*/ 73 h 115"/>
                  <a:gd name="T40" fmla="*/ 133 w 213"/>
                  <a:gd name="T41" fmla="*/ 54 h 115"/>
                  <a:gd name="T42" fmla="*/ 141 w 213"/>
                  <a:gd name="T43" fmla="*/ 43 h 115"/>
                  <a:gd name="T44" fmla="*/ 146 w 213"/>
                  <a:gd name="T45" fmla="*/ 32 h 115"/>
                  <a:gd name="T46" fmla="*/ 181 w 213"/>
                  <a:gd name="T47" fmla="*/ 16 h 115"/>
                  <a:gd name="T48" fmla="*/ 213 w 213"/>
                  <a:gd name="T4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5">
                    <a:moveTo>
                      <a:pt x="213" y="0"/>
                    </a:moveTo>
                    <a:lnTo>
                      <a:pt x="186" y="0"/>
                    </a:lnTo>
                    <a:lnTo>
                      <a:pt x="160" y="0"/>
                    </a:lnTo>
                    <a:lnTo>
                      <a:pt x="125" y="8"/>
                    </a:lnTo>
                    <a:lnTo>
                      <a:pt x="93" y="19"/>
                    </a:lnTo>
                    <a:lnTo>
                      <a:pt x="72" y="27"/>
                    </a:lnTo>
                    <a:lnTo>
                      <a:pt x="50" y="38"/>
                    </a:lnTo>
                    <a:lnTo>
                      <a:pt x="29" y="48"/>
                    </a:lnTo>
                    <a:lnTo>
                      <a:pt x="8" y="57"/>
                    </a:lnTo>
                    <a:lnTo>
                      <a:pt x="5" y="67"/>
                    </a:lnTo>
                    <a:lnTo>
                      <a:pt x="0" y="75"/>
                    </a:lnTo>
                    <a:lnTo>
                      <a:pt x="2" y="86"/>
                    </a:lnTo>
                    <a:lnTo>
                      <a:pt x="5" y="97"/>
                    </a:lnTo>
                    <a:lnTo>
                      <a:pt x="37" y="105"/>
                    </a:lnTo>
                    <a:lnTo>
                      <a:pt x="66" y="113"/>
                    </a:lnTo>
                    <a:lnTo>
                      <a:pt x="106" y="115"/>
                    </a:lnTo>
                    <a:lnTo>
                      <a:pt x="146" y="115"/>
                    </a:lnTo>
                    <a:lnTo>
                      <a:pt x="141" y="105"/>
                    </a:lnTo>
                    <a:lnTo>
                      <a:pt x="136" y="91"/>
                    </a:lnTo>
                    <a:lnTo>
                      <a:pt x="136" y="73"/>
                    </a:lnTo>
                    <a:lnTo>
                      <a:pt x="133" y="54"/>
                    </a:lnTo>
                    <a:lnTo>
                      <a:pt x="141" y="43"/>
                    </a:lnTo>
                    <a:lnTo>
                      <a:pt x="146" y="32"/>
                    </a:lnTo>
                    <a:lnTo>
                      <a:pt x="181" y="16"/>
                    </a:lnTo>
                    <a:lnTo>
                      <a:pt x="213"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7" name="Freeform 110">
                <a:extLst>
                  <a:ext uri="{FF2B5EF4-FFF2-40B4-BE49-F238E27FC236}">
                    <a16:creationId xmlns:a16="http://schemas.microsoft.com/office/drawing/2014/main" id="{9B41DAB3-2396-4703-A923-8C1562C7A8A0}"/>
                  </a:ext>
                </a:extLst>
              </p:cNvPr>
              <p:cNvSpPr>
                <a:spLocks/>
              </p:cNvSpPr>
              <p:nvPr/>
            </p:nvSpPr>
            <p:spPr bwMode="auto">
              <a:xfrm>
                <a:off x="637" y="1779"/>
                <a:ext cx="213" cy="115"/>
              </a:xfrm>
              <a:custGeom>
                <a:avLst/>
                <a:gdLst>
                  <a:gd name="T0" fmla="*/ 213 w 213"/>
                  <a:gd name="T1" fmla="*/ 0 h 115"/>
                  <a:gd name="T2" fmla="*/ 186 w 213"/>
                  <a:gd name="T3" fmla="*/ 0 h 115"/>
                  <a:gd name="T4" fmla="*/ 160 w 213"/>
                  <a:gd name="T5" fmla="*/ 0 h 115"/>
                  <a:gd name="T6" fmla="*/ 125 w 213"/>
                  <a:gd name="T7" fmla="*/ 8 h 115"/>
                  <a:gd name="T8" fmla="*/ 93 w 213"/>
                  <a:gd name="T9" fmla="*/ 19 h 115"/>
                  <a:gd name="T10" fmla="*/ 72 w 213"/>
                  <a:gd name="T11" fmla="*/ 27 h 115"/>
                  <a:gd name="T12" fmla="*/ 50 w 213"/>
                  <a:gd name="T13" fmla="*/ 38 h 115"/>
                  <a:gd name="T14" fmla="*/ 29 w 213"/>
                  <a:gd name="T15" fmla="*/ 48 h 115"/>
                  <a:gd name="T16" fmla="*/ 8 w 213"/>
                  <a:gd name="T17" fmla="*/ 57 h 115"/>
                  <a:gd name="T18" fmla="*/ 5 w 213"/>
                  <a:gd name="T19" fmla="*/ 67 h 115"/>
                  <a:gd name="T20" fmla="*/ 0 w 213"/>
                  <a:gd name="T21" fmla="*/ 75 h 115"/>
                  <a:gd name="T22" fmla="*/ 2 w 213"/>
                  <a:gd name="T23" fmla="*/ 86 h 115"/>
                  <a:gd name="T24" fmla="*/ 5 w 213"/>
                  <a:gd name="T25" fmla="*/ 97 h 115"/>
                  <a:gd name="T26" fmla="*/ 37 w 213"/>
                  <a:gd name="T27" fmla="*/ 105 h 115"/>
                  <a:gd name="T28" fmla="*/ 66 w 213"/>
                  <a:gd name="T29" fmla="*/ 113 h 115"/>
                  <a:gd name="T30" fmla="*/ 106 w 213"/>
                  <a:gd name="T31" fmla="*/ 115 h 115"/>
                  <a:gd name="T32" fmla="*/ 146 w 213"/>
                  <a:gd name="T33" fmla="*/ 115 h 115"/>
                  <a:gd name="T34" fmla="*/ 141 w 213"/>
                  <a:gd name="T35" fmla="*/ 105 h 115"/>
                  <a:gd name="T36" fmla="*/ 136 w 213"/>
                  <a:gd name="T37" fmla="*/ 91 h 115"/>
                  <a:gd name="T38" fmla="*/ 136 w 213"/>
                  <a:gd name="T39" fmla="*/ 73 h 115"/>
                  <a:gd name="T40" fmla="*/ 133 w 213"/>
                  <a:gd name="T41" fmla="*/ 54 h 115"/>
                  <a:gd name="T42" fmla="*/ 141 w 213"/>
                  <a:gd name="T43" fmla="*/ 43 h 115"/>
                  <a:gd name="T44" fmla="*/ 146 w 213"/>
                  <a:gd name="T45" fmla="*/ 32 h 115"/>
                  <a:gd name="T46" fmla="*/ 181 w 213"/>
                  <a:gd name="T47" fmla="*/ 16 h 115"/>
                  <a:gd name="T48" fmla="*/ 213 w 213"/>
                  <a:gd name="T4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5">
                    <a:moveTo>
                      <a:pt x="213" y="0"/>
                    </a:moveTo>
                    <a:lnTo>
                      <a:pt x="186" y="0"/>
                    </a:lnTo>
                    <a:lnTo>
                      <a:pt x="160" y="0"/>
                    </a:lnTo>
                    <a:lnTo>
                      <a:pt x="125" y="8"/>
                    </a:lnTo>
                    <a:lnTo>
                      <a:pt x="93" y="19"/>
                    </a:lnTo>
                    <a:lnTo>
                      <a:pt x="72" y="27"/>
                    </a:lnTo>
                    <a:lnTo>
                      <a:pt x="50" y="38"/>
                    </a:lnTo>
                    <a:lnTo>
                      <a:pt x="29" y="48"/>
                    </a:lnTo>
                    <a:lnTo>
                      <a:pt x="8" y="57"/>
                    </a:lnTo>
                    <a:lnTo>
                      <a:pt x="5" y="67"/>
                    </a:lnTo>
                    <a:lnTo>
                      <a:pt x="0" y="75"/>
                    </a:lnTo>
                    <a:lnTo>
                      <a:pt x="2" y="86"/>
                    </a:lnTo>
                    <a:lnTo>
                      <a:pt x="5" y="97"/>
                    </a:lnTo>
                    <a:lnTo>
                      <a:pt x="37" y="105"/>
                    </a:lnTo>
                    <a:lnTo>
                      <a:pt x="66" y="113"/>
                    </a:lnTo>
                    <a:lnTo>
                      <a:pt x="106" y="115"/>
                    </a:lnTo>
                    <a:lnTo>
                      <a:pt x="146" y="115"/>
                    </a:lnTo>
                    <a:lnTo>
                      <a:pt x="141" y="105"/>
                    </a:lnTo>
                    <a:lnTo>
                      <a:pt x="136" y="91"/>
                    </a:lnTo>
                    <a:lnTo>
                      <a:pt x="136" y="73"/>
                    </a:lnTo>
                    <a:lnTo>
                      <a:pt x="133" y="54"/>
                    </a:lnTo>
                    <a:lnTo>
                      <a:pt x="141" y="43"/>
                    </a:lnTo>
                    <a:lnTo>
                      <a:pt x="146" y="32"/>
                    </a:lnTo>
                    <a:lnTo>
                      <a:pt x="181" y="16"/>
                    </a:lnTo>
                    <a:lnTo>
                      <a:pt x="213"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38" name="Freeform 111">
                <a:extLst>
                  <a:ext uri="{FF2B5EF4-FFF2-40B4-BE49-F238E27FC236}">
                    <a16:creationId xmlns:a16="http://schemas.microsoft.com/office/drawing/2014/main" id="{BAF5F174-328E-42E8-ACE5-1E66B82ABA96}"/>
                  </a:ext>
                </a:extLst>
              </p:cNvPr>
              <p:cNvSpPr>
                <a:spLocks/>
              </p:cNvSpPr>
              <p:nvPr/>
            </p:nvSpPr>
            <p:spPr bwMode="auto">
              <a:xfrm>
                <a:off x="741" y="1779"/>
                <a:ext cx="104" cy="115"/>
              </a:xfrm>
              <a:custGeom>
                <a:avLst/>
                <a:gdLst>
                  <a:gd name="T0" fmla="*/ 104 w 104"/>
                  <a:gd name="T1" fmla="*/ 0 h 115"/>
                  <a:gd name="T2" fmla="*/ 45 w 104"/>
                  <a:gd name="T3" fmla="*/ 11 h 115"/>
                  <a:gd name="T4" fmla="*/ 18 w 104"/>
                  <a:gd name="T5" fmla="*/ 32 h 115"/>
                  <a:gd name="T6" fmla="*/ 2 w 104"/>
                  <a:gd name="T7" fmla="*/ 57 h 115"/>
                  <a:gd name="T8" fmla="*/ 0 w 104"/>
                  <a:gd name="T9" fmla="*/ 78 h 115"/>
                  <a:gd name="T10" fmla="*/ 10 w 104"/>
                  <a:gd name="T11" fmla="*/ 99 h 115"/>
                  <a:gd name="T12" fmla="*/ 40 w 104"/>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104" h="115">
                    <a:moveTo>
                      <a:pt x="104" y="0"/>
                    </a:moveTo>
                    <a:lnTo>
                      <a:pt x="45" y="11"/>
                    </a:lnTo>
                    <a:lnTo>
                      <a:pt x="18" y="32"/>
                    </a:lnTo>
                    <a:lnTo>
                      <a:pt x="2" y="57"/>
                    </a:lnTo>
                    <a:lnTo>
                      <a:pt x="0" y="78"/>
                    </a:lnTo>
                    <a:lnTo>
                      <a:pt x="10" y="99"/>
                    </a:lnTo>
                    <a:lnTo>
                      <a:pt x="40" y="11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39" name="Line 112">
                <a:extLst>
                  <a:ext uri="{FF2B5EF4-FFF2-40B4-BE49-F238E27FC236}">
                    <a16:creationId xmlns:a16="http://schemas.microsoft.com/office/drawing/2014/main" id="{15A1A8E0-B3CA-421B-ADEF-2DDC583C9547}"/>
                  </a:ext>
                </a:extLst>
              </p:cNvPr>
              <p:cNvSpPr>
                <a:spLocks noChangeShapeType="1"/>
              </p:cNvSpPr>
              <p:nvPr/>
            </p:nvSpPr>
            <p:spPr bwMode="auto">
              <a:xfrm>
                <a:off x="829" y="1782"/>
                <a:ext cx="2"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0" name="Line 113">
                <a:extLst>
                  <a:ext uri="{FF2B5EF4-FFF2-40B4-BE49-F238E27FC236}">
                    <a16:creationId xmlns:a16="http://schemas.microsoft.com/office/drawing/2014/main" id="{15F680A7-1405-46EC-835C-434326496425}"/>
                  </a:ext>
                </a:extLst>
              </p:cNvPr>
              <p:cNvSpPr>
                <a:spLocks noChangeShapeType="1"/>
              </p:cNvSpPr>
              <p:nvPr/>
            </p:nvSpPr>
            <p:spPr bwMode="auto">
              <a:xfrm>
                <a:off x="813" y="1785"/>
                <a:ext cx="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1" name="Line 114">
                <a:extLst>
                  <a:ext uri="{FF2B5EF4-FFF2-40B4-BE49-F238E27FC236}">
                    <a16:creationId xmlns:a16="http://schemas.microsoft.com/office/drawing/2014/main" id="{33DDAE33-2C00-48AE-B7D0-C7690B4C5F91}"/>
                  </a:ext>
                </a:extLst>
              </p:cNvPr>
              <p:cNvSpPr>
                <a:spLocks noChangeShapeType="1"/>
              </p:cNvSpPr>
              <p:nvPr/>
            </p:nvSpPr>
            <p:spPr bwMode="auto">
              <a:xfrm>
                <a:off x="794" y="1790"/>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2" name="Line 115">
                <a:extLst>
                  <a:ext uri="{FF2B5EF4-FFF2-40B4-BE49-F238E27FC236}">
                    <a16:creationId xmlns:a16="http://schemas.microsoft.com/office/drawing/2014/main" id="{FB9E844E-EF59-4D78-8709-C07137DBDD83}"/>
                  </a:ext>
                </a:extLst>
              </p:cNvPr>
              <p:cNvSpPr>
                <a:spLocks noChangeShapeType="1"/>
              </p:cNvSpPr>
              <p:nvPr/>
            </p:nvSpPr>
            <p:spPr bwMode="auto">
              <a:xfrm>
                <a:off x="778" y="1798"/>
                <a:ext cx="11"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3" name="Line 116">
                <a:extLst>
                  <a:ext uri="{FF2B5EF4-FFF2-40B4-BE49-F238E27FC236}">
                    <a16:creationId xmlns:a16="http://schemas.microsoft.com/office/drawing/2014/main" id="{C876A30C-DD33-4AE1-9E98-4DFA8CBAEA47}"/>
                  </a:ext>
                </a:extLst>
              </p:cNvPr>
              <p:cNvSpPr>
                <a:spLocks noChangeShapeType="1"/>
              </p:cNvSpPr>
              <p:nvPr/>
            </p:nvSpPr>
            <p:spPr bwMode="auto">
              <a:xfrm>
                <a:off x="765" y="1806"/>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4" name="Line 117">
                <a:extLst>
                  <a:ext uri="{FF2B5EF4-FFF2-40B4-BE49-F238E27FC236}">
                    <a16:creationId xmlns:a16="http://schemas.microsoft.com/office/drawing/2014/main" id="{4BC0FF7D-333E-48FD-9063-F177FCADCA78}"/>
                  </a:ext>
                </a:extLst>
              </p:cNvPr>
              <p:cNvSpPr>
                <a:spLocks noChangeShapeType="1"/>
              </p:cNvSpPr>
              <p:nvPr/>
            </p:nvSpPr>
            <p:spPr bwMode="auto">
              <a:xfrm>
                <a:off x="757" y="1817"/>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5" name="Line 118">
                <a:extLst>
                  <a:ext uri="{FF2B5EF4-FFF2-40B4-BE49-F238E27FC236}">
                    <a16:creationId xmlns:a16="http://schemas.microsoft.com/office/drawing/2014/main" id="{744DAF50-E9D0-4607-8914-C189F49D6A8A}"/>
                  </a:ext>
                </a:extLst>
              </p:cNvPr>
              <p:cNvSpPr>
                <a:spLocks noChangeShapeType="1"/>
              </p:cNvSpPr>
              <p:nvPr/>
            </p:nvSpPr>
            <p:spPr bwMode="auto">
              <a:xfrm>
                <a:off x="749" y="1827"/>
                <a:ext cx="18" cy="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6" name="Line 119">
                <a:extLst>
                  <a:ext uri="{FF2B5EF4-FFF2-40B4-BE49-F238E27FC236}">
                    <a16:creationId xmlns:a16="http://schemas.microsoft.com/office/drawing/2014/main" id="{013EC09E-0618-4C6F-8CC3-2512B96C78AF}"/>
                  </a:ext>
                </a:extLst>
              </p:cNvPr>
              <p:cNvSpPr>
                <a:spLocks noChangeShapeType="1"/>
              </p:cNvSpPr>
              <p:nvPr/>
            </p:nvSpPr>
            <p:spPr bwMode="auto">
              <a:xfrm>
                <a:off x="743" y="1844"/>
                <a:ext cx="24"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7" name="Line 120">
                <a:extLst>
                  <a:ext uri="{FF2B5EF4-FFF2-40B4-BE49-F238E27FC236}">
                    <a16:creationId xmlns:a16="http://schemas.microsoft.com/office/drawing/2014/main" id="{004253B6-B87C-42E8-B918-A59972E8AEE8}"/>
                  </a:ext>
                </a:extLst>
              </p:cNvPr>
              <p:cNvSpPr>
                <a:spLocks noChangeShapeType="1"/>
              </p:cNvSpPr>
              <p:nvPr/>
            </p:nvSpPr>
            <p:spPr bwMode="auto">
              <a:xfrm>
                <a:off x="741" y="1857"/>
                <a:ext cx="29"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8" name="Line 121">
                <a:extLst>
                  <a:ext uri="{FF2B5EF4-FFF2-40B4-BE49-F238E27FC236}">
                    <a16:creationId xmlns:a16="http://schemas.microsoft.com/office/drawing/2014/main" id="{F99D4FB6-CE2F-4AED-8C54-F36F726B5F95}"/>
                  </a:ext>
                </a:extLst>
              </p:cNvPr>
              <p:cNvSpPr>
                <a:spLocks noChangeShapeType="1"/>
              </p:cNvSpPr>
              <p:nvPr/>
            </p:nvSpPr>
            <p:spPr bwMode="auto">
              <a:xfrm>
                <a:off x="751" y="1876"/>
                <a:ext cx="22"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9" name="Line 122">
                <a:extLst>
                  <a:ext uri="{FF2B5EF4-FFF2-40B4-BE49-F238E27FC236}">
                    <a16:creationId xmlns:a16="http://schemas.microsoft.com/office/drawing/2014/main" id="{233FB226-7172-4D9A-9FE8-693C2586EC4E}"/>
                  </a:ext>
                </a:extLst>
              </p:cNvPr>
              <p:cNvSpPr>
                <a:spLocks noChangeShapeType="1"/>
              </p:cNvSpPr>
              <p:nvPr/>
            </p:nvSpPr>
            <p:spPr bwMode="auto">
              <a:xfrm>
                <a:off x="767" y="1884"/>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0" name="Freeform 123">
                <a:extLst>
                  <a:ext uri="{FF2B5EF4-FFF2-40B4-BE49-F238E27FC236}">
                    <a16:creationId xmlns:a16="http://schemas.microsoft.com/office/drawing/2014/main" id="{2AF6895C-B5B0-418C-BD95-D789062966E0}"/>
                  </a:ext>
                </a:extLst>
              </p:cNvPr>
              <p:cNvSpPr>
                <a:spLocks/>
              </p:cNvSpPr>
              <p:nvPr/>
            </p:nvSpPr>
            <p:spPr bwMode="auto">
              <a:xfrm>
                <a:off x="370" y="1956"/>
                <a:ext cx="213" cy="118"/>
              </a:xfrm>
              <a:custGeom>
                <a:avLst/>
                <a:gdLst>
                  <a:gd name="T0" fmla="*/ 213 w 213"/>
                  <a:gd name="T1" fmla="*/ 0 h 118"/>
                  <a:gd name="T2" fmla="*/ 186 w 213"/>
                  <a:gd name="T3" fmla="*/ 0 h 118"/>
                  <a:gd name="T4" fmla="*/ 160 w 213"/>
                  <a:gd name="T5" fmla="*/ 0 h 118"/>
                  <a:gd name="T6" fmla="*/ 125 w 213"/>
                  <a:gd name="T7" fmla="*/ 11 h 118"/>
                  <a:gd name="T8" fmla="*/ 93 w 213"/>
                  <a:gd name="T9" fmla="*/ 21 h 118"/>
                  <a:gd name="T10" fmla="*/ 72 w 213"/>
                  <a:gd name="T11" fmla="*/ 29 h 118"/>
                  <a:gd name="T12" fmla="*/ 50 w 213"/>
                  <a:gd name="T13" fmla="*/ 40 h 118"/>
                  <a:gd name="T14" fmla="*/ 29 w 213"/>
                  <a:gd name="T15" fmla="*/ 51 h 118"/>
                  <a:gd name="T16" fmla="*/ 8 w 213"/>
                  <a:gd name="T17" fmla="*/ 59 h 118"/>
                  <a:gd name="T18" fmla="*/ 5 w 213"/>
                  <a:gd name="T19" fmla="*/ 67 h 118"/>
                  <a:gd name="T20" fmla="*/ 0 w 213"/>
                  <a:gd name="T21" fmla="*/ 77 h 118"/>
                  <a:gd name="T22" fmla="*/ 2 w 213"/>
                  <a:gd name="T23" fmla="*/ 88 h 118"/>
                  <a:gd name="T24" fmla="*/ 5 w 213"/>
                  <a:gd name="T25" fmla="*/ 99 h 118"/>
                  <a:gd name="T26" fmla="*/ 37 w 213"/>
                  <a:gd name="T27" fmla="*/ 107 h 118"/>
                  <a:gd name="T28" fmla="*/ 66 w 213"/>
                  <a:gd name="T29" fmla="*/ 115 h 118"/>
                  <a:gd name="T30" fmla="*/ 106 w 213"/>
                  <a:gd name="T31" fmla="*/ 115 h 118"/>
                  <a:gd name="T32" fmla="*/ 146 w 213"/>
                  <a:gd name="T33" fmla="*/ 118 h 118"/>
                  <a:gd name="T34" fmla="*/ 141 w 213"/>
                  <a:gd name="T35" fmla="*/ 104 h 118"/>
                  <a:gd name="T36" fmla="*/ 136 w 213"/>
                  <a:gd name="T37" fmla="*/ 93 h 118"/>
                  <a:gd name="T38" fmla="*/ 136 w 213"/>
                  <a:gd name="T39" fmla="*/ 75 h 118"/>
                  <a:gd name="T40" fmla="*/ 133 w 213"/>
                  <a:gd name="T41" fmla="*/ 56 h 118"/>
                  <a:gd name="T42" fmla="*/ 141 w 213"/>
                  <a:gd name="T43" fmla="*/ 45 h 118"/>
                  <a:gd name="T44" fmla="*/ 146 w 213"/>
                  <a:gd name="T45" fmla="*/ 35 h 118"/>
                  <a:gd name="T46" fmla="*/ 181 w 213"/>
                  <a:gd name="T47" fmla="*/ 19 h 118"/>
                  <a:gd name="T48" fmla="*/ 213 w 213"/>
                  <a:gd name="T4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8">
                    <a:moveTo>
                      <a:pt x="213" y="0"/>
                    </a:moveTo>
                    <a:lnTo>
                      <a:pt x="186" y="0"/>
                    </a:lnTo>
                    <a:lnTo>
                      <a:pt x="160" y="0"/>
                    </a:lnTo>
                    <a:lnTo>
                      <a:pt x="125" y="11"/>
                    </a:lnTo>
                    <a:lnTo>
                      <a:pt x="93" y="21"/>
                    </a:lnTo>
                    <a:lnTo>
                      <a:pt x="72" y="29"/>
                    </a:lnTo>
                    <a:lnTo>
                      <a:pt x="50" y="40"/>
                    </a:lnTo>
                    <a:lnTo>
                      <a:pt x="29" y="51"/>
                    </a:lnTo>
                    <a:lnTo>
                      <a:pt x="8" y="59"/>
                    </a:lnTo>
                    <a:lnTo>
                      <a:pt x="5" y="67"/>
                    </a:lnTo>
                    <a:lnTo>
                      <a:pt x="0" y="77"/>
                    </a:lnTo>
                    <a:lnTo>
                      <a:pt x="2" y="88"/>
                    </a:lnTo>
                    <a:lnTo>
                      <a:pt x="5" y="99"/>
                    </a:lnTo>
                    <a:lnTo>
                      <a:pt x="37" y="107"/>
                    </a:lnTo>
                    <a:lnTo>
                      <a:pt x="66" y="115"/>
                    </a:lnTo>
                    <a:lnTo>
                      <a:pt x="106" y="115"/>
                    </a:lnTo>
                    <a:lnTo>
                      <a:pt x="146" y="118"/>
                    </a:lnTo>
                    <a:lnTo>
                      <a:pt x="141" y="104"/>
                    </a:lnTo>
                    <a:lnTo>
                      <a:pt x="136" y="93"/>
                    </a:lnTo>
                    <a:lnTo>
                      <a:pt x="136" y="75"/>
                    </a:lnTo>
                    <a:lnTo>
                      <a:pt x="133" y="56"/>
                    </a:lnTo>
                    <a:lnTo>
                      <a:pt x="141" y="45"/>
                    </a:lnTo>
                    <a:lnTo>
                      <a:pt x="146" y="35"/>
                    </a:lnTo>
                    <a:lnTo>
                      <a:pt x="181" y="19"/>
                    </a:lnTo>
                    <a:lnTo>
                      <a:pt x="213"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1" name="Freeform 124">
                <a:extLst>
                  <a:ext uri="{FF2B5EF4-FFF2-40B4-BE49-F238E27FC236}">
                    <a16:creationId xmlns:a16="http://schemas.microsoft.com/office/drawing/2014/main" id="{40D5E18D-6AA2-44B4-B69F-7EEE6481CBE7}"/>
                  </a:ext>
                </a:extLst>
              </p:cNvPr>
              <p:cNvSpPr>
                <a:spLocks/>
              </p:cNvSpPr>
              <p:nvPr/>
            </p:nvSpPr>
            <p:spPr bwMode="auto">
              <a:xfrm>
                <a:off x="370" y="1956"/>
                <a:ext cx="213" cy="118"/>
              </a:xfrm>
              <a:custGeom>
                <a:avLst/>
                <a:gdLst>
                  <a:gd name="T0" fmla="*/ 213 w 213"/>
                  <a:gd name="T1" fmla="*/ 0 h 118"/>
                  <a:gd name="T2" fmla="*/ 186 w 213"/>
                  <a:gd name="T3" fmla="*/ 0 h 118"/>
                  <a:gd name="T4" fmla="*/ 160 w 213"/>
                  <a:gd name="T5" fmla="*/ 0 h 118"/>
                  <a:gd name="T6" fmla="*/ 125 w 213"/>
                  <a:gd name="T7" fmla="*/ 11 h 118"/>
                  <a:gd name="T8" fmla="*/ 93 w 213"/>
                  <a:gd name="T9" fmla="*/ 21 h 118"/>
                  <a:gd name="T10" fmla="*/ 72 w 213"/>
                  <a:gd name="T11" fmla="*/ 29 h 118"/>
                  <a:gd name="T12" fmla="*/ 50 w 213"/>
                  <a:gd name="T13" fmla="*/ 40 h 118"/>
                  <a:gd name="T14" fmla="*/ 29 w 213"/>
                  <a:gd name="T15" fmla="*/ 51 h 118"/>
                  <a:gd name="T16" fmla="*/ 8 w 213"/>
                  <a:gd name="T17" fmla="*/ 59 h 118"/>
                  <a:gd name="T18" fmla="*/ 5 w 213"/>
                  <a:gd name="T19" fmla="*/ 67 h 118"/>
                  <a:gd name="T20" fmla="*/ 0 w 213"/>
                  <a:gd name="T21" fmla="*/ 77 h 118"/>
                  <a:gd name="T22" fmla="*/ 2 w 213"/>
                  <a:gd name="T23" fmla="*/ 88 h 118"/>
                  <a:gd name="T24" fmla="*/ 5 w 213"/>
                  <a:gd name="T25" fmla="*/ 99 h 118"/>
                  <a:gd name="T26" fmla="*/ 37 w 213"/>
                  <a:gd name="T27" fmla="*/ 107 h 118"/>
                  <a:gd name="T28" fmla="*/ 66 w 213"/>
                  <a:gd name="T29" fmla="*/ 115 h 118"/>
                  <a:gd name="T30" fmla="*/ 106 w 213"/>
                  <a:gd name="T31" fmla="*/ 115 h 118"/>
                  <a:gd name="T32" fmla="*/ 146 w 213"/>
                  <a:gd name="T33" fmla="*/ 118 h 118"/>
                  <a:gd name="T34" fmla="*/ 141 w 213"/>
                  <a:gd name="T35" fmla="*/ 104 h 118"/>
                  <a:gd name="T36" fmla="*/ 136 w 213"/>
                  <a:gd name="T37" fmla="*/ 93 h 118"/>
                  <a:gd name="T38" fmla="*/ 136 w 213"/>
                  <a:gd name="T39" fmla="*/ 75 h 118"/>
                  <a:gd name="T40" fmla="*/ 133 w 213"/>
                  <a:gd name="T41" fmla="*/ 56 h 118"/>
                  <a:gd name="T42" fmla="*/ 141 w 213"/>
                  <a:gd name="T43" fmla="*/ 45 h 118"/>
                  <a:gd name="T44" fmla="*/ 146 w 213"/>
                  <a:gd name="T45" fmla="*/ 35 h 118"/>
                  <a:gd name="T46" fmla="*/ 181 w 213"/>
                  <a:gd name="T47" fmla="*/ 19 h 118"/>
                  <a:gd name="T48" fmla="*/ 213 w 213"/>
                  <a:gd name="T4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8">
                    <a:moveTo>
                      <a:pt x="213" y="0"/>
                    </a:moveTo>
                    <a:lnTo>
                      <a:pt x="186" y="0"/>
                    </a:lnTo>
                    <a:lnTo>
                      <a:pt x="160" y="0"/>
                    </a:lnTo>
                    <a:lnTo>
                      <a:pt x="125" y="11"/>
                    </a:lnTo>
                    <a:lnTo>
                      <a:pt x="93" y="21"/>
                    </a:lnTo>
                    <a:lnTo>
                      <a:pt x="72" y="29"/>
                    </a:lnTo>
                    <a:lnTo>
                      <a:pt x="50" y="40"/>
                    </a:lnTo>
                    <a:lnTo>
                      <a:pt x="29" y="51"/>
                    </a:lnTo>
                    <a:lnTo>
                      <a:pt x="8" y="59"/>
                    </a:lnTo>
                    <a:lnTo>
                      <a:pt x="5" y="67"/>
                    </a:lnTo>
                    <a:lnTo>
                      <a:pt x="0" y="77"/>
                    </a:lnTo>
                    <a:lnTo>
                      <a:pt x="2" y="88"/>
                    </a:lnTo>
                    <a:lnTo>
                      <a:pt x="5" y="99"/>
                    </a:lnTo>
                    <a:lnTo>
                      <a:pt x="37" y="107"/>
                    </a:lnTo>
                    <a:lnTo>
                      <a:pt x="66" y="115"/>
                    </a:lnTo>
                    <a:lnTo>
                      <a:pt x="106" y="115"/>
                    </a:lnTo>
                    <a:lnTo>
                      <a:pt x="146" y="118"/>
                    </a:lnTo>
                    <a:lnTo>
                      <a:pt x="141" y="104"/>
                    </a:lnTo>
                    <a:lnTo>
                      <a:pt x="136" y="93"/>
                    </a:lnTo>
                    <a:lnTo>
                      <a:pt x="136" y="75"/>
                    </a:lnTo>
                    <a:lnTo>
                      <a:pt x="133" y="56"/>
                    </a:lnTo>
                    <a:lnTo>
                      <a:pt x="141" y="45"/>
                    </a:lnTo>
                    <a:lnTo>
                      <a:pt x="146" y="35"/>
                    </a:lnTo>
                    <a:lnTo>
                      <a:pt x="181" y="19"/>
                    </a:lnTo>
                    <a:lnTo>
                      <a:pt x="213"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2" name="Freeform 125">
                <a:extLst>
                  <a:ext uri="{FF2B5EF4-FFF2-40B4-BE49-F238E27FC236}">
                    <a16:creationId xmlns:a16="http://schemas.microsoft.com/office/drawing/2014/main" id="{62AC58CB-F68B-468B-96E9-3ED711CF289F}"/>
                  </a:ext>
                </a:extLst>
              </p:cNvPr>
              <p:cNvSpPr>
                <a:spLocks/>
              </p:cNvSpPr>
              <p:nvPr/>
            </p:nvSpPr>
            <p:spPr bwMode="auto">
              <a:xfrm>
                <a:off x="474" y="1959"/>
                <a:ext cx="104" cy="115"/>
              </a:xfrm>
              <a:custGeom>
                <a:avLst/>
                <a:gdLst>
                  <a:gd name="T0" fmla="*/ 104 w 104"/>
                  <a:gd name="T1" fmla="*/ 0 h 115"/>
                  <a:gd name="T2" fmla="*/ 45 w 104"/>
                  <a:gd name="T3" fmla="*/ 10 h 115"/>
                  <a:gd name="T4" fmla="*/ 18 w 104"/>
                  <a:gd name="T5" fmla="*/ 32 h 115"/>
                  <a:gd name="T6" fmla="*/ 2 w 104"/>
                  <a:gd name="T7" fmla="*/ 56 h 115"/>
                  <a:gd name="T8" fmla="*/ 0 w 104"/>
                  <a:gd name="T9" fmla="*/ 77 h 115"/>
                  <a:gd name="T10" fmla="*/ 10 w 104"/>
                  <a:gd name="T11" fmla="*/ 98 h 115"/>
                  <a:gd name="T12" fmla="*/ 40 w 104"/>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104" h="115">
                    <a:moveTo>
                      <a:pt x="104" y="0"/>
                    </a:moveTo>
                    <a:lnTo>
                      <a:pt x="45" y="10"/>
                    </a:lnTo>
                    <a:lnTo>
                      <a:pt x="18" y="32"/>
                    </a:lnTo>
                    <a:lnTo>
                      <a:pt x="2" y="56"/>
                    </a:lnTo>
                    <a:lnTo>
                      <a:pt x="0" y="77"/>
                    </a:lnTo>
                    <a:lnTo>
                      <a:pt x="10" y="98"/>
                    </a:lnTo>
                    <a:lnTo>
                      <a:pt x="40" y="11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3" name="Line 126">
                <a:extLst>
                  <a:ext uri="{FF2B5EF4-FFF2-40B4-BE49-F238E27FC236}">
                    <a16:creationId xmlns:a16="http://schemas.microsoft.com/office/drawing/2014/main" id="{FCD69E32-F315-475B-8445-37618842DD15}"/>
                  </a:ext>
                </a:extLst>
              </p:cNvPr>
              <p:cNvSpPr>
                <a:spLocks noChangeShapeType="1"/>
              </p:cNvSpPr>
              <p:nvPr/>
            </p:nvSpPr>
            <p:spPr bwMode="auto">
              <a:xfrm>
                <a:off x="562" y="1961"/>
                <a:ext cx="2"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4" name="Line 127">
                <a:extLst>
                  <a:ext uri="{FF2B5EF4-FFF2-40B4-BE49-F238E27FC236}">
                    <a16:creationId xmlns:a16="http://schemas.microsoft.com/office/drawing/2014/main" id="{6B30AA35-91D2-425C-8257-CFDBEB14E521}"/>
                  </a:ext>
                </a:extLst>
              </p:cNvPr>
              <p:cNvSpPr>
                <a:spLocks noChangeShapeType="1"/>
              </p:cNvSpPr>
              <p:nvPr/>
            </p:nvSpPr>
            <p:spPr bwMode="auto">
              <a:xfrm>
                <a:off x="546" y="1964"/>
                <a:ext cx="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5" name="Line 128">
                <a:extLst>
                  <a:ext uri="{FF2B5EF4-FFF2-40B4-BE49-F238E27FC236}">
                    <a16:creationId xmlns:a16="http://schemas.microsoft.com/office/drawing/2014/main" id="{74A62F69-EB93-4D58-9CBF-4143C2A30421}"/>
                  </a:ext>
                </a:extLst>
              </p:cNvPr>
              <p:cNvSpPr>
                <a:spLocks noChangeShapeType="1"/>
              </p:cNvSpPr>
              <p:nvPr/>
            </p:nvSpPr>
            <p:spPr bwMode="auto">
              <a:xfrm>
                <a:off x="524" y="1969"/>
                <a:ext cx="11"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 name="Line 129">
                <a:extLst>
                  <a:ext uri="{FF2B5EF4-FFF2-40B4-BE49-F238E27FC236}">
                    <a16:creationId xmlns:a16="http://schemas.microsoft.com/office/drawing/2014/main" id="{8C5DCD49-7809-4670-B293-661FC4347F54}"/>
                  </a:ext>
                </a:extLst>
              </p:cNvPr>
              <p:cNvSpPr>
                <a:spLocks noChangeShapeType="1"/>
              </p:cNvSpPr>
              <p:nvPr/>
            </p:nvSpPr>
            <p:spPr bwMode="auto">
              <a:xfrm>
                <a:off x="508" y="1977"/>
                <a:ext cx="14"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7" name="Line 130">
                <a:extLst>
                  <a:ext uri="{FF2B5EF4-FFF2-40B4-BE49-F238E27FC236}">
                    <a16:creationId xmlns:a16="http://schemas.microsoft.com/office/drawing/2014/main" id="{028CF43C-D42D-481D-BF58-9FB5C857CC64}"/>
                  </a:ext>
                </a:extLst>
              </p:cNvPr>
              <p:cNvSpPr>
                <a:spLocks noChangeShapeType="1"/>
              </p:cNvSpPr>
              <p:nvPr/>
            </p:nvSpPr>
            <p:spPr bwMode="auto">
              <a:xfrm>
                <a:off x="498" y="1985"/>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8" name="Line 131">
                <a:extLst>
                  <a:ext uri="{FF2B5EF4-FFF2-40B4-BE49-F238E27FC236}">
                    <a16:creationId xmlns:a16="http://schemas.microsoft.com/office/drawing/2014/main" id="{71A2B76C-7DAA-47E9-8705-7476E57FF62D}"/>
                  </a:ext>
                </a:extLst>
              </p:cNvPr>
              <p:cNvSpPr>
                <a:spLocks noChangeShapeType="1"/>
              </p:cNvSpPr>
              <p:nvPr/>
            </p:nvSpPr>
            <p:spPr bwMode="auto">
              <a:xfrm>
                <a:off x="490" y="1996"/>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9" name="Line 132">
                <a:extLst>
                  <a:ext uri="{FF2B5EF4-FFF2-40B4-BE49-F238E27FC236}">
                    <a16:creationId xmlns:a16="http://schemas.microsoft.com/office/drawing/2014/main" id="{D6628954-749E-4BF5-9C02-4D8C8A52FAEF}"/>
                  </a:ext>
                </a:extLst>
              </p:cNvPr>
              <p:cNvSpPr>
                <a:spLocks noChangeShapeType="1"/>
              </p:cNvSpPr>
              <p:nvPr/>
            </p:nvSpPr>
            <p:spPr bwMode="auto">
              <a:xfrm>
                <a:off x="482" y="2007"/>
                <a:ext cx="18"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0" name="Line 133">
                <a:extLst>
                  <a:ext uri="{FF2B5EF4-FFF2-40B4-BE49-F238E27FC236}">
                    <a16:creationId xmlns:a16="http://schemas.microsoft.com/office/drawing/2014/main" id="{D7BF943E-9BE1-4661-97A3-2069A88AB050}"/>
                  </a:ext>
                </a:extLst>
              </p:cNvPr>
              <p:cNvSpPr>
                <a:spLocks noChangeShapeType="1"/>
              </p:cNvSpPr>
              <p:nvPr/>
            </p:nvSpPr>
            <p:spPr bwMode="auto">
              <a:xfrm>
                <a:off x="476" y="2023"/>
                <a:ext cx="24"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1" name="Line 134">
                <a:extLst>
                  <a:ext uri="{FF2B5EF4-FFF2-40B4-BE49-F238E27FC236}">
                    <a16:creationId xmlns:a16="http://schemas.microsoft.com/office/drawing/2014/main" id="{11597B1C-A764-4E98-914C-CD1E34E78EE5}"/>
                  </a:ext>
                </a:extLst>
              </p:cNvPr>
              <p:cNvSpPr>
                <a:spLocks noChangeShapeType="1"/>
              </p:cNvSpPr>
              <p:nvPr/>
            </p:nvSpPr>
            <p:spPr bwMode="auto">
              <a:xfrm>
                <a:off x="474" y="2036"/>
                <a:ext cx="29"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2" name="Line 135">
                <a:extLst>
                  <a:ext uri="{FF2B5EF4-FFF2-40B4-BE49-F238E27FC236}">
                    <a16:creationId xmlns:a16="http://schemas.microsoft.com/office/drawing/2014/main" id="{A503F96C-4261-4945-9294-B063EC8D1DA2}"/>
                  </a:ext>
                </a:extLst>
              </p:cNvPr>
              <p:cNvSpPr>
                <a:spLocks noChangeShapeType="1"/>
              </p:cNvSpPr>
              <p:nvPr/>
            </p:nvSpPr>
            <p:spPr bwMode="auto">
              <a:xfrm>
                <a:off x="484" y="2052"/>
                <a:ext cx="22"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3" name="Line 136">
                <a:extLst>
                  <a:ext uri="{FF2B5EF4-FFF2-40B4-BE49-F238E27FC236}">
                    <a16:creationId xmlns:a16="http://schemas.microsoft.com/office/drawing/2014/main" id="{721443ED-8757-4165-AF5B-5F7C2C6C729F}"/>
                  </a:ext>
                </a:extLst>
              </p:cNvPr>
              <p:cNvSpPr>
                <a:spLocks noChangeShapeType="1"/>
              </p:cNvSpPr>
              <p:nvPr/>
            </p:nvSpPr>
            <p:spPr bwMode="auto">
              <a:xfrm>
                <a:off x="500" y="2063"/>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4" name="Freeform 137">
                <a:extLst>
                  <a:ext uri="{FF2B5EF4-FFF2-40B4-BE49-F238E27FC236}">
                    <a16:creationId xmlns:a16="http://schemas.microsoft.com/office/drawing/2014/main" id="{3FC2E9A2-1249-46E5-BDDF-BEDE26B91E70}"/>
                  </a:ext>
                </a:extLst>
              </p:cNvPr>
              <p:cNvSpPr>
                <a:spLocks/>
              </p:cNvSpPr>
              <p:nvPr/>
            </p:nvSpPr>
            <p:spPr bwMode="auto">
              <a:xfrm>
                <a:off x="944" y="1624"/>
                <a:ext cx="176" cy="97"/>
              </a:xfrm>
              <a:custGeom>
                <a:avLst/>
                <a:gdLst>
                  <a:gd name="T0" fmla="*/ 176 w 176"/>
                  <a:gd name="T1" fmla="*/ 0 h 97"/>
                  <a:gd name="T2" fmla="*/ 154 w 176"/>
                  <a:gd name="T3" fmla="*/ 0 h 97"/>
                  <a:gd name="T4" fmla="*/ 133 w 176"/>
                  <a:gd name="T5" fmla="*/ 0 h 97"/>
                  <a:gd name="T6" fmla="*/ 104 w 176"/>
                  <a:gd name="T7" fmla="*/ 8 h 97"/>
                  <a:gd name="T8" fmla="*/ 77 w 176"/>
                  <a:gd name="T9" fmla="*/ 16 h 97"/>
                  <a:gd name="T10" fmla="*/ 42 w 176"/>
                  <a:gd name="T11" fmla="*/ 32 h 97"/>
                  <a:gd name="T12" fmla="*/ 8 w 176"/>
                  <a:gd name="T13" fmla="*/ 48 h 97"/>
                  <a:gd name="T14" fmla="*/ 2 w 176"/>
                  <a:gd name="T15" fmla="*/ 56 h 97"/>
                  <a:gd name="T16" fmla="*/ 0 w 176"/>
                  <a:gd name="T17" fmla="*/ 62 h 97"/>
                  <a:gd name="T18" fmla="*/ 2 w 176"/>
                  <a:gd name="T19" fmla="*/ 72 h 97"/>
                  <a:gd name="T20" fmla="*/ 5 w 176"/>
                  <a:gd name="T21" fmla="*/ 80 h 97"/>
                  <a:gd name="T22" fmla="*/ 29 w 176"/>
                  <a:gd name="T23" fmla="*/ 86 h 97"/>
                  <a:gd name="T24" fmla="*/ 56 w 176"/>
                  <a:gd name="T25" fmla="*/ 94 h 97"/>
                  <a:gd name="T26" fmla="*/ 88 w 176"/>
                  <a:gd name="T27" fmla="*/ 94 h 97"/>
                  <a:gd name="T28" fmla="*/ 120 w 176"/>
                  <a:gd name="T29" fmla="*/ 97 h 97"/>
                  <a:gd name="T30" fmla="*/ 117 w 176"/>
                  <a:gd name="T31" fmla="*/ 86 h 97"/>
                  <a:gd name="T32" fmla="*/ 114 w 176"/>
                  <a:gd name="T33" fmla="*/ 75 h 97"/>
                  <a:gd name="T34" fmla="*/ 112 w 176"/>
                  <a:gd name="T35" fmla="*/ 59 h 97"/>
                  <a:gd name="T36" fmla="*/ 109 w 176"/>
                  <a:gd name="T37" fmla="*/ 43 h 97"/>
                  <a:gd name="T38" fmla="*/ 117 w 176"/>
                  <a:gd name="T39" fmla="*/ 35 h 97"/>
                  <a:gd name="T40" fmla="*/ 122 w 176"/>
                  <a:gd name="T41" fmla="*/ 27 h 97"/>
                  <a:gd name="T42" fmla="*/ 149 w 176"/>
                  <a:gd name="T43" fmla="*/ 14 h 97"/>
                  <a:gd name="T44" fmla="*/ 176 w 176"/>
                  <a:gd name="T45"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6" h="97">
                    <a:moveTo>
                      <a:pt x="176" y="0"/>
                    </a:moveTo>
                    <a:lnTo>
                      <a:pt x="154" y="0"/>
                    </a:lnTo>
                    <a:lnTo>
                      <a:pt x="133" y="0"/>
                    </a:lnTo>
                    <a:lnTo>
                      <a:pt x="104" y="8"/>
                    </a:lnTo>
                    <a:lnTo>
                      <a:pt x="77" y="16"/>
                    </a:lnTo>
                    <a:lnTo>
                      <a:pt x="42" y="32"/>
                    </a:lnTo>
                    <a:lnTo>
                      <a:pt x="8" y="48"/>
                    </a:lnTo>
                    <a:lnTo>
                      <a:pt x="2" y="56"/>
                    </a:lnTo>
                    <a:lnTo>
                      <a:pt x="0" y="62"/>
                    </a:lnTo>
                    <a:lnTo>
                      <a:pt x="2" y="72"/>
                    </a:lnTo>
                    <a:lnTo>
                      <a:pt x="5" y="80"/>
                    </a:lnTo>
                    <a:lnTo>
                      <a:pt x="29" y="86"/>
                    </a:lnTo>
                    <a:lnTo>
                      <a:pt x="56" y="94"/>
                    </a:lnTo>
                    <a:lnTo>
                      <a:pt x="88" y="94"/>
                    </a:lnTo>
                    <a:lnTo>
                      <a:pt x="120" y="97"/>
                    </a:lnTo>
                    <a:lnTo>
                      <a:pt x="117" y="86"/>
                    </a:lnTo>
                    <a:lnTo>
                      <a:pt x="114" y="75"/>
                    </a:lnTo>
                    <a:lnTo>
                      <a:pt x="112" y="59"/>
                    </a:lnTo>
                    <a:lnTo>
                      <a:pt x="109" y="43"/>
                    </a:lnTo>
                    <a:lnTo>
                      <a:pt x="117" y="35"/>
                    </a:lnTo>
                    <a:lnTo>
                      <a:pt x="122" y="27"/>
                    </a:lnTo>
                    <a:lnTo>
                      <a:pt x="149" y="14"/>
                    </a:lnTo>
                    <a:lnTo>
                      <a:pt x="176"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5" name="Freeform 138">
                <a:extLst>
                  <a:ext uri="{FF2B5EF4-FFF2-40B4-BE49-F238E27FC236}">
                    <a16:creationId xmlns:a16="http://schemas.microsoft.com/office/drawing/2014/main" id="{9C6BE337-550A-4A49-8C1B-B5D5FA9C2B73}"/>
                  </a:ext>
                </a:extLst>
              </p:cNvPr>
              <p:cNvSpPr>
                <a:spLocks/>
              </p:cNvSpPr>
              <p:nvPr/>
            </p:nvSpPr>
            <p:spPr bwMode="auto">
              <a:xfrm>
                <a:off x="944" y="1624"/>
                <a:ext cx="176" cy="97"/>
              </a:xfrm>
              <a:custGeom>
                <a:avLst/>
                <a:gdLst>
                  <a:gd name="T0" fmla="*/ 176 w 176"/>
                  <a:gd name="T1" fmla="*/ 0 h 97"/>
                  <a:gd name="T2" fmla="*/ 154 w 176"/>
                  <a:gd name="T3" fmla="*/ 0 h 97"/>
                  <a:gd name="T4" fmla="*/ 133 w 176"/>
                  <a:gd name="T5" fmla="*/ 0 h 97"/>
                  <a:gd name="T6" fmla="*/ 104 w 176"/>
                  <a:gd name="T7" fmla="*/ 8 h 97"/>
                  <a:gd name="T8" fmla="*/ 77 w 176"/>
                  <a:gd name="T9" fmla="*/ 16 h 97"/>
                  <a:gd name="T10" fmla="*/ 42 w 176"/>
                  <a:gd name="T11" fmla="*/ 32 h 97"/>
                  <a:gd name="T12" fmla="*/ 8 w 176"/>
                  <a:gd name="T13" fmla="*/ 48 h 97"/>
                  <a:gd name="T14" fmla="*/ 2 w 176"/>
                  <a:gd name="T15" fmla="*/ 56 h 97"/>
                  <a:gd name="T16" fmla="*/ 0 w 176"/>
                  <a:gd name="T17" fmla="*/ 62 h 97"/>
                  <a:gd name="T18" fmla="*/ 2 w 176"/>
                  <a:gd name="T19" fmla="*/ 72 h 97"/>
                  <a:gd name="T20" fmla="*/ 5 w 176"/>
                  <a:gd name="T21" fmla="*/ 80 h 97"/>
                  <a:gd name="T22" fmla="*/ 29 w 176"/>
                  <a:gd name="T23" fmla="*/ 86 h 97"/>
                  <a:gd name="T24" fmla="*/ 56 w 176"/>
                  <a:gd name="T25" fmla="*/ 94 h 97"/>
                  <a:gd name="T26" fmla="*/ 88 w 176"/>
                  <a:gd name="T27" fmla="*/ 94 h 97"/>
                  <a:gd name="T28" fmla="*/ 120 w 176"/>
                  <a:gd name="T29" fmla="*/ 97 h 97"/>
                  <a:gd name="T30" fmla="*/ 117 w 176"/>
                  <a:gd name="T31" fmla="*/ 86 h 97"/>
                  <a:gd name="T32" fmla="*/ 114 w 176"/>
                  <a:gd name="T33" fmla="*/ 75 h 97"/>
                  <a:gd name="T34" fmla="*/ 112 w 176"/>
                  <a:gd name="T35" fmla="*/ 59 h 97"/>
                  <a:gd name="T36" fmla="*/ 109 w 176"/>
                  <a:gd name="T37" fmla="*/ 43 h 97"/>
                  <a:gd name="T38" fmla="*/ 117 w 176"/>
                  <a:gd name="T39" fmla="*/ 35 h 97"/>
                  <a:gd name="T40" fmla="*/ 122 w 176"/>
                  <a:gd name="T41" fmla="*/ 27 h 97"/>
                  <a:gd name="T42" fmla="*/ 149 w 176"/>
                  <a:gd name="T43" fmla="*/ 14 h 97"/>
                  <a:gd name="T44" fmla="*/ 176 w 176"/>
                  <a:gd name="T45"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6" h="97">
                    <a:moveTo>
                      <a:pt x="176" y="0"/>
                    </a:moveTo>
                    <a:lnTo>
                      <a:pt x="154" y="0"/>
                    </a:lnTo>
                    <a:lnTo>
                      <a:pt x="133" y="0"/>
                    </a:lnTo>
                    <a:lnTo>
                      <a:pt x="104" y="8"/>
                    </a:lnTo>
                    <a:lnTo>
                      <a:pt x="77" y="16"/>
                    </a:lnTo>
                    <a:lnTo>
                      <a:pt x="42" y="32"/>
                    </a:lnTo>
                    <a:lnTo>
                      <a:pt x="8" y="48"/>
                    </a:lnTo>
                    <a:lnTo>
                      <a:pt x="2" y="56"/>
                    </a:lnTo>
                    <a:lnTo>
                      <a:pt x="0" y="62"/>
                    </a:lnTo>
                    <a:lnTo>
                      <a:pt x="2" y="72"/>
                    </a:lnTo>
                    <a:lnTo>
                      <a:pt x="5" y="80"/>
                    </a:lnTo>
                    <a:lnTo>
                      <a:pt x="29" y="86"/>
                    </a:lnTo>
                    <a:lnTo>
                      <a:pt x="56" y="94"/>
                    </a:lnTo>
                    <a:lnTo>
                      <a:pt x="88" y="94"/>
                    </a:lnTo>
                    <a:lnTo>
                      <a:pt x="120" y="97"/>
                    </a:lnTo>
                    <a:lnTo>
                      <a:pt x="117" y="86"/>
                    </a:lnTo>
                    <a:lnTo>
                      <a:pt x="114" y="75"/>
                    </a:lnTo>
                    <a:lnTo>
                      <a:pt x="112" y="59"/>
                    </a:lnTo>
                    <a:lnTo>
                      <a:pt x="109" y="43"/>
                    </a:lnTo>
                    <a:lnTo>
                      <a:pt x="117" y="35"/>
                    </a:lnTo>
                    <a:lnTo>
                      <a:pt x="122" y="27"/>
                    </a:lnTo>
                    <a:lnTo>
                      <a:pt x="149" y="14"/>
                    </a:lnTo>
                    <a:lnTo>
                      <a:pt x="176"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6" name="Freeform 139">
                <a:extLst>
                  <a:ext uri="{FF2B5EF4-FFF2-40B4-BE49-F238E27FC236}">
                    <a16:creationId xmlns:a16="http://schemas.microsoft.com/office/drawing/2014/main" id="{B4B27C6C-49DE-4752-8EFE-75C94A79AF0D}"/>
                  </a:ext>
                </a:extLst>
              </p:cNvPr>
              <p:cNvSpPr>
                <a:spLocks/>
              </p:cNvSpPr>
              <p:nvPr/>
            </p:nvSpPr>
            <p:spPr bwMode="auto">
              <a:xfrm>
                <a:off x="1029" y="1624"/>
                <a:ext cx="88" cy="97"/>
              </a:xfrm>
              <a:custGeom>
                <a:avLst/>
                <a:gdLst>
                  <a:gd name="T0" fmla="*/ 88 w 88"/>
                  <a:gd name="T1" fmla="*/ 0 h 97"/>
                  <a:gd name="T2" fmla="*/ 40 w 88"/>
                  <a:gd name="T3" fmla="*/ 8 h 97"/>
                  <a:gd name="T4" fmla="*/ 16 w 88"/>
                  <a:gd name="T5" fmla="*/ 27 h 97"/>
                  <a:gd name="T6" fmla="*/ 3 w 88"/>
                  <a:gd name="T7" fmla="*/ 48 h 97"/>
                  <a:gd name="T8" fmla="*/ 0 w 88"/>
                  <a:gd name="T9" fmla="*/ 64 h 97"/>
                  <a:gd name="T10" fmla="*/ 11 w 88"/>
                  <a:gd name="T11" fmla="*/ 83 h 97"/>
                  <a:gd name="T12" fmla="*/ 35 w 88"/>
                  <a:gd name="T13" fmla="*/ 97 h 97"/>
                </a:gdLst>
                <a:ahLst/>
                <a:cxnLst>
                  <a:cxn ang="0">
                    <a:pos x="T0" y="T1"/>
                  </a:cxn>
                  <a:cxn ang="0">
                    <a:pos x="T2" y="T3"/>
                  </a:cxn>
                  <a:cxn ang="0">
                    <a:pos x="T4" y="T5"/>
                  </a:cxn>
                  <a:cxn ang="0">
                    <a:pos x="T6" y="T7"/>
                  </a:cxn>
                  <a:cxn ang="0">
                    <a:pos x="T8" y="T9"/>
                  </a:cxn>
                  <a:cxn ang="0">
                    <a:pos x="T10" y="T11"/>
                  </a:cxn>
                  <a:cxn ang="0">
                    <a:pos x="T12" y="T13"/>
                  </a:cxn>
                </a:cxnLst>
                <a:rect l="0" t="0" r="r" b="b"/>
                <a:pathLst>
                  <a:path w="88" h="97">
                    <a:moveTo>
                      <a:pt x="88" y="0"/>
                    </a:moveTo>
                    <a:lnTo>
                      <a:pt x="40" y="8"/>
                    </a:lnTo>
                    <a:lnTo>
                      <a:pt x="16" y="27"/>
                    </a:lnTo>
                    <a:lnTo>
                      <a:pt x="3" y="48"/>
                    </a:lnTo>
                    <a:lnTo>
                      <a:pt x="0" y="64"/>
                    </a:lnTo>
                    <a:lnTo>
                      <a:pt x="11" y="83"/>
                    </a:lnTo>
                    <a:lnTo>
                      <a:pt x="35" y="97"/>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7" name="Line 140">
                <a:extLst>
                  <a:ext uri="{FF2B5EF4-FFF2-40B4-BE49-F238E27FC236}">
                    <a16:creationId xmlns:a16="http://schemas.microsoft.com/office/drawing/2014/main" id="{5CF821D2-5D5F-4255-8FD3-376F1414C698}"/>
                  </a:ext>
                </a:extLst>
              </p:cNvPr>
              <p:cNvSpPr>
                <a:spLocks noChangeShapeType="1"/>
              </p:cNvSpPr>
              <p:nvPr/>
            </p:nvSpPr>
            <p:spPr bwMode="auto">
              <a:xfrm>
                <a:off x="1104" y="1627"/>
                <a:ext cx="2"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8" name="Line 141">
                <a:extLst>
                  <a:ext uri="{FF2B5EF4-FFF2-40B4-BE49-F238E27FC236}">
                    <a16:creationId xmlns:a16="http://schemas.microsoft.com/office/drawing/2014/main" id="{B860899C-00F9-41FD-8A46-4EF7A842BE83}"/>
                  </a:ext>
                </a:extLst>
              </p:cNvPr>
              <p:cNvSpPr>
                <a:spLocks noChangeShapeType="1"/>
              </p:cNvSpPr>
              <p:nvPr/>
            </p:nvSpPr>
            <p:spPr bwMode="auto">
              <a:xfrm>
                <a:off x="1090" y="1630"/>
                <a:ext cx="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9" name="Line 142">
                <a:extLst>
                  <a:ext uri="{FF2B5EF4-FFF2-40B4-BE49-F238E27FC236}">
                    <a16:creationId xmlns:a16="http://schemas.microsoft.com/office/drawing/2014/main" id="{13ADEA97-72BE-4250-B043-951829E93A2C}"/>
                  </a:ext>
                </a:extLst>
              </p:cNvPr>
              <p:cNvSpPr>
                <a:spLocks noChangeShapeType="1"/>
              </p:cNvSpPr>
              <p:nvPr/>
            </p:nvSpPr>
            <p:spPr bwMode="auto">
              <a:xfrm>
                <a:off x="1074" y="1632"/>
                <a:ext cx="6"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0" name="Line 143">
                <a:extLst>
                  <a:ext uri="{FF2B5EF4-FFF2-40B4-BE49-F238E27FC236}">
                    <a16:creationId xmlns:a16="http://schemas.microsoft.com/office/drawing/2014/main" id="{2AF910E7-1357-4513-9379-D2FA8251E2C8}"/>
                  </a:ext>
                </a:extLst>
              </p:cNvPr>
              <p:cNvSpPr>
                <a:spLocks noChangeShapeType="1"/>
              </p:cNvSpPr>
              <p:nvPr/>
            </p:nvSpPr>
            <p:spPr bwMode="auto">
              <a:xfrm>
                <a:off x="1061" y="1640"/>
                <a:ext cx="1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1" name="Line 144">
                <a:extLst>
                  <a:ext uri="{FF2B5EF4-FFF2-40B4-BE49-F238E27FC236}">
                    <a16:creationId xmlns:a16="http://schemas.microsoft.com/office/drawing/2014/main" id="{C391D18A-8B10-46E1-891A-6314B5134844}"/>
                  </a:ext>
                </a:extLst>
              </p:cNvPr>
              <p:cNvSpPr>
                <a:spLocks noChangeShapeType="1"/>
              </p:cNvSpPr>
              <p:nvPr/>
            </p:nvSpPr>
            <p:spPr bwMode="auto">
              <a:xfrm>
                <a:off x="1050" y="1648"/>
                <a:ext cx="14"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2" name="Line 145">
                <a:extLst>
                  <a:ext uri="{FF2B5EF4-FFF2-40B4-BE49-F238E27FC236}">
                    <a16:creationId xmlns:a16="http://schemas.microsoft.com/office/drawing/2014/main" id="{32CBCAD8-157B-4B7B-B42F-F58C6DCD7BFD}"/>
                  </a:ext>
                </a:extLst>
              </p:cNvPr>
              <p:cNvSpPr>
                <a:spLocks noChangeShapeType="1"/>
              </p:cNvSpPr>
              <p:nvPr/>
            </p:nvSpPr>
            <p:spPr bwMode="auto">
              <a:xfrm>
                <a:off x="1045" y="1656"/>
                <a:ext cx="11"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3" name="Line 146">
                <a:extLst>
                  <a:ext uri="{FF2B5EF4-FFF2-40B4-BE49-F238E27FC236}">
                    <a16:creationId xmlns:a16="http://schemas.microsoft.com/office/drawing/2014/main" id="{F0C64FCB-8253-4048-A901-0A99B3816603}"/>
                  </a:ext>
                </a:extLst>
              </p:cNvPr>
              <p:cNvSpPr>
                <a:spLocks noChangeShapeType="1"/>
              </p:cNvSpPr>
              <p:nvPr/>
            </p:nvSpPr>
            <p:spPr bwMode="auto">
              <a:xfrm>
                <a:off x="1037" y="1664"/>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4" name="Line 147">
                <a:extLst>
                  <a:ext uri="{FF2B5EF4-FFF2-40B4-BE49-F238E27FC236}">
                    <a16:creationId xmlns:a16="http://schemas.microsoft.com/office/drawing/2014/main" id="{8A161D48-B2C8-44C4-9407-3594D6F38314}"/>
                  </a:ext>
                </a:extLst>
              </p:cNvPr>
              <p:cNvSpPr>
                <a:spLocks noChangeShapeType="1"/>
              </p:cNvSpPr>
              <p:nvPr/>
            </p:nvSpPr>
            <p:spPr bwMode="auto">
              <a:xfrm>
                <a:off x="1032" y="1678"/>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5" name="Line 148">
                <a:extLst>
                  <a:ext uri="{FF2B5EF4-FFF2-40B4-BE49-F238E27FC236}">
                    <a16:creationId xmlns:a16="http://schemas.microsoft.com/office/drawing/2014/main" id="{0F46284B-3804-4039-8D00-B6AEF898E6CD}"/>
                  </a:ext>
                </a:extLst>
              </p:cNvPr>
              <p:cNvSpPr>
                <a:spLocks noChangeShapeType="1"/>
              </p:cNvSpPr>
              <p:nvPr/>
            </p:nvSpPr>
            <p:spPr bwMode="auto">
              <a:xfrm>
                <a:off x="1029" y="1688"/>
                <a:ext cx="24"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 name="Line 149">
                <a:extLst>
                  <a:ext uri="{FF2B5EF4-FFF2-40B4-BE49-F238E27FC236}">
                    <a16:creationId xmlns:a16="http://schemas.microsoft.com/office/drawing/2014/main" id="{AC83E9E8-1BEE-4931-B8CB-7A09F71A49BA}"/>
                  </a:ext>
                </a:extLst>
              </p:cNvPr>
              <p:cNvSpPr>
                <a:spLocks noChangeShapeType="1"/>
              </p:cNvSpPr>
              <p:nvPr/>
            </p:nvSpPr>
            <p:spPr bwMode="auto">
              <a:xfrm>
                <a:off x="1040" y="1704"/>
                <a:ext cx="16"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7" name="Line 150">
                <a:extLst>
                  <a:ext uri="{FF2B5EF4-FFF2-40B4-BE49-F238E27FC236}">
                    <a16:creationId xmlns:a16="http://schemas.microsoft.com/office/drawing/2014/main" id="{CB19194A-8493-432D-BEB8-5ED5F4D27C8A}"/>
                  </a:ext>
                </a:extLst>
              </p:cNvPr>
              <p:cNvSpPr>
                <a:spLocks noChangeShapeType="1"/>
              </p:cNvSpPr>
              <p:nvPr/>
            </p:nvSpPr>
            <p:spPr bwMode="auto">
              <a:xfrm>
                <a:off x="1053" y="1710"/>
                <a:ext cx="8"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8" name="Freeform 151">
                <a:extLst>
                  <a:ext uri="{FF2B5EF4-FFF2-40B4-BE49-F238E27FC236}">
                    <a16:creationId xmlns:a16="http://schemas.microsoft.com/office/drawing/2014/main" id="{9EA07BE3-D3CD-4172-A066-56548D5B7C78}"/>
                  </a:ext>
                </a:extLst>
              </p:cNvPr>
              <p:cNvSpPr>
                <a:spLocks/>
              </p:cNvSpPr>
              <p:nvPr/>
            </p:nvSpPr>
            <p:spPr bwMode="auto">
              <a:xfrm>
                <a:off x="1066" y="1472"/>
                <a:ext cx="131" cy="72"/>
              </a:xfrm>
              <a:custGeom>
                <a:avLst/>
                <a:gdLst>
                  <a:gd name="T0" fmla="*/ 131 w 131"/>
                  <a:gd name="T1" fmla="*/ 0 h 72"/>
                  <a:gd name="T2" fmla="*/ 115 w 131"/>
                  <a:gd name="T3" fmla="*/ 0 h 72"/>
                  <a:gd name="T4" fmla="*/ 99 w 131"/>
                  <a:gd name="T5" fmla="*/ 0 h 72"/>
                  <a:gd name="T6" fmla="*/ 78 w 131"/>
                  <a:gd name="T7" fmla="*/ 8 h 72"/>
                  <a:gd name="T8" fmla="*/ 56 w 131"/>
                  <a:gd name="T9" fmla="*/ 13 h 72"/>
                  <a:gd name="T10" fmla="*/ 32 w 131"/>
                  <a:gd name="T11" fmla="*/ 24 h 72"/>
                  <a:gd name="T12" fmla="*/ 6 w 131"/>
                  <a:gd name="T13" fmla="*/ 37 h 72"/>
                  <a:gd name="T14" fmla="*/ 3 w 131"/>
                  <a:gd name="T15" fmla="*/ 43 h 72"/>
                  <a:gd name="T16" fmla="*/ 0 w 131"/>
                  <a:gd name="T17" fmla="*/ 48 h 72"/>
                  <a:gd name="T18" fmla="*/ 3 w 131"/>
                  <a:gd name="T19" fmla="*/ 53 h 72"/>
                  <a:gd name="T20" fmla="*/ 3 w 131"/>
                  <a:gd name="T21" fmla="*/ 61 h 72"/>
                  <a:gd name="T22" fmla="*/ 22 w 131"/>
                  <a:gd name="T23" fmla="*/ 67 h 72"/>
                  <a:gd name="T24" fmla="*/ 40 w 131"/>
                  <a:gd name="T25" fmla="*/ 72 h 72"/>
                  <a:gd name="T26" fmla="*/ 67 w 131"/>
                  <a:gd name="T27" fmla="*/ 72 h 72"/>
                  <a:gd name="T28" fmla="*/ 91 w 131"/>
                  <a:gd name="T29" fmla="*/ 72 h 72"/>
                  <a:gd name="T30" fmla="*/ 88 w 131"/>
                  <a:gd name="T31" fmla="*/ 67 h 72"/>
                  <a:gd name="T32" fmla="*/ 86 w 131"/>
                  <a:gd name="T33" fmla="*/ 59 h 72"/>
                  <a:gd name="T34" fmla="*/ 83 w 131"/>
                  <a:gd name="T35" fmla="*/ 45 h 72"/>
                  <a:gd name="T36" fmla="*/ 83 w 131"/>
                  <a:gd name="T37" fmla="*/ 35 h 72"/>
                  <a:gd name="T38" fmla="*/ 86 w 131"/>
                  <a:gd name="T39" fmla="*/ 29 h 72"/>
                  <a:gd name="T40" fmla="*/ 91 w 131"/>
                  <a:gd name="T41" fmla="*/ 21 h 72"/>
                  <a:gd name="T42" fmla="*/ 113 w 131"/>
                  <a:gd name="T43" fmla="*/ 11 h 72"/>
                  <a:gd name="T44" fmla="*/ 131 w 131"/>
                  <a:gd name="T4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72">
                    <a:moveTo>
                      <a:pt x="131" y="0"/>
                    </a:moveTo>
                    <a:lnTo>
                      <a:pt x="115" y="0"/>
                    </a:lnTo>
                    <a:lnTo>
                      <a:pt x="99" y="0"/>
                    </a:lnTo>
                    <a:lnTo>
                      <a:pt x="78" y="8"/>
                    </a:lnTo>
                    <a:lnTo>
                      <a:pt x="56" y="13"/>
                    </a:lnTo>
                    <a:lnTo>
                      <a:pt x="32" y="24"/>
                    </a:lnTo>
                    <a:lnTo>
                      <a:pt x="6" y="37"/>
                    </a:lnTo>
                    <a:lnTo>
                      <a:pt x="3" y="43"/>
                    </a:lnTo>
                    <a:lnTo>
                      <a:pt x="0" y="48"/>
                    </a:lnTo>
                    <a:lnTo>
                      <a:pt x="3" y="53"/>
                    </a:lnTo>
                    <a:lnTo>
                      <a:pt x="3" y="61"/>
                    </a:lnTo>
                    <a:lnTo>
                      <a:pt x="22" y="67"/>
                    </a:lnTo>
                    <a:lnTo>
                      <a:pt x="40" y="72"/>
                    </a:lnTo>
                    <a:lnTo>
                      <a:pt x="67" y="72"/>
                    </a:lnTo>
                    <a:lnTo>
                      <a:pt x="91" y="72"/>
                    </a:lnTo>
                    <a:lnTo>
                      <a:pt x="88" y="67"/>
                    </a:lnTo>
                    <a:lnTo>
                      <a:pt x="86" y="59"/>
                    </a:lnTo>
                    <a:lnTo>
                      <a:pt x="83" y="45"/>
                    </a:lnTo>
                    <a:lnTo>
                      <a:pt x="83" y="35"/>
                    </a:lnTo>
                    <a:lnTo>
                      <a:pt x="86" y="29"/>
                    </a:lnTo>
                    <a:lnTo>
                      <a:pt x="91" y="21"/>
                    </a:lnTo>
                    <a:lnTo>
                      <a:pt x="113" y="11"/>
                    </a:lnTo>
                    <a:lnTo>
                      <a:pt x="131"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9" name="Freeform 152">
                <a:extLst>
                  <a:ext uri="{FF2B5EF4-FFF2-40B4-BE49-F238E27FC236}">
                    <a16:creationId xmlns:a16="http://schemas.microsoft.com/office/drawing/2014/main" id="{A3AE6DB6-320A-4060-A4CC-E491053A7CD8}"/>
                  </a:ext>
                </a:extLst>
              </p:cNvPr>
              <p:cNvSpPr>
                <a:spLocks/>
              </p:cNvSpPr>
              <p:nvPr/>
            </p:nvSpPr>
            <p:spPr bwMode="auto">
              <a:xfrm>
                <a:off x="1066" y="1472"/>
                <a:ext cx="131" cy="72"/>
              </a:xfrm>
              <a:custGeom>
                <a:avLst/>
                <a:gdLst>
                  <a:gd name="T0" fmla="*/ 131 w 131"/>
                  <a:gd name="T1" fmla="*/ 0 h 72"/>
                  <a:gd name="T2" fmla="*/ 115 w 131"/>
                  <a:gd name="T3" fmla="*/ 0 h 72"/>
                  <a:gd name="T4" fmla="*/ 99 w 131"/>
                  <a:gd name="T5" fmla="*/ 0 h 72"/>
                  <a:gd name="T6" fmla="*/ 78 w 131"/>
                  <a:gd name="T7" fmla="*/ 8 h 72"/>
                  <a:gd name="T8" fmla="*/ 56 w 131"/>
                  <a:gd name="T9" fmla="*/ 13 h 72"/>
                  <a:gd name="T10" fmla="*/ 32 w 131"/>
                  <a:gd name="T11" fmla="*/ 24 h 72"/>
                  <a:gd name="T12" fmla="*/ 6 w 131"/>
                  <a:gd name="T13" fmla="*/ 37 h 72"/>
                  <a:gd name="T14" fmla="*/ 3 w 131"/>
                  <a:gd name="T15" fmla="*/ 43 h 72"/>
                  <a:gd name="T16" fmla="*/ 0 w 131"/>
                  <a:gd name="T17" fmla="*/ 48 h 72"/>
                  <a:gd name="T18" fmla="*/ 3 w 131"/>
                  <a:gd name="T19" fmla="*/ 53 h 72"/>
                  <a:gd name="T20" fmla="*/ 3 w 131"/>
                  <a:gd name="T21" fmla="*/ 61 h 72"/>
                  <a:gd name="T22" fmla="*/ 22 w 131"/>
                  <a:gd name="T23" fmla="*/ 67 h 72"/>
                  <a:gd name="T24" fmla="*/ 40 w 131"/>
                  <a:gd name="T25" fmla="*/ 72 h 72"/>
                  <a:gd name="T26" fmla="*/ 67 w 131"/>
                  <a:gd name="T27" fmla="*/ 72 h 72"/>
                  <a:gd name="T28" fmla="*/ 91 w 131"/>
                  <a:gd name="T29" fmla="*/ 72 h 72"/>
                  <a:gd name="T30" fmla="*/ 88 w 131"/>
                  <a:gd name="T31" fmla="*/ 67 h 72"/>
                  <a:gd name="T32" fmla="*/ 86 w 131"/>
                  <a:gd name="T33" fmla="*/ 59 h 72"/>
                  <a:gd name="T34" fmla="*/ 83 w 131"/>
                  <a:gd name="T35" fmla="*/ 45 h 72"/>
                  <a:gd name="T36" fmla="*/ 83 w 131"/>
                  <a:gd name="T37" fmla="*/ 35 h 72"/>
                  <a:gd name="T38" fmla="*/ 86 w 131"/>
                  <a:gd name="T39" fmla="*/ 29 h 72"/>
                  <a:gd name="T40" fmla="*/ 91 w 131"/>
                  <a:gd name="T41" fmla="*/ 21 h 72"/>
                  <a:gd name="T42" fmla="*/ 113 w 131"/>
                  <a:gd name="T43" fmla="*/ 11 h 72"/>
                  <a:gd name="T44" fmla="*/ 131 w 131"/>
                  <a:gd name="T4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72">
                    <a:moveTo>
                      <a:pt x="131" y="0"/>
                    </a:moveTo>
                    <a:lnTo>
                      <a:pt x="115" y="0"/>
                    </a:lnTo>
                    <a:lnTo>
                      <a:pt x="99" y="0"/>
                    </a:lnTo>
                    <a:lnTo>
                      <a:pt x="78" y="8"/>
                    </a:lnTo>
                    <a:lnTo>
                      <a:pt x="56" y="13"/>
                    </a:lnTo>
                    <a:lnTo>
                      <a:pt x="32" y="24"/>
                    </a:lnTo>
                    <a:lnTo>
                      <a:pt x="6" y="37"/>
                    </a:lnTo>
                    <a:lnTo>
                      <a:pt x="3" y="43"/>
                    </a:lnTo>
                    <a:lnTo>
                      <a:pt x="0" y="48"/>
                    </a:lnTo>
                    <a:lnTo>
                      <a:pt x="3" y="53"/>
                    </a:lnTo>
                    <a:lnTo>
                      <a:pt x="3" y="61"/>
                    </a:lnTo>
                    <a:lnTo>
                      <a:pt x="22" y="67"/>
                    </a:lnTo>
                    <a:lnTo>
                      <a:pt x="40" y="72"/>
                    </a:lnTo>
                    <a:lnTo>
                      <a:pt x="67" y="72"/>
                    </a:lnTo>
                    <a:lnTo>
                      <a:pt x="91" y="72"/>
                    </a:lnTo>
                    <a:lnTo>
                      <a:pt x="88" y="67"/>
                    </a:lnTo>
                    <a:lnTo>
                      <a:pt x="86" y="59"/>
                    </a:lnTo>
                    <a:lnTo>
                      <a:pt x="83" y="45"/>
                    </a:lnTo>
                    <a:lnTo>
                      <a:pt x="83" y="35"/>
                    </a:lnTo>
                    <a:lnTo>
                      <a:pt x="86" y="29"/>
                    </a:lnTo>
                    <a:lnTo>
                      <a:pt x="91" y="21"/>
                    </a:lnTo>
                    <a:lnTo>
                      <a:pt x="113" y="11"/>
                    </a:lnTo>
                    <a:lnTo>
                      <a:pt x="131"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80" name="Freeform 153">
                <a:extLst>
                  <a:ext uri="{FF2B5EF4-FFF2-40B4-BE49-F238E27FC236}">
                    <a16:creationId xmlns:a16="http://schemas.microsoft.com/office/drawing/2014/main" id="{876AAA3B-5000-40A8-8E91-898F6242708A}"/>
                  </a:ext>
                </a:extLst>
              </p:cNvPr>
              <p:cNvSpPr>
                <a:spLocks/>
              </p:cNvSpPr>
              <p:nvPr/>
            </p:nvSpPr>
            <p:spPr bwMode="auto">
              <a:xfrm>
                <a:off x="1130" y="1474"/>
                <a:ext cx="65" cy="70"/>
              </a:xfrm>
              <a:custGeom>
                <a:avLst/>
                <a:gdLst>
                  <a:gd name="T0" fmla="*/ 65 w 65"/>
                  <a:gd name="T1" fmla="*/ 0 h 70"/>
                  <a:gd name="T2" fmla="*/ 30 w 65"/>
                  <a:gd name="T3" fmla="*/ 6 h 70"/>
                  <a:gd name="T4" fmla="*/ 11 w 65"/>
                  <a:gd name="T5" fmla="*/ 19 h 70"/>
                  <a:gd name="T6" fmla="*/ 3 w 65"/>
                  <a:gd name="T7" fmla="*/ 35 h 70"/>
                  <a:gd name="T8" fmla="*/ 0 w 65"/>
                  <a:gd name="T9" fmla="*/ 49 h 70"/>
                  <a:gd name="T10" fmla="*/ 6 w 65"/>
                  <a:gd name="T11" fmla="*/ 59 h 70"/>
                  <a:gd name="T12" fmla="*/ 24 w 65"/>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65" h="70">
                    <a:moveTo>
                      <a:pt x="65" y="0"/>
                    </a:moveTo>
                    <a:lnTo>
                      <a:pt x="30" y="6"/>
                    </a:lnTo>
                    <a:lnTo>
                      <a:pt x="11" y="19"/>
                    </a:lnTo>
                    <a:lnTo>
                      <a:pt x="3" y="35"/>
                    </a:lnTo>
                    <a:lnTo>
                      <a:pt x="0" y="49"/>
                    </a:lnTo>
                    <a:lnTo>
                      <a:pt x="6" y="59"/>
                    </a:lnTo>
                    <a:lnTo>
                      <a:pt x="24" y="7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81" name="Line 154">
                <a:extLst>
                  <a:ext uri="{FF2B5EF4-FFF2-40B4-BE49-F238E27FC236}">
                    <a16:creationId xmlns:a16="http://schemas.microsoft.com/office/drawing/2014/main" id="{FDB7293D-D9C6-4ED7-9CCE-B583F1F1DF16}"/>
                  </a:ext>
                </a:extLst>
              </p:cNvPr>
              <p:cNvSpPr>
                <a:spLocks noChangeShapeType="1"/>
              </p:cNvSpPr>
              <p:nvPr/>
            </p:nvSpPr>
            <p:spPr bwMode="auto">
              <a:xfrm>
                <a:off x="1184" y="1474"/>
                <a:ext cx="3"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2" name="Line 155">
                <a:extLst>
                  <a:ext uri="{FF2B5EF4-FFF2-40B4-BE49-F238E27FC236}">
                    <a16:creationId xmlns:a16="http://schemas.microsoft.com/office/drawing/2014/main" id="{7FB3D33F-77CB-44CA-8CCC-64875E8CF15A}"/>
                  </a:ext>
                </a:extLst>
              </p:cNvPr>
              <p:cNvSpPr>
                <a:spLocks noChangeShapeType="1"/>
              </p:cNvSpPr>
              <p:nvPr/>
            </p:nvSpPr>
            <p:spPr bwMode="auto">
              <a:xfrm>
                <a:off x="1176" y="1477"/>
                <a:ext cx="3"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3" name="Line 156">
                <a:extLst>
                  <a:ext uri="{FF2B5EF4-FFF2-40B4-BE49-F238E27FC236}">
                    <a16:creationId xmlns:a16="http://schemas.microsoft.com/office/drawing/2014/main" id="{0426F2A4-2DC0-43D6-8DE0-2767E3460B54}"/>
                  </a:ext>
                </a:extLst>
              </p:cNvPr>
              <p:cNvSpPr>
                <a:spLocks noChangeShapeType="1"/>
              </p:cNvSpPr>
              <p:nvPr/>
            </p:nvSpPr>
            <p:spPr bwMode="auto">
              <a:xfrm>
                <a:off x="1162" y="1480"/>
                <a:ext cx="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4" name="Line 157">
                <a:extLst>
                  <a:ext uri="{FF2B5EF4-FFF2-40B4-BE49-F238E27FC236}">
                    <a16:creationId xmlns:a16="http://schemas.microsoft.com/office/drawing/2014/main" id="{5A3FED13-7F90-4CBF-B64D-3A37809D689F}"/>
                  </a:ext>
                </a:extLst>
              </p:cNvPr>
              <p:cNvSpPr>
                <a:spLocks noChangeShapeType="1"/>
              </p:cNvSpPr>
              <p:nvPr/>
            </p:nvSpPr>
            <p:spPr bwMode="auto">
              <a:xfrm>
                <a:off x="1152" y="1485"/>
                <a:ext cx="8"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5" name="Line 158">
                <a:extLst>
                  <a:ext uri="{FF2B5EF4-FFF2-40B4-BE49-F238E27FC236}">
                    <a16:creationId xmlns:a16="http://schemas.microsoft.com/office/drawing/2014/main" id="{53BAF826-F239-4031-B7ED-501BF48CDDD6}"/>
                  </a:ext>
                </a:extLst>
              </p:cNvPr>
              <p:cNvSpPr>
                <a:spLocks noChangeShapeType="1"/>
              </p:cNvSpPr>
              <p:nvPr/>
            </p:nvSpPr>
            <p:spPr bwMode="auto">
              <a:xfrm>
                <a:off x="1146" y="1491"/>
                <a:ext cx="8"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6" name="Line 159">
                <a:extLst>
                  <a:ext uri="{FF2B5EF4-FFF2-40B4-BE49-F238E27FC236}">
                    <a16:creationId xmlns:a16="http://schemas.microsoft.com/office/drawing/2014/main" id="{1B8C0ADE-B0BA-456C-B072-5C5F73346DDC}"/>
                  </a:ext>
                </a:extLst>
              </p:cNvPr>
              <p:cNvSpPr>
                <a:spLocks noChangeShapeType="1"/>
              </p:cNvSpPr>
              <p:nvPr/>
            </p:nvSpPr>
            <p:spPr bwMode="auto">
              <a:xfrm>
                <a:off x="1141" y="1499"/>
                <a:ext cx="8"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7" name="Line 160">
                <a:extLst>
                  <a:ext uri="{FF2B5EF4-FFF2-40B4-BE49-F238E27FC236}">
                    <a16:creationId xmlns:a16="http://schemas.microsoft.com/office/drawing/2014/main" id="{BA137FCD-5EED-44CD-A04A-77A83B37F581}"/>
                  </a:ext>
                </a:extLst>
              </p:cNvPr>
              <p:cNvSpPr>
                <a:spLocks noChangeShapeType="1"/>
              </p:cNvSpPr>
              <p:nvPr/>
            </p:nvSpPr>
            <p:spPr bwMode="auto">
              <a:xfrm>
                <a:off x="1136" y="1504"/>
                <a:ext cx="10"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8" name="Line 161">
                <a:extLst>
                  <a:ext uri="{FF2B5EF4-FFF2-40B4-BE49-F238E27FC236}">
                    <a16:creationId xmlns:a16="http://schemas.microsoft.com/office/drawing/2014/main" id="{D5788192-DA08-41A5-B30C-141700FDB443}"/>
                  </a:ext>
                </a:extLst>
              </p:cNvPr>
              <p:cNvSpPr>
                <a:spLocks noChangeShapeType="1"/>
              </p:cNvSpPr>
              <p:nvPr/>
            </p:nvSpPr>
            <p:spPr bwMode="auto">
              <a:xfrm>
                <a:off x="1133" y="1512"/>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9" name="Line 162">
                <a:extLst>
                  <a:ext uri="{FF2B5EF4-FFF2-40B4-BE49-F238E27FC236}">
                    <a16:creationId xmlns:a16="http://schemas.microsoft.com/office/drawing/2014/main" id="{E9D7DB58-C4FD-43A1-9F05-8CA21C52EFC1}"/>
                  </a:ext>
                </a:extLst>
              </p:cNvPr>
              <p:cNvSpPr>
                <a:spLocks noChangeShapeType="1"/>
              </p:cNvSpPr>
              <p:nvPr/>
            </p:nvSpPr>
            <p:spPr bwMode="auto">
              <a:xfrm>
                <a:off x="1130" y="1523"/>
                <a:ext cx="19"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0" name="Line 163">
                <a:extLst>
                  <a:ext uri="{FF2B5EF4-FFF2-40B4-BE49-F238E27FC236}">
                    <a16:creationId xmlns:a16="http://schemas.microsoft.com/office/drawing/2014/main" id="{F9A0FC0F-B1E2-45A0-87B4-BA6B13D1BAF5}"/>
                  </a:ext>
                </a:extLst>
              </p:cNvPr>
              <p:cNvSpPr>
                <a:spLocks noChangeShapeType="1"/>
              </p:cNvSpPr>
              <p:nvPr/>
            </p:nvSpPr>
            <p:spPr bwMode="auto">
              <a:xfrm>
                <a:off x="1136" y="1533"/>
                <a:ext cx="13"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1" name="Line 164">
                <a:extLst>
                  <a:ext uri="{FF2B5EF4-FFF2-40B4-BE49-F238E27FC236}">
                    <a16:creationId xmlns:a16="http://schemas.microsoft.com/office/drawing/2014/main" id="{7FF1BEBA-DA5D-4B1F-8054-4E9F0A5E48B5}"/>
                  </a:ext>
                </a:extLst>
              </p:cNvPr>
              <p:cNvSpPr>
                <a:spLocks noChangeShapeType="1"/>
              </p:cNvSpPr>
              <p:nvPr/>
            </p:nvSpPr>
            <p:spPr bwMode="auto">
              <a:xfrm>
                <a:off x="1146" y="1539"/>
                <a:ext cx="8"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2" name="Freeform 165">
                <a:extLst>
                  <a:ext uri="{FF2B5EF4-FFF2-40B4-BE49-F238E27FC236}">
                    <a16:creationId xmlns:a16="http://schemas.microsoft.com/office/drawing/2014/main" id="{F9B355DB-6F4B-406E-9127-8354C6B29A79}"/>
                  </a:ext>
                </a:extLst>
              </p:cNvPr>
              <p:cNvSpPr>
                <a:spLocks/>
              </p:cNvSpPr>
              <p:nvPr/>
            </p:nvSpPr>
            <p:spPr bwMode="auto">
              <a:xfrm>
                <a:off x="233" y="2055"/>
                <a:ext cx="513" cy="51"/>
              </a:xfrm>
              <a:custGeom>
                <a:avLst/>
                <a:gdLst>
                  <a:gd name="T0" fmla="*/ 513 w 513"/>
                  <a:gd name="T1" fmla="*/ 8 h 51"/>
                  <a:gd name="T2" fmla="*/ 489 w 513"/>
                  <a:gd name="T3" fmla="*/ 0 h 51"/>
                  <a:gd name="T4" fmla="*/ 425 w 513"/>
                  <a:gd name="T5" fmla="*/ 5 h 51"/>
                  <a:gd name="T6" fmla="*/ 150 w 513"/>
                  <a:gd name="T7" fmla="*/ 40 h 51"/>
                  <a:gd name="T8" fmla="*/ 0 w 513"/>
                  <a:gd name="T9" fmla="*/ 51 h 51"/>
                </a:gdLst>
                <a:ahLst/>
                <a:cxnLst>
                  <a:cxn ang="0">
                    <a:pos x="T0" y="T1"/>
                  </a:cxn>
                  <a:cxn ang="0">
                    <a:pos x="T2" y="T3"/>
                  </a:cxn>
                  <a:cxn ang="0">
                    <a:pos x="T4" y="T5"/>
                  </a:cxn>
                  <a:cxn ang="0">
                    <a:pos x="T6" y="T7"/>
                  </a:cxn>
                  <a:cxn ang="0">
                    <a:pos x="T8" y="T9"/>
                  </a:cxn>
                </a:cxnLst>
                <a:rect l="0" t="0" r="r" b="b"/>
                <a:pathLst>
                  <a:path w="513" h="51">
                    <a:moveTo>
                      <a:pt x="513" y="8"/>
                    </a:moveTo>
                    <a:lnTo>
                      <a:pt x="489" y="0"/>
                    </a:lnTo>
                    <a:lnTo>
                      <a:pt x="425" y="5"/>
                    </a:lnTo>
                    <a:lnTo>
                      <a:pt x="150" y="40"/>
                    </a:lnTo>
                    <a:lnTo>
                      <a:pt x="0" y="51"/>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93" name="Line 166">
                <a:extLst>
                  <a:ext uri="{FF2B5EF4-FFF2-40B4-BE49-F238E27FC236}">
                    <a16:creationId xmlns:a16="http://schemas.microsoft.com/office/drawing/2014/main" id="{C5C20966-98E4-47B0-8232-3FEAEA204D96}"/>
                  </a:ext>
                </a:extLst>
              </p:cNvPr>
              <p:cNvSpPr>
                <a:spLocks noChangeShapeType="1"/>
              </p:cNvSpPr>
              <p:nvPr/>
            </p:nvSpPr>
            <p:spPr bwMode="auto">
              <a:xfrm>
                <a:off x="1827" y="1333"/>
                <a:ext cx="38"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4" name="Line 167">
                <a:extLst>
                  <a:ext uri="{FF2B5EF4-FFF2-40B4-BE49-F238E27FC236}">
                    <a16:creationId xmlns:a16="http://schemas.microsoft.com/office/drawing/2014/main" id="{8DB8B035-BEEC-4156-B8BC-3E5E27D9ED95}"/>
                  </a:ext>
                </a:extLst>
              </p:cNvPr>
              <p:cNvSpPr>
                <a:spLocks noChangeShapeType="1"/>
              </p:cNvSpPr>
              <p:nvPr/>
            </p:nvSpPr>
            <p:spPr bwMode="auto">
              <a:xfrm>
                <a:off x="1785" y="1341"/>
                <a:ext cx="32"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5" name="Line 168">
                <a:extLst>
                  <a:ext uri="{FF2B5EF4-FFF2-40B4-BE49-F238E27FC236}">
                    <a16:creationId xmlns:a16="http://schemas.microsoft.com/office/drawing/2014/main" id="{D5611E35-4655-44D6-8B76-71FC361A88B3}"/>
                  </a:ext>
                </a:extLst>
              </p:cNvPr>
              <p:cNvSpPr>
                <a:spLocks noChangeShapeType="1"/>
              </p:cNvSpPr>
              <p:nvPr/>
            </p:nvSpPr>
            <p:spPr bwMode="auto">
              <a:xfrm>
                <a:off x="1723" y="1354"/>
                <a:ext cx="40"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6" name="Line 169">
                <a:extLst>
                  <a:ext uri="{FF2B5EF4-FFF2-40B4-BE49-F238E27FC236}">
                    <a16:creationId xmlns:a16="http://schemas.microsoft.com/office/drawing/2014/main" id="{94A302BD-D6AF-4BB3-A3C8-456BD820C45B}"/>
                  </a:ext>
                </a:extLst>
              </p:cNvPr>
              <p:cNvSpPr>
                <a:spLocks noChangeShapeType="1"/>
              </p:cNvSpPr>
              <p:nvPr/>
            </p:nvSpPr>
            <p:spPr bwMode="auto">
              <a:xfrm>
                <a:off x="1672" y="1376"/>
                <a:ext cx="43" cy="6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7" name="Line 170">
                <a:extLst>
                  <a:ext uri="{FF2B5EF4-FFF2-40B4-BE49-F238E27FC236}">
                    <a16:creationId xmlns:a16="http://schemas.microsoft.com/office/drawing/2014/main" id="{B5E90125-9BFD-47A6-81A0-A83C3DC8DDFE}"/>
                  </a:ext>
                </a:extLst>
              </p:cNvPr>
              <p:cNvSpPr>
                <a:spLocks noChangeShapeType="1"/>
              </p:cNvSpPr>
              <p:nvPr/>
            </p:nvSpPr>
            <p:spPr bwMode="auto">
              <a:xfrm>
                <a:off x="1614" y="1384"/>
                <a:ext cx="42"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8" name="Line 171">
                <a:extLst>
                  <a:ext uri="{FF2B5EF4-FFF2-40B4-BE49-F238E27FC236}">
                    <a16:creationId xmlns:a16="http://schemas.microsoft.com/office/drawing/2014/main" id="{CB16B60E-E655-4080-987E-675E03E2CBD9}"/>
                  </a:ext>
                </a:extLst>
              </p:cNvPr>
              <p:cNvSpPr>
                <a:spLocks noChangeShapeType="1"/>
              </p:cNvSpPr>
              <p:nvPr/>
            </p:nvSpPr>
            <p:spPr bwMode="auto">
              <a:xfrm>
                <a:off x="1550" y="1400"/>
                <a:ext cx="53"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9" name="Line 172">
                <a:extLst>
                  <a:ext uri="{FF2B5EF4-FFF2-40B4-BE49-F238E27FC236}">
                    <a16:creationId xmlns:a16="http://schemas.microsoft.com/office/drawing/2014/main" id="{408DF3DC-C761-480B-BC23-C8FAB3CC60D7}"/>
                  </a:ext>
                </a:extLst>
              </p:cNvPr>
              <p:cNvSpPr>
                <a:spLocks noChangeShapeType="1"/>
              </p:cNvSpPr>
              <p:nvPr/>
            </p:nvSpPr>
            <p:spPr bwMode="auto">
              <a:xfrm>
                <a:off x="1507" y="1426"/>
                <a:ext cx="40"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0" name="Line 173">
                <a:extLst>
                  <a:ext uri="{FF2B5EF4-FFF2-40B4-BE49-F238E27FC236}">
                    <a16:creationId xmlns:a16="http://schemas.microsoft.com/office/drawing/2014/main" id="{AAE640F2-109D-4668-B8DC-E7162887795E}"/>
                  </a:ext>
                </a:extLst>
              </p:cNvPr>
              <p:cNvSpPr>
                <a:spLocks noChangeShapeType="1"/>
              </p:cNvSpPr>
              <p:nvPr/>
            </p:nvSpPr>
            <p:spPr bwMode="auto">
              <a:xfrm>
                <a:off x="1451" y="1442"/>
                <a:ext cx="45"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1" name="Line 174">
                <a:extLst>
                  <a:ext uri="{FF2B5EF4-FFF2-40B4-BE49-F238E27FC236}">
                    <a16:creationId xmlns:a16="http://schemas.microsoft.com/office/drawing/2014/main" id="{2F984A4C-97CE-45CA-9889-5305F4A141F5}"/>
                  </a:ext>
                </a:extLst>
              </p:cNvPr>
              <p:cNvSpPr>
                <a:spLocks noChangeShapeType="1"/>
              </p:cNvSpPr>
              <p:nvPr/>
            </p:nvSpPr>
            <p:spPr bwMode="auto">
              <a:xfrm>
                <a:off x="1397" y="1458"/>
                <a:ext cx="54" cy="5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2" name="Line 175">
                <a:extLst>
                  <a:ext uri="{FF2B5EF4-FFF2-40B4-BE49-F238E27FC236}">
                    <a16:creationId xmlns:a16="http://schemas.microsoft.com/office/drawing/2014/main" id="{8A06A5F0-3632-43AC-8A25-90ABFCE96E20}"/>
                  </a:ext>
                </a:extLst>
              </p:cNvPr>
              <p:cNvSpPr>
                <a:spLocks noChangeShapeType="1"/>
              </p:cNvSpPr>
              <p:nvPr/>
            </p:nvSpPr>
            <p:spPr bwMode="auto">
              <a:xfrm>
                <a:off x="1336" y="1472"/>
                <a:ext cx="72"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3" name="Line 176">
                <a:extLst>
                  <a:ext uri="{FF2B5EF4-FFF2-40B4-BE49-F238E27FC236}">
                    <a16:creationId xmlns:a16="http://schemas.microsoft.com/office/drawing/2014/main" id="{5088F33C-BC3B-4AE4-A5A9-C89F6F29FBE8}"/>
                  </a:ext>
                </a:extLst>
              </p:cNvPr>
              <p:cNvSpPr>
                <a:spLocks noChangeShapeType="1"/>
              </p:cNvSpPr>
              <p:nvPr/>
            </p:nvSpPr>
            <p:spPr bwMode="auto">
              <a:xfrm>
                <a:off x="1285" y="1501"/>
                <a:ext cx="78"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4" name="Line 177">
                <a:extLst>
                  <a:ext uri="{FF2B5EF4-FFF2-40B4-BE49-F238E27FC236}">
                    <a16:creationId xmlns:a16="http://schemas.microsoft.com/office/drawing/2014/main" id="{A7BFACD3-E93A-4DF8-9ADF-687F68A3D5E3}"/>
                  </a:ext>
                </a:extLst>
              </p:cNvPr>
              <p:cNvSpPr>
                <a:spLocks noChangeShapeType="1"/>
              </p:cNvSpPr>
              <p:nvPr/>
            </p:nvSpPr>
            <p:spPr bwMode="auto">
              <a:xfrm>
                <a:off x="1237" y="1536"/>
                <a:ext cx="99"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5" name="Line 178">
                <a:extLst>
                  <a:ext uri="{FF2B5EF4-FFF2-40B4-BE49-F238E27FC236}">
                    <a16:creationId xmlns:a16="http://schemas.microsoft.com/office/drawing/2014/main" id="{A32BEA61-E4E1-4041-97E7-DD203EA25110}"/>
                  </a:ext>
                </a:extLst>
              </p:cNvPr>
              <p:cNvSpPr>
                <a:spLocks noChangeShapeType="1"/>
              </p:cNvSpPr>
              <p:nvPr/>
            </p:nvSpPr>
            <p:spPr bwMode="auto">
              <a:xfrm>
                <a:off x="1200" y="1579"/>
                <a:ext cx="109" cy="4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6" name="Line 179">
                <a:extLst>
                  <a:ext uri="{FF2B5EF4-FFF2-40B4-BE49-F238E27FC236}">
                    <a16:creationId xmlns:a16="http://schemas.microsoft.com/office/drawing/2014/main" id="{7BD3355A-CB55-4B29-80FF-02BD1B4B1C79}"/>
                  </a:ext>
                </a:extLst>
              </p:cNvPr>
              <p:cNvSpPr>
                <a:spLocks noChangeShapeType="1"/>
              </p:cNvSpPr>
              <p:nvPr/>
            </p:nvSpPr>
            <p:spPr bwMode="auto">
              <a:xfrm>
                <a:off x="1213" y="1624"/>
                <a:ext cx="99" cy="2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7" name="Line 180">
                <a:extLst>
                  <a:ext uri="{FF2B5EF4-FFF2-40B4-BE49-F238E27FC236}">
                    <a16:creationId xmlns:a16="http://schemas.microsoft.com/office/drawing/2014/main" id="{F5814C3E-4490-4389-B781-D18C2AAF3286}"/>
                  </a:ext>
                </a:extLst>
              </p:cNvPr>
              <p:cNvSpPr>
                <a:spLocks noChangeShapeType="1"/>
              </p:cNvSpPr>
              <p:nvPr/>
            </p:nvSpPr>
            <p:spPr bwMode="auto">
              <a:xfrm>
                <a:off x="1237" y="1651"/>
                <a:ext cx="80" cy="3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8" name="Line 181">
                <a:extLst>
                  <a:ext uri="{FF2B5EF4-FFF2-40B4-BE49-F238E27FC236}">
                    <a16:creationId xmlns:a16="http://schemas.microsoft.com/office/drawing/2014/main" id="{A7D3C090-6950-4020-A3E0-45B641787870}"/>
                  </a:ext>
                </a:extLst>
              </p:cNvPr>
              <p:cNvSpPr>
                <a:spLocks noChangeShapeType="1"/>
              </p:cNvSpPr>
              <p:nvPr/>
            </p:nvSpPr>
            <p:spPr bwMode="auto">
              <a:xfrm>
                <a:off x="1219" y="1779"/>
                <a:ext cx="42"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9" name="Line 182">
                <a:extLst>
                  <a:ext uri="{FF2B5EF4-FFF2-40B4-BE49-F238E27FC236}">
                    <a16:creationId xmlns:a16="http://schemas.microsoft.com/office/drawing/2014/main" id="{65824E29-3A76-4387-A64A-D871691ACEA3}"/>
                  </a:ext>
                </a:extLst>
              </p:cNvPr>
              <p:cNvSpPr>
                <a:spLocks noChangeShapeType="1"/>
              </p:cNvSpPr>
              <p:nvPr/>
            </p:nvSpPr>
            <p:spPr bwMode="auto">
              <a:xfrm>
                <a:off x="1173" y="1777"/>
                <a:ext cx="27" cy="5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0" name="Line 183">
                <a:extLst>
                  <a:ext uri="{FF2B5EF4-FFF2-40B4-BE49-F238E27FC236}">
                    <a16:creationId xmlns:a16="http://schemas.microsoft.com/office/drawing/2014/main" id="{1B6D03E0-F325-4E36-AC72-68B83F3C09C4}"/>
                  </a:ext>
                </a:extLst>
              </p:cNvPr>
              <p:cNvSpPr>
                <a:spLocks noChangeShapeType="1"/>
              </p:cNvSpPr>
              <p:nvPr/>
            </p:nvSpPr>
            <p:spPr bwMode="auto">
              <a:xfrm>
                <a:off x="1114" y="1787"/>
                <a:ext cx="27" cy="5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1" name="Line 184">
                <a:extLst>
                  <a:ext uri="{FF2B5EF4-FFF2-40B4-BE49-F238E27FC236}">
                    <a16:creationId xmlns:a16="http://schemas.microsoft.com/office/drawing/2014/main" id="{95614EAA-0B98-4B32-A9C0-AAE6DEB0049A}"/>
                  </a:ext>
                </a:extLst>
              </p:cNvPr>
              <p:cNvSpPr>
                <a:spLocks noChangeShapeType="1"/>
              </p:cNvSpPr>
              <p:nvPr/>
            </p:nvSpPr>
            <p:spPr bwMode="auto">
              <a:xfrm>
                <a:off x="1066" y="1803"/>
                <a:ext cx="22"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2" name="Line 185">
                <a:extLst>
                  <a:ext uri="{FF2B5EF4-FFF2-40B4-BE49-F238E27FC236}">
                    <a16:creationId xmlns:a16="http://schemas.microsoft.com/office/drawing/2014/main" id="{59003721-1F60-47C6-B1A4-433B27AF4AE5}"/>
                  </a:ext>
                </a:extLst>
              </p:cNvPr>
              <p:cNvSpPr>
                <a:spLocks noChangeShapeType="1"/>
              </p:cNvSpPr>
              <p:nvPr/>
            </p:nvSpPr>
            <p:spPr bwMode="auto">
              <a:xfrm>
                <a:off x="989" y="1819"/>
                <a:ext cx="56"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3" name="Line 186">
                <a:extLst>
                  <a:ext uri="{FF2B5EF4-FFF2-40B4-BE49-F238E27FC236}">
                    <a16:creationId xmlns:a16="http://schemas.microsoft.com/office/drawing/2014/main" id="{860A9ED3-9F3D-454A-BEA1-DD6874D5F93D}"/>
                  </a:ext>
                </a:extLst>
              </p:cNvPr>
              <p:cNvSpPr>
                <a:spLocks noChangeShapeType="1"/>
              </p:cNvSpPr>
              <p:nvPr/>
            </p:nvSpPr>
            <p:spPr bwMode="auto">
              <a:xfrm>
                <a:off x="946" y="1841"/>
                <a:ext cx="64"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4" name="Line 187">
                <a:extLst>
                  <a:ext uri="{FF2B5EF4-FFF2-40B4-BE49-F238E27FC236}">
                    <a16:creationId xmlns:a16="http://schemas.microsoft.com/office/drawing/2014/main" id="{776FA139-43ED-45E4-B1F2-39C1B72A3A54}"/>
                  </a:ext>
                </a:extLst>
              </p:cNvPr>
              <p:cNvSpPr>
                <a:spLocks noChangeShapeType="1"/>
              </p:cNvSpPr>
              <p:nvPr/>
            </p:nvSpPr>
            <p:spPr bwMode="auto">
              <a:xfrm>
                <a:off x="893" y="1873"/>
                <a:ext cx="80"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5" name="Line 188">
                <a:extLst>
                  <a:ext uri="{FF2B5EF4-FFF2-40B4-BE49-F238E27FC236}">
                    <a16:creationId xmlns:a16="http://schemas.microsoft.com/office/drawing/2014/main" id="{446DC838-573C-4D97-BC66-807F03B2D8F3}"/>
                  </a:ext>
                </a:extLst>
              </p:cNvPr>
              <p:cNvSpPr>
                <a:spLocks noChangeShapeType="1"/>
              </p:cNvSpPr>
              <p:nvPr/>
            </p:nvSpPr>
            <p:spPr bwMode="auto">
              <a:xfrm>
                <a:off x="845" y="1905"/>
                <a:ext cx="83" cy="5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6" name="Line 189">
                <a:extLst>
                  <a:ext uri="{FF2B5EF4-FFF2-40B4-BE49-F238E27FC236}">
                    <a16:creationId xmlns:a16="http://schemas.microsoft.com/office/drawing/2014/main" id="{BE6BEB19-01DB-4A1C-837B-2C3ADE980A00}"/>
                  </a:ext>
                </a:extLst>
              </p:cNvPr>
              <p:cNvSpPr>
                <a:spLocks noChangeShapeType="1"/>
              </p:cNvSpPr>
              <p:nvPr/>
            </p:nvSpPr>
            <p:spPr bwMode="auto">
              <a:xfrm>
                <a:off x="815" y="1942"/>
                <a:ext cx="81" cy="5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7" name="Line 190">
                <a:extLst>
                  <a:ext uri="{FF2B5EF4-FFF2-40B4-BE49-F238E27FC236}">
                    <a16:creationId xmlns:a16="http://schemas.microsoft.com/office/drawing/2014/main" id="{8F5D7CAA-B29C-46E4-93D5-86631E7A5BFA}"/>
                  </a:ext>
                </a:extLst>
              </p:cNvPr>
              <p:cNvSpPr>
                <a:spLocks noChangeShapeType="1"/>
              </p:cNvSpPr>
              <p:nvPr/>
            </p:nvSpPr>
            <p:spPr bwMode="auto">
              <a:xfrm>
                <a:off x="775" y="1985"/>
                <a:ext cx="78" cy="4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8" name="Line 191">
                <a:extLst>
                  <a:ext uri="{FF2B5EF4-FFF2-40B4-BE49-F238E27FC236}">
                    <a16:creationId xmlns:a16="http://schemas.microsoft.com/office/drawing/2014/main" id="{3AD03635-6D06-4B71-8D01-1ACBD2F2C63A}"/>
                  </a:ext>
                </a:extLst>
              </p:cNvPr>
              <p:cNvSpPr>
                <a:spLocks noChangeShapeType="1"/>
              </p:cNvSpPr>
              <p:nvPr/>
            </p:nvSpPr>
            <p:spPr bwMode="auto">
              <a:xfrm>
                <a:off x="770" y="2028"/>
                <a:ext cx="75"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9" name="Line 192">
                <a:extLst>
                  <a:ext uri="{FF2B5EF4-FFF2-40B4-BE49-F238E27FC236}">
                    <a16:creationId xmlns:a16="http://schemas.microsoft.com/office/drawing/2014/main" id="{EA4A87DC-3C4C-45B9-94DD-3EF69BDDD8F5}"/>
                  </a:ext>
                </a:extLst>
              </p:cNvPr>
              <p:cNvSpPr>
                <a:spLocks noChangeShapeType="1"/>
              </p:cNvSpPr>
              <p:nvPr/>
            </p:nvSpPr>
            <p:spPr bwMode="auto">
              <a:xfrm>
                <a:off x="679" y="2065"/>
                <a:ext cx="96" cy="9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0" name="Line 193">
                <a:extLst>
                  <a:ext uri="{FF2B5EF4-FFF2-40B4-BE49-F238E27FC236}">
                    <a16:creationId xmlns:a16="http://schemas.microsoft.com/office/drawing/2014/main" id="{F98834AD-C8A4-4687-9873-C56EDFB7FC23}"/>
                  </a:ext>
                </a:extLst>
              </p:cNvPr>
              <p:cNvSpPr>
                <a:spLocks noChangeShapeType="1"/>
              </p:cNvSpPr>
              <p:nvPr/>
            </p:nvSpPr>
            <p:spPr bwMode="auto">
              <a:xfrm>
                <a:off x="626" y="2079"/>
                <a:ext cx="69"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1" name="Line 194">
                <a:extLst>
                  <a:ext uri="{FF2B5EF4-FFF2-40B4-BE49-F238E27FC236}">
                    <a16:creationId xmlns:a16="http://schemas.microsoft.com/office/drawing/2014/main" id="{AFDBA0EE-84E8-44BA-911B-564796C3B66C}"/>
                  </a:ext>
                </a:extLst>
              </p:cNvPr>
              <p:cNvSpPr>
                <a:spLocks noChangeShapeType="1"/>
              </p:cNvSpPr>
              <p:nvPr/>
            </p:nvSpPr>
            <p:spPr bwMode="auto">
              <a:xfrm>
                <a:off x="583" y="2084"/>
                <a:ext cx="64"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2" name="Line 195">
                <a:extLst>
                  <a:ext uri="{FF2B5EF4-FFF2-40B4-BE49-F238E27FC236}">
                    <a16:creationId xmlns:a16="http://schemas.microsoft.com/office/drawing/2014/main" id="{CBB53244-5656-4278-A6D6-03542A15BE0B}"/>
                  </a:ext>
                </a:extLst>
              </p:cNvPr>
              <p:cNvSpPr>
                <a:spLocks noChangeShapeType="1"/>
              </p:cNvSpPr>
              <p:nvPr/>
            </p:nvSpPr>
            <p:spPr bwMode="auto">
              <a:xfrm>
                <a:off x="535" y="2084"/>
                <a:ext cx="48"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3" name="Line 196">
                <a:extLst>
                  <a:ext uri="{FF2B5EF4-FFF2-40B4-BE49-F238E27FC236}">
                    <a16:creationId xmlns:a16="http://schemas.microsoft.com/office/drawing/2014/main" id="{4CA4EF29-ABF0-4FF6-A7AC-780F7CEBDB33}"/>
                  </a:ext>
                </a:extLst>
              </p:cNvPr>
              <p:cNvSpPr>
                <a:spLocks noChangeShapeType="1"/>
              </p:cNvSpPr>
              <p:nvPr/>
            </p:nvSpPr>
            <p:spPr bwMode="auto">
              <a:xfrm>
                <a:off x="484" y="2092"/>
                <a:ext cx="43" cy="4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4" name="Line 197">
                <a:extLst>
                  <a:ext uri="{FF2B5EF4-FFF2-40B4-BE49-F238E27FC236}">
                    <a16:creationId xmlns:a16="http://schemas.microsoft.com/office/drawing/2014/main" id="{E9D380C6-252E-4F03-B295-BAB8F5F93C62}"/>
                  </a:ext>
                </a:extLst>
              </p:cNvPr>
              <p:cNvSpPr>
                <a:spLocks noChangeShapeType="1"/>
              </p:cNvSpPr>
              <p:nvPr/>
            </p:nvSpPr>
            <p:spPr bwMode="auto">
              <a:xfrm>
                <a:off x="431" y="2100"/>
                <a:ext cx="27"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5" name="Line 198">
                <a:extLst>
                  <a:ext uri="{FF2B5EF4-FFF2-40B4-BE49-F238E27FC236}">
                    <a16:creationId xmlns:a16="http://schemas.microsoft.com/office/drawing/2014/main" id="{A0652C57-5B37-4288-852F-140528519A9B}"/>
                  </a:ext>
                </a:extLst>
              </p:cNvPr>
              <p:cNvSpPr>
                <a:spLocks noChangeShapeType="1"/>
              </p:cNvSpPr>
              <p:nvPr/>
            </p:nvSpPr>
            <p:spPr bwMode="auto">
              <a:xfrm>
                <a:off x="386" y="2100"/>
                <a:ext cx="26" cy="3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6" name="Line 199">
                <a:extLst>
                  <a:ext uri="{FF2B5EF4-FFF2-40B4-BE49-F238E27FC236}">
                    <a16:creationId xmlns:a16="http://schemas.microsoft.com/office/drawing/2014/main" id="{07964C8D-2F33-45D3-BADB-CC64C922B941}"/>
                  </a:ext>
                </a:extLst>
              </p:cNvPr>
              <p:cNvSpPr>
                <a:spLocks noChangeShapeType="1"/>
              </p:cNvSpPr>
              <p:nvPr/>
            </p:nvSpPr>
            <p:spPr bwMode="auto">
              <a:xfrm>
                <a:off x="329" y="2103"/>
                <a:ext cx="25" cy="1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7" name="Freeform 200">
                <a:extLst>
                  <a:ext uri="{FF2B5EF4-FFF2-40B4-BE49-F238E27FC236}">
                    <a16:creationId xmlns:a16="http://schemas.microsoft.com/office/drawing/2014/main" id="{A13C1730-E077-4A64-8376-03BF0DE7E059}"/>
                  </a:ext>
                </a:extLst>
              </p:cNvPr>
              <p:cNvSpPr>
                <a:spLocks/>
              </p:cNvSpPr>
              <p:nvPr/>
            </p:nvSpPr>
            <p:spPr bwMode="auto">
              <a:xfrm>
                <a:off x="3125" y="1386"/>
                <a:ext cx="163" cy="316"/>
              </a:xfrm>
              <a:custGeom>
                <a:avLst/>
                <a:gdLst>
                  <a:gd name="T0" fmla="*/ 128 w 163"/>
                  <a:gd name="T1" fmla="*/ 0 h 316"/>
                  <a:gd name="T2" fmla="*/ 77 w 163"/>
                  <a:gd name="T3" fmla="*/ 38 h 316"/>
                  <a:gd name="T4" fmla="*/ 35 w 163"/>
                  <a:gd name="T5" fmla="*/ 72 h 316"/>
                  <a:gd name="T6" fmla="*/ 8 w 163"/>
                  <a:gd name="T7" fmla="*/ 113 h 316"/>
                  <a:gd name="T8" fmla="*/ 0 w 163"/>
                  <a:gd name="T9" fmla="*/ 171 h 316"/>
                  <a:gd name="T10" fmla="*/ 19 w 163"/>
                  <a:gd name="T11" fmla="*/ 228 h 316"/>
                  <a:gd name="T12" fmla="*/ 67 w 163"/>
                  <a:gd name="T13" fmla="*/ 273 h 316"/>
                  <a:gd name="T14" fmla="*/ 163 w 163"/>
                  <a:gd name="T15" fmla="*/ 316 h 3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3" h="316">
                    <a:moveTo>
                      <a:pt x="128" y="0"/>
                    </a:moveTo>
                    <a:lnTo>
                      <a:pt x="77" y="38"/>
                    </a:lnTo>
                    <a:lnTo>
                      <a:pt x="35" y="72"/>
                    </a:lnTo>
                    <a:lnTo>
                      <a:pt x="8" y="113"/>
                    </a:lnTo>
                    <a:lnTo>
                      <a:pt x="0" y="171"/>
                    </a:lnTo>
                    <a:lnTo>
                      <a:pt x="19" y="228"/>
                    </a:lnTo>
                    <a:lnTo>
                      <a:pt x="67" y="273"/>
                    </a:lnTo>
                    <a:lnTo>
                      <a:pt x="163" y="31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28" name="Freeform 201">
                <a:extLst>
                  <a:ext uri="{FF2B5EF4-FFF2-40B4-BE49-F238E27FC236}">
                    <a16:creationId xmlns:a16="http://schemas.microsoft.com/office/drawing/2014/main" id="{70A881AC-41CC-4015-8E0B-62E7219C5E0B}"/>
                  </a:ext>
                </a:extLst>
              </p:cNvPr>
              <p:cNvSpPr>
                <a:spLocks/>
              </p:cNvSpPr>
              <p:nvPr/>
            </p:nvSpPr>
            <p:spPr bwMode="auto">
              <a:xfrm>
                <a:off x="2623" y="1726"/>
                <a:ext cx="649" cy="342"/>
              </a:xfrm>
              <a:custGeom>
                <a:avLst/>
                <a:gdLst>
                  <a:gd name="T0" fmla="*/ 649 w 649"/>
                  <a:gd name="T1" fmla="*/ 16 h 342"/>
                  <a:gd name="T2" fmla="*/ 521 w 649"/>
                  <a:gd name="T3" fmla="*/ 0 h 342"/>
                  <a:gd name="T4" fmla="*/ 374 w 649"/>
                  <a:gd name="T5" fmla="*/ 3 h 342"/>
                  <a:gd name="T6" fmla="*/ 262 w 649"/>
                  <a:gd name="T7" fmla="*/ 13 h 342"/>
                  <a:gd name="T8" fmla="*/ 155 w 649"/>
                  <a:gd name="T9" fmla="*/ 35 h 342"/>
                  <a:gd name="T10" fmla="*/ 91 w 649"/>
                  <a:gd name="T11" fmla="*/ 69 h 342"/>
                  <a:gd name="T12" fmla="*/ 45 w 649"/>
                  <a:gd name="T13" fmla="*/ 110 h 342"/>
                  <a:gd name="T14" fmla="*/ 11 w 649"/>
                  <a:gd name="T15" fmla="*/ 150 h 342"/>
                  <a:gd name="T16" fmla="*/ 0 w 649"/>
                  <a:gd name="T17" fmla="*/ 200 h 342"/>
                  <a:gd name="T18" fmla="*/ 5 w 649"/>
                  <a:gd name="T19" fmla="*/ 243 h 342"/>
                  <a:gd name="T20" fmla="*/ 40 w 649"/>
                  <a:gd name="T21" fmla="*/ 297 h 342"/>
                  <a:gd name="T22" fmla="*/ 109 w 649"/>
                  <a:gd name="T23" fmla="*/ 329 h 342"/>
                  <a:gd name="T24" fmla="*/ 189 w 649"/>
                  <a:gd name="T25" fmla="*/ 34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9" h="342">
                    <a:moveTo>
                      <a:pt x="649" y="16"/>
                    </a:moveTo>
                    <a:lnTo>
                      <a:pt x="521" y="0"/>
                    </a:lnTo>
                    <a:lnTo>
                      <a:pt x="374" y="3"/>
                    </a:lnTo>
                    <a:lnTo>
                      <a:pt x="262" y="13"/>
                    </a:lnTo>
                    <a:lnTo>
                      <a:pt x="155" y="35"/>
                    </a:lnTo>
                    <a:lnTo>
                      <a:pt x="91" y="69"/>
                    </a:lnTo>
                    <a:lnTo>
                      <a:pt x="45" y="110"/>
                    </a:lnTo>
                    <a:lnTo>
                      <a:pt x="11" y="150"/>
                    </a:lnTo>
                    <a:lnTo>
                      <a:pt x="0" y="200"/>
                    </a:lnTo>
                    <a:lnTo>
                      <a:pt x="5" y="243"/>
                    </a:lnTo>
                    <a:lnTo>
                      <a:pt x="40" y="297"/>
                    </a:lnTo>
                    <a:lnTo>
                      <a:pt x="109" y="329"/>
                    </a:lnTo>
                    <a:lnTo>
                      <a:pt x="189" y="34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29" name="Freeform 202">
                <a:extLst>
                  <a:ext uri="{FF2B5EF4-FFF2-40B4-BE49-F238E27FC236}">
                    <a16:creationId xmlns:a16="http://schemas.microsoft.com/office/drawing/2014/main" id="{426C5AF2-8B77-41AB-908F-4A9D5B8B6FEE}"/>
                  </a:ext>
                </a:extLst>
              </p:cNvPr>
              <p:cNvSpPr>
                <a:spLocks/>
              </p:cNvSpPr>
              <p:nvPr/>
            </p:nvSpPr>
            <p:spPr bwMode="auto">
              <a:xfrm>
                <a:off x="2420" y="2098"/>
                <a:ext cx="350" cy="171"/>
              </a:xfrm>
              <a:custGeom>
                <a:avLst/>
                <a:gdLst>
                  <a:gd name="T0" fmla="*/ 350 w 350"/>
                  <a:gd name="T1" fmla="*/ 24 h 171"/>
                  <a:gd name="T2" fmla="*/ 272 w 350"/>
                  <a:gd name="T3" fmla="*/ 0 h 171"/>
                  <a:gd name="T4" fmla="*/ 171 w 350"/>
                  <a:gd name="T5" fmla="*/ 0 h 171"/>
                  <a:gd name="T6" fmla="*/ 61 w 350"/>
                  <a:gd name="T7" fmla="*/ 24 h 171"/>
                  <a:gd name="T8" fmla="*/ 0 w 350"/>
                  <a:gd name="T9" fmla="*/ 66 h 171"/>
                  <a:gd name="T10" fmla="*/ 75 w 350"/>
                  <a:gd name="T11" fmla="*/ 171 h 171"/>
                </a:gdLst>
                <a:ahLst/>
                <a:cxnLst>
                  <a:cxn ang="0">
                    <a:pos x="T0" y="T1"/>
                  </a:cxn>
                  <a:cxn ang="0">
                    <a:pos x="T2" y="T3"/>
                  </a:cxn>
                  <a:cxn ang="0">
                    <a:pos x="T4" y="T5"/>
                  </a:cxn>
                  <a:cxn ang="0">
                    <a:pos x="T6" y="T7"/>
                  </a:cxn>
                  <a:cxn ang="0">
                    <a:pos x="T8" y="T9"/>
                  </a:cxn>
                  <a:cxn ang="0">
                    <a:pos x="T10" y="T11"/>
                  </a:cxn>
                </a:cxnLst>
                <a:rect l="0" t="0" r="r" b="b"/>
                <a:pathLst>
                  <a:path w="350" h="171">
                    <a:moveTo>
                      <a:pt x="350" y="24"/>
                    </a:moveTo>
                    <a:lnTo>
                      <a:pt x="272" y="0"/>
                    </a:lnTo>
                    <a:lnTo>
                      <a:pt x="171" y="0"/>
                    </a:lnTo>
                    <a:lnTo>
                      <a:pt x="61" y="24"/>
                    </a:lnTo>
                    <a:lnTo>
                      <a:pt x="0" y="66"/>
                    </a:lnTo>
                    <a:lnTo>
                      <a:pt x="75" y="171"/>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30" name="Freeform 203">
                <a:extLst>
                  <a:ext uri="{FF2B5EF4-FFF2-40B4-BE49-F238E27FC236}">
                    <a16:creationId xmlns:a16="http://schemas.microsoft.com/office/drawing/2014/main" id="{9E626350-7F9D-477F-82AC-80D940D6D837}"/>
                  </a:ext>
                </a:extLst>
              </p:cNvPr>
              <p:cNvSpPr>
                <a:spLocks/>
              </p:cNvSpPr>
              <p:nvPr/>
            </p:nvSpPr>
            <p:spPr bwMode="auto">
              <a:xfrm>
                <a:off x="1237" y="2164"/>
                <a:ext cx="1167" cy="35"/>
              </a:xfrm>
              <a:custGeom>
                <a:avLst/>
                <a:gdLst>
                  <a:gd name="T0" fmla="*/ 1167 w 1167"/>
                  <a:gd name="T1" fmla="*/ 0 h 35"/>
                  <a:gd name="T2" fmla="*/ 1033 w 1167"/>
                  <a:gd name="T3" fmla="*/ 0 h 35"/>
                  <a:gd name="T4" fmla="*/ 817 w 1167"/>
                  <a:gd name="T5" fmla="*/ 8 h 35"/>
                  <a:gd name="T6" fmla="*/ 649 w 1167"/>
                  <a:gd name="T7" fmla="*/ 22 h 35"/>
                  <a:gd name="T8" fmla="*/ 486 w 1167"/>
                  <a:gd name="T9" fmla="*/ 35 h 35"/>
                  <a:gd name="T10" fmla="*/ 214 w 1167"/>
                  <a:gd name="T11" fmla="*/ 24 h 35"/>
                  <a:gd name="T12" fmla="*/ 0 w 1167"/>
                  <a:gd name="T13" fmla="*/ 22 h 35"/>
                </a:gdLst>
                <a:ahLst/>
                <a:cxnLst>
                  <a:cxn ang="0">
                    <a:pos x="T0" y="T1"/>
                  </a:cxn>
                  <a:cxn ang="0">
                    <a:pos x="T2" y="T3"/>
                  </a:cxn>
                  <a:cxn ang="0">
                    <a:pos x="T4" y="T5"/>
                  </a:cxn>
                  <a:cxn ang="0">
                    <a:pos x="T6" y="T7"/>
                  </a:cxn>
                  <a:cxn ang="0">
                    <a:pos x="T8" y="T9"/>
                  </a:cxn>
                  <a:cxn ang="0">
                    <a:pos x="T10" y="T11"/>
                  </a:cxn>
                  <a:cxn ang="0">
                    <a:pos x="T12" y="T13"/>
                  </a:cxn>
                </a:cxnLst>
                <a:rect l="0" t="0" r="r" b="b"/>
                <a:pathLst>
                  <a:path w="1167" h="35">
                    <a:moveTo>
                      <a:pt x="1167" y="0"/>
                    </a:moveTo>
                    <a:lnTo>
                      <a:pt x="1033" y="0"/>
                    </a:lnTo>
                    <a:lnTo>
                      <a:pt x="817" y="8"/>
                    </a:lnTo>
                    <a:lnTo>
                      <a:pt x="649" y="22"/>
                    </a:lnTo>
                    <a:lnTo>
                      <a:pt x="486" y="35"/>
                    </a:lnTo>
                    <a:lnTo>
                      <a:pt x="214" y="24"/>
                    </a:lnTo>
                    <a:lnTo>
                      <a:pt x="0" y="2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31" name="Line 204">
                <a:extLst>
                  <a:ext uri="{FF2B5EF4-FFF2-40B4-BE49-F238E27FC236}">
                    <a16:creationId xmlns:a16="http://schemas.microsoft.com/office/drawing/2014/main" id="{641F5EB7-B87C-481D-864F-283551396DCA}"/>
                  </a:ext>
                </a:extLst>
              </p:cNvPr>
              <p:cNvSpPr>
                <a:spLocks noChangeShapeType="1"/>
              </p:cNvSpPr>
              <p:nvPr/>
            </p:nvSpPr>
            <p:spPr bwMode="auto">
              <a:xfrm>
                <a:off x="2332" y="2172"/>
                <a:ext cx="75" cy="8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2" name="Line 205">
                <a:extLst>
                  <a:ext uri="{FF2B5EF4-FFF2-40B4-BE49-F238E27FC236}">
                    <a16:creationId xmlns:a16="http://schemas.microsoft.com/office/drawing/2014/main" id="{DA7CE445-C77A-4CB6-81FB-58E07FFE01E0}"/>
                  </a:ext>
                </a:extLst>
              </p:cNvPr>
              <p:cNvSpPr>
                <a:spLocks noChangeShapeType="1"/>
              </p:cNvSpPr>
              <p:nvPr/>
            </p:nvSpPr>
            <p:spPr bwMode="auto">
              <a:xfrm>
                <a:off x="2260" y="2172"/>
                <a:ext cx="67" cy="7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3" name="Line 206">
                <a:extLst>
                  <a:ext uri="{FF2B5EF4-FFF2-40B4-BE49-F238E27FC236}">
                    <a16:creationId xmlns:a16="http://schemas.microsoft.com/office/drawing/2014/main" id="{CB473139-FFA3-463C-AC85-00DDD53EADFF}"/>
                  </a:ext>
                </a:extLst>
              </p:cNvPr>
              <p:cNvSpPr>
                <a:spLocks noChangeShapeType="1"/>
              </p:cNvSpPr>
              <p:nvPr/>
            </p:nvSpPr>
            <p:spPr bwMode="auto">
              <a:xfrm>
                <a:off x="2174" y="2170"/>
                <a:ext cx="67" cy="8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4" name="Line 207">
                <a:extLst>
                  <a:ext uri="{FF2B5EF4-FFF2-40B4-BE49-F238E27FC236}">
                    <a16:creationId xmlns:a16="http://schemas.microsoft.com/office/drawing/2014/main" id="{4234EF4B-AA68-484F-803C-422D2F7D9A29}"/>
                  </a:ext>
                </a:extLst>
              </p:cNvPr>
              <p:cNvSpPr>
                <a:spLocks noChangeShapeType="1"/>
              </p:cNvSpPr>
              <p:nvPr/>
            </p:nvSpPr>
            <p:spPr bwMode="auto">
              <a:xfrm>
                <a:off x="2108" y="2178"/>
                <a:ext cx="74"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5" name="Line 208">
                <a:extLst>
                  <a:ext uri="{FF2B5EF4-FFF2-40B4-BE49-F238E27FC236}">
                    <a16:creationId xmlns:a16="http://schemas.microsoft.com/office/drawing/2014/main" id="{485E87E4-FB96-4412-93C0-5E05FBE1674B}"/>
                  </a:ext>
                </a:extLst>
              </p:cNvPr>
              <p:cNvSpPr>
                <a:spLocks noChangeShapeType="1"/>
              </p:cNvSpPr>
              <p:nvPr/>
            </p:nvSpPr>
            <p:spPr bwMode="auto">
              <a:xfrm>
                <a:off x="2054" y="2180"/>
                <a:ext cx="48"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6" name="Line 209">
                <a:extLst>
                  <a:ext uri="{FF2B5EF4-FFF2-40B4-BE49-F238E27FC236}">
                    <a16:creationId xmlns:a16="http://schemas.microsoft.com/office/drawing/2014/main" id="{2AB62870-94A9-4FD9-94CF-DD1B957516FB}"/>
                  </a:ext>
                </a:extLst>
              </p:cNvPr>
              <p:cNvSpPr>
                <a:spLocks noChangeShapeType="1"/>
              </p:cNvSpPr>
              <p:nvPr/>
            </p:nvSpPr>
            <p:spPr bwMode="auto">
              <a:xfrm>
                <a:off x="1987" y="2183"/>
                <a:ext cx="54" cy="4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7" name="Line 210">
                <a:extLst>
                  <a:ext uri="{FF2B5EF4-FFF2-40B4-BE49-F238E27FC236}">
                    <a16:creationId xmlns:a16="http://schemas.microsoft.com/office/drawing/2014/main" id="{50F040F7-3565-4139-94B6-95EABEE7430A}"/>
                  </a:ext>
                </a:extLst>
              </p:cNvPr>
              <p:cNvSpPr>
                <a:spLocks noChangeShapeType="1"/>
              </p:cNvSpPr>
              <p:nvPr/>
            </p:nvSpPr>
            <p:spPr bwMode="auto">
              <a:xfrm>
                <a:off x="1929" y="2186"/>
                <a:ext cx="40" cy="4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8" name="Line 211">
                <a:extLst>
                  <a:ext uri="{FF2B5EF4-FFF2-40B4-BE49-F238E27FC236}">
                    <a16:creationId xmlns:a16="http://schemas.microsoft.com/office/drawing/2014/main" id="{FBAB319F-A62F-4975-B455-23CD426794A5}"/>
                  </a:ext>
                </a:extLst>
              </p:cNvPr>
              <p:cNvSpPr>
                <a:spLocks noChangeShapeType="1"/>
              </p:cNvSpPr>
              <p:nvPr/>
            </p:nvSpPr>
            <p:spPr bwMode="auto">
              <a:xfrm>
                <a:off x="1846" y="2191"/>
                <a:ext cx="37" cy="3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16" name="Line 212">
              <a:extLst>
                <a:ext uri="{FF2B5EF4-FFF2-40B4-BE49-F238E27FC236}">
                  <a16:creationId xmlns:a16="http://schemas.microsoft.com/office/drawing/2014/main" id="{ADE45048-9EA0-4884-9896-28E54CD03649}"/>
                </a:ext>
              </a:extLst>
            </p:cNvPr>
            <p:cNvSpPr>
              <a:spLocks noChangeShapeType="1"/>
            </p:cNvSpPr>
            <p:nvPr/>
          </p:nvSpPr>
          <p:spPr bwMode="auto">
            <a:xfrm>
              <a:off x="2441" y="2156"/>
              <a:ext cx="72" cy="7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 name="Line 213">
              <a:extLst>
                <a:ext uri="{FF2B5EF4-FFF2-40B4-BE49-F238E27FC236}">
                  <a16:creationId xmlns:a16="http://schemas.microsoft.com/office/drawing/2014/main" id="{FD11056F-8CAC-43B8-BA4C-B77834A5F617}"/>
                </a:ext>
              </a:extLst>
            </p:cNvPr>
            <p:cNvSpPr>
              <a:spLocks noChangeShapeType="1"/>
            </p:cNvSpPr>
            <p:nvPr/>
          </p:nvSpPr>
          <p:spPr bwMode="auto">
            <a:xfrm>
              <a:off x="2481" y="2143"/>
              <a:ext cx="64"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 name="Line 214">
              <a:extLst>
                <a:ext uri="{FF2B5EF4-FFF2-40B4-BE49-F238E27FC236}">
                  <a16:creationId xmlns:a16="http://schemas.microsoft.com/office/drawing/2014/main" id="{6F643DDC-3442-4D32-974F-36B6CFCA0A36}"/>
                </a:ext>
              </a:extLst>
            </p:cNvPr>
            <p:cNvSpPr>
              <a:spLocks noChangeShapeType="1"/>
            </p:cNvSpPr>
            <p:nvPr/>
          </p:nvSpPr>
          <p:spPr bwMode="auto">
            <a:xfrm>
              <a:off x="2532" y="2122"/>
              <a:ext cx="40" cy="5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Line 215">
              <a:extLst>
                <a:ext uri="{FF2B5EF4-FFF2-40B4-BE49-F238E27FC236}">
                  <a16:creationId xmlns:a16="http://schemas.microsoft.com/office/drawing/2014/main" id="{89B2549F-E01B-41AA-A64D-B9DCEC0B9789}"/>
                </a:ext>
              </a:extLst>
            </p:cNvPr>
            <p:cNvSpPr>
              <a:spLocks noChangeShapeType="1"/>
            </p:cNvSpPr>
            <p:nvPr/>
          </p:nvSpPr>
          <p:spPr bwMode="auto">
            <a:xfrm>
              <a:off x="2578" y="2111"/>
              <a:ext cx="29" cy="6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 name="Line 216">
              <a:extLst>
                <a:ext uri="{FF2B5EF4-FFF2-40B4-BE49-F238E27FC236}">
                  <a16:creationId xmlns:a16="http://schemas.microsoft.com/office/drawing/2014/main" id="{9B0AA762-D110-4BFE-9172-5E589AD258A8}"/>
                </a:ext>
              </a:extLst>
            </p:cNvPr>
            <p:cNvSpPr>
              <a:spLocks noChangeShapeType="1"/>
            </p:cNvSpPr>
            <p:nvPr/>
          </p:nvSpPr>
          <p:spPr bwMode="auto">
            <a:xfrm>
              <a:off x="2623" y="2103"/>
              <a:ext cx="21"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 name="Line 217">
              <a:extLst>
                <a:ext uri="{FF2B5EF4-FFF2-40B4-BE49-F238E27FC236}">
                  <a16:creationId xmlns:a16="http://schemas.microsoft.com/office/drawing/2014/main" id="{D0CFA665-6FAD-4089-AF27-E71F52F3871A}"/>
                </a:ext>
              </a:extLst>
            </p:cNvPr>
            <p:cNvSpPr>
              <a:spLocks noChangeShapeType="1"/>
            </p:cNvSpPr>
            <p:nvPr/>
          </p:nvSpPr>
          <p:spPr bwMode="auto">
            <a:xfrm>
              <a:off x="2668" y="2106"/>
              <a:ext cx="6" cy="3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 name="Line 218">
              <a:extLst>
                <a:ext uri="{FF2B5EF4-FFF2-40B4-BE49-F238E27FC236}">
                  <a16:creationId xmlns:a16="http://schemas.microsoft.com/office/drawing/2014/main" id="{8DE0870F-670B-4C65-AE53-7F250872096B}"/>
                </a:ext>
              </a:extLst>
            </p:cNvPr>
            <p:cNvSpPr>
              <a:spLocks noChangeShapeType="1"/>
            </p:cNvSpPr>
            <p:nvPr/>
          </p:nvSpPr>
          <p:spPr bwMode="auto">
            <a:xfrm flipH="1">
              <a:off x="2711" y="2116"/>
              <a:ext cx="3" cy="2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 name="Line 219">
              <a:extLst>
                <a:ext uri="{FF2B5EF4-FFF2-40B4-BE49-F238E27FC236}">
                  <a16:creationId xmlns:a16="http://schemas.microsoft.com/office/drawing/2014/main" id="{554A7EED-6A8A-4092-B2E1-8212783649A3}"/>
                </a:ext>
              </a:extLst>
            </p:cNvPr>
            <p:cNvSpPr>
              <a:spLocks noChangeShapeType="1"/>
            </p:cNvSpPr>
            <p:nvPr/>
          </p:nvSpPr>
          <p:spPr bwMode="auto">
            <a:xfrm>
              <a:off x="3237" y="1408"/>
              <a:ext cx="51" cy="7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 name="Line 220">
              <a:extLst>
                <a:ext uri="{FF2B5EF4-FFF2-40B4-BE49-F238E27FC236}">
                  <a16:creationId xmlns:a16="http://schemas.microsoft.com/office/drawing/2014/main" id="{096434EA-871E-4045-9F36-14EBC0BEF2FE}"/>
                </a:ext>
              </a:extLst>
            </p:cNvPr>
            <p:cNvSpPr>
              <a:spLocks noChangeShapeType="1"/>
            </p:cNvSpPr>
            <p:nvPr/>
          </p:nvSpPr>
          <p:spPr bwMode="auto">
            <a:xfrm>
              <a:off x="3202" y="1440"/>
              <a:ext cx="59"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 name="Line 221">
              <a:extLst>
                <a:ext uri="{FF2B5EF4-FFF2-40B4-BE49-F238E27FC236}">
                  <a16:creationId xmlns:a16="http://schemas.microsoft.com/office/drawing/2014/main" id="{4025DEB4-495F-4F21-90B5-6525B6D5073C}"/>
                </a:ext>
              </a:extLst>
            </p:cNvPr>
            <p:cNvSpPr>
              <a:spLocks noChangeShapeType="1"/>
            </p:cNvSpPr>
            <p:nvPr/>
          </p:nvSpPr>
          <p:spPr bwMode="auto">
            <a:xfrm>
              <a:off x="3162" y="1474"/>
              <a:ext cx="78" cy="5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 name="Line 222">
              <a:extLst>
                <a:ext uri="{FF2B5EF4-FFF2-40B4-BE49-F238E27FC236}">
                  <a16:creationId xmlns:a16="http://schemas.microsoft.com/office/drawing/2014/main" id="{C52CF9B4-E8E6-49AF-940E-DC3DF622551F}"/>
                </a:ext>
              </a:extLst>
            </p:cNvPr>
            <p:cNvSpPr>
              <a:spLocks noChangeShapeType="1"/>
            </p:cNvSpPr>
            <p:nvPr/>
          </p:nvSpPr>
          <p:spPr bwMode="auto">
            <a:xfrm>
              <a:off x="3138" y="1523"/>
              <a:ext cx="96" cy="5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 name="Line 223">
              <a:extLst>
                <a:ext uri="{FF2B5EF4-FFF2-40B4-BE49-F238E27FC236}">
                  <a16:creationId xmlns:a16="http://schemas.microsoft.com/office/drawing/2014/main" id="{38C2E7F5-16C1-47A5-82B1-A96BB0CE97AB}"/>
                </a:ext>
              </a:extLst>
            </p:cNvPr>
            <p:cNvSpPr>
              <a:spLocks noChangeShapeType="1"/>
            </p:cNvSpPr>
            <p:nvPr/>
          </p:nvSpPr>
          <p:spPr bwMode="auto">
            <a:xfrm>
              <a:off x="3133" y="1571"/>
              <a:ext cx="93" cy="4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 name="Line 224">
              <a:extLst>
                <a:ext uri="{FF2B5EF4-FFF2-40B4-BE49-F238E27FC236}">
                  <a16:creationId xmlns:a16="http://schemas.microsoft.com/office/drawing/2014/main" id="{D809986E-DBFE-4095-8E87-59FBDB09CC92}"/>
                </a:ext>
              </a:extLst>
            </p:cNvPr>
            <p:cNvSpPr>
              <a:spLocks noChangeShapeType="1"/>
            </p:cNvSpPr>
            <p:nvPr/>
          </p:nvSpPr>
          <p:spPr bwMode="auto">
            <a:xfrm>
              <a:off x="3160" y="1624"/>
              <a:ext cx="85" cy="3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 name="Line 225">
              <a:extLst>
                <a:ext uri="{FF2B5EF4-FFF2-40B4-BE49-F238E27FC236}">
                  <a16:creationId xmlns:a16="http://schemas.microsoft.com/office/drawing/2014/main" id="{6D90B543-F768-4034-91BE-0543834AD6BC}"/>
                </a:ext>
              </a:extLst>
            </p:cNvPr>
            <p:cNvSpPr>
              <a:spLocks noChangeShapeType="1"/>
            </p:cNvSpPr>
            <p:nvPr/>
          </p:nvSpPr>
          <p:spPr bwMode="auto">
            <a:xfrm>
              <a:off x="3173" y="1734"/>
              <a:ext cx="11" cy="2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 name="Line 226">
              <a:extLst>
                <a:ext uri="{FF2B5EF4-FFF2-40B4-BE49-F238E27FC236}">
                  <a16:creationId xmlns:a16="http://schemas.microsoft.com/office/drawing/2014/main" id="{10B2024D-CCAE-4A7E-BFFE-F3CD69FA78A6}"/>
                </a:ext>
              </a:extLst>
            </p:cNvPr>
            <p:cNvSpPr>
              <a:spLocks noChangeShapeType="1"/>
            </p:cNvSpPr>
            <p:nvPr/>
          </p:nvSpPr>
          <p:spPr bwMode="auto">
            <a:xfrm>
              <a:off x="3106" y="1729"/>
              <a:ext cx="19" cy="3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1" name="Line 227">
              <a:extLst>
                <a:ext uri="{FF2B5EF4-FFF2-40B4-BE49-F238E27FC236}">
                  <a16:creationId xmlns:a16="http://schemas.microsoft.com/office/drawing/2014/main" id="{4B93941A-3108-4079-8580-4B2A703E867B}"/>
                </a:ext>
              </a:extLst>
            </p:cNvPr>
            <p:cNvSpPr>
              <a:spLocks noChangeShapeType="1"/>
            </p:cNvSpPr>
            <p:nvPr/>
          </p:nvSpPr>
          <p:spPr bwMode="auto">
            <a:xfrm>
              <a:off x="3053" y="1734"/>
              <a:ext cx="21" cy="4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2" name="Line 228">
              <a:extLst>
                <a:ext uri="{FF2B5EF4-FFF2-40B4-BE49-F238E27FC236}">
                  <a16:creationId xmlns:a16="http://schemas.microsoft.com/office/drawing/2014/main" id="{863807F1-A8E7-45D7-9E6E-7BF000258EB7}"/>
                </a:ext>
              </a:extLst>
            </p:cNvPr>
            <p:cNvSpPr>
              <a:spLocks noChangeShapeType="1"/>
            </p:cNvSpPr>
            <p:nvPr/>
          </p:nvSpPr>
          <p:spPr bwMode="auto">
            <a:xfrm>
              <a:off x="2991" y="1739"/>
              <a:ext cx="27" cy="4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3" name="Line 229">
              <a:extLst>
                <a:ext uri="{FF2B5EF4-FFF2-40B4-BE49-F238E27FC236}">
                  <a16:creationId xmlns:a16="http://schemas.microsoft.com/office/drawing/2014/main" id="{020A04E7-3739-4B96-83BD-DACA98612CD7}"/>
                </a:ext>
              </a:extLst>
            </p:cNvPr>
            <p:cNvSpPr>
              <a:spLocks noChangeShapeType="1"/>
            </p:cNvSpPr>
            <p:nvPr/>
          </p:nvSpPr>
          <p:spPr bwMode="auto">
            <a:xfrm>
              <a:off x="2919" y="1739"/>
              <a:ext cx="46"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 name="Line 230">
              <a:extLst>
                <a:ext uri="{FF2B5EF4-FFF2-40B4-BE49-F238E27FC236}">
                  <a16:creationId xmlns:a16="http://schemas.microsoft.com/office/drawing/2014/main" id="{7530B57D-8E73-487D-B5AB-59FBE6332500}"/>
                </a:ext>
              </a:extLst>
            </p:cNvPr>
            <p:cNvSpPr>
              <a:spLocks noChangeShapeType="1"/>
            </p:cNvSpPr>
            <p:nvPr/>
          </p:nvSpPr>
          <p:spPr bwMode="auto">
            <a:xfrm>
              <a:off x="2850" y="1753"/>
              <a:ext cx="61" cy="6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 name="Line 231">
              <a:extLst>
                <a:ext uri="{FF2B5EF4-FFF2-40B4-BE49-F238E27FC236}">
                  <a16:creationId xmlns:a16="http://schemas.microsoft.com/office/drawing/2014/main" id="{021FF308-9431-47F2-AF2B-E0BA3FE20B66}"/>
                </a:ext>
              </a:extLst>
            </p:cNvPr>
            <p:cNvSpPr>
              <a:spLocks noChangeShapeType="1"/>
            </p:cNvSpPr>
            <p:nvPr/>
          </p:nvSpPr>
          <p:spPr bwMode="auto">
            <a:xfrm>
              <a:off x="2770" y="1769"/>
              <a:ext cx="85"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 name="Line 232">
              <a:extLst>
                <a:ext uri="{FF2B5EF4-FFF2-40B4-BE49-F238E27FC236}">
                  <a16:creationId xmlns:a16="http://schemas.microsoft.com/office/drawing/2014/main" id="{AADE44DA-EE84-4F0A-B399-CCF7861539B6}"/>
                </a:ext>
              </a:extLst>
            </p:cNvPr>
            <p:cNvSpPr>
              <a:spLocks noChangeShapeType="1"/>
            </p:cNvSpPr>
            <p:nvPr/>
          </p:nvSpPr>
          <p:spPr bwMode="auto">
            <a:xfrm>
              <a:off x="2740" y="1795"/>
              <a:ext cx="78" cy="5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7" name="Line 233">
              <a:extLst>
                <a:ext uri="{FF2B5EF4-FFF2-40B4-BE49-F238E27FC236}">
                  <a16:creationId xmlns:a16="http://schemas.microsoft.com/office/drawing/2014/main" id="{3C0F1838-E232-4CCC-B177-81960B353D98}"/>
                </a:ext>
              </a:extLst>
            </p:cNvPr>
            <p:cNvSpPr>
              <a:spLocks noChangeShapeType="1"/>
            </p:cNvSpPr>
            <p:nvPr/>
          </p:nvSpPr>
          <p:spPr bwMode="auto">
            <a:xfrm>
              <a:off x="2700" y="1825"/>
              <a:ext cx="83"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8" name="Line 234">
              <a:extLst>
                <a:ext uri="{FF2B5EF4-FFF2-40B4-BE49-F238E27FC236}">
                  <a16:creationId xmlns:a16="http://schemas.microsoft.com/office/drawing/2014/main" id="{EBE3A924-630A-42F7-A2DC-17B6A5F0E924}"/>
                </a:ext>
              </a:extLst>
            </p:cNvPr>
            <p:cNvSpPr>
              <a:spLocks noChangeShapeType="1"/>
            </p:cNvSpPr>
            <p:nvPr/>
          </p:nvSpPr>
          <p:spPr bwMode="auto">
            <a:xfrm>
              <a:off x="2666" y="1854"/>
              <a:ext cx="88"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 name="Line 235">
              <a:extLst>
                <a:ext uri="{FF2B5EF4-FFF2-40B4-BE49-F238E27FC236}">
                  <a16:creationId xmlns:a16="http://schemas.microsoft.com/office/drawing/2014/main" id="{A54926FF-B019-4B71-B18A-CB6C671FF7C5}"/>
                </a:ext>
              </a:extLst>
            </p:cNvPr>
            <p:cNvSpPr>
              <a:spLocks noChangeShapeType="1"/>
            </p:cNvSpPr>
            <p:nvPr/>
          </p:nvSpPr>
          <p:spPr bwMode="auto">
            <a:xfrm>
              <a:off x="2642" y="1908"/>
              <a:ext cx="104" cy="5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 name="Line 236">
              <a:extLst>
                <a:ext uri="{FF2B5EF4-FFF2-40B4-BE49-F238E27FC236}">
                  <a16:creationId xmlns:a16="http://schemas.microsoft.com/office/drawing/2014/main" id="{27A1891C-7916-4BA8-A3AF-3EF27D58B0DB}"/>
                </a:ext>
              </a:extLst>
            </p:cNvPr>
            <p:cNvSpPr>
              <a:spLocks noChangeShapeType="1"/>
            </p:cNvSpPr>
            <p:nvPr/>
          </p:nvSpPr>
          <p:spPr bwMode="auto">
            <a:xfrm>
              <a:off x="2636" y="1953"/>
              <a:ext cx="112"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 name="Freeform 237">
              <a:extLst>
                <a:ext uri="{FF2B5EF4-FFF2-40B4-BE49-F238E27FC236}">
                  <a16:creationId xmlns:a16="http://schemas.microsoft.com/office/drawing/2014/main" id="{723EE560-FFA9-441C-A784-93336725D1BC}"/>
                </a:ext>
              </a:extLst>
            </p:cNvPr>
            <p:cNvSpPr>
              <a:spLocks/>
            </p:cNvSpPr>
            <p:nvPr/>
          </p:nvSpPr>
          <p:spPr bwMode="auto">
            <a:xfrm>
              <a:off x="2877" y="1809"/>
              <a:ext cx="451" cy="270"/>
            </a:xfrm>
            <a:custGeom>
              <a:avLst/>
              <a:gdLst>
                <a:gd name="T0" fmla="*/ 451 w 451"/>
                <a:gd name="T1" fmla="*/ 27 h 270"/>
                <a:gd name="T2" fmla="*/ 435 w 451"/>
                <a:gd name="T3" fmla="*/ 5 h 270"/>
                <a:gd name="T4" fmla="*/ 411 w 451"/>
                <a:gd name="T5" fmla="*/ 0 h 270"/>
                <a:gd name="T6" fmla="*/ 373 w 451"/>
                <a:gd name="T7" fmla="*/ 0 h 270"/>
                <a:gd name="T8" fmla="*/ 312 w 451"/>
                <a:gd name="T9" fmla="*/ 5 h 270"/>
                <a:gd name="T10" fmla="*/ 218 w 451"/>
                <a:gd name="T11" fmla="*/ 37 h 270"/>
                <a:gd name="T12" fmla="*/ 112 w 451"/>
                <a:gd name="T13" fmla="*/ 80 h 270"/>
                <a:gd name="T14" fmla="*/ 37 w 451"/>
                <a:gd name="T15" fmla="*/ 139 h 270"/>
                <a:gd name="T16" fmla="*/ 5 w 451"/>
                <a:gd name="T17" fmla="*/ 179 h 270"/>
                <a:gd name="T18" fmla="*/ 0 w 451"/>
                <a:gd name="T19" fmla="*/ 216 h 270"/>
                <a:gd name="T20" fmla="*/ 10 w 451"/>
                <a:gd name="T21" fmla="*/ 243 h 270"/>
                <a:gd name="T22" fmla="*/ 32 w 451"/>
                <a:gd name="T23" fmla="*/ 256 h 270"/>
                <a:gd name="T24" fmla="*/ 72 w 451"/>
                <a:gd name="T25" fmla="*/ 270 h 270"/>
                <a:gd name="T26" fmla="*/ 141 w 451"/>
                <a:gd name="T27" fmla="*/ 270 h 270"/>
                <a:gd name="T28" fmla="*/ 451 w 451"/>
                <a:gd name="T29" fmla="*/ 2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270">
                  <a:moveTo>
                    <a:pt x="451" y="27"/>
                  </a:moveTo>
                  <a:lnTo>
                    <a:pt x="435" y="5"/>
                  </a:lnTo>
                  <a:lnTo>
                    <a:pt x="411" y="0"/>
                  </a:lnTo>
                  <a:lnTo>
                    <a:pt x="373" y="0"/>
                  </a:lnTo>
                  <a:lnTo>
                    <a:pt x="312" y="5"/>
                  </a:lnTo>
                  <a:lnTo>
                    <a:pt x="218" y="37"/>
                  </a:lnTo>
                  <a:lnTo>
                    <a:pt x="112" y="80"/>
                  </a:lnTo>
                  <a:lnTo>
                    <a:pt x="37" y="139"/>
                  </a:lnTo>
                  <a:lnTo>
                    <a:pt x="5" y="179"/>
                  </a:lnTo>
                  <a:lnTo>
                    <a:pt x="0" y="216"/>
                  </a:lnTo>
                  <a:lnTo>
                    <a:pt x="10" y="243"/>
                  </a:lnTo>
                  <a:lnTo>
                    <a:pt x="32" y="256"/>
                  </a:lnTo>
                  <a:lnTo>
                    <a:pt x="72" y="270"/>
                  </a:lnTo>
                  <a:lnTo>
                    <a:pt x="141" y="270"/>
                  </a:lnTo>
                  <a:lnTo>
                    <a:pt x="451" y="27"/>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 name="Freeform 238">
              <a:extLst>
                <a:ext uri="{FF2B5EF4-FFF2-40B4-BE49-F238E27FC236}">
                  <a16:creationId xmlns:a16="http://schemas.microsoft.com/office/drawing/2014/main" id="{53CCBFBB-3AAB-4CB3-A193-B3D24E23056D}"/>
                </a:ext>
              </a:extLst>
            </p:cNvPr>
            <p:cNvSpPr>
              <a:spLocks/>
            </p:cNvSpPr>
            <p:nvPr/>
          </p:nvSpPr>
          <p:spPr bwMode="auto">
            <a:xfrm>
              <a:off x="2877" y="1809"/>
              <a:ext cx="451" cy="270"/>
            </a:xfrm>
            <a:custGeom>
              <a:avLst/>
              <a:gdLst>
                <a:gd name="T0" fmla="*/ 451 w 451"/>
                <a:gd name="T1" fmla="*/ 27 h 270"/>
                <a:gd name="T2" fmla="*/ 435 w 451"/>
                <a:gd name="T3" fmla="*/ 5 h 270"/>
                <a:gd name="T4" fmla="*/ 411 w 451"/>
                <a:gd name="T5" fmla="*/ 0 h 270"/>
                <a:gd name="T6" fmla="*/ 373 w 451"/>
                <a:gd name="T7" fmla="*/ 0 h 270"/>
                <a:gd name="T8" fmla="*/ 312 w 451"/>
                <a:gd name="T9" fmla="*/ 5 h 270"/>
                <a:gd name="T10" fmla="*/ 218 w 451"/>
                <a:gd name="T11" fmla="*/ 37 h 270"/>
                <a:gd name="T12" fmla="*/ 112 w 451"/>
                <a:gd name="T13" fmla="*/ 80 h 270"/>
                <a:gd name="T14" fmla="*/ 37 w 451"/>
                <a:gd name="T15" fmla="*/ 139 h 270"/>
                <a:gd name="T16" fmla="*/ 5 w 451"/>
                <a:gd name="T17" fmla="*/ 179 h 270"/>
                <a:gd name="T18" fmla="*/ 0 w 451"/>
                <a:gd name="T19" fmla="*/ 216 h 270"/>
                <a:gd name="T20" fmla="*/ 10 w 451"/>
                <a:gd name="T21" fmla="*/ 243 h 270"/>
                <a:gd name="T22" fmla="*/ 32 w 451"/>
                <a:gd name="T23" fmla="*/ 256 h 270"/>
                <a:gd name="T24" fmla="*/ 72 w 451"/>
                <a:gd name="T25" fmla="*/ 270 h 270"/>
                <a:gd name="T26" fmla="*/ 141 w 451"/>
                <a:gd name="T27" fmla="*/ 270 h 270"/>
                <a:gd name="T28" fmla="*/ 451 w 451"/>
                <a:gd name="T29" fmla="*/ 2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270">
                  <a:moveTo>
                    <a:pt x="451" y="27"/>
                  </a:moveTo>
                  <a:lnTo>
                    <a:pt x="435" y="5"/>
                  </a:lnTo>
                  <a:lnTo>
                    <a:pt x="411" y="0"/>
                  </a:lnTo>
                  <a:lnTo>
                    <a:pt x="373" y="0"/>
                  </a:lnTo>
                  <a:lnTo>
                    <a:pt x="312" y="5"/>
                  </a:lnTo>
                  <a:lnTo>
                    <a:pt x="218" y="37"/>
                  </a:lnTo>
                  <a:lnTo>
                    <a:pt x="112" y="80"/>
                  </a:lnTo>
                  <a:lnTo>
                    <a:pt x="37" y="139"/>
                  </a:lnTo>
                  <a:lnTo>
                    <a:pt x="5" y="179"/>
                  </a:lnTo>
                  <a:lnTo>
                    <a:pt x="0" y="216"/>
                  </a:lnTo>
                  <a:lnTo>
                    <a:pt x="10" y="243"/>
                  </a:lnTo>
                  <a:lnTo>
                    <a:pt x="32" y="256"/>
                  </a:lnTo>
                  <a:lnTo>
                    <a:pt x="72" y="270"/>
                  </a:lnTo>
                  <a:lnTo>
                    <a:pt x="141" y="270"/>
                  </a:lnTo>
                  <a:lnTo>
                    <a:pt x="451" y="27"/>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3" name="Freeform 239">
              <a:extLst>
                <a:ext uri="{FF2B5EF4-FFF2-40B4-BE49-F238E27FC236}">
                  <a16:creationId xmlns:a16="http://schemas.microsoft.com/office/drawing/2014/main" id="{00293C13-6C30-4179-91F4-E5287C7DC7C4}"/>
                </a:ext>
              </a:extLst>
            </p:cNvPr>
            <p:cNvSpPr>
              <a:spLocks/>
            </p:cNvSpPr>
            <p:nvPr/>
          </p:nvSpPr>
          <p:spPr bwMode="auto">
            <a:xfrm>
              <a:off x="2642" y="2143"/>
              <a:ext cx="277" cy="142"/>
            </a:xfrm>
            <a:custGeom>
              <a:avLst/>
              <a:gdLst>
                <a:gd name="T0" fmla="*/ 277 w 277"/>
                <a:gd name="T1" fmla="*/ 16 h 142"/>
                <a:gd name="T2" fmla="*/ 275 w 277"/>
                <a:gd name="T3" fmla="*/ 8 h 142"/>
                <a:gd name="T4" fmla="*/ 261 w 277"/>
                <a:gd name="T5" fmla="*/ 0 h 142"/>
                <a:gd name="T6" fmla="*/ 245 w 277"/>
                <a:gd name="T7" fmla="*/ 0 h 142"/>
                <a:gd name="T8" fmla="*/ 211 w 277"/>
                <a:gd name="T9" fmla="*/ 13 h 142"/>
                <a:gd name="T10" fmla="*/ 149 w 277"/>
                <a:gd name="T11" fmla="*/ 32 h 142"/>
                <a:gd name="T12" fmla="*/ 90 w 277"/>
                <a:gd name="T13" fmla="*/ 59 h 142"/>
                <a:gd name="T14" fmla="*/ 29 w 277"/>
                <a:gd name="T15" fmla="*/ 91 h 142"/>
                <a:gd name="T16" fmla="*/ 0 w 277"/>
                <a:gd name="T17" fmla="*/ 118 h 142"/>
                <a:gd name="T18" fmla="*/ 0 w 277"/>
                <a:gd name="T19" fmla="*/ 126 h 142"/>
                <a:gd name="T20" fmla="*/ 8 w 277"/>
                <a:gd name="T21" fmla="*/ 134 h 142"/>
                <a:gd name="T22" fmla="*/ 117 w 277"/>
                <a:gd name="T23" fmla="*/ 142 h 142"/>
                <a:gd name="T24" fmla="*/ 277 w 277"/>
                <a:gd name="T25"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7" h="142">
                  <a:moveTo>
                    <a:pt x="277" y="16"/>
                  </a:moveTo>
                  <a:lnTo>
                    <a:pt x="275" y="8"/>
                  </a:lnTo>
                  <a:lnTo>
                    <a:pt x="261" y="0"/>
                  </a:lnTo>
                  <a:lnTo>
                    <a:pt x="245" y="0"/>
                  </a:lnTo>
                  <a:lnTo>
                    <a:pt x="211" y="13"/>
                  </a:lnTo>
                  <a:lnTo>
                    <a:pt x="149" y="32"/>
                  </a:lnTo>
                  <a:lnTo>
                    <a:pt x="90" y="59"/>
                  </a:lnTo>
                  <a:lnTo>
                    <a:pt x="29" y="91"/>
                  </a:lnTo>
                  <a:lnTo>
                    <a:pt x="0" y="118"/>
                  </a:lnTo>
                  <a:lnTo>
                    <a:pt x="0" y="126"/>
                  </a:lnTo>
                  <a:lnTo>
                    <a:pt x="8" y="134"/>
                  </a:lnTo>
                  <a:lnTo>
                    <a:pt x="117" y="142"/>
                  </a:lnTo>
                  <a:lnTo>
                    <a:pt x="277" y="16"/>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 name="Freeform 240">
              <a:extLst>
                <a:ext uri="{FF2B5EF4-FFF2-40B4-BE49-F238E27FC236}">
                  <a16:creationId xmlns:a16="http://schemas.microsoft.com/office/drawing/2014/main" id="{81E171E7-CE08-48E6-8020-AE7CDF55CE70}"/>
                </a:ext>
              </a:extLst>
            </p:cNvPr>
            <p:cNvSpPr>
              <a:spLocks/>
            </p:cNvSpPr>
            <p:nvPr/>
          </p:nvSpPr>
          <p:spPr bwMode="auto">
            <a:xfrm>
              <a:off x="2642" y="2143"/>
              <a:ext cx="277" cy="142"/>
            </a:xfrm>
            <a:custGeom>
              <a:avLst/>
              <a:gdLst>
                <a:gd name="T0" fmla="*/ 277 w 277"/>
                <a:gd name="T1" fmla="*/ 16 h 142"/>
                <a:gd name="T2" fmla="*/ 275 w 277"/>
                <a:gd name="T3" fmla="*/ 8 h 142"/>
                <a:gd name="T4" fmla="*/ 261 w 277"/>
                <a:gd name="T5" fmla="*/ 0 h 142"/>
                <a:gd name="T6" fmla="*/ 245 w 277"/>
                <a:gd name="T7" fmla="*/ 0 h 142"/>
                <a:gd name="T8" fmla="*/ 211 w 277"/>
                <a:gd name="T9" fmla="*/ 13 h 142"/>
                <a:gd name="T10" fmla="*/ 149 w 277"/>
                <a:gd name="T11" fmla="*/ 32 h 142"/>
                <a:gd name="T12" fmla="*/ 90 w 277"/>
                <a:gd name="T13" fmla="*/ 59 h 142"/>
                <a:gd name="T14" fmla="*/ 29 w 277"/>
                <a:gd name="T15" fmla="*/ 91 h 142"/>
                <a:gd name="T16" fmla="*/ 0 w 277"/>
                <a:gd name="T17" fmla="*/ 118 h 142"/>
                <a:gd name="T18" fmla="*/ 0 w 277"/>
                <a:gd name="T19" fmla="*/ 126 h 142"/>
                <a:gd name="T20" fmla="*/ 8 w 277"/>
                <a:gd name="T21" fmla="*/ 134 h 142"/>
                <a:gd name="T22" fmla="*/ 117 w 277"/>
                <a:gd name="T23" fmla="*/ 142 h 142"/>
                <a:gd name="T24" fmla="*/ 277 w 277"/>
                <a:gd name="T25"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7" h="142">
                  <a:moveTo>
                    <a:pt x="277" y="16"/>
                  </a:moveTo>
                  <a:lnTo>
                    <a:pt x="275" y="8"/>
                  </a:lnTo>
                  <a:lnTo>
                    <a:pt x="261" y="0"/>
                  </a:lnTo>
                  <a:lnTo>
                    <a:pt x="245" y="0"/>
                  </a:lnTo>
                  <a:lnTo>
                    <a:pt x="211" y="13"/>
                  </a:lnTo>
                  <a:lnTo>
                    <a:pt x="149" y="32"/>
                  </a:lnTo>
                  <a:lnTo>
                    <a:pt x="90" y="59"/>
                  </a:lnTo>
                  <a:lnTo>
                    <a:pt x="29" y="91"/>
                  </a:lnTo>
                  <a:lnTo>
                    <a:pt x="0" y="118"/>
                  </a:lnTo>
                  <a:lnTo>
                    <a:pt x="0" y="126"/>
                  </a:lnTo>
                  <a:lnTo>
                    <a:pt x="8" y="134"/>
                  </a:lnTo>
                  <a:lnTo>
                    <a:pt x="117" y="142"/>
                  </a:lnTo>
                  <a:lnTo>
                    <a:pt x="277" y="16"/>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 name="Freeform 241">
              <a:extLst>
                <a:ext uri="{FF2B5EF4-FFF2-40B4-BE49-F238E27FC236}">
                  <a16:creationId xmlns:a16="http://schemas.microsoft.com/office/drawing/2014/main" id="{EE80096D-8A7D-404F-B30B-A782C80E1DBB}"/>
                </a:ext>
              </a:extLst>
            </p:cNvPr>
            <p:cNvSpPr>
              <a:spLocks/>
            </p:cNvSpPr>
            <p:nvPr/>
          </p:nvSpPr>
          <p:spPr bwMode="auto">
            <a:xfrm>
              <a:off x="3333" y="1469"/>
              <a:ext cx="435" cy="225"/>
            </a:xfrm>
            <a:custGeom>
              <a:avLst/>
              <a:gdLst>
                <a:gd name="T0" fmla="*/ 179 w 435"/>
                <a:gd name="T1" fmla="*/ 0 h 225"/>
                <a:gd name="T2" fmla="*/ 104 w 435"/>
                <a:gd name="T3" fmla="*/ 32 h 225"/>
                <a:gd name="T4" fmla="*/ 46 w 435"/>
                <a:gd name="T5" fmla="*/ 72 h 225"/>
                <a:gd name="T6" fmla="*/ 8 w 435"/>
                <a:gd name="T7" fmla="*/ 118 h 225"/>
                <a:gd name="T8" fmla="*/ 0 w 435"/>
                <a:gd name="T9" fmla="*/ 171 h 225"/>
                <a:gd name="T10" fmla="*/ 13 w 435"/>
                <a:gd name="T11" fmla="*/ 209 h 225"/>
                <a:gd name="T12" fmla="*/ 54 w 435"/>
                <a:gd name="T13" fmla="*/ 225 h 225"/>
                <a:gd name="T14" fmla="*/ 110 w 435"/>
                <a:gd name="T15" fmla="*/ 225 h 225"/>
                <a:gd name="T16" fmla="*/ 163 w 435"/>
                <a:gd name="T17" fmla="*/ 217 h 225"/>
                <a:gd name="T18" fmla="*/ 198 w 435"/>
                <a:gd name="T19" fmla="*/ 206 h 225"/>
                <a:gd name="T20" fmla="*/ 435 w 435"/>
                <a:gd name="T21" fmla="*/ 16 h 225"/>
                <a:gd name="T22" fmla="*/ 179 w 435"/>
                <a:gd name="T23"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5" h="225">
                  <a:moveTo>
                    <a:pt x="179" y="0"/>
                  </a:moveTo>
                  <a:lnTo>
                    <a:pt x="104" y="32"/>
                  </a:lnTo>
                  <a:lnTo>
                    <a:pt x="46" y="72"/>
                  </a:lnTo>
                  <a:lnTo>
                    <a:pt x="8" y="118"/>
                  </a:lnTo>
                  <a:lnTo>
                    <a:pt x="0" y="171"/>
                  </a:lnTo>
                  <a:lnTo>
                    <a:pt x="13" y="209"/>
                  </a:lnTo>
                  <a:lnTo>
                    <a:pt x="54" y="225"/>
                  </a:lnTo>
                  <a:lnTo>
                    <a:pt x="110" y="225"/>
                  </a:lnTo>
                  <a:lnTo>
                    <a:pt x="163" y="217"/>
                  </a:lnTo>
                  <a:lnTo>
                    <a:pt x="198" y="206"/>
                  </a:lnTo>
                  <a:lnTo>
                    <a:pt x="435" y="16"/>
                  </a:lnTo>
                  <a:lnTo>
                    <a:pt x="179" y="0"/>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 name="Freeform 242">
              <a:extLst>
                <a:ext uri="{FF2B5EF4-FFF2-40B4-BE49-F238E27FC236}">
                  <a16:creationId xmlns:a16="http://schemas.microsoft.com/office/drawing/2014/main" id="{4BF56997-E482-4A94-92CE-1F617A655F81}"/>
                </a:ext>
              </a:extLst>
            </p:cNvPr>
            <p:cNvSpPr>
              <a:spLocks/>
            </p:cNvSpPr>
            <p:nvPr/>
          </p:nvSpPr>
          <p:spPr bwMode="auto">
            <a:xfrm>
              <a:off x="3333" y="1469"/>
              <a:ext cx="435" cy="225"/>
            </a:xfrm>
            <a:custGeom>
              <a:avLst/>
              <a:gdLst>
                <a:gd name="T0" fmla="*/ 179 w 435"/>
                <a:gd name="T1" fmla="*/ 0 h 225"/>
                <a:gd name="T2" fmla="*/ 104 w 435"/>
                <a:gd name="T3" fmla="*/ 32 h 225"/>
                <a:gd name="T4" fmla="*/ 46 w 435"/>
                <a:gd name="T5" fmla="*/ 72 h 225"/>
                <a:gd name="T6" fmla="*/ 8 w 435"/>
                <a:gd name="T7" fmla="*/ 118 h 225"/>
                <a:gd name="T8" fmla="*/ 0 w 435"/>
                <a:gd name="T9" fmla="*/ 171 h 225"/>
                <a:gd name="T10" fmla="*/ 13 w 435"/>
                <a:gd name="T11" fmla="*/ 209 h 225"/>
                <a:gd name="T12" fmla="*/ 54 w 435"/>
                <a:gd name="T13" fmla="*/ 225 h 225"/>
                <a:gd name="T14" fmla="*/ 110 w 435"/>
                <a:gd name="T15" fmla="*/ 225 h 225"/>
                <a:gd name="T16" fmla="*/ 163 w 435"/>
                <a:gd name="T17" fmla="*/ 217 h 225"/>
                <a:gd name="T18" fmla="*/ 198 w 435"/>
                <a:gd name="T19" fmla="*/ 206 h 225"/>
                <a:gd name="T20" fmla="*/ 435 w 435"/>
                <a:gd name="T21" fmla="*/ 16 h 225"/>
                <a:gd name="T22" fmla="*/ 179 w 435"/>
                <a:gd name="T23"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5" h="225">
                  <a:moveTo>
                    <a:pt x="179" y="0"/>
                  </a:moveTo>
                  <a:lnTo>
                    <a:pt x="104" y="32"/>
                  </a:lnTo>
                  <a:lnTo>
                    <a:pt x="46" y="72"/>
                  </a:lnTo>
                  <a:lnTo>
                    <a:pt x="8" y="118"/>
                  </a:lnTo>
                  <a:lnTo>
                    <a:pt x="0" y="171"/>
                  </a:lnTo>
                  <a:lnTo>
                    <a:pt x="13" y="209"/>
                  </a:lnTo>
                  <a:lnTo>
                    <a:pt x="54" y="225"/>
                  </a:lnTo>
                  <a:lnTo>
                    <a:pt x="110" y="225"/>
                  </a:lnTo>
                  <a:lnTo>
                    <a:pt x="163" y="217"/>
                  </a:lnTo>
                  <a:lnTo>
                    <a:pt x="198" y="206"/>
                  </a:lnTo>
                  <a:lnTo>
                    <a:pt x="435" y="16"/>
                  </a:lnTo>
                  <a:lnTo>
                    <a:pt x="179"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 name="Freeform 243">
              <a:extLst>
                <a:ext uri="{FF2B5EF4-FFF2-40B4-BE49-F238E27FC236}">
                  <a16:creationId xmlns:a16="http://schemas.microsoft.com/office/drawing/2014/main" id="{D97A1A49-49E9-42C6-A263-6DCAF5C1821E}"/>
                </a:ext>
              </a:extLst>
            </p:cNvPr>
            <p:cNvSpPr>
              <a:spLocks/>
            </p:cNvSpPr>
            <p:nvPr/>
          </p:nvSpPr>
          <p:spPr bwMode="auto">
            <a:xfrm>
              <a:off x="220" y="2114"/>
              <a:ext cx="2539" cy="361"/>
            </a:xfrm>
            <a:custGeom>
              <a:avLst/>
              <a:gdLst>
                <a:gd name="T0" fmla="*/ 0 w 2539"/>
                <a:gd name="T1" fmla="*/ 0 h 361"/>
                <a:gd name="T2" fmla="*/ 0 w 2539"/>
                <a:gd name="T3" fmla="*/ 171 h 361"/>
                <a:gd name="T4" fmla="*/ 2539 w 2539"/>
                <a:gd name="T5" fmla="*/ 361 h 361"/>
                <a:gd name="T6" fmla="*/ 2539 w 2539"/>
                <a:gd name="T7" fmla="*/ 171 h 361"/>
                <a:gd name="T8" fmla="*/ 0 w 2539"/>
                <a:gd name="T9" fmla="*/ 0 h 361"/>
              </a:gdLst>
              <a:ahLst/>
              <a:cxnLst>
                <a:cxn ang="0">
                  <a:pos x="T0" y="T1"/>
                </a:cxn>
                <a:cxn ang="0">
                  <a:pos x="T2" y="T3"/>
                </a:cxn>
                <a:cxn ang="0">
                  <a:pos x="T4" y="T5"/>
                </a:cxn>
                <a:cxn ang="0">
                  <a:pos x="T6" y="T7"/>
                </a:cxn>
                <a:cxn ang="0">
                  <a:pos x="T8" y="T9"/>
                </a:cxn>
              </a:cxnLst>
              <a:rect l="0" t="0" r="r" b="b"/>
              <a:pathLst>
                <a:path w="2539" h="361">
                  <a:moveTo>
                    <a:pt x="0" y="0"/>
                  </a:moveTo>
                  <a:lnTo>
                    <a:pt x="0" y="171"/>
                  </a:lnTo>
                  <a:lnTo>
                    <a:pt x="2539" y="361"/>
                  </a:lnTo>
                  <a:lnTo>
                    <a:pt x="2539" y="171"/>
                  </a:lnTo>
                  <a:lnTo>
                    <a:pt x="0"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 name="Freeform 244">
              <a:extLst>
                <a:ext uri="{FF2B5EF4-FFF2-40B4-BE49-F238E27FC236}">
                  <a16:creationId xmlns:a16="http://schemas.microsoft.com/office/drawing/2014/main" id="{8ED22ACD-A8FB-4901-A54D-A11731515D42}"/>
                </a:ext>
              </a:extLst>
            </p:cNvPr>
            <p:cNvSpPr>
              <a:spLocks/>
            </p:cNvSpPr>
            <p:nvPr/>
          </p:nvSpPr>
          <p:spPr bwMode="auto">
            <a:xfrm>
              <a:off x="220" y="2114"/>
              <a:ext cx="2539" cy="361"/>
            </a:xfrm>
            <a:custGeom>
              <a:avLst/>
              <a:gdLst>
                <a:gd name="T0" fmla="*/ 0 w 2539"/>
                <a:gd name="T1" fmla="*/ 0 h 361"/>
                <a:gd name="T2" fmla="*/ 0 w 2539"/>
                <a:gd name="T3" fmla="*/ 171 h 361"/>
                <a:gd name="T4" fmla="*/ 2539 w 2539"/>
                <a:gd name="T5" fmla="*/ 361 h 361"/>
                <a:gd name="T6" fmla="*/ 2539 w 2539"/>
                <a:gd name="T7" fmla="*/ 171 h 361"/>
                <a:gd name="T8" fmla="*/ 0 w 2539"/>
                <a:gd name="T9" fmla="*/ 0 h 361"/>
              </a:gdLst>
              <a:ahLst/>
              <a:cxnLst>
                <a:cxn ang="0">
                  <a:pos x="T0" y="T1"/>
                </a:cxn>
                <a:cxn ang="0">
                  <a:pos x="T2" y="T3"/>
                </a:cxn>
                <a:cxn ang="0">
                  <a:pos x="T4" y="T5"/>
                </a:cxn>
                <a:cxn ang="0">
                  <a:pos x="T6" y="T7"/>
                </a:cxn>
                <a:cxn ang="0">
                  <a:pos x="T8" y="T9"/>
                </a:cxn>
              </a:cxnLst>
              <a:rect l="0" t="0" r="r" b="b"/>
              <a:pathLst>
                <a:path w="2539" h="361">
                  <a:moveTo>
                    <a:pt x="0" y="0"/>
                  </a:moveTo>
                  <a:lnTo>
                    <a:pt x="0" y="171"/>
                  </a:lnTo>
                  <a:lnTo>
                    <a:pt x="2539" y="361"/>
                  </a:lnTo>
                  <a:lnTo>
                    <a:pt x="2539" y="171"/>
                  </a:lnTo>
                  <a:lnTo>
                    <a:pt x="0"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9" name="Freeform 245">
              <a:extLst>
                <a:ext uri="{FF2B5EF4-FFF2-40B4-BE49-F238E27FC236}">
                  <a16:creationId xmlns:a16="http://schemas.microsoft.com/office/drawing/2014/main" id="{14E0B23B-1593-4592-8DA6-BD2FA241FAC8}"/>
                </a:ext>
              </a:extLst>
            </p:cNvPr>
            <p:cNvSpPr>
              <a:spLocks/>
            </p:cNvSpPr>
            <p:nvPr/>
          </p:nvSpPr>
          <p:spPr bwMode="auto">
            <a:xfrm>
              <a:off x="2756" y="1485"/>
              <a:ext cx="1010" cy="990"/>
            </a:xfrm>
            <a:custGeom>
              <a:avLst/>
              <a:gdLst>
                <a:gd name="T0" fmla="*/ 1010 w 1010"/>
                <a:gd name="T1" fmla="*/ 0 h 990"/>
                <a:gd name="T2" fmla="*/ 0 w 1010"/>
                <a:gd name="T3" fmla="*/ 800 h 990"/>
                <a:gd name="T4" fmla="*/ 0 w 1010"/>
                <a:gd name="T5" fmla="*/ 990 h 990"/>
                <a:gd name="T6" fmla="*/ 1010 w 1010"/>
                <a:gd name="T7" fmla="*/ 185 h 990"/>
                <a:gd name="T8" fmla="*/ 1010 w 1010"/>
                <a:gd name="T9" fmla="*/ 0 h 990"/>
              </a:gdLst>
              <a:ahLst/>
              <a:cxnLst>
                <a:cxn ang="0">
                  <a:pos x="T0" y="T1"/>
                </a:cxn>
                <a:cxn ang="0">
                  <a:pos x="T2" y="T3"/>
                </a:cxn>
                <a:cxn ang="0">
                  <a:pos x="T4" y="T5"/>
                </a:cxn>
                <a:cxn ang="0">
                  <a:pos x="T6" y="T7"/>
                </a:cxn>
                <a:cxn ang="0">
                  <a:pos x="T8" y="T9"/>
                </a:cxn>
              </a:cxnLst>
              <a:rect l="0" t="0" r="r" b="b"/>
              <a:pathLst>
                <a:path w="1010" h="990">
                  <a:moveTo>
                    <a:pt x="1010" y="0"/>
                  </a:moveTo>
                  <a:lnTo>
                    <a:pt x="0" y="800"/>
                  </a:lnTo>
                  <a:lnTo>
                    <a:pt x="0" y="990"/>
                  </a:lnTo>
                  <a:lnTo>
                    <a:pt x="1010" y="185"/>
                  </a:lnTo>
                  <a:lnTo>
                    <a:pt x="1010"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 name="Freeform 246">
              <a:extLst>
                <a:ext uri="{FF2B5EF4-FFF2-40B4-BE49-F238E27FC236}">
                  <a16:creationId xmlns:a16="http://schemas.microsoft.com/office/drawing/2014/main" id="{1EFAFD6E-662E-487F-AD2D-B3972345662A}"/>
                </a:ext>
              </a:extLst>
            </p:cNvPr>
            <p:cNvSpPr>
              <a:spLocks/>
            </p:cNvSpPr>
            <p:nvPr/>
          </p:nvSpPr>
          <p:spPr bwMode="auto">
            <a:xfrm>
              <a:off x="2756" y="1485"/>
              <a:ext cx="1010" cy="990"/>
            </a:xfrm>
            <a:custGeom>
              <a:avLst/>
              <a:gdLst>
                <a:gd name="T0" fmla="*/ 1010 w 1010"/>
                <a:gd name="T1" fmla="*/ 0 h 990"/>
                <a:gd name="T2" fmla="*/ 0 w 1010"/>
                <a:gd name="T3" fmla="*/ 800 h 990"/>
                <a:gd name="T4" fmla="*/ 0 w 1010"/>
                <a:gd name="T5" fmla="*/ 990 h 990"/>
                <a:gd name="T6" fmla="*/ 1010 w 1010"/>
                <a:gd name="T7" fmla="*/ 185 h 990"/>
                <a:gd name="T8" fmla="*/ 1010 w 1010"/>
                <a:gd name="T9" fmla="*/ 0 h 990"/>
              </a:gdLst>
              <a:ahLst/>
              <a:cxnLst>
                <a:cxn ang="0">
                  <a:pos x="T0" y="T1"/>
                </a:cxn>
                <a:cxn ang="0">
                  <a:pos x="T2" y="T3"/>
                </a:cxn>
                <a:cxn ang="0">
                  <a:pos x="T4" y="T5"/>
                </a:cxn>
                <a:cxn ang="0">
                  <a:pos x="T6" y="T7"/>
                </a:cxn>
                <a:cxn ang="0">
                  <a:pos x="T8" y="T9"/>
                </a:cxn>
              </a:cxnLst>
              <a:rect l="0" t="0" r="r" b="b"/>
              <a:pathLst>
                <a:path w="1010" h="990">
                  <a:moveTo>
                    <a:pt x="1010" y="0"/>
                  </a:moveTo>
                  <a:lnTo>
                    <a:pt x="0" y="800"/>
                  </a:lnTo>
                  <a:lnTo>
                    <a:pt x="0" y="990"/>
                  </a:lnTo>
                  <a:lnTo>
                    <a:pt x="1010" y="185"/>
                  </a:lnTo>
                  <a:lnTo>
                    <a:pt x="1010"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 name="Freeform 247">
              <a:extLst>
                <a:ext uri="{FF2B5EF4-FFF2-40B4-BE49-F238E27FC236}">
                  <a16:creationId xmlns:a16="http://schemas.microsoft.com/office/drawing/2014/main" id="{6A26A736-78A7-4DD4-9B40-41AEF17E9714}"/>
                </a:ext>
              </a:extLst>
            </p:cNvPr>
            <p:cNvSpPr>
              <a:spLocks/>
            </p:cNvSpPr>
            <p:nvPr/>
          </p:nvSpPr>
          <p:spPr bwMode="auto">
            <a:xfrm>
              <a:off x="738" y="2156"/>
              <a:ext cx="2179" cy="190"/>
            </a:xfrm>
            <a:custGeom>
              <a:avLst/>
              <a:gdLst>
                <a:gd name="T0" fmla="*/ 1909 w 2179"/>
                <a:gd name="T1" fmla="*/ 118 h 190"/>
                <a:gd name="T2" fmla="*/ 0 w 2179"/>
                <a:gd name="T3" fmla="*/ 166 h 190"/>
                <a:gd name="T4" fmla="*/ 302 w 2179"/>
                <a:gd name="T5" fmla="*/ 190 h 190"/>
                <a:gd name="T6" fmla="*/ 2018 w 2179"/>
                <a:gd name="T7" fmla="*/ 150 h 190"/>
                <a:gd name="T8" fmla="*/ 2163 w 2179"/>
                <a:gd name="T9" fmla="*/ 43 h 190"/>
                <a:gd name="T10" fmla="*/ 2179 w 2179"/>
                <a:gd name="T11" fmla="*/ 0 h 190"/>
                <a:gd name="T12" fmla="*/ 2018 w 2179"/>
                <a:gd name="T13" fmla="*/ 129 h 190"/>
                <a:gd name="T14" fmla="*/ 1909 w 2179"/>
                <a:gd name="T15" fmla="*/ 118 h 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9" h="190">
                  <a:moveTo>
                    <a:pt x="1909" y="118"/>
                  </a:moveTo>
                  <a:lnTo>
                    <a:pt x="0" y="166"/>
                  </a:lnTo>
                  <a:lnTo>
                    <a:pt x="302" y="190"/>
                  </a:lnTo>
                  <a:lnTo>
                    <a:pt x="2018" y="150"/>
                  </a:lnTo>
                  <a:lnTo>
                    <a:pt x="2163" y="43"/>
                  </a:lnTo>
                  <a:lnTo>
                    <a:pt x="2179" y="0"/>
                  </a:lnTo>
                  <a:lnTo>
                    <a:pt x="2018" y="129"/>
                  </a:lnTo>
                  <a:lnTo>
                    <a:pt x="1909" y="118"/>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 name="Freeform 248">
              <a:extLst>
                <a:ext uri="{FF2B5EF4-FFF2-40B4-BE49-F238E27FC236}">
                  <a16:creationId xmlns:a16="http://schemas.microsoft.com/office/drawing/2014/main" id="{38A6EFC3-27AD-4DE0-BEBA-96477D351F11}"/>
                </a:ext>
              </a:extLst>
            </p:cNvPr>
            <p:cNvSpPr>
              <a:spLocks/>
            </p:cNvSpPr>
            <p:nvPr/>
          </p:nvSpPr>
          <p:spPr bwMode="auto">
            <a:xfrm>
              <a:off x="738" y="2156"/>
              <a:ext cx="2179" cy="190"/>
            </a:xfrm>
            <a:custGeom>
              <a:avLst/>
              <a:gdLst>
                <a:gd name="T0" fmla="*/ 1909 w 2179"/>
                <a:gd name="T1" fmla="*/ 118 h 190"/>
                <a:gd name="T2" fmla="*/ 0 w 2179"/>
                <a:gd name="T3" fmla="*/ 166 h 190"/>
                <a:gd name="T4" fmla="*/ 302 w 2179"/>
                <a:gd name="T5" fmla="*/ 190 h 190"/>
                <a:gd name="T6" fmla="*/ 2018 w 2179"/>
                <a:gd name="T7" fmla="*/ 150 h 190"/>
                <a:gd name="T8" fmla="*/ 2163 w 2179"/>
                <a:gd name="T9" fmla="*/ 43 h 190"/>
                <a:gd name="T10" fmla="*/ 2179 w 2179"/>
                <a:gd name="T11" fmla="*/ 0 h 190"/>
                <a:gd name="T12" fmla="*/ 2018 w 2179"/>
                <a:gd name="T13" fmla="*/ 129 h 190"/>
                <a:gd name="T14" fmla="*/ 1909 w 2179"/>
                <a:gd name="T15" fmla="*/ 118 h 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9" h="190">
                  <a:moveTo>
                    <a:pt x="1909" y="118"/>
                  </a:moveTo>
                  <a:lnTo>
                    <a:pt x="0" y="166"/>
                  </a:lnTo>
                  <a:lnTo>
                    <a:pt x="302" y="190"/>
                  </a:lnTo>
                  <a:lnTo>
                    <a:pt x="2018" y="150"/>
                  </a:lnTo>
                  <a:lnTo>
                    <a:pt x="2163" y="43"/>
                  </a:lnTo>
                  <a:lnTo>
                    <a:pt x="2179" y="0"/>
                  </a:lnTo>
                  <a:lnTo>
                    <a:pt x="2018" y="129"/>
                  </a:lnTo>
                  <a:lnTo>
                    <a:pt x="1909" y="118"/>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3" name="Line 249">
              <a:extLst>
                <a:ext uri="{FF2B5EF4-FFF2-40B4-BE49-F238E27FC236}">
                  <a16:creationId xmlns:a16="http://schemas.microsoft.com/office/drawing/2014/main" id="{0A1011FF-EA30-49BC-95BB-4E1BEF1AD8B7}"/>
                </a:ext>
              </a:extLst>
            </p:cNvPr>
            <p:cNvSpPr>
              <a:spLocks noChangeShapeType="1"/>
            </p:cNvSpPr>
            <p:nvPr/>
          </p:nvSpPr>
          <p:spPr bwMode="auto">
            <a:xfrm>
              <a:off x="2756" y="2285"/>
              <a:ext cx="1"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 name="Freeform 250">
              <a:extLst>
                <a:ext uri="{FF2B5EF4-FFF2-40B4-BE49-F238E27FC236}">
                  <a16:creationId xmlns:a16="http://schemas.microsoft.com/office/drawing/2014/main" id="{086321AD-B3CF-4CCF-B0A1-3B9E4AEED0B6}"/>
                </a:ext>
              </a:extLst>
            </p:cNvPr>
            <p:cNvSpPr>
              <a:spLocks/>
            </p:cNvSpPr>
            <p:nvPr/>
          </p:nvSpPr>
          <p:spPr bwMode="auto">
            <a:xfrm>
              <a:off x="3015" y="1833"/>
              <a:ext cx="313" cy="249"/>
            </a:xfrm>
            <a:custGeom>
              <a:avLst/>
              <a:gdLst>
                <a:gd name="T0" fmla="*/ 313 w 313"/>
                <a:gd name="T1" fmla="*/ 0 h 249"/>
                <a:gd name="T2" fmla="*/ 286 w 313"/>
                <a:gd name="T3" fmla="*/ 51 h 249"/>
                <a:gd name="T4" fmla="*/ 227 w 313"/>
                <a:gd name="T5" fmla="*/ 109 h 249"/>
                <a:gd name="T6" fmla="*/ 99 w 313"/>
                <a:gd name="T7" fmla="*/ 206 h 249"/>
                <a:gd name="T8" fmla="*/ 43 w 313"/>
                <a:gd name="T9" fmla="*/ 241 h 249"/>
                <a:gd name="T10" fmla="*/ 0 w 313"/>
                <a:gd name="T11" fmla="*/ 249 h 249"/>
                <a:gd name="T12" fmla="*/ 313 w 313"/>
                <a:gd name="T13" fmla="*/ 0 h 249"/>
              </a:gdLst>
              <a:ahLst/>
              <a:cxnLst>
                <a:cxn ang="0">
                  <a:pos x="T0" y="T1"/>
                </a:cxn>
                <a:cxn ang="0">
                  <a:pos x="T2" y="T3"/>
                </a:cxn>
                <a:cxn ang="0">
                  <a:pos x="T4" y="T5"/>
                </a:cxn>
                <a:cxn ang="0">
                  <a:pos x="T6" y="T7"/>
                </a:cxn>
                <a:cxn ang="0">
                  <a:pos x="T8" y="T9"/>
                </a:cxn>
                <a:cxn ang="0">
                  <a:pos x="T10" y="T11"/>
                </a:cxn>
                <a:cxn ang="0">
                  <a:pos x="T12" y="T13"/>
                </a:cxn>
              </a:cxnLst>
              <a:rect l="0" t="0" r="r" b="b"/>
              <a:pathLst>
                <a:path w="313" h="249">
                  <a:moveTo>
                    <a:pt x="313" y="0"/>
                  </a:moveTo>
                  <a:lnTo>
                    <a:pt x="286" y="51"/>
                  </a:lnTo>
                  <a:lnTo>
                    <a:pt x="227" y="109"/>
                  </a:lnTo>
                  <a:lnTo>
                    <a:pt x="99" y="206"/>
                  </a:lnTo>
                  <a:lnTo>
                    <a:pt x="43" y="241"/>
                  </a:lnTo>
                  <a:lnTo>
                    <a:pt x="0" y="249"/>
                  </a:lnTo>
                  <a:lnTo>
                    <a:pt x="313" y="0"/>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 name="Freeform 251">
              <a:extLst>
                <a:ext uri="{FF2B5EF4-FFF2-40B4-BE49-F238E27FC236}">
                  <a16:creationId xmlns:a16="http://schemas.microsoft.com/office/drawing/2014/main" id="{FBD55986-E71A-4384-898B-47438E4E0B97}"/>
                </a:ext>
              </a:extLst>
            </p:cNvPr>
            <p:cNvSpPr>
              <a:spLocks/>
            </p:cNvSpPr>
            <p:nvPr/>
          </p:nvSpPr>
          <p:spPr bwMode="auto">
            <a:xfrm>
              <a:off x="3015" y="1833"/>
              <a:ext cx="313" cy="249"/>
            </a:xfrm>
            <a:custGeom>
              <a:avLst/>
              <a:gdLst>
                <a:gd name="T0" fmla="*/ 313 w 313"/>
                <a:gd name="T1" fmla="*/ 0 h 249"/>
                <a:gd name="T2" fmla="*/ 286 w 313"/>
                <a:gd name="T3" fmla="*/ 51 h 249"/>
                <a:gd name="T4" fmla="*/ 227 w 313"/>
                <a:gd name="T5" fmla="*/ 109 h 249"/>
                <a:gd name="T6" fmla="*/ 99 w 313"/>
                <a:gd name="T7" fmla="*/ 206 h 249"/>
                <a:gd name="T8" fmla="*/ 43 w 313"/>
                <a:gd name="T9" fmla="*/ 241 h 249"/>
                <a:gd name="T10" fmla="*/ 0 w 313"/>
                <a:gd name="T11" fmla="*/ 249 h 249"/>
                <a:gd name="T12" fmla="*/ 313 w 313"/>
                <a:gd name="T13" fmla="*/ 0 h 249"/>
              </a:gdLst>
              <a:ahLst/>
              <a:cxnLst>
                <a:cxn ang="0">
                  <a:pos x="T0" y="T1"/>
                </a:cxn>
                <a:cxn ang="0">
                  <a:pos x="T2" y="T3"/>
                </a:cxn>
                <a:cxn ang="0">
                  <a:pos x="T4" y="T5"/>
                </a:cxn>
                <a:cxn ang="0">
                  <a:pos x="T6" y="T7"/>
                </a:cxn>
                <a:cxn ang="0">
                  <a:pos x="T8" y="T9"/>
                </a:cxn>
                <a:cxn ang="0">
                  <a:pos x="T10" y="T11"/>
                </a:cxn>
                <a:cxn ang="0">
                  <a:pos x="T12" y="T13"/>
                </a:cxn>
              </a:cxnLst>
              <a:rect l="0" t="0" r="r" b="b"/>
              <a:pathLst>
                <a:path w="313" h="249">
                  <a:moveTo>
                    <a:pt x="313" y="0"/>
                  </a:moveTo>
                  <a:lnTo>
                    <a:pt x="286" y="51"/>
                  </a:lnTo>
                  <a:lnTo>
                    <a:pt x="227" y="109"/>
                  </a:lnTo>
                  <a:lnTo>
                    <a:pt x="99" y="206"/>
                  </a:lnTo>
                  <a:lnTo>
                    <a:pt x="43" y="241"/>
                  </a:lnTo>
                  <a:lnTo>
                    <a:pt x="0" y="249"/>
                  </a:lnTo>
                  <a:lnTo>
                    <a:pt x="313"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 name="Freeform 252">
              <a:extLst>
                <a:ext uri="{FF2B5EF4-FFF2-40B4-BE49-F238E27FC236}">
                  <a16:creationId xmlns:a16="http://schemas.microsoft.com/office/drawing/2014/main" id="{19FA3FF1-2CB5-455C-BF4D-D98E1474BCE1}"/>
                </a:ext>
              </a:extLst>
            </p:cNvPr>
            <p:cNvSpPr>
              <a:spLocks/>
            </p:cNvSpPr>
            <p:nvPr/>
          </p:nvSpPr>
          <p:spPr bwMode="auto">
            <a:xfrm>
              <a:off x="3525" y="1483"/>
              <a:ext cx="243" cy="195"/>
            </a:xfrm>
            <a:custGeom>
              <a:avLst/>
              <a:gdLst>
                <a:gd name="T0" fmla="*/ 0 w 243"/>
                <a:gd name="T1" fmla="*/ 195 h 195"/>
                <a:gd name="T2" fmla="*/ 153 w 243"/>
                <a:gd name="T3" fmla="*/ 112 h 195"/>
                <a:gd name="T4" fmla="*/ 243 w 243"/>
                <a:gd name="T5" fmla="*/ 26 h 195"/>
                <a:gd name="T6" fmla="*/ 243 w 243"/>
                <a:gd name="T7" fmla="*/ 0 h 195"/>
                <a:gd name="T8" fmla="*/ 0 w 243"/>
                <a:gd name="T9" fmla="*/ 195 h 195"/>
              </a:gdLst>
              <a:ahLst/>
              <a:cxnLst>
                <a:cxn ang="0">
                  <a:pos x="T0" y="T1"/>
                </a:cxn>
                <a:cxn ang="0">
                  <a:pos x="T2" y="T3"/>
                </a:cxn>
                <a:cxn ang="0">
                  <a:pos x="T4" y="T5"/>
                </a:cxn>
                <a:cxn ang="0">
                  <a:pos x="T6" y="T7"/>
                </a:cxn>
                <a:cxn ang="0">
                  <a:pos x="T8" y="T9"/>
                </a:cxn>
              </a:cxnLst>
              <a:rect l="0" t="0" r="r" b="b"/>
              <a:pathLst>
                <a:path w="243" h="195">
                  <a:moveTo>
                    <a:pt x="0" y="195"/>
                  </a:moveTo>
                  <a:lnTo>
                    <a:pt x="153" y="112"/>
                  </a:lnTo>
                  <a:lnTo>
                    <a:pt x="243" y="26"/>
                  </a:lnTo>
                  <a:lnTo>
                    <a:pt x="243" y="0"/>
                  </a:lnTo>
                  <a:lnTo>
                    <a:pt x="0" y="195"/>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 name="Freeform 253">
              <a:extLst>
                <a:ext uri="{FF2B5EF4-FFF2-40B4-BE49-F238E27FC236}">
                  <a16:creationId xmlns:a16="http://schemas.microsoft.com/office/drawing/2014/main" id="{599EA3C6-A4F6-443A-AEB5-2BFF7A8DEE2A}"/>
                </a:ext>
              </a:extLst>
            </p:cNvPr>
            <p:cNvSpPr>
              <a:spLocks/>
            </p:cNvSpPr>
            <p:nvPr/>
          </p:nvSpPr>
          <p:spPr bwMode="auto">
            <a:xfrm>
              <a:off x="3525" y="1483"/>
              <a:ext cx="243" cy="195"/>
            </a:xfrm>
            <a:custGeom>
              <a:avLst/>
              <a:gdLst>
                <a:gd name="T0" fmla="*/ 0 w 243"/>
                <a:gd name="T1" fmla="*/ 195 h 195"/>
                <a:gd name="T2" fmla="*/ 153 w 243"/>
                <a:gd name="T3" fmla="*/ 112 h 195"/>
                <a:gd name="T4" fmla="*/ 243 w 243"/>
                <a:gd name="T5" fmla="*/ 26 h 195"/>
                <a:gd name="T6" fmla="*/ 243 w 243"/>
                <a:gd name="T7" fmla="*/ 0 h 195"/>
                <a:gd name="T8" fmla="*/ 0 w 243"/>
                <a:gd name="T9" fmla="*/ 195 h 195"/>
              </a:gdLst>
              <a:ahLst/>
              <a:cxnLst>
                <a:cxn ang="0">
                  <a:pos x="T0" y="T1"/>
                </a:cxn>
                <a:cxn ang="0">
                  <a:pos x="T2" y="T3"/>
                </a:cxn>
                <a:cxn ang="0">
                  <a:pos x="T4" y="T5"/>
                </a:cxn>
                <a:cxn ang="0">
                  <a:pos x="T6" y="T7"/>
                </a:cxn>
                <a:cxn ang="0">
                  <a:pos x="T8" y="T9"/>
                </a:cxn>
              </a:cxnLst>
              <a:rect l="0" t="0" r="r" b="b"/>
              <a:pathLst>
                <a:path w="243" h="195">
                  <a:moveTo>
                    <a:pt x="0" y="195"/>
                  </a:moveTo>
                  <a:lnTo>
                    <a:pt x="153" y="112"/>
                  </a:lnTo>
                  <a:lnTo>
                    <a:pt x="243" y="26"/>
                  </a:lnTo>
                  <a:lnTo>
                    <a:pt x="243" y="0"/>
                  </a:lnTo>
                  <a:lnTo>
                    <a:pt x="0" y="195"/>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 name="Freeform 254">
              <a:extLst>
                <a:ext uri="{FF2B5EF4-FFF2-40B4-BE49-F238E27FC236}">
                  <a16:creationId xmlns:a16="http://schemas.microsoft.com/office/drawing/2014/main" id="{7668EADF-FAA0-49CD-A315-F6921D2820E4}"/>
                </a:ext>
              </a:extLst>
            </p:cNvPr>
            <p:cNvSpPr>
              <a:spLocks/>
            </p:cNvSpPr>
            <p:nvPr/>
          </p:nvSpPr>
          <p:spPr bwMode="auto">
            <a:xfrm>
              <a:off x="217" y="2162"/>
              <a:ext cx="935" cy="45"/>
            </a:xfrm>
            <a:custGeom>
              <a:avLst/>
              <a:gdLst>
                <a:gd name="T0" fmla="*/ 713 w 935"/>
                <a:gd name="T1" fmla="*/ 0 h 45"/>
                <a:gd name="T2" fmla="*/ 0 w 935"/>
                <a:gd name="T3" fmla="*/ 18 h 45"/>
                <a:gd name="T4" fmla="*/ 0 w 935"/>
                <a:gd name="T5" fmla="*/ 45 h 45"/>
                <a:gd name="T6" fmla="*/ 935 w 935"/>
                <a:gd name="T7" fmla="*/ 13 h 45"/>
                <a:gd name="T8" fmla="*/ 713 w 935"/>
                <a:gd name="T9" fmla="*/ 0 h 45"/>
              </a:gdLst>
              <a:ahLst/>
              <a:cxnLst>
                <a:cxn ang="0">
                  <a:pos x="T0" y="T1"/>
                </a:cxn>
                <a:cxn ang="0">
                  <a:pos x="T2" y="T3"/>
                </a:cxn>
                <a:cxn ang="0">
                  <a:pos x="T4" y="T5"/>
                </a:cxn>
                <a:cxn ang="0">
                  <a:pos x="T6" y="T7"/>
                </a:cxn>
                <a:cxn ang="0">
                  <a:pos x="T8" y="T9"/>
                </a:cxn>
              </a:cxnLst>
              <a:rect l="0" t="0" r="r" b="b"/>
              <a:pathLst>
                <a:path w="935" h="45">
                  <a:moveTo>
                    <a:pt x="713" y="0"/>
                  </a:moveTo>
                  <a:lnTo>
                    <a:pt x="0" y="18"/>
                  </a:lnTo>
                  <a:lnTo>
                    <a:pt x="0" y="45"/>
                  </a:lnTo>
                  <a:lnTo>
                    <a:pt x="935" y="13"/>
                  </a:lnTo>
                  <a:lnTo>
                    <a:pt x="713" y="0"/>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 name="Freeform 255">
              <a:extLst>
                <a:ext uri="{FF2B5EF4-FFF2-40B4-BE49-F238E27FC236}">
                  <a16:creationId xmlns:a16="http://schemas.microsoft.com/office/drawing/2014/main" id="{53A57651-B0AD-4317-A38C-B2C2020381E1}"/>
                </a:ext>
              </a:extLst>
            </p:cNvPr>
            <p:cNvSpPr>
              <a:spLocks/>
            </p:cNvSpPr>
            <p:nvPr/>
          </p:nvSpPr>
          <p:spPr bwMode="auto">
            <a:xfrm>
              <a:off x="217" y="2162"/>
              <a:ext cx="935" cy="45"/>
            </a:xfrm>
            <a:custGeom>
              <a:avLst/>
              <a:gdLst>
                <a:gd name="T0" fmla="*/ 713 w 935"/>
                <a:gd name="T1" fmla="*/ 0 h 45"/>
                <a:gd name="T2" fmla="*/ 0 w 935"/>
                <a:gd name="T3" fmla="*/ 18 h 45"/>
                <a:gd name="T4" fmla="*/ 0 w 935"/>
                <a:gd name="T5" fmla="*/ 45 h 45"/>
                <a:gd name="T6" fmla="*/ 935 w 935"/>
                <a:gd name="T7" fmla="*/ 13 h 45"/>
                <a:gd name="T8" fmla="*/ 713 w 935"/>
                <a:gd name="T9" fmla="*/ 0 h 45"/>
              </a:gdLst>
              <a:ahLst/>
              <a:cxnLst>
                <a:cxn ang="0">
                  <a:pos x="T0" y="T1"/>
                </a:cxn>
                <a:cxn ang="0">
                  <a:pos x="T2" y="T3"/>
                </a:cxn>
                <a:cxn ang="0">
                  <a:pos x="T4" y="T5"/>
                </a:cxn>
                <a:cxn ang="0">
                  <a:pos x="T6" y="T7"/>
                </a:cxn>
                <a:cxn ang="0">
                  <a:pos x="T8" y="T9"/>
                </a:cxn>
              </a:cxnLst>
              <a:rect l="0" t="0" r="r" b="b"/>
              <a:pathLst>
                <a:path w="935" h="45">
                  <a:moveTo>
                    <a:pt x="713" y="0"/>
                  </a:moveTo>
                  <a:lnTo>
                    <a:pt x="0" y="18"/>
                  </a:lnTo>
                  <a:lnTo>
                    <a:pt x="0" y="45"/>
                  </a:lnTo>
                  <a:lnTo>
                    <a:pt x="935" y="13"/>
                  </a:lnTo>
                  <a:lnTo>
                    <a:pt x="713"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0" name="Line 256">
              <a:extLst>
                <a:ext uri="{FF2B5EF4-FFF2-40B4-BE49-F238E27FC236}">
                  <a16:creationId xmlns:a16="http://schemas.microsoft.com/office/drawing/2014/main" id="{AF6FCE89-9459-45C7-8428-5838B18C38CF}"/>
                </a:ext>
              </a:extLst>
            </p:cNvPr>
            <p:cNvSpPr>
              <a:spLocks noChangeShapeType="1"/>
            </p:cNvSpPr>
            <p:nvPr/>
          </p:nvSpPr>
          <p:spPr bwMode="auto">
            <a:xfrm>
              <a:off x="1403" y="2194"/>
              <a:ext cx="152" cy="10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 name="Line 257">
              <a:extLst>
                <a:ext uri="{FF2B5EF4-FFF2-40B4-BE49-F238E27FC236}">
                  <a16:creationId xmlns:a16="http://schemas.microsoft.com/office/drawing/2014/main" id="{A9D8377C-E7F9-4360-9F3B-AD9338209862}"/>
                </a:ext>
              </a:extLst>
            </p:cNvPr>
            <p:cNvSpPr>
              <a:spLocks noChangeShapeType="1"/>
            </p:cNvSpPr>
            <p:nvPr/>
          </p:nvSpPr>
          <p:spPr bwMode="auto">
            <a:xfrm>
              <a:off x="1512" y="2207"/>
              <a:ext cx="134" cy="8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 name="Line 258">
              <a:extLst>
                <a:ext uri="{FF2B5EF4-FFF2-40B4-BE49-F238E27FC236}">
                  <a16:creationId xmlns:a16="http://schemas.microsoft.com/office/drawing/2014/main" id="{3A4173CC-C6D0-4B17-B07A-26017E31B665}"/>
                </a:ext>
              </a:extLst>
            </p:cNvPr>
            <p:cNvSpPr>
              <a:spLocks noChangeShapeType="1"/>
            </p:cNvSpPr>
            <p:nvPr/>
          </p:nvSpPr>
          <p:spPr bwMode="auto">
            <a:xfrm>
              <a:off x="1614" y="2210"/>
              <a:ext cx="128"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 name="Line 259">
              <a:extLst>
                <a:ext uri="{FF2B5EF4-FFF2-40B4-BE49-F238E27FC236}">
                  <a16:creationId xmlns:a16="http://schemas.microsoft.com/office/drawing/2014/main" id="{892E15F0-F101-4105-B18D-276503B3F893}"/>
                </a:ext>
              </a:extLst>
            </p:cNvPr>
            <p:cNvSpPr>
              <a:spLocks noChangeShapeType="1"/>
            </p:cNvSpPr>
            <p:nvPr/>
          </p:nvSpPr>
          <p:spPr bwMode="auto">
            <a:xfrm>
              <a:off x="1710" y="2215"/>
              <a:ext cx="125" cy="7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 name="Line 260">
              <a:extLst>
                <a:ext uri="{FF2B5EF4-FFF2-40B4-BE49-F238E27FC236}">
                  <a16:creationId xmlns:a16="http://schemas.microsoft.com/office/drawing/2014/main" id="{1316693D-9206-4903-93B1-3D5BB16E3A79}"/>
                </a:ext>
              </a:extLst>
            </p:cNvPr>
            <p:cNvSpPr>
              <a:spLocks noChangeShapeType="1"/>
            </p:cNvSpPr>
            <p:nvPr/>
          </p:nvSpPr>
          <p:spPr bwMode="auto">
            <a:xfrm>
              <a:off x="1811" y="2226"/>
              <a:ext cx="104"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 name="Line 261">
              <a:extLst>
                <a:ext uri="{FF2B5EF4-FFF2-40B4-BE49-F238E27FC236}">
                  <a16:creationId xmlns:a16="http://schemas.microsoft.com/office/drawing/2014/main" id="{CCD3F8CE-FCFE-4D34-A90E-748AFE0AD60C}"/>
                </a:ext>
              </a:extLst>
            </p:cNvPr>
            <p:cNvSpPr>
              <a:spLocks noChangeShapeType="1"/>
            </p:cNvSpPr>
            <p:nvPr/>
          </p:nvSpPr>
          <p:spPr bwMode="auto">
            <a:xfrm>
              <a:off x="1897" y="2231"/>
              <a:ext cx="90"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6" name="Line 262">
              <a:extLst>
                <a:ext uri="{FF2B5EF4-FFF2-40B4-BE49-F238E27FC236}">
                  <a16:creationId xmlns:a16="http://schemas.microsoft.com/office/drawing/2014/main" id="{6AE28E4D-0B9F-4065-831D-6FF10FAF43F9}"/>
                </a:ext>
              </a:extLst>
            </p:cNvPr>
            <p:cNvSpPr>
              <a:spLocks noChangeShapeType="1"/>
            </p:cNvSpPr>
            <p:nvPr/>
          </p:nvSpPr>
          <p:spPr bwMode="auto">
            <a:xfrm>
              <a:off x="1979" y="2234"/>
              <a:ext cx="86" cy="5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7" name="Line 263">
              <a:extLst>
                <a:ext uri="{FF2B5EF4-FFF2-40B4-BE49-F238E27FC236}">
                  <a16:creationId xmlns:a16="http://schemas.microsoft.com/office/drawing/2014/main" id="{F5CDCE71-3FA8-4D9D-9159-BE4D2BA0C7CC}"/>
                </a:ext>
              </a:extLst>
            </p:cNvPr>
            <p:cNvSpPr>
              <a:spLocks noChangeShapeType="1"/>
            </p:cNvSpPr>
            <p:nvPr/>
          </p:nvSpPr>
          <p:spPr bwMode="auto">
            <a:xfrm>
              <a:off x="2065" y="2239"/>
              <a:ext cx="75" cy="4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8" name="Line 264">
              <a:extLst>
                <a:ext uri="{FF2B5EF4-FFF2-40B4-BE49-F238E27FC236}">
                  <a16:creationId xmlns:a16="http://schemas.microsoft.com/office/drawing/2014/main" id="{63A6230A-8014-4817-8907-B0EDACC069E5}"/>
                </a:ext>
              </a:extLst>
            </p:cNvPr>
            <p:cNvSpPr>
              <a:spLocks noChangeShapeType="1"/>
            </p:cNvSpPr>
            <p:nvPr/>
          </p:nvSpPr>
          <p:spPr bwMode="auto">
            <a:xfrm>
              <a:off x="2145" y="2247"/>
              <a:ext cx="59" cy="3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9" name="Line 265">
              <a:extLst>
                <a:ext uri="{FF2B5EF4-FFF2-40B4-BE49-F238E27FC236}">
                  <a16:creationId xmlns:a16="http://schemas.microsoft.com/office/drawing/2014/main" id="{FCA47632-1570-4C41-93E2-FCD14A879BC7}"/>
                </a:ext>
              </a:extLst>
            </p:cNvPr>
            <p:cNvSpPr>
              <a:spLocks noChangeShapeType="1"/>
            </p:cNvSpPr>
            <p:nvPr/>
          </p:nvSpPr>
          <p:spPr bwMode="auto">
            <a:xfrm>
              <a:off x="2222" y="2250"/>
              <a:ext cx="62" cy="3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0" name="Line 266">
              <a:extLst>
                <a:ext uri="{FF2B5EF4-FFF2-40B4-BE49-F238E27FC236}">
                  <a16:creationId xmlns:a16="http://schemas.microsoft.com/office/drawing/2014/main" id="{9BC99605-F9F0-46BB-9952-47A2F2B4D125}"/>
                </a:ext>
              </a:extLst>
            </p:cNvPr>
            <p:cNvSpPr>
              <a:spLocks noChangeShapeType="1"/>
            </p:cNvSpPr>
            <p:nvPr/>
          </p:nvSpPr>
          <p:spPr bwMode="auto">
            <a:xfrm>
              <a:off x="2303" y="2255"/>
              <a:ext cx="42"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1" name="Line 267">
              <a:extLst>
                <a:ext uri="{FF2B5EF4-FFF2-40B4-BE49-F238E27FC236}">
                  <a16:creationId xmlns:a16="http://schemas.microsoft.com/office/drawing/2014/main" id="{85D26EE3-A598-4453-AB28-F7494E2814E4}"/>
                </a:ext>
              </a:extLst>
            </p:cNvPr>
            <p:cNvSpPr>
              <a:spLocks noChangeShapeType="1"/>
            </p:cNvSpPr>
            <p:nvPr/>
          </p:nvSpPr>
          <p:spPr bwMode="auto">
            <a:xfrm>
              <a:off x="2369" y="2261"/>
              <a:ext cx="46" cy="1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2" name="Line 268">
              <a:extLst>
                <a:ext uri="{FF2B5EF4-FFF2-40B4-BE49-F238E27FC236}">
                  <a16:creationId xmlns:a16="http://schemas.microsoft.com/office/drawing/2014/main" id="{4E3B55AA-679F-4D41-B76B-6B79D80A7B57}"/>
                </a:ext>
              </a:extLst>
            </p:cNvPr>
            <p:cNvSpPr>
              <a:spLocks noChangeShapeType="1"/>
            </p:cNvSpPr>
            <p:nvPr/>
          </p:nvSpPr>
          <p:spPr bwMode="auto">
            <a:xfrm>
              <a:off x="1301" y="2191"/>
              <a:ext cx="158" cy="11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3" name="Line 269">
              <a:extLst>
                <a:ext uri="{FF2B5EF4-FFF2-40B4-BE49-F238E27FC236}">
                  <a16:creationId xmlns:a16="http://schemas.microsoft.com/office/drawing/2014/main" id="{807F005D-318F-4C14-9C73-F9B45C47F631}"/>
                </a:ext>
              </a:extLst>
            </p:cNvPr>
            <p:cNvSpPr>
              <a:spLocks noChangeShapeType="1"/>
            </p:cNvSpPr>
            <p:nvPr/>
          </p:nvSpPr>
          <p:spPr bwMode="auto">
            <a:xfrm>
              <a:off x="1203" y="2186"/>
              <a:ext cx="152" cy="11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4" name="Line 270">
              <a:extLst>
                <a:ext uri="{FF2B5EF4-FFF2-40B4-BE49-F238E27FC236}">
                  <a16:creationId xmlns:a16="http://schemas.microsoft.com/office/drawing/2014/main" id="{F0623F6A-C8AC-43A4-B162-559799236393}"/>
                </a:ext>
              </a:extLst>
            </p:cNvPr>
            <p:cNvSpPr>
              <a:spLocks noChangeShapeType="1"/>
            </p:cNvSpPr>
            <p:nvPr/>
          </p:nvSpPr>
          <p:spPr bwMode="auto">
            <a:xfrm>
              <a:off x="1106" y="2183"/>
              <a:ext cx="153" cy="11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5" name="Line 271">
              <a:extLst>
                <a:ext uri="{FF2B5EF4-FFF2-40B4-BE49-F238E27FC236}">
                  <a16:creationId xmlns:a16="http://schemas.microsoft.com/office/drawing/2014/main" id="{FA8FF10B-A7E6-4E53-99CD-FCBB2E422971}"/>
                </a:ext>
              </a:extLst>
            </p:cNvPr>
            <p:cNvSpPr>
              <a:spLocks noChangeShapeType="1"/>
            </p:cNvSpPr>
            <p:nvPr/>
          </p:nvSpPr>
          <p:spPr bwMode="auto">
            <a:xfrm>
              <a:off x="1026" y="2186"/>
              <a:ext cx="169" cy="12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6" name="Line 272">
              <a:extLst>
                <a:ext uri="{FF2B5EF4-FFF2-40B4-BE49-F238E27FC236}">
                  <a16:creationId xmlns:a16="http://schemas.microsoft.com/office/drawing/2014/main" id="{8AD9A239-A246-460E-9922-7CA8F65D7C1F}"/>
                </a:ext>
              </a:extLst>
            </p:cNvPr>
            <p:cNvSpPr>
              <a:spLocks noChangeShapeType="1"/>
            </p:cNvSpPr>
            <p:nvPr/>
          </p:nvSpPr>
          <p:spPr bwMode="auto">
            <a:xfrm>
              <a:off x="946" y="2186"/>
              <a:ext cx="152" cy="12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7" name="Line 273">
              <a:extLst>
                <a:ext uri="{FF2B5EF4-FFF2-40B4-BE49-F238E27FC236}">
                  <a16:creationId xmlns:a16="http://schemas.microsoft.com/office/drawing/2014/main" id="{4BBB222A-7040-4ED3-B801-4249C3AD769C}"/>
                </a:ext>
              </a:extLst>
            </p:cNvPr>
            <p:cNvSpPr>
              <a:spLocks noChangeShapeType="1"/>
            </p:cNvSpPr>
            <p:nvPr/>
          </p:nvSpPr>
          <p:spPr bwMode="auto">
            <a:xfrm>
              <a:off x="858" y="2186"/>
              <a:ext cx="168" cy="12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8" name="Line 274">
              <a:extLst>
                <a:ext uri="{FF2B5EF4-FFF2-40B4-BE49-F238E27FC236}">
                  <a16:creationId xmlns:a16="http://schemas.microsoft.com/office/drawing/2014/main" id="{2642406E-BE49-482A-9DC6-D603A26C6A9D}"/>
                </a:ext>
              </a:extLst>
            </p:cNvPr>
            <p:cNvSpPr>
              <a:spLocks noChangeShapeType="1"/>
            </p:cNvSpPr>
            <p:nvPr/>
          </p:nvSpPr>
          <p:spPr bwMode="auto">
            <a:xfrm>
              <a:off x="775" y="2197"/>
              <a:ext cx="158" cy="11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9" name="Line 275">
              <a:extLst>
                <a:ext uri="{FF2B5EF4-FFF2-40B4-BE49-F238E27FC236}">
                  <a16:creationId xmlns:a16="http://schemas.microsoft.com/office/drawing/2014/main" id="{8CFF2BB3-4EC9-4759-914F-E4707981495C}"/>
                </a:ext>
              </a:extLst>
            </p:cNvPr>
            <p:cNvSpPr>
              <a:spLocks noChangeShapeType="1"/>
            </p:cNvSpPr>
            <p:nvPr/>
          </p:nvSpPr>
          <p:spPr bwMode="auto">
            <a:xfrm>
              <a:off x="674" y="2197"/>
              <a:ext cx="160" cy="12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0" name="Line 276">
              <a:extLst>
                <a:ext uri="{FF2B5EF4-FFF2-40B4-BE49-F238E27FC236}">
                  <a16:creationId xmlns:a16="http://schemas.microsoft.com/office/drawing/2014/main" id="{605C0684-5951-4DBE-BC92-D57B6B74E545}"/>
                </a:ext>
              </a:extLst>
            </p:cNvPr>
            <p:cNvSpPr>
              <a:spLocks noChangeShapeType="1"/>
            </p:cNvSpPr>
            <p:nvPr/>
          </p:nvSpPr>
          <p:spPr bwMode="auto">
            <a:xfrm>
              <a:off x="586" y="2199"/>
              <a:ext cx="152" cy="11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1" name="Line 277">
              <a:extLst>
                <a:ext uri="{FF2B5EF4-FFF2-40B4-BE49-F238E27FC236}">
                  <a16:creationId xmlns:a16="http://schemas.microsoft.com/office/drawing/2014/main" id="{2FE79453-6B6B-47FD-8B39-25E71E24642A}"/>
                </a:ext>
              </a:extLst>
            </p:cNvPr>
            <p:cNvSpPr>
              <a:spLocks noChangeShapeType="1"/>
            </p:cNvSpPr>
            <p:nvPr/>
          </p:nvSpPr>
          <p:spPr bwMode="auto">
            <a:xfrm>
              <a:off x="498" y="2197"/>
              <a:ext cx="128" cy="11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2" name="Line 278">
              <a:extLst>
                <a:ext uri="{FF2B5EF4-FFF2-40B4-BE49-F238E27FC236}">
                  <a16:creationId xmlns:a16="http://schemas.microsoft.com/office/drawing/2014/main" id="{31F5962C-F5E1-460A-80A8-E6766CA6BEE6}"/>
                </a:ext>
              </a:extLst>
            </p:cNvPr>
            <p:cNvSpPr>
              <a:spLocks noChangeShapeType="1"/>
            </p:cNvSpPr>
            <p:nvPr/>
          </p:nvSpPr>
          <p:spPr bwMode="auto">
            <a:xfrm>
              <a:off x="423" y="2207"/>
              <a:ext cx="117" cy="9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3" name="Line 279">
              <a:extLst>
                <a:ext uri="{FF2B5EF4-FFF2-40B4-BE49-F238E27FC236}">
                  <a16:creationId xmlns:a16="http://schemas.microsoft.com/office/drawing/2014/main" id="{561A7617-C8D3-47B7-ABCC-D6F73257370B}"/>
                </a:ext>
              </a:extLst>
            </p:cNvPr>
            <p:cNvSpPr>
              <a:spLocks noChangeShapeType="1"/>
            </p:cNvSpPr>
            <p:nvPr/>
          </p:nvSpPr>
          <p:spPr bwMode="auto">
            <a:xfrm>
              <a:off x="332" y="2207"/>
              <a:ext cx="99" cy="8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4" name="Line 280">
              <a:extLst>
                <a:ext uri="{FF2B5EF4-FFF2-40B4-BE49-F238E27FC236}">
                  <a16:creationId xmlns:a16="http://schemas.microsoft.com/office/drawing/2014/main" id="{A9DFCB3F-2ABF-4E8F-99A2-BA7172C3821D}"/>
                </a:ext>
              </a:extLst>
            </p:cNvPr>
            <p:cNvSpPr>
              <a:spLocks noChangeShapeType="1"/>
            </p:cNvSpPr>
            <p:nvPr/>
          </p:nvSpPr>
          <p:spPr bwMode="auto">
            <a:xfrm>
              <a:off x="247" y="2210"/>
              <a:ext cx="104" cy="7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5" name="Line 281">
              <a:extLst>
                <a:ext uri="{FF2B5EF4-FFF2-40B4-BE49-F238E27FC236}">
                  <a16:creationId xmlns:a16="http://schemas.microsoft.com/office/drawing/2014/main" id="{8DC876D6-0089-4C43-AAA4-14166668CD80}"/>
                </a:ext>
              </a:extLst>
            </p:cNvPr>
            <p:cNvSpPr>
              <a:spLocks noChangeShapeType="1"/>
            </p:cNvSpPr>
            <p:nvPr/>
          </p:nvSpPr>
          <p:spPr bwMode="auto">
            <a:xfrm>
              <a:off x="223" y="2253"/>
              <a:ext cx="45" cy="3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6" name="Line 282">
              <a:extLst>
                <a:ext uri="{FF2B5EF4-FFF2-40B4-BE49-F238E27FC236}">
                  <a16:creationId xmlns:a16="http://schemas.microsoft.com/office/drawing/2014/main" id="{B96F8C75-314B-44C3-8924-B9A119013850}"/>
                </a:ext>
              </a:extLst>
            </p:cNvPr>
            <p:cNvSpPr>
              <a:spLocks noChangeShapeType="1"/>
            </p:cNvSpPr>
            <p:nvPr/>
          </p:nvSpPr>
          <p:spPr bwMode="auto">
            <a:xfrm>
              <a:off x="231" y="2119"/>
              <a:ext cx="90"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7" name="Line 283">
              <a:extLst>
                <a:ext uri="{FF2B5EF4-FFF2-40B4-BE49-F238E27FC236}">
                  <a16:creationId xmlns:a16="http://schemas.microsoft.com/office/drawing/2014/main" id="{F7CA9AF8-8547-448C-A67C-9E3681DA60F1}"/>
                </a:ext>
              </a:extLst>
            </p:cNvPr>
            <p:cNvSpPr>
              <a:spLocks noChangeShapeType="1"/>
            </p:cNvSpPr>
            <p:nvPr/>
          </p:nvSpPr>
          <p:spPr bwMode="auto">
            <a:xfrm>
              <a:off x="308" y="2124"/>
              <a:ext cx="104"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8" name="Line 284">
              <a:extLst>
                <a:ext uri="{FF2B5EF4-FFF2-40B4-BE49-F238E27FC236}">
                  <a16:creationId xmlns:a16="http://schemas.microsoft.com/office/drawing/2014/main" id="{4816E63F-CF26-46BA-A4F6-C7B0544D88AB}"/>
                </a:ext>
              </a:extLst>
            </p:cNvPr>
            <p:cNvSpPr>
              <a:spLocks noChangeShapeType="1"/>
            </p:cNvSpPr>
            <p:nvPr/>
          </p:nvSpPr>
          <p:spPr bwMode="auto">
            <a:xfrm>
              <a:off x="412" y="2132"/>
              <a:ext cx="54"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9" name="Line 285">
              <a:extLst>
                <a:ext uri="{FF2B5EF4-FFF2-40B4-BE49-F238E27FC236}">
                  <a16:creationId xmlns:a16="http://schemas.microsoft.com/office/drawing/2014/main" id="{D267E0CD-5106-4D8B-B430-F7ACA783674F}"/>
                </a:ext>
              </a:extLst>
            </p:cNvPr>
            <p:cNvSpPr>
              <a:spLocks noChangeShapeType="1"/>
            </p:cNvSpPr>
            <p:nvPr/>
          </p:nvSpPr>
          <p:spPr bwMode="auto">
            <a:xfrm>
              <a:off x="466" y="2132"/>
              <a:ext cx="61" cy="4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0" name="Line 286">
              <a:extLst>
                <a:ext uri="{FF2B5EF4-FFF2-40B4-BE49-F238E27FC236}">
                  <a16:creationId xmlns:a16="http://schemas.microsoft.com/office/drawing/2014/main" id="{B1691C7C-6EE0-4566-9B43-FE685D30412E}"/>
                </a:ext>
              </a:extLst>
            </p:cNvPr>
            <p:cNvSpPr>
              <a:spLocks noChangeShapeType="1"/>
            </p:cNvSpPr>
            <p:nvPr/>
          </p:nvSpPr>
          <p:spPr bwMode="auto">
            <a:xfrm>
              <a:off x="546" y="2138"/>
              <a:ext cx="50" cy="2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1" name="Line 287">
              <a:extLst>
                <a:ext uri="{FF2B5EF4-FFF2-40B4-BE49-F238E27FC236}">
                  <a16:creationId xmlns:a16="http://schemas.microsoft.com/office/drawing/2014/main" id="{74F0E97E-C706-4E25-BB94-3236DAEB6C39}"/>
                </a:ext>
              </a:extLst>
            </p:cNvPr>
            <p:cNvSpPr>
              <a:spLocks noChangeShapeType="1"/>
            </p:cNvSpPr>
            <p:nvPr/>
          </p:nvSpPr>
          <p:spPr bwMode="auto">
            <a:xfrm>
              <a:off x="618" y="2140"/>
              <a:ext cx="40" cy="2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2" name="Line 288">
              <a:extLst>
                <a:ext uri="{FF2B5EF4-FFF2-40B4-BE49-F238E27FC236}">
                  <a16:creationId xmlns:a16="http://schemas.microsoft.com/office/drawing/2014/main" id="{5612DC5C-81C4-4BD5-A025-73B847FE1EFE}"/>
                </a:ext>
              </a:extLst>
            </p:cNvPr>
            <p:cNvSpPr>
              <a:spLocks noChangeShapeType="1"/>
            </p:cNvSpPr>
            <p:nvPr/>
          </p:nvSpPr>
          <p:spPr bwMode="auto">
            <a:xfrm>
              <a:off x="677" y="2146"/>
              <a:ext cx="40"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3" name="Line 289">
              <a:extLst>
                <a:ext uri="{FF2B5EF4-FFF2-40B4-BE49-F238E27FC236}">
                  <a16:creationId xmlns:a16="http://schemas.microsoft.com/office/drawing/2014/main" id="{CA4C11CA-8383-4ADA-80D4-3C2B2C3D519E}"/>
                </a:ext>
              </a:extLst>
            </p:cNvPr>
            <p:cNvSpPr>
              <a:spLocks noChangeShapeType="1"/>
            </p:cNvSpPr>
            <p:nvPr/>
          </p:nvSpPr>
          <p:spPr bwMode="auto">
            <a:xfrm>
              <a:off x="220" y="2154"/>
              <a:ext cx="35"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4" name="Line 290">
              <a:extLst>
                <a:ext uri="{FF2B5EF4-FFF2-40B4-BE49-F238E27FC236}">
                  <a16:creationId xmlns:a16="http://schemas.microsoft.com/office/drawing/2014/main" id="{463851B6-8082-497D-8C1D-47B985026FC0}"/>
                </a:ext>
              </a:extLst>
            </p:cNvPr>
            <p:cNvSpPr>
              <a:spLocks noChangeShapeType="1"/>
            </p:cNvSpPr>
            <p:nvPr/>
          </p:nvSpPr>
          <p:spPr bwMode="auto">
            <a:xfrm>
              <a:off x="2532" y="2314"/>
              <a:ext cx="203" cy="15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5" name="Line 291">
              <a:extLst>
                <a:ext uri="{FF2B5EF4-FFF2-40B4-BE49-F238E27FC236}">
                  <a16:creationId xmlns:a16="http://schemas.microsoft.com/office/drawing/2014/main" id="{38A73047-3D24-4546-9CD4-AEF15D03C55E}"/>
                </a:ext>
              </a:extLst>
            </p:cNvPr>
            <p:cNvSpPr>
              <a:spLocks noChangeShapeType="1"/>
            </p:cNvSpPr>
            <p:nvPr/>
          </p:nvSpPr>
          <p:spPr bwMode="auto">
            <a:xfrm>
              <a:off x="2636" y="2312"/>
              <a:ext cx="118" cy="8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6" name="Line 292">
              <a:extLst>
                <a:ext uri="{FF2B5EF4-FFF2-40B4-BE49-F238E27FC236}">
                  <a16:creationId xmlns:a16="http://schemas.microsoft.com/office/drawing/2014/main" id="{690A3510-FE9E-4F95-8DE2-5CEDBC55A050}"/>
                </a:ext>
              </a:extLst>
            </p:cNvPr>
            <p:cNvSpPr>
              <a:spLocks noChangeShapeType="1"/>
            </p:cNvSpPr>
            <p:nvPr/>
          </p:nvSpPr>
          <p:spPr bwMode="auto">
            <a:xfrm>
              <a:off x="2719" y="2317"/>
              <a:ext cx="37" cy="2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7" name="Line 293">
              <a:extLst>
                <a:ext uri="{FF2B5EF4-FFF2-40B4-BE49-F238E27FC236}">
                  <a16:creationId xmlns:a16="http://schemas.microsoft.com/office/drawing/2014/main" id="{D23917E7-6574-4E61-9AC6-4EF20AFBD4BA}"/>
                </a:ext>
              </a:extLst>
            </p:cNvPr>
            <p:cNvSpPr>
              <a:spLocks noChangeShapeType="1"/>
            </p:cNvSpPr>
            <p:nvPr/>
          </p:nvSpPr>
          <p:spPr bwMode="auto">
            <a:xfrm>
              <a:off x="2425" y="2325"/>
              <a:ext cx="174" cy="13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8" name="Line 294">
              <a:extLst>
                <a:ext uri="{FF2B5EF4-FFF2-40B4-BE49-F238E27FC236}">
                  <a16:creationId xmlns:a16="http://schemas.microsoft.com/office/drawing/2014/main" id="{B1F8D27E-7E1C-4B10-A0B0-7F0C8A6D94BA}"/>
                </a:ext>
              </a:extLst>
            </p:cNvPr>
            <p:cNvSpPr>
              <a:spLocks noChangeShapeType="1"/>
            </p:cNvSpPr>
            <p:nvPr/>
          </p:nvSpPr>
          <p:spPr bwMode="auto">
            <a:xfrm>
              <a:off x="2316" y="2328"/>
              <a:ext cx="141" cy="12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99" name="Line 295">
              <a:extLst>
                <a:ext uri="{FF2B5EF4-FFF2-40B4-BE49-F238E27FC236}">
                  <a16:creationId xmlns:a16="http://schemas.microsoft.com/office/drawing/2014/main" id="{AD04FB9A-6A60-498F-8D31-8FE070633408}"/>
                </a:ext>
              </a:extLst>
            </p:cNvPr>
            <p:cNvSpPr>
              <a:spLocks noChangeShapeType="1"/>
            </p:cNvSpPr>
            <p:nvPr/>
          </p:nvSpPr>
          <p:spPr bwMode="auto">
            <a:xfrm>
              <a:off x="2198" y="2322"/>
              <a:ext cx="147" cy="11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0" name="Line 296">
              <a:extLst>
                <a:ext uri="{FF2B5EF4-FFF2-40B4-BE49-F238E27FC236}">
                  <a16:creationId xmlns:a16="http://schemas.microsoft.com/office/drawing/2014/main" id="{CC6FAA20-C4D3-47F9-B606-182A23DAD599}"/>
                </a:ext>
              </a:extLst>
            </p:cNvPr>
            <p:cNvSpPr>
              <a:spLocks noChangeShapeType="1"/>
            </p:cNvSpPr>
            <p:nvPr/>
          </p:nvSpPr>
          <p:spPr bwMode="auto">
            <a:xfrm>
              <a:off x="2113" y="2330"/>
              <a:ext cx="131" cy="10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1" name="Line 297">
              <a:extLst>
                <a:ext uri="{FF2B5EF4-FFF2-40B4-BE49-F238E27FC236}">
                  <a16:creationId xmlns:a16="http://schemas.microsoft.com/office/drawing/2014/main" id="{801B7E25-6E6C-4129-B11D-1B2AE3C6F25A}"/>
                </a:ext>
              </a:extLst>
            </p:cNvPr>
            <p:cNvSpPr>
              <a:spLocks noChangeShapeType="1"/>
            </p:cNvSpPr>
            <p:nvPr/>
          </p:nvSpPr>
          <p:spPr bwMode="auto">
            <a:xfrm>
              <a:off x="1990" y="2330"/>
              <a:ext cx="131" cy="9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2" name="Line 298">
              <a:extLst>
                <a:ext uri="{FF2B5EF4-FFF2-40B4-BE49-F238E27FC236}">
                  <a16:creationId xmlns:a16="http://schemas.microsoft.com/office/drawing/2014/main" id="{99532719-1ECE-439B-9CF6-98F81736940F}"/>
                </a:ext>
              </a:extLst>
            </p:cNvPr>
            <p:cNvSpPr>
              <a:spLocks noChangeShapeType="1"/>
            </p:cNvSpPr>
            <p:nvPr/>
          </p:nvSpPr>
          <p:spPr bwMode="auto">
            <a:xfrm>
              <a:off x="1881" y="2330"/>
              <a:ext cx="109"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3" name="Line 299">
              <a:extLst>
                <a:ext uri="{FF2B5EF4-FFF2-40B4-BE49-F238E27FC236}">
                  <a16:creationId xmlns:a16="http://schemas.microsoft.com/office/drawing/2014/main" id="{970DE9AF-B69A-4B5D-9C38-4A67C444CB8F}"/>
                </a:ext>
              </a:extLst>
            </p:cNvPr>
            <p:cNvSpPr>
              <a:spLocks noChangeShapeType="1"/>
            </p:cNvSpPr>
            <p:nvPr/>
          </p:nvSpPr>
          <p:spPr bwMode="auto">
            <a:xfrm>
              <a:off x="1801" y="2333"/>
              <a:ext cx="82" cy="7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4" name="Line 300">
              <a:extLst>
                <a:ext uri="{FF2B5EF4-FFF2-40B4-BE49-F238E27FC236}">
                  <a16:creationId xmlns:a16="http://schemas.microsoft.com/office/drawing/2014/main" id="{E84B955A-B7FC-491D-B336-3E2504C571FD}"/>
                </a:ext>
              </a:extLst>
            </p:cNvPr>
            <p:cNvSpPr>
              <a:spLocks noChangeShapeType="1"/>
            </p:cNvSpPr>
            <p:nvPr/>
          </p:nvSpPr>
          <p:spPr bwMode="auto">
            <a:xfrm>
              <a:off x="1691" y="2330"/>
              <a:ext cx="91" cy="7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5" name="Line 301">
              <a:extLst>
                <a:ext uri="{FF2B5EF4-FFF2-40B4-BE49-F238E27FC236}">
                  <a16:creationId xmlns:a16="http://schemas.microsoft.com/office/drawing/2014/main" id="{A86437F2-2F60-4919-8F9D-6F04A9E25119}"/>
                </a:ext>
              </a:extLst>
            </p:cNvPr>
            <p:cNvSpPr>
              <a:spLocks noChangeShapeType="1"/>
            </p:cNvSpPr>
            <p:nvPr/>
          </p:nvSpPr>
          <p:spPr bwMode="auto">
            <a:xfrm>
              <a:off x="1590" y="2336"/>
              <a:ext cx="77" cy="5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6" name="Line 302">
              <a:extLst>
                <a:ext uri="{FF2B5EF4-FFF2-40B4-BE49-F238E27FC236}">
                  <a16:creationId xmlns:a16="http://schemas.microsoft.com/office/drawing/2014/main" id="{E7B873AF-7B1D-4828-B009-210CDB7E919C}"/>
                </a:ext>
              </a:extLst>
            </p:cNvPr>
            <p:cNvSpPr>
              <a:spLocks noChangeShapeType="1"/>
            </p:cNvSpPr>
            <p:nvPr/>
          </p:nvSpPr>
          <p:spPr bwMode="auto">
            <a:xfrm>
              <a:off x="1480" y="2338"/>
              <a:ext cx="67" cy="4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7" name="Line 303">
              <a:extLst>
                <a:ext uri="{FF2B5EF4-FFF2-40B4-BE49-F238E27FC236}">
                  <a16:creationId xmlns:a16="http://schemas.microsoft.com/office/drawing/2014/main" id="{0301A71D-9B84-4CB5-A2EA-3C88D1AA3158}"/>
                </a:ext>
              </a:extLst>
            </p:cNvPr>
            <p:cNvSpPr>
              <a:spLocks noChangeShapeType="1"/>
            </p:cNvSpPr>
            <p:nvPr/>
          </p:nvSpPr>
          <p:spPr bwMode="auto">
            <a:xfrm>
              <a:off x="1373" y="2341"/>
              <a:ext cx="46"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8" name="Line 304">
              <a:extLst>
                <a:ext uri="{FF2B5EF4-FFF2-40B4-BE49-F238E27FC236}">
                  <a16:creationId xmlns:a16="http://schemas.microsoft.com/office/drawing/2014/main" id="{EB71E984-5BE9-4CB4-B2AE-A1ECFD53D433}"/>
                </a:ext>
              </a:extLst>
            </p:cNvPr>
            <p:cNvSpPr>
              <a:spLocks noChangeShapeType="1"/>
            </p:cNvSpPr>
            <p:nvPr/>
          </p:nvSpPr>
          <p:spPr bwMode="auto">
            <a:xfrm>
              <a:off x="1285" y="2344"/>
              <a:ext cx="27"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09" name="Freeform 305">
              <a:extLst>
                <a:ext uri="{FF2B5EF4-FFF2-40B4-BE49-F238E27FC236}">
                  <a16:creationId xmlns:a16="http://schemas.microsoft.com/office/drawing/2014/main" id="{4A795154-426D-4D50-9A7E-F0AA046775E1}"/>
                </a:ext>
              </a:extLst>
            </p:cNvPr>
            <p:cNvSpPr>
              <a:spLocks/>
            </p:cNvSpPr>
            <p:nvPr/>
          </p:nvSpPr>
          <p:spPr bwMode="auto">
            <a:xfrm>
              <a:off x="2925" y="2028"/>
              <a:ext cx="280" cy="219"/>
            </a:xfrm>
            <a:custGeom>
              <a:avLst/>
              <a:gdLst>
                <a:gd name="T0" fmla="*/ 280 w 280"/>
                <a:gd name="T1" fmla="*/ 0 h 219"/>
                <a:gd name="T2" fmla="*/ 0 w 280"/>
                <a:gd name="T3" fmla="*/ 217 h 219"/>
                <a:gd name="T4" fmla="*/ 24 w 280"/>
                <a:gd name="T5" fmla="*/ 219 h 219"/>
                <a:gd name="T6" fmla="*/ 96 w 280"/>
                <a:gd name="T7" fmla="*/ 187 h 219"/>
                <a:gd name="T8" fmla="*/ 259 w 280"/>
                <a:gd name="T9" fmla="*/ 43 h 219"/>
                <a:gd name="T10" fmla="*/ 280 w 280"/>
                <a:gd name="T11" fmla="*/ 0 h 219"/>
              </a:gdLst>
              <a:ahLst/>
              <a:cxnLst>
                <a:cxn ang="0">
                  <a:pos x="T0" y="T1"/>
                </a:cxn>
                <a:cxn ang="0">
                  <a:pos x="T2" y="T3"/>
                </a:cxn>
                <a:cxn ang="0">
                  <a:pos x="T4" y="T5"/>
                </a:cxn>
                <a:cxn ang="0">
                  <a:pos x="T6" y="T7"/>
                </a:cxn>
                <a:cxn ang="0">
                  <a:pos x="T8" y="T9"/>
                </a:cxn>
                <a:cxn ang="0">
                  <a:pos x="T10" y="T11"/>
                </a:cxn>
              </a:cxnLst>
              <a:rect l="0" t="0" r="r" b="b"/>
              <a:pathLst>
                <a:path w="280" h="219">
                  <a:moveTo>
                    <a:pt x="280" y="0"/>
                  </a:moveTo>
                  <a:lnTo>
                    <a:pt x="0" y="217"/>
                  </a:lnTo>
                  <a:lnTo>
                    <a:pt x="24" y="219"/>
                  </a:lnTo>
                  <a:lnTo>
                    <a:pt x="96" y="187"/>
                  </a:lnTo>
                  <a:lnTo>
                    <a:pt x="259" y="43"/>
                  </a:lnTo>
                  <a:lnTo>
                    <a:pt x="280" y="0"/>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0" name="Freeform 306">
              <a:extLst>
                <a:ext uri="{FF2B5EF4-FFF2-40B4-BE49-F238E27FC236}">
                  <a16:creationId xmlns:a16="http://schemas.microsoft.com/office/drawing/2014/main" id="{CBD7B437-053E-4099-B10E-9A81B48FAD1A}"/>
                </a:ext>
              </a:extLst>
            </p:cNvPr>
            <p:cNvSpPr>
              <a:spLocks/>
            </p:cNvSpPr>
            <p:nvPr/>
          </p:nvSpPr>
          <p:spPr bwMode="auto">
            <a:xfrm>
              <a:off x="2925" y="2028"/>
              <a:ext cx="280" cy="219"/>
            </a:xfrm>
            <a:custGeom>
              <a:avLst/>
              <a:gdLst>
                <a:gd name="T0" fmla="*/ 280 w 280"/>
                <a:gd name="T1" fmla="*/ 0 h 219"/>
                <a:gd name="T2" fmla="*/ 0 w 280"/>
                <a:gd name="T3" fmla="*/ 217 h 219"/>
                <a:gd name="T4" fmla="*/ 24 w 280"/>
                <a:gd name="T5" fmla="*/ 219 h 219"/>
                <a:gd name="T6" fmla="*/ 96 w 280"/>
                <a:gd name="T7" fmla="*/ 187 h 219"/>
                <a:gd name="T8" fmla="*/ 259 w 280"/>
                <a:gd name="T9" fmla="*/ 43 h 219"/>
                <a:gd name="T10" fmla="*/ 280 w 280"/>
                <a:gd name="T11" fmla="*/ 0 h 219"/>
              </a:gdLst>
              <a:ahLst/>
              <a:cxnLst>
                <a:cxn ang="0">
                  <a:pos x="T0" y="T1"/>
                </a:cxn>
                <a:cxn ang="0">
                  <a:pos x="T2" y="T3"/>
                </a:cxn>
                <a:cxn ang="0">
                  <a:pos x="T4" y="T5"/>
                </a:cxn>
                <a:cxn ang="0">
                  <a:pos x="T6" y="T7"/>
                </a:cxn>
                <a:cxn ang="0">
                  <a:pos x="T8" y="T9"/>
                </a:cxn>
                <a:cxn ang="0">
                  <a:pos x="T10" y="T11"/>
                </a:cxn>
              </a:cxnLst>
              <a:rect l="0" t="0" r="r" b="b"/>
              <a:pathLst>
                <a:path w="280" h="219">
                  <a:moveTo>
                    <a:pt x="280" y="0"/>
                  </a:moveTo>
                  <a:lnTo>
                    <a:pt x="0" y="217"/>
                  </a:lnTo>
                  <a:lnTo>
                    <a:pt x="24" y="219"/>
                  </a:lnTo>
                  <a:lnTo>
                    <a:pt x="96" y="187"/>
                  </a:lnTo>
                  <a:lnTo>
                    <a:pt x="259" y="43"/>
                  </a:lnTo>
                  <a:lnTo>
                    <a:pt x="280"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1" name="Freeform 307">
              <a:extLst>
                <a:ext uri="{FF2B5EF4-FFF2-40B4-BE49-F238E27FC236}">
                  <a16:creationId xmlns:a16="http://schemas.microsoft.com/office/drawing/2014/main" id="{9E34371E-CB0E-4A82-98AB-8155D29F2C65}"/>
                </a:ext>
              </a:extLst>
            </p:cNvPr>
            <p:cNvSpPr>
              <a:spLocks/>
            </p:cNvSpPr>
            <p:nvPr/>
          </p:nvSpPr>
          <p:spPr bwMode="auto">
            <a:xfrm>
              <a:off x="3491" y="1624"/>
              <a:ext cx="224" cy="177"/>
            </a:xfrm>
            <a:custGeom>
              <a:avLst/>
              <a:gdLst>
                <a:gd name="T0" fmla="*/ 224 w 224"/>
                <a:gd name="T1" fmla="*/ 0 h 177"/>
                <a:gd name="T2" fmla="*/ 0 w 224"/>
                <a:gd name="T3" fmla="*/ 174 h 177"/>
                <a:gd name="T4" fmla="*/ 18 w 224"/>
                <a:gd name="T5" fmla="*/ 177 h 177"/>
                <a:gd name="T6" fmla="*/ 77 w 224"/>
                <a:gd name="T7" fmla="*/ 150 h 177"/>
                <a:gd name="T8" fmla="*/ 205 w 224"/>
                <a:gd name="T9" fmla="*/ 35 h 177"/>
                <a:gd name="T10" fmla="*/ 224 w 224"/>
                <a:gd name="T11" fmla="*/ 0 h 177"/>
              </a:gdLst>
              <a:ahLst/>
              <a:cxnLst>
                <a:cxn ang="0">
                  <a:pos x="T0" y="T1"/>
                </a:cxn>
                <a:cxn ang="0">
                  <a:pos x="T2" y="T3"/>
                </a:cxn>
                <a:cxn ang="0">
                  <a:pos x="T4" y="T5"/>
                </a:cxn>
                <a:cxn ang="0">
                  <a:pos x="T6" y="T7"/>
                </a:cxn>
                <a:cxn ang="0">
                  <a:pos x="T8" y="T9"/>
                </a:cxn>
                <a:cxn ang="0">
                  <a:pos x="T10" y="T11"/>
                </a:cxn>
              </a:cxnLst>
              <a:rect l="0" t="0" r="r" b="b"/>
              <a:pathLst>
                <a:path w="224" h="177">
                  <a:moveTo>
                    <a:pt x="224" y="0"/>
                  </a:moveTo>
                  <a:lnTo>
                    <a:pt x="0" y="174"/>
                  </a:lnTo>
                  <a:lnTo>
                    <a:pt x="18" y="177"/>
                  </a:lnTo>
                  <a:lnTo>
                    <a:pt x="77" y="150"/>
                  </a:lnTo>
                  <a:lnTo>
                    <a:pt x="205" y="35"/>
                  </a:lnTo>
                  <a:lnTo>
                    <a:pt x="224" y="0"/>
                  </a:lnTo>
                  <a:close/>
                </a:path>
              </a:pathLst>
            </a:custGeom>
            <a:solidFill>
              <a:srgbClr val="FFFB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2" name="Freeform 308">
              <a:extLst>
                <a:ext uri="{FF2B5EF4-FFF2-40B4-BE49-F238E27FC236}">
                  <a16:creationId xmlns:a16="http://schemas.microsoft.com/office/drawing/2014/main" id="{3BE8754F-42BC-4FD6-AA61-9C2B0D1EB04A}"/>
                </a:ext>
              </a:extLst>
            </p:cNvPr>
            <p:cNvSpPr>
              <a:spLocks/>
            </p:cNvSpPr>
            <p:nvPr/>
          </p:nvSpPr>
          <p:spPr bwMode="auto">
            <a:xfrm>
              <a:off x="3491" y="1624"/>
              <a:ext cx="224" cy="177"/>
            </a:xfrm>
            <a:custGeom>
              <a:avLst/>
              <a:gdLst>
                <a:gd name="T0" fmla="*/ 224 w 224"/>
                <a:gd name="T1" fmla="*/ 0 h 177"/>
                <a:gd name="T2" fmla="*/ 0 w 224"/>
                <a:gd name="T3" fmla="*/ 174 h 177"/>
                <a:gd name="T4" fmla="*/ 18 w 224"/>
                <a:gd name="T5" fmla="*/ 177 h 177"/>
                <a:gd name="T6" fmla="*/ 77 w 224"/>
                <a:gd name="T7" fmla="*/ 150 h 177"/>
                <a:gd name="T8" fmla="*/ 205 w 224"/>
                <a:gd name="T9" fmla="*/ 35 h 177"/>
                <a:gd name="T10" fmla="*/ 224 w 224"/>
                <a:gd name="T11" fmla="*/ 0 h 177"/>
              </a:gdLst>
              <a:ahLst/>
              <a:cxnLst>
                <a:cxn ang="0">
                  <a:pos x="T0" y="T1"/>
                </a:cxn>
                <a:cxn ang="0">
                  <a:pos x="T2" y="T3"/>
                </a:cxn>
                <a:cxn ang="0">
                  <a:pos x="T4" y="T5"/>
                </a:cxn>
                <a:cxn ang="0">
                  <a:pos x="T6" y="T7"/>
                </a:cxn>
                <a:cxn ang="0">
                  <a:pos x="T8" y="T9"/>
                </a:cxn>
                <a:cxn ang="0">
                  <a:pos x="T10" y="T11"/>
                </a:cxn>
              </a:cxnLst>
              <a:rect l="0" t="0" r="r" b="b"/>
              <a:pathLst>
                <a:path w="224" h="177">
                  <a:moveTo>
                    <a:pt x="224" y="0"/>
                  </a:moveTo>
                  <a:lnTo>
                    <a:pt x="0" y="174"/>
                  </a:lnTo>
                  <a:lnTo>
                    <a:pt x="18" y="177"/>
                  </a:lnTo>
                  <a:lnTo>
                    <a:pt x="77" y="150"/>
                  </a:lnTo>
                  <a:lnTo>
                    <a:pt x="205" y="35"/>
                  </a:lnTo>
                  <a:lnTo>
                    <a:pt x="224"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3" name="Freeform 309">
              <a:extLst>
                <a:ext uri="{FF2B5EF4-FFF2-40B4-BE49-F238E27FC236}">
                  <a16:creationId xmlns:a16="http://schemas.microsoft.com/office/drawing/2014/main" id="{DB42D1FA-B44E-4BCD-A8B6-1A9135875927}"/>
                </a:ext>
              </a:extLst>
            </p:cNvPr>
            <p:cNvSpPr>
              <a:spLocks/>
            </p:cNvSpPr>
            <p:nvPr/>
          </p:nvSpPr>
          <p:spPr bwMode="auto">
            <a:xfrm>
              <a:off x="3189" y="1838"/>
              <a:ext cx="136" cy="227"/>
            </a:xfrm>
            <a:custGeom>
              <a:avLst/>
              <a:gdLst>
                <a:gd name="T0" fmla="*/ 136 w 136"/>
                <a:gd name="T1" fmla="*/ 0 h 227"/>
                <a:gd name="T2" fmla="*/ 96 w 136"/>
                <a:gd name="T3" fmla="*/ 88 h 227"/>
                <a:gd name="T4" fmla="*/ 27 w 136"/>
                <a:gd name="T5" fmla="*/ 190 h 227"/>
                <a:gd name="T6" fmla="*/ 0 w 136"/>
                <a:gd name="T7" fmla="*/ 227 h 227"/>
              </a:gdLst>
              <a:ahLst/>
              <a:cxnLst>
                <a:cxn ang="0">
                  <a:pos x="T0" y="T1"/>
                </a:cxn>
                <a:cxn ang="0">
                  <a:pos x="T2" y="T3"/>
                </a:cxn>
                <a:cxn ang="0">
                  <a:pos x="T4" y="T5"/>
                </a:cxn>
                <a:cxn ang="0">
                  <a:pos x="T6" y="T7"/>
                </a:cxn>
              </a:cxnLst>
              <a:rect l="0" t="0" r="r" b="b"/>
              <a:pathLst>
                <a:path w="136" h="227">
                  <a:moveTo>
                    <a:pt x="136" y="0"/>
                  </a:moveTo>
                  <a:lnTo>
                    <a:pt x="96" y="88"/>
                  </a:lnTo>
                  <a:lnTo>
                    <a:pt x="27" y="190"/>
                  </a:lnTo>
                  <a:lnTo>
                    <a:pt x="0" y="227"/>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4" name="Freeform 310">
              <a:extLst>
                <a:ext uri="{FF2B5EF4-FFF2-40B4-BE49-F238E27FC236}">
                  <a16:creationId xmlns:a16="http://schemas.microsoft.com/office/drawing/2014/main" id="{0485203F-66BA-42C7-9312-515FD9907A36}"/>
                </a:ext>
              </a:extLst>
            </p:cNvPr>
            <p:cNvSpPr>
              <a:spLocks/>
            </p:cNvSpPr>
            <p:nvPr/>
          </p:nvSpPr>
          <p:spPr bwMode="auto">
            <a:xfrm>
              <a:off x="2829" y="1948"/>
              <a:ext cx="413" cy="315"/>
            </a:xfrm>
            <a:custGeom>
              <a:avLst/>
              <a:gdLst>
                <a:gd name="T0" fmla="*/ 413 w 413"/>
                <a:gd name="T1" fmla="*/ 0 h 315"/>
                <a:gd name="T2" fmla="*/ 360 w 413"/>
                <a:gd name="T3" fmla="*/ 80 h 315"/>
                <a:gd name="T4" fmla="*/ 269 w 413"/>
                <a:gd name="T5" fmla="*/ 158 h 315"/>
                <a:gd name="T6" fmla="*/ 146 w 413"/>
                <a:gd name="T7" fmla="*/ 249 h 315"/>
                <a:gd name="T8" fmla="*/ 0 w 413"/>
                <a:gd name="T9" fmla="*/ 315 h 315"/>
              </a:gdLst>
              <a:ahLst/>
              <a:cxnLst>
                <a:cxn ang="0">
                  <a:pos x="T0" y="T1"/>
                </a:cxn>
                <a:cxn ang="0">
                  <a:pos x="T2" y="T3"/>
                </a:cxn>
                <a:cxn ang="0">
                  <a:pos x="T4" y="T5"/>
                </a:cxn>
                <a:cxn ang="0">
                  <a:pos x="T6" y="T7"/>
                </a:cxn>
                <a:cxn ang="0">
                  <a:pos x="T8" y="T9"/>
                </a:cxn>
              </a:cxnLst>
              <a:rect l="0" t="0" r="r" b="b"/>
              <a:pathLst>
                <a:path w="413" h="315">
                  <a:moveTo>
                    <a:pt x="413" y="0"/>
                  </a:moveTo>
                  <a:lnTo>
                    <a:pt x="360" y="80"/>
                  </a:lnTo>
                  <a:lnTo>
                    <a:pt x="269" y="158"/>
                  </a:lnTo>
                  <a:lnTo>
                    <a:pt x="146" y="249"/>
                  </a:lnTo>
                  <a:lnTo>
                    <a:pt x="0" y="31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5" name="Freeform 311">
              <a:extLst>
                <a:ext uri="{FF2B5EF4-FFF2-40B4-BE49-F238E27FC236}">
                  <a16:creationId xmlns:a16="http://schemas.microsoft.com/office/drawing/2014/main" id="{4E221DF2-9E1D-4AA0-9AC1-5186CBFD02C7}"/>
                </a:ext>
              </a:extLst>
            </p:cNvPr>
            <p:cNvSpPr>
              <a:spLocks/>
            </p:cNvSpPr>
            <p:nvPr/>
          </p:nvSpPr>
          <p:spPr bwMode="auto">
            <a:xfrm>
              <a:off x="2906" y="2020"/>
              <a:ext cx="246" cy="166"/>
            </a:xfrm>
            <a:custGeom>
              <a:avLst/>
              <a:gdLst>
                <a:gd name="T0" fmla="*/ 246 w 246"/>
                <a:gd name="T1" fmla="*/ 0 h 166"/>
                <a:gd name="T2" fmla="*/ 181 w 246"/>
                <a:gd name="T3" fmla="*/ 67 h 166"/>
                <a:gd name="T4" fmla="*/ 83 w 246"/>
                <a:gd name="T5" fmla="*/ 134 h 166"/>
                <a:gd name="T6" fmla="*/ 0 w 246"/>
                <a:gd name="T7" fmla="*/ 166 h 166"/>
              </a:gdLst>
              <a:ahLst/>
              <a:cxnLst>
                <a:cxn ang="0">
                  <a:pos x="T0" y="T1"/>
                </a:cxn>
                <a:cxn ang="0">
                  <a:pos x="T2" y="T3"/>
                </a:cxn>
                <a:cxn ang="0">
                  <a:pos x="T4" y="T5"/>
                </a:cxn>
                <a:cxn ang="0">
                  <a:pos x="T6" y="T7"/>
                </a:cxn>
              </a:cxnLst>
              <a:rect l="0" t="0" r="r" b="b"/>
              <a:pathLst>
                <a:path w="246" h="166">
                  <a:moveTo>
                    <a:pt x="246" y="0"/>
                  </a:moveTo>
                  <a:lnTo>
                    <a:pt x="181" y="67"/>
                  </a:lnTo>
                  <a:lnTo>
                    <a:pt x="83" y="134"/>
                  </a:lnTo>
                  <a:lnTo>
                    <a:pt x="0" y="16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6" name="Freeform 312">
              <a:extLst>
                <a:ext uri="{FF2B5EF4-FFF2-40B4-BE49-F238E27FC236}">
                  <a16:creationId xmlns:a16="http://schemas.microsoft.com/office/drawing/2014/main" id="{989CA20D-EE67-4007-85EB-81FB23386A51}"/>
                </a:ext>
              </a:extLst>
            </p:cNvPr>
            <p:cNvSpPr>
              <a:spLocks/>
            </p:cNvSpPr>
            <p:nvPr/>
          </p:nvSpPr>
          <p:spPr bwMode="auto">
            <a:xfrm>
              <a:off x="2927" y="2079"/>
              <a:ext cx="115" cy="69"/>
            </a:xfrm>
            <a:custGeom>
              <a:avLst/>
              <a:gdLst>
                <a:gd name="T0" fmla="*/ 115 w 115"/>
                <a:gd name="T1" fmla="*/ 0 h 69"/>
                <a:gd name="T2" fmla="*/ 59 w 115"/>
                <a:gd name="T3" fmla="*/ 45 h 69"/>
                <a:gd name="T4" fmla="*/ 0 w 115"/>
                <a:gd name="T5" fmla="*/ 69 h 69"/>
              </a:gdLst>
              <a:ahLst/>
              <a:cxnLst>
                <a:cxn ang="0">
                  <a:pos x="T0" y="T1"/>
                </a:cxn>
                <a:cxn ang="0">
                  <a:pos x="T2" y="T3"/>
                </a:cxn>
                <a:cxn ang="0">
                  <a:pos x="T4" y="T5"/>
                </a:cxn>
              </a:cxnLst>
              <a:rect l="0" t="0" r="r" b="b"/>
              <a:pathLst>
                <a:path w="115" h="69">
                  <a:moveTo>
                    <a:pt x="115" y="0"/>
                  </a:moveTo>
                  <a:lnTo>
                    <a:pt x="59" y="45"/>
                  </a:lnTo>
                  <a:lnTo>
                    <a:pt x="0" y="69"/>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7" name="Line 313">
              <a:extLst>
                <a:ext uri="{FF2B5EF4-FFF2-40B4-BE49-F238E27FC236}">
                  <a16:creationId xmlns:a16="http://schemas.microsoft.com/office/drawing/2014/main" id="{0718EE1A-A38A-4184-A768-7B746A92C463}"/>
                </a:ext>
              </a:extLst>
            </p:cNvPr>
            <p:cNvSpPr>
              <a:spLocks noChangeShapeType="1"/>
            </p:cNvSpPr>
            <p:nvPr/>
          </p:nvSpPr>
          <p:spPr bwMode="auto">
            <a:xfrm flipH="1">
              <a:off x="2762" y="2247"/>
              <a:ext cx="179"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8" name="Freeform 314">
              <a:extLst>
                <a:ext uri="{FF2B5EF4-FFF2-40B4-BE49-F238E27FC236}">
                  <a16:creationId xmlns:a16="http://schemas.microsoft.com/office/drawing/2014/main" id="{8F195AB5-CDA9-46E6-A722-3DE727582172}"/>
                </a:ext>
              </a:extLst>
            </p:cNvPr>
            <p:cNvSpPr>
              <a:spLocks/>
            </p:cNvSpPr>
            <p:nvPr/>
          </p:nvSpPr>
          <p:spPr bwMode="auto">
            <a:xfrm>
              <a:off x="2762" y="2197"/>
              <a:ext cx="344" cy="147"/>
            </a:xfrm>
            <a:custGeom>
              <a:avLst/>
              <a:gdLst>
                <a:gd name="T0" fmla="*/ 0 w 344"/>
                <a:gd name="T1" fmla="*/ 147 h 147"/>
                <a:gd name="T2" fmla="*/ 205 w 344"/>
                <a:gd name="T3" fmla="*/ 77 h 147"/>
                <a:gd name="T4" fmla="*/ 344 w 344"/>
                <a:gd name="T5" fmla="*/ 0 h 147"/>
              </a:gdLst>
              <a:ahLst/>
              <a:cxnLst>
                <a:cxn ang="0">
                  <a:pos x="T0" y="T1"/>
                </a:cxn>
                <a:cxn ang="0">
                  <a:pos x="T2" y="T3"/>
                </a:cxn>
                <a:cxn ang="0">
                  <a:pos x="T4" y="T5"/>
                </a:cxn>
              </a:cxnLst>
              <a:rect l="0" t="0" r="r" b="b"/>
              <a:pathLst>
                <a:path w="344" h="147">
                  <a:moveTo>
                    <a:pt x="0" y="147"/>
                  </a:moveTo>
                  <a:lnTo>
                    <a:pt x="205" y="77"/>
                  </a:lnTo>
                  <a:lnTo>
                    <a:pt x="344"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19" name="Line 315">
              <a:extLst>
                <a:ext uri="{FF2B5EF4-FFF2-40B4-BE49-F238E27FC236}">
                  <a16:creationId xmlns:a16="http://schemas.microsoft.com/office/drawing/2014/main" id="{5D62DAA3-E740-4886-B02D-CA831FFD81B6}"/>
                </a:ext>
              </a:extLst>
            </p:cNvPr>
            <p:cNvSpPr>
              <a:spLocks noChangeShapeType="1"/>
            </p:cNvSpPr>
            <p:nvPr/>
          </p:nvSpPr>
          <p:spPr bwMode="auto">
            <a:xfrm flipV="1">
              <a:off x="2759" y="2338"/>
              <a:ext cx="166"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0" name="Line 316">
              <a:extLst>
                <a:ext uri="{FF2B5EF4-FFF2-40B4-BE49-F238E27FC236}">
                  <a16:creationId xmlns:a16="http://schemas.microsoft.com/office/drawing/2014/main" id="{1CC434ED-08B9-4434-BF0D-C4D25B845475}"/>
                </a:ext>
              </a:extLst>
            </p:cNvPr>
            <p:cNvSpPr>
              <a:spLocks noChangeShapeType="1"/>
            </p:cNvSpPr>
            <p:nvPr/>
          </p:nvSpPr>
          <p:spPr bwMode="auto">
            <a:xfrm flipV="1">
              <a:off x="3063" y="2127"/>
              <a:ext cx="134"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1" name="Line 317">
              <a:extLst>
                <a:ext uri="{FF2B5EF4-FFF2-40B4-BE49-F238E27FC236}">
                  <a16:creationId xmlns:a16="http://schemas.microsoft.com/office/drawing/2014/main" id="{0ECA0784-AF22-4A69-B125-037E63BAE8BB}"/>
                </a:ext>
              </a:extLst>
            </p:cNvPr>
            <p:cNvSpPr>
              <a:spLocks noChangeShapeType="1"/>
            </p:cNvSpPr>
            <p:nvPr/>
          </p:nvSpPr>
          <p:spPr bwMode="auto">
            <a:xfrm flipV="1">
              <a:off x="3130" y="2065"/>
              <a:ext cx="136"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2" name="Freeform 318">
              <a:extLst>
                <a:ext uri="{FF2B5EF4-FFF2-40B4-BE49-F238E27FC236}">
                  <a16:creationId xmlns:a16="http://schemas.microsoft.com/office/drawing/2014/main" id="{DA827E4B-7401-4DF3-8238-B7D18922E033}"/>
                </a:ext>
              </a:extLst>
            </p:cNvPr>
            <p:cNvSpPr>
              <a:spLocks/>
            </p:cNvSpPr>
            <p:nvPr/>
          </p:nvSpPr>
          <p:spPr bwMode="auto">
            <a:xfrm>
              <a:off x="3333" y="1801"/>
              <a:ext cx="184" cy="24"/>
            </a:xfrm>
            <a:custGeom>
              <a:avLst/>
              <a:gdLst>
                <a:gd name="T0" fmla="*/ 0 w 184"/>
                <a:gd name="T1" fmla="*/ 24 h 24"/>
                <a:gd name="T2" fmla="*/ 88 w 184"/>
                <a:gd name="T3" fmla="*/ 13 h 24"/>
                <a:gd name="T4" fmla="*/ 184 w 184"/>
                <a:gd name="T5" fmla="*/ 0 h 24"/>
              </a:gdLst>
              <a:ahLst/>
              <a:cxnLst>
                <a:cxn ang="0">
                  <a:pos x="T0" y="T1"/>
                </a:cxn>
                <a:cxn ang="0">
                  <a:pos x="T2" y="T3"/>
                </a:cxn>
                <a:cxn ang="0">
                  <a:pos x="T4" y="T5"/>
                </a:cxn>
              </a:cxnLst>
              <a:rect l="0" t="0" r="r" b="b"/>
              <a:pathLst>
                <a:path w="184" h="24">
                  <a:moveTo>
                    <a:pt x="0" y="24"/>
                  </a:moveTo>
                  <a:lnTo>
                    <a:pt x="88" y="13"/>
                  </a:lnTo>
                  <a:lnTo>
                    <a:pt x="184"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 name="Line 319">
              <a:extLst>
                <a:ext uri="{FF2B5EF4-FFF2-40B4-BE49-F238E27FC236}">
                  <a16:creationId xmlns:a16="http://schemas.microsoft.com/office/drawing/2014/main" id="{5B0F00D0-C10E-46C4-960F-86A98A6406E5}"/>
                </a:ext>
              </a:extLst>
            </p:cNvPr>
            <p:cNvSpPr>
              <a:spLocks noChangeShapeType="1"/>
            </p:cNvSpPr>
            <p:nvPr/>
          </p:nvSpPr>
          <p:spPr bwMode="auto">
            <a:xfrm flipV="1">
              <a:off x="3704" y="1589"/>
              <a:ext cx="59" cy="6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4" name="Freeform 320">
              <a:extLst>
                <a:ext uri="{FF2B5EF4-FFF2-40B4-BE49-F238E27FC236}">
                  <a16:creationId xmlns:a16="http://schemas.microsoft.com/office/drawing/2014/main" id="{E272927D-9BCF-4D7B-9D6A-8BAB22CE0079}"/>
                </a:ext>
              </a:extLst>
            </p:cNvPr>
            <p:cNvSpPr>
              <a:spLocks/>
            </p:cNvSpPr>
            <p:nvPr/>
          </p:nvSpPr>
          <p:spPr bwMode="auto">
            <a:xfrm>
              <a:off x="3379" y="1555"/>
              <a:ext cx="387" cy="238"/>
            </a:xfrm>
            <a:custGeom>
              <a:avLst/>
              <a:gdLst>
                <a:gd name="T0" fmla="*/ 0 w 387"/>
                <a:gd name="T1" fmla="*/ 238 h 238"/>
                <a:gd name="T2" fmla="*/ 109 w 387"/>
                <a:gd name="T3" fmla="*/ 211 h 238"/>
                <a:gd name="T4" fmla="*/ 197 w 387"/>
                <a:gd name="T5" fmla="*/ 166 h 238"/>
                <a:gd name="T6" fmla="*/ 339 w 387"/>
                <a:gd name="T7" fmla="*/ 59 h 238"/>
                <a:gd name="T8" fmla="*/ 387 w 387"/>
                <a:gd name="T9" fmla="*/ 0 h 238"/>
              </a:gdLst>
              <a:ahLst/>
              <a:cxnLst>
                <a:cxn ang="0">
                  <a:pos x="T0" y="T1"/>
                </a:cxn>
                <a:cxn ang="0">
                  <a:pos x="T2" y="T3"/>
                </a:cxn>
                <a:cxn ang="0">
                  <a:pos x="T4" y="T5"/>
                </a:cxn>
                <a:cxn ang="0">
                  <a:pos x="T6" y="T7"/>
                </a:cxn>
                <a:cxn ang="0">
                  <a:pos x="T8" y="T9"/>
                </a:cxn>
              </a:cxnLst>
              <a:rect l="0" t="0" r="r" b="b"/>
              <a:pathLst>
                <a:path w="387" h="238">
                  <a:moveTo>
                    <a:pt x="0" y="238"/>
                  </a:moveTo>
                  <a:lnTo>
                    <a:pt x="109" y="211"/>
                  </a:lnTo>
                  <a:lnTo>
                    <a:pt x="197" y="166"/>
                  </a:lnTo>
                  <a:lnTo>
                    <a:pt x="339" y="59"/>
                  </a:lnTo>
                  <a:lnTo>
                    <a:pt x="387"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5" name="Freeform 321">
              <a:extLst>
                <a:ext uri="{FF2B5EF4-FFF2-40B4-BE49-F238E27FC236}">
                  <a16:creationId xmlns:a16="http://schemas.microsoft.com/office/drawing/2014/main" id="{50568E8B-E936-4B25-A9C4-5EEFCA2D4720}"/>
                </a:ext>
              </a:extLst>
            </p:cNvPr>
            <p:cNvSpPr>
              <a:spLocks/>
            </p:cNvSpPr>
            <p:nvPr/>
          </p:nvSpPr>
          <p:spPr bwMode="auto">
            <a:xfrm>
              <a:off x="3432" y="1541"/>
              <a:ext cx="331" cy="206"/>
            </a:xfrm>
            <a:custGeom>
              <a:avLst/>
              <a:gdLst>
                <a:gd name="T0" fmla="*/ 0 w 331"/>
                <a:gd name="T1" fmla="*/ 206 h 206"/>
                <a:gd name="T2" fmla="*/ 85 w 331"/>
                <a:gd name="T3" fmla="*/ 177 h 206"/>
                <a:gd name="T4" fmla="*/ 149 w 331"/>
                <a:gd name="T5" fmla="*/ 150 h 206"/>
                <a:gd name="T6" fmla="*/ 288 w 331"/>
                <a:gd name="T7" fmla="*/ 48 h 206"/>
                <a:gd name="T8" fmla="*/ 331 w 331"/>
                <a:gd name="T9" fmla="*/ 0 h 206"/>
              </a:gdLst>
              <a:ahLst/>
              <a:cxnLst>
                <a:cxn ang="0">
                  <a:pos x="T0" y="T1"/>
                </a:cxn>
                <a:cxn ang="0">
                  <a:pos x="T2" y="T3"/>
                </a:cxn>
                <a:cxn ang="0">
                  <a:pos x="T4" y="T5"/>
                </a:cxn>
                <a:cxn ang="0">
                  <a:pos x="T6" y="T7"/>
                </a:cxn>
                <a:cxn ang="0">
                  <a:pos x="T8" y="T9"/>
                </a:cxn>
              </a:cxnLst>
              <a:rect l="0" t="0" r="r" b="b"/>
              <a:pathLst>
                <a:path w="331" h="206">
                  <a:moveTo>
                    <a:pt x="0" y="206"/>
                  </a:moveTo>
                  <a:lnTo>
                    <a:pt x="85" y="177"/>
                  </a:lnTo>
                  <a:lnTo>
                    <a:pt x="149" y="150"/>
                  </a:lnTo>
                  <a:lnTo>
                    <a:pt x="288" y="48"/>
                  </a:lnTo>
                  <a:lnTo>
                    <a:pt x="331"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6" name="Freeform 322">
              <a:extLst>
                <a:ext uri="{FF2B5EF4-FFF2-40B4-BE49-F238E27FC236}">
                  <a16:creationId xmlns:a16="http://schemas.microsoft.com/office/drawing/2014/main" id="{BF140664-44E5-4DFA-8DB7-C701D1E31220}"/>
                </a:ext>
              </a:extLst>
            </p:cNvPr>
            <p:cNvSpPr>
              <a:spLocks/>
            </p:cNvSpPr>
            <p:nvPr/>
          </p:nvSpPr>
          <p:spPr bwMode="auto">
            <a:xfrm>
              <a:off x="3288" y="1822"/>
              <a:ext cx="107" cy="94"/>
            </a:xfrm>
            <a:custGeom>
              <a:avLst/>
              <a:gdLst>
                <a:gd name="T0" fmla="*/ 107 w 107"/>
                <a:gd name="T1" fmla="*/ 0 h 94"/>
                <a:gd name="T2" fmla="*/ 91 w 107"/>
                <a:gd name="T3" fmla="*/ 27 h 94"/>
                <a:gd name="T4" fmla="*/ 56 w 107"/>
                <a:gd name="T5" fmla="*/ 75 h 94"/>
                <a:gd name="T6" fmla="*/ 0 w 107"/>
                <a:gd name="T7" fmla="*/ 94 h 94"/>
              </a:gdLst>
              <a:ahLst/>
              <a:cxnLst>
                <a:cxn ang="0">
                  <a:pos x="T0" y="T1"/>
                </a:cxn>
                <a:cxn ang="0">
                  <a:pos x="T2" y="T3"/>
                </a:cxn>
                <a:cxn ang="0">
                  <a:pos x="T4" y="T5"/>
                </a:cxn>
                <a:cxn ang="0">
                  <a:pos x="T6" y="T7"/>
                </a:cxn>
              </a:cxnLst>
              <a:rect l="0" t="0" r="r" b="b"/>
              <a:pathLst>
                <a:path w="107" h="94">
                  <a:moveTo>
                    <a:pt x="107" y="0"/>
                  </a:moveTo>
                  <a:lnTo>
                    <a:pt x="91" y="27"/>
                  </a:lnTo>
                  <a:lnTo>
                    <a:pt x="56" y="75"/>
                  </a:lnTo>
                  <a:lnTo>
                    <a:pt x="0" y="94"/>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7" name="Freeform 323">
              <a:extLst>
                <a:ext uri="{FF2B5EF4-FFF2-40B4-BE49-F238E27FC236}">
                  <a16:creationId xmlns:a16="http://schemas.microsoft.com/office/drawing/2014/main" id="{44D67F32-DB54-4F0F-8935-70889E31590F}"/>
                </a:ext>
              </a:extLst>
            </p:cNvPr>
            <p:cNvSpPr>
              <a:spLocks/>
            </p:cNvSpPr>
            <p:nvPr/>
          </p:nvSpPr>
          <p:spPr bwMode="auto">
            <a:xfrm>
              <a:off x="3317" y="1825"/>
              <a:ext cx="37" cy="43"/>
            </a:xfrm>
            <a:custGeom>
              <a:avLst/>
              <a:gdLst>
                <a:gd name="T0" fmla="*/ 37 w 37"/>
                <a:gd name="T1" fmla="*/ 0 h 43"/>
                <a:gd name="T2" fmla="*/ 16 w 37"/>
                <a:gd name="T3" fmla="*/ 29 h 43"/>
                <a:gd name="T4" fmla="*/ 0 w 37"/>
                <a:gd name="T5" fmla="*/ 43 h 43"/>
              </a:gdLst>
              <a:ahLst/>
              <a:cxnLst>
                <a:cxn ang="0">
                  <a:pos x="T0" y="T1"/>
                </a:cxn>
                <a:cxn ang="0">
                  <a:pos x="T2" y="T3"/>
                </a:cxn>
                <a:cxn ang="0">
                  <a:pos x="T4" y="T5"/>
                </a:cxn>
              </a:cxnLst>
              <a:rect l="0" t="0" r="r" b="b"/>
              <a:pathLst>
                <a:path w="37" h="43">
                  <a:moveTo>
                    <a:pt x="37" y="0"/>
                  </a:moveTo>
                  <a:lnTo>
                    <a:pt x="16" y="29"/>
                  </a:lnTo>
                  <a:lnTo>
                    <a:pt x="0" y="43"/>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8" name="Freeform 324">
              <a:extLst>
                <a:ext uri="{FF2B5EF4-FFF2-40B4-BE49-F238E27FC236}">
                  <a16:creationId xmlns:a16="http://schemas.microsoft.com/office/drawing/2014/main" id="{89F812BC-2F15-436C-93F9-423C76A6AF35}"/>
                </a:ext>
              </a:extLst>
            </p:cNvPr>
            <p:cNvSpPr>
              <a:spLocks/>
            </p:cNvSpPr>
            <p:nvPr/>
          </p:nvSpPr>
          <p:spPr bwMode="auto">
            <a:xfrm>
              <a:off x="3264" y="1819"/>
              <a:ext cx="168" cy="150"/>
            </a:xfrm>
            <a:custGeom>
              <a:avLst/>
              <a:gdLst>
                <a:gd name="T0" fmla="*/ 168 w 168"/>
                <a:gd name="T1" fmla="*/ 0 h 150"/>
                <a:gd name="T2" fmla="*/ 136 w 168"/>
                <a:gd name="T3" fmla="*/ 73 h 150"/>
                <a:gd name="T4" fmla="*/ 82 w 168"/>
                <a:gd name="T5" fmla="*/ 123 h 150"/>
                <a:gd name="T6" fmla="*/ 0 w 168"/>
                <a:gd name="T7" fmla="*/ 150 h 150"/>
              </a:gdLst>
              <a:ahLst/>
              <a:cxnLst>
                <a:cxn ang="0">
                  <a:pos x="T0" y="T1"/>
                </a:cxn>
                <a:cxn ang="0">
                  <a:pos x="T2" y="T3"/>
                </a:cxn>
                <a:cxn ang="0">
                  <a:pos x="T4" y="T5"/>
                </a:cxn>
                <a:cxn ang="0">
                  <a:pos x="T6" y="T7"/>
                </a:cxn>
              </a:cxnLst>
              <a:rect l="0" t="0" r="r" b="b"/>
              <a:pathLst>
                <a:path w="168" h="150">
                  <a:moveTo>
                    <a:pt x="168" y="0"/>
                  </a:moveTo>
                  <a:lnTo>
                    <a:pt x="136" y="73"/>
                  </a:lnTo>
                  <a:lnTo>
                    <a:pt x="82" y="123"/>
                  </a:lnTo>
                  <a:lnTo>
                    <a:pt x="0" y="15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9" name="Freeform 325">
              <a:extLst>
                <a:ext uri="{FF2B5EF4-FFF2-40B4-BE49-F238E27FC236}">
                  <a16:creationId xmlns:a16="http://schemas.microsoft.com/office/drawing/2014/main" id="{5CF5B7CB-71FE-4E33-A027-C3BD1C8F7580}"/>
                </a:ext>
              </a:extLst>
            </p:cNvPr>
            <p:cNvSpPr>
              <a:spLocks/>
            </p:cNvSpPr>
            <p:nvPr/>
          </p:nvSpPr>
          <p:spPr bwMode="auto">
            <a:xfrm>
              <a:off x="3242" y="1811"/>
              <a:ext cx="238" cy="193"/>
            </a:xfrm>
            <a:custGeom>
              <a:avLst/>
              <a:gdLst>
                <a:gd name="T0" fmla="*/ 0 w 238"/>
                <a:gd name="T1" fmla="*/ 193 h 193"/>
                <a:gd name="T2" fmla="*/ 99 w 238"/>
                <a:gd name="T3" fmla="*/ 169 h 193"/>
                <a:gd name="T4" fmla="*/ 171 w 238"/>
                <a:gd name="T5" fmla="*/ 115 h 193"/>
                <a:gd name="T6" fmla="*/ 217 w 238"/>
                <a:gd name="T7" fmla="*/ 49 h 193"/>
                <a:gd name="T8" fmla="*/ 238 w 238"/>
                <a:gd name="T9" fmla="*/ 0 h 193"/>
              </a:gdLst>
              <a:ahLst/>
              <a:cxnLst>
                <a:cxn ang="0">
                  <a:pos x="T0" y="T1"/>
                </a:cxn>
                <a:cxn ang="0">
                  <a:pos x="T2" y="T3"/>
                </a:cxn>
                <a:cxn ang="0">
                  <a:pos x="T4" y="T5"/>
                </a:cxn>
                <a:cxn ang="0">
                  <a:pos x="T6" y="T7"/>
                </a:cxn>
                <a:cxn ang="0">
                  <a:pos x="T8" y="T9"/>
                </a:cxn>
              </a:cxnLst>
              <a:rect l="0" t="0" r="r" b="b"/>
              <a:pathLst>
                <a:path w="238" h="193">
                  <a:moveTo>
                    <a:pt x="0" y="193"/>
                  </a:moveTo>
                  <a:lnTo>
                    <a:pt x="99" y="169"/>
                  </a:lnTo>
                  <a:lnTo>
                    <a:pt x="171" y="115"/>
                  </a:lnTo>
                  <a:lnTo>
                    <a:pt x="217" y="49"/>
                  </a:lnTo>
                  <a:lnTo>
                    <a:pt x="238"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30" name="Line 326">
              <a:extLst>
                <a:ext uri="{FF2B5EF4-FFF2-40B4-BE49-F238E27FC236}">
                  <a16:creationId xmlns:a16="http://schemas.microsoft.com/office/drawing/2014/main" id="{8759684F-A4ED-4906-AF7C-BAE04C17B8FC}"/>
                </a:ext>
              </a:extLst>
            </p:cNvPr>
            <p:cNvSpPr>
              <a:spLocks noChangeShapeType="1"/>
            </p:cNvSpPr>
            <p:nvPr/>
          </p:nvSpPr>
          <p:spPr bwMode="auto">
            <a:xfrm flipV="1">
              <a:off x="3210" y="2017"/>
              <a:ext cx="120" cy="3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1" name="Line 327">
              <a:extLst>
                <a:ext uri="{FF2B5EF4-FFF2-40B4-BE49-F238E27FC236}">
                  <a16:creationId xmlns:a16="http://schemas.microsoft.com/office/drawing/2014/main" id="{2E313FBD-DBB0-448F-BEF4-46DB32B4B2A0}"/>
                </a:ext>
              </a:extLst>
            </p:cNvPr>
            <p:cNvSpPr>
              <a:spLocks noChangeShapeType="1"/>
            </p:cNvSpPr>
            <p:nvPr/>
          </p:nvSpPr>
          <p:spPr bwMode="auto">
            <a:xfrm flipH="1">
              <a:off x="3480" y="1793"/>
              <a:ext cx="61" cy="10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2" name="Line 328">
              <a:extLst>
                <a:ext uri="{FF2B5EF4-FFF2-40B4-BE49-F238E27FC236}">
                  <a16:creationId xmlns:a16="http://schemas.microsoft.com/office/drawing/2014/main" id="{9F484877-E472-4840-9BB1-30B2BE535CC1}"/>
                </a:ext>
              </a:extLst>
            </p:cNvPr>
            <p:cNvSpPr>
              <a:spLocks noChangeShapeType="1"/>
            </p:cNvSpPr>
            <p:nvPr/>
          </p:nvSpPr>
          <p:spPr bwMode="auto">
            <a:xfrm flipH="1">
              <a:off x="3557" y="1737"/>
              <a:ext cx="56" cy="10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3" name="Line 329">
              <a:extLst>
                <a:ext uri="{FF2B5EF4-FFF2-40B4-BE49-F238E27FC236}">
                  <a16:creationId xmlns:a16="http://schemas.microsoft.com/office/drawing/2014/main" id="{21ECD79B-E4E4-4F5F-A358-9704D79F2CAD}"/>
                </a:ext>
              </a:extLst>
            </p:cNvPr>
            <p:cNvSpPr>
              <a:spLocks noChangeShapeType="1"/>
            </p:cNvSpPr>
            <p:nvPr/>
          </p:nvSpPr>
          <p:spPr bwMode="auto">
            <a:xfrm flipH="1">
              <a:off x="3635" y="1691"/>
              <a:ext cx="37"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4" name="Line 330">
              <a:extLst>
                <a:ext uri="{FF2B5EF4-FFF2-40B4-BE49-F238E27FC236}">
                  <a16:creationId xmlns:a16="http://schemas.microsoft.com/office/drawing/2014/main" id="{B6FE6434-E822-4250-86C4-5C915132714C}"/>
                </a:ext>
              </a:extLst>
            </p:cNvPr>
            <p:cNvSpPr>
              <a:spLocks noChangeShapeType="1"/>
            </p:cNvSpPr>
            <p:nvPr/>
          </p:nvSpPr>
          <p:spPr bwMode="auto">
            <a:xfrm flipH="1">
              <a:off x="3691" y="1646"/>
              <a:ext cx="27"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5" name="Line 331">
              <a:extLst>
                <a:ext uri="{FF2B5EF4-FFF2-40B4-BE49-F238E27FC236}">
                  <a16:creationId xmlns:a16="http://schemas.microsoft.com/office/drawing/2014/main" id="{F795BBFD-8ECC-4684-A313-DCA5A6111BAC}"/>
                </a:ext>
              </a:extLst>
            </p:cNvPr>
            <p:cNvSpPr>
              <a:spLocks noChangeShapeType="1"/>
            </p:cNvSpPr>
            <p:nvPr/>
          </p:nvSpPr>
          <p:spPr bwMode="auto">
            <a:xfrm flipH="1">
              <a:off x="3734" y="1606"/>
              <a:ext cx="21" cy="8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6" name="Freeform 332">
              <a:extLst>
                <a:ext uri="{FF2B5EF4-FFF2-40B4-BE49-F238E27FC236}">
                  <a16:creationId xmlns:a16="http://schemas.microsoft.com/office/drawing/2014/main" id="{B07C2D15-4DE4-4C42-9D1F-F13BFA217424}"/>
                </a:ext>
              </a:extLst>
            </p:cNvPr>
            <p:cNvSpPr>
              <a:spLocks/>
            </p:cNvSpPr>
            <p:nvPr/>
          </p:nvSpPr>
          <p:spPr bwMode="auto">
            <a:xfrm>
              <a:off x="217" y="2231"/>
              <a:ext cx="2545" cy="193"/>
            </a:xfrm>
            <a:custGeom>
              <a:avLst/>
              <a:gdLst>
                <a:gd name="T0" fmla="*/ 2542 w 2545"/>
                <a:gd name="T1" fmla="*/ 193 h 193"/>
                <a:gd name="T2" fmla="*/ 2545 w 2545"/>
                <a:gd name="T3" fmla="*/ 171 h 193"/>
                <a:gd name="T4" fmla="*/ 3 w 2545"/>
                <a:gd name="T5" fmla="*/ 0 h 193"/>
                <a:gd name="T6" fmla="*/ 0 w 2545"/>
                <a:gd name="T7" fmla="*/ 24 h 193"/>
                <a:gd name="T8" fmla="*/ 2542 w 2545"/>
                <a:gd name="T9" fmla="*/ 193 h 193"/>
                <a:gd name="T10" fmla="*/ 2542 w 2545"/>
                <a:gd name="T11" fmla="*/ 193 h 193"/>
              </a:gdLst>
              <a:ahLst/>
              <a:cxnLst>
                <a:cxn ang="0">
                  <a:pos x="T0" y="T1"/>
                </a:cxn>
                <a:cxn ang="0">
                  <a:pos x="T2" y="T3"/>
                </a:cxn>
                <a:cxn ang="0">
                  <a:pos x="T4" y="T5"/>
                </a:cxn>
                <a:cxn ang="0">
                  <a:pos x="T6" y="T7"/>
                </a:cxn>
                <a:cxn ang="0">
                  <a:pos x="T8" y="T9"/>
                </a:cxn>
                <a:cxn ang="0">
                  <a:pos x="T10" y="T11"/>
                </a:cxn>
              </a:cxnLst>
              <a:rect l="0" t="0" r="r" b="b"/>
              <a:pathLst>
                <a:path w="2545" h="193">
                  <a:moveTo>
                    <a:pt x="2542" y="193"/>
                  </a:moveTo>
                  <a:lnTo>
                    <a:pt x="2545" y="171"/>
                  </a:lnTo>
                  <a:lnTo>
                    <a:pt x="3" y="0"/>
                  </a:lnTo>
                  <a:lnTo>
                    <a:pt x="0" y="24"/>
                  </a:lnTo>
                  <a:lnTo>
                    <a:pt x="2542" y="193"/>
                  </a:lnTo>
                  <a:lnTo>
                    <a:pt x="2542" y="193"/>
                  </a:lnTo>
                  <a:close/>
                </a:path>
              </a:pathLst>
            </a:custGeom>
            <a:solidFill>
              <a:srgbClr val="0093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7" name="Freeform 333">
              <a:extLst>
                <a:ext uri="{FF2B5EF4-FFF2-40B4-BE49-F238E27FC236}">
                  <a16:creationId xmlns:a16="http://schemas.microsoft.com/office/drawing/2014/main" id="{FE248899-7483-4653-B1B7-E421D8BFBB85}"/>
                </a:ext>
              </a:extLst>
            </p:cNvPr>
            <p:cNvSpPr>
              <a:spLocks/>
            </p:cNvSpPr>
            <p:nvPr/>
          </p:nvSpPr>
          <p:spPr bwMode="auto">
            <a:xfrm>
              <a:off x="2759" y="2402"/>
              <a:ext cx="13" cy="22"/>
            </a:xfrm>
            <a:custGeom>
              <a:avLst/>
              <a:gdLst>
                <a:gd name="T0" fmla="*/ 13 w 13"/>
                <a:gd name="T1" fmla="*/ 19 h 22"/>
                <a:gd name="T2" fmla="*/ 5 w 13"/>
                <a:gd name="T3" fmla="*/ 0 h 22"/>
                <a:gd name="T4" fmla="*/ 0 w 13"/>
                <a:gd name="T5" fmla="*/ 0 h 22"/>
                <a:gd name="T6" fmla="*/ 0 w 13"/>
                <a:gd name="T7" fmla="*/ 22 h 22"/>
                <a:gd name="T8" fmla="*/ 5 w 13"/>
                <a:gd name="T9" fmla="*/ 22 h 22"/>
                <a:gd name="T10" fmla="*/ 13 w 13"/>
                <a:gd name="T11" fmla="*/ 19 h 22"/>
              </a:gdLst>
              <a:ahLst/>
              <a:cxnLst>
                <a:cxn ang="0">
                  <a:pos x="T0" y="T1"/>
                </a:cxn>
                <a:cxn ang="0">
                  <a:pos x="T2" y="T3"/>
                </a:cxn>
                <a:cxn ang="0">
                  <a:pos x="T4" y="T5"/>
                </a:cxn>
                <a:cxn ang="0">
                  <a:pos x="T6" y="T7"/>
                </a:cxn>
                <a:cxn ang="0">
                  <a:pos x="T8" y="T9"/>
                </a:cxn>
                <a:cxn ang="0">
                  <a:pos x="T10" y="T11"/>
                </a:cxn>
              </a:cxnLst>
              <a:rect l="0" t="0" r="r" b="b"/>
              <a:pathLst>
                <a:path w="13" h="22">
                  <a:moveTo>
                    <a:pt x="13" y="19"/>
                  </a:moveTo>
                  <a:lnTo>
                    <a:pt x="5" y="0"/>
                  </a:lnTo>
                  <a:lnTo>
                    <a:pt x="0" y="0"/>
                  </a:lnTo>
                  <a:lnTo>
                    <a:pt x="0" y="22"/>
                  </a:lnTo>
                  <a:lnTo>
                    <a:pt x="5" y="22"/>
                  </a:lnTo>
                  <a:lnTo>
                    <a:pt x="13" y="19"/>
                  </a:lnTo>
                  <a:close/>
                </a:path>
              </a:pathLst>
            </a:custGeom>
            <a:solidFill>
              <a:srgbClr val="0093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8" name="Freeform 334">
              <a:extLst>
                <a:ext uri="{FF2B5EF4-FFF2-40B4-BE49-F238E27FC236}">
                  <a16:creationId xmlns:a16="http://schemas.microsoft.com/office/drawing/2014/main" id="{DBB449D6-EC86-447D-B8C4-ED9FD7418837}"/>
                </a:ext>
              </a:extLst>
            </p:cNvPr>
            <p:cNvSpPr>
              <a:spLocks/>
            </p:cNvSpPr>
            <p:nvPr/>
          </p:nvSpPr>
          <p:spPr bwMode="auto">
            <a:xfrm>
              <a:off x="2759" y="1616"/>
              <a:ext cx="1015" cy="805"/>
            </a:xfrm>
            <a:custGeom>
              <a:avLst/>
              <a:gdLst>
                <a:gd name="T0" fmla="*/ 1001 w 1015"/>
                <a:gd name="T1" fmla="*/ 0 h 805"/>
                <a:gd name="T2" fmla="*/ 0 w 1015"/>
                <a:gd name="T3" fmla="*/ 789 h 805"/>
                <a:gd name="T4" fmla="*/ 13 w 1015"/>
                <a:gd name="T5" fmla="*/ 805 h 805"/>
                <a:gd name="T6" fmla="*/ 1015 w 1015"/>
                <a:gd name="T7" fmla="*/ 16 h 805"/>
                <a:gd name="T8" fmla="*/ 1001 w 1015"/>
                <a:gd name="T9" fmla="*/ 0 h 805"/>
              </a:gdLst>
              <a:ahLst/>
              <a:cxnLst>
                <a:cxn ang="0">
                  <a:pos x="T0" y="T1"/>
                </a:cxn>
                <a:cxn ang="0">
                  <a:pos x="T2" y="T3"/>
                </a:cxn>
                <a:cxn ang="0">
                  <a:pos x="T4" y="T5"/>
                </a:cxn>
                <a:cxn ang="0">
                  <a:pos x="T6" y="T7"/>
                </a:cxn>
                <a:cxn ang="0">
                  <a:pos x="T8" y="T9"/>
                </a:cxn>
              </a:cxnLst>
              <a:rect l="0" t="0" r="r" b="b"/>
              <a:pathLst>
                <a:path w="1015" h="805">
                  <a:moveTo>
                    <a:pt x="1001" y="0"/>
                  </a:moveTo>
                  <a:lnTo>
                    <a:pt x="0" y="789"/>
                  </a:lnTo>
                  <a:lnTo>
                    <a:pt x="13" y="805"/>
                  </a:lnTo>
                  <a:lnTo>
                    <a:pt x="1015" y="16"/>
                  </a:lnTo>
                  <a:lnTo>
                    <a:pt x="1001" y="0"/>
                  </a:lnTo>
                  <a:close/>
                </a:path>
              </a:pathLst>
            </a:custGeom>
            <a:solidFill>
              <a:srgbClr val="0093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39" name="Group 335">
            <a:extLst>
              <a:ext uri="{FF2B5EF4-FFF2-40B4-BE49-F238E27FC236}">
                <a16:creationId xmlns:a16="http://schemas.microsoft.com/office/drawing/2014/main" id="{1EA07A23-17ED-43D8-80ED-BDEF6F505D0F}"/>
              </a:ext>
            </a:extLst>
          </p:cNvPr>
          <p:cNvGrpSpPr>
            <a:grpSpLocks noChangeAspect="1"/>
          </p:cNvGrpSpPr>
          <p:nvPr/>
        </p:nvGrpSpPr>
        <p:grpSpPr bwMode="auto">
          <a:xfrm>
            <a:off x="4172641" y="4754751"/>
            <a:ext cx="4326135" cy="1435945"/>
            <a:chOff x="204" y="1298"/>
            <a:chExt cx="3583" cy="1189"/>
          </a:xfrm>
        </p:grpSpPr>
        <p:sp>
          <p:nvSpPr>
            <p:cNvPr id="340" name="AutoShape 336">
              <a:extLst>
                <a:ext uri="{FF2B5EF4-FFF2-40B4-BE49-F238E27FC236}">
                  <a16:creationId xmlns:a16="http://schemas.microsoft.com/office/drawing/2014/main" id="{9B4ECE5E-913C-4CC1-A184-C162D6B98A17}"/>
                </a:ext>
              </a:extLst>
            </p:cNvPr>
            <p:cNvSpPr>
              <a:spLocks noChangeAspect="1" noChangeArrowheads="1" noTextEdit="1"/>
            </p:cNvSpPr>
            <p:nvPr/>
          </p:nvSpPr>
          <p:spPr bwMode="auto">
            <a:xfrm>
              <a:off x="204" y="1298"/>
              <a:ext cx="3583" cy="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grpSp>
          <p:nvGrpSpPr>
            <p:cNvPr id="341" name="Group 337">
              <a:extLst>
                <a:ext uri="{FF2B5EF4-FFF2-40B4-BE49-F238E27FC236}">
                  <a16:creationId xmlns:a16="http://schemas.microsoft.com/office/drawing/2014/main" id="{EF34FE2D-0CDC-454A-AD4B-919F34F4055E}"/>
                </a:ext>
              </a:extLst>
            </p:cNvPr>
            <p:cNvGrpSpPr>
              <a:grpSpLocks/>
            </p:cNvGrpSpPr>
            <p:nvPr/>
          </p:nvGrpSpPr>
          <p:grpSpPr bwMode="auto">
            <a:xfrm>
              <a:off x="223" y="1311"/>
              <a:ext cx="3551" cy="1160"/>
              <a:chOff x="223" y="1311"/>
              <a:chExt cx="3551" cy="1160"/>
            </a:xfrm>
          </p:grpSpPr>
          <p:sp>
            <p:nvSpPr>
              <p:cNvPr id="465" name="Freeform 338">
                <a:extLst>
                  <a:ext uri="{FF2B5EF4-FFF2-40B4-BE49-F238E27FC236}">
                    <a16:creationId xmlns:a16="http://schemas.microsoft.com/office/drawing/2014/main" id="{5D5E2D5F-EDFC-49DB-9D7F-B16F8EBB9431}"/>
                  </a:ext>
                </a:extLst>
              </p:cNvPr>
              <p:cNvSpPr>
                <a:spLocks/>
              </p:cNvSpPr>
              <p:nvPr/>
            </p:nvSpPr>
            <p:spPr bwMode="auto">
              <a:xfrm>
                <a:off x="223" y="1314"/>
                <a:ext cx="3545" cy="1157"/>
              </a:xfrm>
              <a:custGeom>
                <a:avLst/>
                <a:gdLst>
                  <a:gd name="T0" fmla="*/ 0 w 3545"/>
                  <a:gd name="T1" fmla="*/ 965 h 1157"/>
                  <a:gd name="T2" fmla="*/ 2533 w 3545"/>
                  <a:gd name="T3" fmla="*/ 1157 h 1157"/>
                  <a:gd name="T4" fmla="*/ 3545 w 3545"/>
                  <a:gd name="T5" fmla="*/ 355 h 1157"/>
                  <a:gd name="T6" fmla="*/ 3545 w 3545"/>
                  <a:gd name="T7" fmla="*/ 174 h 1157"/>
                  <a:gd name="T8" fmla="*/ 3081 w 3545"/>
                  <a:gd name="T9" fmla="*/ 144 h 1157"/>
                  <a:gd name="T10" fmla="*/ 3038 w 3545"/>
                  <a:gd name="T11" fmla="*/ 64 h 1157"/>
                  <a:gd name="T12" fmla="*/ 2795 w 3545"/>
                  <a:gd name="T13" fmla="*/ 64 h 1157"/>
                  <a:gd name="T14" fmla="*/ 2619 w 3545"/>
                  <a:gd name="T15" fmla="*/ 75 h 1157"/>
                  <a:gd name="T16" fmla="*/ 2429 w 3545"/>
                  <a:gd name="T17" fmla="*/ 96 h 1157"/>
                  <a:gd name="T18" fmla="*/ 2274 w 3545"/>
                  <a:gd name="T19" fmla="*/ 118 h 1157"/>
                  <a:gd name="T20" fmla="*/ 1687 w 3545"/>
                  <a:gd name="T21" fmla="*/ 86 h 1157"/>
                  <a:gd name="T22" fmla="*/ 1623 w 3545"/>
                  <a:gd name="T23" fmla="*/ 0 h 1157"/>
                  <a:gd name="T24" fmla="*/ 1340 w 3545"/>
                  <a:gd name="T25" fmla="*/ 37 h 1157"/>
                  <a:gd name="T26" fmla="*/ 1118 w 3545"/>
                  <a:gd name="T27" fmla="*/ 86 h 1157"/>
                  <a:gd name="T28" fmla="*/ 854 w 3545"/>
                  <a:gd name="T29" fmla="*/ 139 h 1157"/>
                  <a:gd name="T30" fmla="*/ 731 w 3545"/>
                  <a:gd name="T31" fmla="*/ 174 h 1157"/>
                  <a:gd name="T32" fmla="*/ 0 w 3545"/>
                  <a:gd name="T33" fmla="*/ 799 h 1157"/>
                  <a:gd name="T34" fmla="*/ 0 w 3545"/>
                  <a:gd name="T35" fmla="*/ 965 h 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45" h="1157">
                    <a:moveTo>
                      <a:pt x="0" y="965"/>
                    </a:moveTo>
                    <a:lnTo>
                      <a:pt x="2533" y="1157"/>
                    </a:lnTo>
                    <a:lnTo>
                      <a:pt x="3545" y="355"/>
                    </a:lnTo>
                    <a:lnTo>
                      <a:pt x="3545" y="174"/>
                    </a:lnTo>
                    <a:lnTo>
                      <a:pt x="3081" y="144"/>
                    </a:lnTo>
                    <a:lnTo>
                      <a:pt x="3038" y="64"/>
                    </a:lnTo>
                    <a:lnTo>
                      <a:pt x="2795" y="64"/>
                    </a:lnTo>
                    <a:lnTo>
                      <a:pt x="2619" y="75"/>
                    </a:lnTo>
                    <a:lnTo>
                      <a:pt x="2429" y="96"/>
                    </a:lnTo>
                    <a:lnTo>
                      <a:pt x="2274" y="118"/>
                    </a:lnTo>
                    <a:lnTo>
                      <a:pt x="1687" y="86"/>
                    </a:lnTo>
                    <a:lnTo>
                      <a:pt x="1623" y="0"/>
                    </a:lnTo>
                    <a:lnTo>
                      <a:pt x="1340" y="37"/>
                    </a:lnTo>
                    <a:lnTo>
                      <a:pt x="1118" y="86"/>
                    </a:lnTo>
                    <a:lnTo>
                      <a:pt x="854" y="139"/>
                    </a:lnTo>
                    <a:lnTo>
                      <a:pt x="731" y="174"/>
                    </a:lnTo>
                    <a:lnTo>
                      <a:pt x="0" y="799"/>
                    </a:lnTo>
                    <a:lnTo>
                      <a:pt x="0" y="965"/>
                    </a:lnTo>
                    <a:close/>
                  </a:path>
                </a:pathLst>
              </a:custGeom>
              <a:solidFill>
                <a:srgbClr val="E7784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6" name="Freeform 339">
                <a:extLst>
                  <a:ext uri="{FF2B5EF4-FFF2-40B4-BE49-F238E27FC236}">
                    <a16:creationId xmlns:a16="http://schemas.microsoft.com/office/drawing/2014/main" id="{8739CB81-E2D4-4D2C-BE03-90D75A3B6F90}"/>
                  </a:ext>
                </a:extLst>
              </p:cNvPr>
              <p:cNvSpPr>
                <a:spLocks/>
              </p:cNvSpPr>
              <p:nvPr/>
            </p:nvSpPr>
            <p:spPr bwMode="auto">
              <a:xfrm>
                <a:off x="223" y="1314"/>
                <a:ext cx="3545" cy="1157"/>
              </a:xfrm>
              <a:custGeom>
                <a:avLst/>
                <a:gdLst>
                  <a:gd name="T0" fmla="*/ 0 w 3545"/>
                  <a:gd name="T1" fmla="*/ 965 h 1157"/>
                  <a:gd name="T2" fmla="*/ 2533 w 3545"/>
                  <a:gd name="T3" fmla="*/ 1157 h 1157"/>
                  <a:gd name="T4" fmla="*/ 3545 w 3545"/>
                  <a:gd name="T5" fmla="*/ 355 h 1157"/>
                  <a:gd name="T6" fmla="*/ 3545 w 3545"/>
                  <a:gd name="T7" fmla="*/ 174 h 1157"/>
                  <a:gd name="T8" fmla="*/ 3081 w 3545"/>
                  <a:gd name="T9" fmla="*/ 144 h 1157"/>
                  <a:gd name="T10" fmla="*/ 3038 w 3545"/>
                  <a:gd name="T11" fmla="*/ 64 h 1157"/>
                  <a:gd name="T12" fmla="*/ 2795 w 3545"/>
                  <a:gd name="T13" fmla="*/ 64 h 1157"/>
                  <a:gd name="T14" fmla="*/ 2619 w 3545"/>
                  <a:gd name="T15" fmla="*/ 75 h 1157"/>
                  <a:gd name="T16" fmla="*/ 2429 w 3545"/>
                  <a:gd name="T17" fmla="*/ 96 h 1157"/>
                  <a:gd name="T18" fmla="*/ 2274 w 3545"/>
                  <a:gd name="T19" fmla="*/ 118 h 1157"/>
                  <a:gd name="T20" fmla="*/ 1687 w 3545"/>
                  <a:gd name="T21" fmla="*/ 86 h 1157"/>
                  <a:gd name="T22" fmla="*/ 1623 w 3545"/>
                  <a:gd name="T23" fmla="*/ 0 h 1157"/>
                  <a:gd name="T24" fmla="*/ 1340 w 3545"/>
                  <a:gd name="T25" fmla="*/ 37 h 1157"/>
                  <a:gd name="T26" fmla="*/ 1118 w 3545"/>
                  <a:gd name="T27" fmla="*/ 86 h 1157"/>
                  <a:gd name="T28" fmla="*/ 854 w 3545"/>
                  <a:gd name="T29" fmla="*/ 139 h 1157"/>
                  <a:gd name="T30" fmla="*/ 731 w 3545"/>
                  <a:gd name="T31" fmla="*/ 174 h 1157"/>
                  <a:gd name="T32" fmla="*/ 0 w 3545"/>
                  <a:gd name="T33" fmla="*/ 799 h 1157"/>
                  <a:gd name="T34" fmla="*/ 0 w 3545"/>
                  <a:gd name="T35" fmla="*/ 965 h 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45" h="1157">
                    <a:moveTo>
                      <a:pt x="0" y="965"/>
                    </a:moveTo>
                    <a:lnTo>
                      <a:pt x="2533" y="1157"/>
                    </a:lnTo>
                    <a:lnTo>
                      <a:pt x="3545" y="355"/>
                    </a:lnTo>
                    <a:lnTo>
                      <a:pt x="3545" y="174"/>
                    </a:lnTo>
                    <a:lnTo>
                      <a:pt x="3081" y="144"/>
                    </a:lnTo>
                    <a:lnTo>
                      <a:pt x="3038" y="64"/>
                    </a:lnTo>
                    <a:lnTo>
                      <a:pt x="2795" y="64"/>
                    </a:lnTo>
                    <a:lnTo>
                      <a:pt x="2619" y="75"/>
                    </a:lnTo>
                    <a:lnTo>
                      <a:pt x="2429" y="96"/>
                    </a:lnTo>
                    <a:lnTo>
                      <a:pt x="2274" y="118"/>
                    </a:lnTo>
                    <a:lnTo>
                      <a:pt x="1687" y="86"/>
                    </a:lnTo>
                    <a:lnTo>
                      <a:pt x="1623" y="0"/>
                    </a:lnTo>
                    <a:lnTo>
                      <a:pt x="1340" y="37"/>
                    </a:lnTo>
                    <a:lnTo>
                      <a:pt x="1118" y="86"/>
                    </a:lnTo>
                    <a:lnTo>
                      <a:pt x="854" y="139"/>
                    </a:lnTo>
                    <a:lnTo>
                      <a:pt x="731" y="174"/>
                    </a:lnTo>
                    <a:lnTo>
                      <a:pt x="0" y="799"/>
                    </a:lnTo>
                    <a:lnTo>
                      <a:pt x="0" y="965"/>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67" name="Freeform 340">
                <a:extLst>
                  <a:ext uri="{FF2B5EF4-FFF2-40B4-BE49-F238E27FC236}">
                    <a16:creationId xmlns:a16="http://schemas.microsoft.com/office/drawing/2014/main" id="{6D89965B-CCBF-41CD-BBBC-61BF4666E54C}"/>
                  </a:ext>
                </a:extLst>
              </p:cNvPr>
              <p:cNvSpPr>
                <a:spLocks/>
              </p:cNvSpPr>
              <p:nvPr/>
            </p:nvSpPr>
            <p:spPr bwMode="auto">
              <a:xfrm>
                <a:off x="933" y="1864"/>
                <a:ext cx="547" cy="332"/>
              </a:xfrm>
              <a:custGeom>
                <a:avLst/>
                <a:gdLst>
                  <a:gd name="T0" fmla="*/ 443 w 547"/>
                  <a:gd name="T1" fmla="*/ 6 h 332"/>
                  <a:gd name="T2" fmla="*/ 400 w 547"/>
                  <a:gd name="T3" fmla="*/ 14 h 332"/>
                  <a:gd name="T4" fmla="*/ 358 w 547"/>
                  <a:gd name="T5" fmla="*/ 22 h 332"/>
                  <a:gd name="T6" fmla="*/ 315 w 547"/>
                  <a:gd name="T7" fmla="*/ 33 h 332"/>
                  <a:gd name="T8" fmla="*/ 272 w 547"/>
                  <a:gd name="T9" fmla="*/ 46 h 332"/>
                  <a:gd name="T10" fmla="*/ 240 w 547"/>
                  <a:gd name="T11" fmla="*/ 57 h 332"/>
                  <a:gd name="T12" fmla="*/ 205 w 547"/>
                  <a:gd name="T13" fmla="*/ 70 h 332"/>
                  <a:gd name="T14" fmla="*/ 173 w 547"/>
                  <a:gd name="T15" fmla="*/ 83 h 332"/>
                  <a:gd name="T16" fmla="*/ 141 w 547"/>
                  <a:gd name="T17" fmla="*/ 99 h 332"/>
                  <a:gd name="T18" fmla="*/ 117 w 547"/>
                  <a:gd name="T19" fmla="*/ 110 h 332"/>
                  <a:gd name="T20" fmla="*/ 93 w 547"/>
                  <a:gd name="T21" fmla="*/ 123 h 332"/>
                  <a:gd name="T22" fmla="*/ 67 w 547"/>
                  <a:gd name="T23" fmla="*/ 139 h 332"/>
                  <a:gd name="T24" fmla="*/ 45 w 547"/>
                  <a:gd name="T25" fmla="*/ 155 h 332"/>
                  <a:gd name="T26" fmla="*/ 24 w 547"/>
                  <a:gd name="T27" fmla="*/ 177 h 332"/>
                  <a:gd name="T28" fmla="*/ 5 w 547"/>
                  <a:gd name="T29" fmla="*/ 201 h 332"/>
                  <a:gd name="T30" fmla="*/ 0 w 547"/>
                  <a:gd name="T31" fmla="*/ 214 h 332"/>
                  <a:gd name="T32" fmla="*/ 0 w 547"/>
                  <a:gd name="T33" fmla="*/ 228 h 332"/>
                  <a:gd name="T34" fmla="*/ 0 w 547"/>
                  <a:gd name="T35" fmla="*/ 281 h 332"/>
                  <a:gd name="T36" fmla="*/ 3 w 547"/>
                  <a:gd name="T37" fmla="*/ 313 h 332"/>
                  <a:gd name="T38" fmla="*/ 5 w 547"/>
                  <a:gd name="T39" fmla="*/ 324 h 332"/>
                  <a:gd name="T40" fmla="*/ 8 w 547"/>
                  <a:gd name="T41" fmla="*/ 329 h 332"/>
                  <a:gd name="T42" fmla="*/ 13 w 547"/>
                  <a:gd name="T43" fmla="*/ 332 h 332"/>
                  <a:gd name="T44" fmla="*/ 19 w 547"/>
                  <a:gd name="T45" fmla="*/ 329 h 332"/>
                  <a:gd name="T46" fmla="*/ 32 w 547"/>
                  <a:gd name="T47" fmla="*/ 324 h 332"/>
                  <a:gd name="T48" fmla="*/ 48 w 547"/>
                  <a:gd name="T49" fmla="*/ 313 h 332"/>
                  <a:gd name="T50" fmla="*/ 61 w 547"/>
                  <a:gd name="T51" fmla="*/ 308 h 332"/>
                  <a:gd name="T52" fmla="*/ 72 w 547"/>
                  <a:gd name="T53" fmla="*/ 305 h 332"/>
                  <a:gd name="T54" fmla="*/ 85 w 547"/>
                  <a:gd name="T55" fmla="*/ 305 h 332"/>
                  <a:gd name="T56" fmla="*/ 101 w 547"/>
                  <a:gd name="T57" fmla="*/ 305 h 332"/>
                  <a:gd name="T58" fmla="*/ 133 w 547"/>
                  <a:gd name="T59" fmla="*/ 310 h 332"/>
                  <a:gd name="T60" fmla="*/ 165 w 547"/>
                  <a:gd name="T61" fmla="*/ 313 h 332"/>
                  <a:gd name="T62" fmla="*/ 184 w 547"/>
                  <a:gd name="T63" fmla="*/ 316 h 332"/>
                  <a:gd name="T64" fmla="*/ 192 w 547"/>
                  <a:gd name="T65" fmla="*/ 316 h 332"/>
                  <a:gd name="T66" fmla="*/ 200 w 547"/>
                  <a:gd name="T67" fmla="*/ 313 h 332"/>
                  <a:gd name="T68" fmla="*/ 216 w 547"/>
                  <a:gd name="T69" fmla="*/ 310 h 332"/>
                  <a:gd name="T70" fmla="*/ 229 w 547"/>
                  <a:gd name="T71" fmla="*/ 308 h 332"/>
                  <a:gd name="T72" fmla="*/ 243 w 547"/>
                  <a:gd name="T73" fmla="*/ 300 h 332"/>
                  <a:gd name="T74" fmla="*/ 256 w 547"/>
                  <a:gd name="T75" fmla="*/ 292 h 332"/>
                  <a:gd name="T76" fmla="*/ 270 w 547"/>
                  <a:gd name="T77" fmla="*/ 284 h 332"/>
                  <a:gd name="T78" fmla="*/ 294 w 547"/>
                  <a:gd name="T79" fmla="*/ 265 h 332"/>
                  <a:gd name="T80" fmla="*/ 318 w 547"/>
                  <a:gd name="T81" fmla="*/ 252 h 332"/>
                  <a:gd name="T82" fmla="*/ 342 w 547"/>
                  <a:gd name="T83" fmla="*/ 241 h 332"/>
                  <a:gd name="T84" fmla="*/ 363 w 547"/>
                  <a:gd name="T85" fmla="*/ 230 h 332"/>
                  <a:gd name="T86" fmla="*/ 384 w 547"/>
                  <a:gd name="T87" fmla="*/ 220 h 332"/>
                  <a:gd name="T88" fmla="*/ 406 w 547"/>
                  <a:gd name="T89" fmla="*/ 206 h 332"/>
                  <a:gd name="T90" fmla="*/ 430 w 547"/>
                  <a:gd name="T91" fmla="*/ 190 h 332"/>
                  <a:gd name="T92" fmla="*/ 454 w 547"/>
                  <a:gd name="T93" fmla="*/ 174 h 332"/>
                  <a:gd name="T94" fmla="*/ 475 w 547"/>
                  <a:gd name="T95" fmla="*/ 158 h 332"/>
                  <a:gd name="T96" fmla="*/ 496 w 547"/>
                  <a:gd name="T97" fmla="*/ 139 h 332"/>
                  <a:gd name="T98" fmla="*/ 510 w 547"/>
                  <a:gd name="T99" fmla="*/ 126 h 332"/>
                  <a:gd name="T100" fmla="*/ 523 w 547"/>
                  <a:gd name="T101" fmla="*/ 110 h 332"/>
                  <a:gd name="T102" fmla="*/ 534 w 547"/>
                  <a:gd name="T103" fmla="*/ 94 h 332"/>
                  <a:gd name="T104" fmla="*/ 542 w 547"/>
                  <a:gd name="T105" fmla="*/ 78 h 332"/>
                  <a:gd name="T106" fmla="*/ 547 w 547"/>
                  <a:gd name="T107" fmla="*/ 59 h 332"/>
                  <a:gd name="T108" fmla="*/ 547 w 547"/>
                  <a:gd name="T109" fmla="*/ 38 h 332"/>
                  <a:gd name="T110" fmla="*/ 545 w 547"/>
                  <a:gd name="T111" fmla="*/ 24 h 332"/>
                  <a:gd name="T112" fmla="*/ 539 w 547"/>
                  <a:gd name="T113" fmla="*/ 14 h 332"/>
                  <a:gd name="T114" fmla="*/ 529 w 547"/>
                  <a:gd name="T115" fmla="*/ 8 h 332"/>
                  <a:gd name="T116" fmla="*/ 521 w 547"/>
                  <a:gd name="T117" fmla="*/ 6 h 332"/>
                  <a:gd name="T118" fmla="*/ 510 w 547"/>
                  <a:gd name="T119" fmla="*/ 3 h 332"/>
                  <a:gd name="T120" fmla="*/ 502 w 547"/>
                  <a:gd name="T121" fmla="*/ 0 h 332"/>
                  <a:gd name="T122" fmla="*/ 472 w 547"/>
                  <a:gd name="T123" fmla="*/ 0 h 332"/>
                  <a:gd name="T124" fmla="*/ 443 w 547"/>
                  <a:gd name="T125" fmla="*/ 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7" h="332">
                    <a:moveTo>
                      <a:pt x="443" y="6"/>
                    </a:moveTo>
                    <a:lnTo>
                      <a:pt x="400" y="14"/>
                    </a:lnTo>
                    <a:lnTo>
                      <a:pt x="358" y="22"/>
                    </a:lnTo>
                    <a:lnTo>
                      <a:pt x="315" y="33"/>
                    </a:lnTo>
                    <a:lnTo>
                      <a:pt x="272" y="46"/>
                    </a:lnTo>
                    <a:lnTo>
                      <a:pt x="240" y="57"/>
                    </a:lnTo>
                    <a:lnTo>
                      <a:pt x="205" y="70"/>
                    </a:lnTo>
                    <a:lnTo>
                      <a:pt x="173" y="83"/>
                    </a:lnTo>
                    <a:lnTo>
                      <a:pt x="141" y="99"/>
                    </a:lnTo>
                    <a:lnTo>
                      <a:pt x="117" y="110"/>
                    </a:lnTo>
                    <a:lnTo>
                      <a:pt x="93" y="123"/>
                    </a:lnTo>
                    <a:lnTo>
                      <a:pt x="67" y="139"/>
                    </a:lnTo>
                    <a:lnTo>
                      <a:pt x="45" y="155"/>
                    </a:lnTo>
                    <a:lnTo>
                      <a:pt x="24" y="177"/>
                    </a:lnTo>
                    <a:lnTo>
                      <a:pt x="5" y="201"/>
                    </a:lnTo>
                    <a:lnTo>
                      <a:pt x="0" y="214"/>
                    </a:lnTo>
                    <a:lnTo>
                      <a:pt x="0" y="228"/>
                    </a:lnTo>
                    <a:lnTo>
                      <a:pt x="0" y="281"/>
                    </a:lnTo>
                    <a:lnTo>
                      <a:pt x="3" y="313"/>
                    </a:lnTo>
                    <a:lnTo>
                      <a:pt x="5" y="324"/>
                    </a:lnTo>
                    <a:lnTo>
                      <a:pt x="8" y="329"/>
                    </a:lnTo>
                    <a:lnTo>
                      <a:pt x="13" y="332"/>
                    </a:lnTo>
                    <a:lnTo>
                      <a:pt x="19" y="329"/>
                    </a:lnTo>
                    <a:lnTo>
                      <a:pt x="32" y="324"/>
                    </a:lnTo>
                    <a:lnTo>
                      <a:pt x="48" y="313"/>
                    </a:lnTo>
                    <a:lnTo>
                      <a:pt x="61" y="308"/>
                    </a:lnTo>
                    <a:lnTo>
                      <a:pt x="72" y="305"/>
                    </a:lnTo>
                    <a:lnTo>
                      <a:pt x="85" y="305"/>
                    </a:lnTo>
                    <a:lnTo>
                      <a:pt x="101" y="305"/>
                    </a:lnTo>
                    <a:lnTo>
                      <a:pt x="133" y="310"/>
                    </a:lnTo>
                    <a:lnTo>
                      <a:pt x="165" y="313"/>
                    </a:lnTo>
                    <a:lnTo>
                      <a:pt x="184" y="316"/>
                    </a:lnTo>
                    <a:lnTo>
                      <a:pt x="192" y="316"/>
                    </a:lnTo>
                    <a:lnTo>
                      <a:pt x="200" y="313"/>
                    </a:lnTo>
                    <a:lnTo>
                      <a:pt x="216" y="310"/>
                    </a:lnTo>
                    <a:lnTo>
                      <a:pt x="229" y="308"/>
                    </a:lnTo>
                    <a:lnTo>
                      <a:pt x="243" y="300"/>
                    </a:lnTo>
                    <a:lnTo>
                      <a:pt x="256" y="292"/>
                    </a:lnTo>
                    <a:lnTo>
                      <a:pt x="270" y="284"/>
                    </a:lnTo>
                    <a:lnTo>
                      <a:pt x="294" y="265"/>
                    </a:lnTo>
                    <a:lnTo>
                      <a:pt x="318" y="252"/>
                    </a:lnTo>
                    <a:lnTo>
                      <a:pt x="342" y="241"/>
                    </a:lnTo>
                    <a:lnTo>
                      <a:pt x="363" y="230"/>
                    </a:lnTo>
                    <a:lnTo>
                      <a:pt x="384" y="220"/>
                    </a:lnTo>
                    <a:lnTo>
                      <a:pt x="406" y="206"/>
                    </a:lnTo>
                    <a:lnTo>
                      <a:pt x="430" y="190"/>
                    </a:lnTo>
                    <a:lnTo>
                      <a:pt x="454" y="174"/>
                    </a:lnTo>
                    <a:lnTo>
                      <a:pt x="475" y="158"/>
                    </a:lnTo>
                    <a:lnTo>
                      <a:pt x="496" y="139"/>
                    </a:lnTo>
                    <a:lnTo>
                      <a:pt x="510" y="126"/>
                    </a:lnTo>
                    <a:lnTo>
                      <a:pt x="523" y="110"/>
                    </a:lnTo>
                    <a:lnTo>
                      <a:pt x="534" y="94"/>
                    </a:lnTo>
                    <a:lnTo>
                      <a:pt x="542" y="78"/>
                    </a:lnTo>
                    <a:lnTo>
                      <a:pt x="547" y="59"/>
                    </a:lnTo>
                    <a:lnTo>
                      <a:pt x="547" y="38"/>
                    </a:lnTo>
                    <a:lnTo>
                      <a:pt x="545" y="24"/>
                    </a:lnTo>
                    <a:lnTo>
                      <a:pt x="539" y="14"/>
                    </a:lnTo>
                    <a:lnTo>
                      <a:pt x="529" y="8"/>
                    </a:lnTo>
                    <a:lnTo>
                      <a:pt x="521" y="6"/>
                    </a:lnTo>
                    <a:lnTo>
                      <a:pt x="510" y="3"/>
                    </a:lnTo>
                    <a:lnTo>
                      <a:pt x="502" y="0"/>
                    </a:lnTo>
                    <a:lnTo>
                      <a:pt x="472" y="0"/>
                    </a:lnTo>
                    <a:lnTo>
                      <a:pt x="443" y="6"/>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8" name="Freeform 341">
                <a:extLst>
                  <a:ext uri="{FF2B5EF4-FFF2-40B4-BE49-F238E27FC236}">
                    <a16:creationId xmlns:a16="http://schemas.microsoft.com/office/drawing/2014/main" id="{7E5892EE-65C7-4BC2-90C7-2EAE583478D4}"/>
                  </a:ext>
                </a:extLst>
              </p:cNvPr>
              <p:cNvSpPr>
                <a:spLocks/>
              </p:cNvSpPr>
              <p:nvPr/>
            </p:nvSpPr>
            <p:spPr bwMode="auto">
              <a:xfrm>
                <a:off x="933" y="1864"/>
                <a:ext cx="547" cy="332"/>
              </a:xfrm>
              <a:custGeom>
                <a:avLst/>
                <a:gdLst>
                  <a:gd name="T0" fmla="*/ 443 w 547"/>
                  <a:gd name="T1" fmla="*/ 6 h 332"/>
                  <a:gd name="T2" fmla="*/ 400 w 547"/>
                  <a:gd name="T3" fmla="*/ 14 h 332"/>
                  <a:gd name="T4" fmla="*/ 358 w 547"/>
                  <a:gd name="T5" fmla="*/ 22 h 332"/>
                  <a:gd name="T6" fmla="*/ 315 w 547"/>
                  <a:gd name="T7" fmla="*/ 33 h 332"/>
                  <a:gd name="T8" fmla="*/ 272 w 547"/>
                  <a:gd name="T9" fmla="*/ 46 h 332"/>
                  <a:gd name="T10" fmla="*/ 240 w 547"/>
                  <a:gd name="T11" fmla="*/ 57 h 332"/>
                  <a:gd name="T12" fmla="*/ 205 w 547"/>
                  <a:gd name="T13" fmla="*/ 70 h 332"/>
                  <a:gd name="T14" fmla="*/ 173 w 547"/>
                  <a:gd name="T15" fmla="*/ 83 h 332"/>
                  <a:gd name="T16" fmla="*/ 141 w 547"/>
                  <a:gd name="T17" fmla="*/ 99 h 332"/>
                  <a:gd name="T18" fmla="*/ 117 w 547"/>
                  <a:gd name="T19" fmla="*/ 110 h 332"/>
                  <a:gd name="T20" fmla="*/ 93 w 547"/>
                  <a:gd name="T21" fmla="*/ 123 h 332"/>
                  <a:gd name="T22" fmla="*/ 67 w 547"/>
                  <a:gd name="T23" fmla="*/ 139 h 332"/>
                  <a:gd name="T24" fmla="*/ 45 w 547"/>
                  <a:gd name="T25" fmla="*/ 155 h 332"/>
                  <a:gd name="T26" fmla="*/ 24 w 547"/>
                  <a:gd name="T27" fmla="*/ 177 h 332"/>
                  <a:gd name="T28" fmla="*/ 5 w 547"/>
                  <a:gd name="T29" fmla="*/ 201 h 332"/>
                  <a:gd name="T30" fmla="*/ 0 w 547"/>
                  <a:gd name="T31" fmla="*/ 214 h 332"/>
                  <a:gd name="T32" fmla="*/ 0 w 547"/>
                  <a:gd name="T33" fmla="*/ 228 h 332"/>
                  <a:gd name="T34" fmla="*/ 0 w 547"/>
                  <a:gd name="T35" fmla="*/ 281 h 332"/>
                  <a:gd name="T36" fmla="*/ 3 w 547"/>
                  <a:gd name="T37" fmla="*/ 313 h 332"/>
                  <a:gd name="T38" fmla="*/ 5 w 547"/>
                  <a:gd name="T39" fmla="*/ 324 h 332"/>
                  <a:gd name="T40" fmla="*/ 8 w 547"/>
                  <a:gd name="T41" fmla="*/ 329 h 332"/>
                  <a:gd name="T42" fmla="*/ 13 w 547"/>
                  <a:gd name="T43" fmla="*/ 332 h 332"/>
                  <a:gd name="T44" fmla="*/ 19 w 547"/>
                  <a:gd name="T45" fmla="*/ 329 h 332"/>
                  <a:gd name="T46" fmla="*/ 32 w 547"/>
                  <a:gd name="T47" fmla="*/ 324 h 332"/>
                  <a:gd name="T48" fmla="*/ 48 w 547"/>
                  <a:gd name="T49" fmla="*/ 313 h 332"/>
                  <a:gd name="T50" fmla="*/ 61 w 547"/>
                  <a:gd name="T51" fmla="*/ 308 h 332"/>
                  <a:gd name="T52" fmla="*/ 72 w 547"/>
                  <a:gd name="T53" fmla="*/ 305 h 332"/>
                  <a:gd name="T54" fmla="*/ 85 w 547"/>
                  <a:gd name="T55" fmla="*/ 305 h 332"/>
                  <a:gd name="T56" fmla="*/ 101 w 547"/>
                  <a:gd name="T57" fmla="*/ 305 h 332"/>
                  <a:gd name="T58" fmla="*/ 133 w 547"/>
                  <a:gd name="T59" fmla="*/ 310 h 332"/>
                  <a:gd name="T60" fmla="*/ 165 w 547"/>
                  <a:gd name="T61" fmla="*/ 313 h 332"/>
                  <a:gd name="T62" fmla="*/ 184 w 547"/>
                  <a:gd name="T63" fmla="*/ 316 h 332"/>
                  <a:gd name="T64" fmla="*/ 192 w 547"/>
                  <a:gd name="T65" fmla="*/ 316 h 332"/>
                  <a:gd name="T66" fmla="*/ 200 w 547"/>
                  <a:gd name="T67" fmla="*/ 313 h 332"/>
                  <a:gd name="T68" fmla="*/ 216 w 547"/>
                  <a:gd name="T69" fmla="*/ 310 h 332"/>
                  <a:gd name="T70" fmla="*/ 229 w 547"/>
                  <a:gd name="T71" fmla="*/ 308 h 332"/>
                  <a:gd name="T72" fmla="*/ 243 w 547"/>
                  <a:gd name="T73" fmla="*/ 300 h 332"/>
                  <a:gd name="T74" fmla="*/ 256 w 547"/>
                  <a:gd name="T75" fmla="*/ 292 h 332"/>
                  <a:gd name="T76" fmla="*/ 270 w 547"/>
                  <a:gd name="T77" fmla="*/ 284 h 332"/>
                  <a:gd name="T78" fmla="*/ 294 w 547"/>
                  <a:gd name="T79" fmla="*/ 265 h 332"/>
                  <a:gd name="T80" fmla="*/ 318 w 547"/>
                  <a:gd name="T81" fmla="*/ 252 h 332"/>
                  <a:gd name="T82" fmla="*/ 342 w 547"/>
                  <a:gd name="T83" fmla="*/ 241 h 332"/>
                  <a:gd name="T84" fmla="*/ 363 w 547"/>
                  <a:gd name="T85" fmla="*/ 230 h 332"/>
                  <a:gd name="T86" fmla="*/ 384 w 547"/>
                  <a:gd name="T87" fmla="*/ 220 h 332"/>
                  <a:gd name="T88" fmla="*/ 406 w 547"/>
                  <a:gd name="T89" fmla="*/ 206 h 332"/>
                  <a:gd name="T90" fmla="*/ 430 w 547"/>
                  <a:gd name="T91" fmla="*/ 190 h 332"/>
                  <a:gd name="T92" fmla="*/ 454 w 547"/>
                  <a:gd name="T93" fmla="*/ 174 h 332"/>
                  <a:gd name="T94" fmla="*/ 475 w 547"/>
                  <a:gd name="T95" fmla="*/ 158 h 332"/>
                  <a:gd name="T96" fmla="*/ 496 w 547"/>
                  <a:gd name="T97" fmla="*/ 139 h 332"/>
                  <a:gd name="T98" fmla="*/ 510 w 547"/>
                  <a:gd name="T99" fmla="*/ 126 h 332"/>
                  <a:gd name="T100" fmla="*/ 523 w 547"/>
                  <a:gd name="T101" fmla="*/ 110 h 332"/>
                  <a:gd name="T102" fmla="*/ 534 w 547"/>
                  <a:gd name="T103" fmla="*/ 94 h 332"/>
                  <a:gd name="T104" fmla="*/ 542 w 547"/>
                  <a:gd name="T105" fmla="*/ 78 h 332"/>
                  <a:gd name="T106" fmla="*/ 547 w 547"/>
                  <a:gd name="T107" fmla="*/ 59 h 332"/>
                  <a:gd name="T108" fmla="*/ 547 w 547"/>
                  <a:gd name="T109" fmla="*/ 38 h 332"/>
                  <a:gd name="T110" fmla="*/ 545 w 547"/>
                  <a:gd name="T111" fmla="*/ 24 h 332"/>
                  <a:gd name="T112" fmla="*/ 539 w 547"/>
                  <a:gd name="T113" fmla="*/ 14 h 332"/>
                  <a:gd name="T114" fmla="*/ 529 w 547"/>
                  <a:gd name="T115" fmla="*/ 8 h 332"/>
                  <a:gd name="T116" fmla="*/ 521 w 547"/>
                  <a:gd name="T117" fmla="*/ 6 h 332"/>
                  <a:gd name="T118" fmla="*/ 510 w 547"/>
                  <a:gd name="T119" fmla="*/ 3 h 332"/>
                  <a:gd name="T120" fmla="*/ 502 w 547"/>
                  <a:gd name="T121" fmla="*/ 0 h 332"/>
                  <a:gd name="T122" fmla="*/ 472 w 547"/>
                  <a:gd name="T123" fmla="*/ 0 h 332"/>
                  <a:gd name="T124" fmla="*/ 443 w 547"/>
                  <a:gd name="T125" fmla="*/ 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7" h="332">
                    <a:moveTo>
                      <a:pt x="443" y="6"/>
                    </a:moveTo>
                    <a:lnTo>
                      <a:pt x="400" y="14"/>
                    </a:lnTo>
                    <a:lnTo>
                      <a:pt x="358" y="22"/>
                    </a:lnTo>
                    <a:lnTo>
                      <a:pt x="315" y="33"/>
                    </a:lnTo>
                    <a:lnTo>
                      <a:pt x="272" y="46"/>
                    </a:lnTo>
                    <a:lnTo>
                      <a:pt x="240" y="57"/>
                    </a:lnTo>
                    <a:lnTo>
                      <a:pt x="205" y="70"/>
                    </a:lnTo>
                    <a:lnTo>
                      <a:pt x="173" y="83"/>
                    </a:lnTo>
                    <a:lnTo>
                      <a:pt x="141" y="99"/>
                    </a:lnTo>
                    <a:lnTo>
                      <a:pt x="117" y="110"/>
                    </a:lnTo>
                    <a:lnTo>
                      <a:pt x="93" y="123"/>
                    </a:lnTo>
                    <a:lnTo>
                      <a:pt x="67" y="139"/>
                    </a:lnTo>
                    <a:lnTo>
                      <a:pt x="45" y="155"/>
                    </a:lnTo>
                    <a:lnTo>
                      <a:pt x="24" y="177"/>
                    </a:lnTo>
                    <a:lnTo>
                      <a:pt x="5" y="201"/>
                    </a:lnTo>
                    <a:lnTo>
                      <a:pt x="0" y="214"/>
                    </a:lnTo>
                    <a:lnTo>
                      <a:pt x="0" y="228"/>
                    </a:lnTo>
                    <a:lnTo>
                      <a:pt x="0" y="281"/>
                    </a:lnTo>
                    <a:lnTo>
                      <a:pt x="3" y="313"/>
                    </a:lnTo>
                    <a:lnTo>
                      <a:pt x="5" y="324"/>
                    </a:lnTo>
                    <a:lnTo>
                      <a:pt x="8" y="329"/>
                    </a:lnTo>
                    <a:lnTo>
                      <a:pt x="13" y="332"/>
                    </a:lnTo>
                    <a:lnTo>
                      <a:pt x="19" y="329"/>
                    </a:lnTo>
                    <a:lnTo>
                      <a:pt x="32" y="324"/>
                    </a:lnTo>
                    <a:lnTo>
                      <a:pt x="48" y="313"/>
                    </a:lnTo>
                    <a:lnTo>
                      <a:pt x="61" y="308"/>
                    </a:lnTo>
                    <a:lnTo>
                      <a:pt x="72" y="305"/>
                    </a:lnTo>
                    <a:lnTo>
                      <a:pt x="85" y="305"/>
                    </a:lnTo>
                    <a:lnTo>
                      <a:pt x="101" y="305"/>
                    </a:lnTo>
                    <a:lnTo>
                      <a:pt x="133" y="310"/>
                    </a:lnTo>
                    <a:lnTo>
                      <a:pt x="165" y="313"/>
                    </a:lnTo>
                    <a:lnTo>
                      <a:pt x="184" y="316"/>
                    </a:lnTo>
                    <a:lnTo>
                      <a:pt x="192" y="316"/>
                    </a:lnTo>
                    <a:lnTo>
                      <a:pt x="200" y="313"/>
                    </a:lnTo>
                    <a:lnTo>
                      <a:pt x="216" y="310"/>
                    </a:lnTo>
                    <a:lnTo>
                      <a:pt x="229" y="308"/>
                    </a:lnTo>
                    <a:lnTo>
                      <a:pt x="243" y="300"/>
                    </a:lnTo>
                    <a:lnTo>
                      <a:pt x="256" y="292"/>
                    </a:lnTo>
                    <a:lnTo>
                      <a:pt x="270" y="284"/>
                    </a:lnTo>
                    <a:lnTo>
                      <a:pt x="294" y="265"/>
                    </a:lnTo>
                    <a:lnTo>
                      <a:pt x="318" y="252"/>
                    </a:lnTo>
                    <a:lnTo>
                      <a:pt x="342" y="241"/>
                    </a:lnTo>
                    <a:lnTo>
                      <a:pt x="363" y="230"/>
                    </a:lnTo>
                    <a:lnTo>
                      <a:pt x="384" y="220"/>
                    </a:lnTo>
                    <a:lnTo>
                      <a:pt x="406" y="206"/>
                    </a:lnTo>
                    <a:lnTo>
                      <a:pt x="430" y="190"/>
                    </a:lnTo>
                    <a:lnTo>
                      <a:pt x="454" y="174"/>
                    </a:lnTo>
                    <a:lnTo>
                      <a:pt x="475" y="158"/>
                    </a:lnTo>
                    <a:lnTo>
                      <a:pt x="496" y="139"/>
                    </a:lnTo>
                    <a:lnTo>
                      <a:pt x="510" y="126"/>
                    </a:lnTo>
                    <a:lnTo>
                      <a:pt x="523" y="110"/>
                    </a:lnTo>
                    <a:lnTo>
                      <a:pt x="534" y="94"/>
                    </a:lnTo>
                    <a:lnTo>
                      <a:pt x="542" y="78"/>
                    </a:lnTo>
                    <a:lnTo>
                      <a:pt x="547" y="59"/>
                    </a:lnTo>
                    <a:lnTo>
                      <a:pt x="547" y="38"/>
                    </a:lnTo>
                    <a:lnTo>
                      <a:pt x="545" y="24"/>
                    </a:lnTo>
                    <a:lnTo>
                      <a:pt x="539" y="14"/>
                    </a:lnTo>
                    <a:lnTo>
                      <a:pt x="529" y="8"/>
                    </a:lnTo>
                    <a:lnTo>
                      <a:pt x="521" y="6"/>
                    </a:lnTo>
                    <a:lnTo>
                      <a:pt x="510" y="3"/>
                    </a:lnTo>
                    <a:lnTo>
                      <a:pt x="502" y="0"/>
                    </a:lnTo>
                    <a:lnTo>
                      <a:pt x="472" y="0"/>
                    </a:lnTo>
                    <a:lnTo>
                      <a:pt x="443" y="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69" name="Freeform 342">
                <a:extLst>
                  <a:ext uri="{FF2B5EF4-FFF2-40B4-BE49-F238E27FC236}">
                    <a16:creationId xmlns:a16="http://schemas.microsoft.com/office/drawing/2014/main" id="{C0930DCF-507D-4F29-89C2-275A3D8DD1BF}"/>
                  </a:ext>
                </a:extLst>
              </p:cNvPr>
              <p:cNvSpPr>
                <a:spLocks/>
              </p:cNvSpPr>
              <p:nvPr/>
            </p:nvSpPr>
            <p:spPr bwMode="auto">
              <a:xfrm>
                <a:off x="1440" y="1432"/>
                <a:ext cx="694" cy="288"/>
              </a:xfrm>
              <a:custGeom>
                <a:avLst/>
                <a:gdLst>
                  <a:gd name="T0" fmla="*/ 649 w 694"/>
                  <a:gd name="T1" fmla="*/ 13 h 288"/>
                  <a:gd name="T2" fmla="*/ 625 w 694"/>
                  <a:gd name="T3" fmla="*/ 5 h 288"/>
                  <a:gd name="T4" fmla="*/ 598 w 694"/>
                  <a:gd name="T5" fmla="*/ 0 h 288"/>
                  <a:gd name="T6" fmla="*/ 566 w 694"/>
                  <a:gd name="T7" fmla="*/ 0 h 288"/>
                  <a:gd name="T8" fmla="*/ 537 w 694"/>
                  <a:gd name="T9" fmla="*/ 2 h 288"/>
                  <a:gd name="T10" fmla="*/ 515 w 694"/>
                  <a:gd name="T11" fmla="*/ 2 h 288"/>
                  <a:gd name="T12" fmla="*/ 491 w 694"/>
                  <a:gd name="T13" fmla="*/ 5 h 288"/>
                  <a:gd name="T14" fmla="*/ 470 w 694"/>
                  <a:gd name="T15" fmla="*/ 10 h 288"/>
                  <a:gd name="T16" fmla="*/ 449 w 694"/>
                  <a:gd name="T17" fmla="*/ 13 h 288"/>
                  <a:gd name="T18" fmla="*/ 419 w 694"/>
                  <a:gd name="T19" fmla="*/ 18 h 288"/>
                  <a:gd name="T20" fmla="*/ 390 w 694"/>
                  <a:gd name="T21" fmla="*/ 26 h 288"/>
                  <a:gd name="T22" fmla="*/ 361 w 694"/>
                  <a:gd name="T23" fmla="*/ 34 h 288"/>
                  <a:gd name="T24" fmla="*/ 331 w 694"/>
                  <a:gd name="T25" fmla="*/ 42 h 288"/>
                  <a:gd name="T26" fmla="*/ 294 w 694"/>
                  <a:gd name="T27" fmla="*/ 53 h 288"/>
                  <a:gd name="T28" fmla="*/ 254 w 694"/>
                  <a:gd name="T29" fmla="*/ 61 h 288"/>
                  <a:gd name="T30" fmla="*/ 216 w 694"/>
                  <a:gd name="T31" fmla="*/ 74 h 288"/>
                  <a:gd name="T32" fmla="*/ 179 w 694"/>
                  <a:gd name="T33" fmla="*/ 88 h 288"/>
                  <a:gd name="T34" fmla="*/ 150 w 694"/>
                  <a:gd name="T35" fmla="*/ 98 h 288"/>
                  <a:gd name="T36" fmla="*/ 118 w 694"/>
                  <a:gd name="T37" fmla="*/ 112 h 288"/>
                  <a:gd name="T38" fmla="*/ 88 w 694"/>
                  <a:gd name="T39" fmla="*/ 128 h 288"/>
                  <a:gd name="T40" fmla="*/ 62 w 694"/>
                  <a:gd name="T41" fmla="*/ 147 h 288"/>
                  <a:gd name="T42" fmla="*/ 46 w 694"/>
                  <a:gd name="T43" fmla="*/ 157 h 288"/>
                  <a:gd name="T44" fmla="*/ 30 w 694"/>
                  <a:gd name="T45" fmla="*/ 171 h 288"/>
                  <a:gd name="T46" fmla="*/ 16 w 694"/>
                  <a:gd name="T47" fmla="*/ 187 h 288"/>
                  <a:gd name="T48" fmla="*/ 6 w 694"/>
                  <a:gd name="T49" fmla="*/ 203 h 288"/>
                  <a:gd name="T50" fmla="*/ 0 w 694"/>
                  <a:gd name="T51" fmla="*/ 211 h 288"/>
                  <a:gd name="T52" fmla="*/ 0 w 694"/>
                  <a:gd name="T53" fmla="*/ 219 h 288"/>
                  <a:gd name="T54" fmla="*/ 0 w 694"/>
                  <a:gd name="T55" fmla="*/ 229 h 288"/>
                  <a:gd name="T56" fmla="*/ 3 w 694"/>
                  <a:gd name="T57" fmla="*/ 237 h 288"/>
                  <a:gd name="T58" fmla="*/ 8 w 694"/>
                  <a:gd name="T59" fmla="*/ 251 h 288"/>
                  <a:gd name="T60" fmla="*/ 16 w 694"/>
                  <a:gd name="T61" fmla="*/ 261 h 288"/>
                  <a:gd name="T62" fmla="*/ 27 w 694"/>
                  <a:gd name="T63" fmla="*/ 272 h 288"/>
                  <a:gd name="T64" fmla="*/ 40 w 694"/>
                  <a:gd name="T65" fmla="*/ 277 h 288"/>
                  <a:gd name="T66" fmla="*/ 56 w 694"/>
                  <a:gd name="T67" fmla="*/ 285 h 288"/>
                  <a:gd name="T68" fmla="*/ 75 w 694"/>
                  <a:gd name="T69" fmla="*/ 288 h 288"/>
                  <a:gd name="T70" fmla="*/ 94 w 694"/>
                  <a:gd name="T71" fmla="*/ 288 h 288"/>
                  <a:gd name="T72" fmla="*/ 112 w 694"/>
                  <a:gd name="T73" fmla="*/ 288 h 288"/>
                  <a:gd name="T74" fmla="*/ 160 w 694"/>
                  <a:gd name="T75" fmla="*/ 285 h 288"/>
                  <a:gd name="T76" fmla="*/ 206 w 694"/>
                  <a:gd name="T77" fmla="*/ 277 h 288"/>
                  <a:gd name="T78" fmla="*/ 251 w 694"/>
                  <a:gd name="T79" fmla="*/ 269 h 288"/>
                  <a:gd name="T80" fmla="*/ 294 w 694"/>
                  <a:gd name="T81" fmla="*/ 261 h 288"/>
                  <a:gd name="T82" fmla="*/ 347 w 694"/>
                  <a:gd name="T83" fmla="*/ 248 h 288"/>
                  <a:gd name="T84" fmla="*/ 401 w 694"/>
                  <a:gd name="T85" fmla="*/ 235 h 288"/>
                  <a:gd name="T86" fmla="*/ 451 w 694"/>
                  <a:gd name="T87" fmla="*/ 219 h 288"/>
                  <a:gd name="T88" fmla="*/ 505 w 694"/>
                  <a:gd name="T89" fmla="*/ 203 h 288"/>
                  <a:gd name="T90" fmla="*/ 545 w 694"/>
                  <a:gd name="T91" fmla="*/ 187 h 288"/>
                  <a:gd name="T92" fmla="*/ 585 w 694"/>
                  <a:gd name="T93" fmla="*/ 168 h 288"/>
                  <a:gd name="T94" fmla="*/ 625 w 694"/>
                  <a:gd name="T95" fmla="*/ 147 h 288"/>
                  <a:gd name="T96" fmla="*/ 662 w 694"/>
                  <a:gd name="T97" fmla="*/ 125 h 288"/>
                  <a:gd name="T98" fmla="*/ 673 w 694"/>
                  <a:gd name="T99" fmla="*/ 114 h 288"/>
                  <a:gd name="T100" fmla="*/ 684 w 694"/>
                  <a:gd name="T101" fmla="*/ 101 h 288"/>
                  <a:gd name="T102" fmla="*/ 689 w 694"/>
                  <a:gd name="T103" fmla="*/ 88 h 288"/>
                  <a:gd name="T104" fmla="*/ 694 w 694"/>
                  <a:gd name="T105" fmla="*/ 74 h 288"/>
                  <a:gd name="T106" fmla="*/ 694 w 694"/>
                  <a:gd name="T107" fmla="*/ 61 h 288"/>
                  <a:gd name="T108" fmla="*/ 694 w 694"/>
                  <a:gd name="T109" fmla="*/ 50 h 288"/>
                  <a:gd name="T110" fmla="*/ 692 w 694"/>
                  <a:gd name="T111" fmla="*/ 37 h 288"/>
                  <a:gd name="T112" fmla="*/ 686 w 694"/>
                  <a:gd name="T113" fmla="*/ 29 h 288"/>
                  <a:gd name="T114" fmla="*/ 678 w 694"/>
                  <a:gd name="T115" fmla="*/ 21 h 288"/>
                  <a:gd name="T116" fmla="*/ 670 w 694"/>
                  <a:gd name="T117" fmla="*/ 18 h 288"/>
                  <a:gd name="T118" fmla="*/ 660 w 694"/>
                  <a:gd name="T119" fmla="*/ 16 h 288"/>
                  <a:gd name="T120" fmla="*/ 649 w 694"/>
                  <a:gd name="T121" fmla="*/ 1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94" h="288">
                    <a:moveTo>
                      <a:pt x="649" y="13"/>
                    </a:moveTo>
                    <a:lnTo>
                      <a:pt x="625" y="5"/>
                    </a:lnTo>
                    <a:lnTo>
                      <a:pt x="598" y="0"/>
                    </a:lnTo>
                    <a:lnTo>
                      <a:pt x="566" y="0"/>
                    </a:lnTo>
                    <a:lnTo>
                      <a:pt x="537" y="2"/>
                    </a:lnTo>
                    <a:lnTo>
                      <a:pt x="515" y="2"/>
                    </a:lnTo>
                    <a:lnTo>
                      <a:pt x="491" y="5"/>
                    </a:lnTo>
                    <a:lnTo>
                      <a:pt x="470" y="10"/>
                    </a:lnTo>
                    <a:lnTo>
                      <a:pt x="449" y="13"/>
                    </a:lnTo>
                    <a:lnTo>
                      <a:pt x="419" y="18"/>
                    </a:lnTo>
                    <a:lnTo>
                      <a:pt x="390" y="26"/>
                    </a:lnTo>
                    <a:lnTo>
                      <a:pt x="361" y="34"/>
                    </a:lnTo>
                    <a:lnTo>
                      <a:pt x="331" y="42"/>
                    </a:lnTo>
                    <a:lnTo>
                      <a:pt x="294" y="53"/>
                    </a:lnTo>
                    <a:lnTo>
                      <a:pt x="254" y="61"/>
                    </a:lnTo>
                    <a:lnTo>
                      <a:pt x="216" y="74"/>
                    </a:lnTo>
                    <a:lnTo>
                      <a:pt x="179" y="88"/>
                    </a:lnTo>
                    <a:lnTo>
                      <a:pt x="150" y="98"/>
                    </a:lnTo>
                    <a:lnTo>
                      <a:pt x="118" y="112"/>
                    </a:lnTo>
                    <a:lnTo>
                      <a:pt x="88" y="128"/>
                    </a:lnTo>
                    <a:lnTo>
                      <a:pt x="62" y="147"/>
                    </a:lnTo>
                    <a:lnTo>
                      <a:pt x="46" y="157"/>
                    </a:lnTo>
                    <a:lnTo>
                      <a:pt x="30" y="171"/>
                    </a:lnTo>
                    <a:lnTo>
                      <a:pt x="16" y="187"/>
                    </a:lnTo>
                    <a:lnTo>
                      <a:pt x="6" y="203"/>
                    </a:lnTo>
                    <a:lnTo>
                      <a:pt x="0" y="211"/>
                    </a:lnTo>
                    <a:lnTo>
                      <a:pt x="0" y="219"/>
                    </a:lnTo>
                    <a:lnTo>
                      <a:pt x="0" y="229"/>
                    </a:lnTo>
                    <a:lnTo>
                      <a:pt x="3" y="237"/>
                    </a:lnTo>
                    <a:lnTo>
                      <a:pt x="8" y="251"/>
                    </a:lnTo>
                    <a:lnTo>
                      <a:pt x="16" y="261"/>
                    </a:lnTo>
                    <a:lnTo>
                      <a:pt x="27" y="272"/>
                    </a:lnTo>
                    <a:lnTo>
                      <a:pt x="40" y="277"/>
                    </a:lnTo>
                    <a:lnTo>
                      <a:pt x="56" y="285"/>
                    </a:lnTo>
                    <a:lnTo>
                      <a:pt x="75" y="288"/>
                    </a:lnTo>
                    <a:lnTo>
                      <a:pt x="94" y="288"/>
                    </a:lnTo>
                    <a:lnTo>
                      <a:pt x="112" y="288"/>
                    </a:lnTo>
                    <a:lnTo>
                      <a:pt x="160" y="285"/>
                    </a:lnTo>
                    <a:lnTo>
                      <a:pt x="206" y="277"/>
                    </a:lnTo>
                    <a:lnTo>
                      <a:pt x="251" y="269"/>
                    </a:lnTo>
                    <a:lnTo>
                      <a:pt x="294" y="261"/>
                    </a:lnTo>
                    <a:lnTo>
                      <a:pt x="347" y="248"/>
                    </a:lnTo>
                    <a:lnTo>
                      <a:pt x="401" y="235"/>
                    </a:lnTo>
                    <a:lnTo>
                      <a:pt x="451" y="219"/>
                    </a:lnTo>
                    <a:lnTo>
                      <a:pt x="505" y="203"/>
                    </a:lnTo>
                    <a:lnTo>
                      <a:pt x="545" y="187"/>
                    </a:lnTo>
                    <a:lnTo>
                      <a:pt x="585" y="168"/>
                    </a:lnTo>
                    <a:lnTo>
                      <a:pt x="625" y="147"/>
                    </a:lnTo>
                    <a:lnTo>
                      <a:pt x="662" y="125"/>
                    </a:lnTo>
                    <a:lnTo>
                      <a:pt x="673" y="114"/>
                    </a:lnTo>
                    <a:lnTo>
                      <a:pt x="684" y="101"/>
                    </a:lnTo>
                    <a:lnTo>
                      <a:pt x="689" y="88"/>
                    </a:lnTo>
                    <a:lnTo>
                      <a:pt x="694" y="74"/>
                    </a:lnTo>
                    <a:lnTo>
                      <a:pt x="694" y="61"/>
                    </a:lnTo>
                    <a:lnTo>
                      <a:pt x="694" y="50"/>
                    </a:lnTo>
                    <a:lnTo>
                      <a:pt x="692" y="37"/>
                    </a:lnTo>
                    <a:lnTo>
                      <a:pt x="686" y="29"/>
                    </a:lnTo>
                    <a:lnTo>
                      <a:pt x="678" y="21"/>
                    </a:lnTo>
                    <a:lnTo>
                      <a:pt x="670" y="18"/>
                    </a:lnTo>
                    <a:lnTo>
                      <a:pt x="660" y="16"/>
                    </a:lnTo>
                    <a:lnTo>
                      <a:pt x="649" y="13"/>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0" name="Freeform 343">
                <a:extLst>
                  <a:ext uri="{FF2B5EF4-FFF2-40B4-BE49-F238E27FC236}">
                    <a16:creationId xmlns:a16="http://schemas.microsoft.com/office/drawing/2014/main" id="{E2186422-C3AB-4423-943F-F377172E1E56}"/>
                  </a:ext>
                </a:extLst>
              </p:cNvPr>
              <p:cNvSpPr>
                <a:spLocks/>
              </p:cNvSpPr>
              <p:nvPr/>
            </p:nvSpPr>
            <p:spPr bwMode="auto">
              <a:xfrm>
                <a:off x="1440" y="1432"/>
                <a:ext cx="694" cy="288"/>
              </a:xfrm>
              <a:custGeom>
                <a:avLst/>
                <a:gdLst>
                  <a:gd name="T0" fmla="*/ 649 w 694"/>
                  <a:gd name="T1" fmla="*/ 13 h 288"/>
                  <a:gd name="T2" fmla="*/ 625 w 694"/>
                  <a:gd name="T3" fmla="*/ 5 h 288"/>
                  <a:gd name="T4" fmla="*/ 598 w 694"/>
                  <a:gd name="T5" fmla="*/ 0 h 288"/>
                  <a:gd name="T6" fmla="*/ 566 w 694"/>
                  <a:gd name="T7" fmla="*/ 0 h 288"/>
                  <a:gd name="T8" fmla="*/ 537 w 694"/>
                  <a:gd name="T9" fmla="*/ 2 h 288"/>
                  <a:gd name="T10" fmla="*/ 515 w 694"/>
                  <a:gd name="T11" fmla="*/ 2 h 288"/>
                  <a:gd name="T12" fmla="*/ 491 w 694"/>
                  <a:gd name="T13" fmla="*/ 5 h 288"/>
                  <a:gd name="T14" fmla="*/ 470 w 694"/>
                  <a:gd name="T15" fmla="*/ 10 h 288"/>
                  <a:gd name="T16" fmla="*/ 449 w 694"/>
                  <a:gd name="T17" fmla="*/ 13 h 288"/>
                  <a:gd name="T18" fmla="*/ 419 w 694"/>
                  <a:gd name="T19" fmla="*/ 18 h 288"/>
                  <a:gd name="T20" fmla="*/ 390 w 694"/>
                  <a:gd name="T21" fmla="*/ 26 h 288"/>
                  <a:gd name="T22" fmla="*/ 361 w 694"/>
                  <a:gd name="T23" fmla="*/ 34 h 288"/>
                  <a:gd name="T24" fmla="*/ 331 w 694"/>
                  <a:gd name="T25" fmla="*/ 42 h 288"/>
                  <a:gd name="T26" fmla="*/ 294 w 694"/>
                  <a:gd name="T27" fmla="*/ 53 h 288"/>
                  <a:gd name="T28" fmla="*/ 254 w 694"/>
                  <a:gd name="T29" fmla="*/ 61 h 288"/>
                  <a:gd name="T30" fmla="*/ 216 w 694"/>
                  <a:gd name="T31" fmla="*/ 74 h 288"/>
                  <a:gd name="T32" fmla="*/ 179 w 694"/>
                  <a:gd name="T33" fmla="*/ 88 h 288"/>
                  <a:gd name="T34" fmla="*/ 150 w 694"/>
                  <a:gd name="T35" fmla="*/ 98 h 288"/>
                  <a:gd name="T36" fmla="*/ 118 w 694"/>
                  <a:gd name="T37" fmla="*/ 112 h 288"/>
                  <a:gd name="T38" fmla="*/ 88 w 694"/>
                  <a:gd name="T39" fmla="*/ 128 h 288"/>
                  <a:gd name="T40" fmla="*/ 62 w 694"/>
                  <a:gd name="T41" fmla="*/ 147 h 288"/>
                  <a:gd name="T42" fmla="*/ 46 w 694"/>
                  <a:gd name="T43" fmla="*/ 157 h 288"/>
                  <a:gd name="T44" fmla="*/ 30 w 694"/>
                  <a:gd name="T45" fmla="*/ 171 h 288"/>
                  <a:gd name="T46" fmla="*/ 16 w 694"/>
                  <a:gd name="T47" fmla="*/ 187 h 288"/>
                  <a:gd name="T48" fmla="*/ 6 w 694"/>
                  <a:gd name="T49" fmla="*/ 203 h 288"/>
                  <a:gd name="T50" fmla="*/ 0 w 694"/>
                  <a:gd name="T51" fmla="*/ 211 h 288"/>
                  <a:gd name="T52" fmla="*/ 0 w 694"/>
                  <a:gd name="T53" fmla="*/ 219 h 288"/>
                  <a:gd name="T54" fmla="*/ 0 w 694"/>
                  <a:gd name="T55" fmla="*/ 229 h 288"/>
                  <a:gd name="T56" fmla="*/ 3 w 694"/>
                  <a:gd name="T57" fmla="*/ 237 h 288"/>
                  <a:gd name="T58" fmla="*/ 8 w 694"/>
                  <a:gd name="T59" fmla="*/ 251 h 288"/>
                  <a:gd name="T60" fmla="*/ 16 w 694"/>
                  <a:gd name="T61" fmla="*/ 261 h 288"/>
                  <a:gd name="T62" fmla="*/ 27 w 694"/>
                  <a:gd name="T63" fmla="*/ 272 h 288"/>
                  <a:gd name="T64" fmla="*/ 40 w 694"/>
                  <a:gd name="T65" fmla="*/ 277 h 288"/>
                  <a:gd name="T66" fmla="*/ 56 w 694"/>
                  <a:gd name="T67" fmla="*/ 285 h 288"/>
                  <a:gd name="T68" fmla="*/ 75 w 694"/>
                  <a:gd name="T69" fmla="*/ 288 h 288"/>
                  <a:gd name="T70" fmla="*/ 94 w 694"/>
                  <a:gd name="T71" fmla="*/ 288 h 288"/>
                  <a:gd name="T72" fmla="*/ 112 w 694"/>
                  <a:gd name="T73" fmla="*/ 288 h 288"/>
                  <a:gd name="T74" fmla="*/ 160 w 694"/>
                  <a:gd name="T75" fmla="*/ 285 h 288"/>
                  <a:gd name="T76" fmla="*/ 206 w 694"/>
                  <a:gd name="T77" fmla="*/ 277 h 288"/>
                  <a:gd name="T78" fmla="*/ 251 w 694"/>
                  <a:gd name="T79" fmla="*/ 269 h 288"/>
                  <a:gd name="T80" fmla="*/ 294 w 694"/>
                  <a:gd name="T81" fmla="*/ 261 h 288"/>
                  <a:gd name="T82" fmla="*/ 347 w 694"/>
                  <a:gd name="T83" fmla="*/ 248 h 288"/>
                  <a:gd name="T84" fmla="*/ 401 w 694"/>
                  <a:gd name="T85" fmla="*/ 235 h 288"/>
                  <a:gd name="T86" fmla="*/ 451 w 694"/>
                  <a:gd name="T87" fmla="*/ 219 h 288"/>
                  <a:gd name="T88" fmla="*/ 505 w 694"/>
                  <a:gd name="T89" fmla="*/ 203 h 288"/>
                  <a:gd name="T90" fmla="*/ 545 w 694"/>
                  <a:gd name="T91" fmla="*/ 187 h 288"/>
                  <a:gd name="T92" fmla="*/ 585 w 694"/>
                  <a:gd name="T93" fmla="*/ 168 h 288"/>
                  <a:gd name="T94" fmla="*/ 625 w 694"/>
                  <a:gd name="T95" fmla="*/ 147 h 288"/>
                  <a:gd name="T96" fmla="*/ 662 w 694"/>
                  <a:gd name="T97" fmla="*/ 125 h 288"/>
                  <a:gd name="T98" fmla="*/ 673 w 694"/>
                  <a:gd name="T99" fmla="*/ 114 h 288"/>
                  <a:gd name="T100" fmla="*/ 684 w 694"/>
                  <a:gd name="T101" fmla="*/ 101 h 288"/>
                  <a:gd name="T102" fmla="*/ 689 w 694"/>
                  <a:gd name="T103" fmla="*/ 88 h 288"/>
                  <a:gd name="T104" fmla="*/ 694 w 694"/>
                  <a:gd name="T105" fmla="*/ 74 h 288"/>
                  <a:gd name="T106" fmla="*/ 694 w 694"/>
                  <a:gd name="T107" fmla="*/ 61 h 288"/>
                  <a:gd name="T108" fmla="*/ 694 w 694"/>
                  <a:gd name="T109" fmla="*/ 50 h 288"/>
                  <a:gd name="T110" fmla="*/ 692 w 694"/>
                  <a:gd name="T111" fmla="*/ 37 h 288"/>
                  <a:gd name="T112" fmla="*/ 686 w 694"/>
                  <a:gd name="T113" fmla="*/ 29 h 288"/>
                  <a:gd name="T114" fmla="*/ 678 w 694"/>
                  <a:gd name="T115" fmla="*/ 21 h 288"/>
                  <a:gd name="T116" fmla="*/ 670 w 694"/>
                  <a:gd name="T117" fmla="*/ 18 h 288"/>
                  <a:gd name="T118" fmla="*/ 660 w 694"/>
                  <a:gd name="T119" fmla="*/ 16 h 288"/>
                  <a:gd name="T120" fmla="*/ 649 w 694"/>
                  <a:gd name="T121" fmla="*/ 1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94" h="288">
                    <a:moveTo>
                      <a:pt x="649" y="13"/>
                    </a:moveTo>
                    <a:lnTo>
                      <a:pt x="625" y="5"/>
                    </a:lnTo>
                    <a:lnTo>
                      <a:pt x="598" y="0"/>
                    </a:lnTo>
                    <a:lnTo>
                      <a:pt x="566" y="0"/>
                    </a:lnTo>
                    <a:lnTo>
                      <a:pt x="537" y="2"/>
                    </a:lnTo>
                    <a:lnTo>
                      <a:pt x="515" y="2"/>
                    </a:lnTo>
                    <a:lnTo>
                      <a:pt x="491" y="5"/>
                    </a:lnTo>
                    <a:lnTo>
                      <a:pt x="470" y="10"/>
                    </a:lnTo>
                    <a:lnTo>
                      <a:pt x="449" y="13"/>
                    </a:lnTo>
                    <a:lnTo>
                      <a:pt x="419" y="18"/>
                    </a:lnTo>
                    <a:lnTo>
                      <a:pt x="390" y="26"/>
                    </a:lnTo>
                    <a:lnTo>
                      <a:pt x="361" y="34"/>
                    </a:lnTo>
                    <a:lnTo>
                      <a:pt x="331" y="42"/>
                    </a:lnTo>
                    <a:lnTo>
                      <a:pt x="294" y="53"/>
                    </a:lnTo>
                    <a:lnTo>
                      <a:pt x="254" y="61"/>
                    </a:lnTo>
                    <a:lnTo>
                      <a:pt x="216" y="74"/>
                    </a:lnTo>
                    <a:lnTo>
                      <a:pt x="179" y="88"/>
                    </a:lnTo>
                    <a:lnTo>
                      <a:pt x="150" y="98"/>
                    </a:lnTo>
                    <a:lnTo>
                      <a:pt x="118" y="112"/>
                    </a:lnTo>
                    <a:lnTo>
                      <a:pt x="88" y="128"/>
                    </a:lnTo>
                    <a:lnTo>
                      <a:pt x="62" y="147"/>
                    </a:lnTo>
                    <a:lnTo>
                      <a:pt x="46" y="157"/>
                    </a:lnTo>
                    <a:lnTo>
                      <a:pt x="30" y="171"/>
                    </a:lnTo>
                    <a:lnTo>
                      <a:pt x="16" y="187"/>
                    </a:lnTo>
                    <a:lnTo>
                      <a:pt x="6" y="203"/>
                    </a:lnTo>
                    <a:lnTo>
                      <a:pt x="0" y="211"/>
                    </a:lnTo>
                    <a:lnTo>
                      <a:pt x="0" y="219"/>
                    </a:lnTo>
                    <a:lnTo>
                      <a:pt x="0" y="229"/>
                    </a:lnTo>
                    <a:lnTo>
                      <a:pt x="3" y="237"/>
                    </a:lnTo>
                    <a:lnTo>
                      <a:pt x="8" y="251"/>
                    </a:lnTo>
                    <a:lnTo>
                      <a:pt x="16" y="261"/>
                    </a:lnTo>
                    <a:lnTo>
                      <a:pt x="27" y="272"/>
                    </a:lnTo>
                    <a:lnTo>
                      <a:pt x="40" y="277"/>
                    </a:lnTo>
                    <a:lnTo>
                      <a:pt x="56" y="285"/>
                    </a:lnTo>
                    <a:lnTo>
                      <a:pt x="75" y="288"/>
                    </a:lnTo>
                    <a:lnTo>
                      <a:pt x="94" y="288"/>
                    </a:lnTo>
                    <a:lnTo>
                      <a:pt x="112" y="288"/>
                    </a:lnTo>
                    <a:lnTo>
                      <a:pt x="160" y="285"/>
                    </a:lnTo>
                    <a:lnTo>
                      <a:pt x="206" y="277"/>
                    </a:lnTo>
                    <a:lnTo>
                      <a:pt x="251" y="269"/>
                    </a:lnTo>
                    <a:lnTo>
                      <a:pt x="294" y="261"/>
                    </a:lnTo>
                    <a:lnTo>
                      <a:pt x="347" y="248"/>
                    </a:lnTo>
                    <a:lnTo>
                      <a:pt x="401" y="235"/>
                    </a:lnTo>
                    <a:lnTo>
                      <a:pt x="451" y="219"/>
                    </a:lnTo>
                    <a:lnTo>
                      <a:pt x="505" y="203"/>
                    </a:lnTo>
                    <a:lnTo>
                      <a:pt x="545" y="187"/>
                    </a:lnTo>
                    <a:lnTo>
                      <a:pt x="585" y="168"/>
                    </a:lnTo>
                    <a:lnTo>
                      <a:pt x="625" y="147"/>
                    </a:lnTo>
                    <a:lnTo>
                      <a:pt x="662" y="125"/>
                    </a:lnTo>
                    <a:lnTo>
                      <a:pt x="673" y="114"/>
                    </a:lnTo>
                    <a:lnTo>
                      <a:pt x="684" y="101"/>
                    </a:lnTo>
                    <a:lnTo>
                      <a:pt x="689" y="88"/>
                    </a:lnTo>
                    <a:lnTo>
                      <a:pt x="694" y="74"/>
                    </a:lnTo>
                    <a:lnTo>
                      <a:pt x="694" y="61"/>
                    </a:lnTo>
                    <a:lnTo>
                      <a:pt x="694" y="50"/>
                    </a:lnTo>
                    <a:lnTo>
                      <a:pt x="692" y="37"/>
                    </a:lnTo>
                    <a:lnTo>
                      <a:pt x="686" y="29"/>
                    </a:lnTo>
                    <a:lnTo>
                      <a:pt x="678" y="21"/>
                    </a:lnTo>
                    <a:lnTo>
                      <a:pt x="670" y="18"/>
                    </a:lnTo>
                    <a:lnTo>
                      <a:pt x="660" y="16"/>
                    </a:lnTo>
                    <a:lnTo>
                      <a:pt x="649" y="13"/>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1" name="Freeform 344">
                <a:extLst>
                  <a:ext uri="{FF2B5EF4-FFF2-40B4-BE49-F238E27FC236}">
                    <a16:creationId xmlns:a16="http://schemas.microsoft.com/office/drawing/2014/main" id="{49119D7E-09C7-4F89-8072-77C6A98FFA9A}"/>
                  </a:ext>
                </a:extLst>
              </p:cNvPr>
              <p:cNvSpPr>
                <a:spLocks/>
              </p:cNvSpPr>
              <p:nvPr/>
            </p:nvSpPr>
            <p:spPr bwMode="auto">
              <a:xfrm>
                <a:off x="225" y="1482"/>
                <a:ext cx="3549" cy="802"/>
              </a:xfrm>
              <a:custGeom>
                <a:avLst/>
                <a:gdLst>
                  <a:gd name="T0" fmla="*/ 0 w 3549"/>
                  <a:gd name="T1" fmla="*/ 631 h 802"/>
                  <a:gd name="T2" fmla="*/ 668 w 3549"/>
                  <a:gd name="T3" fmla="*/ 684 h 802"/>
                  <a:gd name="T4" fmla="*/ 2534 w 3549"/>
                  <a:gd name="T5" fmla="*/ 802 h 802"/>
                  <a:gd name="T6" fmla="*/ 3549 w 3549"/>
                  <a:gd name="T7" fmla="*/ 0 h 802"/>
                </a:gdLst>
                <a:ahLst/>
                <a:cxnLst>
                  <a:cxn ang="0">
                    <a:pos x="T0" y="T1"/>
                  </a:cxn>
                  <a:cxn ang="0">
                    <a:pos x="T2" y="T3"/>
                  </a:cxn>
                  <a:cxn ang="0">
                    <a:pos x="T4" y="T5"/>
                  </a:cxn>
                  <a:cxn ang="0">
                    <a:pos x="T6" y="T7"/>
                  </a:cxn>
                </a:cxnLst>
                <a:rect l="0" t="0" r="r" b="b"/>
                <a:pathLst>
                  <a:path w="3549" h="802">
                    <a:moveTo>
                      <a:pt x="0" y="631"/>
                    </a:moveTo>
                    <a:lnTo>
                      <a:pt x="668" y="684"/>
                    </a:lnTo>
                    <a:lnTo>
                      <a:pt x="2534" y="802"/>
                    </a:lnTo>
                    <a:lnTo>
                      <a:pt x="3549"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2" name="Freeform 345">
                <a:extLst>
                  <a:ext uri="{FF2B5EF4-FFF2-40B4-BE49-F238E27FC236}">
                    <a16:creationId xmlns:a16="http://schemas.microsoft.com/office/drawing/2014/main" id="{D5A3D275-6768-4C9B-B573-77786AE046AD}"/>
                  </a:ext>
                </a:extLst>
              </p:cNvPr>
              <p:cNvSpPr>
                <a:spLocks/>
              </p:cNvSpPr>
              <p:nvPr/>
            </p:nvSpPr>
            <p:spPr bwMode="auto">
              <a:xfrm>
                <a:off x="1224" y="1378"/>
                <a:ext cx="2096" cy="890"/>
              </a:xfrm>
              <a:custGeom>
                <a:avLst/>
                <a:gdLst>
                  <a:gd name="T0" fmla="*/ 2096 w 2096"/>
                  <a:gd name="T1" fmla="*/ 86 h 890"/>
                  <a:gd name="T2" fmla="*/ 2045 w 2096"/>
                  <a:gd name="T3" fmla="*/ 0 h 890"/>
                  <a:gd name="T4" fmla="*/ 1757 w 2096"/>
                  <a:gd name="T5" fmla="*/ 0 h 890"/>
                  <a:gd name="T6" fmla="*/ 1645 w 2096"/>
                  <a:gd name="T7" fmla="*/ 8 h 890"/>
                  <a:gd name="T8" fmla="*/ 1458 w 2096"/>
                  <a:gd name="T9" fmla="*/ 30 h 890"/>
                  <a:gd name="T10" fmla="*/ 1340 w 2096"/>
                  <a:gd name="T11" fmla="*/ 46 h 890"/>
                  <a:gd name="T12" fmla="*/ 1183 w 2096"/>
                  <a:gd name="T13" fmla="*/ 51 h 890"/>
                  <a:gd name="T14" fmla="*/ 1052 w 2096"/>
                  <a:gd name="T15" fmla="*/ 75 h 890"/>
                  <a:gd name="T16" fmla="*/ 985 w 2096"/>
                  <a:gd name="T17" fmla="*/ 118 h 890"/>
                  <a:gd name="T18" fmla="*/ 961 w 2096"/>
                  <a:gd name="T19" fmla="*/ 182 h 890"/>
                  <a:gd name="T20" fmla="*/ 918 w 2096"/>
                  <a:gd name="T21" fmla="*/ 267 h 890"/>
                  <a:gd name="T22" fmla="*/ 806 w 2096"/>
                  <a:gd name="T23" fmla="*/ 334 h 890"/>
                  <a:gd name="T24" fmla="*/ 702 w 2096"/>
                  <a:gd name="T25" fmla="*/ 372 h 890"/>
                  <a:gd name="T26" fmla="*/ 571 w 2096"/>
                  <a:gd name="T27" fmla="*/ 398 h 890"/>
                  <a:gd name="T28" fmla="*/ 400 w 2096"/>
                  <a:gd name="T29" fmla="*/ 438 h 890"/>
                  <a:gd name="T30" fmla="*/ 339 w 2096"/>
                  <a:gd name="T31" fmla="*/ 492 h 890"/>
                  <a:gd name="T32" fmla="*/ 315 w 2096"/>
                  <a:gd name="T33" fmla="*/ 620 h 890"/>
                  <a:gd name="T34" fmla="*/ 227 w 2096"/>
                  <a:gd name="T35" fmla="*/ 711 h 890"/>
                  <a:gd name="T36" fmla="*/ 0 w 2096"/>
                  <a:gd name="T37" fmla="*/ 810 h 890"/>
                  <a:gd name="T38" fmla="*/ 1281 w 2096"/>
                  <a:gd name="T39" fmla="*/ 890 h 890"/>
                  <a:gd name="T40" fmla="*/ 1351 w 2096"/>
                  <a:gd name="T41" fmla="*/ 820 h 890"/>
                  <a:gd name="T42" fmla="*/ 1476 w 2096"/>
                  <a:gd name="T43" fmla="*/ 767 h 890"/>
                  <a:gd name="T44" fmla="*/ 1575 w 2096"/>
                  <a:gd name="T45" fmla="*/ 740 h 890"/>
                  <a:gd name="T46" fmla="*/ 1596 w 2096"/>
                  <a:gd name="T47" fmla="*/ 700 h 890"/>
                  <a:gd name="T48" fmla="*/ 1575 w 2096"/>
                  <a:gd name="T49" fmla="*/ 668 h 890"/>
                  <a:gd name="T50" fmla="*/ 1530 w 2096"/>
                  <a:gd name="T51" fmla="*/ 623 h 890"/>
                  <a:gd name="T52" fmla="*/ 1538 w 2096"/>
                  <a:gd name="T53" fmla="*/ 543 h 890"/>
                  <a:gd name="T54" fmla="*/ 1594 w 2096"/>
                  <a:gd name="T55" fmla="*/ 484 h 890"/>
                  <a:gd name="T56" fmla="*/ 1706 w 2096"/>
                  <a:gd name="T57" fmla="*/ 449 h 890"/>
                  <a:gd name="T58" fmla="*/ 1815 w 2096"/>
                  <a:gd name="T59" fmla="*/ 409 h 890"/>
                  <a:gd name="T60" fmla="*/ 1930 w 2096"/>
                  <a:gd name="T61" fmla="*/ 390 h 890"/>
                  <a:gd name="T62" fmla="*/ 2024 w 2096"/>
                  <a:gd name="T63" fmla="*/ 380 h 890"/>
                  <a:gd name="T64" fmla="*/ 2069 w 2096"/>
                  <a:gd name="T65" fmla="*/ 366 h 890"/>
                  <a:gd name="T66" fmla="*/ 2085 w 2096"/>
                  <a:gd name="T67" fmla="*/ 339 h 890"/>
                  <a:gd name="T68" fmla="*/ 2050 w 2096"/>
                  <a:gd name="T69" fmla="*/ 305 h 890"/>
                  <a:gd name="T70" fmla="*/ 2010 w 2096"/>
                  <a:gd name="T71" fmla="*/ 251 h 890"/>
                  <a:gd name="T72" fmla="*/ 2010 w 2096"/>
                  <a:gd name="T73" fmla="*/ 230 h 890"/>
                  <a:gd name="T74" fmla="*/ 2021 w 2096"/>
                  <a:gd name="T75" fmla="*/ 168 h 890"/>
                  <a:gd name="T76" fmla="*/ 2096 w 2096"/>
                  <a:gd name="T77" fmla="*/ 86 h 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96" h="890">
                    <a:moveTo>
                      <a:pt x="2096" y="86"/>
                    </a:moveTo>
                    <a:lnTo>
                      <a:pt x="2045" y="0"/>
                    </a:lnTo>
                    <a:lnTo>
                      <a:pt x="1757" y="0"/>
                    </a:lnTo>
                    <a:lnTo>
                      <a:pt x="1645" y="8"/>
                    </a:lnTo>
                    <a:lnTo>
                      <a:pt x="1458" y="30"/>
                    </a:lnTo>
                    <a:lnTo>
                      <a:pt x="1340" y="46"/>
                    </a:lnTo>
                    <a:lnTo>
                      <a:pt x="1183" y="51"/>
                    </a:lnTo>
                    <a:lnTo>
                      <a:pt x="1052" y="75"/>
                    </a:lnTo>
                    <a:lnTo>
                      <a:pt x="985" y="118"/>
                    </a:lnTo>
                    <a:lnTo>
                      <a:pt x="961" y="182"/>
                    </a:lnTo>
                    <a:lnTo>
                      <a:pt x="918" y="267"/>
                    </a:lnTo>
                    <a:lnTo>
                      <a:pt x="806" y="334"/>
                    </a:lnTo>
                    <a:lnTo>
                      <a:pt x="702" y="372"/>
                    </a:lnTo>
                    <a:lnTo>
                      <a:pt x="571" y="398"/>
                    </a:lnTo>
                    <a:lnTo>
                      <a:pt x="400" y="438"/>
                    </a:lnTo>
                    <a:lnTo>
                      <a:pt x="339" y="492"/>
                    </a:lnTo>
                    <a:lnTo>
                      <a:pt x="315" y="620"/>
                    </a:lnTo>
                    <a:lnTo>
                      <a:pt x="227" y="711"/>
                    </a:lnTo>
                    <a:lnTo>
                      <a:pt x="0" y="810"/>
                    </a:lnTo>
                    <a:lnTo>
                      <a:pt x="1281" y="890"/>
                    </a:lnTo>
                    <a:lnTo>
                      <a:pt x="1351" y="820"/>
                    </a:lnTo>
                    <a:lnTo>
                      <a:pt x="1476" y="767"/>
                    </a:lnTo>
                    <a:lnTo>
                      <a:pt x="1575" y="740"/>
                    </a:lnTo>
                    <a:lnTo>
                      <a:pt x="1596" y="700"/>
                    </a:lnTo>
                    <a:lnTo>
                      <a:pt x="1575" y="668"/>
                    </a:lnTo>
                    <a:lnTo>
                      <a:pt x="1530" y="623"/>
                    </a:lnTo>
                    <a:lnTo>
                      <a:pt x="1538" y="543"/>
                    </a:lnTo>
                    <a:lnTo>
                      <a:pt x="1594" y="484"/>
                    </a:lnTo>
                    <a:lnTo>
                      <a:pt x="1706" y="449"/>
                    </a:lnTo>
                    <a:lnTo>
                      <a:pt x="1815" y="409"/>
                    </a:lnTo>
                    <a:lnTo>
                      <a:pt x="1930" y="390"/>
                    </a:lnTo>
                    <a:lnTo>
                      <a:pt x="2024" y="380"/>
                    </a:lnTo>
                    <a:lnTo>
                      <a:pt x="2069" y="366"/>
                    </a:lnTo>
                    <a:lnTo>
                      <a:pt x="2085" y="339"/>
                    </a:lnTo>
                    <a:lnTo>
                      <a:pt x="2050" y="305"/>
                    </a:lnTo>
                    <a:lnTo>
                      <a:pt x="2010" y="251"/>
                    </a:lnTo>
                    <a:lnTo>
                      <a:pt x="2010" y="230"/>
                    </a:lnTo>
                    <a:lnTo>
                      <a:pt x="2021" y="168"/>
                    </a:lnTo>
                    <a:lnTo>
                      <a:pt x="2096" y="86"/>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3" name="Freeform 346">
                <a:extLst>
                  <a:ext uri="{FF2B5EF4-FFF2-40B4-BE49-F238E27FC236}">
                    <a16:creationId xmlns:a16="http://schemas.microsoft.com/office/drawing/2014/main" id="{D0AED1E0-E65A-4E07-BACB-6D0C2A4946E4}"/>
                  </a:ext>
                </a:extLst>
              </p:cNvPr>
              <p:cNvSpPr>
                <a:spLocks/>
              </p:cNvSpPr>
              <p:nvPr/>
            </p:nvSpPr>
            <p:spPr bwMode="auto">
              <a:xfrm>
                <a:off x="1224" y="1378"/>
                <a:ext cx="2096" cy="890"/>
              </a:xfrm>
              <a:custGeom>
                <a:avLst/>
                <a:gdLst>
                  <a:gd name="T0" fmla="*/ 2096 w 2096"/>
                  <a:gd name="T1" fmla="*/ 86 h 890"/>
                  <a:gd name="T2" fmla="*/ 2045 w 2096"/>
                  <a:gd name="T3" fmla="*/ 0 h 890"/>
                  <a:gd name="T4" fmla="*/ 1757 w 2096"/>
                  <a:gd name="T5" fmla="*/ 0 h 890"/>
                  <a:gd name="T6" fmla="*/ 1645 w 2096"/>
                  <a:gd name="T7" fmla="*/ 8 h 890"/>
                  <a:gd name="T8" fmla="*/ 1458 w 2096"/>
                  <a:gd name="T9" fmla="*/ 30 h 890"/>
                  <a:gd name="T10" fmla="*/ 1340 w 2096"/>
                  <a:gd name="T11" fmla="*/ 46 h 890"/>
                  <a:gd name="T12" fmla="*/ 1183 w 2096"/>
                  <a:gd name="T13" fmla="*/ 51 h 890"/>
                  <a:gd name="T14" fmla="*/ 1052 w 2096"/>
                  <a:gd name="T15" fmla="*/ 75 h 890"/>
                  <a:gd name="T16" fmla="*/ 985 w 2096"/>
                  <a:gd name="T17" fmla="*/ 118 h 890"/>
                  <a:gd name="T18" fmla="*/ 961 w 2096"/>
                  <a:gd name="T19" fmla="*/ 182 h 890"/>
                  <a:gd name="T20" fmla="*/ 918 w 2096"/>
                  <a:gd name="T21" fmla="*/ 267 h 890"/>
                  <a:gd name="T22" fmla="*/ 806 w 2096"/>
                  <a:gd name="T23" fmla="*/ 334 h 890"/>
                  <a:gd name="T24" fmla="*/ 702 w 2096"/>
                  <a:gd name="T25" fmla="*/ 372 h 890"/>
                  <a:gd name="T26" fmla="*/ 571 w 2096"/>
                  <a:gd name="T27" fmla="*/ 398 h 890"/>
                  <a:gd name="T28" fmla="*/ 400 w 2096"/>
                  <a:gd name="T29" fmla="*/ 438 h 890"/>
                  <a:gd name="T30" fmla="*/ 339 w 2096"/>
                  <a:gd name="T31" fmla="*/ 492 h 890"/>
                  <a:gd name="T32" fmla="*/ 315 w 2096"/>
                  <a:gd name="T33" fmla="*/ 620 h 890"/>
                  <a:gd name="T34" fmla="*/ 227 w 2096"/>
                  <a:gd name="T35" fmla="*/ 711 h 890"/>
                  <a:gd name="T36" fmla="*/ 0 w 2096"/>
                  <a:gd name="T37" fmla="*/ 810 h 890"/>
                  <a:gd name="T38" fmla="*/ 1281 w 2096"/>
                  <a:gd name="T39" fmla="*/ 890 h 890"/>
                  <a:gd name="T40" fmla="*/ 1351 w 2096"/>
                  <a:gd name="T41" fmla="*/ 820 h 890"/>
                  <a:gd name="T42" fmla="*/ 1476 w 2096"/>
                  <a:gd name="T43" fmla="*/ 767 h 890"/>
                  <a:gd name="T44" fmla="*/ 1575 w 2096"/>
                  <a:gd name="T45" fmla="*/ 740 h 890"/>
                  <a:gd name="T46" fmla="*/ 1596 w 2096"/>
                  <a:gd name="T47" fmla="*/ 700 h 890"/>
                  <a:gd name="T48" fmla="*/ 1575 w 2096"/>
                  <a:gd name="T49" fmla="*/ 668 h 890"/>
                  <a:gd name="T50" fmla="*/ 1530 w 2096"/>
                  <a:gd name="T51" fmla="*/ 623 h 890"/>
                  <a:gd name="T52" fmla="*/ 1538 w 2096"/>
                  <a:gd name="T53" fmla="*/ 543 h 890"/>
                  <a:gd name="T54" fmla="*/ 1594 w 2096"/>
                  <a:gd name="T55" fmla="*/ 484 h 890"/>
                  <a:gd name="T56" fmla="*/ 1706 w 2096"/>
                  <a:gd name="T57" fmla="*/ 449 h 890"/>
                  <a:gd name="T58" fmla="*/ 1815 w 2096"/>
                  <a:gd name="T59" fmla="*/ 409 h 890"/>
                  <a:gd name="T60" fmla="*/ 1930 w 2096"/>
                  <a:gd name="T61" fmla="*/ 390 h 890"/>
                  <a:gd name="T62" fmla="*/ 2024 w 2096"/>
                  <a:gd name="T63" fmla="*/ 380 h 890"/>
                  <a:gd name="T64" fmla="*/ 2069 w 2096"/>
                  <a:gd name="T65" fmla="*/ 366 h 890"/>
                  <a:gd name="T66" fmla="*/ 2085 w 2096"/>
                  <a:gd name="T67" fmla="*/ 339 h 890"/>
                  <a:gd name="T68" fmla="*/ 2050 w 2096"/>
                  <a:gd name="T69" fmla="*/ 305 h 890"/>
                  <a:gd name="T70" fmla="*/ 2010 w 2096"/>
                  <a:gd name="T71" fmla="*/ 251 h 890"/>
                  <a:gd name="T72" fmla="*/ 2010 w 2096"/>
                  <a:gd name="T73" fmla="*/ 230 h 890"/>
                  <a:gd name="T74" fmla="*/ 2021 w 2096"/>
                  <a:gd name="T75" fmla="*/ 168 h 890"/>
                  <a:gd name="T76" fmla="*/ 2096 w 2096"/>
                  <a:gd name="T77" fmla="*/ 86 h 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96" h="890">
                    <a:moveTo>
                      <a:pt x="2096" y="86"/>
                    </a:moveTo>
                    <a:lnTo>
                      <a:pt x="2045" y="0"/>
                    </a:lnTo>
                    <a:lnTo>
                      <a:pt x="1757" y="0"/>
                    </a:lnTo>
                    <a:lnTo>
                      <a:pt x="1645" y="8"/>
                    </a:lnTo>
                    <a:lnTo>
                      <a:pt x="1458" y="30"/>
                    </a:lnTo>
                    <a:lnTo>
                      <a:pt x="1340" y="46"/>
                    </a:lnTo>
                    <a:lnTo>
                      <a:pt x="1183" y="51"/>
                    </a:lnTo>
                    <a:lnTo>
                      <a:pt x="1052" y="75"/>
                    </a:lnTo>
                    <a:lnTo>
                      <a:pt x="985" y="118"/>
                    </a:lnTo>
                    <a:lnTo>
                      <a:pt x="961" y="182"/>
                    </a:lnTo>
                    <a:lnTo>
                      <a:pt x="918" y="267"/>
                    </a:lnTo>
                    <a:lnTo>
                      <a:pt x="806" y="334"/>
                    </a:lnTo>
                    <a:lnTo>
                      <a:pt x="702" y="372"/>
                    </a:lnTo>
                    <a:lnTo>
                      <a:pt x="571" y="398"/>
                    </a:lnTo>
                    <a:lnTo>
                      <a:pt x="400" y="438"/>
                    </a:lnTo>
                    <a:lnTo>
                      <a:pt x="339" y="492"/>
                    </a:lnTo>
                    <a:lnTo>
                      <a:pt x="315" y="620"/>
                    </a:lnTo>
                    <a:lnTo>
                      <a:pt x="227" y="711"/>
                    </a:lnTo>
                    <a:lnTo>
                      <a:pt x="0" y="810"/>
                    </a:lnTo>
                    <a:lnTo>
                      <a:pt x="1281" y="890"/>
                    </a:lnTo>
                    <a:lnTo>
                      <a:pt x="1351" y="820"/>
                    </a:lnTo>
                    <a:lnTo>
                      <a:pt x="1476" y="767"/>
                    </a:lnTo>
                    <a:lnTo>
                      <a:pt x="1575" y="740"/>
                    </a:lnTo>
                    <a:lnTo>
                      <a:pt x="1596" y="700"/>
                    </a:lnTo>
                    <a:lnTo>
                      <a:pt x="1575" y="668"/>
                    </a:lnTo>
                    <a:lnTo>
                      <a:pt x="1530" y="623"/>
                    </a:lnTo>
                    <a:lnTo>
                      <a:pt x="1538" y="543"/>
                    </a:lnTo>
                    <a:lnTo>
                      <a:pt x="1594" y="484"/>
                    </a:lnTo>
                    <a:lnTo>
                      <a:pt x="1706" y="449"/>
                    </a:lnTo>
                    <a:lnTo>
                      <a:pt x="1815" y="409"/>
                    </a:lnTo>
                    <a:lnTo>
                      <a:pt x="1930" y="390"/>
                    </a:lnTo>
                    <a:lnTo>
                      <a:pt x="2024" y="380"/>
                    </a:lnTo>
                    <a:lnTo>
                      <a:pt x="2069" y="366"/>
                    </a:lnTo>
                    <a:lnTo>
                      <a:pt x="2085" y="339"/>
                    </a:lnTo>
                    <a:lnTo>
                      <a:pt x="2050" y="305"/>
                    </a:lnTo>
                    <a:lnTo>
                      <a:pt x="2010" y="251"/>
                    </a:lnTo>
                    <a:lnTo>
                      <a:pt x="2010" y="230"/>
                    </a:lnTo>
                    <a:lnTo>
                      <a:pt x="2021" y="168"/>
                    </a:lnTo>
                    <a:lnTo>
                      <a:pt x="2096" y="86"/>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4" name="Freeform 347">
                <a:extLst>
                  <a:ext uri="{FF2B5EF4-FFF2-40B4-BE49-F238E27FC236}">
                    <a16:creationId xmlns:a16="http://schemas.microsoft.com/office/drawing/2014/main" id="{F0FEE344-29EB-4436-89EC-725D63819C9C}"/>
                  </a:ext>
                </a:extLst>
              </p:cNvPr>
              <p:cNvSpPr>
                <a:spLocks/>
              </p:cNvSpPr>
              <p:nvPr/>
            </p:nvSpPr>
            <p:spPr bwMode="auto">
              <a:xfrm>
                <a:off x="223" y="1311"/>
                <a:ext cx="1687" cy="855"/>
              </a:xfrm>
              <a:custGeom>
                <a:avLst/>
                <a:gdLst>
                  <a:gd name="T0" fmla="*/ 1687 w 1687"/>
                  <a:gd name="T1" fmla="*/ 89 h 855"/>
                  <a:gd name="T2" fmla="*/ 1626 w 1687"/>
                  <a:gd name="T3" fmla="*/ 0 h 855"/>
                  <a:gd name="T4" fmla="*/ 1433 w 1687"/>
                  <a:gd name="T5" fmla="*/ 22 h 855"/>
                  <a:gd name="T6" fmla="*/ 1308 w 1687"/>
                  <a:gd name="T7" fmla="*/ 43 h 855"/>
                  <a:gd name="T8" fmla="*/ 1156 w 1687"/>
                  <a:gd name="T9" fmla="*/ 78 h 855"/>
                  <a:gd name="T10" fmla="*/ 964 w 1687"/>
                  <a:gd name="T11" fmla="*/ 118 h 855"/>
                  <a:gd name="T12" fmla="*/ 731 w 1687"/>
                  <a:gd name="T13" fmla="*/ 171 h 855"/>
                  <a:gd name="T14" fmla="*/ 0 w 1687"/>
                  <a:gd name="T15" fmla="*/ 802 h 855"/>
                  <a:gd name="T16" fmla="*/ 670 w 1687"/>
                  <a:gd name="T17" fmla="*/ 855 h 855"/>
                  <a:gd name="T18" fmla="*/ 619 w 1687"/>
                  <a:gd name="T19" fmla="*/ 837 h 855"/>
                  <a:gd name="T20" fmla="*/ 614 w 1687"/>
                  <a:gd name="T21" fmla="*/ 807 h 855"/>
                  <a:gd name="T22" fmla="*/ 651 w 1687"/>
                  <a:gd name="T23" fmla="*/ 719 h 855"/>
                  <a:gd name="T24" fmla="*/ 771 w 1687"/>
                  <a:gd name="T25" fmla="*/ 623 h 855"/>
                  <a:gd name="T26" fmla="*/ 886 w 1687"/>
                  <a:gd name="T27" fmla="*/ 551 h 855"/>
                  <a:gd name="T28" fmla="*/ 1022 w 1687"/>
                  <a:gd name="T29" fmla="*/ 511 h 855"/>
                  <a:gd name="T30" fmla="*/ 1129 w 1687"/>
                  <a:gd name="T31" fmla="*/ 484 h 855"/>
                  <a:gd name="T32" fmla="*/ 1180 w 1687"/>
                  <a:gd name="T33" fmla="*/ 476 h 855"/>
                  <a:gd name="T34" fmla="*/ 1204 w 1687"/>
                  <a:gd name="T35" fmla="*/ 452 h 855"/>
                  <a:gd name="T36" fmla="*/ 1198 w 1687"/>
                  <a:gd name="T37" fmla="*/ 436 h 855"/>
                  <a:gd name="T38" fmla="*/ 1134 w 1687"/>
                  <a:gd name="T39" fmla="*/ 404 h 855"/>
                  <a:gd name="T40" fmla="*/ 1100 w 1687"/>
                  <a:gd name="T41" fmla="*/ 350 h 855"/>
                  <a:gd name="T42" fmla="*/ 1105 w 1687"/>
                  <a:gd name="T43" fmla="*/ 313 h 855"/>
                  <a:gd name="T44" fmla="*/ 1150 w 1687"/>
                  <a:gd name="T45" fmla="*/ 268 h 855"/>
                  <a:gd name="T46" fmla="*/ 1233 w 1687"/>
                  <a:gd name="T47" fmla="*/ 214 h 855"/>
                  <a:gd name="T48" fmla="*/ 1399 w 1687"/>
                  <a:gd name="T49" fmla="*/ 158 h 855"/>
                  <a:gd name="T50" fmla="*/ 1556 w 1687"/>
                  <a:gd name="T51" fmla="*/ 118 h 855"/>
                  <a:gd name="T52" fmla="*/ 1687 w 1687"/>
                  <a:gd name="T53" fmla="*/ 89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87" h="855">
                    <a:moveTo>
                      <a:pt x="1687" y="89"/>
                    </a:moveTo>
                    <a:lnTo>
                      <a:pt x="1626" y="0"/>
                    </a:lnTo>
                    <a:lnTo>
                      <a:pt x="1433" y="22"/>
                    </a:lnTo>
                    <a:lnTo>
                      <a:pt x="1308" y="43"/>
                    </a:lnTo>
                    <a:lnTo>
                      <a:pt x="1156" y="78"/>
                    </a:lnTo>
                    <a:lnTo>
                      <a:pt x="964" y="118"/>
                    </a:lnTo>
                    <a:lnTo>
                      <a:pt x="731" y="171"/>
                    </a:lnTo>
                    <a:lnTo>
                      <a:pt x="0" y="802"/>
                    </a:lnTo>
                    <a:lnTo>
                      <a:pt x="670" y="855"/>
                    </a:lnTo>
                    <a:lnTo>
                      <a:pt x="619" y="837"/>
                    </a:lnTo>
                    <a:lnTo>
                      <a:pt x="614" y="807"/>
                    </a:lnTo>
                    <a:lnTo>
                      <a:pt x="651" y="719"/>
                    </a:lnTo>
                    <a:lnTo>
                      <a:pt x="771" y="623"/>
                    </a:lnTo>
                    <a:lnTo>
                      <a:pt x="886" y="551"/>
                    </a:lnTo>
                    <a:lnTo>
                      <a:pt x="1022" y="511"/>
                    </a:lnTo>
                    <a:lnTo>
                      <a:pt x="1129" y="484"/>
                    </a:lnTo>
                    <a:lnTo>
                      <a:pt x="1180" y="476"/>
                    </a:lnTo>
                    <a:lnTo>
                      <a:pt x="1204" y="452"/>
                    </a:lnTo>
                    <a:lnTo>
                      <a:pt x="1198" y="436"/>
                    </a:lnTo>
                    <a:lnTo>
                      <a:pt x="1134" y="404"/>
                    </a:lnTo>
                    <a:lnTo>
                      <a:pt x="1100" y="350"/>
                    </a:lnTo>
                    <a:lnTo>
                      <a:pt x="1105" y="313"/>
                    </a:lnTo>
                    <a:lnTo>
                      <a:pt x="1150" y="268"/>
                    </a:lnTo>
                    <a:lnTo>
                      <a:pt x="1233" y="214"/>
                    </a:lnTo>
                    <a:lnTo>
                      <a:pt x="1399" y="158"/>
                    </a:lnTo>
                    <a:lnTo>
                      <a:pt x="1556" y="118"/>
                    </a:lnTo>
                    <a:lnTo>
                      <a:pt x="1687" y="89"/>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5" name="Freeform 348">
                <a:extLst>
                  <a:ext uri="{FF2B5EF4-FFF2-40B4-BE49-F238E27FC236}">
                    <a16:creationId xmlns:a16="http://schemas.microsoft.com/office/drawing/2014/main" id="{78CCA09E-757E-4B0F-8DD3-B27E506D786A}"/>
                  </a:ext>
                </a:extLst>
              </p:cNvPr>
              <p:cNvSpPr>
                <a:spLocks/>
              </p:cNvSpPr>
              <p:nvPr/>
            </p:nvSpPr>
            <p:spPr bwMode="auto">
              <a:xfrm>
                <a:off x="223" y="1311"/>
                <a:ext cx="1687" cy="855"/>
              </a:xfrm>
              <a:custGeom>
                <a:avLst/>
                <a:gdLst>
                  <a:gd name="T0" fmla="*/ 1687 w 1687"/>
                  <a:gd name="T1" fmla="*/ 89 h 855"/>
                  <a:gd name="T2" fmla="*/ 1626 w 1687"/>
                  <a:gd name="T3" fmla="*/ 0 h 855"/>
                  <a:gd name="T4" fmla="*/ 1433 w 1687"/>
                  <a:gd name="T5" fmla="*/ 22 h 855"/>
                  <a:gd name="T6" fmla="*/ 1308 w 1687"/>
                  <a:gd name="T7" fmla="*/ 43 h 855"/>
                  <a:gd name="T8" fmla="*/ 1156 w 1687"/>
                  <a:gd name="T9" fmla="*/ 78 h 855"/>
                  <a:gd name="T10" fmla="*/ 964 w 1687"/>
                  <a:gd name="T11" fmla="*/ 118 h 855"/>
                  <a:gd name="T12" fmla="*/ 731 w 1687"/>
                  <a:gd name="T13" fmla="*/ 171 h 855"/>
                  <a:gd name="T14" fmla="*/ 0 w 1687"/>
                  <a:gd name="T15" fmla="*/ 802 h 855"/>
                  <a:gd name="T16" fmla="*/ 670 w 1687"/>
                  <a:gd name="T17" fmla="*/ 855 h 855"/>
                  <a:gd name="T18" fmla="*/ 619 w 1687"/>
                  <a:gd name="T19" fmla="*/ 837 h 855"/>
                  <a:gd name="T20" fmla="*/ 614 w 1687"/>
                  <a:gd name="T21" fmla="*/ 807 h 855"/>
                  <a:gd name="T22" fmla="*/ 651 w 1687"/>
                  <a:gd name="T23" fmla="*/ 719 h 855"/>
                  <a:gd name="T24" fmla="*/ 771 w 1687"/>
                  <a:gd name="T25" fmla="*/ 623 h 855"/>
                  <a:gd name="T26" fmla="*/ 886 w 1687"/>
                  <a:gd name="T27" fmla="*/ 551 h 855"/>
                  <a:gd name="T28" fmla="*/ 1022 w 1687"/>
                  <a:gd name="T29" fmla="*/ 511 h 855"/>
                  <a:gd name="T30" fmla="*/ 1129 w 1687"/>
                  <a:gd name="T31" fmla="*/ 484 h 855"/>
                  <a:gd name="T32" fmla="*/ 1180 w 1687"/>
                  <a:gd name="T33" fmla="*/ 476 h 855"/>
                  <a:gd name="T34" fmla="*/ 1204 w 1687"/>
                  <a:gd name="T35" fmla="*/ 452 h 855"/>
                  <a:gd name="T36" fmla="*/ 1198 w 1687"/>
                  <a:gd name="T37" fmla="*/ 436 h 855"/>
                  <a:gd name="T38" fmla="*/ 1134 w 1687"/>
                  <a:gd name="T39" fmla="*/ 404 h 855"/>
                  <a:gd name="T40" fmla="*/ 1100 w 1687"/>
                  <a:gd name="T41" fmla="*/ 350 h 855"/>
                  <a:gd name="T42" fmla="*/ 1105 w 1687"/>
                  <a:gd name="T43" fmla="*/ 313 h 855"/>
                  <a:gd name="T44" fmla="*/ 1150 w 1687"/>
                  <a:gd name="T45" fmla="*/ 268 h 855"/>
                  <a:gd name="T46" fmla="*/ 1233 w 1687"/>
                  <a:gd name="T47" fmla="*/ 214 h 855"/>
                  <a:gd name="T48" fmla="*/ 1399 w 1687"/>
                  <a:gd name="T49" fmla="*/ 158 h 855"/>
                  <a:gd name="T50" fmla="*/ 1556 w 1687"/>
                  <a:gd name="T51" fmla="*/ 118 h 855"/>
                  <a:gd name="T52" fmla="*/ 1687 w 1687"/>
                  <a:gd name="T53" fmla="*/ 89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87" h="855">
                    <a:moveTo>
                      <a:pt x="1687" y="89"/>
                    </a:moveTo>
                    <a:lnTo>
                      <a:pt x="1626" y="0"/>
                    </a:lnTo>
                    <a:lnTo>
                      <a:pt x="1433" y="22"/>
                    </a:lnTo>
                    <a:lnTo>
                      <a:pt x="1308" y="43"/>
                    </a:lnTo>
                    <a:lnTo>
                      <a:pt x="1156" y="78"/>
                    </a:lnTo>
                    <a:lnTo>
                      <a:pt x="964" y="118"/>
                    </a:lnTo>
                    <a:lnTo>
                      <a:pt x="731" y="171"/>
                    </a:lnTo>
                    <a:lnTo>
                      <a:pt x="0" y="802"/>
                    </a:lnTo>
                    <a:lnTo>
                      <a:pt x="670" y="855"/>
                    </a:lnTo>
                    <a:lnTo>
                      <a:pt x="619" y="837"/>
                    </a:lnTo>
                    <a:lnTo>
                      <a:pt x="614" y="807"/>
                    </a:lnTo>
                    <a:lnTo>
                      <a:pt x="651" y="719"/>
                    </a:lnTo>
                    <a:lnTo>
                      <a:pt x="771" y="623"/>
                    </a:lnTo>
                    <a:lnTo>
                      <a:pt x="886" y="551"/>
                    </a:lnTo>
                    <a:lnTo>
                      <a:pt x="1022" y="511"/>
                    </a:lnTo>
                    <a:lnTo>
                      <a:pt x="1129" y="484"/>
                    </a:lnTo>
                    <a:lnTo>
                      <a:pt x="1180" y="476"/>
                    </a:lnTo>
                    <a:lnTo>
                      <a:pt x="1204" y="452"/>
                    </a:lnTo>
                    <a:lnTo>
                      <a:pt x="1198" y="436"/>
                    </a:lnTo>
                    <a:lnTo>
                      <a:pt x="1134" y="404"/>
                    </a:lnTo>
                    <a:lnTo>
                      <a:pt x="1100" y="350"/>
                    </a:lnTo>
                    <a:lnTo>
                      <a:pt x="1105" y="313"/>
                    </a:lnTo>
                    <a:lnTo>
                      <a:pt x="1150" y="268"/>
                    </a:lnTo>
                    <a:lnTo>
                      <a:pt x="1233" y="214"/>
                    </a:lnTo>
                    <a:lnTo>
                      <a:pt x="1399" y="158"/>
                    </a:lnTo>
                    <a:lnTo>
                      <a:pt x="1556" y="118"/>
                    </a:lnTo>
                    <a:lnTo>
                      <a:pt x="1687" y="89"/>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6" name="Freeform 349">
                <a:extLst>
                  <a:ext uri="{FF2B5EF4-FFF2-40B4-BE49-F238E27FC236}">
                    <a16:creationId xmlns:a16="http://schemas.microsoft.com/office/drawing/2014/main" id="{E73F8BDB-816B-4545-9792-2A669F3F0709}"/>
                  </a:ext>
                </a:extLst>
              </p:cNvPr>
              <p:cNvSpPr>
                <a:spLocks/>
              </p:cNvSpPr>
              <p:nvPr/>
            </p:nvSpPr>
            <p:spPr bwMode="auto">
              <a:xfrm>
                <a:off x="1187" y="1319"/>
                <a:ext cx="651" cy="396"/>
              </a:xfrm>
              <a:custGeom>
                <a:avLst/>
                <a:gdLst>
                  <a:gd name="T0" fmla="*/ 651 w 651"/>
                  <a:gd name="T1" fmla="*/ 0 h 396"/>
                  <a:gd name="T2" fmla="*/ 485 w 651"/>
                  <a:gd name="T3" fmla="*/ 40 h 396"/>
                  <a:gd name="T4" fmla="*/ 360 w 651"/>
                  <a:gd name="T5" fmla="*/ 78 h 396"/>
                  <a:gd name="T6" fmla="*/ 245 w 651"/>
                  <a:gd name="T7" fmla="*/ 115 h 396"/>
                  <a:gd name="T8" fmla="*/ 125 w 651"/>
                  <a:gd name="T9" fmla="*/ 147 h 396"/>
                  <a:gd name="T10" fmla="*/ 56 w 651"/>
                  <a:gd name="T11" fmla="*/ 187 h 396"/>
                  <a:gd name="T12" fmla="*/ 13 w 651"/>
                  <a:gd name="T13" fmla="*/ 217 h 396"/>
                  <a:gd name="T14" fmla="*/ 2 w 651"/>
                  <a:gd name="T15" fmla="*/ 238 h 396"/>
                  <a:gd name="T16" fmla="*/ 0 w 651"/>
                  <a:gd name="T17" fmla="*/ 257 h 396"/>
                  <a:gd name="T18" fmla="*/ 5 w 651"/>
                  <a:gd name="T19" fmla="*/ 294 h 396"/>
                  <a:gd name="T20" fmla="*/ 34 w 651"/>
                  <a:gd name="T21" fmla="*/ 342 h 396"/>
                  <a:gd name="T22" fmla="*/ 104 w 651"/>
                  <a:gd name="T23" fmla="*/ 377 h 396"/>
                  <a:gd name="T24" fmla="*/ 162 w 651"/>
                  <a:gd name="T25" fmla="*/ 3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1" h="396">
                    <a:moveTo>
                      <a:pt x="651" y="0"/>
                    </a:moveTo>
                    <a:lnTo>
                      <a:pt x="485" y="40"/>
                    </a:lnTo>
                    <a:lnTo>
                      <a:pt x="360" y="78"/>
                    </a:lnTo>
                    <a:lnTo>
                      <a:pt x="245" y="115"/>
                    </a:lnTo>
                    <a:lnTo>
                      <a:pt x="125" y="147"/>
                    </a:lnTo>
                    <a:lnTo>
                      <a:pt x="56" y="187"/>
                    </a:lnTo>
                    <a:lnTo>
                      <a:pt x="13" y="217"/>
                    </a:lnTo>
                    <a:lnTo>
                      <a:pt x="2" y="238"/>
                    </a:lnTo>
                    <a:lnTo>
                      <a:pt x="0" y="257"/>
                    </a:lnTo>
                    <a:lnTo>
                      <a:pt x="5" y="294"/>
                    </a:lnTo>
                    <a:lnTo>
                      <a:pt x="34" y="342"/>
                    </a:lnTo>
                    <a:lnTo>
                      <a:pt x="104" y="377"/>
                    </a:lnTo>
                    <a:lnTo>
                      <a:pt x="162" y="39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7" name="Freeform 350">
                <a:extLst>
                  <a:ext uri="{FF2B5EF4-FFF2-40B4-BE49-F238E27FC236}">
                    <a16:creationId xmlns:a16="http://schemas.microsoft.com/office/drawing/2014/main" id="{E69924E5-5313-46D9-8501-FB73D3E0C364}"/>
                  </a:ext>
                </a:extLst>
              </p:cNvPr>
              <p:cNvSpPr>
                <a:spLocks/>
              </p:cNvSpPr>
              <p:nvPr/>
            </p:nvSpPr>
            <p:spPr bwMode="auto">
              <a:xfrm>
                <a:off x="751" y="1771"/>
                <a:ext cx="614" cy="374"/>
              </a:xfrm>
              <a:custGeom>
                <a:avLst/>
                <a:gdLst>
                  <a:gd name="T0" fmla="*/ 614 w 614"/>
                  <a:gd name="T1" fmla="*/ 13 h 374"/>
                  <a:gd name="T2" fmla="*/ 510 w 614"/>
                  <a:gd name="T3" fmla="*/ 0 h 374"/>
                  <a:gd name="T4" fmla="*/ 398 w 614"/>
                  <a:gd name="T5" fmla="*/ 3 h 374"/>
                  <a:gd name="T6" fmla="*/ 281 w 614"/>
                  <a:gd name="T7" fmla="*/ 24 h 374"/>
                  <a:gd name="T8" fmla="*/ 136 w 614"/>
                  <a:gd name="T9" fmla="*/ 83 h 374"/>
                  <a:gd name="T10" fmla="*/ 62 w 614"/>
                  <a:gd name="T11" fmla="*/ 147 h 374"/>
                  <a:gd name="T12" fmla="*/ 14 w 614"/>
                  <a:gd name="T13" fmla="*/ 216 h 374"/>
                  <a:gd name="T14" fmla="*/ 0 w 614"/>
                  <a:gd name="T15" fmla="*/ 267 h 374"/>
                  <a:gd name="T16" fmla="*/ 6 w 614"/>
                  <a:gd name="T17" fmla="*/ 302 h 374"/>
                  <a:gd name="T18" fmla="*/ 83 w 614"/>
                  <a:gd name="T19" fmla="*/ 374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4" h="374">
                    <a:moveTo>
                      <a:pt x="614" y="13"/>
                    </a:moveTo>
                    <a:lnTo>
                      <a:pt x="510" y="0"/>
                    </a:lnTo>
                    <a:lnTo>
                      <a:pt x="398" y="3"/>
                    </a:lnTo>
                    <a:lnTo>
                      <a:pt x="281" y="24"/>
                    </a:lnTo>
                    <a:lnTo>
                      <a:pt x="136" y="83"/>
                    </a:lnTo>
                    <a:lnTo>
                      <a:pt x="62" y="147"/>
                    </a:lnTo>
                    <a:lnTo>
                      <a:pt x="14" y="216"/>
                    </a:lnTo>
                    <a:lnTo>
                      <a:pt x="0" y="267"/>
                    </a:lnTo>
                    <a:lnTo>
                      <a:pt x="6" y="302"/>
                    </a:lnTo>
                    <a:lnTo>
                      <a:pt x="83" y="374"/>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8" name="Freeform 351">
                <a:extLst>
                  <a:ext uri="{FF2B5EF4-FFF2-40B4-BE49-F238E27FC236}">
                    <a16:creationId xmlns:a16="http://schemas.microsoft.com/office/drawing/2014/main" id="{DE59391F-3D17-488B-BAC8-B224D19DEB8B}"/>
                  </a:ext>
                </a:extLst>
              </p:cNvPr>
              <p:cNvSpPr>
                <a:spLocks/>
              </p:cNvSpPr>
              <p:nvPr/>
            </p:nvSpPr>
            <p:spPr bwMode="auto">
              <a:xfrm>
                <a:off x="2503" y="1640"/>
                <a:ext cx="248" cy="136"/>
              </a:xfrm>
              <a:custGeom>
                <a:avLst/>
                <a:gdLst>
                  <a:gd name="T0" fmla="*/ 248 w 248"/>
                  <a:gd name="T1" fmla="*/ 0 h 136"/>
                  <a:gd name="T2" fmla="*/ 216 w 248"/>
                  <a:gd name="T3" fmla="*/ 0 h 136"/>
                  <a:gd name="T4" fmla="*/ 187 w 248"/>
                  <a:gd name="T5" fmla="*/ 0 h 136"/>
                  <a:gd name="T6" fmla="*/ 147 w 248"/>
                  <a:gd name="T7" fmla="*/ 11 h 136"/>
                  <a:gd name="T8" fmla="*/ 107 w 248"/>
                  <a:gd name="T9" fmla="*/ 21 h 136"/>
                  <a:gd name="T10" fmla="*/ 83 w 248"/>
                  <a:gd name="T11" fmla="*/ 35 h 136"/>
                  <a:gd name="T12" fmla="*/ 59 w 248"/>
                  <a:gd name="T13" fmla="*/ 45 h 136"/>
                  <a:gd name="T14" fmla="*/ 34 w 248"/>
                  <a:gd name="T15" fmla="*/ 56 h 136"/>
                  <a:gd name="T16" fmla="*/ 8 w 248"/>
                  <a:gd name="T17" fmla="*/ 67 h 136"/>
                  <a:gd name="T18" fmla="*/ 5 w 248"/>
                  <a:gd name="T19" fmla="*/ 77 h 136"/>
                  <a:gd name="T20" fmla="*/ 0 w 248"/>
                  <a:gd name="T21" fmla="*/ 88 h 136"/>
                  <a:gd name="T22" fmla="*/ 2 w 248"/>
                  <a:gd name="T23" fmla="*/ 102 h 136"/>
                  <a:gd name="T24" fmla="*/ 5 w 248"/>
                  <a:gd name="T25" fmla="*/ 112 h 136"/>
                  <a:gd name="T26" fmla="*/ 42 w 248"/>
                  <a:gd name="T27" fmla="*/ 123 h 136"/>
                  <a:gd name="T28" fmla="*/ 77 w 248"/>
                  <a:gd name="T29" fmla="*/ 134 h 136"/>
                  <a:gd name="T30" fmla="*/ 99 w 248"/>
                  <a:gd name="T31" fmla="*/ 134 h 136"/>
                  <a:gd name="T32" fmla="*/ 123 w 248"/>
                  <a:gd name="T33" fmla="*/ 134 h 136"/>
                  <a:gd name="T34" fmla="*/ 147 w 248"/>
                  <a:gd name="T35" fmla="*/ 134 h 136"/>
                  <a:gd name="T36" fmla="*/ 171 w 248"/>
                  <a:gd name="T37" fmla="*/ 136 h 136"/>
                  <a:gd name="T38" fmla="*/ 165 w 248"/>
                  <a:gd name="T39" fmla="*/ 123 h 136"/>
                  <a:gd name="T40" fmla="*/ 160 w 248"/>
                  <a:gd name="T41" fmla="*/ 107 h 136"/>
                  <a:gd name="T42" fmla="*/ 157 w 248"/>
                  <a:gd name="T43" fmla="*/ 86 h 136"/>
                  <a:gd name="T44" fmla="*/ 155 w 248"/>
                  <a:gd name="T45" fmla="*/ 61 h 136"/>
                  <a:gd name="T46" fmla="*/ 163 w 248"/>
                  <a:gd name="T47" fmla="*/ 51 h 136"/>
                  <a:gd name="T48" fmla="*/ 171 w 248"/>
                  <a:gd name="T49" fmla="*/ 40 h 136"/>
                  <a:gd name="T50" fmla="*/ 211 w 248"/>
                  <a:gd name="T51" fmla="*/ 19 h 136"/>
                  <a:gd name="T52" fmla="*/ 248 w 248"/>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136">
                    <a:moveTo>
                      <a:pt x="248" y="0"/>
                    </a:moveTo>
                    <a:lnTo>
                      <a:pt x="216" y="0"/>
                    </a:lnTo>
                    <a:lnTo>
                      <a:pt x="187" y="0"/>
                    </a:lnTo>
                    <a:lnTo>
                      <a:pt x="147" y="11"/>
                    </a:lnTo>
                    <a:lnTo>
                      <a:pt x="107" y="21"/>
                    </a:lnTo>
                    <a:lnTo>
                      <a:pt x="83" y="35"/>
                    </a:lnTo>
                    <a:lnTo>
                      <a:pt x="59" y="45"/>
                    </a:lnTo>
                    <a:lnTo>
                      <a:pt x="34" y="56"/>
                    </a:lnTo>
                    <a:lnTo>
                      <a:pt x="8" y="67"/>
                    </a:lnTo>
                    <a:lnTo>
                      <a:pt x="5" y="77"/>
                    </a:lnTo>
                    <a:lnTo>
                      <a:pt x="0" y="88"/>
                    </a:lnTo>
                    <a:lnTo>
                      <a:pt x="2" y="102"/>
                    </a:lnTo>
                    <a:lnTo>
                      <a:pt x="5" y="112"/>
                    </a:lnTo>
                    <a:lnTo>
                      <a:pt x="42" y="123"/>
                    </a:lnTo>
                    <a:lnTo>
                      <a:pt x="77" y="134"/>
                    </a:lnTo>
                    <a:lnTo>
                      <a:pt x="99" y="134"/>
                    </a:lnTo>
                    <a:lnTo>
                      <a:pt x="123" y="134"/>
                    </a:lnTo>
                    <a:lnTo>
                      <a:pt x="147" y="134"/>
                    </a:lnTo>
                    <a:lnTo>
                      <a:pt x="171" y="136"/>
                    </a:lnTo>
                    <a:lnTo>
                      <a:pt x="165" y="123"/>
                    </a:lnTo>
                    <a:lnTo>
                      <a:pt x="160" y="107"/>
                    </a:lnTo>
                    <a:lnTo>
                      <a:pt x="157" y="86"/>
                    </a:lnTo>
                    <a:lnTo>
                      <a:pt x="155" y="61"/>
                    </a:lnTo>
                    <a:lnTo>
                      <a:pt x="163" y="51"/>
                    </a:lnTo>
                    <a:lnTo>
                      <a:pt x="171" y="40"/>
                    </a:lnTo>
                    <a:lnTo>
                      <a:pt x="211" y="19"/>
                    </a:lnTo>
                    <a:lnTo>
                      <a:pt x="248"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9" name="Freeform 352">
                <a:extLst>
                  <a:ext uri="{FF2B5EF4-FFF2-40B4-BE49-F238E27FC236}">
                    <a16:creationId xmlns:a16="http://schemas.microsoft.com/office/drawing/2014/main" id="{9D9E5CEA-68E9-492B-92D0-82900EC600D3}"/>
                  </a:ext>
                </a:extLst>
              </p:cNvPr>
              <p:cNvSpPr>
                <a:spLocks/>
              </p:cNvSpPr>
              <p:nvPr/>
            </p:nvSpPr>
            <p:spPr bwMode="auto">
              <a:xfrm>
                <a:off x="2503" y="1640"/>
                <a:ext cx="248" cy="136"/>
              </a:xfrm>
              <a:custGeom>
                <a:avLst/>
                <a:gdLst>
                  <a:gd name="T0" fmla="*/ 248 w 248"/>
                  <a:gd name="T1" fmla="*/ 0 h 136"/>
                  <a:gd name="T2" fmla="*/ 216 w 248"/>
                  <a:gd name="T3" fmla="*/ 0 h 136"/>
                  <a:gd name="T4" fmla="*/ 187 w 248"/>
                  <a:gd name="T5" fmla="*/ 0 h 136"/>
                  <a:gd name="T6" fmla="*/ 147 w 248"/>
                  <a:gd name="T7" fmla="*/ 11 h 136"/>
                  <a:gd name="T8" fmla="*/ 107 w 248"/>
                  <a:gd name="T9" fmla="*/ 21 h 136"/>
                  <a:gd name="T10" fmla="*/ 83 w 248"/>
                  <a:gd name="T11" fmla="*/ 35 h 136"/>
                  <a:gd name="T12" fmla="*/ 59 w 248"/>
                  <a:gd name="T13" fmla="*/ 45 h 136"/>
                  <a:gd name="T14" fmla="*/ 34 w 248"/>
                  <a:gd name="T15" fmla="*/ 56 h 136"/>
                  <a:gd name="T16" fmla="*/ 8 w 248"/>
                  <a:gd name="T17" fmla="*/ 67 h 136"/>
                  <a:gd name="T18" fmla="*/ 5 w 248"/>
                  <a:gd name="T19" fmla="*/ 77 h 136"/>
                  <a:gd name="T20" fmla="*/ 0 w 248"/>
                  <a:gd name="T21" fmla="*/ 88 h 136"/>
                  <a:gd name="T22" fmla="*/ 2 w 248"/>
                  <a:gd name="T23" fmla="*/ 102 h 136"/>
                  <a:gd name="T24" fmla="*/ 5 w 248"/>
                  <a:gd name="T25" fmla="*/ 112 h 136"/>
                  <a:gd name="T26" fmla="*/ 42 w 248"/>
                  <a:gd name="T27" fmla="*/ 123 h 136"/>
                  <a:gd name="T28" fmla="*/ 77 w 248"/>
                  <a:gd name="T29" fmla="*/ 134 h 136"/>
                  <a:gd name="T30" fmla="*/ 99 w 248"/>
                  <a:gd name="T31" fmla="*/ 134 h 136"/>
                  <a:gd name="T32" fmla="*/ 123 w 248"/>
                  <a:gd name="T33" fmla="*/ 134 h 136"/>
                  <a:gd name="T34" fmla="*/ 147 w 248"/>
                  <a:gd name="T35" fmla="*/ 134 h 136"/>
                  <a:gd name="T36" fmla="*/ 171 w 248"/>
                  <a:gd name="T37" fmla="*/ 136 h 136"/>
                  <a:gd name="T38" fmla="*/ 165 w 248"/>
                  <a:gd name="T39" fmla="*/ 123 h 136"/>
                  <a:gd name="T40" fmla="*/ 160 w 248"/>
                  <a:gd name="T41" fmla="*/ 107 h 136"/>
                  <a:gd name="T42" fmla="*/ 157 w 248"/>
                  <a:gd name="T43" fmla="*/ 86 h 136"/>
                  <a:gd name="T44" fmla="*/ 155 w 248"/>
                  <a:gd name="T45" fmla="*/ 61 h 136"/>
                  <a:gd name="T46" fmla="*/ 163 w 248"/>
                  <a:gd name="T47" fmla="*/ 51 h 136"/>
                  <a:gd name="T48" fmla="*/ 171 w 248"/>
                  <a:gd name="T49" fmla="*/ 40 h 136"/>
                  <a:gd name="T50" fmla="*/ 211 w 248"/>
                  <a:gd name="T51" fmla="*/ 19 h 136"/>
                  <a:gd name="T52" fmla="*/ 248 w 248"/>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136">
                    <a:moveTo>
                      <a:pt x="248" y="0"/>
                    </a:moveTo>
                    <a:lnTo>
                      <a:pt x="216" y="0"/>
                    </a:lnTo>
                    <a:lnTo>
                      <a:pt x="187" y="0"/>
                    </a:lnTo>
                    <a:lnTo>
                      <a:pt x="147" y="11"/>
                    </a:lnTo>
                    <a:lnTo>
                      <a:pt x="107" y="21"/>
                    </a:lnTo>
                    <a:lnTo>
                      <a:pt x="83" y="35"/>
                    </a:lnTo>
                    <a:lnTo>
                      <a:pt x="59" y="45"/>
                    </a:lnTo>
                    <a:lnTo>
                      <a:pt x="34" y="56"/>
                    </a:lnTo>
                    <a:lnTo>
                      <a:pt x="8" y="67"/>
                    </a:lnTo>
                    <a:lnTo>
                      <a:pt x="5" y="77"/>
                    </a:lnTo>
                    <a:lnTo>
                      <a:pt x="0" y="88"/>
                    </a:lnTo>
                    <a:lnTo>
                      <a:pt x="2" y="102"/>
                    </a:lnTo>
                    <a:lnTo>
                      <a:pt x="5" y="112"/>
                    </a:lnTo>
                    <a:lnTo>
                      <a:pt x="42" y="123"/>
                    </a:lnTo>
                    <a:lnTo>
                      <a:pt x="77" y="134"/>
                    </a:lnTo>
                    <a:lnTo>
                      <a:pt x="99" y="134"/>
                    </a:lnTo>
                    <a:lnTo>
                      <a:pt x="123" y="134"/>
                    </a:lnTo>
                    <a:lnTo>
                      <a:pt x="147" y="134"/>
                    </a:lnTo>
                    <a:lnTo>
                      <a:pt x="171" y="136"/>
                    </a:lnTo>
                    <a:lnTo>
                      <a:pt x="165" y="123"/>
                    </a:lnTo>
                    <a:lnTo>
                      <a:pt x="160" y="107"/>
                    </a:lnTo>
                    <a:lnTo>
                      <a:pt x="157" y="86"/>
                    </a:lnTo>
                    <a:lnTo>
                      <a:pt x="155" y="61"/>
                    </a:lnTo>
                    <a:lnTo>
                      <a:pt x="163" y="51"/>
                    </a:lnTo>
                    <a:lnTo>
                      <a:pt x="171" y="40"/>
                    </a:lnTo>
                    <a:lnTo>
                      <a:pt x="211" y="19"/>
                    </a:lnTo>
                    <a:lnTo>
                      <a:pt x="248"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80" name="Freeform 353">
                <a:extLst>
                  <a:ext uri="{FF2B5EF4-FFF2-40B4-BE49-F238E27FC236}">
                    <a16:creationId xmlns:a16="http://schemas.microsoft.com/office/drawing/2014/main" id="{01C8604B-8845-4BD4-8F98-D91C883B4FED}"/>
                  </a:ext>
                </a:extLst>
              </p:cNvPr>
              <p:cNvSpPr>
                <a:spLocks/>
              </p:cNvSpPr>
              <p:nvPr/>
            </p:nvSpPr>
            <p:spPr bwMode="auto">
              <a:xfrm>
                <a:off x="2623" y="1640"/>
                <a:ext cx="123" cy="134"/>
              </a:xfrm>
              <a:custGeom>
                <a:avLst/>
                <a:gdLst>
                  <a:gd name="T0" fmla="*/ 123 w 123"/>
                  <a:gd name="T1" fmla="*/ 0 h 134"/>
                  <a:gd name="T2" fmla="*/ 53 w 123"/>
                  <a:gd name="T3" fmla="*/ 13 h 134"/>
                  <a:gd name="T4" fmla="*/ 21 w 123"/>
                  <a:gd name="T5" fmla="*/ 37 h 134"/>
                  <a:gd name="T6" fmla="*/ 5 w 123"/>
                  <a:gd name="T7" fmla="*/ 67 h 134"/>
                  <a:gd name="T8" fmla="*/ 0 w 123"/>
                  <a:gd name="T9" fmla="*/ 94 h 134"/>
                  <a:gd name="T10" fmla="*/ 11 w 123"/>
                  <a:gd name="T11" fmla="*/ 115 h 134"/>
                  <a:gd name="T12" fmla="*/ 48 w 123"/>
                  <a:gd name="T13" fmla="*/ 134 h 134"/>
                </a:gdLst>
                <a:ahLst/>
                <a:cxnLst>
                  <a:cxn ang="0">
                    <a:pos x="T0" y="T1"/>
                  </a:cxn>
                  <a:cxn ang="0">
                    <a:pos x="T2" y="T3"/>
                  </a:cxn>
                  <a:cxn ang="0">
                    <a:pos x="T4" y="T5"/>
                  </a:cxn>
                  <a:cxn ang="0">
                    <a:pos x="T6" y="T7"/>
                  </a:cxn>
                  <a:cxn ang="0">
                    <a:pos x="T8" y="T9"/>
                  </a:cxn>
                  <a:cxn ang="0">
                    <a:pos x="T10" y="T11"/>
                  </a:cxn>
                  <a:cxn ang="0">
                    <a:pos x="T12" y="T13"/>
                  </a:cxn>
                </a:cxnLst>
                <a:rect l="0" t="0" r="r" b="b"/>
                <a:pathLst>
                  <a:path w="123" h="134">
                    <a:moveTo>
                      <a:pt x="123" y="0"/>
                    </a:moveTo>
                    <a:lnTo>
                      <a:pt x="53" y="13"/>
                    </a:lnTo>
                    <a:lnTo>
                      <a:pt x="21" y="37"/>
                    </a:lnTo>
                    <a:lnTo>
                      <a:pt x="5" y="67"/>
                    </a:lnTo>
                    <a:lnTo>
                      <a:pt x="0" y="94"/>
                    </a:lnTo>
                    <a:lnTo>
                      <a:pt x="11" y="115"/>
                    </a:lnTo>
                    <a:lnTo>
                      <a:pt x="48" y="134"/>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81" name="Line 354">
                <a:extLst>
                  <a:ext uri="{FF2B5EF4-FFF2-40B4-BE49-F238E27FC236}">
                    <a16:creationId xmlns:a16="http://schemas.microsoft.com/office/drawing/2014/main" id="{80057775-C83C-4E85-9FAD-13590FD36977}"/>
                  </a:ext>
                </a:extLst>
              </p:cNvPr>
              <p:cNvSpPr>
                <a:spLocks noChangeShapeType="1"/>
              </p:cNvSpPr>
              <p:nvPr/>
            </p:nvSpPr>
            <p:spPr bwMode="auto">
              <a:xfrm>
                <a:off x="2727" y="1643"/>
                <a:ext cx="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2" name="Line 355">
                <a:extLst>
                  <a:ext uri="{FF2B5EF4-FFF2-40B4-BE49-F238E27FC236}">
                    <a16:creationId xmlns:a16="http://schemas.microsoft.com/office/drawing/2014/main" id="{35668072-80B5-4243-B7B9-6C0C0700B81D}"/>
                  </a:ext>
                </a:extLst>
              </p:cNvPr>
              <p:cNvSpPr>
                <a:spLocks noChangeShapeType="1"/>
              </p:cNvSpPr>
              <p:nvPr/>
            </p:nvSpPr>
            <p:spPr bwMode="auto">
              <a:xfrm>
                <a:off x="2708" y="1648"/>
                <a:ext cx="3"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3" name="Line 356">
                <a:extLst>
                  <a:ext uri="{FF2B5EF4-FFF2-40B4-BE49-F238E27FC236}">
                    <a16:creationId xmlns:a16="http://schemas.microsoft.com/office/drawing/2014/main" id="{0C05CC40-44C4-42D3-872F-0E1122F9E0AB}"/>
                  </a:ext>
                </a:extLst>
              </p:cNvPr>
              <p:cNvSpPr>
                <a:spLocks noChangeShapeType="1"/>
              </p:cNvSpPr>
              <p:nvPr/>
            </p:nvSpPr>
            <p:spPr bwMode="auto">
              <a:xfrm>
                <a:off x="2684" y="1653"/>
                <a:ext cx="11" cy="1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4" name="Line 357">
                <a:extLst>
                  <a:ext uri="{FF2B5EF4-FFF2-40B4-BE49-F238E27FC236}">
                    <a16:creationId xmlns:a16="http://schemas.microsoft.com/office/drawing/2014/main" id="{45C27527-5859-4DF3-9104-0BAD8C1A5D10}"/>
                  </a:ext>
                </a:extLst>
              </p:cNvPr>
              <p:cNvSpPr>
                <a:spLocks noChangeShapeType="1"/>
              </p:cNvSpPr>
              <p:nvPr/>
            </p:nvSpPr>
            <p:spPr bwMode="auto">
              <a:xfrm>
                <a:off x="2666" y="1661"/>
                <a:ext cx="13" cy="1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5" name="Line 358">
                <a:extLst>
                  <a:ext uri="{FF2B5EF4-FFF2-40B4-BE49-F238E27FC236}">
                    <a16:creationId xmlns:a16="http://schemas.microsoft.com/office/drawing/2014/main" id="{B722134E-75C2-4E07-AE35-B28D1348E00B}"/>
                  </a:ext>
                </a:extLst>
              </p:cNvPr>
              <p:cNvSpPr>
                <a:spLocks noChangeShapeType="1"/>
              </p:cNvSpPr>
              <p:nvPr/>
            </p:nvSpPr>
            <p:spPr bwMode="auto">
              <a:xfrm>
                <a:off x="2652" y="1675"/>
                <a:ext cx="19"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6" name="Line 359">
                <a:extLst>
                  <a:ext uri="{FF2B5EF4-FFF2-40B4-BE49-F238E27FC236}">
                    <a16:creationId xmlns:a16="http://schemas.microsoft.com/office/drawing/2014/main" id="{5841C662-DF10-4C80-ACA3-FA3B45A0F093}"/>
                  </a:ext>
                </a:extLst>
              </p:cNvPr>
              <p:cNvSpPr>
                <a:spLocks noChangeShapeType="1"/>
              </p:cNvSpPr>
              <p:nvPr/>
            </p:nvSpPr>
            <p:spPr bwMode="auto">
              <a:xfrm>
                <a:off x="2642" y="1685"/>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7" name="Line 360">
                <a:extLst>
                  <a:ext uri="{FF2B5EF4-FFF2-40B4-BE49-F238E27FC236}">
                    <a16:creationId xmlns:a16="http://schemas.microsoft.com/office/drawing/2014/main" id="{94979BF6-E800-4117-A3C1-9BE2C6750117}"/>
                  </a:ext>
                </a:extLst>
              </p:cNvPr>
              <p:cNvSpPr>
                <a:spLocks noChangeShapeType="1"/>
              </p:cNvSpPr>
              <p:nvPr/>
            </p:nvSpPr>
            <p:spPr bwMode="auto">
              <a:xfrm>
                <a:off x="2634" y="1699"/>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8" name="Line 361">
                <a:extLst>
                  <a:ext uri="{FF2B5EF4-FFF2-40B4-BE49-F238E27FC236}">
                    <a16:creationId xmlns:a16="http://schemas.microsoft.com/office/drawing/2014/main" id="{453A245E-74ED-427E-AE9F-E99216B31843}"/>
                  </a:ext>
                </a:extLst>
              </p:cNvPr>
              <p:cNvSpPr>
                <a:spLocks noChangeShapeType="1"/>
              </p:cNvSpPr>
              <p:nvPr/>
            </p:nvSpPr>
            <p:spPr bwMode="auto">
              <a:xfrm>
                <a:off x="2628" y="1715"/>
                <a:ext cx="27"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89" name="Line 362">
                <a:extLst>
                  <a:ext uri="{FF2B5EF4-FFF2-40B4-BE49-F238E27FC236}">
                    <a16:creationId xmlns:a16="http://schemas.microsoft.com/office/drawing/2014/main" id="{4A749E77-D8E6-4B64-B0CF-124E87D3B7A7}"/>
                  </a:ext>
                </a:extLst>
              </p:cNvPr>
              <p:cNvSpPr>
                <a:spLocks noChangeShapeType="1"/>
              </p:cNvSpPr>
              <p:nvPr/>
            </p:nvSpPr>
            <p:spPr bwMode="auto">
              <a:xfrm>
                <a:off x="2623" y="1734"/>
                <a:ext cx="35"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0" name="Line 363">
                <a:extLst>
                  <a:ext uri="{FF2B5EF4-FFF2-40B4-BE49-F238E27FC236}">
                    <a16:creationId xmlns:a16="http://schemas.microsoft.com/office/drawing/2014/main" id="{0CA96B3C-AFBA-488C-97C6-2493E767F17D}"/>
                  </a:ext>
                </a:extLst>
              </p:cNvPr>
              <p:cNvSpPr>
                <a:spLocks noChangeShapeType="1"/>
              </p:cNvSpPr>
              <p:nvPr/>
            </p:nvSpPr>
            <p:spPr bwMode="auto">
              <a:xfrm>
                <a:off x="2636" y="1752"/>
                <a:ext cx="24"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1" name="Line 364">
                <a:extLst>
                  <a:ext uri="{FF2B5EF4-FFF2-40B4-BE49-F238E27FC236}">
                    <a16:creationId xmlns:a16="http://schemas.microsoft.com/office/drawing/2014/main" id="{C38E3FC6-EC96-42B9-B71B-70EE2497153B}"/>
                  </a:ext>
                </a:extLst>
              </p:cNvPr>
              <p:cNvSpPr>
                <a:spLocks noChangeShapeType="1"/>
              </p:cNvSpPr>
              <p:nvPr/>
            </p:nvSpPr>
            <p:spPr bwMode="auto">
              <a:xfrm>
                <a:off x="2655" y="1763"/>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2" name="Freeform 365">
                <a:extLst>
                  <a:ext uri="{FF2B5EF4-FFF2-40B4-BE49-F238E27FC236}">
                    <a16:creationId xmlns:a16="http://schemas.microsoft.com/office/drawing/2014/main" id="{216C8620-7055-4170-A07A-CD7FAA6AEF55}"/>
                  </a:ext>
                </a:extLst>
              </p:cNvPr>
              <p:cNvSpPr>
                <a:spLocks/>
              </p:cNvSpPr>
              <p:nvPr/>
            </p:nvSpPr>
            <p:spPr bwMode="auto">
              <a:xfrm>
                <a:off x="2564" y="1469"/>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6 h 104"/>
                  <a:gd name="T10" fmla="*/ 46 w 192"/>
                  <a:gd name="T11" fmla="*/ 35 h 104"/>
                  <a:gd name="T12" fmla="*/ 8 w 192"/>
                  <a:gd name="T13" fmla="*/ 51 h 104"/>
                  <a:gd name="T14" fmla="*/ 6 w 192"/>
                  <a:gd name="T15" fmla="*/ 59 h 104"/>
                  <a:gd name="T16" fmla="*/ 0 w 192"/>
                  <a:gd name="T17" fmla="*/ 67 h 104"/>
                  <a:gd name="T18" fmla="*/ 3 w 192"/>
                  <a:gd name="T19" fmla="*/ 77 h 104"/>
                  <a:gd name="T20" fmla="*/ 6 w 192"/>
                  <a:gd name="T21" fmla="*/ 86 h 104"/>
                  <a:gd name="T22" fmla="*/ 32 w 192"/>
                  <a:gd name="T23" fmla="*/ 94 h 104"/>
                  <a:gd name="T24" fmla="*/ 62 w 192"/>
                  <a:gd name="T25" fmla="*/ 102 h 104"/>
                  <a:gd name="T26" fmla="*/ 96 w 192"/>
                  <a:gd name="T27" fmla="*/ 102 h 104"/>
                  <a:gd name="T28" fmla="*/ 131 w 192"/>
                  <a:gd name="T29" fmla="*/ 104 h 104"/>
                  <a:gd name="T30" fmla="*/ 128 w 192"/>
                  <a:gd name="T31" fmla="*/ 94 h 104"/>
                  <a:gd name="T32" fmla="*/ 123 w 192"/>
                  <a:gd name="T33" fmla="*/ 83 h 104"/>
                  <a:gd name="T34" fmla="*/ 123 w 192"/>
                  <a:gd name="T35" fmla="*/ 64 h 104"/>
                  <a:gd name="T36" fmla="*/ 120 w 192"/>
                  <a:gd name="T37" fmla="*/ 48 h 104"/>
                  <a:gd name="T38" fmla="*/ 126 w 192"/>
                  <a:gd name="T39" fmla="*/ 37 h 104"/>
                  <a:gd name="T40" fmla="*/ 134 w 192"/>
                  <a:gd name="T41" fmla="*/ 29 h 104"/>
                  <a:gd name="T42" fmla="*/ 163 w 192"/>
                  <a:gd name="T43" fmla="*/ 13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6"/>
                    </a:lnTo>
                    <a:lnTo>
                      <a:pt x="46" y="35"/>
                    </a:lnTo>
                    <a:lnTo>
                      <a:pt x="8" y="51"/>
                    </a:lnTo>
                    <a:lnTo>
                      <a:pt x="6" y="59"/>
                    </a:lnTo>
                    <a:lnTo>
                      <a:pt x="0" y="67"/>
                    </a:lnTo>
                    <a:lnTo>
                      <a:pt x="3" y="77"/>
                    </a:lnTo>
                    <a:lnTo>
                      <a:pt x="6" y="86"/>
                    </a:lnTo>
                    <a:lnTo>
                      <a:pt x="32" y="94"/>
                    </a:lnTo>
                    <a:lnTo>
                      <a:pt x="62" y="102"/>
                    </a:lnTo>
                    <a:lnTo>
                      <a:pt x="96" y="102"/>
                    </a:lnTo>
                    <a:lnTo>
                      <a:pt x="131" y="104"/>
                    </a:lnTo>
                    <a:lnTo>
                      <a:pt x="128" y="94"/>
                    </a:lnTo>
                    <a:lnTo>
                      <a:pt x="123" y="83"/>
                    </a:lnTo>
                    <a:lnTo>
                      <a:pt x="123" y="64"/>
                    </a:lnTo>
                    <a:lnTo>
                      <a:pt x="120" y="48"/>
                    </a:lnTo>
                    <a:lnTo>
                      <a:pt x="126" y="37"/>
                    </a:lnTo>
                    <a:lnTo>
                      <a:pt x="134" y="29"/>
                    </a:lnTo>
                    <a:lnTo>
                      <a:pt x="163" y="13"/>
                    </a:lnTo>
                    <a:lnTo>
                      <a:pt x="192"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3" name="Freeform 366">
                <a:extLst>
                  <a:ext uri="{FF2B5EF4-FFF2-40B4-BE49-F238E27FC236}">
                    <a16:creationId xmlns:a16="http://schemas.microsoft.com/office/drawing/2014/main" id="{46E5FC14-60FD-49BB-BCCD-B767D26D1211}"/>
                  </a:ext>
                </a:extLst>
              </p:cNvPr>
              <p:cNvSpPr>
                <a:spLocks/>
              </p:cNvSpPr>
              <p:nvPr/>
            </p:nvSpPr>
            <p:spPr bwMode="auto">
              <a:xfrm>
                <a:off x="2564" y="1469"/>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6 h 104"/>
                  <a:gd name="T10" fmla="*/ 46 w 192"/>
                  <a:gd name="T11" fmla="*/ 35 h 104"/>
                  <a:gd name="T12" fmla="*/ 8 w 192"/>
                  <a:gd name="T13" fmla="*/ 51 h 104"/>
                  <a:gd name="T14" fmla="*/ 6 w 192"/>
                  <a:gd name="T15" fmla="*/ 59 h 104"/>
                  <a:gd name="T16" fmla="*/ 0 w 192"/>
                  <a:gd name="T17" fmla="*/ 67 h 104"/>
                  <a:gd name="T18" fmla="*/ 3 w 192"/>
                  <a:gd name="T19" fmla="*/ 77 h 104"/>
                  <a:gd name="T20" fmla="*/ 6 w 192"/>
                  <a:gd name="T21" fmla="*/ 86 h 104"/>
                  <a:gd name="T22" fmla="*/ 32 w 192"/>
                  <a:gd name="T23" fmla="*/ 94 h 104"/>
                  <a:gd name="T24" fmla="*/ 62 w 192"/>
                  <a:gd name="T25" fmla="*/ 102 h 104"/>
                  <a:gd name="T26" fmla="*/ 96 w 192"/>
                  <a:gd name="T27" fmla="*/ 102 h 104"/>
                  <a:gd name="T28" fmla="*/ 131 w 192"/>
                  <a:gd name="T29" fmla="*/ 104 h 104"/>
                  <a:gd name="T30" fmla="*/ 128 w 192"/>
                  <a:gd name="T31" fmla="*/ 94 h 104"/>
                  <a:gd name="T32" fmla="*/ 123 w 192"/>
                  <a:gd name="T33" fmla="*/ 83 h 104"/>
                  <a:gd name="T34" fmla="*/ 123 w 192"/>
                  <a:gd name="T35" fmla="*/ 64 h 104"/>
                  <a:gd name="T36" fmla="*/ 120 w 192"/>
                  <a:gd name="T37" fmla="*/ 48 h 104"/>
                  <a:gd name="T38" fmla="*/ 126 w 192"/>
                  <a:gd name="T39" fmla="*/ 37 h 104"/>
                  <a:gd name="T40" fmla="*/ 134 w 192"/>
                  <a:gd name="T41" fmla="*/ 29 h 104"/>
                  <a:gd name="T42" fmla="*/ 163 w 192"/>
                  <a:gd name="T43" fmla="*/ 13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6"/>
                    </a:lnTo>
                    <a:lnTo>
                      <a:pt x="46" y="35"/>
                    </a:lnTo>
                    <a:lnTo>
                      <a:pt x="8" y="51"/>
                    </a:lnTo>
                    <a:lnTo>
                      <a:pt x="6" y="59"/>
                    </a:lnTo>
                    <a:lnTo>
                      <a:pt x="0" y="67"/>
                    </a:lnTo>
                    <a:lnTo>
                      <a:pt x="3" y="77"/>
                    </a:lnTo>
                    <a:lnTo>
                      <a:pt x="6" y="86"/>
                    </a:lnTo>
                    <a:lnTo>
                      <a:pt x="32" y="94"/>
                    </a:lnTo>
                    <a:lnTo>
                      <a:pt x="62" y="102"/>
                    </a:lnTo>
                    <a:lnTo>
                      <a:pt x="96" y="102"/>
                    </a:lnTo>
                    <a:lnTo>
                      <a:pt x="131" y="104"/>
                    </a:lnTo>
                    <a:lnTo>
                      <a:pt x="128" y="94"/>
                    </a:lnTo>
                    <a:lnTo>
                      <a:pt x="123" y="83"/>
                    </a:lnTo>
                    <a:lnTo>
                      <a:pt x="123" y="64"/>
                    </a:lnTo>
                    <a:lnTo>
                      <a:pt x="120" y="48"/>
                    </a:lnTo>
                    <a:lnTo>
                      <a:pt x="126" y="37"/>
                    </a:lnTo>
                    <a:lnTo>
                      <a:pt x="134" y="29"/>
                    </a:lnTo>
                    <a:lnTo>
                      <a:pt x="163" y="13"/>
                    </a:lnTo>
                    <a:lnTo>
                      <a:pt x="192"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94" name="Freeform 367">
                <a:extLst>
                  <a:ext uri="{FF2B5EF4-FFF2-40B4-BE49-F238E27FC236}">
                    <a16:creationId xmlns:a16="http://schemas.microsoft.com/office/drawing/2014/main" id="{3D60140E-2AF6-4B69-81CC-259A29BA2083}"/>
                  </a:ext>
                </a:extLst>
              </p:cNvPr>
              <p:cNvSpPr>
                <a:spLocks/>
              </p:cNvSpPr>
              <p:nvPr/>
            </p:nvSpPr>
            <p:spPr bwMode="auto">
              <a:xfrm>
                <a:off x="2658" y="1469"/>
                <a:ext cx="93" cy="102"/>
              </a:xfrm>
              <a:custGeom>
                <a:avLst/>
                <a:gdLst>
                  <a:gd name="T0" fmla="*/ 93 w 93"/>
                  <a:gd name="T1" fmla="*/ 0 h 102"/>
                  <a:gd name="T2" fmla="*/ 42 w 93"/>
                  <a:gd name="T3" fmla="*/ 8 h 102"/>
                  <a:gd name="T4" fmla="*/ 16 w 93"/>
                  <a:gd name="T5" fmla="*/ 27 h 102"/>
                  <a:gd name="T6" fmla="*/ 2 w 93"/>
                  <a:gd name="T7" fmla="*/ 51 h 102"/>
                  <a:gd name="T8" fmla="*/ 0 w 93"/>
                  <a:gd name="T9" fmla="*/ 69 h 102"/>
                  <a:gd name="T10" fmla="*/ 10 w 93"/>
                  <a:gd name="T11" fmla="*/ 88 h 102"/>
                  <a:gd name="T12" fmla="*/ 37 w 93"/>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3" h="102">
                    <a:moveTo>
                      <a:pt x="93" y="0"/>
                    </a:moveTo>
                    <a:lnTo>
                      <a:pt x="42" y="8"/>
                    </a:lnTo>
                    <a:lnTo>
                      <a:pt x="16" y="27"/>
                    </a:lnTo>
                    <a:lnTo>
                      <a:pt x="2" y="51"/>
                    </a:lnTo>
                    <a:lnTo>
                      <a:pt x="0" y="69"/>
                    </a:lnTo>
                    <a:lnTo>
                      <a:pt x="10" y="88"/>
                    </a:lnTo>
                    <a:lnTo>
                      <a:pt x="37" y="10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95" name="Line 368">
                <a:extLst>
                  <a:ext uri="{FF2B5EF4-FFF2-40B4-BE49-F238E27FC236}">
                    <a16:creationId xmlns:a16="http://schemas.microsoft.com/office/drawing/2014/main" id="{5684C984-EE8E-4AED-9DEC-4F8D705B7A88}"/>
                  </a:ext>
                </a:extLst>
              </p:cNvPr>
              <p:cNvSpPr>
                <a:spLocks noChangeShapeType="1"/>
              </p:cNvSpPr>
              <p:nvPr/>
            </p:nvSpPr>
            <p:spPr bwMode="auto">
              <a:xfrm>
                <a:off x="2738" y="1472"/>
                <a:ext cx="2"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6" name="Line 369">
                <a:extLst>
                  <a:ext uri="{FF2B5EF4-FFF2-40B4-BE49-F238E27FC236}">
                    <a16:creationId xmlns:a16="http://schemas.microsoft.com/office/drawing/2014/main" id="{41A8BE1D-8E3D-44FD-BAA7-8129BFAFE4AE}"/>
                  </a:ext>
                </a:extLst>
              </p:cNvPr>
              <p:cNvSpPr>
                <a:spLocks noChangeShapeType="1"/>
              </p:cNvSpPr>
              <p:nvPr/>
            </p:nvSpPr>
            <p:spPr bwMode="auto">
              <a:xfrm>
                <a:off x="2724" y="1474"/>
                <a:ext cx="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7" name="Line 370">
                <a:extLst>
                  <a:ext uri="{FF2B5EF4-FFF2-40B4-BE49-F238E27FC236}">
                    <a16:creationId xmlns:a16="http://schemas.microsoft.com/office/drawing/2014/main" id="{AAFDC513-F34F-4D63-87B9-4F479115DAAC}"/>
                  </a:ext>
                </a:extLst>
              </p:cNvPr>
              <p:cNvSpPr>
                <a:spLocks noChangeShapeType="1"/>
              </p:cNvSpPr>
              <p:nvPr/>
            </p:nvSpPr>
            <p:spPr bwMode="auto">
              <a:xfrm>
                <a:off x="2706" y="1477"/>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8" name="Line 371">
                <a:extLst>
                  <a:ext uri="{FF2B5EF4-FFF2-40B4-BE49-F238E27FC236}">
                    <a16:creationId xmlns:a16="http://schemas.microsoft.com/office/drawing/2014/main" id="{6D72F07E-AFFF-412C-88A8-958504F4023F}"/>
                  </a:ext>
                </a:extLst>
              </p:cNvPr>
              <p:cNvSpPr>
                <a:spLocks noChangeShapeType="1"/>
              </p:cNvSpPr>
              <p:nvPr/>
            </p:nvSpPr>
            <p:spPr bwMode="auto">
              <a:xfrm>
                <a:off x="2690" y="1485"/>
                <a:ext cx="13"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9" name="Line 372">
                <a:extLst>
                  <a:ext uri="{FF2B5EF4-FFF2-40B4-BE49-F238E27FC236}">
                    <a16:creationId xmlns:a16="http://schemas.microsoft.com/office/drawing/2014/main" id="{7E4E5CBB-11C2-460C-BBF7-AB2A34E7C121}"/>
                  </a:ext>
                </a:extLst>
              </p:cNvPr>
              <p:cNvSpPr>
                <a:spLocks noChangeShapeType="1"/>
              </p:cNvSpPr>
              <p:nvPr/>
            </p:nvSpPr>
            <p:spPr bwMode="auto">
              <a:xfrm>
                <a:off x="2682" y="1493"/>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0" name="Line 373">
                <a:extLst>
                  <a:ext uri="{FF2B5EF4-FFF2-40B4-BE49-F238E27FC236}">
                    <a16:creationId xmlns:a16="http://schemas.microsoft.com/office/drawing/2014/main" id="{4FFF361D-32E2-470E-BC8A-1C11F6F76C62}"/>
                  </a:ext>
                </a:extLst>
              </p:cNvPr>
              <p:cNvSpPr>
                <a:spLocks noChangeShapeType="1"/>
              </p:cNvSpPr>
              <p:nvPr/>
            </p:nvSpPr>
            <p:spPr bwMode="auto">
              <a:xfrm>
                <a:off x="2674" y="1504"/>
                <a:ext cx="10"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1" name="Line 374">
                <a:extLst>
                  <a:ext uri="{FF2B5EF4-FFF2-40B4-BE49-F238E27FC236}">
                    <a16:creationId xmlns:a16="http://schemas.microsoft.com/office/drawing/2014/main" id="{02322CA6-3432-43A2-85EC-83BC1C499504}"/>
                  </a:ext>
                </a:extLst>
              </p:cNvPr>
              <p:cNvSpPr>
                <a:spLocks noChangeShapeType="1"/>
              </p:cNvSpPr>
              <p:nvPr/>
            </p:nvSpPr>
            <p:spPr bwMode="auto">
              <a:xfrm>
                <a:off x="2666" y="1512"/>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2" name="Line 375">
                <a:extLst>
                  <a:ext uri="{FF2B5EF4-FFF2-40B4-BE49-F238E27FC236}">
                    <a16:creationId xmlns:a16="http://schemas.microsoft.com/office/drawing/2014/main" id="{B7312DD8-117F-48DB-8B3B-D17A66A035B7}"/>
                  </a:ext>
                </a:extLst>
              </p:cNvPr>
              <p:cNvSpPr>
                <a:spLocks noChangeShapeType="1"/>
              </p:cNvSpPr>
              <p:nvPr/>
            </p:nvSpPr>
            <p:spPr bwMode="auto">
              <a:xfrm>
                <a:off x="2660" y="1525"/>
                <a:ext cx="2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3" name="Line 376">
                <a:extLst>
                  <a:ext uri="{FF2B5EF4-FFF2-40B4-BE49-F238E27FC236}">
                    <a16:creationId xmlns:a16="http://schemas.microsoft.com/office/drawing/2014/main" id="{B8A928B6-2B6E-40F0-828E-C09E2C98063B}"/>
                  </a:ext>
                </a:extLst>
              </p:cNvPr>
              <p:cNvSpPr>
                <a:spLocks noChangeShapeType="1"/>
              </p:cNvSpPr>
              <p:nvPr/>
            </p:nvSpPr>
            <p:spPr bwMode="auto">
              <a:xfrm>
                <a:off x="2658" y="1538"/>
                <a:ext cx="26"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4" name="Line 377">
                <a:extLst>
                  <a:ext uri="{FF2B5EF4-FFF2-40B4-BE49-F238E27FC236}">
                    <a16:creationId xmlns:a16="http://schemas.microsoft.com/office/drawing/2014/main" id="{82113442-B0EA-47D0-B3CC-F350A8A40665}"/>
                  </a:ext>
                </a:extLst>
              </p:cNvPr>
              <p:cNvSpPr>
                <a:spLocks noChangeShapeType="1"/>
              </p:cNvSpPr>
              <p:nvPr/>
            </p:nvSpPr>
            <p:spPr bwMode="auto">
              <a:xfrm>
                <a:off x="2668" y="1555"/>
                <a:ext cx="19"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5" name="Line 378">
                <a:extLst>
                  <a:ext uri="{FF2B5EF4-FFF2-40B4-BE49-F238E27FC236}">
                    <a16:creationId xmlns:a16="http://schemas.microsoft.com/office/drawing/2014/main" id="{F207DC02-AF3B-41F5-8585-29E576D6F90B}"/>
                  </a:ext>
                </a:extLst>
              </p:cNvPr>
              <p:cNvSpPr>
                <a:spLocks noChangeShapeType="1"/>
              </p:cNvSpPr>
              <p:nvPr/>
            </p:nvSpPr>
            <p:spPr bwMode="auto">
              <a:xfrm>
                <a:off x="2682" y="1563"/>
                <a:ext cx="10"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6" name="Freeform 379">
                <a:extLst>
                  <a:ext uri="{FF2B5EF4-FFF2-40B4-BE49-F238E27FC236}">
                    <a16:creationId xmlns:a16="http://schemas.microsoft.com/office/drawing/2014/main" id="{85578662-7A5F-4522-BDE6-25312371BD88}"/>
                  </a:ext>
                </a:extLst>
              </p:cNvPr>
              <p:cNvSpPr>
                <a:spLocks/>
              </p:cNvSpPr>
              <p:nvPr/>
            </p:nvSpPr>
            <p:spPr bwMode="auto">
              <a:xfrm>
                <a:off x="2909" y="1402"/>
                <a:ext cx="192" cy="104"/>
              </a:xfrm>
              <a:custGeom>
                <a:avLst/>
                <a:gdLst>
                  <a:gd name="T0" fmla="*/ 192 w 192"/>
                  <a:gd name="T1" fmla="*/ 0 h 104"/>
                  <a:gd name="T2" fmla="*/ 168 w 192"/>
                  <a:gd name="T3" fmla="*/ 0 h 104"/>
                  <a:gd name="T4" fmla="*/ 144 w 192"/>
                  <a:gd name="T5" fmla="*/ 0 h 104"/>
                  <a:gd name="T6" fmla="*/ 114 w 192"/>
                  <a:gd name="T7" fmla="*/ 11 h 104"/>
                  <a:gd name="T8" fmla="*/ 82 w 192"/>
                  <a:gd name="T9" fmla="*/ 19 h 104"/>
                  <a:gd name="T10" fmla="*/ 45 w 192"/>
                  <a:gd name="T11" fmla="*/ 35 h 104"/>
                  <a:gd name="T12" fmla="*/ 8 w 192"/>
                  <a:gd name="T13" fmla="*/ 54 h 104"/>
                  <a:gd name="T14" fmla="*/ 5 w 192"/>
                  <a:gd name="T15" fmla="*/ 62 h 104"/>
                  <a:gd name="T16" fmla="*/ 0 w 192"/>
                  <a:gd name="T17" fmla="*/ 70 h 104"/>
                  <a:gd name="T18" fmla="*/ 2 w 192"/>
                  <a:gd name="T19" fmla="*/ 78 h 104"/>
                  <a:gd name="T20" fmla="*/ 5 w 192"/>
                  <a:gd name="T21" fmla="*/ 88 h 104"/>
                  <a:gd name="T22" fmla="*/ 32 w 192"/>
                  <a:gd name="T23" fmla="*/ 96 h 104"/>
                  <a:gd name="T24" fmla="*/ 61 w 192"/>
                  <a:gd name="T25" fmla="*/ 104 h 104"/>
                  <a:gd name="T26" fmla="*/ 96 w 192"/>
                  <a:gd name="T27" fmla="*/ 104 h 104"/>
                  <a:gd name="T28" fmla="*/ 130 w 192"/>
                  <a:gd name="T29" fmla="*/ 104 h 104"/>
                  <a:gd name="T30" fmla="*/ 128 w 192"/>
                  <a:gd name="T31" fmla="*/ 94 h 104"/>
                  <a:gd name="T32" fmla="*/ 122 w 192"/>
                  <a:gd name="T33" fmla="*/ 83 h 104"/>
                  <a:gd name="T34" fmla="*/ 122 w 192"/>
                  <a:gd name="T35" fmla="*/ 67 h 104"/>
                  <a:gd name="T36" fmla="*/ 120 w 192"/>
                  <a:gd name="T37" fmla="*/ 48 h 104"/>
                  <a:gd name="T38" fmla="*/ 125 w 192"/>
                  <a:gd name="T39" fmla="*/ 40 h 104"/>
                  <a:gd name="T40" fmla="*/ 133 w 192"/>
                  <a:gd name="T41" fmla="*/ 32 h 104"/>
                  <a:gd name="T42" fmla="*/ 162 w 192"/>
                  <a:gd name="T43" fmla="*/ 16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4" y="11"/>
                    </a:lnTo>
                    <a:lnTo>
                      <a:pt x="82" y="19"/>
                    </a:lnTo>
                    <a:lnTo>
                      <a:pt x="45" y="35"/>
                    </a:lnTo>
                    <a:lnTo>
                      <a:pt x="8" y="54"/>
                    </a:lnTo>
                    <a:lnTo>
                      <a:pt x="5" y="62"/>
                    </a:lnTo>
                    <a:lnTo>
                      <a:pt x="0" y="70"/>
                    </a:lnTo>
                    <a:lnTo>
                      <a:pt x="2" y="78"/>
                    </a:lnTo>
                    <a:lnTo>
                      <a:pt x="5" y="88"/>
                    </a:lnTo>
                    <a:lnTo>
                      <a:pt x="32" y="96"/>
                    </a:lnTo>
                    <a:lnTo>
                      <a:pt x="61" y="104"/>
                    </a:lnTo>
                    <a:lnTo>
                      <a:pt x="96" y="104"/>
                    </a:lnTo>
                    <a:lnTo>
                      <a:pt x="130" y="104"/>
                    </a:lnTo>
                    <a:lnTo>
                      <a:pt x="128" y="94"/>
                    </a:lnTo>
                    <a:lnTo>
                      <a:pt x="122" y="83"/>
                    </a:lnTo>
                    <a:lnTo>
                      <a:pt x="122" y="67"/>
                    </a:lnTo>
                    <a:lnTo>
                      <a:pt x="120" y="48"/>
                    </a:lnTo>
                    <a:lnTo>
                      <a:pt x="125" y="40"/>
                    </a:lnTo>
                    <a:lnTo>
                      <a:pt x="133" y="32"/>
                    </a:lnTo>
                    <a:lnTo>
                      <a:pt x="162" y="16"/>
                    </a:lnTo>
                    <a:lnTo>
                      <a:pt x="192"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7" name="Freeform 380">
                <a:extLst>
                  <a:ext uri="{FF2B5EF4-FFF2-40B4-BE49-F238E27FC236}">
                    <a16:creationId xmlns:a16="http://schemas.microsoft.com/office/drawing/2014/main" id="{968FE9F2-5FF0-4B46-ADE1-D48E2E86D38B}"/>
                  </a:ext>
                </a:extLst>
              </p:cNvPr>
              <p:cNvSpPr>
                <a:spLocks/>
              </p:cNvSpPr>
              <p:nvPr/>
            </p:nvSpPr>
            <p:spPr bwMode="auto">
              <a:xfrm>
                <a:off x="2909" y="1402"/>
                <a:ext cx="192" cy="104"/>
              </a:xfrm>
              <a:custGeom>
                <a:avLst/>
                <a:gdLst>
                  <a:gd name="T0" fmla="*/ 192 w 192"/>
                  <a:gd name="T1" fmla="*/ 0 h 104"/>
                  <a:gd name="T2" fmla="*/ 168 w 192"/>
                  <a:gd name="T3" fmla="*/ 0 h 104"/>
                  <a:gd name="T4" fmla="*/ 144 w 192"/>
                  <a:gd name="T5" fmla="*/ 0 h 104"/>
                  <a:gd name="T6" fmla="*/ 114 w 192"/>
                  <a:gd name="T7" fmla="*/ 11 h 104"/>
                  <a:gd name="T8" fmla="*/ 82 w 192"/>
                  <a:gd name="T9" fmla="*/ 19 h 104"/>
                  <a:gd name="T10" fmla="*/ 45 w 192"/>
                  <a:gd name="T11" fmla="*/ 35 h 104"/>
                  <a:gd name="T12" fmla="*/ 8 w 192"/>
                  <a:gd name="T13" fmla="*/ 54 h 104"/>
                  <a:gd name="T14" fmla="*/ 5 w 192"/>
                  <a:gd name="T15" fmla="*/ 62 h 104"/>
                  <a:gd name="T16" fmla="*/ 0 w 192"/>
                  <a:gd name="T17" fmla="*/ 70 h 104"/>
                  <a:gd name="T18" fmla="*/ 2 w 192"/>
                  <a:gd name="T19" fmla="*/ 78 h 104"/>
                  <a:gd name="T20" fmla="*/ 5 w 192"/>
                  <a:gd name="T21" fmla="*/ 88 h 104"/>
                  <a:gd name="T22" fmla="*/ 32 w 192"/>
                  <a:gd name="T23" fmla="*/ 96 h 104"/>
                  <a:gd name="T24" fmla="*/ 61 w 192"/>
                  <a:gd name="T25" fmla="*/ 104 h 104"/>
                  <a:gd name="T26" fmla="*/ 96 w 192"/>
                  <a:gd name="T27" fmla="*/ 104 h 104"/>
                  <a:gd name="T28" fmla="*/ 130 w 192"/>
                  <a:gd name="T29" fmla="*/ 104 h 104"/>
                  <a:gd name="T30" fmla="*/ 128 w 192"/>
                  <a:gd name="T31" fmla="*/ 94 h 104"/>
                  <a:gd name="T32" fmla="*/ 122 w 192"/>
                  <a:gd name="T33" fmla="*/ 83 h 104"/>
                  <a:gd name="T34" fmla="*/ 122 w 192"/>
                  <a:gd name="T35" fmla="*/ 67 h 104"/>
                  <a:gd name="T36" fmla="*/ 120 w 192"/>
                  <a:gd name="T37" fmla="*/ 48 h 104"/>
                  <a:gd name="T38" fmla="*/ 125 w 192"/>
                  <a:gd name="T39" fmla="*/ 40 h 104"/>
                  <a:gd name="T40" fmla="*/ 133 w 192"/>
                  <a:gd name="T41" fmla="*/ 32 h 104"/>
                  <a:gd name="T42" fmla="*/ 162 w 192"/>
                  <a:gd name="T43" fmla="*/ 16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4" y="11"/>
                    </a:lnTo>
                    <a:lnTo>
                      <a:pt x="82" y="19"/>
                    </a:lnTo>
                    <a:lnTo>
                      <a:pt x="45" y="35"/>
                    </a:lnTo>
                    <a:lnTo>
                      <a:pt x="8" y="54"/>
                    </a:lnTo>
                    <a:lnTo>
                      <a:pt x="5" y="62"/>
                    </a:lnTo>
                    <a:lnTo>
                      <a:pt x="0" y="70"/>
                    </a:lnTo>
                    <a:lnTo>
                      <a:pt x="2" y="78"/>
                    </a:lnTo>
                    <a:lnTo>
                      <a:pt x="5" y="88"/>
                    </a:lnTo>
                    <a:lnTo>
                      <a:pt x="32" y="96"/>
                    </a:lnTo>
                    <a:lnTo>
                      <a:pt x="61" y="104"/>
                    </a:lnTo>
                    <a:lnTo>
                      <a:pt x="96" y="104"/>
                    </a:lnTo>
                    <a:lnTo>
                      <a:pt x="130" y="104"/>
                    </a:lnTo>
                    <a:lnTo>
                      <a:pt x="128" y="94"/>
                    </a:lnTo>
                    <a:lnTo>
                      <a:pt x="122" y="83"/>
                    </a:lnTo>
                    <a:lnTo>
                      <a:pt x="122" y="67"/>
                    </a:lnTo>
                    <a:lnTo>
                      <a:pt x="120" y="48"/>
                    </a:lnTo>
                    <a:lnTo>
                      <a:pt x="125" y="40"/>
                    </a:lnTo>
                    <a:lnTo>
                      <a:pt x="133" y="32"/>
                    </a:lnTo>
                    <a:lnTo>
                      <a:pt x="162" y="16"/>
                    </a:lnTo>
                    <a:lnTo>
                      <a:pt x="192"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08" name="Freeform 381">
                <a:extLst>
                  <a:ext uri="{FF2B5EF4-FFF2-40B4-BE49-F238E27FC236}">
                    <a16:creationId xmlns:a16="http://schemas.microsoft.com/office/drawing/2014/main" id="{26FBEC63-C07F-4AFE-8EF9-87ACB8CCCA89}"/>
                  </a:ext>
                </a:extLst>
              </p:cNvPr>
              <p:cNvSpPr>
                <a:spLocks/>
              </p:cNvSpPr>
              <p:nvPr/>
            </p:nvSpPr>
            <p:spPr bwMode="auto">
              <a:xfrm>
                <a:off x="3002" y="1405"/>
                <a:ext cx="93" cy="101"/>
              </a:xfrm>
              <a:custGeom>
                <a:avLst/>
                <a:gdLst>
                  <a:gd name="T0" fmla="*/ 93 w 93"/>
                  <a:gd name="T1" fmla="*/ 0 h 101"/>
                  <a:gd name="T2" fmla="*/ 43 w 93"/>
                  <a:gd name="T3" fmla="*/ 8 h 101"/>
                  <a:gd name="T4" fmla="*/ 16 w 93"/>
                  <a:gd name="T5" fmla="*/ 27 h 101"/>
                  <a:gd name="T6" fmla="*/ 3 w 93"/>
                  <a:gd name="T7" fmla="*/ 51 h 101"/>
                  <a:gd name="T8" fmla="*/ 0 w 93"/>
                  <a:gd name="T9" fmla="*/ 69 h 101"/>
                  <a:gd name="T10" fmla="*/ 8 w 93"/>
                  <a:gd name="T11" fmla="*/ 88 h 101"/>
                  <a:gd name="T12" fmla="*/ 37 w 93"/>
                  <a:gd name="T13" fmla="*/ 101 h 101"/>
                </a:gdLst>
                <a:ahLst/>
                <a:cxnLst>
                  <a:cxn ang="0">
                    <a:pos x="T0" y="T1"/>
                  </a:cxn>
                  <a:cxn ang="0">
                    <a:pos x="T2" y="T3"/>
                  </a:cxn>
                  <a:cxn ang="0">
                    <a:pos x="T4" y="T5"/>
                  </a:cxn>
                  <a:cxn ang="0">
                    <a:pos x="T6" y="T7"/>
                  </a:cxn>
                  <a:cxn ang="0">
                    <a:pos x="T8" y="T9"/>
                  </a:cxn>
                  <a:cxn ang="0">
                    <a:pos x="T10" y="T11"/>
                  </a:cxn>
                  <a:cxn ang="0">
                    <a:pos x="T12" y="T13"/>
                  </a:cxn>
                </a:cxnLst>
                <a:rect l="0" t="0" r="r" b="b"/>
                <a:pathLst>
                  <a:path w="93" h="101">
                    <a:moveTo>
                      <a:pt x="93" y="0"/>
                    </a:moveTo>
                    <a:lnTo>
                      <a:pt x="43" y="8"/>
                    </a:lnTo>
                    <a:lnTo>
                      <a:pt x="16" y="27"/>
                    </a:lnTo>
                    <a:lnTo>
                      <a:pt x="3" y="51"/>
                    </a:lnTo>
                    <a:lnTo>
                      <a:pt x="0" y="69"/>
                    </a:lnTo>
                    <a:lnTo>
                      <a:pt x="8" y="88"/>
                    </a:lnTo>
                    <a:lnTo>
                      <a:pt x="37" y="101"/>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09" name="Line 382">
                <a:extLst>
                  <a:ext uri="{FF2B5EF4-FFF2-40B4-BE49-F238E27FC236}">
                    <a16:creationId xmlns:a16="http://schemas.microsoft.com/office/drawing/2014/main" id="{BCA159B6-4667-485F-A9FE-F9C51421D03B}"/>
                  </a:ext>
                </a:extLst>
              </p:cNvPr>
              <p:cNvSpPr>
                <a:spLocks noChangeShapeType="1"/>
              </p:cNvSpPr>
              <p:nvPr/>
            </p:nvSpPr>
            <p:spPr bwMode="auto">
              <a:xfrm>
                <a:off x="3082" y="1405"/>
                <a:ext cx="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0" name="Line 383">
                <a:extLst>
                  <a:ext uri="{FF2B5EF4-FFF2-40B4-BE49-F238E27FC236}">
                    <a16:creationId xmlns:a16="http://schemas.microsoft.com/office/drawing/2014/main" id="{0E983330-55EF-44D4-87CA-AF798F9CFDA0}"/>
                  </a:ext>
                </a:extLst>
              </p:cNvPr>
              <p:cNvSpPr>
                <a:spLocks noChangeShapeType="1"/>
              </p:cNvSpPr>
              <p:nvPr/>
            </p:nvSpPr>
            <p:spPr bwMode="auto">
              <a:xfrm>
                <a:off x="3069" y="1408"/>
                <a:ext cx="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1" name="Line 384">
                <a:extLst>
                  <a:ext uri="{FF2B5EF4-FFF2-40B4-BE49-F238E27FC236}">
                    <a16:creationId xmlns:a16="http://schemas.microsoft.com/office/drawing/2014/main" id="{AB82375D-2B3F-4A8C-AB09-2FDF0904A0E3}"/>
                  </a:ext>
                </a:extLst>
              </p:cNvPr>
              <p:cNvSpPr>
                <a:spLocks noChangeShapeType="1"/>
              </p:cNvSpPr>
              <p:nvPr/>
            </p:nvSpPr>
            <p:spPr bwMode="auto">
              <a:xfrm>
                <a:off x="3050" y="1413"/>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2" name="Line 385">
                <a:extLst>
                  <a:ext uri="{FF2B5EF4-FFF2-40B4-BE49-F238E27FC236}">
                    <a16:creationId xmlns:a16="http://schemas.microsoft.com/office/drawing/2014/main" id="{C5104707-0EA8-4FAB-BBFE-CA206BBA50C8}"/>
                  </a:ext>
                </a:extLst>
              </p:cNvPr>
              <p:cNvSpPr>
                <a:spLocks noChangeShapeType="1"/>
              </p:cNvSpPr>
              <p:nvPr/>
            </p:nvSpPr>
            <p:spPr bwMode="auto">
              <a:xfrm>
                <a:off x="3034" y="1421"/>
                <a:ext cx="13"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3" name="Line 386">
                <a:extLst>
                  <a:ext uri="{FF2B5EF4-FFF2-40B4-BE49-F238E27FC236}">
                    <a16:creationId xmlns:a16="http://schemas.microsoft.com/office/drawing/2014/main" id="{DD989CC7-BF6D-400B-8368-712B2C031859}"/>
                  </a:ext>
                </a:extLst>
              </p:cNvPr>
              <p:cNvSpPr>
                <a:spLocks noChangeShapeType="1"/>
              </p:cNvSpPr>
              <p:nvPr/>
            </p:nvSpPr>
            <p:spPr bwMode="auto">
              <a:xfrm>
                <a:off x="3026" y="1429"/>
                <a:ext cx="1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4" name="Line 387">
                <a:extLst>
                  <a:ext uri="{FF2B5EF4-FFF2-40B4-BE49-F238E27FC236}">
                    <a16:creationId xmlns:a16="http://schemas.microsoft.com/office/drawing/2014/main" id="{F12905B3-92AB-4229-9A3D-6EFFA638CC3E}"/>
                  </a:ext>
                </a:extLst>
              </p:cNvPr>
              <p:cNvSpPr>
                <a:spLocks noChangeShapeType="1"/>
              </p:cNvSpPr>
              <p:nvPr/>
            </p:nvSpPr>
            <p:spPr bwMode="auto">
              <a:xfrm>
                <a:off x="3018" y="1440"/>
                <a:ext cx="11"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5" name="Line 388">
                <a:extLst>
                  <a:ext uri="{FF2B5EF4-FFF2-40B4-BE49-F238E27FC236}">
                    <a16:creationId xmlns:a16="http://schemas.microsoft.com/office/drawing/2014/main" id="{8E983D32-C83D-4631-B412-6DCB3317B422}"/>
                  </a:ext>
                </a:extLst>
              </p:cNvPr>
              <p:cNvSpPr>
                <a:spLocks noChangeShapeType="1"/>
              </p:cNvSpPr>
              <p:nvPr/>
            </p:nvSpPr>
            <p:spPr bwMode="auto">
              <a:xfrm>
                <a:off x="3010" y="1448"/>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6" name="Line 389">
                <a:extLst>
                  <a:ext uri="{FF2B5EF4-FFF2-40B4-BE49-F238E27FC236}">
                    <a16:creationId xmlns:a16="http://schemas.microsoft.com/office/drawing/2014/main" id="{9B94FB64-E48F-4355-9281-070FF0F7FE82}"/>
                  </a:ext>
                </a:extLst>
              </p:cNvPr>
              <p:cNvSpPr>
                <a:spLocks noChangeShapeType="1"/>
              </p:cNvSpPr>
              <p:nvPr/>
            </p:nvSpPr>
            <p:spPr bwMode="auto">
              <a:xfrm>
                <a:off x="3005" y="1461"/>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7" name="Line 390">
                <a:extLst>
                  <a:ext uri="{FF2B5EF4-FFF2-40B4-BE49-F238E27FC236}">
                    <a16:creationId xmlns:a16="http://schemas.microsoft.com/office/drawing/2014/main" id="{56F5BCDA-E6B6-424F-8275-32881DE9767C}"/>
                  </a:ext>
                </a:extLst>
              </p:cNvPr>
              <p:cNvSpPr>
                <a:spLocks noChangeShapeType="1"/>
              </p:cNvSpPr>
              <p:nvPr/>
            </p:nvSpPr>
            <p:spPr bwMode="auto">
              <a:xfrm>
                <a:off x="3002" y="1474"/>
                <a:ext cx="27"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8" name="Line 391">
                <a:extLst>
                  <a:ext uri="{FF2B5EF4-FFF2-40B4-BE49-F238E27FC236}">
                    <a16:creationId xmlns:a16="http://schemas.microsoft.com/office/drawing/2014/main" id="{023C93C1-8B87-4FCC-AA88-52A0CD1291E9}"/>
                  </a:ext>
                </a:extLst>
              </p:cNvPr>
              <p:cNvSpPr>
                <a:spLocks noChangeShapeType="1"/>
              </p:cNvSpPr>
              <p:nvPr/>
            </p:nvSpPr>
            <p:spPr bwMode="auto">
              <a:xfrm>
                <a:off x="3013" y="1490"/>
                <a:ext cx="18"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19" name="Line 392">
                <a:extLst>
                  <a:ext uri="{FF2B5EF4-FFF2-40B4-BE49-F238E27FC236}">
                    <a16:creationId xmlns:a16="http://schemas.microsoft.com/office/drawing/2014/main" id="{49F384A9-EC55-47D8-8761-AFD92207B133}"/>
                  </a:ext>
                </a:extLst>
              </p:cNvPr>
              <p:cNvSpPr>
                <a:spLocks noChangeShapeType="1"/>
              </p:cNvSpPr>
              <p:nvPr/>
            </p:nvSpPr>
            <p:spPr bwMode="auto">
              <a:xfrm>
                <a:off x="3026" y="1498"/>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0" name="Freeform 393">
                <a:extLst>
                  <a:ext uri="{FF2B5EF4-FFF2-40B4-BE49-F238E27FC236}">
                    <a16:creationId xmlns:a16="http://schemas.microsoft.com/office/drawing/2014/main" id="{1F3FC39B-C550-4DA8-A89E-B166E398B554}"/>
                  </a:ext>
                </a:extLst>
              </p:cNvPr>
              <p:cNvSpPr>
                <a:spLocks/>
              </p:cNvSpPr>
              <p:nvPr/>
            </p:nvSpPr>
            <p:spPr bwMode="auto">
              <a:xfrm>
                <a:off x="2810" y="1571"/>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8 h 104"/>
                  <a:gd name="T10" fmla="*/ 45 w 192"/>
                  <a:gd name="T11" fmla="*/ 34 h 104"/>
                  <a:gd name="T12" fmla="*/ 8 w 192"/>
                  <a:gd name="T13" fmla="*/ 53 h 104"/>
                  <a:gd name="T14" fmla="*/ 5 w 192"/>
                  <a:gd name="T15" fmla="*/ 61 h 104"/>
                  <a:gd name="T16" fmla="*/ 0 w 192"/>
                  <a:gd name="T17" fmla="*/ 69 h 104"/>
                  <a:gd name="T18" fmla="*/ 2 w 192"/>
                  <a:gd name="T19" fmla="*/ 77 h 104"/>
                  <a:gd name="T20" fmla="*/ 5 w 192"/>
                  <a:gd name="T21" fmla="*/ 88 h 104"/>
                  <a:gd name="T22" fmla="*/ 32 w 192"/>
                  <a:gd name="T23" fmla="*/ 96 h 104"/>
                  <a:gd name="T24" fmla="*/ 59 w 192"/>
                  <a:gd name="T25" fmla="*/ 101 h 104"/>
                  <a:gd name="T26" fmla="*/ 96 w 192"/>
                  <a:gd name="T27" fmla="*/ 104 h 104"/>
                  <a:gd name="T28" fmla="*/ 131 w 192"/>
                  <a:gd name="T29" fmla="*/ 104 h 104"/>
                  <a:gd name="T30" fmla="*/ 128 w 192"/>
                  <a:gd name="T31" fmla="*/ 93 h 104"/>
                  <a:gd name="T32" fmla="*/ 123 w 192"/>
                  <a:gd name="T33" fmla="*/ 82 h 104"/>
                  <a:gd name="T34" fmla="*/ 123 w 192"/>
                  <a:gd name="T35" fmla="*/ 66 h 104"/>
                  <a:gd name="T36" fmla="*/ 120 w 192"/>
                  <a:gd name="T37" fmla="*/ 48 h 104"/>
                  <a:gd name="T38" fmla="*/ 125 w 192"/>
                  <a:gd name="T39" fmla="*/ 40 h 104"/>
                  <a:gd name="T40" fmla="*/ 133 w 192"/>
                  <a:gd name="T41" fmla="*/ 32 h 104"/>
                  <a:gd name="T42" fmla="*/ 163 w 192"/>
                  <a:gd name="T43" fmla="*/ 16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8"/>
                    </a:lnTo>
                    <a:lnTo>
                      <a:pt x="45" y="34"/>
                    </a:lnTo>
                    <a:lnTo>
                      <a:pt x="8" y="53"/>
                    </a:lnTo>
                    <a:lnTo>
                      <a:pt x="5" y="61"/>
                    </a:lnTo>
                    <a:lnTo>
                      <a:pt x="0" y="69"/>
                    </a:lnTo>
                    <a:lnTo>
                      <a:pt x="2" y="77"/>
                    </a:lnTo>
                    <a:lnTo>
                      <a:pt x="5" y="88"/>
                    </a:lnTo>
                    <a:lnTo>
                      <a:pt x="32" y="96"/>
                    </a:lnTo>
                    <a:lnTo>
                      <a:pt x="59" y="101"/>
                    </a:lnTo>
                    <a:lnTo>
                      <a:pt x="96" y="104"/>
                    </a:lnTo>
                    <a:lnTo>
                      <a:pt x="131" y="104"/>
                    </a:lnTo>
                    <a:lnTo>
                      <a:pt x="128" y="93"/>
                    </a:lnTo>
                    <a:lnTo>
                      <a:pt x="123" y="82"/>
                    </a:lnTo>
                    <a:lnTo>
                      <a:pt x="123" y="66"/>
                    </a:lnTo>
                    <a:lnTo>
                      <a:pt x="120" y="48"/>
                    </a:lnTo>
                    <a:lnTo>
                      <a:pt x="125" y="40"/>
                    </a:lnTo>
                    <a:lnTo>
                      <a:pt x="133" y="32"/>
                    </a:lnTo>
                    <a:lnTo>
                      <a:pt x="163" y="16"/>
                    </a:lnTo>
                    <a:lnTo>
                      <a:pt x="192"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1" name="Freeform 394">
                <a:extLst>
                  <a:ext uri="{FF2B5EF4-FFF2-40B4-BE49-F238E27FC236}">
                    <a16:creationId xmlns:a16="http://schemas.microsoft.com/office/drawing/2014/main" id="{AC691D8C-EADE-4C88-84D1-DB945BCDA5E7}"/>
                  </a:ext>
                </a:extLst>
              </p:cNvPr>
              <p:cNvSpPr>
                <a:spLocks/>
              </p:cNvSpPr>
              <p:nvPr/>
            </p:nvSpPr>
            <p:spPr bwMode="auto">
              <a:xfrm>
                <a:off x="2810" y="1571"/>
                <a:ext cx="192" cy="104"/>
              </a:xfrm>
              <a:custGeom>
                <a:avLst/>
                <a:gdLst>
                  <a:gd name="T0" fmla="*/ 192 w 192"/>
                  <a:gd name="T1" fmla="*/ 0 h 104"/>
                  <a:gd name="T2" fmla="*/ 168 w 192"/>
                  <a:gd name="T3" fmla="*/ 0 h 104"/>
                  <a:gd name="T4" fmla="*/ 144 w 192"/>
                  <a:gd name="T5" fmla="*/ 0 h 104"/>
                  <a:gd name="T6" fmla="*/ 115 w 192"/>
                  <a:gd name="T7" fmla="*/ 8 h 104"/>
                  <a:gd name="T8" fmla="*/ 83 w 192"/>
                  <a:gd name="T9" fmla="*/ 18 h 104"/>
                  <a:gd name="T10" fmla="*/ 45 w 192"/>
                  <a:gd name="T11" fmla="*/ 34 h 104"/>
                  <a:gd name="T12" fmla="*/ 8 w 192"/>
                  <a:gd name="T13" fmla="*/ 53 h 104"/>
                  <a:gd name="T14" fmla="*/ 5 w 192"/>
                  <a:gd name="T15" fmla="*/ 61 h 104"/>
                  <a:gd name="T16" fmla="*/ 0 w 192"/>
                  <a:gd name="T17" fmla="*/ 69 h 104"/>
                  <a:gd name="T18" fmla="*/ 2 w 192"/>
                  <a:gd name="T19" fmla="*/ 77 h 104"/>
                  <a:gd name="T20" fmla="*/ 5 w 192"/>
                  <a:gd name="T21" fmla="*/ 88 h 104"/>
                  <a:gd name="T22" fmla="*/ 32 w 192"/>
                  <a:gd name="T23" fmla="*/ 96 h 104"/>
                  <a:gd name="T24" fmla="*/ 59 w 192"/>
                  <a:gd name="T25" fmla="*/ 101 h 104"/>
                  <a:gd name="T26" fmla="*/ 96 w 192"/>
                  <a:gd name="T27" fmla="*/ 104 h 104"/>
                  <a:gd name="T28" fmla="*/ 131 w 192"/>
                  <a:gd name="T29" fmla="*/ 104 h 104"/>
                  <a:gd name="T30" fmla="*/ 128 w 192"/>
                  <a:gd name="T31" fmla="*/ 93 h 104"/>
                  <a:gd name="T32" fmla="*/ 123 w 192"/>
                  <a:gd name="T33" fmla="*/ 82 h 104"/>
                  <a:gd name="T34" fmla="*/ 123 w 192"/>
                  <a:gd name="T35" fmla="*/ 66 h 104"/>
                  <a:gd name="T36" fmla="*/ 120 w 192"/>
                  <a:gd name="T37" fmla="*/ 48 h 104"/>
                  <a:gd name="T38" fmla="*/ 125 w 192"/>
                  <a:gd name="T39" fmla="*/ 40 h 104"/>
                  <a:gd name="T40" fmla="*/ 133 w 192"/>
                  <a:gd name="T41" fmla="*/ 32 h 104"/>
                  <a:gd name="T42" fmla="*/ 163 w 192"/>
                  <a:gd name="T43" fmla="*/ 16 h 104"/>
                  <a:gd name="T44" fmla="*/ 192 w 192"/>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2" h="104">
                    <a:moveTo>
                      <a:pt x="192" y="0"/>
                    </a:moveTo>
                    <a:lnTo>
                      <a:pt x="168" y="0"/>
                    </a:lnTo>
                    <a:lnTo>
                      <a:pt x="144" y="0"/>
                    </a:lnTo>
                    <a:lnTo>
                      <a:pt x="115" y="8"/>
                    </a:lnTo>
                    <a:lnTo>
                      <a:pt x="83" y="18"/>
                    </a:lnTo>
                    <a:lnTo>
                      <a:pt x="45" y="34"/>
                    </a:lnTo>
                    <a:lnTo>
                      <a:pt x="8" y="53"/>
                    </a:lnTo>
                    <a:lnTo>
                      <a:pt x="5" y="61"/>
                    </a:lnTo>
                    <a:lnTo>
                      <a:pt x="0" y="69"/>
                    </a:lnTo>
                    <a:lnTo>
                      <a:pt x="2" y="77"/>
                    </a:lnTo>
                    <a:lnTo>
                      <a:pt x="5" y="88"/>
                    </a:lnTo>
                    <a:lnTo>
                      <a:pt x="32" y="96"/>
                    </a:lnTo>
                    <a:lnTo>
                      <a:pt x="59" y="101"/>
                    </a:lnTo>
                    <a:lnTo>
                      <a:pt x="96" y="104"/>
                    </a:lnTo>
                    <a:lnTo>
                      <a:pt x="131" y="104"/>
                    </a:lnTo>
                    <a:lnTo>
                      <a:pt x="128" y="93"/>
                    </a:lnTo>
                    <a:lnTo>
                      <a:pt x="123" y="82"/>
                    </a:lnTo>
                    <a:lnTo>
                      <a:pt x="123" y="66"/>
                    </a:lnTo>
                    <a:lnTo>
                      <a:pt x="120" y="48"/>
                    </a:lnTo>
                    <a:lnTo>
                      <a:pt x="125" y="40"/>
                    </a:lnTo>
                    <a:lnTo>
                      <a:pt x="133" y="32"/>
                    </a:lnTo>
                    <a:lnTo>
                      <a:pt x="163" y="16"/>
                    </a:lnTo>
                    <a:lnTo>
                      <a:pt x="192"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22" name="Freeform 395">
                <a:extLst>
                  <a:ext uri="{FF2B5EF4-FFF2-40B4-BE49-F238E27FC236}">
                    <a16:creationId xmlns:a16="http://schemas.microsoft.com/office/drawing/2014/main" id="{DEE1369A-95FC-42E2-BF88-DCB7E987EE3B}"/>
                  </a:ext>
                </a:extLst>
              </p:cNvPr>
              <p:cNvSpPr>
                <a:spLocks/>
              </p:cNvSpPr>
              <p:nvPr/>
            </p:nvSpPr>
            <p:spPr bwMode="auto">
              <a:xfrm>
                <a:off x="2903" y="1573"/>
                <a:ext cx="94" cy="102"/>
              </a:xfrm>
              <a:custGeom>
                <a:avLst/>
                <a:gdLst>
                  <a:gd name="T0" fmla="*/ 94 w 94"/>
                  <a:gd name="T1" fmla="*/ 0 h 102"/>
                  <a:gd name="T2" fmla="*/ 43 w 94"/>
                  <a:gd name="T3" fmla="*/ 8 h 102"/>
                  <a:gd name="T4" fmla="*/ 16 w 94"/>
                  <a:gd name="T5" fmla="*/ 27 h 102"/>
                  <a:gd name="T6" fmla="*/ 3 w 94"/>
                  <a:gd name="T7" fmla="*/ 51 h 102"/>
                  <a:gd name="T8" fmla="*/ 0 w 94"/>
                  <a:gd name="T9" fmla="*/ 70 h 102"/>
                  <a:gd name="T10" fmla="*/ 8 w 94"/>
                  <a:gd name="T11" fmla="*/ 88 h 102"/>
                  <a:gd name="T12" fmla="*/ 38 w 94"/>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94" h="102">
                    <a:moveTo>
                      <a:pt x="94" y="0"/>
                    </a:moveTo>
                    <a:lnTo>
                      <a:pt x="43" y="8"/>
                    </a:lnTo>
                    <a:lnTo>
                      <a:pt x="16" y="27"/>
                    </a:lnTo>
                    <a:lnTo>
                      <a:pt x="3" y="51"/>
                    </a:lnTo>
                    <a:lnTo>
                      <a:pt x="0" y="70"/>
                    </a:lnTo>
                    <a:lnTo>
                      <a:pt x="8" y="88"/>
                    </a:lnTo>
                    <a:lnTo>
                      <a:pt x="38" y="10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23" name="Line 396">
                <a:extLst>
                  <a:ext uri="{FF2B5EF4-FFF2-40B4-BE49-F238E27FC236}">
                    <a16:creationId xmlns:a16="http://schemas.microsoft.com/office/drawing/2014/main" id="{52FC55B1-D711-4A6B-BF01-52DD596365E3}"/>
                  </a:ext>
                </a:extLst>
              </p:cNvPr>
              <p:cNvSpPr>
                <a:spLocks noChangeShapeType="1"/>
              </p:cNvSpPr>
              <p:nvPr/>
            </p:nvSpPr>
            <p:spPr bwMode="auto">
              <a:xfrm>
                <a:off x="2983" y="1573"/>
                <a:ext cx="3"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4" name="Line 397">
                <a:extLst>
                  <a:ext uri="{FF2B5EF4-FFF2-40B4-BE49-F238E27FC236}">
                    <a16:creationId xmlns:a16="http://schemas.microsoft.com/office/drawing/2014/main" id="{95A9404C-BBD4-4929-A66A-D855799DF5D4}"/>
                  </a:ext>
                </a:extLst>
              </p:cNvPr>
              <p:cNvSpPr>
                <a:spLocks noChangeShapeType="1"/>
              </p:cNvSpPr>
              <p:nvPr/>
            </p:nvSpPr>
            <p:spPr bwMode="auto">
              <a:xfrm>
                <a:off x="2967" y="1576"/>
                <a:ext cx="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5" name="Line 398">
                <a:extLst>
                  <a:ext uri="{FF2B5EF4-FFF2-40B4-BE49-F238E27FC236}">
                    <a16:creationId xmlns:a16="http://schemas.microsoft.com/office/drawing/2014/main" id="{576864B7-86C5-48DD-BC24-38D0BAAC7CB3}"/>
                  </a:ext>
                </a:extLst>
              </p:cNvPr>
              <p:cNvSpPr>
                <a:spLocks noChangeShapeType="1"/>
              </p:cNvSpPr>
              <p:nvPr/>
            </p:nvSpPr>
            <p:spPr bwMode="auto">
              <a:xfrm>
                <a:off x="2951" y="1581"/>
                <a:ext cx="8"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6" name="Line 399">
                <a:extLst>
                  <a:ext uri="{FF2B5EF4-FFF2-40B4-BE49-F238E27FC236}">
                    <a16:creationId xmlns:a16="http://schemas.microsoft.com/office/drawing/2014/main" id="{661D3801-CF33-42BF-B39D-78AA5D922596}"/>
                  </a:ext>
                </a:extLst>
              </p:cNvPr>
              <p:cNvSpPr>
                <a:spLocks noChangeShapeType="1"/>
              </p:cNvSpPr>
              <p:nvPr/>
            </p:nvSpPr>
            <p:spPr bwMode="auto">
              <a:xfrm>
                <a:off x="2935" y="1589"/>
                <a:ext cx="1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7" name="Line 400">
                <a:extLst>
                  <a:ext uri="{FF2B5EF4-FFF2-40B4-BE49-F238E27FC236}">
                    <a16:creationId xmlns:a16="http://schemas.microsoft.com/office/drawing/2014/main" id="{6B3F09D4-8E3D-4256-B0F4-CB4EC47CF67B}"/>
                  </a:ext>
                </a:extLst>
              </p:cNvPr>
              <p:cNvSpPr>
                <a:spLocks noChangeShapeType="1"/>
              </p:cNvSpPr>
              <p:nvPr/>
            </p:nvSpPr>
            <p:spPr bwMode="auto">
              <a:xfrm>
                <a:off x="2925" y="1597"/>
                <a:ext cx="13"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8" name="Line 401">
                <a:extLst>
                  <a:ext uri="{FF2B5EF4-FFF2-40B4-BE49-F238E27FC236}">
                    <a16:creationId xmlns:a16="http://schemas.microsoft.com/office/drawing/2014/main" id="{A2C3C9AD-E18B-4238-84A9-96DB805CA1B8}"/>
                  </a:ext>
                </a:extLst>
              </p:cNvPr>
              <p:cNvSpPr>
                <a:spLocks noChangeShapeType="1"/>
              </p:cNvSpPr>
              <p:nvPr/>
            </p:nvSpPr>
            <p:spPr bwMode="auto">
              <a:xfrm>
                <a:off x="2919" y="1608"/>
                <a:ext cx="11"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9" name="Line 402">
                <a:extLst>
                  <a:ext uri="{FF2B5EF4-FFF2-40B4-BE49-F238E27FC236}">
                    <a16:creationId xmlns:a16="http://schemas.microsoft.com/office/drawing/2014/main" id="{73958EC9-E498-418D-8D46-B23C365FB73C}"/>
                  </a:ext>
                </a:extLst>
              </p:cNvPr>
              <p:cNvSpPr>
                <a:spLocks noChangeShapeType="1"/>
              </p:cNvSpPr>
              <p:nvPr/>
            </p:nvSpPr>
            <p:spPr bwMode="auto">
              <a:xfrm>
                <a:off x="2911" y="1616"/>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0" name="Line 403">
                <a:extLst>
                  <a:ext uri="{FF2B5EF4-FFF2-40B4-BE49-F238E27FC236}">
                    <a16:creationId xmlns:a16="http://schemas.microsoft.com/office/drawing/2014/main" id="{4501C1BA-89FE-451F-A5F8-622CC73E50EB}"/>
                  </a:ext>
                </a:extLst>
              </p:cNvPr>
              <p:cNvSpPr>
                <a:spLocks noChangeShapeType="1"/>
              </p:cNvSpPr>
              <p:nvPr/>
            </p:nvSpPr>
            <p:spPr bwMode="auto">
              <a:xfrm>
                <a:off x="2906" y="1629"/>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1" name="Line 404">
                <a:extLst>
                  <a:ext uri="{FF2B5EF4-FFF2-40B4-BE49-F238E27FC236}">
                    <a16:creationId xmlns:a16="http://schemas.microsoft.com/office/drawing/2014/main" id="{DE2B0778-BCAB-4174-8CC0-C44F9471B721}"/>
                  </a:ext>
                </a:extLst>
              </p:cNvPr>
              <p:cNvSpPr>
                <a:spLocks noChangeShapeType="1"/>
              </p:cNvSpPr>
              <p:nvPr/>
            </p:nvSpPr>
            <p:spPr bwMode="auto">
              <a:xfrm>
                <a:off x="2903" y="1643"/>
                <a:ext cx="27"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2" name="Line 405">
                <a:extLst>
                  <a:ext uri="{FF2B5EF4-FFF2-40B4-BE49-F238E27FC236}">
                    <a16:creationId xmlns:a16="http://schemas.microsoft.com/office/drawing/2014/main" id="{3285F35D-88EF-4B53-B869-8FF3341EB079}"/>
                  </a:ext>
                </a:extLst>
              </p:cNvPr>
              <p:cNvSpPr>
                <a:spLocks noChangeShapeType="1"/>
              </p:cNvSpPr>
              <p:nvPr/>
            </p:nvSpPr>
            <p:spPr bwMode="auto">
              <a:xfrm>
                <a:off x="2914" y="1656"/>
                <a:ext cx="19"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3" name="Line 406">
                <a:extLst>
                  <a:ext uri="{FF2B5EF4-FFF2-40B4-BE49-F238E27FC236}">
                    <a16:creationId xmlns:a16="http://schemas.microsoft.com/office/drawing/2014/main" id="{74E1E260-115B-41E9-BED2-AAE78F376448}"/>
                  </a:ext>
                </a:extLst>
              </p:cNvPr>
              <p:cNvSpPr>
                <a:spLocks noChangeShapeType="1"/>
              </p:cNvSpPr>
              <p:nvPr/>
            </p:nvSpPr>
            <p:spPr bwMode="auto">
              <a:xfrm>
                <a:off x="2927" y="1667"/>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4" name="Freeform 407">
                <a:extLst>
                  <a:ext uri="{FF2B5EF4-FFF2-40B4-BE49-F238E27FC236}">
                    <a16:creationId xmlns:a16="http://schemas.microsoft.com/office/drawing/2014/main" id="{8ACF72C1-0569-482C-AA4B-F65946997D1F}"/>
                  </a:ext>
                </a:extLst>
              </p:cNvPr>
              <p:cNvSpPr>
                <a:spLocks/>
              </p:cNvSpPr>
              <p:nvPr/>
            </p:nvSpPr>
            <p:spPr bwMode="auto">
              <a:xfrm>
                <a:off x="1891" y="1811"/>
                <a:ext cx="249" cy="134"/>
              </a:xfrm>
              <a:custGeom>
                <a:avLst/>
                <a:gdLst>
                  <a:gd name="T0" fmla="*/ 249 w 249"/>
                  <a:gd name="T1" fmla="*/ 0 h 134"/>
                  <a:gd name="T2" fmla="*/ 219 w 249"/>
                  <a:gd name="T3" fmla="*/ 0 h 134"/>
                  <a:gd name="T4" fmla="*/ 187 w 249"/>
                  <a:gd name="T5" fmla="*/ 0 h 134"/>
                  <a:gd name="T6" fmla="*/ 147 w 249"/>
                  <a:gd name="T7" fmla="*/ 11 h 134"/>
                  <a:gd name="T8" fmla="*/ 107 w 249"/>
                  <a:gd name="T9" fmla="*/ 21 h 134"/>
                  <a:gd name="T10" fmla="*/ 83 w 249"/>
                  <a:gd name="T11" fmla="*/ 32 h 134"/>
                  <a:gd name="T12" fmla="*/ 59 w 249"/>
                  <a:gd name="T13" fmla="*/ 45 h 134"/>
                  <a:gd name="T14" fmla="*/ 35 w 249"/>
                  <a:gd name="T15" fmla="*/ 56 h 134"/>
                  <a:gd name="T16" fmla="*/ 11 w 249"/>
                  <a:gd name="T17" fmla="*/ 67 h 134"/>
                  <a:gd name="T18" fmla="*/ 6 w 249"/>
                  <a:gd name="T19" fmla="*/ 77 h 134"/>
                  <a:gd name="T20" fmla="*/ 0 w 249"/>
                  <a:gd name="T21" fmla="*/ 88 h 134"/>
                  <a:gd name="T22" fmla="*/ 3 w 249"/>
                  <a:gd name="T23" fmla="*/ 99 h 134"/>
                  <a:gd name="T24" fmla="*/ 8 w 249"/>
                  <a:gd name="T25" fmla="*/ 112 h 134"/>
                  <a:gd name="T26" fmla="*/ 43 w 249"/>
                  <a:gd name="T27" fmla="*/ 123 h 134"/>
                  <a:gd name="T28" fmla="*/ 78 w 249"/>
                  <a:gd name="T29" fmla="*/ 131 h 134"/>
                  <a:gd name="T30" fmla="*/ 102 w 249"/>
                  <a:gd name="T31" fmla="*/ 134 h 134"/>
                  <a:gd name="T32" fmla="*/ 126 w 249"/>
                  <a:gd name="T33" fmla="*/ 134 h 134"/>
                  <a:gd name="T34" fmla="*/ 147 w 249"/>
                  <a:gd name="T35" fmla="*/ 134 h 134"/>
                  <a:gd name="T36" fmla="*/ 171 w 249"/>
                  <a:gd name="T37" fmla="*/ 134 h 134"/>
                  <a:gd name="T38" fmla="*/ 166 w 249"/>
                  <a:gd name="T39" fmla="*/ 120 h 134"/>
                  <a:gd name="T40" fmla="*/ 161 w 249"/>
                  <a:gd name="T41" fmla="*/ 107 h 134"/>
                  <a:gd name="T42" fmla="*/ 158 w 249"/>
                  <a:gd name="T43" fmla="*/ 86 h 134"/>
                  <a:gd name="T44" fmla="*/ 155 w 249"/>
                  <a:gd name="T45" fmla="*/ 61 h 134"/>
                  <a:gd name="T46" fmla="*/ 163 w 249"/>
                  <a:gd name="T47" fmla="*/ 51 h 134"/>
                  <a:gd name="T48" fmla="*/ 174 w 249"/>
                  <a:gd name="T49" fmla="*/ 40 h 134"/>
                  <a:gd name="T50" fmla="*/ 211 w 249"/>
                  <a:gd name="T51" fmla="*/ 19 h 134"/>
                  <a:gd name="T52" fmla="*/ 249 w 249"/>
                  <a:gd name="T53"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9" h="134">
                    <a:moveTo>
                      <a:pt x="249" y="0"/>
                    </a:moveTo>
                    <a:lnTo>
                      <a:pt x="219" y="0"/>
                    </a:lnTo>
                    <a:lnTo>
                      <a:pt x="187" y="0"/>
                    </a:lnTo>
                    <a:lnTo>
                      <a:pt x="147" y="11"/>
                    </a:lnTo>
                    <a:lnTo>
                      <a:pt x="107" y="21"/>
                    </a:lnTo>
                    <a:lnTo>
                      <a:pt x="83" y="32"/>
                    </a:lnTo>
                    <a:lnTo>
                      <a:pt x="59" y="45"/>
                    </a:lnTo>
                    <a:lnTo>
                      <a:pt x="35" y="56"/>
                    </a:lnTo>
                    <a:lnTo>
                      <a:pt x="11" y="67"/>
                    </a:lnTo>
                    <a:lnTo>
                      <a:pt x="6" y="77"/>
                    </a:lnTo>
                    <a:lnTo>
                      <a:pt x="0" y="88"/>
                    </a:lnTo>
                    <a:lnTo>
                      <a:pt x="3" y="99"/>
                    </a:lnTo>
                    <a:lnTo>
                      <a:pt x="8" y="112"/>
                    </a:lnTo>
                    <a:lnTo>
                      <a:pt x="43" y="123"/>
                    </a:lnTo>
                    <a:lnTo>
                      <a:pt x="78" y="131"/>
                    </a:lnTo>
                    <a:lnTo>
                      <a:pt x="102" y="134"/>
                    </a:lnTo>
                    <a:lnTo>
                      <a:pt x="126" y="134"/>
                    </a:lnTo>
                    <a:lnTo>
                      <a:pt x="147" y="134"/>
                    </a:lnTo>
                    <a:lnTo>
                      <a:pt x="171" y="134"/>
                    </a:lnTo>
                    <a:lnTo>
                      <a:pt x="166" y="120"/>
                    </a:lnTo>
                    <a:lnTo>
                      <a:pt x="161" y="107"/>
                    </a:lnTo>
                    <a:lnTo>
                      <a:pt x="158" y="86"/>
                    </a:lnTo>
                    <a:lnTo>
                      <a:pt x="155" y="61"/>
                    </a:lnTo>
                    <a:lnTo>
                      <a:pt x="163" y="51"/>
                    </a:lnTo>
                    <a:lnTo>
                      <a:pt x="174" y="40"/>
                    </a:lnTo>
                    <a:lnTo>
                      <a:pt x="211" y="19"/>
                    </a:lnTo>
                    <a:lnTo>
                      <a:pt x="249"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5" name="Freeform 408">
                <a:extLst>
                  <a:ext uri="{FF2B5EF4-FFF2-40B4-BE49-F238E27FC236}">
                    <a16:creationId xmlns:a16="http://schemas.microsoft.com/office/drawing/2014/main" id="{7269D483-40C5-4FF4-8C9A-D83633973CF9}"/>
                  </a:ext>
                </a:extLst>
              </p:cNvPr>
              <p:cNvSpPr>
                <a:spLocks/>
              </p:cNvSpPr>
              <p:nvPr/>
            </p:nvSpPr>
            <p:spPr bwMode="auto">
              <a:xfrm>
                <a:off x="1891" y="1811"/>
                <a:ext cx="249" cy="134"/>
              </a:xfrm>
              <a:custGeom>
                <a:avLst/>
                <a:gdLst>
                  <a:gd name="T0" fmla="*/ 249 w 249"/>
                  <a:gd name="T1" fmla="*/ 0 h 134"/>
                  <a:gd name="T2" fmla="*/ 219 w 249"/>
                  <a:gd name="T3" fmla="*/ 0 h 134"/>
                  <a:gd name="T4" fmla="*/ 187 w 249"/>
                  <a:gd name="T5" fmla="*/ 0 h 134"/>
                  <a:gd name="T6" fmla="*/ 147 w 249"/>
                  <a:gd name="T7" fmla="*/ 11 h 134"/>
                  <a:gd name="T8" fmla="*/ 107 w 249"/>
                  <a:gd name="T9" fmla="*/ 21 h 134"/>
                  <a:gd name="T10" fmla="*/ 83 w 249"/>
                  <a:gd name="T11" fmla="*/ 32 h 134"/>
                  <a:gd name="T12" fmla="*/ 59 w 249"/>
                  <a:gd name="T13" fmla="*/ 45 h 134"/>
                  <a:gd name="T14" fmla="*/ 35 w 249"/>
                  <a:gd name="T15" fmla="*/ 56 h 134"/>
                  <a:gd name="T16" fmla="*/ 11 w 249"/>
                  <a:gd name="T17" fmla="*/ 67 h 134"/>
                  <a:gd name="T18" fmla="*/ 6 w 249"/>
                  <a:gd name="T19" fmla="*/ 77 h 134"/>
                  <a:gd name="T20" fmla="*/ 0 w 249"/>
                  <a:gd name="T21" fmla="*/ 88 h 134"/>
                  <a:gd name="T22" fmla="*/ 3 w 249"/>
                  <a:gd name="T23" fmla="*/ 99 h 134"/>
                  <a:gd name="T24" fmla="*/ 8 w 249"/>
                  <a:gd name="T25" fmla="*/ 112 h 134"/>
                  <a:gd name="T26" fmla="*/ 43 w 249"/>
                  <a:gd name="T27" fmla="*/ 123 h 134"/>
                  <a:gd name="T28" fmla="*/ 78 w 249"/>
                  <a:gd name="T29" fmla="*/ 131 h 134"/>
                  <a:gd name="T30" fmla="*/ 102 w 249"/>
                  <a:gd name="T31" fmla="*/ 134 h 134"/>
                  <a:gd name="T32" fmla="*/ 126 w 249"/>
                  <a:gd name="T33" fmla="*/ 134 h 134"/>
                  <a:gd name="T34" fmla="*/ 147 w 249"/>
                  <a:gd name="T35" fmla="*/ 134 h 134"/>
                  <a:gd name="T36" fmla="*/ 171 w 249"/>
                  <a:gd name="T37" fmla="*/ 134 h 134"/>
                  <a:gd name="T38" fmla="*/ 166 w 249"/>
                  <a:gd name="T39" fmla="*/ 120 h 134"/>
                  <a:gd name="T40" fmla="*/ 161 w 249"/>
                  <a:gd name="T41" fmla="*/ 107 h 134"/>
                  <a:gd name="T42" fmla="*/ 158 w 249"/>
                  <a:gd name="T43" fmla="*/ 86 h 134"/>
                  <a:gd name="T44" fmla="*/ 155 w 249"/>
                  <a:gd name="T45" fmla="*/ 61 h 134"/>
                  <a:gd name="T46" fmla="*/ 163 w 249"/>
                  <a:gd name="T47" fmla="*/ 51 h 134"/>
                  <a:gd name="T48" fmla="*/ 174 w 249"/>
                  <a:gd name="T49" fmla="*/ 40 h 134"/>
                  <a:gd name="T50" fmla="*/ 211 w 249"/>
                  <a:gd name="T51" fmla="*/ 19 h 134"/>
                  <a:gd name="T52" fmla="*/ 249 w 249"/>
                  <a:gd name="T53"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9" h="134">
                    <a:moveTo>
                      <a:pt x="249" y="0"/>
                    </a:moveTo>
                    <a:lnTo>
                      <a:pt x="219" y="0"/>
                    </a:lnTo>
                    <a:lnTo>
                      <a:pt x="187" y="0"/>
                    </a:lnTo>
                    <a:lnTo>
                      <a:pt x="147" y="11"/>
                    </a:lnTo>
                    <a:lnTo>
                      <a:pt x="107" y="21"/>
                    </a:lnTo>
                    <a:lnTo>
                      <a:pt x="83" y="32"/>
                    </a:lnTo>
                    <a:lnTo>
                      <a:pt x="59" y="45"/>
                    </a:lnTo>
                    <a:lnTo>
                      <a:pt x="35" y="56"/>
                    </a:lnTo>
                    <a:lnTo>
                      <a:pt x="11" y="67"/>
                    </a:lnTo>
                    <a:lnTo>
                      <a:pt x="6" y="77"/>
                    </a:lnTo>
                    <a:lnTo>
                      <a:pt x="0" y="88"/>
                    </a:lnTo>
                    <a:lnTo>
                      <a:pt x="3" y="99"/>
                    </a:lnTo>
                    <a:lnTo>
                      <a:pt x="8" y="112"/>
                    </a:lnTo>
                    <a:lnTo>
                      <a:pt x="43" y="123"/>
                    </a:lnTo>
                    <a:lnTo>
                      <a:pt x="78" y="131"/>
                    </a:lnTo>
                    <a:lnTo>
                      <a:pt x="102" y="134"/>
                    </a:lnTo>
                    <a:lnTo>
                      <a:pt x="126" y="134"/>
                    </a:lnTo>
                    <a:lnTo>
                      <a:pt x="147" y="134"/>
                    </a:lnTo>
                    <a:lnTo>
                      <a:pt x="171" y="134"/>
                    </a:lnTo>
                    <a:lnTo>
                      <a:pt x="166" y="120"/>
                    </a:lnTo>
                    <a:lnTo>
                      <a:pt x="161" y="107"/>
                    </a:lnTo>
                    <a:lnTo>
                      <a:pt x="158" y="86"/>
                    </a:lnTo>
                    <a:lnTo>
                      <a:pt x="155" y="61"/>
                    </a:lnTo>
                    <a:lnTo>
                      <a:pt x="163" y="51"/>
                    </a:lnTo>
                    <a:lnTo>
                      <a:pt x="174" y="40"/>
                    </a:lnTo>
                    <a:lnTo>
                      <a:pt x="211" y="19"/>
                    </a:lnTo>
                    <a:lnTo>
                      <a:pt x="249"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36" name="Freeform 409">
                <a:extLst>
                  <a:ext uri="{FF2B5EF4-FFF2-40B4-BE49-F238E27FC236}">
                    <a16:creationId xmlns:a16="http://schemas.microsoft.com/office/drawing/2014/main" id="{66B16021-FA93-41FE-8AD5-F2997EFCF3DA}"/>
                  </a:ext>
                </a:extLst>
              </p:cNvPr>
              <p:cNvSpPr>
                <a:spLocks/>
              </p:cNvSpPr>
              <p:nvPr/>
            </p:nvSpPr>
            <p:spPr bwMode="auto">
              <a:xfrm>
                <a:off x="2012" y="1811"/>
                <a:ext cx="122" cy="134"/>
              </a:xfrm>
              <a:custGeom>
                <a:avLst/>
                <a:gdLst>
                  <a:gd name="T0" fmla="*/ 122 w 122"/>
                  <a:gd name="T1" fmla="*/ 0 h 134"/>
                  <a:gd name="T2" fmla="*/ 56 w 122"/>
                  <a:gd name="T3" fmla="*/ 11 h 134"/>
                  <a:gd name="T4" fmla="*/ 24 w 122"/>
                  <a:gd name="T5" fmla="*/ 37 h 134"/>
                  <a:gd name="T6" fmla="*/ 5 w 122"/>
                  <a:gd name="T7" fmla="*/ 67 h 134"/>
                  <a:gd name="T8" fmla="*/ 0 w 122"/>
                  <a:gd name="T9" fmla="*/ 91 h 134"/>
                  <a:gd name="T10" fmla="*/ 13 w 122"/>
                  <a:gd name="T11" fmla="*/ 115 h 134"/>
                  <a:gd name="T12" fmla="*/ 48 w 122"/>
                  <a:gd name="T13" fmla="*/ 134 h 134"/>
                </a:gdLst>
                <a:ahLst/>
                <a:cxnLst>
                  <a:cxn ang="0">
                    <a:pos x="T0" y="T1"/>
                  </a:cxn>
                  <a:cxn ang="0">
                    <a:pos x="T2" y="T3"/>
                  </a:cxn>
                  <a:cxn ang="0">
                    <a:pos x="T4" y="T5"/>
                  </a:cxn>
                  <a:cxn ang="0">
                    <a:pos x="T6" y="T7"/>
                  </a:cxn>
                  <a:cxn ang="0">
                    <a:pos x="T8" y="T9"/>
                  </a:cxn>
                  <a:cxn ang="0">
                    <a:pos x="T10" y="T11"/>
                  </a:cxn>
                  <a:cxn ang="0">
                    <a:pos x="T12" y="T13"/>
                  </a:cxn>
                </a:cxnLst>
                <a:rect l="0" t="0" r="r" b="b"/>
                <a:pathLst>
                  <a:path w="122" h="134">
                    <a:moveTo>
                      <a:pt x="122" y="0"/>
                    </a:moveTo>
                    <a:lnTo>
                      <a:pt x="56" y="11"/>
                    </a:lnTo>
                    <a:lnTo>
                      <a:pt x="24" y="37"/>
                    </a:lnTo>
                    <a:lnTo>
                      <a:pt x="5" y="67"/>
                    </a:lnTo>
                    <a:lnTo>
                      <a:pt x="0" y="91"/>
                    </a:lnTo>
                    <a:lnTo>
                      <a:pt x="13" y="115"/>
                    </a:lnTo>
                    <a:lnTo>
                      <a:pt x="48" y="134"/>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37" name="Line 410">
                <a:extLst>
                  <a:ext uri="{FF2B5EF4-FFF2-40B4-BE49-F238E27FC236}">
                    <a16:creationId xmlns:a16="http://schemas.microsoft.com/office/drawing/2014/main" id="{FCD2692D-685E-4637-899C-18A96F58D0BB}"/>
                  </a:ext>
                </a:extLst>
              </p:cNvPr>
              <p:cNvSpPr>
                <a:spLocks noChangeShapeType="1"/>
              </p:cNvSpPr>
              <p:nvPr/>
            </p:nvSpPr>
            <p:spPr bwMode="auto">
              <a:xfrm>
                <a:off x="2116" y="1814"/>
                <a:ext cx="2"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8" name="Line 411">
                <a:extLst>
                  <a:ext uri="{FF2B5EF4-FFF2-40B4-BE49-F238E27FC236}">
                    <a16:creationId xmlns:a16="http://schemas.microsoft.com/office/drawing/2014/main" id="{279CA16F-7821-4FF4-AB7D-69507DF0A599}"/>
                  </a:ext>
                </a:extLst>
              </p:cNvPr>
              <p:cNvSpPr>
                <a:spLocks noChangeShapeType="1"/>
              </p:cNvSpPr>
              <p:nvPr/>
            </p:nvSpPr>
            <p:spPr bwMode="auto">
              <a:xfrm>
                <a:off x="2097" y="1816"/>
                <a:ext cx="5"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9" name="Line 412">
                <a:extLst>
                  <a:ext uri="{FF2B5EF4-FFF2-40B4-BE49-F238E27FC236}">
                    <a16:creationId xmlns:a16="http://schemas.microsoft.com/office/drawing/2014/main" id="{9E7E3CB8-42D6-4DD1-A5D9-726B5B9F7291}"/>
                  </a:ext>
                </a:extLst>
              </p:cNvPr>
              <p:cNvSpPr>
                <a:spLocks noChangeShapeType="1"/>
              </p:cNvSpPr>
              <p:nvPr/>
            </p:nvSpPr>
            <p:spPr bwMode="auto">
              <a:xfrm>
                <a:off x="2073" y="1822"/>
                <a:ext cx="11"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0" name="Line 413">
                <a:extLst>
                  <a:ext uri="{FF2B5EF4-FFF2-40B4-BE49-F238E27FC236}">
                    <a16:creationId xmlns:a16="http://schemas.microsoft.com/office/drawing/2014/main" id="{A7909EC2-C6F9-435B-AC1A-2879C595AB5B}"/>
                  </a:ext>
                </a:extLst>
              </p:cNvPr>
              <p:cNvSpPr>
                <a:spLocks noChangeShapeType="1"/>
              </p:cNvSpPr>
              <p:nvPr/>
            </p:nvSpPr>
            <p:spPr bwMode="auto">
              <a:xfrm>
                <a:off x="2054" y="1832"/>
                <a:ext cx="16" cy="1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1" name="Line 414">
                <a:extLst>
                  <a:ext uri="{FF2B5EF4-FFF2-40B4-BE49-F238E27FC236}">
                    <a16:creationId xmlns:a16="http://schemas.microsoft.com/office/drawing/2014/main" id="{DC8048D5-E431-4171-A415-659097F6DB57}"/>
                  </a:ext>
                </a:extLst>
              </p:cNvPr>
              <p:cNvSpPr>
                <a:spLocks noChangeShapeType="1"/>
              </p:cNvSpPr>
              <p:nvPr/>
            </p:nvSpPr>
            <p:spPr bwMode="auto">
              <a:xfrm>
                <a:off x="2041" y="1843"/>
                <a:ext cx="19"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2" name="Line 415">
                <a:extLst>
                  <a:ext uri="{FF2B5EF4-FFF2-40B4-BE49-F238E27FC236}">
                    <a16:creationId xmlns:a16="http://schemas.microsoft.com/office/drawing/2014/main" id="{CF70B68A-F9E7-49E2-8155-934273CDE512}"/>
                  </a:ext>
                </a:extLst>
              </p:cNvPr>
              <p:cNvSpPr>
                <a:spLocks noChangeShapeType="1"/>
              </p:cNvSpPr>
              <p:nvPr/>
            </p:nvSpPr>
            <p:spPr bwMode="auto">
              <a:xfrm>
                <a:off x="2033" y="1856"/>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3" name="Line 416">
                <a:extLst>
                  <a:ext uri="{FF2B5EF4-FFF2-40B4-BE49-F238E27FC236}">
                    <a16:creationId xmlns:a16="http://schemas.microsoft.com/office/drawing/2014/main" id="{CCB52138-0573-40A2-BB10-0ED43D2DC574}"/>
                  </a:ext>
                </a:extLst>
              </p:cNvPr>
              <p:cNvSpPr>
                <a:spLocks noChangeShapeType="1"/>
              </p:cNvSpPr>
              <p:nvPr/>
            </p:nvSpPr>
            <p:spPr bwMode="auto">
              <a:xfrm>
                <a:off x="2022" y="1867"/>
                <a:ext cx="22"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4" name="Line 417">
                <a:extLst>
                  <a:ext uri="{FF2B5EF4-FFF2-40B4-BE49-F238E27FC236}">
                    <a16:creationId xmlns:a16="http://schemas.microsoft.com/office/drawing/2014/main" id="{9ACE7F2E-DB6B-44A0-9DB7-91D7A4911850}"/>
                  </a:ext>
                </a:extLst>
              </p:cNvPr>
              <p:cNvSpPr>
                <a:spLocks noChangeShapeType="1"/>
              </p:cNvSpPr>
              <p:nvPr/>
            </p:nvSpPr>
            <p:spPr bwMode="auto">
              <a:xfrm>
                <a:off x="2017" y="1886"/>
                <a:ext cx="27"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5" name="Line 418">
                <a:extLst>
                  <a:ext uri="{FF2B5EF4-FFF2-40B4-BE49-F238E27FC236}">
                    <a16:creationId xmlns:a16="http://schemas.microsoft.com/office/drawing/2014/main" id="{1974EF76-44A7-464F-A09C-524BC0F64D1B}"/>
                  </a:ext>
                </a:extLst>
              </p:cNvPr>
              <p:cNvSpPr>
                <a:spLocks noChangeShapeType="1"/>
              </p:cNvSpPr>
              <p:nvPr/>
            </p:nvSpPr>
            <p:spPr bwMode="auto">
              <a:xfrm>
                <a:off x="2014" y="1902"/>
                <a:ext cx="32"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6" name="Line 419">
                <a:extLst>
                  <a:ext uri="{FF2B5EF4-FFF2-40B4-BE49-F238E27FC236}">
                    <a16:creationId xmlns:a16="http://schemas.microsoft.com/office/drawing/2014/main" id="{8FFDF6E3-ED99-48BE-9F76-55419EC11D06}"/>
                  </a:ext>
                </a:extLst>
              </p:cNvPr>
              <p:cNvSpPr>
                <a:spLocks noChangeShapeType="1"/>
              </p:cNvSpPr>
              <p:nvPr/>
            </p:nvSpPr>
            <p:spPr bwMode="auto">
              <a:xfrm>
                <a:off x="2025" y="1923"/>
                <a:ext cx="24"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7" name="Line 420">
                <a:extLst>
                  <a:ext uri="{FF2B5EF4-FFF2-40B4-BE49-F238E27FC236}">
                    <a16:creationId xmlns:a16="http://schemas.microsoft.com/office/drawing/2014/main" id="{79E62960-1070-45E0-AA5D-529DC1EFAAA7}"/>
                  </a:ext>
                </a:extLst>
              </p:cNvPr>
              <p:cNvSpPr>
                <a:spLocks noChangeShapeType="1"/>
              </p:cNvSpPr>
              <p:nvPr/>
            </p:nvSpPr>
            <p:spPr bwMode="auto">
              <a:xfrm>
                <a:off x="2044" y="1934"/>
                <a:ext cx="13"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48" name="Freeform 421">
                <a:extLst>
                  <a:ext uri="{FF2B5EF4-FFF2-40B4-BE49-F238E27FC236}">
                    <a16:creationId xmlns:a16="http://schemas.microsoft.com/office/drawing/2014/main" id="{BE1F950C-DCE9-4F8E-A161-5D8879C598AE}"/>
                  </a:ext>
                </a:extLst>
              </p:cNvPr>
              <p:cNvSpPr>
                <a:spLocks/>
              </p:cNvSpPr>
              <p:nvPr/>
            </p:nvSpPr>
            <p:spPr bwMode="auto">
              <a:xfrm>
                <a:off x="2142" y="1915"/>
                <a:ext cx="347" cy="190"/>
              </a:xfrm>
              <a:custGeom>
                <a:avLst/>
                <a:gdLst>
                  <a:gd name="T0" fmla="*/ 347 w 347"/>
                  <a:gd name="T1" fmla="*/ 0 h 190"/>
                  <a:gd name="T2" fmla="*/ 326 w 347"/>
                  <a:gd name="T3" fmla="*/ 0 h 190"/>
                  <a:gd name="T4" fmla="*/ 305 w 347"/>
                  <a:gd name="T5" fmla="*/ 0 h 190"/>
                  <a:gd name="T6" fmla="*/ 283 w 347"/>
                  <a:gd name="T7" fmla="*/ 0 h 190"/>
                  <a:gd name="T8" fmla="*/ 262 w 347"/>
                  <a:gd name="T9" fmla="*/ 0 h 190"/>
                  <a:gd name="T10" fmla="*/ 235 w 347"/>
                  <a:gd name="T11" fmla="*/ 8 h 190"/>
                  <a:gd name="T12" fmla="*/ 206 w 347"/>
                  <a:gd name="T13" fmla="*/ 16 h 190"/>
                  <a:gd name="T14" fmla="*/ 179 w 347"/>
                  <a:gd name="T15" fmla="*/ 24 h 190"/>
                  <a:gd name="T16" fmla="*/ 150 w 347"/>
                  <a:gd name="T17" fmla="*/ 32 h 190"/>
                  <a:gd name="T18" fmla="*/ 115 w 347"/>
                  <a:gd name="T19" fmla="*/ 48 h 190"/>
                  <a:gd name="T20" fmla="*/ 83 w 347"/>
                  <a:gd name="T21" fmla="*/ 64 h 190"/>
                  <a:gd name="T22" fmla="*/ 48 w 347"/>
                  <a:gd name="T23" fmla="*/ 80 h 190"/>
                  <a:gd name="T24" fmla="*/ 14 w 347"/>
                  <a:gd name="T25" fmla="*/ 96 h 190"/>
                  <a:gd name="T26" fmla="*/ 6 w 347"/>
                  <a:gd name="T27" fmla="*/ 110 h 190"/>
                  <a:gd name="T28" fmla="*/ 0 w 347"/>
                  <a:gd name="T29" fmla="*/ 126 h 190"/>
                  <a:gd name="T30" fmla="*/ 6 w 347"/>
                  <a:gd name="T31" fmla="*/ 142 h 190"/>
                  <a:gd name="T32" fmla="*/ 8 w 347"/>
                  <a:gd name="T33" fmla="*/ 161 h 190"/>
                  <a:gd name="T34" fmla="*/ 35 w 347"/>
                  <a:gd name="T35" fmla="*/ 166 h 190"/>
                  <a:gd name="T36" fmla="*/ 59 w 347"/>
                  <a:gd name="T37" fmla="*/ 174 h 190"/>
                  <a:gd name="T38" fmla="*/ 83 w 347"/>
                  <a:gd name="T39" fmla="*/ 179 h 190"/>
                  <a:gd name="T40" fmla="*/ 107 w 347"/>
                  <a:gd name="T41" fmla="*/ 187 h 190"/>
                  <a:gd name="T42" fmla="*/ 142 w 347"/>
                  <a:gd name="T43" fmla="*/ 187 h 190"/>
                  <a:gd name="T44" fmla="*/ 174 w 347"/>
                  <a:gd name="T45" fmla="*/ 190 h 190"/>
                  <a:gd name="T46" fmla="*/ 206 w 347"/>
                  <a:gd name="T47" fmla="*/ 190 h 190"/>
                  <a:gd name="T48" fmla="*/ 238 w 347"/>
                  <a:gd name="T49" fmla="*/ 190 h 190"/>
                  <a:gd name="T50" fmla="*/ 230 w 347"/>
                  <a:gd name="T51" fmla="*/ 171 h 190"/>
                  <a:gd name="T52" fmla="*/ 225 w 347"/>
                  <a:gd name="T53" fmla="*/ 153 h 190"/>
                  <a:gd name="T54" fmla="*/ 219 w 347"/>
                  <a:gd name="T55" fmla="*/ 120 h 190"/>
                  <a:gd name="T56" fmla="*/ 217 w 347"/>
                  <a:gd name="T57" fmla="*/ 88 h 190"/>
                  <a:gd name="T58" fmla="*/ 230 w 347"/>
                  <a:gd name="T59" fmla="*/ 72 h 190"/>
                  <a:gd name="T60" fmla="*/ 241 w 347"/>
                  <a:gd name="T61" fmla="*/ 56 h 190"/>
                  <a:gd name="T62" fmla="*/ 267 w 347"/>
                  <a:gd name="T63" fmla="*/ 43 h 190"/>
                  <a:gd name="T64" fmla="*/ 294 w 347"/>
                  <a:gd name="T65" fmla="*/ 30 h 190"/>
                  <a:gd name="T66" fmla="*/ 321 w 347"/>
                  <a:gd name="T67" fmla="*/ 16 h 190"/>
                  <a:gd name="T68" fmla="*/ 347 w 347"/>
                  <a:gd name="T69"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7" h="190">
                    <a:moveTo>
                      <a:pt x="347" y="0"/>
                    </a:moveTo>
                    <a:lnTo>
                      <a:pt x="326" y="0"/>
                    </a:lnTo>
                    <a:lnTo>
                      <a:pt x="305" y="0"/>
                    </a:lnTo>
                    <a:lnTo>
                      <a:pt x="283" y="0"/>
                    </a:lnTo>
                    <a:lnTo>
                      <a:pt x="262" y="0"/>
                    </a:lnTo>
                    <a:lnTo>
                      <a:pt x="235" y="8"/>
                    </a:lnTo>
                    <a:lnTo>
                      <a:pt x="206" y="16"/>
                    </a:lnTo>
                    <a:lnTo>
                      <a:pt x="179" y="24"/>
                    </a:lnTo>
                    <a:lnTo>
                      <a:pt x="150" y="32"/>
                    </a:lnTo>
                    <a:lnTo>
                      <a:pt x="115" y="48"/>
                    </a:lnTo>
                    <a:lnTo>
                      <a:pt x="83" y="64"/>
                    </a:lnTo>
                    <a:lnTo>
                      <a:pt x="48" y="80"/>
                    </a:lnTo>
                    <a:lnTo>
                      <a:pt x="14" y="96"/>
                    </a:lnTo>
                    <a:lnTo>
                      <a:pt x="6" y="110"/>
                    </a:lnTo>
                    <a:lnTo>
                      <a:pt x="0" y="126"/>
                    </a:lnTo>
                    <a:lnTo>
                      <a:pt x="6" y="142"/>
                    </a:lnTo>
                    <a:lnTo>
                      <a:pt x="8" y="161"/>
                    </a:lnTo>
                    <a:lnTo>
                      <a:pt x="35" y="166"/>
                    </a:lnTo>
                    <a:lnTo>
                      <a:pt x="59" y="174"/>
                    </a:lnTo>
                    <a:lnTo>
                      <a:pt x="83" y="179"/>
                    </a:lnTo>
                    <a:lnTo>
                      <a:pt x="107" y="187"/>
                    </a:lnTo>
                    <a:lnTo>
                      <a:pt x="142" y="187"/>
                    </a:lnTo>
                    <a:lnTo>
                      <a:pt x="174" y="190"/>
                    </a:lnTo>
                    <a:lnTo>
                      <a:pt x="206" y="190"/>
                    </a:lnTo>
                    <a:lnTo>
                      <a:pt x="238" y="190"/>
                    </a:lnTo>
                    <a:lnTo>
                      <a:pt x="230" y="171"/>
                    </a:lnTo>
                    <a:lnTo>
                      <a:pt x="225" y="153"/>
                    </a:lnTo>
                    <a:lnTo>
                      <a:pt x="219" y="120"/>
                    </a:lnTo>
                    <a:lnTo>
                      <a:pt x="217" y="88"/>
                    </a:lnTo>
                    <a:lnTo>
                      <a:pt x="230" y="72"/>
                    </a:lnTo>
                    <a:lnTo>
                      <a:pt x="241" y="56"/>
                    </a:lnTo>
                    <a:lnTo>
                      <a:pt x="267" y="43"/>
                    </a:lnTo>
                    <a:lnTo>
                      <a:pt x="294" y="30"/>
                    </a:lnTo>
                    <a:lnTo>
                      <a:pt x="321" y="16"/>
                    </a:lnTo>
                    <a:lnTo>
                      <a:pt x="347"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9" name="Freeform 422">
                <a:extLst>
                  <a:ext uri="{FF2B5EF4-FFF2-40B4-BE49-F238E27FC236}">
                    <a16:creationId xmlns:a16="http://schemas.microsoft.com/office/drawing/2014/main" id="{FC958D2C-D15B-4F28-ABAE-EB72827ACD3A}"/>
                  </a:ext>
                </a:extLst>
              </p:cNvPr>
              <p:cNvSpPr>
                <a:spLocks/>
              </p:cNvSpPr>
              <p:nvPr/>
            </p:nvSpPr>
            <p:spPr bwMode="auto">
              <a:xfrm>
                <a:off x="2142" y="1915"/>
                <a:ext cx="347" cy="190"/>
              </a:xfrm>
              <a:custGeom>
                <a:avLst/>
                <a:gdLst>
                  <a:gd name="T0" fmla="*/ 347 w 347"/>
                  <a:gd name="T1" fmla="*/ 0 h 190"/>
                  <a:gd name="T2" fmla="*/ 326 w 347"/>
                  <a:gd name="T3" fmla="*/ 0 h 190"/>
                  <a:gd name="T4" fmla="*/ 305 w 347"/>
                  <a:gd name="T5" fmla="*/ 0 h 190"/>
                  <a:gd name="T6" fmla="*/ 283 w 347"/>
                  <a:gd name="T7" fmla="*/ 0 h 190"/>
                  <a:gd name="T8" fmla="*/ 262 w 347"/>
                  <a:gd name="T9" fmla="*/ 0 h 190"/>
                  <a:gd name="T10" fmla="*/ 235 w 347"/>
                  <a:gd name="T11" fmla="*/ 8 h 190"/>
                  <a:gd name="T12" fmla="*/ 206 w 347"/>
                  <a:gd name="T13" fmla="*/ 16 h 190"/>
                  <a:gd name="T14" fmla="*/ 179 w 347"/>
                  <a:gd name="T15" fmla="*/ 24 h 190"/>
                  <a:gd name="T16" fmla="*/ 150 w 347"/>
                  <a:gd name="T17" fmla="*/ 32 h 190"/>
                  <a:gd name="T18" fmla="*/ 115 w 347"/>
                  <a:gd name="T19" fmla="*/ 48 h 190"/>
                  <a:gd name="T20" fmla="*/ 83 w 347"/>
                  <a:gd name="T21" fmla="*/ 64 h 190"/>
                  <a:gd name="T22" fmla="*/ 48 w 347"/>
                  <a:gd name="T23" fmla="*/ 80 h 190"/>
                  <a:gd name="T24" fmla="*/ 14 w 347"/>
                  <a:gd name="T25" fmla="*/ 96 h 190"/>
                  <a:gd name="T26" fmla="*/ 6 w 347"/>
                  <a:gd name="T27" fmla="*/ 110 h 190"/>
                  <a:gd name="T28" fmla="*/ 0 w 347"/>
                  <a:gd name="T29" fmla="*/ 126 h 190"/>
                  <a:gd name="T30" fmla="*/ 6 w 347"/>
                  <a:gd name="T31" fmla="*/ 142 h 190"/>
                  <a:gd name="T32" fmla="*/ 8 w 347"/>
                  <a:gd name="T33" fmla="*/ 161 h 190"/>
                  <a:gd name="T34" fmla="*/ 35 w 347"/>
                  <a:gd name="T35" fmla="*/ 166 h 190"/>
                  <a:gd name="T36" fmla="*/ 59 w 347"/>
                  <a:gd name="T37" fmla="*/ 174 h 190"/>
                  <a:gd name="T38" fmla="*/ 83 w 347"/>
                  <a:gd name="T39" fmla="*/ 179 h 190"/>
                  <a:gd name="T40" fmla="*/ 107 w 347"/>
                  <a:gd name="T41" fmla="*/ 187 h 190"/>
                  <a:gd name="T42" fmla="*/ 142 w 347"/>
                  <a:gd name="T43" fmla="*/ 187 h 190"/>
                  <a:gd name="T44" fmla="*/ 174 w 347"/>
                  <a:gd name="T45" fmla="*/ 190 h 190"/>
                  <a:gd name="T46" fmla="*/ 206 w 347"/>
                  <a:gd name="T47" fmla="*/ 190 h 190"/>
                  <a:gd name="T48" fmla="*/ 238 w 347"/>
                  <a:gd name="T49" fmla="*/ 190 h 190"/>
                  <a:gd name="T50" fmla="*/ 230 w 347"/>
                  <a:gd name="T51" fmla="*/ 171 h 190"/>
                  <a:gd name="T52" fmla="*/ 225 w 347"/>
                  <a:gd name="T53" fmla="*/ 153 h 190"/>
                  <a:gd name="T54" fmla="*/ 219 w 347"/>
                  <a:gd name="T55" fmla="*/ 120 h 190"/>
                  <a:gd name="T56" fmla="*/ 217 w 347"/>
                  <a:gd name="T57" fmla="*/ 88 h 190"/>
                  <a:gd name="T58" fmla="*/ 230 w 347"/>
                  <a:gd name="T59" fmla="*/ 72 h 190"/>
                  <a:gd name="T60" fmla="*/ 241 w 347"/>
                  <a:gd name="T61" fmla="*/ 56 h 190"/>
                  <a:gd name="T62" fmla="*/ 267 w 347"/>
                  <a:gd name="T63" fmla="*/ 43 h 190"/>
                  <a:gd name="T64" fmla="*/ 294 w 347"/>
                  <a:gd name="T65" fmla="*/ 30 h 190"/>
                  <a:gd name="T66" fmla="*/ 321 w 347"/>
                  <a:gd name="T67" fmla="*/ 16 h 190"/>
                  <a:gd name="T68" fmla="*/ 347 w 347"/>
                  <a:gd name="T69"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7" h="190">
                    <a:moveTo>
                      <a:pt x="347" y="0"/>
                    </a:moveTo>
                    <a:lnTo>
                      <a:pt x="326" y="0"/>
                    </a:lnTo>
                    <a:lnTo>
                      <a:pt x="305" y="0"/>
                    </a:lnTo>
                    <a:lnTo>
                      <a:pt x="283" y="0"/>
                    </a:lnTo>
                    <a:lnTo>
                      <a:pt x="262" y="0"/>
                    </a:lnTo>
                    <a:lnTo>
                      <a:pt x="235" y="8"/>
                    </a:lnTo>
                    <a:lnTo>
                      <a:pt x="206" y="16"/>
                    </a:lnTo>
                    <a:lnTo>
                      <a:pt x="179" y="24"/>
                    </a:lnTo>
                    <a:lnTo>
                      <a:pt x="150" y="32"/>
                    </a:lnTo>
                    <a:lnTo>
                      <a:pt x="115" y="48"/>
                    </a:lnTo>
                    <a:lnTo>
                      <a:pt x="83" y="64"/>
                    </a:lnTo>
                    <a:lnTo>
                      <a:pt x="48" y="80"/>
                    </a:lnTo>
                    <a:lnTo>
                      <a:pt x="14" y="96"/>
                    </a:lnTo>
                    <a:lnTo>
                      <a:pt x="6" y="110"/>
                    </a:lnTo>
                    <a:lnTo>
                      <a:pt x="0" y="126"/>
                    </a:lnTo>
                    <a:lnTo>
                      <a:pt x="6" y="142"/>
                    </a:lnTo>
                    <a:lnTo>
                      <a:pt x="8" y="161"/>
                    </a:lnTo>
                    <a:lnTo>
                      <a:pt x="35" y="166"/>
                    </a:lnTo>
                    <a:lnTo>
                      <a:pt x="59" y="174"/>
                    </a:lnTo>
                    <a:lnTo>
                      <a:pt x="83" y="179"/>
                    </a:lnTo>
                    <a:lnTo>
                      <a:pt x="107" y="187"/>
                    </a:lnTo>
                    <a:lnTo>
                      <a:pt x="142" y="187"/>
                    </a:lnTo>
                    <a:lnTo>
                      <a:pt x="174" y="190"/>
                    </a:lnTo>
                    <a:lnTo>
                      <a:pt x="206" y="190"/>
                    </a:lnTo>
                    <a:lnTo>
                      <a:pt x="238" y="190"/>
                    </a:lnTo>
                    <a:lnTo>
                      <a:pt x="230" y="171"/>
                    </a:lnTo>
                    <a:lnTo>
                      <a:pt x="225" y="153"/>
                    </a:lnTo>
                    <a:lnTo>
                      <a:pt x="219" y="120"/>
                    </a:lnTo>
                    <a:lnTo>
                      <a:pt x="217" y="88"/>
                    </a:lnTo>
                    <a:lnTo>
                      <a:pt x="230" y="72"/>
                    </a:lnTo>
                    <a:lnTo>
                      <a:pt x="241" y="56"/>
                    </a:lnTo>
                    <a:lnTo>
                      <a:pt x="267" y="43"/>
                    </a:lnTo>
                    <a:lnTo>
                      <a:pt x="294" y="30"/>
                    </a:lnTo>
                    <a:lnTo>
                      <a:pt x="321" y="16"/>
                    </a:lnTo>
                    <a:lnTo>
                      <a:pt x="347"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50" name="Freeform 423">
                <a:extLst>
                  <a:ext uri="{FF2B5EF4-FFF2-40B4-BE49-F238E27FC236}">
                    <a16:creationId xmlns:a16="http://schemas.microsoft.com/office/drawing/2014/main" id="{BEB0F061-A7B5-44BE-BD26-CAA0BC63DFA6}"/>
                  </a:ext>
                </a:extLst>
              </p:cNvPr>
              <p:cNvSpPr>
                <a:spLocks/>
              </p:cNvSpPr>
              <p:nvPr/>
            </p:nvSpPr>
            <p:spPr bwMode="auto">
              <a:xfrm>
                <a:off x="2311" y="1918"/>
                <a:ext cx="170" cy="187"/>
              </a:xfrm>
              <a:custGeom>
                <a:avLst/>
                <a:gdLst>
                  <a:gd name="T0" fmla="*/ 170 w 170"/>
                  <a:gd name="T1" fmla="*/ 0 h 187"/>
                  <a:gd name="T2" fmla="*/ 74 w 170"/>
                  <a:gd name="T3" fmla="*/ 16 h 187"/>
                  <a:gd name="T4" fmla="*/ 32 w 170"/>
                  <a:gd name="T5" fmla="*/ 51 h 187"/>
                  <a:gd name="T6" fmla="*/ 5 w 170"/>
                  <a:gd name="T7" fmla="*/ 93 h 187"/>
                  <a:gd name="T8" fmla="*/ 0 w 170"/>
                  <a:gd name="T9" fmla="*/ 128 h 187"/>
                  <a:gd name="T10" fmla="*/ 16 w 170"/>
                  <a:gd name="T11" fmla="*/ 160 h 187"/>
                  <a:gd name="T12" fmla="*/ 66 w 170"/>
                  <a:gd name="T13" fmla="*/ 187 h 187"/>
                </a:gdLst>
                <a:ahLst/>
                <a:cxnLst>
                  <a:cxn ang="0">
                    <a:pos x="T0" y="T1"/>
                  </a:cxn>
                  <a:cxn ang="0">
                    <a:pos x="T2" y="T3"/>
                  </a:cxn>
                  <a:cxn ang="0">
                    <a:pos x="T4" y="T5"/>
                  </a:cxn>
                  <a:cxn ang="0">
                    <a:pos x="T6" y="T7"/>
                  </a:cxn>
                  <a:cxn ang="0">
                    <a:pos x="T8" y="T9"/>
                  </a:cxn>
                  <a:cxn ang="0">
                    <a:pos x="T10" y="T11"/>
                  </a:cxn>
                  <a:cxn ang="0">
                    <a:pos x="T12" y="T13"/>
                  </a:cxn>
                </a:cxnLst>
                <a:rect l="0" t="0" r="r" b="b"/>
                <a:pathLst>
                  <a:path w="170" h="187">
                    <a:moveTo>
                      <a:pt x="170" y="0"/>
                    </a:moveTo>
                    <a:lnTo>
                      <a:pt x="74" y="16"/>
                    </a:lnTo>
                    <a:lnTo>
                      <a:pt x="32" y="51"/>
                    </a:lnTo>
                    <a:lnTo>
                      <a:pt x="5" y="93"/>
                    </a:lnTo>
                    <a:lnTo>
                      <a:pt x="0" y="128"/>
                    </a:lnTo>
                    <a:lnTo>
                      <a:pt x="16" y="160"/>
                    </a:lnTo>
                    <a:lnTo>
                      <a:pt x="66" y="187"/>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51" name="Line 424">
                <a:extLst>
                  <a:ext uri="{FF2B5EF4-FFF2-40B4-BE49-F238E27FC236}">
                    <a16:creationId xmlns:a16="http://schemas.microsoft.com/office/drawing/2014/main" id="{653F93DE-EE3D-425D-83CA-5EB01AFBCFBC}"/>
                  </a:ext>
                </a:extLst>
              </p:cNvPr>
              <p:cNvSpPr>
                <a:spLocks noChangeShapeType="1"/>
              </p:cNvSpPr>
              <p:nvPr/>
            </p:nvSpPr>
            <p:spPr bwMode="auto">
              <a:xfrm>
                <a:off x="2455" y="1921"/>
                <a:ext cx="5"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2" name="Line 425">
                <a:extLst>
                  <a:ext uri="{FF2B5EF4-FFF2-40B4-BE49-F238E27FC236}">
                    <a16:creationId xmlns:a16="http://schemas.microsoft.com/office/drawing/2014/main" id="{2B716C15-C284-4033-8949-1E3B39416154}"/>
                  </a:ext>
                </a:extLst>
              </p:cNvPr>
              <p:cNvSpPr>
                <a:spLocks noChangeShapeType="1"/>
              </p:cNvSpPr>
              <p:nvPr/>
            </p:nvSpPr>
            <p:spPr bwMode="auto">
              <a:xfrm>
                <a:off x="2431" y="1926"/>
                <a:ext cx="5"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3" name="Line 426">
                <a:extLst>
                  <a:ext uri="{FF2B5EF4-FFF2-40B4-BE49-F238E27FC236}">
                    <a16:creationId xmlns:a16="http://schemas.microsoft.com/office/drawing/2014/main" id="{94C3F5E1-D26B-4E87-800C-62195F407731}"/>
                  </a:ext>
                </a:extLst>
              </p:cNvPr>
              <p:cNvSpPr>
                <a:spLocks noChangeShapeType="1"/>
              </p:cNvSpPr>
              <p:nvPr/>
            </p:nvSpPr>
            <p:spPr bwMode="auto">
              <a:xfrm>
                <a:off x="2396" y="1934"/>
                <a:ext cx="16" cy="2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4" name="Line 427">
                <a:extLst>
                  <a:ext uri="{FF2B5EF4-FFF2-40B4-BE49-F238E27FC236}">
                    <a16:creationId xmlns:a16="http://schemas.microsoft.com/office/drawing/2014/main" id="{950A555C-2A0D-4A46-A5EB-0D2B54F32376}"/>
                  </a:ext>
                </a:extLst>
              </p:cNvPr>
              <p:cNvSpPr>
                <a:spLocks noChangeShapeType="1"/>
              </p:cNvSpPr>
              <p:nvPr/>
            </p:nvSpPr>
            <p:spPr bwMode="auto">
              <a:xfrm>
                <a:off x="2369" y="1947"/>
                <a:ext cx="22" cy="1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5" name="Line 428">
                <a:extLst>
                  <a:ext uri="{FF2B5EF4-FFF2-40B4-BE49-F238E27FC236}">
                    <a16:creationId xmlns:a16="http://schemas.microsoft.com/office/drawing/2014/main" id="{7E6E7A6A-21AB-410E-A8EE-D9556F3988BA}"/>
                  </a:ext>
                </a:extLst>
              </p:cNvPr>
              <p:cNvSpPr>
                <a:spLocks noChangeShapeType="1"/>
              </p:cNvSpPr>
              <p:nvPr/>
            </p:nvSpPr>
            <p:spPr bwMode="auto">
              <a:xfrm>
                <a:off x="2353" y="1963"/>
                <a:ext cx="24"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6" name="Line 429">
                <a:extLst>
                  <a:ext uri="{FF2B5EF4-FFF2-40B4-BE49-F238E27FC236}">
                    <a16:creationId xmlns:a16="http://schemas.microsoft.com/office/drawing/2014/main" id="{B9A2489E-38AF-46EC-8462-0FF31E0A9258}"/>
                  </a:ext>
                </a:extLst>
              </p:cNvPr>
              <p:cNvSpPr>
                <a:spLocks noChangeShapeType="1"/>
              </p:cNvSpPr>
              <p:nvPr/>
            </p:nvSpPr>
            <p:spPr bwMode="auto">
              <a:xfrm>
                <a:off x="2337" y="1982"/>
                <a:ext cx="24"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7" name="Line 430">
                <a:extLst>
                  <a:ext uri="{FF2B5EF4-FFF2-40B4-BE49-F238E27FC236}">
                    <a16:creationId xmlns:a16="http://schemas.microsoft.com/office/drawing/2014/main" id="{8C4A3AF8-C509-46FC-A7EE-595893333512}"/>
                  </a:ext>
                </a:extLst>
              </p:cNvPr>
              <p:cNvSpPr>
                <a:spLocks noChangeShapeType="1"/>
              </p:cNvSpPr>
              <p:nvPr/>
            </p:nvSpPr>
            <p:spPr bwMode="auto">
              <a:xfrm>
                <a:off x="2327" y="1995"/>
                <a:ext cx="29"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8" name="Line 431">
                <a:extLst>
                  <a:ext uri="{FF2B5EF4-FFF2-40B4-BE49-F238E27FC236}">
                    <a16:creationId xmlns:a16="http://schemas.microsoft.com/office/drawing/2014/main" id="{A91EEF45-940B-4612-B923-6E503C389D7D}"/>
                  </a:ext>
                </a:extLst>
              </p:cNvPr>
              <p:cNvSpPr>
                <a:spLocks noChangeShapeType="1"/>
              </p:cNvSpPr>
              <p:nvPr/>
            </p:nvSpPr>
            <p:spPr bwMode="auto">
              <a:xfrm>
                <a:off x="2316" y="2022"/>
                <a:ext cx="40"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59" name="Line 432">
                <a:extLst>
                  <a:ext uri="{FF2B5EF4-FFF2-40B4-BE49-F238E27FC236}">
                    <a16:creationId xmlns:a16="http://schemas.microsoft.com/office/drawing/2014/main" id="{5DC61B5B-31E0-420D-B6EC-6ED475A84BEF}"/>
                  </a:ext>
                </a:extLst>
              </p:cNvPr>
              <p:cNvSpPr>
                <a:spLocks noChangeShapeType="1"/>
              </p:cNvSpPr>
              <p:nvPr/>
            </p:nvSpPr>
            <p:spPr bwMode="auto">
              <a:xfrm>
                <a:off x="2311" y="2046"/>
                <a:ext cx="48"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0" name="Line 433">
                <a:extLst>
                  <a:ext uri="{FF2B5EF4-FFF2-40B4-BE49-F238E27FC236}">
                    <a16:creationId xmlns:a16="http://schemas.microsoft.com/office/drawing/2014/main" id="{617C3F10-6FD5-4482-9780-A6FDDB63FA43}"/>
                  </a:ext>
                </a:extLst>
              </p:cNvPr>
              <p:cNvSpPr>
                <a:spLocks noChangeShapeType="1"/>
              </p:cNvSpPr>
              <p:nvPr/>
            </p:nvSpPr>
            <p:spPr bwMode="auto">
              <a:xfrm>
                <a:off x="2329" y="2073"/>
                <a:ext cx="35"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1" name="Line 434">
                <a:extLst>
                  <a:ext uri="{FF2B5EF4-FFF2-40B4-BE49-F238E27FC236}">
                    <a16:creationId xmlns:a16="http://schemas.microsoft.com/office/drawing/2014/main" id="{5CC76F08-1D53-435C-8DBD-7531656E4DF4}"/>
                  </a:ext>
                </a:extLst>
              </p:cNvPr>
              <p:cNvSpPr>
                <a:spLocks noChangeShapeType="1"/>
              </p:cNvSpPr>
              <p:nvPr/>
            </p:nvSpPr>
            <p:spPr bwMode="auto">
              <a:xfrm>
                <a:off x="2356" y="2089"/>
                <a:ext cx="16"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2" name="Freeform 435">
                <a:extLst>
                  <a:ext uri="{FF2B5EF4-FFF2-40B4-BE49-F238E27FC236}">
                    <a16:creationId xmlns:a16="http://schemas.microsoft.com/office/drawing/2014/main" id="{918F1191-C209-4B78-B112-CE2E83CFA96E}"/>
                  </a:ext>
                </a:extLst>
              </p:cNvPr>
              <p:cNvSpPr>
                <a:spLocks/>
              </p:cNvSpPr>
              <p:nvPr/>
            </p:nvSpPr>
            <p:spPr bwMode="auto">
              <a:xfrm>
                <a:off x="637" y="1779"/>
                <a:ext cx="213" cy="115"/>
              </a:xfrm>
              <a:custGeom>
                <a:avLst/>
                <a:gdLst>
                  <a:gd name="T0" fmla="*/ 213 w 213"/>
                  <a:gd name="T1" fmla="*/ 0 h 115"/>
                  <a:gd name="T2" fmla="*/ 186 w 213"/>
                  <a:gd name="T3" fmla="*/ 0 h 115"/>
                  <a:gd name="T4" fmla="*/ 160 w 213"/>
                  <a:gd name="T5" fmla="*/ 0 h 115"/>
                  <a:gd name="T6" fmla="*/ 125 w 213"/>
                  <a:gd name="T7" fmla="*/ 8 h 115"/>
                  <a:gd name="T8" fmla="*/ 93 w 213"/>
                  <a:gd name="T9" fmla="*/ 19 h 115"/>
                  <a:gd name="T10" fmla="*/ 72 w 213"/>
                  <a:gd name="T11" fmla="*/ 27 h 115"/>
                  <a:gd name="T12" fmla="*/ 50 w 213"/>
                  <a:gd name="T13" fmla="*/ 37 h 115"/>
                  <a:gd name="T14" fmla="*/ 29 w 213"/>
                  <a:gd name="T15" fmla="*/ 48 h 115"/>
                  <a:gd name="T16" fmla="*/ 8 w 213"/>
                  <a:gd name="T17" fmla="*/ 56 h 115"/>
                  <a:gd name="T18" fmla="*/ 5 w 213"/>
                  <a:gd name="T19" fmla="*/ 67 h 115"/>
                  <a:gd name="T20" fmla="*/ 0 w 213"/>
                  <a:gd name="T21" fmla="*/ 75 h 115"/>
                  <a:gd name="T22" fmla="*/ 2 w 213"/>
                  <a:gd name="T23" fmla="*/ 85 h 115"/>
                  <a:gd name="T24" fmla="*/ 5 w 213"/>
                  <a:gd name="T25" fmla="*/ 96 h 115"/>
                  <a:gd name="T26" fmla="*/ 37 w 213"/>
                  <a:gd name="T27" fmla="*/ 104 h 115"/>
                  <a:gd name="T28" fmla="*/ 66 w 213"/>
                  <a:gd name="T29" fmla="*/ 112 h 115"/>
                  <a:gd name="T30" fmla="*/ 106 w 213"/>
                  <a:gd name="T31" fmla="*/ 115 h 115"/>
                  <a:gd name="T32" fmla="*/ 146 w 213"/>
                  <a:gd name="T33" fmla="*/ 115 h 115"/>
                  <a:gd name="T34" fmla="*/ 141 w 213"/>
                  <a:gd name="T35" fmla="*/ 104 h 115"/>
                  <a:gd name="T36" fmla="*/ 136 w 213"/>
                  <a:gd name="T37" fmla="*/ 91 h 115"/>
                  <a:gd name="T38" fmla="*/ 136 w 213"/>
                  <a:gd name="T39" fmla="*/ 72 h 115"/>
                  <a:gd name="T40" fmla="*/ 133 w 213"/>
                  <a:gd name="T41" fmla="*/ 53 h 115"/>
                  <a:gd name="T42" fmla="*/ 141 w 213"/>
                  <a:gd name="T43" fmla="*/ 43 h 115"/>
                  <a:gd name="T44" fmla="*/ 146 w 213"/>
                  <a:gd name="T45" fmla="*/ 32 h 115"/>
                  <a:gd name="T46" fmla="*/ 181 w 213"/>
                  <a:gd name="T47" fmla="*/ 16 h 115"/>
                  <a:gd name="T48" fmla="*/ 213 w 213"/>
                  <a:gd name="T4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5">
                    <a:moveTo>
                      <a:pt x="213" y="0"/>
                    </a:moveTo>
                    <a:lnTo>
                      <a:pt x="186" y="0"/>
                    </a:lnTo>
                    <a:lnTo>
                      <a:pt x="160" y="0"/>
                    </a:lnTo>
                    <a:lnTo>
                      <a:pt x="125" y="8"/>
                    </a:lnTo>
                    <a:lnTo>
                      <a:pt x="93" y="19"/>
                    </a:lnTo>
                    <a:lnTo>
                      <a:pt x="72" y="27"/>
                    </a:lnTo>
                    <a:lnTo>
                      <a:pt x="50" y="37"/>
                    </a:lnTo>
                    <a:lnTo>
                      <a:pt x="29" y="48"/>
                    </a:lnTo>
                    <a:lnTo>
                      <a:pt x="8" y="56"/>
                    </a:lnTo>
                    <a:lnTo>
                      <a:pt x="5" y="67"/>
                    </a:lnTo>
                    <a:lnTo>
                      <a:pt x="0" y="75"/>
                    </a:lnTo>
                    <a:lnTo>
                      <a:pt x="2" y="85"/>
                    </a:lnTo>
                    <a:lnTo>
                      <a:pt x="5" y="96"/>
                    </a:lnTo>
                    <a:lnTo>
                      <a:pt x="37" y="104"/>
                    </a:lnTo>
                    <a:lnTo>
                      <a:pt x="66" y="112"/>
                    </a:lnTo>
                    <a:lnTo>
                      <a:pt x="106" y="115"/>
                    </a:lnTo>
                    <a:lnTo>
                      <a:pt x="146" y="115"/>
                    </a:lnTo>
                    <a:lnTo>
                      <a:pt x="141" y="104"/>
                    </a:lnTo>
                    <a:lnTo>
                      <a:pt x="136" y="91"/>
                    </a:lnTo>
                    <a:lnTo>
                      <a:pt x="136" y="72"/>
                    </a:lnTo>
                    <a:lnTo>
                      <a:pt x="133" y="53"/>
                    </a:lnTo>
                    <a:lnTo>
                      <a:pt x="141" y="43"/>
                    </a:lnTo>
                    <a:lnTo>
                      <a:pt x="146" y="32"/>
                    </a:lnTo>
                    <a:lnTo>
                      <a:pt x="181" y="16"/>
                    </a:lnTo>
                    <a:lnTo>
                      <a:pt x="213"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3" name="Freeform 436">
                <a:extLst>
                  <a:ext uri="{FF2B5EF4-FFF2-40B4-BE49-F238E27FC236}">
                    <a16:creationId xmlns:a16="http://schemas.microsoft.com/office/drawing/2014/main" id="{18A728A5-D2A7-4D2A-B027-2A0F4C6D197F}"/>
                  </a:ext>
                </a:extLst>
              </p:cNvPr>
              <p:cNvSpPr>
                <a:spLocks/>
              </p:cNvSpPr>
              <p:nvPr/>
            </p:nvSpPr>
            <p:spPr bwMode="auto">
              <a:xfrm>
                <a:off x="637" y="1779"/>
                <a:ext cx="213" cy="115"/>
              </a:xfrm>
              <a:custGeom>
                <a:avLst/>
                <a:gdLst>
                  <a:gd name="T0" fmla="*/ 213 w 213"/>
                  <a:gd name="T1" fmla="*/ 0 h 115"/>
                  <a:gd name="T2" fmla="*/ 186 w 213"/>
                  <a:gd name="T3" fmla="*/ 0 h 115"/>
                  <a:gd name="T4" fmla="*/ 160 w 213"/>
                  <a:gd name="T5" fmla="*/ 0 h 115"/>
                  <a:gd name="T6" fmla="*/ 125 w 213"/>
                  <a:gd name="T7" fmla="*/ 8 h 115"/>
                  <a:gd name="T8" fmla="*/ 93 w 213"/>
                  <a:gd name="T9" fmla="*/ 19 h 115"/>
                  <a:gd name="T10" fmla="*/ 72 w 213"/>
                  <a:gd name="T11" fmla="*/ 27 h 115"/>
                  <a:gd name="T12" fmla="*/ 50 w 213"/>
                  <a:gd name="T13" fmla="*/ 37 h 115"/>
                  <a:gd name="T14" fmla="*/ 29 w 213"/>
                  <a:gd name="T15" fmla="*/ 48 h 115"/>
                  <a:gd name="T16" fmla="*/ 8 w 213"/>
                  <a:gd name="T17" fmla="*/ 56 h 115"/>
                  <a:gd name="T18" fmla="*/ 5 w 213"/>
                  <a:gd name="T19" fmla="*/ 67 h 115"/>
                  <a:gd name="T20" fmla="*/ 0 w 213"/>
                  <a:gd name="T21" fmla="*/ 75 h 115"/>
                  <a:gd name="T22" fmla="*/ 2 w 213"/>
                  <a:gd name="T23" fmla="*/ 85 h 115"/>
                  <a:gd name="T24" fmla="*/ 5 w 213"/>
                  <a:gd name="T25" fmla="*/ 96 h 115"/>
                  <a:gd name="T26" fmla="*/ 37 w 213"/>
                  <a:gd name="T27" fmla="*/ 104 h 115"/>
                  <a:gd name="T28" fmla="*/ 66 w 213"/>
                  <a:gd name="T29" fmla="*/ 112 h 115"/>
                  <a:gd name="T30" fmla="*/ 106 w 213"/>
                  <a:gd name="T31" fmla="*/ 115 h 115"/>
                  <a:gd name="T32" fmla="*/ 146 w 213"/>
                  <a:gd name="T33" fmla="*/ 115 h 115"/>
                  <a:gd name="T34" fmla="*/ 141 w 213"/>
                  <a:gd name="T35" fmla="*/ 104 h 115"/>
                  <a:gd name="T36" fmla="*/ 136 w 213"/>
                  <a:gd name="T37" fmla="*/ 91 h 115"/>
                  <a:gd name="T38" fmla="*/ 136 w 213"/>
                  <a:gd name="T39" fmla="*/ 72 h 115"/>
                  <a:gd name="T40" fmla="*/ 133 w 213"/>
                  <a:gd name="T41" fmla="*/ 53 h 115"/>
                  <a:gd name="T42" fmla="*/ 141 w 213"/>
                  <a:gd name="T43" fmla="*/ 43 h 115"/>
                  <a:gd name="T44" fmla="*/ 146 w 213"/>
                  <a:gd name="T45" fmla="*/ 32 h 115"/>
                  <a:gd name="T46" fmla="*/ 181 w 213"/>
                  <a:gd name="T47" fmla="*/ 16 h 115"/>
                  <a:gd name="T48" fmla="*/ 213 w 213"/>
                  <a:gd name="T4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5">
                    <a:moveTo>
                      <a:pt x="213" y="0"/>
                    </a:moveTo>
                    <a:lnTo>
                      <a:pt x="186" y="0"/>
                    </a:lnTo>
                    <a:lnTo>
                      <a:pt x="160" y="0"/>
                    </a:lnTo>
                    <a:lnTo>
                      <a:pt x="125" y="8"/>
                    </a:lnTo>
                    <a:lnTo>
                      <a:pt x="93" y="19"/>
                    </a:lnTo>
                    <a:lnTo>
                      <a:pt x="72" y="27"/>
                    </a:lnTo>
                    <a:lnTo>
                      <a:pt x="50" y="37"/>
                    </a:lnTo>
                    <a:lnTo>
                      <a:pt x="29" y="48"/>
                    </a:lnTo>
                    <a:lnTo>
                      <a:pt x="8" y="56"/>
                    </a:lnTo>
                    <a:lnTo>
                      <a:pt x="5" y="67"/>
                    </a:lnTo>
                    <a:lnTo>
                      <a:pt x="0" y="75"/>
                    </a:lnTo>
                    <a:lnTo>
                      <a:pt x="2" y="85"/>
                    </a:lnTo>
                    <a:lnTo>
                      <a:pt x="5" y="96"/>
                    </a:lnTo>
                    <a:lnTo>
                      <a:pt x="37" y="104"/>
                    </a:lnTo>
                    <a:lnTo>
                      <a:pt x="66" y="112"/>
                    </a:lnTo>
                    <a:lnTo>
                      <a:pt x="106" y="115"/>
                    </a:lnTo>
                    <a:lnTo>
                      <a:pt x="146" y="115"/>
                    </a:lnTo>
                    <a:lnTo>
                      <a:pt x="141" y="104"/>
                    </a:lnTo>
                    <a:lnTo>
                      <a:pt x="136" y="91"/>
                    </a:lnTo>
                    <a:lnTo>
                      <a:pt x="136" y="72"/>
                    </a:lnTo>
                    <a:lnTo>
                      <a:pt x="133" y="53"/>
                    </a:lnTo>
                    <a:lnTo>
                      <a:pt x="141" y="43"/>
                    </a:lnTo>
                    <a:lnTo>
                      <a:pt x="146" y="32"/>
                    </a:lnTo>
                    <a:lnTo>
                      <a:pt x="181" y="16"/>
                    </a:lnTo>
                    <a:lnTo>
                      <a:pt x="213"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4" name="Freeform 437">
                <a:extLst>
                  <a:ext uri="{FF2B5EF4-FFF2-40B4-BE49-F238E27FC236}">
                    <a16:creationId xmlns:a16="http://schemas.microsoft.com/office/drawing/2014/main" id="{81B63B3E-449A-4309-B46C-1087DE9BAAB8}"/>
                  </a:ext>
                </a:extLst>
              </p:cNvPr>
              <p:cNvSpPr>
                <a:spLocks/>
              </p:cNvSpPr>
              <p:nvPr/>
            </p:nvSpPr>
            <p:spPr bwMode="auto">
              <a:xfrm>
                <a:off x="741" y="1779"/>
                <a:ext cx="104" cy="115"/>
              </a:xfrm>
              <a:custGeom>
                <a:avLst/>
                <a:gdLst>
                  <a:gd name="T0" fmla="*/ 104 w 104"/>
                  <a:gd name="T1" fmla="*/ 0 h 115"/>
                  <a:gd name="T2" fmla="*/ 45 w 104"/>
                  <a:gd name="T3" fmla="*/ 11 h 115"/>
                  <a:gd name="T4" fmla="*/ 18 w 104"/>
                  <a:gd name="T5" fmla="*/ 32 h 115"/>
                  <a:gd name="T6" fmla="*/ 2 w 104"/>
                  <a:gd name="T7" fmla="*/ 56 h 115"/>
                  <a:gd name="T8" fmla="*/ 0 w 104"/>
                  <a:gd name="T9" fmla="*/ 77 h 115"/>
                  <a:gd name="T10" fmla="*/ 10 w 104"/>
                  <a:gd name="T11" fmla="*/ 99 h 115"/>
                  <a:gd name="T12" fmla="*/ 40 w 104"/>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104" h="115">
                    <a:moveTo>
                      <a:pt x="104" y="0"/>
                    </a:moveTo>
                    <a:lnTo>
                      <a:pt x="45" y="11"/>
                    </a:lnTo>
                    <a:lnTo>
                      <a:pt x="18" y="32"/>
                    </a:lnTo>
                    <a:lnTo>
                      <a:pt x="2" y="56"/>
                    </a:lnTo>
                    <a:lnTo>
                      <a:pt x="0" y="77"/>
                    </a:lnTo>
                    <a:lnTo>
                      <a:pt x="10" y="99"/>
                    </a:lnTo>
                    <a:lnTo>
                      <a:pt x="40" y="11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5" name="Line 438">
                <a:extLst>
                  <a:ext uri="{FF2B5EF4-FFF2-40B4-BE49-F238E27FC236}">
                    <a16:creationId xmlns:a16="http://schemas.microsoft.com/office/drawing/2014/main" id="{40E3D688-72E8-4D09-A1C9-69B34210AA99}"/>
                  </a:ext>
                </a:extLst>
              </p:cNvPr>
              <p:cNvSpPr>
                <a:spLocks noChangeShapeType="1"/>
              </p:cNvSpPr>
              <p:nvPr/>
            </p:nvSpPr>
            <p:spPr bwMode="auto">
              <a:xfrm>
                <a:off x="829" y="1782"/>
                <a:ext cx="2"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6" name="Line 439">
                <a:extLst>
                  <a:ext uri="{FF2B5EF4-FFF2-40B4-BE49-F238E27FC236}">
                    <a16:creationId xmlns:a16="http://schemas.microsoft.com/office/drawing/2014/main" id="{1C95FF4A-8B9E-443A-B5D0-5EDC9EDC0558}"/>
                  </a:ext>
                </a:extLst>
              </p:cNvPr>
              <p:cNvSpPr>
                <a:spLocks noChangeShapeType="1"/>
              </p:cNvSpPr>
              <p:nvPr/>
            </p:nvSpPr>
            <p:spPr bwMode="auto">
              <a:xfrm>
                <a:off x="813" y="1784"/>
                <a:ext cx="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7" name="Line 440">
                <a:extLst>
                  <a:ext uri="{FF2B5EF4-FFF2-40B4-BE49-F238E27FC236}">
                    <a16:creationId xmlns:a16="http://schemas.microsoft.com/office/drawing/2014/main" id="{881D8DF3-31AA-4AC8-9109-DD6DA1038542}"/>
                  </a:ext>
                </a:extLst>
              </p:cNvPr>
              <p:cNvSpPr>
                <a:spLocks noChangeShapeType="1"/>
              </p:cNvSpPr>
              <p:nvPr/>
            </p:nvSpPr>
            <p:spPr bwMode="auto">
              <a:xfrm>
                <a:off x="794" y="1790"/>
                <a:ext cx="8"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8" name="Line 441">
                <a:extLst>
                  <a:ext uri="{FF2B5EF4-FFF2-40B4-BE49-F238E27FC236}">
                    <a16:creationId xmlns:a16="http://schemas.microsoft.com/office/drawing/2014/main" id="{339B6217-4A9C-430D-832D-5E34D05FF0FD}"/>
                  </a:ext>
                </a:extLst>
              </p:cNvPr>
              <p:cNvSpPr>
                <a:spLocks noChangeShapeType="1"/>
              </p:cNvSpPr>
              <p:nvPr/>
            </p:nvSpPr>
            <p:spPr bwMode="auto">
              <a:xfrm>
                <a:off x="778" y="1798"/>
                <a:ext cx="11"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9" name="Line 442">
                <a:extLst>
                  <a:ext uri="{FF2B5EF4-FFF2-40B4-BE49-F238E27FC236}">
                    <a16:creationId xmlns:a16="http://schemas.microsoft.com/office/drawing/2014/main" id="{9D13CCB9-D2CB-46C5-BFDB-CF29DB43F23D}"/>
                  </a:ext>
                </a:extLst>
              </p:cNvPr>
              <p:cNvSpPr>
                <a:spLocks noChangeShapeType="1"/>
              </p:cNvSpPr>
              <p:nvPr/>
            </p:nvSpPr>
            <p:spPr bwMode="auto">
              <a:xfrm>
                <a:off x="765" y="1806"/>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0" name="Line 443">
                <a:extLst>
                  <a:ext uri="{FF2B5EF4-FFF2-40B4-BE49-F238E27FC236}">
                    <a16:creationId xmlns:a16="http://schemas.microsoft.com/office/drawing/2014/main" id="{DEB54023-B4DD-49E1-AC5F-7828916CFBC2}"/>
                  </a:ext>
                </a:extLst>
              </p:cNvPr>
              <p:cNvSpPr>
                <a:spLocks noChangeShapeType="1"/>
              </p:cNvSpPr>
              <p:nvPr/>
            </p:nvSpPr>
            <p:spPr bwMode="auto">
              <a:xfrm>
                <a:off x="757" y="1816"/>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1" name="Line 444">
                <a:extLst>
                  <a:ext uri="{FF2B5EF4-FFF2-40B4-BE49-F238E27FC236}">
                    <a16:creationId xmlns:a16="http://schemas.microsoft.com/office/drawing/2014/main" id="{8A7F6F9B-7E78-40C5-BBF6-5729926C5F63}"/>
                  </a:ext>
                </a:extLst>
              </p:cNvPr>
              <p:cNvSpPr>
                <a:spLocks noChangeShapeType="1"/>
              </p:cNvSpPr>
              <p:nvPr/>
            </p:nvSpPr>
            <p:spPr bwMode="auto">
              <a:xfrm>
                <a:off x="749" y="1827"/>
                <a:ext cx="18"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2" name="Line 445">
                <a:extLst>
                  <a:ext uri="{FF2B5EF4-FFF2-40B4-BE49-F238E27FC236}">
                    <a16:creationId xmlns:a16="http://schemas.microsoft.com/office/drawing/2014/main" id="{24AEB337-F17D-4F00-BD8B-7114DDF25ADE}"/>
                  </a:ext>
                </a:extLst>
              </p:cNvPr>
              <p:cNvSpPr>
                <a:spLocks noChangeShapeType="1"/>
              </p:cNvSpPr>
              <p:nvPr/>
            </p:nvSpPr>
            <p:spPr bwMode="auto">
              <a:xfrm>
                <a:off x="743" y="1843"/>
                <a:ext cx="24"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3" name="Line 446">
                <a:extLst>
                  <a:ext uri="{FF2B5EF4-FFF2-40B4-BE49-F238E27FC236}">
                    <a16:creationId xmlns:a16="http://schemas.microsoft.com/office/drawing/2014/main" id="{8CA0229E-D4DF-40CA-B832-8AEDFF41AF92}"/>
                  </a:ext>
                </a:extLst>
              </p:cNvPr>
              <p:cNvSpPr>
                <a:spLocks noChangeShapeType="1"/>
              </p:cNvSpPr>
              <p:nvPr/>
            </p:nvSpPr>
            <p:spPr bwMode="auto">
              <a:xfrm>
                <a:off x="741" y="1856"/>
                <a:ext cx="29"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4" name="Line 447">
                <a:extLst>
                  <a:ext uri="{FF2B5EF4-FFF2-40B4-BE49-F238E27FC236}">
                    <a16:creationId xmlns:a16="http://schemas.microsoft.com/office/drawing/2014/main" id="{5BF26591-9398-4963-8016-25FF3B889B27}"/>
                  </a:ext>
                </a:extLst>
              </p:cNvPr>
              <p:cNvSpPr>
                <a:spLocks noChangeShapeType="1"/>
              </p:cNvSpPr>
              <p:nvPr/>
            </p:nvSpPr>
            <p:spPr bwMode="auto">
              <a:xfrm>
                <a:off x="751" y="1875"/>
                <a:ext cx="22"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5" name="Line 448">
                <a:extLst>
                  <a:ext uri="{FF2B5EF4-FFF2-40B4-BE49-F238E27FC236}">
                    <a16:creationId xmlns:a16="http://schemas.microsoft.com/office/drawing/2014/main" id="{FB6AA42C-18F0-406D-9883-AA94CB75E9AF}"/>
                  </a:ext>
                </a:extLst>
              </p:cNvPr>
              <p:cNvSpPr>
                <a:spLocks noChangeShapeType="1"/>
              </p:cNvSpPr>
              <p:nvPr/>
            </p:nvSpPr>
            <p:spPr bwMode="auto">
              <a:xfrm>
                <a:off x="767" y="1883"/>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76" name="Freeform 449">
                <a:extLst>
                  <a:ext uri="{FF2B5EF4-FFF2-40B4-BE49-F238E27FC236}">
                    <a16:creationId xmlns:a16="http://schemas.microsoft.com/office/drawing/2014/main" id="{10F6865F-B397-4E53-ADE9-A7D7C9E9F1E8}"/>
                  </a:ext>
                </a:extLst>
              </p:cNvPr>
              <p:cNvSpPr>
                <a:spLocks/>
              </p:cNvSpPr>
              <p:nvPr/>
            </p:nvSpPr>
            <p:spPr bwMode="auto">
              <a:xfrm>
                <a:off x="370" y="1955"/>
                <a:ext cx="213" cy="118"/>
              </a:xfrm>
              <a:custGeom>
                <a:avLst/>
                <a:gdLst>
                  <a:gd name="T0" fmla="*/ 213 w 213"/>
                  <a:gd name="T1" fmla="*/ 0 h 118"/>
                  <a:gd name="T2" fmla="*/ 186 w 213"/>
                  <a:gd name="T3" fmla="*/ 0 h 118"/>
                  <a:gd name="T4" fmla="*/ 160 w 213"/>
                  <a:gd name="T5" fmla="*/ 0 h 118"/>
                  <a:gd name="T6" fmla="*/ 125 w 213"/>
                  <a:gd name="T7" fmla="*/ 11 h 118"/>
                  <a:gd name="T8" fmla="*/ 93 w 213"/>
                  <a:gd name="T9" fmla="*/ 22 h 118"/>
                  <a:gd name="T10" fmla="*/ 72 w 213"/>
                  <a:gd name="T11" fmla="*/ 30 h 118"/>
                  <a:gd name="T12" fmla="*/ 50 w 213"/>
                  <a:gd name="T13" fmla="*/ 40 h 118"/>
                  <a:gd name="T14" fmla="*/ 29 w 213"/>
                  <a:gd name="T15" fmla="*/ 51 h 118"/>
                  <a:gd name="T16" fmla="*/ 8 w 213"/>
                  <a:gd name="T17" fmla="*/ 59 h 118"/>
                  <a:gd name="T18" fmla="*/ 5 w 213"/>
                  <a:gd name="T19" fmla="*/ 67 h 118"/>
                  <a:gd name="T20" fmla="*/ 0 w 213"/>
                  <a:gd name="T21" fmla="*/ 78 h 118"/>
                  <a:gd name="T22" fmla="*/ 2 w 213"/>
                  <a:gd name="T23" fmla="*/ 88 h 118"/>
                  <a:gd name="T24" fmla="*/ 5 w 213"/>
                  <a:gd name="T25" fmla="*/ 99 h 118"/>
                  <a:gd name="T26" fmla="*/ 37 w 213"/>
                  <a:gd name="T27" fmla="*/ 107 h 118"/>
                  <a:gd name="T28" fmla="*/ 66 w 213"/>
                  <a:gd name="T29" fmla="*/ 115 h 118"/>
                  <a:gd name="T30" fmla="*/ 106 w 213"/>
                  <a:gd name="T31" fmla="*/ 115 h 118"/>
                  <a:gd name="T32" fmla="*/ 146 w 213"/>
                  <a:gd name="T33" fmla="*/ 118 h 118"/>
                  <a:gd name="T34" fmla="*/ 141 w 213"/>
                  <a:gd name="T35" fmla="*/ 104 h 118"/>
                  <a:gd name="T36" fmla="*/ 136 w 213"/>
                  <a:gd name="T37" fmla="*/ 94 h 118"/>
                  <a:gd name="T38" fmla="*/ 136 w 213"/>
                  <a:gd name="T39" fmla="*/ 75 h 118"/>
                  <a:gd name="T40" fmla="*/ 133 w 213"/>
                  <a:gd name="T41" fmla="*/ 56 h 118"/>
                  <a:gd name="T42" fmla="*/ 141 w 213"/>
                  <a:gd name="T43" fmla="*/ 46 h 118"/>
                  <a:gd name="T44" fmla="*/ 146 w 213"/>
                  <a:gd name="T45" fmla="*/ 35 h 118"/>
                  <a:gd name="T46" fmla="*/ 181 w 213"/>
                  <a:gd name="T47" fmla="*/ 19 h 118"/>
                  <a:gd name="T48" fmla="*/ 213 w 213"/>
                  <a:gd name="T4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8">
                    <a:moveTo>
                      <a:pt x="213" y="0"/>
                    </a:moveTo>
                    <a:lnTo>
                      <a:pt x="186" y="0"/>
                    </a:lnTo>
                    <a:lnTo>
                      <a:pt x="160" y="0"/>
                    </a:lnTo>
                    <a:lnTo>
                      <a:pt x="125" y="11"/>
                    </a:lnTo>
                    <a:lnTo>
                      <a:pt x="93" y="22"/>
                    </a:lnTo>
                    <a:lnTo>
                      <a:pt x="72" y="30"/>
                    </a:lnTo>
                    <a:lnTo>
                      <a:pt x="50" y="40"/>
                    </a:lnTo>
                    <a:lnTo>
                      <a:pt x="29" y="51"/>
                    </a:lnTo>
                    <a:lnTo>
                      <a:pt x="8" y="59"/>
                    </a:lnTo>
                    <a:lnTo>
                      <a:pt x="5" y="67"/>
                    </a:lnTo>
                    <a:lnTo>
                      <a:pt x="0" y="78"/>
                    </a:lnTo>
                    <a:lnTo>
                      <a:pt x="2" y="88"/>
                    </a:lnTo>
                    <a:lnTo>
                      <a:pt x="5" y="99"/>
                    </a:lnTo>
                    <a:lnTo>
                      <a:pt x="37" y="107"/>
                    </a:lnTo>
                    <a:lnTo>
                      <a:pt x="66" y="115"/>
                    </a:lnTo>
                    <a:lnTo>
                      <a:pt x="106" y="115"/>
                    </a:lnTo>
                    <a:lnTo>
                      <a:pt x="146" y="118"/>
                    </a:lnTo>
                    <a:lnTo>
                      <a:pt x="141" y="104"/>
                    </a:lnTo>
                    <a:lnTo>
                      <a:pt x="136" y="94"/>
                    </a:lnTo>
                    <a:lnTo>
                      <a:pt x="136" y="75"/>
                    </a:lnTo>
                    <a:lnTo>
                      <a:pt x="133" y="56"/>
                    </a:lnTo>
                    <a:lnTo>
                      <a:pt x="141" y="46"/>
                    </a:lnTo>
                    <a:lnTo>
                      <a:pt x="146" y="35"/>
                    </a:lnTo>
                    <a:lnTo>
                      <a:pt x="181" y="19"/>
                    </a:lnTo>
                    <a:lnTo>
                      <a:pt x="213"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7" name="Freeform 450">
                <a:extLst>
                  <a:ext uri="{FF2B5EF4-FFF2-40B4-BE49-F238E27FC236}">
                    <a16:creationId xmlns:a16="http://schemas.microsoft.com/office/drawing/2014/main" id="{2E88D462-31F6-411E-B117-0F76E5D8FF48}"/>
                  </a:ext>
                </a:extLst>
              </p:cNvPr>
              <p:cNvSpPr>
                <a:spLocks/>
              </p:cNvSpPr>
              <p:nvPr/>
            </p:nvSpPr>
            <p:spPr bwMode="auto">
              <a:xfrm>
                <a:off x="370" y="1955"/>
                <a:ext cx="213" cy="118"/>
              </a:xfrm>
              <a:custGeom>
                <a:avLst/>
                <a:gdLst>
                  <a:gd name="T0" fmla="*/ 213 w 213"/>
                  <a:gd name="T1" fmla="*/ 0 h 118"/>
                  <a:gd name="T2" fmla="*/ 186 w 213"/>
                  <a:gd name="T3" fmla="*/ 0 h 118"/>
                  <a:gd name="T4" fmla="*/ 160 w 213"/>
                  <a:gd name="T5" fmla="*/ 0 h 118"/>
                  <a:gd name="T6" fmla="*/ 125 w 213"/>
                  <a:gd name="T7" fmla="*/ 11 h 118"/>
                  <a:gd name="T8" fmla="*/ 93 w 213"/>
                  <a:gd name="T9" fmla="*/ 22 h 118"/>
                  <a:gd name="T10" fmla="*/ 72 w 213"/>
                  <a:gd name="T11" fmla="*/ 30 h 118"/>
                  <a:gd name="T12" fmla="*/ 50 w 213"/>
                  <a:gd name="T13" fmla="*/ 40 h 118"/>
                  <a:gd name="T14" fmla="*/ 29 w 213"/>
                  <a:gd name="T15" fmla="*/ 51 h 118"/>
                  <a:gd name="T16" fmla="*/ 8 w 213"/>
                  <a:gd name="T17" fmla="*/ 59 h 118"/>
                  <a:gd name="T18" fmla="*/ 5 w 213"/>
                  <a:gd name="T19" fmla="*/ 67 h 118"/>
                  <a:gd name="T20" fmla="*/ 0 w 213"/>
                  <a:gd name="T21" fmla="*/ 78 h 118"/>
                  <a:gd name="T22" fmla="*/ 2 w 213"/>
                  <a:gd name="T23" fmla="*/ 88 h 118"/>
                  <a:gd name="T24" fmla="*/ 5 w 213"/>
                  <a:gd name="T25" fmla="*/ 99 h 118"/>
                  <a:gd name="T26" fmla="*/ 37 w 213"/>
                  <a:gd name="T27" fmla="*/ 107 h 118"/>
                  <a:gd name="T28" fmla="*/ 66 w 213"/>
                  <a:gd name="T29" fmla="*/ 115 h 118"/>
                  <a:gd name="T30" fmla="*/ 106 w 213"/>
                  <a:gd name="T31" fmla="*/ 115 h 118"/>
                  <a:gd name="T32" fmla="*/ 146 w 213"/>
                  <a:gd name="T33" fmla="*/ 118 h 118"/>
                  <a:gd name="T34" fmla="*/ 141 w 213"/>
                  <a:gd name="T35" fmla="*/ 104 h 118"/>
                  <a:gd name="T36" fmla="*/ 136 w 213"/>
                  <a:gd name="T37" fmla="*/ 94 h 118"/>
                  <a:gd name="T38" fmla="*/ 136 w 213"/>
                  <a:gd name="T39" fmla="*/ 75 h 118"/>
                  <a:gd name="T40" fmla="*/ 133 w 213"/>
                  <a:gd name="T41" fmla="*/ 56 h 118"/>
                  <a:gd name="T42" fmla="*/ 141 w 213"/>
                  <a:gd name="T43" fmla="*/ 46 h 118"/>
                  <a:gd name="T44" fmla="*/ 146 w 213"/>
                  <a:gd name="T45" fmla="*/ 35 h 118"/>
                  <a:gd name="T46" fmla="*/ 181 w 213"/>
                  <a:gd name="T47" fmla="*/ 19 h 118"/>
                  <a:gd name="T48" fmla="*/ 213 w 213"/>
                  <a:gd name="T4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 h="118">
                    <a:moveTo>
                      <a:pt x="213" y="0"/>
                    </a:moveTo>
                    <a:lnTo>
                      <a:pt x="186" y="0"/>
                    </a:lnTo>
                    <a:lnTo>
                      <a:pt x="160" y="0"/>
                    </a:lnTo>
                    <a:lnTo>
                      <a:pt x="125" y="11"/>
                    </a:lnTo>
                    <a:lnTo>
                      <a:pt x="93" y="22"/>
                    </a:lnTo>
                    <a:lnTo>
                      <a:pt x="72" y="30"/>
                    </a:lnTo>
                    <a:lnTo>
                      <a:pt x="50" y="40"/>
                    </a:lnTo>
                    <a:lnTo>
                      <a:pt x="29" y="51"/>
                    </a:lnTo>
                    <a:lnTo>
                      <a:pt x="8" y="59"/>
                    </a:lnTo>
                    <a:lnTo>
                      <a:pt x="5" y="67"/>
                    </a:lnTo>
                    <a:lnTo>
                      <a:pt x="0" y="78"/>
                    </a:lnTo>
                    <a:lnTo>
                      <a:pt x="2" y="88"/>
                    </a:lnTo>
                    <a:lnTo>
                      <a:pt x="5" y="99"/>
                    </a:lnTo>
                    <a:lnTo>
                      <a:pt x="37" y="107"/>
                    </a:lnTo>
                    <a:lnTo>
                      <a:pt x="66" y="115"/>
                    </a:lnTo>
                    <a:lnTo>
                      <a:pt x="106" y="115"/>
                    </a:lnTo>
                    <a:lnTo>
                      <a:pt x="146" y="118"/>
                    </a:lnTo>
                    <a:lnTo>
                      <a:pt x="141" y="104"/>
                    </a:lnTo>
                    <a:lnTo>
                      <a:pt x="136" y="94"/>
                    </a:lnTo>
                    <a:lnTo>
                      <a:pt x="136" y="75"/>
                    </a:lnTo>
                    <a:lnTo>
                      <a:pt x="133" y="56"/>
                    </a:lnTo>
                    <a:lnTo>
                      <a:pt x="141" y="46"/>
                    </a:lnTo>
                    <a:lnTo>
                      <a:pt x="146" y="35"/>
                    </a:lnTo>
                    <a:lnTo>
                      <a:pt x="181" y="19"/>
                    </a:lnTo>
                    <a:lnTo>
                      <a:pt x="213"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78" name="Freeform 451">
                <a:extLst>
                  <a:ext uri="{FF2B5EF4-FFF2-40B4-BE49-F238E27FC236}">
                    <a16:creationId xmlns:a16="http://schemas.microsoft.com/office/drawing/2014/main" id="{5193F0E1-FA3E-4D0C-94B3-68571C2A1C04}"/>
                  </a:ext>
                </a:extLst>
              </p:cNvPr>
              <p:cNvSpPr>
                <a:spLocks/>
              </p:cNvSpPr>
              <p:nvPr/>
            </p:nvSpPr>
            <p:spPr bwMode="auto">
              <a:xfrm>
                <a:off x="474" y="1958"/>
                <a:ext cx="104" cy="115"/>
              </a:xfrm>
              <a:custGeom>
                <a:avLst/>
                <a:gdLst>
                  <a:gd name="T0" fmla="*/ 104 w 104"/>
                  <a:gd name="T1" fmla="*/ 0 h 115"/>
                  <a:gd name="T2" fmla="*/ 45 w 104"/>
                  <a:gd name="T3" fmla="*/ 11 h 115"/>
                  <a:gd name="T4" fmla="*/ 18 w 104"/>
                  <a:gd name="T5" fmla="*/ 32 h 115"/>
                  <a:gd name="T6" fmla="*/ 2 w 104"/>
                  <a:gd name="T7" fmla="*/ 56 h 115"/>
                  <a:gd name="T8" fmla="*/ 0 w 104"/>
                  <a:gd name="T9" fmla="*/ 77 h 115"/>
                  <a:gd name="T10" fmla="*/ 10 w 104"/>
                  <a:gd name="T11" fmla="*/ 99 h 115"/>
                  <a:gd name="T12" fmla="*/ 40 w 104"/>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104" h="115">
                    <a:moveTo>
                      <a:pt x="104" y="0"/>
                    </a:moveTo>
                    <a:lnTo>
                      <a:pt x="45" y="11"/>
                    </a:lnTo>
                    <a:lnTo>
                      <a:pt x="18" y="32"/>
                    </a:lnTo>
                    <a:lnTo>
                      <a:pt x="2" y="56"/>
                    </a:lnTo>
                    <a:lnTo>
                      <a:pt x="0" y="77"/>
                    </a:lnTo>
                    <a:lnTo>
                      <a:pt x="10" y="99"/>
                    </a:lnTo>
                    <a:lnTo>
                      <a:pt x="40" y="11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79" name="Line 452">
                <a:extLst>
                  <a:ext uri="{FF2B5EF4-FFF2-40B4-BE49-F238E27FC236}">
                    <a16:creationId xmlns:a16="http://schemas.microsoft.com/office/drawing/2014/main" id="{8B0A4952-9F67-44B0-A87B-AF1FFE572E0B}"/>
                  </a:ext>
                </a:extLst>
              </p:cNvPr>
              <p:cNvSpPr>
                <a:spLocks noChangeShapeType="1"/>
              </p:cNvSpPr>
              <p:nvPr/>
            </p:nvSpPr>
            <p:spPr bwMode="auto">
              <a:xfrm>
                <a:off x="562" y="1961"/>
                <a:ext cx="2"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0" name="Line 453">
                <a:extLst>
                  <a:ext uri="{FF2B5EF4-FFF2-40B4-BE49-F238E27FC236}">
                    <a16:creationId xmlns:a16="http://schemas.microsoft.com/office/drawing/2014/main" id="{5B6912B1-76BC-4F75-8A3C-D5DA8B1232DF}"/>
                  </a:ext>
                </a:extLst>
              </p:cNvPr>
              <p:cNvSpPr>
                <a:spLocks noChangeShapeType="1"/>
              </p:cNvSpPr>
              <p:nvPr/>
            </p:nvSpPr>
            <p:spPr bwMode="auto">
              <a:xfrm>
                <a:off x="546" y="1963"/>
                <a:ext cx="2"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1" name="Line 454">
                <a:extLst>
                  <a:ext uri="{FF2B5EF4-FFF2-40B4-BE49-F238E27FC236}">
                    <a16:creationId xmlns:a16="http://schemas.microsoft.com/office/drawing/2014/main" id="{05036A70-9747-46EF-8341-C80B4583D076}"/>
                  </a:ext>
                </a:extLst>
              </p:cNvPr>
              <p:cNvSpPr>
                <a:spLocks noChangeShapeType="1"/>
              </p:cNvSpPr>
              <p:nvPr/>
            </p:nvSpPr>
            <p:spPr bwMode="auto">
              <a:xfrm>
                <a:off x="524" y="1969"/>
                <a:ext cx="11"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2" name="Line 455">
                <a:extLst>
                  <a:ext uri="{FF2B5EF4-FFF2-40B4-BE49-F238E27FC236}">
                    <a16:creationId xmlns:a16="http://schemas.microsoft.com/office/drawing/2014/main" id="{2800C358-05E3-42CA-A5DF-9A21BFE8646A}"/>
                  </a:ext>
                </a:extLst>
              </p:cNvPr>
              <p:cNvSpPr>
                <a:spLocks noChangeShapeType="1"/>
              </p:cNvSpPr>
              <p:nvPr/>
            </p:nvSpPr>
            <p:spPr bwMode="auto">
              <a:xfrm>
                <a:off x="508" y="1977"/>
                <a:ext cx="14" cy="1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3" name="Line 456">
                <a:extLst>
                  <a:ext uri="{FF2B5EF4-FFF2-40B4-BE49-F238E27FC236}">
                    <a16:creationId xmlns:a16="http://schemas.microsoft.com/office/drawing/2014/main" id="{07237D16-4954-41A3-9820-A3F929736C2A}"/>
                  </a:ext>
                </a:extLst>
              </p:cNvPr>
              <p:cNvSpPr>
                <a:spLocks noChangeShapeType="1"/>
              </p:cNvSpPr>
              <p:nvPr/>
            </p:nvSpPr>
            <p:spPr bwMode="auto">
              <a:xfrm>
                <a:off x="498" y="1985"/>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4" name="Line 457">
                <a:extLst>
                  <a:ext uri="{FF2B5EF4-FFF2-40B4-BE49-F238E27FC236}">
                    <a16:creationId xmlns:a16="http://schemas.microsoft.com/office/drawing/2014/main" id="{2F14328C-A416-47AD-ACF3-9C632A606978}"/>
                  </a:ext>
                </a:extLst>
              </p:cNvPr>
              <p:cNvSpPr>
                <a:spLocks noChangeShapeType="1"/>
              </p:cNvSpPr>
              <p:nvPr/>
            </p:nvSpPr>
            <p:spPr bwMode="auto">
              <a:xfrm>
                <a:off x="490" y="1995"/>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5" name="Line 458">
                <a:extLst>
                  <a:ext uri="{FF2B5EF4-FFF2-40B4-BE49-F238E27FC236}">
                    <a16:creationId xmlns:a16="http://schemas.microsoft.com/office/drawing/2014/main" id="{95D338D8-3345-4D53-AC8A-435F20464862}"/>
                  </a:ext>
                </a:extLst>
              </p:cNvPr>
              <p:cNvSpPr>
                <a:spLocks noChangeShapeType="1"/>
              </p:cNvSpPr>
              <p:nvPr/>
            </p:nvSpPr>
            <p:spPr bwMode="auto">
              <a:xfrm>
                <a:off x="482" y="2006"/>
                <a:ext cx="18"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6" name="Line 459">
                <a:extLst>
                  <a:ext uri="{FF2B5EF4-FFF2-40B4-BE49-F238E27FC236}">
                    <a16:creationId xmlns:a16="http://schemas.microsoft.com/office/drawing/2014/main" id="{E1186FD4-4412-47C7-B38D-1794EBF3C72E}"/>
                  </a:ext>
                </a:extLst>
              </p:cNvPr>
              <p:cNvSpPr>
                <a:spLocks noChangeShapeType="1"/>
              </p:cNvSpPr>
              <p:nvPr/>
            </p:nvSpPr>
            <p:spPr bwMode="auto">
              <a:xfrm>
                <a:off x="476" y="2022"/>
                <a:ext cx="24"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7" name="Line 460">
                <a:extLst>
                  <a:ext uri="{FF2B5EF4-FFF2-40B4-BE49-F238E27FC236}">
                    <a16:creationId xmlns:a16="http://schemas.microsoft.com/office/drawing/2014/main" id="{A33308D5-148F-4783-9E34-0F937DF67E95}"/>
                  </a:ext>
                </a:extLst>
              </p:cNvPr>
              <p:cNvSpPr>
                <a:spLocks noChangeShapeType="1"/>
              </p:cNvSpPr>
              <p:nvPr/>
            </p:nvSpPr>
            <p:spPr bwMode="auto">
              <a:xfrm>
                <a:off x="474" y="2035"/>
                <a:ext cx="29"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8" name="Line 461">
                <a:extLst>
                  <a:ext uri="{FF2B5EF4-FFF2-40B4-BE49-F238E27FC236}">
                    <a16:creationId xmlns:a16="http://schemas.microsoft.com/office/drawing/2014/main" id="{CB97AD3D-8DC9-4988-9373-B23411EBAABE}"/>
                  </a:ext>
                </a:extLst>
              </p:cNvPr>
              <p:cNvSpPr>
                <a:spLocks noChangeShapeType="1"/>
              </p:cNvSpPr>
              <p:nvPr/>
            </p:nvSpPr>
            <p:spPr bwMode="auto">
              <a:xfrm>
                <a:off x="484" y="2051"/>
                <a:ext cx="22"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89" name="Line 462">
                <a:extLst>
                  <a:ext uri="{FF2B5EF4-FFF2-40B4-BE49-F238E27FC236}">
                    <a16:creationId xmlns:a16="http://schemas.microsoft.com/office/drawing/2014/main" id="{03CF00A3-2974-41A1-950C-40C31F79840A}"/>
                  </a:ext>
                </a:extLst>
              </p:cNvPr>
              <p:cNvSpPr>
                <a:spLocks noChangeShapeType="1"/>
              </p:cNvSpPr>
              <p:nvPr/>
            </p:nvSpPr>
            <p:spPr bwMode="auto">
              <a:xfrm>
                <a:off x="500" y="2062"/>
                <a:ext cx="11"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0" name="Freeform 463">
                <a:extLst>
                  <a:ext uri="{FF2B5EF4-FFF2-40B4-BE49-F238E27FC236}">
                    <a16:creationId xmlns:a16="http://schemas.microsoft.com/office/drawing/2014/main" id="{85964240-9F31-4FC3-BEBC-024852B0CFC9}"/>
                  </a:ext>
                </a:extLst>
              </p:cNvPr>
              <p:cNvSpPr>
                <a:spLocks/>
              </p:cNvSpPr>
              <p:nvPr/>
            </p:nvSpPr>
            <p:spPr bwMode="auto">
              <a:xfrm>
                <a:off x="944" y="1624"/>
                <a:ext cx="176" cy="96"/>
              </a:xfrm>
              <a:custGeom>
                <a:avLst/>
                <a:gdLst>
                  <a:gd name="T0" fmla="*/ 176 w 176"/>
                  <a:gd name="T1" fmla="*/ 0 h 96"/>
                  <a:gd name="T2" fmla="*/ 154 w 176"/>
                  <a:gd name="T3" fmla="*/ 0 h 96"/>
                  <a:gd name="T4" fmla="*/ 133 w 176"/>
                  <a:gd name="T5" fmla="*/ 0 h 96"/>
                  <a:gd name="T6" fmla="*/ 104 w 176"/>
                  <a:gd name="T7" fmla="*/ 8 h 96"/>
                  <a:gd name="T8" fmla="*/ 77 w 176"/>
                  <a:gd name="T9" fmla="*/ 16 h 96"/>
                  <a:gd name="T10" fmla="*/ 42 w 176"/>
                  <a:gd name="T11" fmla="*/ 32 h 96"/>
                  <a:gd name="T12" fmla="*/ 8 w 176"/>
                  <a:gd name="T13" fmla="*/ 48 h 96"/>
                  <a:gd name="T14" fmla="*/ 2 w 176"/>
                  <a:gd name="T15" fmla="*/ 56 h 96"/>
                  <a:gd name="T16" fmla="*/ 0 w 176"/>
                  <a:gd name="T17" fmla="*/ 61 h 96"/>
                  <a:gd name="T18" fmla="*/ 2 w 176"/>
                  <a:gd name="T19" fmla="*/ 72 h 96"/>
                  <a:gd name="T20" fmla="*/ 5 w 176"/>
                  <a:gd name="T21" fmla="*/ 80 h 96"/>
                  <a:gd name="T22" fmla="*/ 29 w 176"/>
                  <a:gd name="T23" fmla="*/ 85 h 96"/>
                  <a:gd name="T24" fmla="*/ 56 w 176"/>
                  <a:gd name="T25" fmla="*/ 93 h 96"/>
                  <a:gd name="T26" fmla="*/ 88 w 176"/>
                  <a:gd name="T27" fmla="*/ 93 h 96"/>
                  <a:gd name="T28" fmla="*/ 120 w 176"/>
                  <a:gd name="T29" fmla="*/ 96 h 96"/>
                  <a:gd name="T30" fmla="*/ 117 w 176"/>
                  <a:gd name="T31" fmla="*/ 85 h 96"/>
                  <a:gd name="T32" fmla="*/ 114 w 176"/>
                  <a:gd name="T33" fmla="*/ 75 h 96"/>
                  <a:gd name="T34" fmla="*/ 112 w 176"/>
                  <a:gd name="T35" fmla="*/ 59 h 96"/>
                  <a:gd name="T36" fmla="*/ 109 w 176"/>
                  <a:gd name="T37" fmla="*/ 43 h 96"/>
                  <a:gd name="T38" fmla="*/ 117 w 176"/>
                  <a:gd name="T39" fmla="*/ 35 h 96"/>
                  <a:gd name="T40" fmla="*/ 122 w 176"/>
                  <a:gd name="T41" fmla="*/ 27 h 96"/>
                  <a:gd name="T42" fmla="*/ 149 w 176"/>
                  <a:gd name="T43" fmla="*/ 13 h 96"/>
                  <a:gd name="T44" fmla="*/ 176 w 176"/>
                  <a:gd name="T45"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6" h="96">
                    <a:moveTo>
                      <a:pt x="176" y="0"/>
                    </a:moveTo>
                    <a:lnTo>
                      <a:pt x="154" y="0"/>
                    </a:lnTo>
                    <a:lnTo>
                      <a:pt x="133" y="0"/>
                    </a:lnTo>
                    <a:lnTo>
                      <a:pt x="104" y="8"/>
                    </a:lnTo>
                    <a:lnTo>
                      <a:pt x="77" y="16"/>
                    </a:lnTo>
                    <a:lnTo>
                      <a:pt x="42" y="32"/>
                    </a:lnTo>
                    <a:lnTo>
                      <a:pt x="8" y="48"/>
                    </a:lnTo>
                    <a:lnTo>
                      <a:pt x="2" y="56"/>
                    </a:lnTo>
                    <a:lnTo>
                      <a:pt x="0" y="61"/>
                    </a:lnTo>
                    <a:lnTo>
                      <a:pt x="2" y="72"/>
                    </a:lnTo>
                    <a:lnTo>
                      <a:pt x="5" y="80"/>
                    </a:lnTo>
                    <a:lnTo>
                      <a:pt x="29" y="85"/>
                    </a:lnTo>
                    <a:lnTo>
                      <a:pt x="56" y="93"/>
                    </a:lnTo>
                    <a:lnTo>
                      <a:pt x="88" y="93"/>
                    </a:lnTo>
                    <a:lnTo>
                      <a:pt x="120" y="96"/>
                    </a:lnTo>
                    <a:lnTo>
                      <a:pt x="117" y="85"/>
                    </a:lnTo>
                    <a:lnTo>
                      <a:pt x="114" y="75"/>
                    </a:lnTo>
                    <a:lnTo>
                      <a:pt x="112" y="59"/>
                    </a:lnTo>
                    <a:lnTo>
                      <a:pt x="109" y="43"/>
                    </a:lnTo>
                    <a:lnTo>
                      <a:pt x="117" y="35"/>
                    </a:lnTo>
                    <a:lnTo>
                      <a:pt x="122" y="27"/>
                    </a:lnTo>
                    <a:lnTo>
                      <a:pt x="149" y="13"/>
                    </a:lnTo>
                    <a:lnTo>
                      <a:pt x="176"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1" name="Freeform 464">
                <a:extLst>
                  <a:ext uri="{FF2B5EF4-FFF2-40B4-BE49-F238E27FC236}">
                    <a16:creationId xmlns:a16="http://schemas.microsoft.com/office/drawing/2014/main" id="{A41BA2FA-A12C-4EBE-A4E9-1F2AC97A27CB}"/>
                  </a:ext>
                </a:extLst>
              </p:cNvPr>
              <p:cNvSpPr>
                <a:spLocks/>
              </p:cNvSpPr>
              <p:nvPr/>
            </p:nvSpPr>
            <p:spPr bwMode="auto">
              <a:xfrm>
                <a:off x="944" y="1624"/>
                <a:ext cx="176" cy="96"/>
              </a:xfrm>
              <a:custGeom>
                <a:avLst/>
                <a:gdLst>
                  <a:gd name="T0" fmla="*/ 176 w 176"/>
                  <a:gd name="T1" fmla="*/ 0 h 96"/>
                  <a:gd name="T2" fmla="*/ 154 w 176"/>
                  <a:gd name="T3" fmla="*/ 0 h 96"/>
                  <a:gd name="T4" fmla="*/ 133 w 176"/>
                  <a:gd name="T5" fmla="*/ 0 h 96"/>
                  <a:gd name="T6" fmla="*/ 104 w 176"/>
                  <a:gd name="T7" fmla="*/ 8 h 96"/>
                  <a:gd name="T8" fmla="*/ 77 w 176"/>
                  <a:gd name="T9" fmla="*/ 16 h 96"/>
                  <a:gd name="T10" fmla="*/ 42 w 176"/>
                  <a:gd name="T11" fmla="*/ 32 h 96"/>
                  <a:gd name="T12" fmla="*/ 8 w 176"/>
                  <a:gd name="T13" fmla="*/ 48 h 96"/>
                  <a:gd name="T14" fmla="*/ 2 w 176"/>
                  <a:gd name="T15" fmla="*/ 56 h 96"/>
                  <a:gd name="T16" fmla="*/ 0 w 176"/>
                  <a:gd name="T17" fmla="*/ 61 h 96"/>
                  <a:gd name="T18" fmla="*/ 2 w 176"/>
                  <a:gd name="T19" fmla="*/ 72 h 96"/>
                  <a:gd name="T20" fmla="*/ 5 w 176"/>
                  <a:gd name="T21" fmla="*/ 80 h 96"/>
                  <a:gd name="T22" fmla="*/ 29 w 176"/>
                  <a:gd name="T23" fmla="*/ 85 h 96"/>
                  <a:gd name="T24" fmla="*/ 56 w 176"/>
                  <a:gd name="T25" fmla="*/ 93 h 96"/>
                  <a:gd name="T26" fmla="*/ 88 w 176"/>
                  <a:gd name="T27" fmla="*/ 93 h 96"/>
                  <a:gd name="T28" fmla="*/ 120 w 176"/>
                  <a:gd name="T29" fmla="*/ 96 h 96"/>
                  <a:gd name="T30" fmla="*/ 117 w 176"/>
                  <a:gd name="T31" fmla="*/ 85 h 96"/>
                  <a:gd name="T32" fmla="*/ 114 w 176"/>
                  <a:gd name="T33" fmla="*/ 75 h 96"/>
                  <a:gd name="T34" fmla="*/ 112 w 176"/>
                  <a:gd name="T35" fmla="*/ 59 h 96"/>
                  <a:gd name="T36" fmla="*/ 109 w 176"/>
                  <a:gd name="T37" fmla="*/ 43 h 96"/>
                  <a:gd name="T38" fmla="*/ 117 w 176"/>
                  <a:gd name="T39" fmla="*/ 35 h 96"/>
                  <a:gd name="T40" fmla="*/ 122 w 176"/>
                  <a:gd name="T41" fmla="*/ 27 h 96"/>
                  <a:gd name="T42" fmla="*/ 149 w 176"/>
                  <a:gd name="T43" fmla="*/ 13 h 96"/>
                  <a:gd name="T44" fmla="*/ 176 w 176"/>
                  <a:gd name="T45"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6" h="96">
                    <a:moveTo>
                      <a:pt x="176" y="0"/>
                    </a:moveTo>
                    <a:lnTo>
                      <a:pt x="154" y="0"/>
                    </a:lnTo>
                    <a:lnTo>
                      <a:pt x="133" y="0"/>
                    </a:lnTo>
                    <a:lnTo>
                      <a:pt x="104" y="8"/>
                    </a:lnTo>
                    <a:lnTo>
                      <a:pt x="77" y="16"/>
                    </a:lnTo>
                    <a:lnTo>
                      <a:pt x="42" y="32"/>
                    </a:lnTo>
                    <a:lnTo>
                      <a:pt x="8" y="48"/>
                    </a:lnTo>
                    <a:lnTo>
                      <a:pt x="2" y="56"/>
                    </a:lnTo>
                    <a:lnTo>
                      <a:pt x="0" y="61"/>
                    </a:lnTo>
                    <a:lnTo>
                      <a:pt x="2" y="72"/>
                    </a:lnTo>
                    <a:lnTo>
                      <a:pt x="5" y="80"/>
                    </a:lnTo>
                    <a:lnTo>
                      <a:pt x="29" y="85"/>
                    </a:lnTo>
                    <a:lnTo>
                      <a:pt x="56" y="93"/>
                    </a:lnTo>
                    <a:lnTo>
                      <a:pt x="88" y="93"/>
                    </a:lnTo>
                    <a:lnTo>
                      <a:pt x="120" y="96"/>
                    </a:lnTo>
                    <a:lnTo>
                      <a:pt x="117" y="85"/>
                    </a:lnTo>
                    <a:lnTo>
                      <a:pt x="114" y="75"/>
                    </a:lnTo>
                    <a:lnTo>
                      <a:pt x="112" y="59"/>
                    </a:lnTo>
                    <a:lnTo>
                      <a:pt x="109" y="43"/>
                    </a:lnTo>
                    <a:lnTo>
                      <a:pt x="117" y="35"/>
                    </a:lnTo>
                    <a:lnTo>
                      <a:pt x="122" y="27"/>
                    </a:lnTo>
                    <a:lnTo>
                      <a:pt x="149" y="13"/>
                    </a:lnTo>
                    <a:lnTo>
                      <a:pt x="176"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92" name="Freeform 465">
                <a:extLst>
                  <a:ext uri="{FF2B5EF4-FFF2-40B4-BE49-F238E27FC236}">
                    <a16:creationId xmlns:a16="http://schemas.microsoft.com/office/drawing/2014/main" id="{4C3DEE0F-A92C-483A-977F-351FD9CEACF9}"/>
                  </a:ext>
                </a:extLst>
              </p:cNvPr>
              <p:cNvSpPr>
                <a:spLocks/>
              </p:cNvSpPr>
              <p:nvPr/>
            </p:nvSpPr>
            <p:spPr bwMode="auto">
              <a:xfrm>
                <a:off x="1029" y="1624"/>
                <a:ext cx="88" cy="96"/>
              </a:xfrm>
              <a:custGeom>
                <a:avLst/>
                <a:gdLst>
                  <a:gd name="T0" fmla="*/ 88 w 88"/>
                  <a:gd name="T1" fmla="*/ 0 h 96"/>
                  <a:gd name="T2" fmla="*/ 40 w 88"/>
                  <a:gd name="T3" fmla="*/ 8 h 96"/>
                  <a:gd name="T4" fmla="*/ 16 w 88"/>
                  <a:gd name="T5" fmla="*/ 27 h 96"/>
                  <a:gd name="T6" fmla="*/ 3 w 88"/>
                  <a:gd name="T7" fmla="*/ 48 h 96"/>
                  <a:gd name="T8" fmla="*/ 0 w 88"/>
                  <a:gd name="T9" fmla="*/ 64 h 96"/>
                  <a:gd name="T10" fmla="*/ 11 w 88"/>
                  <a:gd name="T11" fmla="*/ 83 h 96"/>
                  <a:gd name="T12" fmla="*/ 35 w 8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88" h="96">
                    <a:moveTo>
                      <a:pt x="88" y="0"/>
                    </a:moveTo>
                    <a:lnTo>
                      <a:pt x="40" y="8"/>
                    </a:lnTo>
                    <a:lnTo>
                      <a:pt x="16" y="27"/>
                    </a:lnTo>
                    <a:lnTo>
                      <a:pt x="3" y="48"/>
                    </a:lnTo>
                    <a:lnTo>
                      <a:pt x="0" y="64"/>
                    </a:lnTo>
                    <a:lnTo>
                      <a:pt x="11" y="83"/>
                    </a:lnTo>
                    <a:lnTo>
                      <a:pt x="35" y="9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93" name="Line 466">
                <a:extLst>
                  <a:ext uri="{FF2B5EF4-FFF2-40B4-BE49-F238E27FC236}">
                    <a16:creationId xmlns:a16="http://schemas.microsoft.com/office/drawing/2014/main" id="{D428D2F5-59E3-43D8-B917-9B8ADF427225}"/>
                  </a:ext>
                </a:extLst>
              </p:cNvPr>
              <p:cNvSpPr>
                <a:spLocks noChangeShapeType="1"/>
              </p:cNvSpPr>
              <p:nvPr/>
            </p:nvSpPr>
            <p:spPr bwMode="auto">
              <a:xfrm>
                <a:off x="1104" y="1627"/>
                <a:ext cx="2" cy="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4" name="Line 467">
                <a:extLst>
                  <a:ext uri="{FF2B5EF4-FFF2-40B4-BE49-F238E27FC236}">
                    <a16:creationId xmlns:a16="http://schemas.microsoft.com/office/drawing/2014/main" id="{3CCA3064-2AAB-4BC6-9663-D38A4E44AA75}"/>
                  </a:ext>
                </a:extLst>
              </p:cNvPr>
              <p:cNvSpPr>
                <a:spLocks noChangeShapeType="1"/>
              </p:cNvSpPr>
              <p:nvPr/>
            </p:nvSpPr>
            <p:spPr bwMode="auto">
              <a:xfrm>
                <a:off x="1090" y="1629"/>
                <a:ext cx="3"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5" name="Line 468">
                <a:extLst>
                  <a:ext uri="{FF2B5EF4-FFF2-40B4-BE49-F238E27FC236}">
                    <a16:creationId xmlns:a16="http://schemas.microsoft.com/office/drawing/2014/main" id="{8DDF48E7-8E32-4785-9E9F-69C07A5D9459}"/>
                  </a:ext>
                </a:extLst>
              </p:cNvPr>
              <p:cNvSpPr>
                <a:spLocks noChangeShapeType="1"/>
              </p:cNvSpPr>
              <p:nvPr/>
            </p:nvSpPr>
            <p:spPr bwMode="auto">
              <a:xfrm>
                <a:off x="1074" y="1632"/>
                <a:ext cx="6" cy="1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6" name="Line 469">
                <a:extLst>
                  <a:ext uri="{FF2B5EF4-FFF2-40B4-BE49-F238E27FC236}">
                    <a16:creationId xmlns:a16="http://schemas.microsoft.com/office/drawing/2014/main" id="{493C9655-07A0-4077-8B95-E2FFD00D1DC6}"/>
                  </a:ext>
                </a:extLst>
              </p:cNvPr>
              <p:cNvSpPr>
                <a:spLocks noChangeShapeType="1"/>
              </p:cNvSpPr>
              <p:nvPr/>
            </p:nvSpPr>
            <p:spPr bwMode="auto">
              <a:xfrm>
                <a:off x="1061" y="1640"/>
                <a:ext cx="1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7" name="Line 470">
                <a:extLst>
                  <a:ext uri="{FF2B5EF4-FFF2-40B4-BE49-F238E27FC236}">
                    <a16:creationId xmlns:a16="http://schemas.microsoft.com/office/drawing/2014/main" id="{3160C241-C7A3-4B20-BFD5-BA5474C414A0}"/>
                  </a:ext>
                </a:extLst>
              </p:cNvPr>
              <p:cNvSpPr>
                <a:spLocks noChangeShapeType="1"/>
              </p:cNvSpPr>
              <p:nvPr/>
            </p:nvSpPr>
            <p:spPr bwMode="auto">
              <a:xfrm>
                <a:off x="1050" y="1648"/>
                <a:ext cx="14"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8" name="Line 471">
                <a:extLst>
                  <a:ext uri="{FF2B5EF4-FFF2-40B4-BE49-F238E27FC236}">
                    <a16:creationId xmlns:a16="http://schemas.microsoft.com/office/drawing/2014/main" id="{94C60378-57D3-4E0E-A480-9953C88D53C7}"/>
                  </a:ext>
                </a:extLst>
              </p:cNvPr>
              <p:cNvSpPr>
                <a:spLocks noChangeShapeType="1"/>
              </p:cNvSpPr>
              <p:nvPr/>
            </p:nvSpPr>
            <p:spPr bwMode="auto">
              <a:xfrm>
                <a:off x="1045" y="1656"/>
                <a:ext cx="11"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99" name="Line 472">
                <a:extLst>
                  <a:ext uri="{FF2B5EF4-FFF2-40B4-BE49-F238E27FC236}">
                    <a16:creationId xmlns:a16="http://schemas.microsoft.com/office/drawing/2014/main" id="{771BADC0-841F-4182-B532-667361ADB3DB}"/>
                  </a:ext>
                </a:extLst>
              </p:cNvPr>
              <p:cNvSpPr>
                <a:spLocks noChangeShapeType="1"/>
              </p:cNvSpPr>
              <p:nvPr/>
            </p:nvSpPr>
            <p:spPr bwMode="auto">
              <a:xfrm>
                <a:off x="1037" y="1664"/>
                <a:ext cx="1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0" name="Line 473">
                <a:extLst>
                  <a:ext uri="{FF2B5EF4-FFF2-40B4-BE49-F238E27FC236}">
                    <a16:creationId xmlns:a16="http://schemas.microsoft.com/office/drawing/2014/main" id="{8CB7F9D6-A0B3-4CE8-B651-0D9779881A4C}"/>
                  </a:ext>
                </a:extLst>
              </p:cNvPr>
              <p:cNvSpPr>
                <a:spLocks noChangeShapeType="1"/>
              </p:cNvSpPr>
              <p:nvPr/>
            </p:nvSpPr>
            <p:spPr bwMode="auto">
              <a:xfrm>
                <a:off x="1032" y="1677"/>
                <a:ext cx="21"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1" name="Line 474">
                <a:extLst>
                  <a:ext uri="{FF2B5EF4-FFF2-40B4-BE49-F238E27FC236}">
                    <a16:creationId xmlns:a16="http://schemas.microsoft.com/office/drawing/2014/main" id="{646ACDF8-7EEC-42F3-A7F8-2349C3AAD3AE}"/>
                  </a:ext>
                </a:extLst>
              </p:cNvPr>
              <p:cNvSpPr>
                <a:spLocks noChangeShapeType="1"/>
              </p:cNvSpPr>
              <p:nvPr/>
            </p:nvSpPr>
            <p:spPr bwMode="auto">
              <a:xfrm>
                <a:off x="1029" y="1688"/>
                <a:ext cx="24"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2" name="Line 475">
                <a:extLst>
                  <a:ext uri="{FF2B5EF4-FFF2-40B4-BE49-F238E27FC236}">
                    <a16:creationId xmlns:a16="http://schemas.microsoft.com/office/drawing/2014/main" id="{AD84C34D-EF79-44FB-8E10-713CCFDF32D9}"/>
                  </a:ext>
                </a:extLst>
              </p:cNvPr>
              <p:cNvSpPr>
                <a:spLocks noChangeShapeType="1"/>
              </p:cNvSpPr>
              <p:nvPr/>
            </p:nvSpPr>
            <p:spPr bwMode="auto">
              <a:xfrm>
                <a:off x="1040" y="1704"/>
                <a:ext cx="16"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3" name="Line 476">
                <a:extLst>
                  <a:ext uri="{FF2B5EF4-FFF2-40B4-BE49-F238E27FC236}">
                    <a16:creationId xmlns:a16="http://schemas.microsoft.com/office/drawing/2014/main" id="{5B090BFD-C1DD-49B3-8EFD-DC9FB1A34534}"/>
                  </a:ext>
                </a:extLst>
              </p:cNvPr>
              <p:cNvSpPr>
                <a:spLocks noChangeShapeType="1"/>
              </p:cNvSpPr>
              <p:nvPr/>
            </p:nvSpPr>
            <p:spPr bwMode="auto">
              <a:xfrm>
                <a:off x="1053" y="1709"/>
                <a:ext cx="8"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4" name="Freeform 477">
                <a:extLst>
                  <a:ext uri="{FF2B5EF4-FFF2-40B4-BE49-F238E27FC236}">
                    <a16:creationId xmlns:a16="http://schemas.microsoft.com/office/drawing/2014/main" id="{14F81C9C-7B0E-4902-B199-EE2D68330CA5}"/>
                  </a:ext>
                </a:extLst>
              </p:cNvPr>
              <p:cNvSpPr>
                <a:spLocks/>
              </p:cNvSpPr>
              <p:nvPr/>
            </p:nvSpPr>
            <p:spPr bwMode="auto">
              <a:xfrm>
                <a:off x="1066" y="1472"/>
                <a:ext cx="131" cy="72"/>
              </a:xfrm>
              <a:custGeom>
                <a:avLst/>
                <a:gdLst>
                  <a:gd name="T0" fmla="*/ 131 w 131"/>
                  <a:gd name="T1" fmla="*/ 0 h 72"/>
                  <a:gd name="T2" fmla="*/ 115 w 131"/>
                  <a:gd name="T3" fmla="*/ 0 h 72"/>
                  <a:gd name="T4" fmla="*/ 99 w 131"/>
                  <a:gd name="T5" fmla="*/ 0 h 72"/>
                  <a:gd name="T6" fmla="*/ 78 w 131"/>
                  <a:gd name="T7" fmla="*/ 8 h 72"/>
                  <a:gd name="T8" fmla="*/ 56 w 131"/>
                  <a:gd name="T9" fmla="*/ 13 h 72"/>
                  <a:gd name="T10" fmla="*/ 32 w 131"/>
                  <a:gd name="T11" fmla="*/ 24 h 72"/>
                  <a:gd name="T12" fmla="*/ 6 w 131"/>
                  <a:gd name="T13" fmla="*/ 37 h 72"/>
                  <a:gd name="T14" fmla="*/ 3 w 131"/>
                  <a:gd name="T15" fmla="*/ 42 h 72"/>
                  <a:gd name="T16" fmla="*/ 0 w 131"/>
                  <a:gd name="T17" fmla="*/ 48 h 72"/>
                  <a:gd name="T18" fmla="*/ 3 w 131"/>
                  <a:gd name="T19" fmla="*/ 53 h 72"/>
                  <a:gd name="T20" fmla="*/ 3 w 131"/>
                  <a:gd name="T21" fmla="*/ 61 h 72"/>
                  <a:gd name="T22" fmla="*/ 22 w 131"/>
                  <a:gd name="T23" fmla="*/ 66 h 72"/>
                  <a:gd name="T24" fmla="*/ 40 w 131"/>
                  <a:gd name="T25" fmla="*/ 72 h 72"/>
                  <a:gd name="T26" fmla="*/ 67 w 131"/>
                  <a:gd name="T27" fmla="*/ 72 h 72"/>
                  <a:gd name="T28" fmla="*/ 91 w 131"/>
                  <a:gd name="T29" fmla="*/ 72 h 72"/>
                  <a:gd name="T30" fmla="*/ 88 w 131"/>
                  <a:gd name="T31" fmla="*/ 66 h 72"/>
                  <a:gd name="T32" fmla="*/ 86 w 131"/>
                  <a:gd name="T33" fmla="*/ 58 h 72"/>
                  <a:gd name="T34" fmla="*/ 83 w 131"/>
                  <a:gd name="T35" fmla="*/ 45 h 72"/>
                  <a:gd name="T36" fmla="*/ 83 w 131"/>
                  <a:gd name="T37" fmla="*/ 34 h 72"/>
                  <a:gd name="T38" fmla="*/ 86 w 131"/>
                  <a:gd name="T39" fmla="*/ 29 h 72"/>
                  <a:gd name="T40" fmla="*/ 91 w 131"/>
                  <a:gd name="T41" fmla="*/ 21 h 72"/>
                  <a:gd name="T42" fmla="*/ 113 w 131"/>
                  <a:gd name="T43" fmla="*/ 10 h 72"/>
                  <a:gd name="T44" fmla="*/ 131 w 131"/>
                  <a:gd name="T4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72">
                    <a:moveTo>
                      <a:pt x="131" y="0"/>
                    </a:moveTo>
                    <a:lnTo>
                      <a:pt x="115" y="0"/>
                    </a:lnTo>
                    <a:lnTo>
                      <a:pt x="99" y="0"/>
                    </a:lnTo>
                    <a:lnTo>
                      <a:pt x="78" y="8"/>
                    </a:lnTo>
                    <a:lnTo>
                      <a:pt x="56" y="13"/>
                    </a:lnTo>
                    <a:lnTo>
                      <a:pt x="32" y="24"/>
                    </a:lnTo>
                    <a:lnTo>
                      <a:pt x="6" y="37"/>
                    </a:lnTo>
                    <a:lnTo>
                      <a:pt x="3" y="42"/>
                    </a:lnTo>
                    <a:lnTo>
                      <a:pt x="0" y="48"/>
                    </a:lnTo>
                    <a:lnTo>
                      <a:pt x="3" y="53"/>
                    </a:lnTo>
                    <a:lnTo>
                      <a:pt x="3" y="61"/>
                    </a:lnTo>
                    <a:lnTo>
                      <a:pt x="22" y="66"/>
                    </a:lnTo>
                    <a:lnTo>
                      <a:pt x="40" y="72"/>
                    </a:lnTo>
                    <a:lnTo>
                      <a:pt x="67" y="72"/>
                    </a:lnTo>
                    <a:lnTo>
                      <a:pt x="91" y="72"/>
                    </a:lnTo>
                    <a:lnTo>
                      <a:pt x="88" y="66"/>
                    </a:lnTo>
                    <a:lnTo>
                      <a:pt x="86" y="58"/>
                    </a:lnTo>
                    <a:lnTo>
                      <a:pt x="83" y="45"/>
                    </a:lnTo>
                    <a:lnTo>
                      <a:pt x="83" y="34"/>
                    </a:lnTo>
                    <a:lnTo>
                      <a:pt x="86" y="29"/>
                    </a:lnTo>
                    <a:lnTo>
                      <a:pt x="91" y="21"/>
                    </a:lnTo>
                    <a:lnTo>
                      <a:pt x="113" y="10"/>
                    </a:lnTo>
                    <a:lnTo>
                      <a:pt x="131"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5" name="Freeform 478">
                <a:extLst>
                  <a:ext uri="{FF2B5EF4-FFF2-40B4-BE49-F238E27FC236}">
                    <a16:creationId xmlns:a16="http://schemas.microsoft.com/office/drawing/2014/main" id="{B925CF4A-16D2-4D9C-A3C1-5C373C28C0BD}"/>
                  </a:ext>
                </a:extLst>
              </p:cNvPr>
              <p:cNvSpPr>
                <a:spLocks/>
              </p:cNvSpPr>
              <p:nvPr/>
            </p:nvSpPr>
            <p:spPr bwMode="auto">
              <a:xfrm>
                <a:off x="1066" y="1472"/>
                <a:ext cx="131" cy="72"/>
              </a:xfrm>
              <a:custGeom>
                <a:avLst/>
                <a:gdLst>
                  <a:gd name="T0" fmla="*/ 131 w 131"/>
                  <a:gd name="T1" fmla="*/ 0 h 72"/>
                  <a:gd name="T2" fmla="*/ 115 w 131"/>
                  <a:gd name="T3" fmla="*/ 0 h 72"/>
                  <a:gd name="T4" fmla="*/ 99 w 131"/>
                  <a:gd name="T5" fmla="*/ 0 h 72"/>
                  <a:gd name="T6" fmla="*/ 78 w 131"/>
                  <a:gd name="T7" fmla="*/ 8 h 72"/>
                  <a:gd name="T8" fmla="*/ 56 w 131"/>
                  <a:gd name="T9" fmla="*/ 13 h 72"/>
                  <a:gd name="T10" fmla="*/ 32 w 131"/>
                  <a:gd name="T11" fmla="*/ 24 h 72"/>
                  <a:gd name="T12" fmla="*/ 6 w 131"/>
                  <a:gd name="T13" fmla="*/ 37 h 72"/>
                  <a:gd name="T14" fmla="*/ 3 w 131"/>
                  <a:gd name="T15" fmla="*/ 42 h 72"/>
                  <a:gd name="T16" fmla="*/ 0 w 131"/>
                  <a:gd name="T17" fmla="*/ 48 h 72"/>
                  <a:gd name="T18" fmla="*/ 3 w 131"/>
                  <a:gd name="T19" fmla="*/ 53 h 72"/>
                  <a:gd name="T20" fmla="*/ 3 w 131"/>
                  <a:gd name="T21" fmla="*/ 61 h 72"/>
                  <a:gd name="T22" fmla="*/ 22 w 131"/>
                  <a:gd name="T23" fmla="*/ 66 h 72"/>
                  <a:gd name="T24" fmla="*/ 40 w 131"/>
                  <a:gd name="T25" fmla="*/ 72 h 72"/>
                  <a:gd name="T26" fmla="*/ 67 w 131"/>
                  <a:gd name="T27" fmla="*/ 72 h 72"/>
                  <a:gd name="T28" fmla="*/ 91 w 131"/>
                  <a:gd name="T29" fmla="*/ 72 h 72"/>
                  <a:gd name="T30" fmla="*/ 88 w 131"/>
                  <a:gd name="T31" fmla="*/ 66 h 72"/>
                  <a:gd name="T32" fmla="*/ 86 w 131"/>
                  <a:gd name="T33" fmla="*/ 58 h 72"/>
                  <a:gd name="T34" fmla="*/ 83 w 131"/>
                  <a:gd name="T35" fmla="*/ 45 h 72"/>
                  <a:gd name="T36" fmla="*/ 83 w 131"/>
                  <a:gd name="T37" fmla="*/ 34 h 72"/>
                  <a:gd name="T38" fmla="*/ 86 w 131"/>
                  <a:gd name="T39" fmla="*/ 29 h 72"/>
                  <a:gd name="T40" fmla="*/ 91 w 131"/>
                  <a:gd name="T41" fmla="*/ 21 h 72"/>
                  <a:gd name="T42" fmla="*/ 113 w 131"/>
                  <a:gd name="T43" fmla="*/ 10 h 72"/>
                  <a:gd name="T44" fmla="*/ 131 w 131"/>
                  <a:gd name="T45"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72">
                    <a:moveTo>
                      <a:pt x="131" y="0"/>
                    </a:moveTo>
                    <a:lnTo>
                      <a:pt x="115" y="0"/>
                    </a:lnTo>
                    <a:lnTo>
                      <a:pt x="99" y="0"/>
                    </a:lnTo>
                    <a:lnTo>
                      <a:pt x="78" y="8"/>
                    </a:lnTo>
                    <a:lnTo>
                      <a:pt x="56" y="13"/>
                    </a:lnTo>
                    <a:lnTo>
                      <a:pt x="32" y="24"/>
                    </a:lnTo>
                    <a:lnTo>
                      <a:pt x="6" y="37"/>
                    </a:lnTo>
                    <a:lnTo>
                      <a:pt x="3" y="42"/>
                    </a:lnTo>
                    <a:lnTo>
                      <a:pt x="0" y="48"/>
                    </a:lnTo>
                    <a:lnTo>
                      <a:pt x="3" y="53"/>
                    </a:lnTo>
                    <a:lnTo>
                      <a:pt x="3" y="61"/>
                    </a:lnTo>
                    <a:lnTo>
                      <a:pt x="22" y="66"/>
                    </a:lnTo>
                    <a:lnTo>
                      <a:pt x="40" y="72"/>
                    </a:lnTo>
                    <a:lnTo>
                      <a:pt x="67" y="72"/>
                    </a:lnTo>
                    <a:lnTo>
                      <a:pt x="91" y="72"/>
                    </a:lnTo>
                    <a:lnTo>
                      <a:pt x="88" y="66"/>
                    </a:lnTo>
                    <a:lnTo>
                      <a:pt x="86" y="58"/>
                    </a:lnTo>
                    <a:lnTo>
                      <a:pt x="83" y="45"/>
                    </a:lnTo>
                    <a:lnTo>
                      <a:pt x="83" y="34"/>
                    </a:lnTo>
                    <a:lnTo>
                      <a:pt x="86" y="29"/>
                    </a:lnTo>
                    <a:lnTo>
                      <a:pt x="91" y="21"/>
                    </a:lnTo>
                    <a:lnTo>
                      <a:pt x="113" y="10"/>
                    </a:lnTo>
                    <a:lnTo>
                      <a:pt x="131"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06" name="Freeform 479">
                <a:extLst>
                  <a:ext uri="{FF2B5EF4-FFF2-40B4-BE49-F238E27FC236}">
                    <a16:creationId xmlns:a16="http://schemas.microsoft.com/office/drawing/2014/main" id="{F42CF086-73EE-4F7E-9A38-3A8163CB9F7F}"/>
                  </a:ext>
                </a:extLst>
              </p:cNvPr>
              <p:cNvSpPr>
                <a:spLocks/>
              </p:cNvSpPr>
              <p:nvPr/>
            </p:nvSpPr>
            <p:spPr bwMode="auto">
              <a:xfrm>
                <a:off x="1130" y="1474"/>
                <a:ext cx="65" cy="70"/>
              </a:xfrm>
              <a:custGeom>
                <a:avLst/>
                <a:gdLst>
                  <a:gd name="T0" fmla="*/ 65 w 65"/>
                  <a:gd name="T1" fmla="*/ 0 h 70"/>
                  <a:gd name="T2" fmla="*/ 30 w 65"/>
                  <a:gd name="T3" fmla="*/ 6 h 70"/>
                  <a:gd name="T4" fmla="*/ 11 w 65"/>
                  <a:gd name="T5" fmla="*/ 19 h 70"/>
                  <a:gd name="T6" fmla="*/ 3 w 65"/>
                  <a:gd name="T7" fmla="*/ 35 h 70"/>
                  <a:gd name="T8" fmla="*/ 0 w 65"/>
                  <a:gd name="T9" fmla="*/ 48 h 70"/>
                  <a:gd name="T10" fmla="*/ 6 w 65"/>
                  <a:gd name="T11" fmla="*/ 59 h 70"/>
                  <a:gd name="T12" fmla="*/ 24 w 65"/>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65" h="70">
                    <a:moveTo>
                      <a:pt x="65" y="0"/>
                    </a:moveTo>
                    <a:lnTo>
                      <a:pt x="30" y="6"/>
                    </a:lnTo>
                    <a:lnTo>
                      <a:pt x="11" y="19"/>
                    </a:lnTo>
                    <a:lnTo>
                      <a:pt x="3" y="35"/>
                    </a:lnTo>
                    <a:lnTo>
                      <a:pt x="0" y="48"/>
                    </a:lnTo>
                    <a:lnTo>
                      <a:pt x="6" y="59"/>
                    </a:lnTo>
                    <a:lnTo>
                      <a:pt x="24" y="7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07" name="Line 480">
                <a:extLst>
                  <a:ext uri="{FF2B5EF4-FFF2-40B4-BE49-F238E27FC236}">
                    <a16:creationId xmlns:a16="http://schemas.microsoft.com/office/drawing/2014/main" id="{7552703A-2964-46A6-94B1-26ACBC81A720}"/>
                  </a:ext>
                </a:extLst>
              </p:cNvPr>
              <p:cNvSpPr>
                <a:spLocks noChangeShapeType="1"/>
              </p:cNvSpPr>
              <p:nvPr/>
            </p:nvSpPr>
            <p:spPr bwMode="auto">
              <a:xfrm>
                <a:off x="1184" y="1474"/>
                <a:ext cx="3"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8" name="Line 481">
                <a:extLst>
                  <a:ext uri="{FF2B5EF4-FFF2-40B4-BE49-F238E27FC236}">
                    <a16:creationId xmlns:a16="http://schemas.microsoft.com/office/drawing/2014/main" id="{1B0003D0-C9AD-4CE8-8E22-9BD35CFB07D4}"/>
                  </a:ext>
                </a:extLst>
              </p:cNvPr>
              <p:cNvSpPr>
                <a:spLocks noChangeShapeType="1"/>
              </p:cNvSpPr>
              <p:nvPr/>
            </p:nvSpPr>
            <p:spPr bwMode="auto">
              <a:xfrm>
                <a:off x="1176" y="1477"/>
                <a:ext cx="3"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09" name="Line 482">
                <a:extLst>
                  <a:ext uri="{FF2B5EF4-FFF2-40B4-BE49-F238E27FC236}">
                    <a16:creationId xmlns:a16="http://schemas.microsoft.com/office/drawing/2014/main" id="{D8C29FAC-B0FA-453B-BA21-91007FCDD469}"/>
                  </a:ext>
                </a:extLst>
              </p:cNvPr>
              <p:cNvSpPr>
                <a:spLocks noChangeShapeType="1"/>
              </p:cNvSpPr>
              <p:nvPr/>
            </p:nvSpPr>
            <p:spPr bwMode="auto">
              <a:xfrm>
                <a:off x="1162" y="1480"/>
                <a:ext cx="6"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0" name="Line 483">
                <a:extLst>
                  <a:ext uri="{FF2B5EF4-FFF2-40B4-BE49-F238E27FC236}">
                    <a16:creationId xmlns:a16="http://schemas.microsoft.com/office/drawing/2014/main" id="{9B54FCA9-4A5A-451C-9D66-EE70545320D1}"/>
                  </a:ext>
                </a:extLst>
              </p:cNvPr>
              <p:cNvSpPr>
                <a:spLocks noChangeShapeType="1"/>
              </p:cNvSpPr>
              <p:nvPr/>
            </p:nvSpPr>
            <p:spPr bwMode="auto">
              <a:xfrm>
                <a:off x="1152" y="1485"/>
                <a:ext cx="8"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1" name="Line 484">
                <a:extLst>
                  <a:ext uri="{FF2B5EF4-FFF2-40B4-BE49-F238E27FC236}">
                    <a16:creationId xmlns:a16="http://schemas.microsoft.com/office/drawing/2014/main" id="{7907D48E-FEF6-4DCC-8BB6-ED77B4AFBB84}"/>
                  </a:ext>
                </a:extLst>
              </p:cNvPr>
              <p:cNvSpPr>
                <a:spLocks noChangeShapeType="1"/>
              </p:cNvSpPr>
              <p:nvPr/>
            </p:nvSpPr>
            <p:spPr bwMode="auto">
              <a:xfrm>
                <a:off x="1146" y="1490"/>
                <a:ext cx="8" cy="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2" name="Line 485">
                <a:extLst>
                  <a:ext uri="{FF2B5EF4-FFF2-40B4-BE49-F238E27FC236}">
                    <a16:creationId xmlns:a16="http://schemas.microsoft.com/office/drawing/2014/main" id="{5A6B73BF-3802-4F40-B30E-5B48C95B3A82}"/>
                  </a:ext>
                </a:extLst>
              </p:cNvPr>
              <p:cNvSpPr>
                <a:spLocks noChangeShapeType="1"/>
              </p:cNvSpPr>
              <p:nvPr/>
            </p:nvSpPr>
            <p:spPr bwMode="auto">
              <a:xfrm>
                <a:off x="1141" y="1498"/>
                <a:ext cx="8"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3" name="Line 486">
                <a:extLst>
                  <a:ext uri="{FF2B5EF4-FFF2-40B4-BE49-F238E27FC236}">
                    <a16:creationId xmlns:a16="http://schemas.microsoft.com/office/drawing/2014/main" id="{E60CA9C6-9585-46C6-952A-B2E25BB94C3A}"/>
                  </a:ext>
                </a:extLst>
              </p:cNvPr>
              <p:cNvSpPr>
                <a:spLocks noChangeShapeType="1"/>
              </p:cNvSpPr>
              <p:nvPr/>
            </p:nvSpPr>
            <p:spPr bwMode="auto">
              <a:xfrm>
                <a:off x="1136" y="1504"/>
                <a:ext cx="10" cy="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4" name="Line 487">
                <a:extLst>
                  <a:ext uri="{FF2B5EF4-FFF2-40B4-BE49-F238E27FC236}">
                    <a16:creationId xmlns:a16="http://schemas.microsoft.com/office/drawing/2014/main" id="{8FE89481-2D90-4F30-BA57-7B17E75E5B76}"/>
                  </a:ext>
                </a:extLst>
              </p:cNvPr>
              <p:cNvSpPr>
                <a:spLocks noChangeShapeType="1"/>
              </p:cNvSpPr>
              <p:nvPr/>
            </p:nvSpPr>
            <p:spPr bwMode="auto">
              <a:xfrm>
                <a:off x="1133" y="1512"/>
                <a:ext cx="13" cy="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5" name="Line 488">
                <a:extLst>
                  <a:ext uri="{FF2B5EF4-FFF2-40B4-BE49-F238E27FC236}">
                    <a16:creationId xmlns:a16="http://schemas.microsoft.com/office/drawing/2014/main" id="{D166C82E-3292-40EB-909C-A809B1C5E968}"/>
                  </a:ext>
                </a:extLst>
              </p:cNvPr>
              <p:cNvSpPr>
                <a:spLocks noChangeShapeType="1"/>
              </p:cNvSpPr>
              <p:nvPr/>
            </p:nvSpPr>
            <p:spPr bwMode="auto">
              <a:xfrm>
                <a:off x="1130" y="1522"/>
                <a:ext cx="19" cy="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6" name="Line 489">
                <a:extLst>
                  <a:ext uri="{FF2B5EF4-FFF2-40B4-BE49-F238E27FC236}">
                    <a16:creationId xmlns:a16="http://schemas.microsoft.com/office/drawing/2014/main" id="{FE666564-9214-40C8-A86A-2F17942222C5}"/>
                  </a:ext>
                </a:extLst>
              </p:cNvPr>
              <p:cNvSpPr>
                <a:spLocks noChangeShapeType="1"/>
              </p:cNvSpPr>
              <p:nvPr/>
            </p:nvSpPr>
            <p:spPr bwMode="auto">
              <a:xfrm>
                <a:off x="1136" y="1533"/>
                <a:ext cx="13"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7" name="Line 490">
                <a:extLst>
                  <a:ext uri="{FF2B5EF4-FFF2-40B4-BE49-F238E27FC236}">
                    <a16:creationId xmlns:a16="http://schemas.microsoft.com/office/drawing/2014/main" id="{69179050-DE00-4080-BD81-1EC882F9F11A}"/>
                  </a:ext>
                </a:extLst>
              </p:cNvPr>
              <p:cNvSpPr>
                <a:spLocks noChangeShapeType="1"/>
              </p:cNvSpPr>
              <p:nvPr/>
            </p:nvSpPr>
            <p:spPr bwMode="auto">
              <a:xfrm>
                <a:off x="1146" y="1538"/>
                <a:ext cx="8" cy="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8" name="Freeform 491">
                <a:extLst>
                  <a:ext uri="{FF2B5EF4-FFF2-40B4-BE49-F238E27FC236}">
                    <a16:creationId xmlns:a16="http://schemas.microsoft.com/office/drawing/2014/main" id="{E40E5352-5198-4861-B254-DA8DFA5974CA}"/>
                  </a:ext>
                </a:extLst>
              </p:cNvPr>
              <p:cNvSpPr>
                <a:spLocks/>
              </p:cNvSpPr>
              <p:nvPr/>
            </p:nvSpPr>
            <p:spPr bwMode="auto">
              <a:xfrm>
                <a:off x="233" y="2054"/>
                <a:ext cx="513" cy="51"/>
              </a:xfrm>
              <a:custGeom>
                <a:avLst/>
                <a:gdLst>
                  <a:gd name="T0" fmla="*/ 513 w 513"/>
                  <a:gd name="T1" fmla="*/ 8 h 51"/>
                  <a:gd name="T2" fmla="*/ 489 w 513"/>
                  <a:gd name="T3" fmla="*/ 0 h 51"/>
                  <a:gd name="T4" fmla="*/ 425 w 513"/>
                  <a:gd name="T5" fmla="*/ 5 h 51"/>
                  <a:gd name="T6" fmla="*/ 150 w 513"/>
                  <a:gd name="T7" fmla="*/ 40 h 51"/>
                  <a:gd name="T8" fmla="*/ 0 w 513"/>
                  <a:gd name="T9" fmla="*/ 51 h 51"/>
                </a:gdLst>
                <a:ahLst/>
                <a:cxnLst>
                  <a:cxn ang="0">
                    <a:pos x="T0" y="T1"/>
                  </a:cxn>
                  <a:cxn ang="0">
                    <a:pos x="T2" y="T3"/>
                  </a:cxn>
                  <a:cxn ang="0">
                    <a:pos x="T4" y="T5"/>
                  </a:cxn>
                  <a:cxn ang="0">
                    <a:pos x="T6" y="T7"/>
                  </a:cxn>
                  <a:cxn ang="0">
                    <a:pos x="T8" y="T9"/>
                  </a:cxn>
                </a:cxnLst>
                <a:rect l="0" t="0" r="r" b="b"/>
                <a:pathLst>
                  <a:path w="513" h="51">
                    <a:moveTo>
                      <a:pt x="513" y="8"/>
                    </a:moveTo>
                    <a:lnTo>
                      <a:pt x="489" y="0"/>
                    </a:lnTo>
                    <a:lnTo>
                      <a:pt x="425" y="5"/>
                    </a:lnTo>
                    <a:lnTo>
                      <a:pt x="150" y="40"/>
                    </a:lnTo>
                    <a:lnTo>
                      <a:pt x="0" y="51"/>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9" name="Line 492">
                <a:extLst>
                  <a:ext uri="{FF2B5EF4-FFF2-40B4-BE49-F238E27FC236}">
                    <a16:creationId xmlns:a16="http://schemas.microsoft.com/office/drawing/2014/main" id="{B8411A35-7859-429D-9E35-842BE8493F2F}"/>
                  </a:ext>
                </a:extLst>
              </p:cNvPr>
              <p:cNvSpPr>
                <a:spLocks noChangeShapeType="1"/>
              </p:cNvSpPr>
              <p:nvPr/>
            </p:nvSpPr>
            <p:spPr bwMode="auto">
              <a:xfrm>
                <a:off x="1827" y="1333"/>
                <a:ext cx="38"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0" name="Line 493">
                <a:extLst>
                  <a:ext uri="{FF2B5EF4-FFF2-40B4-BE49-F238E27FC236}">
                    <a16:creationId xmlns:a16="http://schemas.microsoft.com/office/drawing/2014/main" id="{FC09C755-4D40-4A16-AB4E-5BA438A36940}"/>
                  </a:ext>
                </a:extLst>
              </p:cNvPr>
              <p:cNvSpPr>
                <a:spLocks noChangeShapeType="1"/>
              </p:cNvSpPr>
              <p:nvPr/>
            </p:nvSpPr>
            <p:spPr bwMode="auto">
              <a:xfrm>
                <a:off x="1785" y="1341"/>
                <a:ext cx="32"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1" name="Line 494">
                <a:extLst>
                  <a:ext uri="{FF2B5EF4-FFF2-40B4-BE49-F238E27FC236}">
                    <a16:creationId xmlns:a16="http://schemas.microsoft.com/office/drawing/2014/main" id="{9B8EF0CF-B7BF-48E0-962E-02074366E248}"/>
                  </a:ext>
                </a:extLst>
              </p:cNvPr>
              <p:cNvSpPr>
                <a:spLocks noChangeShapeType="1"/>
              </p:cNvSpPr>
              <p:nvPr/>
            </p:nvSpPr>
            <p:spPr bwMode="auto">
              <a:xfrm>
                <a:off x="1723" y="1354"/>
                <a:ext cx="40"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2" name="Line 495">
                <a:extLst>
                  <a:ext uri="{FF2B5EF4-FFF2-40B4-BE49-F238E27FC236}">
                    <a16:creationId xmlns:a16="http://schemas.microsoft.com/office/drawing/2014/main" id="{D3DB20B7-84DE-4310-83BB-64048BEB1D58}"/>
                  </a:ext>
                </a:extLst>
              </p:cNvPr>
              <p:cNvSpPr>
                <a:spLocks noChangeShapeType="1"/>
              </p:cNvSpPr>
              <p:nvPr/>
            </p:nvSpPr>
            <p:spPr bwMode="auto">
              <a:xfrm>
                <a:off x="1672" y="1375"/>
                <a:ext cx="43"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3" name="Line 496">
                <a:extLst>
                  <a:ext uri="{FF2B5EF4-FFF2-40B4-BE49-F238E27FC236}">
                    <a16:creationId xmlns:a16="http://schemas.microsoft.com/office/drawing/2014/main" id="{0F5B4469-B365-42D2-840B-D9EF7E10B672}"/>
                  </a:ext>
                </a:extLst>
              </p:cNvPr>
              <p:cNvSpPr>
                <a:spLocks noChangeShapeType="1"/>
              </p:cNvSpPr>
              <p:nvPr/>
            </p:nvSpPr>
            <p:spPr bwMode="auto">
              <a:xfrm>
                <a:off x="1614" y="1384"/>
                <a:ext cx="42"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4" name="Line 497">
                <a:extLst>
                  <a:ext uri="{FF2B5EF4-FFF2-40B4-BE49-F238E27FC236}">
                    <a16:creationId xmlns:a16="http://schemas.microsoft.com/office/drawing/2014/main" id="{1E9D1DBB-51AD-487E-A8C6-D186B6A05786}"/>
                  </a:ext>
                </a:extLst>
              </p:cNvPr>
              <p:cNvSpPr>
                <a:spLocks noChangeShapeType="1"/>
              </p:cNvSpPr>
              <p:nvPr/>
            </p:nvSpPr>
            <p:spPr bwMode="auto">
              <a:xfrm>
                <a:off x="1550" y="1400"/>
                <a:ext cx="53"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5" name="Line 498">
                <a:extLst>
                  <a:ext uri="{FF2B5EF4-FFF2-40B4-BE49-F238E27FC236}">
                    <a16:creationId xmlns:a16="http://schemas.microsoft.com/office/drawing/2014/main" id="{569E1D82-DB97-44A9-83E5-B02EE4048ECC}"/>
                  </a:ext>
                </a:extLst>
              </p:cNvPr>
              <p:cNvSpPr>
                <a:spLocks noChangeShapeType="1"/>
              </p:cNvSpPr>
              <p:nvPr/>
            </p:nvSpPr>
            <p:spPr bwMode="auto">
              <a:xfrm>
                <a:off x="1507" y="1426"/>
                <a:ext cx="40"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6" name="Line 499">
                <a:extLst>
                  <a:ext uri="{FF2B5EF4-FFF2-40B4-BE49-F238E27FC236}">
                    <a16:creationId xmlns:a16="http://schemas.microsoft.com/office/drawing/2014/main" id="{62A50D20-147B-4CB9-B4DB-F282A55C7722}"/>
                  </a:ext>
                </a:extLst>
              </p:cNvPr>
              <p:cNvSpPr>
                <a:spLocks noChangeShapeType="1"/>
              </p:cNvSpPr>
              <p:nvPr/>
            </p:nvSpPr>
            <p:spPr bwMode="auto">
              <a:xfrm>
                <a:off x="1451" y="1442"/>
                <a:ext cx="45"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7" name="Line 500">
                <a:extLst>
                  <a:ext uri="{FF2B5EF4-FFF2-40B4-BE49-F238E27FC236}">
                    <a16:creationId xmlns:a16="http://schemas.microsoft.com/office/drawing/2014/main" id="{5D3ECE68-B5E9-47CE-AA25-18F6F81A17F6}"/>
                  </a:ext>
                </a:extLst>
              </p:cNvPr>
              <p:cNvSpPr>
                <a:spLocks noChangeShapeType="1"/>
              </p:cNvSpPr>
              <p:nvPr/>
            </p:nvSpPr>
            <p:spPr bwMode="auto">
              <a:xfrm>
                <a:off x="1397" y="1458"/>
                <a:ext cx="54" cy="5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8" name="Line 501">
                <a:extLst>
                  <a:ext uri="{FF2B5EF4-FFF2-40B4-BE49-F238E27FC236}">
                    <a16:creationId xmlns:a16="http://schemas.microsoft.com/office/drawing/2014/main" id="{A1F8B6DB-88FF-4003-956B-3E2CB1570B15}"/>
                  </a:ext>
                </a:extLst>
              </p:cNvPr>
              <p:cNvSpPr>
                <a:spLocks noChangeShapeType="1"/>
              </p:cNvSpPr>
              <p:nvPr/>
            </p:nvSpPr>
            <p:spPr bwMode="auto">
              <a:xfrm>
                <a:off x="1336" y="1472"/>
                <a:ext cx="72"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9" name="Line 502">
                <a:extLst>
                  <a:ext uri="{FF2B5EF4-FFF2-40B4-BE49-F238E27FC236}">
                    <a16:creationId xmlns:a16="http://schemas.microsoft.com/office/drawing/2014/main" id="{01D9C1CF-7C32-4F90-A1D1-55D83536878C}"/>
                  </a:ext>
                </a:extLst>
              </p:cNvPr>
              <p:cNvSpPr>
                <a:spLocks noChangeShapeType="1"/>
              </p:cNvSpPr>
              <p:nvPr/>
            </p:nvSpPr>
            <p:spPr bwMode="auto">
              <a:xfrm>
                <a:off x="1285" y="1501"/>
                <a:ext cx="78"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0" name="Line 503">
                <a:extLst>
                  <a:ext uri="{FF2B5EF4-FFF2-40B4-BE49-F238E27FC236}">
                    <a16:creationId xmlns:a16="http://schemas.microsoft.com/office/drawing/2014/main" id="{FAD5A1C4-6FAA-43FB-AF4E-E4B8382580B2}"/>
                  </a:ext>
                </a:extLst>
              </p:cNvPr>
              <p:cNvSpPr>
                <a:spLocks noChangeShapeType="1"/>
              </p:cNvSpPr>
              <p:nvPr/>
            </p:nvSpPr>
            <p:spPr bwMode="auto">
              <a:xfrm>
                <a:off x="1237" y="1536"/>
                <a:ext cx="99"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1" name="Line 504">
                <a:extLst>
                  <a:ext uri="{FF2B5EF4-FFF2-40B4-BE49-F238E27FC236}">
                    <a16:creationId xmlns:a16="http://schemas.microsoft.com/office/drawing/2014/main" id="{7330C190-F100-4A61-B7E4-0C747B93B3A5}"/>
                  </a:ext>
                </a:extLst>
              </p:cNvPr>
              <p:cNvSpPr>
                <a:spLocks noChangeShapeType="1"/>
              </p:cNvSpPr>
              <p:nvPr/>
            </p:nvSpPr>
            <p:spPr bwMode="auto">
              <a:xfrm>
                <a:off x="1200" y="1579"/>
                <a:ext cx="109" cy="4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2" name="Line 505">
                <a:extLst>
                  <a:ext uri="{FF2B5EF4-FFF2-40B4-BE49-F238E27FC236}">
                    <a16:creationId xmlns:a16="http://schemas.microsoft.com/office/drawing/2014/main" id="{D1F1DB2D-ADE0-4BD4-997C-64548E0FE865}"/>
                  </a:ext>
                </a:extLst>
              </p:cNvPr>
              <p:cNvSpPr>
                <a:spLocks noChangeShapeType="1"/>
              </p:cNvSpPr>
              <p:nvPr/>
            </p:nvSpPr>
            <p:spPr bwMode="auto">
              <a:xfrm>
                <a:off x="1213" y="1624"/>
                <a:ext cx="99" cy="2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3" name="Line 506">
                <a:extLst>
                  <a:ext uri="{FF2B5EF4-FFF2-40B4-BE49-F238E27FC236}">
                    <a16:creationId xmlns:a16="http://schemas.microsoft.com/office/drawing/2014/main" id="{325EE1A8-348D-43B5-ABCC-D08339C0F78D}"/>
                  </a:ext>
                </a:extLst>
              </p:cNvPr>
              <p:cNvSpPr>
                <a:spLocks noChangeShapeType="1"/>
              </p:cNvSpPr>
              <p:nvPr/>
            </p:nvSpPr>
            <p:spPr bwMode="auto">
              <a:xfrm>
                <a:off x="1237" y="1651"/>
                <a:ext cx="80" cy="3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4" name="Line 507">
                <a:extLst>
                  <a:ext uri="{FF2B5EF4-FFF2-40B4-BE49-F238E27FC236}">
                    <a16:creationId xmlns:a16="http://schemas.microsoft.com/office/drawing/2014/main" id="{B0204CFA-57BC-4B81-8882-1D334124479E}"/>
                  </a:ext>
                </a:extLst>
              </p:cNvPr>
              <p:cNvSpPr>
                <a:spLocks noChangeShapeType="1"/>
              </p:cNvSpPr>
              <p:nvPr/>
            </p:nvSpPr>
            <p:spPr bwMode="auto">
              <a:xfrm>
                <a:off x="1219" y="1779"/>
                <a:ext cx="42"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5" name="Line 508">
                <a:extLst>
                  <a:ext uri="{FF2B5EF4-FFF2-40B4-BE49-F238E27FC236}">
                    <a16:creationId xmlns:a16="http://schemas.microsoft.com/office/drawing/2014/main" id="{3FCA07CE-B9A4-4B94-AC83-BD67B12D4626}"/>
                  </a:ext>
                </a:extLst>
              </p:cNvPr>
              <p:cNvSpPr>
                <a:spLocks noChangeShapeType="1"/>
              </p:cNvSpPr>
              <p:nvPr/>
            </p:nvSpPr>
            <p:spPr bwMode="auto">
              <a:xfrm>
                <a:off x="1173" y="1776"/>
                <a:ext cx="27"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6" name="Line 509">
                <a:extLst>
                  <a:ext uri="{FF2B5EF4-FFF2-40B4-BE49-F238E27FC236}">
                    <a16:creationId xmlns:a16="http://schemas.microsoft.com/office/drawing/2014/main" id="{2EAC76AF-DB6D-4C7D-B916-90FC1DC390BE}"/>
                  </a:ext>
                </a:extLst>
              </p:cNvPr>
              <p:cNvSpPr>
                <a:spLocks noChangeShapeType="1"/>
              </p:cNvSpPr>
              <p:nvPr/>
            </p:nvSpPr>
            <p:spPr bwMode="auto">
              <a:xfrm>
                <a:off x="1114" y="1787"/>
                <a:ext cx="27" cy="5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7" name="Line 510">
                <a:extLst>
                  <a:ext uri="{FF2B5EF4-FFF2-40B4-BE49-F238E27FC236}">
                    <a16:creationId xmlns:a16="http://schemas.microsoft.com/office/drawing/2014/main" id="{6DF74833-67AF-436C-BD7B-BF2B4B269FB0}"/>
                  </a:ext>
                </a:extLst>
              </p:cNvPr>
              <p:cNvSpPr>
                <a:spLocks noChangeShapeType="1"/>
              </p:cNvSpPr>
              <p:nvPr/>
            </p:nvSpPr>
            <p:spPr bwMode="auto">
              <a:xfrm>
                <a:off x="1066" y="1803"/>
                <a:ext cx="22"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8" name="Line 511">
                <a:extLst>
                  <a:ext uri="{FF2B5EF4-FFF2-40B4-BE49-F238E27FC236}">
                    <a16:creationId xmlns:a16="http://schemas.microsoft.com/office/drawing/2014/main" id="{CEDFBF0E-3726-416B-903E-A52CB6E78EEB}"/>
                  </a:ext>
                </a:extLst>
              </p:cNvPr>
              <p:cNvSpPr>
                <a:spLocks noChangeShapeType="1"/>
              </p:cNvSpPr>
              <p:nvPr/>
            </p:nvSpPr>
            <p:spPr bwMode="auto">
              <a:xfrm>
                <a:off x="989" y="1819"/>
                <a:ext cx="56"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9" name="Line 512">
                <a:extLst>
                  <a:ext uri="{FF2B5EF4-FFF2-40B4-BE49-F238E27FC236}">
                    <a16:creationId xmlns:a16="http://schemas.microsoft.com/office/drawing/2014/main" id="{B962BC92-22AC-4A51-8F91-0F592C7761DF}"/>
                  </a:ext>
                </a:extLst>
              </p:cNvPr>
              <p:cNvSpPr>
                <a:spLocks noChangeShapeType="1"/>
              </p:cNvSpPr>
              <p:nvPr/>
            </p:nvSpPr>
            <p:spPr bwMode="auto">
              <a:xfrm>
                <a:off x="946" y="1840"/>
                <a:ext cx="64" cy="6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0" name="Line 513">
                <a:extLst>
                  <a:ext uri="{FF2B5EF4-FFF2-40B4-BE49-F238E27FC236}">
                    <a16:creationId xmlns:a16="http://schemas.microsoft.com/office/drawing/2014/main" id="{DEBE3AF9-3AB2-4BED-B2E3-D2BA9C856A05}"/>
                  </a:ext>
                </a:extLst>
              </p:cNvPr>
              <p:cNvSpPr>
                <a:spLocks noChangeShapeType="1"/>
              </p:cNvSpPr>
              <p:nvPr/>
            </p:nvSpPr>
            <p:spPr bwMode="auto">
              <a:xfrm>
                <a:off x="893" y="1872"/>
                <a:ext cx="80"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1" name="Line 514">
                <a:extLst>
                  <a:ext uri="{FF2B5EF4-FFF2-40B4-BE49-F238E27FC236}">
                    <a16:creationId xmlns:a16="http://schemas.microsoft.com/office/drawing/2014/main" id="{0FC76E0E-0AC3-43F0-B17D-41DF1059930E}"/>
                  </a:ext>
                </a:extLst>
              </p:cNvPr>
              <p:cNvSpPr>
                <a:spLocks noChangeShapeType="1"/>
              </p:cNvSpPr>
              <p:nvPr/>
            </p:nvSpPr>
            <p:spPr bwMode="auto">
              <a:xfrm>
                <a:off x="845" y="1905"/>
                <a:ext cx="83" cy="5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2" name="Line 515">
                <a:extLst>
                  <a:ext uri="{FF2B5EF4-FFF2-40B4-BE49-F238E27FC236}">
                    <a16:creationId xmlns:a16="http://schemas.microsoft.com/office/drawing/2014/main" id="{C0294C3D-D473-406B-946C-FF18A429E937}"/>
                  </a:ext>
                </a:extLst>
              </p:cNvPr>
              <p:cNvSpPr>
                <a:spLocks noChangeShapeType="1"/>
              </p:cNvSpPr>
              <p:nvPr/>
            </p:nvSpPr>
            <p:spPr bwMode="auto">
              <a:xfrm>
                <a:off x="815" y="1942"/>
                <a:ext cx="81" cy="5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3" name="Line 516">
                <a:extLst>
                  <a:ext uri="{FF2B5EF4-FFF2-40B4-BE49-F238E27FC236}">
                    <a16:creationId xmlns:a16="http://schemas.microsoft.com/office/drawing/2014/main" id="{6D496ED7-64A6-4C6E-B84C-204622EFA1BB}"/>
                  </a:ext>
                </a:extLst>
              </p:cNvPr>
              <p:cNvSpPr>
                <a:spLocks noChangeShapeType="1"/>
              </p:cNvSpPr>
              <p:nvPr/>
            </p:nvSpPr>
            <p:spPr bwMode="auto">
              <a:xfrm>
                <a:off x="775" y="1985"/>
                <a:ext cx="78" cy="4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4" name="Line 517">
                <a:extLst>
                  <a:ext uri="{FF2B5EF4-FFF2-40B4-BE49-F238E27FC236}">
                    <a16:creationId xmlns:a16="http://schemas.microsoft.com/office/drawing/2014/main" id="{A36CA5BF-1350-438B-8196-4CEA9FC6D646}"/>
                  </a:ext>
                </a:extLst>
              </p:cNvPr>
              <p:cNvSpPr>
                <a:spLocks noChangeShapeType="1"/>
              </p:cNvSpPr>
              <p:nvPr/>
            </p:nvSpPr>
            <p:spPr bwMode="auto">
              <a:xfrm>
                <a:off x="770" y="2027"/>
                <a:ext cx="75"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5" name="Line 518">
                <a:extLst>
                  <a:ext uri="{FF2B5EF4-FFF2-40B4-BE49-F238E27FC236}">
                    <a16:creationId xmlns:a16="http://schemas.microsoft.com/office/drawing/2014/main" id="{07F1264C-11E6-4DDA-96D5-702F7934C3C5}"/>
                  </a:ext>
                </a:extLst>
              </p:cNvPr>
              <p:cNvSpPr>
                <a:spLocks noChangeShapeType="1"/>
              </p:cNvSpPr>
              <p:nvPr/>
            </p:nvSpPr>
            <p:spPr bwMode="auto">
              <a:xfrm>
                <a:off x="679" y="2065"/>
                <a:ext cx="96" cy="9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6" name="Line 519">
                <a:extLst>
                  <a:ext uri="{FF2B5EF4-FFF2-40B4-BE49-F238E27FC236}">
                    <a16:creationId xmlns:a16="http://schemas.microsoft.com/office/drawing/2014/main" id="{D8F52C74-D269-4AFA-AEC5-B7A06325528C}"/>
                  </a:ext>
                </a:extLst>
              </p:cNvPr>
              <p:cNvSpPr>
                <a:spLocks noChangeShapeType="1"/>
              </p:cNvSpPr>
              <p:nvPr/>
            </p:nvSpPr>
            <p:spPr bwMode="auto">
              <a:xfrm>
                <a:off x="626" y="2078"/>
                <a:ext cx="69"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7" name="Line 520">
                <a:extLst>
                  <a:ext uri="{FF2B5EF4-FFF2-40B4-BE49-F238E27FC236}">
                    <a16:creationId xmlns:a16="http://schemas.microsoft.com/office/drawing/2014/main" id="{B10EB305-42E8-4BF8-B48E-E8FBE342ED48}"/>
                  </a:ext>
                </a:extLst>
              </p:cNvPr>
              <p:cNvSpPr>
                <a:spLocks noChangeShapeType="1"/>
              </p:cNvSpPr>
              <p:nvPr/>
            </p:nvSpPr>
            <p:spPr bwMode="auto">
              <a:xfrm>
                <a:off x="583" y="2084"/>
                <a:ext cx="64"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8" name="Line 521">
                <a:extLst>
                  <a:ext uri="{FF2B5EF4-FFF2-40B4-BE49-F238E27FC236}">
                    <a16:creationId xmlns:a16="http://schemas.microsoft.com/office/drawing/2014/main" id="{C927C059-FDB3-4B32-9AB0-025F78B73DB0}"/>
                  </a:ext>
                </a:extLst>
              </p:cNvPr>
              <p:cNvSpPr>
                <a:spLocks noChangeShapeType="1"/>
              </p:cNvSpPr>
              <p:nvPr/>
            </p:nvSpPr>
            <p:spPr bwMode="auto">
              <a:xfrm>
                <a:off x="535" y="2084"/>
                <a:ext cx="48" cy="5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9" name="Line 522">
                <a:extLst>
                  <a:ext uri="{FF2B5EF4-FFF2-40B4-BE49-F238E27FC236}">
                    <a16:creationId xmlns:a16="http://schemas.microsoft.com/office/drawing/2014/main" id="{CEDECFE6-340C-4F1C-AF0B-0043F080BA38}"/>
                  </a:ext>
                </a:extLst>
              </p:cNvPr>
              <p:cNvSpPr>
                <a:spLocks noChangeShapeType="1"/>
              </p:cNvSpPr>
              <p:nvPr/>
            </p:nvSpPr>
            <p:spPr bwMode="auto">
              <a:xfrm>
                <a:off x="484" y="2092"/>
                <a:ext cx="43" cy="4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0" name="Line 523">
                <a:extLst>
                  <a:ext uri="{FF2B5EF4-FFF2-40B4-BE49-F238E27FC236}">
                    <a16:creationId xmlns:a16="http://schemas.microsoft.com/office/drawing/2014/main" id="{F00E8276-E6B0-4101-A039-7ADB58353ADF}"/>
                  </a:ext>
                </a:extLst>
              </p:cNvPr>
              <p:cNvSpPr>
                <a:spLocks noChangeShapeType="1"/>
              </p:cNvSpPr>
              <p:nvPr/>
            </p:nvSpPr>
            <p:spPr bwMode="auto">
              <a:xfrm>
                <a:off x="431" y="2100"/>
                <a:ext cx="27" cy="3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1" name="Line 524">
                <a:extLst>
                  <a:ext uri="{FF2B5EF4-FFF2-40B4-BE49-F238E27FC236}">
                    <a16:creationId xmlns:a16="http://schemas.microsoft.com/office/drawing/2014/main" id="{AC279448-E82D-4C3C-B423-B26473DC4B4C}"/>
                  </a:ext>
                </a:extLst>
              </p:cNvPr>
              <p:cNvSpPr>
                <a:spLocks noChangeShapeType="1"/>
              </p:cNvSpPr>
              <p:nvPr/>
            </p:nvSpPr>
            <p:spPr bwMode="auto">
              <a:xfrm>
                <a:off x="386" y="2100"/>
                <a:ext cx="26" cy="2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2" name="Line 525">
                <a:extLst>
                  <a:ext uri="{FF2B5EF4-FFF2-40B4-BE49-F238E27FC236}">
                    <a16:creationId xmlns:a16="http://schemas.microsoft.com/office/drawing/2014/main" id="{23A06435-474C-4F9A-B410-A81FE8B2672C}"/>
                  </a:ext>
                </a:extLst>
              </p:cNvPr>
              <p:cNvSpPr>
                <a:spLocks noChangeShapeType="1"/>
              </p:cNvSpPr>
              <p:nvPr/>
            </p:nvSpPr>
            <p:spPr bwMode="auto">
              <a:xfrm>
                <a:off x="329" y="2102"/>
                <a:ext cx="25" cy="1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3" name="Freeform 526">
                <a:extLst>
                  <a:ext uri="{FF2B5EF4-FFF2-40B4-BE49-F238E27FC236}">
                    <a16:creationId xmlns:a16="http://schemas.microsoft.com/office/drawing/2014/main" id="{B5164A99-D2EC-4A9C-BC46-FCC680C9024D}"/>
                  </a:ext>
                </a:extLst>
              </p:cNvPr>
              <p:cNvSpPr>
                <a:spLocks/>
              </p:cNvSpPr>
              <p:nvPr/>
            </p:nvSpPr>
            <p:spPr bwMode="auto">
              <a:xfrm>
                <a:off x="3125" y="1386"/>
                <a:ext cx="163" cy="315"/>
              </a:xfrm>
              <a:custGeom>
                <a:avLst/>
                <a:gdLst>
                  <a:gd name="T0" fmla="*/ 128 w 163"/>
                  <a:gd name="T1" fmla="*/ 0 h 315"/>
                  <a:gd name="T2" fmla="*/ 77 w 163"/>
                  <a:gd name="T3" fmla="*/ 38 h 315"/>
                  <a:gd name="T4" fmla="*/ 35 w 163"/>
                  <a:gd name="T5" fmla="*/ 72 h 315"/>
                  <a:gd name="T6" fmla="*/ 8 w 163"/>
                  <a:gd name="T7" fmla="*/ 112 h 315"/>
                  <a:gd name="T8" fmla="*/ 0 w 163"/>
                  <a:gd name="T9" fmla="*/ 171 h 315"/>
                  <a:gd name="T10" fmla="*/ 19 w 163"/>
                  <a:gd name="T11" fmla="*/ 227 h 315"/>
                  <a:gd name="T12" fmla="*/ 67 w 163"/>
                  <a:gd name="T13" fmla="*/ 273 h 315"/>
                  <a:gd name="T14" fmla="*/ 163 w 163"/>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3" h="315">
                    <a:moveTo>
                      <a:pt x="128" y="0"/>
                    </a:moveTo>
                    <a:lnTo>
                      <a:pt x="77" y="38"/>
                    </a:lnTo>
                    <a:lnTo>
                      <a:pt x="35" y="72"/>
                    </a:lnTo>
                    <a:lnTo>
                      <a:pt x="8" y="112"/>
                    </a:lnTo>
                    <a:lnTo>
                      <a:pt x="0" y="171"/>
                    </a:lnTo>
                    <a:lnTo>
                      <a:pt x="19" y="227"/>
                    </a:lnTo>
                    <a:lnTo>
                      <a:pt x="67" y="273"/>
                    </a:lnTo>
                    <a:lnTo>
                      <a:pt x="163" y="315"/>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54" name="Freeform 527">
                <a:extLst>
                  <a:ext uri="{FF2B5EF4-FFF2-40B4-BE49-F238E27FC236}">
                    <a16:creationId xmlns:a16="http://schemas.microsoft.com/office/drawing/2014/main" id="{3226280C-F834-453C-B9A9-1AB4153B919E}"/>
                  </a:ext>
                </a:extLst>
              </p:cNvPr>
              <p:cNvSpPr>
                <a:spLocks/>
              </p:cNvSpPr>
              <p:nvPr/>
            </p:nvSpPr>
            <p:spPr bwMode="auto">
              <a:xfrm>
                <a:off x="2623" y="1726"/>
                <a:ext cx="649" cy="342"/>
              </a:xfrm>
              <a:custGeom>
                <a:avLst/>
                <a:gdLst>
                  <a:gd name="T0" fmla="*/ 649 w 649"/>
                  <a:gd name="T1" fmla="*/ 16 h 342"/>
                  <a:gd name="T2" fmla="*/ 521 w 649"/>
                  <a:gd name="T3" fmla="*/ 0 h 342"/>
                  <a:gd name="T4" fmla="*/ 374 w 649"/>
                  <a:gd name="T5" fmla="*/ 2 h 342"/>
                  <a:gd name="T6" fmla="*/ 262 w 649"/>
                  <a:gd name="T7" fmla="*/ 13 h 342"/>
                  <a:gd name="T8" fmla="*/ 155 w 649"/>
                  <a:gd name="T9" fmla="*/ 34 h 342"/>
                  <a:gd name="T10" fmla="*/ 91 w 649"/>
                  <a:gd name="T11" fmla="*/ 69 h 342"/>
                  <a:gd name="T12" fmla="*/ 45 w 649"/>
                  <a:gd name="T13" fmla="*/ 109 h 342"/>
                  <a:gd name="T14" fmla="*/ 11 w 649"/>
                  <a:gd name="T15" fmla="*/ 149 h 342"/>
                  <a:gd name="T16" fmla="*/ 0 w 649"/>
                  <a:gd name="T17" fmla="*/ 200 h 342"/>
                  <a:gd name="T18" fmla="*/ 5 w 649"/>
                  <a:gd name="T19" fmla="*/ 243 h 342"/>
                  <a:gd name="T20" fmla="*/ 40 w 649"/>
                  <a:gd name="T21" fmla="*/ 296 h 342"/>
                  <a:gd name="T22" fmla="*/ 109 w 649"/>
                  <a:gd name="T23" fmla="*/ 328 h 342"/>
                  <a:gd name="T24" fmla="*/ 189 w 649"/>
                  <a:gd name="T25" fmla="*/ 34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9" h="342">
                    <a:moveTo>
                      <a:pt x="649" y="16"/>
                    </a:moveTo>
                    <a:lnTo>
                      <a:pt x="521" y="0"/>
                    </a:lnTo>
                    <a:lnTo>
                      <a:pt x="374" y="2"/>
                    </a:lnTo>
                    <a:lnTo>
                      <a:pt x="262" y="13"/>
                    </a:lnTo>
                    <a:lnTo>
                      <a:pt x="155" y="34"/>
                    </a:lnTo>
                    <a:lnTo>
                      <a:pt x="91" y="69"/>
                    </a:lnTo>
                    <a:lnTo>
                      <a:pt x="45" y="109"/>
                    </a:lnTo>
                    <a:lnTo>
                      <a:pt x="11" y="149"/>
                    </a:lnTo>
                    <a:lnTo>
                      <a:pt x="0" y="200"/>
                    </a:lnTo>
                    <a:lnTo>
                      <a:pt x="5" y="243"/>
                    </a:lnTo>
                    <a:lnTo>
                      <a:pt x="40" y="296"/>
                    </a:lnTo>
                    <a:lnTo>
                      <a:pt x="109" y="328"/>
                    </a:lnTo>
                    <a:lnTo>
                      <a:pt x="189" y="342"/>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55" name="Freeform 528">
                <a:extLst>
                  <a:ext uri="{FF2B5EF4-FFF2-40B4-BE49-F238E27FC236}">
                    <a16:creationId xmlns:a16="http://schemas.microsoft.com/office/drawing/2014/main" id="{4C0C8F07-6A13-4577-9E9E-B43DA84BFFE5}"/>
                  </a:ext>
                </a:extLst>
              </p:cNvPr>
              <p:cNvSpPr>
                <a:spLocks/>
              </p:cNvSpPr>
              <p:nvPr/>
            </p:nvSpPr>
            <p:spPr bwMode="auto">
              <a:xfrm>
                <a:off x="2420" y="2097"/>
                <a:ext cx="350" cy="171"/>
              </a:xfrm>
              <a:custGeom>
                <a:avLst/>
                <a:gdLst>
                  <a:gd name="T0" fmla="*/ 350 w 350"/>
                  <a:gd name="T1" fmla="*/ 24 h 171"/>
                  <a:gd name="T2" fmla="*/ 272 w 350"/>
                  <a:gd name="T3" fmla="*/ 0 h 171"/>
                  <a:gd name="T4" fmla="*/ 171 w 350"/>
                  <a:gd name="T5" fmla="*/ 0 h 171"/>
                  <a:gd name="T6" fmla="*/ 61 w 350"/>
                  <a:gd name="T7" fmla="*/ 24 h 171"/>
                  <a:gd name="T8" fmla="*/ 0 w 350"/>
                  <a:gd name="T9" fmla="*/ 67 h 171"/>
                  <a:gd name="T10" fmla="*/ 75 w 350"/>
                  <a:gd name="T11" fmla="*/ 171 h 171"/>
                </a:gdLst>
                <a:ahLst/>
                <a:cxnLst>
                  <a:cxn ang="0">
                    <a:pos x="T0" y="T1"/>
                  </a:cxn>
                  <a:cxn ang="0">
                    <a:pos x="T2" y="T3"/>
                  </a:cxn>
                  <a:cxn ang="0">
                    <a:pos x="T4" y="T5"/>
                  </a:cxn>
                  <a:cxn ang="0">
                    <a:pos x="T6" y="T7"/>
                  </a:cxn>
                  <a:cxn ang="0">
                    <a:pos x="T8" y="T9"/>
                  </a:cxn>
                  <a:cxn ang="0">
                    <a:pos x="T10" y="T11"/>
                  </a:cxn>
                </a:cxnLst>
                <a:rect l="0" t="0" r="r" b="b"/>
                <a:pathLst>
                  <a:path w="350" h="171">
                    <a:moveTo>
                      <a:pt x="350" y="24"/>
                    </a:moveTo>
                    <a:lnTo>
                      <a:pt x="272" y="0"/>
                    </a:lnTo>
                    <a:lnTo>
                      <a:pt x="171" y="0"/>
                    </a:lnTo>
                    <a:lnTo>
                      <a:pt x="61" y="24"/>
                    </a:lnTo>
                    <a:lnTo>
                      <a:pt x="0" y="67"/>
                    </a:lnTo>
                    <a:lnTo>
                      <a:pt x="75" y="171"/>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56" name="Freeform 529">
                <a:extLst>
                  <a:ext uri="{FF2B5EF4-FFF2-40B4-BE49-F238E27FC236}">
                    <a16:creationId xmlns:a16="http://schemas.microsoft.com/office/drawing/2014/main" id="{053E9996-0FD4-4278-8736-B2446DC4C5C2}"/>
                  </a:ext>
                </a:extLst>
              </p:cNvPr>
              <p:cNvSpPr>
                <a:spLocks/>
              </p:cNvSpPr>
              <p:nvPr/>
            </p:nvSpPr>
            <p:spPr bwMode="auto">
              <a:xfrm>
                <a:off x="1237" y="2164"/>
                <a:ext cx="1167" cy="34"/>
              </a:xfrm>
              <a:custGeom>
                <a:avLst/>
                <a:gdLst>
                  <a:gd name="T0" fmla="*/ 1167 w 1167"/>
                  <a:gd name="T1" fmla="*/ 0 h 34"/>
                  <a:gd name="T2" fmla="*/ 1033 w 1167"/>
                  <a:gd name="T3" fmla="*/ 0 h 34"/>
                  <a:gd name="T4" fmla="*/ 817 w 1167"/>
                  <a:gd name="T5" fmla="*/ 8 h 34"/>
                  <a:gd name="T6" fmla="*/ 649 w 1167"/>
                  <a:gd name="T7" fmla="*/ 21 h 34"/>
                  <a:gd name="T8" fmla="*/ 486 w 1167"/>
                  <a:gd name="T9" fmla="*/ 34 h 34"/>
                  <a:gd name="T10" fmla="*/ 214 w 1167"/>
                  <a:gd name="T11" fmla="*/ 24 h 34"/>
                  <a:gd name="T12" fmla="*/ 0 w 1167"/>
                  <a:gd name="T13" fmla="*/ 21 h 34"/>
                </a:gdLst>
                <a:ahLst/>
                <a:cxnLst>
                  <a:cxn ang="0">
                    <a:pos x="T0" y="T1"/>
                  </a:cxn>
                  <a:cxn ang="0">
                    <a:pos x="T2" y="T3"/>
                  </a:cxn>
                  <a:cxn ang="0">
                    <a:pos x="T4" y="T5"/>
                  </a:cxn>
                  <a:cxn ang="0">
                    <a:pos x="T6" y="T7"/>
                  </a:cxn>
                  <a:cxn ang="0">
                    <a:pos x="T8" y="T9"/>
                  </a:cxn>
                  <a:cxn ang="0">
                    <a:pos x="T10" y="T11"/>
                  </a:cxn>
                  <a:cxn ang="0">
                    <a:pos x="T12" y="T13"/>
                  </a:cxn>
                </a:cxnLst>
                <a:rect l="0" t="0" r="r" b="b"/>
                <a:pathLst>
                  <a:path w="1167" h="34">
                    <a:moveTo>
                      <a:pt x="1167" y="0"/>
                    </a:moveTo>
                    <a:lnTo>
                      <a:pt x="1033" y="0"/>
                    </a:lnTo>
                    <a:lnTo>
                      <a:pt x="817" y="8"/>
                    </a:lnTo>
                    <a:lnTo>
                      <a:pt x="649" y="21"/>
                    </a:lnTo>
                    <a:lnTo>
                      <a:pt x="486" y="34"/>
                    </a:lnTo>
                    <a:lnTo>
                      <a:pt x="214" y="24"/>
                    </a:lnTo>
                    <a:lnTo>
                      <a:pt x="0" y="21"/>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57" name="Line 530">
                <a:extLst>
                  <a:ext uri="{FF2B5EF4-FFF2-40B4-BE49-F238E27FC236}">
                    <a16:creationId xmlns:a16="http://schemas.microsoft.com/office/drawing/2014/main" id="{3BC10F9A-9274-4ED1-87EA-72F81E04BF40}"/>
                  </a:ext>
                </a:extLst>
              </p:cNvPr>
              <p:cNvSpPr>
                <a:spLocks noChangeShapeType="1"/>
              </p:cNvSpPr>
              <p:nvPr/>
            </p:nvSpPr>
            <p:spPr bwMode="auto">
              <a:xfrm>
                <a:off x="2332" y="2172"/>
                <a:ext cx="75" cy="8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8" name="Line 531">
                <a:extLst>
                  <a:ext uri="{FF2B5EF4-FFF2-40B4-BE49-F238E27FC236}">
                    <a16:creationId xmlns:a16="http://schemas.microsoft.com/office/drawing/2014/main" id="{C0D4208A-4D6E-4147-B6C3-FEAD4C3A68FF}"/>
                  </a:ext>
                </a:extLst>
              </p:cNvPr>
              <p:cNvSpPr>
                <a:spLocks noChangeShapeType="1"/>
              </p:cNvSpPr>
              <p:nvPr/>
            </p:nvSpPr>
            <p:spPr bwMode="auto">
              <a:xfrm>
                <a:off x="2260" y="2172"/>
                <a:ext cx="67" cy="7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59" name="Line 532">
                <a:extLst>
                  <a:ext uri="{FF2B5EF4-FFF2-40B4-BE49-F238E27FC236}">
                    <a16:creationId xmlns:a16="http://schemas.microsoft.com/office/drawing/2014/main" id="{9FC25897-5EAC-4122-8657-57237D5A63BD}"/>
                  </a:ext>
                </a:extLst>
              </p:cNvPr>
              <p:cNvSpPr>
                <a:spLocks noChangeShapeType="1"/>
              </p:cNvSpPr>
              <p:nvPr/>
            </p:nvSpPr>
            <p:spPr bwMode="auto">
              <a:xfrm>
                <a:off x="2174" y="2169"/>
                <a:ext cx="67" cy="8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60" name="Line 533">
                <a:extLst>
                  <a:ext uri="{FF2B5EF4-FFF2-40B4-BE49-F238E27FC236}">
                    <a16:creationId xmlns:a16="http://schemas.microsoft.com/office/drawing/2014/main" id="{45B2F334-E124-4EE1-AF3B-B02F22EA31BB}"/>
                  </a:ext>
                </a:extLst>
              </p:cNvPr>
              <p:cNvSpPr>
                <a:spLocks noChangeShapeType="1"/>
              </p:cNvSpPr>
              <p:nvPr/>
            </p:nvSpPr>
            <p:spPr bwMode="auto">
              <a:xfrm>
                <a:off x="2108" y="2177"/>
                <a:ext cx="74"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61" name="Line 534">
                <a:extLst>
                  <a:ext uri="{FF2B5EF4-FFF2-40B4-BE49-F238E27FC236}">
                    <a16:creationId xmlns:a16="http://schemas.microsoft.com/office/drawing/2014/main" id="{7FDFBAA0-C0FC-428D-9BE6-018991533283}"/>
                  </a:ext>
                </a:extLst>
              </p:cNvPr>
              <p:cNvSpPr>
                <a:spLocks noChangeShapeType="1"/>
              </p:cNvSpPr>
              <p:nvPr/>
            </p:nvSpPr>
            <p:spPr bwMode="auto">
              <a:xfrm>
                <a:off x="2054" y="2180"/>
                <a:ext cx="48"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62" name="Line 535">
                <a:extLst>
                  <a:ext uri="{FF2B5EF4-FFF2-40B4-BE49-F238E27FC236}">
                    <a16:creationId xmlns:a16="http://schemas.microsoft.com/office/drawing/2014/main" id="{A0A2F4AF-7640-458D-BEEE-CDE09AF61BA6}"/>
                  </a:ext>
                </a:extLst>
              </p:cNvPr>
              <p:cNvSpPr>
                <a:spLocks noChangeShapeType="1"/>
              </p:cNvSpPr>
              <p:nvPr/>
            </p:nvSpPr>
            <p:spPr bwMode="auto">
              <a:xfrm>
                <a:off x="1987" y="2182"/>
                <a:ext cx="54" cy="4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63" name="Line 536">
                <a:extLst>
                  <a:ext uri="{FF2B5EF4-FFF2-40B4-BE49-F238E27FC236}">
                    <a16:creationId xmlns:a16="http://schemas.microsoft.com/office/drawing/2014/main" id="{AFCBDE06-79E6-4727-8EFB-C467FD9406D1}"/>
                  </a:ext>
                </a:extLst>
              </p:cNvPr>
              <p:cNvSpPr>
                <a:spLocks noChangeShapeType="1"/>
              </p:cNvSpPr>
              <p:nvPr/>
            </p:nvSpPr>
            <p:spPr bwMode="auto">
              <a:xfrm>
                <a:off x="1929" y="2185"/>
                <a:ext cx="40" cy="4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64" name="Line 537">
                <a:extLst>
                  <a:ext uri="{FF2B5EF4-FFF2-40B4-BE49-F238E27FC236}">
                    <a16:creationId xmlns:a16="http://schemas.microsoft.com/office/drawing/2014/main" id="{77A6577D-E281-434C-BA2C-5BF2DB216C5D}"/>
                  </a:ext>
                </a:extLst>
              </p:cNvPr>
              <p:cNvSpPr>
                <a:spLocks noChangeShapeType="1"/>
              </p:cNvSpPr>
              <p:nvPr/>
            </p:nvSpPr>
            <p:spPr bwMode="auto">
              <a:xfrm>
                <a:off x="1846" y="2190"/>
                <a:ext cx="37" cy="3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342" name="Line 538">
              <a:extLst>
                <a:ext uri="{FF2B5EF4-FFF2-40B4-BE49-F238E27FC236}">
                  <a16:creationId xmlns:a16="http://schemas.microsoft.com/office/drawing/2014/main" id="{657D2A0E-9760-4362-AC9E-0E0FCC4C41F2}"/>
                </a:ext>
              </a:extLst>
            </p:cNvPr>
            <p:cNvSpPr>
              <a:spLocks noChangeShapeType="1"/>
            </p:cNvSpPr>
            <p:nvPr/>
          </p:nvSpPr>
          <p:spPr bwMode="auto">
            <a:xfrm>
              <a:off x="2441" y="2156"/>
              <a:ext cx="72" cy="7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3" name="Line 539">
              <a:extLst>
                <a:ext uri="{FF2B5EF4-FFF2-40B4-BE49-F238E27FC236}">
                  <a16:creationId xmlns:a16="http://schemas.microsoft.com/office/drawing/2014/main" id="{A8CC8ACD-B36D-4E9E-891D-8C4A22D6E771}"/>
                </a:ext>
              </a:extLst>
            </p:cNvPr>
            <p:cNvSpPr>
              <a:spLocks noChangeShapeType="1"/>
            </p:cNvSpPr>
            <p:nvPr/>
          </p:nvSpPr>
          <p:spPr bwMode="auto">
            <a:xfrm>
              <a:off x="2481" y="2142"/>
              <a:ext cx="64"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4" name="Line 540">
              <a:extLst>
                <a:ext uri="{FF2B5EF4-FFF2-40B4-BE49-F238E27FC236}">
                  <a16:creationId xmlns:a16="http://schemas.microsoft.com/office/drawing/2014/main" id="{2ACCE120-3238-4ED6-AF4C-FE8F6FB5611E}"/>
                </a:ext>
              </a:extLst>
            </p:cNvPr>
            <p:cNvSpPr>
              <a:spLocks noChangeShapeType="1"/>
            </p:cNvSpPr>
            <p:nvPr/>
          </p:nvSpPr>
          <p:spPr bwMode="auto">
            <a:xfrm>
              <a:off x="2532" y="2121"/>
              <a:ext cx="40"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5" name="Line 541">
              <a:extLst>
                <a:ext uri="{FF2B5EF4-FFF2-40B4-BE49-F238E27FC236}">
                  <a16:creationId xmlns:a16="http://schemas.microsoft.com/office/drawing/2014/main" id="{DFA2C5DB-12DE-417D-A708-2F61E68860EE}"/>
                </a:ext>
              </a:extLst>
            </p:cNvPr>
            <p:cNvSpPr>
              <a:spLocks noChangeShapeType="1"/>
            </p:cNvSpPr>
            <p:nvPr/>
          </p:nvSpPr>
          <p:spPr bwMode="auto">
            <a:xfrm>
              <a:off x="2578" y="2110"/>
              <a:ext cx="29" cy="7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6" name="Line 542">
              <a:extLst>
                <a:ext uri="{FF2B5EF4-FFF2-40B4-BE49-F238E27FC236}">
                  <a16:creationId xmlns:a16="http://schemas.microsoft.com/office/drawing/2014/main" id="{8F4DF650-C4BC-4D86-8E7B-224037DB9F3E}"/>
                </a:ext>
              </a:extLst>
            </p:cNvPr>
            <p:cNvSpPr>
              <a:spLocks noChangeShapeType="1"/>
            </p:cNvSpPr>
            <p:nvPr/>
          </p:nvSpPr>
          <p:spPr bwMode="auto">
            <a:xfrm>
              <a:off x="2623" y="2102"/>
              <a:ext cx="21"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7" name="Line 543">
              <a:extLst>
                <a:ext uri="{FF2B5EF4-FFF2-40B4-BE49-F238E27FC236}">
                  <a16:creationId xmlns:a16="http://schemas.microsoft.com/office/drawing/2014/main" id="{BF1A7A0F-D133-45F6-98F4-7878FC4740C3}"/>
                </a:ext>
              </a:extLst>
            </p:cNvPr>
            <p:cNvSpPr>
              <a:spLocks noChangeShapeType="1"/>
            </p:cNvSpPr>
            <p:nvPr/>
          </p:nvSpPr>
          <p:spPr bwMode="auto">
            <a:xfrm>
              <a:off x="2668" y="2105"/>
              <a:ext cx="6" cy="3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8" name="Line 544">
              <a:extLst>
                <a:ext uri="{FF2B5EF4-FFF2-40B4-BE49-F238E27FC236}">
                  <a16:creationId xmlns:a16="http://schemas.microsoft.com/office/drawing/2014/main" id="{B37053A1-DC58-4AF1-AE26-F5DFC09B3C04}"/>
                </a:ext>
              </a:extLst>
            </p:cNvPr>
            <p:cNvSpPr>
              <a:spLocks noChangeShapeType="1"/>
            </p:cNvSpPr>
            <p:nvPr/>
          </p:nvSpPr>
          <p:spPr bwMode="auto">
            <a:xfrm flipH="1">
              <a:off x="2711" y="2116"/>
              <a:ext cx="3" cy="2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49" name="Line 545">
              <a:extLst>
                <a:ext uri="{FF2B5EF4-FFF2-40B4-BE49-F238E27FC236}">
                  <a16:creationId xmlns:a16="http://schemas.microsoft.com/office/drawing/2014/main" id="{53ABE7DD-C6C8-4DE1-9EB1-B0F6C21DDA6B}"/>
                </a:ext>
              </a:extLst>
            </p:cNvPr>
            <p:cNvSpPr>
              <a:spLocks noChangeShapeType="1"/>
            </p:cNvSpPr>
            <p:nvPr/>
          </p:nvSpPr>
          <p:spPr bwMode="auto">
            <a:xfrm>
              <a:off x="3237" y="1408"/>
              <a:ext cx="51" cy="7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0" name="Line 546">
              <a:extLst>
                <a:ext uri="{FF2B5EF4-FFF2-40B4-BE49-F238E27FC236}">
                  <a16:creationId xmlns:a16="http://schemas.microsoft.com/office/drawing/2014/main" id="{DE843FBB-06F1-4693-8863-12232523517C}"/>
                </a:ext>
              </a:extLst>
            </p:cNvPr>
            <p:cNvSpPr>
              <a:spLocks noChangeShapeType="1"/>
            </p:cNvSpPr>
            <p:nvPr/>
          </p:nvSpPr>
          <p:spPr bwMode="auto">
            <a:xfrm>
              <a:off x="3202" y="1440"/>
              <a:ext cx="59" cy="5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1" name="Line 547">
              <a:extLst>
                <a:ext uri="{FF2B5EF4-FFF2-40B4-BE49-F238E27FC236}">
                  <a16:creationId xmlns:a16="http://schemas.microsoft.com/office/drawing/2014/main" id="{697C1572-B436-4C8A-BA45-E7C0076F4770}"/>
                </a:ext>
              </a:extLst>
            </p:cNvPr>
            <p:cNvSpPr>
              <a:spLocks noChangeShapeType="1"/>
            </p:cNvSpPr>
            <p:nvPr/>
          </p:nvSpPr>
          <p:spPr bwMode="auto">
            <a:xfrm>
              <a:off x="3162" y="1474"/>
              <a:ext cx="78" cy="5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2" name="Line 548">
              <a:extLst>
                <a:ext uri="{FF2B5EF4-FFF2-40B4-BE49-F238E27FC236}">
                  <a16:creationId xmlns:a16="http://schemas.microsoft.com/office/drawing/2014/main" id="{545E869F-8E22-4ED0-BFFE-3BABC7CAEB4A}"/>
                </a:ext>
              </a:extLst>
            </p:cNvPr>
            <p:cNvSpPr>
              <a:spLocks noChangeShapeType="1"/>
            </p:cNvSpPr>
            <p:nvPr/>
          </p:nvSpPr>
          <p:spPr bwMode="auto">
            <a:xfrm>
              <a:off x="3138" y="1522"/>
              <a:ext cx="96" cy="5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3" name="Line 549">
              <a:extLst>
                <a:ext uri="{FF2B5EF4-FFF2-40B4-BE49-F238E27FC236}">
                  <a16:creationId xmlns:a16="http://schemas.microsoft.com/office/drawing/2014/main" id="{E0D56D5A-584C-42F2-BBFF-F4E7201B07D6}"/>
                </a:ext>
              </a:extLst>
            </p:cNvPr>
            <p:cNvSpPr>
              <a:spLocks noChangeShapeType="1"/>
            </p:cNvSpPr>
            <p:nvPr/>
          </p:nvSpPr>
          <p:spPr bwMode="auto">
            <a:xfrm>
              <a:off x="3133" y="1571"/>
              <a:ext cx="93" cy="4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4" name="Line 550">
              <a:extLst>
                <a:ext uri="{FF2B5EF4-FFF2-40B4-BE49-F238E27FC236}">
                  <a16:creationId xmlns:a16="http://schemas.microsoft.com/office/drawing/2014/main" id="{93CC00D5-A003-4022-BF5F-313603D6C202}"/>
                </a:ext>
              </a:extLst>
            </p:cNvPr>
            <p:cNvSpPr>
              <a:spLocks noChangeShapeType="1"/>
            </p:cNvSpPr>
            <p:nvPr/>
          </p:nvSpPr>
          <p:spPr bwMode="auto">
            <a:xfrm>
              <a:off x="3160" y="1624"/>
              <a:ext cx="85" cy="3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5" name="Line 551">
              <a:extLst>
                <a:ext uri="{FF2B5EF4-FFF2-40B4-BE49-F238E27FC236}">
                  <a16:creationId xmlns:a16="http://schemas.microsoft.com/office/drawing/2014/main" id="{70D1CA64-02DA-46A1-88E0-895C7824D67A}"/>
                </a:ext>
              </a:extLst>
            </p:cNvPr>
            <p:cNvSpPr>
              <a:spLocks noChangeShapeType="1"/>
            </p:cNvSpPr>
            <p:nvPr/>
          </p:nvSpPr>
          <p:spPr bwMode="auto">
            <a:xfrm>
              <a:off x="3173" y="1734"/>
              <a:ext cx="11" cy="2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6" name="Line 552">
              <a:extLst>
                <a:ext uri="{FF2B5EF4-FFF2-40B4-BE49-F238E27FC236}">
                  <a16:creationId xmlns:a16="http://schemas.microsoft.com/office/drawing/2014/main" id="{AEEAFB94-4220-418E-B0CF-815B568378B0}"/>
                </a:ext>
              </a:extLst>
            </p:cNvPr>
            <p:cNvSpPr>
              <a:spLocks noChangeShapeType="1"/>
            </p:cNvSpPr>
            <p:nvPr/>
          </p:nvSpPr>
          <p:spPr bwMode="auto">
            <a:xfrm>
              <a:off x="3106" y="1728"/>
              <a:ext cx="19"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7" name="Line 553">
              <a:extLst>
                <a:ext uri="{FF2B5EF4-FFF2-40B4-BE49-F238E27FC236}">
                  <a16:creationId xmlns:a16="http://schemas.microsoft.com/office/drawing/2014/main" id="{4BC698D0-EC86-4A0A-9E65-34DA89FC407B}"/>
                </a:ext>
              </a:extLst>
            </p:cNvPr>
            <p:cNvSpPr>
              <a:spLocks noChangeShapeType="1"/>
            </p:cNvSpPr>
            <p:nvPr/>
          </p:nvSpPr>
          <p:spPr bwMode="auto">
            <a:xfrm>
              <a:off x="3053" y="1734"/>
              <a:ext cx="21" cy="4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8" name="Line 554">
              <a:extLst>
                <a:ext uri="{FF2B5EF4-FFF2-40B4-BE49-F238E27FC236}">
                  <a16:creationId xmlns:a16="http://schemas.microsoft.com/office/drawing/2014/main" id="{E23EDBBC-47CA-4EFB-94F0-42693363EFEC}"/>
                </a:ext>
              </a:extLst>
            </p:cNvPr>
            <p:cNvSpPr>
              <a:spLocks noChangeShapeType="1"/>
            </p:cNvSpPr>
            <p:nvPr/>
          </p:nvSpPr>
          <p:spPr bwMode="auto">
            <a:xfrm>
              <a:off x="2991" y="1739"/>
              <a:ext cx="27" cy="4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9" name="Line 555">
              <a:extLst>
                <a:ext uri="{FF2B5EF4-FFF2-40B4-BE49-F238E27FC236}">
                  <a16:creationId xmlns:a16="http://schemas.microsoft.com/office/drawing/2014/main" id="{B7566F73-F3D6-4A73-A67E-F45A4A49AA4A}"/>
                </a:ext>
              </a:extLst>
            </p:cNvPr>
            <p:cNvSpPr>
              <a:spLocks noChangeShapeType="1"/>
            </p:cNvSpPr>
            <p:nvPr/>
          </p:nvSpPr>
          <p:spPr bwMode="auto">
            <a:xfrm>
              <a:off x="2919" y="1739"/>
              <a:ext cx="46"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0" name="Line 556">
              <a:extLst>
                <a:ext uri="{FF2B5EF4-FFF2-40B4-BE49-F238E27FC236}">
                  <a16:creationId xmlns:a16="http://schemas.microsoft.com/office/drawing/2014/main" id="{DB48666B-9947-4043-88E8-7DA81306C742}"/>
                </a:ext>
              </a:extLst>
            </p:cNvPr>
            <p:cNvSpPr>
              <a:spLocks noChangeShapeType="1"/>
            </p:cNvSpPr>
            <p:nvPr/>
          </p:nvSpPr>
          <p:spPr bwMode="auto">
            <a:xfrm>
              <a:off x="2850" y="1752"/>
              <a:ext cx="61"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1" name="Line 557">
              <a:extLst>
                <a:ext uri="{FF2B5EF4-FFF2-40B4-BE49-F238E27FC236}">
                  <a16:creationId xmlns:a16="http://schemas.microsoft.com/office/drawing/2014/main" id="{6643D971-2C67-4DBB-B859-E35BAA4E3384}"/>
                </a:ext>
              </a:extLst>
            </p:cNvPr>
            <p:cNvSpPr>
              <a:spLocks noChangeShapeType="1"/>
            </p:cNvSpPr>
            <p:nvPr/>
          </p:nvSpPr>
          <p:spPr bwMode="auto">
            <a:xfrm>
              <a:off x="2770" y="1768"/>
              <a:ext cx="85"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2" name="Line 558">
              <a:extLst>
                <a:ext uri="{FF2B5EF4-FFF2-40B4-BE49-F238E27FC236}">
                  <a16:creationId xmlns:a16="http://schemas.microsoft.com/office/drawing/2014/main" id="{5666A7AA-C9CA-4F7B-B1E6-A6059852A8BE}"/>
                </a:ext>
              </a:extLst>
            </p:cNvPr>
            <p:cNvSpPr>
              <a:spLocks noChangeShapeType="1"/>
            </p:cNvSpPr>
            <p:nvPr/>
          </p:nvSpPr>
          <p:spPr bwMode="auto">
            <a:xfrm>
              <a:off x="2740" y="1795"/>
              <a:ext cx="78" cy="5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3" name="Line 559">
              <a:extLst>
                <a:ext uri="{FF2B5EF4-FFF2-40B4-BE49-F238E27FC236}">
                  <a16:creationId xmlns:a16="http://schemas.microsoft.com/office/drawing/2014/main" id="{53C3DBC0-2223-49F0-8FF7-C154EEFCF9B4}"/>
                </a:ext>
              </a:extLst>
            </p:cNvPr>
            <p:cNvSpPr>
              <a:spLocks noChangeShapeType="1"/>
            </p:cNvSpPr>
            <p:nvPr/>
          </p:nvSpPr>
          <p:spPr bwMode="auto">
            <a:xfrm>
              <a:off x="2700" y="1824"/>
              <a:ext cx="83"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4" name="Line 560">
              <a:extLst>
                <a:ext uri="{FF2B5EF4-FFF2-40B4-BE49-F238E27FC236}">
                  <a16:creationId xmlns:a16="http://schemas.microsoft.com/office/drawing/2014/main" id="{FA327D6A-555D-42EA-8CF0-D5545DD016B5}"/>
                </a:ext>
              </a:extLst>
            </p:cNvPr>
            <p:cNvSpPr>
              <a:spLocks noChangeShapeType="1"/>
            </p:cNvSpPr>
            <p:nvPr/>
          </p:nvSpPr>
          <p:spPr bwMode="auto">
            <a:xfrm>
              <a:off x="2666" y="1854"/>
              <a:ext cx="88"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5" name="Line 561">
              <a:extLst>
                <a:ext uri="{FF2B5EF4-FFF2-40B4-BE49-F238E27FC236}">
                  <a16:creationId xmlns:a16="http://schemas.microsoft.com/office/drawing/2014/main" id="{5A0D3D79-5658-453F-B28E-8B938273593C}"/>
                </a:ext>
              </a:extLst>
            </p:cNvPr>
            <p:cNvSpPr>
              <a:spLocks noChangeShapeType="1"/>
            </p:cNvSpPr>
            <p:nvPr/>
          </p:nvSpPr>
          <p:spPr bwMode="auto">
            <a:xfrm>
              <a:off x="2642" y="1907"/>
              <a:ext cx="104" cy="5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6" name="Line 562">
              <a:extLst>
                <a:ext uri="{FF2B5EF4-FFF2-40B4-BE49-F238E27FC236}">
                  <a16:creationId xmlns:a16="http://schemas.microsoft.com/office/drawing/2014/main" id="{36FCB438-BFBF-4C34-9430-602BA260CD21}"/>
                </a:ext>
              </a:extLst>
            </p:cNvPr>
            <p:cNvSpPr>
              <a:spLocks noChangeShapeType="1"/>
            </p:cNvSpPr>
            <p:nvPr/>
          </p:nvSpPr>
          <p:spPr bwMode="auto">
            <a:xfrm>
              <a:off x="2636" y="1953"/>
              <a:ext cx="112" cy="5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7" name="Freeform 563">
              <a:extLst>
                <a:ext uri="{FF2B5EF4-FFF2-40B4-BE49-F238E27FC236}">
                  <a16:creationId xmlns:a16="http://schemas.microsoft.com/office/drawing/2014/main" id="{BCE6C917-87E9-47DD-8455-E6689D8FB47C}"/>
                </a:ext>
              </a:extLst>
            </p:cNvPr>
            <p:cNvSpPr>
              <a:spLocks/>
            </p:cNvSpPr>
            <p:nvPr/>
          </p:nvSpPr>
          <p:spPr bwMode="auto">
            <a:xfrm>
              <a:off x="2877" y="1808"/>
              <a:ext cx="451" cy="270"/>
            </a:xfrm>
            <a:custGeom>
              <a:avLst/>
              <a:gdLst>
                <a:gd name="T0" fmla="*/ 451 w 451"/>
                <a:gd name="T1" fmla="*/ 27 h 270"/>
                <a:gd name="T2" fmla="*/ 435 w 451"/>
                <a:gd name="T3" fmla="*/ 6 h 270"/>
                <a:gd name="T4" fmla="*/ 411 w 451"/>
                <a:gd name="T5" fmla="*/ 0 h 270"/>
                <a:gd name="T6" fmla="*/ 373 w 451"/>
                <a:gd name="T7" fmla="*/ 0 h 270"/>
                <a:gd name="T8" fmla="*/ 312 w 451"/>
                <a:gd name="T9" fmla="*/ 6 h 270"/>
                <a:gd name="T10" fmla="*/ 218 w 451"/>
                <a:gd name="T11" fmla="*/ 38 h 270"/>
                <a:gd name="T12" fmla="*/ 112 w 451"/>
                <a:gd name="T13" fmla="*/ 80 h 270"/>
                <a:gd name="T14" fmla="*/ 37 w 451"/>
                <a:gd name="T15" fmla="*/ 139 h 270"/>
                <a:gd name="T16" fmla="*/ 5 w 451"/>
                <a:gd name="T17" fmla="*/ 179 h 270"/>
                <a:gd name="T18" fmla="*/ 0 w 451"/>
                <a:gd name="T19" fmla="*/ 217 h 270"/>
                <a:gd name="T20" fmla="*/ 10 w 451"/>
                <a:gd name="T21" fmla="*/ 243 h 270"/>
                <a:gd name="T22" fmla="*/ 32 w 451"/>
                <a:gd name="T23" fmla="*/ 257 h 270"/>
                <a:gd name="T24" fmla="*/ 72 w 451"/>
                <a:gd name="T25" fmla="*/ 270 h 270"/>
                <a:gd name="T26" fmla="*/ 141 w 451"/>
                <a:gd name="T27" fmla="*/ 270 h 270"/>
                <a:gd name="T28" fmla="*/ 451 w 451"/>
                <a:gd name="T29" fmla="*/ 2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270">
                  <a:moveTo>
                    <a:pt x="451" y="27"/>
                  </a:moveTo>
                  <a:lnTo>
                    <a:pt x="435" y="6"/>
                  </a:lnTo>
                  <a:lnTo>
                    <a:pt x="411" y="0"/>
                  </a:lnTo>
                  <a:lnTo>
                    <a:pt x="373" y="0"/>
                  </a:lnTo>
                  <a:lnTo>
                    <a:pt x="312" y="6"/>
                  </a:lnTo>
                  <a:lnTo>
                    <a:pt x="218" y="38"/>
                  </a:lnTo>
                  <a:lnTo>
                    <a:pt x="112" y="80"/>
                  </a:lnTo>
                  <a:lnTo>
                    <a:pt x="37" y="139"/>
                  </a:lnTo>
                  <a:lnTo>
                    <a:pt x="5" y="179"/>
                  </a:lnTo>
                  <a:lnTo>
                    <a:pt x="0" y="217"/>
                  </a:lnTo>
                  <a:lnTo>
                    <a:pt x="10" y="243"/>
                  </a:lnTo>
                  <a:lnTo>
                    <a:pt x="32" y="257"/>
                  </a:lnTo>
                  <a:lnTo>
                    <a:pt x="72" y="270"/>
                  </a:lnTo>
                  <a:lnTo>
                    <a:pt x="141" y="270"/>
                  </a:lnTo>
                  <a:lnTo>
                    <a:pt x="451" y="27"/>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68" name="Freeform 564">
              <a:extLst>
                <a:ext uri="{FF2B5EF4-FFF2-40B4-BE49-F238E27FC236}">
                  <a16:creationId xmlns:a16="http://schemas.microsoft.com/office/drawing/2014/main" id="{0019BF46-216B-46CC-8460-B3AE6E0EE8BB}"/>
                </a:ext>
              </a:extLst>
            </p:cNvPr>
            <p:cNvSpPr>
              <a:spLocks/>
            </p:cNvSpPr>
            <p:nvPr/>
          </p:nvSpPr>
          <p:spPr bwMode="auto">
            <a:xfrm>
              <a:off x="2877" y="1808"/>
              <a:ext cx="451" cy="270"/>
            </a:xfrm>
            <a:custGeom>
              <a:avLst/>
              <a:gdLst>
                <a:gd name="T0" fmla="*/ 451 w 451"/>
                <a:gd name="T1" fmla="*/ 27 h 270"/>
                <a:gd name="T2" fmla="*/ 435 w 451"/>
                <a:gd name="T3" fmla="*/ 6 h 270"/>
                <a:gd name="T4" fmla="*/ 411 w 451"/>
                <a:gd name="T5" fmla="*/ 0 h 270"/>
                <a:gd name="T6" fmla="*/ 373 w 451"/>
                <a:gd name="T7" fmla="*/ 0 h 270"/>
                <a:gd name="T8" fmla="*/ 312 w 451"/>
                <a:gd name="T9" fmla="*/ 6 h 270"/>
                <a:gd name="T10" fmla="*/ 218 w 451"/>
                <a:gd name="T11" fmla="*/ 38 h 270"/>
                <a:gd name="T12" fmla="*/ 112 w 451"/>
                <a:gd name="T13" fmla="*/ 80 h 270"/>
                <a:gd name="T14" fmla="*/ 37 w 451"/>
                <a:gd name="T15" fmla="*/ 139 h 270"/>
                <a:gd name="T16" fmla="*/ 5 w 451"/>
                <a:gd name="T17" fmla="*/ 179 h 270"/>
                <a:gd name="T18" fmla="*/ 0 w 451"/>
                <a:gd name="T19" fmla="*/ 217 h 270"/>
                <a:gd name="T20" fmla="*/ 10 w 451"/>
                <a:gd name="T21" fmla="*/ 243 h 270"/>
                <a:gd name="T22" fmla="*/ 32 w 451"/>
                <a:gd name="T23" fmla="*/ 257 h 270"/>
                <a:gd name="T24" fmla="*/ 72 w 451"/>
                <a:gd name="T25" fmla="*/ 270 h 270"/>
                <a:gd name="T26" fmla="*/ 141 w 451"/>
                <a:gd name="T27" fmla="*/ 270 h 270"/>
                <a:gd name="T28" fmla="*/ 451 w 451"/>
                <a:gd name="T29" fmla="*/ 2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270">
                  <a:moveTo>
                    <a:pt x="451" y="27"/>
                  </a:moveTo>
                  <a:lnTo>
                    <a:pt x="435" y="6"/>
                  </a:lnTo>
                  <a:lnTo>
                    <a:pt x="411" y="0"/>
                  </a:lnTo>
                  <a:lnTo>
                    <a:pt x="373" y="0"/>
                  </a:lnTo>
                  <a:lnTo>
                    <a:pt x="312" y="6"/>
                  </a:lnTo>
                  <a:lnTo>
                    <a:pt x="218" y="38"/>
                  </a:lnTo>
                  <a:lnTo>
                    <a:pt x="112" y="80"/>
                  </a:lnTo>
                  <a:lnTo>
                    <a:pt x="37" y="139"/>
                  </a:lnTo>
                  <a:lnTo>
                    <a:pt x="5" y="179"/>
                  </a:lnTo>
                  <a:lnTo>
                    <a:pt x="0" y="217"/>
                  </a:lnTo>
                  <a:lnTo>
                    <a:pt x="10" y="243"/>
                  </a:lnTo>
                  <a:lnTo>
                    <a:pt x="32" y="257"/>
                  </a:lnTo>
                  <a:lnTo>
                    <a:pt x="72" y="270"/>
                  </a:lnTo>
                  <a:lnTo>
                    <a:pt x="141" y="270"/>
                  </a:lnTo>
                  <a:lnTo>
                    <a:pt x="451" y="27"/>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69" name="Freeform 565">
              <a:extLst>
                <a:ext uri="{FF2B5EF4-FFF2-40B4-BE49-F238E27FC236}">
                  <a16:creationId xmlns:a16="http://schemas.microsoft.com/office/drawing/2014/main" id="{8D818369-D794-44F0-8043-515E64F1D304}"/>
                </a:ext>
              </a:extLst>
            </p:cNvPr>
            <p:cNvSpPr>
              <a:spLocks/>
            </p:cNvSpPr>
            <p:nvPr/>
          </p:nvSpPr>
          <p:spPr bwMode="auto">
            <a:xfrm>
              <a:off x="2642" y="2142"/>
              <a:ext cx="277" cy="142"/>
            </a:xfrm>
            <a:custGeom>
              <a:avLst/>
              <a:gdLst>
                <a:gd name="T0" fmla="*/ 277 w 277"/>
                <a:gd name="T1" fmla="*/ 16 h 142"/>
                <a:gd name="T2" fmla="*/ 275 w 277"/>
                <a:gd name="T3" fmla="*/ 8 h 142"/>
                <a:gd name="T4" fmla="*/ 261 w 277"/>
                <a:gd name="T5" fmla="*/ 0 h 142"/>
                <a:gd name="T6" fmla="*/ 245 w 277"/>
                <a:gd name="T7" fmla="*/ 0 h 142"/>
                <a:gd name="T8" fmla="*/ 211 w 277"/>
                <a:gd name="T9" fmla="*/ 14 h 142"/>
                <a:gd name="T10" fmla="*/ 149 w 277"/>
                <a:gd name="T11" fmla="*/ 32 h 142"/>
                <a:gd name="T12" fmla="*/ 90 w 277"/>
                <a:gd name="T13" fmla="*/ 59 h 142"/>
                <a:gd name="T14" fmla="*/ 29 w 277"/>
                <a:gd name="T15" fmla="*/ 91 h 142"/>
                <a:gd name="T16" fmla="*/ 0 w 277"/>
                <a:gd name="T17" fmla="*/ 118 h 142"/>
                <a:gd name="T18" fmla="*/ 0 w 277"/>
                <a:gd name="T19" fmla="*/ 126 h 142"/>
                <a:gd name="T20" fmla="*/ 8 w 277"/>
                <a:gd name="T21" fmla="*/ 134 h 142"/>
                <a:gd name="T22" fmla="*/ 117 w 277"/>
                <a:gd name="T23" fmla="*/ 142 h 142"/>
                <a:gd name="T24" fmla="*/ 277 w 277"/>
                <a:gd name="T25"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7" h="142">
                  <a:moveTo>
                    <a:pt x="277" y="16"/>
                  </a:moveTo>
                  <a:lnTo>
                    <a:pt x="275" y="8"/>
                  </a:lnTo>
                  <a:lnTo>
                    <a:pt x="261" y="0"/>
                  </a:lnTo>
                  <a:lnTo>
                    <a:pt x="245" y="0"/>
                  </a:lnTo>
                  <a:lnTo>
                    <a:pt x="211" y="14"/>
                  </a:lnTo>
                  <a:lnTo>
                    <a:pt x="149" y="32"/>
                  </a:lnTo>
                  <a:lnTo>
                    <a:pt x="90" y="59"/>
                  </a:lnTo>
                  <a:lnTo>
                    <a:pt x="29" y="91"/>
                  </a:lnTo>
                  <a:lnTo>
                    <a:pt x="0" y="118"/>
                  </a:lnTo>
                  <a:lnTo>
                    <a:pt x="0" y="126"/>
                  </a:lnTo>
                  <a:lnTo>
                    <a:pt x="8" y="134"/>
                  </a:lnTo>
                  <a:lnTo>
                    <a:pt x="117" y="142"/>
                  </a:lnTo>
                  <a:lnTo>
                    <a:pt x="277" y="16"/>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70" name="Freeform 566">
              <a:extLst>
                <a:ext uri="{FF2B5EF4-FFF2-40B4-BE49-F238E27FC236}">
                  <a16:creationId xmlns:a16="http://schemas.microsoft.com/office/drawing/2014/main" id="{6CA9AD1A-5A4D-411F-97BD-FF1CF0D62286}"/>
                </a:ext>
              </a:extLst>
            </p:cNvPr>
            <p:cNvSpPr>
              <a:spLocks/>
            </p:cNvSpPr>
            <p:nvPr/>
          </p:nvSpPr>
          <p:spPr bwMode="auto">
            <a:xfrm>
              <a:off x="2642" y="2142"/>
              <a:ext cx="277" cy="142"/>
            </a:xfrm>
            <a:custGeom>
              <a:avLst/>
              <a:gdLst>
                <a:gd name="T0" fmla="*/ 277 w 277"/>
                <a:gd name="T1" fmla="*/ 16 h 142"/>
                <a:gd name="T2" fmla="*/ 275 w 277"/>
                <a:gd name="T3" fmla="*/ 8 h 142"/>
                <a:gd name="T4" fmla="*/ 261 w 277"/>
                <a:gd name="T5" fmla="*/ 0 h 142"/>
                <a:gd name="T6" fmla="*/ 245 w 277"/>
                <a:gd name="T7" fmla="*/ 0 h 142"/>
                <a:gd name="T8" fmla="*/ 211 w 277"/>
                <a:gd name="T9" fmla="*/ 14 h 142"/>
                <a:gd name="T10" fmla="*/ 149 w 277"/>
                <a:gd name="T11" fmla="*/ 32 h 142"/>
                <a:gd name="T12" fmla="*/ 90 w 277"/>
                <a:gd name="T13" fmla="*/ 59 h 142"/>
                <a:gd name="T14" fmla="*/ 29 w 277"/>
                <a:gd name="T15" fmla="*/ 91 h 142"/>
                <a:gd name="T16" fmla="*/ 0 w 277"/>
                <a:gd name="T17" fmla="*/ 118 h 142"/>
                <a:gd name="T18" fmla="*/ 0 w 277"/>
                <a:gd name="T19" fmla="*/ 126 h 142"/>
                <a:gd name="T20" fmla="*/ 8 w 277"/>
                <a:gd name="T21" fmla="*/ 134 h 142"/>
                <a:gd name="T22" fmla="*/ 117 w 277"/>
                <a:gd name="T23" fmla="*/ 142 h 142"/>
                <a:gd name="T24" fmla="*/ 277 w 277"/>
                <a:gd name="T25"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7" h="142">
                  <a:moveTo>
                    <a:pt x="277" y="16"/>
                  </a:moveTo>
                  <a:lnTo>
                    <a:pt x="275" y="8"/>
                  </a:lnTo>
                  <a:lnTo>
                    <a:pt x="261" y="0"/>
                  </a:lnTo>
                  <a:lnTo>
                    <a:pt x="245" y="0"/>
                  </a:lnTo>
                  <a:lnTo>
                    <a:pt x="211" y="14"/>
                  </a:lnTo>
                  <a:lnTo>
                    <a:pt x="149" y="32"/>
                  </a:lnTo>
                  <a:lnTo>
                    <a:pt x="90" y="59"/>
                  </a:lnTo>
                  <a:lnTo>
                    <a:pt x="29" y="91"/>
                  </a:lnTo>
                  <a:lnTo>
                    <a:pt x="0" y="118"/>
                  </a:lnTo>
                  <a:lnTo>
                    <a:pt x="0" y="126"/>
                  </a:lnTo>
                  <a:lnTo>
                    <a:pt x="8" y="134"/>
                  </a:lnTo>
                  <a:lnTo>
                    <a:pt x="117" y="142"/>
                  </a:lnTo>
                  <a:lnTo>
                    <a:pt x="277" y="16"/>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1" name="Freeform 567">
              <a:extLst>
                <a:ext uri="{FF2B5EF4-FFF2-40B4-BE49-F238E27FC236}">
                  <a16:creationId xmlns:a16="http://schemas.microsoft.com/office/drawing/2014/main" id="{024171E5-4C7B-4F21-B658-6A9C62324651}"/>
                </a:ext>
              </a:extLst>
            </p:cNvPr>
            <p:cNvSpPr>
              <a:spLocks/>
            </p:cNvSpPr>
            <p:nvPr/>
          </p:nvSpPr>
          <p:spPr bwMode="auto">
            <a:xfrm>
              <a:off x="3333" y="1469"/>
              <a:ext cx="435" cy="224"/>
            </a:xfrm>
            <a:custGeom>
              <a:avLst/>
              <a:gdLst>
                <a:gd name="T0" fmla="*/ 179 w 435"/>
                <a:gd name="T1" fmla="*/ 0 h 224"/>
                <a:gd name="T2" fmla="*/ 104 w 435"/>
                <a:gd name="T3" fmla="*/ 32 h 224"/>
                <a:gd name="T4" fmla="*/ 46 w 435"/>
                <a:gd name="T5" fmla="*/ 72 h 224"/>
                <a:gd name="T6" fmla="*/ 8 w 435"/>
                <a:gd name="T7" fmla="*/ 118 h 224"/>
                <a:gd name="T8" fmla="*/ 0 w 435"/>
                <a:gd name="T9" fmla="*/ 171 h 224"/>
                <a:gd name="T10" fmla="*/ 13 w 435"/>
                <a:gd name="T11" fmla="*/ 208 h 224"/>
                <a:gd name="T12" fmla="*/ 54 w 435"/>
                <a:gd name="T13" fmla="*/ 224 h 224"/>
                <a:gd name="T14" fmla="*/ 110 w 435"/>
                <a:gd name="T15" fmla="*/ 224 h 224"/>
                <a:gd name="T16" fmla="*/ 163 w 435"/>
                <a:gd name="T17" fmla="*/ 216 h 224"/>
                <a:gd name="T18" fmla="*/ 198 w 435"/>
                <a:gd name="T19" fmla="*/ 206 h 224"/>
                <a:gd name="T20" fmla="*/ 435 w 435"/>
                <a:gd name="T21" fmla="*/ 16 h 224"/>
                <a:gd name="T22" fmla="*/ 179 w 435"/>
                <a:gd name="T2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5" h="224">
                  <a:moveTo>
                    <a:pt x="179" y="0"/>
                  </a:moveTo>
                  <a:lnTo>
                    <a:pt x="104" y="32"/>
                  </a:lnTo>
                  <a:lnTo>
                    <a:pt x="46" y="72"/>
                  </a:lnTo>
                  <a:lnTo>
                    <a:pt x="8" y="118"/>
                  </a:lnTo>
                  <a:lnTo>
                    <a:pt x="0" y="171"/>
                  </a:lnTo>
                  <a:lnTo>
                    <a:pt x="13" y="208"/>
                  </a:lnTo>
                  <a:lnTo>
                    <a:pt x="54" y="224"/>
                  </a:lnTo>
                  <a:lnTo>
                    <a:pt x="110" y="224"/>
                  </a:lnTo>
                  <a:lnTo>
                    <a:pt x="163" y="216"/>
                  </a:lnTo>
                  <a:lnTo>
                    <a:pt x="198" y="206"/>
                  </a:lnTo>
                  <a:lnTo>
                    <a:pt x="435" y="16"/>
                  </a:lnTo>
                  <a:lnTo>
                    <a:pt x="179" y="0"/>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72" name="Freeform 568">
              <a:extLst>
                <a:ext uri="{FF2B5EF4-FFF2-40B4-BE49-F238E27FC236}">
                  <a16:creationId xmlns:a16="http://schemas.microsoft.com/office/drawing/2014/main" id="{DD5467DD-81EC-44E8-94AB-74CEA8ED976A}"/>
                </a:ext>
              </a:extLst>
            </p:cNvPr>
            <p:cNvSpPr>
              <a:spLocks/>
            </p:cNvSpPr>
            <p:nvPr/>
          </p:nvSpPr>
          <p:spPr bwMode="auto">
            <a:xfrm>
              <a:off x="3333" y="1469"/>
              <a:ext cx="435" cy="224"/>
            </a:xfrm>
            <a:custGeom>
              <a:avLst/>
              <a:gdLst>
                <a:gd name="T0" fmla="*/ 179 w 435"/>
                <a:gd name="T1" fmla="*/ 0 h 224"/>
                <a:gd name="T2" fmla="*/ 104 w 435"/>
                <a:gd name="T3" fmla="*/ 32 h 224"/>
                <a:gd name="T4" fmla="*/ 46 w 435"/>
                <a:gd name="T5" fmla="*/ 72 h 224"/>
                <a:gd name="T6" fmla="*/ 8 w 435"/>
                <a:gd name="T7" fmla="*/ 118 h 224"/>
                <a:gd name="T8" fmla="*/ 0 w 435"/>
                <a:gd name="T9" fmla="*/ 171 h 224"/>
                <a:gd name="T10" fmla="*/ 13 w 435"/>
                <a:gd name="T11" fmla="*/ 208 h 224"/>
                <a:gd name="T12" fmla="*/ 54 w 435"/>
                <a:gd name="T13" fmla="*/ 224 h 224"/>
                <a:gd name="T14" fmla="*/ 110 w 435"/>
                <a:gd name="T15" fmla="*/ 224 h 224"/>
                <a:gd name="T16" fmla="*/ 163 w 435"/>
                <a:gd name="T17" fmla="*/ 216 h 224"/>
                <a:gd name="T18" fmla="*/ 198 w 435"/>
                <a:gd name="T19" fmla="*/ 206 h 224"/>
                <a:gd name="T20" fmla="*/ 435 w 435"/>
                <a:gd name="T21" fmla="*/ 16 h 224"/>
                <a:gd name="T22" fmla="*/ 179 w 435"/>
                <a:gd name="T2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5" h="224">
                  <a:moveTo>
                    <a:pt x="179" y="0"/>
                  </a:moveTo>
                  <a:lnTo>
                    <a:pt x="104" y="32"/>
                  </a:lnTo>
                  <a:lnTo>
                    <a:pt x="46" y="72"/>
                  </a:lnTo>
                  <a:lnTo>
                    <a:pt x="8" y="118"/>
                  </a:lnTo>
                  <a:lnTo>
                    <a:pt x="0" y="171"/>
                  </a:lnTo>
                  <a:lnTo>
                    <a:pt x="13" y="208"/>
                  </a:lnTo>
                  <a:lnTo>
                    <a:pt x="54" y="224"/>
                  </a:lnTo>
                  <a:lnTo>
                    <a:pt x="110" y="224"/>
                  </a:lnTo>
                  <a:lnTo>
                    <a:pt x="163" y="216"/>
                  </a:lnTo>
                  <a:lnTo>
                    <a:pt x="198" y="206"/>
                  </a:lnTo>
                  <a:lnTo>
                    <a:pt x="435" y="16"/>
                  </a:lnTo>
                  <a:lnTo>
                    <a:pt x="179"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3" name="Freeform 569">
              <a:extLst>
                <a:ext uri="{FF2B5EF4-FFF2-40B4-BE49-F238E27FC236}">
                  <a16:creationId xmlns:a16="http://schemas.microsoft.com/office/drawing/2014/main" id="{54F85EFA-AE37-4F87-AFF2-19B29A9409CF}"/>
                </a:ext>
              </a:extLst>
            </p:cNvPr>
            <p:cNvSpPr>
              <a:spLocks/>
            </p:cNvSpPr>
            <p:nvPr/>
          </p:nvSpPr>
          <p:spPr bwMode="auto">
            <a:xfrm>
              <a:off x="220" y="2113"/>
              <a:ext cx="2539" cy="361"/>
            </a:xfrm>
            <a:custGeom>
              <a:avLst/>
              <a:gdLst>
                <a:gd name="T0" fmla="*/ 0 w 2539"/>
                <a:gd name="T1" fmla="*/ 0 h 361"/>
                <a:gd name="T2" fmla="*/ 0 w 2539"/>
                <a:gd name="T3" fmla="*/ 171 h 361"/>
                <a:gd name="T4" fmla="*/ 2539 w 2539"/>
                <a:gd name="T5" fmla="*/ 361 h 361"/>
                <a:gd name="T6" fmla="*/ 2539 w 2539"/>
                <a:gd name="T7" fmla="*/ 171 h 361"/>
                <a:gd name="T8" fmla="*/ 0 w 2539"/>
                <a:gd name="T9" fmla="*/ 0 h 361"/>
              </a:gdLst>
              <a:ahLst/>
              <a:cxnLst>
                <a:cxn ang="0">
                  <a:pos x="T0" y="T1"/>
                </a:cxn>
                <a:cxn ang="0">
                  <a:pos x="T2" y="T3"/>
                </a:cxn>
                <a:cxn ang="0">
                  <a:pos x="T4" y="T5"/>
                </a:cxn>
                <a:cxn ang="0">
                  <a:pos x="T6" y="T7"/>
                </a:cxn>
                <a:cxn ang="0">
                  <a:pos x="T8" y="T9"/>
                </a:cxn>
              </a:cxnLst>
              <a:rect l="0" t="0" r="r" b="b"/>
              <a:pathLst>
                <a:path w="2539" h="361">
                  <a:moveTo>
                    <a:pt x="0" y="0"/>
                  </a:moveTo>
                  <a:lnTo>
                    <a:pt x="0" y="171"/>
                  </a:lnTo>
                  <a:lnTo>
                    <a:pt x="2539" y="361"/>
                  </a:lnTo>
                  <a:lnTo>
                    <a:pt x="2539" y="171"/>
                  </a:lnTo>
                  <a:lnTo>
                    <a:pt x="0"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74" name="Freeform 570">
              <a:extLst>
                <a:ext uri="{FF2B5EF4-FFF2-40B4-BE49-F238E27FC236}">
                  <a16:creationId xmlns:a16="http://schemas.microsoft.com/office/drawing/2014/main" id="{74016068-419C-4E5C-9C15-E4DBD66821F1}"/>
                </a:ext>
              </a:extLst>
            </p:cNvPr>
            <p:cNvSpPr>
              <a:spLocks/>
            </p:cNvSpPr>
            <p:nvPr/>
          </p:nvSpPr>
          <p:spPr bwMode="auto">
            <a:xfrm>
              <a:off x="220" y="2113"/>
              <a:ext cx="2539" cy="361"/>
            </a:xfrm>
            <a:custGeom>
              <a:avLst/>
              <a:gdLst>
                <a:gd name="T0" fmla="*/ 0 w 2539"/>
                <a:gd name="T1" fmla="*/ 0 h 361"/>
                <a:gd name="T2" fmla="*/ 0 w 2539"/>
                <a:gd name="T3" fmla="*/ 171 h 361"/>
                <a:gd name="T4" fmla="*/ 2539 w 2539"/>
                <a:gd name="T5" fmla="*/ 361 h 361"/>
                <a:gd name="T6" fmla="*/ 2539 w 2539"/>
                <a:gd name="T7" fmla="*/ 171 h 361"/>
                <a:gd name="T8" fmla="*/ 0 w 2539"/>
                <a:gd name="T9" fmla="*/ 0 h 361"/>
              </a:gdLst>
              <a:ahLst/>
              <a:cxnLst>
                <a:cxn ang="0">
                  <a:pos x="T0" y="T1"/>
                </a:cxn>
                <a:cxn ang="0">
                  <a:pos x="T2" y="T3"/>
                </a:cxn>
                <a:cxn ang="0">
                  <a:pos x="T4" y="T5"/>
                </a:cxn>
                <a:cxn ang="0">
                  <a:pos x="T6" y="T7"/>
                </a:cxn>
                <a:cxn ang="0">
                  <a:pos x="T8" y="T9"/>
                </a:cxn>
              </a:cxnLst>
              <a:rect l="0" t="0" r="r" b="b"/>
              <a:pathLst>
                <a:path w="2539" h="361">
                  <a:moveTo>
                    <a:pt x="0" y="0"/>
                  </a:moveTo>
                  <a:lnTo>
                    <a:pt x="0" y="171"/>
                  </a:lnTo>
                  <a:lnTo>
                    <a:pt x="2539" y="361"/>
                  </a:lnTo>
                  <a:lnTo>
                    <a:pt x="2539" y="171"/>
                  </a:lnTo>
                  <a:lnTo>
                    <a:pt x="0"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5" name="Freeform 571">
              <a:extLst>
                <a:ext uri="{FF2B5EF4-FFF2-40B4-BE49-F238E27FC236}">
                  <a16:creationId xmlns:a16="http://schemas.microsoft.com/office/drawing/2014/main" id="{98294017-EA3E-4714-943E-21439F6585C1}"/>
                </a:ext>
              </a:extLst>
            </p:cNvPr>
            <p:cNvSpPr>
              <a:spLocks/>
            </p:cNvSpPr>
            <p:nvPr/>
          </p:nvSpPr>
          <p:spPr bwMode="auto">
            <a:xfrm>
              <a:off x="2756" y="1485"/>
              <a:ext cx="1010" cy="989"/>
            </a:xfrm>
            <a:custGeom>
              <a:avLst/>
              <a:gdLst>
                <a:gd name="T0" fmla="*/ 1010 w 1010"/>
                <a:gd name="T1" fmla="*/ 0 h 989"/>
                <a:gd name="T2" fmla="*/ 0 w 1010"/>
                <a:gd name="T3" fmla="*/ 799 h 989"/>
                <a:gd name="T4" fmla="*/ 0 w 1010"/>
                <a:gd name="T5" fmla="*/ 989 h 989"/>
                <a:gd name="T6" fmla="*/ 1010 w 1010"/>
                <a:gd name="T7" fmla="*/ 184 h 989"/>
                <a:gd name="T8" fmla="*/ 1010 w 1010"/>
                <a:gd name="T9" fmla="*/ 0 h 989"/>
              </a:gdLst>
              <a:ahLst/>
              <a:cxnLst>
                <a:cxn ang="0">
                  <a:pos x="T0" y="T1"/>
                </a:cxn>
                <a:cxn ang="0">
                  <a:pos x="T2" y="T3"/>
                </a:cxn>
                <a:cxn ang="0">
                  <a:pos x="T4" y="T5"/>
                </a:cxn>
                <a:cxn ang="0">
                  <a:pos x="T6" y="T7"/>
                </a:cxn>
                <a:cxn ang="0">
                  <a:pos x="T8" y="T9"/>
                </a:cxn>
              </a:cxnLst>
              <a:rect l="0" t="0" r="r" b="b"/>
              <a:pathLst>
                <a:path w="1010" h="989">
                  <a:moveTo>
                    <a:pt x="1010" y="0"/>
                  </a:moveTo>
                  <a:lnTo>
                    <a:pt x="0" y="799"/>
                  </a:lnTo>
                  <a:lnTo>
                    <a:pt x="0" y="989"/>
                  </a:lnTo>
                  <a:lnTo>
                    <a:pt x="1010" y="184"/>
                  </a:lnTo>
                  <a:lnTo>
                    <a:pt x="1010" y="0"/>
                  </a:lnTo>
                  <a:close/>
                </a:path>
              </a:pathLst>
            </a:custGeom>
            <a:solidFill>
              <a:srgbClr val="F8C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76" name="Freeform 572">
              <a:extLst>
                <a:ext uri="{FF2B5EF4-FFF2-40B4-BE49-F238E27FC236}">
                  <a16:creationId xmlns:a16="http://schemas.microsoft.com/office/drawing/2014/main" id="{F24CD419-1095-4B8D-A0B6-B98802D2714C}"/>
                </a:ext>
              </a:extLst>
            </p:cNvPr>
            <p:cNvSpPr>
              <a:spLocks/>
            </p:cNvSpPr>
            <p:nvPr/>
          </p:nvSpPr>
          <p:spPr bwMode="auto">
            <a:xfrm>
              <a:off x="2756" y="1485"/>
              <a:ext cx="1010" cy="989"/>
            </a:xfrm>
            <a:custGeom>
              <a:avLst/>
              <a:gdLst>
                <a:gd name="T0" fmla="*/ 1010 w 1010"/>
                <a:gd name="T1" fmla="*/ 0 h 989"/>
                <a:gd name="T2" fmla="*/ 0 w 1010"/>
                <a:gd name="T3" fmla="*/ 799 h 989"/>
                <a:gd name="T4" fmla="*/ 0 w 1010"/>
                <a:gd name="T5" fmla="*/ 989 h 989"/>
                <a:gd name="T6" fmla="*/ 1010 w 1010"/>
                <a:gd name="T7" fmla="*/ 184 h 989"/>
                <a:gd name="T8" fmla="*/ 1010 w 1010"/>
                <a:gd name="T9" fmla="*/ 0 h 989"/>
              </a:gdLst>
              <a:ahLst/>
              <a:cxnLst>
                <a:cxn ang="0">
                  <a:pos x="T0" y="T1"/>
                </a:cxn>
                <a:cxn ang="0">
                  <a:pos x="T2" y="T3"/>
                </a:cxn>
                <a:cxn ang="0">
                  <a:pos x="T4" y="T5"/>
                </a:cxn>
                <a:cxn ang="0">
                  <a:pos x="T6" y="T7"/>
                </a:cxn>
                <a:cxn ang="0">
                  <a:pos x="T8" y="T9"/>
                </a:cxn>
              </a:cxnLst>
              <a:rect l="0" t="0" r="r" b="b"/>
              <a:pathLst>
                <a:path w="1010" h="989">
                  <a:moveTo>
                    <a:pt x="1010" y="0"/>
                  </a:moveTo>
                  <a:lnTo>
                    <a:pt x="0" y="799"/>
                  </a:lnTo>
                  <a:lnTo>
                    <a:pt x="0" y="989"/>
                  </a:lnTo>
                  <a:lnTo>
                    <a:pt x="1010" y="184"/>
                  </a:lnTo>
                  <a:lnTo>
                    <a:pt x="1010"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7" name="Freeform 573">
              <a:extLst>
                <a:ext uri="{FF2B5EF4-FFF2-40B4-BE49-F238E27FC236}">
                  <a16:creationId xmlns:a16="http://schemas.microsoft.com/office/drawing/2014/main" id="{7DAFC354-08D6-4EBE-8A49-FB9452201225}"/>
                </a:ext>
              </a:extLst>
            </p:cNvPr>
            <p:cNvSpPr>
              <a:spLocks/>
            </p:cNvSpPr>
            <p:nvPr/>
          </p:nvSpPr>
          <p:spPr bwMode="auto">
            <a:xfrm>
              <a:off x="738" y="2156"/>
              <a:ext cx="2179" cy="189"/>
            </a:xfrm>
            <a:custGeom>
              <a:avLst/>
              <a:gdLst>
                <a:gd name="T0" fmla="*/ 1909 w 2179"/>
                <a:gd name="T1" fmla="*/ 117 h 189"/>
                <a:gd name="T2" fmla="*/ 0 w 2179"/>
                <a:gd name="T3" fmla="*/ 165 h 189"/>
                <a:gd name="T4" fmla="*/ 302 w 2179"/>
                <a:gd name="T5" fmla="*/ 189 h 189"/>
                <a:gd name="T6" fmla="*/ 2018 w 2179"/>
                <a:gd name="T7" fmla="*/ 149 h 189"/>
                <a:gd name="T8" fmla="*/ 2163 w 2179"/>
                <a:gd name="T9" fmla="*/ 42 h 189"/>
                <a:gd name="T10" fmla="*/ 2179 w 2179"/>
                <a:gd name="T11" fmla="*/ 0 h 189"/>
                <a:gd name="T12" fmla="*/ 2018 w 2179"/>
                <a:gd name="T13" fmla="*/ 128 h 189"/>
                <a:gd name="T14" fmla="*/ 1909 w 2179"/>
                <a:gd name="T15" fmla="*/ 117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9" h="189">
                  <a:moveTo>
                    <a:pt x="1909" y="117"/>
                  </a:moveTo>
                  <a:lnTo>
                    <a:pt x="0" y="165"/>
                  </a:lnTo>
                  <a:lnTo>
                    <a:pt x="302" y="189"/>
                  </a:lnTo>
                  <a:lnTo>
                    <a:pt x="2018" y="149"/>
                  </a:lnTo>
                  <a:lnTo>
                    <a:pt x="2163" y="42"/>
                  </a:lnTo>
                  <a:lnTo>
                    <a:pt x="2179" y="0"/>
                  </a:lnTo>
                  <a:lnTo>
                    <a:pt x="2018" y="128"/>
                  </a:lnTo>
                  <a:lnTo>
                    <a:pt x="1909" y="117"/>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78" name="Freeform 574">
              <a:extLst>
                <a:ext uri="{FF2B5EF4-FFF2-40B4-BE49-F238E27FC236}">
                  <a16:creationId xmlns:a16="http://schemas.microsoft.com/office/drawing/2014/main" id="{4B00F726-6795-4921-BE29-076F76003B60}"/>
                </a:ext>
              </a:extLst>
            </p:cNvPr>
            <p:cNvSpPr>
              <a:spLocks/>
            </p:cNvSpPr>
            <p:nvPr/>
          </p:nvSpPr>
          <p:spPr bwMode="auto">
            <a:xfrm>
              <a:off x="738" y="2156"/>
              <a:ext cx="2179" cy="189"/>
            </a:xfrm>
            <a:custGeom>
              <a:avLst/>
              <a:gdLst>
                <a:gd name="T0" fmla="*/ 1909 w 2179"/>
                <a:gd name="T1" fmla="*/ 117 h 189"/>
                <a:gd name="T2" fmla="*/ 0 w 2179"/>
                <a:gd name="T3" fmla="*/ 165 h 189"/>
                <a:gd name="T4" fmla="*/ 302 w 2179"/>
                <a:gd name="T5" fmla="*/ 189 h 189"/>
                <a:gd name="T6" fmla="*/ 2018 w 2179"/>
                <a:gd name="T7" fmla="*/ 149 h 189"/>
                <a:gd name="T8" fmla="*/ 2163 w 2179"/>
                <a:gd name="T9" fmla="*/ 42 h 189"/>
                <a:gd name="T10" fmla="*/ 2179 w 2179"/>
                <a:gd name="T11" fmla="*/ 0 h 189"/>
                <a:gd name="T12" fmla="*/ 2018 w 2179"/>
                <a:gd name="T13" fmla="*/ 128 h 189"/>
                <a:gd name="T14" fmla="*/ 1909 w 2179"/>
                <a:gd name="T15" fmla="*/ 117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9" h="189">
                  <a:moveTo>
                    <a:pt x="1909" y="117"/>
                  </a:moveTo>
                  <a:lnTo>
                    <a:pt x="0" y="165"/>
                  </a:lnTo>
                  <a:lnTo>
                    <a:pt x="302" y="189"/>
                  </a:lnTo>
                  <a:lnTo>
                    <a:pt x="2018" y="149"/>
                  </a:lnTo>
                  <a:lnTo>
                    <a:pt x="2163" y="42"/>
                  </a:lnTo>
                  <a:lnTo>
                    <a:pt x="2179" y="0"/>
                  </a:lnTo>
                  <a:lnTo>
                    <a:pt x="2018" y="128"/>
                  </a:lnTo>
                  <a:lnTo>
                    <a:pt x="1909" y="117"/>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 name="Line 575">
              <a:extLst>
                <a:ext uri="{FF2B5EF4-FFF2-40B4-BE49-F238E27FC236}">
                  <a16:creationId xmlns:a16="http://schemas.microsoft.com/office/drawing/2014/main" id="{10676676-3B85-44D1-A4D0-EE8680FBB3F9}"/>
                </a:ext>
              </a:extLst>
            </p:cNvPr>
            <p:cNvSpPr>
              <a:spLocks noChangeShapeType="1"/>
            </p:cNvSpPr>
            <p:nvPr/>
          </p:nvSpPr>
          <p:spPr bwMode="auto">
            <a:xfrm>
              <a:off x="2756" y="2284"/>
              <a:ext cx="1"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80" name="Freeform 576">
              <a:extLst>
                <a:ext uri="{FF2B5EF4-FFF2-40B4-BE49-F238E27FC236}">
                  <a16:creationId xmlns:a16="http://schemas.microsoft.com/office/drawing/2014/main" id="{40FACEDB-4D54-42D0-BF7D-F96292EA8694}"/>
                </a:ext>
              </a:extLst>
            </p:cNvPr>
            <p:cNvSpPr>
              <a:spLocks/>
            </p:cNvSpPr>
            <p:nvPr/>
          </p:nvSpPr>
          <p:spPr bwMode="auto">
            <a:xfrm>
              <a:off x="3015" y="1832"/>
              <a:ext cx="313" cy="249"/>
            </a:xfrm>
            <a:custGeom>
              <a:avLst/>
              <a:gdLst>
                <a:gd name="T0" fmla="*/ 313 w 313"/>
                <a:gd name="T1" fmla="*/ 0 h 249"/>
                <a:gd name="T2" fmla="*/ 286 w 313"/>
                <a:gd name="T3" fmla="*/ 51 h 249"/>
                <a:gd name="T4" fmla="*/ 227 w 313"/>
                <a:gd name="T5" fmla="*/ 110 h 249"/>
                <a:gd name="T6" fmla="*/ 99 w 313"/>
                <a:gd name="T7" fmla="*/ 206 h 249"/>
                <a:gd name="T8" fmla="*/ 43 w 313"/>
                <a:gd name="T9" fmla="*/ 241 h 249"/>
                <a:gd name="T10" fmla="*/ 0 w 313"/>
                <a:gd name="T11" fmla="*/ 249 h 249"/>
                <a:gd name="T12" fmla="*/ 313 w 313"/>
                <a:gd name="T13" fmla="*/ 0 h 249"/>
              </a:gdLst>
              <a:ahLst/>
              <a:cxnLst>
                <a:cxn ang="0">
                  <a:pos x="T0" y="T1"/>
                </a:cxn>
                <a:cxn ang="0">
                  <a:pos x="T2" y="T3"/>
                </a:cxn>
                <a:cxn ang="0">
                  <a:pos x="T4" y="T5"/>
                </a:cxn>
                <a:cxn ang="0">
                  <a:pos x="T6" y="T7"/>
                </a:cxn>
                <a:cxn ang="0">
                  <a:pos x="T8" y="T9"/>
                </a:cxn>
                <a:cxn ang="0">
                  <a:pos x="T10" y="T11"/>
                </a:cxn>
                <a:cxn ang="0">
                  <a:pos x="T12" y="T13"/>
                </a:cxn>
              </a:cxnLst>
              <a:rect l="0" t="0" r="r" b="b"/>
              <a:pathLst>
                <a:path w="313" h="249">
                  <a:moveTo>
                    <a:pt x="313" y="0"/>
                  </a:moveTo>
                  <a:lnTo>
                    <a:pt x="286" y="51"/>
                  </a:lnTo>
                  <a:lnTo>
                    <a:pt x="227" y="110"/>
                  </a:lnTo>
                  <a:lnTo>
                    <a:pt x="99" y="206"/>
                  </a:lnTo>
                  <a:lnTo>
                    <a:pt x="43" y="241"/>
                  </a:lnTo>
                  <a:lnTo>
                    <a:pt x="0" y="249"/>
                  </a:lnTo>
                  <a:lnTo>
                    <a:pt x="313" y="0"/>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81" name="Freeform 577">
              <a:extLst>
                <a:ext uri="{FF2B5EF4-FFF2-40B4-BE49-F238E27FC236}">
                  <a16:creationId xmlns:a16="http://schemas.microsoft.com/office/drawing/2014/main" id="{CAA6591D-FB58-4899-AA22-B3A8934ECA75}"/>
                </a:ext>
              </a:extLst>
            </p:cNvPr>
            <p:cNvSpPr>
              <a:spLocks/>
            </p:cNvSpPr>
            <p:nvPr/>
          </p:nvSpPr>
          <p:spPr bwMode="auto">
            <a:xfrm>
              <a:off x="3015" y="1832"/>
              <a:ext cx="313" cy="249"/>
            </a:xfrm>
            <a:custGeom>
              <a:avLst/>
              <a:gdLst>
                <a:gd name="T0" fmla="*/ 313 w 313"/>
                <a:gd name="T1" fmla="*/ 0 h 249"/>
                <a:gd name="T2" fmla="*/ 286 w 313"/>
                <a:gd name="T3" fmla="*/ 51 h 249"/>
                <a:gd name="T4" fmla="*/ 227 w 313"/>
                <a:gd name="T5" fmla="*/ 110 h 249"/>
                <a:gd name="T6" fmla="*/ 99 w 313"/>
                <a:gd name="T7" fmla="*/ 206 h 249"/>
                <a:gd name="T8" fmla="*/ 43 w 313"/>
                <a:gd name="T9" fmla="*/ 241 h 249"/>
                <a:gd name="T10" fmla="*/ 0 w 313"/>
                <a:gd name="T11" fmla="*/ 249 h 249"/>
                <a:gd name="T12" fmla="*/ 313 w 313"/>
                <a:gd name="T13" fmla="*/ 0 h 249"/>
              </a:gdLst>
              <a:ahLst/>
              <a:cxnLst>
                <a:cxn ang="0">
                  <a:pos x="T0" y="T1"/>
                </a:cxn>
                <a:cxn ang="0">
                  <a:pos x="T2" y="T3"/>
                </a:cxn>
                <a:cxn ang="0">
                  <a:pos x="T4" y="T5"/>
                </a:cxn>
                <a:cxn ang="0">
                  <a:pos x="T6" y="T7"/>
                </a:cxn>
                <a:cxn ang="0">
                  <a:pos x="T8" y="T9"/>
                </a:cxn>
                <a:cxn ang="0">
                  <a:pos x="T10" y="T11"/>
                </a:cxn>
                <a:cxn ang="0">
                  <a:pos x="T12" y="T13"/>
                </a:cxn>
              </a:cxnLst>
              <a:rect l="0" t="0" r="r" b="b"/>
              <a:pathLst>
                <a:path w="313" h="249">
                  <a:moveTo>
                    <a:pt x="313" y="0"/>
                  </a:moveTo>
                  <a:lnTo>
                    <a:pt x="286" y="51"/>
                  </a:lnTo>
                  <a:lnTo>
                    <a:pt x="227" y="110"/>
                  </a:lnTo>
                  <a:lnTo>
                    <a:pt x="99" y="206"/>
                  </a:lnTo>
                  <a:lnTo>
                    <a:pt x="43" y="241"/>
                  </a:lnTo>
                  <a:lnTo>
                    <a:pt x="0" y="249"/>
                  </a:lnTo>
                  <a:lnTo>
                    <a:pt x="313"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82" name="Freeform 578">
              <a:extLst>
                <a:ext uri="{FF2B5EF4-FFF2-40B4-BE49-F238E27FC236}">
                  <a16:creationId xmlns:a16="http://schemas.microsoft.com/office/drawing/2014/main" id="{8B83EE49-96AF-47CE-84D3-16D21AB86E9A}"/>
                </a:ext>
              </a:extLst>
            </p:cNvPr>
            <p:cNvSpPr>
              <a:spLocks/>
            </p:cNvSpPr>
            <p:nvPr/>
          </p:nvSpPr>
          <p:spPr bwMode="auto">
            <a:xfrm>
              <a:off x="3525" y="1482"/>
              <a:ext cx="243" cy="195"/>
            </a:xfrm>
            <a:custGeom>
              <a:avLst/>
              <a:gdLst>
                <a:gd name="T0" fmla="*/ 0 w 243"/>
                <a:gd name="T1" fmla="*/ 195 h 195"/>
                <a:gd name="T2" fmla="*/ 153 w 243"/>
                <a:gd name="T3" fmla="*/ 113 h 195"/>
                <a:gd name="T4" fmla="*/ 243 w 243"/>
                <a:gd name="T5" fmla="*/ 27 h 195"/>
                <a:gd name="T6" fmla="*/ 243 w 243"/>
                <a:gd name="T7" fmla="*/ 0 h 195"/>
                <a:gd name="T8" fmla="*/ 0 w 243"/>
                <a:gd name="T9" fmla="*/ 195 h 195"/>
              </a:gdLst>
              <a:ahLst/>
              <a:cxnLst>
                <a:cxn ang="0">
                  <a:pos x="T0" y="T1"/>
                </a:cxn>
                <a:cxn ang="0">
                  <a:pos x="T2" y="T3"/>
                </a:cxn>
                <a:cxn ang="0">
                  <a:pos x="T4" y="T5"/>
                </a:cxn>
                <a:cxn ang="0">
                  <a:pos x="T6" y="T7"/>
                </a:cxn>
                <a:cxn ang="0">
                  <a:pos x="T8" y="T9"/>
                </a:cxn>
              </a:cxnLst>
              <a:rect l="0" t="0" r="r" b="b"/>
              <a:pathLst>
                <a:path w="243" h="195">
                  <a:moveTo>
                    <a:pt x="0" y="195"/>
                  </a:moveTo>
                  <a:lnTo>
                    <a:pt x="153" y="113"/>
                  </a:lnTo>
                  <a:lnTo>
                    <a:pt x="243" y="27"/>
                  </a:lnTo>
                  <a:lnTo>
                    <a:pt x="243" y="0"/>
                  </a:lnTo>
                  <a:lnTo>
                    <a:pt x="0" y="195"/>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83" name="Freeform 579">
              <a:extLst>
                <a:ext uri="{FF2B5EF4-FFF2-40B4-BE49-F238E27FC236}">
                  <a16:creationId xmlns:a16="http://schemas.microsoft.com/office/drawing/2014/main" id="{7E0F387B-6439-43BC-A47A-CF8D91349D40}"/>
                </a:ext>
              </a:extLst>
            </p:cNvPr>
            <p:cNvSpPr>
              <a:spLocks/>
            </p:cNvSpPr>
            <p:nvPr/>
          </p:nvSpPr>
          <p:spPr bwMode="auto">
            <a:xfrm>
              <a:off x="3525" y="1482"/>
              <a:ext cx="243" cy="195"/>
            </a:xfrm>
            <a:custGeom>
              <a:avLst/>
              <a:gdLst>
                <a:gd name="T0" fmla="*/ 0 w 243"/>
                <a:gd name="T1" fmla="*/ 195 h 195"/>
                <a:gd name="T2" fmla="*/ 153 w 243"/>
                <a:gd name="T3" fmla="*/ 113 h 195"/>
                <a:gd name="T4" fmla="*/ 243 w 243"/>
                <a:gd name="T5" fmla="*/ 27 h 195"/>
                <a:gd name="T6" fmla="*/ 243 w 243"/>
                <a:gd name="T7" fmla="*/ 0 h 195"/>
                <a:gd name="T8" fmla="*/ 0 w 243"/>
                <a:gd name="T9" fmla="*/ 195 h 195"/>
              </a:gdLst>
              <a:ahLst/>
              <a:cxnLst>
                <a:cxn ang="0">
                  <a:pos x="T0" y="T1"/>
                </a:cxn>
                <a:cxn ang="0">
                  <a:pos x="T2" y="T3"/>
                </a:cxn>
                <a:cxn ang="0">
                  <a:pos x="T4" y="T5"/>
                </a:cxn>
                <a:cxn ang="0">
                  <a:pos x="T6" y="T7"/>
                </a:cxn>
                <a:cxn ang="0">
                  <a:pos x="T8" y="T9"/>
                </a:cxn>
              </a:cxnLst>
              <a:rect l="0" t="0" r="r" b="b"/>
              <a:pathLst>
                <a:path w="243" h="195">
                  <a:moveTo>
                    <a:pt x="0" y="195"/>
                  </a:moveTo>
                  <a:lnTo>
                    <a:pt x="153" y="113"/>
                  </a:lnTo>
                  <a:lnTo>
                    <a:pt x="243" y="27"/>
                  </a:lnTo>
                  <a:lnTo>
                    <a:pt x="243" y="0"/>
                  </a:lnTo>
                  <a:lnTo>
                    <a:pt x="0" y="195"/>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84" name="Freeform 580">
              <a:extLst>
                <a:ext uri="{FF2B5EF4-FFF2-40B4-BE49-F238E27FC236}">
                  <a16:creationId xmlns:a16="http://schemas.microsoft.com/office/drawing/2014/main" id="{A460C778-7908-4115-B427-D40C2F13AAF4}"/>
                </a:ext>
              </a:extLst>
            </p:cNvPr>
            <p:cNvSpPr>
              <a:spLocks/>
            </p:cNvSpPr>
            <p:nvPr/>
          </p:nvSpPr>
          <p:spPr bwMode="auto">
            <a:xfrm>
              <a:off x="217" y="2161"/>
              <a:ext cx="935" cy="45"/>
            </a:xfrm>
            <a:custGeom>
              <a:avLst/>
              <a:gdLst>
                <a:gd name="T0" fmla="*/ 713 w 935"/>
                <a:gd name="T1" fmla="*/ 0 h 45"/>
                <a:gd name="T2" fmla="*/ 0 w 935"/>
                <a:gd name="T3" fmla="*/ 19 h 45"/>
                <a:gd name="T4" fmla="*/ 0 w 935"/>
                <a:gd name="T5" fmla="*/ 45 h 45"/>
                <a:gd name="T6" fmla="*/ 935 w 935"/>
                <a:gd name="T7" fmla="*/ 13 h 45"/>
                <a:gd name="T8" fmla="*/ 713 w 935"/>
                <a:gd name="T9" fmla="*/ 0 h 45"/>
              </a:gdLst>
              <a:ahLst/>
              <a:cxnLst>
                <a:cxn ang="0">
                  <a:pos x="T0" y="T1"/>
                </a:cxn>
                <a:cxn ang="0">
                  <a:pos x="T2" y="T3"/>
                </a:cxn>
                <a:cxn ang="0">
                  <a:pos x="T4" y="T5"/>
                </a:cxn>
                <a:cxn ang="0">
                  <a:pos x="T6" y="T7"/>
                </a:cxn>
                <a:cxn ang="0">
                  <a:pos x="T8" y="T9"/>
                </a:cxn>
              </a:cxnLst>
              <a:rect l="0" t="0" r="r" b="b"/>
              <a:pathLst>
                <a:path w="935" h="45">
                  <a:moveTo>
                    <a:pt x="713" y="0"/>
                  </a:moveTo>
                  <a:lnTo>
                    <a:pt x="0" y="19"/>
                  </a:lnTo>
                  <a:lnTo>
                    <a:pt x="0" y="45"/>
                  </a:lnTo>
                  <a:lnTo>
                    <a:pt x="935" y="13"/>
                  </a:lnTo>
                  <a:lnTo>
                    <a:pt x="713" y="0"/>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85" name="Freeform 581">
              <a:extLst>
                <a:ext uri="{FF2B5EF4-FFF2-40B4-BE49-F238E27FC236}">
                  <a16:creationId xmlns:a16="http://schemas.microsoft.com/office/drawing/2014/main" id="{22A0B3C8-0150-448D-9B48-6B0189228E10}"/>
                </a:ext>
              </a:extLst>
            </p:cNvPr>
            <p:cNvSpPr>
              <a:spLocks/>
            </p:cNvSpPr>
            <p:nvPr/>
          </p:nvSpPr>
          <p:spPr bwMode="auto">
            <a:xfrm>
              <a:off x="217" y="2161"/>
              <a:ext cx="935" cy="45"/>
            </a:xfrm>
            <a:custGeom>
              <a:avLst/>
              <a:gdLst>
                <a:gd name="T0" fmla="*/ 713 w 935"/>
                <a:gd name="T1" fmla="*/ 0 h 45"/>
                <a:gd name="T2" fmla="*/ 0 w 935"/>
                <a:gd name="T3" fmla="*/ 19 h 45"/>
                <a:gd name="T4" fmla="*/ 0 w 935"/>
                <a:gd name="T5" fmla="*/ 45 h 45"/>
                <a:gd name="T6" fmla="*/ 935 w 935"/>
                <a:gd name="T7" fmla="*/ 13 h 45"/>
                <a:gd name="T8" fmla="*/ 713 w 935"/>
                <a:gd name="T9" fmla="*/ 0 h 45"/>
              </a:gdLst>
              <a:ahLst/>
              <a:cxnLst>
                <a:cxn ang="0">
                  <a:pos x="T0" y="T1"/>
                </a:cxn>
                <a:cxn ang="0">
                  <a:pos x="T2" y="T3"/>
                </a:cxn>
                <a:cxn ang="0">
                  <a:pos x="T4" y="T5"/>
                </a:cxn>
                <a:cxn ang="0">
                  <a:pos x="T6" y="T7"/>
                </a:cxn>
                <a:cxn ang="0">
                  <a:pos x="T8" y="T9"/>
                </a:cxn>
              </a:cxnLst>
              <a:rect l="0" t="0" r="r" b="b"/>
              <a:pathLst>
                <a:path w="935" h="45">
                  <a:moveTo>
                    <a:pt x="713" y="0"/>
                  </a:moveTo>
                  <a:lnTo>
                    <a:pt x="0" y="19"/>
                  </a:lnTo>
                  <a:lnTo>
                    <a:pt x="0" y="45"/>
                  </a:lnTo>
                  <a:lnTo>
                    <a:pt x="935" y="13"/>
                  </a:lnTo>
                  <a:lnTo>
                    <a:pt x="713"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86" name="Line 582">
              <a:extLst>
                <a:ext uri="{FF2B5EF4-FFF2-40B4-BE49-F238E27FC236}">
                  <a16:creationId xmlns:a16="http://schemas.microsoft.com/office/drawing/2014/main" id="{5C16B81A-AA0F-476B-A83D-F85E09239E2B}"/>
                </a:ext>
              </a:extLst>
            </p:cNvPr>
            <p:cNvSpPr>
              <a:spLocks noChangeShapeType="1"/>
            </p:cNvSpPr>
            <p:nvPr/>
          </p:nvSpPr>
          <p:spPr bwMode="auto">
            <a:xfrm>
              <a:off x="1403" y="2193"/>
              <a:ext cx="152" cy="10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87" name="Line 583">
              <a:extLst>
                <a:ext uri="{FF2B5EF4-FFF2-40B4-BE49-F238E27FC236}">
                  <a16:creationId xmlns:a16="http://schemas.microsoft.com/office/drawing/2014/main" id="{E798710F-E753-4A85-B01A-7EDFFB2C12AA}"/>
                </a:ext>
              </a:extLst>
            </p:cNvPr>
            <p:cNvSpPr>
              <a:spLocks noChangeShapeType="1"/>
            </p:cNvSpPr>
            <p:nvPr/>
          </p:nvSpPr>
          <p:spPr bwMode="auto">
            <a:xfrm>
              <a:off x="1512" y="2206"/>
              <a:ext cx="134" cy="8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88" name="Line 584">
              <a:extLst>
                <a:ext uri="{FF2B5EF4-FFF2-40B4-BE49-F238E27FC236}">
                  <a16:creationId xmlns:a16="http://schemas.microsoft.com/office/drawing/2014/main" id="{F6638990-4A16-41AA-A952-1981AF9ED64B}"/>
                </a:ext>
              </a:extLst>
            </p:cNvPr>
            <p:cNvSpPr>
              <a:spLocks noChangeShapeType="1"/>
            </p:cNvSpPr>
            <p:nvPr/>
          </p:nvSpPr>
          <p:spPr bwMode="auto">
            <a:xfrm>
              <a:off x="1614" y="2209"/>
              <a:ext cx="128"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89" name="Line 585">
              <a:extLst>
                <a:ext uri="{FF2B5EF4-FFF2-40B4-BE49-F238E27FC236}">
                  <a16:creationId xmlns:a16="http://schemas.microsoft.com/office/drawing/2014/main" id="{1B92C3AE-FB71-40CA-9771-EF4A035C9089}"/>
                </a:ext>
              </a:extLst>
            </p:cNvPr>
            <p:cNvSpPr>
              <a:spLocks noChangeShapeType="1"/>
            </p:cNvSpPr>
            <p:nvPr/>
          </p:nvSpPr>
          <p:spPr bwMode="auto">
            <a:xfrm>
              <a:off x="1710" y="2214"/>
              <a:ext cx="125" cy="7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0" name="Line 586">
              <a:extLst>
                <a:ext uri="{FF2B5EF4-FFF2-40B4-BE49-F238E27FC236}">
                  <a16:creationId xmlns:a16="http://schemas.microsoft.com/office/drawing/2014/main" id="{5DE2F8C2-E561-4ABC-B798-D991EA34C7B2}"/>
                </a:ext>
              </a:extLst>
            </p:cNvPr>
            <p:cNvSpPr>
              <a:spLocks noChangeShapeType="1"/>
            </p:cNvSpPr>
            <p:nvPr/>
          </p:nvSpPr>
          <p:spPr bwMode="auto">
            <a:xfrm>
              <a:off x="1811" y="2225"/>
              <a:ext cx="104" cy="6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1" name="Line 587">
              <a:extLst>
                <a:ext uri="{FF2B5EF4-FFF2-40B4-BE49-F238E27FC236}">
                  <a16:creationId xmlns:a16="http://schemas.microsoft.com/office/drawing/2014/main" id="{0142F5A4-6809-4432-A41F-96A6F6669CDE}"/>
                </a:ext>
              </a:extLst>
            </p:cNvPr>
            <p:cNvSpPr>
              <a:spLocks noChangeShapeType="1"/>
            </p:cNvSpPr>
            <p:nvPr/>
          </p:nvSpPr>
          <p:spPr bwMode="auto">
            <a:xfrm>
              <a:off x="1897" y="2230"/>
              <a:ext cx="90"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2" name="Line 588">
              <a:extLst>
                <a:ext uri="{FF2B5EF4-FFF2-40B4-BE49-F238E27FC236}">
                  <a16:creationId xmlns:a16="http://schemas.microsoft.com/office/drawing/2014/main" id="{CF39469E-C6C6-4454-8740-18E93C2E3823}"/>
                </a:ext>
              </a:extLst>
            </p:cNvPr>
            <p:cNvSpPr>
              <a:spLocks noChangeShapeType="1"/>
            </p:cNvSpPr>
            <p:nvPr/>
          </p:nvSpPr>
          <p:spPr bwMode="auto">
            <a:xfrm>
              <a:off x="1979" y="2233"/>
              <a:ext cx="86" cy="5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3" name="Line 589">
              <a:extLst>
                <a:ext uri="{FF2B5EF4-FFF2-40B4-BE49-F238E27FC236}">
                  <a16:creationId xmlns:a16="http://schemas.microsoft.com/office/drawing/2014/main" id="{E2693196-1E00-429B-9D8F-5782A510CB71}"/>
                </a:ext>
              </a:extLst>
            </p:cNvPr>
            <p:cNvSpPr>
              <a:spLocks noChangeShapeType="1"/>
            </p:cNvSpPr>
            <p:nvPr/>
          </p:nvSpPr>
          <p:spPr bwMode="auto">
            <a:xfrm>
              <a:off x="2065" y="2239"/>
              <a:ext cx="75" cy="4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4" name="Line 590">
              <a:extLst>
                <a:ext uri="{FF2B5EF4-FFF2-40B4-BE49-F238E27FC236}">
                  <a16:creationId xmlns:a16="http://schemas.microsoft.com/office/drawing/2014/main" id="{1D486EA8-370D-461D-93EA-F106840A5FE7}"/>
                </a:ext>
              </a:extLst>
            </p:cNvPr>
            <p:cNvSpPr>
              <a:spLocks noChangeShapeType="1"/>
            </p:cNvSpPr>
            <p:nvPr/>
          </p:nvSpPr>
          <p:spPr bwMode="auto">
            <a:xfrm>
              <a:off x="2145" y="2247"/>
              <a:ext cx="59" cy="3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5" name="Line 591">
              <a:extLst>
                <a:ext uri="{FF2B5EF4-FFF2-40B4-BE49-F238E27FC236}">
                  <a16:creationId xmlns:a16="http://schemas.microsoft.com/office/drawing/2014/main" id="{AD4C8010-7152-4E53-8701-297EDADBBFB0}"/>
                </a:ext>
              </a:extLst>
            </p:cNvPr>
            <p:cNvSpPr>
              <a:spLocks noChangeShapeType="1"/>
            </p:cNvSpPr>
            <p:nvPr/>
          </p:nvSpPr>
          <p:spPr bwMode="auto">
            <a:xfrm>
              <a:off x="2222" y="2249"/>
              <a:ext cx="62" cy="3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6" name="Line 592">
              <a:extLst>
                <a:ext uri="{FF2B5EF4-FFF2-40B4-BE49-F238E27FC236}">
                  <a16:creationId xmlns:a16="http://schemas.microsoft.com/office/drawing/2014/main" id="{CC12A564-61AD-47D1-B917-8287FBD7BD59}"/>
                </a:ext>
              </a:extLst>
            </p:cNvPr>
            <p:cNvSpPr>
              <a:spLocks noChangeShapeType="1"/>
            </p:cNvSpPr>
            <p:nvPr/>
          </p:nvSpPr>
          <p:spPr bwMode="auto">
            <a:xfrm>
              <a:off x="2303" y="2255"/>
              <a:ext cx="42"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7" name="Line 593">
              <a:extLst>
                <a:ext uri="{FF2B5EF4-FFF2-40B4-BE49-F238E27FC236}">
                  <a16:creationId xmlns:a16="http://schemas.microsoft.com/office/drawing/2014/main" id="{9864903D-D7BE-4BF0-9C6C-A3FBAB3D13B7}"/>
                </a:ext>
              </a:extLst>
            </p:cNvPr>
            <p:cNvSpPr>
              <a:spLocks noChangeShapeType="1"/>
            </p:cNvSpPr>
            <p:nvPr/>
          </p:nvSpPr>
          <p:spPr bwMode="auto">
            <a:xfrm>
              <a:off x="2369" y="2260"/>
              <a:ext cx="46" cy="1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8" name="Line 594">
              <a:extLst>
                <a:ext uri="{FF2B5EF4-FFF2-40B4-BE49-F238E27FC236}">
                  <a16:creationId xmlns:a16="http://schemas.microsoft.com/office/drawing/2014/main" id="{7759A245-776C-43E9-94B2-FC7247B0FDCD}"/>
                </a:ext>
              </a:extLst>
            </p:cNvPr>
            <p:cNvSpPr>
              <a:spLocks noChangeShapeType="1"/>
            </p:cNvSpPr>
            <p:nvPr/>
          </p:nvSpPr>
          <p:spPr bwMode="auto">
            <a:xfrm>
              <a:off x="1301" y="2190"/>
              <a:ext cx="158" cy="11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99" name="Line 595">
              <a:extLst>
                <a:ext uri="{FF2B5EF4-FFF2-40B4-BE49-F238E27FC236}">
                  <a16:creationId xmlns:a16="http://schemas.microsoft.com/office/drawing/2014/main" id="{13C9D888-CA13-4B45-A1CF-52A6BA6E909A}"/>
                </a:ext>
              </a:extLst>
            </p:cNvPr>
            <p:cNvSpPr>
              <a:spLocks noChangeShapeType="1"/>
            </p:cNvSpPr>
            <p:nvPr/>
          </p:nvSpPr>
          <p:spPr bwMode="auto">
            <a:xfrm>
              <a:off x="1203" y="2185"/>
              <a:ext cx="152" cy="11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0" name="Line 596">
              <a:extLst>
                <a:ext uri="{FF2B5EF4-FFF2-40B4-BE49-F238E27FC236}">
                  <a16:creationId xmlns:a16="http://schemas.microsoft.com/office/drawing/2014/main" id="{66D0A3A1-5C97-402F-A477-D5948879BE2D}"/>
                </a:ext>
              </a:extLst>
            </p:cNvPr>
            <p:cNvSpPr>
              <a:spLocks noChangeShapeType="1"/>
            </p:cNvSpPr>
            <p:nvPr/>
          </p:nvSpPr>
          <p:spPr bwMode="auto">
            <a:xfrm>
              <a:off x="1106" y="2182"/>
              <a:ext cx="153" cy="11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1" name="Line 597">
              <a:extLst>
                <a:ext uri="{FF2B5EF4-FFF2-40B4-BE49-F238E27FC236}">
                  <a16:creationId xmlns:a16="http://schemas.microsoft.com/office/drawing/2014/main" id="{BADD643C-8E05-4B8E-9C57-37ACA14A63C0}"/>
                </a:ext>
              </a:extLst>
            </p:cNvPr>
            <p:cNvSpPr>
              <a:spLocks noChangeShapeType="1"/>
            </p:cNvSpPr>
            <p:nvPr/>
          </p:nvSpPr>
          <p:spPr bwMode="auto">
            <a:xfrm>
              <a:off x="1026" y="2185"/>
              <a:ext cx="169" cy="12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2" name="Line 598">
              <a:extLst>
                <a:ext uri="{FF2B5EF4-FFF2-40B4-BE49-F238E27FC236}">
                  <a16:creationId xmlns:a16="http://schemas.microsoft.com/office/drawing/2014/main" id="{A735DD96-FBBA-4158-9C63-4C08C082839D}"/>
                </a:ext>
              </a:extLst>
            </p:cNvPr>
            <p:cNvSpPr>
              <a:spLocks noChangeShapeType="1"/>
            </p:cNvSpPr>
            <p:nvPr/>
          </p:nvSpPr>
          <p:spPr bwMode="auto">
            <a:xfrm>
              <a:off x="946" y="2185"/>
              <a:ext cx="152" cy="12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3" name="Line 599">
              <a:extLst>
                <a:ext uri="{FF2B5EF4-FFF2-40B4-BE49-F238E27FC236}">
                  <a16:creationId xmlns:a16="http://schemas.microsoft.com/office/drawing/2014/main" id="{EBB100E9-D158-45F2-8B3E-7B8B5F9C77EB}"/>
                </a:ext>
              </a:extLst>
            </p:cNvPr>
            <p:cNvSpPr>
              <a:spLocks noChangeShapeType="1"/>
            </p:cNvSpPr>
            <p:nvPr/>
          </p:nvSpPr>
          <p:spPr bwMode="auto">
            <a:xfrm>
              <a:off x="858" y="2185"/>
              <a:ext cx="168" cy="12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4" name="Line 600">
              <a:extLst>
                <a:ext uri="{FF2B5EF4-FFF2-40B4-BE49-F238E27FC236}">
                  <a16:creationId xmlns:a16="http://schemas.microsoft.com/office/drawing/2014/main" id="{C7209C30-B244-4307-85B6-3370BC409B73}"/>
                </a:ext>
              </a:extLst>
            </p:cNvPr>
            <p:cNvSpPr>
              <a:spLocks noChangeShapeType="1"/>
            </p:cNvSpPr>
            <p:nvPr/>
          </p:nvSpPr>
          <p:spPr bwMode="auto">
            <a:xfrm>
              <a:off x="775" y="2196"/>
              <a:ext cx="158" cy="11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5" name="Line 601">
              <a:extLst>
                <a:ext uri="{FF2B5EF4-FFF2-40B4-BE49-F238E27FC236}">
                  <a16:creationId xmlns:a16="http://schemas.microsoft.com/office/drawing/2014/main" id="{6D639162-4706-4F60-B08A-D59FE816541A}"/>
                </a:ext>
              </a:extLst>
            </p:cNvPr>
            <p:cNvSpPr>
              <a:spLocks noChangeShapeType="1"/>
            </p:cNvSpPr>
            <p:nvPr/>
          </p:nvSpPr>
          <p:spPr bwMode="auto">
            <a:xfrm>
              <a:off x="674" y="2196"/>
              <a:ext cx="160" cy="12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6" name="Line 602">
              <a:extLst>
                <a:ext uri="{FF2B5EF4-FFF2-40B4-BE49-F238E27FC236}">
                  <a16:creationId xmlns:a16="http://schemas.microsoft.com/office/drawing/2014/main" id="{FF45A0EE-50DD-411F-9C5E-E17CE789B776}"/>
                </a:ext>
              </a:extLst>
            </p:cNvPr>
            <p:cNvSpPr>
              <a:spLocks noChangeShapeType="1"/>
            </p:cNvSpPr>
            <p:nvPr/>
          </p:nvSpPr>
          <p:spPr bwMode="auto">
            <a:xfrm>
              <a:off x="586" y="2198"/>
              <a:ext cx="152" cy="11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7" name="Line 603">
              <a:extLst>
                <a:ext uri="{FF2B5EF4-FFF2-40B4-BE49-F238E27FC236}">
                  <a16:creationId xmlns:a16="http://schemas.microsoft.com/office/drawing/2014/main" id="{DA5019FC-E0EC-45A7-801A-B08BF7B490CB}"/>
                </a:ext>
              </a:extLst>
            </p:cNvPr>
            <p:cNvSpPr>
              <a:spLocks noChangeShapeType="1"/>
            </p:cNvSpPr>
            <p:nvPr/>
          </p:nvSpPr>
          <p:spPr bwMode="auto">
            <a:xfrm>
              <a:off x="498" y="2196"/>
              <a:ext cx="128" cy="11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8" name="Line 604">
              <a:extLst>
                <a:ext uri="{FF2B5EF4-FFF2-40B4-BE49-F238E27FC236}">
                  <a16:creationId xmlns:a16="http://schemas.microsoft.com/office/drawing/2014/main" id="{B48BC620-E4AB-40D6-A113-598D129F72C2}"/>
                </a:ext>
              </a:extLst>
            </p:cNvPr>
            <p:cNvSpPr>
              <a:spLocks noChangeShapeType="1"/>
            </p:cNvSpPr>
            <p:nvPr/>
          </p:nvSpPr>
          <p:spPr bwMode="auto">
            <a:xfrm>
              <a:off x="423" y="2206"/>
              <a:ext cx="117" cy="9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09" name="Line 605">
              <a:extLst>
                <a:ext uri="{FF2B5EF4-FFF2-40B4-BE49-F238E27FC236}">
                  <a16:creationId xmlns:a16="http://schemas.microsoft.com/office/drawing/2014/main" id="{1D972186-FD9B-4B43-B893-60A2C6526DF7}"/>
                </a:ext>
              </a:extLst>
            </p:cNvPr>
            <p:cNvSpPr>
              <a:spLocks noChangeShapeType="1"/>
            </p:cNvSpPr>
            <p:nvPr/>
          </p:nvSpPr>
          <p:spPr bwMode="auto">
            <a:xfrm>
              <a:off x="332" y="2206"/>
              <a:ext cx="99" cy="8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0" name="Line 606">
              <a:extLst>
                <a:ext uri="{FF2B5EF4-FFF2-40B4-BE49-F238E27FC236}">
                  <a16:creationId xmlns:a16="http://schemas.microsoft.com/office/drawing/2014/main" id="{D1FB10EF-C17D-45A2-80F5-C428A71FA6DB}"/>
                </a:ext>
              </a:extLst>
            </p:cNvPr>
            <p:cNvSpPr>
              <a:spLocks noChangeShapeType="1"/>
            </p:cNvSpPr>
            <p:nvPr/>
          </p:nvSpPr>
          <p:spPr bwMode="auto">
            <a:xfrm>
              <a:off x="247" y="2209"/>
              <a:ext cx="104" cy="7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1" name="Line 607">
              <a:extLst>
                <a:ext uri="{FF2B5EF4-FFF2-40B4-BE49-F238E27FC236}">
                  <a16:creationId xmlns:a16="http://schemas.microsoft.com/office/drawing/2014/main" id="{07649E25-98CF-4E52-B0B1-73C817CE075E}"/>
                </a:ext>
              </a:extLst>
            </p:cNvPr>
            <p:cNvSpPr>
              <a:spLocks noChangeShapeType="1"/>
            </p:cNvSpPr>
            <p:nvPr/>
          </p:nvSpPr>
          <p:spPr bwMode="auto">
            <a:xfrm>
              <a:off x="223" y="2252"/>
              <a:ext cx="45" cy="3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2" name="Line 608">
              <a:extLst>
                <a:ext uri="{FF2B5EF4-FFF2-40B4-BE49-F238E27FC236}">
                  <a16:creationId xmlns:a16="http://schemas.microsoft.com/office/drawing/2014/main" id="{947DD8DE-6A5A-4E15-9B4D-9AB61362C8E4}"/>
                </a:ext>
              </a:extLst>
            </p:cNvPr>
            <p:cNvSpPr>
              <a:spLocks noChangeShapeType="1"/>
            </p:cNvSpPr>
            <p:nvPr/>
          </p:nvSpPr>
          <p:spPr bwMode="auto">
            <a:xfrm>
              <a:off x="231" y="2118"/>
              <a:ext cx="90"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3" name="Line 609">
              <a:extLst>
                <a:ext uri="{FF2B5EF4-FFF2-40B4-BE49-F238E27FC236}">
                  <a16:creationId xmlns:a16="http://schemas.microsoft.com/office/drawing/2014/main" id="{EC836929-3372-4666-8E0A-8AE0A87D8168}"/>
                </a:ext>
              </a:extLst>
            </p:cNvPr>
            <p:cNvSpPr>
              <a:spLocks noChangeShapeType="1"/>
            </p:cNvSpPr>
            <p:nvPr/>
          </p:nvSpPr>
          <p:spPr bwMode="auto">
            <a:xfrm>
              <a:off x="308" y="2124"/>
              <a:ext cx="104" cy="5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4" name="Line 610">
              <a:extLst>
                <a:ext uri="{FF2B5EF4-FFF2-40B4-BE49-F238E27FC236}">
                  <a16:creationId xmlns:a16="http://schemas.microsoft.com/office/drawing/2014/main" id="{E1BDE88B-490A-40DC-AD63-761E29E32224}"/>
                </a:ext>
              </a:extLst>
            </p:cNvPr>
            <p:cNvSpPr>
              <a:spLocks noChangeShapeType="1"/>
            </p:cNvSpPr>
            <p:nvPr/>
          </p:nvSpPr>
          <p:spPr bwMode="auto">
            <a:xfrm>
              <a:off x="412" y="2132"/>
              <a:ext cx="54" cy="3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5" name="Line 611">
              <a:extLst>
                <a:ext uri="{FF2B5EF4-FFF2-40B4-BE49-F238E27FC236}">
                  <a16:creationId xmlns:a16="http://schemas.microsoft.com/office/drawing/2014/main" id="{8DE9ADBA-CFAB-4516-B0E3-A518B2D87CE7}"/>
                </a:ext>
              </a:extLst>
            </p:cNvPr>
            <p:cNvSpPr>
              <a:spLocks noChangeShapeType="1"/>
            </p:cNvSpPr>
            <p:nvPr/>
          </p:nvSpPr>
          <p:spPr bwMode="auto">
            <a:xfrm>
              <a:off x="466" y="2132"/>
              <a:ext cx="61" cy="4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6" name="Line 612">
              <a:extLst>
                <a:ext uri="{FF2B5EF4-FFF2-40B4-BE49-F238E27FC236}">
                  <a16:creationId xmlns:a16="http://schemas.microsoft.com/office/drawing/2014/main" id="{DB3825EC-C8D9-4240-B788-E2CBA947B20A}"/>
                </a:ext>
              </a:extLst>
            </p:cNvPr>
            <p:cNvSpPr>
              <a:spLocks noChangeShapeType="1"/>
            </p:cNvSpPr>
            <p:nvPr/>
          </p:nvSpPr>
          <p:spPr bwMode="auto">
            <a:xfrm>
              <a:off x="546" y="2137"/>
              <a:ext cx="50" cy="2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7" name="Line 613">
              <a:extLst>
                <a:ext uri="{FF2B5EF4-FFF2-40B4-BE49-F238E27FC236}">
                  <a16:creationId xmlns:a16="http://schemas.microsoft.com/office/drawing/2014/main" id="{EC3A76F9-91A0-46DE-8081-1A5B73BD2033}"/>
                </a:ext>
              </a:extLst>
            </p:cNvPr>
            <p:cNvSpPr>
              <a:spLocks noChangeShapeType="1"/>
            </p:cNvSpPr>
            <p:nvPr/>
          </p:nvSpPr>
          <p:spPr bwMode="auto">
            <a:xfrm>
              <a:off x="618" y="2140"/>
              <a:ext cx="40" cy="2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8" name="Line 614">
              <a:extLst>
                <a:ext uri="{FF2B5EF4-FFF2-40B4-BE49-F238E27FC236}">
                  <a16:creationId xmlns:a16="http://schemas.microsoft.com/office/drawing/2014/main" id="{1FE2B331-60D0-4189-9AF1-EF0C20EB8093}"/>
                </a:ext>
              </a:extLst>
            </p:cNvPr>
            <p:cNvSpPr>
              <a:spLocks noChangeShapeType="1"/>
            </p:cNvSpPr>
            <p:nvPr/>
          </p:nvSpPr>
          <p:spPr bwMode="auto">
            <a:xfrm>
              <a:off x="677" y="2145"/>
              <a:ext cx="40" cy="1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19" name="Line 615">
              <a:extLst>
                <a:ext uri="{FF2B5EF4-FFF2-40B4-BE49-F238E27FC236}">
                  <a16:creationId xmlns:a16="http://schemas.microsoft.com/office/drawing/2014/main" id="{E886E27D-93A2-4DF5-A4A9-21493E25C8BC}"/>
                </a:ext>
              </a:extLst>
            </p:cNvPr>
            <p:cNvSpPr>
              <a:spLocks noChangeShapeType="1"/>
            </p:cNvSpPr>
            <p:nvPr/>
          </p:nvSpPr>
          <p:spPr bwMode="auto">
            <a:xfrm>
              <a:off x="220" y="2153"/>
              <a:ext cx="35"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0" name="Line 616">
              <a:extLst>
                <a:ext uri="{FF2B5EF4-FFF2-40B4-BE49-F238E27FC236}">
                  <a16:creationId xmlns:a16="http://schemas.microsoft.com/office/drawing/2014/main" id="{35751BE3-E5E7-475E-96D7-743F369D6C2E}"/>
                </a:ext>
              </a:extLst>
            </p:cNvPr>
            <p:cNvSpPr>
              <a:spLocks noChangeShapeType="1"/>
            </p:cNvSpPr>
            <p:nvPr/>
          </p:nvSpPr>
          <p:spPr bwMode="auto">
            <a:xfrm>
              <a:off x="2532" y="2313"/>
              <a:ext cx="203" cy="15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1" name="Line 617">
              <a:extLst>
                <a:ext uri="{FF2B5EF4-FFF2-40B4-BE49-F238E27FC236}">
                  <a16:creationId xmlns:a16="http://schemas.microsoft.com/office/drawing/2014/main" id="{DDAB5C9D-C6E7-47B0-98CA-31B3D22476CC}"/>
                </a:ext>
              </a:extLst>
            </p:cNvPr>
            <p:cNvSpPr>
              <a:spLocks noChangeShapeType="1"/>
            </p:cNvSpPr>
            <p:nvPr/>
          </p:nvSpPr>
          <p:spPr bwMode="auto">
            <a:xfrm>
              <a:off x="2636" y="2311"/>
              <a:ext cx="118" cy="8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2" name="Line 618">
              <a:extLst>
                <a:ext uri="{FF2B5EF4-FFF2-40B4-BE49-F238E27FC236}">
                  <a16:creationId xmlns:a16="http://schemas.microsoft.com/office/drawing/2014/main" id="{F1289BFA-AB12-412C-82F8-492C8FD258C7}"/>
                </a:ext>
              </a:extLst>
            </p:cNvPr>
            <p:cNvSpPr>
              <a:spLocks noChangeShapeType="1"/>
            </p:cNvSpPr>
            <p:nvPr/>
          </p:nvSpPr>
          <p:spPr bwMode="auto">
            <a:xfrm>
              <a:off x="2719" y="2316"/>
              <a:ext cx="37" cy="2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3" name="Line 619">
              <a:extLst>
                <a:ext uri="{FF2B5EF4-FFF2-40B4-BE49-F238E27FC236}">
                  <a16:creationId xmlns:a16="http://schemas.microsoft.com/office/drawing/2014/main" id="{EF4759E9-2800-48CC-BC12-4DA9BECBE4C0}"/>
                </a:ext>
              </a:extLst>
            </p:cNvPr>
            <p:cNvSpPr>
              <a:spLocks noChangeShapeType="1"/>
            </p:cNvSpPr>
            <p:nvPr/>
          </p:nvSpPr>
          <p:spPr bwMode="auto">
            <a:xfrm>
              <a:off x="2425" y="2324"/>
              <a:ext cx="174" cy="13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4" name="Line 620">
              <a:extLst>
                <a:ext uri="{FF2B5EF4-FFF2-40B4-BE49-F238E27FC236}">
                  <a16:creationId xmlns:a16="http://schemas.microsoft.com/office/drawing/2014/main" id="{DA28863C-F3C5-4465-AE7A-A2BF733FE8FF}"/>
                </a:ext>
              </a:extLst>
            </p:cNvPr>
            <p:cNvSpPr>
              <a:spLocks noChangeShapeType="1"/>
            </p:cNvSpPr>
            <p:nvPr/>
          </p:nvSpPr>
          <p:spPr bwMode="auto">
            <a:xfrm>
              <a:off x="2316" y="2327"/>
              <a:ext cx="141" cy="12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5" name="Line 621">
              <a:extLst>
                <a:ext uri="{FF2B5EF4-FFF2-40B4-BE49-F238E27FC236}">
                  <a16:creationId xmlns:a16="http://schemas.microsoft.com/office/drawing/2014/main" id="{7256616D-CFCB-4158-B2AA-03E3BD8C1276}"/>
                </a:ext>
              </a:extLst>
            </p:cNvPr>
            <p:cNvSpPr>
              <a:spLocks noChangeShapeType="1"/>
            </p:cNvSpPr>
            <p:nvPr/>
          </p:nvSpPr>
          <p:spPr bwMode="auto">
            <a:xfrm>
              <a:off x="2198" y="2321"/>
              <a:ext cx="147" cy="118"/>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6" name="Line 622">
              <a:extLst>
                <a:ext uri="{FF2B5EF4-FFF2-40B4-BE49-F238E27FC236}">
                  <a16:creationId xmlns:a16="http://schemas.microsoft.com/office/drawing/2014/main" id="{C54DB97E-B8C1-4D45-913C-1A72BAC03B5A}"/>
                </a:ext>
              </a:extLst>
            </p:cNvPr>
            <p:cNvSpPr>
              <a:spLocks noChangeShapeType="1"/>
            </p:cNvSpPr>
            <p:nvPr/>
          </p:nvSpPr>
          <p:spPr bwMode="auto">
            <a:xfrm>
              <a:off x="2113" y="2329"/>
              <a:ext cx="131" cy="10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7" name="Line 623">
              <a:extLst>
                <a:ext uri="{FF2B5EF4-FFF2-40B4-BE49-F238E27FC236}">
                  <a16:creationId xmlns:a16="http://schemas.microsoft.com/office/drawing/2014/main" id="{CD9719D1-B264-4EB5-8D00-9F24AB6BD3B1}"/>
                </a:ext>
              </a:extLst>
            </p:cNvPr>
            <p:cNvSpPr>
              <a:spLocks noChangeShapeType="1"/>
            </p:cNvSpPr>
            <p:nvPr/>
          </p:nvSpPr>
          <p:spPr bwMode="auto">
            <a:xfrm>
              <a:off x="1990" y="2329"/>
              <a:ext cx="131" cy="97"/>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8" name="Line 624">
              <a:extLst>
                <a:ext uri="{FF2B5EF4-FFF2-40B4-BE49-F238E27FC236}">
                  <a16:creationId xmlns:a16="http://schemas.microsoft.com/office/drawing/2014/main" id="{596D9438-EF17-425C-A4AE-776F309EC737}"/>
                </a:ext>
              </a:extLst>
            </p:cNvPr>
            <p:cNvSpPr>
              <a:spLocks noChangeShapeType="1"/>
            </p:cNvSpPr>
            <p:nvPr/>
          </p:nvSpPr>
          <p:spPr bwMode="auto">
            <a:xfrm>
              <a:off x="1881" y="2329"/>
              <a:ext cx="109"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29" name="Line 625">
              <a:extLst>
                <a:ext uri="{FF2B5EF4-FFF2-40B4-BE49-F238E27FC236}">
                  <a16:creationId xmlns:a16="http://schemas.microsoft.com/office/drawing/2014/main" id="{1D76DF07-1044-40EE-89D7-BCBB3122FB09}"/>
                </a:ext>
              </a:extLst>
            </p:cNvPr>
            <p:cNvSpPr>
              <a:spLocks noChangeShapeType="1"/>
            </p:cNvSpPr>
            <p:nvPr/>
          </p:nvSpPr>
          <p:spPr bwMode="auto">
            <a:xfrm>
              <a:off x="1801" y="2332"/>
              <a:ext cx="82" cy="7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30" name="Line 626">
              <a:extLst>
                <a:ext uri="{FF2B5EF4-FFF2-40B4-BE49-F238E27FC236}">
                  <a16:creationId xmlns:a16="http://schemas.microsoft.com/office/drawing/2014/main" id="{E2A9FC7A-384B-4042-905D-A63E2027BB09}"/>
                </a:ext>
              </a:extLst>
            </p:cNvPr>
            <p:cNvSpPr>
              <a:spLocks noChangeShapeType="1"/>
            </p:cNvSpPr>
            <p:nvPr/>
          </p:nvSpPr>
          <p:spPr bwMode="auto">
            <a:xfrm>
              <a:off x="1691" y="2329"/>
              <a:ext cx="91" cy="70"/>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31" name="Line 627">
              <a:extLst>
                <a:ext uri="{FF2B5EF4-FFF2-40B4-BE49-F238E27FC236}">
                  <a16:creationId xmlns:a16="http://schemas.microsoft.com/office/drawing/2014/main" id="{60AB654B-7AB0-470F-BD50-B0264C292EE1}"/>
                </a:ext>
              </a:extLst>
            </p:cNvPr>
            <p:cNvSpPr>
              <a:spLocks noChangeShapeType="1"/>
            </p:cNvSpPr>
            <p:nvPr/>
          </p:nvSpPr>
          <p:spPr bwMode="auto">
            <a:xfrm>
              <a:off x="1590" y="2335"/>
              <a:ext cx="77" cy="5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32" name="Line 628">
              <a:extLst>
                <a:ext uri="{FF2B5EF4-FFF2-40B4-BE49-F238E27FC236}">
                  <a16:creationId xmlns:a16="http://schemas.microsoft.com/office/drawing/2014/main" id="{CA732E8C-C90B-48C7-95DE-99B303F7A9DB}"/>
                </a:ext>
              </a:extLst>
            </p:cNvPr>
            <p:cNvSpPr>
              <a:spLocks noChangeShapeType="1"/>
            </p:cNvSpPr>
            <p:nvPr/>
          </p:nvSpPr>
          <p:spPr bwMode="auto">
            <a:xfrm>
              <a:off x="1480" y="2337"/>
              <a:ext cx="67" cy="4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33" name="Line 629">
              <a:extLst>
                <a:ext uri="{FF2B5EF4-FFF2-40B4-BE49-F238E27FC236}">
                  <a16:creationId xmlns:a16="http://schemas.microsoft.com/office/drawing/2014/main" id="{05DE8080-7F35-46B3-AEB3-57CBDD5050CD}"/>
                </a:ext>
              </a:extLst>
            </p:cNvPr>
            <p:cNvSpPr>
              <a:spLocks noChangeShapeType="1"/>
            </p:cNvSpPr>
            <p:nvPr/>
          </p:nvSpPr>
          <p:spPr bwMode="auto">
            <a:xfrm>
              <a:off x="1373" y="2340"/>
              <a:ext cx="46" cy="3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34" name="Line 630">
              <a:extLst>
                <a:ext uri="{FF2B5EF4-FFF2-40B4-BE49-F238E27FC236}">
                  <a16:creationId xmlns:a16="http://schemas.microsoft.com/office/drawing/2014/main" id="{158C9EAC-8E4A-43A1-8F41-EE23E3E43CD3}"/>
                </a:ext>
              </a:extLst>
            </p:cNvPr>
            <p:cNvSpPr>
              <a:spLocks noChangeShapeType="1"/>
            </p:cNvSpPr>
            <p:nvPr/>
          </p:nvSpPr>
          <p:spPr bwMode="auto">
            <a:xfrm>
              <a:off x="1285" y="2343"/>
              <a:ext cx="27" cy="2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35" name="Freeform 631">
              <a:extLst>
                <a:ext uri="{FF2B5EF4-FFF2-40B4-BE49-F238E27FC236}">
                  <a16:creationId xmlns:a16="http://schemas.microsoft.com/office/drawing/2014/main" id="{92D52852-C24F-48B5-A613-B100486CA135}"/>
                </a:ext>
              </a:extLst>
            </p:cNvPr>
            <p:cNvSpPr>
              <a:spLocks/>
            </p:cNvSpPr>
            <p:nvPr/>
          </p:nvSpPr>
          <p:spPr bwMode="auto">
            <a:xfrm>
              <a:off x="2925" y="2027"/>
              <a:ext cx="280" cy="220"/>
            </a:xfrm>
            <a:custGeom>
              <a:avLst/>
              <a:gdLst>
                <a:gd name="T0" fmla="*/ 280 w 280"/>
                <a:gd name="T1" fmla="*/ 0 h 220"/>
                <a:gd name="T2" fmla="*/ 0 w 280"/>
                <a:gd name="T3" fmla="*/ 217 h 220"/>
                <a:gd name="T4" fmla="*/ 24 w 280"/>
                <a:gd name="T5" fmla="*/ 220 h 220"/>
                <a:gd name="T6" fmla="*/ 96 w 280"/>
                <a:gd name="T7" fmla="*/ 187 h 220"/>
                <a:gd name="T8" fmla="*/ 259 w 280"/>
                <a:gd name="T9" fmla="*/ 43 h 220"/>
                <a:gd name="T10" fmla="*/ 280 w 280"/>
                <a:gd name="T11" fmla="*/ 0 h 220"/>
              </a:gdLst>
              <a:ahLst/>
              <a:cxnLst>
                <a:cxn ang="0">
                  <a:pos x="T0" y="T1"/>
                </a:cxn>
                <a:cxn ang="0">
                  <a:pos x="T2" y="T3"/>
                </a:cxn>
                <a:cxn ang="0">
                  <a:pos x="T4" y="T5"/>
                </a:cxn>
                <a:cxn ang="0">
                  <a:pos x="T6" y="T7"/>
                </a:cxn>
                <a:cxn ang="0">
                  <a:pos x="T8" y="T9"/>
                </a:cxn>
                <a:cxn ang="0">
                  <a:pos x="T10" y="T11"/>
                </a:cxn>
              </a:cxnLst>
              <a:rect l="0" t="0" r="r" b="b"/>
              <a:pathLst>
                <a:path w="280" h="220">
                  <a:moveTo>
                    <a:pt x="280" y="0"/>
                  </a:moveTo>
                  <a:lnTo>
                    <a:pt x="0" y="217"/>
                  </a:lnTo>
                  <a:lnTo>
                    <a:pt x="24" y="220"/>
                  </a:lnTo>
                  <a:lnTo>
                    <a:pt x="96" y="187"/>
                  </a:lnTo>
                  <a:lnTo>
                    <a:pt x="259" y="43"/>
                  </a:lnTo>
                  <a:lnTo>
                    <a:pt x="280" y="0"/>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6" name="Freeform 632">
              <a:extLst>
                <a:ext uri="{FF2B5EF4-FFF2-40B4-BE49-F238E27FC236}">
                  <a16:creationId xmlns:a16="http://schemas.microsoft.com/office/drawing/2014/main" id="{B47118C3-6628-478E-91B5-53628836B86C}"/>
                </a:ext>
              </a:extLst>
            </p:cNvPr>
            <p:cNvSpPr>
              <a:spLocks/>
            </p:cNvSpPr>
            <p:nvPr/>
          </p:nvSpPr>
          <p:spPr bwMode="auto">
            <a:xfrm>
              <a:off x="2925" y="2027"/>
              <a:ext cx="280" cy="220"/>
            </a:xfrm>
            <a:custGeom>
              <a:avLst/>
              <a:gdLst>
                <a:gd name="T0" fmla="*/ 280 w 280"/>
                <a:gd name="T1" fmla="*/ 0 h 220"/>
                <a:gd name="T2" fmla="*/ 0 w 280"/>
                <a:gd name="T3" fmla="*/ 217 h 220"/>
                <a:gd name="T4" fmla="*/ 24 w 280"/>
                <a:gd name="T5" fmla="*/ 220 h 220"/>
                <a:gd name="T6" fmla="*/ 96 w 280"/>
                <a:gd name="T7" fmla="*/ 187 h 220"/>
                <a:gd name="T8" fmla="*/ 259 w 280"/>
                <a:gd name="T9" fmla="*/ 43 h 220"/>
                <a:gd name="T10" fmla="*/ 280 w 280"/>
                <a:gd name="T11" fmla="*/ 0 h 220"/>
              </a:gdLst>
              <a:ahLst/>
              <a:cxnLst>
                <a:cxn ang="0">
                  <a:pos x="T0" y="T1"/>
                </a:cxn>
                <a:cxn ang="0">
                  <a:pos x="T2" y="T3"/>
                </a:cxn>
                <a:cxn ang="0">
                  <a:pos x="T4" y="T5"/>
                </a:cxn>
                <a:cxn ang="0">
                  <a:pos x="T6" y="T7"/>
                </a:cxn>
                <a:cxn ang="0">
                  <a:pos x="T8" y="T9"/>
                </a:cxn>
                <a:cxn ang="0">
                  <a:pos x="T10" y="T11"/>
                </a:cxn>
              </a:cxnLst>
              <a:rect l="0" t="0" r="r" b="b"/>
              <a:pathLst>
                <a:path w="280" h="220">
                  <a:moveTo>
                    <a:pt x="280" y="0"/>
                  </a:moveTo>
                  <a:lnTo>
                    <a:pt x="0" y="217"/>
                  </a:lnTo>
                  <a:lnTo>
                    <a:pt x="24" y="220"/>
                  </a:lnTo>
                  <a:lnTo>
                    <a:pt x="96" y="187"/>
                  </a:lnTo>
                  <a:lnTo>
                    <a:pt x="259" y="43"/>
                  </a:lnTo>
                  <a:lnTo>
                    <a:pt x="280"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37" name="Freeform 633">
              <a:extLst>
                <a:ext uri="{FF2B5EF4-FFF2-40B4-BE49-F238E27FC236}">
                  <a16:creationId xmlns:a16="http://schemas.microsoft.com/office/drawing/2014/main" id="{C2B598C8-CD4F-4A37-855C-81EE1D9AE538}"/>
                </a:ext>
              </a:extLst>
            </p:cNvPr>
            <p:cNvSpPr>
              <a:spLocks/>
            </p:cNvSpPr>
            <p:nvPr/>
          </p:nvSpPr>
          <p:spPr bwMode="auto">
            <a:xfrm>
              <a:off x="3491" y="1624"/>
              <a:ext cx="224" cy="176"/>
            </a:xfrm>
            <a:custGeom>
              <a:avLst/>
              <a:gdLst>
                <a:gd name="T0" fmla="*/ 224 w 224"/>
                <a:gd name="T1" fmla="*/ 0 h 176"/>
                <a:gd name="T2" fmla="*/ 0 w 224"/>
                <a:gd name="T3" fmla="*/ 174 h 176"/>
                <a:gd name="T4" fmla="*/ 18 w 224"/>
                <a:gd name="T5" fmla="*/ 176 h 176"/>
                <a:gd name="T6" fmla="*/ 77 w 224"/>
                <a:gd name="T7" fmla="*/ 150 h 176"/>
                <a:gd name="T8" fmla="*/ 205 w 224"/>
                <a:gd name="T9" fmla="*/ 35 h 176"/>
                <a:gd name="T10" fmla="*/ 224 w 224"/>
                <a:gd name="T11" fmla="*/ 0 h 176"/>
              </a:gdLst>
              <a:ahLst/>
              <a:cxnLst>
                <a:cxn ang="0">
                  <a:pos x="T0" y="T1"/>
                </a:cxn>
                <a:cxn ang="0">
                  <a:pos x="T2" y="T3"/>
                </a:cxn>
                <a:cxn ang="0">
                  <a:pos x="T4" y="T5"/>
                </a:cxn>
                <a:cxn ang="0">
                  <a:pos x="T6" y="T7"/>
                </a:cxn>
                <a:cxn ang="0">
                  <a:pos x="T8" y="T9"/>
                </a:cxn>
                <a:cxn ang="0">
                  <a:pos x="T10" y="T11"/>
                </a:cxn>
              </a:cxnLst>
              <a:rect l="0" t="0" r="r" b="b"/>
              <a:pathLst>
                <a:path w="224" h="176">
                  <a:moveTo>
                    <a:pt x="224" y="0"/>
                  </a:moveTo>
                  <a:lnTo>
                    <a:pt x="0" y="174"/>
                  </a:lnTo>
                  <a:lnTo>
                    <a:pt x="18" y="176"/>
                  </a:lnTo>
                  <a:lnTo>
                    <a:pt x="77" y="150"/>
                  </a:lnTo>
                  <a:lnTo>
                    <a:pt x="205" y="35"/>
                  </a:lnTo>
                  <a:lnTo>
                    <a:pt x="224" y="0"/>
                  </a:lnTo>
                  <a:close/>
                </a:path>
              </a:pathLst>
            </a:custGeom>
            <a:solidFill>
              <a:srgbClr val="9AB0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8" name="Freeform 634">
              <a:extLst>
                <a:ext uri="{FF2B5EF4-FFF2-40B4-BE49-F238E27FC236}">
                  <a16:creationId xmlns:a16="http://schemas.microsoft.com/office/drawing/2014/main" id="{D2EA6B71-138C-497E-844A-19216B145DDC}"/>
                </a:ext>
              </a:extLst>
            </p:cNvPr>
            <p:cNvSpPr>
              <a:spLocks/>
            </p:cNvSpPr>
            <p:nvPr/>
          </p:nvSpPr>
          <p:spPr bwMode="auto">
            <a:xfrm>
              <a:off x="3491" y="1624"/>
              <a:ext cx="224" cy="176"/>
            </a:xfrm>
            <a:custGeom>
              <a:avLst/>
              <a:gdLst>
                <a:gd name="T0" fmla="*/ 224 w 224"/>
                <a:gd name="T1" fmla="*/ 0 h 176"/>
                <a:gd name="T2" fmla="*/ 0 w 224"/>
                <a:gd name="T3" fmla="*/ 174 h 176"/>
                <a:gd name="T4" fmla="*/ 18 w 224"/>
                <a:gd name="T5" fmla="*/ 176 h 176"/>
                <a:gd name="T6" fmla="*/ 77 w 224"/>
                <a:gd name="T7" fmla="*/ 150 h 176"/>
                <a:gd name="T8" fmla="*/ 205 w 224"/>
                <a:gd name="T9" fmla="*/ 35 h 176"/>
                <a:gd name="T10" fmla="*/ 224 w 224"/>
                <a:gd name="T11" fmla="*/ 0 h 176"/>
              </a:gdLst>
              <a:ahLst/>
              <a:cxnLst>
                <a:cxn ang="0">
                  <a:pos x="T0" y="T1"/>
                </a:cxn>
                <a:cxn ang="0">
                  <a:pos x="T2" y="T3"/>
                </a:cxn>
                <a:cxn ang="0">
                  <a:pos x="T4" y="T5"/>
                </a:cxn>
                <a:cxn ang="0">
                  <a:pos x="T6" y="T7"/>
                </a:cxn>
                <a:cxn ang="0">
                  <a:pos x="T8" y="T9"/>
                </a:cxn>
                <a:cxn ang="0">
                  <a:pos x="T10" y="T11"/>
                </a:cxn>
              </a:cxnLst>
              <a:rect l="0" t="0" r="r" b="b"/>
              <a:pathLst>
                <a:path w="224" h="176">
                  <a:moveTo>
                    <a:pt x="224" y="0"/>
                  </a:moveTo>
                  <a:lnTo>
                    <a:pt x="0" y="174"/>
                  </a:lnTo>
                  <a:lnTo>
                    <a:pt x="18" y="176"/>
                  </a:lnTo>
                  <a:lnTo>
                    <a:pt x="77" y="150"/>
                  </a:lnTo>
                  <a:lnTo>
                    <a:pt x="205" y="35"/>
                  </a:lnTo>
                  <a:lnTo>
                    <a:pt x="224" y="0"/>
                  </a:lnTo>
                  <a:close/>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39" name="Freeform 635">
              <a:extLst>
                <a:ext uri="{FF2B5EF4-FFF2-40B4-BE49-F238E27FC236}">
                  <a16:creationId xmlns:a16="http://schemas.microsoft.com/office/drawing/2014/main" id="{54C0334E-71A1-4236-BDD5-161B7BD58CC4}"/>
                </a:ext>
              </a:extLst>
            </p:cNvPr>
            <p:cNvSpPr>
              <a:spLocks/>
            </p:cNvSpPr>
            <p:nvPr/>
          </p:nvSpPr>
          <p:spPr bwMode="auto">
            <a:xfrm>
              <a:off x="3189" y="1838"/>
              <a:ext cx="136" cy="227"/>
            </a:xfrm>
            <a:custGeom>
              <a:avLst/>
              <a:gdLst>
                <a:gd name="T0" fmla="*/ 136 w 136"/>
                <a:gd name="T1" fmla="*/ 0 h 227"/>
                <a:gd name="T2" fmla="*/ 96 w 136"/>
                <a:gd name="T3" fmla="*/ 88 h 227"/>
                <a:gd name="T4" fmla="*/ 27 w 136"/>
                <a:gd name="T5" fmla="*/ 189 h 227"/>
                <a:gd name="T6" fmla="*/ 0 w 136"/>
                <a:gd name="T7" fmla="*/ 227 h 227"/>
              </a:gdLst>
              <a:ahLst/>
              <a:cxnLst>
                <a:cxn ang="0">
                  <a:pos x="T0" y="T1"/>
                </a:cxn>
                <a:cxn ang="0">
                  <a:pos x="T2" y="T3"/>
                </a:cxn>
                <a:cxn ang="0">
                  <a:pos x="T4" y="T5"/>
                </a:cxn>
                <a:cxn ang="0">
                  <a:pos x="T6" y="T7"/>
                </a:cxn>
              </a:cxnLst>
              <a:rect l="0" t="0" r="r" b="b"/>
              <a:pathLst>
                <a:path w="136" h="227">
                  <a:moveTo>
                    <a:pt x="136" y="0"/>
                  </a:moveTo>
                  <a:lnTo>
                    <a:pt x="96" y="88"/>
                  </a:lnTo>
                  <a:lnTo>
                    <a:pt x="27" y="189"/>
                  </a:lnTo>
                  <a:lnTo>
                    <a:pt x="0" y="227"/>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40" name="Freeform 636">
              <a:extLst>
                <a:ext uri="{FF2B5EF4-FFF2-40B4-BE49-F238E27FC236}">
                  <a16:creationId xmlns:a16="http://schemas.microsoft.com/office/drawing/2014/main" id="{495E892F-7588-453A-B882-650602CA1562}"/>
                </a:ext>
              </a:extLst>
            </p:cNvPr>
            <p:cNvSpPr>
              <a:spLocks/>
            </p:cNvSpPr>
            <p:nvPr/>
          </p:nvSpPr>
          <p:spPr bwMode="auto">
            <a:xfrm>
              <a:off x="2829" y="1947"/>
              <a:ext cx="413" cy="316"/>
            </a:xfrm>
            <a:custGeom>
              <a:avLst/>
              <a:gdLst>
                <a:gd name="T0" fmla="*/ 413 w 413"/>
                <a:gd name="T1" fmla="*/ 0 h 316"/>
                <a:gd name="T2" fmla="*/ 360 w 413"/>
                <a:gd name="T3" fmla="*/ 80 h 316"/>
                <a:gd name="T4" fmla="*/ 269 w 413"/>
                <a:gd name="T5" fmla="*/ 158 h 316"/>
                <a:gd name="T6" fmla="*/ 146 w 413"/>
                <a:gd name="T7" fmla="*/ 249 h 316"/>
                <a:gd name="T8" fmla="*/ 0 w 413"/>
                <a:gd name="T9" fmla="*/ 316 h 316"/>
              </a:gdLst>
              <a:ahLst/>
              <a:cxnLst>
                <a:cxn ang="0">
                  <a:pos x="T0" y="T1"/>
                </a:cxn>
                <a:cxn ang="0">
                  <a:pos x="T2" y="T3"/>
                </a:cxn>
                <a:cxn ang="0">
                  <a:pos x="T4" y="T5"/>
                </a:cxn>
                <a:cxn ang="0">
                  <a:pos x="T6" y="T7"/>
                </a:cxn>
                <a:cxn ang="0">
                  <a:pos x="T8" y="T9"/>
                </a:cxn>
              </a:cxnLst>
              <a:rect l="0" t="0" r="r" b="b"/>
              <a:pathLst>
                <a:path w="413" h="316">
                  <a:moveTo>
                    <a:pt x="413" y="0"/>
                  </a:moveTo>
                  <a:lnTo>
                    <a:pt x="360" y="80"/>
                  </a:lnTo>
                  <a:lnTo>
                    <a:pt x="269" y="158"/>
                  </a:lnTo>
                  <a:lnTo>
                    <a:pt x="146" y="249"/>
                  </a:lnTo>
                  <a:lnTo>
                    <a:pt x="0" y="31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41" name="Freeform 637">
              <a:extLst>
                <a:ext uri="{FF2B5EF4-FFF2-40B4-BE49-F238E27FC236}">
                  <a16:creationId xmlns:a16="http://schemas.microsoft.com/office/drawing/2014/main" id="{9E72FEE9-3C34-4E16-B696-F5EDFEC531E6}"/>
                </a:ext>
              </a:extLst>
            </p:cNvPr>
            <p:cNvSpPr>
              <a:spLocks/>
            </p:cNvSpPr>
            <p:nvPr/>
          </p:nvSpPr>
          <p:spPr bwMode="auto">
            <a:xfrm>
              <a:off x="2906" y="2019"/>
              <a:ext cx="246" cy="166"/>
            </a:xfrm>
            <a:custGeom>
              <a:avLst/>
              <a:gdLst>
                <a:gd name="T0" fmla="*/ 246 w 246"/>
                <a:gd name="T1" fmla="*/ 0 h 166"/>
                <a:gd name="T2" fmla="*/ 181 w 246"/>
                <a:gd name="T3" fmla="*/ 67 h 166"/>
                <a:gd name="T4" fmla="*/ 83 w 246"/>
                <a:gd name="T5" fmla="*/ 134 h 166"/>
                <a:gd name="T6" fmla="*/ 0 w 246"/>
                <a:gd name="T7" fmla="*/ 166 h 166"/>
              </a:gdLst>
              <a:ahLst/>
              <a:cxnLst>
                <a:cxn ang="0">
                  <a:pos x="T0" y="T1"/>
                </a:cxn>
                <a:cxn ang="0">
                  <a:pos x="T2" y="T3"/>
                </a:cxn>
                <a:cxn ang="0">
                  <a:pos x="T4" y="T5"/>
                </a:cxn>
                <a:cxn ang="0">
                  <a:pos x="T6" y="T7"/>
                </a:cxn>
              </a:cxnLst>
              <a:rect l="0" t="0" r="r" b="b"/>
              <a:pathLst>
                <a:path w="246" h="166">
                  <a:moveTo>
                    <a:pt x="246" y="0"/>
                  </a:moveTo>
                  <a:lnTo>
                    <a:pt x="181" y="67"/>
                  </a:lnTo>
                  <a:lnTo>
                    <a:pt x="83" y="134"/>
                  </a:lnTo>
                  <a:lnTo>
                    <a:pt x="0" y="166"/>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42" name="Freeform 638">
              <a:extLst>
                <a:ext uri="{FF2B5EF4-FFF2-40B4-BE49-F238E27FC236}">
                  <a16:creationId xmlns:a16="http://schemas.microsoft.com/office/drawing/2014/main" id="{6C6A4F77-F54F-4189-9DB4-470421A555AC}"/>
                </a:ext>
              </a:extLst>
            </p:cNvPr>
            <p:cNvSpPr>
              <a:spLocks/>
            </p:cNvSpPr>
            <p:nvPr/>
          </p:nvSpPr>
          <p:spPr bwMode="auto">
            <a:xfrm>
              <a:off x="2927" y="2078"/>
              <a:ext cx="115" cy="70"/>
            </a:xfrm>
            <a:custGeom>
              <a:avLst/>
              <a:gdLst>
                <a:gd name="T0" fmla="*/ 115 w 115"/>
                <a:gd name="T1" fmla="*/ 0 h 70"/>
                <a:gd name="T2" fmla="*/ 59 w 115"/>
                <a:gd name="T3" fmla="*/ 46 h 70"/>
                <a:gd name="T4" fmla="*/ 0 w 115"/>
                <a:gd name="T5" fmla="*/ 70 h 70"/>
              </a:gdLst>
              <a:ahLst/>
              <a:cxnLst>
                <a:cxn ang="0">
                  <a:pos x="T0" y="T1"/>
                </a:cxn>
                <a:cxn ang="0">
                  <a:pos x="T2" y="T3"/>
                </a:cxn>
                <a:cxn ang="0">
                  <a:pos x="T4" y="T5"/>
                </a:cxn>
              </a:cxnLst>
              <a:rect l="0" t="0" r="r" b="b"/>
              <a:pathLst>
                <a:path w="115" h="70">
                  <a:moveTo>
                    <a:pt x="115" y="0"/>
                  </a:moveTo>
                  <a:lnTo>
                    <a:pt x="59" y="46"/>
                  </a:lnTo>
                  <a:lnTo>
                    <a:pt x="0" y="7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43" name="Line 639">
              <a:extLst>
                <a:ext uri="{FF2B5EF4-FFF2-40B4-BE49-F238E27FC236}">
                  <a16:creationId xmlns:a16="http://schemas.microsoft.com/office/drawing/2014/main" id="{2C980E62-04E3-4D2C-A6F2-9B390B6CDB39}"/>
                </a:ext>
              </a:extLst>
            </p:cNvPr>
            <p:cNvSpPr>
              <a:spLocks noChangeShapeType="1"/>
            </p:cNvSpPr>
            <p:nvPr/>
          </p:nvSpPr>
          <p:spPr bwMode="auto">
            <a:xfrm flipH="1">
              <a:off x="2762" y="2247"/>
              <a:ext cx="179" cy="61"/>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44" name="Freeform 640">
              <a:extLst>
                <a:ext uri="{FF2B5EF4-FFF2-40B4-BE49-F238E27FC236}">
                  <a16:creationId xmlns:a16="http://schemas.microsoft.com/office/drawing/2014/main" id="{8CB95D1E-12F9-4A89-AA47-47FFBC319161}"/>
                </a:ext>
              </a:extLst>
            </p:cNvPr>
            <p:cNvSpPr>
              <a:spLocks/>
            </p:cNvSpPr>
            <p:nvPr/>
          </p:nvSpPr>
          <p:spPr bwMode="auto">
            <a:xfrm>
              <a:off x="2762" y="2196"/>
              <a:ext cx="344" cy="147"/>
            </a:xfrm>
            <a:custGeom>
              <a:avLst/>
              <a:gdLst>
                <a:gd name="T0" fmla="*/ 0 w 344"/>
                <a:gd name="T1" fmla="*/ 147 h 147"/>
                <a:gd name="T2" fmla="*/ 205 w 344"/>
                <a:gd name="T3" fmla="*/ 77 h 147"/>
                <a:gd name="T4" fmla="*/ 344 w 344"/>
                <a:gd name="T5" fmla="*/ 0 h 147"/>
              </a:gdLst>
              <a:ahLst/>
              <a:cxnLst>
                <a:cxn ang="0">
                  <a:pos x="T0" y="T1"/>
                </a:cxn>
                <a:cxn ang="0">
                  <a:pos x="T2" y="T3"/>
                </a:cxn>
                <a:cxn ang="0">
                  <a:pos x="T4" y="T5"/>
                </a:cxn>
              </a:cxnLst>
              <a:rect l="0" t="0" r="r" b="b"/>
              <a:pathLst>
                <a:path w="344" h="147">
                  <a:moveTo>
                    <a:pt x="0" y="147"/>
                  </a:moveTo>
                  <a:lnTo>
                    <a:pt x="205" y="77"/>
                  </a:lnTo>
                  <a:lnTo>
                    <a:pt x="344"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45" name="Line 641">
              <a:extLst>
                <a:ext uri="{FF2B5EF4-FFF2-40B4-BE49-F238E27FC236}">
                  <a16:creationId xmlns:a16="http://schemas.microsoft.com/office/drawing/2014/main" id="{9729803D-5ADE-4F97-80FB-7105F69DFA62}"/>
                </a:ext>
              </a:extLst>
            </p:cNvPr>
            <p:cNvSpPr>
              <a:spLocks noChangeShapeType="1"/>
            </p:cNvSpPr>
            <p:nvPr/>
          </p:nvSpPr>
          <p:spPr bwMode="auto">
            <a:xfrm flipV="1">
              <a:off x="2759" y="2337"/>
              <a:ext cx="166"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46" name="Line 642">
              <a:extLst>
                <a:ext uri="{FF2B5EF4-FFF2-40B4-BE49-F238E27FC236}">
                  <a16:creationId xmlns:a16="http://schemas.microsoft.com/office/drawing/2014/main" id="{85CA9FAA-B03B-48D4-B422-6C84A128BBC4}"/>
                </a:ext>
              </a:extLst>
            </p:cNvPr>
            <p:cNvSpPr>
              <a:spLocks noChangeShapeType="1"/>
            </p:cNvSpPr>
            <p:nvPr/>
          </p:nvSpPr>
          <p:spPr bwMode="auto">
            <a:xfrm flipV="1">
              <a:off x="3063" y="2126"/>
              <a:ext cx="134" cy="62"/>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47" name="Line 643">
              <a:extLst>
                <a:ext uri="{FF2B5EF4-FFF2-40B4-BE49-F238E27FC236}">
                  <a16:creationId xmlns:a16="http://schemas.microsoft.com/office/drawing/2014/main" id="{8B07EA39-F0DA-4A50-B6BA-B2B60AD78196}"/>
                </a:ext>
              </a:extLst>
            </p:cNvPr>
            <p:cNvSpPr>
              <a:spLocks noChangeShapeType="1"/>
            </p:cNvSpPr>
            <p:nvPr/>
          </p:nvSpPr>
          <p:spPr bwMode="auto">
            <a:xfrm flipV="1">
              <a:off x="3130" y="2065"/>
              <a:ext cx="136" cy="5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48" name="Freeform 644">
              <a:extLst>
                <a:ext uri="{FF2B5EF4-FFF2-40B4-BE49-F238E27FC236}">
                  <a16:creationId xmlns:a16="http://schemas.microsoft.com/office/drawing/2014/main" id="{437C78FD-4050-4D91-A68F-6B9E9DF6F148}"/>
                </a:ext>
              </a:extLst>
            </p:cNvPr>
            <p:cNvSpPr>
              <a:spLocks/>
            </p:cNvSpPr>
            <p:nvPr/>
          </p:nvSpPr>
          <p:spPr bwMode="auto">
            <a:xfrm>
              <a:off x="3333" y="1800"/>
              <a:ext cx="184" cy="24"/>
            </a:xfrm>
            <a:custGeom>
              <a:avLst/>
              <a:gdLst>
                <a:gd name="T0" fmla="*/ 0 w 184"/>
                <a:gd name="T1" fmla="*/ 24 h 24"/>
                <a:gd name="T2" fmla="*/ 88 w 184"/>
                <a:gd name="T3" fmla="*/ 14 h 24"/>
                <a:gd name="T4" fmla="*/ 184 w 184"/>
                <a:gd name="T5" fmla="*/ 0 h 24"/>
              </a:gdLst>
              <a:ahLst/>
              <a:cxnLst>
                <a:cxn ang="0">
                  <a:pos x="T0" y="T1"/>
                </a:cxn>
                <a:cxn ang="0">
                  <a:pos x="T2" y="T3"/>
                </a:cxn>
                <a:cxn ang="0">
                  <a:pos x="T4" y="T5"/>
                </a:cxn>
              </a:cxnLst>
              <a:rect l="0" t="0" r="r" b="b"/>
              <a:pathLst>
                <a:path w="184" h="24">
                  <a:moveTo>
                    <a:pt x="0" y="24"/>
                  </a:moveTo>
                  <a:lnTo>
                    <a:pt x="88" y="14"/>
                  </a:lnTo>
                  <a:lnTo>
                    <a:pt x="184"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49" name="Line 645">
              <a:extLst>
                <a:ext uri="{FF2B5EF4-FFF2-40B4-BE49-F238E27FC236}">
                  <a16:creationId xmlns:a16="http://schemas.microsoft.com/office/drawing/2014/main" id="{01D57178-8B52-4E78-AAB9-165ABAA152E7}"/>
                </a:ext>
              </a:extLst>
            </p:cNvPr>
            <p:cNvSpPr>
              <a:spLocks noChangeShapeType="1"/>
            </p:cNvSpPr>
            <p:nvPr/>
          </p:nvSpPr>
          <p:spPr bwMode="auto">
            <a:xfrm flipV="1">
              <a:off x="3704" y="1589"/>
              <a:ext cx="59" cy="6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0" name="Freeform 646">
              <a:extLst>
                <a:ext uri="{FF2B5EF4-FFF2-40B4-BE49-F238E27FC236}">
                  <a16:creationId xmlns:a16="http://schemas.microsoft.com/office/drawing/2014/main" id="{3B21401E-A06F-4490-9F55-B41907711FFD}"/>
                </a:ext>
              </a:extLst>
            </p:cNvPr>
            <p:cNvSpPr>
              <a:spLocks/>
            </p:cNvSpPr>
            <p:nvPr/>
          </p:nvSpPr>
          <p:spPr bwMode="auto">
            <a:xfrm>
              <a:off x="3379" y="1555"/>
              <a:ext cx="387" cy="237"/>
            </a:xfrm>
            <a:custGeom>
              <a:avLst/>
              <a:gdLst>
                <a:gd name="T0" fmla="*/ 0 w 387"/>
                <a:gd name="T1" fmla="*/ 237 h 237"/>
                <a:gd name="T2" fmla="*/ 109 w 387"/>
                <a:gd name="T3" fmla="*/ 211 h 237"/>
                <a:gd name="T4" fmla="*/ 197 w 387"/>
                <a:gd name="T5" fmla="*/ 165 h 237"/>
                <a:gd name="T6" fmla="*/ 339 w 387"/>
                <a:gd name="T7" fmla="*/ 58 h 237"/>
                <a:gd name="T8" fmla="*/ 387 w 387"/>
                <a:gd name="T9" fmla="*/ 0 h 237"/>
              </a:gdLst>
              <a:ahLst/>
              <a:cxnLst>
                <a:cxn ang="0">
                  <a:pos x="T0" y="T1"/>
                </a:cxn>
                <a:cxn ang="0">
                  <a:pos x="T2" y="T3"/>
                </a:cxn>
                <a:cxn ang="0">
                  <a:pos x="T4" y="T5"/>
                </a:cxn>
                <a:cxn ang="0">
                  <a:pos x="T6" y="T7"/>
                </a:cxn>
                <a:cxn ang="0">
                  <a:pos x="T8" y="T9"/>
                </a:cxn>
              </a:cxnLst>
              <a:rect l="0" t="0" r="r" b="b"/>
              <a:pathLst>
                <a:path w="387" h="237">
                  <a:moveTo>
                    <a:pt x="0" y="237"/>
                  </a:moveTo>
                  <a:lnTo>
                    <a:pt x="109" y="211"/>
                  </a:lnTo>
                  <a:lnTo>
                    <a:pt x="197" y="165"/>
                  </a:lnTo>
                  <a:lnTo>
                    <a:pt x="339" y="58"/>
                  </a:lnTo>
                  <a:lnTo>
                    <a:pt x="387"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1" name="Freeform 647">
              <a:extLst>
                <a:ext uri="{FF2B5EF4-FFF2-40B4-BE49-F238E27FC236}">
                  <a16:creationId xmlns:a16="http://schemas.microsoft.com/office/drawing/2014/main" id="{F70CAF81-5E4F-41EE-A2F6-7CB6FF269C78}"/>
                </a:ext>
              </a:extLst>
            </p:cNvPr>
            <p:cNvSpPr>
              <a:spLocks/>
            </p:cNvSpPr>
            <p:nvPr/>
          </p:nvSpPr>
          <p:spPr bwMode="auto">
            <a:xfrm>
              <a:off x="3432" y="1541"/>
              <a:ext cx="331" cy="206"/>
            </a:xfrm>
            <a:custGeom>
              <a:avLst/>
              <a:gdLst>
                <a:gd name="T0" fmla="*/ 0 w 331"/>
                <a:gd name="T1" fmla="*/ 206 h 206"/>
                <a:gd name="T2" fmla="*/ 85 w 331"/>
                <a:gd name="T3" fmla="*/ 176 h 206"/>
                <a:gd name="T4" fmla="*/ 149 w 331"/>
                <a:gd name="T5" fmla="*/ 150 h 206"/>
                <a:gd name="T6" fmla="*/ 288 w 331"/>
                <a:gd name="T7" fmla="*/ 48 h 206"/>
                <a:gd name="T8" fmla="*/ 331 w 331"/>
                <a:gd name="T9" fmla="*/ 0 h 206"/>
              </a:gdLst>
              <a:ahLst/>
              <a:cxnLst>
                <a:cxn ang="0">
                  <a:pos x="T0" y="T1"/>
                </a:cxn>
                <a:cxn ang="0">
                  <a:pos x="T2" y="T3"/>
                </a:cxn>
                <a:cxn ang="0">
                  <a:pos x="T4" y="T5"/>
                </a:cxn>
                <a:cxn ang="0">
                  <a:pos x="T6" y="T7"/>
                </a:cxn>
                <a:cxn ang="0">
                  <a:pos x="T8" y="T9"/>
                </a:cxn>
              </a:cxnLst>
              <a:rect l="0" t="0" r="r" b="b"/>
              <a:pathLst>
                <a:path w="331" h="206">
                  <a:moveTo>
                    <a:pt x="0" y="206"/>
                  </a:moveTo>
                  <a:lnTo>
                    <a:pt x="85" y="176"/>
                  </a:lnTo>
                  <a:lnTo>
                    <a:pt x="149" y="150"/>
                  </a:lnTo>
                  <a:lnTo>
                    <a:pt x="288" y="48"/>
                  </a:lnTo>
                  <a:lnTo>
                    <a:pt x="331"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2" name="Freeform 648">
              <a:extLst>
                <a:ext uri="{FF2B5EF4-FFF2-40B4-BE49-F238E27FC236}">
                  <a16:creationId xmlns:a16="http://schemas.microsoft.com/office/drawing/2014/main" id="{D05616A4-8C18-4AF3-AEAF-CB3FF2DDFB6B}"/>
                </a:ext>
              </a:extLst>
            </p:cNvPr>
            <p:cNvSpPr>
              <a:spLocks/>
            </p:cNvSpPr>
            <p:nvPr/>
          </p:nvSpPr>
          <p:spPr bwMode="auto">
            <a:xfrm>
              <a:off x="3288" y="1822"/>
              <a:ext cx="107" cy="93"/>
            </a:xfrm>
            <a:custGeom>
              <a:avLst/>
              <a:gdLst>
                <a:gd name="T0" fmla="*/ 107 w 107"/>
                <a:gd name="T1" fmla="*/ 0 h 93"/>
                <a:gd name="T2" fmla="*/ 91 w 107"/>
                <a:gd name="T3" fmla="*/ 26 h 93"/>
                <a:gd name="T4" fmla="*/ 56 w 107"/>
                <a:gd name="T5" fmla="*/ 75 h 93"/>
                <a:gd name="T6" fmla="*/ 0 w 107"/>
                <a:gd name="T7" fmla="*/ 93 h 93"/>
              </a:gdLst>
              <a:ahLst/>
              <a:cxnLst>
                <a:cxn ang="0">
                  <a:pos x="T0" y="T1"/>
                </a:cxn>
                <a:cxn ang="0">
                  <a:pos x="T2" y="T3"/>
                </a:cxn>
                <a:cxn ang="0">
                  <a:pos x="T4" y="T5"/>
                </a:cxn>
                <a:cxn ang="0">
                  <a:pos x="T6" y="T7"/>
                </a:cxn>
              </a:cxnLst>
              <a:rect l="0" t="0" r="r" b="b"/>
              <a:pathLst>
                <a:path w="107" h="93">
                  <a:moveTo>
                    <a:pt x="107" y="0"/>
                  </a:moveTo>
                  <a:lnTo>
                    <a:pt x="91" y="26"/>
                  </a:lnTo>
                  <a:lnTo>
                    <a:pt x="56" y="75"/>
                  </a:lnTo>
                  <a:lnTo>
                    <a:pt x="0" y="93"/>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3" name="Freeform 649">
              <a:extLst>
                <a:ext uri="{FF2B5EF4-FFF2-40B4-BE49-F238E27FC236}">
                  <a16:creationId xmlns:a16="http://schemas.microsoft.com/office/drawing/2014/main" id="{3125CEB8-E74A-4864-B664-E1DA73F1BD38}"/>
                </a:ext>
              </a:extLst>
            </p:cNvPr>
            <p:cNvSpPr>
              <a:spLocks/>
            </p:cNvSpPr>
            <p:nvPr/>
          </p:nvSpPr>
          <p:spPr bwMode="auto">
            <a:xfrm>
              <a:off x="3317" y="1824"/>
              <a:ext cx="37" cy="43"/>
            </a:xfrm>
            <a:custGeom>
              <a:avLst/>
              <a:gdLst>
                <a:gd name="T0" fmla="*/ 37 w 37"/>
                <a:gd name="T1" fmla="*/ 0 h 43"/>
                <a:gd name="T2" fmla="*/ 16 w 37"/>
                <a:gd name="T3" fmla="*/ 30 h 43"/>
                <a:gd name="T4" fmla="*/ 0 w 37"/>
                <a:gd name="T5" fmla="*/ 43 h 43"/>
              </a:gdLst>
              <a:ahLst/>
              <a:cxnLst>
                <a:cxn ang="0">
                  <a:pos x="T0" y="T1"/>
                </a:cxn>
                <a:cxn ang="0">
                  <a:pos x="T2" y="T3"/>
                </a:cxn>
                <a:cxn ang="0">
                  <a:pos x="T4" y="T5"/>
                </a:cxn>
              </a:cxnLst>
              <a:rect l="0" t="0" r="r" b="b"/>
              <a:pathLst>
                <a:path w="37" h="43">
                  <a:moveTo>
                    <a:pt x="37" y="0"/>
                  </a:moveTo>
                  <a:lnTo>
                    <a:pt x="16" y="30"/>
                  </a:lnTo>
                  <a:lnTo>
                    <a:pt x="0" y="43"/>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4" name="Freeform 650">
              <a:extLst>
                <a:ext uri="{FF2B5EF4-FFF2-40B4-BE49-F238E27FC236}">
                  <a16:creationId xmlns:a16="http://schemas.microsoft.com/office/drawing/2014/main" id="{A64BF75C-693C-4C71-B8D6-07AA395BD30C}"/>
                </a:ext>
              </a:extLst>
            </p:cNvPr>
            <p:cNvSpPr>
              <a:spLocks/>
            </p:cNvSpPr>
            <p:nvPr/>
          </p:nvSpPr>
          <p:spPr bwMode="auto">
            <a:xfrm>
              <a:off x="3264" y="1819"/>
              <a:ext cx="168" cy="150"/>
            </a:xfrm>
            <a:custGeom>
              <a:avLst/>
              <a:gdLst>
                <a:gd name="T0" fmla="*/ 168 w 168"/>
                <a:gd name="T1" fmla="*/ 0 h 150"/>
                <a:gd name="T2" fmla="*/ 136 w 168"/>
                <a:gd name="T3" fmla="*/ 72 h 150"/>
                <a:gd name="T4" fmla="*/ 82 w 168"/>
                <a:gd name="T5" fmla="*/ 123 h 150"/>
                <a:gd name="T6" fmla="*/ 0 w 168"/>
                <a:gd name="T7" fmla="*/ 150 h 150"/>
              </a:gdLst>
              <a:ahLst/>
              <a:cxnLst>
                <a:cxn ang="0">
                  <a:pos x="T0" y="T1"/>
                </a:cxn>
                <a:cxn ang="0">
                  <a:pos x="T2" y="T3"/>
                </a:cxn>
                <a:cxn ang="0">
                  <a:pos x="T4" y="T5"/>
                </a:cxn>
                <a:cxn ang="0">
                  <a:pos x="T6" y="T7"/>
                </a:cxn>
              </a:cxnLst>
              <a:rect l="0" t="0" r="r" b="b"/>
              <a:pathLst>
                <a:path w="168" h="150">
                  <a:moveTo>
                    <a:pt x="168" y="0"/>
                  </a:moveTo>
                  <a:lnTo>
                    <a:pt x="136" y="72"/>
                  </a:lnTo>
                  <a:lnTo>
                    <a:pt x="82" y="123"/>
                  </a:lnTo>
                  <a:lnTo>
                    <a:pt x="0" y="15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5" name="Freeform 651">
              <a:extLst>
                <a:ext uri="{FF2B5EF4-FFF2-40B4-BE49-F238E27FC236}">
                  <a16:creationId xmlns:a16="http://schemas.microsoft.com/office/drawing/2014/main" id="{F1918C0C-7596-4BB9-B0F3-4645A83FAB9F}"/>
                </a:ext>
              </a:extLst>
            </p:cNvPr>
            <p:cNvSpPr>
              <a:spLocks/>
            </p:cNvSpPr>
            <p:nvPr/>
          </p:nvSpPr>
          <p:spPr bwMode="auto">
            <a:xfrm>
              <a:off x="3242" y="1811"/>
              <a:ext cx="238" cy="192"/>
            </a:xfrm>
            <a:custGeom>
              <a:avLst/>
              <a:gdLst>
                <a:gd name="T0" fmla="*/ 0 w 238"/>
                <a:gd name="T1" fmla="*/ 192 h 192"/>
                <a:gd name="T2" fmla="*/ 99 w 238"/>
                <a:gd name="T3" fmla="*/ 168 h 192"/>
                <a:gd name="T4" fmla="*/ 171 w 238"/>
                <a:gd name="T5" fmla="*/ 115 h 192"/>
                <a:gd name="T6" fmla="*/ 217 w 238"/>
                <a:gd name="T7" fmla="*/ 48 h 192"/>
                <a:gd name="T8" fmla="*/ 238 w 238"/>
                <a:gd name="T9" fmla="*/ 0 h 192"/>
              </a:gdLst>
              <a:ahLst/>
              <a:cxnLst>
                <a:cxn ang="0">
                  <a:pos x="T0" y="T1"/>
                </a:cxn>
                <a:cxn ang="0">
                  <a:pos x="T2" y="T3"/>
                </a:cxn>
                <a:cxn ang="0">
                  <a:pos x="T4" y="T5"/>
                </a:cxn>
                <a:cxn ang="0">
                  <a:pos x="T6" y="T7"/>
                </a:cxn>
                <a:cxn ang="0">
                  <a:pos x="T8" y="T9"/>
                </a:cxn>
              </a:cxnLst>
              <a:rect l="0" t="0" r="r" b="b"/>
              <a:pathLst>
                <a:path w="238" h="192">
                  <a:moveTo>
                    <a:pt x="0" y="192"/>
                  </a:moveTo>
                  <a:lnTo>
                    <a:pt x="99" y="168"/>
                  </a:lnTo>
                  <a:lnTo>
                    <a:pt x="171" y="115"/>
                  </a:lnTo>
                  <a:lnTo>
                    <a:pt x="217" y="48"/>
                  </a:lnTo>
                  <a:lnTo>
                    <a:pt x="238" y="0"/>
                  </a:lnTo>
                </a:path>
              </a:pathLst>
            </a:custGeom>
            <a:noFill/>
            <a:ln w="4763">
              <a:solidFill>
                <a:srgbClr val="433D3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56" name="Line 652">
              <a:extLst>
                <a:ext uri="{FF2B5EF4-FFF2-40B4-BE49-F238E27FC236}">
                  <a16:creationId xmlns:a16="http://schemas.microsoft.com/office/drawing/2014/main" id="{EC0CC27B-E38E-4CFE-AC62-61F1695B06F2}"/>
                </a:ext>
              </a:extLst>
            </p:cNvPr>
            <p:cNvSpPr>
              <a:spLocks noChangeShapeType="1"/>
            </p:cNvSpPr>
            <p:nvPr/>
          </p:nvSpPr>
          <p:spPr bwMode="auto">
            <a:xfrm flipV="1">
              <a:off x="3210" y="2017"/>
              <a:ext cx="120" cy="29"/>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7" name="Line 653">
              <a:extLst>
                <a:ext uri="{FF2B5EF4-FFF2-40B4-BE49-F238E27FC236}">
                  <a16:creationId xmlns:a16="http://schemas.microsoft.com/office/drawing/2014/main" id="{0A17BCCC-5EDC-42E5-AFA8-9957FA171923}"/>
                </a:ext>
              </a:extLst>
            </p:cNvPr>
            <p:cNvSpPr>
              <a:spLocks noChangeShapeType="1"/>
            </p:cNvSpPr>
            <p:nvPr/>
          </p:nvSpPr>
          <p:spPr bwMode="auto">
            <a:xfrm flipH="1">
              <a:off x="3480" y="1792"/>
              <a:ext cx="61" cy="105"/>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8" name="Line 654">
              <a:extLst>
                <a:ext uri="{FF2B5EF4-FFF2-40B4-BE49-F238E27FC236}">
                  <a16:creationId xmlns:a16="http://schemas.microsoft.com/office/drawing/2014/main" id="{74A1CDD8-3A64-4792-B6CA-AAD3DA64553F}"/>
                </a:ext>
              </a:extLst>
            </p:cNvPr>
            <p:cNvSpPr>
              <a:spLocks noChangeShapeType="1"/>
            </p:cNvSpPr>
            <p:nvPr/>
          </p:nvSpPr>
          <p:spPr bwMode="auto">
            <a:xfrm flipH="1">
              <a:off x="3557" y="1736"/>
              <a:ext cx="56" cy="104"/>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9" name="Line 655">
              <a:extLst>
                <a:ext uri="{FF2B5EF4-FFF2-40B4-BE49-F238E27FC236}">
                  <a16:creationId xmlns:a16="http://schemas.microsoft.com/office/drawing/2014/main" id="{CF44F67B-F742-49ED-BC2B-AEAFB1AE04C9}"/>
                </a:ext>
              </a:extLst>
            </p:cNvPr>
            <p:cNvSpPr>
              <a:spLocks noChangeShapeType="1"/>
            </p:cNvSpPr>
            <p:nvPr/>
          </p:nvSpPr>
          <p:spPr bwMode="auto">
            <a:xfrm flipH="1">
              <a:off x="3635" y="1691"/>
              <a:ext cx="37"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60" name="Line 656">
              <a:extLst>
                <a:ext uri="{FF2B5EF4-FFF2-40B4-BE49-F238E27FC236}">
                  <a16:creationId xmlns:a16="http://schemas.microsoft.com/office/drawing/2014/main" id="{370DB609-4A09-4B40-BC8B-484B52D8E11E}"/>
                </a:ext>
              </a:extLst>
            </p:cNvPr>
            <p:cNvSpPr>
              <a:spLocks noChangeShapeType="1"/>
            </p:cNvSpPr>
            <p:nvPr/>
          </p:nvSpPr>
          <p:spPr bwMode="auto">
            <a:xfrm flipH="1">
              <a:off x="3691" y="1645"/>
              <a:ext cx="27" cy="83"/>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61" name="Line 657">
              <a:extLst>
                <a:ext uri="{FF2B5EF4-FFF2-40B4-BE49-F238E27FC236}">
                  <a16:creationId xmlns:a16="http://schemas.microsoft.com/office/drawing/2014/main" id="{24EAAAD5-EB27-49E9-9DDF-60CF7BE664F7}"/>
                </a:ext>
              </a:extLst>
            </p:cNvPr>
            <p:cNvSpPr>
              <a:spLocks noChangeShapeType="1"/>
            </p:cNvSpPr>
            <p:nvPr/>
          </p:nvSpPr>
          <p:spPr bwMode="auto">
            <a:xfrm flipH="1">
              <a:off x="3734" y="1605"/>
              <a:ext cx="21" cy="86"/>
            </a:xfrm>
            <a:prstGeom prst="line">
              <a:avLst/>
            </a:prstGeom>
            <a:noFill/>
            <a:ln w="4763">
              <a:solidFill>
                <a:srgbClr val="433D36"/>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62" name="Freeform 658">
              <a:extLst>
                <a:ext uri="{FF2B5EF4-FFF2-40B4-BE49-F238E27FC236}">
                  <a16:creationId xmlns:a16="http://schemas.microsoft.com/office/drawing/2014/main" id="{4FD848EB-EC02-4801-8BC8-6BE1E99BB698}"/>
                </a:ext>
              </a:extLst>
            </p:cNvPr>
            <p:cNvSpPr>
              <a:spLocks/>
            </p:cNvSpPr>
            <p:nvPr/>
          </p:nvSpPr>
          <p:spPr bwMode="auto">
            <a:xfrm>
              <a:off x="217" y="2137"/>
              <a:ext cx="2545" cy="192"/>
            </a:xfrm>
            <a:custGeom>
              <a:avLst/>
              <a:gdLst>
                <a:gd name="T0" fmla="*/ 2542 w 2545"/>
                <a:gd name="T1" fmla="*/ 192 h 192"/>
                <a:gd name="T2" fmla="*/ 2545 w 2545"/>
                <a:gd name="T3" fmla="*/ 171 h 192"/>
                <a:gd name="T4" fmla="*/ 3 w 2545"/>
                <a:gd name="T5" fmla="*/ 0 h 192"/>
                <a:gd name="T6" fmla="*/ 0 w 2545"/>
                <a:gd name="T7" fmla="*/ 21 h 192"/>
                <a:gd name="T8" fmla="*/ 2542 w 2545"/>
                <a:gd name="T9" fmla="*/ 192 h 192"/>
                <a:gd name="T10" fmla="*/ 2542 w 2545"/>
                <a:gd name="T11" fmla="*/ 192 h 192"/>
              </a:gdLst>
              <a:ahLst/>
              <a:cxnLst>
                <a:cxn ang="0">
                  <a:pos x="T0" y="T1"/>
                </a:cxn>
                <a:cxn ang="0">
                  <a:pos x="T2" y="T3"/>
                </a:cxn>
                <a:cxn ang="0">
                  <a:pos x="T4" y="T5"/>
                </a:cxn>
                <a:cxn ang="0">
                  <a:pos x="T6" y="T7"/>
                </a:cxn>
                <a:cxn ang="0">
                  <a:pos x="T8" y="T9"/>
                </a:cxn>
                <a:cxn ang="0">
                  <a:pos x="T10" y="T11"/>
                </a:cxn>
              </a:cxnLst>
              <a:rect l="0" t="0" r="r" b="b"/>
              <a:pathLst>
                <a:path w="2545" h="192">
                  <a:moveTo>
                    <a:pt x="2542" y="192"/>
                  </a:moveTo>
                  <a:lnTo>
                    <a:pt x="2545" y="171"/>
                  </a:lnTo>
                  <a:lnTo>
                    <a:pt x="3" y="0"/>
                  </a:lnTo>
                  <a:lnTo>
                    <a:pt x="0" y="21"/>
                  </a:lnTo>
                  <a:lnTo>
                    <a:pt x="2542" y="192"/>
                  </a:lnTo>
                  <a:lnTo>
                    <a:pt x="2542" y="192"/>
                  </a:lnTo>
                  <a:close/>
                </a:path>
              </a:pathLst>
            </a:custGeom>
            <a:solidFill>
              <a:srgbClr val="0093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3" name="Freeform 659">
              <a:extLst>
                <a:ext uri="{FF2B5EF4-FFF2-40B4-BE49-F238E27FC236}">
                  <a16:creationId xmlns:a16="http://schemas.microsoft.com/office/drawing/2014/main" id="{B9F517EA-E353-467C-91CD-BAF420952448}"/>
                </a:ext>
              </a:extLst>
            </p:cNvPr>
            <p:cNvSpPr>
              <a:spLocks/>
            </p:cNvSpPr>
            <p:nvPr/>
          </p:nvSpPr>
          <p:spPr bwMode="auto">
            <a:xfrm>
              <a:off x="2759" y="2308"/>
              <a:ext cx="13" cy="21"/>
            </a:xfrm>
            <a:custGeom>
              <a:avLst/>
              <a:gdLst>
                <a:gd name="T0" fmla="*/ 13 w 13"/>
                <a:gd name="T1" fmla="*/ 19 h 21"/>
                <a:gd name="T2" fmla="*/ 5 w 13"/>
                <a:gd name="T3" fmla="*/ 0 h 21"/>
                <a:gd name="T4" fmla="*/ 0 w 13"/>
                <a:gd name="T5" fmla="*/ 0 h 21"/>
                <a:gd name="T6" fmla="*/ 0 w 13"/>
                <a:gd name="T7" fmla="*/ 21 h 21"/>
                <a:gd name="T8" fmla="*/ 5 w 13"/>
                <a:gd name="T9" fmla="*/ 21 h 21"/>
                <a:gd name="T10" fmla="*/ 13 w 13"/>
                <a:gd name="T11" fmla="*/ 19 h 21"/>
              </a:gdLst>
              <a:ahLst/>
              <a:cxnLst>
                <a:cxn ang="0">
                  <a:pos x="T0" y="T1"/>
                </a:cxn>
                <a:cxn ang="0">
                  <a:pos x="T2" y="T3"/>
                </a:cxn>
                <a:cxn ang="0">
                  <a:pos x="T4" y="T5"/>
                </a:cxn>
                <a:cxn ang="0">
                  <a:pos x="T6" y="T7"/>
                </a:cxn>
                <a:cxn ang="0">
                  <a:pos x="T8" y="T9"/>
                </a:cxn>
                <a:cxn ang="0">
                  <a:pos x="T10" y="T11"/>
                </a:cxn>
              </a:cxnLst>
              <a:rect l="0" t="0" r="r" b="b"/>
              <a:pathLst>
                <a:path w="13" h="21">
                  <a:moveTo>
                    <a:pt x="13" y="19"/>
                  </a:moveTo>
                  <a:lnTo>
                    <a:pt x="5" y="0"/>
                  </a:lnTo>
                  <a:lnTo>
                    <a:pt x="0" y="0"/>
                  </a:lnTo>
                  <a:lnTo>
                    <a:pt x="0" y="21"/>
                  </a:lnTo>
                  <a:lnTo>
                    <a:pt x="5" y="21"/>
                  </a:lnTo>
                  <a:lnTo>
                    <a:pt x="13" y="19"/>
                  </a:lnTo>
                  <a:close/>
                </a:path>
              </a:pathLst>
            </a:custGeom>
            <a:solidFill>
              <a:srgbClr val="0093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4" name="Freeform 660">
              <a:extLst>
                <a:ext uri="{FF2B5EF4-FFF2-40B4-BE49-F238E27FC236}">
                  <a16:creationId xmlns:a16="http://schemas.microsoft.com/office/drawing/2014/main" id="{F514A489-8FFB-47F9-A0A4-FD9631AF60D3}"/>
                </a:ext>
              </a:extLst>
            </p:cNvPr>
            <p:cNvSpPr>
              <a:spLocks/>
            </p:cNvSpPr>
            <p:nvPr/>
          </p:nvSpPr>
          <p:spPr bwMode="auto">
            <a:xfrm>
              <a:off x="2759" y="1522"/>
              <a:ext cx="1015" cy="805"/>
            </a:xfrm>
            <a:custGeom>
              <a:avLst/>
              <a:gdLst>
                <a:gd name="T0" fmla="*/ 1001 w 1015"/>
                <a:gd name="T1" fmla="*/ 0 h 805"/>
                <a:gd name="T2" fmla="*/ 0 w 1015"/>
                <a:gd name="T3" fmla="*/ 786 h 805"/>
                <a:gd name="T4" fmla="*/ 13 w 1015"/>
                <a:gd name="T5" fmla="*/ 805 h 805"/>
                <a:gd name="T6" fmla="*/ 1015 w 1015"/>
                <a:gd name="T7" fmla="*/ 16 h 805"/>
                <a:gd name="T8" fmla="*/ 1001 w 1015"/>
                <a:gd name="T9" fmla="*/ 0 h 805"/>
              </a:gdLst>
              <a:ahLst/>
              <a:cxnLst>
                <a:cxn ang="0">
                  <a:pos x="T0" y="T1"/>
                </a:cxn>
                <a:cxn ang="0">
                  <a:pos x="T2" y="T3"/>
                </a:cxn>
                <a:cxn ang="0">
                  <a:pos x="T4" y="T5"/>
                </a:cxn>
                <a:cxn ang="0">
                  <a:pos x="T6" y="T7"/>
                </a:cxn>
                <a:cxn ang="0">
                  <a:pos x="T8" y="T9"/>
                </a:cxn>
              </a:cxnLst>
              <a:rect l="0" t="0" r="r" b="b"/>
              <a:pathLst>
                <a:path w="1015" h="805">
                  <a:moveTo>
                    <a:pt x="1001" y="0"/>
                  </a:moveTo>
                  <a:lnTo>
                    <a:pt x="0" y="786"/>
                  </a:lnTo>
                  <a:lnTo>
                    <a:pt x="13" y="805"/>
                  </a:lnTo>
                  <a:lnTo>
                    <a:pt x="1015" y="16"/>
                  </a:lnTo>
                  <a:lnTo>
                    <a:pt x="1001" y="0"/>
                  </a:lnTo>
                  <a:close/>
                </a:path>
              </a:pathLst>
            </a:custGeom>
            <a:solidFill>
              <a:srgbClr val="0093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sp>
        <p:nvSpPr>
          <p:cNvPr id="665" name="Text Box 661">
            <a:extLst>
              <a:ext uri="{FF2B5EF4-FFF2-40B4-BE49-F238E27FC236}">
                <a16:creationId xmlns:a16="http://schemas.microsoft.com/office/drawing/2014/main" id="{5D97CF4D-516A-4BCD-8225-0BD13B8B9DE4}"/>
              </a:ext>
            </a:extLst>
          </p:cNvPr>
          <p:cNvSpPr txBox="1">
            <a:spLocks noChangeArrowheads="1"/>
          </p:cNvSpPr>
          <p:nvPr/>
        </p:nvSpPr>
        <p:spPr bwMode="auto">
          <a:xfrm>
            <a:off x="100430" y="6322381"/>
            <a:ext cx="3378237"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1275" dirty="0"/>
              <a:t>Dry interdunes associated with wind-ripple strata</a:t>
            </a:r>
          </a:p>
        </p:txBody>
      </p:sp>
      <p:sp>
        <p:nvSpPr>
          <p:cNvPr id="666" name="Text Box 662">
            <a:extLst>
              <a:ext uri="{FF2B5EF4-FFF2-40B4-BE49-F238E27FC236}">
                <a16:creationId xmlns:a16="http://schemas.microsoft.com/office/drawing/2014/main" id="{94ABE602-EDB6-4F18-9310-57596E5A4D1E}"/>
              </a:ext>
            </a:extLst>
          </p:cNvPr>
          <p:cNvSpPr txBox="1">
            <a:spLocks noChangeArrowheads="1"/>
          </p:cNvSpPr>
          <p:nvPr/>
        </p:nvSpPr>
        <p:spPr bwMode="auto">
          <a:xfrm>
            <a:off x="4038839" y="6308311"/>
            <a:ext cx="4133937"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1275" dirty="0"/>
              <a:t>Wet interdunes &amp; damp interdunes are associated with subaqueous ripples and adhesion strata</a:t>
            </a:r>
          </a:p>
        </p:txBody>
      </p:sp>
      <p:sp>
        <p:nvSpPr>
          <p:cNvPr id="667" name="TextBox 666">
            <a:extLst>
              <a:ext uri="{FF2B5EF4-FFF2-40B4-BE49-F238E27FC236}">
                <a16:creationId xmlns:a16="http://schemas.microsoft.com/office/drawing/2014/main" id="{5E97F03C-ED60-4D5F-BAED-7CD39D2F7BA5}"/>
              </a:ext>
            </a:extLst>
          </p:cNvPr>
          <p:cNvSpPr txBox="1"/>
          <p:nvPr/>
        </p:nvSpPr>
        <p:spPr>
          <a:xfrm>
            <a:off x="4694118" y="1165722"/>
            <a:ext cx="1604343" cy="461665"/>
          </a:xfrm>
          <a:prstGeom prst="rect">
            <a:avLst/>
          </a:prstGeom>
          <a:noFill/>
        </p:spPr>
        <p:txBody>
          <a:bodyPr wrap="square" rtlCol="0">
            <a:spAutoFit/>
          </a:bodyPr>
          <a:lstStyle/>
          <a:p>
            <a:pPr algn="ctr"/>
            <a:r>
              <a:rPr lang="en-GB" sz="1200" dirty="0"/>
              <a:t>Mountney &amp; Russell (2004)</a:t>
            </a:r>
          </a:p>
        </p:txBody>
      </p:sp>
    </p:spTree>
    <p:extLst>
      <p:ext uri="{BB962C8B-B14F-4D97-AF65-F5344CB8AC3E}">
        <p14:creationId xmlns:p14="http://schemas.microsoft.com/office/powerpoint/2010/main" val="636520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bedforms: interdunes</a:t>
            </a:r>
          </a:p>
        </p:txBody>
      </p:sp>
      <p:pic>
        <p:nvPicPr>
          <p:cNvPr id="3" name="Picture 2"/>
          <p:cNvPicPr>
            <a:picLocks noChangeAspect="1"/>
          </p:cNvPicPr>
          <p:nvPr/>
        </p:nvPicPr>
        <p:blipFill>
          <a:blip r:embed="rId3"/>
          <a:stretch>
            <a:fillRect/>
          </a:stretch>
        </p:blipFill>
        <p:spPr>
          <a:xfrm>
            <a:off x="146113" y="942213"/>
            <a:ext cx="6486525" cy="4095750"/>
          </a:xfrm>
          <a:prstGeom prst="rect">
            <a:avLst/>
          </a:prstGeom>
        </p:spPr>
      </p:pic>
      <p:pic>
        <p:nvPicPr>
          <p:cNvPr id="6" name="Picture 5"/>
          <p:cNvPicPr>
            <a:picLocks noChangeAspect="1"/>
          </p:cNvPicPr>
          <p:nvPr/>
        </p:nvPicPr>
        <p:blipFill>
          <a:blip r:embed="rId4"/>
          <a:stretch>
            <a:fillRect/>
          </a:stretch>
        </p:blipFill>
        <p:spPr>
          <a:xfrm>
            <a:off x="6632638" y="1021647"/>
            <a:ext cx="5400866" cy="4016315"/>
          </a:xfrm>
          <a:prstGeom prst="rect">
            <a:avLst/>
          </a:prstGeom>
        </p:spPr>
      </p:pic>
      <p:sp>
        <p:nvSpPr>
          <p:cNvPr id="668" name="TextBox 667"/>
          <p:cNvSpPr txBox="1"/>
          <p:nvPr/>
        </p:nvSpPr>
        <p:spPr>
          <a:xfrm>
            <a:off x="265176" y="5188753"/>
            <a:ext cx="9619488" cy="1200329"/>
          </a:xfrm>
          <a:prstGeom prst="rect">
            <a:avLst/>
          </a:prstGeom>
          <a:noFill/>
        </p:spPr>
        <p:txBody>
          <a:bodyPr wrap="square" rtlCol="0">
            <a:spAutoFit/>
          </a:bodyPr>
          <a:lstStyle/>
          <a:p>
            <a:r>
              <a:rPr lang="en-GB" dirty="0"/>
              <a:t>A) Summary model depicting the typical three-dimensional geometry and internal anatomy of damp and wet interdune architectural elements. Modified after Cain (2009). B) Example of horizontally bedded wet interdune architectural elements (red) between cross-bedded aeolian dune elements (off-white). Jurassic Navajo Sandstone, southeast Utah, USA.</a:t>
            </a:r>
          </a:p>
        </p:txBody>
      </p:sp>
    </p:spTree>
    <p:extLst>
      <p:ext uri="{BB962C8B-B14F-4D97-AF65-F5344CB8AC3E}">
        <p14:creationId xmlns:p14="http://schemas.microsoft.com/office/powerpoint/2010/main" val="13589143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interdune facies: adhesion strata</a:t>
            </a:r>
          </a:p>
        </p:txBody>
      </p:sp>
      <p:pic>
        <p:nvPicPr>
          <p:cNvPr id="2" name="Picture 1"/>
          <p:cNvPicPr>
            <a:picLocks noChangeAspect="1"/>
          </p:cNvPicPr>
          <p:nvPr/>
        </p:nvPicPr>
        <p:blipFill rotWithShape="1">
          <a:blip r:embed="rId3"/>
          <a:srcRect b="69751"/>
          <a:stretch/>
        </p:blipFill>
        <p:spPr>
          <a:xfrm>
            <a:off x="187097" y="870856"/>
            <a:ext cx="6886575" cy="1665360"/>
          </a:xfrm>
          <a:prstGeom prst="rect">
            <a:avLst/>
          </a:prstGeom>
        </p:spPr>
      </p:pic>
      <p:sp>
        <p:nvSpPr>
          <p:cNvPr id="3" name="TextBox 2"/>
          <p:cNvSpPr txBox="1"/>
          <p:nvPr/>
        </p:nvSpPr>
        <p:spPr>
          <a:xfrm>
            <a:off x="3168073" y="5149840"/>
            <a:ext cx="3796144" cy="1708160"/>
          </a:xfrm>
          <a:prstGeom prst="rect">
            <a:avLst/>
          </a:prstGeom>
          <a:noFill/>
        </p:spPr>
        <p:txBody>
          <a:bodyPr wrap="square" rtlCol="0">
            <a:spAutoFit/>
          </a:bodyPr>
          <a:lstStyle/>
          <a:p>
            <a:r>
              <a:rPr lang="en-GB" sz="1050" dirty="0"/>
              <a:t>Examples of aeolian adhesion structures. Morphometry of </a:t>
            </a:r>
          </a:p>
          <a:p>
            <a:pPr marL="342900" indent="-342900">
              <a:buAutoNum type="alphaUcParenR"/>
            </a:pPr>
            <a:r>
              <a:rPr lang="en-GB" sz="1050" dirty="0"/>
              <a:t>aeolian adhesion ripples, </a:t>
            </a:r>
          </a:p>
          <a:p>
            <a:pPr marL="342900" indent="-342900">
              <a:buAutoNum type="alphaUcParenR"/>
            </a:pPr>
            <a:r>
              <a:rPr lang="en-GB" sz="1050" dirty="0"/>
              <a:t>aeolian adhesion warts</a:t>
            </a:r>
          </a:p>
          <a:p>
            <a:pPr marL="342900" indent="-342900">
              <a:buAutoNum type="alphaUcParenR"/>
            </a:pPr>
            <a:r>
              <a:rPr lang="en-GB" sz="1050" dirty="0"/>
              <a:t>aeolian plane-beds, with summary explanations of processes of formation. Modified after </a:t>
            </a:r>
            <a:r>
              <a:rPr lang="en-GB" sz="1050" dirty="0" err="1"/>
              <a:t>Kocurek</a:t>
            </a:r>
            <a:r>
              <a:rPr lang="en-GB" sz="1050" dirty="0"/>
              <a:t> &amp; Fielder (1982). </a:t>
            </a:r>
          </a:p>
          <a:p>
            <a:pPr marL="342900" indent="-342900">
              <a:buAutoNum type="alphaUcParenR"/>
            </a:pPr>
            <a:r>
              <a:rPr lang="en-GB" sz="1050" dirty="0"/>
              <a:t>Adhesion warts generated on a surface of damp sand over which dry sand has been blown. Indian Creek, Utah, USA. </a:t>
            </a:r>
          </a:p>
          <a:p>
            <a:pPr marL="342900" indent="-342900">
              <a:buAutoNum type="alphaUcParenR"/>
            </a:pPr>
            <a:r>
              <a:rPr lang="en-GB" sz="1050" dirty="0"/>
              <a:t>Adhesion warts. Independence Fjord Group, Proterozoic, North Greenland. Collinson &amp; Mountney (2019).</a:t>
            </a:r>
          </a:p>
        </p:txBody>
      </p:sp>
      <p:pic>
        <p:nvPicPr>
          <p:cNvPr id="6" name="Picture 5"/>
          <p:cNvPicPr>
            <a:picLocks noChangeAspect="1"/>
          </p:cNvPicPr>
          <p:nvPr/>
        </p:nvPicPr>
        <p:blipFill rotWithShape="1">
          <a:blip r:embed="rId3"/>
          <a:srcRect l="68971" t="45935" r="1790" b="2225"/>
          <a:stretch/>
        </p:blipFill>
        <p:spPr>
          <a:xfrm>
            <a:off x="258618" y="2626886"/>
            <a:ext cx="2835563" cy="3946494"/>
          </a:xfrm>
          <a:prstGeom prst="rect">
            <a:avLst/>
          </a:prstGeom>
        </p:spPr>
      </p:pic>
      <p:pic>
        <p:nvPicPr>
          <p:cNvPr id="7" name="Picture 6"/>
          <p:cNvPicPr>
            <a:picLocks noChangeAspect="1"/>
          </p:cNvPicPr>
          <p:nvPr/>
        </p:nvPicPr>
        <p:blipFill rotWithShape="1">
          <a:blip r:embed="rId3"/>
          <a:srcRect l="3855" t="73366" r="66773" b="2476"/>
          <a:stretch/>
        </p:blipFill>
        <p:spPr>
          <a:xfrm>
            <a:off x="3265114" y="2626885"/>
            <a:ext cx="3699103" cy="2432286"/>
          </a:xfrm>
          <a:prstGeom prst="rect">
            <a:avLst/>
          </a:prstGeom>
        </p:spPr>
      </p:pic>
      <p:sp>
        <p:nvSpPr>
          <p:cNvPr id="8" name="TextBox 7"/>
          <p:cNvSpPr txBox="1"/>
          <p:nvPr/>
        </p:nvSpPr>
        <p:spPr>
          <a:xfrm>
            <a:off x="7179951" y="1057224"/>
            <a:ext cx="4470400" cy="4247317"/>
          </a:xfrm>
          <a:prstGeom prst="rect">
            <a:avLst/>
          </a:prstGeom>
          <a:noFill/>
        </p:spPr>
        <p:txBody>
          <a:bodyPr wrap="square" rtlCol="0">
            <a:spAutoFit/>
          </a:bodyPr>
          <a:lstStyle/>
          <a:p>
            <a:pPr marL="285750" indent="-285750">
              <a:buFont typeface="Arial" panose="020B0604020202020204" pitchFamily="34" charset="0"/>
              <a:buChar char="•"/>
            </a:pPr>
            <a:r>
              <a:rPr lang="en-GB" dirty="0"/>
              <a:t>Adhesion strata arise from the adhesion of moving grains to a damp surface, such as a damp interdune (Hummel and </a:t>
            </a:r>
            <a:r>
              <a:rPr lang="en-GB" dirty="0" err="1"/>
              <a:t>Kocurek</a:t>
            </a:r>
            <a:r>
              <a:rPr lang="en-GB" dirty="0"/>
              <a:t>, 1984).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Adhesion strata typically are low relief (several mm in height) and exhibit sub-horizontal structures with irregular surfaces.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Adhesion strata can be further subdivided into adhesion plane beds, adhesion ripples (</a:t>
            </a:r>
            <a:r>
              <a:rPr lang="en-GB" dirty="0" err="1"/>
              <a:t>Kocurek</a:t>
            </a:r>
            <a:r>
              <a:rPr lang="en-GB" dirty="0"/>
              <a:t> and Fielder, 1982) and adhesion warts (Olsen et al., 1989), where appropriate.</a:t>
            </a:r>
          </a:p>
        </p:txBody>
      </p:sp>
    </p:spTree>
    <p:extLst>
      <p:ext uri="{BB962C8B-B14F-4D97-AF65-F5344CB8AC3E}">
        <p14:creationId xmlns:p14="http://schemas.microsoft.com/office/powerpoint/2010/main" val="26382224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168624" y="-22735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err="1">
                <a:solidFill>
                  <a:schemeClr val="bg1"/>
                </a:solidFill>
              </a:rPr>
              <a:t>Megadunes</a:t>
            </a:r>
            <a:endParaRPr lang="en-GB" dirty="0">
              <a:solidFill>
                <a:schemeClr val="bg1"/>
              </a:solidFill>
            </a:endParaRPr>
          </a:p>
        </p:txBody>
      </p:sp>
      <p:pic>
        <p:nvPicPr>
          <p:cNvPr id="6" name="Picture 5"/>
          <p:cNvPicPr>
            <a:picLocks noChangeAspect="1"/>
          </p:cNvPicPr>
          <p:nvPr/>
        </p:nvPicPr>
        <p:blipFill>
          <a:blip r:embed="rId3"/>
          <a:stretch>
            <a:fillRect/>
          </a:stretch>
        </p:blipFill>
        <p:spPr>
          <a:xfrm>
            <a:off x="102467" y="1098208"/>
            <a:ext cx="7055715" cy="4532417"/>
          </a:xfrm>
          <a:prstGeom prst="rect">
            <a:avLst/>
          </a:prstGeom>
        </p:spPr>
      </p:pic>
      <p:sp>
        <p:nvSpPr>
          <p:cNvPr id="7" name="TextBox 6"/>
          <p:cNvSpPr txBox="1"/>
          <p:nvPr/>
        </p:nvSpPr>
        <p:spPr>
          <a:xfrm>
            <a:off x="328629" y="6211669"/>
            <a:ext cx="5969381" cy="646331"/>
          </a:xfrm>
          <a:prstGeom prst="rect">
            <a:avLst/>
          </a:prstGeom>
          <a:noFill/>
        </p:spPr>
        <p:txBody>
          <a:bodyPr wrap="square" rtlCol="0">
            <a:spAutoFit/>
          </a:bodyPr>
          <a:lstStyle/>
          <a:p>
            <a:r>
              <a:rPr lang="en-GB" dirty="0"/>
              <a:t>Badain </a:t>
            </a:r>
            <a:r>
              <a:rPr lang="en-GB" dirty="0" err="1"/>
              <a:t>Jaran</a:t>
            </a:r>
            <a:r>
              <a:rPr lang="en-GB" dirty="0"/>
              <a:t> Sand Sea; from Dong et al. (2022)</a:t>
            </a:r>
          </a:p>
          <a:p>
            <a:endParaRPr lang="en-GB" dirty="0"/>
          </a:p>
        </p:txBody>
      </p:sp>
      <p:sp>
        <p:nvSpPr>
          <p:cNvPr id="8" name="TextBox 7"/>
          <p:cNvSpPr txBox="1"/>
          <p:nvPr/>
        </p:nvSpPr>
        <p:spPr>
          <a:xfrm>
            <a:off x="7158182" y="1182254"/>
            <a:ext cx="4645891" cy="4247317"/>
          </a:xfrm>
          <a:prstGeom prst="rect">
            <a:avLst/>
          </a:prstGeom>
          <a:noFill/>
        </p:spPr>
        <p:txBody>
          <a:bodyPr wrap="square" rtlCol="0">
            <a:spAutoFit/>
          </a:bodyPr>
          <a:lstStyle/>
          <a:p>
            <a:pPr marL="285750" indent="-285750">
              <a:buFont typeface="Arial" panose="020B0604020202020204" pitchFamily="34" charset="0"/>
              <a:buChar char="•"/>
            </a:pPr>
            <a:r>
              <a:rPr lang="en-GB" dirty="0" err="1"/>
              <a:t>Megabedforms</a:t>
            </a:r>
            <a:r>
              <a:rPr lang="en-GB" dirty="0"/>
              <a:t> or </a:t>
            </a:r>
            <a:r>
              <a:rPr lang="en-GB" dirty="0" err="1"/>
              <a:t>draas</a:t>
            </a:r>
            <a:r>
              <a:rPr lang="en-GB" dirty="0"/>
              <a:t> are very large (wavelengths of 500–5000 m and heights &gt;50 m; Wilson, 1971, 1972) bedforms that are compound or complex in form (</a:t>
            </a:r>
            <a:r>
              <a:rPr lang="en-GB" dirty="0" err="1"/>
              <a:t>sensu</a:t>
            </a:r>
            <a:r>
              <a:rPr lang="en-GB" dirty="0"/>
              <a:t> McKee, 1979) where they support the development of superimposed dune-scale bed forms.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Compound </a:t>
            </a:r>
            <a:r>
              <a:rPr lang="en-GB" dirty="0" err="1"/>
              <a:t>draas</a:t>
            </a:r>
            <a:r>
              <a:rPr lang="en-GB" dirty="0"/>
              <a:t> occur where a smaller dune is superimposed on a larger dune of the same morphological type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Complex </a:t>
            </a:r>
            <a:r>
              <a:rPr lang="en-GB" dirty="0" err="1"/>
              <a:t>draas</a:t>
            </a:r>
            <a:r>
              <a:rPr lang="en-GB" dirty="0"/>
              <a:t> </a:t>
            </a:r>
            <a:r>
              <a:rPr lang="en-GB" dirty="0" err="1"/>
              <a:t>occus</a:t>
            </a:r>
            <a:r>
              <a:rPr lang="en-GB" dirty="0"/>
              <a:t> where a smaller dune is superimposed on a larger dune of a different morphological type</a:t>
            </a:r>
          </a:p>
        </p:txBody>
      </p:sp>
    </p:spTree>
    <p:extLst>
      <p:ext uri="{BB962C8B-B14F-4D97-AF65-F5344CB8AC3E}">
        <p14:creationId xmlns:p14="http://schemas.microsoft.com/office/powerpoint/2010/main" val="1675980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Aeolian sandsheets and </a:t>
            </a:r>
            <a:r>
              <a:rPr lang="en-GB" dirty="0" err="1">
                <a:solidFill>
                  <a:schemeClr val="bg1"/>
                </a:solidFill>
              </a:rPr>
              <a:t>zibars</a:t>
            </a:r>
            <a:endParaRPr lang="en-GB" dirty="0">
              <a:solidFill>
                <a:schemeClr val="bg1"/>
              </a:solidFill>
            </a:endParaRPr>
          </a:p>
        </p:txBody>
      </p:sp>
      <p:sp>
        <p:nvSpPr>
          <p:cNvPr id="3" name="TextBox 2"/>
          <p:cNvSpPr txBox="1"/>
          <p:nvPr/>
        </p:nvSpPr>
        <p:spPr>
          <a:xfrm>
            <a:off x="6428232" y="991736"/>
            <a:ext cx="5763769" cy="6370975"/>
          </a:xfrm>
          <a:prstGeom prst="rect">
            <a:avLst/>
          </a:prstGeom>
          <a:noFill/>
        </p:spPr>
        <p:txBody>
          <a:bodyPr wrap="square" rtlCol="0">
            <a:spAutoFit/>
          </a:bodyPr>
          <a:lstStyle/>
          <a:p>
            <a:pPr marL="285750" indent="-285750">
              <a:buFont typeface="Wingdings" panose="05000000000000000000" pitchFamily="2" charset="2"/>
              <a:buChar char="§"/>
            </a:pPr>
            <a:r>
              <a:rPr lang="en-GB" dirty="0"/>
              <a:t>Aeolian sandsheets are areas of sand accumulation that lack significant development of high-relief dune-scale or larger bedforms, but are instead characterised by relatively flat areas of impact wind ripples.</a:t>
            </a:r>
          </a:p>
          <a:p>
            <a:pPr marL="285750" indent="-285750">
              <a:buFont typeface="Wingdings" panose="05000000000000000000" pitchFamily="2" charset="2"/>
              <a:buChar char="§"/>
            </a:pPr>
            <a:r>
              <a:rPr lang="en-GB" dirty="0"/>
              <a:t>Sandsheet development is controlled by a variety of factors. Commonly there exists an overall positive net sediment budget but which is restricted by the limited supply and/or availability for transport of sand (Breed et al., 1987; </a:t>
            </a:r>
            <a:r>
              <a:rPr lang="en-GB" dirty="0" err="1"/>
              <a:t>Khalaf</a:t>
            </a:r>
            <a:r>
              <a:rPr lang="en-GB" dirty="0"/>
              <a:t>, 1989; </a:t>
            </a:r>
            <a:r>
              <a:rPr lang="en-GB" dirty="0" err="1"/>
              <a:t>Kocurek</a:t>
            </a:r>
            <a:r>
              <a:rPr lang="en-GB" dirty="0"/>
              <a:t> &amp; Nielson, 1986). </a:t>
            </a:r>
          </a:p>
          <a:p>
            <a:pPr marL="285750" indent="-285750">
              <a:buFont typeface="Wingdings" panose="05000000000000000000" pitchFamily="2" charset="2"/>
              <a:buChar char="§"/>
            </a:pPr>
            <a:r>
              <a:rPr lang="en-GB" dirty="0">
                <a:latin typeface="Cambria" panose="02040503050406030204" pitchFamily="18" charset="0"/>
                <a:ea typeface="Cambria" panose="02040503050406030204" pitchFamily="18" charset="0"/>
              </a:rPr>
              <a:t>Photo shows sandsheet deposits from the Upper Tulum Valley, central-western Argentina (Dal' </a:t>
            </a:r>
            <a:r>
              <a:rPr lang="en-GB" dirty="0" err="1">
                <a:latin typeface="Cambria" panose="02040503050406030204" pitchFamily="18" charset="0"/>
                <a:ea typeface="Cambria" panose="02040503050406030204" pitchFamily="18" charset="0"/>
              </a:rPr>
              <a:t>Bó</a:t>
            </a:r>
            <a:r>
              <a:rPr lang="en-GB" dirty="0">
                <a:latin typeface="Cambria" panose="02040503050406030204" pitchFamily="18" charset="0"/>
                <a:ea typeface="Cambria" panose="02040503050406030204" pitchFamily="18" charset="0"/>
              </a:rPr>
              <a:t> and </a:t>
            </a:r>
            <a:r>
              <a:rPr lang="en-GB" dirty="0" err="1">
                <a:latin typeface="Cambria" panose="02040503050406030204" pitchFamily="18" charset="0"/>
                <a:ea typeface="Cambria" panose="02040503050406030204" pitchFamily="18" charset="0"/>
              </a:rPr>
              <a:t>Basilici</a:t>
            </a:r>
            <a:r>
              <a:rPr lang="en-GB" dirty="0">
                <a:latin typeface="Cambria" panose="02040503050406030204" pitchFamily="18" charset="0"/>
                <a:ea typeface="Cambria" panose="02040503050406030204" pitchFamily="18" charset="0"/>
              </a:rPr>
              <a:t>, 2015)</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In some cases, low-relief ridges and domes (</a:t>
            </a:r>
            <a:r>
              <a:rPr lang="en-GB" dirty="0" err="1"/>
              <a:t>zibars</a:t>
            </a:r>
            <a:r>
              <a:rPr lang="en-GB" dirty="0"/>
              <a:t>) with gently inclined sloping surfaces (dip &lt; 10°; relief no more than a few metres) are present (Nielson &amp; </a:t>
            </a:r>
            <a:r>
              <a:rPr lang="en-GB" dirty="0" err="1"/>
              <a:t>Kocurek</a:t>
            </a:r>
            <a:r>
              <a:rPr lang="en-GB" dirty="0"/>
              <a:t>, 1986). </a:t>
            </a:r>
          </a:p>
          <a:p>
            <a:pPr marL="285750" indent="-285750">
              <a:buFont typeface="Wingdings" panose="05000000000000000000" pitchFamily="2" charset="2"/>
              <a:buChar char="§"/>
            </a:pPr>
            <a:r>
              <a:rPr lang="en-GB" dirty="0">
                <a:latin typeface="Cambria" panose="02040503050406030204" pitchFamily="18" charset="0"/>
                <a:ea typeface="Cambria" panose="02040503050406030204" pitchFamily="18" charset="0"/>
              </a:rPr>
              <a:t>Also known as proto-dunes</a:t>
            </a:r>
          </a:p>
          <a:p>
            <a:pPr marL="285750" indent="-285750">
              <a:buFont typeface="Wingdings" panose="05000000000000000000" pitchFamily="2" charset="2"/>
              <a:buChar char="§"/>
            </a:pPr>
            <a:r>
              <a:rPr lang="en-GB" dirty="0" err="1">
                <a:latin typeface="Cambria" panose="02040503050406030204" pitchFamily="18" charset="0"/>
                <a:ea typeface="Cambria" panose="02040503050406030204" pitchFamily="18" charset="0"/>
              </a:rPr>
              <a:t>Tenéré</a:t>
            </a:r>
            <a:r>
              <a:rPr lang="en-GB" dirty="0">
                <a:latin typeface="Cambria" panose="02040503050406030204" pitchFamily="18" charset="0"/>
                <a:ea typeface="Cambria" panose="02040503050406030204" pitchFamily="18" charset="0"/>
              </a:rPr>
              <a:t> Desert, larger Sahara Desert, Niger (Image ISS022-E-5258)</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en-GB" dirty="0"/>
          </a:p>
          <a:p>
            <a:endParaRPr lang="en-GB" sz="1200" dirty="0"/>
          </a:p>
        </p:txBody>
      </p:sp>
      <p:pic>
        <p:nvPicPr>
          <p:cNvPr id="7" name="Picture 6"/>
          <p:cNvPicPr>
            <a:picLocks noChangeAspect="1"/>
          </p:cNvPicPr>
          <p:nvPr/>
        </p:nvPicPr>
        <p:blipFill rotWithShape="1">
          <a:blip r:embed="rId3"/>
          <a:srcRect b="33144"/>
          <a:stretch/>
        </p:blipFill>
        <p:spPr>
          <a:xfrm>
            <a:off x="111702" y="3751149"/>
            <a:ext cx="6037286" cy="2583308"/>
          </a:xfrm>
          <a:prstGeom prst="rect">
            <a:avLst/>
          </a:prstGeom>
        </p:spPr>
      </p:pic>
      <p:cxnSp>
        <p:nvCxnSpPr>
          <p:cNvPr id="8" name="Straight Connector 7"/>
          <p:cNvCxnSpPr/>
          <p:nvPr/>
        </p:nvCxnSpPr>
        <p:spPr>
          <a:xfrm>
            <a:off x="4559808" y="5998127"/>
            <a:ext cx="1536192" cy="18288"/>
          </a:xfrm>
          <a:prstGeom prst="line">
            <a:avLst/>
          </a:prstGeom>
          <a:ln w="38100"/>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4978936" y="5625173"/>
            <a:ext cx="896112" cy="369332"/>
          </a:xfrm>
          <a:prstGeom prst="rect">
            <a:avLst/>
          </a:prstGeom>
          <a:noFill/>
        </p:spPr>
        <p:txBody>
          <a:bodyPr wrap="square" rtlCol="0">
            <a:spAutoFit/>
          </a:bodyPr>
          <a:lstStyle/>
          <a:p>
            <a:r>
              <a:rPr lang="en-GB" dirty="0"/>
              <a:t>5 km</a:t>
            </a:r>
          </a:p>
        </p:txBody>
      </p:sp>
      <p:pic>
        <p:nvPicPr>
          <p:cNvPr id="10" name="Picture 9"/>
          <p:cNvPicPr>
            <a:picLocks noChangeAspect="1"/>
          </p:cNvPicPr>
          <p:nvPr/>
        </p:nvPicPr>
        <p:blipFill>
          <a:blip r:embed="rId4"/>
          <a:stretch>
            <a:fillRect/>
          </a:stretch>
        </p:blipFill>
        <p:spPr>
          <a:xfrm>
            <a:off x="101068" y="956320"/>
            <a:ext cx="6037287" cy="2552828"/>
          </a:xfrm>
          <a:prstGeom prst="rect">
            <a:avLst/>
          </a:prstGeom>
        </p:spPr>
      </p:pic>
      <p:sp>
        <p:nvSpPr>
          <p:cNvPr id="11" name="TextBox 10"/>
          <p:cNvSpPr txBox="1"/>
          <p:nvPr/>
        </p:nvSpPr>
        <p:spPr>
          <a:xfrm>
            <a:off x="152623" y="3797360"/>
            <a:ext cx="1016957" cy="369332"/>
          </a:xfrm>
          <a:prstGeom prst="rect">
            <a:avLst/>
          </a:prstGeom>
          <a:solidFill>
            <a:schemeClr val="bg1"/>
          </a:solidFill>
        </p:spPr>
        <p:txBody>
          <a:bodyPr wrap="square" rtlCol="0">
            <a:spAutoFit/>
          </a:bodyPr>
          <a:lstStyle/>
          <a:p>
            <a:r>
              <a:rPr lang="en-GB" b="1" dirty="0"/>
              <a:t>modern</a:t>
            </a:r>
          </a:p>
        </p:txBody>
      </p:sp>
      <p:sp>
        <p:nvSpPr>
          <p:cNvPr id="12" name="TextBox 11"/>
          <p:cNvSpPr txBox="1"/>
          <p:nvPr/>
        </p:nvSpPr>
        <p:spPr>
          <a:xfrm>
            <a:off x="141990" y="1005171"/>
            <a:ext cx="937613" cy="369332"/>
          </a:xfrm>
          <a:prstGeom prst="rect">
            <a:avLst/>
          </a:prstGeom>
          <a:solidFill>
            <a:schemeClr val="bg1"/>
          </a:solidFill>
        </p:spPr>
        <p:txBody>
          <a:bodyPr wrap="square" rtlCol="0">
            <a:spAutoFit/>
          </a:bodyPr>
          <a:lstStyle/>
          <a:p>
            <a:r>
              <a:rPr lang="en-GB" b="1" dirty="0"/>
              <a:t>ancient</a:t>
            </a:r>
          </a:p>
        </p:txBody>
      </p:sp>
    </p:spTree>
    <p:extLst>
      <p:ext uri="{BB962C8B-B14F-4D97-AF65-F5344CB8AC3E}">
        <p14:creationId xmlns:p14="http://schemas.microsoft.com/office/powerpoint/2010/main" val="20077257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en the Sahara Was Green by Martin Williams review – the sands of time |  Science and nature books | The Guardian">
            <a:extLst>
              <a:ext uri="{FF2B5EF4-FFF2-40B4-BE49-F238E27FC236}">
                <a16:creationId xmlns:a16="http://schemas.microsoft.com/office/drawing/2014/main" id="{825F375D-D9E0-B143-C360-EF15B14131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0"/>
            <a:ext cx="12228944" cy="6858000"/>
          </a:xfrm>
          <a:prstGeom prst="rect">
            <a:avLst/>
          </a:prstGeom>
          <a:solidFill>
            <a:schemeClr val="bg2">
              <a:alpha val="58000"/>
            </a:schemeClr>
          </a:solidFill>
          <a:ln>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Box 10">
            <a:extLst>
              <a:ext uri="{FF2B5EF4-FFF2-40B4-BE49-F238E27FC236}">
                <a16:creationId xmlns:a16="http://schemas.microsoft.com/office/drawing/2014/main" id="{8C2C7ECF-B667-4009-BB69-AD6C5CDCFE78}"/>
              </a:ext>
            </a:extLst>
          </p:cNvPr>
          <p:cNvSpPr txBox="1">
            <a:spLocks noChangeArrowheads="1"/>
          </p:cNvSpPr>
          <p:nvPr/>
        </p:nvSpPr>
        <p:spPr bwMode="auto">
          <a:xfrm>
            <a:off x="326136" y="2042021"/>
            <a:ext cx="115397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ctr" eaLnBrk="1" hangingPunct="1">
              <a:spcBef>
                <a:spcPct val="50000"/>
              </a:spcBef>
            </a:pPr>
            <a:endParaRPr lang="en-GB" altLang="en-US" sz="1800" b="1" dirty="0">
              <a:latin typeface="Arial" panose="020B0604020202020204" pitchFamily="34" charset="0"/>
            </a:endParaRPr>
          </a:p>
          <a:p>
            <a:pPr algn="ctr" eaLnBrk="1" hangingPunct="1">
              <a:spcBef>
                <a:spcPct val="50000"/>
              </a:spcBef>
              <a:buFontTx/>
              <a:buChar char="•"/>
            </a:pPr>
            <a:r>
              <a:rPr lang="en-GB" altLang="en-US" b="1" dirty="0">
                <a:solidFill>
                  <a:schemeClr val="bg2"/>
                </a:solidFill>
                <a:latin typeface="Arial" panose="020B0604020202020204" pitchFamily="34" charset="0"/>
              </a:rPr>
              <a:t>What are aeolian transport processes and where do they operate?</a:t>
            </a:r>
          </a:p>
          <a:p>
            <a:pPr marL="0" indent="0" algn="ctr" eaLnBrk="1" hangingPunct="1">
              <a:spcBef>
                <a:spcPct val="50000"/>
              </a:spcBef>
            </a:pPr>
            <a:endParaRPr lang="en-GB" altLang="en-US" b="1" dirty="0">
              <a:solidFill>
                <a:schemeClr val="bg2"/>
              </a:solidFill>
              <a:latin typeface="Arial" panose="020B0604020202020204" pitchFamily="34" charset="0"/>
            </a:endParaRPr>
          </a:p>
          <a:p>
            <a:pPr algn="ctr" eaLnBrk="1" hangingPunct="1">
              <a:spcBef>
                <a:spcPct val="50000"/>
              </a:spcBef>
              <a:buFontTx/>
              <a:buChar char="•"/>
            </a:pPr>
            <a:r>
              <a:rPr lang="en-GB" altLang="en-US" b="1" dirty="0">
                <a:solidFill>
                  <a:schemeClr val="bg2"/>
                </a:solidFill>
                <a:latin typeface="Arial" panose="020B0604020202020204" pitchFamily="34" charset="0"/>
              </a:rPr>
              <a:t>How do aeolian bedforms develop?</a:t>
            </a:r>
          </a:p>
          <a:p>
            <a:pPr algn="ctr" eaLnBrk="1" hangingPunct="1">
              <a:spcBef>
                <a:spcPct val="50000"/>
              </a:spcBef>
              <a:buFontTx/>
              <a:buChar char="•"/>
            </a:pPr>
            <a:endParaRPr lang="en-GB" altLang="en-US" b="1" dirty="0">
              <a:solidFill>
                <a:schemeClr val="bg2">
                  <a:lumMod val="90000"/>
                </a:schemeClr>
              </a:solidFill>
              <a:latin typeface="Arial" panose="020B0604020202020204" pitchFamily="34" charset="0"/>
            </a:endParaRPr>
          </a:p>
          <a:p>
            <a:pPr algn="ctr" eaLnBrk="1" hangingPunct="1">
              <a:spcBef>
                <a:spcPct val="50000"/>
              </a:spcBef>
              <a:buFontTx/>
              <a:buChar char="•"/>
            </a:pPr>
            <a:r>
              <a:rPr lang="en-GB" altLang="en-US" b="1" dirty="0">
                <a:latin typeface="Arial" panose="020B0604020202020204" pitchFamily="34" charset="0"/>
              </a:rPr>
              <a:t>How do migrating bedforms in active dune fields form sediment accumulations?</a:t>
            </a:r>
          </a:p>
          <a:p>
            <a:pPr algn="ctr" eaLnBrk="1" hangingPunct="1">
              <a:spcBef>
                <a:spcPct val="50000"/>
              </a:spcBef>
              <a:buFontTx/>
              <a:buChar char="•"/>
            </a:pPr>
            <a:endParaRPr lang="en-GB" altLang="en-US" b="1" dirty="0">
              <a:latin typeface="Arial" panose="020B0604020202020204" pitchFamily="34" charset="0"/>
            </a:endParaRPr>
          </a:p>
        </p:txBody>
      </p:sp>
      <p:sp>
        <p:nvSpPr>
          <p:cNvPr id="6" name="Rectangle 5">
            <a:extLst>
              <a:ext uri="{FF2B5EF4-FFF2-40B4-BE49-F238E27FC236}">
                <a16:creationId xmlns:a16="http://schemas.microsoft.com/office/drawing/2014/main" id="{EC34CCD6-3989-E4A4-07FB-2C4D03A1045F}"/>
              </a:ext>
            </a:extLst>
          </p:cNvPr>
          <p:cNvSpPr/>
          <p:nvPr/>
        </p:nvSpPr>
        <p:spPr>
          <a:xfrm>
            <a:off x="1373393" y="0"/>
            <a:ext cx="9964966" cy="2123658"/>
          </a:xfrm>
          <a:prstGeom prst="rect">
            <a:avLst/>
          </a:prstGeom>
          <a:noFill/>
        </p:spPr>
        <p:txBody>
          <a:bodyPr wrap="square" lIns="91440" tIns="45720" rIns="91440" bIns="45720">
            <a:spAutoFit/>
          </a:bodyPr>
          <a:lstStyle/>
          <a:p>
            <a:pPr algn="ctr"/>
            <a:r>
              <a:rPr lang="en-GB" sz="6600" b="1" cap="none" spc="0" dirty="0">
                <a:ln w="0"/>
                <a:solidFill>
                  <a:schemeClr val="bg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Aeolian Systems: Processes and Deposits</a:t>
            </a:r>
          </a:p>
        </p:txBody>
      </p:sp>
    </p:spTree>
    <p:extLst>
      <p:ext uri="{BB962C8B-B14F-4D97-AF65-F5344CB8AC3E}">
        <p14:creationId xmlns:p14="http://schemas.microsoft.com/office/powerpoint/2010/main" val="24653117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Dune Migration</a:t>
            </a:r>
          </a:p>
        </p:txBody>
      </p:sp>
      <p:pic>
        <p:nvPicPr>
          <p:cNvPr id="2" name="Picture 1"/>
          <p:cNvPicPr>
            <a:picLocks noChangeAspect="1"/>
          </p:cNvPicPr>
          <p:nvPr/>
        </p:nvPicPr>
        <p:blipFill>
          <a:blip r:embed="rId3"/>
          <a:stretch>
            <a:fillRect/>
          </a:stretch>
        </p:blipFill>
        <p:spPr>
          <a:xfrm>
            <a:off x="478307" y="1387775"/>
            <a:ext cx="10713949" cy="4025473"/>
          </a:xfrm>
          <a:prstGeom prst="rect">
            <a:avLst/>
          </a:prstGeom>
        </p:spPr>
      </p:pic>
      <p:sp>
        <p:nvSpPr>
          <p:cNvPr id="6" name="TextBox 5"/>
          <p:cNvSpPr txBox="1"/>
          <p:nvPr/>
        </p:nvSpPr>
        <p:spPr>
          <a:xfrm>
            <a:off x="356616" y="5605272"/>
            <a:ext cx="11356848" cy="1169551"/>
          </a:xfrm>
          <a:prstGeom prst="rect">
            <a:avLst/>
          </a:prstGeom>
          <a:noFill/>
        </p:spPr>
        <p:txBody>
          <a:bodyPr wrap="square" rtlCol="0">
            <a:spAutoFit/>
          </a:bodyPr>
          <a:lstStyle/>
          <a:p>
            <a:r>
              <a:rPr lang="en-GB" sz="1400" dirty="0"/>
              <a:t>The accumulation of aeolian sequences does not automatically ensure their long-term preservation. Indeed, evidence from the Quaternary record (e.g., </a:t>
            </a:r>
            <a:r>
              <a:rPr lang="en-GB" sz="1400" dirty="0" err="1"/>
              <a:t>Kocurek</a:t>
            </a:r>
            <a:r>
              <a:rPr lang="en-GB" sz="1400" dirty="0"/>
              <a:t> et al., 1991a; </a:t>
            </a:r>
            <a:r>
              <a:rPr lang="en-GB" sz="1400" dirty="0" err="1"/>
              <a:t>Kocurek</a:t>
            </a:r>
            <a:r>
              <a:rPr lang="en-GB" sz="1400" dirty="0"/>
              <a:t>, 1999) argues that entire ergs may be constructed and accumulated to considerable thicknesses, only to be later deflated to leave no record. Long-term preservation requires that the body of strata is placed below a regional baseline, beneath which erosion does not occur. Thus, the rate of generation of accommodation and the rate at which aeolian accumulations fill that space is a fundamental control on preserved architectural style (</a:t>
            </a:r>
            <a:r>
              <a:rPr lang="en-GB" sz="1400" dirty="0" err="1"/>
              <a:t>Havholm</a:t>
            </a:r>
            <a:r>
              <a:rPr lang="en-GB" sz="1400" dirty="0"/>
              <a:t> &amp; </a:t>
            </a:r>
            <a:r>
              <a:rPr lang="en-GB" sz="1400" dirty="0" err="1"/>
              <a:t>Kocurek</a:t>
            </a:r>
            <a:r>
              <a:rPr lang="en-GB" sz="1400" dirty="0"/>
              <a:t>, 1993; Howell and Mountney, 1997; Mountney   &amp; Howell, 2000; Cosgrove et al., 2021c).</a:t>
            </a:r>
          </a:p>
        </p:txBody>
      </p:sp>
      <p:sp>
        <p:nvSpPr>
          <p:cNvPr id="7" name="TextBox 6"/>
          <p:cNvSpPr txBox="1"/>
          <p:nvPr/>
        </p:nvSpPr>
        <p:spPr>
          <a:xfrm>
            <a:off x="8950036" y="911941"/>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9150081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Dune Migration</a:t>
            </a:r>
          </a:p>
        </p:txBody>
      </p:sp>
      <p:pic>
        <p:nvPicPr>
          <p:cNvPr id="3" name="Picture 2"/>
          <p:cNvPicPr>
            <a:picLocks noChangeAspect="1"/>
          </p:cNvPicPr>
          <p:nvPr/>
        </p:nvPicPr>
        <p:blipFill>
          <a:blip r:embed="rId3"/>
          <a:stretch>
            <a:fillRect/>
          </a:stretch>
        </p:blipFill>
        <p:spPr>
          <a:xfrm>
            <a:off x="380618" y="1144220"/>
            <a:ext cx="11149966" cy="5713780"/>
          </a:xfrm>
          <a:prstGeom prst="rect">
            <a:avLst/>
          </a:prstGeom>
        </p:spPr>
      </p:pic>
    </p:spTree>
    <p:extLst>
      <p:ext uri="{BB962C8B-B14F-4D97-AF65-F5344CB8AC3E}">
        <p14:creationId xmlns:p14="http://schemas.microsoft.com/office/powerpoint/2010/main" val="3812366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Dune migration and preservation</a:t>
            </a:r>
          </a:p>
        </p:txBody>
      </p:sp>
      <p:sp>
        <p:nvSpPr>
          <p:cNvPr id="2" name="TextBox 1"/>
          <p:cNvSpPr txBox="1"/>
          <p:nvPr/>
        </p:nvSpPr>
        <p:spPr>
          <a:xfrm>
            <a:off x="7379208" y="948690"/>
            <a:ext cx="4626864" cy="5909310"/>
          </a:xfrm>
          <a:prstGeom prst="rect">
            <a:avLst/>
          </a:prstGeom>
          <a:noFill/>
        </p:spPr>
        <p:txBody>
          <a:bodyPr wrap="square" rtlCol="0">
            <a:spAutoFit/>
          </a:bodyPr>
          <a:lstStyle/>
          <a:p>
            <a:pPr marL="285750" indent="-285750">
              <a:buFont typeface="Wingdings" panose="05000000000000000000" pitchFamily="2" charset="2"/>
              <a:buChar char="§"/>
            </a:pPr>
            <a:r>
              <a:rPr lang="en-GB" dirty="0"/>
              <a:t>The principal agent that generates accommodation and promotes preservation is subsidence. </a:t>
            </a:r>
          </a:p>
          <a:p>
            <a:pPr marL="285750" indent="-285750">
              <a:buFont typeface="Wingdings" panose="05000000000000000000" pitchFamily="2" charset="2"/>
              <a:buChar char="§"/>
            </a:pPr>
            <a:r>
              <a:rPr lang="en-GB" dirty="0"/>
              <a:t>Long-term preservation of an aeolian succession can be achieved in many ways, but two mechanisms are widely identified. </a:t>
            </a:r>
          </a:p>
          <a:p>
            <a:pPr marL="285750" indent="-285750">
              <a:buFont typeface="Wingdings" panose="05000000000000000000" pitchFamily="2" charset="2"/>
              <a:buChar char="§"/>
            </a:pPr>
            <a:r>
              <a:rPr lang="en-GB" dirty="0"/>
              <a:t>First, where an accumulation occurs within a subsiding basin in which accommodation is available to be filled, it can be placed beneath a so-called baseline of erosion – the level down to which deflation can proceed due to aerodynamic configuration (</a:t>
            </a:r>
            <a:r>
              <a:rPr lang="en-GB" dirty="0" err="1"/>
              <a:t>Kocurek</a:t>
            </a:r>
            <a:r>
              <a:rPr lang="en-GB" dirty="0"/>
              <a:t> &amp; </a:t>
            </a:r>
            <a:r>
              <a:rPr lang="en-GB" dirty="0" err="1"/>
              <a:t>Havholm</a:t>
            </a:r>
            <a:r>
              <a:rPr lang="en-GB" dirty="0"/>
              <a:t>, 1993). </a:t>
            </a:r>
          </a:p>
          <a:p>
            <a:pPr marL="285750" indent="-285750">
              <a:buFont typeface="Wingdings" panose="05000000000000000000" pitchFamily="2" charset="2"/>
              <a:buChar char="§"/>
            </a:pPr>
            <a:r>
              <a:rPr lang="en-GB" dirty="0"/>
              <a:t>Second, where an accumulation is placed beneath the water table, thereby protecting the aeolian accumulation from later deflation. This can occur either via subsidence through a static water or, on shorter geological timescales, via an absolute rise in water-table level.</a:t>
            </a:r>
          </a:p>
          <a:p>
            <a:endParaRPr lang="en-GB" dirty="0"/>
          </a:p>
        </p:txBody>
      </p:sp>
      <p:pic>
        <p:nvPicPr>
          <p:cNvPr id="7" name="Picture 6"/>
          <p:cNvPicPr>
            <a:picLocks noChangeAspect="1"/>
          </p:cNvPicPr>
          <p:nvPr/>
        </p:nvPicPr>
        <p:blipFill>
          <a:blip r:embed="rId3"/>
          <a:stretch>
            <a:fillRect/>
          </a:stretch>
        </p:blipFill>
        <p:spPr>
          <a:xfrm>
            <a:off x="115733" y="948690"/>
            <a:ext cx="7223066" cy="4528566"/>
          </a:xfrm>
          <a:prstGeom prst="rect">
            <a:avLst/>
          </a:prstGeom>
        </p:spPr>
      </p:pic>
      <p:sp>
        <p:nvSpPr>
          <p:cNvPr id="6" name="TextBox 5"/>
          <p:cNvSpPr txBox="1"/>
          <p:nvPr/>
        </p:nvSpPr>
        <p:spPr>
          <a:xfrm>
            <a:off x="185295" y="5477256"/>
            <a:ext cx="3454400" cy="369332"/>
          </a:xfrm>
          <a:prstGeom prst="rect">
            <a:avLst/>
          </a:prstGeom>
          <a:noFill/>
        </p:spPr>
        <p:txBody>
          <a:bodyPr wrap="square" rtlCol="0">
            <a:spAutoFit/>
          </a:bodyPr>
          <a:lstStyle/>
          <a:p>
            <a:r>
              <a:rPr lang="en-GB" dirty="0"/>
              <a:t>Image: Mountney et al., 2023</a:t>
            </a:r>
          </a:p>
        </p:txBody>
      </p:sp>
    </p:spTree>
    <p:extLst>
      <p:ext uri="{BB962C8B-B14F-4D97-AF65-F5344CB8AC3E}">
        <p14:creationId xmlns:p14="http://schemas.microsoft.com/office/powerpoint/2010/main" val="23297615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870857"/>
          </a:xfrm>
          <a:prstGeom prst="rect">
            <a:avLst/>
          </a:prstGeom>
        </p:spPr>
      </p:pic>
      <p:sp>
        <p:nvSpPr>
          <p:cNvPr id="5" name="Title 1"/>
          <p:cNvSpPr txBox="1">
            <a:spLocks/>
          </p:cNvSpPr>
          <p:nvPr/>
        </p:nvSpPr>
        <p:spPr>
          <a:xfrm>
            <a:off x="80818" y="-1507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Summary</a:t>
            </a:r>
          </a:p>
        </p:txBody>
      </p:sp>
      <p:pic>
        <p:nvPicPr>
          <p:cNvPr id="7" name="Picture 6"/>
          <p:cNvPicPr>
            <a:picLocks noChangeAspect="1"/>
          </p:cNvPicPr>
          <p:nvPr/>
        </p:nvPicPr>
        <p:blipFill>
          <a:blip r:embed="rId3"/>
          <a:stretch>
            <a:fillRect/>
          </a:stretch>
        </p:blipFill>
        <p:spPr>
          <a:xfrm>
            <a:off x="5994399" y="1021649"/>
            <a:ext cx="6040582" cy="2183370"/>
          </a:xfrm>
          <a:prstGeom prst="rect">
            <a:avLst/>
          </a:prstGeom>
        </p:spPr>
      </p:pic>
      <p:sp>
        <p:nvSpPr>
          <p:cNvPr id="9" name="TextBox 8"/>
          <p:cNvSpPr txBox="1"/>
          <p:nvPr/>
        </p:nvSpPr>
        <p:spPr>
          <a:xfrm>
            <a:off x="5864927" y="819279"/>
            <a:ext cx="7124864" cy="430887"/>
          </a:xfrm>
          <a:prstGeom prst="rect">
            <a:avLst/>
          </a:prstGeom>
          <a:noFill/>
        </p:spPr>
        <p:txBody>
          <a:bodyPr wrap="square" rtlCol="0">
            <a:spAutoFit/>
          </a:bodyPr>
          <a:lstStyle/>
          <a:p>
            <a:r>
              <a:rPr lang="en-GB" sz="1100" dirty="0">
                <a:latin typeface="Cambria" panose="02040503050406030204" pitchFamily="18" charset="0"/>
                <a:ea typeface="Cambria" panose="02040503050406030204" pitchFamily="18" charset="0"/>
              </a:rPr>
              <a:t>Photo shows cross-bedded dune-sets in the Navajo Sandstone, Utah, USA. Image courtesy of Jim Elder.</a:t>
            </a:r>
          </a:p>
          <a:p>
            <a:endParaRPr lang="en-GB" sz="1100" dirty="0"/>
          </a:p>
        </p:txBody>
      </p:sp>
      <p:sp>
        <p:nvSpPr>
          <p:cNvPr id="11" name="TextBox 10"/>
          <p:cNvSpPr txBox="1"/>
          <p:nvPr/>
        </p:nvSpPr>
        <p:spPr>
          <a:xfrm>
            <a:off x="240145" y="1140896"/>
            <a:ext cx="5200073" cy="5355312"/>
          </a:xfrm>
          <a:prstGeom prst="rect">
            <a:avLst/>
          </a:prstGeom>
          <a:noFill/>
        </p:spPr>
        <p:txBody>
          <a:bodyPr wrap="square" rtlCol="0">
            <a:spAutoFit/>
          </a:bodyPr>
          <a:lstStyle/>
          <a:p>
            <a:pPr marL="285750" indent="-285750">
              <a:buFont typeface="Arial" panose="020B0604020202020204" pitchFamily="34" charset="0"/>
              <a:buChar char="•"/>
            </a:pPr>
            <a:r>
              <a:rPr lang="en-GB" dirty="0"/>
              <a:t>Aeolian processes operate in a variety of erosional and depositional settings, notably hot and cold climatic deserts, coastal regions, fluvial and glacial outwash plains, and volcanic regions, and even supply sediment to the deep ocean. </a:t>
            </a:r>
          </a:p>
          <a:p>
            <a:pPr marL="285750" indent="-285750">
              <a:buFont typeface="Arial" panose="020B0604020202020204" pitchFamily="34" charset="0"/>
              <a:buChar char="•"/>
            </a:pPr>
            <a:r>
              <a:rPr lang="en-GB" dirty="0"/>
              <a:t>Although aeolian processes operate in various climate regimes, they are currently most active and widespread in arid, hot and cold deserts.</a:t>
            </a:r>
          </a:p>
          <a:p>
            <a:pPr marL="285750" indent="-285750">
              <a:buFont typeface="Arial" panose="020B0604020202020204" pitchFamily="34" charset="0"/>
              <a:buChar char="•"/>
            </a:pPr>
            <a:r>
              <a:rPr lang="en-GB" dirty="0"/>
              <a:t>Aeolian deposits occur at a variety of scales, from smallest to largest these are ripple-, dune-, and mega-dune scale</a:t>
            </a:r>
          </a:p>
          <a:p>
            <a:pPr marL="285750" indent="-285750">
              <a:buFont typeface="Arial" panose="020B0604020202020204" pitchFamily="34" charset="0"/>
              <a:buChar char="•"/>
            </a:pPr>
            <a:r>
              <a:rPr lang="en-GB" dirty="0"/>
              <a:t>At the smallest scale: wind-ripples, </a:t>
            </a:r>
            <a:r>
              <a:rPr lang="en-GB" dirty="0" err="1"/>
              <a:t>grainflow</a:t>
            </a:r>
            <a:r>
              <a:rPr lang="en-GB" dirty="0"/>
              <a:t>, grainfall and adhesion strata</a:t>
            </a:r>
          </a:p>
          <a:p>
            <a:pPr marL="285750" indent="-285750">
              <a:buFont typeface="Arial" panose="020B0604020202020204" pitchFamily="34" charset="0"/>
              <a:buChar char="•"/>
            </a:pPr>
            <a:r>
              <a:rPr lang="en-GB" dirty="0"/>
              <a:t>Aeolian dunes are associated with interdunes (dry, damp, wet), sandsheets and </a:t>
            </a:r>
            <a:r>
              <a:rPr lang="en-GB" dirty="0" err="1"/>
              <a:t>zibars</a:t>
            </a:r>
            <a:endParaRPr lang="en-GB" dirty="0"/>
          </a:p>
          <a:p>
            <a:pPr marL="285750" indent="-285750">
              <a:buFont typeface="Arial" panose="020B0604020202020204" pitchFamily="34" charset="0"/>
              <a:buChar char="•"/>
            </a:pPr>
            <a:r>
              <a:rPr lang="en-GB" dirty="0"/>
              <a:t>Aeolian dunes and interdunes accumulate by climbing over one another. </a:t>
            </a:r>
          </a:p>
          <a:p>
            <a:pPr marL="285750" indent="-285750">
              <a:buFont typeface="Arial" panose="020B0604020202020204" pitchFamily="34" charset="0"/>
              <a:buChar char="•"/>
            </a:pPr>
            <a:r>
              <a:rPr lang="en-GB" dirty="0"/>
              <a:t>Overlying bedforms truncate underlying bedforms leaving cross-bedded sets in geological record</a:t>
            </a:r>
          </a:p>
        </p:txBody>
      </p:sp>
      <p:pic>
        <p:nvPicPr>
          <p:cNvPr id="12" name="Picture 11"/>
          <p:cNvPicPr>
            <a:picLocks noChangeAspect="1"/>
          </p:cNvPicPr>
          <p:nvPr/>
        </p:nvPicPr>
        <p:blipFill>
          <a:blip r:embed="rId4"/>
          <a:stretch>
            <a:fillRect/>
          </a:stretch>
        </p:blipFill>
        <p:spPr>
          <a:xfrm>
            <a:off x="5994398" y="3205019"/>
            <a:ext cx="6105237" cy="3545644"/>
          </a:xfrm>
          <a:prstGeom prst="rect">
            <a:avLst/>
          </a:prstGeom>
        </p:spPr>
      </p:pic>
      <p:sp>
        <p:nvSpPr>
          <p:cNvPr id="13" name="TextBox 12"/>
          <p:cNvSpPr txBox="1"/>
          <p:nvPr/>
        </p:nvSpPr>
        <p:spPr>
          <a:xfrm>
            <a:off x="5864927" y="6627143"/>
            <a:ext cx="3454400" cy="261610"/>
          </a:xfrm>
          <a:prstGeom prst="rect">
            <a:avLst/>
          </a:prstGeom>
          <a:noFill/>
        </p:spPr>
        <p:txBody>
          <a:bodyPr wrap="square" rtlCol="0">
            <a:spAutoFit/>
          </a:bodyPr>
          <a:lstStyle/>
          <a:p>
            <a:r>
              <a:rPr lang="en-GB" sz="1050" dirty="0"/>
              <a:t>Image: Mountney et al., 2023</a:t>
            </a:r>
          </a:p>
        </p:txBody>
      </p:sp>
    </p:spTree>
    <p:extLst>
      <p:ext uri="{BB962C8B-B14F-4D97-AF65-F5344CB8AC3E}">
        <p14:creationId xmlns:p14="http://schemas.microsoft.com/office/powerpoint/2010/main" val="634501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5055</TotalTime>
  <Words>5202</Words>
  <Application>Microsoft Office PowerPoint</Application>
  <PresentationFormat>Widescreen</PresentationFormat>
  <Paragraphs>326</Paragraphs>
  <Slides>53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Leeds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Grace Cosgrove</dc:creator>
  <cp:lastModifiedBy>Ian Kane</cp:lastModifiedBy>
  <cp:revision>137</cp:revision>
  <dcterms:created xsi:type="dcterms:W3CDTF">2023-09-18T09:00:43Z</dcterms:created>
  <dcterms:modified xsi:type="dcterms:W3CDTF">2024-12-13T13:11:59Z</dcterms:modified>
</cp:coreProperties>
</file>