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1" r:id="rId4"/>
    <p:sldId id="276" r:id="rId5"/>
    <p:sldId id="277" r:id="rId6"/>
    <p:sldId id="260" r:id="rId7"/>
    <p:sldId id="264" r:id="rId8"/>
    <p:sldId id="263" r:id="rId9"/>
    <p:sldId id="272" r:id="rId10"/>
    <p:sldId id="271" r:id="rId11"/>
    <p:sldId id="273" r:id="rId12"/>
    <p:sldId id="278" r:id="rId13"/>
    <p:sldId id="281" r:id="rId14"/>
    <p:sldId id="282" r:id="rId15"/>
    <p:sldId id="279" r:id="rId16"/>
    <p:sldId id="274" r:id="rId17"/>
    <p:sldId id="275" r:id="rId18"/>
    <p:sldId id="280" r:id="rId19"/>
    <p:sldId id="258" r:id="rId20"/>
    <p:sldId id="270" r:id="rId21"/>
    <p:sldId id="269" r:id="rId22"/>
    <p:sldId id="259" r:id="rId23"/>
    <p:sldId id="267" r:id="rId24"/>
    <p:sldId id="285" r:id="rId25"/>
    <p:sldId id="287" r:id="rId26"/>
    <p:sldId id="290" r:id="rId27"/>
    <p:sldId id="288" r:id="rId28"/>
    <p:sldId id="268" r:id="rId29"/>
    <p:sldId id="284" r:id="rId30"/>
    <p:sldId id="289" r:id="rId31"/>
    <p:sldId id="26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574D1"/>
    <a:srgbClr val="68F394"/>
    <a:srgbClr val="46D2FF"/>
    <a:srgbClr val="00ADA1"/>
    <a:srgbClr val="FFF34D"/>
    <a:srgbClr val="FFB743"/>
    <a:srgbClr val="FF7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fus Brunt" userId="34926814-9518-44a5-8053-c5bfb4cc170e" providerId="ADAL" clId="{24E3F161-98AE-417D-BAD4-130DCA37E700}"/>
    <pc:docChg chg="undo custSel addSld modSld sldOrd">
      <pc:chgData name="Rufus Brunt" userId="34926814-9518-44a5-8053-c5bfb4cc170e" providerId="ADAL" clId="{24E3F161-98AE-417D-BAD4-130DCA37E700}" dt="2026-04-21T14:10:16.374" v="3052" actId="20577"/>
      <pc:docMkLst>
        <pc:docMk/>
      </pc:docMkLst>
      <pc:sldChg chg="modSp mod">
        <pc:chgData name="Rufus Brunt" userId="34926814-9518-44a5-8053-c5bfb4cc170e" providerId="ADAL" clId="{24E3F161-98AE-417D-BAD4-130DCA37E700}" dt="2026-04-08T12:34:39.209" v="2592" actId="1038"/>
        <pc:sldMkLst>
          <pc:docMk/>
          <pc:sldMk cId="1553041220" sldId="258"/>
        </pc:sldMkLst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7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2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3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4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5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6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7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19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21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4:39.209" v="2592" actId="1038"/>
          <ac:spMkLst>
            <pc:docMk/>
            <pc:sldMk cId="1553041220" sldId="258"/>
            <ac:spMk id="23" creationId="{00000000-0000-0000-0000-000000000000}"/>
          </ac:spMkLst>
        </pc:spChg>
      </pc:sldChg>
      <pc:sldChg chg="addSp modSp mod">
        <pc:chgData name="Rufus Brunt" userId="34926814-9518-44a5-8053-c5bfb4cc170e" providerId="ADAL" clId="{24E3F161-98AE-417D-BAD4-130DCA37E700}" dt="2026-04-08T12:27:58.070" v="2560" actId="20577"/>
        <pc:sldMkLst>
          <pc:docMk/>
          <pc:sldMk cId="1178829892" sldId="260"/>
        </pc:sldMkLst>
        <pc:spChg chg="mod">
          <ac:chgData name="Rufus Brunt" userId="34926814-9518-44a5-8053-c5bfb4cc170e" providerId="ADAL" clId="{24E3F161-98AE-417D-BAD4-130DCA37E700}" dt="2026-04-08T12:27:44.865" v="2558" actId="1035"/>
          <ac:spMkLst>
            <pc:docMk/>
            <pc:sldMk cId="1178829892" sldId="260"/>
            <ac:spMk id="2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27:56.312" v="2559" actId="20577"/>
          <ac:spMkLst>
            <pc:docMk/>
            <pc:sldMk cId="1178829892" sldId="260"/>
            <ac:spMk id="5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27:58.070" v="2560" actId="20577"/>
          <ac:spMkLst>
            <pc:docMk/>
            <pc:sldMk cId="1178829892" sldId="260"/>
            <ac:spMk id="7" creationId="{00000000-0000-0000-0000-000000000000}"/>
          </ac:spMkLst>
        </pc:spChg>
        <pc:grpChg chg="add mod">
          <ac:chgData name="Rufus Brunt" userId="34926814-9518-44a5-8053-c5bfb4cc170e" providerId="ADAL" clId="{24E3F161-98AE-417D-BAD4-130DCA37E700}" dt="2026-04-08T12:27:39.256" v="2544" actId="14100"/>
          <ac:grpSpMkLst>
            <pc:docMk/>
            <pc:sldMk cId="1178829892" sldId="260"/>
            <ac:grpSpMk id="8" creationId="{766DA981-90AB-31D2-AF7D-FA053F47B595}"/>
          </ac:grpSpMkLst>
        </pc:grpChg>
        <pc:picChg chg="mod">
          <ac:chgData name="Rufus Brunt" userId="34926814-9518-44a5-8053-c5bfb4cc170e" providerId="ADAL" clId="{24E3F161-98AE-417D-BAD4-130DCA37E700}" dt="2026-04-08T12:27:33.157" v="2543" actId="164"/>
          <ac:picMkLst>
            <pc:docMk/>
            <pc:sldMk cId="1178829892" sldId="260"/>
            <ac:picMk id="4" creationId="{00000000-0000-0000-0000-000000000000}"/>
          </ac:picMkLst>
        </pc:picChg>
        <pc:picChg chg="mod">
          <ac:chgData name="Rufus Brunt" userId="34926814-9518-44a5-8053-c5bfb4cc170e" providerId="ADAL" clId="{24E3F161-98AE-417D-BAD4-130DCA37E700}" dt="2026-04-08T12:27:33.157" v="2543" actId="164"/>
          <ac:picMkLst>
            <pc:docMk/>
            <pc:sldMk cId="1178829892" sldId="260"/>
            <ac:picMk id="6" creationId="{00000000-0000-0000-0000-000000000000}"/>
          </ac:picMkLst>
        </pc:picChg>
      </pc:sldChg>
      <pc:sldChg chg="modSp mod">
        <pc:chgData name="Rufus Brunt" userId="34926814-9518-44a5-8053-c5bfb4cc170e" providerId="ADAL" clId="{24E3F161-98AE-417D-BAD4-130DCA37E700}" dt="2026-04-08T10:02:57.800" v="40" actId="20577"/>
        <pc:sldMkLst>
          <pc:docMk/>
          <pc:sldMk cId="3258148551" sldId="264"/>
        </pc:sldMkLst>
        <pc:spChg chg="mod">
          <ac:chgData name="Rufus Brunt" userId="34926814-9518-44a5-8053-c5bfb4cc170e" providerId="ADAL" clId="{24E3F161-98AE-417D-BAD4-130DCA37E700}" dt="2026-04-08T10:02:57.800" v="40" actId="20577"/>
          <ac:spMkLst>
            <pc:docMk/>
            <pc:sldMk cId="3258148551" sldId="264"/>
            <ac:spMk id="3" creationId="{00000000-0000-0000-0000-000000000000}"/>
          </ac:spMkLst>
        </pc:spChg>
      </pc:sldChg>
      <pc:sldChg chg="addSp delSp modSp mod">
        <pc:chgData name="Rufus Brunt" userId="34926814-9518-44a5-8053-c5bfb4cc170e" providerId="ADAL" clId="{24E3F161-98AE-417D-BAD4-130DCA37E700}" dt="2026-04-08T12:04:19.410" v="2203" actId="1076"/>
        <pc:sldMkLst>
          <pc:docMk/>
          <pc:sldMk cId="908353718" sldId="268"/>
        </pc:sldMkLst>
        <pc:spChg chg="ord">
          <ac:chgData name="Rufus Brunt" userId="34926814-9518-44a5-8053-c5bfb4cc170e" providerId="ADAL" clId="{24E3F161-98AE-417D-BAD4-130DCA37E700}" dt="2026-04-08T12:04:14.992" v="2201" actId="166"/>
          <ac:spMkLst>
            <pc:docMk/>
            <pc:sldMk cId="908353718" sldId="268"/>
            <ac:spMk id="6" creationId="{00000000-0000-0000-0000-000000000000}"/>
          </ac:spMkLst>
        </pc:spChg>
        <pc:picChg chg="add mod">
          <ac:chgData name="Rufus Brunt" userId="34926814-9518-44a5-8053-c5bfb4cc170e" providerId="ADAL" clId="{24E3F161-98AE-417D-BAD4-130DCA37E700}" dt="2026-04-08T12:04:19.410" v="2203" actId="1076"/>
          <ac:picMkLst>
            <pc:docMk/>
            <pc:sldMk cId="908353718" sldId="268"/>
            <ac:picMk id="3" creationId="{D4311168-1D0A-889C-D04E-293808E2826E}"/>
          </ac:picMkLst>
        </pc:picChg>
      </pc:sldChg>
      <pc:sldChg chg="modSp mod">
        <pc:chgData name="Rufus Brunt" userId="34926814-9518-44a5-8053-c5bfb4cc170e" providerId="ADAL" clId="{24E3F161-98AE-417D-BAD4-130DCA37E700}" dt="2026-04-08T10:21:20.961" v="433" actId="20577"/>
        <pc:sldMkLst>
          <pc:docMk/>
          <pc:sldMk cId="656100518" sldId="272"/>
        </pc:sldMkLst>
        <pc:spChg chg="mod">
          <ac:chgData name="Rufus Brunt" userId="34926814-9518-44a5-8053-c5bfb4cc170e" providerId="ADAL" clId="{24E3F161-98AE-417D-BAD4-130DCA37E700}" dt="2026-04-08T10:09:54.163" v="76" actId="1036"/>
          <ac:spMkLst>
            <pc:docMk/>
            <pc:sldMk cId="656100518" sldId="272"/>
            <ac:spMk id="3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10:27.996" v="109" actId="6549"/>
          <ac:spMkLst>
            <pc:docMk/>
            <pc:sldMk cId="656100518" sldId="272"/>
            <ac:spMk id="4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11:03.156" v="180" actId="207"/>
          <ac:spMkLst>
            <pc:docMk/>
            <pc:sldMk cId="656100518" sldId="272"/>
            <ac:spMk id="6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18:03.303" v="306" actId="20577"/>
          <ac:spMkLst>
            <pc:docMk/>
            <pc:sldMk cId="656100518" sldId="272"/>
            <ac:spMk id="7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10:48.787" v="178" actId="1037"/>
          <ac:spMkLst>
            <pc:docMk/>
            <pc:sldMk cId="656100518" sldId="272"/>
            <ac:spMk id="9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18:21.566" v="308" actId="20577"/>
          <ac:spMkLst>
            <pc:docMk/>
            <pc:sldMk cId="656100518" sldId="272"/>
            <ac:spMk id="10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1:20.961" v="433" actId="20577"/>
          <ac:spMkLst>
            <pc:docMk/>
            <pc:sldMk cId="656100518" sldId="272"/>
            <ac:spMk id="11" creationId="{D53E5E87-EA30-F3BD-F03D-BCB0898A1187}"/>
          </ac:spMkLst>
        </pc:spChg>
        <pc:grpChg chg="mod">
          <ac:chgData name="Rufus Brunt" userId="34926814-9518-44a5-8053-c5bfb4cc170e" providerId="ADAL" clId="{24E3F161-98AE-417D-BAD4-130DCA37E700}" dt="2026-04-08T10:10:15.851" v="106" actId="1037"/>
          <ac:grpSpMkLst>
            <pc:docMk/>
            <pc:sldMk cId="656100518" sldId="272"/>
            <ac:grpSpMk id="13" creationId="{6C01EEA3-6B26-121A-40F0-0736D470A942}"/>
          </ac:grpSpMkLst>
        </pc:grpChg>
        <pc:picChg chg="mod">
          <ac:chgData name="Rufus Brunt" userId="34926814-9518-44a5-8053-c5bfb4cc170e" providerId="ADAL" clId="{24E3F161-98AE-417D-BAD4-130DCA37E700}" dt="2026-04-08T10:10:42.351" v="157" actId="1036"/>
          <ac:picMkLst>
            <pc:docMk/>
            <pc:sldMk cId="656100518" sldId="272"/>
            <ac:picMk id="5" creationId="{00000000-0000-0000-0000-000000000000}"/>
          </ac:picMkLst>
        </pc:picChg>
        <pc:picChg chg="mod">
          <ac:chgData name="Rufus Brunt" userId="34926814-9518-44a5-8053-c5bfb4cc170e" providerId="ADAL" clId="{24E3F161-98AE-417D-BAD4-130DCA37E700}" dt="2026-04-08T10:09:54.163" v="76" actId="1036"/>
          <ac:picMkLst>
            <pc:docMk/>
            <pc:sldMk cId="656100518" sldId="272"/>
            <ac:picMk id="8" creationId="{00000000-0000-0000-0000-000000000000}"/>
          </ac:picMkLst>
        </pc:picChg>
      </pc:sldChg>
      <pc:sldChg chg="modSp mod">
        <pc:chgData name="Rufus Brunt" userId="34926814-9518-44a5-8053-c5bfb4cc170e" providerId="ADAL" clId="{24E3F161-98AE-417D-BAD4-130DCA37E700}" dt="2026-04-08T12:32:46.064" v="2574" actId="20577"/>
        <pc:sldMkLst>
          <pc:docMk/>
          <pc:sldMk cId="4202939445" sldId="273"/>
        </pc:sldMkLst>
        <pc:spChg chg="mod">
          <ac:chgData name="Rufus Brunt" userId="34926814-9518-44a5-8053-c5bfb4cc170e" providerId="ADAL" clId="{24E3F161-98AE-417D-BAD4-130DCA37E700}" dt="2026-04-08T10:23:33.891" v="459" actId="1076"/>
          <ac:spMkLst>
            <pc:docMk/>
            <pc:sldMk cId="4202939445" sldId="273"/>
            <ac:spMk id="2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3:45.131" v="488" actId="1076"/>
          <ac:spMkLst>
            <pc:docMk/>
            <pc:sldMk cId="4202939445" sldId="273"/>
            <ac:spMk id="3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3:21.739" v="456" actId="1035"/>
          <ac:spMkLst>
            <pc:docMk/>
            <pc:sldMk cId="4202939445" sldId="273"/>
            <ac:spMk id="9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3:40.884" v="487" actId="1037"/>
          <ac:spMkLst>
            <pc:docMk/>
            <pc:sldMk cId="4202939445" sldId="273"/>
            <ac:spMk id="178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2:32:46.064" v="2574" actId="20577"/>
          <ac:spMkLst>
            <pc:docMk/>
            <pc:sldMk cId="4202939445" sldId="273"/>
            <ac:spMk id="179" creationId="{00000000-0000-0000-0000-000000000000}"/>
          </ac:spMkLst>
        </pc:spChg>
        <pc:grpChg chg="mod">
          <ac:chgData name="Rufus Brunt" userId="34926814-9518-44a5-8053-c5bfb4cc170e" providerId="ADAL" clId="{24E3F161-98AE-417D-BAD4-130DCA37E700}" dt="2026-04-08T10:23:21.739" v="456" actId="1035"/>
          <ac:grpSpMkLst>
            <pc:docMk/>
            <pc:sldMk cId="4202939445" sldId="273"/>
            <ac:grpSpMk id="8" creationId="{00000000-0000-0000-0000-000000000000}"/>
          </ac:grpSpMkLst>
        </pc:grpChg>
        <pc:grpChg chg="mod">
          <ac:chgData name="Rufus Brunt" userId="34926814-9518-44a5-8053-c5bfb4cc170e" providerId="ADAL" clId="{24E3F161-98AE-417D-BAD4-130DCA37E700}" dt="2026-04-08T10:23:40.884" v="487" actId="1037"/>
          <ac:grpSpMkLst>
            <pc:docMk/>
            <pc:sldMk cId="4202939445" sldId="273"/>
            <ac:grpSpMk id="177" creationId="{00000000-0000-0000-0000-000000000000}"/>
          </ac:grpSpMkLst>
        </pc:grpChg>
      </pc:sldChg>
      <pc:sldChg chg="modSp mod">
        <pc:chgData name="Rufus Brunt" userId="34926814-9518-44a5-8053-c5bfb4cc170e" providerId="ADAL" clId="{24E3F161-98AE-417D-BAD4-130DCA37E700}" dt="2026-04-21T14:07:38.863" v="2974" actId="20577"/>
        <pc:sldMkLst>
          <pc:docMk/>
          <pc:sldMk cId="2669290105" sldId="274"/>
        </pc:sldMkLst>
        <pc:spChg chg="mod">
          <ac:chgData name="Rufus Brunt" userId="34926814-9518-44a5-8053-c5bfb4cc170e" providerId="ADAL" clId="{24E3F161-98AE-417D-BAD4-130DCA37E700}" dt="2026-04-21T14:07:38.863" v="2974" actId="20577"/>
          <ac:spMkLst>
            <pc:docMk/>
            <pc:sldMk cId="2669290105" sldId="274"/>
            <ac:spMk id="3" creationId="{00000000-0000-0000-0000-000000000000}"/>
          </ac:spMkLst>
        </pc:spChg>
      </pc:sldChg>
      <pc:sldChg chg="modSp mod">
        <pc:chgData name="Rufus Brunt" userId="34926814-9518-44a5-8053-c5bfb4cc170e" providerId="ADAL" clId="{24E3F161-98AE-417D-BAD4-130DCA37E700}" dt="2026-04-08T10:24:12.613" v="523" actId="1037"/>
        <pc:sldMkLst>
          <pc:docMk/>
          <pc:sldMk cId="3467774787" sldId="278"/>
        </pc:sldMkLst>
        <pc:spChg chg="mod">
          <ac:chgData name="Rufus Brunt" userId="34926814-9518-44a5-8053-c5bfb4cc170e" providerId="ADAL" clId="{24E3F161-98AE-417D-BAD4-130DCA37E700}" dt="2026-04-08T10:24:12.613" v="523" actId="1037"/>
          <ac:spMkLst>
            <pc:docMk/>
            <pc:sldMk cId="3467774787" sldId="278"/>
            <ac:spMk id="7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4:04.595" v="499" actId="255"/>
          <ac:spMkLst>
            <pc:docMk/>
            <pc:sldMk cId="3467774787" sldId="278"/>
            <ac:spMk id="8" creationId="{00000000-0000-0000-0000-000000000000}"/>
          </ac:spMkLst>
        </pc:spChg>
        <pc:spChg chg="mod">
          <ac:chgData name="Rufus Brunt" userId="34926814-9518-44a5-8053-c5bfb4cc170e" providerId="ADAL" clId="{24E3F161-98AE-417D-BAD4-130DCA37E700}" dt="2026-04-08T10:24:12.613" v="523" actId="1037"/>
          <ac:spMkLst>
            <pc:docMk/>
            <pc:sldMk cId="3467774787" sldId="278"/>
            <ac:spMk id="9" creationId="{00000000-0000-0000-0000-000000000000}"/>
          </ac:spMkLst>
        </pc:spChg>
        <pc:picChg chg="mod">
          <ac:chgData name="Rufus Brunt" userId="34926814-9518-44a5-8053-c5bfb4cc170e" providerId="ADAL" clId="{24E3F161-98AE-417D-BAD4-130DCA37E700}" dt="2026-04-08T10:24:12.613" v="523" actId="1037"/>
          <ac:picMkLst>
            <pc:docMk/>
            <pc:sldMk cId="3467774787" sldId="278"/>
            <ac:picMk id="6" creationId="{00000000-0000-0000-0000-000000000000}"/>
          </ac:picMkLst>
        </pc:picChg>
      </pc:sldChg>
      <pc:sldChg chg="addSp delSp modSp mod">
        <pc:chgData name="Rufus Brunt" userId="34926814-9518-44a5-8053-c5bfb4cc170e" providerId="ADAL" clId="{24E3F161-98AE-417D-BAD4-130DCA37E700}" dt="2026-04-08T10:33:58.858" v="733" actId="1036"/>
        <pc:sldMkLst>
          <pc:docMk/>
          <pc:sldMk cId="3649735164" sldId="281"/>
        </pc:sldMkLst>
        <pc:spChg chg="add mod">
          <ac:chgData name="Rufus Brunt" userId="34926814-9518-44a5-8053-c5bfb4cc170e" providerId="ADAL" clId="{24E3F161-98AE-417D-BAD4-130DCA37E700}" dt="2026-04-08T10:31:20.401" v="649" actId="693"/>
          <ac:spMkLst>
            <pc:docMk/>
            <pc:sldMk cId="3649735164" sldId="281"/>
            <ac:spMk id="4" creationId="{0B555DAD-ED11-CA4A-DA82-49F74FB89392}"/>
          </ac:spMkLst>
        </pc:spChg>
        <pc:spChg chg="add mod">
          <ac:chgData name="Rufus Brunt" userId="34926814-9518-44a5-8053-c5bfb4cc170e" providerId="ADAL" clId="{24E3F161-98AE-417D-BAD4-130DCA37E700}" dt="2026-04-08T10:31:34.243" v="653" actId="13822"/>
          <ac:spMkLst>
            <pc:docMk/>
            <pc:sldMk cId="3649735164" sldId="281"/>
            <ac:spMk id="5" creationId="{974A0C24-CCA1-6B44-77D4-69358F6DEA9A}"/>
          </ac:spMkLst>
        </pc:spChg>
        <pc:spChg chg="add mod ord">
          <ac:chgData name="Rufus Brunt" userId="34926814-9518-44a5-8053-c5bfb4cc170e" providerId="ADAL" clId="{24E3F161-98AE-417D-BAD4-130DCA37E700}" dt="2026-04-08T10:33:52.687" v="727" actId="1036"/>
          <ac:spMkLst>
            <pc:docMk/>
            <pc:sldMk cId="3649735164" sldId="281"/>
            <ac:spMk id="6" creationId="{7F9CA671-3392-9EEB-34C4-D6BAF3448EE6}"/>
          </ac:spMkLst>
        </pc:spChg>
        <pc:spChg chg="add mod">
          <ac:chgData name="Rufus Brunt" userId="34926814-9518-44a5-8053-c5bfb4cc170e" providerId="ADAL" clId="{24E3F161-98AE-417D-BAD4-130DCA37E700}" dt="2026-04-08T10:33:44.078" v="711" actId="1582"/>
          <ac:spMkLst>
            <pc:docMk/>
            <pc:sldMk cId="3649735164" sldId="281"/>
            <ac:spMk id="10" creationId="{5DAE30B7-FDD7-85ED-745F-B5D7D2500272}"/>
          </ac:spMkLst>
        </pc:spChg>
        <pc:spChg chg="add mod">
          <ac:chgData name="Rufus Brunt" userId="34926814-9518-44a5-8053-c5bfb4cc170e" providerId="ADAL" clId="{24E3F161-98AE-417D-BAD4-130DCA37E700}" dt="2026-04-08T10:33:58.858" v="733" actId="1036"/>
          <ac:spMkLst>
            <pc:docMk/>
            <pc:sldMk cId="3649735164" sldId="281"/>
            <ac:spMk id="11" creationId="{A0DB527F-2F78-1398-5F6B-33A4D4C6A9A2}"/>
          </ac:spMkLst>
        </pc:spChg>
        <pc:spChg chg="mod">
          <ac:chgData name="Rufus Brunt" userId="34926814-9518-44a5-8053-c5bfb4cc170e" providerId="ADAL" clId="{24E3F161-98AE-417D-BAD4-130DCA37E700}" dt="2026-04-08T10:27:01.813" v="551" actId="1076"/>
          <ac:spMkLst>
            <pc:docMk/>
            <pc:sldMk cId="3649735164" sldId="281"/>
            <ac:spMk id="12" creationId="{9EC2004A-90C1-7030-28F1-B3AFD992F40C}"/>
          </ac:spMkLst>
        </pc:spChg>
        <pc:spChg chg="add mod">
          <ac:chgData name="Rufus Brunt" userId="34926814-9518-44a5-8053-c5bfb4cc170e" providerId="ADAL" clId="{24E3F161-98AE-417D-BAD4-130DCA37E700}" dt="2026-04-08T10:33:05.147" v="704" actId="208"/>
          <ac:spMkLst>
            <pc:docMk/>
            <pc:sldMk cId="3649735164" sldId="281"/>
            <ac:spMk id="13" creationId="{1E2ADB3A-BF76-813D-8001-2287944DF302}"/>
          </ac:spMkLst>
        </pc:spChg>
        <pc:spChg chg="add mod">
          <ac:chgData name="Rufus Brunt" userId="34926814-9518-44a5-8053-c5bfb4cc170e" providerId="ADAL" clId="{24E3F161-98AE-417D-BAD4-130DCA37E700}" dt="2026-04-08T10:32:48.237" v="700" actId="571"/>
          <ac:spMkLst>
            <pc:docMk/>
            <pc:sldMk cId="3649735164" sldId="281"/>
            <ac:spMk id="14" creationId="{5FADF5BD-C39E-4721-3E5B-139FAB8DAC4C}"/>
          </ac:spMkLst>
        </pc:spChg>
        <pc:spChg chg="add mod">
          <ac:chgData name="Rufus Brunt" userId="34926814-9518-44a5-8053-c5bfb4cc170e" providerId="ADAL" clId="{24E3F161-98AE-417D-BAD4-130DCA37E700}" dt="2026-04-08T10:32:48.237" v="700" actId="571"/>
          <ac:spMkLst>
            <pc:docMk/>
            <pc:sldMk cId="3649735164" sldId="281"/>
            <ac:spMk id="15" creationId="{2BE8DF8F-B0F1-514B-5804-256F2F3A8BD4}"/>
          </ac:spMkLst>
        </pc:spChg>
        <pc:graphicFrameChg chg="add mod modGraphic">
          <ac:chgData name="Rufus Brunt" userId="34926814-9518-44a5-8053-c5bfb4cc170e" providerId="ADAL" clId="{24E3F161-98AE-417D-BAD4-130DCA37E700}" dt="2026-04-08T10:33:13.409" v="710" actId="20577"/>
          <ac:graphicFrameMkLst>
            <pc:docMk/>
            <pc:sldMk cId="3649735164" sldId="281"/>
            <ac:graphicFrameMk id="3" creationId="{AD4D433C-E95C-AAE9-60C9-3201B2273E9E}"/>
          </ac:graphicFrameMkLst>
        </pc:graphicFrameChg>
      </pc:sldChg>
      <pc:sldChg chg="modSp mod">
        <pc:chgData name="Rufus Brunt" userId="34926814-9518-44a5-8053-c5bfb4cc170e" providerId="ADAL" clId="{24E3F161-98AE-417D-BAD4-130DCA37E700}" dt="2026-04-21T14:10:16.374" v="3052" actId="20577"/>
        <pc:sldMkLst>
          <pc:docMk/>
          <pc:sldMk cId="3962833161" sldId="282"/>
        </pc:sldMkLst>
        <pc:spChg chg="mod">
          <ac:chgData name="Rufus Brunt" userId="34926814-9518-44a5-8053-c5bfb4cc170e" providerId="ADAL" clId="{24E3F161-98AE-417D-BAD4-130DCA37E700}" dt="2026-04-21T14:10:16.374" v="3052" actId="20577"/>
          <ac:spMkLst>
            <pc:docMk/>
            <pc:sldMk cId="3962833161" sldId="282"/>
            <ac:spMk id="3" creationId="{E4FB2F3E-2041-3178-F8ED-930F59116D0F}"/>
          </ac:spMkLst>
        </pc:spChg>
      </pc:sldChg>
      <pc:sldChg chg="modSp mod">
        <pc:chgData name="Rufus Brunt" userId="34926814-9518-44a5-8053-c5bfb4cc170e" providerId="ADAL" clId="{24E3F161-98AE-417D-BAD4-130DCA37E700}" dt="2026-04-08T10:46:07.734" v="869" actId="6549"/>
        <pc:sldMkLst>
          <pc:docMk/>
          <pc:sldMk cId="3179581748" sldId="288"/>
        </pc:sldMkLst>
        <pc:spChg chg="mod">
          <ac:chgData name="Rufus Brunt" userId="34926814-9518-44a5-8053-c5bfb4cc170e" providerId="ADAL" clId="{24E3F161-98AE-417D-BAD4-130DCA37E700}" dt="2026-04-08T10:46:07.734" v="869" actId="6549"/>
          <ac:spMkLst>
            <pc:docMk/>
            <pc:sldMk cId="3179581748" sldId="288"/>
            <ac:spMk id="3" creationId="{196BD5A0-EF1C-1B5D-6BB8-F58305F1802F}"/>
          </ac:spMkLst>
        </pc:spChg>
      </pc:sldChg>
      <pc:sldChg chg="addSp delSp modSp new mod ord">
        <pc:chgData name="Rufus Brunt" userId="34926814-9518-44a5-8053-c5bfb4cc170e" providerId="ADAL" clId="{24E3F161-98AE-417D-BAD4-130DCA37E700}" dt="2026-04-08T12:22:04.813" v="2541" actId="20577"/>
        <pc:sldMkLst>
          <pc:docMk/>
          <pc:sldMk cId="1537867469" sldId="289"/>
        </pc:sldMkLst>
        <pc:spChg chg="mod">
          <ac:chgData name="Rufus Brunt" userId="34926814-9518-44a5-8053-c5bfb4cc170e" providerId="ADAL" clId="{24E3F161-98AE-417D-BAD4-130DCA37E700}" dt="2026-04-08T11:43:17.330" v="1465" actId="1036"/>
          <ac:spMkLst>
            <pc:docMk/>
            <pc:sldMk cId="1537867469" sldId="289"/>
            <ac:spMk id="2" creationId="{ACA693E0-A5EE-CC93-1A8D-64CEF351BA1B}"/>
          </ac:spMkLst>
        </pc:spChg>
        <pc:spChg chg="mod">
          <ac:chgData name="Rufus Brunt" userId="34926814-9518-44a5-8053-c5bfb4cc170e" providerId="ADAL" clId="{24E3F161-98AE-417D-BAD4-130DCA37E700}" dt="2026-04-08T12:22:04.813" v="2541" actId="20577"/>
          <ac:spMkLst>
            <pc:docMk/>
            <pc:sldMk cId="1537867469" sldId="289"/>
            <ac:spMk id="3" creationId="{43F9B05F-836F-7076-2072-BD91CE98F88C}"/>
          </ac:spMkLst>
        </pc:spChg>
        <pc:spChg chg="add mod">
          <ac:chgData name="Rufus Brunt" userId="34926814-9518-44a5-8053-c5bfb4cc170e" providerId="ADAL" clId="{24E3F161-98AE-417D-BAD4-130DCA37E700}" dt="2026-04-08T11:44:09.502" v="1537" actId="14100"/>
          <ac:spMkLst>
            <pc:docMk/>
            <pc:sldMk cId="1537867469" sldId="289"/>
            <ac:spMk id="4" creationId="{3485DC95-DEBE-EFC2-BC6C-F29E4C08507A}"/>
          </ac:spMkLst>
        </pc:spChg>
        <pc:spChg chg="add mod">
          <ac:chgData name="Rufus Brunt" userId="34926814-9518-44a5-8053-c5bfb4cc170e" providerId="ADAL" clId="{24E3F161-98AE-417D-BAD4-130DCA37E700}" dt="2026-04-08T11:56:56.092" v="1622" actId="1036"/>
          <ac:spMkLst>
            <pc:docMk/>
            <pc:sldMk cId="1537867469" sldId="289"/>
            <ac:spMk id="9" creationId="{8A18A019-FB02-79AF-B327-FC9A7D345E97}"/>
          </ac:spMkLst>
        </pc:spChg>
        <pc:picChg chg="add mod ord modCrop">
          <ac:chgData name="Rufus Brunt" userId="34926814-9518-44a5-8053-c5bfb4cc170e" providerId="ADAL" clId="{24E3F161-98AE-417D-BAD4-130DCA37E700}" dt="2026-04-08T11:55:37.483" v="1553" actId="167"/>
          <ac:picMkLst>
            <pc:docMk/>
            <pc:sldMk cId="1537867469" sldId="289"/>
            <ac:picMk id="8" creationId="{EBA56A85-933A-83D4-AB14-C85C12855504}"/>
          </ac:picMkLst>
        </pc:picChg>
        <pc:picChg chg="add mod">
          <ac:chgData name="Rufus Brunt" userId="34926814-9518-44a5-8053-c5bfb4cc170e" providerId="ADAL" clId="{24E3F161-98AE-417D-BAD4-130DCA37E700}" dt="2026-04-08T11:43:06.802" v="1418" actId="1076"/>
          <ac:picMkLst>
            <pc:docMk/>
            <pc:sldMk cId="1537867469" sldId="289"/>
            <ac:picMk id="1026" creationId="{86F58D74-F09C-8551-76BE-06FBB96456F7}"/>
          </ac:picMkLst>
        </pc:picChg>
      </pc:sldChg>
      <pc:sldChg chg="addSp delSp modSp add mod">
        <pc:chgData name="Rufus Brunt" userId="34926814-9518-44a5-8053-c5bfb4cc170e" providerId="ADAL" clId="{24E3F161-98AE-417D-BAD4-130DCA37E700}" dt="2026-04-08T18:05:10.179" v="2789" actId="20577"/>
        <pc:sldMkLst>
          <pc:docMk/>
          <pc:sldMk cId="3030231098" sldId="290"/>
        </pc:sldMkLst>
        <pc:spChg chg="add mod">
          <ac:chgData name="Rufus Brunt" userId="34926814-9518-44a5-8053-c5bfb4cc170e" providerId="ADAL" clId="{24E3F161-98AE-417D-BAD4-130DCA37E700}" dt="2026-04-08T13:45:02.031" v="2664" actId="1076"/>
          <ac:spMkLst>
            <pc:docMk/>
            <pc:sldMk cId="3030231098" sldId="290"/>
            <ac:spMk id="3" creationId="{5375A4ED-4078-FC87-2BEE-96C0F9499F5D}"/>
          </ac:spMkLst>
        </pc:spChg>
        <pc:spChg chg="mod">
          <ac:chgData name="Rufus Brunt" userId="34926814-9518-44a5-8053-c5bfb4cc170e" providerId="ADAL" clId="{24E3F161-98AE-417D-BAD4-130DCA37E700}" dt="2026-04-08T13:44:40.782" v="2657" actId="1076"/>
          <ac:spMkLst>
            <pc:docMk/>
            <pc:sldMk cId="3030231098" sldId="290"/>
            <ac:spMk id="7" creationId="{AEEC7A92-CFBB-84CA-AA8A-32AE7938E3C3}"/>
          </ac:spMkLst>
        </pc:spChg>
        <pc:spChg chg="add mod">
          <ac:chgData name="Rufus Brunt" userId="34926814-9518-44a5-8053-c5bfb4cc170e" providerId="ADAL" clId="{24E3F161-98AE-417D-BAD4-130DCA37E700}" dt="2026-04-08T12:10:46.566" v="2218" actId="1582"/>
          <ac:spMkLst>
            <pc:docMk/>
            <pc:sldMk cId="3030231098" sldId="290"/>
            <ac:spMk id="10" creationId="{E1A83B2D-0961-CF87-4C39-0FE98E1FC540}"/>
          </ac:spMkLst>
        </pc:spChg>
        <pc:spChg chg="add mod">
          <ac:chgData name="Rufus Brunt" userId="34926814-9518-44a5-8053-c5bfb4cc170e" providerId="ADAL" clId="{24E3F161-98AE-417D-BAD4-130DCA37E700}" dt="2026-04-08T18:05:10.179" v="2789" actId="20577"/>
          <ac:spMkLst>
            <pc:docMk/>
            <pc:sldMk cId="3030231098" sldId="290"/>
            <ac:spMk id="11" creationId="{A716095C-9F05-FEBB-BACA-9E81145B3D67}"/>
          </ac:spMkLst>
        </pc:spChg>
        <pc:spChg chg="add mod">
          <ac:chgData name="Rufus Brunt" userId="34926814-9518-44a5-8053-c5bfb4cc170e" providerId="ADAL" clId="{24E3F161-98AE-417D-BAD4-130DCA37E700}" dt="2026-04-08T12:17:08.732" v="2374" actId="1036"/>
          <ac:spMkLst>
            <pc:docMk/>
            <pc:sldMk cId="3030231098" sldId="290"/>
            <ac:spMk id="13" creationId="{6EECE15A-ECA7-688D-5AF5-9064AE64E559}"/>
          </ac:spMkLst>
        </pc:spChg>
        <pc:spChg chg="add mod">
          <ac:chgData name="Rufus Brunt" userId="34926814-9518-44a5-8053-c5bfb4cc170e" providerId="ADAL" clId="{24E3F161-98AE-417D-BAD4-130DCA37E700}" dt="2026-04-08T13:42:20.268" v="2651" actId="1076"/>
          <ac:spMkLst>
            <pc:docMk/>
            <pc:sldMk cId="3030231098" sldId="290"/>
            <ac:spMk id="14" creationId="{DFFB84E8-F95E-850E-EBF9-D5BB7ED65228}"/>
          </ac:spMkLst>
        </pc:spChg>
        <pc:spChg chg="add mod">
          <ac:chgData name="Rufus Brunt" userId="34926814-9518-44a5-8053-c5bfb4cc170e" providerId="ADAL" clId="{24E3F161-98AE-417D-BAD4-130DCA37E700}" dt="2026-04-08T12:17:25.442" v="2375" actId="571"/>
          <ac:spMkLst>
            <pc:docMk/>
            <pc:sldMk cId="3030231098" sldId="290"/>
            <ac:spMk id="25" creationId="{4C56E6FC-7A98-6C24-1035-E1D1847CA069}"/>
          </ac:spMkLst>
        </pc:spChg>
        <pc:spChg chg="add mod">
          <ac:chgData name="Rufus Brunt" userId="34926814-9518-44a5-8053-c5bfb4cc170e" providerId="ADAL" clId="{24E3F161-98AE-417D-BAD4-130DCA37E700}" dt="2026-04-08T12:17:49.642" v="2395" actId="1038"/>
          <ac:spMkLst>
            <pc:docMk/>
            <pc:sldMk cId="3030231098" sldId="290"/>
            <ac:spMk id="26" creationId="{4FDC70FB-3F51-A702-5256-6899C2668D0B}"/>
          </ac:spMkLst>
        </pc:spChg>
        <pc:spChg chg="add mod">
          <ac:chgData name="Rufus Brunt" userId="34926814-9518-44a5-8053-c5bfb4cc170e" providerId="ADAL" clId="{24E3F161-98AE-417D-BAD4-130DCA37E700}" dt="2026-04-08T13:41:44.329" v="2606" actId="21"/>
          <ac:spMkLst>
            <pc:docMk/>
            <pc:sldMk cId="3030231098" sldId="290"/>
            <ac:spMk id="33" creationId="{1F9C91A9-1427-8606-ABCF-9996A3D12829}"/>
          </ac:spMkLst>
        </pc:spChg>
        <pc:spChg chg="add mod">
          <ac:chgData name="Rufus Brunt" userId="34926814-9518-44a5-8053-c5bfb4cc170e" providerId="ADAL" clId="{24E3F161-98AE-417D-BAD4-130DCA37E700}" dt="2026-04-08T18:03:15.650" v="2757" actId="1076"/>
          <ac:spMkLst>
            <pc:docMk/>
            <pc:sldMk cId="3030231098" sldId="290"/>
            <ac:spMk id="34" creationId="{B1EEF6C1-646C-B190-EC9F-211485720F7A}"/>
          </ac:spMkLst>
        </pc:spChg>
        <pc:spChg chg="add mod">
          <ac:chgData name="Rufus Brunt" userId="34926814-9518-44a5-8053-c5bfb4cc170e" providerId="ADAL" clId="{24E3F161-98AE-417D-BAD4-130DCA37E700}" dt="2026-04-08T18:04:53.159" v="2771" actId="1076"/>
          <ac:spMkLst>
            <pc:docMk/>
            <pc:sldMk cId="3030231098" sldId="290"/>
            <ac:spMk id="35" creationId="{5F23A044-C6FF-CD5F-16EB-99763A9350E5}"/>
          </ac:spMkLst>
        </pc:spChg>
        <pc:picChg chg="mod">
          <ac:chgData name="Rufus Brunt" userId="34926814-9518-44a5-8053-c5bfb4cc170e" providerId="ADAL" clId="{24E3F161-98AE-417D-BAD4-130DCA37E700}" dt="2026-04-08T13:44:54.333" v="2661" actId="1076"/>
          <ac:picMkLst>
            <pc:docMk/>
            <pc:sldMk cId="3030231098" sldId="290"/>
            <ac:picMk id="5" creationId="{EEA053B6-EF7C-A8B9-C147-ED9CCDE82E61}"/>
          </ac:picMkLst>
        </pc:picChg>
        <pc:picChg chg="add mod ord">
          <ac:chgData name="Rufus Brunt" userId="34926814-9518-44a5-8053-c5bfb4cc170e" providerId="ADAL" clId="{24E3F161-98AE-417D-BAD4-130DCA37E700}" dt="2026-04-08T12:17:02.229" v="2359" actId="1036"/>
          <ac:picMkLst>
            <pc:docMk/>
            <pc:sldMk cId="3030231098" sldId="290"/>
            <ac:picMk id="9" creationId="{65DCE5A9-2C7F-55E0-8D7C-60844A74D5EA}"/>
          </ac:picMkLst>
        </pc:picChg>
        <pc:picChg chg="add mod">
          <ac:chgData name="Rufus Brunt" userId="34926814-9518-44a5-8053-c5bfb4cc170e" providerId="ADAL" clId="{24E3F161-98AE-417D-BAD4-130DCA37E700}" dt="2026-04-08T12:17:02.229" v="2359" actId="1036"/>
          <ac:picMkLst>
            <pc:docMk/>
            <pc:sldMk cId="3030231098" sldId="290"/>
            <ac:picMk id="20" creationId="{FA94DA49-A2AE-C447-A442-A02BDA67B958}"/>
          </ac:picMkLst>
        </pc:picChg>
        <pc:picChg chg="add mod">
          <ac:chgData name="Rufus Brunt" userId="34926814-9518-44a5-8053-c5bfb4cc170e" providerId="ADAL" clId="{24E3F161-98AE-417D-BAD4-130DCA37E700}" dt="2026-04-08T12:17:02.229" v="2359" actId="1036"/>
          <ac:picMkLst>
            <pc:docMk/>
            <pc:sldMk cId="3030231098" sldId="290"/>
            <ac:picMk id="22" creationId="{A5E818A6-F19D-1FDE-4281-5C066B9E8EF4}"/>
          </ac:picMkLst>
        </pc:picChg>
        <pc:picChg chg="add mod">
          <ac:chgData name="Rufus Brunt" userId="34926814-9518-44a5-8053-c5bfb4cc170e" providerId="ADAL" clId="{24E3F161-98AE-417D-BAD4-130DCA37E700}" dt="2026-04-08T13:44:47.208" v="2658" actId="1076"/>
          <ac:picMkLst>
            <pc:docMk/>
            <pc:sldMk cId="3030231098" sldId="290"/>
            <ac:picMk id="1026" creationId="{EC94DBCE-2114-00FA-ADAB-83D3BB96C843}"/>
          </ac:picMkLst>
        </pc:picChg>
        <pc:cxnChg chg="add mod">
          <ac:chgData name="Rufus Brunt" userId="34926814-9518-44a5-8053-c5bfb4cc170e" providerId="ADAL" clId="{24E3F161-98AE-417D-BAD4-130DCA37E700}" dt="2026-04-08T13:45:23.632" v="2668" actId="14100"/>
          <ac:cxnSpMkLst>
            <pc:docMk/>
            <pc:sldMk cId="3030231098" sldId="290"/>
            <ac:cxnSpMk id="6" creationId="{98B0B4E1-E8F5-CAA1-63D1-D3CF95D6BF8B}"/>
          </ac:cxnSpMkLst>
        </pc:cxnChg>
        <pc:cxnChg chg="add mod">
          <ac:chgData name="Rufus Brunt" userId="34926814-9518-44a5-8053-c5bfb4cc170e" providerId="ADAL" clId="{24E3F161-98AE-417D-BAD4-130DCA37E700}" dt="2026-04-08T12:17:02.229" v="2359" actId="1036"/>
          <ac:cxnSpMkLst>
            <pc:docMk/>
            <pc:sldMk cId="3030231098" sldId="290"/>
            <ac:cxnSpMk id="12" creationId="{88EBBC6C-603E-D952-5EB9-41AB900170A6}"/>
          </ac:cxnSpMkLst>
        </pc:cxnChg>
        <pc:cxnChg chg="add mod">
          <ac:chgData name="Rufus Brunt" userId="34926814-9518-44a5-8053-c5bfb4cc170e" providerId="ADAL" clId="{24E3F161-98AE-417D-BAD4-130DCA37E700}" dt="2026-04-08T12:18:00.094" v="2399" actId="14100"/>
          <ac:cxnSpMkLst>
            <pc:docMk/>
            <pc:sldMk cId="3030231098" sldId="290"/>
            <ac:cxnSpMk id="27" creationId="{3441663A-6986-F804-A006-AC757B6BC3A4}"/>
          </ac:cxnSpMkLst>
        </pc:cxnChg>
        <pc:cxnChg chg="add mod">
          <ac:chgData name="Rufus Brunt" userId="34926814-9518-44a5-8053-c5bfb4cc170e" providerId="ADAL" clId="{24E3F161-98AE-417D-BAD4-130DCA37E700}" dt="2026-04-08T12:18:08.375" v="2401" actId="14100"/>
          <ac:cxnSpMkLst>
            <pc:docMk/>
            <pc:sldMk cId="3030231098" sldId="290"/>
            <ac:cxnSpMk id="28" creationId="{D74C41AC-6708-A9E4-1087-D205A05A540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548EA-EE78-433A-A256-EBC5F5F0A631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4AD1B-1428-4E4E-B87A-F3A56FD103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58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10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0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0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05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68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5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3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12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80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09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20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4BD9-AC16-47A8-A982-FB0131CA457D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954BA-B713-4938-82B2-C5C1A0F9AA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73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oi.org/10.5194/essd-11-647-2019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29/2022GL102694" TargetMode="Externa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4432471.2023.2287269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blanket with a pattern&#10;&#10;Description automatically generated with medium confidence">
            <a:extLst>
              <a:ext uri="{FF2B5EF4-FFF2-40B4-BE49-F238E27FC236}">
                <a16:creationId xmlns:a16="http://schemas.microsoft.com/office/drawing/2014/main" id="{42CD1DE0-BA05-B2F5-F085-FB0A7AF62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01263">
            <a:off x="752531" y="18430"/>
            <a:ext cx="10114102" cy="6821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13390"/>
            <a:ext cx="9144000" cy="1205546"/>
          </a:xfrm>
          <a:solidFill>
            <a:srgbClr val="FFFFFF">
              <a:alpha val="50196"/>
            </a:srgbClr>
          </a:solidFill>
        </p:spPr>
        <p:txBody>
          <a:bodyPr anchor="ctr">
            <a:normAutofit/>
          </a:bodyPr>
          <a:lstStyle/>
          <a:p>
            <a:r>
              <a:rPr lang="en-GB" dirty="0"/>
              <a:t>3D geospatial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6186" y="4018964"/>
            <a:ext cx="2639628" cy="821910"/>
          </a:xfrm>
          <a:solidFill>
            <a:srgbClr val="FFFFFF">
              <a:alpha val="50196"/>
            </a:srgbClr>
          </a:solidFill>
        </p:spPr>
        <p:txBody>
          <a:bodyPr anchor="ctr"/>
          <a:lstStyle/>
          <a:p>
            <a:r>
              <a:rPr lang="en-GB" dirty="0"/>
              <a:t>Rufus Brunt</a:t>
            </a:r>
          </a:p>
        </p:txBody>
      </p:sp>
    </p:spTree>
    <p:extLst>
      <p:ext uri="{BB962C8B-B14F-4D97-AF65-F5344CB8AC3E}">
        <p14:creationId xmlns:p14="http://schemas.microsoft.com/office/powerpoint/2010/main" val="1399158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38" y="365125"/>
            <a:ext cx="11122324" cy="1325563"/>
          </a:xfrm>
        </p:spPr>
        <p:txBody>
          <a:bodyPr>
            <a:noAutofit/>
          </a:bodyPr>
          <a:lstStyle/>
          <a:p>
            <a:r>
              <a:rPr lang="en-GB" sz="4000" b="1" dirty="0"/>
              <a:t>Intended Learning of lecture and practical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825625"/>
            <a:ext cx="8763000" cy="4351338"/>
          </a:xfrm>
        </p:spPr>
        <p:txBody>
          <a:bodyPr/>
          <a:lstStyle/>
          <a:p>
            <a:r>
              <a:rPr lang="en-GB" dirty="0"/>
              <a:t>Ability to explain what ‘3D’ is in the digital world</a:t>
            </a:r>
          </a:p>
          <a:p>
            <a:r>
              <a:rPr lang="en-GB" dirty="0"/>
              <a:t>Recap geographical datums and discuss implications for the 3</a:t>
            </a:r>
            <a:r>
              <a:rPr lang="en-GB" baseline="30000" dirty="0"/>
              <a:t>rd</a:t>
            </a:r>
            <a:r>
              <a:rPr lang="en-GB" dirty="0"/>
              <a:t> dimension</a:t>
            </a:r>
          </a:p>
          <a:p>
            <a:r>
              <a:rPr lang="en-GB" dirty="0"/>
              <a:t>Exploration of GIS data definitions: continuous/ discrete/ raster/ vector</a:t>
            </a:r>
          </a:p>
          <a:p>
            <a:r>
              <a:rPr lang="en-GB" dirty="0"/>
              <a:t>Application of 2D </a:t>
            </a:r>
            <a:r>
              <a:rPr lang="en-GB" dirty="0" err="1"/>
              <a:t>geostatistical</a:t>
            </a:r>
            <a:r>
              <a:rPr lang="en-GB" dirty="0"/>
              <a:t> techniques within the 3</a:t>
            </a:r>
            <a:r>
              <a:rPr lang="en-GB" baseline="30000" dirty="0"/>
              <a:t>rd</a:t>
            </a:r>
            <a:r>
              <a:rPr lang="en-GB" dirty="0"/>
              <a:t> dimension</a:t>
            </a:r>
          </a:p>
        </p:txBody>
      </p:sp>
    </p:spTree>
    <p:extLst>
      <p:ext uri="{BB962C8B-B14F-4D97-AF65-F5344CB8AC3E}">
        <p14:creationId xmlns:p14="http://schemas.microsoft.com/office/powerpoint/2010/main" val="236148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405326" cy="1006388"/>
          </a:xfrm>
        </p:spPr>
        <p:txBody>
          <a:bodyPr>
            <a:normAutofit/>
          </a:bodyPr>
          <a:lstStyle/>
          <a:p>
            <a:r>
              <a:rPr lang="en-GB" dirty="0"/>
              <a:t>2D vs.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6015" y="365126"/>
            <a:ext cx="6533072" cy="23709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We tend to work on a paper map or flat screen Both are 2D surfaces - So - what is 3D? </a:t>
            </a:r>
          </a:p>
          <a:p>
            <a:endParaRPr lang="en-GB" dirty="0"/>
          </a:p>
          <a:p>
            <a:r>
              <a:rPr lang="en-GB" dirty="0"/>
              <a:t>Wolfenstein 3D (1991) </a:t>
            </a:r>
          </a:p>
          <a:p>
            <a:r>
              <a:rPr lang="en-GB" dirty="0"/>
              <a:t>One of the first commercial “3D” games</a:t>
            </a:r>
          </a:p>
          <a:p>
            <a:r>
              <a:rPr lang="en-GB" dirty="0"/>
              <a:t>But how 3D is it? 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234" y="2873561"/>
            <a:ext cx="4320397" cy="1551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2427" y="5364941"/>
            <a:ext cx="184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I.D.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3442" y="4562403"/>
            <a:ext cx="69285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Raycasting</a:t>
            </a:r>
            <a:r>
              <a:rPr lang="en-GB" sz="2400" dirty="0"/>
              <a:t>: this is a 2D rendering technique to give sprites/ walls the appearance of 3D.  </a:t>
            </a:r>
          </a:p>
          <a:p>
            <a:r>
              <a:rPr lang="en-GB" sz="2400" dirty="0"/>
              <a:t>However – the game plays in x, y space. There is no access to the 3</a:t>
            </a:r>
            <a:r>
              <a:rPr lang="en-GB" sz="2400" baseline="30000" dirty="0"/>
              <a:t>rd</a:t>
            </a:r>
            <a:r>
              <a:rPr lang="en-GB" sz="2400" dirty="0"/>
              <a:t> dimension</a:t>
            </a:r>
          </a:p>
          <a:p>
            <a:r>
              <a:rPr lang="en-GB" sz="2400" b="1" dirty="0"/>
              <a:t>Sometimes referred to as 2.5D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82427" y="1693332"/>
            <a:ext cx="4781137" cy="3463241"/>
            <a:chOff x="6468064" y="706517"/>
            <a:chExt cx="5187469" cy="375757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1336" t="453" r="3783" b="1171"/>
            <a:stretch/>
          </p:blipFill>
          <p:spPr>
            <a:xfrm>
              <a:off x="6468064" y="706517"/>
              <a:ext cx="5187469" cy="375757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606731" y="3927951"/>
              <a:ext cx="1184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bg1"/>
                  </a:solidFill>
                </a:rPr>
                <a:t>1981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88285" y="1667634"/>
            <a:ext cx="4781137" cy="3585853"/>
            <a:chOff x="446826" y="2061625"/>
            <a:chExt cx="5187469" cy="3890602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6826" y="2061625"/>
              <a:ext cx="5187469" cy="389060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33735" y="2061625"/>
              <a:ext cx="1184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chemeClr val="bg1"/>
                  </a:solidFill>
                </a:rPr>
                <a:t>1991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10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583"/>
          </a:xfrm>
        </p:spPr>
        <p:txBody>
          <a:bodyPr/>
          <a:lstStyle/>
          <a:p>
            <a:r>
              <a:rPr lang="en-GB" b="1" dirty="0"/>
              <a:t>What is meant by 3D?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2566" y="1825625"/>
            <a:ext cx="3331234" cy="4351338"/>
          </a:xfrm>
        </p:spPr>
        <p:txBody>
          <a:bodyPr/>
          <a:lstStyle/>
          <a:p>
            <a:r>
              <a:rPr lang="en-GB" dirty="0"/>
              <a:t>2D geological map of the Isle of Mull</a:t>
            </a:r>
          </a:p>
          <a:p>
            <a:r>
              <a:rPr lang="en-GB" dirty="0"/>
              <a:t>With x and y coordinates you could find any point on this map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779" y="1276708"/>
            <a:ext cx="7601263" cy="527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8" r="15541"/>
          <a:stretch/>
        </p:blipFill>
        <p:spPr>
          <a:xfrm>
            <a:off x="310551" y="1027906"/>
            <a:ext cx="7772319" cy="53901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08" y="138024"/>
            <a:ext cx="10515600" cy="1027906"/>
          </a:xfrm>
        </p:spPr>
        <p:txBody>
          <a:bodyPr>
            <a:normAutofit/>
          </a:bodyPr>
          <a:lstStyle/>
          <a:p>
            <a:r>
              <a:rPr lang="en-GB" b="1" dirty="0"/>
              <a:t>What is meant by 3D?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6854" y="488306"/>
            <a:ext cx="3467818" cy="1283973"/>
          </a:xfrm>
        </p:spPr>
        <p:txBody>
          <a:bodyPr>
            <a:normAutofit/>
          </a:bodyPr>
          <a:lstStyle/>
          <a:p>
            <a:r>
              <a:rPr lang="en-GB" sz="2400" dirty="0"/>
              <a:t>Digital terrain model (DTM) of the Isle of Mull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27804" y="1027906"/>
            <a:ext cx="11274724" cy="5390147"/>
            <a:chOff x="327804" y="1027906"/>
            <a:chExt cx="11274724" cy="539014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7804" y="1027906"/>
              <a:ext cx="7819737" cy="5390147"/>
            </a:xfrm>
            <a:prstGeom prst="rect">
              <a:avLst/>
            </a:prstGeom>
          </p:spPr>
        </p:pic>
        <p:sp>
          <p:nvSpPr>
            <p:cNvPr id="9" name="Content Placeholder 2"/>
            <p:cNvSpPr txBox="1">
              <a:spLocks/>
            </p:cNvSpPr>
            <p:nvPr/>
          </p:nvSpPr>
          <p:spPr>
            <a:xfrm>
              <a:off x="8246854" y="1686019"/>
              <a:ext cx="3355674" cy="128397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400" dirty="0"/>
                <a:t>Geological map draped  over the DTM</a:t>
              </a:r>
            </a:p>
            <a:p>
              <a:r>
                <a:rPr lang="en-GB" sz="2400" dirty="0"/>
                <a:t>Is this 3D? </a:t>
              </a:r>
            </a:p>
          </p:txBody>
        </p: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8246853" y="3157272"/>
            <a:ext cx="3614467" cy="3165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The map is a surface existing in 3D space. But a point on this surface can still be described using only x and y coordinates.  </a:t>
            </a:r>
          </a:p>
          <a:p>
            <a:r>
              <a:rPr lang="en-GB" sz="2400" dirty="0"/>
              <a:t>This is not 3D  (mathematically speaking a ‘surface’ is always 2D)</a:t>
            </a:r>
          </a:p>
        </p:txBody>
      </p:sp>
    </p:spTree>
    <p:extLst>
      <p:ext uri="{BB962C8B-B14F-4D97-AF65-F5344CB8AC3E}">
        <p14:creationId xmlns:p14="http://schemas.microsoft.com/office/powerpoint/2010/main" val="16797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88379"/>
          </a:xfrm>
        </p:spPr>
        <p:txBody>
          <a:bodyPr/>
          <a:lstStyle/>
          <a:p>
            <a:r>
              <a:rPr lang="en-GB" dirty="0"/>
              <a:t>True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7042" y="4865298"/>
            <a:ext cx="8695426" cy="1714491"/>
          </a:xfrm>
        </p:spPr>
        <p:txBody>
          <a:bodyPr/>
          <a:lstStyle/>
          <a:p>
            <a:r>
              <a:rPr lang="en-GB" dirty="0"/>
              <a:t>Volume is integral in geospatial 3D</a:t>
            </a:r>
          </a:p>
          <a:p>
            <a:r>
              <a:rPr lang="en-GB" dirty="0"/>
              <a:t>To specify a location within these datasets we need to specify x, y and z coordinates. 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6DA981-90AB-31D2-AF7D-FA053F47B595}"/>
              </a:ext>
            </a:extLst>
          </p:cNvPr>
          <p:cNvGrpSpPr/>
          <p:nvPr/>
        </p:nvGrpSpPr>
        <p:grpSpPr>
          <a:xfrm>
            <a:off x="933450" y="1183315"/>
            <a:ext cx="9362355" cy="3405938"/>
            <a:chOff x="1640456" y="1440517"/>
            <a:chExt cx="8655349" cy="314873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40456" y="1453504"/>
              <a:ext cx="4180999" cy="3135749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734573" y="1440517"/>
              <a:ext cx="3224904" cy="341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ArcGIS: peat distribution model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486017" y="1453504"/>
              <a:ext cx="3809788" cy="313574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486017" y="3942922"/>
              <a:ext cx="2178589" cy="59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Petrel: </a:t>
              </a:r>
            </a:p>
            <a:p>
              <a:r>
                <a:rPr lang="en-GB" dirty="0"/>
                <a:t>structural </a:t>
              </a:r>
              <a:r>
                <a:rPr lang="en-GB" dirty="0" err="1"/>
                <a:t>geomodel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17882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do we measure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6753"/>
            <a:ext cx="3613030" cy="45902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In the </a:t>
            </a:r>
            <a:r>
              <a:rPr lang="en-GB" dirty="0" err="1"/>
              <a:t>lat</a:t>
            </a:r>
            <a:r>
              <a:rPr lang="en-GB" dirty="0"/>
              <a:t> – long framework: </a:t>
            </a:r>
          </a:p>
          <a:p>
            <a:r>
              <a:rPr lang="en-GB" dirty="0"/>
              <a:t>X is defined by the prime meridian, Greenwich</a:t>
            </a:r>
          </a:p>
          <a:p>
            <a:r>
              <a:rPr lang="en-GB" dirty="0"/>
              <a:t>Y is defined by the equator – the plane equidistant between the Earth’s geographical poles</a:t>
            </a:r>
          </a:p>
          <a:p>
            <a:r>
              <a:rPr lang="en-GB" dirty="0"/>
              <a:t>Z – how do we define height?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942" y="1924140"/>
            <a:ext cx="7504982" cy="4252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26679" y="6193413"/>
            <a:ext cx="5703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Image taken from the Royal museums Greenwich website: https://www.rmg.co.uk</a:t>
            </a:r>
          </a:p>
        </p:txBody>
      </p:sp>
    </p:spTree>
    <p:extLst>
      <p:ext uri="{BB962C8B-B14F-4D97-AF65-F5344CB8AC3E}">
        <p14:creationId xmlns:p14="http://schemas.microsoft.com/office/powerpoint/2010/main" val="325814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problematic Z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08" y="1411558"/>
            <a:ext cx="4416725" cy="563892"/>
          </a:xfrm>
        </p:spPr>
        <p:txBody>
          <a:bodyPr/>
          <a:lstStyle/>
          <a:p>
            <a:r>
              <a:rPr lang="en-GB" sz="2400" dirty="0"/>
              <a:t>Earth is not spherical….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370020" y="1811997"/>
            <a:ext cx="5445161" cy="3734788"/>
            <a:chOff x="5356357" y="1690688"/>
            <a:chExt cx="6363934" cy="436496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56357" y="1690688"/>
              <a:ext cx="6265501" cy="4364966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7168551" y="5686322"/>
              <a:ext cx="45517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Copyright: Claus </a:t>
              </a:r>
              <a:r>
                <a:rPr lang="fr-FR" dirty="0" err="1">
                  <a:solidFill>
                    <a:schemeClr val="bg1"/>
                  </a:solidFill>
                </a:rPr>
                <a:t>Lunau</a:t>
              </a:r>
              <a:r>
                <a:rPr lang="fr-FR" dirty="0">
                  <a:solidFill>
                    <a:schemeClr val="bg1"/>
                  </a:solidFill>
                </a:rPr>
                <a:t>/Science Photo Library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55608" y="1811997"/>
            <a:ext cx="11100274" cy="3734788"/>
            <a:chOff x="655608" y="1811997"/>
            <a:chExt cx="11100274" cy="3734788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>
            <a:xfrm>
              <a:off x="655608" y="1938313"/>
              <a:ext cx="5400135" cy="24180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200" dirty="0"/>
                <a:t>Isaac Newton first claimed an oval shape. </a:t>
              </a:r>
            </a:p>
            <a:p>
              <a:pPr lvl="1"/>
              <a:r>
                <a:rPr lang="en-GB" sz="1800" dirty="0"/>
                <a:t>His idea involved wells drilled at the pole and equator and joined at the centre of the Earth. </a:t>
              </a:r>
            </a:p>
            <a:p>
              <a:pPr lvl="1"/>
              <a:r>
                <a:rPr lang="en-GB" sz="1800" dirty="0"/>
                <a:t>He thought if filled with water, the equator well would have to be longer for the system to be in equilibrium. </a:t>
              </a:r>
            </a:p>
            <a:p>
              <a:r>
                <a:rPr lang="en-GB" sz="2200" dirty="0"/>
                <a:t>He ascribed this to angular momentum</a:t>
              </a:r>
            </a:p>
            <a:p>
              <a:pPr marL="0" indent="0">
                <a:buNone/>
              </a:pPr>
              <a:endParaRPr lang="en-GB" sz="2200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345095" y="1811997"/>
              <a:ext cx="5410787" cy="3734788"/>
              <a:chOff x="6345095" y="1811997"/>
              <a:chExt cx="5410787" cy="3734788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345095" y="1811997"/>
                <a:ext cx="5410787" cy="3734788"/>
              </a:xfrm>
              <a:prstGeom prst="rect">
                <a:avLst/>
              </a:prstGeom>
            </p:spPr>
          </p:pic>
          <p:cxnSp>
            <p:nvCxnSpPr>
              <p:cNvPr id="11" name="Straight Connector 10"/>
              <p:cNvCxnSpPr/>
              <p:nvPr/>
            </p:nvCxnSpPr>
            <p:spPr>
              <a:xfrm>
                <a:off x="8669548" y="2743200"/>
                <a:ext cx="560717" cy="1276710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9178505" y="3200400"/>
                <a:ext cx="1578634" cy="819511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655608" y="4312863"/>
            <a:ext cx="5400135" cy="215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Modern measuring methods prove Earth is an oblate spheroid: </a:t>
            </a:r>
          </a:p>
          <a:p>
            <a:pPr lvl="1"/>
            <a:r>
              <a:rPr lang="en-GB" sz="1800" dirty="0"/>
              <a:t>The equatorial diameter is 12,700 km</a:t>
            </a:r>
          </a:p>
          <a:p>
            <a:pPr lvl="1"/>
            <a:r>
              <a:rPr lang="en-GB" sz="1800" dirty="0"/>
              <a:t>The polar diameter is about 40 km shorter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499" y="5711254"/>
            <a:ext cx="11714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Outcome:  distance from the centre of the Earth is not a valid Z</a:t>
            </a:r>
          </a:p>
        </p:txBody>
      </p:sp>
    </p:spTree>
    <p:extLst>
      <p:ext uri="{BB962C8B-B14F-4D97-AF65-F5344CB8AC3E}">
        <p14:creationId xmlns:p14="http://schemas.microsoft.com/office/powerpoint/2010/main" val="356323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6427"/>
            <a:ext cx="10515600" cy="1017917"/>
          </a:xfrm>
        </p:spPr>
        <p:txBody>
          <a:bodyPr>
            <a:normAutofit fontScale="90000"/>
          </a:bodyPr>
          <a:lstStyle/>
          <a:p>
            <a:r>
              <a:rPr lang="en-GB" dirty="0"/>
              <a:t>Vertical </a:t>
            </a:r>
            <a:r>
              <a:rPr lang="en-GB" dirty="0" err="1"/>
              <a:t>datums</a:t>
            </a:r>
            <a:br>
              <a:rPr lang="en-GB" dirty="0"/>
            </a:br>
            <a:r>
              <a:rPr lang="en-GB" sz="2700" dirty="0"/>
              <a:t>Geodesy: the science of measuring Earth’s shape, orientation and gravity field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763" y="5979626"/>
            <a:ext cx="2938819" cy="641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Reference ellipsoid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01EEA3-6B26-121A-40F0-0736D470A942}"/>
              </a:ext>
            </a:extLst>
          </p:cNvPr>
          <p:cNvGrpSpPr/>
          <p:nvPr/>
        </p:nvGrpSpPr>
        <p:grpSpPr>
          <a:xfrm>
            <a:off x="4688760" y="1405566"/>
            <a:ext cx="7132727" cy="4832756"/>
            <a:chOff x="5567304" y="1459356"/>
            <a:chExt cx="7132727" cy="483275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C4F5EAB-1C0D-EF49-BF9E-DB7874C4B26A}"/>
                </a:ext>
              </a:extLst>
            </p:cNvPr>
            <p:cNvGrpSpPr/>
            <p:nvPr/>
          </p:nvGrpSpPr>
          <p:grpSpPr>
            <a:xfrm>
              <a:off x="5567304" y="1459356"/>
              <a:ext cx="7132727" cy="4832756"/>
              <a:chOff x="5567304" y="1459356"/>
              <a:chExt cx="7132727" cy="4832756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868670" y="2256489"/>
                <a:ext cx="3372929" cy="3372929"/>
              </a:xfrm>
              <a:prstGeom prst="rect">
                <a:avLst/>
              </a:prstGeom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5567304" y="5645781"/>
                <a:ext cx="39526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Gravity based Geoid – visual representation with 1000x exaggeration</a:t>
                </a: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5906050" y="1459356"/>
                <a:ext cx="679398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b="1" dirty="0"/>
                  <a:t>Geoid: </a:t>
                </a:r>
                <a:r>
                  <a:rPr lang="en-GB" dirty="0"/>
                  <a:t>a gravitational equipotential surface – broadly equivalent to global mean sea level.  A complex and constantly changing surface</a:t>
                </a: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5906050" y="5060762"/>
              <a:ext cx="48652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>
                  <a:solidFill>
                    <a:schemeClr val="bg1"/>
                  </a:solidFill>
                </a:rPr>
                <a:t>Ince</a:t>
              </a:r>
              <a:r>
                <a:rPr lang="en-GB" dirty="0">
                  <a:solidFill>
                    <a:schemeClr val="bg1"/>
                  </a:solidFill>
                </a:rPr>
                <a:t> et al, 2019: </a:t>
              </a:r>
              <a:br>
                <a:rPr lang="en-GB" dirty="0">
                  <a:solidFill>
                    <a:schemeClr val="bg1"/>
                  </a:solidFill>
                </a:rPr>
              </a:br>
              <a:r>
                <a:rPr lang="en-GB" sz="1400" dirty="0">
                  <a:solidFill>
                    <a:schemeClr val="bg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http://doi.org/10.5194/essd-11-647-2019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86" y="3248437"/>
            <a:ext cx="3816879" cy="27311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513" y="1405566"/>
            <a:ext cx="41566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Ellipsoid:  </a:t>
            </a:r>
            <a:r>
              <a:rPr lang="en-GB" dirty="0"/>
              <a:t>an idealised mathematical model of the Earth.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National map grids typically use an ellipsoid closely approximating the local geoid.  This work at ‘local’ scale, but is too general for global maps.</a:t>
            </a:r>
          </a:p>
          <a:p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8517398" y="2151413"/>
            <a:ext cx="28050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Affected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lithological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Plate tectonics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Water depth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Transient crustal heating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etc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E5E87-EA30-F3BD-F03D-BCB0898A1187}"/>
              </a:ext>
            </a:extLst>
          </p:cNvPr>
          <p:cNvSpPr txBox="1"/>
          <p:nvPr/>
        </p:nvSpPr>
        <p:spPr>
          <a:xfrm>
            <a:off x="8549027" y="4103043"/>
            <a:ext cx="337292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red</a:t>
            </a:r>
            <a:r>
              <a:rPr lang="en-GB" dirty="0"/>
              <a:t> = gravity high </a:t>
            </a:r>
            <a:br>
              <a:rPr lang="en-GB" dirty="0"/>
            </a:br>
            <a:r>
              <a:rPr lang="en-GB" dirty="0"/>
              <a:t>e.g. Europe excess mass due to dense crust and deep Moho; </a:t>
            </a:r>
          </a:p>
          <a:p>
            <a:r>
              <a:rPr lang="en-GB" b="1" dirty="0">
                <a:solidFill>
                  <a:srgbClr val="3574D1"/>
                </a:solidFill>
              </a:rPr>
              <a:t>blue</a:t>
            </a:r>
            <a:r>
              <a:rPr lang="en-GB" dirty="0"/>
              <a:t> = gravity low </a:t>
            </a:r>
            <a:br>
              <a:rPr lang="en-GB" dirty="0"/>
            </a:br>
            <a:r>
              <a:rPr lang="en-GB" dirty="0"/>
              <a:t>e.g. Sea level is 106m below MSL over the Indian Ocean Geoid low.  Caused by hot, low-density mantle plumes (Pal &amp; Ghosh, 2023): </a:t>
            </a:r>
            <a:r>
              <a:rPr lang="en-GB" sz="1100" dirty="0">
                <a:hlinkClick r:id="rId5"/>
              </a:rPr>
              <a:t>https://doi.org/10.1029/2022GL102694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65610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775"/>
          </a:xfrm>
        </p:spPr>
        <p:txBody>
          <a:bodyPr/>
          <a:lstStyle/>
          <a:p>
            <a:r>
              <a:rPr lang="en-GB" dirty="0"/>
              <a:t>Z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6360" y="316267"/>
            <a:ext cx="5598228" cy="6225466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GB" b="1" dirty="0"/>
              <a:t>UK ordnance survey </a:t>
            </a:r>
          </a:p>
          <a:p>
            <a:pPr>
              <a:spcBef>
                <a:spcPts val="0"/>
              </a:spcBef>
            </a:pPr>
            <a:r>
              <a:rPr lang="en-GB" dirty="0"/>
              <a:t>Uses the OSGB36 coordinate reference system: tied to mean sea-level at Newlyn, Cornwall.  This is a traditional datum – a triangulation network of trig pillars fitted to the Airy 1830 ellipsoid.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GB" b="1" dirty="0"/>
              <a:t>Ordnance Survey GPS permanent network</a:t>
            </a:r>
          </a:p>
          <a:p>
            <a:pPr>
              <a:spcBef>
                <a:spcPts val="0"/>
              </a:spcBef>
            </a:pPr>
            <a:r>
              <a:rPr lang="en-GB" dirty="0"/>
              <a:t>The more modern OS GPS is tied to </a:t>
            </a:r>
            <a:br>
              <a:rPr lang="en-GB" dirty="0"/>
            </a:br>
            <a:r>
              <a:rPr lang="en-GB" dirty="0"/>
              <a:t>GB ETRS89 (European Terrestrial Reference System 1989) – a version of WGS84 (World Geodetic System 1984). </a:t>
            </a:r>
            <a:endParaRPr lang="en-GB" b="1" dirty="0"/>
          </a:p>
          <a:p>
            <a:pPr marL="0" indent="0">
              <a:spcBef>
                <a:spcPts val="1800"/>
              </a:spcBef>
              <a:buNone/>
            </a:pPr>
            <a:r>
              <a:rPr lang="en-GB" b="1" dirty="0"/>
              <a:t>GPS</a:t>
            </a:r>
          </a:p>
          <a:p>
            <a:pPr>
              <a:spcBef>
                <a:spcPts val="0"/>
              </a:spcBef>
            </a:pPr>
            <a:r>
              <a:rPr lang="en-GB" dirty="0"/>
              <a:t>In contrast GPS uses the global WGS84 coordinate reference system.  This is tied to the global GRS80 ellipsoid (Geodetic Reference System 1980).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GB" b="1" dirty="0"/>
              <a:t>Translations</a:t>
            </a:r>
          </a:p>
          <a:p>
            <a:pPr>
              <a:spcBef>
                <a:spcPts val="0"/>
              </a:spcBef>
            </a:pPr>
            <a:r>
              <a:rPr lang="en-GB" dirty="0"/>
              <a:t>All these systems will produce different z values – and maybe changes in </a:t>
            </a:r>
            <a:r>
              <a:rPr lang="en-GB" dirty="0" err="1"/>
              <a:t>xy</a:t>
            </a:r>
            <a:r>
              <a:rPr lang="en-GB" dirty="0"/>
              <a:t>.  A mathematical transform is needed to convert between coordinate frameworks. </a:t>
            </a:r>
          </a:p>
          <a:p>
            <a:endParaRPr lang="en-GB" dirty="0"/>
          </a:p>
        </p:txBody>
      </p:sp>
      <p:grpSp>
        <p:nvGrpSpPr>
          <p:cNvPr id="21" name="Group 20"/>
          <p:cNvGrpSpPr/>
          <p:nvPr/>
        </p:nvGrpSpPr>
        <p:grpSpPr>
          <a:xfrm>
            <a:off x="939836" y="2046078"/>
            <a:ext cx="5256287" cy="1440612"/>
            <a:chOff x="939835" y="2303252"/>
            <a:chExt cx="8246388" cy="2260121"/>
          </a:xfrm>
        </p:grpSpPr>
        <p:grpSp>
          <p:nvGrpSpPr>
            <p:cNvPr id="17" name="Group 16"/>
            <p:cNvGrpSpPr/>
            <p:nvPr/>
          </p:nvGrpSpPr>
          <p:grpSpPr>
            <a:xfrm>
              <a:off x="939835" y="2303252"/>
              <a:ext cx="8051151" cy="2260121"/>
              <a:chOff x="3407434" y="3036498"/>
              <a:chExt cx="4132053" cy="1159951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3407434" y="3036498"/>
                <a:ext cx="4132053" cy="1159951"/>
                <a:chOff x="733245" y="2872596"/>
                <a:chExt cx="8143336" cy="2286000"/>
              </a:xfrm>
            </p:grpSpPr>
            <p:sp>
              <p:nvSpPr>
                <p:cNvPr id="13" name="Freeform 12"/>
                <p:cNvSpPr/>
                <p:nvPr/>
              </p:nvSpPr>
              <p:spPr>
                <a:xfrm>
                  <a:off x="733246" y="3812874"/>
                  <a:ext cx="8117456" cy="1181819"/>
                </a:xfrm>
                <a:custGeom>
                  <a:avLst/>
                  <a:gdLst>
                    <a:gd name="connsiteX0" fmla="*/ 0 w 8108830"/>
                    <a:gd name="connsiteY0" fmla="*/ 414067 h 931652"/>
                    <a:gd name="connsiteX1" fmla="*/ 0 w 8108830"/>
                    <a:gd name="connsiteY1" fmla="*/ 0 h 931652"/>
                    <a:gd name="connsiteX2" fmla="*/ 8108830 w 8108830"/>
                    <a:gd name="connsiteY2" fmla="*/ 0 h 931652"/>
                    <a:gd name="connsiteX3" fmla="*/ 8108830 w 8108830"/>
                    <a:gd name="connsiteY3" fmla="*/ 931652 h 931652"/>
                    <a:gd name="connsiteX4" fmla="*/ 0 w 8108830"/>
                    <a:gd name="connsiteY4" fmla="*/ 414067 h 931652"/>
                    <a:gd name="connsiteX0" fmla="*/ 0 w 8108830"/>
                    <a:gd name="connsiteY0" fmla="*/ 664234 h 1181819"/>
                    <a:gd name="connsiteX1" fmla="*/ 0 w 8108830"/>
                    <a:gd name="connsiteY1" fmla="*/ 250167 h 1181819"/>
                    <a:gd name="connsiteX2" fmla="*/ 3786996 w 8108830"/>
                    <a:gd name="connsiteY2" fmla="*/ 0 h 1181819"/>
                    <a:gd name="connsiteX3" fmla="*/ 8108830 w 8108830"/>
                    <a:gd name="connsiteY3" fmla="*/ 250167 h 1181819"/>
                    <a:gd name="connsiteX4" fmla="*/ 8108830 w 8108830"/>
                    <a:gd name="connsiteY4" fmla="*/ 1181819 h 1181819"/>
                    <a:gd name="connsiteX5" fmla="*/ 0 w 8108830"/>
                    <a:gd name="connsiteY5" fmla="*/ 664234 h 1181819"/>
                    <a:gd name="connsiteX0" fmla="*/ 0 w 8108830"/>
                    <a:gd name="connsiteY0" fmla="*/ 664234 h 1181819"/>
                    <a:gd name="connsiteX1" fmla="*/ 0 w 8108830"/>
                    <a:gd name="connsiteY1" fmla="*/ 250167 h 1181819"/>
                    <a:gd name="connsiteX2" fmla="*/ 3786996 w 8108830"/>
                    <a:gd name="connsiteY2" fmla="*/ 0 h 1181819"/>
                    <a:gd name="connsiteX3" fmla="*/ 8108830 w 8108830"/>
                    <a:gd name="connsiteY3" fmla="*/ 250167 h 1181819"/>
                    <a:gd name="connsiteX4" fmla="*/ 8108830 w 8108830"/>
                    <a:gd name="connsiteY4" fmla="*/ 1181819 h 1181819"/>
                    <a:gd name="connsiteX5" fmla="*/ 0 w 8108830"/>
                    <a:gd name="connsiteY5" fmla="*/ 664234 h 1181819"/>
                    <a:gd name="connsiteX0" fmla="*/ 0 w 8108830"/>
                    <a:gd name="connsiteY0" fmla="*/ 664234 h 1181819"/>
                    <a:gd name="connsiteX1" fmla="*/ 0 w 8108830"/>
                    <a:gd name="connsiteY1" fmla="*/ 250167 h 1181819"/>
                    <a:gd name="connsiteX2" fmla="*/ 3786996 w 8108830"/>
                    <a:gd name="connsiteY2" fmla="*/ 0 h 1181819"/>
                    <a:gd name="connsiteX3" fmla="*/ 8108830 w 8108830"/>
                    <a:gd name="connsiteY3" fmla="*/ 250167 h 1181819"/>
                    <a:gd name="connsiteX4" fmla="*/ 8108830 w 8108830"/>
                    <a:gd name="connsiteY4" fmla="*/ 1181819 h 1181819"/>
                    <a:gd name="connsiteX5" fmla="*/ 0 w 8108830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250167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250167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91706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91706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91706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91706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91706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8117456 w 8117456"/>
                    <a:gd name="connsiteY3" fmla="*/ 414068 h 1181819"/>
                    <a:gd name="connsiteX4" fmla="*/ 8117456 w 8117456"/>
                    <a:gd name="connsiteY4" fmla="*/ 1181819 h 1181819"/>
                    <a:gd name="connsiteX5" fmla="*/ 8626 w 8117456"/>
                    <a:gd name="connsiteY5" fmla="*/ 664234 h 1181819"/>
                    <a:gd name="connsiteX0" fmla="*/ 8626 w 8117456"/>
                    <a:gd name="connsiteY0" fmla="*/ 695213 h 1212798"/>
                    <a:gd name="connsiteX1" fmla="*/ 0 w 8117456"/>
                    <a:gd name="connsiteY1" fmla="*/ 401916 h 1212798"/>
                    <a:gd name="connsiteX2" fmla="*/ 3795622 w 8117456"/>
                    <a:gd name="connsiteY2" fmla="*/ 30979 h 1212798"/>
                    <a:gd name="connsiteX3" fmla="*/ 5191934 w 8117456"/>
                    <a:gd name="connsiteY3" fmla="*/ 67923 h 1212798"/>
                    <a:gd name="connsiteX4" fmla="*/ 8117456 w 8117456"/>
                    <a:gd name="connsiteY4" fmla="*/ 445047 h 1212798"/>
                    <a:gd name="connsiteX5" fmla="*/ 8117456 w 8117456"/>
                    <a:gd name="connsiteY5" fmla="*/ 1212798 h 1212798"/>
                    <a:gd name="connsiteX6" fmla="*/ 8626 w 8117456"/>
                    <a:gd name="connsiteY6" fmla="*/ 695213 h 1212798"/>
                    <a:gd name="connsiteX0" fmla="*/ 8626 w 8117456"/>
                    <a:gd name="connsiteY0" fmla="*/ 675605 h 1193190"/>
                    <a:gd name="connsiteX1" fmla="*/ 0 w 8117456"/>
                    <a:gd name="connsiteY1" fmla="*/ 382308 h 1193190"/>
                    <a:gd name="connsiteX2" fmla="*/ 3795622 w 8117456"/>
                    <a:gd name="connsiteY2" fmla="*/ 11371 h 1193190"/>
                    <a:gd name="connsiteX3" fmla="*/ 5462415 w 8117456"/>
                    <a:gd name="connsiteY3" fmla="*/ 187918 h 1193190"/>
                    <a:gd name="connsiteX4" fmla="*/ 8117456 w 8117456"/>
                    <a:gd name="connsiteY4" fmla="*/ 425439 h 1193190"/>
                    <a:gd name="connsiteX5" fmla="*/ 8117456 w 8117456"/>
                    <a:gd name="connsiteY5" fmla="*/ 1193190 h 1193190"/>
                    <a:gd name="connsiteX6" fmla="*/ 8626 w 8117456"/>
                    <a:gd name="connsiteY6" fmla="*/ 675605 h 1193190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5462415 w 8117456"/>
                    <a:gd name="connsiteY3" fmla="*/ 176547 h 1181819"/>
                    <a:gd name="connsiteX4" fmla="*/ 8117456 w 8117456"/>
                    <a:gd name="connsiteY4" fmla="*/ 414068 h 1181819"/>
                    <a:gd name="connsiteX5" fmla="*/ 8117456 w 8117456"/>
                    <a:gd name="connsiteY5" fmla="*/ 1181819 h 1181819"/>
                    <a:gd name="connsiteX6" fmla="*/ 8626 w 8117456"/>
                    <a:gd name="connsiteY6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3795622 w 8117456"/>
                    <a:gd name="connsiteY2" fmla="*/ 0 h 1181819"/>
                    <a:gd name="connsiteX3" fmla="*/ 5462415 w 8117456"/>
                    <a:gd name="connsiteY3" fmla="*/ 176547 h 1181819"/>
                    <a:gd name="connsiteX4" fmla="*/ 8117456 w 8117456"/>
                    <a:gd name="connsiteY4" fmla="*/ 414068 h 1181819"/>
                    <a:gd name="connsiteX5" fmla="*/ 8117456 w 8117456"/>
                    <a:gd name="connsiteY5" fmla="*/ 1181819 h 1181819"/>
                    <a:gd name="connsiteX6" fmla="*/ 8626 w 8117456"/>
                    <a:gd name="connsiteY6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698463 w 8117456"/>
                    <a:gd name="connsiteY2" fmla="*/ 263799 h 1181819"/>
                    <a:gd name="connsiteX3" fmla="*/ 3795622 w 8117456"/>
                    <a:gd name="connsiteY3" fmla="*/ 0 h 1181819"/>
                    <a:gd name="connsiteX4" fmla="*/ 5462415 w 8117456"/>
                    <a:gd name="connsiteY4" fmla="*/ 176547 h 1181819"/>
                    <a:gd name="connsiteX5" fmla="*/ 8117456 w 8117456"/>
                    <a:gd name="connsiteY5" fmla="*/ 414068 h 1181819"/>
                    <a:gd name="connsiteX6" fmla="*/ 8117456 w 8117456"/>
                    <a:gd name="connsiteY6" fmla="*/ 1181819 h 1181819"/>
                    <a:gd name="connsiteX7" fmla="*/ 8626 w 8117456"/>
                    <a:gd name="connsiteY7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899142 w 8117456"/>
                    <a:gd name="connsiteY2" fmla="*/ 289975 h 1181819"/>
                    <a:gd name="connsiteX3" fmla="*/ 3795622 w 8117456"/>
                    <a:gd name="connsiteY3" fmla="*/ 0 h 1181819"/>
                    <a:gd name="connsiteX4" fmla="*/ 5462415 w 8117456"/>
                    <a:gd name="connsiteY4" fmla="*/ 176547 h 1181819"/>
                    <a:gd name="connsiteX5" fmla="*/ 8117456 w 8117456"/>
                    <a:gd name="connsiteY5" fmla="*/ 414068 h 1181819"/>
                    <a:gd name="connsiteX6" fmla="*/ 8117456 w 8117456"/>
                    <a:gd name="connsiteY6" fmla="*/ 1181819 h 1181819"/>
                    <a:gd name="connsiteX7" fmla="*/ 8626 w 8117456"/>
                    <a:gd name="connsiteY7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899142 w 8117456"/>
                    <a:gd name="connsiteY2" fmla="*/ 289975 h 1181819"/>
                    <a:gd name="connsiteX3" fmla="*/ 3795622 w 8117456"/>
                    <a:gd name="connsiteY3" fmla="*/ 0 h 1181819"/>
                    <a:gd name="connsiteX4" fmla="*/ 5462415 w 8117456"/>
                    <a:gd name="connsiteY4" fmla="*/ 176547 h 1181819"/>
                    <a:gd name="connsiteX5" fmla="*/ 8117456 w 8117456"/>
                    <a:gd name="connsiteY5" fmla="*/ 414068 h 1181819"/>
                    <a:gd name="connsiteX6" fmla="*/ 8117456 w 8117456"/>
                    <a:gd name="connsiteY6" fmla="*/ 1181819 h 1181819"/>
                    <a:gd name="connsiteX7" fmla="*/ 8626 w 8117456"/>
                    <a:gd name="connsiteY7" fmla="*/ 664234 h 1181819"/>
                    <a:gd name="connsiteX0" fmla="*/ 8626 w 8117456"/>
                    <a:gd name="connsiteY0" fmla="*/ 664234 h 1181819"/>
                    <a:gd name="connsiteX1" fmla="*/ 0 w 8117456"/>
                    <a:gd name="connsiteY1" fmla="*/ 370937 h 1181819"/>
                    <a:gd name="connsiteX2" fmla="*/ 855516 w 8117456"/>
                    <a:gd name="connsiteY2" fmla="*/ 272524 h 1181819"/>
                    <a:gd name="connsiteX3" fmla="*/ 3795622 w 8117456"/>
                    <a:gd name="connsiteY3" fmla="*/ 0 h 1181819"/>
                    <a:gd name="connsiteX4" fmla="*/ 5462415 w 8117456"/>
                    <a:gd name="connsiteY4" fmla="*/ 176547 h 1181819"/>
                    <a:gd name="connsiteX5" fmla="*/ 8117456 w 8117456"/>
                    <a:gd name="connsiteY5" fmla="*/ 414068 h 1181819"/>
                    <a:gd name="connsiteX6" fmla="*/ 8117456 w 8117456"/>
                    <a:gd name="connsiteY6" fmla="*/ 1181819 h 1181819"/>
                    <a:gd name="connsiteX7" fmla="*/ 8626 w 8117456"/>
                    <a:gd name="connsiteY7" fmla="*/ 664234 h 1181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17456" h="1181819">
                      <a:moveTo>
                        <a:pt x="8626" y="664234"/>
                      </a:moveTo>
                      <a:lnTo>
                        <a:pt x="0" y="370937"/>
                      </a:lnTo>
                      <a:cubicBezTo>
                        <a:pt x="114973" y="356548"/>
                        <a:pt x="222912" y="334347"/>
                        <a:pt x="855516" y="272524"/>
                      </a:cubicBezTo>
                      <a:cubicBezTo>
                        <a:pt x="1488120" y="210701"/>
                        <a:pt x="3001630" y="14542"/>
                        <a:pt x="3795622" y="0"/>
                      </a:cubicBezTo>
                      <a:cubicBezTo>
                        <a:pt x="4678395" y="14136"/>
                        <a:pt x="4742109" y="107536"/>
                        <a:pt x="5462415" y="176547"/>
                      </a:cubicBezTo>
                      <a:lnTo>
                        <a:pt x="8117456" y="414068"/>
                      </a:lnTo>
                      <a:lnTo>
                        <a:pt x="8117456" y="1181819"/>
                      </a:lnTo>
                      <a:lnTo>
                        <a:pt x="8626" y="664234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" name="Freeform 11"/>
                <p:cNvSpPr/>
                <p:nvPr/>
              </p:nvSpPr>
              <p:spPr>
                <a:xfrm>
                  <a:off x="733245" y="2872596"/>
                  <a:ext cx="8143336" cy="2286000"/>
                </a:xfrm>
                <a:custGeom>
                  <a:avLst/>
                  <a:gdLst>
                    <a:gd name="connsiteX0" fmla="*/ 8117457 w 8143336"/>
                    <a:gd name="connsiteY0" fmla="*/ 1958196 h 2286000"/>
                    <a:gd name="connsiteX1" fmla="*/ 8117457 w 8143336"/>
                    <a:gd name="connsiteY1" fmla="*/ 2286000 h 2286000"/>
                    <a:gd name="connsiteX2" fmla="*/ 0 w 8143336"/>
                    <a:gd name="connsiteY2" fmla="*/ 2286000 h 2286000"/>
                    <a:gd name="connsiteX3" fmla="*/ 0 w 8143336"/>
                    <a:gd name="connsiteY3" fmla="*/ 1440612 h 2286000"/>
                    <a:gd name="connsiteX4" fmla="*/ 25880 w 8143336"/>
                    <a:gd name="connsiteY4" fmla="*/ 1431985 h 2286000"/>
                    <a:gd name="connsiteX5" fmla="*/ 86264 w 8143336"/>
                    <a:gd name="connsiteY5" fmla="*/ 1380227 h 2286000"/>
                    <a:gd name="connsiteX6" fmla="*/ 120770 w 8143336"/>
                    <a:gd name="connsiteY6" fmla="*/ 1371600 h 2286000"/>
                    <a:gd name="connsiteX7" fmla="*/ 146649 w 8143336"/>
                    <a:gd name="connsiteY7" fmla="*/ 1362974 h 2286000"/>
                    <a:gd name="connsiteX8" fmla="*/ 603849 w 8143336"/>
                    <a:gd name="connsiteY8" fmla="*/ 1362974 h 2286000"/>
                    <a:gd name="connsiteX9" fmla="*/ 629729 w 8143336"/>
                    <a:gd name="connsiteY9" fmla="*/ 1345721 h 2286000"/>
                    <a:gd name="connsiteX10" fmla="*/ 655608 w 8143336"/>
                    <a:gd name="connsiteY10" fmla="*/ 1337095 h 2286000"/>
                    <a:gd name="connsiteX11" fmla="*/ 672861 w 8143336"/>
                    <a:gd name="connsiteY11" fmla="*/ 1302589 h 2286000"/>
                    <a:gd name="connsiteX12" fmla="*/ 690113 w 8143336"/>
                    <a:gd name="connsiteY12" fmla="*/ 1276710 h 2286000"/>
                    <a:gd name="connsiteX13" fmla="*/ 698740 w 8143336"/>
                    <a:gd name="connsiteY13" fmla="*/ 1250830 h 2286000"/>
                    <a:gd name="connsiteX14" fmla="*/ 750498 w 8143336"/>
                    <a:gd name="connsiteY14" fmla="*/ 1199072 h 2286000"/>
                    <a:gd name="connsiteX15" fmla="*/ 776378 w 8143336"/>
                    <a:gd name="connsiteY15" fmla="*/ 1181819 h 2286000"/>
                    <a:gd name="connsiteX16" fmla="*/ 1026544 w 8143336"/>
                    <a:gd name="connsiteY16" fmla="*/ 1155940 h 2286000"/>
                    <a:gd name="connsiteX17" fmla="*/ 1095555 w 8143336"/>
                    <a:gd name="connsiteY17" fmla="*/ 1147313 h 2286000"/>
                    <a:gd name="connsiteX18" fmla="*/ 1207698 w 8143336"/>
                    <a:gd name="connsiteY18" fmla="*/ 1138687 h 2286000"/>
                    <a:gd name="connsiteX19" fmla="*/ 1233578 w 8143336"/>
                    <a:gd name="connsiteY19" fmla="*/ 1130061 h 2286000"/>
                    <a:gd name="connsiteX20" fmla="*/ 1276710 w 8143336"/>
                    <a:gd name="connsiteY20" fmla="*/ 1121434 h 2286000"/>
                    <a:gd name="connsiteX21" fmla="*/ 1337095 w 8143336"/>
                    <a:gd name="connsiteY21" fmla="*/ 1086929 h 2286000"/>
                    <a:gd name="connsiteX22" fmla="*/ 1371600 w 8143336"/>
                    <a:gd name="connsiteY22" fmla="*/ 1052423 h 2286000"/>
                    <a:gd name="connsiteX23" fmla="*/ 1388853 w 8143336"/>
                    <a:gd name="connsiteY23" fmla="*/ 1026544 h 2286000"/>
                    <a:gd name="connsiteX24" fmla="*/ 1414732 w 8143336"/>
                    <a:gd name="connsiteY24" fmla="*/ 1009291 h 2286000"/>
                    <a:gd name="connsiteX25" fmla="*/ 1475117 w 8143336"/>
                    <a:gd name="connsiteY25" fmla="*/ 923027 h 2286000"/>
                    <a:gd name="connsiteX26" fmla="*/ 1500997 w 8143336"/>
                    <a:gd name="connsiteY26" fmla="*/ 871268 h 2286000"/>
                    <a:gd name="connsiteX27" fmla="*/ 1526876 w 8143336"/>
                    <a:gd name="connsiteY27" fmla="*/ 854015 h 2286000"/>
                    <a:gd name="connsiteX28" fmla="*/ 1561381 w 8143336"/>
                    <a:gd name="connsiteY28" fmla="*/ 802257 h 2286000"/>
                    <a:gd name="connsiteX29" fmla="*/ 1578634 w 8143336"/>
                    <a:gd name="connsiteY29" fmla="*/ 750498 h 2286000"/>
                    <a:gd name="connsiteX30" fmla="*/ 1630393 w 8143336"/>
                    <a:gd name="connsiteY30" fmla="*/ 715993 h 2286000"/>
                    <a:gd name="connsiteX31" fmla="*/ 1716657 w 8143336"/>
                    <a:gd name="connsiteY31" fmla="*/ 698740 h 2286000"/>
                    <a:gd name="connsiteX32" fmla="*/ 1768415 w 8143336"/>
                    <a:gd name="connsiteY32" fmla="*/ 655608 h 2286000"/>
                    <a:gd name="connsiteX33" fmla="*/ 1777042 w 8143336"/>
                    <a:gd name="connsiteY33" fmla="*/ 629729 h 2286000"/>
                    <a:gd name="connsiteX34" fmla="*/ 1794295 w 8143336"/>
                    <a:gd name="connsiteY34" fmla="*/ 603849 h 2286000"/>
                    <a:gd name="connsiteX35" fmla="*/ 1828800 w 8143336"/>
                    <a:gd name="connsiteY35" fmla="*/ 526212 h 2286000"/>
                    <a:gd name="connsiteX36" fmla="*/ 1846053 w 8143336"/>
                    <a:gd name="connsiteY36" fmla="*/ 414068 h 2286000"/>
                    <a:gd name="connsiteX37" fmla="*/ 1854680 w 8143336"/>
                    <a:gd name="connsiteY37" fmla="*/ 362310 h 2286000"/>
                    <a:gd name="connsiteX38" fmla="*/ 1871932 w 8143336"/>
                    <a:gd name="connsiteY38" fmla="*/ 336430 h 2286000"/>
                    <a:gd name="connsiteX39" fmla="*/ 1923691 w 8143336"/>
                    <a:gd name="connsiteY39" fmla="*/ 284672 h 2286000"/>
                    <a:gd name="connsiteX40" fmla="*/ 2044461 w 8143336"/>
                    <a:gd name="connsiteY40" fmla="*/ 293298 h 2286000"/>
                    <a:gd name="connsiteX41" fmla="*/ 2104846 w 8143336"/>
                    <a:gd name="connsiteY41" fmla="*/ 319178 h 2286000"/>
                    <a:gd name="connsiteX42" fmla="*/ 2130725 w 8143336"/>
                    <a:gd name="connsiteY42" fmla="*/ 327804 h 2286000"/>
                    <a:gd name="connsiteX43" fmla="*/ 2156604 w 8143336"/>
                    <a:gd name="connsiteY43" fmla="*/ 345057 h 2286000"/>
                    <a:gd name="connsiteX44" fmla="*/ 2191110 w 8143336"/>
                    <a:gd name="connsiteY44" fmla="*/ 353683 h 2286000"/>
                    <a:gd name="connsiteX45" fmla="*/ 2277374 w 8143336"/>
                    <a:gd name="connsiteY45" fmla="*/ 370936 h 2286000"/>
                    <a:gd name="connsiteX46" fmla="*/ 2320506 w 8143336"/>
                    <a:gd name="connsiteY46" fmla="*/ 379562 h 2286000"/>
                    <a:gd name="connsiteX47" fmla="*/ 2449902 w 8143336"/>
                    <a:gd name="connsiteY47" fmla="*/ 370936 h 2286000"/>
                    <a:gd name="connsiteX48" fmla="*/ 2475781 w 8143336"/>
                    <a:gd name="connsiteY48" fmla="*/ 353683 h 2286000"/>
                    <a:gd name="connsiteX49" fmla="*/ 2501661 w 8143336"/>
                    <a:gd name="connsiteY49" fmla="*/ 345057 h 2286000"/>
                    <a:gd name="connsiteX50" fmla="*/ 2527540 w 8143336"/>
                    <a:gd name="connsiteY50" fmla="*/ 319178 h 2286000"/>
                    <a:gd name="connsiteX51" fmla="*/ 2544793 w 8143336"/>
                    <a:gd name="connsiteY51" fmla="*/ 293298 h 2286000"/>
                    <a:gd name="connsiteX52" fmla="*/ 2622430 w 8143336"/>
                    <a:gd name="connsiteY52" fmla="*/ 215661 h 2286000"/>
                    <a:gd name="connsiteX53" fmla="*/ 2648310 w 8143336"/>
                    <a:gd name="connsiteY53" fmla="*/ 189781 h 2286000"/>
                    <a:gd name="connsiteX54" fmla="*/ 2674189 w 8143336"/>
                    <a:gd name="connsiteY54" fmla="*/ 163902 h 2286000"/>
                    <a:gd name="connsiteX55" fmla="*/ 2700068 w 8143336"/>
                    <a:gd name="connsiteY55" fmla="*/ 146649 h 2286000"/>
                    <a:gd name="connsiteX56" fmla="*/ 2751827 w 8143336"/>
                    <a:gd name="connsiteY56" fmla="*/ 94891 h 2286000"/>
                    <a:gd name="connsiteX57" fmla="*/ 2777706 w 8143336"/>
                    <a:gd name="connsiteY57" fmla="*/ 69012 h 2286000"/>
                    <a:gd name="connsiteX58" fmla="*/ 2855344 w 8143336"/>
                    <a:gd name="connsiteY58" fmla="*/ 25879 h 2286000"/>
                    <a:gd name="connsiteX59" fmla="*/ 2881223 w 8143336"/>
                    <a:gd name="connsiteY59" fmla="*/ 8627 h 2286000"/>
                    <a:gd name="connsiteX60" fmla="*/ 2924355 w 8143336"/>
                    <a:gd name="connsiteY60" fmla="*/ 0 h 2286000"/>
                    <a:gd name="connsiteX61" fmla="*/ 3071004 w 8143336"/>
                    <a:gd name="connsiteY61" fmla="*/ 8627 h 2286000"/>
                    <a:gd name="connsiteX62" fmla="*/ 3131389 w 8143336"/>
                    <a:gd name="connsiteY62" fmla="*/ 25879 h 2286000"/>
                    <a:gd name="connsiteX63" fmla="*/ 3183147 w 8143336"/>
                    <a:gd name="connsiteY63" fmla="*/ 60385 h 2286000"/>
                    <a:gd name="connsiteX64" fmla="*/ 3209027 w 8143336"/>
                    <a:gd name="connsiteY64" fmla="*/ 77638 h 2286000"/>
                    <a:gd name="connsiteX65" fmla="*/ 3303917 w 8143336"/>
                    <a:gd name="connsiteY65" fmla="*/ 146649 h 2286000"/>
                    <a:gd name="connsiteX66" fmla="*/ 3321170 w 8143336"/>
                    <a:gd name="connsiteY66" fmla="*/ 172529 h 2286000"/>
                    <a:gd name="connsiteX67" fmla="*/ 3355676 w 8143336"/>
                    <a:gd name="connsiteY67" fmla="*/ 241540 h 2286000"/>
                    <a:gd name="connsiteX68" fmla="*/ 3433313 w 8143336"/>
                    <a:gd name="connsiteY68" fmla="*/ 345057 h 2286000"/>
                    <a:gd name="connsiteX69" fmla="*/ 3450566 w 8143336"/>
                    <a:gd name="connsiteY69" fmla="*/ 379562 h 2286000"/>
                    <a:gd name="connsiteX70" fmla="*/ 3459193 w 8143336"/>
                    <a:gd name="connsiteY70" fmla="*/ 405442 h 2286000"/>
                    <a:gd name="connsiteX71" fmla="*/ 3485072 w 8143336"/>
                    <a:gd name="connsiteY71" fmla="*/ 422695 h 2286000"/>
                    <a:gd name="connsiteX72" fmla="*/ 3502325 w 8143336"/>
                    <a:gd name="connsiteY72" fmla="*/ 448574 h 2286000"/>
                    <a:gd name="connsiteX73" fmla="*/ 3510951 w 8143336"/>
                    <a:gd name="connsiteY73" fmla="*/ 474453 h 2286000"/>
                    <a:gd name="connsiteX74" fmla="*/ 3579963 w 8143336"/>
                    <a:gd name="connsiteY74" fmla="*/ 526212 h 2286000"/>
                    <a:gd name="connsiteX75" fmla="*/ 3605842 w 8143336"/>
                    <a:gd name="connsiteY75" fmla="*/ 534838 h 2286000"/>
                    <a:gd name="connsiteX76" fmla="*/ 3657600 w 8143336"/>
                    <a:gd name="connsiteY76" fmla="*/ 569344 h 2286000"/>
                    <a:gd name="connsiteX77" fmla="*/ 3709359 w 8143336"/>
                    <a:gd name="connsiteY77" fmla="*/ 638355 h 2286000"/>
                    <a:gd name="connsiteX78" fmla="*/ 3769744 w 8143336"/>
                    <a:gd name="connsiteY78" fmla="*/ 715993 h 2286000"/>
                    <a:gd name="connsiteX79" fmla="*/ 3830129 w 8143336"/>
                    <a:gd name="connsiteY79" fmla="*/ 793630 h 2286000"/>
                    <a:gd name="connsiteX80" fmla="*/ 3856008 w 8143336"/>
                    <a:gd name="connsiteY80" fmla="*/ 819510 h 2286000"/>
                    <a:gd name="connsiteX81" fmla="*/ 4071668 w 8143336"/>
                    <a:gd name="connsiteY81" fmla="*/ 845389 h 2286000"/>
                    <a:gd name="connsiteX82" fmla="*/ 4106174 w 8143336"/>
                    <a:gd name="connsiteY82" fmla="*/ 854015 h 2286000"/>
                    <a:gd name="connsiteX83" fmla="*/ 4209691 w 8143336"/>
                    <a:gd name="connsiteY83" fmla="*/ 940279 h 2286000"/>
                    <a:gd name="connsiteX84" fmla="*/ 4270076 w 8143336"/>
                    <a:gd name="connsiteY84" fmla="*/ 957532 h 2286000"/>
                    <a:gd name="connsiteX85" fmla="*/ 4477110 w 8143336"/>
                    <a:gd name="connsiteY85" fmla="*/ 992038 h 2286000"/>
                    <a:gd name="connsiteX86" fmla="*/ 4589253 w 8143336"/>
                    <a:gd name="connsiteY86" fmla="*/ 1000664 h 2286000"/>
                    <a:gd name="connsiteX87" fmla="*/ 4641012 w 8143336"/>
                    <a:gd name="connsiteY87" fmla="*/ 1009291 h 2286000"/>
                    <a:gd name="connsiteX88" fmla="*/ 4675517 w 8143336"/>
                    <a:gd name="connsiteY88" fmla="*/ 1026544 h 2286000"/>
                    <a:gd name="connsiteX89" fmla="*/ 4701397 w 8143336"/>
                    <a:gd name="connsiteY89" fmla="*/ 1035170 h 2286000"/>
                    <a:gd name="connsiteX90" fmla="*/ 4727276 w 8143336"/>
                    <a:gd name="connsiteY90" fmla="*/ 1052423 h 2286000"/>
                    <a:gd name="connsiteX91" fmla="*/ 4796287 w 8143336"/>
                    <a:gd name="connsiteY91" fmla="*/ 1078302 h 2286000"/>
                    <a:gd name="connsiteX92" fmla="*/ 4891178 w 8143336"/>
                    <a:gd name="connsiteY92" fmla="*/ 1112808 h 2286000"/>
                    <a:gd name="connsiteX93" fmla="*/ 4942936 w 8143336"/>
                    <a:gd name="connsiteY93" fmla="*/ 1130061 h 2286000"/>
                    <a:gd name="connsiteX94" fmla="*/ 5029200 w 8143336"/>
                    <a:gd name="connsiteY94" fmla="*/ 1147313 h 2286000"/>
                    <a:gd name="connsiteX95" fmla="*/ 5055080 w 8143336"/>
                    <a:gd name="connsiteY95" fmla="*/ 1164566 h 2286000"/>
                    <a:gd name="connsiteX96" fmla="*/ 5218981 w 8143336"/>
                    <a:gd name="connsiteY96" fmla="*/ 1207698 h 2286000"/>
                    <a:gd name="connsiteX97" fmla="*/ 5313872 w 8143336"/>
                    <a:gd name="connsiteY97" fmla="*/ 1250830 h 2286000"/>
                    <a:gd name="connsiteX98" fmla="*/ 5365630 w 8143336"/>
                    <a:gd name="connsiteY98" fmla="*/ 1259457 h 2286000"/>
                    <a:gd name="connsiteX99" fmla="*/ 5460521 w 8143336"/>
                    <a:gd name="connsiteY99" fmla="*/ 1302589 h 2286000"/>
                    <a:gd name="connsiteX100" fmla="*/ 5477774 w 8143336"/>
                    <a:gd name="connsiteY100" fmla="*/ 1328468 h 2286000"/>
                    <a:gd name="connsiteX101" fmla="*/ 5503653 w 8143336"/>
                    <a:gd name="connsiteY101" fmla="*/ 1337095 h 2286000"/>
                    <a:gd name="connsiteX102" fmla="*/ 5529532 w 8143336"/>
                    <a:gd name="connsiteY102" fmla="*/ 1354347 h 2286000"/>
                    <a:gd name="connsiteX103" fmla="*/ 5555412 w 8143336"/>
                    <a:gd name="connsiteY103" fmla="*/ 1380227 h 2286000"/>
                    <a:gd name="connsiteX104" fmla="*/ 5624423 w 8143336"/>
                    <a:gd name="connsiteY104" fmla="*/ 1414732 h 2286000"/>
                    <a:gd name="connsiteX105" fmla="*/ 5693434 w 8143336"/>
                    <a:gd name="connsiteY105" fmla="*/ 1457864 h 2286000"/>
                    <a:gd name="connsiteX106" fmla="*/ 5745193 w 8143336"/>
                    <a:gd name="connsiteY106" fmla="*/ 1475117 h 2286000"/>
                    <a:gd name="connsiteX107" fmla="*/ 5771072 w 8143336"/>
                    <a:gd name="connsiteY107" fmla="*/ 1483744 h 2286000"/>
                    <a:gd name="connsiteX108" fmla="*/ 5796951 w 8143336"/>
                    <a:gd name="connsiteY108" fmla="*/ 1500996 h 2286000"/>
                    <a:gd name="connsiteX109" fmla="*/ 5831457 w 8143336"/>
                    <a:gd name="connsiteY109" fmla="*/ 1526876 h 2286000"/>
                    <a:gd name="connsiteX110" fmla="*/ 5857336 w 8143336"/>
                    <a:gd name="connsiteY110" fmla="*/ 1535502 h 2286000"/>
                    <a:gd name="connsiteX111" fmla="*/ 5917721 w 8143336"/>
                    <a:gd name="connsiteY111" fmla="*/ 1570008 h 2286000"/>
                    <a:gd name="connsiteX112" fmla="*/ 5943600 w 8143336"/>
                    <a:gd name="connsiteY112" fmla="*/ 1587261 h 2286000"/>
                    <a:gd name="connsiteX113" fmla="*/ 5978106 w 8143336"/>
                    <a:gd name="connsiteY113" fmla="*/ 1613140 h 2286000"/>
                    <a:gd name="connsiteX114" fmla="*/ 6003985 w 8143336"/>
                    <a:gd name="connsiteY114" fmla="*/ 1621766 h 2286000"/>
                    <a:gd name="connsiteX115" fmla="*/ 6055744 w 8143336"/>
                    <a:gd name="connsiteY115" fmla="*/ 1647646 h 2286000"/>
                    <a:gd name="connsiteX116" fmla="*/ 6081623 w 8143336"/>
                    <a:gd name="connsiteY116" fmla="*/ 1664898 h 2286000"/>
                    <a:gd name="connsiteX117" fmla="*/ 6133381 w 8143336"/>
                    <a:gd name="connsiteY117" fmla="*/ 1682151 h 2286000"/>
                    <a:gd name="connsiteX118" fmla="*/ 6193766 w 8143336"/>
                    <a:gd name="connsiteY118" fmla="*/ 1708030 h 2286000"/>
                    <a:gd name="connsiteX119" fmla="*/ 6254151 w 8143336"/>
                    <a:gd name="connsiteY119" fmla="*/ 1716657 h 2286000"/>
                    <a:gd name="connsiteX120" fmla="*/ 6314536 w 8143336"/>
                    <a:gd name="connsiteY120" fmla="*/ 1733910 h 2286000"/>
                    <a:gd name="connsiteX121" fmla="*/ 6383547 w 8143336"/>
                    <a:gd name="connsiteY121" fmla="*/ 1742536 h 2286000"/>
                    <a:gd name="connsiteX122" fmla="*/ 6418053 w 8143336"/>
                    <a:gd name="connsiteY122" fmla="*/ 1751162 h 2286000"/>
                    <a:gd name="connsiteX123" fmla="*/ 6478438 w 8143336"/>
                    <a:gd name="connsiteY123" fmla="*/ 1759789 h 2286000"/>
                    <a:gd name="connsiteX124" fmla="*/ 6512944 w 8143336"/>
                    <a:gd name="connsiteY124" fmla="*/ 1768415 h 2286000"/>
                    <a:gd name="connsiteX125" fmla="*/ 6573329 w 8143336"/>
                    <a:gd name="connsiteY125" fmla="*/ 1777042 h 2286000"/>
                    <a:gd name="connsiteX126" fmla="*/ 6625087 w 8143336"/>
                    <a:gd name="connsiteY126" fmla="*/ 1785668 h 2286000"/>
                    <a:gd name="connsiteX127" fmla="*/ 6668219 w 8143336"/>
                    <a:gd name="connsiteY127" fmla="*/ 1794295 h 2286000"/>
                    <a:gd name="connsiteX128" fmla="*/ 6728604 w 8143336"/>
                    <a:gd name="connsiteY128" fmla="*/ 1802921 h 2286000"/>
                    <a:gd name="connsiteX129" fmla="*/ 6771736 w 8143336"/>
                    <a:gd name="connsiteY129" fmla="*/ 1811547 h 2286000"/>
                    <a:gd name="connsiteX130" fmla="*/ 6892506 w 8143336"/>
                    <a:gd name="connsiteY130" fmla="*/ 1820174 h 2286000"/>
                    <a:gd name="connsiteX131" fmla="*/ 7194430 w 8143336"/>
                    <a:gd name="connsiteY131" fmla="*/ 1846053 h 2286000"/>
                    <a:gd name="connsiteX132" fmla="*/ 7228936 w 8143336"/>
                    <a:gd name="connsiteY132" fmla="*/ 1854679 h 2286000"/>
                    <a:gd name="connsiteX133" fmla="*/ 7565366 w 8143336"/>
                    <a:gd name="connsiteY133" fmla="*/ 1837427 h 2286000"/>
                    <a:gd name="connsiteX134" fmla="*/ 7798280 w 8143336"/>
                    <a:gd name="connsiteY134" fmla="*/ 1846053 h 2286000"/>
                    <a:gd name="connsiteX135" fmla="*/ 7953555 w 8143336"/>
                    <a:gd name="connsiteY135" fmla="*/ 1863306 h 2286000"/>
                    <a:gd name="connsiteX136" fmla="*/ 8082951 w 8143336"/>
                    <a:gd name="connsiteY136" fmla="*/ 1880559 h 2286000"/>
                    <a:gd name="connsiteX137" fmla="*/ 8143336 w 8143336"/>
                    <a:gd name="connsiteY137" fmla="*/ 1923691 h 2286000"/>
                    <a:gd name="connsiteX138" fmla="*/ 8117457 w 8143336"/>
                    <a:gd name="connsiteY138" fmla="*/ 1958196 h 228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</a:cxnLst>
                  <a:rect l="l" t="t" r="r" b="b"/>
                  <a:pathLst>
                    <a:path w="8143336" h="2286000">
                      <a:moveTo>
                        <a:pt x="8117457" y="1958196"/>
                      </a:moveTo>
                      <a:lnTo>
                        <a:pt x="8117457" y="2286000"/>
                      </a:lnTo>
                      <a:lnTo>
                        <a:pt x="0" y="2286000"/>
                      </a:lnTo>
                      <a:lnTo>
                        <a:pt x="0" y="1440612"/>
                      </a:lnTo>
                      <a:lnTo>
                        <a:pt x="25880" y="1431985"/>
                      </a:lnTo>
                      <a:cubicBezTo>
                        <a:pt x="46008" y="1414732"/>
                        <a:pt x="63898" y="1394460"/>
                        <a:pt x="86264" y="1380227"/>
                      </a:cubicBezTo>
                      <a:cubicBezTo>
                        <a:pt x="96266" y="1373862"/>
                        <a:pt x="109370" y="1374857"/>
                        <a:pt x="120770" y="1371600"/>
                      </a:cubicBezTo>
                      <a:cubicBezTo>
                        <a:pt x="129513" y="1369102"/>
                        <a:pt x="138023" y="1365849"/>
                        <a:pt x="146649" y="1362974"/>
                      </a:cubicBezTo>
                      <a:cubicBezTo>
                        <a:pt x="313828" y="1369404"/>
                        <a:pt x="436086" y="1379750"/>
                        <a:pt x="603849" y="1362974"/>
                      </a:cubicBezTo>
                      <a:cubicBezTo>
                        <a:pt x="614165" y="1361942"/>
                        <a:pt x="620456" y="1350358"/>
                        <a:pt x="629729" y="1345721"/>
                      </a:cubicBezTo>
                      <a:cubicBezTo>
                        <a:pt x="637862" y="1341655"/>
                        <a:pt x="646982" y="1339970"/>
                        <a:pt x="655608" y="1337095"/>
                      </a:cubicBezTo>
                      <a:cubicBezTo>
                        <a:pt x="661359" y="1325593"/>
                        <a:pt x="666481" y="1313754"/>
                        <a:pt x="672861" y="1302589"/>
                      </a:cubicBezTo>
                      <a:cubicBezTo>
                        <a:pt x="678005" y="1293587"/>
                        <a:pt x="685477" y="1285983"/>
                        <a:pt x="690113" y="1276710"/>
                      </a:cubicBezTo>
                      <a:cubicBezTo>
                        <a:pt x="694180" y="1268577"/>
                        <a:pt x="693157" y="1258008"/>
                        <a:pt x="698740" y="1250830"/>
                      </a:cubicBezTo>
                      <a:cubicBezTo>
                        <a:pt x="713719" y="1231571"/>
                        <a:pt x="730197" y="1212606"/>
                        <a:pt x="750498" y="1199072"/>
                      </a:cubicBezTo>
                      <a:cubicBezTo>
                        <a:pt x="759125" y="1193321"/>
                        <a:pt x="766904" y="1186030"/>
                        <a:pt x="776378" y="1181819"/>
                      </a:cubicBezTo>
                      <a:cubicBezTo>
                        <a:pt x="859193" y="1145012"/>
                        <a:pt x="925518" y="1160332"/>
                        <a:pt x="1026544" y="1155940"/>
                      </a:cubicBezTo>
                      <a:cubicBezTo>
                        <a:pt x="1049548" y="1153064"/>
                        <a:pt x="1072477" y="1149511"/>
                        <a:pt x="1095555" y="1147313"/>
                      </a:cubicBezTo>
                      <a:cubicBezTo>
                        <a:pt x="1132878" y="1143758"/>
                        <a:pt x="1170496" y="1143337"/>
                        <a:pt x="1207698" y="1138687"/>
                      </a:cubicBezTo>
                      <a:cubicBezTo>
                        <a:pt x="1216721" y="1137559"/>
                        <a:pt x="1224756" y="1132266"/>
                        <a:pt x="1233578" y="1130061"/>
                      </a:cubicBezTo>
                      <a:cubicBezTo>
                        <a:pt x="1247802" y="1126505"/>
                        <a:pt x="1262333" y="1124310"/>
                        <a:pt x="1276710" y="1121434"/>
                      </a:cubicBezTo>
                      <a:cubicBezTo>
                        <a:pt x="1296283" y="1111647"/>
                        <a:pt x="1320030" y="1101556"/>
                        <a:pt x="1337095" y="1086929"/>
                      </a:cubicBezTo>
                      <a:cubicBezTo>
                        <a:pt x="1349445" y="1076343"/>
                        <a:pt x="1361014" y="1064773"/>
                        <a:pt x="1371600" y="1052423"/>
                      </a:cubicBezTo>
                      <a:cubicBezTo>
                        <a:pt x="1378347" y="1044551"/>
                        <a:pt x="1381522" y="1033875"/>
                        <a:pt x="1388853" y="1026544"/>
                      </a:cubicBezTo>
                      <a:cubicBezTo>
                        <a:pt x="1396184" y="1019213"/>
                        <a:pt x="1406106" y="1015042"/>
                        <a:pt x="1414732" y="1009291"/>
                      </a:cubicBezTo>
                      <a:cubicBezTo>
                        <a:pt x="1457213" y="945570"/>
                        <a:pt x="1436797" y="974120"/>
                        <a:pt x="1475117" y="923027"/>
                      </a:cubicBezTo>
                      <a:cubicBezTo>
                        <a:pt x="1482133" y="901978"/>
                        <a:pt x="1484274" y="887991"/>
                        <a:pt x="1500997" y="871268"/>
                      </a:cubicBezTo>
                      <a:cubicBezTo>
                        <a:pt x="1508328" y="863937"/>
                        <a:pt x="1518250" y="859766"/>
                        <a:pt x="1526876" y="854015"/>
                      </a:cubicBezTo>
                      <a:cubicBezTo>
                        <a:pt x="1538378" y="836762"/>
                        <a:pt x="1554824" y="821928"/>
                        <a:pt x="1561381" y="802257"/>
                      </a:cubicBezTo>
                      <a:cubicBezTo>
                        <a:pt x="1567132" y="785004"/>
                        <a:pt x="1563502" y="760586"/>
                        <a:pt x="1578634" y="750498"/>
                      </a:cubicBezTo>
                      <a:cubicBezTo>
                        <a:pt x="1595887" y="738996"/>
                        <a:pt x="1609940" y="719402"/>
                        <a:pt x="1630393" y="715993"/>
                      </a:cubicBezTo>
                      <a:cubicBezTo>
                        <a:pt x="1693846" y="705417"/>
                        <a:pt x="1665182" y="711608"/>
                        <a:pt x="1716657" y="698740"/>
                      </a:cubicBezTo>
                      <a:cubicBezTo>
                        <a:pt x="1735753" y="686009"/>
                        <a:pt x="1755131" y="675534"/>
                        <a:pt x="1768415" y="655608"/>
                      </a:cubicBezTo>
                      <a:cubicBezTo>
                        <a:pt x="1773459" y="648042"/>
                        <a:pt x="1772975" y="637862"/>
                        <a:pt x="1777042" y="629729"/>
                      </a:cubicBezTo>
                      <a:cubicBezTo>
                        <a:pt x="1781679" y="620456"/>
                        <a:pt x="1788544" y="612476"/>
                        <a:pt x="1794295" y="603849"/>
                      </a:cubicBezTo>
                      <a:cubicBezTo>
                        <a:pt x="1814825" y="542255"/>
                        <a:pt x="1801459" y="567222"/>
                        <a:pt x="1828800" y="526212"/>
                      </a:cubicBezTo>
                      <a:cubicBezTo>
                        <a:pt x="1846939" y="362976"/>
                        <a:pt x="1827377" y="507445"/>
                        <a:pt x="1846053" y="414068"/>
                      </a:cubicBezTo>
                      <a:cubicBezTo>
                        <a:pt x="1849483" y="396917"/>
                        <a:pt x="1849149" y="378903"/>
                        <a:pt x="1854680" y="362310"/>
                      </a:cubicBezTo>
                      <a:cubicBezTo>
                        <a:pt x="1857959" y="352474"/>
                        <a:pt x="1865044" y="344179"/>
                        <a:pt x="1871932" y="336430"/>
                      </a:cubicBezTo>
                      <a:cubicBezTo>
                        <a:pt x="1888142" y="318194"/>
                        <a:pt x="1923691" y="284672"/>
                        <a:pt x="1923691" y="284672"/>
                      </a:cubicBezTo>
                      <a:cubicBezTo>
                        <a:pt x="1963948" y="287547"/>
                        <a:pt x="2004378" y="288582"/>
                        <a:pt x="2044461" y="293298"/>
                      </a:cubicBezTo>
                      <a:cubicBezTo>
                        <a:pt x="2063048" y="295485"/>
                        <a:pt x="2089772" y="312718"/>
                        <a:pt x="2104846" y="319178"/>
                      </a:cubicBezTo>
                      <a:cubicBezTo>
                        <a:pt x="2113204" y="322760"/>
                        <a:pt x="2122099" y="324929"/>
                        <a:pt x="2130725" y="327804"/>
                      </a:cubicBezTo>
                      <a:cubicBezTo>
                        <a:pt x="2139351" y="333555"/>
                        <a:pt x="2147075" y="340973"/>
                        <a:pt x="2156604" y="345057"/>
                      </a:cubicBezTo>
                      <a:cubicBezTo>
                        <a:pt x="2167501" y="349727"/>
                        <a:pt x="2179517" y="351199"/>
                        <a:pt x="2191110" y="353683"/>
                      </a:cubicBezTo>
                      <a:cubicBezTo>
                        <a:pt x="2219783" y="359827"/>
                        <a:pt x="2248619" y="365185"/>
                        <a:pt x="2277374" y="370936"/>
                      </a:cubicBezTo>
                      <a:lnTo>
                        <a:pt x="2320506" y="379562"/>
                      </a:lnTo>
                      <a:cubicBezTo>
                        <a:pt x="2363638" y="376687"/>
                        <a:pt x="2407262" y="378043"/>
                        <a:pt x="2449902" y="370936"/>
                      </a:cubicBezTo>
                      <a:cubicBezTo>
                        <a:pt x="2460129" y="369232"/>
                        <a:pt x="2466508" y="358319"/>
                        <a:pt x="2475781" y="353683"/>
                      </a:cubicBezTo>
                      <a:cubicBezTo>
                        <a:pt x="2483914" y="349616"/>
                        <a:pt x="2493034" y="347932"/>
                        <a:pt x="2501661" y="345057"/>
                      </a:cubicBezTo>
                      <a:cubicBezTo>
                        <a:pt x="2510287" y="336431"/>
                        <a:pt x="2519730" y="328550"/>
                        <a:pt x="2527540" y="319178"/>
                      </a:cubicBezTo>
                      <a:cubicBezTo>
                        <a:pt x="2534177" y="311213"/>
                        <a:pt x="2537905" y="301047"/>
                        <a:pt x="2544793" y="293298"/>
                      </a:cubicBezTo>
                      <a:lnTo>
                        <a:pt x="2622430" y="215661"/>
                      </a:lnTo>
                      <a:lnTo>
                        <a:pt x="2648310" y="189781"/>
                      </a:lnTo>
                      <a:cubicBezTo>
                        <a:pt x="2656936" y="181155"/>
                        <a:pt x="2664038" y="170669"/>
                        <a:pt x="2674189" y="163902"/>
                      </a:cubicBezTo>
                      <a:cubicBezTo>
                        <a:pt x="2682815" y="158151"/>
                        <a:pt x="2692319" y="153537"/>
                        <a:pt x="2700068" y="146649"/>
                      </a:cubicBezTo>
                      <a:cubicBezTo>
                        <a:pt x="2718304" y="130439"/>
                        <a:pt x="2734574" y="112144"/>
                        <a:pt x="2751827" y="94891"/>
                      </a:cubicBezTo>
                      <a:cubicBezTo>
                        <a:pt x="2760453" y="86265"/>
                        <a:pt x="2766133" y="72870"/>
                        <a:pt x="2777706" y="69012"/>
                      </a:cubicBezTo>
                      <a:cubicBezTo>
                        <a:pt x="2823257" y="53827"/>
                        <a:pt x="2796018" y="65429"/>
                        <a:pt x="2855344" y="25879"/>
                      </a:cubicBezTo>
                      <a:cubicBezTo>
                        <a:pt x="2863970" y="20128"/>
                        <a:pt x="2871057" y="10660"/>
                        <a:pt x="2881223" y="8627"/>
                      </a:cubicBezTo>
                      <a:lnTo>
                        <a:pt x="2924355" y="0"/>
                      </a:lnTo>
                      <a:cubicBezTo>
                        <a:pt x="2973238" y="2876"/>
                        <a:pt x="3022257" y="3984"/>
                        <a:pt x="3071004" y="8627"/>
                      </a:cubicBezTo>
                      <a:cubicBezTo>
                        <a:pt x="3086170" y="10071"/>
                        <a:pt x="3115861" y="20703"/>
                        <a:pt x="3131389" y="25879"/>
                      </a:cubicBezTo>
                      <a:lnTo>
                        <a:pt x="3183147" y="60385"/>
                      </a:lnTo>
                      <a:cubicBezTo>
                        <a:pt x="3191774" y="66136"/>
                        <a:pt x="3200733" y="71417"/>
                        <a:pt x="3209027" y="77638"/>
                      </a:cubicBezTo>
                      <a:cubicBezTo>
                        <a:pt x="3286332" y="135617"/>
                        <a:pt x="3254113" y="113446"/>
                        <a:pt x="3303917" y="146649"/>
                      </a:cubicBezTo>
                      <a:cubicBezTo>
                        <a:pt x="3309668" y="155276"/>
                        <a:pt x="3316533" y="163256"/>
                        <a:pt x="3321170" y="172529"/>
                      </a:cubicBezTo>
                      <a:cubicBezTo>
                        <a:pt x="3350946" y="232080"/>
                        <a:pt x="3295899" y="157851"/>
                        <a:pt x="3355676" y="241540"/>
                      </a:cubicBezTo>
                      <a:cubicBezTo>
                        <a:pt x="3364192" y="253462"/>
                        <a:pt x="3416290" y="315267"/>
                        <a:pt x="3433313" y="345057"/>
                      </a:cubicBezTo>
                      <a:cubicBezTo>
                        <a:pt x="3439693" y="356222"/>
                        <a:pt x="3445500" y="367742"/>
                        <a:pt x="3450566" y="379562"/>
                      </a:cubicBezTo>
                      <a:cubicBezTo>
                        <a:pt x="3454148" y="387920"/>
                        <a:pt x="3453512" y="398341"/>
                        <a:pt x="3459193" y="405442"/>
                      </a:cubicBezTo>
                      <a:cubicBezTo>
                        <a:pt x="3465670" y="413538"/>
                        <a:pt x="3476446" y="416944"/>
                        <a:pt x="3485072" y="422695"/>
                      </a:cubicBezTo>
                      <a:cubicBezTo>
                        <a:pt x="3490823" y="431321"/>
                        <a:pt x="3497688" y="439301"/>
                        <a:pt x="3502325" y="448574"/>
                      </a:cubicBezTo>
                      <a:cubicBezTo>
                        <a:pt x="3506391" y="456707"/>
                        <a:pt x="3505033" y="467549"/>
                        <a:pt x="3510951" y="474453"/>
                      </a:cubicBezTo>
                      <a:cubicBezTo>
                        <a:pt x="3515714" y="480010"/>
                        <a:pt x="3564928" y="518695"/>
                        <a:pt x="3579963" y="526212"/>
                      </a:cubicBezTo>
                      <a:cubicBezTo>
                        <a:pt x="3588096" y="530278"/>
                        <a:pt x="3597216" y="531963"/>
                        <a:pt x="3605842" y="534838"/>
                      </a:cubicBezTo>
                      <a:cubicBezTo>
                        <a:pt x="3623095" y="546340"/>
                        <a:pt x="3645159" y="552756"/>
                        <a:pt x="3657600" y="569344"/>
                      </a:cubicBezTo>
                      <a:cubicBezTo>
                        <a:pt x="3674853" y="592348"/>
                        <a:pt x="3693409" y="614430"/>
                        <a:pt x="3709359" y="638355"/>
                      </a:cubicBezTo>
                      <a:cubicBezTo>
                        <a:pt x="3750631" y="700264"/>
                        <a:pt x="3729202" y="675451"/>
                        <a:pt x="3769744" y="715993"/>
                      </a:cubicBezTo>
                      <a:cubicBezTo>
                        <a:pt x="3786086" y="765020"/>
                        <a:pt x="3771940" y="735441"/>
                        <a:pt x="3830129" y="793630"/>
                      </a:cubicBezTo>
                      <a:cubicBezTo>
                        <a:pt x="3838756" y="802257"/>
                        <a:pt x="3844434" y="815652"/>
                        <a:pt x="3856008" y="819510"/>
                      </a:cubicBezTo>
                      <a:cubicBezTo>
                        <a:pt x="3959668" y="854062"/>
                        <a:pt x="3889605" y="835806"/>
                        <a:pt x="4071668" y="845389"/>
                      </a:cubicBezTo>
                      <a:cubicBezTo>
                        <a:pt x="4083170" y="848264"/>
                        <a:pt x="4095880" y="848133"/>
                        <a:pt x="4106174" y="854015"/>
                      </a:cubicBezTo>
                      <a:cubicBezTo>
                        <a:pt x="4182944" y="897884"/>
                        <a:pt x="4047960" y="886364"/>
                        <a:pt x="4209691" y="940279"/>
                      </a:cubicBezTo>
                      <a:cubicBezTo>
                        <a:pt x="4246817" y="952655"/>
                        <a:pt x="4226748" y="946701"/>
                        <a:pt x="4270076" y="957532"/>
                      </a:cubicBezTo>
                      <a:cubicBezTo>
                        <a:pt x="4354026" y="999508"/>
                        <a:pt x="4301895" y="978561"/>
                        <a:pt x="4477110" y="992038"/>
                      </a:cubicBezTo>
                      <a:lnTo>
                        <a:pt x="4589253" y="1000664"/>
                      </a:lnTo>
                      <a:cubicBezTo>
                        <a:pt x="4606506" y="1003540"/>
                        <a:pt x="4624259" y="1004265"/>
                        <a:pt x="4641012" y="1009291"/>
                      </a:cubicBezTo>
                      <a:cubicBezTo>
                        <a:pt x="4653329" y="1012986"/>
                        <a:pt x="4663697" y="1021479"/>
                        <a:pt x="4675517" y="1026544"/>
                      </a:cubicBezTo>
                      <a:cubicBezTo>
                        <a:pt x="4683875" y="1030126"/>
                        <a:pt x="4692770" y="1032295"/>
                        <a:pt x="4701397" y="1035170"/>
                      </a:cubicBezTo>
                      <a:cubicBezTo>
                        <a:pt x="4710023" y="1040921"/>
                        <a:pt x="4718003" y="1047786"/>
                        <a:pt x="4727276" y="1052423"/>
                      </a:cubicBezTo>
                      <a:cubicBezTo>
                        <a:pt x="4747909" y="1062740"/>
                        <a:pt x="4773887" y="1070836"/>
                        <a:pt x="4796287" y="1078302"/>
                      </a:cubicBezTo>
                      <a:cubicBezTo>
                        <a:pt x="4850539" y="1114471"/>
                        <a:pt x="4792339" y="1079861"/>
                        <a:pt x="4891178" y="1112808"/>
                      </a:cubicBezTo>
                      <a:cubicBezTo>
                        <a:pt x="4908431" y="1118559"/>
                        <a:pt x="4924997" y="1127071"/>
                        <a:pt x="4942936" y="1130061"/>
                      </a:cubicBezTo>
                      <a:cubicBezTo>
                        <a:pt x="5006389" y="1140636"/>
                        <a:pt x="4977726" y="1134445"/>
                        <a:pt x="5029200" y="1147313"/>
                      </a:cubicBezTo>
                      <a:cubicBezTo>
                        <a:pt x="5037827" y="1153064"/>
                        <a:pt x="5045454" y="1160715"/>
                        <a:pt x="5055080" y="1164566"/>
                      </a:cubicBezTo>
                      <a:cubicBezTo>
                        <a:pt x="5146049" y="1200954"/>
                        <a:pt x="5140387" y="1196471"/>
                        <a:pt x="5218981" y="1207698"/>
                      </a:cubicBezTo>
                      <a:cubicBezTo>
                        <a:pt x="5257517" y="1233388"/>
                        <a:pt x="5253602" y="1233610"/>
                        <a:pt x="5313872" y="1250830"/>
                      </a:cubicBezTo>
                      <a:cubicBezTo>
                        <a:pt x="5330690" y="1255635"/>
                        <a:pt x="5348377" y="1256581"/>
                        <a:pt x="5365630" y="1259457"/>
                      </a:cubicBezTo>
                      <a:cubicBezTo>
                        <a:pt x="5442775" y="1298028"/>
                        <a:pt x="5410243" y="1285828"/>
                        <a:pt x="5460521" y="1302589"/>
                      </a:cubicBezTo>
                      <a:cubicBezTo>
                        <a:pt x="5466272" y="1311215"/>
                        <a:pt x="5469678" y="1321991"/>
                        <a:pt x="5477774" y="1328468"/>
                      </a:cubicBezTo>
                      <a:cubicBezTo>
                        <a:pt x="5484874" y="1334148"/>
                        <a:pt x="5495520" y="1333028"/>
                        <a:pt x="5503653" y="1337095"/>
                      </a:cubicBezTo>
                      <a:cubicBezTo>
                        <a:pt x="5512926" y="1341731"/>
                        <a:pt x="5521567" y="1347710"/>
                        <a:pt x="5529532" y="1354347"/>
                      </a:cubicBezTo>
                      <a:cubicBezTo>
                        <a:pt x="5538904" y="1362157"/>
                        <a:pt x="5545119" y="1373677"/>
                        <a:pt x="5555412" y="1380227"/>
                      </a:cubicBezTo>
                      <a:cubicBezTo>
                        <a:pt x="5577110" y="1394035"/>
                        <a:pt x="5603024" y="1400466"/>
                        <a:pt x="5624423" y="1414732"/>
                      </a:cubicBezTo>
                      <a:cubicBezTo>
                        <a:pt x="5642197" y="1426581"/>
                        <a:pt x="5677081" y="1450431"/>
                        <a:pt x="5693434" y="1457864"/>
                      </a:cubicBezTo>
                      <a:cubicBezTo>
                        <a:pt x="5709990" y="1465389"/>
                        <a:pt x="5727940" y="1469366"/>
                        <a:pt x="5745193" y="1475117"/>
                      </a:cubicBezTo>
                      <a:cubicBezTo>
                        <a:pt x="5753819" y="1477993"/>
                        <a:pt x="5763506" y="1478700"/>
                        <a:pt x="5771072" y="1483744"/>
                      </a:cubicBezTo>
                      <a:cubicBezTo>
                        <a:pt x="5779698" y="1489495"/>
                        <a:pt x="5788515" y="1494970"/>
                        <a:pt x="5796951" y="1500996"/>
                      </a:cubicBezTo>
                      <a:cubicBezTo>
                        <a:pt x="5808651" y="1509353"/>
                        <a:pt x="5818974" y="1519743"/>
                        <a:pt x="5831457" y="1526876"/>
                      </a:cubicBezTo>
                      <a:cubicBezTo>
                        <a:pt x="5839352" y="1531387"/>
                        <a:pt x="5848710" y="1532627"/>
                        <a:pt x="5857336" y="1535502"/>
                      </a:cubicBezTo>
                      <a:cubicBezTo>
                        <a:pt x="5920386" y="1577536"/>
                        <a:pt x="5841108" y="1526229"/>
                        <a:pt x="5917721" y="1570008"/>
                      </a:cubicBezTo>
                      <a:cubicBezTo>
                        <a:pt x="5926723" y="1575152"/>
                        <a:pt x="5935164" y="1581235"/>
                        <a:pt x="5943600" y="1587261"/>
                      </a:cubicBezTo>
                      <a:cubicBezTo>
                        <a:pt x="5955299" y="1595618"/>
                        <a:pt x="5965623" y="1606007"/>
                        <a:pt x="5978106" y="1613140"/>
                      </a:cubicBezTo>
                      <a:cubicBezTo>
                        <a:pt x="5986001" y="1617651"/>
                        <a:pt x="5995359" y="1618891"/>
                        <a:pt x="6003985" y="1621766"/>
                      </a:cubicBezTo>
                      <a:cubicBezTo>
                        <a:pt x="6078140" y="1671203"/>
                        <a:pt x="5984323" y="1611936"/>
                        <a:pt x="6055744" y="1647646"/>
                      </a:cubicBezTo>
                      <a:cubicBezTo>
                        <a:pt x="6065017" y="1652282"/>
                        <a:pt x="6072149" y="1660687"/>
                        <a:pt x="6081623" y="1664898"/>
                      </a:cubicBezTo>
                      <a:cubicBezTo>
                        <a:pt x="6098242" y="1672284"/>
                        <a:pt x="6117115" y="1674018"/>
                        <a:pt x="6133381" y="1682151"/>
                      </a:cubicBezTo>
                      <a:cubicBezTo>
                        <a:pt x="6152088" y="1691504"/>
                        <a:pt x="6172609" y="1703799"/>
                        <a:pt x="6193766" y="1708030"/>
                      </a:cubicBezTo>
                      <a:cubicBezTo>
                        <a:pt x="6213704" y="1712018"/>
                        <a:pt x="6234270" y="1712397"/>
                        <a:pt x="6254151" y="1716657"/>
                      </a:cubicBezTo>
                      <a:cubicBezTo>
                        <a:pt x="6274620" y="1721043"/>
                        <a:pt x="6294009" y="1729805"/>
                        <a:pt x="6314536" y="1733910"/>
                      </a:cubicBezTo>
                      <a:cubicBezTo>
                        <a:pt x="6337268" y="1738456"/>
                        <a:pt x="6360680" y="1738725"/>
                        <a:pt x="6383547" y="1742536"/>
                      </a:cubicBezTo>
                      <a:cubicBezTo>
                        <a:pt x="6395242" y="1744485"/>
                        <a:pt x="6406388" y="1749041"/>
                        <a:pt x="6418053" y="1751162"/>
                      </a:cubicBezTo>
                      <a:cubicBezTo>
                        <a:pt x="6438058" y="1754799"/>
                        <a:pt x="6458433" y="1756152"/>
                        <a:pt x="6478438" y="1759789"/>
                      </a:cubicBezTo>
                      <a:cubicBezTo>
                        <a:pt x="6490103" y="1761910"/>
                        <a:pt x="6501279" y="1766294"/>
                        <a:pt x="6512944" y="1768415"/>
                      </a:cubicBezTo>
                      <a:cubicBezTo>
                        <a:pt x="6532949" y="1772052"/>
                        <a:pt x="6553233" y="1773950"/>
                        <a:pt x="6573329" y="1777042"/>
                      </a:cubicBezTo>
                      <a:cubicBezTo>
                        <a:pt x="6590616" y="1779702"/>
                        <a:pt x="6607879" y="1782539"/>
                        <a:pt x="6625087" y="1785668"/>
                      </a:cubicBezTo>
                      <a:cubicBezTo>
                        <a:pt x="6639513" y="1788291"/>
                        <a:pt x="6653756" y="1791885"/>
                        <a:pt x="6668219" y="1794295"/>
                      </a:cubicBezTo>
                      <a:cubicBezTo>
                        <a:pt x="6688275" y="1797638"/>
                        <a:pt x="6708548" y="1799578"/>
                        <a:pt x="6728604" y="1802921"/>
                      </a:cubicBezTo>
                      <a:cubicBezTo>
                        <a:pt x="6743067" y="1805331"/>
                        <a:pt x="6757155" y="1810012"/>
                        <a:pt x="6771736" y="1811547"/>
                      </a:cubicBezTo>
                      <a:cubicBezTo>
                        <a:pt x="6811873" y="1815772"/>
                        <a:pt x="6852376" y="1815874"/>
                        <a:pt x="6892506" y="1820174"/>
                      </a:cubicBezTo>
                      <a:cubicBezTo>
                        <a:pt x="7181476" y="1851136"/>
                        <a:pt x="6811577" y="1827823"/>
                        <a:pt x="7194430" y="1846053"/>
                      </a:cubicBezTo>
                      <a:cubicBezTo>
                        <a:pt x="7205932" y="1848928"/>
                        <a:pt x="7217080" y="1854679"/>
                        <a:pt x="7228936" y="1854679"/>
                      </a:cubicBezTo>
                      <a:cubicBezTo>
                        <a:pt x="7411760" y="1854679"/>
                        <a:pt x="7429404" y="1851023"/>
                        <a:pt x="7565366" y="1837427"/>
                      </a:cubicBezTo>
                      <a:lnTo>
                        <a:pt x="7798280" y="1846053"/>
                      </a:lnTo>
                      <a:cubicBezTo>
                        <a:pt x="7875753" y="1850130"/>
                        <a:pt x="7885843" y="1854278"/>
                        <a:pt x="7953555" y="1863306"/>
                      </a:cubicBezTo>
                      <a:cubicBezTo>
                        <a:pt x="8120781" y="1885603"/>
                        <a:pt x="7931171" y="1858875"/>
                        <a:pt x="8082951" y="1880559"/>
                      </a:cubicBezTo>
                      <a:cubicBezTo>
                        <a:pt x="8143336" y="1900687"/>
                        <a:pt x="8128959" y="1880559"/>
                        <a:pt x="8143336" y="1923691"/>
                      </a:cubicBezTo>
                      <a:lnTo>
                        <a:pt x="8117457" y="1958196"/>
                      </a:lnTo>
                      <a:close/>
                    </a:path>
                  </a:pathLst>
                </a:cu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6" name="Oval 15"/>
              <p:cNvSpPr/>
              <p:nvPr/>
            </p:nvSpPr>
            <p:spPr>
              <a:xfrm>
                <a:off x="3407662" y="3512838"/>
                <a:ext cx="4118771" cy="225231"/>
              </a:xfrm>
              <a:custGeom>
                <a:avLst/>
                <a:gdLst>
                  <a:gd name="connsiteX0" fmla="*/ 0 w 5986732"/>
                  <a:gd name="connsiteY0" fmla="*/ 790432 h 1580864"/>
                  <a:gd name="connsiteX1" fmla="*/ 2993366 w 5986732"/>
                  <a:gd name="connsiteY1" fmla="*/ 0 h 1580864"/>
                  <a:gd name="connsiteX2" fmla="*/ 5986732 w 5986732"/>
                  <a:gd name="connsiteY2" fmla="*/ 790432 h 1580864"/>
                  <a:gd name="connsiteX3" fmla="*/ 2993366 w 5986732"/>
                  <a:gd name="connsiteY3" fmla="*/ 1580864 h 1580864"/>
                  <a:gd name="connsiteX4" fmla="*/ 0 w 5986732"/>
                  <a:gd name="connsiteY4" fmla="*/ 790432 h 1580864"/>
                  <a:gd name="connsiteX0" fmla="*/ 0 w 5999771"/>
                  <a:gd name="connsiteY0" fmla="*/ 790432 h 1648114"/>
                  <a:gd name="connsiteX1" fmla="*/ 2993366 w 5999771"/>
                  <a:gd name="connsiteY1" fmla="*/ 0 h 1648114"/>
                  <a:gd name="connsiteX2" fmla="*/ 5986732 w 5999771"/>
                  <a:gd name="connsiteY2" fmla="*/ 790432 h 1648114"/>
                  <a:gd name="connsiteX3" fmla="*/ 4039414 w 5999771"/>
                  <a:gd name="connsiteY3" fmla="*/ 1515591 h 1648114"/>
                  <a:gd name="connsiteX4" fmla="*/ 2993366 w 5999771"/>
                  <a:gd name="connsiteY4" fmla="*/ 1580864 h 1648114"/>
                  <a:gd name="connsiteX5" fmla="*/ 0 w 5999771"/>
                  <a:gd name="connsiteY5" fmla="*/ 790432 h 1648114"/>
                  <a:gd name="connsiteX0" fmla="*/ 0 w 5999111"/>
                  <a:gd name="connsiteY0" fmla="*/ 790432 h 1661421"/>
                  <a:gd name="connsiteX1" fmla="*/ 2993366 w 5999111"/>
                  <a:gd name="connsiteY1" fmla="*/ 0 h 1661421"/>
                  <a:gd name="connsiteX2" fmla="*/ 5986732 w 5999111"/>
                  <a:gd name="connsiteY2" fmla="*/ 790432 h 1661421"/>
                  <a:gd name="connsiteX3" fmla="*/ 4039414 w 5999111"/>
                  <a:gd name="connsiteY3" fmla="*/ 1515591 h 1661421"/>
                  <a:gd name="connsiteX4" fmla="*/ 3564961 w 5999111"/>
                  <a:gd name="connsiteY4" fmla="*/ 1627734 h 1661421"/>
                  <a:gd name="connsiteX5" fmla="*/ 2993366 w 5999111"/>
                  <a:gd name="connsiteY5" fmla="*/ 1580864 h 1661421"/>
                  <a:gd name="connsiteX6" fmla="*/ 0 w 5999111"/>
                  <a:gd name="connsiteY6" fmla="*/ 790432 h 1661421"/>
                  <a:gd name="connsiteX0" fmla="*/ 0 w 5999771"/>
                  <a:gd name="connsiteY0" fmla="*/ 790432 h 1648114"/>
                  <a:gd name="connsiteX1" fmla="*/ 2993366 w 5999771"/>
                  <a:gd name="connsiteY1" fmla="*/ 0 h 1648114"/>
                  <a:gd name="connsiteX2" fmla="*/ 5986732 w 5999771"/>
                  <a:gd name="connsiteY2" fmla="*/ 790432 h 1648114"/>
                  <a:gd name="connsiteX3" fmla="*/ 4039414 w 5999771"/>
                  <a:gd name="connsiteY3" fmla="*/ 1515591 h 1648114"/>
                  <a:gd name="connsiteX4" fmla="*/ 2993366 w 5999771"/>
                  <a:gd name="connsiteY4" fmla="*/ 1580864 h 1648114"/>
                  <a:gd name="connsiteX5" fmla="*/ 0 w 5999771"/>
                  <a:gd name="connsiteY5" fmla="*/ 790432 h 1648114"/>
                  <a:gd name="connsiteX0" fmla="*/ 0 w 5999130"/>
                  <a:gd name="connsiteY0" fmla="*/ 790432 h 1661421"/>
                  <a:gd name="connsiteX1" fmla="*/ 2993366 w 5999130"/>
                  <a:gd name="connsiteY1" fmla="*/ 0 h 1661421"/>
                  <a:gd name="connsiteX2" fmla="*/ 5986732 w 5999130"/>
                  <a:gd name="connsiteY2" fmla="*/ 790432 h 1661421"/>
                  <a:gd name="connsiteX3" fmla="*/ 4039414 w 5999130"/>
                  <a:gd name="connsiteY3" fmla="*/ 1515591 h 1661421"/>
                  <a:gd name="connsiteX4" fmla="*/ 3547708 w 5999130"/>
                  <a:gd name="connsiteY4" fmla="*/ 1627734 h 1661421"/>
                  <a:gd name="connsiteX5" fmla="*/ 2993366 w 5999130"/>
                  <a:gd name="connsiteY5" fmla="*/ 1580864 h 1661421"/>
                  <a:gd name="connsiteX6" fmla="*/ 0 w 5999130"/>
                  <a:gd name="connsiteY6" fmla="*/ 790432 h 1661421"/>
                  <a:gd name="connsiteX0" fmla="*/ 3547708 w 5999130"/>
                  <a:gd name="connsiteY0" fmla="*/ 1627734 h 1719174"/>
                  <a:gd name="connsiteX1" fmla="*/ 2993366 w 5999130"/>
                  <a:gd name="connsiteY1" fmla="*/ 1580864 h 1719174"/>
                  <a:gd name="connsiteX2" fmla="*/ 0 w 5999130"/>
                  <a:gd name="connsiteY2" fmla="*/ 790432 h 1719174"/>
                  <a:gd name="connsiteX3" fmla="*/ 2993366 w 5999130"/>
                  <a:gd name="connsiteY3" fmla="*/ 0 h 1719174"/>
                  <a:gd name="connsiteX4" fmla="*/ 5986732 w 5999130"/>
                  <a:gd name="connsiteY4" fmla="*/ 790432 h 1719174"/>
                  <a:gd name="connsiteX5" fmla="*/ 4039414 w 5999130"/>
                  <a:gd name="connsiteY5" fmla="*/ 1515591 h 1719174"/>
                  <a:gd name="connsiteX6" fmla="*/ 3639148 w 5999130"/>
                  <a:gd name="connsiteY6" fmla="*/ 1719174 h 1719174"/>
                  <a:gd name="connsiteX0" fmla="*/ 3547708 w 5999130"/>
                  <a:gd name="connsiteY0" fmla="*/ 1627734 h 1822691"/>
                  <a:gd name="connsiteX1" fmla="*/ 2993366 w 5999130"/>
                  <a:gd name="connsiteY1" fmla="*/ 1580864 h 1822691"/>
                  <a:gd name="connsiteX2" fmla="*/ 0 w 5999130"/>
                  <a:gd name="connsiteY2" fmla="*/ 790432 h 1822691"/>
                  <a:gd name="connsiteX3" fmla="*/ 2993366 w 5999130"/>
                  <a:gd name="connsiteY3" fmla="*/ 0 h 1822691"/>
                  <a:gd name="connsiteX4" fmla="*/ 5986732 w 5999130"/>
                  <a:gd name="connsiteY4" fmla="*/ 790432 h 1822691"/>
                  <a:gd name="connsiteX5" fmla="*/ 4039414 w 5999130"/>
                  <a:gd name="connsiteY5" fmla="*/ 1515591 h 1822691"/>
                  <a:gd name="connsiteX6" fmla="*/ 4070469 w 5999130"/>
                  <a:gd name="connsiteY6" fmla="*/ 1822691 h 1822691"/>
                  <a:gd name="connsiteX0" fmla="*/ 3547708 w 5999130"/>
                  <a:gd name="connsiteY0" fmla="*/ 1627734 h 1661421"/>
                  <a:gd name="connsiteX1" fmla="*/ 2993366 w 5999130"/>
                  <a:gd name="connsiteY1" fmla="*/ 1580864 h 1661421"/>
                  <a:gd name="connsiteX2" fmla="*/ 0 w 5999130"/>
                  <a:gd name="connsiteY2" fmla="*/ 790432 h 1661421"/>
                  <a:gd name="connsiteX3" fmla="*/ 2993366 w 5999130"/>
                  <a:gd name="connsiteY3" fmla="*/ 0 h 1661421"/>
                  <a:gd name="connsiteX4" fmla="*/ 5986732 w 5999130"/>
                  <a:gd name="connsiteY4" fmla="*/ 790432 h 1661421"/>
                  <a:gd name="connsiteX5" fmla="*/ 4039414 w 5999130"/>
                  <a:gd name="connsiteY5" fmla="*/ 1515591 h 1661421"/>
                  <a:gd name="connsiteX6" fmla="*/ 3682281 w 5999130"/>
                  <a:gd name="connsiteY6" fmla="*/ 1348238 h 1661421"/>
                  <a:gd name="connsiteX0" fmla="*/ 3547708 w 6002903"/>
                  <a:gd name="connsiteY0" fmla="*/ 1627734 h 1751678"/>
                  <a:gd name="connsiteX1" fmla="*/ 2993366 w 6002903"/>
                  <a:gd name="connsiteY1" fmla="*/ 1580864 h 1751678"/>
                  <a:gd name="connsiteX2" fmla="*/ 0 w 6002903"/>
                  <a:gd name="connsiteY2" fmla="*/ 790432 h 1751678"/>
                  <a:gd name="connsiteX3" fmla="*/ 2993366 w 6002903"/>
                  <a:gd name="connsiteY3" fmla="*/ 0 h 1751678"/>
                  <a:gd name="connsiteX4" fmla="*/ 5986732 w 6002903"/>
                  <a:gd name="connsiteY4" fmla="*/ 790432 h 1751678"/>
                  <a:gd name="connsiteX5" fmla="*/ 4470735 w 6002903"/>
                  <a:gd name="connsiteY5" fmla="*/ 1731252 h 1751678"/>
                  <a:gd name="connsiteX6" fmla="*/ 3682281 w 6002903"/>
                  <a:gd name="connsiteY6" fmla="*/ 1348238 h 1751678"/>
                  <a:gd name="connsiteX0" fmla="*/ 3547708 w 6113862"/>
                  <a:gd name="connsiteY0" fmla="*/ 1628765 h 1752709"/>
                  <a:gd name="connsiteX1" fmla="*/ 2993366 w 6113862"/>
                  <a:gd name="connsiteY1" fmla="*/ 1581895 h 1752709"/>
                  <a:gd name="connsiteX2" fmla="*/ 0 w 6113862"/>
                  <a:gd name="connsiteY2" fmla="*/ 791463 h 1752709"/>
                  <a:gd name="connsiteX3" fmla="*/ 2993366 w 6113862"/>
                  <a:gd name="connsiteY3" fmla="*/ 1031 h 1752709"/>
                  <a:gd name="connsiteX4" fmla="*/ 6098875 w 6113862"/>
                  <a:gd name="connsiteY4" fmla="*/ 644814 h 1752709"/>
                  <a:gd name="connsiteX5" fmla="*/ 4470735 w 6113862"/>
                  <a:gd name="connsiteY5" fmla="*/ 1732283 h 1752709"/>
                  <a:gd name="connsiteX6" fmla="*/ 3682281 w 6113862"/>
                  <a:gd name="connsiteY6" fmla="*/ 1349269 h 1752709"/>
                  <a:gd name="connsiteX0" fmla="*/ 3547708 w 6114093"/>
                  <a:gd name="connsiteY0" fmla="*/ 1644456 h 1768400"/>
                  <a:gd name="connsiteX1" fmla="*/ 2993366 w 6114093"/>
                  <a:gd name="connsiteY1" fmla="*/ 1597586 h 1768400"/>
                  <a:gd name="connsiteX2" fmla="*/ 0 w 6114093"/>
                  <a:gd name="connsiteY2" fmla="*/ 807154 h 1768400"/>
                  <a:gd name="connsiteX3" fmla="*/ 2993366 w 6114093"/>
                  <a:gd name="connsiteY3" fmla="*/ 16722 h 1768400"/>
                  <a:gd name="connsiteX4" fmla="*/ 5152220 w 6114093"/>
                  <a:gd name="connsiteY4" fmla="*/ 298735 h 1768400"/>
                  <a:gd name="connsiteX5" fmla="*/ 6098875 w 6114093"/>
                  <a:gd name="connsiteY5" fmla="*/ 660505 h 1768400"/>
                  <a:gd name="connsiteX6" fmla="*/ 4470735 w 6114093"/>
                  <a:gd name="connsiteY6" fmla="*/ 1747974 h 1768400"/>
                  <a:gd name="connsiteX7" fmla="*/ 3682281 w 6114093"/>
                  <a:gd name="connsiteY7" fmla="*/ 1364960 h 1768400"/>
                  <a:gd name="connsiteX0" fmla="*/ 3621352 w 6187737"/>
                  <a:gd name="connsiteY0" fmla="*/ 1627769 h 1751713"/>
                  <a:gd name="connsiteX1" fmla="*/ 3067010 w 6187737"/>
                  <a:gd name="connsiteY1" fmla="*/ 1580899 h 1751713"/>
                  <a:gd name="connsiteX2" fmla="*/ 73644 w 6187737"/>
                  <a:gd name="connsiteY2" fmla="*/ 790467 h 1751713"/>
                  <a:gd name="connsiteX3" fmla="*/ 1093812 w 6187737"/>
                  <a:gd name="connsiteY3" fmla="*/ 299300 h 1751713"/>
                  <a:gd name="connsiteX4" fmla="*/ 3067010 w 6187737"/>
                  <a:gd name="connsiteY4" fmla="*/ 35 h 1751713"/>
                  <a:gd name="connsiteX5" fmla="*/ 5225864 w 6187737"/>
                  <a:gd name="connsiteY5" fmla="*/ 282048 h 1751713"/>
                  <a:gd name="connsiteX6" fmla="*/ 6172519 w 6187737"/>
                  <a:gd name="connsiteY6" fmla="*/ 643818 h 1751713"/>
                  <a:gd name="connsiteX7" fmla="*/ 4544379 w 6187737"/>
                  <a:gd name="connsiteY7" fmla="*/ 1731287 h 1751713"/>
                  <a:gd name="connsiteX8" fmla="*/ 3755925 w 6187737"/>
                  <a:gd name="connsiteY8" fmla="*/ 1348273 h 1751713"/>
                  <a:gd name="connsiteX0" fmla="*/ 576228 w 6187737"/>
                  <a:gd name="connsiteY0" fmla="*/ 2015957 h 2016311"/>
                  <a:gd name="connsiteX1" fmla="*/ 3067010 w 6187737"/>
                  <a:gd name="connsiteY1" fmla="*/ 1580899 h 2016311"/>
                  <a:gd name="connsiteX2" fmla="*/ 73644 w 6187737"/>
                  <a:gd name="connsiteY2" fmla="*/ 790467 h 2016311"/>
                  <a:gd name="connsiteX3" fmla="*/ 1093812 w 6187737"/>
                  <a:gd name="connsiteY3" fmla="*/ 299300 h 2016311"/>
                  <a:gd name="connsiteX4" fmla="*/ 3067010 w 6187737"/>
                  <a:gd name="connsiteY4" fmla="*/ 35 h 2016311"/>
                  <a:gd name="connsiteX5" fmla="*/ 5225864 w 6187737"/>
                  <a:gd name="connsiteY5" fmla="*/ 282048 h 2016311"/>
                  <a:gd name="connsiteX6" fmla="*/ 6172519 w 6187737"/>
                  <a:gd name="connsiteY6" fmla="*/ 643818 h 2016311"/>
                  <a:gd name="connsiteX7" fmla="*/ 4544379 w 6187737"/>
                  <a:gd name="connsiteY7" fmla="*/ 1731287 h 2016311"/>
                  <a:gd name="connsiteX8" fmla="*/ 3755925 w 6187737"/>
                  <a:gd name="connsiteY8" fmla="*/ 1348273 h 2016311"/>
                  <a:gd name="connsiteX0" fmla="*/ 535720 w 6147229"/>
                  <a:gd name="connsiteY0" fmla="*/ 2015957 h 2016949"/>
                  <a:gd name="connsiteX1" fmla="*/ 274676 w 6147229"/>
                  <a:gd name="connsiteY1" fmla="*/ 1744801 h 2016949"/>
                  <a:gd name="connsiteX2" fmla="*/ 33136 w 6147229"/>
                  <a:gd name="connsiteY2" fmla="*/ 790467 h 2016949"/>
                  <a:gd name="connsiteX3" fmla="*/ 1053304 w 6147229"/>
                  <a:gd name="connsiteY3" fmla="*/ 299300 h 2016949"/>
                  <a:gd name="connsiteX4" fmla="*/ 3026502 w 6147229"/>
                  <a:gd name="connsiteY4" fmla="*/ 35 h 2016949"/>
                  <a:gd name="connsiteX5" fmla="*/ 5185356 w 6147229"/>
                  <a:gd name="connsiteY5" fmla="*/ 282048 h 2016949"/>
                  <a:gd name="connsiteX6" fmla="*/ 6132011 w 6147229"/>
                  <a:gd name="connsiteY6" fmla="*/ 643818 h 2016949"/>
                  <a:gd name="connsiteX7" fmla="*/ 4503871 w 6147229"/>
                  <a:gd name="connsiteY7" fmla="*/ 1731287 h 2016949"/>
                  <a:gd name="connsiteX8" fmla="*/ 3715417 w 6147229"/>
                  <a:gd name="connsiteY8" fmla="*/ 1348273 h 2016949"/>
                  <a:gd name="connsiteX0" fmla="*/ 535720 w 6147229"/>
                  <a:gd name="connsiteY0" fmla="*/ 2015957 h 2016949"/>
                  <a:gd name="connsiteX1" fmla="*/ 274676 w 6147229"/>
                  <a:gd name="connsiteY1" fmla="*/ 1744801 h 2016949"/>
                  <a:gd name="connsiteX2" fmla="*/ 33136 w 6147229"/>
                  <a:gd name="connsiteY2" fmla="*/ 790467 h 2016949"/>
                  <a:gd name="connsiteX3" fmla="*/ 1053304 w 6147229"/>
                  <a:gd name="connsiteY3" fmla="*/ 299300 h 2016949"/>
                  <a:gd name="connsiteX4" fmla="*/ 3026502 w 6147229"/>
                  <a:gd name="connsiteY4" fmla="*/ 35 h 2016949"/>
                  <a:gd name="connsiteX5" fmla="*/ 5185356 w 6147229"/>
                  <a:gd name="connsiteY5" fmla="*/ 282048 h 2016949"/>
                  <a:gd name="connsiteX6" fmla="*/ 6132011 w 6147229"/>
                  <a:gd name="connsiteY6" fmla="*/ 643818 h 2016949"/>
                  <a:gd name="connsiteX7" fmla="*/ 4503871 w 6147229"/>
                  <a:gd name="connsiteY7" fmla="*/ 1731287 h 2016949"/>
                  <a:gd name="connsiteX8" fmla="*/ 4077726 w 6147229"/>
                  <a:gd name="connsiteY8" fmla="*/ 1908990 h 2016949"/>
                  <a:gd name="connsiteX0" fmla="*/ 535720 w 6147229"/>
                  <a:gd name="connsiteY0" fmla="*/ 2015957 h 2016949"/>
                  <a:gd name="connsiteX1" fmla="*/ 274676 w 6147229"/>
                  <a:gd name="connsiteY1" fmla="*/ 1744801 h 2016949"/>
                  <a:gd name="connsiteX2" fmla="*/ 33136 w 6147229"/>
                  <a:gd name="connsiteY2" fmla="*/ 790467 h 2016949"/>
                  <a:gd name="connsiteX3" fmla="*/ 1053304 w 6147229"/>
                  <a:gd name="connsiteY3" fmla="*/ 299300 h 2016949"/>
                  <a:gd name="connsiteX4" fmla="*/ 3026502 w 6147229"/>
                  <a:gd name="connsiteY4" fmla="*/ 35 h 2016949"/>
                  <a:gd name="connsiteX5" fmla="*/ 5185356 w 6147229"/>
                  <a:gd name="connsiteY5" fmla="*/ 282048 h 2016949"/>
                  <a:gd name="connsiteX6" fmla="*/ 6132011 w 6147229"/>
                  <a:gd name="connsiteY6" fmla="*/ 643818 h 2016949"/>
                  <a:gd name="connsiteX7" fmla="*/ 4503871 w 6147229"/>
                  <a:gd name="connsiteY7" fmla="*/ 1731287 h 2016949"/>
                  <a:gd name="connsiteX0" fmla="*/ 535720 w 6147229"/>
                  <a:gd name="connsiteY0" fmla="*/ 2015957 h 2016949"/>
                  <a:gd name="connsiteX1" fmla="*/ 274676 w 6147229"/>
                  <a:gd name="connsiteY1" fmla="*/ 1744801 h 2016949"/>
                  <a:gd name="connsiteX2" fmla="*/ 33136 w 6147229"/>
                  <a:gd name="connsiteY2" fmla="*/ 790467 h 2016949"/>
                  <a:gd name="connsiteX3" fmla="*/ 1053304 w 6147229"/>
                  <a:gd name="connsiteY3" fmla="*/ 299300 h 2016949"/>
                  <a:gd name="connsiteX4" fmla="*/ 3026502 w 6147229"/>
                  <a:gd name="connsiteY4" fmla="*/ 35 h 2016949"/>
                  <a:gd name="connsiteX5" fmla="*/ 5185356 w 6147229"/>
                  <a:gd name="connsiteY5" fmla="*/ 282048 h 2016949"/>
                  <a:gd name="connsiteX6" fmla="*/ 6132011 w 6147229"/>
                  <a:gd name="connsiteY6" fmla="*/ 643818 h 2016949"/>
                  <a:gd name="connsiteX0" fmla="*/ 535720 w 5185356"/>
                  <a:gd name="connsiteY0" fmla="*/ 2015957 h 2016949"/>
                  <a:gd name="connsiteX1" fmla="*/ 274676 w 5185356"/>
                  <a:gd name="connsiteY1" fmla="*/ 1744801 h 2016949"/>
                  <a:gd name="connsiteX2" fmla="*/ 33136 w 5185356"/>
                  <a:gd name="connsiteY2" fmla="*/ 790467 h 2016949"/>
                  <a:gd name="connsiteX3" fmla="*/ 1053304 w 5185356"/>
                  <a:gd name="connsiteY3" fmla="*/ 299300 h 2016949"/>
                  <a:gd name="connsiteX4" fmla="*/ 3026502 w 5185356"/>
                  <a:gd name="connsiteY4" fmla="*/ 35 h 2016949"/>
                  <a:gd name="connsiteX5" fmla="*/ 5185356 w 5185356"/>
                  <a:gd name="connsiteY5" fmla="*/ 282048 h 2016949"/>
                  <a:gd name="connsiteX0" fmla="*/ 274676 w 5185356"/>
                  <a:gd name="connsiteY0" fmla="*/ 1744801 h 1744801"/>
                  <a:gd name="connsiteX1" fmla="*/ 33136 w 5185356"/>
                  <a:gd name="connsiteY1" fmla="*/ 790467 h 1744801"/>
                  <a:gd name="connsiteX2" fmla="*/ 1053304 w 5185356"/>
                  <a:gd name="connsiteY2" fmla="*/ 299300 h 1744801"/>
                  <a:gd name="connsiteX3" fmla="*/ 3026502 w 5185356"/>
                  <a:gd name="connsiteY3" fmla="*/ 35 h 1744801"/>
                  <a:gd name="connsiteX4" fmla="*/ 5185356 w 5185356"/>
                  <a:gd name="connsiteY4" fmla="*/ 282048 h 1744801"/>
                  <a:gd name="connsiteX0" fmla="*/ 0 w 5152220"/>
                  <a:gd name="connsiteY0" fmla="*/ 790467 h 790467"/>
                  <a:gd name="connsiteX1" fmla="*/ 1020168 w 5152220"/>
                  <a:gd name="connsiteY1" fmla="*/ 299300 h 790467"/>
                  <a:gd name="connsiteX2" fmla="*/ 2993366 w 5152220"/>
                  <a:gd name="connsiteY2" fmla="*/ 35 h 790467"/>
                  <a:gd name="connsiteX3" fmla="*/ 5152220 w 5152220"/>
                  <a:gd name="connsiteY3" fmla="*/ 282048 h 790467"/>
                  <a:gd name="connsiteX0" fmla="*/ 0 w 4132052"/>
                  <a:gd name="connsiteY0" fmla="*/ 299300 h 299300"/>
                  <a:gd name="connsiteX1" fmla="*/ 1973198 w 4132052"/>
                  <a:gd name="connsiteY1" fmla="*/ 35 h 299300"/>
                  <a:gd name="connsiteX2" fmla="*/ 4132052 w 4132052"/>
                  <a:gd name="connsiteY2" fmla="*/ 282048 h 299300"/>
                  <a:gd name="connsiteX0" fmla="*/ 0 w 4127625"/>
                  <a:gd name="connsiteY0" fmla="*/ 300099 h 300099"/>
                  <a:gd name="connsiteX1" fmla="*/ 1973198 w 4127625"/>
                  <a:gd name="connsiteY1" fmla="*/ 834 h 300099"/>
                  <a:gd name="connsiteX2" fmla="*/ 4127625 w 4127625"/>
                  <a:gd name="connsiteY2" fmla="*/ 225292 h 300099"/>
                  <a:gd name="connsiteX0" fmla="*/ 0 w 4127625"/>
                  <a:gd name="connsiteY0" fmla="*/ 300052 h 300052"/>
                  <a:gd name="connsiteX1" fmla="*/ 1973198 w 4127625"/>
                  <a:gd name="connsiteY1" fmla="*/ 787 h 300052"/>
                  <a:gd name="connsiteX2" fmla="*/ 4127625 w 4127625"/>
                  <a:gd name="connsiteY2" fmla="*/ 225245 h 300052"/>
                  <a:gd name="connsiteX0" fmla="*/ 0 w 4114343"/>
                  <a:gd name="connsiteY0" fmla="*/ 202003 h 224596"/>
                  <a:gd name="connsiteX1" fmla="*/ 1959916 w 4114343"/>
                  <a:gd name="connsiteY1" fmla="*/ 138 h 224596"/>
                  <a:gd name="connsiteX2" fmla="*/ 4114343 w 4114343"/>
                  <a:gd name="connsiteY2" fmla="*/ 224596 h 224596"/>
                  <a:gd name="connsiteX0" fmla="*/ 0 w 4114343"/>
                  <a:gd name="connsiteY0" fmla="*/ 201968 h 224561"/>
                  <a:gd name="connsiteX1" fmla="*/ 1959916 w 4114343"/>
                  <a:gd name="connsiteY1" fmla="*/ 103 h 224561"/>
                  <a:gd name="connsiteX2" fmla="*/ 4114343 w 4114343"/>
                  <a:gd name="connsiteY2" fmla="*/ 224561 h 224561"/>
                  <a:gd name="connsiteX0" fmla="*/ 0 w 4092207"/>
                  <a:gd name="connsiteY0" fmla="*/ 158851 h 225718"/>
                  <a:gd name="connsiteX1" fmla="*/ 1937780 w 4092207"/>
                  <a:gd name="connsiteY1" fmla="*/ 1260 h 225718"/>
                  <a:gd name="connsiteX2" fmla="*/ 4092207 w 4092207"/>
                  <a:gd name="connsiteY2" fmla="*/ 225718 h 225718"/>
                  <a:gd name="connsiteX0" fmla="*/ 0 w 4092207"/>
                  <a:gd name="connsiteY0" fmla="*/ 158364 h 225231"/>
                  <a:gd name="connsiteX1" fmla="*/ 1937780 w 4092207"/>
                  <a:gd name="connsiteY1" fmla="*/ 773 h 225231"/>
                  <a:gd name="connsiteX2" fmla="*/ 4092207 w 4092207"/>
                  <a:gd name="connsiteY2" fmla="*/ 225231 h 225231"/>
                  <a:gd name="connsiteX0" fmla="*/ 0 w 4118771"/>
                  <a:gd name="connsiteY0" fmla="*/ 158364 h 225231"/>
                  <a:gd name="connsiteX1" fmla="*/ 1964344 w 4118771"/>
                  <a:gd name="connsiteY1" fmla="*/ 773 h 225231"/>
                  <a:gd name="connsiteX2" fmla="*/ 4118771 w 4118771"/>
                  <a:gd name="connsiteY2" fmla="*/ 225231 h 225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18771" h="225231">
                    <a:moveTo>
                      <a:pt x="0" y="158364"/>
                    </a:moveTo>
                    <a:cubicBezTo>
                      <a:pt x="516603" y="101890"/>
                      <a:pt x="1277882" y="-10371"/>
                      <a:pt x="1964344" y="773"/>
                    </a:cubicBezTo>
                    <a:cubicBezTo>
                      <a:pt x="2650806" y="11917"/>
                      <a:pt x="3601186" y="126789"/>
                      <a:pt x="4118771" y="225231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8" name="Freeform 17"/>
            <p:cNvSpPr/>
            <p:nvPr/>
          </p:nvSpPr>
          <p:spPr>
            <a:xfrm>
              <a:off x="940279" y="3088254"/>
              <a:ext cx="8013940" cy="561388"/>
            </a:xfrm>
            <a:custGeom>
              <a:avLst/>
              <a:gdLst>
                <a:gd name="connsiteX0" fmla="*/ 0 w 8013940"/>
                <a:gd name="connsiteY0" fmla="*/ 517588 h 561388"/>
                <a:gd name="connsiteX1" fmla="*/ 0 w 8013940"/>
                <a:gd name="connsiteY1" fmla="*/ 517588 h 561388"/>
                <a:gd name="connsiteX2" fmla="*/ 138023 w 8013940"/>
                <a:gd name="connsiteY2" fmla="*/ 508961 h 561388"/>
                <a:gd name="connsiteX3" fmla="*/ 224287 w 8013940"/>
                <a:gd name="connsiteY3" fmla="*/ 483082 h 561388"/>
                <a:gd name="connsiteX4" fmla="*/ 276046 w 8013940"/>
                <a:gd name="connsiteY4" fmla="*/ 474455 h 561388"/>
                <a:gd name="connsiteX5" fmla="*/ 301925 w 8013940"/>
                <a:gd name="connsiteY5" fmla="*/ 465829 h 561388"/>
                <a:gd name="connsiteX6" fmla="*/ 552091 w 8013940"/>
                <a:gd name="connsiteY6" fmla="*/ 457203 h 561388"/>
                <a:gd name="connsiteX7" fmla="*/ 681487 w 8013940"/>
                <a:gd name="connsiteY7" fmla="*/ 439950 h 561388"/>
                <a:gd name="connsiteX8" fmla="*/ 741872 w 8013940"/>
                <a:gd name="connsiteY8" fmla="*/ 431323 h 561388"/>
                <a:gd name="connsiteX9" fmla="*/ 802257 w 8013940"/>
                <a:gd name="connsiteY9" fmla="*/ 414071 h 561388"/>
                <a:gd name="connsiteX10" fmla="*/ 862642 w 8013940"/>
                <a:gd name="connsiteY10" fmla="*/ 388191 h 561388"/>
                <a:gd name="connsiteX11" fmla="*/ 888521 w 8013940"/>
                <a:gd name="connsiteY11" fmla="*/ 370938 h 561388"/>
                <a:gd name="connsiteX12" fmla="*/ 940279 w 8013940"/>
                <a:gd name="connsiteY12" fmla="*/ 353686 h 561388"/>
                <a:gd name="connsiteX13" fmla="*/ 966159 w 8013940"/>
                <a:gd name="connsiteY13" fmla="*/ 345059 h 561388"/>
                <a:gd name="connsiteX14" fmla="*/ 1199072 w 8013940"/>
                <a:gd name="connsiteY14" fmla="*/ 327806 h 561388"/>
                <a:gd name="connsiteX15" fmla="*/ 1242204 w 8013940"/>
                <a:gd name="connsiteY15" fmla="*/ 319180 h 561388"/>
                <a:gd name="connsiteX16" fmla="*/ 1733910 w 8013940"/>
                <a:gd name="connsiteY16" fmla="*/ 319180 h 561388"/>
                <a:gd name="connsiteX17" fmla="*/ 2070340 w 8013940"/>
                <a:gd name="connsiteY17" fmla="*/ 310554 h 561388"/>
                <a:gd name="connsiteX18" fmla="*/ 2096219 w 8013940"/>
                <a:gd name="connsiteY18" fmla="*/ 301927 h 561388"/>
                <a:gd name="connsiteX19" fmla="*/ 2139351 w 8013940"/>
                <a:gd name="connsiteY19" fmla="*/ 293301 h 561388"/>
                <a:gd name="connsiteX20" fmla="*/ 2208363 w 8013940"/>
                <a:gd name="connsiteY20" fmla="*/ 284674 h 561388"/>
                <a:gd name="connsiteX21" fmla="*/ 2346385 w 8013940"/>
                <a:gd name="connsiteY21" fmla="*/ 267421 h 561388"/>
                <a:gd name="connsiteX22" fmla="*/ 2406770 w 8013940"/>
                <a:gd name="connsiteY22" fmla="*/ 250169 h 561388"/>
                <a:gd name="connsiteX23" fmla="*/ 2484408 w 8013940"/>
                <a:gd name="connsiteY23" fmla="*/ 224289 h 561388"/>
                <a:gd name="connsiteX24" fmla="*/ 2510287 w 8013940"/>
                <a:gd name="connsiteY24" fmla="*/ 215663 h 561388"/>
                <a:gd name="connsiteX25" fmla="*/ 2536166 w 8013940"/>
                <a:gd name="connsiteY25" fmla="*/ 207037 h 561388"/>
                <a:gd name="connsiteX26" fmla="*/ 2562046 w 8013940"/>
                <a:gd name="connsiteY26" fmla="*/ 189784 h 561388"/>
                <a:gd name="connsiteX27" fmla="*/ 2596551 w 8013940"/>
                <a:gd name="connsiteY27" fmla="*/ 181157 h 561388"/>
                <a:gd name="connsiteX28" fmla="*/ 2622430 w 8013940"/>
                <a:gd name="connsiteY28" fmla="*/ 172531 h 561388"/>
                <a:gd name="connsiteX29" fmla="*/ 2656936 w 8013940"/>
                <a:gd name="connsiteY29" fmla="*/ 155278 h 561388"/>
                <a:gd name="connsiteX30" fmla="*/ 2682815 w 8013940"/>
                <a:gd name="connsiteY30" fmla="*/ 138025 h 561388"/>
                <a:gd name="connsiteX31" fmla="*/ 2734574 w 8013940"/>
                <a:gd name="connsiteY31" fmla="*/ 129399 h 561388"/>
                <a:gd name="connsiteX32" fmla="*/ 2812212 w 8013940"/>
                <a:gd name="connsiteY32" fmla="*/ 103520 h 561388"/>
                <a:gd name="connsiteX33" fmla="*/ 2838091 w 8013940"/>
                <a:gd name="connsiteY33" fmla="*/ 94893 h 561388"/>
                <a:gd name="connsiteX34" fmla="*/ 2898476 w 8013940"/>
                <a:gd name="connsiteY34" fmla="*/ 86267 h 561388"/>
                <a:gd name="connsiteX35" fmla="*/ 2941608 w 8013940"/>
                <a:gd name="connsiteY35" fmla="*/ 77640 h 561388"/>
                <a:gd name="connsiteX36" fmla="*/ 3019246 w 8013940"/>
                <a:gd name="connsiteY36" fmla="*/ 69014 h 561388"/>
                <a:gd name="connsiteX37" fmla="*/ 3062378 w 8013940"/>
                <a:gd name="connsiteY37" fmla="*/ 60388 h 561388"/>
                <a:gd name="connsiteX38" fmla="*/ 3174521 w 8013940"/>
                <a:gd name="connsiteY38" fmla="*/ 51761 h 561388"/>
                <a:gd name="connsiteX39" fmla="*/ 3303917 w 8013940"/>
                <a:gd name="connsiteY39" fmla="*/ 34508 h 561388"/>
                <a:gd name="connsiteX40" fmla="*/ 3502325 w 8013940"/>
                <a:gd name="connsiteY40" fmla="*/ 17255 h 561388"/>
                <a:gd name="connsiteX41" fmla="*/ 3545457 w 8013940"/>
                <a:gd name="connsiteY41" fmla="*/ 8629 h 561388"/>
                <a:gd name="connsiteX42" fmla="*/ 3899140 w 8013940"/>
                <a:gd name="connsiteY42" fmla="*/ 8629 h 561388"/>
                <a:gd name="connsiteX43" fmla="*/ 3994030 w 8013940"/>
                <a:gd name="connsiteY43" fmla="*/ 25882 h 561388"/>
                <a:gd name="connsiteX44" fmla="*/ 4063042 w 8013940"/>
                <a:gd name="connsiteY44" fmla="*/ 34508 h 561388"/>
                <a:gd name="connsiteX45" fmla="*/ 4088921 w 8013940"/>
                <a:gd name="connsiteY45" fmla="*/ 43135 h 561388"/>
                <a:gd name="connsiteX46" fmla="*/ 4183812 w 8013940"/>
                <a:gd name="connsiteY46" fmla="*/ 60388 h 561388"/>
                <a:gd name="connsiteX47" fmla="*/ 4235570 w 8013940"/>
                <a:gd name="connsiteY47" fmla="*/ 77640 h 561388"/>
                <a:gd name="connsiteX48" fmla="*/ 4270076 w 8013940"/>
                <a:gd name="connsiteY48" fmla="*/ 86267 h 561388"/>
                <a:gd name="connsiteX49" fmla="*/ 4330461 w 8013940"/>
                <a:gd name="connsiteY49" fmla="*/ 112146 h 561388"/>
                <a:gd name="connsiteX50" fmla="*/ 4364966 w 8013940"/>
                <a:gd name="connsiteY50" fmla="*/ 120772 h 561388"/>
                <a:gd name="connsiteX51" fmla="*/ 4390846 w 8013940"/>
                <a:gd name="connsiteY51" fmla="*/ 129399 h 561388"/>
                <a:gd name="connsiteX52" fmla="*/ 4433978 w 8013940"/>
                <a:gd name="connsiteY52" fmla="*/ 138025 h 561388"/>
                <a:gd name="connsiteX53" fmla="*/ 4485736 w 8013940"/>
                <a:gd name="connsiteY53" fmla="*/ 155278 h 561388"/>
                <a:gd name="connsiteX54" fmla="*/ 4511615 w 8013940"/>
                <a:gd name="connsiteY54" fmla="*/ 163904 h 561388"/>
                <a:gd name="connsiteX55" fmla="*/ 4537495 w 8013940"/>
                <a:gd name="connsiteY55" fmla="*/ 172531 h 561388"/>
                <a:gd name="connsiteX56" fmla="*/ 4589253 w 8013940"/>
                <a:gd name="connsiteY56" fmla="*/ 181157 h 561388"/>
                <a:gd name="connsiteX57" fmla="*/ 4684144 w 8013940"/>
                <a:gd name="connsiteY57" fmla="*/ 207037 h 561388"/>
                <a:gd name="connsiteX58" fmla="*/ 4735902 w 8013940"/>
                <a:gd name="connsiteY58" fmla="*/ 215663 h 561388"/>
                <a:gd name="connsiteX59" fmla="*/ 4761781 w 8013940"/>
                <a:gd name="connsiteY59" fmla="*/ 224289 h 561388"/>
                <a:gd name="connsiteX60" fmla="*/ 4822166 w 8013940"/>
                <a:gd name="connsiteY60" fmla="*/ 232916 h 561388"/>
                <a:gd name="connsiteX61" fmla="*/ 4925683 w 8013940"/>
                <a:gd name="connsiteY61" fmla="*/ 250169 h 561388"/>
                <a:gd name="connsiteX62" fmla="*/ 4960189 w 8013940"/>
                <a:gd name="connsiteY62" fmla="*/ 258795 h 561388"/>
                <a:gd name="connsiteX63" fmla="*/ 5098212 w 8013940"/>
                <a:gd name="connsiteY63" fmla="*/ 276048 h 561388"/>
                <a:gd name="connsiteX64" fmla="*/ 5193102 w 8013940"/>
                <a:gd name="connsiteY64" fmla="*/ 293301 h 561388"/>
                <a:gd name="connsiteX65" fmla="*/ 5244861 w 8013940"/>
                <a:gd name="connsiteY65" fmla="*/ 301927 h 561388"/>
                <a:gd name="connsiteX66" fmla="*/ 5339751 w 8013940"/>
                <a:gd name="connsiteY66" fmla="*/ 310554 h 561388"/>
                <a:gd name="connsiteX67" fmla="*/ 5391510 w 8013940"/>
                <a:gd name="connsiteY67" fmla="*/ 319180 h 561388"/>
                <a:gd name="connsiteX68" fmla="*/ 5486400 w 8013940"/>
                <a:gd name="connsiteY68" fmla="*/ 327806 h 561388"/>
                <a:gd name="connsiteX69" fmla="*/ 5564038 w 8013940"/>
                <a:gd name="connsiteY69" fmla="*/ 336433 h 561388"/>
                <a:gd name="connsiteX70" fmla="*/ 5607170 w 8013940"/>
                <a:gd name="connsiteY70" fmla="*/ 345059 h 561388"/>
                <a:gd name="connsiteX71" fmla="*/ 5788325 w 8013940"/>
                <a:gd name="connsiteY71" fmla="*/ 362312 h 561388"/>
                <a:gd name="connsiteX72" fmla="*/ 5909095 w 8013940"/>
                <a:gd name="connsiteY72" fmla="*/ 379565 h 561388"/>
                <a:gd name="connsiteX73" fmla="*/ 6003985 w 8013940"/>
                <a:gd name="connsiteY73" fmla="*/ 388191 h 561388"/>
                <a:gd name="connsiteX74" fmla="*/ 6340415 w 8013940"/>
                <a:gd name="connsiteY74" fmla="*/ 396818 h 561388"/>
                <a:gd name="connsiteX75" fmla="*/ 6426679 w 8013940"/>
                <a:gd name="connsiteY75" fmla="*/ 405444 h 561388"/>
                <a:gd name="connsiteX76" fmla="*/ 6469812 w 8013940"/>
                <a:gd name="connsiteY76" fmla="*/ 414071 h 561388"/>
                <a:gd name="connsiteX77" fmla="*/ 6538823 w 8013940"/>
                <a:gd name="connsiteY77" fmla="*/ 422697 h 561388"/>
                <a:gd name="connsiteX78" fmla="*/ 6590581 w 8013940"/>
                <a:gd name="connsiteY78" fmla="*/ 431323 h 561388"/>
                <a:gd name="connsiteX79" fmla="*/ 6676846 w 8013940"/>
                <a:gd name="connsiteY79" fmla="*/ 439950 h 561388"/>
                <a:gd name="connsiteX80" fmla="*/ 6728604 w 8013940"/>
                <a:gd name="connsiteY80" fmla="*/ 448576 h 561388"/>
                <a:gd name="connsiteX81" fmla="*/ 6840747 w 8013940"/>
                <a:gd name="connsiteY81" fmla="*/ 457203 h 561388"/>
                <a:gd name="connsiteX82" fmla="*/ 6927012 w 8013940"/>
                <a:gd name="connsiteY82" fmla="*/ 465829 h 561388"/>
                <a:gd name="connsiteX83" fmla="*/ 7004649 w 8013940"/>
                <a:gd name="connsiteY83" fmla="*/ 474455 h 561388"/>
                <a:gd name="connsiteX84" fmla="*/ 7134046 w 8013940"/>
                <a:gd name="connsiteY84" fmla="*/ 483082 h 561388"/>
                <a:gd name="connsiteX85" fmla="*/ 7366959 w 8013940"/>
                <a:gd name="connsiteY85" fmla="*/ 500335 h 561388"/>
                <a:gd name="connsiteX86" fmla="*/ 7496355 w 8013940"/>
                <a:gd name="connsiteY86" fmla="*/ 517588 h 561388"/>
                <a:gd name="connsiteX87" fmla="*/ 7660257 w 8013940"/>
                <a:gd name="connsiteY87" fmla="*/ 526214 h 561388"/>
                <a:gd name="connsiteX88" fmla="*/ 7703389 w 8013940"/>
                <a:gd name="connsiteY88" fmla="*/ 534840 h 561388"/>
                <a:gd name="connsiteX89" fmla="*/ 7832785 w 8013940"/>
                <a:gd name="connsiteY89" fmla="*/ 552093 h 561388"/>
                <a:gd name="connsiteX90" fmla="*/ 7919049 w 8013940"/>
                <a:gd name="connsiteY90" fmla="*/ 560720 h 561388"/>
                <a:gd name="connsiteX91" fmla="*/ 8013940 w 8013940"/>
                <a:gd name="connsiteY91" fmla="*/ 560720 h 561388"/>
                <a:gd name="connsiteX92" fmla="*/ 8013940 w 8013940"/>
                <a:gd name="connsiteY92" fmla="*/ 560720 h 561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013940" h="561388">
                  <a:moveTo>
                    <a:pt x="0" y="517588"/>
                  </a:moveTo>
                  <a:lnTo>
                    <a:pt x="0" y="517588"/>
                  </a:lnTo>
                  <a:cubicBezTo>
                    <a:pt x="46008" y="514712"/>
                    <a:pt x="92154" y="513548"/>
                    <a:pt x="138023" y="508961"/>
                  </a:cubicBezTo>
                  <a:cubicBezTo>
                    <a:pt x="175536" y="505210"/>
                    <a:pt x="183731" y="489842"/>
                    <a:pt x="224287" y="483082"/>
                  </a:cubicBezTo>
                  <a:cubicBezTo>
                    <a:pt x="241540" y="480206"/>
                    <a:pt x="258972" y="478249"/>
                    <a:pt x="276046" y="474455"/>
                  </a:cubicBezTo>
                  <a:cubicBezTo>
                    <a:pt x="284922" y="472482"/>
                    <a:pt x="292850" y="466396"/>
                    <a:pt x="301925" y="465829"/>
                  </a:cubicBezTo>
                  <a:cubicBezTo>
                    <a:pt x="385201" y="460625"/>
                    <a:pt x="468702" y="460078"/>
                    <a:pt x="552091" y="457203"/>
                  </a:cubicBezTo>
                  <a:cubicBezTo>
                    <a:pt x="723358" y="440075"/>
                    <a:pt x="574292" y="457816"/>
                    <a:pt x="681487" y="439950"/>
                  </a:cubicBezTo>
                  <a:cubicBezTo>
                    <a:pt x="701543" y="436607"/>
                    <a:pt x="721867" y="434960"/>
                    <a:pt x="741872" y="431323"/>
                  </a:cubicBezTo>
                  <a:cubicBezTo>
                    <a:pt x="765705" y="426990"/>
                    <a:pt x="780082" y="421462"/>
                    <a:pt x="802257" y="414071"/>
                  </a:cubicBezTo>
                  <a:cubicBezTo>
                    <a:pt x="867227" y="370757"/>
                    <a:pt x="784656" y="421615"/>
                    <a:pt x="862642" y="388191"/>
                  </a:cubicBezTo>
                  <a:cubicBezTo>
                    <a:pt x="872171" y="384107"/>
                    <a:pt x="879047" y="375149"/>
                    <a:pt x="888521" y="370938"/>
                  </a:cubicBezTo>
                  <a:cubicBezTo>
                    <a:pt x="905139" y="363552"/>
                    <a:pt x="923026" y="359437"/>
                    <a:pt x="940279" y="353686"/>
                  </a:cubicBezTo>
                  <a:cubicBezTo>
                    <a:pt x="948906" y="350810"/>
                    <a:pt x="957086" y="345664"/>
                    <a:pt x="966159" y="345059"/>
                  </a:cubicBezTo>
                  <a:cubicBezTo>
                    <a:pt x="1130104" y="334130"/>
                    <a:pt x="1052477" y="340023"/>
                    <a:pt x="1199072" y="327806"/>
                  </a:cubicBezTo>
                  <a:cubicBezTo>
                    <a:pt x="1213449" y="324931"/>
                    <a:pt x="1227642" y="320893"/>
                    <a:pt x="1242204" y="319180"/>
                  </a:cubicBezTo>
                  <a:cubicBezTo>
                    <a:pt x="1417664" y="298539"/>
                    <a:pt x="1524312" y="314522"/>
                    <a:pt x="1733910" y="319180"/>
                  </a:cubicBezTo>
                  <a:cubicBezTo>
                    <a:pt x="1846053" y="316305"/>
                    <a:pt x="1958287" y="315890"/>
                    <a:pt x="2070340" y="310554"/>
                  </a:cubicBezTo>
                  <a:cubicBezTo>
                    <a:pt x="2079423" y="310121"/>
                    <a:pt x="2087397" y="304132"/>
                    <a:pt x="2096219" y="301927"/>
                  </a:cubicBezTo>
                  <a:cubicBezTo>
                    <a:pt x="2110443" y="298371"/>
                    <a:pt x="2124859" y="295530"/>
                    <a:pt x="2139351" y="293301"/>
                  </a:cubicBezTo>
                  <a:cubicBezTo>
                    <a:pt x="2162264" y="289776"/>
                    <a:pt x="2185413" y="287953"/>
                    <a:pt x="2208363" y="284674"/>
                  </a:cubicBezTo>
                  <a:cubicBezTo>
                    <a:pt x="2333208" y="266839"/>
                    <a:pt x="2169058" y="285155"/>
                    <a:pt x="2346385" y="267421"/>
                  </a:cubicBezTo>
                  <a:cubicBezTo>
                    <a:pt x="2433376" y="238425"/>
                    <a:pt x="2298426" y="282672"/>
                    <a:pt x="2406770" y="250169"/>
                  </a:cubicBezTo>
                  <a:cubicBezTo>
                    <a:pt x="2406832" y="250151"/>
                    <a:pt x="2471438" y="228613"/>
                    <a:pt x="2484408" y="224289"/>
                  </a:cubicBezTo>
                  <a:lnTo>
                    <a:pt x="2510287" y="215663"/>
                  </a:lnTo>
                  <a:lnTo>
                    <a:pt x="2536166" y="207037"/>
                  </a:lnTo>
                  <a:cubicBezTo>
                    <a:pt x="2544793" y="201286"/>
                    <a:pt x="2552516" y="193868"/>
                    <a:pt x="2562046" y="189784"/>
                  </a:cubicBezTo>
                  <a:cubicBezTo>
                    <a:pt x="2572943" y="185114"/>
                    <a:pt x="2585151" y="184414"/>
                    <a:pt x="2596551" y="181157"/>
                  </a:cubicBezTo>
                  <a:cubicBezTo>
                    <a:pt x="2605294" y="178659"/>
                    <a:pt x="2614072" y="176113"/>
                    <a:pt x="2622430" y="172531"/>
                  </a:cubicBezTo>
                  <a:cubicBezTo>
                    <a:pt x="2634250" y="167465"/>
                    <a:pt x="2645771" y="161658"/>
                    <a:pt x="2656936" y="155278"/>
                  </a:cubicBezTo>
                  <a:cubicBezTo>
                    <a:pt x="2665938" y="150134"/>
                    <a:pt x="2672979" y="141303"/>
                    <a:pt x="2682815" y="138025"/>
                  </a:cubicBezTo>
                  <a:cubicBezTo>
                    <a:pt x="2699408" y="132494"/>
                    <a:pt x="2717321" y="132274"/>
                    <a:pt x="2734574" y="129399"/>
                  </a:cubicBezTo>
                  <a:lnTo>
                    <a:pt x="2812212" y="103520"/>
                  </a:lnTo>
                  <a:cubicBezTo>
                    <a:pt x="2820838" y="100645"/>
                    <a:pt x="2829089" y="96179"/>
                    <a:pt x="2838091" y="94893"/>
                  </a:cubicBezTo>
                  <a:cubicBezTo>
                    <a:pt x="2858219" y="92018"/>
                    <a:pt x="2878420" y="89610"/>
                    <a:pt x="2898476" y="86267"/>
                  </a:cubicBezTo>
                  <a:cubicBezTo>
                    <a:pt x="2912939" y="83857"/>
                    <a:pt x="2927093" y="79714"/>
                    <a:pt x="2941608" y="77640"/>
                  </a:cubicBezTo>
                  <a:cubicBezTo>
                    <a:pt x="2967385" y="73958"/>
                    <a:pt x="2993469" y="72696"/>
                    <a:pt x="3019246" y="69014"/>
                  </a:cubicBezTo>
                  <a:cubicBezTo>
                    <a:pt x="3033761" y="66941"/>
                    <a:pt x="3047806" y="62007"/>
                    <a:pt x="3062378" y="60388"/>
                  </a:cubicBezTo>
                  <a:cubicBezTo>
                    <a:pt x="3099640" y="56248"/>
                    <a:pt x="3137140" y="54637"/>
                    <a:pt x="3174521" y="51761"/>
                  </a:cubicBezTo>
                  <a:cubicBezTo>
                    <a:pt x="3241723" y="38321"/>
                    <a:pt x="3211473" y="42912"/>
                    <a:pt x="3303917" y="34508"/>
                  </a:cubicBezTo>
                  <a:lnTo>
                    <a:pt x="3502325" y="17255"/>
                  </a:lnTo>
                  <a:cubicBezTo>
                    <a:pt x="3516702" y="14380"/>
                    <a:pt x="3530855" y="9956"/>
                    <a:pt x="3545457" y="8629"/>
                  </a:cubicBezTo>
                  <a:cubicBezTo>
                    <a:pt x="3708879" y="-6227"/>
                    <a:pt x="3716782" y="1031"/>
                    <a:pt x="3899140" y="8629"/>
                  </a:cubicBezTo>
                  <a:cubicBezTo>
                    <a:pt x="3936278" y="16056"/>
                    <a:pt x="3955420" y="20366"/>
                    <a:pt x="3994030" y="25882"/>
                  </a:cubicBezTo>
                  <a:cubicBezTo>
                    <a:pt x="4016980" y="29161"/>
                    <a:pt x="4040038" y="31633"/>
                    <a:pt x="4063042" y="34508"/>
                  </a:cubicBezTo>
                  <a:cubicBezTo>
                    <a:pt x="4071668" y="37384"/>
                    <a:pt x="4080045" y="41162"/>
                    <a:pt x="4088921" y="43135"/>
                  </a:cubicBezTo>
                  <a:cubicBezTo>
                    <a:pt x="4124460" y="51033"/>
                    <a:pt x="4149249" y="50962"/>
                    <a:pt x="4183812" y="60388"/>
                  </a:cubicBezTo>
                  <a:cubicBezTo>
                    <a:pt x="4201357" y="65173"/>
                    <a:pt x="4217927" y="73229"/>
                    <a:pt x="4235570" y="77640"/>
                  </a:cubicBezTo>
                  <a:cubicBezTo>
                    <a:pt x="4247072" y="80516"/>
                    <a:pt x="4258676" y="83010"/>
                    <a:pt x="4270076" y="86267"/>
                  </a:cubicBezTo>
                  <a:cubicBezTo>
                    <a:pt x="4330064" y="103406"/>
                    <a:pt x="4256837" y="84537"/>
                    <a:pt x="4330461" y="112146"/>
                  </a:cubicBezTo>
                  <a:cubicBezTo>
                    <a:pt x="4341562" y="116309"/>
                    <a:pt x="4353567" y="117515"/>
                    <a:pt x="4364966" y="120772"/>
                  </a:cubicBezTo>
                  <a:cubicBezTo>
                    <a:pt x="4373709" y="123270"/>
                    <a:pt x="4382024" y="127194"/>
                    <a:pt x="4390846" y="129399"/>
                  </a:cubicBezTo>
                  <a:cubicBezTo>
                    <a:pt x="4405070" y="132955"/>
                    <a:pt x="4419833" y="134167"/>
                    <a:pt x="4433978" y="138025"/>
                  </a:cubicBezTo>
                  <a:cubicBezTo>
                    <a:pt x="4451523" y="142810"/>
                    <a:pt x="4468483" y="149527"/>
                    <a:pt x="4485736" y="155278"/>
                  </a:cubicBezTo>
                  <a:lnTo>
                    <a:pt x="4511615" y="163904"/>
                  </a:lnTo>
                  <a:cubicBezTo>
                    <a:pt x="4520242" y="166780"/>
                    <a:pt x="4528525" y="171036"/>
                    <a:pt x="4537495" y="172531"/>
                  </a:cubicBezTo>
                  <a:lnTo>
                    <a:pt x="4589253" y="181157"/>
                  </a:lnTo>
                  <a:cubicBezTo>
                    <a:pt x="4622705" y="192309"/>
                    <a:pt x="4645223" y="200550"/>
                    <a:pt x="4684144" y="207037"/>
                  </a:cubicBezTo>
                  <a:cubicBezTo>
                    <a:pt x="4701397" y="209912"/>
                    <a:pt x="4718828" y="211869"/>
                    <a:pt x="4735902" y="215663"/>
                  </a:cubicBezTo>
                  <a:cubicBezTo>
                    <a:pt x="4744778" y="217635"/>
                    <a:pt x="4752865" y="222506"/>
                    <a:pt x="4761781" y="224289"/>
                  </a:cubicBezTo>
                  <a:cubicBezTo>
                    <a:pt x="4781719" y="228277"/>
                    <a:pt x="4802038" y="230040"/>
                    <a:pt x="4822166" y="232916"/>
                  </a:cubicBezTo>
                  <a:cubicBezTo>
                    <a:pt x="4879955" y="252178"/>
                    <a:pt x="4818372" y="233659"/>
                    <a:pt x="4925683" y="250169"/>
                  </a:cubicBezTo>
                  <a:cubicBezTo>
                    <a:pt x="4937401" y="251972"/>
                    <a:pt x="4948524" y="256674"/>
                    <a:pt x="4960189" y="258795"/>
                  </a:cubicBezTo>
                  <a:cubicBezTo>
                    <a:pt x="4998866" y="265827"/>
                    <a:pt x="5061177" y="271933"/>
                    <a:pt x="5098212" y="276048"/>
                  </a:cubicBezTo>
                  <a:cubicBezTo>
                    <a:pt x="5148952" y="292961"/>
                    <a:pt x="5107755" y="281109"/>
                    <a:pt x="5193102" y="293301"/>
                  </a:cubicBezTo>
                  <a:cubicBezTo>
                    <a:pt x="5210417" y="295775"/>
                    <a:pt x="5227490" y="299883"/>
                    <a:pt x="5244861" y="301927"/>
                  </a:cubicBezTo>
                  <a:cubicBezTo>
                    <a:pt x="5276404" y="305638"/>
                    <a:pt x="5308208" y="306843"/>
                    <a:pt x="5339751" y="310554"/>
                  </a:cubicBezTo>
                  <a:cubicBezTo>
                    <a:pt x="5357122" y="312598"/>
                    <a:pt x="5374139" y="317136"/>
                    <a:pt x="5391510" y="319180"/>
                  </a:cubicBezTo>
                  <a:cubicBezTo>
                    <a:pt x="5423053" y="322891"/>
                    <a:pt x="5454797" y="324646"/>
                    <a:pt x="5486400" y="327806"/>
                  </a:cubicBezTo>
                  <a:cubicBezTo>
                    <a:pt x="5512309" y="330397"/>
                    <a:pt x="5538261" y="332751"/>
                    <a:pt x="5564038" y="336433"/>
                  </a:cubicBezTo>
                  <a:cubicBezTo>
                    <a:pt x="5578553" y="338507"/>
                    <a:pt x="5592605" y="343378"/>
                    <a:pt x="5607170" y="345059"/>
                  </a:cubicBezTo>
                  <a:cubicBezTo>
                    <a:pt x="5667428" y="352012"/>
                    <a:pt x="5728492" y="352340"/>
                    <a:pt x="5788325" y="362312"/>
                  </a:cubicBezTo>
                  <a:cubicBezTo>
                    <a:pt x="5841997" y="371257"/>
                    <a:pt x="5850501" y="373397"/>
                    <a:pt x="5909095" y="379565"/>
                  </a:cubicBezTo>
                  <a:cubicBezTo>
                    <a:pt x="5940681" y="382890"/>
                    <a:pt x="5972250" y="386922"/>
                    <a:pt x="6003985" y="388191"/>
                  </a:cubicBezTo>
                  <a:cubicBezTo>
                    <a:pt x="6116076" y="392675"/>
                    <a:pt x="6228272" y="393942"/>
                    <a:pt x="6340415" y="396818"/>
                  </a:cubicBezTo>
                  <a:cubicBezTo>
                    <a:pt x="6369170" y="399693"/>
                    <a:pt x="6398034" y="401625"/>
                    <a:pt x="6426679" y="405444"/>
                  </a:cubicBezTo>
                  <a:cubicBezTo>
                    <a:pt x="6441213" y="407382"/>
                    <a:pt x="6455320" y="411841"/>
                    <a:pt x="6469812" y="414071"/>
                  </a:cubicBezTo>
                  <a:cubicBezTo>
                    <a:pt x="6492725" y="417596"/>
                    <a:pt x="6515873" y="419419"/>
                    <a:pt x="6538823" y="422697"/>
                  </a:cubicBezTo>
                  <a:cubicBezTo>
                    <a:pt x="6556138" y="425170"/>
                    <a:pt x="6573225" y="429154"/>
                    <a:pt x="6590581" y="431323"/>
                  </a:cubicBezTo>
                  <a:cubicBezTo>
                    <a:pt x="6619256" y="434907"/>
                    <a:pt x="6648171" y="436366"/>
                    <a:pt x="6676846" y="439950"/>
                  </a:cubicBezTo>
                  <a:cubicBezTo>
                    <a:pt x="6694202" y="442119"/>
                    <a:pt x="6711209" y="446745"/>
                    <a:pt x="6728604" y="448576"/>
                  </a:cubicBezTo>
                  <a:cubicBezTo>
                    <a:pt x="6765889" y="452501"/>
                    <a:pt x="6803397" y="453955"/>
                    <a:pt x="6840747" y="457203"/>
                  </a:cubicBezTo>
                  <a:cubicBezTo>
                    <a:pt x="6869537" y="459706"/>
                    <a:pt x="6898272" y="462804"/>
                    <a:pt x="6927012" y="465829"/>
                  </a:cubicBezTo>
                  <a:cubicBezTo>
                    <a:pt x="6952907" y="468555"/>
                    <a:pt x="6978701" y="472293"/>
                    <a:pt x="7004649" y="474455"/>
                  </a:cubicBezTo>
                  <a:cubicBezTo>
                    <a:pt x="7047728" y="478045"/>
                    <a:pt x="7090945" y="479767"/>
                    <a:pt x="7134046" y="483082"/>
                  </a:cubicBezTo>
                  <a:cubicBezTo>
                    <a:pt x="7411364" y="504414"/>
                    <a:pt x="6999091" y="477342"/>
                    <a:pt x="7366959" y="500335"/>
                  </a:cubicBezTo>
                  <a:cubicBezTo>
                    <a:pt x="7417800" y="508808"/>
                    <a:pt x="7440935" y="513629"/>
                    <a:pt x="7496355" y="517588"/>
                  </a:cubicBezTo>
                  <a:cubicBezTo>
                    <a:pt x="7550926" y="521486"/>
                    <a:pt x="7605623" y="523339"/>
                    <a:pt x="7660257" y="526214"/>
                  </a:cubicBezTo>
                  <a:cubicBezTo>
                    <a:pt x="7674634" y="529089"/>
                    <a:pt x="7688926" y="532430"/>
                    <a:pt x="7703389" y="534840"/>
                  </a:cubicBezTo>
                  <a:cubicBezTo>
                    <a:pt x="7731475" y="539521"/>
                    <a:pt x="7806591" y="549183"/>
                    <a:pt x="7832785" y="552093"/>
                  </a:cubicBezTo>
                  <a:cubicBezTo>
                    <a:pt x="7861506" y="555284"/>
                    <a:pt x="7890184" y="559345"/>
                    <a:pt x="7919049" y="560720"/>
                  </a:cubicBezTo>
                  <a:cubicBezTo>
                    <a:pt x="7950644" y="562225"/>
                    <a:pt x="7982310" y="560720"/>
                    <a:pt x="8013940" y="560720"/>
                  </a:cubicBezTo>
                  <a:lnTo>
                    <a:pt x="8013940" y="56072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47100" y="2687884"/>
              <a:ext cx="2039123" cy="724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0070C0"/>
                  </a:solidFill>
                </a:rPr>
                <a:t>Ellipsoid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 rot="203363">
              <a:off x="5306539" y="2354954"/>
              <a:ext cx="2490813" cy="724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FF0000"/>
                  </a:solidFill>
                </a:rPr>
                <a:t>Geoid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301515" y="1665400"/>
            <a:ext cx="2688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Topographic surface</a:t>
            </a:r>
          </a:p>
        </p:txBody>
      </p:sp>
      <p:cxnSp>
        <p:nvCxnSpPr>
          <p:cNvPr id="24" name="Straight Arrow Connector 23"/>
          <p:cNvCxnSpPr>
            <a:stCxn id="22" idx="1"/>
            <a:endCxn id="12" idx="63"/>
          </p:cNvCxnSpPr>
          <p:nvPr/>
        </p:nvCxnSpPr>
        <p:spPr>
          <a:xfrm flipH="1">
            <a:off x="2945821" y="1896233"/>
            <a:ext cx="355694" cy="1878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09097" y="2791004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Ocean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811984" y="2045336"/>
            <a:ext cx="27607" cy="613426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1"/>
            <a:endCxn id="18" idx="42"/>
          </p:cNvCxnSpPr>
          <p:nvPr/>
        </p:nvCxnSpPr>
        <p:spPr>
          <a:xfrm flipH="1">
            <a:off x="3425450" y="2262934"/>
            <a:ext cx="299133" cy="2890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562002" y="2533314"/>
            <a:ext cx="342318" cy="16890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112294" y="2332341"/>
            <a:ext cx="0" cy="2306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112294" y="2637674"/>
            <a:ext cx="0" cy="2055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6534" y="1895777"/>
            <a:ext cx="143899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dirty="0"/>
              <a:t>Ellipsoid height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8200" y="2806186"/>
            <a:ext cx="154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Geoid height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836" y="3933589"/>
            <a:ext cx="2657725" cy="26577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9836" y="6214827"/>
            <a:ext cx="191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Geoid height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2860" y="3933589"/>
            <a:ext cx="2234565" cy="267611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880382" y="5937828"/>
            <a:ext cx="2167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Mam Tor trig pillar  (Creative commons)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68600" y="1847850"/>
            <a:ext cx="86725" cy="198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Arrow Connector 29"/>
          <p:cNvCxnSpPr>
            <a:stCxn id="4" idx="2"/>
            <a:endCxn id="18" idx="37"/>
          </p:cNvCxnSpPr>
          <p:nvPr/>
        </p:nvCxnSpPr>
        <p:spPr>
          <a:xfrm>
            <a:off x="2811963" y="2046078"/>
            <a:ext cx="80131" cy="53885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86534" y="1620799"/>
            <a:ext cx="181056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dirty="0" err="1"/>
              <a:t>Orthometric</a:t>
            </a:r>
            <a:r>
              <a:rPr lang="en-GB" dirty="0"/>
              <a:t> height</a:t>
            </a:r>
          </a:p>
        </p:txBody>
      </p:sp>
      <p:cxnSp>
        <p:nvCxnSpPr>
          <p:cNvPr id="10" name="Straight Connector 9"/>
          <p:cNvCxnSpPr>
            <a:stCxn id="34" idx="3"/>
          </p:cNvCxnSpPr>
          <p:nvPr/>
        </p:nvCxnSpPr>
        <p:spPr>
          <a:xfrm>
            <a:off x="2197100" y="1805465"/>
            <a:ext cx="658225" cy="5268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39" idx="3"/>
          </p:cNvCxnSpPr>
          <p:nvPr/>
        </p:nvCxnSpPr>
        <p:spPr>
          <a:xfrm>
            <a:off x="1825529" y="2080443"/>
            <a:ext cx="985234" cy="383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1027859">
            <a:off x="2885945" y="2473223"/>
            <a:ext cx="98756" cy="98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03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4914"/>
          </a:xfrm>
        </p:spPr>
        <p:txBody>
          <a:bodyPr/>
          <a:lstStyle/>
          <a:p>
            <a:r>
              <a:rPr lang="en-GB" dirty="0"/>
              <a:t>Digital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6628" y="727029"/>
            <a:ext cx="3434751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VOXELS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98917" y="1256206"/>
            <a:ext cx="2844800" cy="3440378"/>
            <a:chOff x="1599204" y="1944916"/>
            <a:chExt cx="3276600" cy="396257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99204" y="1973845"/>
              <a:ext cx="3276600" cy="3933649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1629671" y="1944916"/>
              <a:ext cx="1638300" cy="673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b="1" dirty="0"/>
                <a:t>PIXELS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86190" y="4885458"/>
            <a:ext cx="55932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The smallest unit of information in a 2D raster image.  In GIS a pixel is a cell in a regular array of data values. Each pixel has an </a:t>
            </a:r>
            <a:r>
              <a:rPr lang="en-GB" sz="2200" dirty="0" err="1"/>
              <a:t>x,y</a:t>
            </a:r>
            <a:r>
              <a:rPr lang="en-GB" sz="2200" dirty="0"/>
              <a:t> location and set of descriptors such as  R,G,B, or height. </a:t>
            </a:r>
          </a:p>
        </p:txBody>
      </p:sp>
      <p:grpSp>
        <p:nvGrpSpPr>
          <p:cNvPr id="177" name="Group 176"/>
          <p:cNvGrpSpPr/>
          <p:nvPr/>
        </p:nvGrpSpPr>
        <p:grpSpPr>
          <a:xfrm>
            <a:off x="6830547" y="611474"/>
            <a:ext cx="4287187" cy="3860078"/>
            <a:chOff x="6285130" y="1397247"/>
            <a:chExt cx="4287187" cy="3860078"/>
          </a:xfrm>
        </p:grpSpPr>
        <p:grpSp>
          <p:nvGrpSpPr>
            <p:cNvPr id="142" name="Group 141"/>
            <p:cNvGrpSpPr/>
            <p:nvPr/>
          </p:nvGrpSpPr>
          <p:grpSpPr>
            <a:xfrm>
              <a:off x="8216899" y="1397247"/>
              <a:ext cx="838200" cy="802481"/>
              <a:chOff x="8603456" y="3693320"/>
              <a:chExt cx="838200" cy="802481"/>
            </a:xfrm>
          </p:grpSpPr>
          <p:sp>
            <p:nvSpPr>
              <p:cNvPr id="143" name="Freeform 142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4" name="Freeform 143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5" name="Freeform 144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6" name="Group 145"/>
            <p:cNvGrpSpPr/>
            <p:nvPr/>
          </p:nvGrpSpPr>
          <p:grpSpPr>
            <a:xfrm>
              <a:off x="7641430" y="1728242"/>
              <a:ext cx="838200" cy="802481"/>
              <a:chOff x="8603456" y="3693320"/>
              <a:chExt cx="838200" cy="802481"/>
            </a:xfrm>
          </p:grpSpPr>
          <p:sp>
            <p:nvSpPr>
              <p:cNvPr id="147" name="Freeform 146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8" name="Freeform 147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9" name="Freeform 148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>
              <a:off x="8528650" y="1581200"/>
              <a:ext cx="838200" cy="802481"/>
              <a:chOff x="8603456" y="3693320"/>
              <a:chExt cx="838200" cy="802481"/>
            </a:xfrm>
          </p:grpSpPr>
          <p:sp>
            <p:nvSpPr>
              <p:cNvPr id="159" name="Freeform 158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Freeform 159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1" name="Freeform 160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2" name="Group 161"/>
            <p:cNvGrpSpPr/>
            <p:nvPr/>
          </p:nvGrpSpPr>
          <p:grpSpPr>
            <a:xfrm>
              <a:off x="7953181" y="1912195"/>
              <a:ext cx="838200" cy="802481"/>
              <a:chOff x="8603456" y="3693320"/>
              <a:chExt cx="838200" cy="802481"/>
            </a:xfrm>
          </p:grpSpPr>
          <p:sp>
            <p:nvSpPr>
              <p:cNvPr id="163" name="Freeform 162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4" name="Freeform 163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5" name="Freeform 164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0" name="Group 149"/>
            <p:cNvGrpSpPr/>
            <p:nvPr/>
          </p:nvGrpSpPr>
          <p:grpSpPr>
            <a:xfrm>
              <a:off x="8846345" y="1768478"/>
              <a:ext cx="838200" cy="802481"/>
              <a:chOff x="8603456" y="3693320"/>
              <a:chExt cx="838200" cy="802481"/>
            </a:xfrm>
          </p:grpSpPr>
          <p:sp>
            <p:nvSpPr>
              <p:cNvPr id="151" name="Freeform 150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2" name="Freeform 151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3" name="Freeform 152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4" name="Group 153"/>
            <p:cNvGrpSpPr/>
            <p:nvPr/>
          </p:nvGrpSpPr>
          <p:grpSpPr>
            <a:xfrm>
              <a:off x="8270876" y="2099473"/>
              <a:ext cx="838200" cy="802481"/>
              <a:chOff x="8603456" y="3693320"/>
              <a:chExt cx="838200" cy="802481"/>
            </a:xfrm>
          </p:grpSpPr>
          <p:sp>
            <p:nvSpPr>
              <p:cNvPr id="155" name="Freeform 154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6" name="Freeform 155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7" name="Freeform 156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075489" y="3357563"/>
              <a:ext cx="2930523" cy="1469232"/>
              <a:chOff x="7075489" y="3357563"/>
              <a:chExt cx="2930523" cy="1469232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7075489" y="3471964"/>
                <a:ext cx="838200" cy="802481"/>
                <a:chOff x="8603456" y="3693320"/>
                <a:chExt cx="838200" cy="802481"/>
              </a:xfrm>
            </p:grpSpPr>
            <p:sp>
              <p:nvSpPr>
                <p:cNvPr id="38" name="Freeform 37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7386635" y="3655320"/>
                <a:ext cx="838200" cy="802481"/>
                <a:chOff x="8603456" y="3693320"/>
                <a:chExt cx="838200" cy="802481"/>
              </a:xfrm>
            </p:grpSpPr>
            <p:sp>
              <p:nvSpPr>
                <p:cNvPr id="34" name="Freeform 33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Freeform 34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9" name="Group 28"/>
              <p:cNvGrpSpPr/>
              <p:nvPr/>
            </p:nvGrpSpPr>
            <p:grpSpPr>
              <a:xfrm>
                <a:off x="7700962" y="3839765"/>
                <a:ext cx="838200" cy="802481"/>
                <a:chOff x="8603456" y="3693320"/>
                <a:chExt cx="838200" cy="802481"/>
              </a:xfrm>
            </p:grpSpPr>
            <p:sp>
              <p:nvSpPr>
                <p:cNvPr id="30" name="Freeform 29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Freeform 30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9167812" y="3357563"/>
                <a:ext cx="838200" cy="802481"/>
                <a:chOff x="8603456" y="3693320"/>
                <a:chExt cx="838200" cy="802481"/>
              </a:xfrm>
            </p:grpSpPr>
            <p:sp>
              <p:nvSpPr>
                <p:cNvPr id="17" name="Freeform 16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Freeform 17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Freeform 18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8592343" y="3688558"/>
                <a:ext cx="838200" cy="802481"/>
                <a:chOff x="8603456" y="3693320"/>
                <a:chExt cx="838200" cy="802481"/>
              </a:xfrm>
            </p:grpSpPr>
            <p:sp>
              <p:nvSpPr>
                <p:cNvPr id="22" name="Freeform 21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Freeform 22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8016081" y="4024314"/>
                <a:ext cx="838200" cy="802481"/>
                <a:chOff x="8603456" y="3693320"/>
                <a:chExt cx="838200" cy="802481"/>
              </a:xfrm>
            </p:grpSpPr>
            <p:sp>
              <p:nvSpPr>
                <p:cNvPr id="26" name="Freeform 25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Freeform 26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Freeform 27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2" name="Group 41"/>
            <p:cNvGrpSpPr/>
            <p:nvPr/>
          </p:nvGrpSpPr>
          <p:grpSpPr>
            <a:xfrm>
              <a:off x="7072315" y="3008313"/>
              <a:ext cx="2930523" cy="1469232"/>
              <a:chOff x="7075489" y="3357563"/>
              <a:chExt cx="2930523" cy="1469232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075489" y="3471964"/>
                <a:ext cx="838200" cy="802481"/>
                <a:chOff x="8603456" y="3693320"/>
                <a:chExt cx="838200" cy="802481"/>
              </a:xfrm>
            </p:grpSpPr>
            <p:sp>
              <p:nvSpPr>
                <p:cNvPr id="64" name="Freeform 63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5" name="Freeform 64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7386635" y="3655320"/>
                <a:ext cx="838200" cy="802481"/>
                <a:chOff x="8603456" y="3693320"/>
                <a:chExt cx="838200" cy="802481"/>
              </a:xfrm>
            </p:grpSpPr>
            <p:sp>
              <p:nvSpPr>
                <p:cNvPr id="61" name="Freeform 60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2" name="Freeform 61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3" name="Freeform 62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7700962" y="3839765"/>
                <a:ext cx="838200" cy="802481"/>
                <a:chOff x="8603456" y="3693320"/>
                <a:chExt cx="838200" cy="802481"/>
              </a:xfrm>
            </p:grpSpPr>
            <p:sp>
              <p:nvSpPr>
                <p:cNvPr id="58" name="Freeform 57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0" name="Freeform 59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6" name="Group 45"/>
              <p:cNvGrpSpPr/>
              <p:nvPr/>
            </p:nvGrpSpPr>
            <p:grpSpPr>
              <a:xfrm>
                <a:off x="9167812" y="3357563"/>
                <a:ext cx="838200" cy="802481"/>
                <a:chOff x="8603456" y="3693320"/>
                <a:chExt cx="838200" cy="802481"/>
              </a:xfrm>
            </p:grpSpPr>
            <p:sp>
              <p:nvSpPr>
                <p:cNvPr id="55" name="Freeform 54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6" name="Freeform 55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7" name="Group 46"/>
              <p:cNvGrpSpPr/>
              <p:nvPr/>
            </p:nvGrpSpPr>
            <p:grpSpPr>
              <a:xfrm>
                <a:off x="8592343" y="3688558"/>
                <a:ext cx="838200" cy="802481"/>
                <a:chOff x="8603456" y="3693320"/>
                <a:chExt cx="838200" cy="802481"/>
              </a:xfrm>
            </p:grpSpPr>
            <p:sp>
              <p:nvSpPr>
                <p:cNvPr id="52" name="Freeform 51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3" name="Freeform 52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" name="Freeform 53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8016081" y="4024314"/>
                <a:ext cx="838200" cy="802481"/>
                <a:chOff x="8603456" y="3693320"/>
                <a:chExt cx="838200" cy="802481"/>
              </a:xfrm>
            </p:grpSpPr>
            <p:sp>
              <p:nvSpPr>
                <p:cNvPr id="49" name="Freeform 48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67" name="Group 66"/>
            <p:cNvGrpSpPr/>
            <p:nvPr/>
          </p:nvGrpSpPr>
          <p:grpSpPr>
            <a:xfrm>
              <a:off x="7075489" y="2657474"/>
              <a:ext cx="2930523" cy="1469232"/>
              <a:chOff x="7075489" y="3357563"/>
              <a:chExt cx="2930523" cy="1469232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7075489" y="3471964"/>
                <a:ext cx="838200" cy="802481"/>
                <a:chOff x="8603456" y="3693320"/>
                <a:chExt cx="838200" cy="802481"/>
              </a:xfrm>
            </p:grpSpPr>
            <p:sp>
              <p:nvSpPr>
                <p:cNvPr id="89" name="Freeform 88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0" name="Freeform 89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Freeform 90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69" name="Group 68"/>
              <p:cNvGrpSpPr/>
              <p:nvPr/>
            </p:nvGrpSpPr>
            <p:grpSpPr>
              <a:xfrm>
                <a:off x="7386635" y="3655320"/>
                <a:ext cx="838200" cy="802481"/>
                <a:chOff x="8603456" y="3693320"/>
                <a:chExt cx="838200" cy="802481"/>
              </a:xfrm>
            </p:grpSpPr>
            <p:sp>
              <p:nvSpPr>
                <p:cNvPr id="86" name="Freeform 85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7" name="Freeform 86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8" name="Freeform 87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0" name="Group 69"/>
              <p:cNvGrpSpPr/>
              <p:nvPr/>
            </p:nvGrpSpPr>
            <p:grpSpPr>
              <a:xfrm>
                <a:off x="7700962" y="3839765"/>
                <a:ext cx="838200" cy="802481"/>
                <a:chOff x="8603456" y="3693320"/>
                <a:chExt cx="838200" cy="802481"/>
              </a:xfrm>
            </p:grpSpPr>
            <p:sp>
              <p:nvSpPr>
                <p:cNvPr id="83" name="Freeform 82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4" name="Freeform 83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5" name="Freeform 84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1" name="Group 70"/>
              <p:cNvGrpSpPr/>
              <p:nvPr/>
            </p:nvGrpSpPr>
            <p:grpSpPr>
              <a:xfrm>
                <a:off x="9167812" y="3357563"/>
                <a:ext cx="838200" cy="802481"/>
                <a:chOff x="8603456" y="3693320"/>
                <a:chExt cx="838200" cy="802481"/>
              </a:xfrm>
            </p:grpSpPr>
            <p:sp>
              <p:nvSpPr>
                <p:cNvPr id="80" name="Freeform 79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" name="Freeform 80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2" name="Freeform 81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2" name="Group 71"/>
              <p:cNvGrpSpPr/>
              <p:nvPr/>
            </p:nvGrpSpPr>
            <p:grpSpPr>
              <a:xfrm>
                <a:off x="8592343" y="3688558"/>
                <a:ext cx="838200" cy="802481"/>
                <a:chOff x="8603456" y="3693320"/>
                <a:chExt cx="838200" cy="802481"/>
              </a:xfrm>
            </p:grpSpPr>
            <p:sp>
              <p:nvSpPr>
                <p:cNvPr id="77" name="Freeform 76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8" name="Freeform 77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9" name="Freeform 78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3" name="Group 72"/>
              <p:cNvGrpSpPr/>
              <p:nvPr/>
            </p:nvGrpSpPr>
            <p:grpSpPr>
              <a:xfrm>
                <a:off x="8016081" y="4024314"/>
                <a:ext cx="838200" cy="802481"/>
                <a:chOff x="8603456" y="3693320"/>
                <a:chExt cx="838200" cy="802481"/>
              </a:xfrm>
            </p:grpSpPr>
            <p:sp>
              <p:nvSpPr>
                <p:cNvPr id="74" name="Freeform 73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5" name="Freeform 74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6" name="Freeform 75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92" name="Group 91"/>
            <p:cNvGrpSpPr/>
            <p:nvPr/>
          </p:nvGrpSpPr>
          <p:grpSpPr>
            <a:xfrm>
              <a:off x="7075489" y="2305545"/>
              <a:ext cx="2930523" cy="1469232"/>
              <a:chOff x="7075489" y="3357563"/>
              <a:chExt cx="2930523" cy="1469232"/>
            </a:xfrm>
          </p:grpSpPr>
          <p:grpSp>
            <p:nvGrpSpPr>
              <p:cNvPr id="93" name="Group 92"/>
              <p:cNvGrpSpPr/>
              <p:nvPr/>
            </p:nvGrpSpPr>
            <p:grpSpPr>
              <a:xfrm>
                <a:off x="7075489" y="3471964"/>
                <a:ext cx="838200" cy="802481"/>
                <a:chOff x="8603456" y="3693320"/>
                <a:chExt cx="838200" cy="802481"/>
              </a:xfrm>
            </p:grpSpPr>
            <p:sp>
              <p:nvSpPr>
                <p:cNvPr id="114" name="Freeform 113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Freeform 114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Freeform 115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7386635" y="3655320"/>
                <a:ext cx="838200" cy="802481"/>
                <a:chOff x="8603456" y="3693320"/>
                <a:chExt cx="838200" cy="802481"/>
              </a:xfrm>
            </p:grpSpPr>
            <p:sp>
              <p:nvSpPr>
                <p:cNvPr id="111" name="Freeform 110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2" name="Freeform 111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" name="Freeform 112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7700962" y="3839765"/>
                <a:ext cx="838200" cy="802481"/>
                <a:chOff x="8603456" y="3693320"/>
                <a:chExt cx="838200" cy="802481"/>
              </a:xfrm>
            </p:grpSpPr>
            <p:sp>
              <p:nvSpPr>
                <p:cNvPr id="108" name="Freeform 107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9" name="Freeform 108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Freeform 109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6" name="Group 95"/>
              <p:cNvGrpSpPr/>
              <p:nvPr/>
            </p:nvGrpSpPr>
            <p:grpSpPr>
              <a:xfrm>
                <a:off x="9167812" y="3357563"/>
                <a:ext cx="838200" cy="802481"/>
                <a:chOff x="8603456" y="3693320"/>
                <a:chExt cx="838200" cy="802481"/>
              </a:xfrm>
            </p:grpSpPr>
            <p:sp>
              <p:nvSpPr>
                <p:cNvPr id="105" name="Freeform 104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6" name="Freeform 105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7" name="Freeform 106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7" name="Group 96"/>
              <p:cNvGrpSpPr/>
              <p:nvPr/>
            </p:nvGrpSpPr>
            <p:grpSpPr>
              <a:xfrm>
                <a:off x="8592343" y="3688558"/>
                <a:ext cx="838200" cy="802481"/>
                <a:chOff x="8603456" y="3693320"/>
                <a:chExt cx="838200" cy="802481"/>
              </a:xfrm>
            </p:grpSpPr>
            <p:sp>
              <p:nvSpPr>
                <p:cNvPr id="102" name="Freeform 101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Freeform 102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4" name="Freeform 103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8" name="Group 97"/>
              <p:cNvGrpSpPr/>
              <p:nvPr/>
            </p:nvGrpSpPr>
            <p:grpSpPr>
              <a:xfrm>
                <a:off x="8016081" y="4024314"/>
                <a:ext cx="838200" cy="802481"/>
                <a:chOff x="8603456" y="3693320"/>
                <a:chExt cx="838200" cy="802481"/>
              </a:xfrm>
            </p:grpSpPr>
            <p:sp>
              <p:nvSpPr>
                <p:cNvPr id="99" name="Freeform 98"/>
                <p:cNvSpPr/>
                <p:nvPr/>
              </p:nvSpPr>
              <p:spPr>
                <a:xfrm>
                  <a:off x="8605838" y="4012407"/>
                  <a:ext cx="288132" cy="483394"/>
                </a:xfrm>
                <a:custGeom>
                  <a:avLst/>
                  <a:gdLst>
                    <a:gd name="connsiteX0" fmla="*/ 0 w 290513"/>
                    <a:gd name="connsiteY0" fmla="*/ 0 h 476250"/>
                    <a:gd name="connsiteX1" fmla="*/ 290513 w 290513"/>
                    <a:gd name="connsiteY1" fmla="*/ 161925 h 476250"/>
                    <a:gd name="connsiteX2" fmla="*/ 290513 w 290513"/>
                    <a:gd name="connsiteY2" fmla="*/ 476250 h 476250"/>
                    <a:gd name="connsiteX3" fmla="*/ 4763 w 290513"/>
                    <a:gd name="connsiteY3" fmla="*/ 309562 h 476250"/>
                    <a:gd name="connsiteX4" fmla="*/ 0 w 290513"/>
                    <a:gd name="connsiteY4" fmla="*/ 0 h 476250"/>
                    <a:gd name="connsiteX0" fmla="*/ 0 w 288132"/>
                    <a:gd name="connsiteY0" fmla="*/ 0 h 483394"/>
                    <a:gd name="connsiteX1" fmla="*/ 288132 w 288132"/>
                    <a:gd name="connsiteY1" fmla="*/ 169069 h 483394"/>
                    <a:gd name="connsiteX2" fmla="*/ 288132 w 288132"/>
                    <a:gd name="connsiteY2" fmla="*/ 483394 h 483394"/>
                    <a:gd name="connsiteX3" fmla="*/ 2382 w 288132"/>
                    <a:gd name="connsiteY3" fmla="*/ 316706 h 483394"/>
                    <a:gd name="connsiteX4" fmla="*/ 0 w 288132"/>
                    <a:gd name="connsiteY4" fmla="*/ 0 h 48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8132" h="483394">
                      <a:moveTo>
                        <a:pt x="0" y="0"/>
                      </a:moveTo>
                      <a:lnTo>
                        <a:pt x="288132" y="169069"/>
                      </a:lnTo>
                      <a:lnTo>
                        <a:pt x="288132" y="483394"/>
                      </a:lnTo>
                      <a:lnTo>
                        <a:pt x="2382" y="316706"/>
                      </a:lnTo>
                      <a:cubicBezTo>
                        <a:pt x="794" y="216694"/>
                        <a:pt x="1588" y="109537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Freeform 99"/>
                <p:cNvSpPr/>
                <p:nvPr/>
              </p:nvSpPr>
              <p:spPr>
                <a:xfrm>
                  <a:off x="8603456" y="3693320"/>
                  <a:ext cx="833438" cy="488156"/>
                </a:xfrm>
                <a:custGeom>
                  <a:avLst/>
                  <a:gdLst>
                    <a:gd name="connsiteX0" fmla="*/ 0 w 828675"/>
                    <a:gd name="connsiteY0" fmla="*/ 314325 h 485775"/>
                    <a:gd name="connsiteX1" fmla="*/ 533400 w 828675"/>
                    <a:gd name="connsiteY1" fmla="*/ 0 h 485775"/>
                    <a:gd name="connsiteX2" fmla="*/ 828675 w 828675"/>
                    <a:gd name="connsiteY2" fmla="*/ 161925 h 485775"/>
                    <a:gd name="connsiteX3" fmla="*/ 290512 w 828675"/>
                    <a:gd name="connsiteY3" fmla="*/ 485775 h 485775"/>
                    <a:gd name="connsiteX4" fmla="*/ 0 w 828675"/>
                    <a:gd name="connsiteY4" fmla="*/ 314325 h 485775"/>
                    <a:gd name="connsiteX0" fmla="*/ 0 w 833438"/>
                    <a:gd name="connsiteY0" fmla="*/ 316706 h 485775"/>
                    <a:gd name="connsiteX1" fmla="*/ 538163 w 833438"/>
                    <a:gd name="connsiteY1" fmla="*/ 0 h 485775"/>
                    <a:gd name="connsiteX2" fmla="*/ 833438 w 833438"/>
                    <a:gd name="connsiteY2" fmla="*/ 161925 h 485775"/>
                    <a:gd name="connsiteX3" fmla="*/ 295275 w 833438"/>
                    <a:gd name="connsiteY3" fmla="*/ 485775 h 485775"/>
                    <a:gd name="connsiteX4" fmla="*/ 0 w 833438"/>
                    <a:gd name="connsiteY4" fmla="*/ 316706 h 485775"/>
                    <a:gd name="connsiteX0" fmla="*/ 0 w 833438"/>
                    <a:gd name="connsiteY0" fmla="*/ 326231 h 495300"/>
                    <a:gd name="connsiteX1" fmla="*/ 545307 w 833438"/>
                    <a:gd name="connsiteY1" fmla="*/ 0 h 495300"/>
                    <a:gd name="connsiteX2" fmla="*/ 833438 w 833438"/>
                    <a:gd name="connsiteY2" fmla="*/ 171450 h 495300"/>
                    <a:gd name="connsiteX3" fmla="*/ 295275 w 833438"/>
                    <a:gd name="connsiteY3" fmla="*/ 495300 h 495300"/>
                    <a:gd name="connsiteX4" fmla="*/ 0 w 833438"/>
                    <a:gd name="connsiteY4" fmla="*/ 326231 h 495300"/>
                    <a:gd name="connsiteX0" fmla="*/ 0 w 833438"/>
                    <a:gd name="connsiteY0" fmla="*/ 319087 h 488156"/>
                    <a:gd name="connsiteX1" fmla="*/ 547688 w 833438"/>
                    <a:gd name="connsiteY1" fmla="*/ 0 h 488156"/>
                    <a:gd name="connsiteX2" fmla="*/ 833438 w 833438"/>
                    <a:gd name="connsiteY2" fmla="*/ 164306 h 488156"/>
                    <a:gd name="connsiteX3" fmla="*/ 295275 w 833438"/>
                    <a:gd name="connsiteY3" fmla="*/ 488156 h 488156"/>
                    <a:gd name="connsiteX4" fmla="*/ 0 w 833438"/>
                    <a:gd name="connsiteY4" fmla="*/ 319087 h 488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3438" h="488156">
                      <a:moveTo>
                        <a:pt x="0" y="319087"/>
                      </a:moveTo>
                      <a:lnTo>
                        <a:pt x="547688" y="0"/>
                      </a:lnTo>
                      <a:lnTo>
                        <a:pt x="833438" y="164306"/>
                      </a:lnTo>
                      <a:lnTo>
                        <a:pt x="295275" y="488156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Freeform 100"/>
                <p:cNvSpPr/>
                <p:nvPr/>
              </p:nvSpPr>
              <p:spPr>
                <a:xfrm>
                  <a:off x="8893969" y="3860006"/>
                  <a:ext cx="547687" cy="635795"/>
                </a:xfrm>
                <a:custGeom>
                  <a:avLst/>
                  <a:gdLst>
                    <a:gd name="connsiteX0" fmla="*/ 4762 w 547687"/>
                    <a:gd name="connsiteY0" fmla="*/ 314325 h 633413"/>
                    <a:gd name="connsiteX1" fmla="*/ 547687 w 547687"/>
                    <a:gd name="connsiteY1" fmla="*/ 0 h 633413"/>
                    <a:gd name="connsiteX2" fmla="*/ 547687 w 547687"/>
                    <a:gd name="connsiteY2" fmla="*/ 319088 h 633413"/>
                    <a:gd name="connsiteX3" fmla="*/ 0 w 547687"/>
                    <a:gd name="connsiteY3" fmla="*/ 633413 h 633413"/>
                    <a:gd name="connsiteX4" fmla="*/ 4762 w 547687"/>
                    <a:gd name="connsiteY4" fmla="*/ 314325 h 633413"/>
                    <a:gd name="connsiteX0" fmla="*/ 4762 w 547687"/>
                    <a:gd name="connsiteY0" fmla="*/ 316707 h 635795"/>
                    <a:gd name="connsiteX1" fmla="*/ 545305 w 547687"/>
                    <a:gd name="connsiteY1" fmla="*/ 0 h 635795"/>
                    <a:gd name="connsiteX2" fmla="*/ 547687 w 547687"/>
                    <a:gd name="connsiteY2" fmla="*/ 321470 h 635795"/>
                    <a:gd name="connsiteX3" fmla="*/ 0 w 547687"/>
                    <a:gd name="connsiteY3" fmla="*/ 635795 h 635795"/>
                    <a:gd name="connsiteX4" fmla="*/ 4762 w 547687"/>
                    <a:gd name="connsiteY4" fmla="*/ 316707 h 63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7687" h="635795">
                      <a:moveTo>
                        <a:pt x="4762" y="316707"/>
                      </a:moveTo>
                      <a:lnTo>
                        <a:pt x="545305" y="0"/>
                      </a:lnTo>
                      <a:lnTo>
                        <a:pt x="547687" y="321470"/>
                      </a:lnTo>
                      <a:lnTo>
                        <a:pt x="0" y="635795"/>
                      </a:lnTo>
                      <a:cubicBezTo>
                        <a:pt x="1587" y="529432"/>
                        <a:pt x="3175" y="423070"/>
                        <a:pt x="4762" y="31670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18" name="Group 117"/>
            <p:cNvGrpSpPr/>
            <p:nvPr/>
          </p:nvGrpSpPr>
          <p:grpSpPr>
            <a:xfrm>
              <a:off x="7075489" y="2067224"/>
              <a:ext cx="838200" cy="802481"/>
              <a:chOff x="8603456" y="3693320"/>
              <a:chExt cx="838200" cy="802481"/>
            </a:xfrm>
          </p:grpSpPr>
          <p:sp>
            <p:nvSpPr>
              <p:cNvPr id="139" name="Freeform 138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0" name="Freeform 139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1" name="Freeform 140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7386635" y="2250580"/>
              <a:ext cx="838200" cy="802481"/>
              <a:chOff x="8603456" y="3693320"/>
              <a:chExt cx="838200" cy="802481"/>
            </a:xfrm>
          </p:grpSpPr>
          <p:sp>
            <p:nvSpPr>
              <p:cNvPr id="136" name="Freeform 135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7" name="Freeform 136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8" name="Freeform 137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7700962" y="2435025"/>
              <a:ext cx="838200" cy="802481"/>
              <a:chOff x="8603456" y="3693320"/>
              <a:chExt cx="838200" cy="802481"/>
            </a:xfrm>
          </p:grpSpPr>
          <p:sp>
            <p:nvSpPr>
              <p:cNvPr id="133" name="Freeform 132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4" name="Freeform 133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5" name="Freeform 134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9167812" y="1952823"/>
              <a:ext cx="838200" cy="802481"/>
              <a:chOff x="8603456" y="3693320"/>
              <a:chExt cx="838200" cy="802481"/>
            </a:xfrm>
          </p:grpSpPr>
          <p:sp>
            <p:nvSpPr>
              <p:cNvPr id="130" name="Freeform 129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1" name="Freeform 130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8592343" y="2283818"/>
              <a:ext cx="838200" cy="802481"/>
              <a:chOff x="8603456" y="3693320"/>
              <a:chExt cx="838200" cy="802481"/>
            </a:xfrm>
          </p:grpSpPr>
          <p:sp>
            <p:nvSpPr>
              <p:cNvPr id="127" name="Freeform 126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9" name="Freeform 128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8016081" y="2619574"/>
              <a:ext cx="838200" cy="802481"/>
              <a:chOff x="8603456" y="3693320"/>
              <a:chExt cx="838200" cy="802481"/>
            </a:xfrm>
          </p:grpSpPr>
          <p:sp>
            <p:nvSpPr>
              <p:cNvPr id="124" name="Freeform 123"/>
              <p:cNvSpPr/>
              <p:nvPr/>
            </p:nvSpPr>
            <p:spPr>
              <a:xfrm>
                <a:off x="8605838" y="4012407"/>
                <a:ext cx="288132" cy="483394"/>
              </a:xfrm>
              <a:custGeom>
                <a:avLst/>
                <a:gdLst>
                  <a:gd name="connsiteX0" fmla="*/ 0 w 290513"/>
                  <a:gd name="connsiteY0" fmla="*/ 0 h 476250"/>
                  <a:gd name="connsiteX1" fmla="*/ 290513 w 290513"/>
                  <a:gd name="connsiteY1" fmla="*/ 161925 h 476250"/>
                  <a:gd name="connsiteX2" fmla="*/ 290513 w 290513"/>
                  <a:gd name="connsiteY2" fmla="*/ 476250 h 476250"/>
                  <a:gd name="connsiteX3" fmla="*/ 4763 w 290513"/>
                  <a:gd name="connsiteY3" fmla="*/ 309562 h 476250"/>
                  <a:gd name="connsiteX4" fmla="*/ 0 w 290513"/>
                  <a:gd name="connsiteY4" fmla="*/ 0 h 476250"/>
                  <a:gd name="connsiteX0" fmla="*/ 0 w 288132"/>
                  <a:gd name="connsiteY0" fmla="*/ 0 h 483394"/>
                  <a:gd name="connsiteX1" fmla="*/ 288132 w 288132"/>
                  <a:gd name="connsiteY1" fmla="*/ 169069 h 483394"/>
                  <a:gd name="connsiteX2" fmla="*/ 288132 w 288132"/>
                  <a:gd name="connsiteY2" fmla="*/ 483394 h 483394"/>
                  <a:gd name="connsiteX3" fmla="*/ 2382 w 288132"/>
                  <a:gd name="connsiteY3" fmla="*/ 316706 h 483394"/>
                  <a:gd name="connsiteX4" fmla="*/ 0 w 288132"/>
                  <a:gd name="connsiteY4" fmla="*/ 0 h 483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132" h="483394">
                    <a:moveTo>
                      <a:pt x="0" y="0"/>
                    </a:moveTo>
                    <a:lnTo>
                      <a:pt x="288132" y="169069"/>
                    </a:lnTo>
                    <a:lnTo>
                      <a:pt x="288132" y="483394"/>
                    </a:lnTo>
                    <a:lnTo>
                      <a:pt x="2382" y="316706"/>
                    </a:lnTo>
                    <a:cubicBezTo>
                      <a:pt x="794" y="216694"/>
                      <a:pt x="1588" y="10953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5" name="Freeform 124"/>
              <p:cNvSpPr/>
              <p:nvPr/>
            </p:nvSpPr>
            <p:spPr>
              <a:xfrm>
                <a:off x="8603456" y="3693320"/>
                <a:ext cx="833438" cy="488156"/>
              </a:xfrm>
              <a:custGeom>
                <a:avLst/>
                <a:gdLst>
                  <a:gd name="connsiteX0" fmla="*/ 0 w 828675"/>
                  <a:gd name="connsiteY0" fmla="*/ 314325 h 485775"/>
                  <a:gd name="connsiteX1" fmla="*/ 533400 w 828675"/>
                  <a:gd name="connsiteY1" fmla="*/ 0 h 485775"/>
                  <a:gd name="connsiteX2" fmla="*/ 828675 w 828675"/>
                  <a:gd name="connsiteY2" fmla="*/ 161925 h 485775"/>
                  <a:gd name="connsiteX3" fmla="*/ 290512 w 828675"/>
                  <a:gd name="connsiteY3" fmla="*/ 485775 h 485775"/>
                  <a:gd name="connsiteX4" fmla="*/ 0 w 828675"/>
                  <a:gd name="connsiteY4" fmla="*/ 314325 h 485775"/>
                  <a:gd name="connsiteX0" fmla="*/ 0 w 833438"/>
                  <a:gd name="connsiteY0" fmla="*/ 316706 h 485775"/>
                  <a:gd name="connsiteX1" fmla="*/ 538163 w 833438"/>
                  <a:gd name="connsiteY1" fmla="*/ 0 h 485775"/>
                  <a:gd name="connsiteX2" fmla="*/ 833438 w 833438"/>
                  <a:gd name="connsiteY2" fmla="*/ 161925 h 485775"/>
                  <a:gd name="connsiteX3" fmla="*/ 295275 w 833438"/>
                  <a:gd name="connsiteY3" fmla="*/ 485775 h 485775"/>
                  <a:gd name="connsiteX4" fmla="*/ 0 w 833438"/>
                  <a:gd name="connsiteY4" fmla="*/ 316706 h 485775"/>
                  <a:gd name="connsiteX0" fmla="*/ 0 w 833438"/>
                  <a:gd name="connsiteY0" fmla="*/ 326231 h 495300"/>
                  <a:gd name="connsiteX1" fmla="*/ 545307 w 833438"/>
                  <a:gd name="connsiteY1" fmla="*/ 0 h 495300"/>
                  <a:gd name="connsiteX2" fmla="*/ 833438 w 833438"/>
                  <a:gd name="connsiteY2" fmla="*/ 171450 h 495300"/>
                  <a:gd name="connsiteX3" fmla="*/ 295275 w 833438"/>
                  <a:gd name="connsiteY3" fmla="*/ 495300 h 495300"/>
                  <a:gd name="connsiteX4" fmla="*/ 0 w 833438"/>
                  <a:gd name="connsiteY4" fmla="*/ 326231 h 495300"/>
                  <a:gd name="connsiteX0" fmla="*/ 0 w 833438"/>
                  <a:gd name="connsiteY0" fmla="*/ 319087 h 488156"/>
                  <a:gd name="connsiteX1" fmla="*/ 547688 w 833438"/>
                  <a:gd name="connsiteY1" fmla="*/ 0 h 488156"/>
                  <a:gd name="connsiteX2" fmla="*/ 833438 w 833438"/>
                  <a:gd name="connsiteY2" fmla="*/ 164306 h 488156"/>
                  <a:gd name="connsiteX3" fmla="*/ 295275 w 833438"/>
                  <a:gd name="connsiteY3" fmla="*/ 488156 h 488156"/>
                  <a:gd name="connsiteX4" fmla="*/ 0 w 833438"/>
                  <a:gd name="connsiteY4" fmla="*/ 319087 h 488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3438" h="488156">
                    <a:moveTo>
                      <a:pt x="0" y="319087"/>
                    </a:moveTo>
                    <a:lnTo>
                      <a:pt x="547688" y="0"/>
                    </a:lnTo>
                    <a:lnTo>
                      <a:pt x="833438" y="164306"/>
                    </a:lnTo>
                    <a:lnTo>
                      <a:pt x="295275" y="488156"/>
                    </a:lnTo>
                    <a:lnTo>
                      <a:pt x="0" y="319087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6" name="Freeform 125"/>
              <p:cNvSpPr/>
              <p:nvPr/>
            </p:nvSpPr>
            <p:spPr>
              <a:xfrm>
                <a:off x="8893969" y="3860006"/>
                <a:ext cx="547687" cy="635795"/>
              </a:xfrm>
              <a:custGeom>
                <a:avLst/>
                <a:gdLst>
                  <a:gd name="connsiteX0" fmla="*/ 4762 w 547687"/>
                  <a:gd name="connsiteY0" fmla="*/ 314325 h 633413"/>
                  <a:gd name="connsiteX1" fmla="*/ 547687 w 547687"/>
                  <a:gd name="connsiteY1" fmla="*/ 0 h 633413"/>
                  <a:gd name="connsiteX2" fmla="*/ 547687 w 547687"/>
                  <a:gd name="connsiteY2" fmla="*/ 319088 h 633413"/>
                  <a:gd name="connsiteX3" fmla="*/ 0 w 547687"/>
                  <a:gd name="connsiteY3" fmla="*/ 633413 h 633413"/>
                  <a:gd name="connsiteX4" fmla="*/ 4762 w 547687"/>
                  <a:gd name="connsiteY4" fmla="*/ 314325 h 633413"/>
                  <a:gd name="connsiteX0" fmla="*/ 4762 w 547687"/>
                  <a:gd name="connsiteY0" fmla="*/ 316707 h 635795"/>
                  <a:gd name="connsiteX1" fmla="*/ 545305 w 547687"/>
                  <a:gd name="connsiteY1" fmla="*/ 0 h 635795"/>
                  <a:gd name="connsiteX2" fmla="*/ 547687 w 547687"/>
                  <a:gd name="connsiteY2" fmla="*/ 321470 h 635795"/>
                  <a:gd name="connsiteX3" fmla="*/ 0 w 547687"/>
                  <a:gd name="connsiteY3" fmla="*/ 635795 h 635795"/>
                  <a:gd name="connsiteX4" fmla="*/ 4762 w 547687"/>
                  <a:gd name="connsiteY4" fmla="*/ 316707 h 63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7687" h="635795">
                    <a:moveTo>
                      <a:pt x="4762" y="316707"/>
                    </a:moveTo>
                    <a:lnTo>
                      <a:pt x="545305" y="0"/>
                    </a:lnTo>
                    <a:lnTo>
                      <a:pt x="547687" y="321470"/>
                    </a:lnTo>
                    <a:lnTo>
                      <a:pt x="0" y="635795"/>
                    </a:lnTo>
                    <a:cubicBezTo>
                      <a:pt x="1587" y="529432"/>
                      <a:pt x="3175" y="423070"/>
                      <a:pt x="4762" y="31670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69" name="Straight Arrow Connector 168"/>
            <p:cNvCxnSpPr/>
            <p:nvPr/>
          </p:nvCxnSpPr>
          <p:spPr>
            <a:xfrm flipH="1" flipV="1">
              <a:off x="6629400" y="4373880"/>
              <a:ext cx="1508760" cy="8763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/>
            <p:cNvCxnSpPr/>
            <p:nvPr/>
          </p:nvCxnSpPr>
          <p:spPr>
            <a:xfrm flipV="1">
              <a:off x="8130858" y="4002934"/>
              <a:ext cx="2133282" cy="1254391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/>
            <p:nvPr/>
          </p:nvCxnSpPr>
          <p:spPr>
            <a:xfrm flipV="1">
              <a:off x="8141333" y="3408961"/>
              <a:ext cx="0" cy="1848364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/>
            <p:cNvSpPr txBox="1"/>
            <p:nvPr/>
          </p:nvSpPr>
          <p:spPr>
            <a:xfrm>
              <a:off x="6285130" y="3998944"/>
              <a:ext cx="3626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/>
                <a:t>x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0201703" y="3597670"/>
              <a:ext cx="3706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/>
                <a:t>y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962900" y="2870400"/>
              <a:ext cx="3465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/>
                <a:t>z</a:t>
              </a:r>
            </a:p>
          </p:txBody>
        </p:sp>
      </p:grpSp>
      <p:sp>
        <p:nvSpPr>
          <p:cNvPr id="178" name="TextBox 177"/>
          <p:cNvSpPr txBox="1"/>
          <p:nvPr/>
        </p:nvSpPr>
        <p:spPr>
          <a:xfrm>
            <a:off x="9852929" y="426661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Esri</a:t>
            </a:r>
            <a:endParaRPr lang="en-GB" dirty="0"/>
          </a:p>
        </p:txBody>
      </p:sp>
      <p:sp>
        <p:nvSpPr>
          <p:cNvPr id="179" name="TextBox 178"/>
          <p:cNvSpPr txBox="1"/>
          <p:nvPr/>
        </p:nvSpPr>
        <p:spPr>
          <a:xfrm>
            <a:off x="6293226" y="4768917"/>
            <a:ext cx="57284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A 3 dimensional pixel used to display 3D images. </a:t>
            </a:r>
          </a:p>
          <a:p>
            <a:r>
              <a:rPr lang="en-GB" sz="2200" dirty="0"/>
              <a:t>Each voxel has an x, y, z position and a set of descriptors used to describe volume – or other data such as discrete class, time, density, porosity, etc   </a:t>
            </a:r>
          </a:p>
        </p:txBody>
      </p:sp>
    </p:spTree>
    <p:extLst>
      <p:ext uri="{BB962C8B-B14F-4D97-AF65-F5344CB8AC3E}">
        <p14:creationId xmlns:p14="http://schemas.microsoft.com/office/powerpoint/2010/main" val="420293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3D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/>
          <a:lstStyle/>
          <a:p>
            <a:r>
              <a:rPr lang="en-GB" dirty="0"/>
              <a:t>Voxel layers can be created using discrete data or continuous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1" y="2159205"/>
            <a:ext cx="4378194" cy="2539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5499" y="4648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Esri</a:t>
            </a:r>
            <a:r>
              <a:rPr lang="en-GB" dirty="0"/>
              <a:t>:  ArcGIS Pro documentation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8140" y="2159205"/>
            <a:ext cx="5026952" cy="2539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8139" y="4649271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Esri</a:t>
            </a:r>
            <a:r>
              <a:rPr lang="en-GB" dirty="0"/>
              <a:t>:  ArcGIS Pro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99" y="5118100"/>
            <a:ext cx="42545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Dutch soil profiles. Voxels are coded using discrete data that represents soil categories.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8139" y="5118100"/>
            <a:ext cx="52773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Gulf of Mexico temperature distribution.  The plot is a </a:t>
            </a:r>
            <a:r>
              <a:rPr lang="en-GB" sz="2200" dirty="0" err="1"/>
              <a:t>geostatistical</a:t>
            </a:r>
            <a:r>
              <a:rPr lang="en-GB" sz="2200" dirty="0"/>
              <a:t> interpolation of continuous data recorded at many individual sample points.  </a:t>
            </a:r>
          </a:p>
        </p:txBody>
      </p:sp>
    </p:spTree>
    <p:extLst>
      <p:ext uri="{BB962C8B-B14F-4D97-AF65-F5344CB8AC3E}">
        <p14:creationId xmlns:p14="http://schemas.microsoft.com/office/powerpoint/2010/main" val="346777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977624-349C-A55F-2EA1-2A96A3B903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641" y="1019707"/>
            <a:ext cx="7905988" cy="570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CA5CD-E368-F31E-3CDD-EA60080F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18255"/>
            <a:ext cx="10515600" cy="1325563"/>
          </a:xfrm>
        </p:spPr>
        <p:txBody>
          <a:bodyPr/>
          <a:lstStyle/>
          <a:p>
            <a:r>
              <a:rPr lang="en-GB" dirty="0"/>
              <a:t>Discrete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2968F-5489-4251-8C47-CF7912993F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641" y="1019707"/>
            <a:ext cx="7905988" cy="570956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EC2004A-90C1-7030-28F1-B3AFD992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629" y="311850"/>
            <a:ext cx="3755571" cy="506725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Information assigned to defined values, usually integers.  </a:t>
            </a:r>
          </a:p>
          <a:p>
            <a:r>
              <a:rPr lang="en-GB" dirty="0"/>
              <a:t>Can have different functions, but must have defined boundaries. </a:t>
            </a:r>
          </a:p>
          <a:p>
            <a:r>
              <a:rPr lang="en-GB" dirty="0"/>
              <a:t>Counted variable - examples: </a:t>
            </a:r>
          </a:p>
          <a:p>
            <a:pPr lvl="1"/>
            <a:r>
              <a:rPr lang="en-GB" dirty="0"/>
              <a:t>Pets per household</a:t>
            </a:r>
          </a:p>
          <a:p>
            <a:pPr lvl="1"/>
            <a:r>
              <a:rPr lang="en-GB" dirty="0"/>
              <a:t>Town population</a:t>
            </a:r>
          </a:p>
          <a:p>
            <a:r>
              <a:rPr lang="en-GB" dirty="0"/>
              <a:t>Or used to classify:</a:t>
            </a:r>
          </a:p>
          <a:p>
            <a:pPr lvl="1"/>
            <a:r>
              <a:rPr lang="en-GB" dirty="0"/>
              <a:t>Land use</a:t>
            </a:r>
          </a:p>
          <a:p>
            <a:pPr lvl="1"/>
            <a:r>
              <a:rPr lang="en-GB" dirty="0"/>
              <a:t>Geological map unit</a:t>
            </a:r>
          </a:p>
          <a:p>
            <a:pPr lvl="1"/>
            <a:r>
              <a:rPr lang="en-GB" dirty="0"/>
              <a:t>Road type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4D433C-E95C-AAE9-60C9-3201B2273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85548"/>
              </p:ext>
            </p:extLst>
          </p:nvPr>
        </p:nvGraphicFramePr>
        <p:xfrm>
          <a:off x="8414382" y="5379875"/>
          <a:ext cx="319006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57">
                  <a:extLst>
                    <a:ext uri="{9D8B030D-6E8A-4147-A177-3AD203B41FA5}">
                      <a16:colId xmlns:a16="http://schemas.microsoft.com/office/drawing/2014/main" val="2489355725"/>
                    </a:ext>
                  </a:extLst>
                </a:gridCol>
                <a:gridCol w="896470">
                  <a:extLst>
                    <a:ext uri="{9D8B030D-6E8A-4147-A177-3AD203B41FA5}">
                      <a16:colId xmlns:a16="http://schemas.microsoft.com/office/drawing/2014/main" val="3922598006"/>
                    </a:ext>
                  </a:extLst>
                </a:gridCol>
                <a:gridCol w="1819837">
                  <a:extLst>
                    <a:ext uri="{9D8B030D-6E8A-4147-A177-3AD203B41FA5}">
                      <a16:colId xmlns:a16="http://schemas.microsoft.com/office/drawing/2014/main" val="1583206534"/>
                    </a:ext>
                  </a:extLst>
                </a:gridCol>
              </a:tblGrid>
              <a:tr h="2172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Road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93751"/>
                  </a:ext>
                </a:extLst>
              </a:tr>
              <a:tr h="2172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Path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451716"/>
                  </a:ext>
                </a:extLst>
              </a:tr>
              <a:tr h="2172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Track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066597"/>
                  </a:ext>
                </a:extLst>
              </a:tr>
              <a:tr h="2172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B road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455228"/>
                  </a:ext>
                </a:extLst>
              </a:tr>
              <a:tr h="217215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tx1"/>
                          </a:solidFill>
                        </a:rPr>
                        <a:t>A road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03510"/>
                  </a:ext>
                </a:extLst>
              </a:tr>
            </a:tbl>
          </a:graphicData>
        </a:graphic>
      </p:graphicFrame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B555DAD-ED11-CA4A-DA82-49F74FB89392}"/>
              </a:ext>
            </a:extLst>
          </p:cNvPr>
          <p:cNvSpPr/>
          <p:nvPr/>
        </p:nvSpPr>
        <p:spPr>
          <a:xfrm>
            <a:off x="10040471" y="5728044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74A0C24-CCA1-6B44-77D4-69358F6DEA9A}"/>
              </a:ext>
            </a:extLst>
          </p:cNvPr>
          <p:cNvSpPr/>
          <p:nvPr/>
        </p:nvSpPr>
        <p:spPr>
          <a:xfrm>
            <a:off x="10040471" y="6009164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AE30B7-FDD7-85ED-745F-B5D7D2500272}"/>
              </a:ext>
            </a:extLst>
          </p:cNvPr>
          <p:cNvSpPr/>
          <p:nvPr/>
        </p:nvSpPr>
        <p:spPr>
          <a:xfrm>
            <a:off x="10040471" y="6261476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9CA671-3392-9EEB-34C4-D6BAF3448EE6}"/>
              </a:ext>
            </a:extLst>
          </p:cNvPr>
          <p:cNvSpPr/>
          <p:nvPr/>
        </p:nvSpPr>
        <p:spPr>
          <a:xfrm>
            <a:off x="10040471" y="6249785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0DB527F-2F78-1398-5F6B-33A4D4C6A9A2}"/>
              </a:ext>
            </a:extLst>
          </p:cNvPr>
          <p:cNvSpPr/>
          <p:nvPr/>
        </p:nvSpPr>
        <p:spPr>
          <a:xfrm>
            <a:off x="10040470" y="6270006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2ADB3A-BF76-813D-8001-2287944DF302}"/>
              </a:ext>
            </a:extLst>
          </p:cNvPr>
          <p:cNvSpPr/>
          <p:nvPr/>
        </p:nvSpPr>
        <p:spPr>
          <a:xfrm>
            <a:off x="10040471" y="6515306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 w="38100">
            <a:solidFill>
              <a:srgbClr val="FFFF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FADF5BD-C39E-4721-3E5B-139FAB8DAC4C}"/>
              </a:ext>
            </a:extLst>
          </p:cNvPr>
          <p:cNvSpPr/>
          <p:nvPr/>
        </p:nvSpPr>
        <p:spPr>
          <a:xfrm>
            <a:off x="10040471" y="6494091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E8DF8F-B0F1-514B-5804-256F2F3A8BD4}"/>
              </a:ext>
            </a:extLst>
          </p:cNvPr>
          <p:cNvSpPr/>
          <p:nvPr/>
        </p:nvSpPr>
        <p:spPr>
          <a:xfrm>
            <a:off x="10040470" y="6528598"/>
            <a:ext cx="1084729" cy="90050"/>
          </a:xfrm>
          <a:custGeom>
            <a:avLst/>
            <a:gdLst>
              <a:gd name="csX0" fmla="*/ 0 w 1084729"/>
              <a:gd name="csY0" fmla="*/ 90050 h 90050"/>
              <a:gd name="csX1" fmla="*/ 439270 w 1084729"/>
              <a:gd name="csY1" fmla="*/ 403 h 90050"/>
              <a:gd name="csX2" fmla="*/ 1084729 w 1084729"/>
              <a:gd name="csY2" fmla="*/ 63156 h 9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4729" h="90050">
                <a:moveTo>
                  <a:pt x="0" y="90050"/>
                </a:moveTo>
                <a:cubicBezTo>
                  <a:pt x="129241" y="47467"/>
                  <a:pt x="258482" y="4885"/>
                  <a:pt x="439270" y="403"/>
                </a:cubicBezTo>
                <a:cubicBezTo>
                  <a:pt x="620058" y="-4079"/>
                  <a:pt x="852393" y="29538"/>
                  <a:pt x="1084729" y="63156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73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0C36-292B-67D7-743A-A59EA4E08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8B5BE8-748B-7C57-FA09-97DCDDA3AF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5641" y="1019707"/>
            <a:ext cx="7905988" cy="570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C129FF-0F3C-2E9F-C73B-A793B865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18255"/>
            <a:ext cx="10515600" cy="1325563"/>
          </a:xfrm>
        </p:spPr>
        <p:txBody>
          <a:bodyPr/>
          <a:lstStyle/>
          <a:p>
            <a:r>
              <a:rPr lang="en-GB" dirty="0"/>
              <a:t>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B2F3E-2041-3178-F8ED-930F59116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377" y="1032060"/>
            <a:ext cx="3409025" cy="5565964"/>
          </a:xfrm>
        </p:spPr>
        <p:txBody>
          <a:bodyPr>
            <a:normAutofit/>
          </a:bodyPr>
          <a:lstStyle/>
          <a:p>
            <a:r>
              <a:rPr lang="en-GB" dirty="0"/>
              <a:t>A measured variable that could have any numeric value.  </a:t>
            </a:r>
          </a:p>
          <a:p>
            <a:r>
              <a:rPr lang="en-GB" dirty="0"/>
              <a:t>There are no boundaries: values vary continuously. </a:t>
            </a:r>
          </a:p>
          <a:p>
            <a:r>
              <a:rPr lang="en-GB" dirty="0"/>
              <a:t>2D GIS examples:</a:t>
            </a:r>
          </a:p>
          <a:p>
            <a:pPr lvl="1"/>
            <a:r>
              <a:rPr lang="en-GB" dirty="0"/>
              <a:t>Elevation</a:t>
            </a:r>
          </a:p>
          <a:p>
            <a:pPr lvl="1"/>
            <a:r>
              <a:rPr lang="en-GB" dirty="0"/>
              <a:t>Rainfall</a:t>
            </a:r>
          </a:p>
          <a:p>
            <a:pPr lvl="1"/>
            <a:r>
              <a:rPr lang="en-GB" dirty="0"/>
              <a:t>Satellite photos </a:t>
            </a:r>
          </a:p>
          <a:p>
            <a:pPr lvl="1"/>
            <a:r>
              <a:rPr lang="en-GB" dirty="0"/>
              <a:t>Gravity</a:t>
            </a:r>
          </a:p>
        </p:txBody>
      </p:sp>
    </p:spTree>
    <p:extLst>
      <p:ext uri="{BB962C8B-B14F-4D97-AF65-F5344CB8AC3E}">
        <p14:creationId xmlns:p14="http://schemas.microsoft.com/office/powerpoint/2010/main" val="396283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51656" y="1216024"/>
            <a:ext cx="9172222" cy="5159375"/>
          </a:xfrm>
        </p:spPr>
      </p:pic>
      <p:sp>
        <p:nvSpPr>
          <p:cNvPr id="5" name="Rectangle 4"/>
          <p:cNvSpPr/>
          <p:nvPr/>
        </p:nvSpPr>
        <p:spPr>
          <a:xfrm>
            <a:off x="-495300" y="0"/>
            <a:ext cx="8496300" cy="226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 flipV="1">
            <a:off x="6184900" y="2260600"/>
            <a:ext cx="1816100" cy="421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56" y="319085"/>
            <a:ext cx="6251166" cy="1590675"/>
          </a:xfrm>
        </p:spPr>
        <p:txBody>
          <a:bodyPr/>
          <a:lstStyle/>
          <a:p>
            <a:r>
              <a:rPr lang="en-GB" dirty="0"/>
              <a:t>Creating a 3D volume using 3D kriging in Arc Pro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45656" y="228555"/>
            <a:ext cx="5267012" cy="6538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 geostatistical interpolation tool that uses Empirical Bayesian Kriging methodology to interpolate points in 3D</a:t>
            </a:r>
          </a:p>
          <a:p>
            <a:pPr lvl="1"/>
            <a:r>
              <a:rPr lang="en-GB" dirty="0"/>
              <a:t>Kriging: spatial interpolation between point data</a:t>
            </a:r>
          </a:p>
          <a:p>
            <a:pPr lvl="1"/>
            <a:r>
              <a:rPr lang="en-GB" dirty="0"/>
              <a:t>Bayesian: employment of prior knowledge into a calculation</a:t>
            </a:r>
          </a:p>
          <a:p>
            <a:pPr lvl="1"/>
            <a:r>
              <a:rPr lang="en-GB" dirty="0"/>
              <a:t>Here, prior knowledge is an estimation of the semi-variogram and associated uncertainty.  ArcGIS iterates, each time estimating a new semi-variogram to close in on the final model. </a:t>
            </a:r>
          </a:p>
          <a:p>
            <a:r>
              <a:rPr lang="en-GB" dirty="0"/>
              <a:t>The tool generates a series of 2D horizontal slices which can be scrolled through</a:t>
            </a:r>
          </a:p>
          <a:p>
            <a:r>
              <a:rPr lang="en-GB" dirty="0"/>
              <a:t>The </a:t>
            </a:r>
            <a:r>
              <a:rPr lang="en-GB" dirty="0" err="1"/>
              <a:t>Geostatistical</a:t>
            </a:r>
            <a:r>
              <a:rPr lang="en-GB" dirty="0"/>
              <a:t> layers can be combined to create a 3D voxel layer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-1251656" y="1216024"/>
            <a:ext cx="1664406" cy="5260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30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visualisation of volumetric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352" y="1825625"/>
            <a:ext cx="4686547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Volumetric realisations provide a powerful method of visualising 3D data. E.g. </a:t>
            </a:r>
          </a:p>
          <a:p>
            <a:pPr lvl="1"/>
            <a:r>
              <a:rPr lang="en-GB" dirty="0"/>
              <a:t>Subsurface data (e.g. porosity, metal concentration)</a:t>
            </a:r>
          </a:p>
          <a:p>
            <a:pPr lvl="1"/>
            <a:r>
              <a:rPr lang="en-GB" dirty="0"/>
              <a:t>Atmospheric data</a:t>
            </a:r>
          </a:p>
          <a:p>
            <a:pPr lvl="1"/>
            <a:r>
              <a:rPr lang="en-GB" dirty="0"/>
              <a:t>Oceanic data (e.g. temperature, pollutant concentration) 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Here – discrete data categories are visualised individually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5138499"/>
            <a:ext cx="3984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Esri animation of daily relative humidity with altitude in 2003:  ArcGIS Blog</a:t>
            </a:r>
          </a:p>
        </p:txBody>
      </p:sp>
      <p:pic>
        <p:nvPicPr>
          <p:cNvPr id="7" name="Picture 6" descr="A close-up of a rectangular object&#10;&#10;Description automatically generated">
            <a:extLst>
              <a:ext uri="{FF2B5EF4-FFF2-40B4-BE49-F238E27FC236}">
                <a16:creationId xmlns:a16="http://schemas.microsoft.com/office/drawing/2014/main" id="{1327B9C9-362E-D864-A39E-CB45F9E49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2008063"/>
            <a:ext cx="57150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90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visualisations: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1400" y="1825624"/>
            <a:ext cx="4216400" cy="4562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Oceanic nitrate concentration data</a:t>
            </a:r>
            <a:br>
              <a:rPr lang="en-GB" b="1" dirty="0"/>
            </a:br>
            <a:endParaRPr lang="en-GB" b="1" dirty="0"/>
          </a:p>
          <a:p>
            <a:r>
              <a:rPr lang="en-GB" dirty="0"/>
              <a:t>Volumetric data is sliced as:</a:t>
            </a:r>
          </a:p>
          <a:p>
            <a:pPr lvl="1"/>
            <a:r>
              <a:rPr lang="en-GB" dirty="0"/>
              <a:t>2D vertical slices</a:t>
            </a:r>
          </a:p>
          <a:p>
            <a:pPr lvl="1"/>
            <a:r>
              <a:rPr lang="en-GB" dirty="0" err="1"/>
              <a:t>Isosurface</a:t>
            </a:r>
            <a:r>
              <a:rPr lang="en-GB" dirty="0"/>
              <a:t> (a surface created from equal concentration values)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We will be slicing this afternoon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88648" y="5414134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Esri</a:t>
            </a:r>
            <a:r>
              <a:rPr lang="en-GB" dirty="0"/>
              <a:t>:  ArcGIS Pro documentation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825625"/>
            <a:ext cx="6366709" cy="358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9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7665" y="0"/>
            <a:ext cx="14045183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GB" b="1" dirty="0"/>
              <a:t>Introduction to linked practical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1603" y="6190734"/>
            <a:ext cx="274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© Natural Resources Wales</a:t>
            </a:r>
          </a:p>
        </p:txBody>
      </p:sp>
    </p:spTree>
    <p:extLst>
      <p:ext uri="{BB962C8B-B14F-4D97-AF65-F5344CB8AC3E}">
        <p14:creationId xmlns:p14="http://schemas.microsoft.com/office/powerpoint/2010/main" val="548442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287"/>
            <a:ext cx="10515600" cy="1191479"/>
          </a:xfrm>
        </p:spPr>
        <p:txBody>
          <a:bodyPr>
            <a:normAutofit/>
          </a:bodyPr>
          <a:lstStyle/>
          <a:p>
            <a:r>
              <a:rPr lang="en-GB" dirty="0"/>
              <a:t>Critical minerals/ metals: projected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7304" y="1507941"/>
            <a:ext cx="4566496" cy="1816115"/>
          </a:xfrm>
        </p:spPr>
        <p:txBody>
          <a:bodyPr>
            <a:normAutofit/>
          </a:bodyPr>
          <a:lstStyle/>
          <a:p>
            <a:r>
              <a:rPr lang="en-GB" dirty="0"/>
              <a:t>The expected global demand for critical metals in a net zero world </a:t>
            </a:r>
          </a:p>
          <a:p>
            <a:r>
              <a:rPr lang="en-GB" dirty="0"/>
              <a:t>This can be a dirty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0331" y="3488790"/>
            <a:ext cx="465827" cy="267419"/>
          </a:xfrm>
          <a:prstGeom prst="rect">
            <a:avLst/>
          </a:prstGeom>
          <a:solidFill>
            <a:srgbClr val="FF75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7244503" y="3437833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Other 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0331" y="3847693"/>
            <a:ext cx="465827" cy="267419"/>
          </a:xfrm>
          <a:prstGeom prst="rect">
            <a:avLst/>
          </a:prstGeom>
          <a:solidFill>
            <a:srgbClr val="FFB7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7244503" y="3796736"/>
            <a:ext cx="202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Electricity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0331" y="4206596"/>
            <a:ext cx="465827" cy="267419"/>
          </a:xfrm>
          <a:prstGeom prst="rect">
            <a:avLst/>
          </a:prstGeom>
          <a:solidFill>
            <a:srgbClr val="FFF3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7244503" y="4155639"/>
            <a:ext cx="2215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Grid storage batteries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0331" y="4565499"/>
            <a:ext cx="465827" cy="267419"/>
          </a:xfrm>
          <a:prstGeom prst="rect">
            <a:avLst/>
          </a:prstGeom>
          <a:solidFill>
            <a:srgbClr val="00AD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7244503" y="4514542"/>
            <a:ext cx="167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Electric vehicles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0331" y="4924402"/>
            <a:ext cx="465827" cy="267419"/>
          </a:xfrm>
          <a:prstGeom prst="rect">
            <a:avLst/>
          </a:prstGeom>
          <a:solidFill>
            <a:srgbClr val="3574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7244503" y="487344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0331" y="5283305"/>
            <a:ext cx="465827" cy="267419"/>
          </a:xfrm>
          <a:prstGeom prst="rect">
            <a:avLst/>
          </a:prstGeom>
          <a:solidFill>
            <a:srgbClr val="46D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7244503" y="5232348"/>
            <a:ext cx="957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Solar PV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0331" y="5653659"/>
            <a:ext cx="465827" cy="267419"/>
          </a:xfrm>
          <a:prstGeom prst="rect">
            <a:avLst/>
          </a:prstGeom>
          <a:solidFill>
            <a:srgbClr val="68F3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7244503" y="5602702"/>
            <a:ext cx="356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Other low-energy power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747" y="6082073"/>
            <a:ext cx="574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compiled by the IEA (International Energy Association) https://www.iea.org/topics/critical-minerals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45698" y="1415766"/>
            <a:ext cx="5713437" cy="4761198"/>
            <a:chOff x="445698" y="1415766"/>
            <a:chExt cx="5713437" cy="476119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5698" y="1415766"/>
              <a:ext cx="5713437" cy="4761198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104180" y="1576761"/>
              <a:ext cx="1392495" cy="476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Copper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87924" y="1576761"/>
              <a:ext cx="1414732" cy="476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Nickel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097546" y="1576761"/>
              <a:ext cx="1414732" cy="476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Cobalt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3041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9348"/>
          </a:xfrm>
        </p:spPr>
        <p:txBody>
          <a:bodyPr/>
          <a:lstStyle/>
          <a:p>
            <a:r>
              <a:rPr lang="en-GB" dirty="0"/>
              <a:t>Cobalt – critical for Li-ion battery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2249" y="1825625"/>
            <a:ext cx="3461551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“Blood cobalt” comes from DRC </a:t>
            </a:r>
          </a:p>
          <a:p>
            <a:r>
              <a:rPr lang="nn-NO" dirty="0"/>
              <a:t>Apple, Tesla, Samsung and Microsoft all implicated in cobalt supply chain that </a:t>
            </a:r>
            <a:r>
              <a:rPr lang="en-GB" dirty="0"/>
              <a:t>extracts minerals using slavery and child labour</a:t>
            </a:r>
          </a:p>
          <a:p>
            <a:r>
              <a:rPr lang="en-GB" dirty="0"/>
              <a:t>Toxicology linked to heart, thyroid, liver, and kidney problems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3" y="1185234"/>
            <a:ext cx="7153740" cy="54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65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725" y="235729"/>
            <a:ext cx="10515600" cy="1325563"/>
          </a:xfrm>
        </p:spPr>
        <p:txBody>
          <a:bodyPr/>
          <a:lstStyle/>
          <a:p>
            <a:r>
              <a:rPr lang="en-GB" dirty="0"/>
              <a:t>Nickle – cathode in Li-ion batteries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8395" y="1319842"/>
            <a:ext cx="4535879" cy="526211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Rain forest destroyed in Sulawesi and Maluku to access Nickle. </a:t>
            </a:r>
          </a:p>
          <a:p>
            <a:r>
              <a:rPr lang="en-GB" dirty="0"/>
              <a:t>Some large scale mining operations are illegal. Large consequences for environment particularly through poor control of waste products and drainage.</a:t>
            </a:r>
          </a:p>
          <a:p>
            <a:r>
              <a:rPr lang="en-GB" dirty="0"/>
              <a:t>Toxicology:  causes cardiovascular and kidney diseases, lung fibrosis, lung and nasal cancer. May disturb the human genome.</a:t>
            </a:r>
          </a:p>
          <a:p>
            <a:endParaRPr lang="en-GB" dirty="0"/>
          </a:p>
          <a:p>
            <a:r>
              <a:rPr lang="en-GB" dirty="0"/>
              <a:t>Is it better for critical mineral extraction to take place in countries with robust environmental policy and government accountability?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3" y="1690688"/>
            <a:ext cx="6310196" cy="42090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9073" y="5899782"/>
            <a:ext cx="3713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© Ian Morse for The Washington Post</a:t>
            </a:r>
          </a:p>
        </p:txBody>
      </p:sp>
    </p:spTree>
    <p:extLst>
      <p:ext uri="{BB962C8B-B14F-4D97-AF65-F5344CB8AC3E}">
        <p14:creationId xmlns:p14="http://schemas.microsoft.com/office/powerpoint/2010/main" val="423253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04800"/>
            <a:ext cx="12192000" cy="81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8" y="365125"/>
            <a:ext cx="10698192" cy="132556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Copper (Cu): critical for all electrical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815" y="1690688"/>
            <a:ext cx="5234796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An electric car requires 6x more mineral input than a car running on </a:t>
            </a:r>
            <a:r>
              <a:rPr lang="en-GB" dirty="0" err="1">
                <a:solidFill>
                  <a:schemeClr val="bg1"/>
                </a:solidFill>
              </a:rPr>
              <a:t>hydroarbons</a:t>
            </a:r>
            <a:r>
              <a:rPr lang="en-GB" dirty="0">
                <a:solidFill>
                  <a:schemeClr val="bg1"/>
                </a:solidFill>
              </a:rPr>
              <a:t> (IEA, 2024).</a:t>
            </a:r>
          </a:p>
          <a:p>
            <a:r>
              <a:rPr lang="en-GB" dirty="0">
                <a:solidFill>
                  <a:schemeClr val="bg1"/>
                </a:solidFill>
              </a:rPr>
              <a:t>MW for MW, an offshore windfarm requires 13x more mineral resource than a gas power station (IEA, 2024).</a:t>
            </a:r>
          </a:p>
          <a:p>
            <a:r>
              <a:rPr lang="en-GB" dirty="0">
                <a:solidFill>
                  <a:schemeClr val="bg1"/>
                </a:solidFill>
              </a:rPr>
              <a:t>Should the UK aim for Cu self-sufficiency?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3328" y="6047117"/>
            <a:ext cx="5408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Alderley</a:t>
            </a:r>
            <a:r>
              <a:rPr lang="en-GB" dirty="0">
                <a:solidFill>
                  <a:schemeClr val="bg1"/>
                </a:solidFill>
              </a:rPr>
              <a:t> Edge: Malachite and azurite in the Engine vein. </a:t>
            </a:r>
          </a:p>
          <a:p>
            <a:r>
              <a:rPr lang="en-GB" dirty="0">
                <a:solidFill>
                  <a:schemeClr val="bg1"/>
                </a:solidFill>
              </a:rPr>
              <a:t>Photo copyright: Mike Peel, creative commons </a:t>
            </a:r>
          </a:p>
        </p:txBody>
      </p:sp>
    </p:spTree>
    <p:extLst>
      <p:ext uri="{BB962C8B-B14F-4D97-AF65-F5344CB8AC3E}">
        <p14:creationId xmlns:p14="http://schemas.microsoft.com/office/powerpoint/2010/main" val="1857114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5400" y="0"/>
            <a:ext cx="122301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075"/>
          </a:xfrm>
        </p:spPr>
        <p:txBody>
          <a:bodyPr/>
          <a:lstStyle/>
          <a:p>
            <a:r>
              <a:rPr lang="en-GB" dirty="0" err="1"/>
              <a:t>Coed</a:t>
            </a:r>
            <a:r>
              <a:rPr lang="en-GB" dirty="0"/>
              <a:t>-y-</a:t>
            </a:r>
            <a:r>
              <a:rPr lang="en-GB" dirty="0" err="1"/>
              <a:t>Brenin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8195142" y="3591442"/>
            <a:ext cx="4102100" cy="3198296"/>
            <a:chOff x="3545504" y="2168084"/>
            <a:chExt cx="4102100" cy="3198296"/>
          </a:xfrm>
        </p:grpSpPr>
        <p:sp>
          <p:nvSpPr>
            <p:cNvPr id="6" name="TextBox 5"/>
            <p:cNvSpPr txBox="1"/>
            <p:nvPr/>
          </p:nvSpPr>
          <p:spPr>
            <a:xfrm>
              <a:off x="3545504" y="5089381"/>
              <a:ext cx="4102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MBUK magazine: © Andy Lloyd www.andylloyd.photography</a:t>
              </a:r>
            </a:p>
          </p:txBody>
        </p:sp>
        <p:pic>
          <p:nvPicPr>
            <p:cNvPr id="9" name="Content Placeholder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7625" y="2168084"/>
              <a:ext cx="3390900" cy="2921297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207033" y="432925"/>
            <a:ext cx="7278495" cy="5992150"/>
            <a:chOff x="207033" y="432925"/>
            <a:chExt cx="7278495" cy="5992150"/>
          </a:xfrm>
        </p:grpSpPr>
        <p:sp>
          <p:nvSpPr>
            <p:cNvPr id="12" name="TextBox 11"/>
            <p:cNvSpPr txBox="1"/>
            <p:nvPr/>
          </p:nvSpPr>
          <p:spPr>
            <a:xfrm>
              <a:off x="207033" y="5040080"/>
              <a:ext cx="727849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chemeClr val="bg1"/>
                  </a:solidFill>
                </a:rPr>
                <a:t>A large scale copper porphyry underlies this tranquil part of Wales. 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Your job is to visualise the copper resource in 3D</a:t>
              </a:r>
              <a:endParaRPr lang="en-GB" sz="2800" dirty="0"/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952226" y="802257"/>
              <a:ext cx="422694" cy="87989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65630" y="432925"/>
              <a:ext cx="1958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Capel Hermon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35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6EC2-DBFA-619D-A637-560F7F94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339"/>
          </a:xfrm>
        </p:spPr>
        <p:txBody>
          <a:bodyPr/>
          <a:lstStyle/>
          <a:p>
            <a:r>
              <a:rPr lang="en-GB" dirty="0"/>
              <a:t>What is a porphyry deposit?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9073-D9D9-F869-42CB-2F741681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0914" y="1825625"/>
            <a:ext cx="2562885" cy="4351338"/>
          </a:xfrm>
        </p:spPr>
        <p:txBody>
          <a:bodyPr/>
          <a:lstStyle/>
          <a:p>
            <a:r>
              <a:rPr lang="en-GB" dirty="0" err="1"/>
              <a:t>sdsd</a:t>
            </a:r>
            <a:endParaRPr lang="en-GB" dirty="0"/>
          </a:p>
        </p:txBody>
      </p:sp>
      <p:pic>
        <p:nvPicPr>
          <p:cNvPr id="7" name="Picture 6" descr="A diagram of a volcano&#10;&#10;AI-generated content may be incorrect.">
            <a:extLst>
              <a:ext uri="{FF2B5EF4-FFF2-40B4-BE49-F238E27FC236}">
                <a16:creationId xmlns:a16="http://schemas.microsoft.com/office/drawing/2014/main" id="{CD19392D-3766-F25C-2E01-1C58CF329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793" y="1157849"/>
            <a:ext cx="5131648" cy="2963655"/>
          </a:xfrm>
          <a:prstGeom prst="rect">
            <a:avLst/>
          </a:prstGeom>
        </p:spPr>
      </p:pic>
      <p:pic>
        <p:nvPicPr>
          <p:cNvPr id="9" name="Picture 8" descr="A map of the world with different colored dots&#10;&#10;AI-generated content may be incorrect.">
            <a:extLst>
              <a:ext uri="{FF2B5EF4-FFF2-40B4-BE49-F238E27FC236}">
                <a16:creationId xmlns:a16="http://schemas.microsoft.com/office/drawing/2014/main" id="{26DDF42F-1EAB-6570-31B9-3F292EE9F3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2582" y="1127464"/>
            <a:ext cx="5223077" cy="2925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D68518-0CF2-CC21-15B9-C9031EBD27A1}"/>
              </a:ext>
            </a:extLst>
          </p:cNvPr>
          <p:cNvSpPr txBox="1"/>
          <p:nvPr/>
        </p:nvSpPr>
        <p:spPr>
          <a:xfrm>
            <a:off x="290538" y="4294581"/>
            <a:ext cx="9570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Associated with convergent plate tectonics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Downgoing</a:t>
            </a:r>
            <a:r>
              <a:rPr lang="en-GB" dirty="0"/>
              <a:t> slab sources O</a:t>
            </a:r>
            <a:r>
              <a:rPr lang="en-GB" baseline="-25000" dirty="0"/>
              <a:t>2</a:t>
            </a:r>
            <a:r>
              <a:rPr lang="en-GB" dirty="0"/>
              <a:t> rich waters and hydrous melts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Mantle wedge:  partial melting in oxidising conditions deplete sulphides.  Cu and Au have an affinity for sulphides and are preferentially incorporated into ascending sulphide rich melts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Hydrous basaltic magmas ascend to mantle-crust boundary (30-70km) where magma evolves through fractionation / magmatic differentiation concentrating ore-forming fluids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Rising evolved magmas become fluid saturated as overburden pressure drops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0AEE5-9C9B-E22A-3FAA-1329424F94D9}"/>
              </a:ext>
            </a:extLst>
          </p:cNvPr>
          <p:cNvSpPr txBox="1"/>
          <p:nvPr/>
        </p:nvSpPr>
        <p:spPr>
          <a:xfrm>
            <a:off x="8655728" y="4166727"/>
            <a:ext cx="3710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Both figures from:  Park et al, 2021</a:t>
            </a:r>
          </a:p>
          <a:p>
            <a:r>
              <a:rPr lang="en-GB" sz="1400" dirty="0"/>
              <a:t>https://doi.org/10.1038/s43017-021-00182-8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A275AC-7BAE-DEC4-B935-317757FDCF1C}"/>
              </a:ext>
            </a:extLst>
          </p:cNvPr>
          <p:cNvSpPr/>
          <p:nvPr/>
        </p:nvSpPr>
        <p:spPr>
          <a:xfrm>
            <a:off x="636207" y="2281407"/>
            <a:ext cx="2104008" cy="146481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920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6257-899A-D239-2779-FD8053CC0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188"/>
            <a:ext cx="10515600" cy="817124"/>
          </a:xfrm>
        </p:spPr>
        <p:txBody>
          <a:bodyPr/>
          <a:lstStyle/>
          <a:p>
            <a:r>
              <a:rPr lang="en-GB" dirty="0"/>
              <a:t>What is a porphyry deposit?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CD4EF-9DF0-6EF9-75D0-9D0C2D88C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918" y="953312"/>
            <a:ext cx="4030463" cy="522365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Relative low-density fluids liberated from shallow magmatic intrusions (1-7km) accumulate at top of intrusion.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high pressure fluids hydraulic fracture (frack) the top of intrusion and country rock.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fluids condense and cool to a metal rich brine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Metal sulphides precipitated from cooling brines forming halos around the intrusions </a:t>
            </a:r>
          </a:p>
        </p:txBody>
      </p:sp>
      <p:pic>
        <p:nvPicPr>
          <p:cNvPr id="5" name="Picture 4" descr="A diagram of a volcano&#10;&#10;AI-generated content may be incorrect.">
            <a:extLst>
              <a:ext uri="{FF2B5EF4-FFF2-40B4-BE49-F238E27FC236}">
                <a16:creationId xmlns:a16="http://schemas.microsoft.com/office/drawing/2014/main" id="{3C25509B-F589-0450-DD47-A1843BA0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171" y="953312"/>
            <a:ext cx="6991626" cy="4621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1C8B9A-CFD4-314E-0D0B-17F880074D4D}"/>
              </a:ext>
            </a:extLst>
          </p:cNvPr>
          <p:cNvSpPr txBox="1"/>
          <p:nvPr/>
        </p:nvSpPr>
        <p:spPr>
          <a:xfrm>
            <a:off x="262551" y="5640308"/>
            <a:ext cx="6654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Richards &amp; Mumin, 2013:  </a:t>
            </a:r>
            <a:r>
              <a:rPr lang="en-GB" sz="1800" dirty="0"/>
              <a:t>https://doi.org/10.1130/G34275.1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252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044C-1D30-9DED-33DC-479475E2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4CDD-4EA3-A9E5-433B-810E4224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188"/>
            <a:ext cx="10515600" cy="817124"/>
          </a:xfrm>
        </p:spPr>
        <p:txBody>
          <a:bodyPr/>
          <a:lstStyle/>
          <a:p>
            <a:r>
              <a:rPr lang="en-GB" dirty="0"/>
              <a:t>What is a porphyry deposit? </a:t>
            </a:r>
          </a:p>
        </p:txBody>
      </p:sp>
      <p:pic>
        <p:nvPicPr>
          <p:cNvPr id="5" name="Picture 4" descr="A diagram of a volcano&#10;&#10;AI-generated content may be incorrect.">
            <a:extLst>
              <a:ext uri="{FF2B5EF4-FFF2-40B4-BE49-F238E27FC236}">
                <a16:creationId xmlns:a16="http://schemas.microsoft.com/office/drawing/2014/main" id="{EEA053B6-EF7C-A8B9-C147-ED9CCDE82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171" y="953312"/>
            <a:ext cx="6991626" cy="4621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EC7A92-CFBB-84CA-AA8A-32AE7938E3C3}"/>
              </a:ext>
            </a:extLst>
          </p:cNvPr>
          <p:cNvSpPr txBox="1"/>
          <p:nvPr/>
        </p:nvSpPr>
        <p:spPr>
          <a:xfrm>
            <a:off x="14007" y="5656985"/>
            <a:ext cx="6654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Richards &amp; Mumin, 2013:  </a:t>
            </a:r>
            <a:br>
              <a:rPr lang="en-GB" dirty="0"/>
            </a:br>
            <a:r>
              <a:rPr lang="en-GB" sz="1800" dirty="0"/>
              <a:t>https://doi.org/10.1130/G34275.1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DCE5A9-2C7F-55E0-8D7C-60844A74D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1550" y="107614"/>
            <a:ext cx="3276600" cy="218680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1A83B2D-0961-CF87-4C39-0FE98E1FC540}"/>
              </a:ext>
            </a:extLst>
          </p:cNvPr>
          <p:cNvSpPr/>
          <p:nvPr/>
        </p:nvSpPr>
        <p:spPr>
          <a:xfrm>
            <a:off x="3762375" y="1283660"/>
            <a:ext cx="923925" cy="79279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EBBC6C-603E-D952-5EB9-41AB900170A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705350" y="1201015"/>
            <a:ext cx="3886200" cy="427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ECE15A-ECA7-688D-5AF5-9064AE64E559}"/>
              </a:ext>
            </a:extLst>
          </p:cNvPr>
          <p:cNvSpPr/>
          <p:nvPr/>
        </p:nvSpPr>
        <p:spPr>
          <a:xfrm>
            <a:off x="8573957" y="1057275"/>
            <a:ext cx="2827468" cy="483245"/>
          </a:xfrm>
          <a:custGeom>
            <a:avLst/>
            <a:gdLst>
              <a:gd name="csX0" fmla="*/ 0 w 3390900"/>
              <a:gd name="csY0" fmla="*/ 514350 h 1086138"/>
              <a:gd name="csX1" fmla="*/ 133350 w 3390900"/>
              <a:gd name="csY1" fmla="*/ 876300 h 1086138"/>
              <a:gd name="csX2" fmla="*/ 552450 w 3390900"/>
              <a:gd name="csY2" fmla="*/ 1066800 h 1086138"/>
              <a:gd name="csX3" fmla="*/ 952500 w 3390900"/>
              <a:gd name="csY3" fmla="*/ 1066800 h 1086138"/>
              <a:gd name="csX4" fmla="*/ 1219200 w 3390900"/>
              <a:gd name="csY4" fmla="*/ 952500 h 1086138"/>
              <a:gd name="csX5" fmla="*/ 1590675 w 3390900"/>
              <a:gd name="csY5" fmla="*/ 723900 h 1086138"/>
              <a:gd name="csX6" fmla="*/ 1885950 w 3390900"/>
              <a:gd name="csY6" fmla="*/ 638175 h 1086138"/>
              <a:gd name="csX7" fmla="*/ 2286000 w 3390900"/>
              <a:gd name="csY7" fmla="*/ 685800 h 1086138"/>
              <a:gd name="csX8" fmla="*/ 2781300 w 3390900"/>
              <a:gd name="csY8" fmla="*/ 714375 h 1086138"/>
              <a:gd name="csX9" fmla="*/ 2943225 w 3390900"/>
              <a:gd name="csY9" fmla="*/ 723900 h 1086138"/>
              <a:gd name="csX10" fmla="*/ 3067050 w 3390900"/>
              <a:gd name="csY10" fmla="*/ 704850 h 1086138"/>
              <a:gd name="csX11" fmla="*/ 3200400 w 3390900"/>
              <a:gd name="csY11" fmla="*/ 619125 h 1086138"/>
              <a:gd name="csX12" fmla="*/ 3343275 w 3390900"/>
              <a:gd name="csY12" fmla="*/ 438150 h 1086138"/>
              <a:gd name="csX13" fmla="*/ 3371850 w 3390900"/>
              <a:gd name="csY13" fmla="*/ 304800 h 1086138"/>
              <a:gd name="csX14" fmla="*/ 3390900 w 3390900"/>
              <a:gd name="csY14" fmla="*/ 0 h 1086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390900" h="1086138">
                <a:moveTo>
                  <a:pt x="0" y="514350"/>
                </a:moveTo>
                <a:cubicBezTo>
                  <a:pt x="20637" y="649287"/>
                  <a:pt x="41275" y="784225"/>
                  <a:pt x="133350" y="876300"/>
                </a:cubicBezTo>
                <a:cubicBezTo>
                  <a:pt x="225425" y="968375"/>
                  <a:pt x="415925" y="1035050"/>
                  <a:pt x="552450" y="1066800"/>
                </a:cubicBezTo>
                <a:cubicBezTo>
                  <a:pt x="688975" y="1098550"/>
                  <a:pt x="841375" y="1085850"/>
                  <a:pt x="952500" y="1066800"/>
                </a:cubicBezTo>
                <a:cubicBezTo>
                  <a:pt x="1063625" y="1047750"/>
                  <a:pt x="1112837" y="1009650"/>
                  <a:pt x="1219200" y="952500"/>
                </a:cubicBezTo>
                <a:cubicBezTo>
                  <a:pt x="1325563" y="895350"/>
                  <a:pt x="1479550" y="776287"/>
                  <a:pt x="1590675" y="723900"/>
                </a:cubicBezTo>
                <a:cubicBezTo>
                  <a:pt x="1701800" y="671513"/>
                  <a:pt x="1770062" y="644525"/>
                  <a:pt x="1885950" y="638175"/>
                </a:cubicBezTo>
                <a:cubicBezTo>
                  <a:pt x="2001838" y="631825"/>
                  <a:pt x="2136775" y="673100"/>
                  <a:pt x="2286000" y="685800"/>
                </a:cubicBezTo>
                <a:cubicBezTo>
                  <a:pt x="2435225" y="698500"/>
                  <a:pt x="2781300" y="714375"/>
                  <a:pt x="2781300" y="714375"/>
                </a:cubicBezTo>
                <a:cubicBezTo>
                  <a:pt x="2890837" y="720725"/>
                  <a:pt x="2895600" y="725487"/>
                  <a:pt x="2943225" y="723900"/>
                </a:cubicBezTo>
                <a:cubicBezTo>
                  <a:pt x="2990850" y="722313"/>
                  <a:pt x="3024188" y="722312"/>
                  <a:pt x="3067050" y="704850"/>
                </a:cubicBezTo>
                <a:cubicBezTo>
                  <a:pt x="3109912" y="687388"/>
                  <a:pt x="3154363" y="663575"/>
                  <a:pt x="3200400" y="619125"/>
                </a:cubicBezTo>
                <a:cubicBezTo>
                  <a:pt x="3246437" y="574675"/>
                  <a:pt x="3314700" y="490537"/>
                  <a:pt x="3343275" y="438150"/>
                </a:cubicBezTo>
                <a:cubicBezTo>
                  <a:pt x="3371850" y="385763"/>
                  <a:pt x="3363913" y="377825"/>
                  <a:pt x="3371850" y="304800"/>
                </a:cubicBezTo>
                <a:cubicBezTo>
                  <a:pt x="3379787" y="231775"/>
                  <a:pt x="3385343" y="115887"/>
                  <a:pt x="3390900" y="0"/>
                </a:cubicBezTo>
              </a:path>
            </a:pathLst>
          </a:custGeom>
          <a:noFill/>
          <a:ln w="19050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B84E8-F95E-850E-EBF9-D5BB7ED65228}"/>
              </a:ext>
            </a:extLst>
          </p:cNvPr>
          <p:cNvSpPr txBox="1"/>
          <p:nvPr/>
        </p:nvSpPr>
        <p:spPr>
          <a:xfrm>
            <a:off x="8548687" y="1614765"/>
            <a:ext cx="3437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Bleached / shattered Hydrous silica. Sometimes ‘pods’ of copper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94DA49-A2AE-C447-A442-A02BDA67B9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1548" y="2325386"/>
            <a:ext cx="3276601" cy="21868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E818A6-F19D-1FDE-4281-5C066B9E8E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1550" y="4556116"/>
            <a:ext cx="3276600" cy="2186802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4C56E6FC-7A98-6C24-1035-E1D1847CA069}"/>
              </a:ext>
            </a:extLst>
          </p:cNvPr>
          <p:cNvSpPr/>
          <p:nvPr/>
        </p:nvSpPr>
        <p:spPr>
          <a:xfrm>
            <a:off x="4343400" y="2636210"/>
            <a:ext cx="923925" cy="79279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DC70FB-3F51-A702-5256-6899C2668D0B}"/>
              </a:ext>
            </a:extLst>
          </p:cNvPr>
          <p:cNvSpPr/>
          <p:nvPr/>
        </p:nvSpPr>
        <p:spPr>
          <a:xfrm rot="20772634">
            <a:off x="4314824" y="3548395"/>
            <a:ext cx="376237" cy="8685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41663A-6986-F804-A006-AC757B6BC3A4}"/>
              </a:ext>
            </a:extLst>
          </p:cNvPr>
          <p:cNvCxnSpPr>
            <a:cxnSpLocks/>
            <a:stCxn id="25" idx="6"/>
            <a:endCxn id="20" idx="1"/>
          </p:cNvCxnSpPr>
          <p:nvPr/>
        </p:nvCxnSpPr>
        <p:spPr>
          <a:xfrm>
            <a:off x="5267325" y="3032605"/>
            <a:ext cx="3324223" cy="3861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4C41AC-6708-A9E4-1087-D205A05A5401}"/>
              </a:ext>
            </a:extLst>
          </p:cNvPr>
          <p:cNvCxnSpPr>
            <a:cxnSpLocks/>
            <a:stCxn id="26" idx="6"/>
            <a:endCxn id="22" idx="1"/>
          </p:cNvCxnSpPr>
          <p:nvPr/>
        </p:nvCxnSpPr>
        <p:spPr>
          <a:xfrm>
            <a:off x="4685639" y="3937828"/>
            <a:ext cx="3905911" cy="17116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F9C91A9-1427-8606-ABCF-9996A3D12829}"/>
              </a:ext>
            </a:extLst>
          </p:cNvPr>
          <p:cNvSpPr txBox="1"/>
          <p:nvPr/>
        </p:nvSpPr>
        <p:spPr>
          <a:xfrm>
            <a:off x="8548687" y="35644"/>
            <a:ext cx="2610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Explosion breccia pipe: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EEF6C1-646C-B190-EC9F-211485720F7A}"/>
              </a:ext>
            </a:extLst>
          </p:cNvPr>
          <p:cNvSpPr txBox="1"/>
          <p:nvPr/>
        </p:nvSpPr>
        <p:spPr>
          <a:xfrm>
            <a:off x="8620153" y="3560603"/>
            <a:ext cx="3294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Sericitic</a:t>
            </a:r>
            <a:r>
              <a:rPr lang="en-GB" dirty="0">
                <a:solidFill>
                  <a:schemeClr val="bg1"/>
                </a:solidFill>
              </a:rPr>
              <a:t> zone: hydrothermally decomposed </a:t>
            </a:r>
            <a:r>
              <a:rPr lang="en-GB" dirty="0" err="1">
                <a:solidFill>
                  <a:schemeClr val="bg1"/>
                </a:solidFill>
              </a:rPr>
              <a:t>microtonalite</a:t>
            </a:r>
            <a:r>
              <a:rPr lang="en-GB" dirty="0">
                <a:solidFill>
                  <a:schemeClr val="bg1"/>
                </a:solidFill>
              </a:rPr>
              <a:t> – here, iron stained – pyrite rich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23A044-C6FF-CD5F-16EB-99763A9350E5}"/>
              </a:ext>
            </a:extLst>
          </p:cNvPr>
          <p:cNvSpPr txBox="1"/>
          <p:nvPr/>
        </p:nvSpPr>
        <p:spPr>
          <a:xfrm>
            <a:off x="8573957" y="5811735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hydrothermally decomposed </a:t>
            </a:r>
            <a:r>
              <a:rPr lang="en-GB" dirty="0" err="1">
                <a:solidFill>
                  <a:schemeClr val="bg1"/>
                </a:solidFill>
              </a:rPr>
              <a:t>microtonalite</a:t>
            </a:r>
            <a:r>
              <a:rPr lang="en-GB" dirty="0">
                <a:solidFill>
                  <a:schemeClr val="bg1"/>
                </a:solidFill>
              </a:rPr>
              <a:t> – here, enriched with copper :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94DBCE-2114-00FA-ADAB-83D3BB96C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271" y="4443239"/>
            <a:ext cx="2000249" cy="239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375A4ED-4078-FC87-2BEE-96C0F9499F5D}"/>
              </a:ext>
            </a:extLst>
          </p:cNvPr>
          <p:cNvSpPr/>
          <p:nvPr/>
        </p:nvSpPr>
        <p:spPr>
          <a:xfrm>
            <a:off x="4200245" y="4769429"/>
            <a:ext cx="683732" cy="7046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B0B4E1-E8F5-CAA1-63D1-D3CF95D6BF8B}"/>
              </a:ext>
            </a:extLst>
          </p:cNvPr>
          <p:cNvCxnSpPr>
            <a:cxnSpLocks/>
            <a:stCxn id="3" idx="5"/>
            <a:endCxn id="1026" idx="1"/>
          </p:cNvCxnSpPr>
          <p:nvPr/>
        </p:nvCxnSpPr>
        <p:spPr>
          <a:xfrm>
            <a:off x="4783847" y="5370902"/>
            <a:ext cx="928424" cy="2699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16095C-9F05-FEBB-BACA-9E81145B3D67}"/>
              </a:ext>
            </a:extLst>
          </p:cNvPr>
          <p:cNvSpPr txBox="1"/>
          <p:nvPr/>
        </p:nvSpPr>
        <p:spPr>
          <a:xfrm>
            <a:off x="5668178" y="4408342"/>
            <a:ext cx="1595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Microtonalite</a:t>
            </a:r>
            <a:r>
              <a:rPr lang="en-GB" dirty="0">
                <a:solidFill>
                  <a:schemeClr val="bg1"/>
                </a:solidFill>
              </a:rPr>
              <a:t>:</a:t>
            </a:r>
          </a:p>
          <a:p>
            <a:r>
              <a:rPr lang="en-GB">
                <a:solidFill>
                  <a:schemeClr val="bg1"/>
                </a:solidFill>
              </a:rPr>
              <a:t>un-altered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231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AFBF-0333-93C0-1A15-CC770F01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366"/>
            <a:ext cx="10515600" cy="1083074"/>
          </a:xfrm>
        </p:spPr>
        <p:txBody>
          <a:bodyPr/>
          <a:lstStyle/>
          <a:p>
            <a:r>
              <a:rPr lang="en-GB" dirty="0"/>
              <a:t>Porphyry enrichment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D5A0-EF1C-1B5D-6BB8-F58305F18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633" y="359660"/>
            <a:ext cx="4444988" cy="5559026"/>
          </a:xfrm>
        </p:spPr>
        <p:txBody>
          <a:bodyPr/>
          <a:lstStyle/>
          <a:p>
            <a:r>
              <a:rPr lang="en-GB" dirty="0"/>
              <a:t>Porphyry halos are large, low grade bodies:  a good one is 1% Cu</a:t>
            </a:r>
          </a:p>
          <a:p>
            <a:r>
              <a:rPr lang="en-GB" dirty="0"/>
              <a:t>Supergene enrichment is a redox process taking place near the surface.  It can enrich deposits to &gt;2% </a:t>
            </a:r>
          </a:p>
          <a:p>
            <a:r>
              <a:rPr lang="en-GB" dirty="0"/>
              <a:t>O</a:t>
            </a:r>
            <a:r>
              <a:rPr lang="en-GB" baseline="-25000" dirty="0"/>
              <a:t>2</a:t>
            </a:r>
            <a:r>
              <a:rPr lang="en-GB" dirty="0"/>
              <a:t> rich meteoric waters weather and leach metals from the porphyry, and re-deposit in deeper, reducing conditions.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 descr="A diagram of a geometries&#10;&#10;AI-generated content may be incorrect.">
            <a:extLst>
              <a:ext uri="{FF2B5EF4-FFF2-40B4-BE49-F238E27FC236}">
                <a16:creationId xmlns:a16="http://schemas.microsoft.com/office/drawing/2014/main" id="{45E59012-1CAA-CC06-FF0E-031BB01AED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032" y="1469470"/>
            <a:ext cx="5981700" cy="3919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8A8830-AE08-B637-5CBC-C3DAA4CBBF17}"/>
              </a:ext>
            </a:extLst>
          </p:cNvPr>
          <p:cNvSpPr txBox="1"/>
          <p:nvPr/>
        </p:nvSpPr>
        <p:spPr>
          <a:xfrm>
            <a:off x="301841" y="5477305"/>
            <a:ext cx="8744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Reko </a:t>
            </a:r>
            <a:r>
              <a:rPr lang="en-GB" b="1" dirty="0" err="1"/>
              <a:t>Diq</a:t>
            </a:r>
            <a:r>
              <a:rPr lang="en-GB" b="1" dirty="0"/>
              <a:t> Mine, Pakistan. Electromagnetic survey and interpreted crustal section through enriched supergene (</a:t>
            </a:r>
            <a:r>
              <a:rPr lang="en-GB" b="1" dirty="0" err="1"/>
              <a:t>Witherly</a:t>
            </a:r>
            <a:r>
              <a:rPr lang="en-GB" b="1" dirty="0"/>
              <a:t>, 2003: </a:t>
            </a:r>
            <a:r>
              <a:rPr lang="en-GB" b="1" dirty="0">
                <a:hlinkClick r:id="rId3"/>
              </a:rPr>
              <a:t>https://doi.org/10.1080/14432471.2023.2287269</a:t>
            </a:r>
            <a:r>
              <a:rPr lang="en-GB" b="1" dirty="0"/>
              <a:t>).</a:t>
            </a:r>
          </a:p>
          <a:p>
            <a:endParaRPr lang="en-GB" b="1" dirty="0"/>
          </a:p>
          <a:p>
            <a:r>
              <a:rPr lang="en-GB" b="1" dirty="0"/>
              <a:t>Reko </a:t>
            </a:r>
            <a:r>
              <a:rPr lang="en-GB" b="1" dirty="0" err="1"/>
              <a:t>Diq</a:t>
            </a:r>
            <a:r>
              <a:rPr lang="en-GB" b="1" dirty="0"/>
              <a:t> has 5.9 billion tonnes of ore @ 0.41% copper and 0.22ppm gold (0.000022%)  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9581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GB" dirty="0"/>
              <a:t>Back to </a:t>
            </a:r>
            <a:r>
              <a:rPr lang="en-GB" dirty="0" err="1"/>
              <a:t>Coed</a:t>
            </a:r>
            <a:r>
              <a:rPr lang="en-GB" dirty="0"/>
              <a:t>-y-Brenin</a:t>
            </a:r>
          </a:p>
        </p:txBody>
      </p:sp>
      <p:sp>
        <p:nvSpPr>
          <p:cNvPr id="7" name="5-Point Star 6"/>
          <p:cNvSpPr/>
          <p:nvPr/>
        </p:nvSpPr>
        <p:spPr>
          <a:xfrm>
            <a:off x="7867290" y="3429000"/>
            <a:ext cx="422694" cy="42269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192219" y="3687792"/>
            <a:ext cx="2875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Capel Hermon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11168-1D0A-889C-D04E-293808E2826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748"/>
                    </a14:imgEffect>
                    <a14:imgEffect>
                      <a14:saturation sat="110000"/>
                    </a14:imgEffect>
                    <a14:imgEffect>
                      <a14:brightnessContrast bright="6000" contras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96646"/>
            <a:ext cx="5474387" cy="3761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0069" y="6070431"/>
            <a:ext cx="329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Greenish oxidised chalcopyrite, disseminated and in fractures </a:t>
            </a:r>
          </a:p>
        </p:txBody>
      </p:sp>
    </p:spTree>
    <p:extLst>
      <p:ext uri="{BB962C8B-B14F-4D97-AF65-F5344CB8AC3E}">
        <p14:creationId xmlns:p14="http://schemas.microsoft.com/office/powerpoint/2010/main" val="908353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B2AA-B976-83AF-7106-24876F4C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GB" dirty="0"/>
              <a:t>Mining history 1850’s to 1915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DC77-59C1-961A-1520-68D918160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9427" y="1478604"/>
            <a:ext cx="2855125" cy="4698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Shallow mines produced</a:t>
            </a:r>
          </a:p>
          <a:p>
            <a:r>
              <a:rPr lang="en-GB" dirty="0"/>
              <a:t>13,077 t Cu ore</a:t>
            </a:r>
          </a:p>
          <a:p>
            <a:r>
              <a:rPr lang="en-GB" dirty="0"/>
              <a:t>8275 oz Ag</a:t>
            </a:r>
          </a:p>
          <a:p>
            <a:r>
              <a:rPr lang="en-GB" dirty="0"/>
              <a:t>735 oz Au</a:t>
            </a:r>
          </a:p>
          <a:p>
            <a:endParaRPr lang="en-GB" dirty="0"/>
          </a:p>
          <a:p>
            <a:r>
              <a:rPr lang="en-GB" dirty="0"/>
              <a:t>Eventually closed due to affects of mine tailings polluting fisheries</a:t>
            </a:r>
          </a:p>
        </p:txBody>
      </p:sp>
      <p:pic>
        <p:nvPicPr>
          <p:cNvPr id="5" name="Picture 4" descr="A building on a hill&#10;&#10;Description automatically generated">
            <a:extLst>
              <a:ext uri="{FF2B5EF4-FFF2-40B4-BE49-F238E27FC236}">
                <a16:creationId xmlns:a16="http://schemas.microsoft.com/office/drawing/2014/main" id="{52DA62B8-B06B-41F5-06D3-DA65AF8DA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010" y="1284052"/>
            <a:ext cx="8049580" cy="51431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8242CE-1E43-9585-6C18-3EA9F7D3AACD}"/>
              </a:ext>
            </a:extLst>
          </p:cNvPr>
          <p:cNvSpPr txBox="1"/>
          <p:nvPr/>
        </p:nvSpPr>
        <p:spPr>
          <a:xfrm>
            <a:off x="719847" y="1478604"/>
            <a:ext cx="24027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/>
              <a:t>Gasdir</a:t>
            </a:r>
            <a:r>
              <a:rPr lang="en-GB" sz="3200" dirty="0"/>
              <a:t> mine</a:t>
            </a:r>
          </a:p>
          <a:p>
            <a:r>
              <a:rPr lang="en-GB" sz="3200" dirty="0"/>
              <a:t>approx. 1925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E8D9E-B5AA-7561-E93D-5E480E1665C4}"/>
              </a:ext>
            </a:extLst>
          </p:cNvPr>
          <p:cNvSpPr txBox="1"/>
          <p:nvPr/>
        </p:nvSpPr>
        <p:spPr>
          <a:xfrm>
            <a:off x="350196" y="6427248"/>
            <a:ext cx="285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© mindat.org</a:t>
            </a:r>
          </a:p>
        </p:txBody>
      </p:sp>
    </p:spTree>
    <p:extLst>
      <p:ext uri="{BB962C8B-B14F-4D97-AF65-F5344CB8AC3E}">
        <p14:creationId xmlns:p14="http://schemas.microsoft.com/office/powerpoint/2010/main" val="2538815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A56A85-933A-83D4-AB14-C85C12855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1300" y="3680274"/>
            <a:ext cx="5067300" cy="3020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A693E0-A5EE-CC93-1A8D-64CEF351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9700"/>
            <a:ext cx="10515600" cy="1325563"/>
          </a:xfrm>
        </p:spPr>
        <p:txBody>
          <a:bodyPr/>
          <a:lstStyle/>
          <a:p>
            <a:r>
              <a:rPr lang="en-GB" dirty="0" err="1"/>
              <a:t>Dolfrwnog</a:t>
            </a:r>
            <a:r>
              <a:rPr lang="en-GB" dirty="0"/>
              <a:t> Mine and ‘turf’ 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B05F-836F-7076-2072-BD91CE98F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3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Very localised supergene enrichment</a:t>
            </a:r>
          </a:p>
          <a:p>
            <a:r>
              <a:rPr lang="en-GB" dirty="0"/>
              <a:t>A redox process:  Oxygen rich ground waters percolating through the porphyry reached the surface in a peat bog.  Strongly reducing conditions in the peat led to precipitation as native copper and gold. </a:t>
            </a:r>
          </a:p>
          <a:p>
            <a:r>
              <a:rPr lang="en-GB" dirty="0"/>
              <a:t>Peat dug and smelted as ore between 1824 and 1865.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F58D74-F09C-8551-76BE-06FBB9645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" y="3685952"/>
            <a:ext cx="5562600" cy="301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5DC95-DEBE-EFC2-BC6C-F29E4C08507A}"/>
              </a:ext>
            </a:extLst>
          </p:cNvPr>
          <p:cNvSpPr txBox="1"/>
          <p:nvPr/>
        </p:nvSpPr>
        <p:spPr>
          <a:xfrm>
            <a:off x="533400" y="6276975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Probably looked something like this  (from Minedat.org)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8A019-FB02-79AF-B327-FC9A7D345E97}"/>
              </a:ext>
            </a:extLst>
          </p:cNvPr>
          <p:cNvSpPr txBox="1"/>
          <p:nvPr/>
        </p:nvSpPr>
        <p:spPr>
          <a:xfrm>
            <a:off x="7943850" y="6102132"/>
            <a:ext cx="3810000" cy="646331"/>
          </a:xfrm>
          <a:prstGeom prst="rect">
            <a:avLst/>
          </a:prstGeom>
          <a:solidFill>
            <a:srgbClr val="FFFFFF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Sea Pinks (</a:t>
            </a:r>
            <a:r>
              <a:rPr lang="en-GB" dirty="0" err="1"/>
              <a:t>Armeria</a:t>
            </a:r>
            <a:r>
              <a:rPr lang="en-GB" dirty="0"/>
              <a:t> maritima) tolerant of metals, including copper</a:t>
            </a:r>
          </a:p>
        </p:txBody>
      </p:sp>
    </p:spTree>
    <p:extLst>
      <p:ext uri="{BB962C8B-B14F-4D97-AF65-F5344CB8AC3E}">
        <p14:creationId xmlns:p14="http://schemas.microsoft.com/office/powerpoint/2010/main" val="1537867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Coed</a:t>
            </a:r>
            <a:r>
              <a:rPr lang="en-GB" dirty="0"/>
              <a:t>-y-</a:t>
            </a:r>
            <a:r>
              <a:rPr lang="en-GB" dirty="0" err="1"/>
              <a:t>Brenin</a:t>
            </a:r>
            <a:r>
              <a:rPr lang="en-GB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8800" y="1587235"/>
            <a:ext cx="3591668" cy="4589728"/>
          </a:xfrm>
        </p:spPr>
        <p:txBody>
          <a:bodyPr>
            <a:normAutofit/>
          </a:bodyPr>
          <a:lstStyle/>
          <a:p>
            <a:r>
              <a:rPr lang="en-GB" dirty="0"/>
              <a:t>Series of exploration wells drilled in the 1970s</a:t>
            </a:r>
          </a:p>
          <a:p>
            <a:r>
              <a:rPr lang="en-GB" dirty="0"/>
              <a:t>Well data has been input to an Excel spreadsheet</a:t>
            </a:r>
          </a:p>
          <a:p>
            <a:r>
              <a:rPr lang="en-GB" dirty="0"/>
              <a:t>Describes Cu content as well as other metals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1" y="1587235"/>
            <a:ext cx="7658100" cy="482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67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E0924C-9551-A15D-662D-D5A82FD421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5400" y="0"/>
            <a:ext cx="122301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1FD7DD-0649-38D0-F39D-2F417BA2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" y="19213"/>
            <a:ext cx="11187619" cy="1098387"/>
          </a:xfrm>
        </p:spPr>
        <p:txBody>
          <a:bodyPr/>
          <a:lstStyle/>
          <a:p>
            <a:r>
              <a:rPr lang="en-GB" dirty="0"/>
              <a:t>Would you dig up Eryri (Snowdonia) to access it? </a:t>
            </a:r>
          </a:p>
        </p:txBody>
      </p:sp>
      <p:pic>
        <p:nvPicPr>
          <p:cNvPr id="12" name="Picture 11" descr="A aerial view of a lake&#10;&#10;Description automatically generated">
            <a:extLst>
              <a:ext uri="{FF2B5EF4-FFF2-40B4-BE49-F238E27FC236}">
                <a16:creationId xmlns:a16="http://schemas.microsoft.com/office/drawing/2014/main" id="{D495528A-0946-3E27-C85F-310E6EE3F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406" y="1698948"/>
            <a:ext cx="6991024" cy="645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9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2072</Words>
  <Application>Microsoft Office PowerPoint</Application>
  <PresentationFormat>Widescreen</PresentationFormat>
  <Paragraphs>246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3D geospatial techniques</vt:lpstr>
      <vt:lpstr>Intended Learning of lecture and practical</vt:lpstr>
      <vt:lpstr>2D vs. 3D</vt:lpstr>
      <vt:lpstr>What is meant by 3D?</vt:lpstr>
      <vt:lpstr>What is meant by 3D?</vt:lpstr>
      <vt:lpstr>True 3D</vt:lpstr>
      <vt:lpstr>Where do we measure from?</vt:lpstr>
      <vt:lpstr>The problematic Z dimension</vt:lpstr>
      <vt:lpstr>Vertical datums Geodesy: the science of measuring Earth’s shape, orientation and gravity field  </vt:lpstr>
      <vt:lpstr>Z measurements</vt:lpstr>
      <vt:lpstr>Digital space</vt:lpstr>
      <vt:lpstr>Creating a 3D model</vt:lpstr>
      <vt:lpstr>Discrete data</vt:lpstr>
      <vt:lpstr>Continuous data</vt:lpstr>
      <vt:lpstr>Creating a 3D volume using 3D kriging in Arc Pro</vt:lpstr>
      <vt:lpstr>3D visualisation of volumetric data</vt:lpstr>
      <vt:lpstr>3D visualisations: slices</vt:lpstr>
      <vt:lpstr>Introduction to linked practical</vt:lpstr>
      <vt:lpstr>Critical minerals/ metals: projected demand</vt:lpstr>
      <vt:lpstr>Cobalt – critical for Li-ion battery stability</vt:lpstr>
      <vt:lpstr>Nickle – cathode in Li-ion batteries</vt:lpstr>
      <vt:lpstr>Copper (Cu): critical for all electrical technology</vt:lpstr>
      <vt:lpstr>Coed-y-Brenin</vt:lpstr>
      <vt:lpstr>What is a porphyry deposit? </vt:lpstr>
      <vt:lpstr>What is a porphyry deposit? </vt:lpstr>
      <vt:lpstr>What is a porphyry deposit? </vt:lpstr>
      <vt:lpstr>Porphyry enrichment</vt:lpstr>
      <vt:lpstr>Back to Coed-y-Brenin</vt:lpstr>
      <vt:lpstr>Mining history 1850’s to 1915 </vt:lpstr>
      <vt:lpstr>Dolfrwnog Mine and ‘turf’ mine</vt:lpstr>
      <vt:lpstr>Coed-y-Brenin data</vt:lpstr>
      <vt:lpstr>Would you dig up Eryri (Snowdonia) to access it? 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Rufus Brunt</dc:creator>
  <cp:lastModifiedBy>Rufus Brunt</cp:lastModifiedBy>
  <cp:revision>77</cp:revision>
  <dcterms:created xsi:type="dcterms:W3CDTF">2024-03-11T14:41:52Z</dcterms:created>
  <dcterms:modified xsi:type="dcterms:W3CDTF">2026-04-21T14:10:23Z</dcterms:modified>
</cp:coreProperties>
</file>